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52" y="4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308725"/>
            <a:ext cx="9144000" cy="1905"/>
          </a:xfrm>
          <a:custGeom>
            <a:avLst/>
            <a:gdLst/>
            <a:ahLst/>
            <a:cxnLst/>
            <a:rect l="l" t="t" r="r" b="b"/>
            <a:pathLst>
              <a:path w="9144000" h="1904">
                <a:moveTo>
                  <a:pt x="0" y="0"/>
                </a:moveTo>
                <a:lnTo>
                  <a:pt x="9144000" y="1588"/>
                </a:lnTo>
              </a:path>
            </a:pathLst>
          </a:custGeom>
          <a:ln w="12700">
            <a:solidFill>
              <a:srgbClr val="549E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42435" y="106171"/>
            <a:ext cx="265937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739" y="1644396"/>
            <a:ext cx="7975600" cy="1528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1220" y="6432367"/>
            <a:ext cx="2243455" cy="278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473963"/>
            <a:ext cx="22606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主要内容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0012"/>
            <a:ext cx="5651500" cy="3917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3829"/>
              </a:lnSpc>
              <a:spcBef>
                <a:spcPts val="100"/>
              </a:spcBef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solidFill>
                  <a:srgbClr val="FF0000"/>
                </a:solidFill>
                <a:latin typeface="宋体"/>
                <a:cs typeface="宋体"/>
              </a:rPr>
              <a:t>需求的定义</a:t>
            </a:r>
            <a:endParaRPr sz="3200" dirty="0">
              <a:latin typeface="宋体"/>
              <a:cs typeface="宋体"/>
            </a:endParaRPr>
          </a:p>
          <a:p>
            <a:pPr marL="355600" indent="-342900">
              <a:lnSpc>
                <a:spcPts val="3804"/>
              </a:lnSpc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理解需求内涵</a:t>
            </a:r>
          </a:p>
          <a:p>
            <a:pPr marL="355600" indent="-342900">
              <a:lnSpc>
                <a:spcPts val="3815"/>
              </a:lnSpc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需求分类</a:t>
            </a:r>
          </a:p>
          <a:p>
            <a:pPr marL="355600" indent="-342900">
              <a:lnSpc>
                <a:spcPts val="3829"/>
              </a:lnSpc>
              <a:spcBef>
                <a:spcPts val="45"/>
              </a:spcBef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需求工程的路线</a:t>
            </a:r>
          </a:p>
          <a:p>
            <a:pPr marL="355600" indent="-342900">
              <a:lnSpc>
                <a:spcPts val="3829"/>
              </a:lnSpc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优秀需求特性</a:t>
            </a:r>
          </a:p>
          <a:p>
            <a:pPr marL="355600" indent="-342900">
              <a:lnSpc>
                <a:spcPts val="3829"/>
              </a:lnSpc>
              <a:spcBef>
                <a:spcPts val="50"/>
              </a:spcBef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常见需求错误</a:t>
            </a:r>
          </a:p>
          <a:p>
            <a:pPr marL="355600" indent="-342900">
              <a:lnSpc>
                <a:spcPts val="3804"/>
              </a:lnSpc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练习题</a:t>
            </a:r>
          </a:p>
          <a:p>
            <a:pPr marL="355600" indent="-342900">
              <a:lnSpc>
                <a:spcPts val="3815"/>
              </a:lnSpc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软件需求与软件开发过程模型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2300" y="473963"/>
            <a:ext cx="2819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需求的定义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0012"/>
            <a:ext cx="8296275" cy="34366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55600" marR="412115" indent="-342900">
              <a:lnSpc>
                <a:spcPts val="3820"/>
              </a:lnSpc>
              <a:spcBef>
                <a:spcPts val="240"/>
              </a:spcBef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（</a:t>
            </a:r>
            <a:r>
              <a:rPr sz="3200" dirty="0">
                <a:latin typeface="Calibri"/>
                <a:cs typeface="Calibri"/>
              </a:rPr>
              <a:t>1</a:t>
            </a:r>
            <a:r>
              <a:rPr sz="3200" dirty="0">
                <a:latin typeface="宋体"/>
                <a:cs typeface="宋体"/>
              </a:rPr>
              <a:t>）用户为了解决问题或达到某些目标所 需要的</a:t>
            </a:r>
            <a:r>
              <a:rPr sz="3100" b="1" spc="145" dirty="0">
                <a:solidFill>
                  <a:srgbClr val="549E39"/>
                </a:solidFill>
                <a:latin typeface="宋体"/>
                <a:cs typeface="宋体"/>
              </a:rPr>
              <a:t>条件</a:t>
            </a:r>
            <a:r>
              <a:rPr sz="3200" dirty="0">
                <a:latin typeface="宋体"/>
                <a:cs typeface="宋体"/>
              </a:rPr>
              <a:t>或</a:t>
            </a:r>
            <a:r>
              <a:rPr sz="3100" b="1" spc="145" dirty="0">
                <a:solidFill>
                  <a:srgbClr val="549E39"/>
                </a:solidFill>
                <a:latin typeface="宋体"/>
                <a:cs typeface="宋体"/>
              </a:rPr>
              <a:t>能力</a:t>
            </a:r>
            <a:r>
              <a:rPr sz="3200" dirty="0">
                <a:latin typeface="宋体"/>
                <a:cs typeface="宋体"/>
              </a:rPr>
              <a:t>；</a:t>
            </a:r>
          </a:p>
          <a:p>
            <a:pPr marL="355600" indent="-342900">
              <a:lnSpc>
                <a:spcPts val="3665"/>
              </a:lnSpc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（</a:t>
            </a:r>
            <a:r>
              <a:rPr sz="3200" dirty="0">
                <a:latin typeface="Calibri"/>
                <a:cs typeface="Calibri"/>
              </a:rPr>
              <a:t>2</a:t>
            </a:r>
            <a:r>
              <a:rPr sz="3200" dirty="0">
                <a:latin typeface="宋体"/>
                <a:cs typeface="宋体"/>
              </a:rPr>
              <a:t>）系统或系统部件为了满足合同、标准、</a:t>
            </a:r>
          </a:p>
          <a:p>
            <a:pPr marL="355600" marR="617855">
              <a:lnSpc>
                <a:spcPts val="3600"/>
              </a:lnSpc>
              <a:spcBef>
                <a:spcPts val="585"/>
              </a:spcBef>
            </a:pPr>
            <a:r>
              <a:rPr sz="3200" dirty="0">
                <a:latin typeface="宋体"/>
                <a:cs typeface="宋体"/>
              </a:rPr>
              <a:t>规范或其它正式文档所规定的要求而需要 具备的</a:t>
            </a:r>
            <a:r>
              <a:rPr sz="3100" b="1" spc="145" dirty="0">
                <a:solidFill>
                  <a:srgbClr val="549E39"/>
                </a:solidFill>
                <a:latin typeface="宋体"/>
                <a:cs typeface="宋体"/>
              </a:rPr>
              <a:t>条件</a:t>
            </a:r>
            <a:r>
              <a:rPr sz="3200" dirty="0">
                <a:latin typeface="宋体"/>
                <a:cs typeface="宋体"/>
              </a:rPr>
              <a:t>或</a:t>
            </a:r>
            <a:r>
              <a:rPr sz="3100" b="1" spc="145" dirty="0">
                <a:solidFill>
                  <a:srgbClr val="549E39"/>
                </a:solidFill>
                <a:latin typeface="宋体"/>
                <a:cs typeface="宋体"/>
              </a:rPr>
              <a:t>能力</a:t>
            </a:r>
            <a:r>
              <a:rPr sz="3200" dirty="0">
                <a:latin typeface="宋体"/>
                <a:cs typeface="宋体"/>
              </a:rPr>
              <a:t>；</a:t>
            </a:r>
          </a:p>
          <a:p>
            <a:pPr marL="355600" marR="405765" indent="-342900">
              <a:lnSpc>
                <a:spcPts val="3820"/>
              </a:lnSpc>
              <a:spcBef>
                <a:spcPts val="115"/>
              </a:spcBef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（</a:t>
            </a:r>
            <a:r>
              <a:rPr sz="3200" dirty="0">
                <a:latin typeface="Calibri"/>
                <a:cs typeface="Calibri"/>
              </a:rPr>
              <a:t>3</a:t>
            </a:r>
            <a:r>
              <a:rPr sz="3200" dirty="0">
                <a:latin typeface="宋体"/>
                <a:cs typeface="宋体"/>
              </a:rPr>
              <a:t>）对（</a:t>
            </a:r>
            <a:r>
              <a:rPr sz="3200" dirty="0">
                <a:latin typeface="Calibri"/>
                <a:cs typeface="Calibri"/>
              </a:rPr>
              <a:t>1</a:t>
            </a:r>
            <a:r>
              <a:rPr sz="3200" dirty="0">
                <a:latin typeface="宋体"/>
                <a:cs typeface="宋体"/>
              </a:rPr>
              <a:t>）或（</a:t>
            </a:r>
            <a:r>
              <a:rPr sz="3200" dirty="0">
                <a:latin typeface="Calibri"/>
                <a:cs typeface="Calibri"/>
              </a:rPr>
              <a:t>2</a:t>
            </a:r>
            <a:r>
              <a:rPr sz="3200" dirty="0">
                <a:latin typeface="宋体"/>
                <a:cs typeface="宋体"/>
              </a:rPr>
              <a:t>）中的一个条件或一种 能力的一种</a:t>
            </a:r>
            <a:r>
              <a:rPr sz="3100" b="1" spc="145" dirty="0">
                <a:solidFill>
                  <a:srgbClr val="549E39"/>
                </a:solidFill>
                <a:latin typeface="宋体"/>
                <a:cs typeface="宋体"/>
              </a:rPr>
              <a:t>文档化</a:t>
            </a:r>
            <a:r>
              <a:rPr sz="3200" dirty="0">
                <a:latin typeface="宋体"/>
                <a:cs typeface="宋体"/>
              </a:rPr>
              <a:t>表述。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473963"/>
            <a:ext cx="22606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主要内容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0012"/>
            <a:ext cx="5651500" cy="3917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3829"/>
              </a:lnSpc>
              <a:spcBef>
                <a:spcPts val="100"/>
              </a:spcBef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需求的定义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04"/>
              </a:lnSpc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solidFill>
                  <a:srgbClr val="FF0000"/>
                </a:solidFill>
                <a:latin typeface="宋体"/>
                <a:cs typeface="宋体"/>
              </a:rPr>
              <a:t>理解需求内涵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15"/>
              </a:lnSpc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需求分类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29"/>
              </a:lnSpc>
              <a:spcBef>
                <a:spcPts val="45"/>
              </a:spcBef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需求工程的路线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29"/>
              </a:lnSpc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优秀需求特性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29"/>
              </a:lnSpc>
              <a:spcBef>
                <a:spcPts val="50"/>
              </a:spcBef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常见需求错误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04"/>
              </a:lnSpc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练习题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15"/>
              </a:lnSpc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软件需求与软件开发过程模型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9962" y="230124"/>
            <a:ext cx="5578475" cy="1186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06780" algn="ctr">
              <a:lnSpc>
                <a:spcPct val="100000"/>
              </a:lnSpc>
              <a:spcBef>
                <a:spcPts val="100"/>
              </a:spcBef>
            </a:pPr>
            <a:r>
              <a:rPr sz="3800" spc="-5" dirty="0">
                <a:latin typeface="Calibri"/>
                <a:cs typeface="Calibri"/>
              </a:rPr>
              <a:t>1.</a:t>
            </a:r>
            <a:r>
              <a:rPr sz="3800" dirty="0"/>
              <a:t>需求的涵义</a:t>
            </a:r>
            <a:endParaRPr sz="3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3800" dirty="0">
                <a:latin typeface="Arial"/>
                <a:cs typeface="Arial"/>
              </a:rPr>
              <a:t>——</a:t>
            </a:r>
            <a:r>
              <a:rPr sz="3800" dirty="0"/>
              <a:t>问题域与解系统（</a:t>
            </a:r>
            <a:r>
              <a:rPr sz="3800" spc="-5" dirty="0">
                <a:latin typeface="Calibri"/>
                <a:cs typeface="Calibri"/>
              </a:rPr>
              <a:t>1</a:t>
            </a:r>
            <a:r>
              <a:rPr sz="3800" dirty="0"/>
              <a:t>）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1620012"/>
            <a:ext cx="40259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软件系统与外部环境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24694" y="2331129"/>
            <a:ext cx="3458210" cy="3458210"/>
          </a:xfrm>
          <a:custGeom>
            <a:avLst/>
            <a:gdLst/>
            <a:ahLst/>
            <a:cxnLst/>
            <a:rect l="l" t="t" r="r" b="b"/>
            <a:pathLst>
              <a:path w="3458210" h="3458210">
                <a:moveTo>
                  <a:pt x="0" y="3458116"/>
                </a:moveTo>
                <a:lnTo>
                  <a:pt x="3458116" y="3458116"/>
                </a:lnTo>
                <a:lnTo>
                  <a:pt x="3458116" y="0"/>
                </a:lnTo>
                <a:lnTo>
                  <a:pt x="0" y="0"/>
                </a:lnTo>
                <a:lnTo>
                  <a:pt x="0" y="3458116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72868" y="3598975"/>
            <a:ext cx="1778635" cy="1778635"/>
          </a:xfrm>
          <a:custGeom>
            <a:avLst/>
            <a:gdLst/>
            <a:ahLst/>
            <a:cxnLst/>
            <a:rect l="l" t="t" r="r" b="b"/>
            <a:pathLst>
              <a:path w="1778635" h="1778635">
                <a:moveTo>
                  <a:pt x="889233" y="0"/>
                </a:moveTo>
                <a:lnTo>
                  <a:pt x="840446" y="1315"/>
                </a:lnTo>
                <a:lnTo>
                  <a:pt x="792347" y="5217"/>
                </a:lnTo>
                <a:lnTo>
                  <a:pt x="745002" y="11638"/>
                </a:lnTo>
                <a:lnTo>
                  <a:pt x="698481" y="20509"/>
                </a:lnTo>
                <a:lnTo>
                  <a:pt x="652850" y="31764"/>
                </a:lnTo>
                <a:lnTo>
                  <a:pt x="608178" y="45333"/>
                </a:lnTo>
                <a:lnTo>
                  <a:pt x="564533" y="61149"/>
                </a:lnTo>
                <a:lnTo>
                  <a:pt x="521982" y="79146"/>
                </a:lnTo>
                <a:lnTo>
                  <a:pt x="480593" y="99253"/>
                </a:lnTo>
                <a:lnTo>
                  <a:pt x="440433" y="121405"/>
                </a:lnTo>
                <a:lnTo>
                  <a:pt x="401572" y="145533"/>
                </a:lnTo>
                <a:lnTo>
                  <a:pt x="364076" y="171569"/>
                </a:lnTo>
                <a:lnTo>
                  <a:pt x="328014" y="199445"/>
                </a:lnTo>
                <a:lnTo>
                  <a:pt x="293453" y="229095"/>
                </a:lnTo>
                <a:lnTo>
                  <a:pt x="260461" y="260449"/>
                </a:lnTo>
                <a:lnTo>
                  <a:pt x="229107" y="293440"/>
                </a:lnTo>
                <a:lnTo>
                  <a:pt x="199456" y="328000"/>
                </a:lnTo>
                <a:lnTo>
                  <a:pt x="171579" y="364062"/>
                </a:lnTo>
                <a:lnTo>
                  <a:pt x="145542" y="401557"/>
                </a:lnTo>
                <a:lnTo>
                  <a:pt x="121413" y="440418"/>
                </a:lnTo>
                <a:lnTo>
                  <a:pt x="99260" y="480577"/>
                </a:lnTo>
                <a:lnTo>
                  <a:pt x="79151" y="521967"/>
                </a:lnTo>
                <a:lnTo>
                  <a:pt x="61154" y="564519"/>
                </a:lnTo>
                <a:lnTo>
                  <a:pt x="45336" y="608165"/>
                </a:lnTo>
                <a:lnTo>
                  <a:pt x="31766" y="652838"/>
                </a:lnTo>
                <a:lnTo>
                  <a:pt x="20511" y="698471"/>
                </a:lnTo>
                <a:lnTo>
                  <a:pt x="11639" y="744994"/>
                </a:lnTo>
                <a:lnTo>
                  <a:pt x="5218" y="792341"/>
                </a:lnTo>
                <a:lnTo>
                  <a:pt x="1315" y="840443"/>
                </a:lnTo>
                <a:lnTo>
                  <a:pt x="0" y="889233"/>
                </a:lnTo>
                <a:lnTo>
                  <a:pt x="1319" y="938023"/>
                </a:lnTo>
                <a:lnTo>
                  <a:pt x="5224" y="986125"/>
                </a:lnTo>
                <a:lnTo>
                  <a:pt x="11648" y="1033472"/>
                </a:lnTo>
                <a:lnTo>
                  <a:pt x="20522" y="1079995"/>
                </a:lnTo>
                <a:lnTo>
                  <a:pt x="31778" y="1125628"/>
                </a:lnTo>
                <a:lnTo>
                  <a:pt x="45350" y="1170301"/>
                </a:lnTo>
                <a:lnTo>
                  <a:pt x="61168" y="1213947"/>
                </a:lnTo>
                <a:lnTo>
                  <a:pt x="79166" y="1256499"/>
                </a:lnTo>
                <a:lnTo>
                  <a:pt x="99276" y="1297888"/>
                </a:lnTo>
                <a:lnTo>
                  <a:pt x="121429" y="1338047"/>
                </a:lnTo>
                <a:lnTo>
                  <a:pt x="145557" y="1376908"/>
                </a:lnTo>
                <a:lnTo>
                  <a:pt x="171594" y="1414404"/>
                </a:lnTo>
                <a:lnTo>
                  <a:pt x="199471" y="1450465"/>
                </a:lnTo>
                <a:lnTo>
                  <a:pt x="229121" y="1485026"/>
                </a:lnTo>
                <a:lnTo>
                  <a:pt x="260475" y="1518017"/>
                </a:lnTo>
                <a:lnTo>
                  <a:pt x="293466" y="1549371"/>
                </a:lnTo>
                <a:lnTo>
                  <a:pt x="328026" y="1579020"/>
                </a:lnTo>
                <a:lnTo>
                  <a:pt x="364087" y="1606896"/>
                </a:lnTo>
                <a:lnTo>
                  <a:pt x="401581" y="1632932"/>
                </a:lnTo>
                <a:lnTo>
                  <a:pt x="440441" y="1657060"/>
                </a:lnTo>
                <a:lnTo>
                  <a:pt x="480599" y="1679212"/>
                </a:lnTo>
                <a:lnTo>
                  <a:pt x="521987" y="1699320"/>
                </a:lnTo>
                <a:lnTo>
                  <a:pt x="564537" y="1717316"/>
                </a:lnTo>
                <a:lnTo>
                  <a:pt x="608182" y="1733132"/>
                </a:lnTo>
                <a:lnTo>
                  <a:pt x="652853" y="1746702"/>
                </a:lnTo>
                <a:lnTo>
                  <a:pt x="698482" y="1757956"/>
                </a:lnTo>
                <a:lnTo>
                  <a:pt x="745003" y="1766827"/>
                </a:lnTo>
                <a:lnTo>
                  <a:pt x="792347" y="1773248"/>
                </a:lnTo>
                <a:lnTo>
                  <a:pt x="840446" y="1777150"/>
                </a:lnTo>
                <a:lnTo>
                  <a:pt x="889233" y="1778466"/>
                </a:lnTo>
                <a:lnTo>
                  <a:pt x="938023" y="1777150"/>
                </a:lnTo>
                <a:lnTo>
                  <a:pt x="986125" y="1773248"/>
                </a:lnTo>
                <a:lnTo>
                  <a:pt x="1033472" y="1766827"/>
                </a:lnTo>
                <a:lnTo>
                  <a:pt x="1079995" y="1757956"/>
                </a:lnTo>
                <a:lnTo>
                  <a:pt x="1125628" y="1746702"/>
                </a:lnTo>
                <a:lnTo>
                  <a:pt x="1170301" y="1733132"/>
                </a:lnTo>
                <a:lnTo>
                  <a:pt x="1213947" y="1717316"/>
                </a:lnTo>
                <a:lnTo>
                  <a:pt x="1256499" y="1699320"/>
                </a:lnTo>
                <a:lnTo>
                  <a:pt x="1297888" y="1679212"/>
                </a:lnTo>
                <a:lnTo>
                  <a:pt x="1338047" y="1657060"/>
                </a:lnTo>
                <a:lnTo>
                  <a:pt x="1376908" y="1632932"/>
                </a:lnTo>
                <a:lnTo>
                  <a:pt x="1414404" y="1606896"/>
                </a:lnTo>
                <a:lnTo>
                  <a:pt x="1450465" y="1579020"/>
                </a:lnTo>
                <a:lnTo>
                  <a:pt x="1485026" y="1549371"/>
                </a:lnTo>
                <a:lnTo>
                  <a:pt x="1518017" y="1518017"/>
                </a:lnTo>
                <a:lnTo>
                  <a:pt x="1549371" y="1485026"/>
                </a:lnTo>
                <a:lnTo>
                  <a:pt x="1579020" y="1450465"/>
                </a:lnTo>
                <a:lnTo>
                  <a:pt x="1606896" y="1414404"/>
                </a:lnTo>
                <a:lnTo>
                  <a:pt x="1632932" y="1376908"/>
                </a:lnTo>
                <a:lnTo>
                  <a:pt x="1657060" y="1338047"/>
                </a:lnTo>
                <a:lnTo>
                  <a:pt x="1679212" y="1297888"/>
                </a:lnTo>
                <a:lnTo>
                  <a:pt x="1699320" y="1256499"/>
                </a:lnTo>
                <a:lnTo>
                  <a:pt x="1717316" y="1213947"/>
                </a:lnTo>
                <a:lnTo>
                  <a:pt x="1733132" y="1170301"/>
                </a:lnTo>
                <a:lnTo>
                  <a:pt x="1746702" y="1125628"/>
                </a:lnTo>
                <a:lnTo>
                  <a:pt x="1757956" y="1079995"/>
                </a:lnTo>
                <a:lnTo>
                  <a:pt x="1766827" y="1033472"/>
                </a:lnTo>
                <a:lnTo>
                  <a:pt x="1773248" y="986125"/>
                </a:lnTo>
                <a:lnTo>
                  <a:pt x="1777150" y="938023"/>
                </a:lnTo>
                <a:lnTo>
                  <a:pt x="1778466" y="889233"/>
                </a:lnTo>
                <a:lnTo>
                  <a:pt x="1777150" y="840443"/>
                </a:lnTo>
                <a:lnTo>
                  <a:pt x="1773248" y="792341"/>
                </a:lnTo>
                <a:lnTo>
                  <a:pt x="1766827" y="744994"/>
                </a:lnTo>
                <a:lnTo>
                  <a:pt x="1757956" y="698471"/>
                </a:lnTo>
                <a:lnTo>
                  <a:pt x="1746702" y="652838"/>
                </a:lnTo>
                <a:lnTo>
                  <a:pt x="1733132" y="608165"/>
                </a:lnTo>
                <a:lnTo>
                  <a:pt x="1717316" y="564519"/>
                </a:lnTo>
                <a:lnTo>
                  <a:pt x="1699320" y="521967"/>
                </a:lnTo>
                <a:lnTo>
                  <a:pt x="1679212" y="480577"/>
                </a:lnTo>
                <a:lnTo>
                  <a:pt x="1657060" y="440418"/>
                </a:lnTo>
                <a:lnTo>
                  <a:pt x="1632932" y="401557"/>
                </a:lnTo>
                <a:lnTo>
                  <a:pt x="1606896" y="364062"/>
                </a:lnTo>
                <a:lnTo>
                  <a:pt x="1579020" y="328000"/>
                </a:lnTo>
                <a:lnTo>
                  <a:pt x="1549371" y="293440"/>
                </a:lnTo>
                <a:lnTo>
                  <a:pt x="1518017" y="260449"/>
                </a:lnTo>
                <a:lnTo>
                  <a:pt x="1485026" y="229095"/>
                </a:lnTo>
                <a:lnTo>
                  <a:pt x="1450465" y="199445"/>
                </a:lnTo>
                <a:lnTo>
                  <a:pt x="1414404" y="171569"/>
                </a:lnTo>
                <a:lnTo>
                  <a:pt x="1376908" y="145533"/>
                </a:lnTo>
                <a:lnTo>
                  <a:pt x="1338047" y="121405"/>
                </a:lnTo>
                <a:lnTo>
                  <a:pt x="1297888" y="99253"/>
                </a:lnTo>
                <a:lnTo>
                  <a:pt x="1256499" y="79146"/>
                </a:lnTo>
                <a:lnTo>
                  <a:pt x="1213947" y="61149"/>
                </a:lnTo>
                <a:lnTo>
                  <a:pt x="1170301" y="45333"/>
                </a:lnTo>
                <a:lnTo>
                  <a:pt x="1125628" y="31764"/>
                </a:lnTo>
                <a:lnTo>
                  <a:pt x="1079995" y="20509"/>
                </a:lnTo>
                <a:lnTo>
                  <a:pt x="1033472" y="11638"/>
                </a:lnTo>
                <a:lnTo>
                  <a:pt x="986125" y="5217"/>
                </a:lnTo>
                <a:lnTo>
                  <a:pt x="938023" y="1315"/>
                </a:lnTo>
                <a:lnTo>
                  <a:pt x="889233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72868" y="3598975"/>
            <a:ext cx="1778635" cy="1778635"/>
          </a:xfrm>
          <a:custGeom>
            <a:avLst/>
            <a:gdLst/>
            <a:ahLst/>
            <a:cxnLst/>
            <a:rect l="l" t="t" r="r" b="b"/>
            <a:pathLst>
              <a:path w="1778635" h="1778635">
                <a:moveTo>
                  <a:pt x="0" y="889232"/>
                </a:moveTo>
                <a:lnTo>
                  <a:pt x="1315" y="840442"/>
                </a:lnTo>
                <a:lnTo>
                  <a:pt x="5218" y="792340"/>
                </a:lnTo>
                <a:lnTo>
                  <a:pt x="11639" y="744993"/>
                </a:lnTo>
                <a:lnTo>
                  <a:pt x="20511" y="698470"/>
                </a:lnTo>
                <a:lnTo>
                  <a:pt x="31766" y="652838"/>
                </a:lnTo>
                <a:lnTo>
                  <a:pt x="45336" y="608165"/>
                </a:lnTo>
                <a:lnTo>
                  <a:pt x="61154" y="564518"/>
                </a:lnTo>
                <a:lnTo>
                  <a:pt x="79151" y="521966"/>
                </a:lnTo>
                <a:lnTo>
                  <a:pt x="99260" y="480577"/>
                </a:lnTo>
                <a:lnTo>
                  <a:pt x="121413" y="440418"/>
                </a:lnTo>
                <a:lnTo>
                  <a:pt x="145542" y="401557"/>
                </a:lnTo>
                <a:lnTo>
                  <a:pt x="171579" y="364061"/>
                </a:lnTo>
                <a:lnTo>
                  <a:pt x="199456" y="328000"/>
                </a:lnTo>
                <a:lnTo>
                  <a:pt x="229107" y="293439"/>
                </a:lnTo>
                <a:lnTo>
                  <a:pt x="260461" y="260448"/>
                </a:lnTo>
                <a:lnTo>
                  <a:pt x="293453" y="229094"/>
                </a:lnTo>
                <a:lnTo>
                  <a:pt x="328014" y="199445"/>
                </a:lnTo>
                <a:lnTo>
                  <a:pt x="364076" y="171569"/>
                </a:lnTo>
                <a:lnTo>
                  <a:pt x="401572" y="145533"/>
                </a:lnTo>
                <a:lnTo>
                  <a:pt x="440433" y="121405"/>
                </a:lnTo>
                <a:lnTo>
                  <a:pt x="480592" y="99253"/>
                </a:lnTo>
                <a:lnTo>
                  <a:pt x="521981" y="79146"/>
                </a:lnTo>
                <a:lnTo>
                  <a:pt x="564533" y="61149"/>
                </a:lnTo>
                <a:lnTo>
                  <a:pt x="608178" y="45333"/>
                </a:lnTo>
                <a:lnTo>
                  <a:pt x="652850" y="31763"/>
                </a:lnTo>
                <a:lnTo>
                  <a:pt x="698480" y="20509"/>
                </a:lnTo>
                <a:lnTo>
                  <a:pt x="745002" y="11638"/>
                </a:lnTo>
                <a:lnTo>
                  <a:pt x="792346" y="5217"/>
                </a:lnTo>
                <a:lnTo>
                  <a:pt x="840446" y="1315"/>
                </a:lnTo>
                <a:lnTo>
                  <a:pt x="889232" y="0"/>
                </a:lnTo>
                <a:lnTo>
                  <a:pt x="938023" y="1315"/>
                </a:lnTo>
                <a:lnTo>
                  <a:pt x="986125" y="5217"/>
                </a:lnTo>
                <a:lnTo>
                  <a:pt x="1033472" y="11638"/>
                </a:lnTo>
                <a:lnTo>
                  <a:pt x="1079995" y="20509"/>
                </a:lnTo>
                <a:lnTo>
                  <a:pt x="1125627" y="31763"/>
                </a:lnTo>
                <a:lnTo>
                  <a:pt x="1170300" y="45333"/>
                </a:lnTo>
                <a:lnTo>
                  <a:pt x="1213947" y="61149"/>
                </a:lnTo>
                <a:lnTo>
                  <a:pt x="1256499" y="79146"/>
                </a:lnTo>
                <a:lnTo>
                  <a:pt x="1297888" y="99253"/>
                </a:lnTo>
                <a:lnTo>
                  <a:pt x="1338047" y="121405"/>
                </a:lnTo>
                <a:lnTo>
                  <a:pt x="1376908" y="145533"/>
                </a:lnTo>
                <a:lnTo>
                  <a:pt x="1414404" y="171569"/>
                </a:lnTo>
                <a:lnTo>
                  <a:pt x="1450465" y="199445"/>
                </a:lnTo>
                <a:lnTo>
                  <a:pt x="1485026" y="229094"/>
                </a:lnTo>
                <a:lnTo>
                  <a:pt x="1518017" y="260448"/>
                </a:lnTo>
                <a:lnTo>
                  <a:pt x="1549371" y="293439"/>
                </a:lnTo>
                <a:lnTo>
                  <a:pt x="1579020" y="328000"/>
                </a:lnTo>
                <a:lnTo>
                  <a:pt x="1606896" y="364061"/>
                </a:lnTo>
                <a:lnTo>
                  <a:pt x="1632932" y="401557"/>
                </a:lnTo>
                <a:lnTo>
                  <a:pt x="1657060" y="440418"/>
                </a:lnTo>
                <a:lnTo>
                  <a:pt x="1679212" y="480577"/>
                </a:lnTo>
                <a:lnTo>
                  <a:pt x="1699319" y="521966"/>
                </a:lnTo>
                <a:lnTo>
                  <a:pt x="1717316" y="564518"/>
                </a:lnTo>
                <a:lnTo>
                  <a:pt x="1733132" y="608165"/>
                </a:lnTo>
                <a:lnTo>
                  <a:pt x="1746701" y="652838"/>
                </a:lnTo>
                <a:lnTo>
                  <a:pt x="1757956" y="698470"/>
                </a:lnTo>
                <a:lnTo>
                  <a:pt x="1766827" y="744993"/>
                </a:lnTo>
                <a:lnTo>
                  <a:pt x="1773248" y="792340"/>
                </a:lnTo>
                <a:lnTo>
                  <a:pt x="1777150" y="840442"/>
                </a:lnTo>
                <a:lnTo>
                  <a:pt x="1778465" y="889232"/>
                </a:lnTo>
                <a:lnTo>
                  <a:pt x="1777150" y="938023"/>
                </a:lnTo>
                <a:lnTo>
                  <a:pt x="1773248" y="986125"/>
                </a:lnTo>
                <a:lnTo>
                  <a:pt x="1766827" y="1033472"/>
                </a:lnTo>
                <a:lnTo>
                  <a:pt x="1757956" y="1079995"/>
                </a:lnTo>
                <a:lnTo>
                  <a:pt x="1746701" y="1125627"/>
                </a:lnTo>
                <a:lnTo>
                  <a:pt x="1733132" y="1170300"/>
                </a:lnTo>
                <a:lnTo>
                  <a:pt x="1717316" y="1213947"/>
                </a:lnTo>
                <a:lnTo>
                  <a:pt x="1699319" y="1256499"/>
                </a:lnTo>
                <a:lnTo>
                  <a:pt x="1679212" y="1297888"/>
                </a:lnTo>
                <a:lnTo>
                  <a:pt x="1657060" y="1338047"/>
                </a:lnTo>
                <a:lnTo>
                  <a:pt x="1632932" y="1376908"/>
                </a:lnTo>
                <a:lnTo>
                  <a:pt x="1606896" y="1414404"/>
                </a:lnTo>
                <a:lnTo>
                  <a:pt x="1579020" y="1450465"/>
                </a:lnTo>
                <a:lnTo>
                  <a:pt x="1549371" y="1485026"/>
                </a:lnTo>
                <a:lnTo>
                  <a:pt x="1518017" y="1518017"/>
                </a:lnTo>
                <a:lnTo>
                  <a:pt x="1485026" y="1549371"/>
                </a:lnTo>
                <a:lnTo>
                  <a:pt x="1450465" y="1579020"/>
                </a:lnTo>
                <a:lnTo>
                  <a:pt x="1414404" y="1606896"/>
                </a:lnTo>
                <a:lnTo>
                  <a:pt x="1376908" y="1632932"/>
                </a:lnTo>
                <a:lnTo>
                  <a:pt x="1338047" y="1657060"/>
                </a:lnTo>
                <a:lnTo>
                  <a:pt x="1297888" y="1679212"/>
                </a:lnTo>
                <a:lnTo>
                  <a:pt x="1256499" y="1699319"/>
                </a:lnTo>
                <a:lnTo>
                  <a:pt x="1213947" y="1717316"/>
                </a:lnTo>
                <a:lnTo>
                  <a:pt x="1170300" y="1733132"/>
                </a:lnTo>
                <a:lnTo>
                  <a:pt x="1125627" y="1746701"/>
                </a:lnTo>
                <a:lnTo>
                  <a:pt x="1079995" y="1757956"/>
                </a:lnTo>
                <a:lnTo>
                  <a:pt x="1033472" y="1766827"/>
                </a:lnTo>
                <a:lnTo>
                  <a:pt x="986125" y="1773248"/>
                </a:lnTo>
                <a:lnTo>
                  <a:pt x="938023" y="1777150"/>
                </a:lnTo>
                <a:lnTo>
                  <a:pt x="889232" y="1778465"/>
                </a:lnTo>
                <a:lnTo>
                  <a:pt x="840446" y="1777150"/>
                </a:lnTo>
                <a:lnTo>
                  <a:pt x="792347" y="1773248"/>
                </a:lnTo>
                <a:lnTo>
                  <a:pt x="745003" y="1766827"/>
                </a:lnTo>
                <a:lnTo>
                  <a:pt x="698482" y="1757956"/>
                </a:lnTo>
                <a:lnTo>
                  <a:pt x="652852" y="1746701"/>
                </a:lnTo>
                <a:lnTo>
                  <a:pt x="608181" y="1733132"/>
                </a:lnTo>
                <a:lnTo>
                  <a:pt x="564537" y="1717316"/>
                </a:lnTo>
                <a:lnTo>
                  <a:pt x="521987" y="1699319"/>
                </a:lnTo>
                <a:lnTo>
                  <a:pt x="480599" y="1679212"/>
                </a:lnTo>
                <a:lnTo>
                  <a:pt x="440441" y="1657060"/>
                </a:lnTo>
                <a:lnTo>
                  <a:pt x="401581" y="1632932"/>
                </a:lnTo>
                <a:lnTo>
                  <a:pt x="364086" y="1606896"/>
                </a:lnTo>
                <a:lnTo>
                  <a:pt x="328025" y="1579020"/>
                </a:lnTo>
                <a:lnTo>
                  <a:pt x="293465" y="1549371"/>
                </a:lnTo>
                <a:lnTo>
                  <a:pt x="260474" y="1518017"/>
                </a:lnTo>
                <a:lnTo>
                  <a:pt x="229120" y="1485026"/>
                </a:lnTo>
                <a:lnTo>
                  <a:pt x="199471" y="1450465"/>
                </a:lnTo>
                <a:lnTo>
                  <a:pt x="171594" y="1414404"/>
                </a:lnTo>
                <a:lnTo>
                  <a:pt x="145557" y="1376908"/>
                </a:lnTo>
                <a:lnTo>
                  <a:pt x="121428" y="1338047"/>
                </a:lnTo>
                <a:lnTo>
                  <a:pt x="99275" y="1297888"/>
                </a:lnTo>
                <a:lnTo>
                  <a:pt x="79166" y="1256499"/>
                </a:lnTo>
                <a:lnTo>
                  <a:pt x="61168" y="1213947"/>
                </a:lnTo>
                <a:lnTo>
                  <a:pt x="45350" y="1170300"/>
                </a:lnTo>
                <a:lnTo>
                  <a:pt x="31778" y="1125627"/>
                </a:lnTo>
                <a:lnTo>
                  <a:pt x="20521" y="1079995"/>
                </a:lnTo>
                <a:lnTo>
                  <a:pt x="11647" y="1033472"/>
                </a:lnTo>
                <a:lnTo>
                  <a:pt x="5224" y="986125"/>
                </a:lnTo>
                <a:lnTo>
                  <a:pt x="1319" y="938023"/>
                </a:lnTo>
                <a:lnTo>
                  <a:pt x="0" y="889232"/>
                </a:lnTo>
                <a:close/>
              </a:path>
            </a:pathLst>
          </a:custGeom>
          <a:ln w="83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24695" y="2331128"/>
            <a:ext cx="3458210" cy="3458210"/>
          </a:xfrm>
          <a:prstGeom prst="rect">
            <a:avLst/>
          </a:prstGeom>
          <a:ln w="8365">
            <a:solidFill>
              <a:srgbClr val="000000"/>
            </a:solidFill>
          </a:ln>
        </p:spPr>
        <p:txBody>
          <a:bodyPr vert="horz" wrap="square" lIns="0" tIns="327025" rIns="0" bIns="0" rtlCol="0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2575"/>
              </a:spcBef>
            </a:pPr>
            <a:r>
              <a:rPr sz="3300" dirty="0">
                <a:latin typeface="宋体"/>
                <a:cs typeface="宋体"/>
              </a:rPr>
              <a:t>现实世</a:t>
            </a:r>
            <a:r>
              <a:rPr sz="3300" spc="-10" dirty="0">
                <a:latin typeface="宋体"/>
                <a:cs typeface="宋体"/>
              </a:rPr>
              <a:t>界</a:t>
            </a:r>
            <a:endParaRPr sz="33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850">
              <a:latin typeface="宋体"/>
              <a:cs typeface="宋体"/>
            </a:endParaRPr>
          </a:p>
          <a:p>
            <a:pPr marL="288290">
              <a:lnSpc>
                <a:spcPct val="100000"/>
              </a:lnSpc>
            </a:pPr>
            <a:r>
              <a:rPr sz="2200" spc="-5" dirty="0">
                <a:latin typeface="宋体"/>
                <a:cs typeface="宋体"/>
              </a:rPr>
              <a:t>环境</a:t>
            </a:r>
            <a:endParaRPr sz="2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宋体"/>
              <a:cs typeface="宋体"/>
            </a:endParaRPr>
          </a:p>
          <a:p>
            <a:pPr marL="16510" algn="ctr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latin typeface="宋体"/>
                <a:cs typeface="宋体"/>
              </a:rPr>
              <a:t>软件系统</a:t>
            </a:r>
            <a:endParaRPr sz="22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00">
              <a:latin typeface="宋体"/>
              <a:cs typeface="宋体"/>
            </a:endParaRPr>
          </a:p>
          <a:p>
            <a:pPr marR="34925" algn="r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latin typeface="MS Gothic"/>
                <a:cs typeface="MS Gothic"/>
              </a:rPr>
              <a:t>接口</a:t>
            </a:r>
            <a:endParaRPr sz="2200">
              <a:latin typeface="MS Gothic"/>
              <a:cs typeface="MS Gothic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68901" y="5200898"/>
            <a:ext cx="320040" cy="226695"/>
          </a:xfrm>
          <a:custGeom>
            <a:avLst/>
            <a:gdLst/>
            <a:ahLst/>
            <a:cxnLst/>
            <a:rect l="l" t="t" r="r" b="b"/>
            <a:pathLst>
              <a:path w="320039" h="226695">
                <a:moveTo>
                  <a:pt x="0" y="0"/>
                </a:moveTo>
                <a:lnTo>
                  <a:pt x="319868" y="226072"/>
                </a:lnTo>
              </a:path>
            </a:pathLst>
          </a:custGeom>
          <a:ln w="8365">
            <a:solidFill>
              <a:srgbClr val="467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252831" y="5048232"/>
            <a:ext cx="291465" cy="245110"/>
          </a:xfrm>
          <a:custGeom>
            <a:avLst/>
            <a:gdLst/>
            <a:ahLst/>
            <a:cxnLst/>
            <a:rect l="l" t="t" r="r" b="b"/>
            <a:pathLst>
              <a:path w="291464" h="245110">
                <a:moveTo>
                  <a:pt x="0" y="0"/>
                </a:moveTo>
                <a:lnTo>
                  <a:pt x="180168" y="245103"/>
                </a:lnTo>
                <a:lnTo>
                  <a:pt x="291217" y="87975"/>
                </a:lnTo>
                <a:lnTo>
                  <a:pt x="0" y="0"/>
                </a:lnTo>
                <a:close/>
              </a:path>
            </a:pathLst>
          </a:custGeom>
          <a:solidFill>
            <a:srgbClr val="4677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4800" y="230124"/>
            <a:ext cx="4368800" cy="1186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7185">
              <a:lnSpc>
                <a:spcPct val="100000"/>
              </a:lnSpc>
              <a:spcBef>
                <a:spcPts val="100"/>
              </a:spcBef>
            </a:pPr>
            <a:r>
              <a:rPr sz="3800" spc="-5" dirty="0">
                <a:latin typeface="Calibri"/>
                <a:cs typeface="Calibri"/>
              </a:rPr>
              <a:t>1.</a:t>
            </a:r>
            <a:r>
              <a:rPr sz="3800" dirty="0"/>
              <a:t>需求的涵义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3800" dirty="0">
                <a:latin typeface="Arial"/>
                <a:cs typeface="Arial"/>
              </a:rPr>
              <a:t>——</a:t>
            </a:r>
            <a:r>
              <a:rPr sz="3800" dirty="0"/>
              <a:t>问题域与解系统</a:t>
            </a:r>
            <a:endParaRPr sz="3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8295" y="1611883"/>
            <a:ext cx="7988300" cy="1653539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82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当现实状况与人们的期望产生差距时，就产生了</a:t>
            </a: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问题</a:t>
            </a:r>
            <a:r>
              <a:rPr sz="2400" dirty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355600" marR="5080" indent="-342900" algn="just">
              <a:lnSpc>
                <a:spcPct val="97500"/>
              </a:lnSpc>
              <a:spcBef>
                <a:spcPts val="79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要解决问题，就需要改变现实当中某些实体的状态或改变 实体状态变化的演进顺序（过程），使其达到期望的状态 或演进顺序。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4381" y="3402066"/>
            <a:ext cx="4707890" cy="2548255"/>
          </a:xfrm>
          <a:custGeom>
            <a:avLst/>
            <a:gdLst/>
            <a:ahLst/>
            <a:cxnLst/>
            <a:rect l="l" t="t" r="r" b="b"/>
            <a:pathLst>
              <a:path w="4707890" h="2548254">
                <a:moveTo>
                  <a:pt x="0" y="2548229"/>
                </a:moveTo>
                <a:lnTo>
                  <a:pt x="4707543" y="2548229"/>
                </a:lnTo>
                <a:lnTo>
                  <a:pt x="4707543" y="0"/>
                </a:lnTo>
                <a:lnTo>
                  <a:pt x="0" y="0"/>
                </a:lnTo>
                <a:lnTo>
                  <a:pt x="0" y="2548229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4381" y="3402066"/>
            <a:ext cx="4707890" cy="2548255"/>
          </a:xfrm>
          <a:custGeom>
            <a:avLst/>
            <a:gdLst/>
            <a:ahLst/>
            <a:cxnLst/>
            <a:rect l="l" t="t" r="r" b="b"/>
            <a:pathLst>
              <a:path w="4707890" h="2548254">
                <a:moveTo>
                  <a:pt x="0" y="2548229"/>
                </a:moveTo>
                <a:lnTo>
                  <a:pt x="4707544" y="2548229"/>
                </a:lnTo>
                <a:lnTo>
                  <a:pt x="4707544" y="0"/>
                </a:lnTo>
                <a:lnTo>
                  <a:pt x="0" y="0"/>
                </a:lnTo>
                <a:lnTo>
                  <a:pt x="0" y="2548229"/>
                </a:lnTo>
                <a:close/>
              </a:path>
            </a:pathLst>
          </a:custGeom>
          <a:ln w="5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51697" y="4206833"/>
            <a:ext cx="1210945" cy="1207135"/>
          </a:xfrm>
          <a:custGeom>
            <a:avLst/>
            <a:gdLst/>
            <a:ahLst/>
            <a:cxnLst/>
            <a:rect l="l" t="t" r="r" b="b"/>
            <a:pathLst>
              <a:path w="1210945" h="1207135">
                <a:moveTo>
                  <a:pt x="605198" y="0"/>
                </a:moveTo>
                <a:lnTo>
                  <a:pt x="557898" y="1815"/>
                </a:lnTo>
                <a:lnTo>
                  <a:pt x="511595" y="7173"/>
                </a:lnTo>
                <a:lnTo>
                  <a:pt x="466422" y="15939"/>
                </a:lnTo>
                <a:lnTo>
                  <a:pt x="422515" y="27978"/>
                </a:lnTo>
                <a:lnTo>
                  <a:pt x="380008" y="43157"/>
                </a:lnTo>
                <a:lnTo>
                  <a:pt x="339034" y="61341"/>
                </a:lnTo>
                <a:lnTo>
                  <a:pt x="299730" y="82396"/>
                </a:lnTo>
                <a:lnTo>
                  <a:pt x="262229" y="106189"/>
                </a:lnTo>
                <a:lnTo>
                  <a:pt x="226665" y="132584"/>
                </a:lnTo>
                <a:lnTo>
                  <a:pt x="193174" y="161448"/>
                </a:lnTo>
                <a:lnTo>
                  <a:pt x="161889" y="192646"/>
                </a:lnTo>
                <a:lnTo>
                  <a:pt x="132946" y="226045"/>
                </a:lnTo>
                <a:lnTo>
                  <a:pt x="106478" y="261510"/>
                </a:lnTo>
                <a:lnTo>
                  <a:pt x="82620" y="298907"/>
                </a:lnTo>
                <a:lnTo>
                  <a:pt x="61508" y="338102"/>
                </a:lnTo>
                <a:lnTo>
                  <a:pt x="43274" y="378961"/>
                </a:lnTo>
                <a:lnTo>
                  <a:pt x="28054" y="421349"/>
                </a:lnTo>
                <a:lnTo>
                  <a:pt x="15982" y="465133"/>
                </a:lnTo>
                <a:lnTo>
                  <a:pt x="7192" y="510177"/>
                </a:lnTo>
                <a:lnTo>
                  <a:pt x="1820" y="556349"/>
                </a:lnTo>
                <a:lnTo>
                  <a:pt x="0" y="603514"/>
                </a:lnTo>
                <a:lnTo>
                  <a:pt x="1820" y="650675"/>
                </a:lnTo>
                <a:lnTo>
                  <a:pt x="7192" y="696844"/>
                </a:lnTo>
                <a:lnTo>
                  <a:pt x="15982" y="741886"/>
                </a:lnTo>
                <a:lnTo>
                  <a:pt x="28054" y="785667"/>
                </a:lnTo>
                <a:lnTo>
                  <a:pt x="43274" y="828053"/>
                </a:lnTo>
                <a:lnTo>
                  <a:pt x="61508" y="868909"/>
                </a:lnTo>
                <a:lnTo>
                  <a:pt x="82620" y="908103"/>
                </a:lnTo>
                <a:lnTo>
                  <a:pt x="106478" y="945498"/>
                </a:lnTo>
                <a:lnTo>
                  <a:pt x="132946" y="980962"/>
                </a:lnTo>
                <a:lnTo>
                  <a:pt x="161889" y="1014360"/>
                </a:lnTo>
                <a:lnTo>
                  <a:pt x="193174" y="1045557"/>
                </a:lnTo>
                <a:lnTo>
                  <a:pt x="226665" y="1074420"/>
                </a:lnTo>
                <a:lnTo>
                  <a:pt x="262229" y="1100815"/>
                </a:lnTo>
                <a:lnTo>
                  <a:pt x="299730" y="1124607"/>
                </a:lnTo>
                <a:lnTo>
                  <a:pt x="339034" y="1145662"/>
                </a:lnTo>
                <a:lnTo>
                  <a:pt x="380008" y="1163846"/>
                </a:lnTo>
                <a:lnTo>
                  <a:pt x="422515" y="1179024"/>
                </a:lnTo>
                <a:lnTo>
                  <a:pt x="466422" y="1191063"/>
                </a:lnTo>
                <a:lnTo>
                  <a:pt x="511595" y="1199829"/>
                </a:lnTo>
                <a:lnTo>
                  <a:pt x="557898" y="1205187"/>
                </a:lnTo>
                <a:lnTo>
                  <a:pt x="605198" y="1207002"/>
                </a:lnTo>
                <a:lnTo>
                  <a:pt x="652497" y="1205187"/>
                </a:lnTo>
                <a:lnTo>
                  <a:pt x="698801" y="1199829"/>
                </a:lnTo>
                <a:lnTo>
                  <a:pt x="743973" y="1191063"/>
                </a:lnTo>
                <a:lnTo>
                  <a:pt x="787880" y="1179024"/>
                </a:lnTo>
                <a:lnTo>
                  <a:pt x="830388" y="1163846"/>
                </a:lnTo>
                <a:lnTo>
                  <a:pt x="871361" y="1145662"/>
                </a:lnTo>
                <a:lnTo>
                  <a:pt x="910666" y="1124607"/>
                </a:lnTo>
                <a:lnTo>
                  <a:pt x="948167" y="1100815"/>
                </a:lnTo>
                <a:lnTo>
                  <a:pt x="983730" y="1074420"/>
                </a:lnTo>
                <a:lnTo>
                  <a:pt x="1017222" y="1045557"/>
                </a:lnTo>
                <a:lnTo>
                  <a:pt x="1048506" y="1014360"/>
                </a:lnTo>
                <a:lnTo>
                  <a:pt x="1077450" y="980962"/>
                </a:lnTo>
                <a:lnTo>
                  <a:pt x="1103917" y="945498"/>
                </a:lnTo>
                <a:lnTo>
                  <a:pt x="1127775" y="908103"/>
                </a:lnTo>
                <a:lnTo>
                  <a:pt x="1148888" y="868909"/>
                </a:lnTo>
                <a:lnTo>
                  <a:pt x="1167122" y="828053"/>
                </a:lnTo>
                <a:lnTo>
                  <a:pt x="1182342" y="785667"/>
                </a:lnTo>
                <a:lnTo>
                  <a:pt x="1194414" y="741886"/>
                </a:lnTo>
                <a:lnTo>
                  <a:pt x="1203203" y="696844"/>
                </a:lnTo>
                <a:lnTo>
                  <a:pt x="1208575" y="650675"/>
                </a:lnTo>
                <a:lnTo>
                  <a:pt x="1210396" y="603514"/>
                </a:lnTo>
                <a:lnTo>
                  <a:pt x="1208575" y="556349"/>
                </a:lnTo>
                <a:lnTo>
                  <a:pt x="1203203" y="510177"/>
                </a:lnTo>
                <a:lnTo>
                  <a:pt x="1194414" y="465133"/>
                </a:lnTo>
                <a:lnTo>
                  <a:pt x="1182342" y="421349"/>
                </a:lnTo>
                <a:lnTo>
                  <a:pt x="1167122" y="378961"/>
                </a:lnTo>
                <a:lnTo>
                  <a:pt x="1148888" y="338102"/>
                </a:lnTo>
                <a:lnTo>
                  <a:pt x="1127775" y="298907"/>
                </a:lnTo>
                <a:lnTo>
                  <a:pt x="1103917" y="261510"/>
                </a:lnTo>
                <a:lnTo>
                  <a:pt x="1077450" y="226045"/>
                </a:lnTo>
                <a:lnTo>
                  <a:pt x="1048506" y="192646"/>
                </a:lnTo>
                <a:lnTo>
                  <a:pt x="1017222" y="161448"/>
                </a:lnTo>
                <a:lnTo>
                  <a:pt x="983730" y="132584"/>
                </a:lnTo>
                <a:lnTo>
                  <a:pt x="948167" y="106189"/>
                </a:lnTo>
                <a:lnTo>
                  <a:pt x="910666" y="82396"/>
                </a:lnTo>
                <a:lnTo>
                  <a:pt x="871361" y="61341"/>
                </a:lnTo>
                <a:lnTo>
                  <a:pt x="830388" y="43157"/>
                </a:lnTo>
                <a:lnTo>
                  <a:pt x="787880" y="27978"/>
                </a:lnTo>
                <a:lnTo>
                  <a:pt x="743973" y="15939"/>
                </a:lnTo>
                <a:lnTo>
                  <a:pt x="698801" y="7173"/>
                </a:lnTo>
                <a:lnTo>
                  <a:pt x="652497" y="1815"/>
                </a:lnTo>
                <a:lnTo>
                  <a:pt x="605198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51698" y="4206833"/>
            <a:ext cx="1210945" cy="1207135"/>
          </a:xfrm>
          <a:custGeom>
            <a:avLst/>
            <a:gdLst/>
            <a:ahLst/>
            <a:cxnLst/>
            <a:rect l="l" t="t" r="r" b="b"/>
            <a:pathLst>
              <a:path w="1210945" h="1207135">
                <a:moveTo>
                  <a:pt x="0" y="603513"/>
                </a:moveTo>
                <a:lnTo>
                  <a:pt x="1820" y="556348"/>
                </a:lnTo>
                <a:lnTo>
                  <a:pt x="7192" y="510176"/>
                </a:lnTo>
                <a:lnTo>
                  <a:pt x="15982" y="465132"/>
                </a:lnTo>
                <a:lnTo>
                  <a:pt x="28054" y="421348"/>
                </a:lnTo>
                <a:lnTo>
                  <a:pt x="43274" y="378960"/>
                </a:lnTo>
                <a:lnTo>
                  <a:pt x="61507" y="338102"/>
                </a:lnTo>
                <a:lnTo>
                  <a:pt x="82620" y="298907"/>
                </a:lnTo>
                <a:lnTo>
                  <a:pt x="106478" y="261510"/>
                </a:lnTo>
                <a:lnTo>
                  <a:pt x="132946" y="226045"/>
                </a:lnTo>
                <a:lnTo>
                  <a:pt x="161889" y="192646"/>
                </a:lnTo>
                <a:lnTo>
                  <a:pt x="193174" y="161448"/>
                </a:lnTo>
                <a:lnTo>
                  <a:pt x="226665" y="132584"/>
                </a:lnTo>
                <a:lnTo>
                  <a:pt x="262228" y="106189"/>
                </a:lnTo>
                <a:lnTo>
                  <a:pt x="299730" y="82396"/>
                </a:lnTo>
                <a:lnTo>
                  <a:pt x="339034" y="61341"/>
                </a:lnTo>
                <a:lnTo>
                  <a:pt x="380007" y="43157"/>
                </a:lnTo>
                <a:lnTo>
                  <a:pt x="422515" y="27978"/>
                </a:lnTo>
                <a:lnTo>
                  <a:pt x="466422" y="15939"/>
                </a:lnTo>
                <a:lnTo>
                  <a:pt x="511595" y="7173"/>
                </a:lnTo>
                <a:lnTo>
                  <a:pt x="557898" y="1815"/>
                </a:lnTo>
                <a:lnTo>
                  <a:pt x="605198" y="0"/>
                </a:lnTo>
                <a:lnTo>
                  <a:pt x="652497" y="1815"/>
                </a:lnTo>
                <a:lnTo>
                  <a:pt x="698801" y="7173"/>
                </a:lnTo>
                <a:lnTo>
                  <a:pt x="743973" y="15939"/>
                </a:lnTo>
                <a:lnTo>
                  <a:pt x="787880" y="27978"/>
                </a:lnTo>
                <a:lnTo>
                  <a:pt x="830388" y="43157"/>
                </a:lnTo>
                <a:lnTo>
                  <a:pt x="871361" y="61341"/>
                </a:lnTo>
                <a:lnTo>
                  <a:pt x="910666" y="82396"/>
                </a:lnTo>
                <a:lnTo>
                  <a:pt x="948167" y="106189"/>
                </a:lnTo>
                <a:lnTo>
                  <a:pt x="983730" y="132584"/>
                </a:lnTo>
                <a:lnTo>
                  <a:pt x="1017222" y="161448"/>
                </a:lnTo>
                <a:lnTo>
                  <a:pt x="1048506" y="192646"/>
                </a:lnTo>
                <a:lnTo>
                  <a:pt x="1077450" y="226045"/>
                </a:lnTo>
                <a:lnTo>
                  <a:pt x="1103917" y="261510"/>
                </a:lnTo>
                <a:lnTo>
                  <a:pt x="1127775" y="298907"/>
                </a:lnTo>
                <a:lnTo>
                  <a:pt x="1148888" y="338102"/>
                </a:lnTo>
                <a:lnTo>
                  <a:pt x="1167121" y="378960"/>
                </a:lnTo>
                <a:lnTo>
                  <a:pt x="1182342" y="421348"/>
                </a:lnTo>
                <a:lnTo>
                  <a:pt x="1194414" y="465132"/>
                </a:lnTo>
                <a:lnTo>
                  <a:pt x="1203203" y="510176"/>
                </a:lnTo>
                <a:lnTo>
                  <a:pt x="1208575" y="556348"/>
                </a:lnTo>
                <a:lnTo>
                  <a:pt x="1210396" y="603513"/>
                </a:lnTo>
                <a:lnTo>
                  <a:pt x="1208575" y="650674"/>
                </a:lnTo>
                <a:lnTo>
                  <a:pt x="1203203" y="696843"/>
                </a:lnTo>
                <a:lnTo>
                  <a:pt x="1194414" y="741885"/>
                </a:lnTo>
                <a:lnTo>
                  <a:pt x="1182342" y="785666"/>
                </a:lnTo>
                <a:lnTo>
                  <a:pt x="1167121" y="828052"/>
                </a:lnTo>
                <a:lnTo>
                  <a:pt x="1148888" y="868909"/>
                </a:lnTo>
                <a:lnTo>
                  <a:pt x="1127775" y="908102"/>
                </a:lnTo>
                <a:lnTo>
                  <a:pt x="1103917" y="945497"/>
                </a:lnTo>
                <a:lnTo>
                  <a:pt x="1077450" y="980961"/>
                </a:lnTo>
                <a:lnTo>
                  <a:pt x="1048506" y="1014359"/>
                </a:lnTo>
                <a:lnTo>
                  <a:pt x="1017222" y="1045557"/>
                </a:lnTo>
                <a:lnTo>
                  <a:pt x="983730" y="1074420"/>
                </a:lnTo>
                <a:lnTo>
                  <a:pt x="948167" y="1100814"/>
                </a:lnTo>
                <a:lnTo>
                  <a:pt x="910666" y="1124606"/>
                </a:lnTo>
                <a:lnTo>
                  <a:pt x="871361" y="1145661"/>
                </a:lnTo>
                <a:lnTo>
                  <a:pt x="830388" y="1163845"/>
                </a:lnTo>
                <a:lnTo>
                  <a:pt x="787880" y="1179024"/>
                </a:lnTo>
                <a:lnTo>
                  <a:pt x="743973" y="1191063"/>
                </a:lnTo>
                <a:lnTo>
                  <a:pt x="698801" y="1199829"/>
                </a:lnTo>
                <a:lnTo>
                  <a:pt x="652497" y="1205186"/>
                </a:lnTo>
                <a:lnTo>
                  <a:pt x="605198" y="1207002"/>
                </a:lnTo>
                <a:lnTo>
                  <a:pt x="557898" y="1205186"/>
                </a:lnTo>
                <a:lnTo>
                  <a:pt x="511595" y="1199829"/>
                </a:lnTo>
                <a:lnTo>
                  <a:pt x="466422" y="1191063"/>
                </a:lnTo>
                <a:lnTo>
                  <a:pt x="422515" y="1179024"/>
                </a:lnTo>
                <a:lnTo>
                  <a:pt x="380007" y="1163845"/>
                </a:lnTo>
                <a:lnTo>
                  <a:pt x="339034" y="1145661"/>
                </a:lnTo>
                <a:lnTo>
                  <a:pt x="299730" y="1124606"/>
                </a:lnTo>
                <a:lnTo>
                  <a:pt x="262228" y="1100814"/>
                </a:lnTo>
                <a:lnTo>
                  <a:pt x="226665" y="1074420"/>
                </a:lnTo>
                <a:lnTo>
                  <a:pt x="193174" y="1045557"/>
                </a:lnTo>
                <a:lnTo>
                  <a:pt x="161889" y="1014359"/>
                </a:lnTo>
                <a:lnTo>
                  <a:pt x="132946" y="980961"/>
                </a:lnTo>
                <a:lnTo>
                  <a:pt x="106478" y="945497"/>
                </a:lnTo>
                <a:lnTo>
                  <a:pt x="82620" y="908102"/>
                </a:lnTo>
                <a:lnTo>
                  <a:pt x="61507" y="868909"/>
                </a:lnTo>
                <a:lnTo>
                  <a:pt x="43274" y="828052"/>
                </a:lnTo>
                <a:lnTo>
                  <a:pt x="28054" y="785666"/>
                </a:lnTo>
                <a:lnTo>
                  <a:pt x="15982" y="741885"/>
                </a:lnTo>
                <a:lnTo>
                  <a:pt x="7192" y="696843"/>
                </a:lnTo>
                <a:lnTo>
                  <a:pt x="1820" y="650674"/>
                </a:lnTo>
                <a:lnTo>
                  <a:pt x="0" y="603513"/>
                </a:lnTo>
                <a:close/>
              </a:path>
            </a:pathLst>
          </a:custGeom>
          <a:ln w="56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772208" y="4670662"/>
            <a:ext cx="582295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500" spc="-10" dirty="0">
                <a:latin typeface="MS Gothic"/>
                <a:cs typeface="MS Gothic"/>
              </a:rPr>
              <a:t>解系</a:t>
            </a:r>
            <a:r>
              <a:rPr sz="1500" spc="-10" dirty="0">
                <a:latin typeface="宋体"/>
                <a:cs typeface="宋体"/>
              </a:rPr>
              <a:t>统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48245" y="3601685"/>
            <a:ext cx="115506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200" spc="45" dirty="0">
                <a:latin typeface="宋体"/>
                <a:cs typeface="宋体"/>
              </a:rPr>
              <a:t>现实世</a:t>
            </a:r>
            <a:r>
              <a:rPr sz="2200" spc="40" dirty="0">
                <a:latin typeface="宋体"/>
                <a:cs typeface="宋体"/>
              </a:rPr>
              <a:t>界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23562" y="5305827"/>
            <a:ext cx="392430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500" spc="-10" dirty="0">
                <a:latin typeface="MS Gothic"/>
                <a:cs typeface="MS Gothic"/>
              </a:rPr>
              <a:t>接口</a:t>
            </a:r>
            <a:endParaRPr sz="1500">
              <a:latin typeface="MS Gothic"/>
              <a:cs typeface="MS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13591" y="5023416"/>
            <a:ext cx="0" cy="256540"/>
          </a:xfrm>
          <a:custGeom>
            <a:avLst/>
            <a:gdLst/>
            <a:ahLst/>
            <a:cxnLst/>
            <a:rect l="l" t="t" r="r" b="b"/>
            <a:pathLst>
              <a:path h="256539">
                <a:moveTo>
                  <a:pt x="0" y="0"/>
                </a:moveTo>
                <a:lnTo>
                  <a:pt x="0" y="256313"/>
                </a:lnTo>
              </a:path>
            </a:pathLst>
          </a:custGeom>
          <a:ln w="5693">
            <a:solidFill>
              <a:srgbClr val="467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848112" y="4843867"/>
            <a:ext cx="131445" cy="196215"/>
          </a:xfrm>
          <a:custGeom>
            <a:avLst/>
            <a:gdLst/>
            <a:ahLst/>
            <a:cxnLst/>
            <a:rect l="l" t="t" r="r" b="b"/>
            <a:pathLst>
              <a:path w="131444" h="196214">
                <a:moveTo>
                  <a:pt x="65478" y="0"/>
                </a:moveTo>
                <a:lnTo>
                  <a:pt x="0" y="195872"/>
                </a:lnTo>
                <a:lnTo>
                  <a:pt x="130956" y="195872"/>
                </a:lnTo>
                <a:lnTo>
                  <a:pt x="65478" y="0"/>
                </a:lnTo>
                <a:close/>
              </a:path>
            </a:pathLst>
          </a:custGeom>
          <a:solidFill>
            <a:srgbClr val="4677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99626" y="4206833"/>
            <a:ext cx="1210945" cy="1207135"/>
          </a:xfrm>
          <a:custGeom>
            <a:avLst/>
            <a:gdLst/>
            <a:ahLst/>
            <a:cxnLst/>
            <a:rect l="l" t="t" r="r" b="b"/>
            <a:pathLst>
              <a:path w="1210945" h="1207135">
                <a:moveTo>
                  <a:pt x="605245" y="0"/>
                </a:moveTo>
                <a:lnTo>
                  <a:pt x="557945" y="1815"/>
                </a:lnTo>
                <a:lnTo>
                  <a:pt x="511641" y="7173"/>
                </a:lnTo>
                <a:lnTo>
                  <a:pt x="466467" y="15939"/>
                </a:lnTo>
                <a:lnTo>
                  <a:pt x="422558" y="27978"/>
                </a:lnTo>
                <a:lnTo>
                  <a:pt x="380048" y="43157"/>
                </a:lnTo>
                <a:lnTo>
                  <a:pt x="339072" y="61341"/>
                </a:lnTo>
                <a:lnTo>
                  <a:pt x="299765" y="82396"/>
                </a:lnTo>
                <a:lnTo>
                  <a:pt x="262260" y="106189"/>
                </a:lnTo>
                <a:lnTo>
                  <a:pt x="226694" y="132584"/>
                </a:lnTo>
                <a:lnTo>
                  <a:pt x="193199" y="161448"/>
                </a:lnTo>
                <a:lnTo>
                  <a:pt x="161911" y="192646"/>
                </a:lnTo>
                <a:lnTo>
                  <a:pt x="132964" y="226045"/>
                </a:lnTo>
                <a:lnTo>
                  <a:pt x="106493" y="261510"/>
                </a:lnTo>
                <a:lnTo>
                  <a:pt x="82633" y="298907"/>
                </a:lnTo>
                <a:lnTo>
                  <a:pt x="61517" y="338102"/>
                </a:lnTo>
                <a:lnTo>
                  <a:pt x="43281" y="378961"/>
                </a:lnTo>
                <a:lnTo>
                  <a:pt x="28058" y="421349"/>
                </a:lnTo>
                <a:lnTo>
                  <a:pt x="15984" y="465133"/>
                </a:lnTo>
                <a:lnTo>
                  <a:pt x="7194" y="510177"/>
                </a:lnTo>
                <a:lnTo>
                  <a:pt x="1820" y="556349"/>
                </a:lnTo>
                <a:lnTo>
                  <a:pt x="0" y="603514"/>
                </a:lnTo>
                <a:lnTo>
                  <a:pt x="1820" y="650675"/>
                </a:lnTo>
                <a:lnTo>
                  <a:pt x="7194" y="696844"/>
                </a:lnTo>
                <a:lnTo>
                  <a:pt x="15984" y="741886"/>
                </a:lnTo>
                <a:lnTo>
                  <a:pt x="28058" y="785667"/>
                </a:lnTo>
                <a:lnTo>
                  <a:pt x="43281" y="828053"/>
                </a:lnTo>
                <a:lnTo>
                  <a:pt x="61517" y="868909"/>
                </a:lnTo>
                <a:lnTo>
                  <a:pt x="82633" y="908103"/>
                </a:lnTo>
                <a:lnTo>
                  <a:pt x="106493" y="945498"/>
                </a:lnTo>
                <a:lnTo>
                  <a:pt x="132964" y="980962"/>
                </a:lnTo>
                <a:lnTo>
                  <a:pt x="161911" y="1014360"/>
                </a:lnTo>
                <a:lnTo>
                  <a:pt x="193199" y="1045557"/>
                </a:lnTo>
                <a:lnTo>
                  <a:pt x="226694" y="1074420"/>
                </a:lnTo>
                <a:lnTo>
                  <a:pt x="262260" y="1100815"/>
                </a:lnTo>
                <a:lnTo>
                  <a:pt x="299765" y="1124607"/>
                </a:lnTo>
                <a:lnTo>
                  <a:pt x="339072" y="1145662"/>
                </a:lnTo>
                <a:lnTo>
                  <a:pt x="380048" y="1163846"/>
                </a:lnTo>
                <a:lnTo>
                  <a:pt x="422558" y="1179024"/>
                </a:lnTo>
                <a:lnTo>
                  <a:pt x="466467" y="1191063"/>
                </a:lnTo>
                <a:lnTo>
                  <a:pt x="511641" y="1199829"/>
                </a:lnTo>
                <a:lnTo>
                  <a:pt x="557945" y="1205187"/>
                </a:lnTo>
                <a:lnTo>
                  <a:pt x="605245" y="1207002"/>
                </a:lnTo>
                <a:lnTo>
                  <a:pt x="652541" y="1205187"/>
                </a:lnTo>
                <a:lnTo>
                  <a:pt x="698843" y="1199829"/>
                </a:lnTo>
                <a:lnTo>
                  <a:pt x="744014" y="1191063"/>
                </a:lnTo>
                <a:lnTo>
                  <a:pt x="787921" y="1179024"/>
                </a:lnTo>
                <a:lnTo>
                  <a:pt x="830429" y="1163846"/>
                </a:lnTo>
                <a:lnTo>
                  <a:pt x="871403" y="1145662"/>
                </a:lnTo>
                <a:lnTo>
                  <a:pt x="910709" y="1124607"/>
                </a:lnTo>
                <a:lnTo>
                  <a:pt x="948212" y="1100815"/>
                </a:lnTo>
                <a:lnTo>
                  <a:pt x="983777" y="1074420"/>
                </a:lnTo>
                <a:lnTo>
                  <a:pt x="1017271" y="1045557"/>
                </a:lnTo>
                <a:lnTo>
                  <a:pt x="1048558" y="1014360"/>
                </a:lnTo>
                <a:lnTo>
                  <a:pt x="1077504" y="980962"/>
                </a:lnTo>
                <a:lnTo>
                  <a:pt x="1103974" y="945498"/>
                </a:lnTo>
                <a:lnTo>
                  <a:pt x="1127835" y="908103"/>
                </a:lnTo>
                <a:lnTo>
                  <a:pt x="1148950" y="868909"/>
                </a:lnTo>
                <a:lnTo>
                  <a:pt x="1167186" y="828053"/>
                </a:lnTo>
                <a:lnTo>
                  <a:pt x="1182408" y="785667"/>
                </a:lnTo>
                <a:lnTo>
                  <a:pt x="1194482" y="741886"/>
                </a:lnTo>
                <a:lnTo>
                  <a:pt x="1203273" y="696844"/>
                </a:lnTo>
                <a:lnTo>
                  <a:pt x="1208646" y="650675"/>
                </a:lnTo>
                <a:lnTo>
                  <a:pt x="1210467" y="603514"/>
                </a:lnTo>
                <a:lnTo>
                  <a:pt x="1208646" y="556349"/>
                </a:lnTo>
                <a:lnTo>
                  <a:pt x="1203273" y="510177"/>
                </a:lnTo>
                <a:lnTo>
                  <a:pt x="1194482" y="465133"/>
                </a:lnTo>
                <a:lnTo>
                  <a:pt x="1182408" y="421349"/>
                </a:lnTo>
                <a:lnTo>
                  <a:pt x="1167186" y="378961"/>
                </a:lnTo>
                <a:lnTo>
                  <a:pt x="1148950" y="338102"/>
                </a:lnTo>
                <a:lnTo>
                  <a:pt x="1127835" y="298907"/>
                </a:lnTo>
                <a:lnTo>
                  <a:pt x="1103974" y="261510"/>
                </a:lnTo>
                <a:lnTo>
                  <a:pt x="1077504" y="226045"/>
                </a:lnTo>
                <a:lnTo>
                  <a:pt x="1048558" y="192646"/>
                </a:lnTo>
                <a:lnTo>
                  <a:pt x="1017271" y="161448"/>
                </a:lnTo>
                <a:lnTo>
                  <a:pt x="983777" y="132584"/>
                </a:lnTo>
                <a:lnTo>
                  <a:pt x="948212" y="106189"/>
                </a:lnTo>
                <a:lnTo>
                  <a:pt x="910709" y="82396"/>
                </a:lnTo>
                <a:lnTo>
                  <a:pt x="871403" y="61341"/>
                </a:lnTo>
                <a:lnTo>
                  <a:pt x="830429" y="43157"/>
                </a:lnTo>
                <a:lnTo>
                  <a:pt x="787921" y="27978"/>
                </a:lnTo>
                <a:lnTo>
                  <a:pt x="744014" y="15939"/>
                </a:lnTo>
                <a:lnTo>
                  <a:pt x="698843" y="7173"/>
                </a:lnTo>
                <a:lnTo>
                  <a:pt x="652541" y="1815"/>
                </a:lnTo>
                <a:lnTo>
                  <a:pt x="605245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99626" y="4206833"/>
            <a:ext cx="1210945" cy="1207135"/>
          </a:xfrm>
          <a:custGeom>
            <a:avLst/>
            <a:gdLst/>
            <a:ahLst/>
            <a:cxnLst/>
            <a:rect l="l" t="t" r="r" b="b"/>
            <a:pathLst>
              <a:path w="1210945" h="1207135">
                <a:moveTo>
                  <a:pt x="0" y="603513"/>
                </a:moveTo>
                <a:lnTo>
                  <a:pt x="1820" y="556348"/>
                </a:lnTo>
                <a:lnTo>
                  <a:pt x="7194" y="510176"/>
                </a:lnTo>
                <a:lnTo>
                  <a:pt x="15984" y="465132"/>
                </a:lnTo>
                <a:lnTo>
                  <a:pt x="28058" y="421348"/>
                </a:lnTo>
                <a:lnTo>
                  <a:pt x="43281" y="378960"/>
                </a:lnTo>
                <a:lnTo>
                  <a:pt x="61517" y="338102"/>
                </a:lnTo>
                <a:lnTo>
                  <a:pt x="82633" y="298907"/>
                </a:lnTo>
                <a:lnTo>
                  <a:pt x="106493" y="261510"/>
                </a:lnTo>
                <a:lnTo>
                  <a:pt x="132964" y="226045"/>
                </a:lnTo>
                <a:lnTo>
                  <a:pt x="161911" y="192646"/>
                </a:lnTo>
                <a:lnTo>
                  <a:pt x="193199" y="161448"/>
                </a:lnTo>
                <a:lnTo>
                  <a:pt x="226694" y="132584"/>
                </a:lnTo>
                <a:lnTo>
                  <a:pt x="262261" y="106189"/>
                </a:lnTo>
                <a:lnTo>
                  <a:pt x="299765" y="82396"/>
                </a:lnTo>
                <a:lnTo>
                  <a:pt x="339072" y="61341"/>
                </a:lnTo>
                <a:lnTo>
                  <a:pt x="380048" y="43157"/>
                </a:lnTo>
                <a:lnTo>
                  <a:pt x="422558" y="27978"/>
                </a:lnTo>
                <a:lnTo>
                  <a:pt x="466467" y="15939"/>
                </a:lnTo>
                <a:lnTo>
                  <a:pt x="511641" y="7173"/>
                </a:lnTo>
                <a:lnTo>
                  <a:pt x="557945" y="1815"/>
                </a:lnTo>
                <a:lnTo>
                  <a:pt x="605245" y="0"/>
                </a:lnTo>
                <a:lnTo>
                  <a:pt x="652542" y="1815"/>
                </a:lnTo>
                <a:lnTo>
                  <a:pt x="698843" y="7173"/>
                </a:lnTo>
                <a:lnTo>
                  <a:pt x="744014" y="15939"/>
                </a:lnTo>
                <a:lnTo>
                  <a:pt x="787921" y="27978"/>
                </a:lnTo>
                <a:lnTo>
                  <a:pt x="830429" y="43157"/>
                </a:lnTo>
                <a:lnTo>
                  <a:pt x="871403" y="61341"/>
                </a:lnTo>
                <a:lnTo>
                  <a:pt x="910709" y="82396"/>
                </a:lnTo>
                <a:lnTo>
                  <a:pt x="948212" y="106189"/>
                </a:lnTo>
                <a:lnTo>
                  <a:pt x="983777" y="132584"/>
                </a:lnTo>
                <a:lnTo>
                  <a:pt x="1017271" y="161448"/>
                </a:lnTo>
                <a:lnTo>
                  <a:pt x="1048558" y="192646"/>
                </a:lnTo>
                <a:lnTo>
                  <a:pt x="1077504" y="226045"/>
                </a:lnTo>
                <a:lnTo>
                  <a:pt x="1103974" y="261510"/>
                </a:lnTo>
                <a:lnTo>
                  <a:pt x="1127835" y="298907"/>
                </a:lnTo>
                <a:lnTo>
                  <a:pt x="1148950" y="338102"/>
                </a:lnTo>
                <a:lnTo>
                  <a:pt x="1167186" y="378960"/>
                </a:lnTo>
                <a:lnTo>
                  <a:pt x="1182408" y="421348"/>
                </a:lnTo>
                <a:lnTo>
                  <a:pt x="1194482" y="465132"/>
                </a:lnTo>
                <a:lnTo>
                  <a:pt x="1203273" y="510176"/>
                </a:lnTo>
                <a:lnTo>
                  <a:pt x="1208646" y="556348"/>
                </a:lnTo>
                <a:lnTo>
                  <a:pt x="1210467" y="603513"/>
                </a:lnTo>
                <a:lnTo>
                  <a:pt x="1208646" y="650674"/>
                </a:lnTo>
                <a:lnTo>
                  <a:pt x="1203273" y="696843"/>
                </a:lnTo>
                <a:lnTo>
                  <a:pt x="1194482" y="741885"/>
                </a:lnTo>
                <a:lnTo>
                  <a:pt x="1182408" y="785666"/>
                </a:lnTo>
                <a:lnTo>
                  <a:pt x="1167186" y="828052"/>
                </a:lnTo>
                <a:lnTo>
                  <a:pt x="1148950" y="868909"/>
                </a:lnTo>
                <a:lnTo>
                  <a:pt x="1127835" y="908102"/>
                </a:lnTo>
                <a:lnTo>
                  <a:pt x="1103974" y="945497"/>
                </a:lnTo>
                <a:lnTo>
                  <a:pt x="1077504" y="980961"/>
                </a:lnTo>
                <a:lnTo>
                  <a:pt x="1048558" y="1014359"/>
                </a:lnTo>
                <a:lnTo>
                  <a:pt x="1017271" y="1045557"/>
                </a:lnTo>
                <a:lnTo>
                  <a:pt x="983777" y="1074420"/>
                </a:lnTo>
                <a:lnTo>
                  <a:pt x="948212" y="1100814"/>
                </a:lnTo>
                <a:lnTo>
                  <a:pt x="910709" y="1124606"/>
                </a:lnTo>
                <a:lnTo>
                  <a:pt x="871403" y="1145661"/>
                </a:lnTo>
                <a:lnTo>
                  <a:pt x="830429" y="1163845"/>
                </a:lnTo>
                <a:lnTo>
                  <a:pt x="787921" y="1179024"/>
                </a:lnTo>
                <a:lnTo>
                  <a:pt x="744014" y="1191063"/>
                </a:lnTo>
                <a:lnTo>
                  <a:pt x="698843" y="1199829"/>
                </a:lnTo>
                <a:lnTo>
                  <a:pt x="652542" y="1205186"/>
                </a:lnTo>
                <a:lnTo>
                  <a:pt x="605245" y="1207002"/>
                </a:lnTo>
                <a:lnTo>
                  <a:pt x="557945" y="1205186"/>
                </a:lnTo>
                <a:lnTo>
                  <a:pt x="511641" y="1199829"/>
                </a:lnTo>
                <a:lnTo>
                  <a:pt x="466467" y="1191063"/>
                </a:lnTo>
                <a:lnTo>
                  <a:pt x="422558" y="1179024"/>
                </a:lnTo>
                <a:lnTo>
                  <a:pt x="380048" y="1163845"/>
                </a:lnTo>
                <a:lnTo>
                  <a:pt x="339072" y="1145661"/>
                </a:lnTo>
                <a:lnTo>
                  <a:pt x="299765" y="1124606"/>
                </a:lnTo>
                <a:lnTo>
                  <a:pt x="262261" y="1100814"/>
                </a:lnTo>
                <a:lnTo>
                  <a:pt x="226694" y="1074420"/>
                </a:lnTo>
                <a:lnTo>
                  <a:pt x="193199" y="1045557"/>
                </a:lnTo>
                <a:lnTo>
                  <a:pt x="161911" y="1014359"/>
                </a:lnTo>
                <a:lnTo>
                  <a:pt x="132964" y="980961"/>
                </a:lnTo>
                <a:lnTo>
                  <a:pt x="106493" y="945497"/>
                </a:lnTo>
                <a:lnTo>
                  <a:pt x="82633" y="908102"/>
                </a:lnTo>
                <a:lnTo>
                  <a:pt x="61517" y="868909"/>
                </a:lnTo>
                <a:lnTo>
                  <a:pt x="43281" y="828052"/>
                </a:lnTo>
                <a:lnTo>
                  <a:pt x="28058" y="785666"/>
                </a:lnTo>
                <a:lnTo>
                  <a:pt x="15984" y="741885"/>
                </a:lnTo>
                <a:lnTo>
                  <a:pt x="7194" y="696843"/>
                </a:lnTo>
                <a:lnTo>
                  <a:pt x="1820" y="650674"/>
                </a:lnTo>
                <a:lnTo>
                  <a:pt x="0" y="603513"/>
                </a:lnTo>
                <a:close/>
              </a:path>
            </a:pathLst>
          </a:custGeom>
          <a:ln w="56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620232" y="4670662"/>
            <a:ext cx="582295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500" spc="-10" dirty="0">
                <a:latin typeface="宋体"/>
                <a:cs typeface="宋体"/>
              </a:rPr>
              <a:t>问题域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510094" y="4810346"/>
            <a:ext cx="941705" cy="0"/>
          </a:xfrm>
          <a:custGeom>
            <a:avLst/>
            <a:gdLst/>
            <a:ahLst/>
            <a:cxnLst/>
            <a:rect l="l" t="t" r="r" b="b"/>
            <a:pathLst>
              <a:path w="941704">
                <a:moveTo>
                  <a:pt x="0" y="0"/>
                </a:moveTo>
                <a:lnTo>
                  <a:pt x="941603" y="0"/>
                </a:lnTo>
              </a:path>
            </a:pathLst>
          </a:custGeom>
          <a:ln w="51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945182" y="3531108"/>
            <a:ext cx="1803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华文行楷"/>
                <a:cs typeface="华文行楷"/>
              </a:rPr>
              <a:t>需求源于问题。</a:t>
            </a:r>
            <a:endParaRPr sz="2000">
              <a:latin typeface="华文行楷"/>
              <a:cs typeface="华文行楷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945182" y="4140708"/>
            <a:ext cx="28194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华文行楷"/>
                <a:cs typeface="华文行楷"/>
              </a:rPr>
              <a:t>问题在现实世界与软件 系统的互动中得到解决。</a:t>
            </a:r>
            <a:endParaRPr sz="2000">
              <a:latin typeface="华文行楷"/>
              <a:cs typeface="华文行楷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10761" y="5993355"/>
            <a:ext cx="492125" cy="2946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50" b="1" spc="75" dirty="0">
                <a:latin typeface="宋体"/>
                <a:cs typeface="宋体"/>
              </a:rPr>
              <a:t>用户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04952" y="5990307"/>
            <a:ext cx="725805" cy="2946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50" b="1" spc="75" dirty="0">
                <a:latin typeface="宋体"/>
                <a:cs typeface="宋体"/>
              </a:rPr>
              <a:t>开发者</a:t>
            </a:r>
            <a:endParaRPr sz="175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4800" y="230124"/>
            <a:ext cx="4368800" cy="1186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7185">
              <a:lnSpc>
                <a:spcPct val="100000"/>
              </a:lnSpc>
              <a:spcBef>
                <a:spcPts val="100"/>
              </a:spcBef>
            </a:pPr>
            <a:r>
              <a:rPr sz="3800" spc="-5" dirty="0">
                <a:latin typeface="Calibri"/>
                <a:cs typeface="Calibri"/>
              </a:rPr>
              <a:t>1.</a:t>
            </a:r>
            <a:r>
              <a:rPr sz="3800" dirty="0"/>
              <a:t>需求的涵义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3800" dirty="0">
                <a:latin typeface="Arial"/>
                <a:cs typeface="Arial"/>
              </a:rPr>
              <a:t>——</a:t>
            </a:r>
            <a:r>
              <a:rPr sz="3800" dirty="0"/>
              <a:t>问题域与解系统</a:t>
            </a:r>
            <a:endParaRPr sz="3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45411"/>
            <a:ext cx="8013700" cy="196723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55600" marR="5080" indent="-342900">
              <a:lnSpc>
                <a:spcPts val="2710"/>
              </a:lnSpc>
              <a:spcBef>
                <a:spcPts val="330"/>
              </a:spcBef>
              <a:buClr>
                <a:srgbClr val="0065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这些实体和状态构成了问题解决的</a:t>
            </a:r>
            <a:r>
              <a:rPr sz="3525" b="1" spc="127" baseline="1182" dirty="0">
                <a:solidFill>
                  <a:srgbClr val="455F51"/>
                </a:solidFill>
                <a:latin typeface="宋体"/>
                <a:cs typeface="宋体"/>
              </a:rPr>
              <a:t>基本范</a:t>
            </a:r>
            <a:r>
              <a:rPr sz="3525" b="1" spc="135" baseline="1182" dirty="0">
                <a:solidFill>
                  <a:srgbClr val="455F51"/>
                </a:solidFill>
                <a:latin typeface="宋体"/>
                <a:cs typeface="宋体"/>
              </a:rPr>
              <a:t>围</a:t>
            </a:r>
            <a:r>
              <a:rPr sz="2400" dirty="0">
                <a:latin typeface="宋体"/>
                <a:cs typeface="宋体"/>
              </a:rPr>
              <a:t>，称为该问题 的</a:t>
            </a:r>
            <a:r>
              <a:rPr sz="3525" b="1" spc="127" baseline="1182" dirty="0">
                <a:solidFill>
                  <a:srgbClr val="455F51"/>
                </a:solidFill>
                <a:highlight>
                  <a:srgbClr val="FFFF00"/>
                </a:highlight>
                <a:latin typeface="宋体"/>
                <a:cs typeface="宋体"/>
              </a:rPr>
              <a:t>问题</a:t>
            </a:r>
            <a:r>
              <a:rPr sz="3525" b="1" spc="135" baseline="1182" dirty="0">
                <a:solidFill>
                  <a:srgbClr val="455F51"/>
                </a:solidFill>
                <a:highlight>
                  <a:srgbClr val="FFFF00"/>
                </a:highlight>
                <a:latin typeface="宋体"/>
                <a:cs typeface="宋体"/>
              </a:rPr>
              <a:t>域</a:t>
            </a:r>
            <a:r>
              <a:rPr sz="2400" spc="-5" dirty="0">
                <a:latin typeface="宋体"/>
                <a:cs typeface="宋体"/>
              </a:rPr>
              <a:t>（</a:t>
            </a:r>
            <a:r>
              <a:rPr sz="2400" spc="-5" dirty="0">
                <a:latin typeface="Calibri"/>
                <a:cs typeface="Calibri"/>
              </a:rPr>
              <a:t>Problem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Domain</a:t>
            </a:r>
            <a:r>
              <a:rPr sz="2400" spc="-5" dirty="0">
                <a:latin typeface="宋体"/>
                <a:cs typeface="宋体"/>
              </a:rPr>
              <a:t>）</a:t>
            </a:r>
            <a:r>
              <a:rPr sz="2400" dirty="0">
                <a:latin typeface="宋体"/>
                <a:cs typeface="宋体"/>
              </a:rPr>
              <a:t>。</a:t>
            </a:r>
          </a:p>
          <a:p>
            <a:pPr marL="355600" marR="5080" indent="-342900">
              <a:lnSpc>
                <a:spcPct val="97700"/>
              </a:lnSpc>
              <a:spcBef>
                <a:spcPts val="725"/>
              </a:spcBef>
              <a:buClr>
                <a:srgbClr val="00653C"/>
              </a:buClr>
              <a:buSzPct val="8085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525" b="1" spc="127" baseline="1182" dirty="0">
                <a:solidFill>
                  <a:srgbClr val="455F51"/>
                </a:solidFill>
                <a:latin typeface="宋体"/>
                <a:cs typeface="宋体"/>
              </a:rPr>
              <a:t>软件系</a:t>
            </a:r>
            <a:r>
              <a:rPr sz="3525" b="1" spc="135" baseline="1182" dirty="0">
                <a:solidFill>
                  <a:srgbClr val="455F51"/>
                </a:solidFill>
                <a:latin typeface="宋体"/>
                <a:cs typeface="宋体"/>
              </a:rPr>
              <a:t>统</a:t>
            </a:r>
            <a:r>
              <a:rPr sz="2400" dirty="0">
                <a:latin typeface="宋体"/>
                <a:cs typeface="宋体"/>
              </a:rPr>
              <a:t>通过影响问题域，能够帮助人们解决问题，称为 </a:t>
            </a:r>
            <a:r>
              <a:rPr sz="3525" b="1" spc="127" baseline="1182" dirty="0">
                <a:solidFill>
                  <a:srgbClr val="455F51"/>
                </a:solidFill>
                <a:latin typeface="宋体"/>
                <a:cs typeface="宋体"/>
              </a:rPr>
              <a:t>解系</a:t>
            </a:r>
            <a:r>
              <a:rPr sz="3525" b="1" spc="60" baseline="1182" dirty="0">
                <a:solidFill>
                  <a:srgbClr val="455F51"/>
                </a:solidFill>
                <a:latin typeface="宋体"/>
                <a:cs typeface="宋体"/>
              </a:rPr>
              <a:t>统</a:t>
            </a:r>
            <a:r>
              <a:rPr sz="3525" b="1" spc="-944" baseline="1182" dirty="0">
                <a:solidFill>
                  <a:srgbClr val="455F51"/>
                </a:solidFill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。</a:t>
            </a:r>
            <a:r>
              <a:rPr sz="2400" dirty="0">
                <a:latin typeface="宋体"/>
                <a:cs typeface="宋体"/>
              </a:rPr>
              <a:t>比如交管局系统则需要能较好的应对交通局的 所有业务。</a:t>
            </a:r>
          </a:p>
        </p:txBody>
      </p:sp>
      <p:sp>
        <p:nvSpPr>
          <p:cNvPr id="4" name="object 4"/>
          <p:cNvSpPr/>
          <p:nvPr/>
        </p:nvSpPr>
        <p:spPr>
          <a:xfrm>
            <a:off x="2484754" y="3345144"/>
            <a:ext cx="4174490" cy="27857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93683" y="2414522"/>
            <a:ext cx="5044808" cy="37829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85900" y="473963"/>
            <a:ext cx="61722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北京交管局实例：解系统</a:t>
            </a:r>
            <a:endParaRPr sz="44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6150" y="1422908"/>
            <a:ext cx="7988300" cy="110172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55600" marR="5080" indent="-342900" algn="just">
              <a:lnSpc>
                <a:spcPct val="97100"/>
              </a:lnSpc>
              <a:spcBef>
                <a:spcPts val="180"/>
              </a:spcBef>
              <a:buClr>
                <a:srgbClr val="00653C"/>
              </a:buClr>
              <a:buSzPct val="79166"/>
              <a:buFont typeface="Wingdings"/>
              <a:buChar char=""/>
              <a:tabLst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北京交管局系统实例无法解决所有的业务需求，因此该系 统主要是面向</a:t>
            </a:r>
            <a:r>
              <a:rPr sz="2400" dirty="0">
                <a:solidFill>
                  <a:srgbClr val="549E39"/>
                </a:solidFill>
                <a:latin typeface="宋体"/>
                <a:cs typeface="宋体"/>
              </a:rPr>
              <a:t>岗位安排</a:t>
            </a:r>
            <a:r>
              <a:rPr sz="2400" dirty="0">
                <a:latin typeface="宋体"/>
                <a:cs typeface="宋体"/>
              </a:rPr>
              <a:t>和</a:t>
            </a:r>
            <a:r>
              <a:rPr sz="2400" dirty="0">
                <a:solidFill>
                  <a:srgbClr val="549E39"/>
                </a:solidFill>
                <a:latin typeface="宋体"/>
                <a:cs typeface="宋体"/>
              </a:rPr>
              <a:t>警情处理</a:t>
            </a:r>
            <a:r>
              <a:rPr sz="2400" dirty="0">
                <a:latin typeface="宋体"/>
                <a:cs typeface="宋体"/>
              </a:rPr>
              <a:t>这两大需求。系统的部 署如图所示。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6500" y="473963"/>
            <a:ext cx="67310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问题域、解系统与共享现象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4602153" y="3461614"/>
            <a:ext cx="4384040" cy="2583180"/>
          </a:xfrm>
          <a:custGeom>
            <a:avLst/>
            <a:gdLst/>
            <a:ahLst/>
            <a:cxnLst/>
            <a:rect l="l" t="t" r="r" b="b"/>
            <a:pathLst>
              <a:path w="4384040" h="2583179">
                <a:moveTo>
                  <a:pt x="0" y="2582679"/>
                </a:moveTo>
                <a:lnTo>
                  <a:pt x="4383535" y="2582679"/>
                </a:lnTo>
                <a:lnTo>
                  <a:pt x="4383535" y="0"/>
                </a:lnTo>
                <a:lnTo>
                  <a:pt x="0" y="0"/>
                </a:lnTo>
                <a:lnTo>
                  <a:pt x="0" y="2582679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02154" y="3461614"/>
            <a:ext cx="4384040" cy="2583180"/>
          </a:xfrm>
          <a:custGeom>
            <a:avLst/>
            <a:gdLst/>
            <a:ahLst/>
            <a:cxnLst/>
            <a:rect l="l" t="t" r="r" b="b"/>
            <a:pathLst>
              <a:path w="4384040" h="2583179">
                <a:moveTo>
                  <a:pt x="0" y="2582679"/>
                </a:moveTo>
                <a:lnTo>
                  <a:pt x="4383535" y="2582679"/>
                </a:lnTo>
                <a:lnTo>
                  <a:pt x="4383535" y="0"/>
                </a:lnTo>
                <a:lnTo>
                  <a:pt x="0" y="0"/>
                </a:lnTo>
                <a:lnTo>
                  <a:pt x="0" y="2582679"/>
                </a:lnTo>
                <a:close/>
              </a:path>
            </a:pathLst>
          </a:custGeom>
          <a:ln w="56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27394" y="4345209"/>
            <a:ext cx="2505075" cy="1359535"/>
          </a:xfrm>
          <a:custGeom>
            <a:avLst/>
            <a:gdLst/>
            <a:ahLst/>
            <a:cxnLst/>
            <a:rect l="l" t="t" r="r" b="b"/>
            <a:pathLst>
              <a:path w="2505075" h="1359535">
                <a:moveTo>
                  <a:pt x="1252404" y="0"/>
                </a:moveTo>
                <a:lnTo>
                  <a:pt x="1191724" y="783"/>
                </a:lnTo>
                <a:lnTo>
                  <a:pt x="1131791" y="3111"/>
                </a:lnTo>
                <a:lnTo>
                  <a:pt x="1072667" y="6947"/>
                </a:lnTo>
                <a:lnTo>
                  <a:pt x="1014421" y="12255"/>
                </a:lnTo>
                <a:lnTo>
                  <a:pt x="957116" y="19000"/>
                </a:lnTo>
                <a:lnTo>
                  <a:pt x="900819" y="27147"/>
                </a:lnTo>
                <a:lnTo>
                  <a:pt x="845596" y="36660"/>
                </a:lnTo>
                <a:lnTo>
                  <a:pt x="791511" y="47502"/>
                </a:lnTo>
                <a:lnTo>
                  <a:pt x="738631" y="59639"/>
                </a:lnTo>
                <a:lnTo>
                  <a:pt x="687021" y="73036"/>
                </a:lnTo>
                <a:lnTo>
                  <a:pt x="636746" y="87655"/>
                </a:lnTo>
                <a:lnTo>
                  <a:pt x="587873" y="103462"/>
                </a:lnTo>
                <a:lnTo>
                  <a:pt x="540467" y="120422"/>
                </a:lnTo>
                <a:lnTo>
                  <a:pt x="494594" y="138497"/>
                </a:lnTo>
                <a:lnTo>
                  <a:pt x="450318" y="157654"/>
                </a:lnTo>
                <a:lnTo>
                  <a:pt x="407707" y="177856"/>
                </a:lnTo>
                <a:lnTo>
                  <a:pt x="366824" y="199068"/>
                </a:lnTo>
                <a:lnTo>
                  <a:pt x="327737" y="221253"/>
                </a:lnTo>
                <a:lnTo>
                  <a:pt x="290511" y="244378"/>
                </a:lnTo>
                <a:lnTo>
                  <a:pt x="255210" y="268405"/>
                </a:lnTo>
                <a:lnTo>
                  <a:pt x="221902" y="293299"/>
                </a:lnTo>
                <a:lnTo>
                  <a:pt x="190651" y="319025"/>
                </a:lnTo>
                <a:lnTo>
                  <a:pt x="161522" y="345547"/>
                </a:lnTo>
                <a:lnTo>
                  <a:pt x="134583" y="372829"/>
                </a:lnTo>
                <a:lnTo>
                  <a:pt x="87533" y="429533"/>
                </a:lnTo>
                <a:lnTo>
                  <a:pt x="50024" y="488851"/>
                </a:lnTo>
                <a:lnTo>
                  <a:pt x="22583" y="550498"/>
                </a:lnTo>
                <a:lnTo>
                  <a:pt x="5733" y="614191"/>
                </a:lnTo>
                <a:lnTo>
                  <a:pt x="0" y="679643"/>
                </a:lnTo>
                <a:lnTo>
                  <a:pt x="1444" y="712571"/>
                </a:lnTo>
                <a:lnTo>
                  <a:pt x="12801" y="777178"/>
                </a:lnTo>
                <a:lnTo>
                  <a:pt x="35012" y="839882"/>
                </a:lnTo>
                <a:lnTo>
                  <a:pt x="67553" y="900400"/>
                </a:lnTo>
                <a:lnTo>
                  <a:pt x="109898" y="958444"/>
                </a:lnTo>
                <a:lnTo>
                  <a:pt x="161522" y="1013732"/>
                </a:lnTo>
                <a:lnTo>
                  <a:pt x="190651" y="1040253"/>
                </a:lnTo>
                <a:lnTo>
                  <a:pt x="221902" y="1065978"/>
                </a:lnTo>
                <a:lnTo>
                  <a:pt x="255210" y="1090872"/>
                </a:lnTo>
                <a:lnTo>
                  <a:pt x="290511" y="1114898"/>
                </a:lnTo>
                <a:lnTo>
                  <a:pt x="327737" y="1138021"/>
                </a:lnTo>
                <a:lnTo>
                  <a:pt x="366824" y="1160206"/>
                </a:lnTo>
                <a:lnTo>
                  <a:pt x="407707" y="1181416"/>
                </a:lnTo>
                <a:lnTo>
                  <a:pt x="450318" y="1201617"/>
                </a:lnTo>
                <a:lnTo>
                  <a:pt x="494594" y="1220773"/>
                </a:lnTo>
                <a:lnTo>
                  <a:pt x="540467" y="1238848"/>
                </a:lnTo>
                <a:lnTo>
                  <a:pt x="587873" y="1255806"/>
                </a:lnTo>
                <a:lnTo>
                  <a:pt x="636746" y="1271613"/>
                </a:lnTo>
                <a:lnTo>
                  <a:pt x="687021" y="1286231"/>
                </a:lnTo>
                <a:lnTo>
                  <a:pt x="738631" y="1299626"/>
                </a:lnTo>
                <a:lnTo>
                  <a:pt x="791511" y="1311763"/>
                </a:lnTo>
                <a:lnTo>
                  <a:pt x="845596" y="1322605"/>
                </a:lnTo>
                <a:lnTo>
                  <a:pt x="900819" y="1332117"/>
                </a:lnTo>
                <a:lnTo>
                  <a:pt x="957116" y="1340263"/>
                </a:lnTo>
                <a:lnTo>
                  <a:pt x="1014421" y="1347008"/>
                </a:lnTo>
                <a:lnTo>
                  <a:pt x="1072667" y="1352316"/>
                </a:lnTo>
                <a:lnTo>
                  <a:pt x="1131791" y="1356151"/>
                </a:lnTo>
                <a:lnTo>
                  <a:pt x="1191724" y="1358479"/>
                </a:lnTo>
                <a:lnTo>
                  <a:pt x="1252404" y="1359262"/>
                </a:lnTo>
                <a:lnTo>
                  <a:pt x="1313085" y="1358479"/>
                </a:lnTo>
                <a:lnTo>
                  <a:pt x="1373020" y="1356151"/>
                </a:lnTo>
                <a:lnTo>
                  <a:pt x="1432145" y="1352316"/>
                </a:lnTo>
                <a:lnTo>
                  <a:pt x="1490393" y="1347008"/>
                </a:lnTo>
                <a:lnTo>
                  <a:pt x="1547698" y="1340263"/>
                </a:lnTo>
                <a:lnTo>
                  <a:pt x="1603996" y="1332117"/>
                </a:lnTo>
                <a:lnTo>
                  <a:pt x="1659221" y="1322605"/>
                </a:lnTo>
                <a:lnTo>
                  <a:pt x="1713306" y="1311763"/>
                </a:lnTo>
                <a:lnTo>
                  <a:pt x="1766187" y="1299626"/>
                </a:lnTo>
                <a:lnTo>
                  <a:pt x="1817797" y="1286231"/>
                </a:lnTo>
                <a:lnTo>
                  <a:pt x="1868072" y="1271613"/>
                </a:lnTo>
                <a:lnTo>
                  <a:pt x="1916945" y="1255806"/>
                </a:lnTo>
                <a:lnTo>
                  <a:pt x="1964352" y="1238848"/>
                </a:lnTo>
                <a:lnTo>
                  <a:pt x="2010225" y="1220773"/>
                </a:lnTo>
                <a:lnTo>
                  <a:pt x="2054501" y="1201617"/>
                </a:lnTo>
                <a:lnTo>
                  <a:pt x="2097112" y="1181416"/>
                </a:lnTo>
                <a:lnTo>
                  <a:pt x="2137994" y="1160206"/>
                </a:lnTo>
                <a:lnTo>
                  <a:pt x="2177081" y="1138021"/>
                </a:lnTo>
                <a:lnTo>
                  <a:pt x="2214307" y="1114898"/>
                </a:lnTo>
                <a:lnTo>
                  <a:pt x="2249608" y="1090872"/>
                </a:lnTo>
                <a:lnTo>
                  <a:pt x="2282916" y="1065978"/>
                </a:lnTo>
                <a:lnTo>
                  <a:pt x="2314167" y="1040253"/>
                </a:lnTo>
                <a:lnTo>
                  <a:pt x="2343294" y="1013732"/>
                </a:lnTo>
                <a:lnTo>
                  <a:pt x="2370233" y="986451"/>
                </a:lnTo>
                <a:lnTo>
                  <a:pt x="2417283" y="929749"/>
                </a:lnTo>
                <a:lnTo>
                  <a:pt x="2454791" y="870432"/>
                </a:lnTo>
                <a:lnTo>
                  <a:pt x="2482232" y="808786"/>
                </a:lnTo>
                <a:lnTo>
                  <a:pt x="2499081" y="745094"/>
                </a:lnTo>
                <a:lnTo>
                  <a:pt x="2504814" y="679643"/>
                </a:lnTo>
                <a:lnTo>
                  <a:pt x="2503370" y="646714"/>
                </a:lnTo>
                <a:lnTo>
                  <a:pt x="2492013" y="582107"/>
                </a:lnTo>
                <a:lnTo>
                  <a:pt x="2469802" y="519401"/>
                </a:lnTo>
                <a:lnTo>
                  <a:pt x="2437262" y="458883"/>
                </a:lnTo>
                <a:lnTo>
                  <a:pt x="2394918" y="400837"/>
                </a:lnTo>
                <a:lnTo>
                  <a:pt x="2343294" y="345547"/>
                </a:lnTo>
                <a:lnTo>
                  <a:pt x="2314167" y="319025"/>
                </a:lnTo>
                <a:lnTo>
                  <a:pt x="2282916" y="293299"/>
                </a:lnTo>
                <a:lnTo>
                  <a:pt x="2249608" y="268405"/>
                </a:lnTo>
                <a:lnTo>
                  <a:pt x="2214307" y="244378"/>
                </a:lnTo>
                <a:lnTo>
                  <a:pt x="2177081" y="221253"/>
                </a:lnTo>
                <a:lnTo>
                  <a:pt x="2137994" y="199068"/>
                </a:lnTo>
                <a:lnTo>
                  <a:pt x="2097112" y="177856"/>
                </a:lnTo>
                <a:lnTo>
                  <a:pt x="2054501" y="157654"/>
                </a:lnTo>
                <a:lnTo>
                  <a:pt x="2010225" y="138497"/>
                </a:lnTo>
                <a:lnTo>
                  <a:pt x="1964352" y="120422"/>
                </a:lnTo>
                <a:lnTo>
                  <a:pt x="1916945" y="103462"/>
                </a:lnTo>
                <a:lnTo>
                  <a:pt x="1868072" y="87655"/>
                </a:lnTo>
                <a:lnTo>
                  <a:pt x="1817797" y="73036"/>
                </a:lnTo>
                <a:lnTo>
                  <a:pt x="1766187" y="59639"/>
                </a:lnTo>
                <a:lnTo>
                  <a:pt x="1713306" y="47502"/>
                </a:lnTo>
                <a:lnTo>
                  <a:pt x="1659221" y="36660"/>
                </a:lnTo>
                <a:lnTo>
                  <a:pt x="1603996" y="27147"/>
                </a:lnTo>
                <a:lnTo>
                  <a:pt x="1547698" y="19000"/>
                </a:lnTo>
                <a:lnTo>
                  <a:pt x="1490393" y="12255"/>
                </a:lnTo>
                <a:lnTo>
                  <a:pt x="1432145" y="6947"/>
                </a:lnTo>
                <a:lnTo>
                  <a:pt x="1373020" y="3111"/>
                </a:lnTo>
                <a:lnTo>
                  <a:pt x="1313085" y="783"/>
                </a:lnTo>
                <a:lnTo>
                  <a:pt x="1252404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27395" y="4345208"/>
            <a:ext cx="2505075" cy="1359535"/>
          </a:xfrm>
          <a:custGeom>
            <a:avLst/>
            <a:gdLst/>
            <a:ahLst/>
            <a:cxnLst/>
            <a:rect l="l" t="t" r="r" b="b"/>
            <a:pathLst>
              <a:path w="2505075" h="1359535">
                <a:moveTo>
                  <a:pt x="0" y="679643"/>
                </a:moveTo>
                <a:lnTo>
                  <a:pt x="5733" y="614191"/>
                </a:lnTo>
                <a:lnTo>
                  <a:pt x="22583" y="550499"/>
                </a:lnTo>
                <a:lnTo>
                  <a:pt x="50024" y="488852"/>
                </a:lnTo>
                <a:lnTo>
                  <a:pt x="87533" y="429534"/>
                </a:lnTo>
                <a:lnTo>
                  <a:pt x="134583" y="372830"/>
                </a:lnTo>
                <a:lnTo>
                  <a:pt x="161522" y="345547"/>
                </a:lnTo>
                <a:lnTo>
                  <a:pt x="190650" y="319025"/>
                </a:lnTo>
                <a:lnTo>
                  <a:pt x="221902" y="293300"/>
                </a:lnTo>
                <a:lnTo>
                  <a:pt x="255210" y="268405"/>
                </a:lnTo>
                <a:lnTo>
                  <a:pt x="290511" y="244378"/>
                </a:lnTo>
                <a:lnTo>
                  <a:pt x="327737" y="221254"/>
                </a:lnTo>
                <a:lnTo>
                  <a:pt x="366824" y="199068"/>
                </a:lnTo>
                <a:lnTo>
                  <a:pt x="407706" y="177856"/>
                </a:lnTo>
                <a:lnTo>
                  <a:pt x="450318" y="157654"/>
                </a:lnTo>
                <a:lnTo>
                  <a:pt x="494593" y="138498"/>
                </a:lnTo>
                <a:lnTo>
                  <a:pt x="540467" y="120422"/>
                </a:lnTo>
                <a:lnTo>
                  <a:pt x="587873" y="103462"/>
                </a:lnTo>
                <a:lnTo>
                  <a:pt x="636746" y="87655"/>
                </a:lnTo>
                <a:lnTo>
                  <a:pt x="687020" y="73036"/>
                </a:lnTo>
                <a:lnTo>
                  <a:pt x="738630" y="59640"/>
                </a:lnTo>
                <a:lnTo>
                  <a:pt x="791511" y="47502"/>
                </a:lnTo>
                <a:lnTo>
                  <a:pt x="845595" y="36660"/>
                </a:lnTo>
                <a:lnTo>
                  <a:pt x="900819" y="27147"/>
                </a:lnTo>
                <a:lnTo>
                  <a:pt x="957116" y="19000"/>
                </a:lnTo>
                <a:lnTo>
                  <a:pt x="1014420" y="12255"/>
                </a:lnTo>
                <a:lnTo>
                  <a:pt x="1072667" y="6947"/>
                </a:lnTo>
                <a:lnTo>
                  <a:pt x="1131790" y="3111"/>
                </a:lnTo>
                <a:lnTo>
                  <a:pt x="1191724" y="783"/>
                </a:lnTo>
                <a:lnTo>
                  <a:pt x="1252403" y="0"/>
                </a:lnTo>
                <a:lnTo>
                  <a:pt x="1313084" y="783"/>
                </a:lnTo>
                <a:lnTo>
                  <a:pt x="1373020" y="3111"/>
                </a:lnTo>
                <a:lnTo>
                  <a:pt x="1432144" y="6947"/>
                </a:lnTo>
                <a:lnTo>
                  <a:pt x="1490392" y="12255"/>
                </a:lnTo>
                <a:lnTo>
                  <a:pt x="1547698" y="19000"/>
                </a:lnTo>
                <a:lnTo>
                  <a:pt x="1603996" y="27147"/>
                </a:lnTo>
                <a:lnTo>
                  <a:pt x="1659220" y="36660"/>
                </a:lnTo>
                <a:lnTo>
                  <a:pt x="1713306" y="47502"/>
                </a:lnTo>
                <a:lnTo>
                  <a:pt x="1766186" y="59640"/>
                </a:lnTo>
                <a:lnTo>
                  <a:pt x="1817797" y="73036"/>
                </a:lnTo>
                <a:lnTo>
                  <a:pt x="1868072" y="87655"/>
                </a:lnTo>
                <a:lnTo>
                  <a:pt x="1916945" y="103462"/>
                </a:lnTo>
                <a:lnTo>
                  <a:pt x="1964351" y="120422"/>
                </a:lnTo>
                <a:lnTo>
                  <a:pt x="2010225" y="138498"/>
                </a:lnTo>
                <a:lnTo>
                  <a:pt x="2054500" y="157654"/>
                </a:lnTo>
                <a:lnTo>
                  <a:pt x="2097112" y="177856"/>
                </a:lnTo>
                <a:lnTo>
                  <a:pt x="2137994" y="199068"/>
                </a:lnTo>
                <a:lnTo>
                  <a:pt x="2177081" y="221254"/>
                </a:lnTo>
                <a:lnTo>
                  <a:pt x="2214307" y="244378"/>
                </a:lnTo>
                <a:lnTo>
                  <a:pt x="2249607" y="268405"/>
                </a:lnTo>
                <a:lnTo>
                  <a:pt x="2282915" y="293300"/>
                </a:lnTo>
                <a:lnTo>
                  <a:pt x="2314166" y="319025"/>
                </a:lnTo>
                <a:lnTo>
                  <a:pt x="2343294" y="345547"/>
                </a:lnTo>
                <a:lnTo>
                  <a:pt x="2370233" y="372830"/>
                </a:lnTo>
                <a:lnTo>
                  <a:pt x="2417282" y="429534"/>
                </a:lnTo>
                <a:lnTo>
                  <a:pt x="2454790" y="488852"/>
                </a:lnTo>
                <a:lnTo>
                  <a:pt x="2482231" y="550499"/>
                </a:lnTo>
                <a:lnTo>
                  <a:pt x="2499080" y="614191"/>
                </a:lnTo>
                <a:lnTo>
                  <a:pt x="2504813" y="679643"/>
                </a:lnTo>
                <a:lnTo>
                  <a:pt x="2503369" y="712571"/>
                </a:lnTo>
                <a:lnTo>
                  <a:pt x="2499080" y="745095"/>
                </a:lnTo>
                <a:lnTo>
                  <a:pt x="2482231" y="808786"/>
                </a:lnTo>
                <a:lnTo>
                  <a:pt x="2454790" y="870433"/>
                </a:lnTo>
                <a:lnTo>
                  <a:pt x="2417282" y="929750"/>
                </a:lnTo>
                <a:lnTo>
                  <a:pt x="2370233" y="986452"/>
                </a:lnTo>
                <a:lnTo>
                  <a:pt x="2343294" y="1013733"/>
                </a:lnTo>
                <a:lnTo>
                  <a:pt x="2314166" y="1040254"/>
                </a:lnTo>
                <a:lnTo>
                  <a:pt x="2282915" y="1065979"/>
                </a:lnTo>
                <a:lnTo>
                  <a:pt x="2249607" y="1090872"/>
                </a:lnTo>
                <a:lnTo>
                  <a:pt x="2214307" y="1114898"/>
                </a:lnTo>
                <a:lnTo>
                  <a:pt x="2177081" y="1138022"/>
                </a:lnTo>
                <a:lnTo>
                  <a:pt x="2137994" y="1160206"/>
                </a:lnTo>
                <a:lnTo>
                  <a:pt x="2097112" y="1181417"/>
                </a:lnTo>
                <a:lnTo>
                  <a:pt x="2054500" y="1201618"/>
                </a:lnTo>
                <a:lnTo>
                  <a:pt x="2010225" y="1220774"/>
                </a:lnTo>
                <a:lnTo>
                  <a:pt x="1964351" y="1238849"/>
                </a:lnTo>
                <a:lnTo>
                  <a:pt x="1916945" y="1255807"/>
                </a:lnTo>
                <a:lnTo>
                  <a:pt x="1868072" y="1271613"/>
                </a:lnTo>
                <a:lnTo>
                  <a:pt x="1817797" y="1286232"/>
                </a:lnTo>
                <a:lnTo>
                  <a:pt x="1766186" y="1299627"/>
                </a:lnTo>
                <a:lnTo>
                  <a:pt x="1713306" y="1311763"/>
                </a:lnTo>
                <a:lnTo>
                  <a:pt x="1659220" y="1322605"/>
                </a:lnTo>
                <a:lnTo>
                  <a:pt x="1603996" y="1332117"/>
                </a:lnTo>
                <a:lnTo>
                  <a:pt x="1547698" y="1340263"/>
                </a:lnTo>
                <a:lnTo>
                  <a:pt x="1490392" y="1347008"/>
                </a:lnTo>
                <a:lnTo>
                  <a:pt x="1432144" y="1352316"/>
                </a:lnTo>
                <a:lnTo>
                  <a:pt x="1373020" y="1356152"/>
                </a:lnTo>
                <a:lnTo>
                  <a:pt x="1313084" y="1358479"/>
                </a:lnTo>
                <a:lnTo>
                  <a:pt x="1252403" y="1359263"/>
                </a:lnTo>
                <a:lnTo>
                  <a:pt x="1191724" y="1358479"/>
                </a:lnTo>
                <a:lnTo>
                  <a:pt x="1131790" y="1356152"/>
                </a:lnTo>
                <a:lnTo>
                  <a:pt x="1072667" y="1352316"/>
                </a:lnTo>
                <a:lnTo>
                  <a:pt x="1014420" y="1347008"/>
                </a:lnTo>
                <a:lnTo>
                  <a:pt x="957116" y="1340263"/>
                </a:lnTo>
                <a:lnTo>
                  <a:pt x="900819" y="1332117"/>
                </a:lnTo>
                <a:lnTo>
                  <a:pt x="845595" y="1322605"/>
                </a:lnTo>
                <a:lnTo>
                  <a:pt x="791511" y="1311763"/>
                </a:lnTo>
                <a:lnTo>
                  <a:pt x="738630" y="1299627"/>
                </a:lnTo>
                <a:lnTo>
                  <a:pt x="687020" y="1286232"/>
                </a:lnTo>
                <a:lnTo>
                  <a:pt x="636746" y="1271613"/>
                </a:lnTo>
                <a:lnTo>
                  <a:pt x="587873" y="1255807"/>
                </a:lnTo>
                <a:lnTo>
                  <a:pt x="540467" y="1238849"/>
                </a:lnTo>
                <a:lnTo>
                  <a:pt x="494593" y="1220774"/>
                </a:lnTo>
                <a:lnTo>
                  <a:pt x="450318" y="1201618"/>
                </a:lnTo>
                <a:lnTo>
                  <a:pt x="407706" y="1181417"/>
                </a:lnTo>
                <a:lnTo>
                  <a:pt x="366824" y="1160206"/>
                </a:lnTo>
                <a:lnTo>
                  <a:pt x="327737" y="1138022"/>
                </a:lnTo>
                <a:lnTo>
                  <a:pt x="290511" y="1114898"/>
                </a:lnTo>
                <a:lnTo>
                  <a:pt x="255210" y="1090872"/>
                </a:lnTo>
                <a:lnTo>
                  <a:pt x="221902" y="1065979"/>
                </a:lnTo>
                <a:lnTo>
                  <a:pt x="190650" y="1040254"/>
                </a:lnTo>
                <a:lnTo>
                  <a:pt x="161522" y="1013733"/>
                </a:lnTo>
                <a:lnTo>
                  <a:pt x="134583" y="986452"/>
                </a:lnTo>
                <a:lnTo>
                  <a:pt x="87533" y="929750"/>
                </a:lnTo>
                <a:lnTo>
                  <a:pt x="50024" y="870433"/>
                </a:lnTo>
                <a:lnTo>
                  <a:pt x="22583" y="808786"/>
                </a:lnTo>
                <a:lnTo>
                  <a:pt x="5733" y="745095"/>
                </a:lnTo>
                <a:lnTo>
                  <a:pt x="1444" y="712571"/>
                </a:lnTo>
                <a:lnTo>
                  <a:pt x="0" y="679643"/>
                </a:lnTo>
                <a:close/>
              </a:path>
            </a:pathLst>
          </a:custGeom>
          <a:ln w="56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14573" y="4883452"/>
            <a:ext cx="54292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500" spc="-110" dirty="0">
                <a:latin typeface="宋体"/>
                <a:cs typeface="宋体"/>
              </a:rPr>
              <a:t>问题域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324221" y="4345208"/>
            <a:ext cx="2505075" cy="1359535"/>
          </a:xfrm>
          <a:custGeom>
            <a:avLst/>
            <a:gdLst/>
            <a:ahLst/>
            <a:cxnLst/>
            <a:rect l="l" t="t" r="r" b="b"/>
            <a:pathLst>
              <a:path w="2505075" h="1359535">
                <a:moveTo>
                  <a:pt x="0" y="679643"/>
                </a:moveTo>
                <a:lnTo>
                  <a:pt x="5733" y="614191"/>
                </a:lnTo>
                <a:lnTo>
                  <a:pt x="22582" y="550499"/>
                </a:lnTo>
                <a:lnTo>
                  <a:pt x="50023" y="488852"/>
                </a:lnTo>
                <a:lnTo>
                  <a:pt x="87530" y="429534"/>
                </a:lnTo>
                <a:lnTo>
                  <a:pt x="134580" y="372830"/>
                </a:lnTo>
                <a:lnTo>
                  <a:pt x="161519" y="345547"/>
                </a:lnTo>
                <a:lnTo>
                  <a:pt x="190646" y="319025"/>
                </a:lnTo>
                <a:lnTo>
                  <a:pt x="221897" y="293300"/>
                </a:lnTo>
                <a:lnTo>
                  <a:pt x="255204" y="268405"/>
                </a:lnTo>
                <a:lnTo>
                  <a:pt x="290504" y="244378"/>
                </a:lnTo>
                <a:lnTo>
                  <a:pt x="327730" y="221254"/>
                </a:lnTo>
                <a:lnTo>
                  <a:pt x="366817" y="199068"/>
                </a:lnTo>
                <a:lnTo>
                  <a:pt x="407698" y="177856"/>
                </a:lnTo>
                <a:lnTo>
                  <a:pt x="450309" y="157654"/>
                </a:lnTo>
                <a:lnTo>
                  <a:pt x="494584" y="138498"/>
                </a:lnTo>
                <a:lnTo>
                  <a:pt x="540457" y="120422"/>
                </a:lnTo>
                <a:lnTo>
                  <a:pt x="587862" y="103462"/>
                </a:lnTo>
                <a:lnTo>
                  <a:pt x="636734" y="87655"/>
                </a:lnTo>
                <a:lnTo>
                  <a:pt x="687008" y="73036"/>
                </a:lnTo>
                <a:lnTo>
                  <a:pt x="738618" y="59640"/>
                </a:lnTo>
                <a:lnTo>
                  <a:pt x="791497" y="47502"/>
                </a:lnTo>
                <a:lnTo>
                  <a:pt x="845582" y="36660"/>
                </a:lnTo>
                <a:lnTo>
                  <a:pt x="900805" y="27147"/>
                </a:lnTo>
                <a:lnTo>
                  <a:pt x="957101" y="19000"/>
                </a:lnTo>
                <a:lnTo>
                  <a:pt x="1014406" y="12255"/>
                </a:lnTo>
                <a:lnTo>
                  <a:pt x="1072652" y="6947"/>
                </a:lnTo>
                <a:lnTo>
                  <a:pt x="1131775" y="3111"/>
                </a:lnTo>
                <a:lnTo>
                  <a:pt x="1191709" y="783"/>
                </a:lnTo>
                <a:lnTo>
                  <a:pt x="1252388" y="0"/>
                </a:lnTo>
                <a:lnTo>
                  <a:pt x="1313067" y="783"/>
                </a:lnTo>
                <a:lnTo>
                  <a:pt x="1373000" y="3111"/>
                </a:lnTo>
                <a:lnTo>
                  <a:pt x="1432122" y="6947"/>
                </a:lnTo>
                <a:lnTo>
                  <a:pt x="1490368" y="12255"/>
                </a:lnTo>
                <a:lnTo>
                  <a:pt x="1547671" y="19000"/>
                </a:lnTo>
                <a:lnTo>
                  <a:pt x="1603967" y="27147"/>
                </a:lnTo>
                <a:lnTo>
                  <a:pt x="1659189" y="36660"/>
                </a:lnTo>
                <a:lnTo>
                  <a:pt x="1713272" y="47502"/>
                </a:lnTo>
                <a:lnTo>
                  <a:pt x="1766150" y="59640"/>
                </a:lnTo>
                <a:lnTo>
                  <a:pt x="1817758" y="73036"/>
                </a:lnTo>
                <a:lnTo>
                  <a:pt x="1868030" y="87655"/>
                </a:lnTo>
                <a:lnTo>
                  <a:pt x="1916901" y="103462"/>
                </a:lnTo>
                <a:lnTo>
                  <a:pt x="1964304" y="120422"/>
                </a:lnTo>
                <a:lnTo>
                  <a:pt x="2010175" y="138498"/>
                </a:lnTo>
                <a:lnTo>
                  <a:pt x="2054448" y="157654"/>
                </a:lnTo>
                <a:lnTo>
                  <a:pt x="2097057" y="177856"/>
                </a:lnTo>
                <a:lnTo>
                  <a:pt x="2137937" y="199068"/>
                </a:lnTo>
                <a:lnTo>
                  <a:pt x="2177021" y="221254"/>
                </a:lnTo>
                <a:lnTo>
                  <a:pt x="2214245" y="244378"/>
                </a:lnTo>
                <a:lnTo>
                  <a:pt x="2249543" y="268405"/>
                </a:lnTo>
                <a:lnTo>
                  <a:pt x="2282849" y="293300"/>
                </a:lnTo>
                <a:lnTo>
                  <a:pt x="2314098" y="319025"/>
                </a:lnTo>
                <a:lnTo>
                  <a:pt x="2343223" y="345547"/>
                </a:lnTo>
                <a:lnTo>
                  <a:pt x="2370161" y="372830"/>
                </a:lnTo>
                <a:lnTo>
                  <a:pt x="2417207" y="429534"/>
                </a:lnTo>
                <a:lnTo>
                  <a:pt x="2454712" y="488852"/>
                </a:lnTo>
                <a:lnTo>
                  <a:pt x="2482151" y="550499"/>
                </a:lnTo>
                <a:lnTo>
                  <a:pt x="2498999" y="614191"/>
                </a:lnTo>
                <a:lnTo>
                  <a:pt x="2504732" y="679643"/>
                </a:lnTo>
                <a:lnTo>
                  <a:pt x="2503288" y="712571"/>
                </a:lnTo>
                <a:lnTo>
                  <a:pt x="2498999" y="745095"/>
                </a:lnTo>
                <a:lnTo>
                  <a:pt x="2482151" y="808786"/>
                </a:lnTo>
                <a:lnTo>
                  <a:pt x="2454712" y="870433"/>
                </a:lnTo>
                <a:lnTo>
                  <a:pt x="2417207" y="929750"/>
                </a:lnTo>
                <a:lnTo>
                  <a:pt x="2370161" y="986452"/>
                </a:lnTo>
                <a:lnTo>
                  <a:pt x="2343223" y="1013733"/>
                </a:lnTo>
                <a:lnTo>
                  <a:pt x="2314098" y="1040254"/>
                </a:lnTo>
                <a:lnTo>
                  <a:pt x="2282849" y="1065979"/>
                </a:lnTo>
                <a:lnTo>
                  <a:pt x="2249543" y="1090872"/>
                </a:lnTo>
                <a:lnTo>
                  <a:pt x="2214245" y="1114898"/>
                </a:lnTo>
                <a:lnTo>
                  <a:pt x="2177021" y="1138022"/>
                </a:lnTo>
                <a:lnTo>
                  <a:pt x="2137937" y="1160206"/>
                </a:lnTo>
                <a:lnTo>
                  <a:pt x="2097057" y="1181417"/>
                </a:lnTo>
                <a:lnTo>
                  <a:pt x="2054448" y="1201618"/>
                </a:lnTo>
                <a:lnTo>
                  <a:pt x="2010175" y="1220774"/>
                </a:lnTo>
                <a:lnTo>
                  <a:pt x="1964304" y="1238849"/>
                </a:lnTo>
                <a:lnTo>
                  <a:pt x="1916901" y="1255807"/>
                </a:lnTo>
                <a:lnTo>
                  <a:pt x="1868030" y="1271613"/>
                </a:lnTo>
                <a:lnTo>
                  <a:pt x="1817758" y="1286232"/>
                </a:lnTo>
                <a:lnTo>
                  <a:pt x="1766150" y="1299627"/>
                </a:lnTo>
                <a:lnTo>
                  <a:pt x="1713272" y="1311763"/>
                </a:lnTo>
                <a:lnTo>
                  <a:pt x="1659189" y="1322605"/>
                </a:lnTo>
                <a:lnTo>
                  <a:pt x="1603967" y="1332117"/>
                </a:lnTo>
                <a:lnTo>
                  <a:pt x="1547671" y="1340263"/>
                </a:lnTo>
                <a:lnTo>
                  <a:pt x="1490368" y="1347008"/>
                </a:lnTo>
                <a:lnTo>
                  <a:pt x="1432122" y="1352316"/>
                </a:lnTo>
                <a:lnTo>
                  <a:pt x="1373000" y="1356152"/>
                </a:lnTo>
                <a:lnTo>
                  <a:pt x="1313067" y="1358479"/>
                </a:lnTo>
                <a:lnTo>
                  <a:pt x="1252388" y="1359263"/>
                </a:lnTo>
                <a:lnTo>
                  <a:pt x="1191709" y="1358479"/>
                </a:lnTo>
                <a:lnTo>
                  <a:pt x="1131775" y="1356152"/>
                </a:lnTo>
                <a:lnTo>
                  <a:pt x="1072652" y="1352316"/>
                </a:lnTo>
                <a:lnTo>
                  <a:pt x="1014406" y="1347008"/>
                </a:lnTo>
                <a:lnTo>
                  <a:pt x="957101" y="1340263"/>
                </a:lnTo>
                <a:lnTo>
                  <a:pt x="900805" y="1332117"/>
                </a:lnTo>
                <a:lnTo>
                  <a:pt x="845582" y="1322605"/>
                </a:lnTo>
                <a:lnTo>
                  <a:pt x="791497" y="1311763"/>
                </a:lnTo>
                <a:lnTo>
                  <a:pt x="738618" y="1299627"/>
                </a:lnTo>
                <a:lnTo>
                  <a:pt x="687008" y="1286232"/>
                </a:lnTo>
                <a:lnTo>
                  <a:pt x="636734" y="1271613"/>
                </a:lnTo>
                <a:lnTo>
                  <a:pt x="587862" y="1255807"/>
                </a:lnTo>
                <a:lnTo>
                  <a:pt x="540457" y="1238849"/>
                </a:lnTo>
                <a:lnTo>
                  <a:pt x="494584" y="1220774"/>
                </a:lnTo>
                <a:lnTo>
                  <a:pt x="450309" y="1201618"/>
                </a:lnTo>
                <a:lnTo>
                  <a:pt x="407698" y="1181417"/>
                </a:lnTo>
                <a:lnTo>
                  <a:pt x="366817" y="1160206"/>
                </a:lnTo>
                <a:lnTo>
                  <a:pt x="327730" y="1138022"/>
                </a:lnTo>
                <a:lnTo>
                  <a:pt x="290504" y="1114898"/>
                </a:lnTo>
                <a:lnTo>
                  <a:pt x="255204" y="1090872"/>
                </a:lnTo>
                <a:lnTo>
                  <a:pt x="221897" y="1065979"/>
                </a:lnTo>
                <a:lnTo>
                  <a:pt x="190646" y="1040254"/>
                </a:lnTo>
                <a:lnTo>
                  <a:pt x="161519" y="1013733"/>
                </a:lnTo>
                <a:lnTo>
                  <a:pt x="134580" y="986452"/>
                </a:lnTo>
                <a:lnTo>
                  <a:pt x="87530" y="929750"/>
                </a:lnTo>
                <a:lnTo>
                  <a:pt x="50023" y="870433"/>
                </a:lnTo>
                <a:lnTo>
                  <a:pt x="22582" y="808786"/>
                </a:lnTo>
                <a:lnTo>
                  <a:pt x="5733" y="745095"/>
                </a:lnTo>
                <a:lnTo>
                  <a:pt x="1444" y="712571"/>
                </a:lnTo>
                <a:lnTo>
                  <a:pt x="0" y="679643"/>
                </a:lnTo>
                <a:close/>
              </a:path>
            </a:pathLst>
          </a:custGeom>
          <a:ln w="56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311295" y="4883452"/>
            <a:ext cx="54292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500" spc="-110" dirty="0">
                <a:latin typeface="MS Gothic"/>
                <a:cs typeface="MS Gothic"/>
              </a:rPr>
              <a:t>解系</a:t>
            </a:r>
            <a:r>
              <a:rPr sz="1500" spc="-110" dirty="0">
                <a:latin typeface="宋体"/>
                <a:cs typeface="宋体"/>
              </a:rPr>
              <a:t>统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86088" y="4747027"/>
            <a:ext cx="366395" cy="51943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0"/>
              </a:spcBef>
            </a:pPr>
            <a:r>
              <a:rPr sz="1500" spc="-110" dirty="0">
                <a:latin typeface="MS Gothic"/>
                <a:cs typeface="MS Gothic"/>
              </a:rPr>
              <a:t>共享</a:t>
            </a:r>
            <a:endParaRPr sz="15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r>
              <a:rPr sz="1500" spc="-110" dirty="0">
                <a:latin typeface="宋体"/>
                <a:cs typeface="宋体"/>
              </a:rPr>
              <a:t>现象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5940" y="1609344"/>
            <a:ext cx="8280400" cy="257365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5600" marR="5080" indent="-342900">
              <a:lnSpc>
                <a:spcPts val="2280"/>
              </a:lnSpc>
              <a:spcBef>
                <a:spcPts val="575"/>
              </a:spcBef>
              <a:buClr>
                <a:srgbClr val="00653C"/>
              </a:buClr>
              <a:buSzPct val="7826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300" dirty="0">
                <a:latin typeface="宋体"/>
                <a:cs typeface="宋体"/>
              </a:rPr>
              <a:t>软件系统能够与问题域进行交互和相互影响的原因在于，软 件系统中的</a:t>
            </a:r>
            <a:r>
              <a:rPr sz="2300" dirty="0">
                <a:solidFill>
                  <a:srgbClr val="FF0000"/>
                </a:solidFill>
                <a:latin typeface="宋体"/>
                <a:cs typeface="宋体"/>
              </a:rPr>
              <a:t>某些部分对问题域中的某些部分的具有</a:t>
            </a:r>
            <a:r>
              <a:rPr sz="3375" b="1" spc="127" baseline="1234" dirty="0">
                <a:solidFill>
                  <a:srgbClr val="FF0000"/>
                </a:solidFill>
                <a:latin typeface="宋体"/>
                <a:cs typeface="宋体"/>
              </a:rPr>
              <a:t>模拟特</a:t>
            </a:r>
            <a:r>
              <a:rPr sz="3375" b="1" spc="135" baseline="1234" dirty="0">
                <a:solidFill>
                  <a:srgbClr val="FF0000"/>
                </a:solidFill>
                <a:latin typeface="宋体"/>
                <a:cs typeface="宋体"/>
              </a:rPr>
              <a:t>性</a:t>
            </a:r>
            <a:r>
              <a:rPr sz="2300" dirty="0">
                <a:latin typeface="宋体"/>
                <a:cs typeface="宋体"/>
              </a:rPr>
              <a:t>。</a:t>
            </a:r>
          </a:p>
          <a:p>
            <a:pPr marL="355600" indent="-342900">
              <a:lnSpc>
                <a:spcPct val="100000"/>
              </a:lnSpc>
              <a:spcBef>
                <a:spcPts val="244"/>
              </a:spcBef>
              <a:buClr>
                <a:srgbClr val="00653C"/>
              </a:buClr>
              <a:buSzPct val="7826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300" dirty="0">
                <a:latin typeface="宋体"/>
                <a:cs typeface="宋体"/>
              </a:rPr>
              <a:t>问题域中的某些信息能够和模型中的信息</a:t>
            </a:r>
            <a:r>
              <a:rPr sz="2300" dirty="0">
                <a:solidFill>
                  <a:srgbClr val="549E39"/>
                </a:solidFill>
                <a:latin typeface="宋体"/>
                <a:cs typeface="宋体"/>
              </a:rPr>
              <a:t>建立映射关系。</a:t>
            </a:r>
            <a:endParaRPr sz="2300" dirty="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359"/>
              </a:spcBef>
              <a:buClr>
                <a:srgbClr val="00653C"/>
              </a:buClr>
              <a:buSzPct val="80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375" b="1" spc="127" baseline="1234" dirty="0">
                <a:solidFill>
                  <a:srgbClr val="FF0000"/>
                </a:solidFill>
                <a:latin typeface="宋体"/>
                <a:cs typeface="宋体"/>
              </a:rPr>
              <a:t>共享现</a:t>
            </a:r>
            <a:r>
              <a:rPr sz="3375" b="1" spc="135" baseline="1234" dirty="0">
                <a:solidFill>
                  <a:srgbClr val="FF0000"/>
                </a:solidFill>
                <a:latin typeface="宋体"/>
                <a:cs typeface="宋体"/>
              </a:rPr>
              <a:t>象</a:t>
            </a:r>
            <a:r>
              <a:rPr sz="2300" dirty="0">
                <a:latin typeface="宋体"/>
                <a:cs typeface="宋体"/>
              </a:rPr>
              <a:t>是解系统模拟的问题域部分。</a:t>
            </a:r>
          </a:p>
          <a:p>
            <a:pPr>
              <a:lnSpc>
                <a:spcPct val="100000"/>
              </a:lnSpc>
            </a:pPr>
            <a:endParaRPr sz="23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00" dirty="0">
              <a:latin typeface="宋体"/>
              <a:cs typeface="宋体"/>
            </a:endParaRPr>
          </a:p>
          <a:p>
            <a:pPr marR="1519555" algn="r">
              <a:lnSpc>
                <a:spcPct val="100000"/>
              </a:lnSpc>
            </a:pPr>
            <a:r>
              <a:rPr sz="2250" spc="-160" dirty="0">
                <a:latin typeface="宋体"/>
                <a:cs typeface="宋体"/>
              </a:rPr>
              <a:t>现实世</a:t>
            </a:r>
            <a:r>
              <a:rPr sz="2250" spc="-165" dirty="0">
                <a:latin typeface="宋体"/>
                <a:cs typeface="宋体"/>
              </a:rPr>
              <a:t>界</a:t>
            </a:r>
            <a:endParaRPr sz="2250" dirty="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95621" y="3428949"/>
            <a:ext cx="3927314" cy="2611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6500" y="473963"/>
            <a:ext cx="67310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北京交管局实例：共享现象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2513629" y="3848817"/>
            <a:ext cx="4105275" cy="2418715"/>
          </a:xfrm>
          <a:custGeom>
            <a:avLst/>
            <a:gdLst/>
            <a:ahLst/>
            <a:cxnLst/>
            <a:rect l="l" t="t" r="r" b="b"/>
            <a:pathLst>
              <a:path w="4105275" h="2418715">
                <a:moveTo>
                  <a:pt x="0" y="2418110"/>
                </a:moveTo>
                <a:lnTo>
                  <a:pt x="4105169" y="2418110"/>
                </a:lnTo>
                <a:lnTo>
                  <a:pt x="4105169" y="0"/>
                </a:lnTo>
                <a:lnTo>
                  <a:pt x="0" y="0"/>
                </a:lnTo>
                <a:lnTo>
                  <a:pt x="0" y="241811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13629" y="3848817"/>
            <a:ext cx="4105275" cy="2418715"/>
          </a:xfrm>
          <a:custGeom>
            <a:avLst/>
            <a:gdLst/>
            <a:ahLst/>
            <a:cxnLst/>
            <a:rect l="l" t="t" r="r" b="b"/>
            <a:pathLst>
              <a:path w="4105275" h="2418715">
                <a:moveTo>
                  <a:pt x="0" y="2418110"/>
                </a:moveTo>
                <a:lnTo>
                  <a:pt x="4105169" y="2418110"/>
                </a:lnTo>
                <a:lnTo>
                  <a:pt x="4105169" y="0"/>
                </a:lnTo>
                <a:lnTo>
                  <a:pt x="0" y="0"/>
                </a:lnTo>
                <a:lnTo>
                  <a:pt x="0" y="2418110"/>
                </a:lnTo>
                <a:close/>
              </a:path>
            </a:pathLst>
          </a:custGeom>
          <a:ln w="52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30916" y="4676109"/>
            <a:ext cx="2346325" cy="1273175"/>
          </a:xfrm>
          <a:custGeom>
            <a:avLst/>
            <a:gdLst/>
            <a:ahLst/>
            <a:cxnLst/>
            <a:rect l="l" t="t" r="r" b="b"/>
            <a:pathLst>
              <a:path w="2346325" h="1273175">
                <a:moveTo>
                  <a:pt x="1172872" y="0"/>
                </a:moveTo>
                <a:lnTo>
                  <a:pt x="1110583" y="882"/>
                </a:lnTo>
                <a:lnTo>
                  <a:pt x="1049141" y="3499"/>
                </a:lnTo>
                <a:lnTo>
                  <a:pt x="988626" y="7806"/>
                </a:lnTo>
                <a:lnTo>
                  <a:pt x="929121" y="13761"/>
                </a:lnTo>
                <a:lnTo>
                  <a:pt x="870705" y="21319"/>
                </a:lnTo>
                <a:lnTo>
                  <a:pt x="813460" y="30435"/>
                </a:lnTo>
                <a:lnTo>
                  <a:pt x="757467" y="41067"/>
                </a:lnTo>
                <a:lnTo>
                  <a:pt x="702807" y="53169"/>
                </a:lnTo>
                <a:lnTo>
                  <a:pt x="649561" y="66698"/>
                </a:lnTo>
                <a:lnTo>
                  <a:pt x="597810" y="81611"/>
                </a:lnTo>
                <a:lnTo>
                  <a:pt x="547636" y="97862"/>
                </a:lnTo>
                <a:lnTo>
                  <a:pt x="499119" y="115408"/>
                </a:lnTo>
                <a:lnTo>
                  <a:pt x="452340" y="134206"/>
                </a:lnTo>
                <a:lnTo>
                  <a:pt x="407381" y="154210"/>
                </a:lnTo>
                <a:lnTo>
                  <a:pt x="364322" y="175377"/>
                </a:lnTo>
                <a:lnTo>
                  <a:pt x="323245" y="197664"/>
                </a:lnTo>
                <a:lnTo>
                  <a:pt x="284230" y="221025"/>
                </a:lnTo>
                <a:lnTo>
                  <a:pt x="247359" y="245418"/>
                </a:lnTo>
                <a:lnTo>
                  <a:pt x="212713" y="270797"/>
                </a:lnTo>
                <a:lnTo>
                  <a:pt x="180373" y="297120"/>
                </a:lnTo>
                <a:lnTo>
                  <a:pt x="150419" y="324342"/>
                </a:lnTo>
                <a:lnTo>
                  <a:pt x="122934" y="352419"/>
                </a:lnTo>
                <a:lnTo>
                  <a:pt x="97998" y="381307"/>
                </a:lnTo>
                <a:lnTo>
                  <a:pt x="56096" y="441341"/>
                </a:lnTo>
                <a:lnTo>
                  <a:pt x="25364" y="504092"/>
                </a:lnTo>
                <a:lnTo>
                  <a:pt x="6449" y="569207"/>
                </a:lnTo>
                <a:lnTo>
                  <a:pt x="0" y="636336"/>
                </a:lnTo>
                <a:lnTo>
                  <a:pt x="1625" y="670129"/>
                </a:lnTo>
                <a:lnTo>
                  <a:pt x="14388" y="736295"/>
                </a:lnTo>
                <a:lnTo>
                  <a:pt x="39293" y="800271"/>
                </a:lnTo>
                <a:lnTo>
                  <a:pt x="75691" y="861706"/>
                </a:lnTo>
                <a:lnTo>
                  <a:pt x="122934" y="920248"/>
                </a:lnTo>
                <a:lnTo>
                  <a:pt x="150419" y="948324"/>
                </a:lnTo>
                <a:lnTo>
                  <a:pt x="180373" y="975545"/>
                </a:lnTo>
                <a:lnTo>
                  <a:pt x="212713" y="1001867"/>
                </a:lnTo>
                <a:lnTo>
                  <a:pt x="247359" y="1027246"/>
                </a:lnTo>
                <a:lnTo>
                  <a:pt x="284230" y="1051637"/>
                </a:lnTo>
                <a:lnTo>
                  <a:pt x="323245" y="1074998"/>
                </a:lnTo>
                <a:lnTo>
                  <a:pt x="364322" y="1097283"/>
                </a:lnTo>
                <a:lnTo>
                  <a:pt x="407381" y="1118449"/>
                </a:lnTo>
                <a:lnTo>
                  <a:pt x="452340" y="1138452"/>
                </a:lnTo>
                <a:lnTo>
                  <a:pt x="499119" y="1157249"/>
                </a:lnTo>
                <a:lnTo>
                  <a:pt x="547636" y="1174794"/>
                </a:lnTo>
                <a:lnTo>
                  <a:pt x="597810" y="1191044"/>
                </a:lnTo>
                <a:lnTo>
                  <a:pt x="649561" y="1205956"/>
                </a:lnTo>
                <a:lnTo>
                  <a:pt x="702807" y="1219484"/>
                </a:lnTo>
                <a:lnTo>
                  <a:pt x="757467" y="1231586"/>
                </a:lnTo>
                <a:lnTo>
                  <a:pt x="813460" y="1242217"/>
                </a:lnTo>
                <a:lnTo>
                  <a:pt x="870705" y="1251332"/>
                </a:lnTo>
                <a:lnTo>
                  <a:pt x="929121" y="1258889"/>
                </a:lnTo>
                <a:lnTo>
                  <a:pt x="988626" y="1264844"/>
                </a:lnTo>
                <a:lnTo>
                  <a:pt x="1049141" y="1269151"/>
                </a:lnTo>
                <a:lnTo>
                  <a:pt x="1110583" y="1271768"/>
                </a:lnTo>
                <a:lnTo>
                  <a:pt x="1172872" y="1272650"/>
                </a:lnTo>
                <a:lnTo>
                  <a:pt x="1235163" y="1271768"/>
                </a:lnTo>
                <a:lnTo>
                  <a:pt x="1296608" y="1269151"/>
                </a:lnTo>
                <a:lnTo>
                  <a:pt x="1357124" y="1264844"/>
                </a:lnTo>
                <a:lnTo>
                  <a:pt x="1416631" y="1258889"/>
                </a:lnTo>
                <a:lnTo>
                  <a:pt x="1475048" y="1251332"/>
                </a:lnTo>
                <a:lnTo>
                  <a:pt x="1532294" y="1242217"/>
                </a:lnTo>
                <a:lnTo>
                  <a:pt x="1588288" y="1231586"/>
                </a:lnTo>
                <a:lnTo>
                  <a:pt x="1642948" y="1219484"/>
                </a:lnTo>
                <a:lnTo>
                  <a:pt x="1696195" y="1205956"/>
                </a:lnTo>
                <a:lnTo>
                  <a:pt x="1747946" y="1191044"/>
                </a:lnTo>
                <a:lnTo>
                  <a:pt x="1798121" y="1174794"/>
                </a:lnTo>
                <a:lnTo>
                  <a:pt x="1846638" y="1157249"/>
                </a:lnTo>
                <a:lnTo>
                  <a:pt x="1893417" y="1138452"/>
                </a:lnTo>
                <a:lnTo>
                  <a:pt x="1938376" y="1118449"/>
                </a:lnTo>
                <a:lnTo>
                  <a:pt x="1981435" y="1097283"/>
                </a:lnTo>
                <a:lnTo>
                  <a:pt x="2022512" y="1074998"/>
                </a:lnTo>
                <a:lnTo>
                  <a:pt x="2061526" y="1051637"/>
                </a:lnTo>
                <a:lnTo>
                  <a:pt x="2098396" y="1027246"/>
                </a:lnTo>
                <a:lnTo>
                  <a:pt x="2133042" y="1001867"/>
                </a:lnTo>
                <a:lnTo>
                  <a:pt x="2165382" y="975545"/>
                </a:lnTo>
                <a:lnTo>
                  <a:pt x="2195335" y="948324"/>
                </a:lnTo>
                <a:lnTo>
                  <a:pt x="2222820" y="920248"/>
                </a:lnTo>
                <a:lnTo>
                  <a:pt x="2247756" y="891361"/>
                </a:lnTo>
                <a:lnTo>
                  <a:pt x="2289656" y="831328"/>
                </a:lnTo>
                <a:lnTo>
                  <a:pt x="2320388" y="768579"/>
                </a:lnTo>
                <a:lnTo>
                  <a:pt x="2339303" y="703464"/>
                </a:lnTo>
                <a:lnTo>
                  <a:pt x="2345752" y="636336"/>
                </a:lnTo>
                <a:lnTo>
                  <a:pt x="2344126" y="602542"/>
                </a:lnTo>
                <a:lnTo>
                  <a:pt x="2331363" y="536376"/>
                </a:lnTo>
                <a:lnTo>
                  <a:pt x="2306459" y="472399"/>
                </a:lnTo>
                <a:lnTo>
                  <a:pt x="2270062" y="410963"/>
                </a:lnTo>
                <a:lnTo>
                  <a:pt x="2222820" y="352419"/>
                </a:lnTo>
                <a:lnTo>
                  <a:pt x="2195335" y="324342"/>
                </a:lnTo>
                <a:lnTo>
                  <a:pt x="2165382" y="297120"/>
                </a:lnTo>
                <a:lnTo>
                  <a:pt x="2133042" y="270797"/>
                </a:lnTo>
                <a:lnTo>
                  <a:pt x="2098396" y="245418"/>
                </a:lnTo>
                <a:lnTo>
                  <a:pt x="2061526" y="221025"/>
                </a:lnTo>
                <a:lnTo>
                  <a:pt x="2022512" y="197664"/>
                </a:lnTo>
                <a:lnTo>
                  <a:pt x="1981435" y="175377"/>
                </a:lnTo>
                <a:lnTo>
                  <a:pt x="1938376" y="154210"/>
                </a:lnTo>
                <a:lnTo>
                  <a:pt x="1893417" y="134206"/>
                </a:lnTo>
                <a:lnTo>
                  <a:pt x="1846638" y="115408"/>
                </a:lnTo>
                <a:lnTo>
                  <a:pt x="1798121" y="97862"/>
                </a:lnTo>
                <a:lnTo>
                  <a:pt x="1747946" y="81611"/>
                </a:lnTo>
                <a:lnTo>
                  <a:pt x="1696195" y="66698"/>
                </a:lnTo>
                <a:lnTo>
                  <a:pt x="1642948" y="53169"/>
                </a:lnTo>
                <a:lnTo>
                  <a:pt x="1588288" y="41067"/>
                </a:lnTo>
                <a:lnTo>
                  <a:pt x="1532294" y="30435"/>
                </a:lnTo>
                <a:lnTo>
                  <a:pt x="1475048" y="21319"/>
                </a:lnTo>
                <a:lnTo>
                  <a:pt x="1416631" y="13761"/>
                </a:lnTo>
                <a:lnTo>
                  <a:pt x="1357124" y="7806"/>
                </a:lnTo>
                <a:lnTo>
                  <a:pt x="1296608" y="3499"/>
                </a:lnTo>
                <a:lnTo>
                  <a:pt x="1235163" y="882"/>
                </a:lnTo>
                <a:lnTo>
                  <a:pt x="1172872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30917" y="4676109"/>
            <a:ext cx="2346325" cy="1273175"/>
          </a:xfrm>
          <a:custGeom>
            <a:avLst/>
            <a:gdLst/>
            <a:ahLst/>
            <a:cxnLst/>
            <a:rect l="l" t="t" r="r" b="b"/>
            <a:pathLst>
              <a:path w="2346325" h="1273175">
                <a:moveTo>
                  <a:pt x="0" y="636336"/>
                </a:moveTo>
                <a:lnTo>
                  <a:pt x="6449" y="569208"/>
                </a:lnTo>
                <a:lnTo>
                  <a:pt x="25364" y="504092"/>
                </a:lnTo>
                <a:lnTo>
                  <a:pt x="56096" y="441341"/>
                </a:lnTo>
                <a:lnTo>
                  <a:pt x="97997" y="381307"/>
                </a:lnTo>
                <a:lnTo>
                  <a:pt x="122934" y="352419"/>
                </a:lnTo>
                <a:lnTo>
                  <a:pt x="150419" y="324342"/>
                </a:lnTo>
                <a:lnTo>
                  <a:pt x="180372" y="297120"/>
                </a:lnTo>
                <a:lnTo>
                  <a:pt x="212713" y="270797"/>
                </a:lnTo>
                <a:lnTo>
                  <a:pt x="247359" y="245418"/>
                </a:lnTo>
                <a:lnTo>
                  <a:pt x="284230" y="221025"/>
                </a:lnTo>
                <a:lnTo>
                  <a:pt x="323244" y="197664"/>
                </a:lnTo>
                <a:lnTo>
                  <a:pt x="364321" y="175377"/>
                </a:lnTo>
                <a:lnTo>
                  <a:pt x="407380" y="154210"/>
                </a:lnTo>
                <a:lnTo>
                  <a:pt x="452339" y="134206"/>
                </a:lnTo>
                <a:lnTo>
                  <a:pt x="499118" y="115408"/>
                </a:lnTo>
                <a:lnTo>
                  <a:pt x="547635" y="97862"/>
                </a:lnTo>
                <a:lnTo>
                  <a:pt x="597810" y="81611"/>
                </a:lnTo>
                <a:lnTo>
                  <a:pt x="649560" y="66698"/>
                </a:lnTo>
                <a:lnTo>
                  <a:pt x="702806" y="53169"/>
                </a:lnTo>
                <a:lnTo>
                  <a:pt x="757466" y="41067"/>
                </a:lnTo>
                <a:lnTo>
                  <a:pt x="813459" y="30435"/>
                </a:lnTo>
                <a:lnTo>
                  <a:pt x="870704" y="21319"/>
                </a:lnTo>
                <a:lnTo>
                  <a:pt x="929120" y="13761"/>
                </a:lnTo>
                <a:lnTo>
                  <a:pt x="988626" y="7806"/>
                </a:lnTo>
                <a:lnTo>
                  <a:pt x="1049141" y="3499"/>
                </a:lnTo>
                <a:lnTo>
                  <a:pt x="1110583" y="882"/>
                </a:lnTo>
                <a:lnTo>
                  <a:pt x="1172872" y="0"/>
                </a:lnTo>
                <a:lnTo>
                  <a:pt x="1235163" y="882"/>
                </a:lnTo>
                <a:lnTo>
                  <a:pt x="1296607" y="3499"/>
                </a:lnTo>
                <a:lnTo>
                  <a:pt x="1357123" y="7806"/>
                </a:lnTo>
                <a:lnTo>
                  <a:pt x="1416631" y="13761"/>
                </a:lnTo>
                <a:lnTo>
                  <a:pt x="1475048" y="21319"/>
                </a:lnTo>
                <a:lnTo>
                  <a:pt x="1532294" y="30435"/>
                </a:lnTo>
                <a:lnTo>
                  <a:pt x="1588288" y="41067"/>
                </a:lnTo>
                <a:lnTo>
                  <a:pt x="1642948" y="53169"/>
                </a:lnTo>
                <a:lnTo>
                  <a:pt x="1696195" y="66698"/>
                </a:lnTo>
                <a:lnTo>
                  <a:pt x="1747946" y="81611"/>
                </a:lnTo>
                <a:lnTo>
                  <a:pt x="1798120" y="97862"/>
                </a:lnTo>
                <a:lnTo>
                  <a:pt x="1846637" y="115408"/>
                </a:lnTo>
                <a:lnTo>
                  <a:pt x="1893416" y="134206"/>
                </a:lnTo>
                <a:lnTo>
                  <a:pt x="1938375" y="154210"/>
                </a:lnTo>
                <a:lnTo>
                  <a:pt x="1981434" y="175377"/>
                </a:lnTo>
                <a:lnTo>
                  <a:pt x="2022511" y="197664"/>
                </a:lnTo>
                <a:lnTo>
                  <a:pt x="2061525" y="221025"/>
                </a:lnTo>
                <a:lnTo>
                  <a:pt x="2098396" y="245418"/>
                </a:lnTo>
                <a:lnTo>
                  <a:pt x="2133042" y="270797"/>
                </a:lnTo>
                <a:lnTo>
                  <a:pt x="2165381" y="297120"/>
                </a:lnTo>
                <a:lnTo>
                  <a:pt x="2195334" y="324342"/>
                </a:lnTo>
                <a:lnTo>
                  <a:pt x="2222819" y="352419"/>
                </a:lnTo>
                <a:lnTo>
                  <a:pt x="2247755" y="381307"/>
                </a:lnTo>
                <a:lnTo>
                  <a:pt x="2289656" y="441341"/>
                </a:lnTo>
                <a:lnTo>
                  <a:pt x="2320388" y="504092"/>
                </a:lnTo>
                <a:lnTo>
                  <a:pt x="2339302" y="569208"/>
                </a:lnTo>
                <a:lnTo>
                  <a:pt x="2345751" y="636336"/>
                </a:lnTo>
                <a:lnTo>
                  <a:pt x="2344125" y="670130"/>
                </a:lnTo>
                <a:lnTo>
                  <a:pt x="2339302" y="703464"/>
                </a:lnTo>
                <a:lnTo>
                  <a:pt x="2320388" y="768579"/>
                </a:lnTo>
                <a:lnTo>
                  <a:pt x="2289656" y="831329"/>
                </a:lnTo>
                <a:lnTo>
                  <a:pt x="2247755" y="891361"/>
                </a:lnTo>
                <a:lnTo>
                  <a:pt x="2222819" y="920249"/>
                </a:lnTo>
                <a:lnTo>
                  <a:pt x="2195334" y="948325"/>
                </a:lnTo>
                <a:lnTo>
                  <a:pt x="2165381" y="975546"/>
                </a:lnTo>
                <a:lnTo>
                  <a:pt x="2133042" y="1001867"/>
                </a:lnTo>
                <a:lnTo>
                  <a:pt x="2098396" y="1027246"/>
                </a:lnTo>
                <a:lnTo>
                  <a:pt x="2061525" y="1051638"/>
                </a:lnTo>
                <a:lnTo>
                  <a:pt x="2022511" y="1074998"/>
                </a:lnTo>
                <a:lnTo>
                  <a:pt x="1981434" y="1097283"/>
                </a:lnTo>
                <a:lnTo>
                  <a:pt x="1938375" y="1118450"/>
                </a:lnTo>
                <a:lnTo>
                  <a:pt x="1893416" y="1138453"/>
                </a:lnTo>
                <a:lnTo>
                  <a:pt x="1846637" y="1157249"/>
                </a:lnTo>
                <a:lnTo>
                  <a:pt x="1798120" y="1174794"/>
                </a:lnTo>
                <a:lnTo>
                  <a:pt x="1747946" y="1191045"/>
                </a:lnTo>
                <a:lnTo>
                  <a:pt x="1696195" y="1205956"/>
                </a:lnTo>
                <a:lnTo>
                  <a:pt x="1642948" y="1219485"/>
                </a:lnTo>
                <a:lnTo>
                  <a:pt x="1588288" y="1231586"/>
                </a:lnTo>
                <a:lnTo>
                  <a:pt x="1532294" y="1242217"/>
                </a:lnTo>
                <a:lnTo>
                  <a:pt x="1475048" y="1251333"/>
                </a:lnTo>
                <a:lnTo>
                  <a:pt x="1416631" y="1258890"/>
                </a:lnTo>
                <a:lnTo>
                  <a:pt x="1357123" y="1264844"/>
                </a:lnTo>
                <a:lnTo>
                  <a:pt x="1296607" y="1269152"/>
                </a:lnTo>
                <a:lnTo>
                  <a:pt x="1235163" y="1271768"/>
                </a:lnTo>
                <a:lnTo>
                  <a:pt x="1172872" y="1272650"/>
                </a:lnTo>
                <a:lnTo>
                  <a:pt x="1110583" y="1271768"/>
                </a:lnTo>
                <a:lnTo>
                  <a:pt x="1049141" y="1269152"/>
                </a:lnTo>
                <a:lnTo>
                  <a:pt x="988626" y="1264844"/>
                </a:lnTo>
                <a:lnTo>
                  <a:pt x="929120" y="1258890"/>
                </a:lnTo>
                <a:lnTo>
                  <a:pt x="870704" y="1251333"/>
                </a:lnTo>
                <a:lnTo>
                  <a:pt x="813459" y="1242217"/>
                </a:lnTo>
                <a:lnTo>
                  <a:pt x="757466" y="1231586"/>
                </a:lnTo>
                <a:lnTo>
                  <a:pt x="702806" y="1219485"/>
                </a:lnTo>
                <a:lnTo>
                  <a:pt x="649560" y="1205956"/>
                </a:lnTo>
                <a:lnTo>
                  <a:pt x="597810" y="1191045"/>
                </a:lnTo>
                <a:lnTo>
                  <a:pt x="547635" y="1174794"/>
                </a:lnTo>
                <a:lnTo>
                  <a:pt x="499118" y="1157249"/>
                </a:lnTo>
                <a:lnTo>
                  <a:pt x="452339" y="1138453"/>
                </a:lnTo>
                <a:lnTo>
                  <a:pt x="407380" y="1118450"/>
                </a:lnTo>
                <a:lnTo>
                  <a:pt x="364321" y="1097283"/>
                </a:lnTo>
                <a:lnTo>
                  <a:pt x="323244" y="1074998"/>
                </a:lnTo>
                <a:lnTo>
                  <a:pt x="284230" y="1051638"/>
                </a:lnTo>
                <a:lnTo>
                  <a:pt x="247359" y="1027246"/>
                </a:lnTo>
                <a:lnTo>
                  <a:pt x="212713" y="1001867"/>
                </a:lnTo>
                <a:lnTo>
                  <a:pt x="180372" y="975546"/>
                </a:lnTo>
                <a:lnTo>
                  <a:pt x="150419" y="948325"/>
                </a:lnTo>
                <a:lnTo>
                  <a:pt x="122934" y="920249"/>
                </a:lnTo>
                <a:lnTo>
                  <a:pt x="97997" y="891361"/>
                </a:lnTo>
                <a:lnTo>
                  <a:pt x="56096" y="831329"/>
                </a:lnTo>
                <a:lnTo>
                  <a:pt x="25364" y="768579"/>
                </a:lnTo>
                <a:lnTo>
                  <a:pt x="6449" y="703464"/>
                </a:lnTo>
                <a:lnTo>
                  <a:pt x="1625" y="670130"/>
                </a:lnTo>
                <a:lnTo>
                  <a:pt x="0" y="636336"/>
                </a:lnTo>
                <a:close/>
              </a:path>
            </a:pathLst>
          </a:custGeom>
          <a:ln w="52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55407" y="5179246"/>
            <a:ext cx="509270" cy="241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1400" spc="-100" dirty="0">
                <a:latin typeface="宋体"/>
                <a:cs typeface="宋体"/>
              </a:rPr>
              <a:t>问题域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126340" y="4676109"/>
            <a:ext cx="2345690" cy="1273175"/>
          </a:xfrm>
          <a:custGeom>
            <a:avLst/>
            <a:gdLst/>
            <a:ahLst/>
            <a:cxnLst/>
            <a:rect l="l" t="t" r="r" b="b"/>
            <a:pathLst>
              <a:path w="2345690" h="1273175">
                <a:moveTo>
                  <a:pt x="0" y="636336"/>
                </a:moveTo>
                <a:lnTo>
                  <a:pt x="6448" y="569208"/>
                </a:lnTo>
                <a:lnTo>
                  <a:pt x="25363" y="504092"/>
                </a:lnTo>
                <a:lnTo>
                  <a:pt x="56095" y="441341"/>
                </a:lnTo>
                <a:lnTo>
                  <a:pt x="97995" y="381307"/>
                </a:lnTo>
                <a:lnTo>
                  <a:pt x="122931" y="352419"/>
                </a:lnTo>
                <a:lnTo>
                  <a:pt x="150416" y="324342"/>
                </a:lnTo>
                <a:lnTo>
                  <a:pt x="180368" y="297120"/>
                </a:lnTo>
                <a:lnTo>
                  <a:pt x="212708" y="270797"/>
                </a:lnTo>
                <a:lnTo>
                  <a:pt x="247353" y="245418"/>
                </a:lnTo>
                <a:lnTo>
                  <a:pt x="284223" y="221025"/>
                </a:lnTo>
                <a:lnTo>
                  <a:pt x="323237" y="197664"/>
                </a:lnTo>
                <a:lnTo>
                  <a:pt x="364314" y="175377"/>
                </a:lnTo>
                <a:lnTo>
                  <a:pt x="407372" y="154210"/>
                </a:lnTo>
                <a:lnTo>
                  <a:pt x="452330" y="134206"/>
                </a:lnTo>
                <a:lnTo>
                  <a:pt x="499108" y="115408"/>
                </a:lnTo>
                <a:lnTo>
                  <a:pt x="547625" y="97862"/>
                </a:lnTo>
                <a:lnTo>
                  <a:pt x="597799" y="81611"/>
                </a:lnTo>
                <a:lnTo>
                  <a:pt x="649549" y="66698"/>
                </a:lnTo>
                <a:lnTo>
                  <a:pt x="702794" y="53169"/>
                </a:lnTo>
                <a:lnTo>
                  <a:pt x="757454" y="41067"/>
                </a:lnTo>
                <a:lnTo>
                  <a:pt x="813446" y="30435"/>
                </a:lnTo>
                <a:lnTo>
                  <a:pt x="870691" y="21319"/>
                </a:lnTo>
                <a:lnTo>
                  <a:pt x="929106" y="13761"/>
                </a:lnTo>
                <a:lnTo>
                  <a:pt x="988612" y="7806"/>
                </a:lnTo>
                <a:lnTo>
                  <a:pt x="1049126" y="3499"/>
                </a:lnTo>
                <a:lnTo>
                  <a:pt x="1110569" y="882"/>
                </a:lnTo>
                <a:lnTo>
                  <a:pt x="1172858" y="0"/>
                </a:lnTo>
                <a:lnTo>
                  <a:pt x="1235147" y="882"/>
                </a:lnTo>
                <a:lnTo>
                  <a:pt x="1296589" y="3499"/>
                </a:lnTo>
                <a:lnTo>
                  <a:pt x="1357102" y="7806"/>
                </a:lnTo>
                <a:lnTo>
                  <a:pt x="1416607" y="13761"/>
                </a:lnTo>
                <a:lnTo>
                  <a:pt x="1475022" y="21319"/>
                </a:lnTo>
                <a:lnTo>
                  <a:pt x="1532265" y="30435"/>
                </a:lnTo>
                <a:lnTo>
                  <a:pt x="1588257" y="41067"/>
                </a:lnTo>
                <a:lnTo>
                  <a:pt x="1642915" y="53169"/>
                </a:lnTo>
                <a:lnTo>
                  <a:pt x="1696158" y="66698"/>
                </a:lnTo>
                <a:lnTo>
                  <a:pt x="1747907" y="81611"/>
                </a:lnTo>
                <a:lnTo>
                  <a:pt x="1798079" y="97862"/>
                </a:lnTo>
                <a:lnTo>
                  <a:pt x="1846593" y="115408"/>
                </a:lnTo>
                <a:lnTo>
                  <a:pt x="1893369" y="134206"/>
                </a:lnTo>
                <a:lnTo>
                  <a:pt x="1938326" y="154210"/>
                </a:lnTo>
                <a:lnTo>
                  <a:pt x="1981382" y="175377"/>
                </a:lnTo>
                <a:lnTo>
                  <a:pt x="2022457" y="197664"/>
                </a:lnTo>
                <a:lnTo>
                  <a:pt x="2061468" y="221025"/>
                </a:lnTo>
                <a:lnTo>
                  <a:pt x="2098337" y="245418"/>
                </a:lnTo>
                <a:lnTo>
                  <a:pt x="2132980" y="270797"/>
                </a:lnTo>
                <a:lnTo>
                  <a:pt x="2165318" y="297120"/>
                </a:lnTo>
                <a:lnTo>
                  <a:pt x="2195269" y="324342"/>
                </a:lnTo>
                <a:lnTo>
                  <a:pt x="2222752" y="352419"/>
                </a:lnTo>
                <a:lnTo>
                  <a:pt x="2247686" y="381307"/>
                </a:lnTo>
                <a:lnTo>
                  <a:pt x="2289583" y="441341"/>
                </a:lnTo>
                <a:lnTo>
                  <a:pt x="2320313" y="504092"/>
                </a:lnTo>
                <a:lnTo>
                  <a:pt x="2339226" y="569208"/>
                </a:lnTo>
                <a:lnTo>
                  <a:pt x="2345675" y="636336"/>
                </a:lnTo>
                <a:lnTo>
                  <a:pt x="2344049" y="670130"/>
                </a:lnTo>
                <a:lnTo>
                  <a:pt x="2339226" y="703464"/>
                </a:lnTo>
                <a:lnTo>
                  <a:pt x="2320313" y="768579"/>
                </a:lnTo>
                <a:lnTo>
                  <a:pt x="2289583" y="831329"/>
                </a:lnTo>
                <a:lnTo>
                  <a:pt x="2247686" y="891361"/>
                </a:lnTo>
                <a:lnTo>
                  <a:pt x="2222752" y="920249"/>
                </a:lnTo>
                <a:lnTo>
                  <a:pt x="2195269" y="948325"/>
                </a:lnTo>
                <a:lnTo>
                  <a:pt x="2165318" y="975546"/>
                </a:lnTo>
                <a:lnTo>
                  <a:pt x="2132980" y="1001867"/>
                </a:lnTo>
                <a:lnTo>
                  <a:pt x="2098337" y="1027246"/>
                </a:lnTo>
                <a:lnTo>
                  <a:pt x="2061468" y="1051638"/>
                </a:lnTo>
                <a:lnTo>
                  <a:pt x="2022457" y="1074998"/>
                </a:lnTo>
                <a:lnTo>
                  <a:pt x="1981382" y="1097283"/>
                </a:lnTo>
                <a:lnTo>
                  <a:pt x="1938326" y="1118450"/>
                </a:lnTo>
                <a:lnTo>
                  <a:pt x="1893369" y="1138453"/>
                </a:lnTo>
                <a:lnTo>
                  <a:pt x="1846593" y="1157249"/>
                </a:lnTo>
                <a:lnTo>
                  <a:pt x="1798079" y="1174794"/>
                </a:lnTo>
                <a:lnTo>
                  <a:pt x="1747907" y="1191045"/>
                </a:lnTo>
                <a:lnTo>
                  <a:pt x="1696158" y="1205956"/>
                </a:lnTo>
                <a:lnTo>
                  <a:pt x="1642915" y="1219485"/>
                </a:lnTo>
                <a:lnTo>
                  <a:pt x="1588257" y="1231586"/>
                </a:lnTo>
                <a:lnTo>
                  <a:pt x="1532265" y="1242217"/>
                </a:lnTo>
                <a:lnTo>
                  <a:pt x="1475022" y="1251333"/>
                </a:lnTo>
                <a:lnTo>
                  <a:pt x="1416607" y="1258890"/>
                </a:lnTo>
                <a:lnTo>
                  <a:pt x="1357102" y="1264844"/>
                </a:lnTo>
                <a:lnTo>
                  <a:pt x="1296589" y="1269152"/>
                </a:lnTo>
                <a:lnTo>
                  <a:pt x="1235147" y="1271768"/>
                </a:lnTo>
                <a:lnTo>
                  <a:pt x="1172858" y="1272650"/>
                </a:lnTo>
                <a:lnTo>
                  <a:pt x="1110569" y="1271768"/>
                </a:lnTo>
                <a:lnTo>
                  <a:pt x="1049126" y="1269152"/>
                </a:lnTo>
                <a:lnTo>
                  <a:pt x="988612" y="1264844"/>
                </a:lnTo>
                <a:lnTo>
                  <a:pt x="929106" y="1258890"/>
                </a:lnTo>
                <a:lnTo>
                  <a:pt x="870691" y="1251333"/>
                </a:lnTo>
                <a:lnTo>
                  <a:pt x="813446" y="1242217"/>
                </a:lnTo>
                <a:lnTo>
                  <a:pt x="757454" y="1231586"/>
                </a:lnTo>
                <a:lnTo>
                  <a:pt x="702794" y="1219485"/>
                </a:lnTo>
                <a:lnTo>
                  <a:pt x="649549" y="1205956"/>
                </a:lnTo>
                <a:lnTo>
                  <a:pt x="597799" y="1191045"/>
                </a:lnTo>
                <a:lnTo>
                  <a:pt x="547625" y="1174794"/>
                </a:lnTo>
                <a:lnTo>
                  <a:pt x="499108" y="1157249"/>
                </a:lnTo>
                <a:lnTo>
                  <a:pt x="452330" y="1138453"/>
                </a:lnTo>
                <a:lnTo>
                  <a:pt x="407372" y="1118450"/>
                </a:lnTo>
                <a:lnTo>
                  <a:pt x="364314" y="1097283"/>
                </a:lnTo>
                <a:lnTo>
                  <a:pt x="323237" y="1074998"/>
                </a:lnTo>
                <a:lnTo>
                  <a:pt x="284223" y="1051638"/>
                </a:lnTo>
                <a:lnTo>
                  <a:pt x="247353" y="1027246"/>
                </a:lnTo>
                <a:lnTo>
                  <a:pt x="212708" y="1001867"/>
                </a:lnTo>
                <a:lnTo>
                  <a:pt x="180368" y="975546"/>
                </a:lnTo>
                <a:lnTo>
                  <a:pt x="150416" y="948325"/>
                </a:lnTo>
                <a:lnTo>
                  <a:pt x="122931" y="920249"/>
                </a:lnTo>
                <a:lnTo>
                  <a:pt x="97995" y="891361"/>
                </a:lnTo>
                <a:lnTo>
                  <a:pt x="56095" y="831329"/>
                </a:lnTo>
                <a:lnTo>
                  <a:pt x="25363" y="768579"/>
                </a:lnTo>
                <a:lnTo>
                  <a:pt x="6448" y="703464"/>
                </a:lnTo>
                <a:lnTo>
                  <a:pt x="1625" y="670130"/>
                </a:lnTo>
                <a:lnTo>
                  <a:pt x="0" y="636336"/>
                </a:lnTo>
                <a:close/>
              </a:path>
            </a:pathLst>
          </a:custGeom>
          <a:ln w="52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50732" y="5179246"/>
            <a:ext cx="509270" cy="241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1400" spc="-100" dirty="0">
                <a:latin typeface="MS Gothic"/>
                <a:cs typeface="MS Gothic"/>
              </a:rPr>
              <a:t>解系</a:t>
            </a:r>
            <a:r>
              <a:rPr sz="1400" spc="-100" dirty="0">
                <a:latin typeface="宋体"/>
                <a:cs typeface="宋体"/>
              </a:rPr>
              <a:t>统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371578" y="5051514"/>
            <a:ext cx="344170" cy="48831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35"/>
              </a:spcBef>
            </a:pPr>
            <a:r>
              <a:rPr sz="1400" spc="-100" dirty="0">
                <a:latin typeface="MS Gothic"/>
                <a:cs typeface="MS Gothic"/>
              </a:rPr>
              <a:t>共享</a:t>
            </a:r>
            <a:endParaRPr sz="14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r>
              <a:rPr sz="1400" spc="-100" dirty="0">
                <a:latin typeface="宋体"/>
                <a:cs typeface="宋体"/>
              </a:rPr>
              <a:t>现象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5940" y="1645411"/>
            <a:ext cx="7988300" cy="287972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55600" marR="5080" indent="-342900">
              <a:lnSpc>
                <a:spcPts val="2710"/>
              </a:lnSpc>
              <a:spcBef>
                <a:spcPts val="330"/>
              </a:spcBef>
              <a:buClr>
                <a:srgbClr val="0065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北京交管局系统实例主要是面向</a:t>
            </a:r>
            <a:r>
              <a:rPr sz="2400" dirty="0">
                <a:solidFill>
                  <a:srgbClr val="549E39"/>
                </a:solidFill>
                <a:latin typeface="宋体"/>
                <a:cs typeface="宋体"/>
              </a:rPr>
              <a:t>岗位安排</a:t>
            </a:r>
            <a:r>
              <a:rPr sz="2400" dirty="0">
                <a:latin typeface="宋体"/>
                <a:cs typeface="宋体"/>
              </a:rPr>
              <a:t>和</a:t>
            </a:r>
            <a:r>
              <a:rPr sz="2400" dirty="0">
                <a:solidFill>
                  <a:srgbClr val="549E39"/>
                </a:solidFill>
                <a:latin typeface="宋体"/>
                <a:cs typeface="宋体"/>
              </a:rPr>
              <a:t>警情处理</a:t>
            </a:r>
            <a:r>
              <a:rPr sz="2400" dirty="0">
                <a:latin typeface="宋体"/>
                <a:cs typeface="宋体"/>
              </a:rPr>
              <a:t>这两 大需求。</a:t>
            </a:r>
            <a:endParaRPr sz="2400">
              <a:latin typeface="宋体"/>
              <a:cs typeface="宋体"/>
            </a:endParaRPr>
          </a:p>
          <a:p>
            <a:pPr marL="355600" marR="5080" indent="-342900">
              <a:lnSpc>
                <a:spcPts val="2690"/>
              </a:lnSpc>
              <a:spcBef>
                <a:spcPts val="309"/>
              </a:spcBef>
              <a:buClr>
                <a:srgbClr val="0065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系统通过构建相应的模型，如警情处理模型和岗位管理模 型来影响问题域。</a:t>
            </a:r>
            <a:endParaRPr sz="2400">
              <a:latin typeface="宋体"/>
              <a:cs typeface="宋体"/>
            </a:endParaRPr>
          </a:p>
          <a:p>
            <a:pPr marL="355600" marR="5080" indent="-342900">
              <a:lnSpc>
                <a:spcPts val="2710"/>
              </a:lnSpc>
              <a:spcBef>
                <a:spcPts val="385"/>
              </a:spcBef>
              <a:buClr>
                <a:srgbClr val="0065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问题域和系统模型的</a:t>
            </a:r>
            <a:r>
              <a:rPr sz="2400" dirty="0">
                <a:solidFill>
                  <a:srgbClr val="549E39"/>
                </a:solidFill>
                <a:latin typeface="宋体"/>
                <a:cs typeface="宋体"/>
              </a:rPr>
              <a:t>映射关系所建立的共同知识</a:t>
            </a:r>
            <a:r>
              <a:rPr sz="2400" dirty="0">
                <a:latin typeface="宋体"/>
                <a:cs typeface="宋体"/>
              </a:rPr>
              <a:t>，就是北 京交管局业务范围与北京交管局系统之间的共享现象。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50">
              <a:latin typeface="宋体"/>
              <a:cs typeface="宋体"/>
            </a:endParaRPr>
          </a:p>
          <a:p>
            <a:pPr marL="3175" algn="ctr">
              <a:lnSpc>
                <a:spcPct val="100000"/>
              </a:lnSpc>
            </a:pPr>
            <a:r>
              <a:rPr sz="2100" spc="-145" dirty="0">
                <a:latin typeface="宋体"/>
                <a:cs typeface="宋体"/>
              </a:rPr>
              <a:t>现实世</a:t>
            </a:r>
            <a:r>
              <a:rPr sz="2100" spc="-150" dirty="0">
                <a:latin typeface="宋体"/>
                <a:cs typeface="宋体"/>
              </a:rPr>
              <a:t>界</a:t>
            </a:r>
            <a:endParaRPr sz="21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0368" y="138683"/>
            <a:ext cx="3243580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>
                <a:latin typeface="Calibri"/>
                <a:cs typeface="Calibri"/>
              </a:rPr>
              <a:t>1</a:t>
            </a:r>
            <a:r>
              <a:rPr sz="4400" dirty="0">
                <a:latin typeface="Calibri"/>
                <a:cs typeface="Calibri"/>
              </a:rPr>
              <a:t>.</a:t>
            </a:r>
            <a:r>
              <a:rPr sz="4400" dirty="0"/>
              <a:t>需求的涵义</a:t>
            </a:r>
            <a:endParaRPr sz="4400">
              <a:latin typeface="Calibri"/>
              <a:cs typeface="Calibri"/>
            </a:endParaRPr>
          </a:p>
          <a:p>
            <a:pPr marL="1013460">
              <a:lnSpc>
                <a:spcPct val="100000"/>
              </a:lnSpc>
            </a:pPr>
            <a:r>
              <a:rPr sz="4400" dirty="0">
                <a:latin typeface="Calibri"/>
                <a:cs typeface="Calibri"/>
              </a:rPr>
              <a:t>——</a:t>
            </a:r>
            <a:r>
              <a:rPr sz="4400" dirty="0"/>
              <a:t>需求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55600" marR="316230" indent="-342900">
              <a:lnSpc>
                <a:spcPts val="2900"/>
              </a:lnSpc>
              <a:spcBef>
                <a:spcPts val="380"/>
              </a:spcBef>
              <a:buSzPct val="10196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825" b="1" spc="127" baseline="1089" dirty="0">
                <a:latin typeface="宋体"/>
                <a:cs typeface="宋体"/>
              </a:rPr>
              <a:t>定</a:t>
            </a:r>
            <a:r>
              <a:rPr sz="3825" b="1" spc="135" baseline="1089" dirty="0">
                <a:latin typeface="宋体"/>
                <a:cs typeface="宋体"/>
              </a:rPr>
              <a:t>义</a:t>
            </a:r>
            <a:r>
              <a:rPr sz="2600" dirty="0"/>
              <a:t>：需求是用户对</a:t>
            </a:r>
            <a:r>
              <a:rPr sz="3825" b="1" spc="127" baseline="1089" dirty="0">
                <a:latin typeface="宋体"/>
                <a:cs typeface="宋体"/>
              </a:rPr>
              <a:t>问题</a:t>
            </a:r>
            <a:r>
              <a:rPr sz="3825" b="1" spc="135" baseline="1089" dirty="0">
                <a:latin typeface="宋体"/>
                <a:cs typeface="宋体"/>
              </a:rPr>
              <a:t>域</a:t>
            </a:r>
            <a:r>
              <a:rPr sz="2600" dirty="0"/>
              <a:t>当中的实体状态或事件 的</a:t>
            </a:r>
            <a:r>
              <a:rPr sz="3825" b="1" spc="127" baseline="1089" dirty="0">
                <a:solidFill>
                  <a:srgbClr val="455F51"/>
                </a:solidFill>
                <a:latin typeface="宋体"/>
                <a:cs typeface="宋体"/>
              </a:rPr>
              <a:t>期望描述</a:t>
            </a:r>
            <a:endParaRPr sz="3825" baseline="1089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320"/>
              </a:spcBef>
              <a:buFont typeface="Arial"/>
              <a:buChar char="–"/>
              <a:tabLst>
                <a:tab pos="755015" algn="l"/>
                <a:tab pos="755650" algn="l"/>
              </a:tabLst>
            </a:pPr>
            <a:r>
              <a:rPr sz="2000" i="1" dirty="0">
                <a:latin typeface="Calibri"/>
                <a:cs typeface="Calibri"/>
              </a:rPr>
              <a:t>R</a:t>
            </a:r>
            <a:r>
              <a:rPr sz="2000" i="1" spc="-5" dirty="0">
                <a:latin typeface="Calibri"/>
                <a:cs typeface="Calibri"/>
              </a:rPr>
              <a:t>2</a:t>
            </a:r>
            <a:r>
              <a:rPr sz="2000" i="1" spc="-10" dirty="0">
                <a:latin typeface="Calibri"/>
                <a:cs typeface="Calibri"/>
              </a:rPr>
              <a:t>.</a:t>
            </a:r>
            <a:r>
              <a:rPr sz="2000" i="1" spc="-5" dirty="0">
                <a:latin typeface="Calibri"/>
                <a:cs typeface="Calibri"/>
              </a:rPr>
              <a:t>2</a:t>
            </a:r>
            <a:r>
              <a:rPr sz="2000" i="1" spc="-10" dirty="0">
                <a:latin typeface="Calibri"/>
                <a:cs typeface="Calibri"/>
              </a:rPr>
              <a:t>.</a:t>
            </a:r>
            <a:r>
              <a:rPr sz="2000" i="1" dirty="0">
                <a:latin typeface="Calibri"/>
                <a:cs typeface="Calibri"/>
              </a:rPr>
              <a:t>3-</a:t>
            </a:r>
            <a:r>
              <a:rPr sz="2000" i="1" spc="-5" dirty="0">
                <a:latin typeface="Calibri"/>
                <a:cs typeface="Calibri"/>
              </a:rPr>
              <a:t>1</a:t>
            </a:r>
            <a:r>
              <a:rPr sz="2100" i="1" spc="-100" dirty="0">
                <a:latin typeface="宋体"/>
                <a:cs typeface="宋体"/>
              </a:rPr>
              <a:t>：一旦书籍被借出，则在归还之前，它不能被再次借阅。</a:t>
            </a:r>
            <a:endParaRPr sz="21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385"/>
              </a:spcBef>
              <a:buFont typeface="Arial"/>
              <a:buChar char="–"/>
              <a:tabLst>
                <a:tab pos="755015" algn="l"/>
                <a:tab pos="755650" algn="l"/>
              </a:tabLst>
            </a:pPr>
            <a:r>
              <a:rPr sz="2000" i="1" spc="-15" dirty="0">
                <a:latin typeface="Calibri"/>
                <a:cs typeface="Calibri"/>
              </a:rPr>
              <a:t>R2.2.3-2</a:t>
            </a:r>
            <a:r>
              <a:rPr sz="2100" i="1" spc="-15" dirty="0">
                <a:latin typeface="宋体"/>
                <a:cs typeface="宋体"/>
              </a:rPr>
              <a:t>：</a:t>
            </a:r>
            <a:r>
              <a:rPr sz="2100" i="1" spc="-100" dirty="0">
                <a:latin typeface="宋体"/>
                <a:cs typeface="宋体"/>
              </a:rPr>
              <a:t>在归还的书超过</a:t>
            </a:r>
            <a:r>
              <a:rPr sz="2000" i="1" spc="-5" dirty="0">
                <a:latin typeface="Calibri"/>
                <a:cs typeface="Calibri"/>
              </a:rPr>
              <a:t>30</a:t>
            </a:r>
            <a:r>
              <a:rPr sz="2100" i="1" spc="-100" dirty="0">
                <a:latin typeface="宋体"/>
                <a:cs typeface="宋体"/>
              </a:rPr>
              <a:t>天的归还期限时，归还后应该进行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070155"/>
            <a:ext cx="4192904" cy="281813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755015">
              <a:lnSpc>
                <a:spcPct val="100000"/>
              </a:lnSpc>
              <a:spcBef>
                <a:spcPts val="580"/>
              </a:spcBef>
            </a:pPr>
            <a:r>
              <a:rPr sz="2100" i="1" spc="-100" dirty="0">
                <a:latin typeface="宋体"/>
                <a:cs typeface="宋体"/>
              </a:rPr>
              <a:t>超期处罚。</a:t>
            </a:r>
            <a:endParaRPr sz="21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600" dirty="0">
                <a:latin typeface="宋体"/>
                <a:cs typeface="宋体"/>
              </a:rPr>
              <a:t>直接需求</a:t>
            </a:r>
            <a:endParaRPr sz="2600">
              <a:latin typeface="宋体"/>
              <a:cs typeface="宋体"/>
            </a:endParaRPr>
          </a:p>
          <a:p>
            <a:pPr marL="370205" marR="5080">
              <a:lnSpc>
                <a:spcPts val="2900"/>
              </a:lnSpc>
              <a:spcBef>
                <a:spcPts val="160"/>
              </a:spcBef>
            </a:pPr>
            <a:r>
              <a:rPr sz="2000" dirty="0">
                <a:latin typeface="Calibri"/>
                <a:cs typeface="Calibri"/>
              </a:rPr>
              <a:t>—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宋体"/>
                <a:cs typeface="宋体"/>
              </a:rPr>
              <a:t>客户直接提出的需要满足的需 求，如实例中需要实现的各种功能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600" dirty="0">
                <a:latin typeface="宋体"/>
                <a:cs typeface="宋体"/>
              </a:rPr>
              <a:t>间接需求</a:t>
            </a:r>
            <a:endParaRPr sz="2600">
              <a:latin typeface="宋体"/>
              <a:cs typeface="宋体"/>
            </a:endParaRPr>
          </a:p>
          <a:p>
            <a:pPr marL="370205" marR="5080">
              <a:lnSpc>
                <a:spcPts val="2900"/>
              </a:lnSpc>
              <a:spcBef>
                <a:spcPts val="160"/>
              </a:spcBef>
            </a:pPr>
            <a:r>
              <a:rPr sz="2000" dirty="0">
                <a:latin typeface="Calibri"/>
                <a:cs typeface="Calibri"/>
              </a:rPr>
              <a:t>—</a:t>
            </a:r>
            <a:r>
              <a:rPr sz="2000" dirty="0">
                <a:latin typeface="宋体"/>
                <a:cs typeface="宋体"/>
              </a:rPr>
              <a:t>为了满足直接需求或为了软件正 常运行所需满足的间接功能，如在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6244" y="5926835"/>
            <a:ext cx="6532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宋体"/>
                <a:cs typeface="宋体"/>
              </a:rPr>
              <a:t>实例中需要考虑如何解决年长警员使用</a:t>
            </a:r>
            <a:r>
              <a:rPr sz="2000" spc="5" dirty="0">
                <a:latin typeface="Calibri"/>
                <a:cs typeface="Calibri"/>
              </a:rPr>
              <a:t>AP</a:t>
            </a:r>
            <a:r>
              <a:rPr sz="2000" dirty="0">
                <a:latin typeface="Calibri"/>
                <a:cs typeface="Calibri"/>
              </a:rPr>
              <a:t>P</a:t>
            </a:r>
            <a:r>
              <a:rPr sz="2000" dirty="0">
                <a:latin typeface="宋体"/>
                <a:cs typeface="宋体"/>
              </a:rPr>
              <a:t>时遇到的不便。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92111" y="3383525"/>
            <a:ext cx="3839845" cy="2176780"/>
          </a:xfrm>
          <a:custGeom>
            <a:avLst/>
            <a:gdLst/>
            <a:ahLst/>
            <a:cxnLst/>
            <a:rect l="l" t="t" r="r" b="b"/>
            <a:pathLst>
              <a:path w="3839845" h="2176779">
                <a:moveTo>
                  <a:pt x="0" y="2176381"/>
                </a:moveTo>
                <a:lnTo>
                  <a:pt x="3839838" y="2176381"/>
                </a:lnTo>
                <a:lnTo>
                  <a:pt x="3839838" y="0"/>
                </a:lnTo>
                <a:lnTo>
                  <a:pt x="0" y="0"/>
                </a:lnTo>
                <a:lnTo>
                  <a:pt x="0" y="2176381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92111" y="3383526"/>
            <a:ext cx="3839845" cy="2176780"/>
          </a:xfrm>
          <a:custGeom>
            <a:avLst/>
            <a:gdLst/>
            <a:ahLst/>
            <a:cxnLst/>
            <a:rect l="l" t="t" r="r" b="b"/>
            <a:pathLst>
              <a:path w="3839845" h="2176779">
                <a:moveTo>
                  <a:pt x="0" y="2176380"/>
                </a:moveTo>
                <a:lnTo>
                  <a:pt x="3839840" y="2176380"/>
                </a:lnTo>
                <a:lnTo>
                  <a:pt x="3839840" y="0"/>
                </a:lnTo>
                <a:lnTo>
                  <a:pt x="0" y="0"/>
                </a:lnTo>
                <a:lnTo>
                  <a:pt x="0" y="2176380"/>
                </a:lnTo>
                <a:close/>
              </a:path>
            </a:pathLst>
          </a:custGeom>
          <a:ln w="48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720766" y="4128115"/>
            <a:ext cx="2292494" cy="11454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20766" y="4128116"/>
            <a:ext cx="2292985" cy="1145540"/>
          </a:xfrm>
          <a:custGeom>
            <a:avLst/>
            <a:gdLst/>
            <a:ahLst/>
            <a:cxnLst/>
            <a:rect l="l" t="t" r="r" b="b"/>
            <a:pathLst>
              <a:path w="2292984" h="1145539">
                <a:moveTo>
                  <a:pt x="0" y="572724"/>
                </a:moveTo>
                <a:lnTo>
                  <a:pt x="6726" y="510321"/>
                </a:lnTo>
                <a:lnTo>
                  <a:pt x="26437" y="449865"/>
                </a:lnTo>
                <a:lnTo>
                  <a:pt x="58436" y="391703"/>
                </a:lnTo>
                <a:lnTo>
                  <a:pt x="102021" y="336187"/>
                </a:lnTo>
                <a:lnTo>
                  <a:pt x="156495" y="283664"/>
                </a:lnTo>
                <a:lnTo>
                  <a:pt x="187596" y="258635"/>
                </a:lnTo>
                <a:lnTo>
                  <a:pt x="221157" y="234486"/>
                </a:lnTo>
                <a:lnTo>
                  <a:pt x="257091" y="211259"/>
                </a:lnTo>
                <a:lnTo>
                  <a:pt x="295309" y="189000"/>
                </a:lnTo>
                <a:lnTo>
                  <a:pt x="335725" y="167751"/>
                </a:lnTo>
                <a:lnTo>
                  <a:pt x="378251" y="147557"/>
                </a:lnTo>
                <a:lnTo>
                  <a:pt x="422799" y="128460"/>
                </a:lnTo>
                <a:lnTo>
                  <a:pt x="469283" y="110506"/>
                </a:lnTo>
                <a:lnTo>
                  <a:pt x="517615" y="93736"/>
                </a:lnTo>
                <a:lnTo>
                  <a:pt x="567707" y="78196"/>
                </a:lnTo>
                <a:lnTo>
                  <a:pt x="619472" y="63928"/>
                </a:lnTo>
                <a:lnTo>
                  <a:pt x="672823" y="50977"/>
                </a:lnTo>
                <a:lnTo>
                  <a:pt x="727672" y="39386"/>
                </a:lnTo>
                <a:lnTo>
                  <a:pt x="783932" y="29199"/>
                </a:lnTo>
                <a:lnTo>
                  <a:pt x="841516" y="20459"/>
                </a:lnTo>
                <a:lnTo>
                  <a:pt x="900335" y="13210"/>
                </a:lnTo>
                <a:lnTo>
                  <a:pt x="960303" y="7496"/>
                </a:lnTo>
                <a:lnTo>
                  <a:pt x="1021332" y="3360"/>
                </a:lnTo>
                <a:lnTo>
                  <a:pt x="1083335" y="847"/>
                </a:lnTo>
                <a:lnTo>
                  <a:pt x="1146224" y="0"/>
                </a:lnTo>
                <a:lnTo>
                  <a:pt x="1209115" y="847"/>
                </a:lnTo>
                <a:lnTo>
                  <a:pt x="1271120" y="3360"/>
                </a:lnTo>
                <a:lnTo>
                  <a:pt x="1332151" y="7496"/>
                </a:lnTo>
                <a:lnTo>
                  <a:pt x="1392121" y="13210"/>
                </a:lnTo>
                <a:lnTo>
                  <a:pt x="1450942" y="20459"/>
                </a:lnTo>
                <a:lnTo>
                  <a:pt x="1508528" y="29199"/>
                </a:lnTo>
                <a:lnTo>
                  <a:pt x="1564790" y="39386"/>
                </a:lnTo>
                <a:lnTo>
                  <a:pt x="1619641" y="50977"/>
                </a:lnTo>
                <a:lnTo>
                  <a:pt x="1672994" y="63928"/>
                </a:lnTo>
                <a:lnTo>
                  <a:pt x="1724761" y="78196"/>
                </a:lnTo>
                <a:lnTo>
                  <a:pt x="1774856" y="93736"/>
                </a:lnTo>
                <a:lnTo>
                  <a:pt x="1823189" y="110506"/>
                </a:lnTo>
                <a:lnTo>
                  <a:pt x="1869675" y="128460"/>
                </a:lnTo>
                <a:lnTo>
                  <a:pt x="1914226" y="147557"/>
                </a:lnTo>
                <a:lnTo>
                  <a:pt x="1956754" y="167751"/>
                </a:lnTo>
                <a:lnTo>
                  <a:pt x="1997171" y="189000"/>
                </a:lnTo>
                <a:lnTo>
                  <a:pt x="2035391" y="211259"/>
                </a:lnTo>
                <a:lnTo>
                  <a:pt x="2071326" y="234486"/>
                </a:lnTo>
                <a:lnTo>
                  <a:pt x="2104889" y="258635"/>
                </a:lnTo>
                <a:lnTo>
                  <a:pt x="2135991" y="283664"/>
                </a:lnTo>
                <a:lnTo>
                  <a:pt x="2164547" y="309529"/>
                </a:lnTo>
                <a:lnTo>
                  <a:pt x="2213666" y="363593"/>
                </a:lnTo>
                <a:lnTo>
                  <a:pt x="2251547" y="420475"/>
                </a:lnTo>
                <a:lnTo>
                  <a:pt x="2277491" y="479828"/>
                </a:lnTo>
                <a:lnTo>
                  <a:pt x="2290798" y="541301"/>
                </a:lnTo>
                <a:lnTo>
                  <a:pt x="2292494" y="572724"/>
                </a:lnTo>
                <a:lnTo>
                  <a:pt x="2290798" y="604146"/>
                </a:lnTo>
                <a:lnTo>
                  <a:pt x="2285768" y="635126"/>
                </a:lnTo>
                <a:lnTo>
                  <a:pt x="2266055" y="695582"/>
                </a:lnTo>
                <a:lnTo>
                  <a:pt x="2234055" y="753742"/>
                </a:lnTo>
                <a:lnTo>
                  <a:pt x="2190467" y="809257"/>
                </a:lnTo>
                <a:lnTo>
                  <a:pt x="2135991" y="861778"/>
                </a:lnTo>
                <a:lnTo>
                  <a:pt x="2104889" y="886806"/>
                </a:lnTo>
                <a:lnTo>
                  <a:pt x="2071326" y="910955"/>
                </a:lnTo>
                <a:lnTo>
                  <a:pt x="2035391" y="934180"/>
                </a:lnTo>
                <a:lnTo>
                  <a:pt x="1997171" y="956438"/>
                </a:lnTo>
                <a:lnTo>
                  <a:pt x="1956754" y="977686"/>
                </a:lnTo>
                <a:lnTo>
                  <a:pt x="1914226" y="997879"/>
                </a:lnTo>
                <a:lnTo>
                  <a:pt x="1869675" y="1016975"/>
                </a:lnTo>
                <a:lnTo>
                  <a:pt x="1823189" y="1034929"/>
                </a:lnTo>
                <a:lnTo>
                  <a:pt x="1774856" y="1051697"/>
                </a:lnTo>
                <a:lnTo>
                  <a:pt x="1724761" y="1067236"/>
                </a:lnTo>
                <a:lnTo>
                  <a:pt x="1672994" y="1081503"/>
                </a:lnTo>
                <a:lnTo>
                  <a:pt x="1619641" y="1094454"/>
                </a:lnTo>
                <a:lnTo>
                  <a:pt x="1564790" y="1106044"/>
                </a:lnTo>
                <a:lnTo>
                  <a:pt x="1508528" y="1116231"/>
                </a:lnTo>
                <a:lnTo>
                  <a:pt x="1450942" y="1124970"/>
                </a:lnTo>
                <a:lnTo>
                  <a:pt x="1392121" y="1132218"/>
                </a:lnTo>
                <a:lnTo>
                  <a:pt x="1332151" y="1137932"/>
                </a:lnTo>
                <a:lnTo>
                  <a:pt x="1271120" y="1142067"/>
                </a:lnTo>
                <a:lnTo>
                  <a:pt x="1209115" y="1144580"/>
                </a:lnTo>
                <a:lnTo>
                  <a:pt x="1146224" y="1145428"/>
                </a:lnTo>
                <a:lnTo>
                  <a:pt x="1083335" y="1144580"/>
                </a:lnTo>
                <a:lnTo>
                  <a:pt x="1021332" y="1142067"/>
                </a:lnTo>
                <a:lnTo>
                  <a:pt x="960303" y="1137932"/>
                </a:lnTo>
                <a:lnTo>
                  <a:pt x="900335" y="1132218"/>
                </a:lnTo>
                <a:lnTo>
                  <a:pt x="841516" y="1124970"/>
                </a:lnTo>
                <a:lnTo>
                  <a:pt x="783932" y="1116231"/>
                </a:lnTo>
                <a:lnTo>
                  <a:pt x="727672" y="1106044"/>
                </a:lnTo>
                <a:lnTo>
                  <a:pt x="672823" y="1094454"/>
                </a:lnTo>
                <a:lnTo>
                  <a:pt x="619472" y="1081503"/>
                </a:lnTo>
                <a:lnTo>
                  <a:pt x="567707" y="1067236"/>
                </a:lnTo>
                <a:lnTo>
                  <a:pt x="517615" y="1051697"/>
                </a:lnTo>
                <a:lnTo>
                  <a:pt x="469283" y="1034929"/>
                </a:lnTo>
                <a:lnTo>
                  <a:pt x="422799" y="1016975"/>
                </a:lnTo>
                <a:lnTo>
                  <a:pt x="378251" y="997879"/>
                </a:lnTo>
                <a:lnTo>
                  <a:pt x="335725" y="977686"/>
                </a:lnTo>
                <a:lnTo>
                  <a:pt x="295309" y="956438"/>
                </a:lnTo>
                <a:lnTo>
                  <a:pt x="257091" y="934180"/>
                </a:lnTo>
                <a:lnTo>
                  <a:pt x="221157" y="910955"/>
                </a:lnTo>
                <a:lnTo>
                  <a:pt x="187596" y="886806"/>
                </a:lnTo>
                <a:lnTo>
                  <a:pt x="156495" y="861778"/>
                </a:lnTo>
                <a:lnTo>
                  <a:pt x="127941" y="835914"/>
                </a:lnTo>
                <a:lnTo>
                  <a:pt x="78824" y="781852"/>
                </a:lnTo>
                <a:lnTo>
                  <a:pt x="40944" y="724971"/>
                </a:lnTo>
                <a:lnTo>
                  <a:pt x="15002" y="665619"/>
                </a:lnTo>
                <a:lnTo>
                  <a:pt x="1696" y="604146"/>
                </a:lnTo>
                <a:lnTo>
                  <a:pt x="0" y="572724"/>
                </a:lnTo>
                <a:close/>
              </a:path>
            </a:pathLst>
          </a:custGeom>
          <a:ln w="48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624251" y="4579687"/>
            <a:ext cx="49847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250" spc="20" dirty="0">
                <a:latin typeface="宋体"/>
                <a:cs typeface="宋体"/>
              </a:rPr>
              <a:t>问题域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82212" y="4128116"/>
            <a:ext cx="2292985" cy="1145540"/>
          </a:xfrm>
          <a:custGeom>
            <a:avLst/>
            <a:gdLst/>
            <a:ahLst/>
            <a:cxnLst/>
            <a:rect l="l" t="t" r="r" b="b"/>
            <a:pathLst>
              <a:path w="2292984" h="1145539">
                <a:moveTo>
                  <a:pt x="0" y="572724"/>
                </a:moveTo>
                <a:lnTo>
                  <a:pt x="6726" y="510321"/>
                </a:lnTo>
                <a:lnTo>
                  <a:pt x="26439" y="449865"/>
                </a:lnTo>
                <a:lnTo>
                  <a:pt x="58439" y="391703"/>
                </a:lnTo>
                <a:lnTo>
                  <a:pt x="102026" y="336187"/>
                </a:lnTo>
                <a:lnTo>
                  <a:pt x="156502" y="283664"/>
                </a:lnTo>
                <a:lnTo>
                  <a:pt x="187604" y="258635"/>
                </a:lnTo>
                <a:lnTo>
                  <a:pt x="221167" y="234486"/>
                </a:lnTo>
                <a:lnTo>
                  <a:pt x="257101" y="211259"/>
                </a:lnTo>
                <a:lnTo>
                  <a:pt x="295321" y="189000"/>
                </a:lnTo>
                <a:lnTo>
                  <a:pt x="335738" y="167751"/>
                </a:lnTo>
                <a:lnTo>
                  <a:pt x="378265" y="147557"/>
                </a:lnTo>
                <a:lnTo>
                  <a:pt x="422815" y="128460"/>
                </a:lnTo>
                <a:lnTo>
                  <a:pt x="469300" y="110506"/>
                </a:lnTo>
                <a:lnTo>
                  <a:pt x="517633" y="93736"/>
                </a:lnTo>
                <a:lnTo>
                  <a:pt x="567726" y="78196"/>
                </a:lnTo>
                <a:lnTo>
                  <a:pt x="619493" y="63928"/>
                </a:lnTo>
                <a:lnTo>
                  <a:pt x="672845" y="50977"/>
                </a:lnTo>
                <a:lnTo>
                  <a:pt x="727695" y="39386"/>
                </a:lnTo>
                <a:lnTo>
                  <a:pt x="783956" y="29199"/>
                </a:lnTo>
                <a:lnTo>
                  <a:pt x="841540" y="20459"/>
                </a:lnTo>
                <a:lnTo>
                  <a:pt x="900360" y="13210"/>
                </a:lnTo>
                <a:lnTo>
                  <a:pt x="960328" y="7496"/>
                </a:lnTo>
                <a:lnTo>
                  <a:pt x="1021358" y="3360"/>
                </a:lnTo>
                <a:lnTo>
                  <a:pt x="1083361" y="847"/>
                </a:lnTo>
                <a:lnTo>
                  <a:pt x="1146250" y="0"/>
                </a:lnTo>
                <a:lnTo>
                  <a:pt x="1209139" y="847"/>
                </a:lnTo>
                <a:lnTo>
                  <a:pt x="1271141" y="3360"/>
                </a:lnTo>
                <a:lnTo>
                  <a:pt x="1332169" y="7496"/>
                </a:lnTo>
                <a:lnTo>
                  <a:pt x="1392136" y="13210"/>
                </a:lnTo>
                <a:lnTo>
                  <a:pt x="1450954" y="20459"/>
                </a:lnTo>
                <a:lnTo>
                  <a:pt x="1508536" y="29199"/>
                </a:lnTo>
                <a:lnTo>
                  <a:pt x="1564794" y="39386"/>
                </a:lnTo>
                <a:lnTo>
                  <a:pt x="1619641" y="50977"/>
                </a:lnTo>
                <a:lnTo>
                  <a:pt x="1672990" y="63928"/>
                </a:lnTo>
                <a:lnTo>
                  <a:pt x="1724753" y="78196"/>
                </a:lnTo>
                <a:lnTo>
                  <a:pt x="1774842" y="93736"/>
                </a:lnTo>
                <a:lnTo>
                  <a:pt x="1823171" y="110506"/>
                </a:lnTo>
                <a:lnTo>
                  <a:pt x="1869653" y="128460"/>
                </a:lnTo>
                <a:lnTo>
                  <a:pt x="1914199" y="147557"/>
                </a:lnTo>
                <a:lnTo>
                  <a:pt x="1956722" y="167751"/>
                </a:lnTo>
                <a:lnTo>
                  <a:pt x="1997135" y="189000"/>
                </a:lnTo>
                <a:lnTo>
                  <a:pt x="2035350" y="211259"/>
                </a:lnTo>
                <a:lnTo>
                  <a:pt x="2071281" y="234486"/>
                </a:lnTo>
                <a:lnTo>
                  <a:pt x="2104839" y="258635"/>
                </a:lnTo>
                <a:lnTo>
                  <a:pt x="2135938" y="283664"/>
                </a:lnTo>
                <a:lnTo>
                  <a:pt x="2164490" y="309529"/>
                </a:lnTo>
                <a:lnTo>
                  <a:pt x="2213603" y="363593"/>
                </a:lnTo>
                <a:lnTo>
                  <a:pt x="2251479" y="420475"/>
                </a:lnTo>
                <a:lnTo>
                  <a:pt x="2277419" y="479828"/>
                </a:lnTo>
                <a:lnTo>
                  <a:pt x="2290724" y="541301"/>
                </a:lnTo>
                <a:lnTo>
                  <a:pt x="2292420" y="572724"/>
                </a:lnTo>
                <a:lnTo>
                  <a:pt x="2290724" y="604146"/>
                </a:lnTo>
                <a:lnTo>
                  <a:pt x="2285694" y="635126"/>
                </a:lnTo>
                <a:lnTo>
                  <a:pt x="2265984" y="695582"/>
                </a:lnTo>
                <a:lnTo>
                  <a:pt x="2233989" y="753742"/>
                </a:lnTo>
                <a:lnTo>
                  <a:pt x="2190407" y="809257"/>
                </a:lnTo>
                <a:lnTo>
                  <a:pt x="2135938" y="861778"/>
                </a:lnTo>
                <a:lnTo>
                  <a:pt x="2104839" y="886806"/>
                </a:lnTo>
                <a:lnTo>
                  <a:pt x="2071281" y="910955"/>
                </a:lnTo>
                <a:lnTo>
                  <a:pt x="2035350" y="934180"/>
                </a:lnTo>
                <a:lnTo>
                  <a:pt x="1997135" y="956438"/>
                </a:lnTo>
                <a:lnTo>
                  <a:pt x="1956722" y="977686"/>
                </a:lnTo>
                <a:lnTo>
                  <a:pt x="1914199" y="997879"/>
                </a:lnTo>
                <a:lnTo>
                  <a:pt x="1869653" y="1016975"/>
                </a:lnTo>
                <a:lnTo>
                  <a:pt x="1823171" y="1034929"/>
                </a:lnTo>
                <a:lnTo>
                  <a:pt x="1774842" y="1051697"/>
                </a:lnTo>
                <a:lnTo>
                  <a:pt x="1724753" y="1067236"/>
                </a:lnTo>
                <a:lnTo>
                  <a:pt x="1672990" y="1081503"/>
                </a:lnTo>
                <a:lnTo>
                  <a:pt x="1619641" y="1094454"/>
                </a:lnTo>
                <a:lnTo>
                  <a:pt x="1564794" y="1106044"/>
                </a:lnTo>
                <a:lnTo>
                  <a:pt x="1508536" y="1116231"/>
                </a:lnTo>
                <a:lnTo>
                  <a:pt x="1450954" y="1124970"/>
                </a:lnTo>
                <a:lnTo>
                  <a:pt x="1392136" y="1132218"/>
                </a:lnTo>
                <a:lnTo>
                  <a:pt x="1332169" y="1137932"/>
                </a:lnTo>
                <a:lnTo>
                  <a:pt x="1271141" y="1142067"/>
                </a:lnTo>
                <a:lnTo>
                  <a:pt x="1209139" y="1144580"/>
                </a:lnTo>
                <a:lnTo>
                  <a:pt x="1146250" y="1145428"/>
                </a:lnTo>
                <a:lnTo>
                  <a:pt x="1083361" y="1144580"/>
                </a:lnTo>
                <a:lnTo>
                  <a:pt x="1021358" y="1142067"/>
                </a:lnTo>
                <a:lnTo>
                  <a:pt x="960328" y="1137932"/>
                </a:lnTo>
                <a:lnTo>
                  <a:pt x="900360" y="1132218"/>
                </a:lnTo>
                <a:lnTo>
                  <a:pt x="841540" y="1124970"/>
                </a:lnTo>
                <a:lnTo>
                  <a:pt x="783956" y="1116231"/>
                </a:lnTo>
                <a:lnTo>
                  <a:pt x="727695" y="1106044"/>
                </a:lnTo>
                <a:lnTo>
                  <a:pt x="672845" y="1094454"/>
                </a:lnTo>
                <a:lnTo>
                  <a:pt x="619493" y="1081503"/>
                </a:lnTo>
                <a:lnTo>
                  <a:pt x="567726" y="1067236"/>
                </a:lnTo>
                <a:lnTo>
                  <a:pt x="517633" y="1051697"/>
                </a:lnTo>
                <a:lnTo>
                  <a:pt x="469300" y="1034929"/>
                </a:lnTo>
                <a:lnTo>
                  <a:pt x="422815" y="1016975"/>
                </a:lnTo>
                <a:lnTo>
                  <a:pt x="378265" y="997879"/>
                </a:lnTo>
                <a:lnTo>
                  <a:pt x="335738" y="977686"/>
                </a:lnTo>
                <a:lnTo>
                  <a:pt x="295321" y="956438"/>
                </a:lnTo>
                <a:lnTo>
                  <a:pt x="257101" y="934180"/>
                </a:lnTo>
                <a:lnTo>
                  <a:pt x="221167" y="910955"/>
                </a:lnTo>
                <a:lnTo>
                  <a:pt x="187604" y="886806"/>
                </a:lnTo>
                <a:lnTo>
                  <a:pt x="156502" y="861778"/>
                </a:lnTo>
                <a:lnTo>
                  <a:pt x="127947" y="835914"/>
                </a:lnTo>
                <a:lnTo>
                  <a:pt x="78828" y="781852"/>
                </a:lnTo>
                <a:lnTo>
                  <a:pt x="40946" y="724971"/>
                </a:lnTo>
                <a:lnTo>
                  <a:pt x="15003" y="665619"/>
                </a:lnTo>
                <a:lnTo>
                  <a:pt x="1696" y="604146"/>
                </a:lnTo>
                <a:lnTo>
                  <a:pt x="0" y="572724"/>
                </a:lnTo>
                <a:close/>
              </a:path>
            </a:pathLst>
          </a:custGeom>
          <a:ln w="48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085642" y="4579687"/>
            <a:ext cx="49847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250" spc="20" dirty="0">
                <a:latin typeface="MS Gothic"/>
                <a:cs typeface="MS Gothic"/>
              </a:rPr>
              <a:t>解系</a:t>
            </a:r>
            <a:r>
              <a:rPr sz="1250" spc="20" dirty="0">
                <a:latin typeface="宋体"/>
                <a:cs typeface="宋体"/>
              </a:rPr>
              <a:t>统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421879" y="4464723"/>
            <a:ext cx="336550" cy="44195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29"/>
              </a:spcBef>
            </a:pPr>
            <a:r>
              <a:rPr sz="1250" spc="20" dirty="0">
                <a:latin typeface="MS Gothic"/>
                <a:cs typeface="MS Gothic"/>
              </a:rPr>
              <a:t>共享</a:t>
            </a:r>
            <a:endParaRPr sz="125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r>
              <a:rPr sz="1250" spc="20" dirty="0">
                <a:latin typeface="宋体"/>
                <a:cs typeface="宋体"/>
              </a:rPr>
              <a:t>现象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91918" y="3676882"/>
            <a:ext cx="986155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900" spc="15" dirty="0">
                <a:latin typeface="宋体"/>
                <a:cs typeface="宋体"/>
              </a:rPr>
              <a:t>现实世</a:t>
            </a:r>
            <a:r>
              <a:rPr sz="1900" spc="10" dirty="0">
                <a:latin typeface="宋体"/>
                <a:cs typeface="宋体"/>
              </a:rPr>
              <a:t>界</a:t>
            </a:r>
            <a:endParaRPr sz="19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70571" y="4167574"/>
            <a:ext cx="574040" cy="32385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5880" rIns="0" bIns="0" rtlCol="0">
            <a:spAutoFit/>
          </a:bodyPr>
          <a:lstStyle/>
          <a:p>
            <a:pPr marL="125095">
              <a:lnSpc>
                <a:spcPct val="100000"/>
              </a:lnSpc>
              <a:spcBef>
                <a:spcPts val="440"/>
              </a:spcBef>
            </a:pPr>
            <a:r>
              <a:rPr sz="1250" spc="20" dirty="0">
                <a:latin typeface="MS Gothic"/>
                <a:cs typeface="MS Gothic"/>
              </a:rPr>
              <a:t>需求</a:t>
            </a:r>
            <a:endParaRPr sz="125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0336" y="7619"/>
            <a:ext cx="3716020" cy="1369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>
                <a:latin typeface="Calibri"/>
                <a:cs typeface="Calibri"/>
              </a:rPr>
              <a:t>1.</a:t>
            </a:r>
            <a:r>
              <a:rPr sz="4400" dirty="0"/>
              <a:t>需求的涵义</a:t>
            </a:r>
            <a:endParaRPr sz="4400">
              <a:latin typeface="Calibri"/>
              <a:cs typeface="Calibri"/>
            </a:endParaRPr>
          </a:p>
          <a:p>
            <a:pPr marL="454659">
              <a:lnSpc>
                <a:spcPct val="100000"/>
              </a:lnSpc>
              <a:spcBef>
                <a:spcPts val="25"/>
              </a:spcBef>
            </a:pPr>
            <a:r>
              <a:rPr sz="4400" dirty="0">
                <a:latin typeface="Calibri"/>
                <a:cs typeface="Calibri"/>
              </a:rPr>
              <a:t>——</a:t>
            </a:r>
            <a:r>
              <a:rPr sz="4400" dirty="0"/>
              <a:t>规格说明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7659" y="1437132"/>
            <a:ext cx="8312150" cy="266319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54965" marR="36830" indent="-342900">
              <a:lnSpc>
                <a:spcPts val="2210"/>
              </a:lnSpc>
              <a:spcBef>
                <a:spcPts val="330"/>
              </a:spcBef>
              <a:buSzPct val="102564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925" b="1" spc="112" baseline="1424" dirty="0">
                <a:latin typeface="宋体"/>
                <a:cs typeface="宋体"/>
              </a:rPr>
              <a:t>规格说明</a:t>
            </a:r>
            <a:r>
              <a:rPr sz="2000" dirty="0">
                <a:latin typeface="宋体"/>
                <a:cs typeface="宋体"/>
              </a:rPr>
              <a:t>是解系统为满足用户需求而提供的</a:t>
            </a:r>
            <a:r>
              <a:rPr sz="2925" b="1" spc="112" baseline="1424" dirty="0">
                <a:solidFill>
                  <a:srgbClr val="455F51"/>
                </a:solidFill>
                <a:latin typeface="宋体"/>
                <a:cs typeface="宋体"/>
              </a:rPr>
              <a:t>解决方案</a:t>
            </a:r>
            <a:r>
              <a:rPr sz="2000" dirty="0">
                <a:latin typeface="宋体"/>
                <a:cs typeface="宋体"/>
              </a:rPr>
              <a:t>，规定了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解系统</a:t>
            </a:r>
            <a:r>
              <a:rPr sz="2000" dirty="0">
                <a:latin typeface="宋体"/>
                <a:cs typeface="宋体"/>
              </a:rPr>
              <a:t>的 行为特征。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宋体"/>
                <a:cs typeface="宋体"/>
              </a:rPr>
              <a:t>主要包括两个部分：</a:t>
            </a:r>
            <a:endParaRPr sz="20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395"/>
              </a:spcBef>
              <a:buFont typeface="Arial"/>
              <a:buChar char="–"/>
              <a:tabLst>
                <a:tab pos="755015" algn="l"/>
                <a:tab pos="755650" algn="l"/>
              </a:tabLst>
            </a:pPr>
            <a:r>
              <a:rPr sz="1800" dirty="0">
                <a:latin typeface="宋体"/>
                <a:cs typeface="宋体"/>
              </a:rPr>
              <a:t>（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dirty="0">
                <a:latin typeface="宋体"/>
                <a:cs typeface="宋体"/>
              </a:rPr>
              <a:t>）对共享现象（模型）的描述</a:t>
            </a:r>
            <a:r>
              <a:rPr sz="1800" spc="35" dirty="0">
                <a:latin typeface="宋体"/>
                <a:cs typeface="宋体"/>
              </a:rPr>
              <a:t>；</a:t>
            </a:r>
            <a:r>
              <a:rPr sz="1750" b="1" spc="35" dirty="0">
                <a:solidFill>
                  <a:srgbClr val="FF0000"/>
                </a:solidFill>
                <a:latin typeface="宋体"/>
                <a:cs typeface="宋体"/>
              </a:rPr>
              <a:t>（</a:t>
            </a:r>
            <a:r>
              <a:rPr sz="1750" b="1" spc="75" dirty="0">
                <a:solidFill>
                  <a:srgbClr val="FF0000"/>
                </a:solidFill>
                <a:latin typeface="宋体"/>
                <a:cs typeface="宋体"/>
              </a:rPr>
              <a:t>数据）</a:t>
            </a:r>
            <a:endParaRPr sz="175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455"/>
              </a:spcBef>
              <a:buFont typeface="Arial"/>
              <a:buChar char="–"/>
              <a:tabLst>
                <a:tab pos="755015" algn="l"/>
                <a:tab pos="755650" algn="l"/>
              </a:tabLst>
            </a:pPr>
            <a:r>
              <a:rPr sz="1800" dirty="0">
                <a:latin typeface="宋体"/>
                <a:cs typeface="宋体"/>
              </a:rPr>
              <a:t>（</a:t>
            </a:r>
            <a:r>
              <a:rPr sz="1800" dirty="0">
                <a:latin typeface="Calibri"/>
                <a:cs typeface="Calibri"/>
              </a:rPr>
              <a:t>2</a:t>
            </a:r>
            <a:r>
              <a:rPr sz="1800" dirty="0">
                <a:latin typeface="宋体"/>
                <a:cs typeface="宋体"/>
              </a:rPr>
              <a:t>）系统对共享现象所施加的操作的描述。</a:t>
            </a:r>
            <a:r>
              <a:rPr sz="1750" b="1" spc="75" dirty="0">
                <a:solidFill>
                  <a:srgbClr val="FF0000"/>
                </a:solidFill>
                <a:latin typeface="宋体"/>
                <a:cs typeface="宋体"/>
              </a:rPr>
              <a:t>（功能）</a:t>
            </a:r>
            <a:endParaRPr sz="175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宋体"/>
                <a:cs typeface="宋体"/>
              </a:rPr>
              <a:t>也可以看作是一种需求</a:t>
            </a:r>
            <a:endParaRPr sz="20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415"/>
              </a:spcBef>
              <a:buFont typeface="Arial"/>
              <a:buChar char="–"/>
              <a:tabLst>
                <a:tab pos="755015" algn="l"/>
                <a:tab pos="755650" algn="l"/>
              </a:tabLst>
            </a:pPr>
            <a:r>
              <a:rPr sz="1800" dirty="0">
                <a:latin typeface="宋体"/>
                <a:cs typeface="宋体"/>
              </a:rPr>
              <a:t>完全针对系统行为发出的期望</a:t>
            </a:r>
            <a:endParaRPr sz="1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Font typeface="Arial"/>
              <a:buChar char="–"/>
              <a:tabLst>
                <a:tab pos="755015" algn="l"/>
                <a:tab pos="755650" algn="l"/>
              </a:tabLst>
            </a:pPr>
            <a:r>
              <a:rPr sz="1800" dirty="0">
                <a:latin typeface="宋体"/>
                <a:cs typeface="宋体"/>
              </a:rPr>
              <a:t>一种理想的、完全不需要进行任何额外努力即可以转换为系统行为的需求。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3336" y="4105655"/>
            <a:ext cx="7775448" cy="21945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0336" y="138683"/>
            <a:ext cx="3716020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>
                <a:latin typeface="Calibri"/>
                <a:cs typeface="Calibri"/>
              </a:rPr>
              <a:t>1.</a:t>
            </a:r>
            <a:r>
              <a:rPr sz="4400" dirty="0"/>
              <a:t>需求的涵义</a:t>
            </a:r>
            <a:endParaRPr sz="4400">
              <a:latin typeface="Calibri"/>
              <a:cs typeface="Calibri"/>
            </a:endParaRPr>
          </a:p>
          <a:p>
            <a:pPr marL="454659">
              <a:lnSpc>
                <a:spcPct val="100000"/>
              </a:lnSpc>
            </a:pPr>
            <a:r>
              <a:rPr sz="4400" dirty="0">
                <a:latin typeface="Calibri"/>
                <a:cs typeface="Calibri"/>
              </a:rPr>
              <a:t>——</a:t>
            </a:r>
            <a:r>
              <a:rPr sz="4400" dirty="0"/>
              <a:t>规格说明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72978" y="1997994"/>
            <a:ext cx="8065263" cy="3295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67961" y="5674867"/>
            <a:ext cx="5740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问题域、需求、解系统、需求规格说明之间的关系示意图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0336" y="138683"/>
            <a:ext cx="3995420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>
                <a:latin typeface="Calibri"/>
                <a:cs typeface="Calibri"/>
              </a:rPr>
              <a:t>1.</a:t>
            </a:r>
            <a:r>
              <a:rPr sz="4400" dirty="0"/>
              <a:t>需求的涵义</a:t>
            </a:r>
            <a:endParaRPr sz="4400">
              <a:latin typeface="Calibri"/>
              <a:cs typeface="Calibri"/>
            </a:endParaRPr>
          </a:p>
          <a:p>
            <a:pPr marL="175260">
              <a:lnSpc>
                <a:spcPct val="100000"/>
              </a:lnSpc>
            </a:pPr>
            <a:r>
              <a:rPr sz="4400" dirty="0">
                <a:latin typeface="Calibri"/>
                <a:cs typeface="Calibri"/>
              </a:rPr>
              <a:t>——</a:t>
            </a:r>
            <a:r>
              <a:rPr sz="4400" dirty="0"/>
              <a:t>问题域特性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1629"/>
            <a:ext cx="7874000" cy="445325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0065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问题域自治的规律性称为问题域特性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33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包括</a:t>
            </a:r>
            <a:r>
              <a:rPr sz="2400" dirty="0">
                <a:solidFill>
                  <a:srgbClr val="549E39"/>
                </a:solidFill>
                <a:latin typeface="宋体"/>
                <a:cs typeface="宋体"/>
              </a:rPr>
              <a:t>结构特性</a:t>
            </a:r>
            <a:r>
              <a:rPr sz="2400" dirty="0">
                <a:latin typeface="宋体"/>
                <a:cs typeface="宋体"/>
              </a:rPr>
              <a:t>和</a:t>
            </a:r>
            <a:r>
              <a:rPr sz="2400" dirty="0">
                <a:solidFill>
                  <a:srgbClr val="549E39"/>
                </a:solidFill>
                <a:latin typeface="宋体"/>
                <a:cs typeface="宋体"/>
              </a:rPr>
              <a:t>行为特性</a:t>
            </a:r>
            <a:r>
              <a:rPr sz="2400" dirty="0">
                <a:latin typeface="宋体"/>
                <a:cs typeface="宋体"/>
              </a:rPr>
              <a:t>等</a:t>
            </a:r>
            <a:endParaRPr sz="24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33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问题域特性的</a:t>
            </a:r>
            <a:r>
              <a:rPr sz="3525" b="1" spc="127" baseline="1182" dirty="0">
                <a:latin typeface="宋体"/>
                <a:cs typeface="宋体"/>
              </a:rPr>
              <a:t>重要性</a:t>
            </a:r>
            <a:endParaRPr sz="3525" baseline="1182">
              <a:latin typeface="宋体"/>
              <a:cs typeface="宋体"/>
            </a:endParaRPr>
          </a:p>
          <a:p>
            <a:pPr marL="1155065" marR="5080" lvl="2" indent="-228600">
              <a:lnSpc>
                <a:spcPts val="2400"/>
              </a:lnSpc>
              <a:spcBef>
                <a:spcPts val="890"/>
              </a:spcBef>
              <a:buFont typeface="Arial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要想解决问题，它就需要了解问题域特性，将解决 方案和问题域特性结合起来</a:t>
            </a:r>
            <a:endParaRPr sz="2400">
              <a:latin typeface="宋体"/>
              <a:cs typeface="宋体"/>
            </a:endParaRPr>
          </a:p>
          <a:p>
            <a:pPr marL="1155065" marR="5080" lvl="2" indent="-228600">
              <a:lnSpc>
                <a:spcPts val="2400"/>
              </a:lnSpc>
              <a:spcBef>
                <a:spcPts val="1005"/>
              </a:spcBef>
              <a:buFont typeface="Arial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要防止解系统的引入在问题域当中引发未预见的连 锁反应</a:t>
            </a:r>
            <a:endParaRPr sz="2400">
              <a:latin typeface="宋体"/>
              <a:cs typeface="宋体"/>
            </a:endParaRPr>
          </a:p>
          <a:p>
            <a:pPr lvl="2"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27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buClr>
                <a:srgbClr val="0065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其他需要关注的问题域特性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254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约束</a:t>
            </a:r>
            <a:endParaRPr sz="24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31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假设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1.</a:t>
            </a:r>
            <a:r>
              <a:rPr dirty="0"/>
              <a:t>需求的涵义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7840" y="664971"/>
            <a:ext cx="8190230" cy="482854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175125" marR="128270" indent="-3167380">
              <a:lnSpc>
                <a:spcPct val="101400"/>
              </a:lnSpc>
              <a:spcBef>
                <a:spcPts val="50"/>
              </a:spcBef>
            </a:pPr>
            <a:r>
              <a:rPr sz="2800" dirty="0">
                <a:solidFill>
                  <a:srgbClr val="00663C"/>
                </a:solidFill>
                <a:latin typeface="Calibri"/>
                <a:cs typeface="Calibri"/>
              </a:rPr>
              <a:t>——</a:t>
            </a:r>
            <a:r>
              <a:rPr sz="2800" dirty="0">
                <a:solidFill>
                  <a:srgbClr val="00663C"/>
                </a:solidFill>
                <a:latin typeface="宋体"/>
                <a:cs typeface="宋体"/>
              </a:rPr>
              <a:t>从问题域、需求和规格说明的关系看需求 工程</a:t>
            </a:r>
            <a:endParaRPr sz="2800">
              <a:latin typeface="宋体"/>
              <a:cs typeface="宋体"/>
            </a:endParaRPr>
          </a:p>
          <a:p>
            <a:pPr marL="393700" indent="-342900">
              <a:lnSpc>
                <a:spcPts val="3229"/>
              </a:lnSpc>
              <a:spcBef>
                <a:spcPts val="360"/>
              </a:spcBef>
              <a:buClr>
                <a:srgbClr val="00653C"/>
              </a:buClr>
              <a:buSzPct val="78571"/>
              <a:buFont typeface="Wingdings"/>
              <a:buChar char=""/>
              <a:tabLst>
                <a:tab pos="393065" algn="l"/>
                <a:tab pos="393700" algn="l"/>
              </a:tabLst>
            </a:pPr>
            <a:r>
              <a:rPr sz="2800" dirty="0">
                <a:latin typeface="宋体"/>
                <a:cs typeface="宋体"/>
              </a:rPr>
              <a:t>描述明确的问题域</a:t>
            </a:r>
            <a:r>
              <a:rPr sz="4125" b="1" spc="127" baseline="1010" dirty="0">
                <a:solidFill>
                  <a:srgbClr val="455F51"/>
                </a:solidFill>
                <a:latin typeface="宋体"/>
                <a:cs typeface="宋体"/>
              </a:rPr>
              <a:t>特</a:t>
            </a:r>
            <a:r>
              <a:rPr sz="4125" b="1" spc="120" baseline="1010" dirty="0">
                <a:solidFill>
                  <a:srgbClr val="455F51"/>
                </a:solidFill>
                <a:latin typeface="宋体"/>
                <a:cs typeface="宋体"/>
              </a:rPr>
              <a:t>性</a:t>
            </a:r>
            <a:r>
              <a:rPr sz="2800" b="1" spc="-5" dirty="0">
                <a:solidFill>
                  <a:srgbClr val="455F51"/>
                </a:solidFill>
                <a:latin typeface="Calibri"/>
                <a:cs typeface="Calibri"/>
              </a:rPr>
              <a:t>E</a:t>
            </a:r>
            <a:r>
              <a:rPr sz="2800" spc="-5" dirty="0">
                <a:latin typeface="Calibri"/>
                <a:cs typeface="Calibri"/>
              </a:rPr>
              <a:t>;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宋体"/>
                <a:cs typeface="宋体"/>
              </a:rPr>
              <a:t>定义良好的</a:t>
            </a:r>
            <a:r>
              <a:rPr sz="4125" b="1" spc="127" baseline="1010" dirty="0">
                <a:solidFill>
                  <a:srgbClr val="455F51"/>
                </a:solidFill>
                <a:latin typeface="宋体"/>
                <a:cs typeface="宋体"/>
              </a:rPr>
              <a:t>系统行</a:t>
            </a:r>
            <a:r>
              <a:rPr sz="4125" b="1" spc="120" baseline="1010" dirty="0">
                <a:solidFill>
                  <a:srgbClr val="455F51"/>
                </a:solidFill>
                <a:latin typeface="宋体"/>
                <a:cs typeface="宋体"/>
              </a:rPr>
              <a:t>为</a:t>
            </a:r>
            <a:r>
              <a:rPr sz="2800" b="1" dirty="0">
                <a:solidFill>
                  <a:srgbClr val="455F51"/>
                </a:solidFill>
                <a:latin typeface="Calibri"/>
                <a:cs typeface="Calibri"/>
              </a:rPr>
              <a:t>S</a:t>
            </a:r>
            <a:r>
              <a:rPr sz="2800" b="1" spc="-5" dirty="0">
                <a:solidFill>
                  <a:srgbClr val="455F51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;</a:t>
            </a:r>
            <a:endParaRPr sz="2800">
              <a:latin typeface="Calibri"/>
              <a:cs typeface="Calibri"/>
            </a:endParaRPr>
          </a:p>
          <a:p>
            <a:pPr marL="393700">
              <a:lnSpc>
                <a:spcPts val="3229"/>
              </a:lnSpc>
            </a:pPr>
            <a:r>
              <a:rPr sz="2800" dirty="0">
                <a:latin typeface="宋体"/>
                <a:cs typeface="宋体"/>
              </a:rPr>
              <a:t>预期的</a:t>
            </a:r>
            <a:r>
              <a:rPr sz="4125" b="1" spc="127" baseline="1010" dirty="0">
                <a:solidFill>
                  <a:srgbClr val="455F51"/>
                </a:solidFill>
                <a:latin typeface="宋体"/>
                <a:cs typeface="宋体"/>
              </a:rPr>
              <a:t>需</a:t>
            </a:r>
            <a:r>
              <a:rPr sz="4125" b="1" spc="120" baseline="1010" dirty="0">
                <a:solidFill>
                  <a:srgbClr val="455F51"/>
                </a:solidFill>
                <a:latin typeface="宋体"/>
                <a:cs typeface="宋体"/>
              </a:rPr>
              <a:t>求</a:t>
            </a:r>
            <a:r>
              <a:rPr sz="2800" b="1" dirty="0">
                <a:solidFill>
                  <a:srgbClr val="455F51"/>
                </a:solidFill>
                <a:latin typeface="Calibri"/>
                <a:cs typeface="Calibri"/>
              </a:rPr>
              <a:t>R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200">
              <a:latin typeface="Calibri"/>
              <a:cs typeface="Calibri"/>
            </a:endParaRPr>
          </a:p>
          <a:p>
            <a:pPr marL="393700" indent="-342900">
              <a:lnSpc>
                <a:spcPct val="100000"/>
              </a:lnSpc>
              <a:buClr>
                <a:srgbClr val="00653C"/>
              </a:buClr>
              <a:buSzPct val="78571"/>
              <a:buFont typeface="Wingdings"/>
              <a:buChar char=""/>
              <a:tabLst>
                <a:tab pos="393065" algn="l"/>
                <a:tab pos="393700" algn="l"/>
              </a:tabLst>
            </a:pPr>
            <a:r>
              <a:rPr sz="2800" dirty="0">
                <a:solidFill>
                  <a:srgbClr val="549E39"/>
                </a:solidFill>
                <a:latin typeface="宋体"/>
                <a:cs typeface="宋体"/>
              </a:rPr>
              <a:t>需求工程</a:t>
            </a:r>
            <a:r>
              <a:rPr sz="2800" dirty="0">
                <a:latin typeface="宋体"/>
                <a:cs typeface="宋体"/>
              </a:rPr>
              <a:t>的目的就是根据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dirty="0">
                <a:latin typeface="宋体"/>
                <a:cs typeface="宋体"/>
              </a:rPr>
              <a:t>构建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dirty="0">
                <a:latin typeface="宋体"/>
                <a:cs typeface="宋体"/>
              </a:rPr>
              <a:t>，使</a:t>
            </a:r>
            <a:r>
              <a:rPr sz="2800" spc="180" dirty="0">
                <a:latin typeface="宋体"/>
                <a:cs typeface="宋体"/>
              </a:rPr>
              <a:t>得</a:t>
            </a:r>
            <a:r>
              <a:rPr sz="2900" i="1" spc="65" dirty="0">
                <a:latin typeface="Times New Roman"/>
                <a:cs typeface="Times New Roman"/>
              </a:rPr>
              <a:t>E</a:t>
            </a:r>
            <a:r>
              <a:rPr sz="2900" spc="65" dirty="0">
                <a:latin typeface="Times New Roman"/>
                <a:cs typeface="Times New Roman"/>
              </a:rPr>
              <a:t>,</a:t>
            </a:r>
            <a:r>
              <a:rPr sz="2900" spc="-340" dirty="0">
                <a:latin typeface="Times New Roman"/>
                <a:cs typeface="Times New Roman"/>
              </a:rPr>
              <a:t> </a:t>
            </a:r>
            <a:r>
              <a:rPr sz="2900" i="1" spc="15" dirty="0">
                <a:latin typeface="Times New Roman"/>
                <a:cs typeface="Times New Roman"/>
              </a:rPr>
              <a:t>S</a:t>
            </a:r>
            <a:r>
              <a:rPr sz="2900" i="1" spc="35" dirty="0">
                <a:latin typeface="Times New Roman"/>
                <a:cs typeface="Times New Roman"/>
              </a:rPr>
              <a:t> </a:t>
            </a:r>
            <a:r>
              <a:rPr sz="2900" spc="2685" dirty="0">
                <a:latin typeface="Calibri"/>
                <a:cs typeface="Calibri"/>
              </a:rPr>
              <a:t> </a:t>
            </a:r>
            <a:r>
              <a:rPr sz="2900" i="1" spc="15" dirty="0">
                <a:latin typeface="Times New Roman"/>
                <a:cs typeface="Times New Roman"/>
              </a:rPr>
              <a:t>R</a:t>
            </a: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00653C"/>
              </a:buClr>
              <a:buFont typeface="Wingdings"/>
              <a:buChar char=""/>
            </a:pPr>
            <a:endParaRPr sz="3400">
              <a:latin typeface="Times New Roman"/>
              <a:cs typeface="Times New Roman"/>
            </a:endParaRPr>
          </a:p>
          <a:p>
            <a:pPr marL="393700" indent="-342900">
              <a:lnSpc>
                <a:spcPct val="100000"/>
              </a:lnSpc>
              <a:spcBef>
                <a:spcPts val="5"/>
              </a:spcBef>
              <a:buClr>
                <a:srgbClr val="00653C"/>
              </a:buClr>
              <a:buSzPct val="78571"/>
              <a:buFont typeface="Wingdings"/>
              <a:buChar char=""/>
              <a:tabLst>
                <a:tab pos="393065" algn="l"/>
                <a:tab pos="393700" algn="l"/>
              </a:tabLst>
            </a:pPr>
            <a:r>
              <a:rPr sz="2800" dirty="0">
                <a:latin typeface="宋体"/>
                <a:cs typeface="宋体"/>
              </a:rPr>
              <a:t>需求工程的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困难之处</a:t>
            </a:r>
            <a:r>
              <a:rPr sz="2800" dirty="0"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793750" lvl="1" indent="-285750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93115" algn="l"/>
                <a:tab pos="793750" algn="l"/>
              </a:tabLst>
            </a:pPr>
            <a:r>
              <a:rPr sz="2400" spc="-5" dirty="0">
                <a:latin typeface="宋体"/>
                <a:cs typeface="宋体"/>
              </a:rPr>
              <a:t>（</a:t>
            </a:r>
            <a:r>
              <a:rPr sz="2400" spc="-5" dirty="0">
                <a:latin typeface="Calibri"/>
                <a:cs typeface="Calibri"/>
              </a:rPr>
              <a:t>1</a:t>
            </a:r>
            <a:r>
              <a:rPr sz="2400" spc="-5" dirty="0">
                <a:latin typeface="宋体"/>
                <a:cs typeface="宋体"/>
              </a:rPr>
              <a:t>）</a:t>
            </a:r>
            <a:r>
              <a:rPr sz="2400" dirty="0">
                <a:latin typeface="宋体"/>
                <a:cs typeface="宋体"/>
              </a:rPr>
              <a:t>不存在描述明确的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dirty="0"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793750" lvl="1" indent="-285750">
              <a:lnSpc>
                <a:spcPct val="100000"/>
              </a:lnSpc>
              <a:spcBef>
                <a:spcPts val="31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93115" algn="l"/>
                <a:tab pos="793750" algn="l"/>
              </a:tabLst>
            </a:pPr>
            <a:r>
              <a:rPr sz="2400" spc="-5" dirty="0">
                <a:latin typeface="宋体"/>
                <a:cs typeface="宋体"/>
              </a:rPr>
              <a:t>（</a:t>
            </a:r>
            <a:r>
              <a:rPr sz="2400" spc="-5" dirty="0">
                <a:latin typeface="Calibri"/>
                <a:cs typeface="Calibri"/>
              </a:rPr>
              <a:t>2</a:t>
            </a:r>
            <a:r>
              <a:rPr sz="2400" spc="-5" dirty="0">
                <a:latin typeface="宋体"/>
                <a:cs typeface="宋体"/>
              </a:rPr>
              <a:t>）</a:t>
            </a:r>
            <a:r>
              <a:rPr sz="2400" dirty="0">
                <a:latin typeface="宋体"/>
                <a:cs typeface="宋体"/>
              </a:rPr>
              <a:t>不存在确定的针对</a:t>
            </a:r>
            <a:r>
              <a:rPr sz="2400" spc="-5" dirty="0">
                <a:latin typeface="Calibri"/>
                <a:cs typeface="Calibri"/>
              </a:rPr>
              <a:t>S</a:t>
            </a:r>
            <a:r>
              <a:rPr sz="2400" dirty="0">
                <a:latin typeface="宋体"/>
                <a:cs typeface="宋体"/>
              </a:rPr>
              <a:t>的评估标准</a:t>
            </a:r>
            <a:r>
              <a:rPr sz="2400" spc="-5" dirty="0">
                <a:latin typeface="Calibri"/>
                <a:cs typeface="Calibri"/>
              </a:rPr>
              <a:t>R</a:t>
            </a:r>
            <a:r>
              <a:rPr sz="2400" spc="-5" dirty="0"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793750" lvl="1" indent="-285750">
              <a:lnSpc>
                <a:spcPct val="100000"/>
              </a:lnSpc>
              <a:spcBef>
                <a:spcPts val="24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93115" algn="l"/>
                <a:tab pos="793750" algn="l"/>
              </a:tabLst>
            </a:pPr>
            <a:r>
              <a:rPr sz="2400" spc="-5" dirty="0">
                <a:latin typeface="宋体"/>
                <a:cs typeface="宋体"/>
              </a:rPr>
              <a:t>（</a:t>
            </a:r>
            <a:r>
              <a:rPr sz="2400" spc="-5" dirty="0">
                <a:latin typeface="Calibri"/>
                <a:cs typeface="Calibri"/>
              </a:rPr>
              <a:t>3</a:t>
            </a:r>
            <a:r>
              <a:rPr sz="2400" spc="-5" dirty="0">
                <a:latin typeface="宋体"/>
                <a:cs typeface="宋体"/>
              </a:rPr>
              <a:t>）</a:t>
            </a:r>
            <a:r>
              <a:rPr sz="2400" spc="-55" dirty="0">
                <a:latin typeface="宋体"/>
                <a:cs typeface="宋体"/>
              </a:rPr>
              <a:t> </a:t>
            </a:r>
            <a:r>
              <a:rPr sz="3600" i="1" spc="67" baseline="6944" dirty="0">
                <a:latin typeface="Times New Roman"/>
                <a:cs typeface="Times New Roman"/>
              </a:rPr>
              <a:t>E</a:t>
            </a:r>
            <a:r>
              <a:rPr sz="3600" spc="67" baseline="6944" dirty="0">
                <a:latin typeface="Times New Roman"/>
                <a:cs typeface="Times New Roman"/>
              </a:rPr>
              <a:t>,</a:t>
            </a:r>
            <a:r>
              <a:rPr sz="3600" spc="-337" baseline="6944" dirty="0">
                <a:latin typeface="Times New Roman"/>
                <a:cs typeface="Times New Roman"/>
              </a:rPr>
              <a:t> </a:t>
            </a:r>
            <a:r>
              <a:rPr sz="3600" i="1" spc="7" baseline="6944" dirty="0">
                <a:latin typeface="Times New Roman"/>
                <a:cs typeface="Times New Roman"/>
              </a:rPr>
              <a:t>R</a:t>
            </a:r>
            <a:r>
              <a:rPr sz="3600" i="1" spc="-179" baseline="6944" dirty="0">
                <a:latin typeface="Times New Roman"/>
                <a:cs typeface="Times New Roman"/>
              </a:rPr>
              <a:t> </a:t>
            </a:r>
            <a:r>
              <a:rPr sz="3600" spc="15" baseline="6944" dirty="0">
                <a:latin typeface="Symbol"/>
                <a:cs typeface="Symbol"/>
              </a:rPr>
              <a:t></a:t>
            </a:r>
            <a:r>
              <a:rPr sz="3600" spc="-89" baseline="6944" dirty="0">
                <a:latin typeface="Times New Roman"/>
                <a:cs typeface="Times New Roman"/>
              </a:rPr>
              <a:t> </a:t>
            </a:r>
            <a:r>
              <a:rPr sz="3600" i="1" spc="7" baseline="6944" dirty="0">
                <a:latin typeface="Times New Roman"/>
                <a:cs typeface="Times New Roman"/>
              </a:rPr>
              <a:t>S</a:t>
            </a:r>
            <a:r>
              <a:rPr sz="3600" i="1" spc="525" baseline="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是一个</a:t>
            </a:r>
            <a:r>
              <a:rPr sz="3525" b="1" spc="127" baseline="1182" dirty="0">
                <a:solidFill>
                  <a:srgbClr val="FF0000"/>
                </a:solidFill>
                <a:latin typeface="宋体"/>
                <a:cs typeface="宋体"/>
              </a:rPr>
              <a:t>创造</a:t>
            </a:r>
            <a:r>
              <a:rPr sz="3525" b="1" spc="135" baseline="1182" dirty="0">
                <a:solidFill>
                  <a:srgbClr val="FF0000"/>
                </a:solidFill>
                <a:latin typeface="宋体"/>
                <a:cs typeface="宋体"/>
              </a:rPr>
              <a:t>性</a:t>
            </a:r>
            <a:r>
              <a:rPr sz="2400" dirty="0">
                <a:latin typeface="宋体"/>
                <a:cs typeface="宋体"/>
              </a:rPr>
              <a:t>的过程。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1.</a:t>
            </a:r>
            <a:r>
              <a:rPr dirty="0"/>
              <a:t>需求的涵义</a:t>
            </a:r>
          </a:p>
        </p:txBody>
      </p:sp>
      <p:sp>
        <p:nvSpPr>
          <p:cNvPr id="3" name="object 3"/>
          <p:cNvSpPr/>
          <p:nvPr/>
        </p:nvSpPr>
        <p:spPr>
          <a:xfrm>
            <a:off x="2471927" y="2740151"/>
            <a:ext cx="2545079" cy="6888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05528" y="2779776"/>
            <a:ext cx="551688" cy="6736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739" y="664971"/>
            <a:ext cx="8486140" cy="256667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594225" marR="5080" indent="-3167380">
              <a:lnSpc>
                <a:spcPct val="101400"/>
              </a:lnSpc>
              <a:spcBef>
                <a:spcPts val="50"/>
              </a:spcBef>
            </a:pPr>
            <a:r>
              <a:rPr sz="2800" dirty="0">
                <a:solidFill>
                  <a:srgbClr val="00663C"/>
                </a:solidFill>
                <a:latin typeface="Calibri"/>
                <a:cs typeface="Calibri"/>
              </a:rPr>
              <a:t>——</a:t>
            </a:r>
            <a:r>
              <a:rPr sz="2800" dirty="0">
                <a:solidFill>
                  <a:srgbClr val="00663C"/>
                </a:solidFill>
                <a:latin typeface="宋体"/>
                <a:cs typeface="宋体"/>
              </a:rPr>
              <a:t>从问题域、需求和规格说明的关系看需求 工程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需求工程的</a:t>
            </a:r>
            <a:r>
              <a:rPr sz="4125" b="1" spc="127" baseline="1010" dirty="0">
                <a:solidFill>
                  <a:srgbClr val="549E39"/>
                </a:solidFill>
                <a:latin typeface="宋体"/>
                <a:cs typeface="宋体"/>
              </a:rPr>
              <a:t>主要工作</a:t>
            </a:r>
            <a:endParaRPr sz="4125" baseline="101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330"/>
              </a:spcBef>
              <a:buFont typeface="Arial"/>
              <a:buChar char="–"/>
              <a:tabLst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需求开发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dirty="0">
                <a:latin typeface="宋体"/>
                <a:cs typeface="宋体"/>
              </a:rPr>
              <a:t>确定</a:t>
            </a:r>
            <a:r>
              <a:rPr sz="2400" spc="-670" dirty="0">
                <a:latin typeface="宋体"/>
                <a:cs typeface="宋体"/>
              </a:rPr>
              <a:t> </a:t>
            </a:r>
            <a:r>
              <a:rPr sz="2400" dirty="0">
                <a:latin typeface="Calibri"/>
                <a:cs typeface="Calibri"/>
              </a:rPr>
              <a:t>R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35"/>
              </a:spcBef>
              <a:buFont typeface="Arial"/>
              <a:buChar char="–"/>
              <a:tabLst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研究问题背景，描述问题域特性</a:t>
            </a:r>
            <a:r>
              <a:rPr sz="2400" dirty="0">
                <a:latin typeface="Calibri"/>
                <a:cs typeface="Calibri"/>
              </a:rPr>
              <a:t>E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15"/>
              </a:spcBef>
              <a:buFont typeface="Arial"/>
              <a:buChar char="–"/>
              <a:tabLst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构建解系统，描述解系统行为</a:t>
            </a:r>
            <a:r>
              <a:rPr sz="2400" spc="-5" dirty="0">
                <a:latin typeface="Calibri"/>
                <a:cs typeface="Calibri"/>
              </a:rPr>
              <a:t>S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使得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A4D0484-CA59-6F1B-EDDE-B04722296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4221" y="3981060"/>
            <a:ext cx="2222614" cy="850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401</Words>
  <Application>Microsoft Office PowerPoint</Application>
  <PresentationFormat>全屏显示(4:3)</PresentationFormat>
  <Paragraphs>145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MS Gothic</vt:lpstr>
      <vt:lpstr>华文行楷</vt:lpstr>
      <vt:lpstr>宋体</vt:lpstr>
      <vt:lpstr>Arial</vt:lpstr>
      <vt:lpstr>Calibri</vt:lpstr>
      <vt:lpstr>Symbol</vt:lpstr>
      <vt:lpstr>Times New Roman</vt:lpstr>
      <vt:lpstr>Wingdings</vt:lpstr>
      <vt:lpstr>Office Theme</vt:lpstr>
      <vt:lpstr>主要内容</vt:lpstr>
      <vt:lpstr>需求的定义</vt:lpstr>
      <vt:lpstr>主要内容</vt:lpstr>
      <vt:lpstr>1.需求的涵义 ——问题域与解系统（1）</vt:lpstr>
      <vt:lpstr>1.需求的涵义 ——问题域与解系统</vt:lpstr>
      <vt:lpstr>1.需求的涵义 ——问题域与解系统</vt:lpstr>
      <vt:lpstr>北京交管局实例：解系统</vt:lpstr>
      <vt:lpstr>问题域、解系统与共享现象</vt:lpstr>
      <vt:lpstr>北京交管局实例：共享现象</vt:lpstr>
      <vt:lpstr>1.需求的涵义 ——需求</vt:lpstr>
      <vt:lpstr>1.需求的涵义 ——规格说明</vt:lpstr>
      <vt:lpstr>1.需求的涵义 ——规格说明</vt:lpstr>
      <vt:lpstr>1.需求的涵义 ——问题域特性</vt:lpstr>
      <vt:lpstr>1.需求的涵义</vt:lpstr>
      <vt:lpstr>1.需求的涵义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主要内容</dc:title>
  <cp:lastModifiedBy>- Vel</cp:lastModifiedBy>
  <cp:revision>1</cp:revision>
  <dcterms:created xsi:type="dcterms:W3CDTF">2024-04-25T07:36:17Z</dcterms:created>
  <dcterms:modified xsi:type="dcterms:W3CDTF">2024-04-25T07:56:47Z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2024-03-05T00:00:00Z</vt:filetime>
  </property>
  <property fmtid="{D5CDD505-2E9C-101B-9397-08002B2CF9AE}" pid="3" name="LastSaved">
    <vt:filetime>2024-04-25T00:00:00Z</vt:filetime>
  </property>
</Properties>
</file>
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21052" y="215900"/>
            <a:ext cx="450189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9359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23"/>
                </a:lnTo>
              </a:path>
            </a:pathLst>
          </a:custGeom>
          <a:ln w="127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94917" y="337565"/>
            <a:ext cx="675416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4182" y="1462786"/>
            <a:ext cx="8155635" cy="3903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107" y="6465723"/>
            <a:ext cx="2239645" cy="24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建模</a:t>
            </a:r>
            <a:r>
              <a:rPr spc="-5" dirty="0">
                <a:latin typeface="Calibri"/>
                <a:cs typeface="Calibri"/>
              </a:rPr>
              <a:t>(5)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75" y="1280664"/>
            <a:ext cx="4486275" cy="200088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6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latin typeface="宋体"/>
                <a:cs typeface="宋体"/>
              </a:rPr>
              <a:t>构件和部署基本概念</a:t>
            </a:r>
            <a:endParaRPr sz="3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latin typeface="宋体"/>
                <a:cs typeface="宋体"/>
              </a:rPr>
              <a:t>构件图</a:t>
            </a:r>
            <a:endParaRPr sz="3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latin typeface="宋体"/>
                <a:cs typeface="宋体"/>
              </a:rPr>
              <a:t>部署图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1982" y="163779"/>
            <a:ext cx="50596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构件和部署基本概念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016" y="1081811"/>
            <a:ext cx="7797800" cy="417957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780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系统设计工具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2800" spc="-5" dirty="0">
                <a:latin typeface="宋体"/>
                <a:cs typeface="宋体"/>
              </a:rPr>
              <a:t>构件图</a:t>
            </a:r>
            <a:r>
              <a:rPr sz="2000" dirty="0">
                <a:latin typeface="Arial"/>
                <a:cs typeface="Arial"/>
              </a:rPr>
              <a:t>Component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Diagram</a:t>
            </a:r>
            <a:r>
              <a:rPr sz="2000" spc="204" dirty="0">
                <a:latin typeface="Arial"/>
                <a:cs typeface="Arial"/>
              </a:rPr>
              <a:t> </a:t>
            </a:r>
            <a:r>
              <a:rPr sz="2800" spc="-5" dirty="0">
                <a:latin typeface="宋体"/>
                <a:cs typeface="宋体"/>
              </a:rPr>
              <a:t>与部署图</a:t>
            </a:r>
            <a:r>
              <a:rPr sz="2000" dirty="0">
                <a:latin typeface="Arial"/>
                <a:cs typeface="Arial"/>
              </a:rPr>
              <a:t>Deployment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Diagram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800" spc="-5" dirty="0">
                <a:latin typeface="宋体"/>
                <a:cs typeface="宋体"/>
              </a:rPr>
              <a:t>是 </a:t>
            </a:r>
            <a:r>
              <a:rPr sz="2800" spc="-10" dirty="0">
                <a:latin typeface="宋体"/>
                <a:cs typeface="宋体"/>
              </a:rPr>
              <a:t>在系统设计时，用来表示系统软件</a:t>
            </a:r>
            <a:r>
              <a:rPr sz="2800" dirty="0">
                <a:latin typeface="宋体"/>
                <a:cs typeface="宋体"/>
              </a:rPr>
              <a:t>成</a:t>
            </a:r>
            <a:r>
              <a:rPr sz="2800" spc="-10" dirty="0">
                <a:latin typeface="宋体"/>
                <a:cs typeface="宋体"/>
              </a:rPr>
              <a:t>分以</a:t>
            </a:r>
            <a:r>
              <a:rPr sz="2800" dirty="0">
                <a:latin typeface="宋体"/>
                <a:cs typeface="宋体"/>
              </a:rPr>
              <a:t>及</a:t>
            </a:r>
            <a:r>
              <a:rPr sz="2800" spc="-10" dirty="0">
                <a:latin typeface="宋体"/>
                <a:cs typeface="宋体"/>
              </a:rPr>
              <a:t>之间 </a:t>
            </a:r>
            <a:r>
              <a:rPr sz="2800" spc="-5" dirty="0">
                <a:latin typeface="宋体"/>
                <a:cs typeface="宋体"/>
              </a:rPr>
              <a:t>关系结构的工具。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物理事物建模：</a:t>
            </a:r>
            <a:endParaRPr sz="2800">
              <a:latin typeface="宋体"/>
              <a:cs typeface="宋体"/>
            </a:endParaRPr>
          </a:p>
          <a:p>
            <a:pPr marL="12700" marR="318135">
              <a:lnSpc>
                <a:spcPts val="3200"/>
              </a:lnSpc>
              <a:spcBef>
                <a:spcPts val="2075"/>
              </a:spcBef>
            </a:pPr>
            <a:r>
              <a:rPr sz="2800" spc="-5" dirty="0">
                <a:latin typeface="宋体"/>
                <a:cs typeface="宋体"/>
              </a:rPr>
              <a:t>分析构件及其间的关系，并对它们</a:t>
            </a:r>
            <a:r>
              <a:rPr sz="2800" dirty="0">
                <a:latin typeface="宋体"/>
                <a:cs typeface="宋体"/>
              </a:rPr>
              <a:t>在</a:t>
            </a:r>
            <a:r>
              <a:rPr sz="2800" spc="-5" dirty="0">
                <a:latin typeface="宋体"/>
                <a:cs typeface="宋体"/>
              </a:rPr>
              <a:t>运行</a:t>
            </a:r>
            <a:r>
              <a:rPr sz="2800" dirty="0">
                <a:latin typeface="宋体"/>
                <a:cs typeface="宋体"/>
              </a:rPr>
              <a:t>节</a:t>
            </a:r>
            <a:r>
              <a:rPr sz="2800" spc="-5" dirty="0">
                <a:latin typeface="宋体"/>
                <a:cs typeface="宋体"/>
              </a:rPr>
              <a:t>点上 </a:t>
            </a:r>
            <a:r>
              <a:rPr sz="2800" spc="-10" dirty="0">
                <a:latin typeface="宋体"/>
                <a:cs typeface="宋体"/>
              </a:rPr>
              <a:t>的成分给与描述，也叫“物理事物</a:t>
            </a:r>
            <a:r>
              <a:rPr sz="2800" dirty="0">
                <a:latin typeface="宋体"/>
                <a:cs typeface="宋体"/>
              </a:rPr>
              <a:t>建</a:t>
            </a:r>
            <a:r>
              <a:rPr sz="2800" spc="-10" dirty="0">
                <a:latin typeface="宋体"/>
                <a:cs typeface="宋体"/>
              </a:rPr>
              <a:t>模”。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5222" y="279857"/>
            <a:ext cx="6754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面向对象分析</a:t>
            </a:r>
            <a:r>
              <a:rPr spc="5" dirty="0"/>
              <a:t>与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建模</a:t>
            </a:r>
            <a:r>
              <a:rPr spc="-5" dirty="0">
                <a:latin typeface="Calibri"/>
                <a:cs typeface="Calibri"/>
              </a:rPr>
              <a:t>(5)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75" y="1280664"/>
            <a:ext cx="4486275" cy="200088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6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latin typeface="宋体"/>
                <a:cs typeface="宋体"/>
              </a:rPr>
              <a:t>构件和部署基本概念</a:t>
            </a:r>
            <a:endParaRPr sz="3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solidFill>
                  <a:srgbClr val="FF0000"/>
                </a:solidFill>
                <a:latin typeface="宋体"/>
                <a:cs typeface="宋体"/>
              </a:rPr>
              <a:t>构件图</a:t>
            </a:r>
            <a:endParaRPr sz="3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latin typeface="宋体"/>
                <a:cs typeface="宋体"/>
              </a:rPr>
              <a:t>部署图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7789" y="204596"/>
            <a:ext cx="64065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构件图</a:t>
            </a:r>
            <a:r>
              <a:rPr spc="-5" dirty="0">
                <a:latin typeface="Calibri"/>
                <a:cs typeface="Calibri"/>
              </a:rPr>
              <a:t>Component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2269235" y="1988820"/>
            <a:ext cx="3200400" cy="1033780"/>
          </a:xfrm>
          <a:custGeom>
            <a:avLst/>
            <a:gdLst/>
            <a:ahLst/>
            <a:cxnLst/>
            <a:rect l="l" t="t" r="r" b="b"/>
            <a:pathLst>
              <a:path w="3200400" h="1033780">
                <a:moveTo>
                  <a:pt x="0" y="1033272"/>
                </a:moveTo>
                <a:lnTo>
                  <a:pt x="3200400" y="1033272"/>
                </a:lnTo>
                <a:lnTo>
                  <a:pt x="3200400" y="0"/>
                </a:lnTo>
                <a:lnTo>
                  <a:pt x="0" y="0"/>
                </a:lnTo>
                <a:lnTo>
                  <a:pt x="0" y="103327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9635" y="2206751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228600"/>
                </a:moveTo>
                <a:lnTo>
                  <a:pt x="1066800" y="228600"/>
                </a:lnTo>
                <a:lnTo>
                  <a:pt x="10668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9635" y="2206751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228600"/>
                </a:moveTo>
                <a:lnTo>
                  <a:pt x="1066800" y="228600"/>
                </a:lnTo>
                <a:lnTo>
                  <a:pt x="10668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59635" y="2587751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228600"/>
                </a:moveTo>
                <a:lnTo>
                  <a:pt x="1066800" y="228600"/>
                </a:lnTo>
                <a:lnTo>
                  <a:pt x="10668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59635" y="2587751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228600"/>
                </a:moveTo>
                <a:lnTo>
                  <a:pt x="1066800" y="228600"/>
                </a:lnTo>
                <a:lnTo>
                  <a:pt x="10668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33600" y="3788664"/>
            <a:ext cx="3200400" cy="1035050"/>
          </a:xfrm>
          <a:custGeom>
            <a:avLst/>
            <a:gdLst/>
            <a:ahLst/>
            <a:cxnLst/>
            <a:rect l="l" t="t" r="r" b="b"/>
            <a:pathLst>
              <a:path w="3200400" h="1035050">
                <a:moveTo>
                  <a:pt x="0" y="1034796"/>
                </a:moveTo>
                <a:lnTo>
                  <a:pt x="3200400" y="1034796"/>
                </a:lnTo>
                <a:lnTo>
                  <a:pt x="3200400" y="0"/>
                </a:lnTo>
                <a:lnTo>
                  <a:pt x="0" y="0"/>
                </a:lnTo>
                <a:lnTo>
                  <a:pt x="0" y="1034796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4000" y="4006596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228599"/>
                </a:moveTo>
                <a:lnTo>
                  <a:pt x="1066800" y="228599"/>
                </a:lnTo>
                <a:lnTo>
                  <a:pt x="1066800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4000" y="4006596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228599"/>
                </a:moveTo>
                <a:lnTo>
                  <a:pt x="1066800" y="228599"/>
                </a:lnTo>
                <a:lnTo>
                  <a:pt x="1066800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24000" y="4387596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228599"/>
                </a:moveTo>
                <a:lnTo>
                  <a:pt x="1066800" y="228599"/>
                </a:lnTo>
                <a:lnTo>
                  <a:pt x="1066800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0" y="4387596"/>
            <a:ext cx="1066800" cy="228600"/>
          </a:xfrm>
          <a:custGeom>
            <a:avLst/>
            <a:gdLst/>
            <a:ahLst/>
            <a:cxnLst/>
            <a:rect l="l" t="t" r="r" b="b"/>
            <a:pathLst>
              <a:path w="1066800" h="228600">
                <a:moveTo>
                  <a:pt x="0" y="228599"/>
                </a:moveTo>
                <a:lnTo>
                  <a:pt x="1066800" y="228599"/>
                </a:lnTo>
                <a:lnTo>
                  <a:pt x="1066800" y="0"/>
                </a:lnTo>
                <a:lnTo>
                  <a:pt x="0" y="0"/>
                </a:lnTo>
                <a:lnTo>
                  <a:pt x="0" y="2285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81200" y="5155691"/>
            <a:ext cx="1066800" cy="1198245"/>
          </a:xfrm>
          <a:custGeom>
            <a:avLst/>
            <a:gdLst/>
            <a:ahLst/>
            <a:cxnLst/>
            <a:rect l="l" t="t" r="r" b="b"/>
            <a:pathLst>
              <a:path w="1066800" h="1198245">
                <a:moveTo>
                  <a:pt x="0" y="1197863"/>
                </a:moveTo>
                <a:lnTo>
                  <a:pt x="1066800" y="1197863"/>
                </a:lnTo>
                <a:lnTo>
                  <a:pt x="1066800" y="0"/>
                </a:lnTo>
                <a:lnTo>
                  <a:pt x="0" y="0"/>
                </a:lnTo>
                <a:lnTo>
                  <a:pt x="0" y="119786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48864" y="5179821"/>
            <a:ext cx="3302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48864" y="5911392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81200" y="5689091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79676" y="6062471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76600" y="5155691"/>
            <a:ext cx="1066800" cy="1198245"/>
          </a:xfrm>
          <a:custGeom>
            <a:avLst/>
            <a:gdLst/>
            <a:ahLst/>
            <a:cxnLst/>
            <a:rect l="l" t="t" r="r" b="b"/>
            <a:pathLst>
              <a:path w="1066800" h="1198245">
                <a:moveTo>
                  <a:pt x="0" y="1197863"/>
                </a:moveTo>
                <a:lnTo>
                  <a:pt x="1066800" y="1197863"/>
                </a:lnTo>
                <a:lnTo>
                  <a:pt x="1066800" y="0"/>
                </a:lnTo>
                <a:lnTo>
                  <a:pt x="0" y="0"/>
                </a:lnTo>
                <a:lnTo>
                  <a:pt x="0" y="119786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644646" y="5179821"/>
            <a:ext cx="3302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44646" y="5911392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76600" y="5689091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76600" y="6062471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72000" y="5155691"/>
            <a:ext cx="1066800" cy="1198245"/>
          </a:xfrm>
          <a:custGeom>
            <a:avLst/>
            <a:gdLst/>
            <a:ahLst/>
            <a:cxnLst/>
            <a:rect l="l" t="t" r="r" b="b"/>
            <a:pathLst>
              <a:path w="1066800" h="1198245">
                <a:moveTo>
                  <a:pt x="0" y="1197863"/>
                </a:moveTo>
                <a:lnTo>
                  <a:pt x="1066800" y="1197863"/>
                </a:lnTo>
                <a:lnTo>
                  <a:pt x="1066800" y="0"/>
                </a:lnTo>
                <a:lnTo>
                  <a:pt x="0" y="0"/>
                </a:lnTo>
                <a:lnTo>
                  <a:pt x="0" y="119786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940300" y="5179821"/>
            <a:ext cx="3302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40300" y="5911392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72000" y="5689091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72000" y="6062471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25851" y="4866004"/>
            <a:ext cx="168910" cy="290195"/>
          </a:xfrm>
          <a:custGeom>
            <a:avLst/>
            <a:gdLst/>
            <a:ahLst/>
            <a:cxnLst/>
            <a:rect l="l" t="t" r="r" b="b"/>
            <a:pathLst>
              <a:path w="168910" h="290195">
                <a:moveTo>
                  <a:pt x="157480" y="0"/>
                </a:moveTo>
                <a:lnTo>
                  <a:pt x="132587" y="44323"/>
                </a:lnTo>
                <a:lnTo>
                  <a:pt x="143637" y="50546"/>
                </a:lnTo>
                <a:lnTo>
                  <a:pt x="168656" y="6350"/>
                </a:lnTo>
                <a:lnTo>
                  <a:pt x="157480" y="0"/>
                </a:lnTo>
                <a:close/>
              </a:path>
              <a:path w="168910" h="290195">
                <a:moveTo>
                  <a:pt x="113918" y="77470"/>
                </a:moveTo>
                <a:lnTo>
                  <a:pt x="88900" y="121793"/>
                </a:lnTo>
                <a:lnTo>
                  <a:pt x="99949" y="128016"/>
                </a:lnTo>
                <a:lnTo>
                  <a:pt x="124968" y="83693"/>
                </a:lnTo>
                <a:lnTo>
                  <a:pt x="113918" y="77470"/>
                </a:lnTo>
                <a:close/>
              </a:path>
              <a:path w="168910" h="290195">
                <a:moveTo>
                  <a:pt x="9779" y="184150"/>
                </a:moveTo>
                <a:lnTo>
                  <a:pt x="6350" y="184150"/>
                </a:lnTo>
                <a:lnTo>
                  <a:pt x="2793" y="184277"/>
                </a:lnTo>
                <a:lnTo>
                  <a:pt x="126" y="186944"/>
                </a:lnTo>
                <a:lnTo>
                  <a:pt x="0" y="190627"/>
                </a:lnTo>
                <a:lnTo>
                  <a:pt x="1524" y="289687"/>
                </a:lnTo>
                <a:lnTo>
                  <a:pt x="14975" y="281813"/>
                </a:lnTo>
                <a:lnTo>
                  <a:pt x="13208" y="281813"/>
                </a:lnTo>
                <a:lnTo>
                  <a:pt x="2159" y="275590"/>
                </a:lnTo>
                <a:lnTo>
                  <a:pt x="13724" y="255109"/>
                </a:lnTo>
                <a:lnTo>
                  <a:pt x="12704" y="190627"/>
                </a:lnTo>
                <a:lnTo>
                  <a:pt x="12700" y="186944"/>
                </a:lnTo>
                <a:lnTo>
                  <a:pt x="9779" y="184150"/>
                </a:lnTo>
                <a:close/>
              </a:path>
              <a:path w="168910" h="290195">
                <a:moveTo>
                  <a:pt x="13724" y="255109"/>
                </a:moveTo>
                <a:lnTo>
                  <a:pt x="2159" y="275590"/>
                </a:lnTo>
                <a:lnTo>
                  <a:pt x="13208" y="281813"/>
                </a:lnTo>
                <a:lnTo>
                  <a:pt x="15000" y="278638"/>
                </a:lnTo>
                <a:lnTo>
                  <a:pt x="14097" y="278638"/>
                </a:lnTo>
                <a:lnTo>
                  <a:pt x="4445" y="273304"/>
                </a:lnTo>
                <a:lnTo>
                  <a:pt x="13924" y="267758"/>
                </a:lnTo>
                <a:lnTo>
                  <a:pt x="13724" y="255109"/>
                </a:lnTo>
                <a:close/>
              </a:path>
              <a:path w="168910" h="290195">
                <a:moveTo>
                  <a:pt x="83693" y="226949"/>
                </a:moveTo>
                <a:lnTo>
                  <a:pt x="24705" y="261452"/>
                </a:lnTo>
                <a:lnTo>
                  <a:pt x="13208" y="281813"/>
                </a:lnTo>
                <a:lnTo>
                  <a:pt x="14975" y="281813"/>
                </a:lnTo>
                <a:lnTo>
                  <a:pt x="90043" y="237871"/>
                </a:lnTo>
                <a:lnTo>
                  <a:pt x="91059" y="234061"/>
                </a:lnTo>
                <a:lnTo>
                  <a:pt x="87503" y="227965"/>
                </a:lnTo>
                <a:lnTo>
                  <a:pt x="83693" y="226949"/>
                </a:lnTo>
                <a:close/>
              </a:path>
              <a:path w="168910" h="290195">
                <a:moveTo>
                  <a:pt x="13924" y="267758"/>
                </a:moveTo>
                <a:lnTo>
                  <a:pt x="4445" y="273304"/>
                </a:lnTo>
                <a:lnTo>
                  <a:pt x="14097" y="278638"/>
                </a:lnTo>
                <a:lnTo>
                  <a:pt x="13924" y="267758"/>
                </a:lnTo>
                <a:close/>
              </a:path>
              <a:path w="168910" h="290195">
                <a:moveTo>
                  <a:pt x="24705" y="261452"/>
                </a:moveTo>
                <a:lnTo>
                  <a:pt x="13924" y="267758"/>
                </a:lnTo>
                <a:lnTo>
                  <a:pt x="14097" y="278638"/>
                </a:lnTo>
                <a:lnTo>
                  <a:pt x="15000" y="278638"/>
                </a:lnTo>
                <a:lnTo>
                  <a:pt x="24705" y="261452"/>
                </a:lnTo>
                <a:close/>
              </a:path>
              <a:path w="168910" h="290195">
                <a:moveTo>
                  <a:pt x="26543" y="232410"/>
                </a:moveTo>
                <a:lnTo>
                  <a:pt x="13724" y="255109"/>
                </a:lnTo>
                <a:lnTo>
                  <a:pt x="13924" y="267758"/>
                </a:lnTo>
                <a:lnTo>
                  <a:pt x="24705" y="261452"/>
                </a:lnTo>
                <a:lnTo>
                  <a:pt x="37592" y="238633"/>
                </a:lnTo>
                <a:lnTo>
                  <a:pt x="26543" y="232410"/>
                </a:lnTo>
                <a:close/>
              </a:path>
              <a:path w="168910" h="290195">
                <a:moveTo>
                  <a:pt x="70231" y="154940"/>
                </a:moveTo>
                <a:lnTo>
                  <a:pt x="45212" y="199136"/>
                </a:lnTo>
                <a:lnTo>
                  <a:pt x="56387" y="205359"/>
                </a:lnTo>
                <a:lnTo>
                  <a:pt x="81280" y="161163"/>
                </a:lnTo>
                <a:lnTo>
                  <a:pt x="70231" y="1549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79190" y="4867655"/>
            <a:ext cx="106680" cy="288290"/>
          </a:xfrm>
          <a:custGeom>
            <a:avLst/>
            <a:gdLst/>
            <a:ahLst/>
            <a:cxnLst/>
            <a:rect l="l" t="t" r="r" b="b"/>
            <a:pathLst>
              <a:path w="106679" h="288289">
                <a:moveTo>
                  <a:pt x="94107" y="0"/>
                </a:moveTo>
                <a:lnTo>
                  <a:pt x="81787" y="49276"/>
                </a:lnTo>
                <a:lnTo>
                  <a:pt x="94107" y="52324"/>
                </a:lnTo>
                <a:lnTo>
                  <a:pt x="106552" y="3048"/>
                </a:lnTo>
                <a:lnTo>
                  <a:pt x="94107" y="0"/>
                </a:lnTo>
                <a:close/>
              </a:path>
              <a:path w="106679" h="288289">
                <a:moveTo>
                  <a:pt x="72644" y="86233"/>
                </a:moveTo>
                <a:lnTo>
                  <a:pt x="60325" y="135509"/>
                </a:lnTo>
                <a:lnTo>
                  <a:pt x="72644" y="138557"/>
                </a:lnTo>
                <a:lnTo>
                  <a:pt x="84962" y="89281"/>
                </a:lnTo>
                <a:lnTo>
                  <a:pt x="72644" y="86233"/>
                </a:lnTo>
                <a:close/>
              </a:path>
              <a:path w="106679" h="288289">
                <a:moveTo>
                  <a:pt x="8762" y="184023"/>
                </a:moveTo>
                <a:lnTo>
                  <a:pt x="5334" y="185039"/>
                </a:lnTo>
                <a:lnTo>
                  <a:pt x="2032" y="186055"/>
                </a:lnTo>
                <a:lnTo>
                  <a:pt x="0" y="189484"/>
                </a:lnTo>
                <a:lnTo>
                  <a:pt x="1015" y="192913"/>
                </a:lnTo>
                <a:lnTo>
                  <a:pt x="28701" y="288036"/>
                </a:lnTo>
                <a:lnTo>
                  <a:pt x="39121" y="277368"/>
                </a:lnTo>
                <a:lnTo>
                  <a:pt x="37973" y="277368"/>
                </a:lnTo>
                <a:lnTo>
                  <a:pt x="25654" y="274320"/>
                </a:lnTo>
                <a:lnTo>
                  <a:pt x="29463" y="258699"/>
                </a:lnTo>
                <a:lnTo>
                  <a:pt x="33376" y="258699"/>
                </a:lnTo>
                <a:lnTo>
                  <a:pt x="13208" y="189357"/>
                </a:lnTo>
                <a:lnTo>
                  <a:pt x="12192" y="185928"/>
                </a:lnTo>
                <a:lnTo>
                  <a:pt x="8762" y="184023"/>
                </a:lnTo>
                <a:close/>
              </a:path>
              <a:path w="106679" h="288289">
                <a:moveTo>
                  <a:pt x="29463" y="258699"/>
                </a:moveTo>
                <a:lnTo>
                  <a:pt x="25654" y="274320"/>
                </a:lnTo>
                <a:lnTo>
                  <a:pt x="37973" y="277368"/>
                </a:lnTo>
                <a:lnTo>
                  <a:pt x="38778" y="274066"/>
                </a:lnTo>
                <a:lnTo>
                  <a:pt x="37846" y="274066"/>
                </a:lnTo>
                <a:lnTo>
                  <a:pt x="27177" y="271399"/>
                </a:lnTo>
                <a:lnTo>
                  <a:pt x="34798" y="263589"/>
                </a:lnTo>
                <a:lnTo>
                  <a:pt x="33679" y="259742"/>
                </a:lnTo>
                <a:lnTo>
                  <a:pt x="29463" y="258699"/>
                </a:lnTo>
                <a:close/>
              </a:path>
              <a:path w="106679" h="288289">
                <a:moveTo>
                  <a:pt x="95250" y="205740"/>
                </a:moveTo>
                <a:lnTo>
                  <a:pt x="91312" y="205740"/>
                </a:lnTo>
                <a:lnTo>
                  <a:pt x="88773" y="208280"/>
                </a:lnTo>
                <a:lnTo>
                  <a:pt x="37605" y="260713"/>
                </a:lnTo>
                <a:lnTo>
                  <a:pt x="41783" y="261747"/>
                </a:lnTo>
                <a:lnTo>
                  <a:pt x="37973" y="277368"/>
                </a:lnTo>
                <a:lnTo>
                  <a:pt x="39121" y="277368"/>
                </a:lnTo>
                <a:lnTo>
                  <a:pt x="97917" y="217170"/>
                </a:lnTo>
                <a:lnTo>
                  <a:pt x="100330" y="214630"/>
                </a:lnTo>
                <a:lnTo>
                  <a:pt x="100330" y="210566"/>
                </a:lnTo>
                <a:lnTo>
                  <a:pt x="95250" y="205740"/>
                </a:lnTo>
                <a:close/>
              </a:path>
              <a:path w="106679" h="288289">
                <a:moveTo>
                  <a:pt x="34798" y="263589"/>
                </a:moveTo>
                <a:lnTo>
                  <a:pt x="27177" y="271399"/>
                </a:lnTo>
                <a:lnTo>
                  <a:pt x="37846" y="274066"/>
                </a:lnTo>
                <a:lnTo>
                  <a:pt x="34798" y="263589"/>
                </a:lnTo>
                <a:close/>
              </a:path>
              <a:path w="106679" h="288289">
                <a:moveTo>
                  <a:pt x="37605" y="260713"/>
                </a:moveTo>
                <a:lnTo>
                  <a:pt x="34798" y="263589"/>
                </a:lnTo>
                <a:lnTo>
                  <a:pt x="37846" y="274066"/>
                </a:lnTo>
                <a:lnTo>
                  <a:pt x="38778" y="274066"/>
                </a:lnTo>
                <a:lnTo>
                  <a:pt x="41783" y="261747"/>
                </a:lnTo>
                <a:lnTo>
                  <a:pt x="37605" y="260713"/>
                </a:lnTo>
                <a:close/>
              </a:path>
              <a:path w="106679" h="288289">
                <a:moveTo>
                  <a:pt x="33679" y="259742"/>
                </a:moveTo>
                <a:lnTo>
                  <a:pt x="34798" y="263589"/>
                </a:lnTo>
                <a:lnTo>
                  <a:pt x="37605" y="260713"/>
                </a:lnTo>
                <a:lnTo>
                  <a:pt x="33679" y="259742"/>
                </a:lnTo>
                <a:close/>
              </a:path>
              <a:path w="106679" h="288289">
                <a:moveTo>
                  <a:pt x="33376" y="258699"/>
                </a:moveTo>
                <a:lnTo>
                  <a:pt x="29463" y="258699"/>
                </a:lnTo>
                <a:lnTo>
                  <a:pt x="33679" y="259742"/>
                </a:lnTo>
                <a:lnTo>
                  <a:pt x="33376" y="258699"/>
                </a:lnTo>
                <a:close/>
              </a:path>
              <a:path w="106679" h="288289">
                <a:moveTo>
                  <a:pt x="51054" y="172466"/>
                </a:moveTo>
                <a:lnTo>
                  <a:pt x="38735" y="221742"/>
                </a:lnTo>
                <a:lnTo>
                  <a:pt x="51054" y="224790"/>
                </a:lnTo>
                <a:lnTo>
                  <a:pt x="63373" y="175514"/>
                </a:lnTo>
                <a:lnTo>
                  <a:pt x="51054" y="1724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77689" y="4869053"/>
            <a:ext cx="103505" cy="358775"/>
          </a:xfrm>
          <a:custGeom>
            <a:avLst/>
            <a:gdLst/>
            <a:ahLst/>
            <a:cxnLst/>
            <a:rect l="l" t="t" r="r" b="b"/>
            <a:pathLst>
              <a:path w="103504" h="358775">
                <a:moveTo>
                  <a:pt x="51181" y="0"/>
                </a:moveTo>
                <a:lnTo>
                  <a:pt x="38481" y="254"/>
                </a:lnTo>
                <a:lnTo>
                  <a:pt x="39750" y="51054"/>
                </a:lnTo>
                <a:lnTo>
                  <a:pt x="52450" y="50800"/>
                </a:lnTo>
                <a:lnTo>
                  <a:pt x="51181" y="0"/>
                </a:lnTo>
                <a:close/>
              </a:path>
              <a:path w="103504" h="358775">
                <a:moveTo>
                  <a:pt x="53466" y="88773"/>
                </a:moveTo>
                <a:lnTo>
                  <a:pt x="40766" y="89154"/>
                </a:lnTo>
                <a:lnTo>
                  <a:pt x="42037" y="139954"/>
                </a:lnTo>
                <a:lnTo>
                  <a:pt x="54737" y="139573"/>
                </a:lnTo>
                <a:lnTo>
                  <a:pt x="53466" y="88773"/>
                </a:lnTo>
                <a:close/>
              </a:path>
              <a:path w="103504" h="358775">
                <a:moveTo>
                  <a:pt x="55752" y="177673"/>
                </a:moveTo>
                <a:lnTo>
                  <a:pt x="43052" y="178054"/>
                </a:lnTo>
                <a:lnTo>
                  <a:pt x="44323" y="228854"/>
                </a:lnTo>
                <a:lnTo>
                  <a:pt x="57023" y="228473"/>
                </a:lnTo>
                <a:lnTo>
                  <a:pt x="55752" y="177673"/>
                </a:lnTo>
                <a:close/>
              </a:path>
              <a:path w="103504" h="358775">
                <a:moveTo>
                  <a:pt x="6858" y="263398"/>
                </a:moveTo>
                <a:lnTo>
                  <a:pt x="3937" y="265303"/>
                </a:lnTo>
                <a:lnTo>
                  <a:pt x="888" y="267081"/>
                </a:lnTo>
                <a:lnTo>
                  <a:pt x="0" y="271018"/>
                </a:lnTo>
                <a:lnTo>
                  <a:pt x="1905" y="273939"/>
                </a:lnTo>
                <a:lnTo>
                  <a:pt x="53975" y="358267"/>
                </a:lnTo>
                <a:lnTo>
                  <a:pt x="62561" y="342646"/>
                </a:lnTo>
                <a:lnTo>
                  <a:pt x="48133" y="342646"/>
                </a:lnTo>
                <a:lnTo>
                  <a:pt x="53343" y="333144"/>
                </a:lnTo>
                <a:lnTo>
                  <a:pt x="12461" y="266954"/>
                </a:lnTo>
                <a:lnTo>
                  <a:pt x="10795" y="264287"/>
                </a:lnTo>
                <a:lnTo>
                  <a:pt x="6858" y="263398"/>
                </a:lnTo>
                <a:close/>
              </a:path>
              <a:path w="103504" h="358775">
                <a:moveTo>
                  <a:pt x="53343" y="333144"/>
                </a:moveTo>
                <a:lnTo>
                  <a:pt x="48133" y="342646"/>
                </a:lnTo>
                <a:lnTo>
                  <a:pt x="59055" y="342392"/>
                </a:lnTo>
                <a:lnTo>
                  <a:pt x="53343" y="333144"/>
                </a:lnTo>
                <a:close/>
              </a:path>
              <a:path w="103504" h="358775">
                <a:moveTo>
                  <a:pt x="96138" y="261112"/>
                </a:moveTo>
                <a:lnTo>
                  <a:pt x="92328" y="262255"/>
                </a:lnTo>
                <a:lnTo>
                  <a:pt x="90550" y="265303"/>
                </a:lnTo>
                <a:lnTo>
                  <a:pt x="53343" y="333144"/>
                </a:lnTo>
                <a:lnTo>
                  <a:pt x="59055" y="342392"/>
                </a:lnTo>
                <a:lnTo>
                  <a:pt x="48133" y="342646"/>
                </a:lnTo>
                <a:lnTo>
                  <a:pt x="62561" y="342646"/>
                </a:lnTo>
                <a:lnTo>
                  <a:pt x="101726" y="271399"/>
                </a:lnTo>
                <a:lnTo>
                  <a:pt x="103377" y="268351"/>
                </a:lnTo>
                <a:lnTo>
                  <a:pt x="102235" y="264541"/>
                </a:lnTo>
                <a:lnTo>
                  <a:pt x="99187" y="262763"/>
                </a:lnTo>
                <a:lnTo>
                  <a:pt x="96138" y="261112"/>
                </a:lnTo>
                <a:close/>
              </a:path>
              <a:path w="103504" h="358775">
                <a:moveTo>
                  <a:pt x="58038" y="266573"/>
                </a:moveTo>
                <a:lnTo>
                  <a:pt x="45338" y="266954"/>
                </a:lnTo>
                <a:lnTo>
                  <a:pt x="46609" y="317627"/>
                </a:lnTo>
                <a:lnTo>
                  <a:pt x="59309" y="317373"/>
                </a:lnTo>
                <a:lnTo>
                  <a:pt x="58038" y="266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47217" y="984275"/>
            <a:ext cx="7839709" cy="34728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800" spc="-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800" spc="-5" dirty="0">
                <a:latin typeface="Arial"/>
                <a:cs typeface="Arial"/>
              </a:rPr>
              <a:t>UML</a:t>
            </a:r>
            <a:r>
              <a:rPr sz="2800" spc="-5" dirty="0">
                <a:latin typeface="宋体"/>
                <a:cs typeface="宋体"/>
              </a:rPr>
              <a:t>中的构件：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2800" spc="-5" dirty="0">
                <a:latin typeface="宋体"/>
                <a:cs typeface="宋体"/>
              </a:rPr>
              <a:t>提供单个或组接口，物理上可替换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软件</a:t>
            </a:r>
            <a:r>
              <a:rPr sz="2800" dirty="0">
                <a:latin typeface="宋体"/>
                <a:cs typeface="宋体"/>
              </a:rPr>
              <a:t>实</a:t>
            </a:r>
            <a:r>
              <a:rPr sz="2800" spc="-5" dirty="0">
                <a:latin typeface="宋体"/>
                <a:cs typeface="宋体"/>
              </a:rPr>
              <a:t>现单元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宋体"/>
              <a:cs typeface="宋体"/>
            </a:endParaRPr>
          </a:p>
          <a:p>
            <a:pPr marL="232219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System::dialog.dll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5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</a:pPr>
            <a:r>
              <a:rPr sz="2800" spc="-10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800" spc="-5" dirty="0">
                <a:latin typeface="宋体"/>
                <a:cs typeface="宋体"/>
              </a:rPr>
              <a:t>构件与类之间的关系：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宋体"/>
              <a:cs typeface="宋体"/>
            </a:endParaRPr>
          </a:p>
          <a:p>
            <a:pPr marR="1383665" algn="ctr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X.dll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1705" y="1408435"/>
            <a:ext cx="7131684" cy="301307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800" dirty="0">
                <a:latin typeface="宋体"/>
                <a:cs typeface="宋体"/>
              </a:rPr>
              <a:t>•</a:t>
            </a:r>
            <a:r>
              <a:rPr sz="2800" spc="-2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类表示逻辑抽象，</a:t>
            </a:r>
            <a:r>
              <a:rPr sz="2800" dirty="0">
                <a:latin typeface="宋体"/>
                <a:cs typeface="宋体"/>
              </a:rPr>
              <a:t>是</a:t>
            </a:r>
            <a:r>
              <a:rPr sz="2800" spc="-5" dirty="0">
                <a:solidFill>
                  <a:srgbClr val="00B86D"/>
                </a:solidFill>
                <a:latin typeface="宋体"/>
                <a:cs typeface="宋体"/>
              </a:rPr>
              <a:t>逻辑模块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  <a:buChar char="•"/>
              <a:tabLst>
                <a:tab pos="369570" algn="l"/>
              </a:tabLst>
            </a:pPr>
            <a:r>
              <a:rPr sz="2800" spc="-10" dirty="0">
                <a:latin typeface="宋体"/>
                <a:cs typeface="宋体"/>
              </a:rPr>
              <a:t>构件表示机器空间中</a:t>
            </a:r>
            <a:r>
              <a:rPr sz="2800" spc="-5" dirty="0">
                <a:latin typeface="宋体"/>
                <a:cs typeface="宋体"/>
              </a:rPr>
              <a:t>的</a:t>
            </a:r>
            <a:r>
              <a:rPr sz="2800" spc="-10" dirty="0">
                <a:solidFill>
                  <a:srgbClr val="00B86D"/>
                </a:solidFill>
                <a:latin typeface="宋体"/>
                <a:cs typeface="宋体"/>
              </a:rPr>
              <a:t>物理模块</a:t>
            </a:r>
            <a:r>
              <a:rPr sz="2800" spc="-5" dirty="0">
                <a:latin typeface="宋体"/>
                <a:cs typeface="宋体"/>
              </a:rPr>
              <a:t>，是逻辑元 素及协作关系的物理实现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dirty="0">
                <a:latin typeface="宋体"/>
                <a:cs typeface="宋体"/>
              </a:rPr>
              <a:t>•</a:t>
            </a:r>
            <a:r>
              <a:rPr sz="2800" spc="-2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类有属性和操作</a:t>
            </a:r>
            <a:endParaRPr sz="2800">
              <a:latin typeface="宋体"/>
              <a:cs typeface="宋体"/>
            </a:endParaRPr>
          </a:p>
          <a:p>
            <a:pPr marL="368935" indent="-356870">
              <a:lnSpc>
                <a:spcPct val="100000"/>
              </a:lnSpc>
              <a:spcBef>
                <a:spcPts val="1680"/>
              </a:spcBef>
              <a:buChar char="•"/>
              <a:tabLst>
                <a:tab pos="369570" algn="l"/>
              </a:tabLst>
            </a:pPr>
            <a:r>
              <a:rPr sz="2800" spc="-5" dirty="0">
                <a:latin typeface="宋体"/>
                <a:cs typeface="宋体"/>
              </a:rPr>
              <a:t>构件仅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通过接口向外提供可请求的操作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81376" y="204596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构件与类差别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8324" y="2799588"/>
            <a:ext cx="1752600" cy="710565"/>
          </a:xfrm>
          <a:custGeom>
            <a:avLst/>
            <a:gdLst/>
            <a:ahLst/>
            <a:cxnLst/>
            <a:rect l="l" t="t" r="r" b="b"/>
            <a:pathLst>
              <a:path w="1752600" h="710564">
                <a:moveTo>
                  <a:pt x="0" y="710184"/>
                </a:moveTo>
                <a:lnTo>
                  <a:pt x="1752600" y="710184"/>
                </a:lnTo>
                <a:lnTo>
                  <a:pt x="1752600" y="0"/>
                </a:lnTo>
                <a:lnTo>
                  <a:pt x="0" y="0"/>
                </a:lnTo>
                <a:lnTo>
                  <a:pt x="0" y="710184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63421" y="3007867"/>
            <a:ext cx="10363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ag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.j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va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123" y="3256788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1123" y="3256788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1123" y="2951988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5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1123" y="2951988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5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97523" y="2799588"/>
            <a:ext cx="1905000" cy="710565"/>
          </a:xfrm>
          <a:custGeom>
            <a:avLst/>
            <a:gdLst/>
            <a:ahLst/>
            <a:cxnLst/>
            <a:rect l="l" t="t" r="r" b="b"/>
            <a:pathLst>
              <a:path w="1905000" h="710564">
                <a:moveTo>
                  <a:pt x="0" y="710184"/>
                </a:moveTo>
                <a:lnTo>
                  <a:pt x="1905000" y="710184"/>
                </a:lnTo>
                <a:lnTo>
                  <a:pt x="1905000" y="0"/>
                </a:lnTo>
                <a:lnTo>
                  <a:pt x="0" y="0"/>
                </a:lnTo>
                <a:lnTo>
                  <a:pt x="0" y="71018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41185" y="3007867"/>
            <a:ext cx="1481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component</a:t>
            </a:r>
            <a:r>
              <a:rPr sz="1800" spc="5" dirty="0">
                <a:latin typeface="Times New Roman"/>
                <a:cs typeface="Times New Roman"/>
              </a:rPr>
              <a:t>.</a:t>
            </a:r>
            <a:r>
              <a:rPr sz="1800" dirty="0">
                <a:latin typeface="Times New Roman"/>
                <a:cs typeface="Times New Roman"/>
              </a:rPr>
              <a:t>j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va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40323" y="3256788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40323" y="3256788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40323" y="2951988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5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40323" y="2951988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5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16323" y="30281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200582" y="7766"/>
                </a:lnTo>
                <a:lnTo>
                  <a:pt x="242419" y="29394"/>
                </a:lnTo>
                <a:lnTo>
                  <a:pt x="275405" y="62380"/>
                </a:lnTo>
                <a:lnTo>
                  <a:pt x="297033" y="104217"/>
                </a:lnTo>
                <a:lnTo>
                  <a:pt x="304800" y="152400"/>
                </a:lnTo>
                <a:lnTo>
                  <a:pt x="297033" y="200582"/>
                </a:lnTo>
                <a:lnTo>
                  <a:pt x="275405" y="242419"/>
                </a:lnTo>
                <a:lnTo>
                  <a:pt x="242419" y="275405"/>
                </a:lnTo>
                <a:lnTo>
                  <a:pt x="200582" y="297033"/>
                </a:lnTo>
                <a:lnTo>
                  <a:pt x="152400" y="304800"/>
                </a:lnTo>
                <a:lnTo>
                  <a:pt x="104217" y="297033"/>
                </a:lnTo>
                <a:lnTo>
                  <a:pt x="62380" y="275405"/>
                </a:lnTo>
                <a:lnTo>
                  <a:pt x="29394" y="242419"/>
                </a:lnTo>
                <a:lnTo>
                  <a:pt x="7766" y="200582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20923" y="3128898"/>
            <a:ext cx="1295400" cy="103505"/>
          </a:xfrm>
          <a:custGeom>
            <a:avLst/>
            <a:gdLst/>
            <a:ahLst/>
            <a:cxnLst/>
            <a:rect l="l" t="t" r="r" b="b"/>
            <a:pathLst>
              <a:path w="1295400" h="103505">
                <a:moveTo>
                  <a:pt x="50800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50800" y="58038"/>
                </a:lnTo>
                <a:lnTo>
                  <a:pt x="50800" y="45338"/>
                </a:lnTo>
                <a:close/>
              </a:path>
              <a:path w="1295400" h="103505">
                <a:moveTo>
                  <a:pt x="139700" y="45338"/>
                </a:moveTo>
                <a:lnTo>
                  <a:pt x="88900" y="45338"/>
                </a:lnTo>
                <a:lnTo>
                  <a:pt x="88900" y="58038"/>
                </a:lnTo>
                <a:lnTo>
                  <a:pt x="139700" y="58038"/>
                </a:lnTo>
                <a:lnTo>
                  <a:pt x="139700" y="45338"/>
                </a:lnTo>
                <a:close/>
              </a:path>
              <a:path w="1295400" h="103505">
                <a:moveTo>
                  <a:pt x="228600" y="45338"/>
                </a:moveTo>
                <a:lnTo>
                  <a:pt x="177800" y="45338"/>
                </a:lnTo>
                <a:lnTo>
                  <a:pt x="177800" y="58038"/>
                </a:lnTo>
                <a:lnTo>
                  <a:pt x="228600" y="58038"/>
                </a:lnTo>
                <a:lnTo>
                  <a:pt x="228600" y="45338"/>
                </a:lnTo>
                <a:close/>
              </a:path>
              <a:path w="1295400" h="103505">
                <a:moveTo>
                  <a:pt x="317500" y="45338"/>
                </a:moveTo>
                <a:lnTo>
                  <a:pt x="266700" y="45338"/>
                </a:lnTo>
                <a:lnTo>
                  <a:pt x="266700" y="58038"/>
                </a:lnTo>
                <a:lnTo>
                  <a:pt x="317500" y="58038"/>
                </a:lnTo>
                <a:lnTo>
                  <a:pt x="317500" y="45338"/>
                </a:lnTo>
                <a:close/>
              </a:path>
              <a:path w="1295400" h="103505">
                <a:moveTo>
                  <a:pt x="406400" y="45338"/>
                </a:moveTo>
                <a:lnTo>
                  <a:pt x="355600" y="45338"/>
                </a:lnTo>
                <a:lnTo>
                  <a:pt x="355600" y="58038"/>
                </a:lnTo>
                <a:lnTo>
                  <a:pt x="406400" y="58038"/>
                </a:lnTo>
                <a:lnTo>
                  <a:pt x="406400" y="45338"/>
                </a:lnTo>
                <a:close/>
              </a:path>
              <a:path w="1295400" h="103505">
                <a:moveTo>
                  <a:pt x="495300" y="45338"/>
                </a:moveTo>
                <a:lnTo>
                  <a:pt x="444500" y="45338"/>
                </a:lnTo>
                <a:lnTo>
                  <a:pt x="444500" y="58038"/>
                </a:lnTo>
                <a:lnTo>
                  <a:pt x="495300" y="58038"/>
                </a:lnTo>
                <a:lnTo>
                  <a:pt x="495300" y="45338"/>
                </a:lnTo>
                <a:close/>
              </a:path>
              <a:path w="1295400" h="103505">
                <a:moveTo>
                  <a:pt x="584200" y="45338"/>
                </a:moveTo>
                <a:lnTo>
                  <a:pt x="533400" y="45338"/>
                </a:lnTo>
                <a:lnTo>
                  <a:pt x="533400" y="58038"/>
                </a:lnTo>
                <a:lnTo>
                  <a:pt x="584200" y="58038"/>
                </a:lnTo>
                <a:lnTo>
                  <a:pt x="584200" y="45338"/>
                </a:lnTo>
                <a:close/>
              </a:path>
              <a:path w="1295400" h="103505">
                <a:moveTo>
                  <a:pt x="673100" y="45338"/>
                </a:moveTo>
                <a:lnTo>
                  <a:pt x="622300" y="45338"/>
                </a:lnTo>
                <a:lnTo>
                  <a:pt x="622300" y="58038"/>
                </a:lnTo>
                <a:lnTo>
                  <a:pt x="673100" y="58038"/>
                </a:lnTo>
                <a:lnTo>
                  <a:pt x="673100" y="45338"/>
                </a:lnTo>
                <a:close/>
              </a:path>
              <a:path w="1295400" h="103505">
                <a:moveTo>
                  <a:pt x="762000" y="45338"/>
                </a:moveTo>
                <a:lnTo>
                  <a:pt x="711200" y="45338"/>
                </a:lnTo>
                <a:lnTo>
                  <a:pt x="711200" y="58038"/>
                </a:lnTo>
                <a:lnTo>
                  <a:pt x="762000" y="58038"/>
                </a:lnTo>
                <a:lnTo>
                  <a:pt x="762000" y="45338"/>
                </a:lnTo>
                <a:close/>
              </a:path>
              <a:path w="1295400" h="103505">
                <a:moveTo>
                  <a:pt x="850900" y="45338"/>
                </a:moveTo>
                <a:lnTo>
                  <a:pt x="800100" y="45338"/>
                </a:lnTo>
                <a:lnTo>
                  <a:pt x="800100" y="58038"/>
                </a:lnTo>
                <a:lnTo>
                  <a:pt x="850900" y="58038"/>
                </a:lnTo>
                <a:lnTo>
                  <a:pt x="850900" y="45338"/>
                </a:lnTo>
                <a:close/>
              </a:path>
              <a:path w="1295400" h="103505">
                <a:moveTo>
                  <a:pt x="939800" y="45338"/>
                </a:moveTo>
                <a:lnTo>
                  <a:pt x="889000" y="45338"/>
                </a:lnTo>
                <a:lnTo>
                  <a:pt x="889000" y="58038"/>
                </a:lnTo>
                <a:lnTo>
                  <a:pt x="939800" y="58038"/>
                </a:lnTo>
                <a:lnTo>
                  <a:pt x="939800" y="45338"/>
                </a:lnTo>
                <a:close/>
              </a:path>
              <a:path w="1295400" h="103505">
                <a:moveTo>
                  <a:pt x="1028700" y="45338"/>
                </a:moveTo>
                <a:lnTo>
                  <a:pt x="977900" y="45338"/>
                </a:lnTo>
                <a:lnTo>
                  <a:pt x="977900" y="58038"/>
                </a:lnTo>
                <a:lnTo>
                  <a:pt x="1028700" y="58038"/>
                </a:lnTo>
                <a:lnTo>
                  <a:pt x="1028700" y="45338"/>
                </a:lnTo>
                <a:close/>
              </a:path>
              <a:path w="1295400" h="103505">
                <a:moveTo>
                  <a:pt x="1117600" y="45338"/>
                </a:moveTo>
                <a:lnTo>
                  <a:pt x="1066800" y="45338"/>
                </a:lnTo>
                <a:lnTo>
                  <a:pt x="1066800" y="58038"/>
                </a:lnTo>
                <a:lnTo>
                  <a:pt x="1117600" y="58038"/>
                </a:lnTo>
                <a:lnTo>
                  <a:pt x="1117600" y="45338"/>
                </a:lnTo>
                <a:close/>
              </a:path>
              <a:path w="1295400" h="103505">
                <a:moveTo>
                  <a:pt x="1270290" y="51688"/>
                </a:moveTo>
                <a:lnTo>
                  <a:pt x="1200403" y="92455"/>
                </a:lnTo>
                <a:lnTo>
                  <a:pt x="1199388" y="96265"/>
                </a:lnTo>
                <a:lnTo>
                  <a:pt x="1202943" y="102362"/>
                </a:lnTo>
                <a:lnTo>
                  <a:pt x="1206753" y="103377"/>
                </a:lnTo>
                <a:lnTo>
                  <a:pt x="1284509" y="58038"/>
                </a:lnTo>
                <a:lnTo>
                  <a:pt x="1282827" y="58038"/>
                </a:lnTo>
                <a:lnTo>
                  <a:pt x="1282827" y="57150"/>
                </a:lnTo>
                <a:lnTo>
                  <a:pt x="1279652" y="57150"/>
                </a:lnTo>
                <a:lnTo>
                  <a:pt x="1270290" y="51688"/>
                </a:lnTo>
                <a:close/>
              </a:path>
              <a:path w="1295400" h="103505">
                <a:moveTo>
                  <a:pt x="1206500" y="45338"/>
                </a:moveTo>
                <a:lnTo>
                  <a:pt x="1155700" y="45338"/>
                </a:lnTo>
                <a:lnTo>
                  <a:pt x="1155700" y="58038"/>
                </a:lnTo>
                <a:lnTo>
                  <a:pt x="1206500" y="58038"/>
                </a:lnTo>
                <a:lnTo>
                  <a:pt x="1206500" y="45338"/>
                </a:lnTo>
                <a:close/>
              </a:path>
              <a:path w="1295400" h="103505">
                <a:moveTo>
                  <a:pt x="1259404" y="45338"/>
                </a:moveTo>
                <a:lnTo>
                  <a:pt x="1244600" y="45338"/>
                </a:lnTo>
                <a:lnTo>
                  <a:pt x="1244600" y="58038"/>
                </a:lnTo>
                <a:lnTo>
                  <a:pt x="1259404" y="58038"/>
                </a:lnTo>
                <a:lnTo>
                  <a:pt x="1270290" y="51688"/>
                </a:lnTo>
                <a:lnTo>
                  <a:pt x="1259404" y="45338"/>
                </a:lnTo>
                <a:close/>
              </a:path>
              <a:path w="1295400" h="103505">
                <a:moveTo>
                  <a:pt x="1284509" y="45338"/>
                </a:moveTo>
                <a:lnTo>
                  <a:pt x="1282827" y="45338"/>
                </a:lnTo>
                <a:lnTo>
                  <a:pt x="1282827" y="58038"/>
                </a:lnTo>
                <a:lnTo>
                  <a:pt x="1284509" y="58038"/>
                </a:lnTo>
                <a:lnTo>
                  <a:pt x="1295400" y="51688"/>
                </a:lnTo>
                <a:lnTo>
                  <a:pt x="1284509" y="45338"/>
                </a:lnTo>
                <a:close/>
              </a:path>
              <a:path w="1295400" h="103505">
                <a:moveTo>
                  <a:pt x="1279652" y="46227"/>
                </a:moveTo>
                <a:lnTo>
                  <a:pt x="1270290" y="51688"/>
                </a:lnTo>
                <a:lnTo>
                  <a:pt x="1279652" y="57150"/>
                </a:lnTo>
                <a:lnTo>
                  <a:pt x="1279652" y="46227"/>
                </a:lnTo>
                <a:close/>
              </a:path>
              <a:path w="1295400" h="103505">
                <a:moveTo>
                  <a:pt x="1282827" y="46227"/>
                </a:moveTo>
                <a:lnTo>
                  <a:pt x="1279652" y="46227"/>
                </a:lnTo>
                <a:lnTo>
                  <a:pt x="1279652" y="57150"/>
                </a:lnTo>
                <a:lnTo>
                  <a:pt x="1282827" y="57150"/>
                </a:lnTo>
                <a:lnTo>
                  <a:pt x="1282827" y="46227"/>
                </a:lnTo>
                <a:close/>
              </a:path>
              <a:path w="1295400" h="103505">
                <a:moveTo>
                  <a:pt x="1206753" y="0"/>
                </a:moveTo>
                <a:lnTo>
                  <a:pt x="1202943" y="1015"/>
                </a:lnTo>
                <a:lnTo>
                  <a:pt x="1199388" y="7112"/>
                </a:lnTo>
                <a:lnTo>
                  <a:pt x="1200403" y="10922"/>
                </a:lnTo>
                <a:lnTo>
                  <a:pt x="1270290" y="51688"/>
                </a:lnTo>
                <a:lnTo>
                  <a:pt x="1279652" y="46227"/>
                </a:lnTo>
                <a:lnTo>
                  <a:pt x="1282827" y="46227"/>
                </a:lnTo>
                <a:lnTo>
                  <a:pt x="1282827" y="45338"/>
                </a:lnTo>
                <a:lnTo>
                  <a:pt x="1284509" y="45338"/>
                </a:lnTo>
                <a:lnTo>
                  <a:pt x="12067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21123" y="3180588"/>
            <a:ext cx="1676400" cy="0"/>
          </a:xfrm>
          <a:custGeom>
            <a:avLst/>
            <a:gdLst/>
            <a:ahLst/>
            <a:cxnLst/>
            <a:rect l="l" t="t" r="r" b="b"/>
            <a:pathLst>
              <a:path w="1676400">
                <a:moveTo>
                  <a:pt x="0" y="0"/>
                </a:moveTo>
                <a:lnTo>
                  <a:pt x="1676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86098" y="3434918"/>
            <a:ext cx="14344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ImageObserver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66800" y="4349496"/>
            <a:ext cx="1752600" cy="710565"/>
          </a:xfrm>
          <a:custGeom>
            <a:avLst/>
            <a:gdLst/>
            <a:ahLst/>
            <a:cxnLst/>
            <a:rect l="l" t="t" r="r" b="b"/>
            <a:pathLst>
              <a:path w="1752600" h="710564">
                <a:moveTo>
                  <a:pt x="0" y="710183"/>
                </a:moveTo>
                <a:lnTo>
                  <a:pt x="1752600" y="710183"/>
                </a:lnTo>
                <a:lnTo>
                  <a:pt x="1752600" y="0"/>
                </a:lnTo>
                <a:lnTo>
                  <a:pt x="0" y="0"/>
                </a:lnTo>
                <a:lnTo>
                  <a:pt x="0" y="71018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461897" y="4558410"/>
            <a:ext cx="10363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ag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.j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va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9600" y="4806696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7" y="153923"/>
                </a:lnTo>
                <a:lnTo>
                  <a:pt x="787907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9600" y="4806696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7" y="153923"/>
                </a:lnTo>
                <a:lnTo>
                  <a:pt x="787907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9600" y="4501896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7" y="153923"/>
                </a:lnTo>
                <a:lnTo>
                  <a:pt x="787907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9600" y="4501896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7" y="153923"/>
                </a:lnTo>
                <a:lnTo>
                  <a:pt x="787907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76600" y="4145279"/>
            <a:ext cx="2438400" cy="1475740"/>
          </a:xfrm>
          <a:custGeom>
            <a:avLst/>
            <a:gdLst/>
            <a:ahLst/>
            <a:cxnLst/>
            <a:rect l="l" t="t" r="r" b="b"/>
            <a:pathLst>
              <a:path w="2438400" h="1475739">
                <a:moveTo>
                  <a:pt x="0" y="1475232"/>
                </a:moveTo>
                <a:lnTo>
                  <a:pt x="2438400" y="1475232"/>
                </a:lnTo>
                <a:lnTo>
                  <a:pt x="2438400" y="0"/>
                </a:lnTo>
                <a:lnTo>
                  <a:pt x="0" y="0"/>
                </a:lnTo>
                <a:lnTo>
                  <a:pt x="0" y="1475232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76600" y="4145279"/>
            <a:ext cx="2438400" cy="5791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2075" marR="929640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latin typeface="Times New Roman"/>
                <a:cs typeface="Times New Roman"/>
              </a:rPr>
              <a:t>&lt;&lt;interface&gt;&gt;  I</a:t>
            </a:r>
            <a:r>
              <a:rPr sz="1800" spc="-10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ag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Ob</a:t>
            </a:r>
            <a:r>
              <a:rPr sz="1800" spc="-1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erver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76600" y="4724400"/>
            <a:ext cx="2438400" cy="89661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92075" marR="139065">
              <a:lnSpc>
                <a:spcPct val="100000"/>
              </a:lnSpc>
              <a:spcBef>
                <a:spcPts val="65"/>
              </a:spcBef>
            </a:pPr>
            <a:r>
              <a:rPr sz="1800" dirty="0">
                <a:latin typeface="Times New Roman"/>
                <a:cs typeface="Times New Roman"/>
              </a:rPr>
              <a:t>abort:int{final static}  error:int{final static}  imageUpdat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():Boo</a:t>
            </a:r>
            <a:r>
              <a:rPr sz="1800" spc="5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705600" y="4425696"/>
            <a:ext cx="1905000" cy="710565"/>
          </a:xfrm>
          <a:custGeom>
            <a:avLst/>
            <a:gdLst/>
            <a:ahLst/>
            <a:cxnLst/>
            <a:rect l="l" t="t" r="r" b="b"/>
            <a:pathLst>
              <a:path w="1905000" h="710564">
                <a:moveTo>
                  <a:pt x="0" y="710183"/>
                </a:moveTo>
                <a:lnTo>
                  <a:pt x="1905000" y="710183"/>
                </a:lnTo>
                <a:lnTo>
                  <a:pt x="1905000" y="0"/>
                </a:lnTo>
                <a:lnTo>
                  <a:pt x="0" y="0"/>
                </a:lnTo>
                <a:lnTo>
                  <a:pt x="0" y="71018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049261" y="4634610"/>
            <a:ext cx="1481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component</a:t>
            </a:r>
            <a:r>
              <a:rPr sz="1800" spc="5" dirty="0">
                <a:latin typeface="Times New Roman"/>
                <a:cs typeface="Times New Roman"/>
              </a:rPr>
              <a:t>.</a:t>
            </a:r>
            <a:r>
              <a:rPr sz="1800" dirty="0">
                <a:latin typeface="Times New Roman"/>
                <a:cs typeface="Times New Roman"/>
              </a:rPr>
              <a:t>j</a:t>
            </a:r>
            <a:r>
              <a:rPr sz="1800" spc="5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va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248400" y="4882896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4" h="154304">
                <a:moveTo>
                  <a:pt x="0" y="153923"/>
                </a:moveTo>
                <a:lnTo>
                  <a:pt x="787907" y="153923"/>
                </a:lnTo>
                <a:lnTo>
                  <a:pt x="787907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248400" y="4882896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4" h="154304">
                <a:moveTo>
                  <a:pt x="0" y="153923"/>
                </a:moveTo>
                <a:lnTo>
                  <a:pt x="787907" y="153923"/>
                </a:lnTo>
                <a:lnTo>
                  <a:pt x="787907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48400" y="4578096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4" h="154304">
                <a:moveTo>
                  <a:pt x="0" y="153923"/>
                </a:moveTo>
                <a:lnTo>
                  <a:pt x="787907" y="153923"/>
                </a:lnTo>
                <a:lnTo>
                  <a:pt x="787907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248400" y="4578096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4" h="154304">
                <a:moveTo>
                  <a:pt x="0" y="153923"/>
                </a:moveTo>
                <a:lnTo>
                  <a:pt x="787907" y="153923"/>
                </a:lnTo>
                <a:lnTo>
                  <a:pt x="787907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819400" y="4748910"/>
            <a:ext cx="457200" cy="103505"/>
          </a:xfrm>
          <a:custGeom>
            <a:avLst/>
            <a:gdLst/>
            <a:ahLst/>
            <a:cxnLst/>
            <a:rect l="l" t="t" r="r" b="b"/>
            <a:pathLst>
              <a:path w="457200" h="103504">
                <a:moveTo>
                  <a:pt x="50800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50800" y="58038"/>
                </a:lnTo>
                <a:lnTo>
                  <a:pt x="50800" y="45338"/>
                </a:lnTo>
                <a:close/>
              </a:path>
              <a:path w="457200" h="103504">
                <a:moveTo>
                  <a:pt x="139700" y="45338"/>
                </a:moveTo>
                <a:lnTo>
                  <a:pt x="88900" y="45338"/>
                </a:lnTo>
                <a:lnTo>
                  <a:pt x="88900" y="58038"/>
                </a:lnTo>
                <a:lnTo>
                  <a:pt x="139700" y="58038"/>
                </a:lnTo>
                <a:lnTo>
                  <a:pt x="139700" y="45338"/>
                </a:lnTo>
                <a:close/>
              </a:path>
              <a:path w="457200" h="103504">
                <a:moveTo>
                  <a:pt x="228600" y="45338"/>
                </a:moveTo>
                <a:lnTo>
                  <a:pt x="177800" y="45338"/>
                </a:lnTo>
                <a:lnTo>
                  <a:pt x="177800" y="58038"/>
                </a:lnTo>
                <a:lnTo>
                  <a:pt x="228600" y="58038"/>
                </a:lnTo>
                <a:lnTo>
                  <a:pt x="228600" y="45338"/>
                </a:lnTo>
                <a:close/>
              </a:path>
              <a:path w="457200" h="103504">
                <a:moveTo>
                  <a:pt x="317500" y="45338"/>
                </a:moveTo>
                <a:lnTo>
                  <a:pt x="266700" y="45338"/>
                </a:lnTo>
                <a:lnTo>
                  <a:pt x="266700" y="58038"/>
                </a:lnTo>
                <a:lnTo>
                  <a:pt x="317500" y="58038"/>
                </a:lnTo>
                <a:lnTo>
                  <a:pt x="317500" y="45338"/>
                </a:lnTo>
                <a:close/>
              </a:path>
              <a:path w="457200" h="103504">
                <a:moveTo>
                  <a:pt x="432090" y="51688"/>
                </a:moveTo>
                <a:lnTo>
                  <a:pt x="362204" y="92456"/>
                </a:lnTo>
                <a:lnTo>
                  <a:pt x="361188" y="96265"/>
                </a:lnTo>
                <a:lnTo>
                  <a:pt x="364744" y="102362"/>
                </a:lnTo>
                <a:lnTo>
                  <a:pt x="368554" y="103377"/>
                </a:lnTo>
                <a:lnTo>
                  <a:pt x="446309" y="58038"/>
                </a:lnTo>
                <a:lnTo>
                  <a:pt x="444500" y="58038"/>
                </a:lnTo>
                <a:lnTo>
                  <a:pt x="444500" y="57150"/>
                </a:lnTo>
                <a:lnTo>
                  <a:pt x="441451" y="57150"/>
                </a:lnTo>
                <a:lnTo>
                  <a:pt x="432090" y="51688"/>
                </a:lnTo>
                <a:close/>
              </a:path>
              <a:path w="457200" h="103504">
                <a:moveTo>
                  <a:pt x="406400" y="45338"/>
                </a:moveTo>
                <a:lnTo>
                  <a:pt x="355600" y="45338"/>
                </a:lnTo>
                <a:lnTo>
                  <a:pt x="355600" y="58038"/>
                </a:lnTo>
                <a:lnTo>
                  <a:pt x="406400" y="58038"/>
                </a:lnTo>
                <a:lnTo>
                  <a:pt x="406400" y="45338"/>
                </a:lnTo>
                <a:close/>
              </a:path>
              <a:path w="457200" h="103504">
                <a:moveTo>
                  <a:pt x="444626" y="45338"/>
                </a:moveTo>
                <a:lnTo>
                  <a:pt x="444500" y="58038"/>
                </a:lnTo>
                <a:lnTo>
                  <a:pt x="444626" y="45338"/>
                </a:lnTo>
                <a:close/>
              </a:path>
              <a:path w="457200" h="103504">
                <a:moveTo>
                  <a:pt x="446309" y="45338"/>
                </a:moveTo>
                <a:lnTo>
                  <a:pt x="444626" y="45338"/>
                </a:lnTo>
                <a:lnTo>
                  <a:pt x="444626" y="58038"/>
                </a:lnTo>
                <a:lnTo>
                  <a:pt x="446309" y="58038"/>
                </a:lnTo>
                <a:lnTo>
                  <a:pt x="457200" y="51688"/>
                </a:lnTo>
                <a:lnTo>
                  <a:pt x="446309" y="45338"/>
                </a:lnTo>
                <a:close/>
              </a:path>
              <a:path w="457200" h="103504">
                <a:moveTo>
                  <a:pt x="441451" y="46227"/>
                </a:moveTo>
                <a:lnTo>
                  <a:pt x="432090" y="51688"/>
                </a:lnTo>
                <a:lnTo>
                  <a:pt x="441451" y="57150"/>
                </a:lnTo>
                <a:lnTo>
                  <a:pt x="441451" y="46227"/>
                </a:lnTo>
                <a:close/>
              </a:path>
              <a:path w="457200" h="103504">
                <a:moveTo>
                  <a:pt x="444500" y="46227"/>
                </a:moveTo>
                <a:lnTo>
                  <a:pt x="441451" y="46227"/>
                </a:lnTo>
                <a:lnTo>
                  <a:pt x="441451" y="57150"/>
                </a:lnTo>
                <a:lnTo>
                  <a:pt x="444500" y="57150"/>
                </a:lnTo>
                <a:lnTo>
                  <a:pt x="444500" y="46227"/>
                </a:lnTo>
                <a:close/>
              </a:path>
              <a:path w="457200" h="103504">
                <a:moveTo>
                  <a:pt x="368554" y="0"/>
                </a:moveTo>
                <a:lnTo>
                  <a:pt x="364744" y="1015"/>
                </a:lnTo>
                <a:lnTo>
                  <a:pt x="361188" y="7112"/>
                </a:lnTo>
                <a:lnTo>
                  <a:pt x="362204" y="10921"/>
                </a:lnTo>
                <a:lnTo>
                  <a:pt x="432090" y="51688"/>
                </a:lnTo>
                <a:lnTo>
                  <a:pt x="441451" y="46227"/>
                </a:lnTo>
                <a:lnTo>
                  <a:pt x="444500" y="46227"/>
                </a:lnTo>
                <a:lnTo>
                  <a:pt x="444500" y="45338"/>
                </a:lnTo>
                <a:lnTo>
                  <a:pt x="446309" y="45338"/>
                </a:lnTo>
                <a:lnTo>
                  <a:pt x="3685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715000" y="4677028"/>
            <a:ext cx="229235" cy="306705"/>
          </a:xfrm>
          <a:custGeom>
            <a:avLst/>
            <a:gdLst/>
            <a:ahLst/>
            <a:cxnLst/>
            <a:rect l="l" t="t" r="r" b="b"/>
            <a:pathLst>
              <a:path w="229235" h="306704">
                <a:moveTo>
                  <a:pt x="228219" y="306324"/>
                </a:moveTo>
                <a:lnTo>
                  <a:pt x="0" y="152654"/>
                </a:lnTo>
                <a:lnTo>
                  <a:pt x="228980" y="0"/>
                </a:lnTo>
                <a:lnTo>
                  <a:pt x="228219" y="3063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43600" y="480060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90168" y="1110714"/>
            <a:ext cx="4996815" cy="1322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 marR="5080" indent="-1905">
              <a:lnSpc>
                <a:spcPct val="151800"/>
              </a:lnSpc>
              <a:spcBef>
                <a:spcPts val="105"/>
              </a:spcBef>
            </a:pPr>
            <a:r>
              <a:rPr sz="2800" spc="-10" dirty="0">
                <a:latin typeface="宋体"/>
                <a:cs typeface="宋体"/>
              </a:rPr>
              <a:t>构件接口是构件提供的操作集合 </a:t>
            </a:r>
            <a:r>
              <a:rPr sz="2800" spc="-5" dirty="0">
                <a:latin typeface="宋体"/>
                <a:cs typeface="宋体"/>
              </a:rPr>
              <a:t>构件之间接口的表示：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2870073" y="189102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构件的接口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3395" y="274142"/>
            <a:ext cx="5618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构件及构件接口表示法</a:t>
            </a:r>
          </a:p>
        </p:txBody>
      </p:sp>
      <p:sp>
        <p:nvSpPr>
          <p:cNvPr id="3" name="object 3"/>
          <p:cNvSpPr/>
          <p:nvPr/>
        </p:nvSpPr>
        <p:spPr>
          <a:xfrm>
            <a:off x="612648" y="1793251"/>
            <a:ext cx="5367528" cy="9064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72155" y="2924555"/>
            <a:ext cx="5832348" cy="32392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7597" y="167386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基本构件图</a:t>
            </a:r>
          </a:p>
        </p:txBody>
      </p:sp>
      <p:sp>
        <p:nvSpPr>
          <p:cNvPr id="3" name="object 3"/>
          <p:cNvSpPr/>
          <p:nvPr/>
        </p:nvSpPr>
        <p:spPr>
          <a:xfrm>
            <a:off x="1367027" y="1243583"/>
            <a:ext cx="6409944" cy="4370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9309" y="215900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嵌套构件图</a:t>
            </a:r>
          </a:p>
        </p:txBody>
      </p:sp>
      <p:sp>
        <p:nvSpPr>
          <p:cNvPr id="3" name="object 3"/>
          <p:cNvSpPr/>
          <p:nvPr/>
        </p:nvSpPr>
        <p:spPr>
          <a:xfrm>
            <a:off x="1042416" y="2133600"/>
            <a:ext cx="6380988" cy="34579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0385" y="215900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构件的种类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246378"/>
            <a:ext cx="7135495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0" indent="-2228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35585" algn="l"/>
              </a:tabLst>
            </a:pPr>
            <a:r>
              <a:rPr sz="2800" spc="-5" dirty="0">
                <a:latin typeface="宋体"/>
                <a:cs typeface="宋体"/>
              </a:rPr>
              <a:t>部署构件：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3290"/>
              </a:lnSpc>
              <a:spcBef>
                <a:spcPts val="145"/>
              </a:spcBef>
            </a:pPr>
            <a:r>
              <a:rPr sz="2800" spc="-5" dirty="0">
                <a:latin typeface="宋体"/>
                <a:cs typeface="宋体"/>
              </a:rPr>
              <a:t>可用于构造的执行系统，如：动态</a:t>
            </a:r>
            <a:r>
              <a:rPr sz="2800" dirty="0">
                <a:latin typeface="宋体"/>
                <a:cs typeface="宋体"/>
              </a:rPr>
              <a:t>连</a:t>
            </a:r>
            <a:r>
              <a:rPr sz="2800" spc="-5" dirty="0">
                <a:latin typeface="宋体"/>
                <a:cs typeface="宋体"/>
              </a:rPr>
              <a:t>接库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ts val="3290"/>
              </a:lnSpc>
            </a:pP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Arial"/>
                <a:cs typeface="Arial"/>
              </a:rPr>
              <a:t>DLL</a:t>
            </a:r>
            <a:r>
              <a:rPr sz="2800" spc="-5" dirty="0">
                <a:latin typeface="宋体"/>
                <a:cs typeface="宋体"/>
              </a:rPr>
              <a:t>）和可执行程序</a:t>
            </a:r>
            <a:r>
              <a:rPr sz="2800" spc="-10" dirty="0">
                <a:latin typeface="宋体"/>
                <a:cs typeface="宋体"/>
              </a:rPr>
              <a:t>（</a:t>
            </a:r>
            <a:r>
              <a:rPr sz="2800" spc="-10" dirty="0">
                <a:latin typeface="Arial"/>
                <a:cs typeface="Arial"/>
              </a:rPr>
              <a:t>EXE</a:t>
            </a:r>
            <a:r>
              <a:rPr sz="2800" spc="-10" dirty="0"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00">
              <a:latin typeface="宋体"/>
              <a:cs typeface="宋体"/>
            </a:endParaRPr>
          </a:p>
          <a:p>
            <a:pPr marL="234950" indent="-222885">
              <a:lnSpc>
                <a:spcPct val="100000"/>
              </a:lnSpc>
              <a:buFont typeface="Arial"/>
              <a:buChar char="•"/>
              <a:tabLst>
                <a:tab pos="235585" algn="l"/>
              </a:tabLst>
            </a:pPr>
            <a:r>
              <a:rPr sz="2800" spc="-10" dirty="0">
                <a:latin typeface="宋体"/>
                <a:cs typeface="宋体"/>
              </a:rPr>
              <a:t>产品构件：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ts val="3220"/>
              </a:lnSpc>
              <a:spcBef>
                <a:spcPts val="370"/>
              </a:spcBef>
            </a:pPr>
            <a:r>
              <a:rPr sz="2800" spc="-5" dirty="0">
                <a:latin typeface="宋体"/>
                <a:cs typeface="宋体"/>
              </a:rPr>
              <a:t>开发过程的产物，包括创建部署构</a:t>
            </a:r>
            <a:r>
              <a:rPr sz="2800" spc="5" dirty="0">
                <a:latin typeface="宋体"/>
                <a:cs typeface="宋体"/>
              </a:rPr>
              <a:t>件</a:t>
            </a:r>
            <a:r>
              <a:rPr sz="2800" spc="-5" dirty="0">
                <a:latin typeface="宋体"/>
                <a:cs typeface="宋体"/>
              </a:rPr>
              <a:t>的源</a:t>
            </a:r>
            <a:r>
              <a:rPr sz="2800" spc="5" dirty="0">
                <a:latin typeface="宋体"/>
                <a:cs typeface="宋体"/>
              </a:rPr>
              <a:t>代</a:t>
            </a:r>
            <a:r>
              <a:rPr sz="2800" spc="-5" dirty="0">
                <a:latin typeface="宋体"/>
                <a:cs typeface="宋体"/>
              </a:rPr>
              <a:t>码 文件及数据文件等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宋体"/>
              <a:cs typeface="宋体"/>
            </a:endParaRPr>
          </a:p>
          <a:p>
            <a:pPr marL="137795" indent="-125730">
              <a:lnSpc>
                <a:spcPct val="100000"/>
              </a:lnSpc>
              <a:buFont typeface="Arial"/>
              <a:buChar char="•"/>
              <a:tabLst>
                <a:tab pos="138430" algn="l"/>
              </a:tabLst>
            </a:pPr>
            <a:r>
              <a:rPr sz="2800" spc="-5" dirty="0">
                <a:latin typeface="宋体"/>
                <a:cs typeface="宋体"/>
              </a:rPr>
              <a:t>可执行构件：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由执行系统创建的构件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1376" y="231724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产品构件建模</a:t>
            </a:r>
          </a:p>
        </p:txBody>
      </p:sp>
      <p:sp>
        <p:nvSpPr>
          <p:cNvPr id="3" name="object 3"/>
          <p:cNvSpPr/>
          <p:nvPr/>
        </p:nvSpPr>
        <p:spPr>
          <a:xfrm>
            <a:off x="1926335" y="3407664"/>
            <a:ext cx="2286000" cy="835660"/>
          </a:xfrm>
          <a:custGeom>
            <a:avLst/>
            <a:gdLst/>
            <a:ahLst/>
            <a:cxnLst/>
            <a:rect l="l" t="t" r="r" b="b"/>
            <a:pathLst>
              <a:path w="2286000" h="835660">
                <a:moveTo>
                  <a:pt x="0" y="835152"/>
                </a:moveTo>
                <a:lnTo>
                  <a:pt x="2286000" y="835152"/>
                </a:lnTo>
                <a:lnTo>
                  <a:pt x="2286000" y="0"/>
                </a:lnTo>
                <a:lnTo>
                  <a:pt x="0" y="0"/>
                </a:lnTo>
                <a:lnTo>
                  <a:pt x="0" y="8351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17622" y="3473577"/>
            <a:ext cx="585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Bil</a:t>
            </a:r>
            <a:r>
              <a:rPr sz="1800" b="1" spc="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.h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7561" y="3773804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{</a:t>
            </a:r>
            <a:r>
              <a:rPr sz="1800" b="1" spc="-50" dirty="0">
                <a:latin typeface="Arial"/>
                <a:cs typeface="Arial"/>
              </a:rPr>
              <a:t>v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15" dirty="0">
                <a:latin typeface="Arial"/>
                <a:cs typeface="Arial"/>
              </a:rPr>
              <a:t>r</a:t>
            </a:r>
            <a:r>
              <a:rPr sz="1800" b="1" dirty="0">
                <a:latin typeface="Arial"/>
                <a:cs typeface="Arial"/>
              </a:rPr>
              <a:t>sio</a:t>
            </a:r>
            <a:r>
              <a:rPr sz="1800" b="1" spc="5" dirty="0">
                <a:latin typeface="Arial"/>
                <a:cs typeface="Arial"/>
              </a:rPr>
              <a:t>n</a:t>
            </a:r>
            <a:r>
              <a:rPr sz="1800" b="1" spc="-5" dirty="0">
                <a:latin typeface="Arial"/>
                <a:cs typeface="Arial"/>
              </a:rPr>
              <a:t>=3.1}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9136" y="3864864"/>
            <a:ext cx="786765" cy="155575"/>
          </a:xfrm>
          <a:custGeom>
            <a:avLst/>
            <a:gdLst/>
            <a:ahLst/>
            <a:cxnLst/>
            <a:rect l="l" t="t" r="r" b="b"/>
            <a:pathLst>
              <a:path w="786764" h="155575">
                <a:moveTo>
                  <a:pt x="0" y="155448"/>
                </a:moveTo>
                <a:lnTo>
                  <a:pt x="786384" y="155448"/>
                </a:lnTo>
                <a:lnTo>
                  <a:pt x="786384" y="0"/>
                </a:lnTo>
                <a:lnTo>
                  <a:pt x="0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9136" y="3864864"/>
            <a:ext cx="786765" cy="155575"/>
          </a:xfrm>
          <a:custGeom>
            <a:avLst/>
            <a:gdLst/>
            <a:ahLst/>
            <a:cxnLst/>
            <a:rect l="l" t="t" r="r" b="b"/>
            <a:pathLst>
              <a:path w="786764" h="155575">
                <a:moveTo>
                  <a:pt x="0" y="155448"/>
                </a:moveTo>
                <a:lnTo>
                  <a:pt x="786384" y="155448"/>
                </a:lnTo>
                <a:lnTo>
                  <a:pt x="786384" y="0"/>
                </a:lnTo>
                <a:lnTo>
                  <a:pt x="0" y="0"/>
                </a:lnTo>
                <a:lnTo>
                  <a:pt x="0" y="1554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69136" y="3560064"/>
            <a:ext cx="786765" cy="155575"/>
          </a:xfrm>
          <a:custGeom>
            <a:avLst/>
            <a:gdLst/>
            <a:ahLst/>
            <a:cxnLst/>
            <a:rect l="l" t="t" r="r" b="b"/>
            <a:pathLst>
              <a:path w="786764" h="155575">
                <a:moveTo>
                  <a:pt x="0" y="155448"/>
                </a:moveTo>
                <a:lnTo>
                  <a:pt x="786384" y="155448"/>
                </a:lnTo>
                <a:lnTo>
                  <a:pt x="786384" y="0"/>
                </a:lnTo>
                <a:lnTo>
                  <a:pt x="0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69136" y="3560064"/>
            <a:ext cx="786765" cy="155575"/>
          </a:xfrm>
          <a:custGeom>
            <a:avLst/>
            <a:gdLst/>
            <a:ahLst/>
            <a:cxnLst/>
            <a:rect l="l" t="t" r="r" b="b"/>
            <a:pathLst>
              <a:path w="786764" h="155575">
                <a:moveTo>
                  <a:pt x="0" y="155448"/>
                </a:moveTo>
                <a:lnTo>
                  <a:pt x="786384" y="155448"/>
                </a:lnTo>
                <a:lnTo>
                  <a:pt x="786384" y="0"/>
                </a:lnTo>
                <a:lnTo>
                  <a:pt x="0" y="0"/>
                </a:lnTo>
                <a:lnTo>
                  <a:pt x="0" y="1554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12535" y="3407664"/>
            <a:ext cx="2286000" cy="835660"/>
          </a:xfrm>
          <a:custGeom>
            <a:avLst/>
            <a:gdLst/>
            <a:ahLst/>
            <a:cxnLst/>
            <a:rect l="l" t="t" r="r" b="b"/>
            <a:pathLst>
              <a:path w="2286000" h="835660">
                <a:moveTo>
                  <a:pt x="0" y="835152"/>
                </a:moveTo>
                <a:lnTo>
                  <a:pt x="2286000" y="835152"/>
                </a:lnTo>
                <a:lnTo>
                  <a:pt x="2286000" y="0"/>
                </a:lnTo>
                <a:lnTo>
                  <a:pt x="0" y="0"/>
                </a:lnTo>
                <a:lnTo>
                  <a:pt x="0" y="8351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70344" y="3473577"/>
            <a:ext cx="8521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Bil</a:t>
            </a:r>
            <a:r>
              <a:rPr sz="1800" b="1" spc="5" dirty="0"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.cpp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24396" y="3773804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{</a:t>
            </a:r>
            <a:r>
              <a:rPr sz="1800" b="1" spc="-50" dirty="0">
                <a:latin typeface="Arial"/>
                <a:cs typeface="Arial"/>
              </a:rPr>
              <a:t>v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15" dirty="0">
                <a:latin typeface="Arial"/>
                <a:cs typeface="Arial"/>
              </a:rPr>
              <a:t>r</a:t>
            </a:r>
            <a:r>
              <a:rPr sz="1800" b="1" dirty="0">
                <a:latin typeface="Arial"/>
                <a:cs typeface="Arial"/>
              </a:rPr>
              <a:t>sio</a:t>
            </a:r>
            <a:r>
              <a:rPr sz="1800" b="1" spc="5" dirty="0">
                <a:latin typeface="Arial"/>
                <a:cs typeface="Arial"/>
              </a:rPr>
              <a:t>n</a:t>
            </a:r>
            <a:r>
              <a:rPr sz="1800" b="1" spc="-5" dirty="0">
                <a:latin typeface="Arial"/>
                <a:cs typeface="Arial"/>
              </a:rPr>
              <a:t>=3.2}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55335" y="3864864"/>
            <a:ext cx="786765" cy="155575"/>
          </a:xfrm>
          <a:custGeom>
            <a:avLst/>
            <a:gdLst/>
            <a:ahLst/>
            <a:cxnLst/>
            <a:rect l="l" t="t" r="r" b="b"/>
            <a:pathLst>
              <a:path w="786764" h="155575">
                <a:moveTo>
                  <a:pt x="0" y="155448"/>
                </a:moveTo>
                <a:lnTo>
                  <a:pt x="786384" y="155448"/>
                </a:lnTo>
                <a:lnTo>
                  <a:pt x="786384" y="0"/>
                </a:lnTo>
                <a:lnTo>
                  <a:pt x="0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55335" y="3864864"/>
            <a:ext cx="786765" cy="155575"/>
          </a:xfrm>
          <a:custGeom>
            <a:avLst/>
            <a:gdLst/>
            <a:ahLst/>
            <a:cxnLst/>
            <a:rect l="l" t="t" r="r" b="b"/>
            <a:pathLst>
              <a:path w="786764" h="155575">
                <a:moveTo>
                  <a:pt x="0" y="155448"/>
                </a:moveTo>
                <a:lnTo>
                  <a:pt x="786384" y="155448"/>
                </a:lnTo>
                <a:lnTo>
                  <a:pt x="786384" y="0"/>
                </a:lnTo>
                <a:lnTo>
                  <a:pt x="0" y="0"/>
                </a:lnTo>
                <a:lnTo>
                  <a:pt x="0" y="1554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55335" y="3560064"/>
            <a:ext cx="786765" cy="155575"/>
          </a:xfrm>
          <a:custGeom>
            <a:avLst/>
            <a:gdLst/>
            <a:ahLst/>
            <a:cxnLst/>
            <a:rect l="l" t="t" r="r" b="b"/>
            <a:pathLst>
              <a:path w="786764" h="155575">
                <a:moveTo>
                  <a:pt x="0" y="155448"/>
                </a:moveTo>
                <a:lnTo>
                  <a:pt x="786384" y="155448"/>
                </a:lnTo>
                <a:lnTo>
                  <a:pt x="786384" y="0"/>
                </a:lnTo>
                <a:lnTo>
                  <a:pt x="0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55335" y="3560064"/>
            <a:ext cx="786765" cy="155575"/>
          </a:xfrm>
          <a:custGeom>
            <a:avLst/>
            <a:gdLst/>
            <a:ahLst/>
            <a:cxnLst/>
            <a:rect l="l" t="t" r="r" b="b"/>
            <a:pathLst>
              <a:path w="786764" h="155575">
                <a:moveTo>
                  <a:pt x="0" y="155448"/>
                </a:moveTo>
                <a:lnTo>
                  <a:pt x="786384" y="155448"/>
                </a:lnTo>
                <a:lnTo>
                  <a:pt x="786384" y="0"/>
                </a:lnTo>
                <a:lnTo>
                  <a:pt x="0" y="0"/>
                </a:lnTo>
                <a:lnTo>
                  <a:pt x="0" y="1554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78735" y="4700015"/>
            <a:ext cx="2286000" cy="835660"/>
          </a:xfrm>
          <a:custGeom>
            <a:avLst/>
            <a:gdLst/>
            <a:ahLst/>
            <a:cxnLst/>
            <a:rect l="l" t="t" r="r" b="b"/>
            <a:pathLst>
              <a:path w="2286000" h="835660">
                <a:moveTo>
                  <a:pt x="0" y="835152"/>
                </a:moveTo>
                <a:lnTo>
                  <a:pt x="2286000" y="835152"/>
                </a:lnTo>
                <a:lnTo>
                  <a:pt x="2286000" y="0"/>
                </a:lnTo>
                <a:lnTo>
                  <a:pt x="0" y="0"/>
                </a:lnTo>
                <a:lnTo>
                  <a:pt x="0" y="8351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40838" y="4765929"/>
            <a:ext cx="1243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Arial"/>
                <a:cs typeface="Arial"/>
              </a:rPr>
              <a:t>customer.h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89961" y="5065852"/>
            <a:ext cx="14624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{version=4.1}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21536" y="5157215"/>
            <a:ext cx="786765" cy="154305"/>
          </a:xfrm>
          <a:custGeom>
            <a:avLst/>
            <a:gdLst/>
            <a:ahLst/>
            <a:cxnLst/>
            <a:rect l="l" t="t" r="r" b="b"/>
            <a:pathLst>
              <a:path w="786764" h="154304">
                <a:moveTo>
                  <a:pt x="0" y="153923"/>
                </a:moveTo>
                <a:lnTo>
                  <a:pt x="786384" y="153923"/>
                </a:lnTo>
                <a:lnTo>
                  <a:pt x="786384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21536" y="5157215"/>
            <a:ext cx="786765" cy="154305"/>
          </a:xfrm>
          <a:custGeom>
            <a:avLst/>
            <a:gdLst/>
            <a:ahLst/>
            <a:cxnLst/>
            <a:rect l="l" t="t" r="r" b="b"/>
            <a:pathLst>
              <a:path w="786764" h="154304">
                <a:moveTo>
                  <a:pt x="0" y="153923"/>
                </a:moveTo>
                <a:lnTo>
                  <a:pt x="786384" y="153923"/>
                </a:lnTo>
                <a:lnTo>
                  <a:pt x="786384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21536" y="4852415"/>
            <a:ext cx="786765" cy="154305"/>
          </a:xfrm>
          <a:custGeom>
            <a:avLst/>
            <a:gdLst/>
            <a:ahLst/>
            <a:cxnLst/>
            <a:rect l="l" t="t" r="r" b="b"/>
            <a:pathLst>
              <a:path w="786764" h="154304">
                <a:moveTo>
                  <a:pt x="0" y="153924"/>
                </a:moveTo>
                <a:lnTo>
                  <a:pt x="786384" y="153924"/>
                </a:lnTo>
                <a:lnTo>
                  <a:pt x="786384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21536" y="4852415"/>
            <a:ext cx="786765" cy="154305"/>
          </a:xfrm>
          <a:custGeom>
            <a:avLst/>
            <a:gdLst/>
            <a:ahLst/>
            <a:cxnLst/>
            <a:rect l="l" t="t" r="r" b="b"/>
            <a:pathLst>
              <a:path w="786764" h="154304">
                <a:moveTo>
                  <a:pt x="0" y="153924"/>
                </a:moveTo>
                <a:lnTo>
                  <a:pt x="786384" y="153924"/>
                </a:lnTo>
                <a:lnTo>
                  <a:pt x="786384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07735" y="4700015"/>
            <a:ext cx="2286000" cy="835660"/>
          </a:xfrm>
          <a:custGeom>
            <a:avLst/>
            <a:gdLst/>
            <a:ahLst/>
            <a:cxnLst/>
            <a:rect l="l" t="t" r="r" b="b"/>
            <a:pathLst>
              <a:path w="2286000" h="835660">
                <a:moveTo>
                  <a:pt x="0" y="835152"/>
                </a:moveTo>
                <a:lnTo>
                  <a:pt x="2286000" y="835152"/>
                </a:lnTo>
                <a:lnTo>
                  <a:pt x="2286000" y="0"/>
                </a:lnTo>
                <a:lnTo>
                  <a:pt x="0" y="0"/>
                </a:lnTo>
                <a:lnTo>
                  <a:pt x="0" y="8351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43269" y="4765929"/>
            <a:ext cx="699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item.h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19596" y="5065852"/>
            <a:ext cx="14624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{version=3.1}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50535" y="5157215"/>
            <a:ext cx="786765" cy="154305"/>
          </a:xfrm>
          <a:custGeom>
            <a:avLst/>
            <a:gdLst/>
            <a:ahLst/>
            <a:cxnLst/>
            <a:rect l="l" t="t" r="r" b="b"/>
            <a:pathLst>
              <a:path w="786764" h="154304">
                <a:moveTo>
                  <a:pt x="0" y="153923"/>
                </a:moveTo>
                <a:lnTo>
                  <a:pt x="786384" y="153923"/>
                </a:lnTo>
                <a:lnTo>
                  <a:pt x="786384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50535" y="5157215"/>
            <a:ext cx="786765" cy="154305"/>
          </a:xfrm>
          <a:custGeom>
            <a:avLst/>
            <a:gdLst/>
            <a:ahLst/>
            <a:cxnLst/>
            <a:rect l="l" t="t" r="r" b="b"/>
            <a:pathLst>
              <a:path w="786764" h="154304">
                <a:moveTo>
                  <a:pt x="0" y="153923"/>
                </a:moveTo>
                <a:lnTo>
                  <a:pt x="786384" y="153923"/>
                </a:lnTo>
                <a:lnTo>
                  <a:pt x="786384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050535" y="4852415"/>
            <a:ext cx="786765" cy="154305"/>
          </a:xfrm>
          <a:custGeom>
            <a:avLst/>
            <a:gdLst/>
            <a:ahLst/>
            <a:cxnLst/>
            <a:rect l="l" t="t" r="r" b="b"/>
            <a:pathLst>
              <a:path w="786764" h="154304">
                <a:moveTo>
                  <a:pt x="0" y="153924"/>
                </a:moveTo>
                <a:lnTo>
                  <a:pt x="786384" y="153924"/>
                </a:lnTo>
                <a:lnTo>
                  <a:pt x="786384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050535" y="4852415"/>
            <a:ext cx="786765" cy="154305"/>
          </a:xfrm>
          <a:custGeom>
            <a:avLst/>
            <a:gdLst/>
            <a:ahLst/>
            <a:cxnLst/>
            <a:rect l="l" t="t" r="r" b="b"/>
            <a:pathLst>
              <a:path w="786764" h="154304">
                <a:moveTo>
                  <a:pt x="0" y="153924"/>
                </a:moveTo>
                <a:lnTo>
                  <a:pt x="786384" y="153924"/>
                </a:lnTo>
                <a:lnTo>
                  <a:pt x="786384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12335" y="3736975"/>
            <a:ext cx="1600200" cy="103505"/>
          </a:xfrm>
          <a:custGeom>
            <a:avLst/>
            <a:gdLst/>
            <a:ahLst/>
            <a:cxnLst/>
            <a:rect l="l" t="t" r="r" b="b"/>
            <a:pathLst>
              <a:path w="1600200" h="103504">
                <a:moveTo>
                  <a:pt x="1600200" y="45338"/>
                </a:moveTo>
                <a:lnTo>
                  <a:pt x="1549400" y="45338"/>
                </a:lnTo>
                <a:lnTo>
                  <a:pt x="1549400" y="58038"/>
                </a:lnTo>
                <a:lnTo>
                  <a:pt x="1600200" y="58038"/>
                </a:lnTo>
                <a:lnTo>
                  <a:pt x="1600200" y="45338"/>
                </a:lnTo>
                <a:close/>
              </a:path>
              <a:path w="1600200" h="103504">
                <a:moveTo>
                  <a:pt x="1511300" y="45338"/>
                </a:moveTo>
                <a:lnTo>
                  <a:pt x="1460500" y="45338"/>
                </a:lnTo>
                <a:lnTo>
                  <a:pt x="1460500" y="58038"/>
                </a:lnTo>
                <a:lnTo>
                  <a:pt x="1511300" y="58038"/>
                </a:lnTo>
                <a:lnTo>
                  <a:pt x="1511300" y="45338"/>
                </a:lnTo>
                <a:close/>
              </a:path>
              <a:path w="1600200" h="103504">
                <a:moveTo>
                  <a:pt x="1422400" y="45338"/>
                </a:moveTo>
                <a:lnTo>
                  <a:pt x="1371600" y="45338"/>
                </a:lnTo>
                <a:lnTo>
                  <a:pt x="1371600" y="58038"/>
                </a:lnTo>
                <a:lnTo>
                  <a:pt x="1422400" y="58038"/>
                </a:lnTo>
                <a:lnTo>
                  <a:pt x="1422400" y="45338"/>
                </a:lnTo>
                <a:close/>
              </a:path>
              <a:path w="1600200" h="103504">
                <a:moveTo>
                  <a:pt x="1333500" y="45338"/>
                </a:moveTo>
                <a:lnTo>
                  <a:pt x="1282700" y="45338"/>
                </a:lnTo>
                <a:lnTo>
                  <a:pt x="1282700" y="58038"/>
                </a:lnTo>
                <a:lnTo>
                  <a:pt x="1333500" y="58038"/>
                </a:lnTo>
                <a:lnTo>
                  <a:pt x="1333500" y="45338"/>
                </a:lnTo>
                <a:close/>
              </a:path>
              <a:path w="1600200" h="103504">
                <a:moveTo>
                  <a:pt x="1244600" y="45338"/>
                </a:moveTo>
                <a:lnTo>
                  <a:pt x="1193800" y="45338"/>
                </a:lnTo>
                <a:lnTo>
                  <a:pt x="1193800" y="58038"/>
                </a:lnTo>
                <a:lnTo>
                  <a:pt x="1244600" y="58038"/>
                </a:lnTo>
                <a:lnTo>
                  <a:pt x="1244600" y="45338"/>
                </a:lnTo>
                <a:close/>
              </a:path>
              <a:path w="1600200" h="103504">
                <a:moveTo>
                  <a:pt x="1155700" y="45338"/>
                </a:moveTo>
                <a:lnTo>
                  <a:pt x="1104900" y="45338"/>
                </a:lnTo>
                <a:lnTo>
                  <a:pt x="1104900" y="58038"/>
                </a:lnTo>
                <a:lnTo>
                  <a:pt x="1155700" y="58038"/>
                </a:lnTo>
                <a:lnTo>
                  <a:pt x="1155700" y="45338"/>
                </a:lnTo>
                <a:close/>
              </a:path>
              <a:path w="1600200" h="103504">
                <a:moveTo>
                  <a:pt x="1066800" y="45338"/>
                </a:moveTo>
                <a:lnTo>
                  <a:pt x="1016000" y="45338"/>
                </a:lnTo>
                <a:lnTo>
                  <a:pt x="1016000" y="58038"/>
                </a:lnTo>
                <a:lnTo>
                  <a:pt x="1066800" y="58038"/>
                </a:lnTo>
                <a:lnTo>
                  <a:pt x="1066800" y="45338"/>
                </a:lnTo>
                <a:close/>
              </a:path>
              <a:path w="1600200" h="103504">
                <a:moveTo>
                  <a:pt x="977900" y="45338"/>
                </a:moveTo>
                <a:lnTo>
                  <a:pt x="927100" y="45338"/>
                </a:lnTo>
                <a:lnTo>
                  <a:pt x="927100" y="58038"/>
                </a:lnTo>
                <a:lnTo>
                  <a:pt x="977900" y="58038"/>
                </a:lnTo>
                <a:lnTo>
                  <a:pt x="977900" y="45338"/>
                </a:lnTo>
                <a:close/>
              </a:path>
              <a:path w="1600200" h="103504">
                <a:moveTo>
                  <a:pt x="889000" y="45338"/>
                </a:moveTo>
                <a:lnTo>
                  <a:pt x="838200" y="45338"/>
                </a:lnTo>
                <a:lnTo>
                  <a:pt x="838200" y="58038"/>
                </a:lnTo>
                <a:lnTo>
                  <a:pt x="889000" y="58038"/>
                </a:lnTo>
                <a:lnTo>
                  <a:pt x="889000" y="45338"/>
                </a:lnTo>
                <a:close/>
              </a:path>
              <a:path w="1600200" h="103504">
                <a:moveTo>
                  <a:pt x="800100" y="45338"/>
                </a:moveTo>
                <a:lnTo>
                  <a:pt x="749300" y="45338"/>
                </a:lnTo>
                <a:lnTo>
                  <a:pt x="749300" y="58038"/>
                </a:lnTo>
                <a:lnTo>
                  <a:pt x="800100" y="58038"/>
                </a:lnTo>
                <a:lnTo>
                  <a:pt x="800100" y="45338"/>
                </a:lnTo>
                <a:close/>
              </a:path>
              <a:path w="1600200" h="103504">
                <a:moveTo>
                  <a:pt x="711200" y="45338"/>
                </a:moveTo>
                <a:lnTo>
                  <a:pt x="660400" y="45338"/>
                </a:lnTo>
                <a:lnTo>
                  <a:pt x="660400" y="58038"/>
                </a:lnTo>
                <a:lnTo>
                  <a:pt x="711200" y="58038"/>
                </a:lnTo>
                <a:lnTo>
                  <a:pt x="711200" y="45338"/>
                </a:lnTo>
                <a:close/>
              </a:path>
              <a:path w="1600200" h="103504">
                <a:moveTo>
                  <a:pt x="622300" y="45338"/>
                </a:moveTo>
                <a:lnTo>
                  <a:pt x="571500" y="45338"/>
                </a:lnTo>
                <a:lnTo>
                  <a:pt x="571500" y="58038"/>
                </a:lnTo>
                <a:lnTo>
                  <a:pt x="622300" y="58038"/>
                </a:lnTo>
                <a:lnTo>
                  <a:pt x="622300" y="45338"/>
                </a:lnTo>
                <a:close/>
              </a:path>
              <a:path w="1600200" h="103504">
                <a:moveTo>
                  <a:pt x="533400" y="45338"/>
                </a:moveTo>
                <a:lnTo>
                  <a:pt x="482600" y="45338"/>
                </a:lnTo>
                <a:lnTo>
                  <a:pt x="482600" y="58038"/>
                </a:lnTo>
                <a:lnTo>
                  <a:pt x="533400" y="58038"/>
                </a:lnTo>
                <a:lnTo>
                  <a:pt x="533400" y="45338"/>
                </a:lnTo>
                <a:close/>
              </a:path>
              <a:path w="1600200" h="103504">
                <a:moveTo>
                  <a:pt x="444500" y="45338"/>
                </a:moveTo>
                <a:lnTo>
                  <a:pt x="393700" y="45338"/>
                </a:lnTo>
                <a:lnTo>
                  <a:pt x="393700" y="58038"/>
                </a:lnTo>
                <a:lnTo>
                  <a:pt x="444500" y="58038"/>
                </a:lnTo>
                <a:lnTo>
                  <a:pt x="444500" y="45338"/>
                </a:lnTo>
                <a:close/>
              </a:path>
              <a:path w="1600200" h="103504">
                <a:moveTo>
                  <a:pt x="355600" y="45338"/>
                </a:moveTo>
                <a:lnTo>
                  <a:pt x="304800" y="45338"/>
                </a:lnTo>
                <a:lnTo>
                  <a:pt x="304800" y="58038"/>
                </a:lnTo>
                <a:lnTo>
                  <a:pt x="355600" y="58038"/>
                </a:lnTo>
                <a:lnTo>
                  <a:pt x="355600" y="45338"/>
                </a:lnTo>
                <a:close/>
              </a:path>
              <a:path w="1600200" h="103504">
                <a:moveTo>
                  <a:pt x="266700" y="45338"/>
                </a:moveTo>
                <a:lnTo>
                  <a:pt x="215900" y="45338"/>
                </a:lnTo>
                <a:lnTo>
                  <a:pt x="215900" y="58038"/>
                </a:lnTo>
                <a:lnTo>
                  <a:pt x="266700" y="58038"/>
                </a:lnTo>
                <a:lnTo>
                  <a:pt x="266700" y="45338"/>
                </a:lnTo>
                <a:close/>
              </a:path>
              <a:path w="1600200" h="103504">
                <a:moveTo>
                  <a:pt x="177800" y="45338"/>
                </a:moveTo>
                <a:lnTo>
                  <a:pt x="127000" y="45338"/>
                </a:lnTo>
                <a:lnTo>
                  <a:pt x="127000" y="58038"/>
                </a:lnTo>
                <a:lnTo>
                  <a:pt x="177800" y="58038"/>
                </a:lnTo>
                <a:lnTo>
                  <a:pt x="177800" y="45338"/>
                </a:lnTo>
                <a:close/>
              </a:path>
              <a:path w="1600200" h="103504">
                <a:moveTo>
                  <a:pt x="88646" y="0"/>
                </a:moveTo>
                <a:lnTo>
                  <a:pt x="0" y="51688"/>
                </a:lnTo>
                <a:lnTo>
                  <a:pt x="88646" y="103377"/>
                </a:lnTo>
                <a:lnTo>
                  <a:pt x="92455" y="102362"/>
                </a:lnTo>
                <a:lnTo>
                  <a:pt x="96012" y="96266"/>
                </a:lnTo>
                <a:lnTo>
                  <a:pt x="94996" y="92456"/>
                </a:lnTo>
                <a:lnTo>
                  <a:pt x="34471" y="57150"/>
                </a:lnTo>
                <a:lnTo>
                  <a:pt x="15748" y="57150"/>
                </a:lnTo>
                <a:lnTo>
                  <a:pt x="15748" y="46227"/>
                </a:lnTo>
                <a:lnTo>
                  <a:pt x="34471" y="46227"/>
                </a:lnTo>
                <a:lnTo>
                  <a:pt x="94996" y="10922"/>
                </a:lnTo>
                <a:lnTo>
                  <a:pt x="96012" y="7112"/>
                </a:lnTo>
                <a:lnTo>
                  <a:pt x="92455" y="1016"/>
                </a:lnTo>
                <a:lnTo>
                  <a:pt x="88646" y="0"/>
                </a:lnTo>
                <a:close/>
              </a:path>
              <a:path w="1600200" h="103504">
                <a:moveTo>
                  <a:pt x="88900" y="45338"/>
                </a:moveTo>
                <a:lnTo>
                  <a:pt x="38100" y="45338"/>
                </a:lnTo>
                <a:lnTo>
                  <a:pt x="38100" y="58038"/>
                </a:lnTo>
                <a:lnTo>
                  <a:pt x="88900" y="58038"/>
                </a:lnTo>
                <a:lnTo>
                  <a:pt x="88900" y="45338"/>
                </a:lnTo>
                <a:close/>
              </a:path>
              <a:path w="1600200" h="103504">
                <a:moveTo>
                  <a:pt x="15748" y="46227"/>
                </a:moveTo>
                <a:lnTo>
                  <a:pt x="15748" y="57150"/>
                </a:lnTo>
                <a:lnTo>
                  <a:pt x="25109" y="51688"/>
                </a:lnTo>
                <a:lnTo>
                  <a:pt x="15748" y="46227"/>
                </a:lnTo>
                <a:close/>
              </a:path>
              <a:path w="1600200" h="103504">
                <a:moveTo>
                  <a:pt x="25109" y="51688"/>
                </a:moveTo>
                <a:lnTo>
                  <a:pt x="15748" y="57150"/>
                </a:lnTo>
                <a:lnTo>
                  <a:pt x="34471" y="57150"/>
                </a:lnTo>
                <a:lnTo>
                  <a:pt x="25109" y="51688"/>
                </a:lnTo>
                <a:close/>
              </a:path>
              <a:path w="1600200" h="103504">
                <a:moveTo>
                  <a:pt x="34471" y="46227"/>
                </a:moveTo>
                <a:lnTo>
                  <a:pt x="15748" y="46227"/>
                </a:lnTo>
                <a:lnTo>
                  <a:pt x="25109" y="51688"/>
                </a:lnTo>
                <a:lnTo>
                  <a:pt x="34471" y="46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96766" y="4245864"/>
            <a:ext cx="179705" cy="456565"/>
          </a:xfrm>
          <a:custGeom>
            <a:avLst/>
            <a:gdLst/>
            <a:ahLst/>
            <a:cxnLst/>
            <a:rect l="l" t="t" r="r" b="b"/>
            <a:pathLst>
              <a:path w="179704" h="456564">
                <a:moveTo>
                  <a:pt x="16129" y="403987"/>
                </a:moveTo>
                <a:lnTo>
                  <a:pt x="0" y="452119"/>
                </a:lnTo>
                <a:lnTo>
                  <a:pt x="11937" y="456184"/>
                </a:lnTo>
                <a:lnTo>
                  <a:pt x="28194" y="408050"/>
                </a:lnTo>
                <a:lnTo>
                  <a:pt x="16129" y="403987"/>
                </a:lnTo>
                <a:close/>
              </a:path>
              <a:path w="179704" h="456564">
                <a:moveTo>
                  <a:pt x="44450" y="319659"/>
                </a:moveTo>
                <a:lnTo>
                  <a:pt x="28194" y="367792"/>
                </a:lnTo>
                <a:lnTo>
                  <a:pt x="40259" y="371856"/>
                </a:lnTo>
                <a:lnTo>
                  <a:pt x="56387" y="323723"/>
                </a:lnTo>
                <a:lnTo>
                  <a:pt x="44450" y="319659"/>
                </a:lnTo>
                <a:close/>
              </a:path>
              <a:path w="179704" h="456564">
                <a:moveTo>
                  <a:pt x="72644" y="235458"/>
                </a:moveTo>
                <a:lnTo>
                  <a:pt x="56515" y="283591"/>
                </a:lnTo>
                <a:lnTo>
                  <a:pt x="68580" y="287655"/>
                </a:lnTo>
                <a:lnTo>
                  <a:pt x="84709" y="239394"/>
                </a:lnTo>
                <a:lnTo>
                  <a:pt x="72644" y="235458"/>
                </a:lnTo>
                <a:close/>
              </a:path>
              <a:path w="179704" h="456564">
                <a:moveTo>
                  <a:pt x="100965" y="151130"/>
                </a:moveTo>
                <a:lnTo>
                  <a:pt x="84836" y="199262"/>
                </a:lnTo>
                <a:lnTo>
                  <a:pt x="96774" y="203327"/>
                </a:lnTo>
                <a:lnTo>
                  <a:pt x="113030" y="155194"/>
                </a:lnTo>
                <a:lnTo>
                  <a:pt x="100965" y="151130"/>
                </a:lnTo>
                <a:close/>
              </a:path>
              <a:path w="179704" h="456564">
                <a:moveTo>
                  <a:pt x="129286" y="66802"/>
                </a:moveTo>
                <a:lnTo>
                  <a:pt x="113030" y="115062"/>
                </a:lnTo>
                <a:lnTo>
                  <a:pt x="125095" y="118999"/>
                </a:lnTo>
                <a:lnTo>
                  <a:pt x="141224" y="70866"/>
                </a:lnTo>
                <a:lnTo>
                  <a:pt x="129286" y="66802"/>
                </a:lnTo>
                <a:close/>
              </a:path>
              <a:path w="179704" h="456564">
                <a:moveTo>
                  <a:pt x="160417" y="9906"/>
                </a:moveTo>
                <a:lnTo>
                  <a:pt x="148336" y="9906"/>
                </a:lnTo>
                <a:lnTo>
                  <a:pt x="160400" y="13969"/>
                </a:lnTo>
                <a:lnTo>
                  <a:pt x="153416" y="34798"/>
                </a:lnTo>
                <a:lnTo>
                  <a:pt x="152654" y="34798"/>
                </a:lnTo>
                <a:lnTo>
                  <a:pt x="165988" y="99568"/>
                </a:lnTo>
                <a:lnTo>
                  <a:pt x="166750" y="102997"/>
                </a:lnTo>
                <a:lnTo>
                  <a:pt x="170180" y="105283"/>
                </a:lnTo>
                <a:lnTo>
                  <a:pt x="177037" y="103759"/>
                </a:lnTo>
                <a:lnTo>
                  <a:pt x="179197" y="100456"/>
                </a:lnTo>
                <a:lnTo>
                  <a:pt x="178435" y="97028"/>
                </a:lnTo>
                <a:lnTo>
                  <a:pt x="165565" y="34798"/>
                </a:lnTo>
                <a:lnTo>
                  <a:pt x="153416" y="34798"/>
                </a:lnTo>
                <a:lnTo>
                  <a:pt x="152597" y="34522"/>
                </a:lnTo>
                <a:lnTo>
                  <a:pt x="165508" y="34522"/>
                </a:lnTo>
                <a:lnTo>
                  <a:pt x="160417" y="9906"/>
                </a:lnTo>
                <a:close/>
              </a:path>
              <a:path w="179704" h="456564">
                <a:moveTo>
                  <a:pt x="158369" y="0"/>
                </a:moveTo>
                <a:lnTo>
                  <a:pt x="83820" y="65278"/>
                </a:lnTo>
                <a:lnTo>
                  <a:pt x="81153" y="67563"/>
                </a:lnTo>
                <a:lnTo>
                  <a:pt x="80899" y="71500"/>
                </a:lnTo>
                <a:lnTo>
                  <a:pt x="85471" y="76835"/>
                </a:lnTo>
                <a:lnTo>
                  <a:pt x="89535" y="77088"/>
                </a:lnTo>
                <a:lnTo>
                  <a:pt x="92202" y="74803"/>
                </a:lnTo>
                <a:lnTo>
                  <a:pt x="142130" y="30996"/>
                </a:lnTo>
                <a:lnTo>
                  <a:pt x="141350" y="30734"/>
                </a:lnTo>
                <a:lnTo>
                  <a:pt x="148336" y="9906"/>
                </a:lnTo>
                <a:lnTo>
                  <a:pt x="160417" y="9906"/>
                </a:lnTo>
                <a:lnTo>
                  <a:pt x="158369" y="0"/>
                </a:lnTo>
                <a:close/>
              </a:path>
              <a:path w="179704" h="456564">
                <a:moveTo>
                  <a:pt x="158138" y="13208"/>
                </a:moveTo>
                <a:lnTo>
                  <a:pt x="148209" y="13208"/>
                </a:lnTo>
                <a:lnTo>
                  <a:pt x="158496" y="16637"/>
                </a:lnTo>
                <a:lnTo>
                  <a:pt x="150380" y="23757"/>
                </a:lnTo>
                <a:lnTo>
                  <a:pt x="152597" y="34522"/>
                </a:lnTo>
                <a:lnTo>
                  <a:pt x="153416" y="34798"/>
                </a:lnTo>
                <a:lnTo>
                  <a:pt x="160400" y="13969"/>
                </a:lnTo>
                <a:lnTo>
                  <a:pt x="158138" y="13208"/>
                </a:lnTo>
                <a:close/>
              </a:path>
              <a:path w="179704" h="456564">
                <a:moveTo>
                  <a:pt x="150380" y="23757"/>
                </a:moveTo>
                <a:lnTo>
                  <a:pt x="142130" y="30996"/>
                </a:lnTo>
                <a:lnTo>
                  <a:pt x="152597" y="34522"/>
                </a:lnTo>
                <a:lnTo>
                  <a:pt x="150380" y="23757"/>
                </a:lnTo>
                <a:close/>
              </a:path>
              <a:path w="179704" h="456564">
                <a:moveTo>
                  <a:pt x="148336" y="9906"/>
                </a:moveTo>
                <a:lnTo>
                  <a:pt x="141350" y="30734"/>
                </a:lnTo>
                <a:lnTo>
                  <a:pt x="142130" y="30996"/>
                </a:lnTo>
                <a:lnTo>
                  <a:pt x="150380" y="23757"/>
                </a:lnTo>
                <a:lnTo>
                  <a:pt x="148209" y="13208"/>
                </a:lnTo>
                <a:lnTo>
                  <a:pt x="158138" y="13208"/>
                </a:lnTo>
                <a:lnTo>
                  <a:pt x="148336" y="9906"/>
                </a:lnTo>
                <a:close/>
              </a:path>
              <a:path w="179704" h="456564">
                <a:moveTo>
                  <a:pt x="148209" y="13208"/>
                </a:moveTo>
                <a:lnTo>
                  <a:pt x="150380" y="23757"/>
                </a:lnTo>
                <a:lnTo>
                  <a:pt x="158496" y="16637"/>
                </a:lnTo>
                <a:lnTo>
                  <a:pt x="148209" y="132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12335" y="4070730"/>
            <a:ext cx="1755139" cy="635635"/>
          </a:xfrm>
          <a:custGeom>
            <a:avLst/>
            <a:gdLst/>
            <a:ahLst/>
            <a:cxnLst/>
            <a:rect l="l" t="t" r="r" b="b"/>
            <a:pathLst>
              <a:path w="1755139" h="635635">
                <a:moveTo>
                  <a:pt x="1706752" y="606552"/>
                </a:moveTo>
                <a:lnTo>
                  <a:pt x="1702562" y="618617"/>
                </a:lnTo>
                <a:lnTo>
                  <a:pt x="1750567" y="635254"/>
                </a:lnTo>
                <a:lnTo>
                  <a:pt x="1754631" y="623316"/>
                </a:lnTo>
                <a:lnTo>
                  <a:pt x="1706752" y="606552"/>
                </a:lnTo>
                <a:close/>
              </a:path>
              <a:path w="1755139" h="635635">
                <a:moveTo>
                  <a:pt x="1622678" y="577342"/>
                </a:moveTo>
                <a:lnTo>
                  <a:pt x="1618614" y="589407"/>
                </a:lnTo>
                <a:lnTo>
                  <a:pt x="1666493" y="606044"/>
                </a:lnTo>
                <a:lnTo>
                  <a:pt x="1670685" y="594106"/>
                </a:lnTo>
                <a:lnTo>
                  <a:pt x="1622678" y="577342"/>
                </a:lnTo>
                <a:close/>
              </a:path>
              <a:path w="1755139" h="635635">
                <a:moveTo>
                  <a:pt x="1538731" y="548132"/>
                </a:moveTo>
                <a:lnTo>
                  <a:pt x="1534540" y="560197"/>
                </a:lnTo>
                <a:lnTo>
                  <a:pt x="1582547" y="576834"/>
                </a:lnTo>
                <a:lnTo>
                  <a:pt x="1586738" y="564896"/>
                </a:lnTo>
                <a:lnTo>
                  <a:pt x="1538731" y="548132"/>
                </a:lnTo>
                <a:close/>
              </a:path>
              <a:path w="1755139" h="635635">
                <a:moveTo>
                  <a:pt x="1454785" y="518922"/>
                </a:moveTo>
                <a:lnTo>
                  <a:pt x="1450593" y="530987"/>
                </a:lnTo>
                <a:lnTo>
                  <a:pt x="1498600" y="547624"/>
                </a:lnTo>
                <a:lnTo>
                  <a:pt x="1502790" y="535686"/>
                </a:lnTo>
                <a:lnTo>
                  <a:pt x="1454785" y="518922"/>
                </a:lnTo>
                <a:close/>
              </a:path>
              <a:path w="1755139" h="635635">
                <a:moveTo>
                  <a:pt x="1370838" y="489839"/>
                </a:moveTo>
                <a:lnTo>
                  <a:pt x="1366647" y="501777"/>
                </a:lnTo>
                <a:lnTo>
                  <a:pt x="1414652" y="518414"/>
                </a:lnTo>
                <a:lnTo>
                  <a:pt x="1418843" y="506476"/>
                </a:lnTo>
                <a:lnTo>
                  <a:pt x="1370838" y="489839"/>
                </a:lnTo>
                <a:close/>
              </a:path>
              <a:path w="1755139" h="635635">
                <a:moveTo>
                  <a:pt x="1286890" y="460629"/>
                </a:moveTo>
                <a:lnTo>
                  <a:pt x="1282700" y="472567"/>
                </a:lnTo>
                <a:lnTo>
                  <a:pt x="1330705" y="489204"/>
                </a:lnTo>
                <a:lnTo>
                  <a:pt x="1334897" y="477266"/>
                </a:lnTo>
                <a:lnTo>
                  <a:pt x="1286890" y="460629"/>
                </a:lnTo>
                <a:close/>
              </a:path>
              <a:path w="1755139" h="635635">
                <a:moveTo>
                  <a:pt x="1202943" y="431419"/>
                </a:moveTo>
                <a:lnTo>
                  <a:pt x="1198752" y="443357"/>
                </a:lnTo>
                <a:lnTo>
                  <a:pt x="1246759" y="459994"/>
                </a:lnTo>
                <a:lnTo>
                  <a:pt x="1250950" y="448056"/>
                </a:lnTo>
                <a:lnTo>
                  <a:pt x="1202943" y="431419"/>
                </a:lnTo>
                <a:close/>
              </a:path>
              <a:path w="1755139" h="635635">
                <a:moveTo>
                  <a:pt x="1118997" y="402209"/>
                </a:moveTo>
                <a:lnTo>
                  <a:pt x="1114805" y="414147"/>
                </a:lnTo>
                <a:lnTo>
                  <a:pt x="1162812" y="430784"/>
                </a:lnTo>
                <a:lnTo>
                  <a:pt x="1166876" y="418846"/>
                </a:lnTo>
                <a:lnTo>
                  <a:pt x="1118997" y="402209"/>
                </a:lnTo>
                <a:close/>
              </a:path>
              <a:path w="1755139" h="635635">
                <a:moveTo>
                  <a:pt x="1034923" y="372999"/>
                </a:moveTo>
                <a:lnTo>
                  <a:pt x="1030859" y="384937"/>
                </a:lnTo>
                <a:lnTo>
                  <a:pt x="1078738" y="401701"/>
                </a:lnTo>
                <a:lnTo>
                  <a:pt x="1082928" y="389636"/>
                </a:lnTo>
                <a:lnTo>
                  <a:pt x="1034923" y="372999"/>
                </a:lnTo>
                <a:close/>
              </a:path>
              <a:path w="1755139" h="635635">
                <a:moveTo>
                  <a:pt x="950976" y="343789"/>
                </a:moveTo>
                <a:lnTo>
                  <a:pt x="946785" y="355727"/>
                </a:lnTo>
                <a:lnTo>
                  <a:pt x="994790" y="372491"/>
                </a:lnTo>
                <a:lnTo>
                  <a:pt x="998981" y="360426"/>
                </a:lnTo>
                <a:lnTo>
                  <a:pt x="950976" y="343789"/>
                </a:lnTo>
                <a:close/>
              </a:path>
              <a:path w="1755139" h="635635">
                <a:moveTo>
                  <a:pt x="867028" y="314579"/>
                </a:moveTo>
                <a:lnTo>
                  <a:pt x="862838" y="326517"/>
                </a:lnTo>
                <a:lnTo>
                  <a:pt x="910843" y="343281"/>
                </a:lnTo>
                <a:lnTo>
                  <a:pt x="915035" y="331216"/>
                </a:lnTo>
                <a:lnTo>
                  <a:pt x="867028" y="314579"/>
                </a:lnTo>
                <a:close/>
              </a:path>
              <a:path w="1755139" h="635635">
                <a:moveTo>
                  <a:pt x="783081" y="285369"/>
                </a:moveTo>
                <a:lnTo>
                  <a:pt x="778890" y="297307"/>
                </a:lnTo>
                <a:lnTo>
                  <a:pt x="826897" y="314071"/>
                </a:lnTo>
                <a:lnTo>
                  <a:pt x="831088" y="302006"/>
                </a:lnTo>
                <a:lnTo>
                  <a:pt x="783081" y="285369"/>
                </a:lnTo>
                <a:close/>
              </a:path>
              <a:path w="1755139" h="635635">
                <a:moveTo>
                  <a:pt x="699135" y="256159"/>
                </a:moveTo>
                <a:lnTo>
                  <a:pt x="694943" y="268097"/>
                </a:lnTo>
                <a:lnTo>
                  <a:pt x="742950" y="284861"/>
                </a:lnTo>
                <a:lnTo>
                  <a:pt x="747140" y="272796"/>
                </a:lnTo>
                <a:lnTo>
                  <a:pt x="699135" y="256159"/>
                </a:lnTo>
                <a:close/>
              </a:path>
              <a:path w="1755139" h="635635">
                <a:moveTo>
                  <a:pt x="615188" y="226949"/>
                </a:moveTo>
                <a:lnTo>
                  <a:pt x="610997" y="238887"/>
                </a:lnTo>
                <a:lnTo>
                  <a:pt x="659002" y="255651"/>
                </a:lnTo>
                <a:lnTo>
                  <a:pt x="663193" y="243586"/>
                </a:lnTo>
                <a:lnTo>
                  <a:pt x="615188" y="226949"/>
                </a:lnTo>
                <a:close/>
              </a:path>
              <a:path w="1755139" h="635635">
                <a:moveTo>
                  <a:pt x="531240" y="197739"/>
                </a:moveTo>
                <a:lnTo>
                  <a:pt x="527050" y="209677"/>
                </a:lnTo>
                <a:lnTo>
                  <a:pt x="575055" y="226441"/>
                </a:lnTo>
                <a:lnTo>
                  <a:pt x="579119" y="214376"/>
                </a:lnTo>
                <a:lnTo>
                  <a:pt x="531240" y="197739"/>
                </a:lnTo>
                <a:close/>
              </a:path>
              <a:path w="1755139" h="635635">
                <a:moveTo>
                  <a:pt x="447166" y="168529"/>
                </a:moveTo>
                <a:lnTo>
                  <a:pt x="443102" y="180467"/>
                </a:lnTo>
                <a:lnTo>
                  <a:pt x="490981" y="197231"/>
                </a:lnTo>
                <a:lnTo>
                  <a:pt x="495173" y="185166"/>
                </a:lnTo>
                <a:lnTo>
                  <a:pt x="447166" y="168529"/>
                </a:lnTo>
                <a:close/>
              </a:path>
              <a:path w="1755139" h="635635">
                <a:moveTo>
                  <a:pt x="363219" y="139319"/>
                </a:moveTo>
                <a:lnTo>
                  <a:pt x="359028" y="151257"/>
                </a:lnTo>
                <a:lnTo>
                  <a:pt x="407035" y="168021"/>
                </a:lnTo>
                <a:lnTo>
                  <a:pt x="411225" y="155956"/>
                </a:lnTo>
                <a:lnTo>
                  <a:pt x="363219" y="139319"/>
                </a:lnTo>
                <a:close/>
              </a:path>
              <a:path w="1755139" h="635635">
                <a:moveTo>
                  <a:pt x="279273" y="110109"/>
                </a:moveTo>
                <a:lnTo>
                  <a:pt x="275081" y="122047"/>
                </a:lnTo>
                <a:lnTo>
                  <a:pt x="323088" y="138811"/>
                </a:lnTo>
                <a:lnTo>
                  <a:pt x="327278" y="126746"/>
                </a:lnTo>
                <a:lnTo>
                  <a:pt x="279273" y="110109"/>
                </a:lnTo>
                <a:close/>
              </a:path>
              <a:path w="1755139" h="635635">
                <a:moveTo>
                  <a:pt x="195325" y="80899"/>
                </a:moveTo>
                <a:lnTo>
                  <a:pt x="191135" y="92837"/>
                </a:lnTo>
                <a:lnTo>
                  <a:pt x="239140" y="109601"/>
                </a:lnTo>
                <a:lnTo>
                  <a:pt x="243331" y="97536"/>
                </a:lnTo>
                <a:lnTo>
                  <a:pt x="195325" y="80899"/>
                </a:lnTo>
                <a:close/>
              </a:path>
              <a:path w="1755139" h="635635">
                <a:moveTo>
                  <a:pt x="111378" y="51689"/>
                </a:moveTo>
                <a:lnTo>
                  <a:pt x="107187" y="63627"/>
                </a:lnTo>
                <a:lnTo>
                  <a:pt x="155193" y="80391"/>
                </a:lnTo>
                <a:lnTo>
                  <a:pt x="159385" y="68326"/>
                </a:lnTo>
                <a:lnTo>
                  <a:pt x="111378" y="51689"/>
                </a:lnTo>
                <a:close/>
              </a:path>
              <a:path w="1755139" h="635635">
                <a:moveTo>
                  <a:pt x="100711" y="0"/>
                </a:moveTo>
                <a:lnTo>
                  <a:pt x="97281" y="635"/>
                </a:lnTo>
                <a:lnTo>
                  <a:pt x="0" y="19685"/>
                </a:lnTo>
                <a:lnTo>
                  <a:pt x="66675" y="97663"/>
                </a:lnTo>
                <a:lnTo>
                  <a:pt x="70738" y="97917"/>
                </a:lnTo>
                <a:lnTo>
                  <a:pt x="76073" y="93345"/>
                </a:lnTo>
                <a:lnTo>
                  <a:pt x="76326" y="89408"/>
                </a:lnTo>
                <a:lnTo>
                  <a:pt x="31938" y="37558"/>
                </a:lnTo>
                <a:lnTo>
                  <a:pt x="23240" y="34544"/>
                </a:lnTo>
                <a:lnTo>
                  <a:pt x="24785" y="30099"/>
                </a:lnTo>
                <a:lnTo>
                  <a:pt x="13080" y="30099"/>
                </a:lnTo>
                <a:lnTo>
                  <a:pt x="16637" y="19685"/>
                </a:lnTo>
                <a:lnTo>
                  <a:pt x="66083" y="19685"/>
                </a:lnTo>
                <a:lnTo>
                  <a:pt x="99694" y="13081"/>
                </a:lnTo>
                <a:lnTo>
                  <a:pt x="103124" y="12446"/>
                </a:lnTo>
                <a:lnTo>
                  <a:pt x="105410" y="9144"/>
                </a:lnTo>
                <a:lnTo>
                  <a:pt x="104648" y="5588"/>
                </a:lnTo>
                <a:lnTo>
                  <a:pt x="104012" y="2159"/>
                </a:lnTo>
                <a:lnTo>
                  <a:pt x="100711" y="0"/>
                </a:lnTo>
                <a:close/>
              </a:path>
              <a:path w="1755139" h="635635">
                <a:moveTo>
                  <a:pt x="36256" y="25545"/>
                </a:moveTo>
                <a:lnTo>
                  <a:pt x="25642" y="27630"/>
                </a:lnTo>
                <a:lnTo>
                  <a:pt x="25006" y="29461"/>
                </a:lnTo>
                <a:lnTo>
                  <a:pt x="31938" y="37558"/>
                </a:lnTo>
                <a:lnTo>
                  <a:pt x="71247" y="51181"/>
                </a:lnTo>
                <a:lnTo>
                  <a:pt x="75311" y="39116"/>
                </a:lnTo>
                <a:lnTo>
                  <a:pt x="36256" y="25545"/>
                </a:lnTo>
                <a:close/>
              </a:path>
              <a:path w="1755139" h="635635">
                <a:moveTo>
                  <a:pt x="25006" y="29461"/>
                </a:moveTo>
                <a:lnTo>
                  <a:pt x="23240" y="34544"/>
                </a:lnTo>
                <a:lnTo>
                  <a:pt x="31938" y="37558"/>
                </a:lnTo>
                <a:lnTo>
                  <a:pt x="25006" y="29461"/>
                </a:lnTo>
                <a:close/>
              </a:path>
              <a:path w="1755139" h="635635">
                <a:moveTo>
                  <a:pt x="16637" y="19685"/>
                </a:moveTo>
                <a:lnTo>
                  <a:pt x="13080" y="30099"/>
                </a:lnTo>
                <a:lnTo>
                  <a:pt x="23756" y="28001"/>
                </a:lnTo>
                <a:lnTo>
                  <a:pt x="16637" y="19685"/>
                </a:lnTo>
                <a:close/>
              </a:path>
              <a:path w="1755139" h="635635">
                <a:moveTo>
                  <a:pt x="23756" y="28001"/>
                </a:moveTo>
                <a:lnTo>
                  <a:pt x="13080" y="30099"/>
                </a:lnTo>
                <a:lnTo>
                  <a:pt x="24785" y="30099"/>
                </a:lnTo>
                <a:lnTo>
                  <a:pt x="25006" y="29461"/>
                </a:lnTo>
                <a:lnTo>
                  <a:pt x="23756" y="28001"/>
                </a:lnTo>
                <a:close/>
              </a:path>
              <a:path w="1755139" h="635635">
                <a:moveTo>
                  <a:pt x="66083" y="19685"/>
                </a:moveTo>
                <a:lnTo>
                  <a:pt x="16637" y="19685"/>
                </a:lnTo>
                <a:lnTo>
                  <a:pt x="23756" y="28001"/>
                </a:lnTo>
                <a:lnTo>
                  <a:pt x="25642" y="27630"/>
                </a:lnTo>
                <a:lnTo>
                  <a:pt x="27431" y="22479"/>
                </a:lnTo>
                <a:lnTo>
                  <a:pt x="51863" y="22479"/>
                </a:lnTo>
                <a:lnTo>
                  <a:pt x="66083" y="19685"/>
                </a:lnTo>
                <a:close/>
              </a:path>
              <a:path w="1755139" h="635635">
                <a:moveTo>
                  <a:pt x="27431" y="22479"/>
                </a:moveTo>
                <a:lnTo>
                  <a:pt x="25642" y="27630"/>
                </a:lnTo>
                <a:lnTo>
                  <a:pt x="36256" y="25545"/>
                </a:lnTo>
                <a:lnTo>
                  <a:pt x="27431" y="22479"/>
                </a:lnTo>
                <a:close/>
              </a:path>
              <a:path w="1755139" h="635635">
                <a:moveTo>
                  <a:pt x="51863" y="22479"/>
                </a:moveTo>
                <a:lnTo>
                  <a:pt x="27431" y="22479"/>
                </a:lnTo>
                <a:lnTo>
                  <a:pt x="36256" y="25545"/>
                </a:lnTo>
                <a:lnTo>
                  <a:pt x="51863" y="22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89940" y="1021611"/>
            <a:ext cx="7856220" cy="221170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83540" indent="-179070">
              <a:lnSpc>
                <a:spcPct val="100000"/>
              </a:lnSpc>
              <a:spcBef>
                <a:spcPts val="770"/>
              </a:spcBef>
              <a:buSzPct val="96428"/>
              <a:buChar char="•"/>
              <a:tabLst>
                <a:tab pos="384175" algn="l"/>
              </a:tabLst>
            </a:pPr>
            <a:r>
              <a:rPr sz="2800" spc="-5" dirty="0">
                <a:latin typeface="宋体"/>
                <a:cs typeface="宋体"/>
              </a:rPr>
              <a:t>用</a:t>
            </a:r>
            <a:r>
              <a:rPr sz="2000" dirty="0">
                <a:latin typeface="宋体"/>
                <a:cs typeface="宋体"/>
              </a:rPr>
              <a:t>《</a:t>
            </a:r>
            <a:r>
              <a:rPr sz="2000" spc="5" dirty="0">
                <a:latin typeface="宋体"/>
                <a:cs typeface="宋体"/>
              </a:rPr>
              <a:t>file</a:t>
            </a:r>
            <a:r>
              <a:rPr sz="2000" dirty="0">
                <a:latin typeface="宋体"/>
                <a:cs typeface="宋体"/>
              </a:rPr>
              <a:t>》</a:t>
            </a:r>
            <a:r>
              <a:rPr sz="2800" spc="-5" dirty="0">
                <a:latin typeface="宋体"/>
                <a:cs typeface="宋体"/>
              </a:rPr>
              <a:t>标识一组相关源代码文件的集合</a:t>
            </a:r>
            <a:endParaRPr sz="2800">
              <a:latin typeface="宋体"/>
              <a:cs typeface="宋体"/>
            </a:endParaRPr>
          </a:p>
          <a:p>
            <a:pPr marL="383540" indent="-179070">
              <a:lnSpc>
                <a:spcPct val="100000"/>
              </a:lnSpc>
              <a:spcBef>
                <a:spcPts val="670"/>
              </a:spcBef>
              <a:buSzPct val="96428"/>
              <a:buChar char="•"/>
              <a:tabLst>
                <a:tab pos="384175" algn="l"/>
              </a:tabLst>
            </a:pPr>
            <a:r>
              <a:rPr sz="2800" spc="-10" dirty="0">
                <a:latin typeface="宋体"/>
                <a:cs typeface="宋体"/>
              </a:rPr>
              <a:t>给出源代码文件的版本号、作者名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spc="-10" dirty="0">
                <a:latin typeface="宋体"/>
                <a:cs typeface="宋体"/>
              </a:rPr>
              <a:t>修改</a:t>
            </a:r>
            <a:r>
              <a:rPr sz="2800" dirty="0">
                <a:latin typeface="宋体"/>
                <a:cs typeface="宋体"/>
              </a:rPr>
              <a:t>日</a:t>
            </a:r>
            <a:r>
              <a:rPr sz="2800" spc="-10" dirty="0">
                <a:latin typeface="宋体"/>
                <a:cs typeface="宋体"/>
              </a:rPr>
              <a:t>期等</a:t>
            </a:r>
            <a:endParaRPr sz="2800">
              <a:latin typeface="宋体"/>
              <a:cs typeface="宋体"/>
            </a:endParaRPr>
          </a:p>
          <a:p>
            <a:pPr marL="383540" indent="-179070">
              <a:lnSpc>
                <a:spcPct val="100000"/>
              </a:lnSpc>
              <a:spcBef>
                <a:spcPts val="675"/>
              </a:spcBef>
              <a:buSzPct val="96428"/>
              <a:buChar char="•"/>
              <a:tabLst>
                <a:tab pos="384175" algn="l"/>
              </a:tabLst>
            </a:pPr>
            <a:r>
              <a:rPr sz="2800" spc="-5" dirty="0">
                <a:latin typeface="宋体"/>
                <a:cs typeface="宋体"/>
              </a:rPr>
              <a:t>用依赖关系标出源代码文件之间的</a:t>
            </a:r>
            <a:r>
              <a:rPr sz="2800" dirty="0">
                <a:latin typeface="宋体"/>
                <a:cs typeface="宋体"/>
              </a:rPr>
              <a:t>编</a:t>
            </a:r>
            <a:r>
              <a:rPr sz="2800" spc="-5" dirty="0">
                <a:latin typeface="宋体"/>
                <a:cs typeface="宋体"/>
              </a:rPr>
              <a:t>译依</a:t>
            </a:r>
            <a:r>
              <a:rPr sz="2800" dirty="0">
                <a:latin typeface="宋体"/>
                <a:cs typeface="宋体"/>
              </a:rPr>
              <a:t>赖</a:t>
            </a:r>
            <a:r>
              <a:rPr sz="2800" spc="-5" dirty="0">
                <a:latin typeface="宋体"/>
                <a:cs typeface="宋体"/>
              </a:rPr>
              <a:t>关系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2400" b="1" dirty="0">
                <a:latin typeface="宋体"/>
                <a:cs typeface="宋体"/>
              </a:rPr>
              <a:t>产品构件建模示例：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0741" y="292734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部署构件建模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5317" y="1062697"/>
            <a:ext cx="7801609" cy="17183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latin typeface="Wingdings"/>
                <a:cs typeface="Wingdings"/>
              </a:rPr>
              <a:t></a:t>
            </a:r>
            <a:r>
              <a:rPr sz="2800" spc="-10" dirty="0">
                <a:latin typeface="宋体"/>
                <a:cs typeface="宋体"/>
              </a:rPr>
              <a:t>表示可执行程序和动态连接库的</a:t>
            </a:r>
            <a:r>
              <a:rPr sz="2800" dirty="0">
                <a:latin typeface="宋体"/>
                <a:cs typeface="宋体"/>
              </a:rPr>
              <a:t>构</a:t>
            </a:r>
            <a:r>
              <a:rPr sz="2800" spc="-5" dirty="0">
                <a:latin typeface="宋体"/>
                <a:cs typeface="宋体"/>
              </a:rPr>
              <a:t>件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Wingdings"/>
                <a:cs typeface="Wingdings"/>
              </a:rPr>
              <a:t></a:t>
            </a:r>
            <a:r>
              <a:rPr sz="2800" spc="-5" dirty="0">
                <a:latin typeface="宋体"/>
                <a:cs typeface="宋体"/>
              </a:rPr>
              <a:t>表示可执行程序与动态连接库及</a:t>
            </a:r>
            <a:r>
              <a:rPr sz="2800" dirty="0">
                <a:latin typeface="宋体"/>
                <a:cs typeface="宋体"/>
              </a:rPr>
              <a:t>接</a:t>
            </a:r>
            <a:r>
              <a:rPr sz="2800" spc="-5" dirty="0">
                <a:latin typeface="宋体"/>
                <a:cs typeface="宋体"/>
              </a:rPr>
              <a:t>口之</a:t>
            </a:r>
            <a:r>
              <a:rPr sz="2800" dirty="0">
                <a:latin typeface="宋体"/>
                <a:cs typeface="宋体"/>
              </a:rPr>
              <a:t>间</a:t>
            </a:r>
            <a:r>
              <a:rPr sz="2800" spc="-5" dirty="0">
                <a:latin typeface="宋体"/>
                <a:cs typeface="宋体"/>
              </a:rPr>
              <a:t>的关系</a:t>
            </a:r>
            <a:endParaRPr sz="2800">
              <a:latin typeface="宋体"/>
              <a:cs typeface="宋体"/>
            </a:endParaRPr>
          </a:p>
          <a:p>
            <a:pPr marL="344170">
              <a:lnSpc>
                <a:spcPct val="100000"/>
              </a:lnSpc>
              <a:spcBef>
                <a:spcPts val="2380"/>
              </a:spcBef>
            </a:pPr>
            <a:r>
              <a:rPr sz="2400" dirty="0">
                <a:latin typeface="宋体"/>
                <a:cs typeface="宋体"/>
              </a:rPr>
              <a:t>对可执行体建模示例：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6400" y="3124200"/>
            <a:ext cx="2286000" cy="835660"/>
          </a:xfrm>
          <a:custGeom>
            <a:avLst/>
            <a:gdLst/>
            <a:ahLst/>
            <a:cxnLst/>
            <a:rect l="l" t="t" r="r" b="b"/>
            <a:pathLst>
              <a:path w="2286000" h="835660">
                <a:moveTo>
                  <a:pt x="0" y="835151"/>
                </a:moveTo>
                <a:lnTo>
                  <a:pt x="2286000" y="835151"/>
                </a:lnTo>
                <a:lnTo>
                  <a:pt x="2286000" y="0"/>
                </a:lnTo>
                <a:lnTo>
                  <a:pt x="0" y="0"/>
                </a:lnTo>
                <a:lnTo>
                  <a:pt x="0" y="83515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23897" y="3189223"/>
            <a:ext cx="1267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Animator.exe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52269" y="3489147"/>
            <a:ext cx="1334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{version=5.2}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9200" y="35814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200" y="35814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200" y="32766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9200" y="32766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62600" y="3124200"/>
            <a:ext cx="2286000" cy="835660"/>
          </a:xfrm>
          <a:custGeom>
            <a:avLst/>
            <a:gdLst/>
            <a:ahLst/>
            <a:cxnLst/>
            <a:rect l="l" t="t" r="r" b="b"/>
            <a:pathLst>
              <a:path w="2286000" h="835660">
                <a:moveTo>
                  <a:pt x="0" y="835151"/>
                </a:moveTo>
                <a:lnTo>
                  <a:pt x="2286000" y="835151"/>
                </a:lnTo>
                <a:lnTo>
                  <a:pt x="2286000" y="0"/>
                </a:lnTo>
                <a:lnTo>
                  <a:pt x="0" y="0"/>
                </a:lnTo>
                <a:lnTo>
                  <a:pt x="0" y="83515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69482" y="3189223"/>
            <a:ext cx="9474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Dia</a:t>
            </a:r>
            <a:r>
              <a:rPr sz="1800" dirty="0">
                <a:latin typeface="Times New Roman"/>
                <a:cs typeface="Times New Roman"/>
              </a:rPr>
              <a:t>log.dll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05400" y="35814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05400" y="35814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05400" y="32766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05400" y="32766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5000" y="4572000"/>
            <a:ext cx="2286000" cy="835660"/>
          </a:xfrm>
          <a:custGeom>
            <a:avLst/>
            <a:gdLst/>
            <a:ahLst/>
            <a:cxnLst/>
            <a:rect l="l" t="t" r="r" b="b"/>
            <a:pathLst>
              <a:path w="2286000" h="835660">
                <a:moveTo>
                  <a:pt x="0" y="835152"/>
                </a:moveTo>
                <a:lnTo>
                  <a:pt x="2286000" y="835152"/>
                </a:lnTo>
                <a:lnTo>
                  <a:pt x="2286000" y="0"/>
                </a:lnTo>
                <a:lnTo>
                  <a:pt x="0" y="0"/>
                </a:lnTo>
                <a:lnTo>
                  <a:pt x="0" y="8351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599182" y="4745482"/>
            <a:ext cx="973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Rend</a:t>
            </a:r>
            <a:r>
              <a:rPr sz="1800" spc="5" dirty="0">
                <a:latin typeface="Times New Roman"/>
                <a:cs typeface="Times New Roman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.dll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47800" y="50292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47800" y="50292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47800" y="47244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47800" y="47244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34000" y="4572000"/>
            <a:ext cx="2286000" cy="835660"/>
          </a:xfrm>
          <a:custGeom>
            <a:avLst/>
            <a:gdLst/>
            <a:ahLst/>
            <a:cxnLst/>
            <a:rect l="l" t="t" r="r" b="b"/>
            <a:pathLst>
              <a:path w="2286000" h="835660">
                <a:moveTo>
                  <a:pt x="0" y="835152"/>
                </a:moveTo>
                <a:lnTo>
                  <a:pt x="2286000" y="835152"/>
                </a:lnTo>
                <a:lnTo>
                  <a:pt x="2286000" y="0"/>
                </a:lnTo>
                <a:lnTo>
                  <a:pt x="0" y="0"/>
                </a:lnTo>
                <a:lnTo>
                  <a:pt x="0" y="8351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944615" y="4745482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Wrframe.dll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76800" y="50292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876800" y="50292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76800" y="47244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76800" y="472440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987927" y="3453510"/>
            <a:ext cx="1574800" cy="103505"/>
          </a:xfrm>
          <a:custGeom>
            <a:avLst/>
            <a:gdLst/>
            <a:ahLst/>
            <a:cxnLst/>
            <a:rect l="l" t="t" r="r" b="b"/>
            <a:pathLst>
              <a:path w="1574800" h="103504">
                <a:moveTo>
                  <a:pt x="1549563" y="51688"/>
                </a:moveTo>
                <a:lnTo>
                  <a:pt x="1479677" y="92455"/>
                </a:lnTo>
                <a:lnTo>
                  <a:pt x="1478661" y="96265"/>
                </a:lnTo>
                <a:lnTo>
                  <a:pt x="1482217" y="102362"/>
                </a:lnTo>
                <a:lnTo>
                  <a:pt x="1486027" y="103377"/>
                </a:lnTo>
                <a:lnTo>
                  <a:pt x="1563782" y="58038"/>
                </a:lnTo>
                <a:lnTo>
                  <a:pt x="1562100" y="58038"/>
                </a:lnTo>
                <a:lnTo>
                  <a:pt x="1562100" y="57150"/>
                </a:lnTo>
                <a:lnTo>
                  <a:pt x="1558925" y="57150"/>
                </a:lnTo>
                <a:lnTo>
                  <a:pt x="1549563" y="51688"/>
                </a:lnTo>
                <a:close/>
              </a:path>
              <a:path w="1574800" h="103504">
                <a:moveTo>
                  <a:pt x="1538677" y="45338"/>
                </a:moveTo>
                <a:lnTo>
                  <a:pt x="1511300" y="45338"/>
                </a:lnTo>
                <a:lnTo>
                  <a:pt x="1511300" y="58038"/>
                </a:lnTo>
                <a:lnTo>
                  <a:pt x="1538677" y="58038"/>
                </a:lnTo>
                <a:lnTo>
                  <a:pt x="1549563" y="51688"/>
                </a:lnTo>
                <a:lnTo>
                  <a:pt x="1538677" y="45338"/>
                </a:lnTo>
                <a:close/>
              </a:path>
              <a:path w="1574800" h="103504">
                <a:moveTo>
                  <a:pt x="1563782" y="45338"/>
                </a:moveTo>
                <a:lnTo>
                  <a:pt x="1562100" y="45338"/>
                </a:lnTo>
                <a:lnTo>
                  <a:pt x="1562100" y="58038"/>
                </a:lnTo>
                <a:lnTo>
                  <a:pt x="1563782" y="58038"/>
                </a:lnTo>
                <a:lnTo>
                  <a:pt x="1574673" y="51688"/>
                </a:lnTo>
                <a:lnTo>
                  <a:pt x="1563782" y="45338"/>
                </a:lnTo>
                <a:close/>
              </a:path>
              <a:path w="1574800" h="103504">
                <a:moveTo>
                  <a:pt x="1558925" y="46227"/>
                </a:moveTo>
                <a:lnTo>
                  <a:pt x="1549563" y="51688"/>
                </a:lnTo>
                <a:lnTo>
                  <a:pt x="1558925" y="57150"/>
                </a:lnTo>
                <a:lnTo>
                  <a:pt x="1558925" y="46227"/>
                </a:lnTo>
                <a:close/>
              </a:path>
              <a:path w="1574800" h="103504">
                <a:moveTo>
                  <a:pt x="1562100" y="46227"/>
                </a:moveTo>
                <a:lnTo>
                  <a:pt x="1558925" y="46227"/>
                </a:lnTo>
                <a:lnTo>
                  <a:pt x="1558925" y="57150"/>
                </a:lnTo>
                <a:lnTo>
                  <a:pt x="1562100" y="57150"/>
                </a:lnTo>
                <a:lnTo>
                  <a:pt x="1562100" y="46227"/>
                </a:lnTo>
                <a:close/>
              </a:path>
              <a:path w="1574800" h="103504">
                <a:moveTo>
                  <a:pt x="1486027" y="0"/>
                </a:moveTo>
                <a:lnTo>
                  <a:pt x="1482217" y="1015"/>
                </a:lnTo>
                <a:lnTo>
                  <a:pt x="1478661" y="7112"/>
                </a:lnTo>
                <a:lnTo>
                  <a:pt x="1479677" y="10922"/>
                </a:lnTo>
                <a:lnTo>
                  <a:pt x="1549563" y="51688"/>
                </a:lnTo>
                <a:lnTo>
                  <a:pt x="1558925" y="46227"/>
                </a:lnTo>
                <a:lnTo>
                  <a:pt x="1562100" y="46227"/>
                </a:lnTo>
                <a:lnTo>
                  <a:pt x="1562100" y="45338"/>
                </a:lnTo>
                <a:lnTo>
                  <a:pt x="1563782" y="45338"/>
                </a:lnTo>
                <a:lnTo>
                  <a:pt x="1486027" y="0"/>
                </a:lnTo>
                <a:close/>
              </a:path>
              <a:path w="1574800" h="103504">
                <a:moveTo>
                  <a:pt x="1473200" y="45338"/>
                </a:moveTo>
                <a:lnTo>
                  <a:pt x="1422400" y="45338"/>
                </a:lnTo>
                <a:lnTo>
                  <a:pt x="1422400" y="58038"/>
                </a:lnTo>
                <a:lnTo>
                  <a:pt x="1473200" y="58038"/>
                </a:lnTo>
                <a:lnTo>
                  <a:pt x="1473200" y="45338"/>
                </a:lnTo>
                <a:close/>
              </a:path>
              <a:path w="1574800" h="103504">
                <a:moveTo>
                  <a:pt x="1384300" y="45338"/>
                </a:moveTo>
                <a:lnTo>
                  <a:pt x="1333500" y="45338"/>
                </a:lnTo>
                <a:lnTo>
                  <a:pt x="1333500" y="58038"/>
                </a:lnTo>
                <a:lnTo>
                  <a:pt x="1384300" y="58038"/>
                </a:lnTo>
                <a:lnTo>
                  <a:pt x="1384300" y="45338"/>
                </a:lnTo>
                <a:close/>
              </a:path>
              <a:path w="1574800" h="103504">
                <a:moveTo>
                  <a:pt x="1295400" y="45338"/>
                </a:moveTo>
                <a:lnTo>
                  <a:pt x="1244600" y="45338"/>
                </a:lnTo>
                <a:lnTo>
                  <a:pt x="1244600" y="58038"/>
                </a:lnTo>
                <a:lnTo>
                  <a:pt x="1295400" y="58038"/>
                </a:lnTo>
                <a:lnTo>
                  <a:pt x="1295400" y="45338"/>
                </a:lnTo>
                <a:close/>
              </a:path>
              <a:path w="1574800" h="103504">
                <a:moveTo>
                  <a:pt x="1206500" y="45338"/>
                </a:moveTo>
                <a:lnTo>
                  <a:pt x="1155700" y="45338"/>
                </a:lnTo>
                <a:lnTo>
                  <a:pt x="1155700" y="58038"/>
                </a:lnTo>
                <a:lnTo>
                  <a:pt x="1206500" y="58038"/>
                </a:lnTo>
                <a:lnTo>
                  <a:pt x="1206500" y="45338"/>
                </a:lnTo>
                <a:close/>
              </a:path>
              <a:path w="1574800" h="103504">
                <a:moveTo>
                  <a:pt x="1117600" y="45338"/>
                </a:moveTo>
                <a:lnTo>
                  <a:pt x="1066800" y="45338"/>
                </a:lnTo>
                <a:lnTo>
                  <a:pt x="1066800" y="58038"/>
                </a:lnTo>
                <a:lnTo>
                  <a:pt x="1117600" y="58038"/>
                </a:lnTo>
                <a:lnTo>
                  <a:pt x="1117600" y="45338"/>
                </a:lnTo>
                <a:close/>
              </a:path>
              <a:path w="1574800" h="103504">
                <a:moveTo>
                  <a:pt x="1028700" y="45338"/>
                </a:moveTo>
                <a:lnTo>
                  <a:pt x="977900" y="45338"/>
                </a:lnTo>
                <a:lnTo>
                  <a:pt x="977900" y="58038"/>
                </a:lnTo>
                <a:lnTo>
                  <a:pt x="1028700" y="58038"/>
                </a:lnTo>
                <a:lnTo>
                  <a:pt x="1028700" y="45338"/>
                </a:lnTo>
                <a:close/>
              </a:path>
              <a:path w="1574800" h="103504">
                <a:moveTo>
                  <a:pt x="939800" y="45338"/>
                </a:moveTo>
                <a:lnTo>
                  <a:pt x="889000" y="45338"/>
                </a:lnTo>
                <a:lnTo>
                  <a:pt x="889000" y="58038"/>
                </a:lnTo>
                <a:lnTo>
                  <a:pt x="939800" y="58038"/>
                </a:lnTo>
                <a:lnTo>
                  <a:pt x="939800" y="45338"/>
                </a:lnTo>
                <a:close/>
              </a:path>
              <a:path w="1574800" h="103504">
                <a:moveTo>
                  <a:pt x="850900" y="45338"/>
                </a:moveTo>
                <a:lnTo>
                  <a:pt x="800100" y="45338"/>
                </a:lnTo>
                <a:lnTo>
                  <a:pt x="800100" y="58038"/>
                </a:lnTo>
                <a:lnTo>
                  <a:pt x="850900" y="58038"/>
                </a:lnTo>
                <a:lnTo>
                  <a:pt x="850900" y="45338"/>
                </a:lnTo>
                <a:close/>
              </a:path>
              <a:path w="1574800" h="103504">
                <a:moveTo>
                  <a:pt x="762000" y="45338"/>
                </a:moveTo>
                <a:lnTo>
                  <a:pt x="711200" y="45338"/>
                </a:lnTo>
                <a:lnTo>
                  <a:pt x="711200" y="58038"/>
                </a:lnTo>
                <a:lnTo>
                  <a:pt x="762000" y="58038"/>
                </a:lnTo>
                <a:lnTo>
                  <a:pt x="762000" y="45338"/>
                </a:lnTo>
                <a:close/>
              </a:path>
              <a:path w="1574800" h="103504">
                <a:moveTo>
                  <a:pt x="673100" y="45338"/>
                </a:moveTo>
                <a:lnTo>
                  <a:pt x="622300" y="45338"/>
                </a:lnTo>
                <a:lnTo>
                  <a:pt x="622300" y="58038"/>
                </a:lnTo>
                <a:lnTo>
                  <a:pt x="673100" y="58038"/>
                </a:lnTo>
                <a:lnTo>
                  <a:pt x="673100" y="45338"/>
                </a:lnTo>
                <a:close/>
              </a:path>
              <a:path w="1574800" h="103504">
                <a:moveTo>
                  <a:pt x="584200" y="45338"/>
                </a:moveTo>
                <a:lnTo>
                  <a:pt x="533400" y="45338"/>
                </a:lnTo>
                <a:lnTo>
                  <a:pt x="533400" y="58038"/>
                </a:lnTo>
                <a:lnTo>
                  <a:pt x="584200" y="58038"/>
                </a:lnTo>
                <a:lnTo>
                  <a:pt x="584200" y="45338"/>
                </a:lnTo>
                <a:close/>
              </a:path>
              <a:path w="1574800" h="103504">
                <a:moveTo>
                  <a:pt x="495300" y="45338"/>
                </a:moveTo>
                <a:lnTo>
                  <a:pt x="444500" y="45338"/>
                </a:lnTo>
                <a:lnTo>
                  <a:pt x="444500" y="58038"/>
                </a:lnTo>
                <a:lnTo>
                  <a:pt x="495300" y="58038"/>
                </a:lnTo>
                <a:lnTo>
                  <a:pt x="495300" y="45338"/>
                </a:lnTo>
                <a:close/>
              </a:path>
              <a:path w="1574800" h="103504">
                <a:moveTo>
                  <a:pt x="406400" y="45338"/>
                </a:moveTo>
                <a:lnTo>
                  <a:pt x="355600" y="45338"/>
                </a:lnTo>
                <a:lnTo>
                  <a:pt x="355600" y="58038"/>
                </a:lnTo>
                <a:lnTo>
                  <a:pt x="406400" y="58038"/>
                </a:lnTo>
                <a:lnTo>
                  <a:pt x="406400" y="45338"/>
                </a:lnTo>
                <a:close/>
              </a:path>
              <a:path w="1574800" h="103504">
                <a:moveTo>
                  <a:pt x="317500" y="45338"/>
                </a:moveTo>
                <a:lnTo>
                  <a:pt x="266700" y="45338"/>
                </a:lnTo>
                <a:lnTo>
                  <a:pt x="266700" y="58038"/>
                </a:lnTo>
                <a:lnTo>
                  <a:pt x="317500" y="58038"/>
                </a:lnTo>
                <a:lnTo>
                  <a:pt x="317500" y="45338"/>
                </a:lnTo>
                <a:close/>
              </a:path>
              <a:path w="1574800" h="103504">
                <a:moveTo>
                  <a:pt x="228600" y="45338"/>
                </a:moveTo>
                <a:lnTo>
                  <a:pt x="177800" y="45338"/>
                </a:lnTo>
                <a:lnTo>
                  <a:pt x="177800" y="58038"/>
                </a:lnTo>
                <a:lnTo>
                  <a:pt x="228600" y="58038"/>
                </a:lnTo>
                <a:lnTo>
                  <a:pt x="228600" y="45338"/>
                </a:lnTo>
                <a:close/>
              </a:path>
              <a:path w="1574800" h="103504">
                <a:moveTo>
                  <a:pt x="139700" y="45338"/>
                </a:moveTo>
                <a:lnTo>
                  <a:pt x="88900" y="45338"/>
                </a:lnTo>
                <a:lnTo>
                  <a:pt x="88900" y="58038"/>
                </a:lnTo>
                <a:lnTo>
                  <a:pt x="139700" y="58038"/>
                </a:lnTo>
                <a:lnTo>
                  <a:pt x="139700" y="45338"/>
                </a:lnTo>
                <a:close/>
              </a:path>
              <a:path w="1574800" h="103504">
                <a:moveTo>
                  <a:pt x="50800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50800" y="58038"/>
                </a:lnTo>
                <a:lnTo>
                  <a:pt x="50800" y="45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23030" y="3960114"/>
            <a:ext cx="252095" cy="612140"/>
          </a:xfrm>
          <a:custGeom>
            <a:avLst/>
            <a:gdLst/>
            <a:ahLst/>
            <a:cxnLst/>
            <a:rect l="l" t="t" r="r" b="b"/>
            <a:pathLst>
              <a:path w="252095" h="612139">
                <a:moveTo>
                  <a:pt x="163068" y="537210"/>
                </a:moveTo>
                <a:lnTo>
                  <a:pt x="159131" y="537591"/>
                </a:lnTo>
                <a:lnTo>
                  <a:pt x="154686" y="543052"/>
                </a:lnTo>
                <a:lnTo>
                  <a:pt x="155067" y="547116"/>
                </a:lnTo>
                <a:lnTo>
                  <a:pt x="234569" y="611886"/>
                </a:lnTo>
                <a:lnTo>
                  <a:pt x="236203" y="602361"/>
                </a:lnTo>
                <a:lnTo>
                  <a:pt x="224155" y="602361"/>
                </a:lnTo>
                <a:lnTo>
                  <a:pt x="215956" y="580399"/>
                </a:lnTo>
                <a:lnTo>
                  <a:pt x="165735" y="539496"/>
                </a:lnTo>
                <a:lnTo>
                  <a:pt x="163068" y="537210"/>
                </a:lnTo>
                <a:close/>
              </a:path>
              <a:path w="252095" h="612139">
                <a:moveTo>
                  <a:pt x="215956" y="580399"/>
                </a:moveTo>
                <a:lnTo>
                  <a:pt x="224155" y="602361"/>
                </a:lnTo>
                <a:lnTo>
                  <a:pt x="233023" y="599059"/>
                </a:lnTo>
                <a:lnTo>
                  <a:pt x="223901" y="599059"/>
                </a:lnTo>
                <a:lnTo>
                  <a:pt x="225728" y="588359"/>
                </a:lnTo>
                <a:lnTo>
                  <a:pt x="215956" y="580399"/>
                </a:lnTo>
                <a:close/>
              </a:path>
              <a:path w="252095" h="612139">
                <a:moveTo>
                  <a:pt x="242570" y="506349"/>
                </a:moveTo>
                <a:lnTo>
                  <a:pt x="239395" y="508635"/>
                </a:lnTo>
                <a:lnTo>
                  <a:pt x="238760" y="512063"/>
                </a:lnTo>
                <a:lnTo>
                  <a:pt x="227861" y="575868"/>
                </a:lnTo>
                <a:lnTo>
                  <a:pt x="236093" y="597916"/>
                </a:lnTo>
                <a:lnTo>
                  <a:pt x="224155" y="602361"/>
                </a:lnTo>
                <a:lnTo>
                  <a:pt x="236203" y="602361"/>
                </a:lnTo>
                <a:lnTo>
                  <a:pt x="251333" y="514223"/>
                </a:lnTo>
                <a:lnTo>
                  <a:pt x="251841" y="510794"/>
                </a:lnTo>
                <a:lnTo>
                  <a:pt x="249555" y="507492"/>
                </a:lnTo>
                <a:lnTo>
                  <a:pt x="246126" y="506856"/>
                </a:lnTo>
                <a:lnTo>
                  <a:pt x="242570" y="506349"/>
                </a:lnTo>
                <a:close/>
              </a:path>
              <a:path w="252095" h="612139">
                <a:moveTo>
                  <a:pt x="225728" y="588359"/>
                </a:moveTo>
                <a:lnTo>
                  <a:pt x="223901" y="599059"/>
                </a:lnTo>
                <a:lnTo>
                  <a:pt x="234188" y="595249"/>
                </a:lnTo>
                <a:lnTo>
                  <a:pt x="225728" y="588359"/>
                </a:lnTo>
                <a:close/>
              </a:path>
              <a:path w="252095" h="612139">
                <a:moveTo>
                  <a:pt x="227861" y="575868"/>
                </a:moveTo>
                <a:lnTo>
                  <a:pt x="225728" y="588359"/>
                </a:lnTo>
                <a:lnTo>
                  <a:pt x="234188" y="595249"/>
                </a:lnTo>
                <a:lnTo>
                  <a:pt x="223901" y="599059"/>
                </a:lnTo>
                <a:lnTo>
                  <a:pt x="233023" y="599059"/>
                </a:lnTo>
                <a:lnTo>
                  <a:pt x="236093" y="597916"/>
                </a:lnTo>
                <a:lnTo>
                  <a:pt x="227861" y="575868"/>
                </a:lnTo>
                <a:close/>
              </a:path>
              <a:path w="252095" h="612139">
                <a:moveTo>
                  <a:pt x="218313" y="550291"/>
                </a:moveTo>
                <a:lnTo>
                  <a:pt x="206375" y="554736"/>
                </a:lnTo>
                <a:lnTo>
                  <a:pt x="215956" y="580399"/>
                </a:lnTo>
                <a:lnTo>
                  <a:pt x="225728" y="588359"/>
                </a:lnTo>
                <a:lnTo>
                  <a:pt x="227861" y="575868"/>
                </a:lnTo>
                <a:lnTo>
                  <a:pt x="218313" y="550291"/>
                </a:lnTo>
                <a:close/>
              </a:path>
              <a:path w="252095" h="612139">
                <a:moveTo>
                  <a:pt x="187071" y="467106"/>
                </a:moveTo>
                <a:lnTo>
                  <a:pt x="175133" y="471550"/>
                </a:lnTo>
                <a:lnTo>
                  <a:pt x="193040" y="519049"/>
                </a:lnTo>
                <a:lnTo>
                  <a:pt x="204851" y="514604"/>
                </a:lnTo>
                <a:lnTo>
                  <a:pt x="187071" y="467106"/>
                </a:lnTo>
                <a:close/>
              </a:path>
              <a:path w="252095" h="612139">
                <a:moveTo>
                  <a:pt x="155829" y="383794"/>
                </a:moveTo>
                <a:lnTo>
                  <a:pt x="143891" y="388238"/>
                </a:lnTo>
                <a:lnTo>
                  <a:pt x="161798" y="435863"/>
                </a:lnTo>
                <a:lnTo>
                  <a:pt x="173609" y="431419"/>
                </a:lnTo>
                <a:lnTo>
                  <a:pt x="155829" y="383794"/>
                </a:lnTo>
                <a:close/>
              </a:path>
              <a:path w="252095" h="612139">
                <a:moveTo>
                  <a:pt x="124587" y="300609"/>
                </a:moveTo>
                <a:lnTo>
                  <a:pt x="112776" y="305054"/>
                </a:lnTo>
                <a:lnTo>
                  <a:pt x="130556" y="352679"/>
                </a:lnTo>
                <a:lnTo>
                  <a:pt x="142494" y="348106"/>
                </a:lnTo>
                <a:lnTo>
                  <a:pt x="124587" y="300609"/>
                </a:lnTo>
                <a:close/>
              </a:path>
              <a:path w="252095" h="612139">
                <a:moveTo>
                  <a:pt x="93345" y="217297"/>
                </a:moveTo>
                <a:lnTo>
                  <a:pt x="81534" y="221869"/>
                </a:lnTo>
                <a:lnTo>
                  <a:pt x="99314" y="269367"/>
                </a:lnTo>
                <a:lnTo>
                  <a:pt x="111252" y="264922"/>
                </a:lnTo>
                <a:lnTo>
                  <a:pt x="93345" y="217297"/>
                </a:lnTo>
                <a:close/>
              </a:path>
              <a:path w="252095" h="612139">
                <a:moveTo>
                  <a:pt x="62230" y="134112"/>
                </a:moveTo>
                <a:lnTo>
                  <a:pt x="50292" y="138556"/>
                </a:lnTo>
                <a:lnTo>
                  <a:pt x="68072" y="186181"/>
                </a:lnTo>
                <a:lnTo>
                  <a:pt x="80010" y="181737"/>
                </a:lnTo>
                <a:lnTo>
                  <a:pt x="62230" y="134112"/>
                </a:lnTo>
                <a:close/>
              </a:path>
              <a:path w="252095" h="612139">
                <a:moveTo>
                  <a:pt x="30988" y="50927"/>
                </a:moveTo>
                <a:lnTo>
                  <a:pt x="19050" y="55372"/>
                </a:lnTo>
                <a:lnTo>
                  <a:pt x="36957" y="102869"/>
                </a:lnTo>
                <a:lnTo>
                  <a:pt x="48768" y="98425"/>
                </a:lnTo>
                <a:lnTo>
                  <a:pt x="30988" y="50927"/>
                </a:lnTo>
                <a:close/>
              </a:path>
              <a:path w="252095" h="612139">
                <a:moveTo>
                  <a:pt x="11938" y="0"/>
                </a:moveTo>
                <a:lnTo>
                  <a:pt x="0" y="4572"/>
                </a:lnTo>
                <a:lnTo>
                  <a:pt x="5715" y="19685"/>
                </a:lnTo>
                <a:lnTo>
                  <a:pt x="17653" y="15240"/>
                </a:lnTo>
                <a:lnTo>
                  <a:pt x="11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59859" y="3804158"/>
            <a:ext cx="1755139" cy="780415"/>
          </a:xfrm>
          <a:custGeom>
            <a:avLst/>
            <a:gdLst/>
            <a:ahLst/>
            <a:cxnLst/>
            <a:rect l="l" t="t" r="r" b="b"/>
            <a:pathLst>
              <a:path w="1755139" h="780414">
                <a:moveTo>
                  <a:pt x="1719579" y="759305"/>
                </a:moveTo>
                <a:lnTo>
                  <a:pt x="1655317" y="766953"/>
                </a:lnTo>
                <a:lnTo>
                  <a:pt x="1651762" y="767334"/>
                </a:lnTo>
                <a:lnTo>
                  <a:pt x="1649349" y="770509"/>
                </a:lnTo>
                <a:lnTo>
                  <a:pt x="1650111" y="777494"/>
                </a:lnTo>
                <a:lnTo>
                  <a:pt x="1653286" y="779907"/>
                </a:lnTo>
                <a:lnTo>
                  <a:pt x="1748720" y="768604"/>
                </a:lnTo>
                <a:lnTo>
                  <a:pt x="1741042" y="768604"/>
                </a:lnTo>
                <a:lnTo>
                  <a:pt x="1719579" y="759305"/>
                </a:lnTo>
                <a:close/>
              </a:path>
              <a:path w="1755139" h="780414">
                <a:moveTo>
                  <a:pt x="1732077" y="757817"/>
                </a:moveTo>
                <a:lnTo>
                  <a:pt x="1719579" y="759305"/>
                </a:lnTo>
                <a:lnTo>
                  <a:pt x="1741042" y="768604"/>
                </a:lnTo>
                <a:lnTo>
                  <a:pt x="1741936" y="766572"/>
                </a:lnTo>
                <a:lnTo>
                  <a:pt x="1738502" y="766572"/>
                </a:lnTo>
                <a:lnTo>
                  <a:pt x="1732077" y="757817"/>
                </a:lnTo>
                <a:close/>
              </a:path>
              <a:path w="1755139" h="780414">
                <a:moveTo>
                  <a:pt x="1690497" y="684530"/>
                </a:moveTo>
                <a:lnTo>
                  <a:pt x="1684909" y="688594"/>
                </a:lnTo>
                <a:lnTo>
                  <a:pt x="1684274" y="692658"/>
                </a:lnTo>
                <a:lnTo>
                  <a:pt x="1686305" y="695452"/>
                </a:lnTo>
                <a:lnTo>
                  <a:pt x="1724637" y="747680"/>
                </a:lnTo>
                <a:lnTo>
                  <a:pt x="1746123" y="757047"/>
                </a:lnTo>
                <a:lnTo>
                  <a:pt x="1741042" y="768604"/>
                </a:lnTo>
                <a:lnTo>
                  <a:pt x="1748720" y="768604"/>
                </a:lnTo>
                <a:lnTo>
                  <a:pt x="1755139" y="767842"/>
                </a:lnTo>
                <a:lnTo>
                  <a:pt x="1696592" y="687959"/>
                </a:lnTo>
                <a:lnTo>
                  <a:pt x="1694561" y="685038"/>
                </a:lnTo>
                <a:lnTo>
                  <a:pt x="1690497" y="684530"/>
                </a:lnTo>
                <a:close/>
              </a:path>
              <a:path w="1755139" h="780414">
                <a:moveTo>
                  <a:pt x="1742820" y="756539"/>
                </a:moveTo>
                <a:lnTo>
                  <a:pt x="1732077" y="757817"/>
                </a:lnTo>
                <a:lnTo>
                  <a:pt x="1738502" y="766572"/>
                </a:lnTo>
                <a:lnTo>
                  <a:pt x="1742820" y="756539"/>
                </a:lnTo>
                <a:close/>
              </a:path>
              <a:path w="1755139" h="780414">
                <a:moveTo>
                  <a:pt x="1744957" y="756539"/>
                </a:moveTo>
                <a:lnTo>
                  <a:pt x="1742820" y="756539"/>
                </a:lnTo>
                <a:lnTo>
                  <a:pt x="1738502" y="766572"/>
                </a:lnTo>
                <a:lnTo>
                  <a:pt x="1741936" y="766572"/>
                </a:lnTo>
                <a:lnTo>
                  <a:pt x="1746123" y="757047"/>
                </a:lnTo>
                <a:lnTo>
                  <a:pt x="1744957" y="756539"/>
                </a:lnTo>
                <a:close/>
              </a:path>
              <a:path w="1755139" h="780414">
                <a:moveTo>
                  <a:pt x="1699514" y="736727"/>
                </a:moveTo>
                <a:lnTo>
                  <a:pt x="1694434" y="748411"/>
                </a:lnTo>
                <a:lnTo>
                  <a:pt x="1719579" y="759305"/>
                </a:lnTo>
                <a:lnTo>
                  <a:pt x="1732077" y="757817"/>
                </a:lnTo>
                <a:lnTo>
                  <a:pt x="1724637" y="747680"/>
                </a:lnTo>
                <a:lnTo>
                  <a:pt x="1699514" y="736727"/>
                </a:lnTo>
                <a:close/>
              </a:path>
              <a:path w="1755139" h="780414">
                <a:moveTo>
                  <a:pt x="1724637" y="747680"/>
                </a:moveTo>
                <a:lnTo>
                  <a:pt x="1732077" y="757817"/>
                </a:lnTo>
                <a:lnTo>
                  <a:pt x="1742820" y="756539"/>
                </a:lnTo>
                <a:lnTo>
                  <a:pt x="1744957" y="756539"/>
                </a:lnTo>
                <a:lnTo>
                  <a:pt x="1724637" y="747680"/>
                </a:lnTo>
                <a:close/>
              </a:path>
              <a:path w="1755139" h="780414">
                <a:moveTo>
                  <a:pt x="1617979" y="701294"/>
                </a:moveTo>
                <a:lnTo>
                  <a:pt x="1612900" y="712978"/>
                </a:lnTo>
                <a:lnTo>
                  <a:pt x="1659509" y="733171"/>
                </a:lnTo>
                <a:lnTo>
                  <a:pt x="1664589" y="721614"/>
                </a:lnTo>
                <a:lnTo>
                  <a:pt x="1617979" y="701294"/>
                </a:lnTo>
                <a:close/>
              </a:path>
              <a:path w="1755139" h="780414">
                <a:moveTo>
                  <a:pt x="1536445" y="665861"/>
                </a:moveTo>
                <a:lnTo>
                  <a:pt x="1531492" y="677545"/>
                </a:lnTo>
                <a:lnTo>
                  <a:pt x="1577975" y="697738"/>
                </a:lnTo>
                <a:lnTo>
                  <a:pt x="1583054" y="686054"/>
                </a:lnTo>
                <a:lnTo>
                  <a:pt x="1536445" y="665861"/>
                </a:lnTo>
                <a:close/>
              </a:path>
              <a:path w="1755139" h="780414">
                <a:moveTo>
                  <a:pt x="1454912" y="630428"/>
                </a:moveTo>
                <a:lnTo>
                  <a:pt x="1449959" y="642112"/>
                </a:lnTo>
                <a:lnTo>
                  <a:pt x="1496440" y="662305"/>
                </a:lnTo>
                <a:lnTo>
                  <a:pt x="1501520" y="650621"/>
                </a:lnTo>
                <a:lnTo>
                  <a:pt x="1454912" y="630428"/>
                </a:lnTo>
                <a:close/>
              </a:path>
              <a:path w="1755139" h="780414">
                <a:moveTo>
                  <a:pt x="1373377" y="594995"/>
                </a:moveTo>
                <a:lnTo>
                  <a:pt x="1368425" y="606552"/>
                </a:lnTo>
                <a:lnTo>
                  <a:pt x="1414906" y="626872"/>
                </a:lnTo>
                <a:lnTo>
                  <a:pt x="1419987" y="615188"/>
                </a:lnTo>
                <a:lnTo>
                  <a:pt x="1373377" y="594995"/>
                </a:lnTo>
                <a:close/>
              </a:path>
              <a:path w="1755139" h="780414">
                <a:moveTo>
                  <a:pt x="1291970" y="559562"/>
                </a:moveTo>
                <a:lnTo>
                  <a:pt x="1286890" y="571119"/>
                </a:lnTo>
                <a:lnTo>
                  <a:pt x="1333373" y="591439"/>
                </a:lnTo>
                <a:lnTo>
                  <a:pt x="1338452" y="579755"/>
                </a:lnTo>
                <a:lnTo>
                  <a:pt x="1291970" y="559562"/>
                </a:lnTo>
                <a:close/>
              </a:path>
              <a:path w="1755139" h="780414">
                <a:moveTo>
                  <a:pt x="1210437" y="524129"/>
                </a:moveTo>
                <a:lnTo>
                  <a:pt x="1205356" y="535686"/>
                </a:lnTo>
                <a:lnTo>
                  <a:pt x="1251965" y="556006"/>
                </a:lnTo>
                <a:lnTo>
                  <a:pt x="1256918" y="544322"/>
                </a:lnTo>
                <a:lnTo>
                  <a:pt x="1210437" y="524129"/>
                </a:lnTo>
                <a:close/>
              </a:path>
              <a:path w="1755139" h="780414">
                <a:moveTo>
                  <a:pt x="1128902" y="488569"/>
                </a:moveTo>
                <a:lnTo>
                  <a:pt x="1123823" y="500253"/>
                </a:lnTo>
                <a:lnTo>
                  <a:pt x="1170431" y="520573"/>
                </a:lnTo>
                <a:lnTo>
                  <a:pt x="1175385" y="508889"/>
                </a:lnTo>
                <a:lnTo>
                  <a:pt x="1128902" y="488569"/>
                </a:lnTo>
                <a:close/>
              </a:path>
              <a:path w="1755139" h="780414">
                <a:moveTo>
                  <a:pt x="1047368" y="453136"/>
                </a:moveTo>
                <a:lnTo>
                  <a:pt x="1042288" y="464820"/>
                </a:lnTo>
                <a:lnTo>
                  <a:pt x="1088898" y="485013"/>
                </a:lnTo>
                <a:lnTo>
                  <a:pt x="1093977" y="473456"/>
                </a:lnTo>
                <a:lnTo>
                  <a:pt x="1047368" y="453136"/>
                </a:lnTo>
                <a:close/>
              </a:path>
              <a:path w="1755139" h="780414">
                <a:moveTo>
                  <a:pt x="965835" y="417703"/>
                </a:moveTo>
                <a:lnTo>
                  <a:pt x="960754" y="429387"/>
                </a:lnTo>
                <a:lnTo>
                  <a:pt x="1007363" y="449580"/>
                </a:lnTo>
                <a:lnTo>
                  <a:pt x="1012443" y="438023"/>
                </a:lnTo>
                <a:lnTo>
                  <a:pt x="965835" y="417703"/>
                </a:lnTo>
                <a:close/>
              </a:path>
              <a:path w="1755139" h="780414">
                <a:moveTo>
                  <a:pt x="884301" y="382270"/>
                </a:moveTo>
                <a:lnTo>
                  <a:pt x="879220" y="393954"/>
                </a:lnTo>
                <a:lnTo>
                  <a:pt x="925829" y="414147"/>
                </a:lnTo>
                <a:lnTo>
                  <a:pt x="930910" y="402590"/>
                </a:lnTo>
                <a:lnTo>
                  <a:pt x="884301" y="382270"/>
                </a:lnTo>
                <a:close/>
              </a:path>
              <a:path w="1755139" h="780414">
                <a:moveTo>
                  <a:pt x="802766" y="346837"/>
                </a:moveTo>
                <a:lnTo>
                  <a:pt x="797687" y="358521"/>
                </a:lnTo>
                <a:lnTo>
                  <a:pt x="844295" y="378714"/>
                </a:lnTo>
                <a:lnTo>
                  <a:pt x="849376" y="367030"/>
                </a:lnTo>
                <a:lnTo>
                  <a:pt x="802766" y="346837"/>
                </a:lnTo>
                <a:close/>
              </a:path>
              <a:path w="1755139" h="780414">
                <a:moveTo>
                  <a:pt x="721232" y="311404"/>
                </a:moveTo>
                <a:lnTo>
                  <a:pt x="716152" y="323088"/>
                </a:lnTo>
                <a:lnTo>
                  <a:pt x="762762" y="343281"/>
                </a:lnTo>
                <a:lnTo>
                  <a:pt x="767841" y="331597"/>
                </a:lnTo>
                <a:lnTo>
                  <a:pt x="721232" y="311404"/>
                </a:lnTo>
                <a:close/>
              </a:path>
              <a:path w="1755139" h="780414">
                <a:moveTo>
                  <a:pt x="639699" y="275971"/>
                </a:moveTo>
                <a:lnTo>
                  <a:pt x="634618" y="287528"/>
                </a:lnTo>
                <a:lnTo>
                  <a:pt x="681227" y="307848"/>
                </a:lnTo>
                <a:lnTo>
                  <a:pt x="686307" y="296164"/>
                </a:lnTo>
                <a:lnTo>
                  <a:pt x="639699" y="275971"/>
                </a:lnTo>
                <a:close/>
              </a:path>
              <a:path w="1755139" h="780414">
                <a:moveTo>
                  <a:pt x="558164" y="240538"/>
                </a:moveTo>
                <a:lnTo>
                  <a:pt x="553085" y="252095"/>
                </a:lnTo>
                <a:lnTo>
                  <a:pt x="599693" y="272415"/>
                </a:lnTo>
                <a:lnTo>
                  <a:pt x="604774" y="260731"/>
                </a:lnTo>
                <a:lnTo>
                  <a:pt x="558164" y="240538"/>
                </a:lnTo>
                <a:close/>
              </a:path>
              <a:path w="1755139" h="780414">
                <a:moveTo>
                  <a:pt x="476630" y="205105"/>
                </a:moveTo>
                <a:lnTo>
                  <a:pt x="471550" y="216662"/>
                </a:lnTo>
                <a:lnTo>
                  <a:pt x="518160" y="236982"/>
                </a:lnTo>
                <a:lnTo>
                  <a:pt x="523239" y="225298"/>
                </a:lnTo>
                <a:lnTo>
                  <a:pt x="476630" y="205105"/>
                </a:lnTo>
                <a:close/>
              </a:path>
              <a:path w="1755139" h="780414">
                <a:moveTo>
                  <a:pt x="395097" y="169545"/>
                </a:moveTo>
                <a:lnTo>
                  <a:pt x="390016" y="181229"/>
                </a:lnTo>
                <a:lnTo>
                  <a:pt x="436625" y="201549"/>
                </a:lnTo>
                <a:lnTo>
                  <a:pt x="441705" y="189865"/>
                </a:lnTo>
                <a:lnTo>
                  <a:pt x="395097" y="169545"/>
                </a:lnTo>
                <a:close/>
              </a:path>
              <a:path w="1755139" h="780414">
                <a:moveTo>
                  <a:pt x="313563" y="134112"/>
                </a:moveTo>
                <a:lnTo>
                  <a:pt x="308482" y="145796"/>
                </a:lnTo>
                <a:lnTo>
                  <a:pt x="355091" y="166116"/>
                </a:lnTo>
                <a:lnTo>
                  <a:pt x="360172" y="154432"/>
                </a:lnTo>
                <a:lnTo>
                  <a:pt x="313563" y="134112"/>
                </a:lnTo>
                <a:close/>
              </a:path>
              <a:path w="1755139" h="780414">
                <a:moveTo>
                  <a:pt x="232028" y="98679"/>
                </a:moveTo>
                <a:lnTo>
                  <a:pt x="226949" y="110363"/>
                </a:lnTo>
                <a:lnTo>
                  <a:pt x="273557" y="130556"/>
                </a:lnTo>
                <a:lnTo>
                  <a:pt x="278638" y="118999"/>
                </a:lnTo>
                <a:lnTo>
                  <a:pt x="232028" y="98679"/>
                </a:lnTo>
                <a:close/>
              </a:path>
              <a:path w="1755139" h="780414">
                <a:moveTo>
                  <a:pt x="150494" y="63246"/>
                </a:moveTo>
                <a:lnTo>
                  <a:pt x="145414" y="74930"/>
                </a:lnTo>
                <a:lnTo>
                  <a:pt x="192024" y="95123"/>
                </a:lnTo>
                <a:lnTo>
                  <a:pt x="197103" y="83566"/>
                </a:lnTo>
                <a:lnTo>
                  <a:pt x="150494" y="63246"/>
                </a:lnTo>
                <a:close/>
              </a:path>
              <a:path w="1755139" h="780414">
                <a:moveTo>
                  <a:pt x="68961" y="27813"/>
                </a:moveTo>
                <a:lnTo>
                  <a:pt x="63880" y="39497"/>
                </a:lnTo>
                <a:lnTo>
                  <a:pt x="110489" y="59690"/>
                </a:lnTo>
                <a:lnTo>
                  <a:pt x="115569" y="48006"/>
                </a:lnTo>
                <a:lnTo>
                  <a:pt x="68961" y="27813"/>
                </a:lnTo>
                <a:close/>
              </a:path>
              <a:path w="1755139" h="780414">
                <a:moveTo>
                  <a:pt x="5079" y="0"/>
                </a:moveTo>
                <a:lnTo>
                  <a:pt x="0" y="11684"/>
                </a:lnTo>
                <a:lnTo>
                  <a:pt x="28955" y="24257"/>
                </a:lnTo>
                <a:lnTo>
                  <a:pt x="34036" y="12573"/>
                </a:lnTo>
                <a:lnTo>
                  <a:pt x="50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4058" y="357886"/>
            <a:ext cx="41351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应用接</a:t>
            </a:r>
            <a:r>
              <a:rPr spc="-10" dirty="0"/>
              <a:t>口</a:t>
            </a:r>
            <a:r>
              <a:rPr spc="-5" dirty="0">
                <a:latin typeface="Calibri"/>
                <a:cs typeface="Calibri"/>
              </a:rPr>
              <a:t>API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540" y="1360373"/>
            <a:ext cx="7664450" cy="1350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API</a:t>
            </a:r>
            <a:r>
              <a:rPr sz="2800" spc="-10" dirty="0">
                <a:latin typeface="宋体"/>
                <a:cs typeface="宋体"/>
              </a:rPr>
              <a:t>表示系统可编程的界面，可用接口和构件</a:t>
            </a:r>
            <a:r>
              <a:rPr sz="2800" dirty="0">
                <a:latin typeface="宋体"/>
                <a:cs typeface="宋体"/>
              </a:rPr>
              <a:t>表</a:t>
            </a:r>
            <a:r>
              <a:rPr sz="2800" spc="-5" dirty="0">
                <a:latin typeface="宋体"/>
                <a:cs typeface="宋体"/>
              </a:rPr>
              <a:t>示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宋体"/>
              <a:cs typeface="宋体"/>
            </a:endParaRPr>
          </a:p>
          <a:p>
            <a:pPr marL="372745">
              <a:lnSpc>
                <a:spcPct val="100000"/>
              </a:lnSpc>
            </a:pPr>
            <a:r>
              <a:rPr sz="2400" b="1" dirty="0">
                <a:latin typeface="宋体"/>
                <a:cs typeface="宋体"/>
              </a:rPr>
              <a:t>对API建模示例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85644" y="2974848"/>
            <a:ext cx="2286000" cy="1454150"/>
          </a:xfrm>
          <a:custGeom>
            <a:avLst/>
            <a:gdLst/>
            <a:ahLst/>
            <a:cxnLst/>
            <a:rect l="l" t="t" r="r" b="b"/>
            <a:pathLst>
              <a:path w="2286000" h="1454150">
                <a:moveTo>
                  <a:pt x="0" y="1453895"/>
                </a:moveTo>
                <a:lnTo>
                  <a:pt x="2286000" y="1453895"/>
                </a:lnTo>
                <a:lnTo>
                  <a:pt x="2286000" y="0"/>
                </a:lnTo>
                <a:lnTo>
                  <a:pt x="0" y="0"/>
                </a:lnTo>
                <a:lnTo>
                  <a:pt x="0" y="1453895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65195" y="3301364"/>
            <a:ext cx="14033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3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-10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.e</a:t>
            </a:r>
            <a:r>
              <a:rPr sz="2000" spc="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8995" y="3771138"/>
            <a:ext cx="14814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{versio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.2}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28444" y="3249167"/>
            <a:ext cx="788035" cy="335280"/>
          </a:xfrm>
          <a:custGeom>
            <a:avLst/>
            <a:gdLst/>
            <a:ahLst/>
            <a:cxnLst/>
            <a:rect l="l" t="t" r="r" b="b"/>
            <a:pathLst>
              <a:path w="788035" h="335279">
                <a:moveTo>
                  <a:pt x="0" y="335279"/>
                </a:moveTo>
                <a:lnTo>
                  <a:pt x="787907" y="335279"/>
                </a:lnTo>
                <a:lnTo>
                  <a:pt x="787907" y="0"/>
                </a:lnTo>
                <a:lnTo>
                  <a:pt x="0" y="0"/>
                </a:lnTo>
                <a:lnTo>
                  <a:pt x="0" y="3352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28444" y="3249167"/>
            <a:ext cx="788035" cy="335280"/>
          </a:xfrm>
          <a:custGeom>
            <a:avLst/>
            <a:gdLst/>
            <a:ahLst/>
            <a:cxnLst/>
            <a:rect l="l" t="t" r="r" b="b"/>
            <a:pathLst>
              <a:path w="788035" h="335279">
                <a:moveTo>
                  <a:pt x="0" y="335279"/>
                </a:moveTo>
                <a:lnTo>
                  <a:pt x="787907" y="335279"/>
                </a:lnTo>
                <a:lnTo>
                  <a:pt x="787907" y="0"/>
                </a:lnTo>
                <a:lnTo>
                  <a:pt x="0" y="0"/>
                </a:lnTo>
                <a:lnTo>
                  <a:pt x="0" y="33527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00044" y="4956047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8" y="146837"/>
                </a:lnTo>
                <a:lnTo>
                  <a:pt x="23237" y="106746"/>
                </a:lnTo>
                <a:lnTo>
                  <a:pt x="50225" y="71374"/>
                </a:lnTo>
                <a:lnTo>
                  <a:pt x="85628" y="41867"/>
                </a:lnTo>
                <a:lnTo>
                  <a:pt x="128073" y="19372"/>
                </a:lnTo>
                <a:lnTo>
                  <a:pt x="176188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0999"/>
                </a:lnTo>
                <a:lnTo>
                  <a:pt x="176188" y="375965"/>
                </a:lnTo>
                <a:lnTo>
                  <a:pt x="128073" y="361627"/>
                </a:lnTo>
                <a:lnTo>
                  <a:pt x="85628" y="339132"/>
                </a:lnTo>
                <a:lnTo>
                  <a:pt x="50225" y="309625"/>
                </a:lnTo>
                <a:lnTo>
                  <a:pt x="23237" y="274253"/>
                </a:lnTo>
                <a:lnTo>
                  <a:pt x="6038" y="234162"/>
                </a:lnTo>
                <a:lnTo>
                  <a:pt x="0" y="190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00443" y="2974848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8" y="146837"/>
                </a:lnTo>
                <a:lnTo>
                  <a:pt x="23237" y="106746"/>
                </a:lnTo>
                <a:lnTo>
                  <a:pt x="50225" y="71374"/>
                </a:lnTo>
                <a:lnTo>
                  <a:pt x="85628" y="41867"/>
                </a:lnTo>
                <a:lnTo>
                  <a:pt x="128073" y="19372"/>
                </a:lnTo>
                <a:lnTo>
                  <a:pt x="176188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8" y="375965"/>
                </a:lnTo>
                <a:lnTo>
                  <a:pt x="128073" y="361627"/>
                </a:lnTo>
                <a:lnTo>
                  <a:pt x="85628" y="339132"/>
                </a:lnTo>
                <a:lnTo>
                  <a:pt x="50225" y="309625"/>
                </a:lnTo>
                <a:lnTo>
                  <a:pt x="23237" y="274253"/>
                </a:lnTo>
                <a:lnTo>
                  <a:pt x="6038" y="234162"/>
                </a:lnTo>
                <a:lnTo>
                  <a:pt x="0" y="190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00443" y="3965447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8" y="146837"/>
                </a:lnTo>
                <a:lnTo>
                  <a:pt x="23237" y="106746"/>
                </a:lnTo>
                <a:lnTo>
                  <a:pt x="50225" y="71374"/>
                </a:lnTo>
                <a:lnTo>
                  <a:pt x="85628" y="41867"/>
                </a:lnTo>
                <a:lnTo>
                  <a:pt x="128073" y="19372"/>
                </a:lnTo>
                <a:lnTo>
                  <a:pt x="176188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8" y="375965"/>
                </a:lnTo>
                <a:lnTo>
                  <a:pt x="128073" y="361627"/>
                </a:lnTo>
                <a:lnTo>
                  <a:pt x="85628" y="339132"/>
                </a:lnTo>
                <a:lnTo>
                  <a:pt x="50225" y="309625"/>
                </a:lnTo>
                <a:lnTo>
                  <a:pt x="23237" y="274253"/>
                </a:lnTo>
                <a:lnTo>
                  <a:pt x="6038" y="234162"/>
                </a:lnTo>
                <a:lnTo>
                  <a:pt x="0" y="190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28444" y="3782567"/>
            <a:ext cx="788035" cy="335280"/>
          </a:xfrm>
          <a:custGeom>
            <a:avLst/>
            <a:gdLst/>
            <a:ahLst/>
            <a:cxnLst/>
            <a:rect l="l" t="t" r="r" b="b"/>
            <a:pathLst>
              <a:path w="788035" h="335279">
                <a:moveTo>
                  <a:pt x="0" y="335279"/>
                </a:moveTo>
                <a:lnTo>
                  <a:pt x="787907" y="335279"/>
                </a:lnTo>
                <a:lnTo>
                  <a:pt x="787907" y="0"/>
                </a:lnTo>
                <a:lnTo>
                  <a:pt x="0" y="0"/>
                </a:lnTo>
                <a:lnTo>
                  <a:pt x="0" y="3352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28444" y="3782567"/>
            <a:ext cx="788035" cy="335280"/>
          </a:xfrm>
          <a:custGeom>
            <a:avLst/>
            <a:gdLst/>
            <a:ahLst/>
            <a:cxnLst/>
            <a:rect l="l" t="t" r="r" b="b"/>
            <a:pathLst>
              <a:path w="788035" h="335279">
                <a:moveTo>
                  <a:pt x="0" y="335279"/>
                </a:moveTo>
                <a:lnTo>
                  <a:pt x="787907" y="335279"/>
                </a:lnTo>
                <a:lnTo>
                  <a:pt x="787907" y="0"/>
                </a:lnTo>
                <a:lnTo>
                  <a:pt x="0" y="0"/>
                </a:lnTo>
                <a:lnTo>
                  <a:pt x="0" y="33527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71644" y="3203448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71644" y="4117847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452108" y="3380613"/>
            <a:ext cx="7759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Isc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ipts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52108" y="4508119"/>
            <a:ext cx="10852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en</a:t>
            </a:r>
            <a:r>
              <a:rPr sz="2000" spc="5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28644" y="4422647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51073" y="5361838"/>
            <a:ext cx="8439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2035" y="167132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可执行构件建模</a:t>
            </a:r>
          </a:p>
        </p:txBody>
      </p:sp>
      <p:sp>
        <p:nvSpPr>
          <p:cNvPr id="3" name="object 3"/>
          <p:cNvSpPr/>
          <p:nvPr/>
        </p:nvSpPr>
        <p:spPr>
          <a:xfrm>
            <a:off x="1676400" y="2987039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0" y="762000"/>
                </a:moveTo>
                <a:lnTo>
                  <a:pt x="1905000" y="762000"/>
                </a:lnTo>
                <a:lnTo>
                  <a:pt x="19050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64817" y="3074670"/>
            <a:ext cx="13754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3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-10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lp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19200" y="344424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19200" y="344424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200" y="3139439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200" y="3139439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29200" y="2941320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0" y="761999"/>
                </a:moveTo>
                <a:lnTo>
                  <a:pt x="1905000" y="761999"/>
                </a:lnTo>
                <a:lnTo>
                  <a:pt x="1905000" y="0"/>
                </a:lnTo>
                <a:lnTo>
                  <a:pt x="0" y="0"/>
                </a:lnTo>
                <a:lnTo>
                  <a:pt x="0" y="7619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47208" y="3028010"/>
            <a:ext cx="13182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-10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.ini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0" y="339852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2000" y="339852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72000" y="309372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5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72000" y="309372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5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38400" y="4053840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0" y="762000"/>
                </a:moveTo>
                <a:lnTo>
                  <a:pt x="1905000" y="762000"/>
                </a:lnTo>
                <a:lnTo>
                  <a:pt x="19050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13482" y="4033520"/>
            <a:ext cx="14033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3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-10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.e</a:t>
            </a:r>
            <a:r>
              <a:rPr sz="2000" spc="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0998" y="4353559"/>
            <a:ext cx="14814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{versio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0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.2}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34895" y="451104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34895" y="451104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34895" y="420624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34895" y="4206240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7" y="153924"/>
                </a:lnTo>
                <a:lnTo>
                  <a:pt x="787907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62600" y="4101084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0" y="762000"/>
                </a:moveTo>
                <a:lnTo>
                  <a:pt x="1905000" y="762000"/>
                </a:lnTo>
                <a:lnTo>
                  <a:pt x="19050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022594" y="4187138"/>
            <a:ext cx="10521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Dia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5" dirty="0">
                <a:latin typeface="Times New Roman"/>
                <a:cs typeface="Times New Roman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ll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05400" y="45582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05400" y="45582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05400" y="42534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05400" y="42534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4"/>
                </a:moveTo>
                <a:lnTo>
                  <a:pt x="787908" y="153924"/>
                </a:lnTo>
                <a:lnTo>
                  <a:pt x="787908" y="0"/>
                </a:lnTo>
                <a:lnTo>
                  <a:pt x="0" y="0"/>
                </a:lnTo>
                <a:lnTo>
                  <a:pt x="0" y="1539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96696" y="5091684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0" y="761999"/>
                </a:moveTo>
                <a:lnTo>
                  <a:pt x="1905000" y="761999"/>
                </a:lnTo>
                <a:lnTo>
                  <a:pt x="1905000" y="0"/>
                </a:lnTo>
                <a:lnTo>
                  <a:pt x="0" y="0"/>
                </a:lnTo>
                <a:lnTo>
                  <a:pt x="0" y="76199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442466" y="5178297"/>
            <a:ext cx="10807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10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ll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39495" y="55488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39495" y="55488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9495" y="52440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9495" y="52440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739896" y="5091684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0" y="761999"/>
                </a:moveTo>
                <a:lnTo>
                  <a:pt x="1905000" y="761999"/>
                </a:lnTo>
                <a:lnTo>
                  <a:pt x="1905000" y="0"/>
                </a:lnTo>
                <a:lnTo>
                  <a:pt x="0" y="0"/>
                </a:lnTo>
                <a:lnTo>
                  <a:pt x="0" y="76199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089908" y="5178297"/>
            <a:ext cx="1265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Wrframe.dll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282696" y="55488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282696" y="55488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282696" y="52440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282696" y="5244084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5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300215" y="5547359"/>
            <a:ext cx="1905000" cy="762000"/>
          </a:xfrm>
          <a:custGeom>
            <a:avLst/>
            <a:gdLst/>
            <a:ahLst/>
            <a:cxnLst/>
            <a:rect l="l" t="t" r="r" b="b"/>
            <a:pathLst>
              <a:path w="1905000" h="762000">
                <a:moveTo>
                  <a:pt x="0" y="761999"/>
                </a:moveTo>
                <a:lnTo>
                  <a:pt x="1904999" y="761999"/>
                </a:lnTo>
                <a:lnTo>
                  <a:pt x="1904999" y="0"/>
                </a:lnTo>
                <a:lnTo>
                  <a:pt x="0" y="0"/>
                </a:lnTo>
                <a:lnTo>
                  <a:pt x="0" y="7619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747129" y="5634024"/>
            <a:ext cx="10801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apes.tbl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843015" y="6004559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4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843015" y="6004559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4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843015" y="5699759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4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843015" y="5699759"/>
            <a:ext cx="788035" cy="154305"/>
          </a:xfrm>
          <a:custGeom>
            <a:avLst/>
            <a:gdLst/>
            <a:ahLst/>
            <a:cxnLst/>
            <a:rect l="l" t="t" r="r" b="b"/>
            <a:pathLst>
              <a:path w="788034" h="154304">
                <a:moveTo>
                  <a:pt x="0" y="153923"/>
                </a:moveTo>
                <a:lnTo>
                  <a:pt x="787908" y="153923"/>
                </a:lnTo>
                <a:lnTo>
                  <a:pt x="787908" y="0"/>
                </a:lnTo>
                <a:lnTo>
                  <a:pt x="0" y="0"/>
                </a:lnTo>
                <a:lnTo>
                  <a:pt x="0" y="1539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10336" y="936520"/>
            <a:ext cx="7446645" cy="16871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Wingdings"/>
                <a:cs typeface="Wingdings"/>
              </a:rPr>
              <a:t></a:t>
            </a:r>
            <a:r>
              <a:rPr sz="2800" spc="-5" dirty="0">
                <a:latin typeface="宋体"/>
                <a:cs typeface="宋体"/>
              </a:rPr>
              <a:t>标识系统物理实现部分的附属构件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Wingdings"/>
                <a:cs typeface="Wingdings"/>
              </a:rPr>
              <a:t></a:t>
            </a:r>
            <a:r>
              <a:rPr sz="2800" spc="-10" dirty="0">
                <a:latin typeface="宋体"/>
                <a:cs typeface="宋体"/>
              </a:rPr>
              <a:t>构件与可执行程序、动态连接库</a:t>
            </a:r>
            <a:r>
              <a:rPr sz="2800" dirty="0">
                <a:latin typeface="宋体"/>
                <a:cs typeface="宋体"/>
              </a:rPr>
              <a:t>及</a:t>
            </a:r>
            <a:r>
              <a:rPr sz="2800" spc="-10" dirty="0">
                <a:latin typeface="宋体"/>
                <a:cs typeface="宋体"/>
              </a:rPr>
              <a:t>接口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10" dirty="0">
                <a:latin typeface="宋体"/>
                <a:cs typeface="宋体"/>
              </a:rPr>
              <a:t>关系</a:t>
            </a:r>
            <a:endParaRPr sz="2800">
              <a:latin typeface="宋体"/>
              <a:cs typeface="宋体"/>
            </a:endParaRPr>
          </a:p>
          <a:p>
            <a:pPr marL="192405">
              <a:lnSpc>
                <a:spcPct val="100000"/>
              </a:lnSpc>
              <a:spcBef>
                <a:spcPts val="2140"/>
              </a:spcBef>
            </a:pPr>
            <a:r>
              <a:rPr sz="2400" b="1" dirty="0">
                <a:latin typeface="宋体"/>
                <a:cs typeface="宋体"/>
              </a:rPr>
              <a:t>对表、文件和文档建模示例：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895600" y="3720084"/>
            <a:ext cx="300990" cy="300990"/>
          </a:xfrm>
          <a:custGeom>
            <a:avLst/>
            <a:gdLst/>
            <a:ahLst/>
            <a:cxnLst/>
            <a:rect l="l" t="t" r="r" b="b"/>
            <a:pathLst>
              <a:path w="300989" h="300989">
                <a:moveTo>
                  <a:pt x="76200" y="67310"/>
                </a:moveTo>
                <a:lnTo>
                  <a:pt x="67310" y="76200"/>
                </a:lnTo>
                <a:lnTo>
                  <a:pt x="103124" y="112141"/>
                </a:lnTo>
                <a:lnTo>
                  <a:pt x="112141" y="103124"/>
                </a:lnTo>
                <a:lnTo>
                  <a:pt x="76200" y="67310"/>
                </a:lnTo>
                <a:close/>
              </a:path>
              <a:path w="300989" h="300989">
                <a:moveTo>
                  <a:pt x="0" y="0"/>
                </a:moveTo>
                <a:lnTo>
                  <a:pt x="26035" y="99187"/>
                </a:lnTo>
                <a:lnTo>
                  <a:pt x="29591" y="101219"/>
                </a:lnTo>
                <a:lnTo>
                  <a:pt x="36322" y="99441"/>
                </a:lnTo>
                <a:lnTo>
                  <a:pt x="38354" y="96012"/>
                </a:lnTo>
                <a:lnTo>
                  <a:pt x="37464" y="92583"/>
                </a:lnTo>
                <a:lnTo>
                  <a:pt x="20955" y="29904"/>
                </a:lnTo>
                <a:lnTo>
                  <a:pt x="4444" y="13335"/>
                </a:lnTo>
                <a:lnTo>
                  <a:pt x="13335" y="4445"/>
                </a:lnTo>
                <a:lnTo>
                  <a:pt x="16934" y="4445"/>
                </a:lnTo>
                <a:lnTo>
                  <a:pt x="0" y="0"/>
                </a:lnTo>
                <a:close/>
              </a:path>
              <a:path w="300989" h="300989">
                <a:moveTo>
                  <a:pt x="17756" y="17756"/>
                </a:moveTo>
                <a:lnTo>
                  <a:pt x="20955" y="29904"/>
                </a:lnTo>
                <a:lnTo>
                  <a:pt x="40258" y="49276"/>
                </a:lnTo>
                <a:lnTo>
                  <a:pt x="49275" y="40259"/>
                </a:lnTo>
                <a:lnTo>
                  <a:pt x="29904" y="20955"/>
                </a:lnTo>
                <a:lnTo>
                  <a:pt x="17756" y="17756"/>
                </a:lnTo>
                <a:close/>
              </a:path>
              <a:path w="300989" h="300989">
                <a:moveTo>
                  <a:pt x="16934" y="4445"/>
                </a:moveTo>
                <a:lnTo>
                  <a:pt x="13335" y="4445"/>
                </a:lnTo>
                <a:lnTo>
                  <a:pt x="29904" y="20955"/>
                </a:lnTo>
                <a:lnTo>
                  <a:pt x="96012" y="38354"/>
                </a:lnTo>
                <a:lnTo>
                  <a:pt x="99441" y="36322"/>
                </a:lnTo>
                <a:lnTo>
                  <a:pt x="100330" y="32893"/>
                </a:lnTo>
                <a:lnTo>
                  <a:pt x="101218" y="29591"/>
                </a:lnTo>
                <a:lnTo>
                  <a:pt x="99187" y="26035"/>
                </a:lnTo>
                <a:lnTo>
                  <a:pt x="16934" y="4445"/>
                </a:lnTo>
                <a:close/>
              </a:path>
              <a:path w="300989" h="300989">
                <a:moveTo>
                  <a:pt x="13335" y="4445"/>
                </a:moveTo>
                <a:lnTo>
                  <a:pt x="4444" y="13335"/>
                </a:lnTo>
                <a:lnTo>
                  <a:pt x="20955" y="29904"/>
                </a:lnTo>
                <a:lnTo>
                  <a:pt x="17756" y="17756"/>
                </a:lnTo>
                <a:lnTo>
                  <a:pt x="7238" y="14986"/>
                </a:lnTo>
                <a:lnTo>
                  <a:pt x="14986" y="7239"/>
                </a:lnTo>
                <a:lnTo>
                  <a:pt x="16138" y="7239"/>
                </a:lnTo>
                <a:lnTo>
                  <a:pt x="13335" y="4445"/>
                </a:lnTo>
                <a:close/>
              </a:path>
              <a:path w="300989" h="300989">
                <a:moveTo>
                  <a:pt x="16138" y="7239"/>
                </a:moveTo>
                <a:lnTo>
                  <a:pt x="14986" y="7239"/>
                </a:lnTo>
                <a:lnTo>
                  <a:pt x="17756" y="17756"/>
                </a:lnTo>
                <a:lnTo>
                  <a:pt x="29904" y="20955"/>
                </a:lnTo>
                <a:lnTo>
                  <a:pt x="16138" y="7239"/>
                </a:lnTo>
                <a:close/>
              </a:path>
              <a:path w="300989" h="300989">
                <a:moveTo>
                  <a:pt x="14986" y="7239"/>
                </a:moveTo>
                <a:lnTo>
                  <a:pt x="7238" y="14986"/>
                </a:lnTo>
                <a:lnTo>
                  <a:pt x="17756" y="17756"/>
                </a:lnTo>
                <a:lnTo>
                  <a:pt x="14986" y="7239"/>
                </a:lnTo>
                <a:close/>
              </a:path>
              <a:path w="300989" h="300989">
                <a:moveTo>
                  <a:pt x="139064" y="130175"/>
                </a:moveTo>
                <a:lnTo>
                  <a:pt x="130175" y="139065"/>
                </a:lnTo>
                <a:lnTo>
                  <a:pt x="165988" y="175006"/>
                </a:lnTo>
                <a:lnTo>
                  <a:pt x="175006" y="165989"/>
                </a:lnTo>
                <a:lnTo>
                  <a:pt x="139064" y="130175"/>
                </a:lnTo>
                <a:close/>
              </a:path>
              <a:path w="300989" h="300989">
                <a:moveTo>
                  <a:pt x="201930" y="193040"/>
                </a:moveTo>
                <a:lnTo>
                  <a:pt x="193039" y="201930"/>
                </a:lnTo>
                <a:lnTo>
                  <a:pt x="228854" y="237871"/>
                </a:lnTo>
                <a:lnTo>
                  <a:pt x="237870" y="228854"/>
                </a:lnTo>
                <a:lnTo>
                  <a:pt x="201930" y="193040"/>
                </a:lnTo>
                <a:close/>
              </a:path>
              <a:path w="300989" h="300989">
                <a:moveTo>
                  <a:pt x="264794" y="255905"/>
                </a:moveTo>
                <a:lnTo>
                  <a:pt x="255905" y="264795"/>
                </a:lnTo>
                <a:lnTo>
                  <a:pt x="291719" y="300736"/>
                </a:lnTo>
                <a:lnTo>
                  <a:pt x="300736" y="291719"/>
                </a:lnTo>
                <a:lnTo>
                  <a:pt x="264794" y="255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113021" y="3694684"/>
            <a:ext cx="1068705" cy="336550"/>
          </a:xfrm>
          <a:custGeom>
            <a:avLst/>
            <a:gdLst/>
            <a:ahLst/>
            <a:cxnLst/>
            <a:rect l="l" t="t" r="r" b="b"/>
            <a:pathLst>
              <a:path w="1068704" h="336550">
                <a:moveTo>
                  <a:pt x="1058131" y="22733"/>
                </a:moveTo>
                <a:lnTo>
                  <a:pt x="1054735" y="22733"/>
                </a:lnTo>
                <a:lnTo>
                  <a:pt x="1058290" y="34925"/>
                </a:lnTo>
                <a:lnTo>
                  <a:pt x="1035763" y="41361"/>
                </a:lnTo>
                <a:lnTo>
                  <a:pt x="990853" y="88138"/>
                </a:lnTo>
                <a:lnTo>
                  <a:pt x="988440" y="90678"/>
                </a:lnTo>
                <a:lnTo>
                  <a:pt x="988567" y="94742"/>
                </a:lnTo>
                <a:lnTo>
                  <a:pt x="990980" y="97155"/>
                </a:lnTo>
                <a:lnTo>
                  <a:pt x="993520" y="99568"/>
                </a:lnTo>
                <a:lnTo>
                  <a:pt x="997585" y="99441"/>
                </a:lnTo>
                <a:lnTo>
                  <a:pt x="999998" y="96901"/>
                </a:lnTo>
                <a:lnTo>
                  <a:pt x="1068577" y="25400"/>
                </a:lnTo>
                <a:lnTo>
                  <a:pt x="1058131" y="22733"/>
                </a:lnTo>
                <a:close/>
              </a:path>
              <a:path w="1068704" h="336550">
                <a:moveTo>
                  <a:pt x="969263" y="47117"/>
                </a:moveTo>
                <a:lnTo>
                  <a:pt x="920368" y="61087"/>
                </a:lnTo>
                <a:lnTo>
                  <a:pt x="923925" y="73279"/>
                </a:lnTo>
                <a:lnTo>
                  <a:pt x="972692" y="59436"/>
                </a:lnTo>
                <a:lnTo>
                  <a:pt x="969263" y="47117"/>
                </a:lnTo>
                <a:close/>
              </a:path>
              <a:path w="1068704" h="336550">
                <a:moveTo>
                  <a:pt x="1032036" y="29218"/>
                </a:moveTo>
                <a:lnTo>
                  <a:pt x="1005839" y="36703"/>
                </a:lnTo>
                <a:lnTo>
                  <a:pt x="1009395" y="48895"/>
                </a:lnTo>
                <a:lnTo>
                  <a:pt x="1035763" y="41361"/>
                </a:lnTo>
                <a:lnTo>
                  <a:pt x="1044390" y="32375"/>
                </a:lnTo>
                <a:lnTo>
                  <a:pt x="1032036" y="29218"/>
                </a:lnTo>
                <a:close/>
              </a:path>
              <a:path w="1068704" h="336550">
                <a:moveTo>
                  <a:pt x="1044390" y="32375"/>
                </a:moveTo>
                <a:lnTo>
                  <a:pt x="1035763" y="41361"/>
                </a:lnTo>
                <a:lnTo>
                  <a:pt x="1057846" y="35052"/>
                </a:lnTo>
                <a:lnTo>
                  <a:pt x="1054862" y="35052"/>
                </a:lnTo>
                <a:lnTo>
                  <a:pt x="1044390" y="32375"/>
                </a:lnTo>
                <a:close/>
              </a:path>
              <a:path w="1068704" h="336550">
                <a:moveTo>
                  <a:pt x="1051940" y="24511"/>
                </a:moveTo>
                <a:lnTo>
                  <a:pt x="1044390" y="32375"/>
                </a:lnTo>
                <a:lnTo>
                  <a:pt x="1054862" y="35052"/>
                </a:lnTo>
                <a:lnTo>
                  <a:pt x="1051940" y="24511"/>
                </a:lnTo>
                <a:close/>
              </a:path>
              <a:path w="1068704" h="336550">
                <a:moveTo>
                  <a:pt x="1055253" y="24511"/>
                </a:moveTo>
                <a:lnTo>
                  <a:pt x="1051940" y="24511"/>
                </a:lnTo>
                <a:lnTo>
                  <a:pt x="1054862" y="35052"/>
                </a:lnTo>
                <a:lnTo>
                  <a:pt x="1057846" y="35052"/>
                </a:lnTo>
                <a:lnTo>
                  <a:pt x="1058290" y="34925"/>
                </a:lnTo>
                <a:lnTo>
                  <a:pt x="1055253" y="24511"/>
                </a:lnTo>
                <a:close/>
              </a:path>
              <a:path w="1068704" h="336550">
                <a:moveTo>
                  <a:pt x="1054735" y="22733"/>
                </a:moveTo>
                <a:lnTo>
                  <a:pt x="1032036" y="29218"/>
                </a:lnTo>
                <a:lnTo>
                  <a:pt x="1044390" y="32375"/>
                </a:lnTo>
                <a:lnTo>
                  <a:pt x="1051940" y="24511"/>
                </a:lnTo>
                <a:lnTo>
                  <a:pt x="1055253" y="24511"/>
                </a:lnTo>
                <a:lnTo>
                  <a:pt x="1054735" y="22733"/>
                </a:lnTo>
                <a:close/>
              </a:path>
              <a:path w="1068704" h="336550">
                <a:moveTo>
                  <a:pt x="969137" y="0"/>
                </a:moveTo>
                <a:lnTo>
                  <a:pt x="965707" y="2032"/>
                </a:lnTo>
                <a:lnTo>
                  <a:pt x="963929" y="8890"/>
                </a:lnTo>
                <a:lnTo>
                  <a:pt x="966088" y="12319"/>
                </a:lnTo>
                <a:lnTo>
                  <a:pt x="969390" y="13208"/>
                </a:lnTo>
                <a:lnTo>
                  <a:pt x="1032036" y="29218"/>
                </a:lnTo>
                <a:lnTo>
                  <a:pt x="1054735" y="22733"/>
                </a:lnTo>
                <a:lnTo>
                  <a:pt x="1058131" y="22733"/>
                </a:lnTo>
                <a:lnTo>
                  <a:pt x="969137" y="0"/>
                </a:lnTo>
                <a:close/>
              </a:path>
              <a:path w="1068704" h="336550">
                <a:moveTo>
                  <a:pt x="883792" y="71628"/>
                </a:moveTo>
                <a:lnTo>
                  <a:pt x="834898" y="85598"/>
                </a:lnTo>
                <a:lnTo>
                  <a:pt x="838453" y="97790"/>
                </a:lnTo>
                <a:lnTo>
                  <a:pt x="887222" y="83820"/>
                </a:lnTo>
                <a:lnTo>
                  <a:pt x="883792" y="71628"/>
                </a:lnTo>
                <a:close/>
              </a:path>
              <a:path w="1068704" h="336550">
                <a:moveTo>
                  <a:pt x="798322" y="96012"/>
                </a:moveTo>
                <a:lnTo>
                  <a:pt x="749426" y="109982"/>
                </a:lnTo>
                <a:lnTo>
                  <a:pt x="752982" y="122174"/>
                </a:lnTo>
                <a:lnTo>
                  <a:pt x="801751" y="108204"/>
                </a:lnTo>
                <a:lnTo>
                  <a:pt x="798322" y="96012"/>
                </a:lnTo>
                <a:close/>
              </a:path>
              <a:path w="1068704" h="336550">
                <a:moveTo>
                  <a:pt x="712851" y="120396"/>
                </a:moveTo>
                <a:lnTo>
                  <a:pt x="663955" y="134366"/>
                </a:lnTo>
                <a:lnTo>
                  <a:pt x="667512" y="146558"/>
                </a:lnTo>
                <a:lnTo>
                  <a:pt x="716279" y="132588"/>
                </a:lnTo>
                <a:lnTo>
                  <a:pt x="712851" y="120396"/>
                </a:lnTo>
                <a:close/>
              </a:path>
              <a:path w="1068704" h="336550">
                <a:moveTo>
                  <a:pt x="627379" y="144907"/>
                </a:moveTo>
                <a:lnTo>
                  <a:pt x="578485" y="158877"/>
                </a:lnTo>
                <a:lnTo>
                  <a:pt x="582040" y="171069"/>
                </a:lnTo>
                <a:lnTo>
                  <a:pt x="630808" y="157099"/>
                </a:lnTo>
                <a:lnTo>
                  <a:pt x="627379" y="144907"/>
                </a:lnTo>
                <a:close/>
              </a:path>
              <a:path w="1068704" h="336550">
                <a:moveTo>
                  <a:pt x="541908" y="169291"/>
                </a:moveTo>
                <a:lnTo>
                  <a:pt x="493013" y="183261"/>
                </a:lnTo>
                <a:lnTo>
                  <a:pt x="496569" y="195453"/>
                </a:lnTo>
                <a:lnTo>
                  <a:pt x="545338" y="181483"/>
                </a:lnTo>
                <a:lnTo>
                  <a:pt x="541908" y="169291"/>
                </a:lnTo>
                <a:close/>
              </a:path>
              <a:path w="1068704" h="336550">
                <a:moveTo>
                  <a:pt x="456438" y="193675"/>
                </a:moveTo>
                <a:lnTo>
                  <a:pt x="407542" y="207645"/>
                </a:lnTo>
                <a:lnTo>
                  <a:pt x="410972" y="219837"/>
                </a:lnTo>
                <a:lnTo>
                  <a:pt x="459866" y="205867"/>
                </a:lnTo>
                <a:lnTo>
                  <a:pt x="456438" y="193675"/>
                </a:lnTo>
                <a:close/>
              </a:path>
              <a:path w="1068704" h="336550">
                <a:moveTo>
                  <a:pt x="370966" y="218186"/>
                </a:moveTo>
                <a:lnTo>
                  <a:pt x="322072" y="232029"/>
                </a:lnTo>
                <a:lnTo>
                  <a:pt x="325500" y="244348"/>
                </a:lnTo>
                <a:lnTo>
                  <a:pt x="374395" y="230378"/>
                </a:lnTo>
                <a:lnTo>
                  <a:pt x="370966" y="218186"/>
                </a:lnTo>
                <a:close/>
              </a:path>
              <a:path w="1068704" h="336550">
                <a:moveTo>
                  <a:pt x="285368" y="242570"/>
                </a:moveTo>
                <a:lnTo>
                  <a:pt x="236600" y="256540"/>
                </a:lnTo>
                <a:lnTo>
                  <a:pt x="240029" y="268732"/>
                </a:lnTo>
                <a:lnTo>
                  <a:pt x="288925" y="254762"/>
                </a:lnTo>
                <a:lnTo>
                  <a:pt x="285368" y="242570"/>
                </a:lnTo>
                <a:close/>
              </a:path>
              <a:path w="1068704" h="336550">
                <a:moveTo>
                  <a:pt x="199898" y="266954"/>
                </a:moveTo>
                <a:lnTo>
                  <a:pt x="151129" y="280924"/>
                </a:lnTo>
                <a:lnTo>
                  <a:pt x="154558" y="293116"/>
                </a:lnTo>
                <a:lnTo>
                  <a:pt x="203453" y="279146"/>
                </a:lnTo>
                <a:lnTo>
                  <a:pt x="199898" y="266954"/>
                </a:lnTo>
                <a:close/>
              </a:path>
              <a:path w="1068704" h="336550">
                <a:moveTo>
                  <a:pt x="114426" y="291338"/>
                </a:moveTo>
                <a:lnTo>
                  <a:pt x="65658" y="305308"/>
                </a:lnTo>
                <a:lnTo>
                  <a:pt x="69087" y="317627"/>
                </a:lnTo>
                <a:lnTo>
                  <a:pt x="117982" y="303657"/>
                </a:lnTo>
                <a:lnTo>
                  <a:pt x="114426" y="291338"/>
                </a:lnTo>
                <a:close/>
              </a:path>
              <a:path w="1068704" h="336550">
                <a:moveTo>
                  <a:pt x="28955" y="315849"/>
                </a:moveTo>
                <a:lnTo>
                  <a:pt x="0" y="324104"/>
                </a:lnTo>
                <a:lnTo>
                  <a:pt x="3555" y="336296"/>
                </a:lnTo>
                <a:lnTo>
                  <a:pt x="32512" y="328041"/>
                </a:lnTo>
                <a:lnTo>
                  <a:pt x="28955" y="315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343400" y="4430395"/>
            <a:ext cx="1219200" cy="103505"/>
          </a:xfrm>
          <a:custGeom>
            <a:avLst/>
            <a:gdLst/>
            <a:ahLst/>
            <a:cxnLst/>
            <a:rect l="l" t="t" r="r" b="b"/>
            <a:pathLst>
              <a:path w="1219200" h="103504">
                <a:moveTo>
                  <a:pt x="50800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50800" y="58038"/>
                </a:lnTo>
                <a:lnTo>
                  <a:pt x="50800" y="45338"/>
                </a:lnTo>
                <a:close/>
              </a:path>
              <a:path w="1219200" h="103504">
                <a:moveTo>
                  <a:pt x="139700" y="45338"/>
                </a:moveTo>
                <a:lnTo>
                  <a:pt x="88900" y="45338"/>
                </a:lnTo>
                <a:lnTo>
                  <a:pt x="88900" y="58038"/>
                </a:lnTo>
                <a:lnTo>
                  <a:pt x="139700" y="58038"/>
                </a:lnTo>
                <a:lnTo>
                  <a:pt x="139700" y="45338"/>
                </a:lnTo>
                <a:close/>
              </a:path>
              <a:path w="1219200" h="103504">
                <a:moveTo>
                  <a:pt x="228600" y="45338"/>
                </a:moveTo>
                <a:lnTo>
                  <a:pt x="177800" y="45338"/>
                </a:lnTo>
                <a:lnTo>
                  <a:pt x="177800" y="58038"/>
                </a:lnTo>
                <a:lnTo>
                  <a:pt x="228600" y="58038"/>
                </a:lnTo>
                <a:lnTo>
                  <a:pt x="228600" y="45338"/>
                </a:lnTo>
                <a:close/>
              </a:path>
              <a:path w="1219200" h="103504">
                <a:moveTo>
                  <a:pt x="317500" y="45338"/>
                </a:moveTo>
                <a:lnTo>
                  <a:pt x="266700" y="45338"/>
                </a:lnTo>
                <a:lnTo>
                  <a:pt x="266700" y="58038"/>
                </a:lnTo>
                <a:lnTo>
                  <a:pt x="317500" y="58038"/>
                </a:lnTo>
                <a:lnTo>
                  <a:pt x="317500" y="45338"/>
                </a:lnTo>
                <a:close/>
              </a:path>
              <a:path w="1219200" h="103504">
                <a:moveTo>
                  <a:pt x="406400" y="45338"/>
                </a:moveTo>
                <a:lnTo>
                  <a:pt x="355600" y="45338"/>
                </a:lnTo>
                <a:lnTo>
                  <a:pt x="355600" y="58038"/>
                </a:lnTo>
                <a:lnTo>
                  <a:pt x="406400" y="58038"/>
                </a:lnTo>
                <a:lnTo>
                  <a:pt x="406400" y="45338"/>
                </a:lnTo>
                <a:close/>
              </a:path>
              <a:path w="1219200" h="103504">
                <a:moveTo>
                  <a:pt x="495300" y="45338"/>
                </a:moveTo>
                <a:lnTo>
                  <a:pt x="444500" y="45338"/>
                </a:lnTo>
                <a:lnTo>
                  <a:pt x="444500" y="58038"/>
                </a:lnTo>
                <a:lnTo>
                  <a:pt x="495300" y="58038"/>
                </a:lnTo>
                <a:lnTo>
                  <a:pt x="495300" y="45338"/>
                </a:lnTo>
                <a:close/>
              </a:path>
              <a:path w="1219200" h="103504">
                <a:moveTo>
                  <a:pt x="584200" y="45338"/>
                </a:moveTo>
                <a:lnTo>
                  <a:pt x="533400" y="45338"/>
                </a:lnTo>
                <a:lnTo>
                  <a:pt x="533400" y="58038"/>
                </a:lnTo>
                <a:lnTo>
                  <a:pt x="584200" y="58038"/>
                </a:lnTo>
                <a:lnTo>
                  <a:pt x="584200" y="45338"/>
                </a:lnTo>
                <a:close/>
              </a:path>
              <a:path w="1219200" h="103504">
                <a:moveTo>
                  <a:pt x="673100" y="45338"/>
                </a:moveTo>
                <a:lnTo>
                  <a:pt x="622300" y="45338"/>
                </a:lnTo>
                <a:lnTo>
                  <a:pt x="622300" y="58038"/>
                </a:lnTo>
                <a:lnTo>
                  <a:pt x="673100" y="58038"/>
                </a:lnTo>
                <a:lnTo>
                  <a:pt x="673100" y="45338"/>
                </a:lnTo>
                <a:close/>
              </a:path>
              <a:path w="1219200" h="103504">
                <a:moveTo>
                  <a:pt x="762000" y="45338"/>
                </a:moveTo>
                <a:lnTo>
                  <a:pt x="711200" y="45338"/>
                </a:lnTo>
                <a:lnTo>
                  <a:pt x="711200" y="58038"/>
                </a:lnTo>
                <a:lnTo>
                  <a:pt x="762000" y="58038"/>
                </a:lnTo>
                <a:lnTo>
                  <a:pt x="762000" y="45338"/>
                </a:lnTo>
                <a:close/>
              </a:path>
              <a:path w="1219200" h="103504">
                <a:moveTo>
                  <a:pt x="850900" y="45338"/>
                </a:moveTo>
                <a:lnTo>
                  <a:pt x="800100" y="45338"/>
                </a:lnTo>
                <a:lnTo>
                  <a:pt x="800100" y="58038"/>
                </a:lnTo>
                <a:lnTo>
                  <a:pt x="850900" y="58038"/>
                </a:lnTo>
                <a:lnTo>
                  <a:pt x="850900" y="45338"/>
                </a:lnTo>
                <a:close/>
              </a:path>
              <a:path w="1219200" h="103504">
                <a:moveTo>
                  <a:pt x="939800" y="45338"/>
                </a:moveTo>
                <a:lnTo>
                  <a:pt x="889000" y="45338"/>
                </a:lnTo>
                <a:lnTo>
                  <a:pt x="889000" y="58038"/>
                </a:lnTo>
                <a:lnTo>
                  <a:pt x="939800" y="58038"/>
                </a:lnTo>
                <a:lnTo>
                  <a:pt x="939800" y="45338"/>
                </a:lnTo>
                <a:close/>
              </a:path>
              <a:path w="1219200" h="103504">
                <a:moveTo>
                  <a:pt x="1028700" y="45338"/>
                </a:moveTo>
                <a:lnTo>
                  <a:pt x="977900" y="45338"/>
                </a:lnTo>
                <a:lnTo>
                  <a:pt x="977900" y="58038"/>
                </a:lnTo>
                <a:lnTo>
                  <a:pt x="1028700" y="58038"/>
                </a:lnTo>
                <a:lnTo>
                  <a:pt x="1028700" y="45338"/>
                </a:lnTo>
                <a:close/>
              </a:path>
              <a:path w="1219200" h="103504">
                <a:moveTo>
                  <a:pt x="1117600" y="45338"/>
                </a:moveTo>
                <a:lnTo>
                  <a:pt x="1066800" y="45338"/>
                </a:lnTo>
                <a:lnTo>
                  <a:pt x="1066800" y="58038"/>
                </a:lnTo>
                <a:lnTo>
                  <a:pt x="1117600" y="58038"/>
                </a:lnTo>
                <a:lnTo>
                  <a:pt x="1117600" y="45338"/>
                </a:lnTo>
                <a:close/>
              </a:path>
              <a:path w="1219200" h="103504">
                <a:moveTo>
                  <a:pt x="1194090" y="51688"/>
                </a:moveTo>
                <a:lnTo>
                  <a:pt x="1124203" y="92455"/>
                </a:lnTo>
                <a:lnTo>
                  <a:pt x="1123188" y="96265"/>
                </a:lnTo>
                <a:lnTo>
                  <a:pt x="1126744" y="102361"/>
                </a:lnTo>
                <a:lnTo>
                  <a:pt x="1130553" y="103377"/>
                </a:lnTo>
                <a:lnTo>
                  <a:pt x="1208309" y="58038"/>
                </a:lnTo>
                <a:lnTo>
                  <a:pt x="1206500" y="58038"/>
                </a:lnTo>
                <a:lnTo>
                  <a:pt x="1206500" y="57149"/>
                </a:lnTo>
                <a:lnTo>
                  <a:pt x="1203452" y="57149"/>
                </a:lnTo>
                <a:lnTo>
                  <a:pt x="1194090" y="51688"/>
                </a:lnTo>
                <a:close/>
              </a:path>
              <a:path w="1219200" h="103504">
                <a:moveTo>
                  <a:pt x="1183204" y="45338"/>
                </a:moveTo>
                <a:lnTo>
                  <a:pt x="1155700" y="45338"/>
                </a:lnTo>
                <a:lnTo>
                  <a:pt x="1155700" y="58038"/>
                </a:lnTo>
                <a:lnTo>
                  <a:pt x="1183204" y="58038"/>
                </a:lnTo>
                <a:lnTo>
                  <a:pt x="1194090" y="51688"/>
                </a:lnTo>
                <a:lnTo>
                  <a:pt x="1183204" y="45338"/>
                </a:lnTo>
                <a:close/>
              </a:path>
              <a:path w="1219200" h="103504">
                <a:moveTo>
                  <a:pt x="1208309" y="45338"/>
                </a:moveTo>
                <a:lnTo>
                  <a:pt x="1206500" y="45338"/>
                </a:lnTo>
                <a:lnTo>
                  <a:pt x="1206500" y="58038"/>
                </a:lnTo>
                <a:lnTo>
                  <a:pt x="1208309" y="58038"/>
                </a:lnTo>
                <a:lnTo>
                  <a:pt x="1219199" y="51688"/>
                </a:lnTo>
                <a:lnTo>
                  <a:pt x="1208309" y="45338"/>
                </a:lnTo>
                <a:close/>
              </a:path>
              <a:path w="1219200" h="103504">
                <a:moveTo>
                  <a:pt x="1203452" y="46227"/>
                </a:moveTo>
                <a:lnTo>
                  <a:pt x="1194090" y="51688"/>
                </a:lnTo>
                <a:lnTo>
                  <a:pt x="1203452" y="57149"/>
                </a:lnTo>
                <a:lnTo>
                  <a:pt x="1203452" y="46227"/>
                </a:lnTo>
                <a:close/>
              </a:path>
              <a:path w="1219200" h="103504">
                <a:moveTo>
                  <a:pt x="1206500" y="46227"/>
                </a:moveTo>
                <a:lnTo>
                  <a:pt x="1203452" y="46227"/>
                </a:lnTo>
                <a:lnTo>
                  <a:pt x="1203452" y="57149"/>
                </a:lnTo>
                <a:lnTo>
                  <a:pt x="1206500" y="57149"/>
                </a:lnTo>
                <a:lnTo>
                  <a:pt x="1206500" y="46227"/>
                </a:lnTo>
                <a:close/>
              </a:path>
              <a:path w="1219200" h="103504">
                <a:moveTo>
                  <a:pt x="1130553" y="0"/>
                </a:moveTo>
                <a:lnTo>
                  <a:pt x="1126744" y="1015"/>
                </a:lnTo>
                <a:lnTo>
                  <a:pt x="1123188" y="7111"/>
                </a:lnTo>
                <a:lnTo>
                  <a:pt x="1124203" y="10921"/>
                </a:lnTo>
                <a:lnTo>
                  <a:pt x="1194090" y="51688"/>
                </a:lnTo>
                <a:lnTo>
                  <a:pt x="1203452" y="46227"/>
                </a:lnTo>
                <a:lnTo>
                  <a:pt x="1206500" y="46227"/>
                </a:lnTo>
                <a:lnTo>
                  <a:pt x="1206500" y="45338"/>
                </a:lnTo>
                <a:lnTo>
                  <a:pt x="1208309" y="45338"/>
                </a:lnTo>
                <a:lnTo>
                  <a:pt x="11305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514600" y="4781422"/>
            <a:ext cx="536575" cy="311150"/>
          </a:xfrm>
          <a:custGeom>
            <a:avLst/>
            <a:gdLst/>
            <a:ahLst/>
            <a:cxnLst/>
            <a:rect l="l" t="t" r="r" b="b"/>
            <a:pathLst>
              <a:path w="536575" h="311150">
                <a:moveTo>
                  <a:pt x="530225" y="0"/>
                </a:moveTo>
                <a:lnTo>
                  <a:pt x="486156" y="25145"/>
                </a:lnTo>
                <a:lnTo>
                  <a:pt x="492506" y="36194"/>
                </a:lnTo>
                <a:lnTo>
                  <a:pt x="536575" y="10921"/>
                </a:lnTo>
                <a:lnTo>
                  <a:pt x="530225" y="0"/>
                </a:lnTo>
                <a:close/>
              </a:path>
              <a:path w="536575" h="311150">
                <a:moveTo>
                  <a:pt x="453008" y="44068"/>
                </a:moveTo>
                <a:lnTo>
                  <a:pt x="408939" y="69214"/>
                </a:lnTo>
                <a:lnTo>
                  <a:pt x="415289" y="80263"/>
                </a:lnTo>
                <a:lnTo>
                  <a:pt x="459358" y="55118"/>
                </a:lnTo>
                <a:lnTo>
                  <a:pt x="453008" y="44068"/>
                </a:lnTo>
                <a:close/>
              </a:path>
              <a:path w="536575" h="311150">
                <a:moveTo>
                  <a:pt x="375919" y="88137"/>
                </a:moveTo>
                <a:lnTo>
                  <a:pt x="331724" y="113410"/>
                </a:lnTo>
                <a:lnTo>
                  <a:pt x="338074" y="124332"/>
                </a:lnTo>
                <a:lnTo>
                  <a:pt x="382143" y="99187"/>
                </a:lnTo>
                <a:lnTo>
                  <a:pt x="375919" y="88137"/>
                </a:lnTo>
                <a:close/>
              </a:path>
              <a:path w="536575" h="311150">
                <a:moveTo>
                  <a:pt x="298704" y="132206"/>
                </a:moveTo>
                <a:lnTo>
                  <a:pt x="254635" y="157479"/>
                </a:lnTo>
                <a:lnTo>
                  <a:pt x="260857" y="168528"/>
                </a:lnTo>
                <a:lnTo>
                  <a:pt x="305054" y="143256"/>
                </a:lnTo>
                <a:lnTo>
                  <a:pt x="298704" y="132206"/>
                </a:lnTo>
                <a:close/>
              </a:path>
              <a:path w="536575" h="311150">
                <a:moveTo>
                  <a:pt x="221487" y="176402"/>
                </a:moveTo>
                <a:lnTo>
                  <a:pt x="177419" y="201549"/>
                </a:lnTo>
                <a:lnTo>
                  <a:pt x="183642" y="212597"/>
                </a:lnTo>
                <a:lnTo>
                  <a:pt x="227837" y="187451"/>
                </a:lnTo>
                <a:lnTo>
                  <a:pt x="221487" y="176402"/>
                </a:lnTo>
                <a:close/>
              </a:path>
              <a:path w="536575" h="311150">
                <a:moveTo>
                  <a:pt x="55118" y="220344"/>
                </a:moveTo>
                <a:lnTo>
                  <a:pt x="51307" y="221360"/>
                </a:lnTo>
                <a:lnTo>
                  <a:pt x="49530" y="224408"/>
                </a:lnTo>
                <a:lnTo>
                  <a:pt x="0" y="310260"/>
                </a:lnTo>
                <a:lnTo>
                  <a:pt x="99060" y="311150"/>
                </a:lnTo>
                <a:lnTo>
                  <a:pt x="102616" y="311150"/>
                </a:lnTo>
                <a:lnTo>
                  <a:pt x="105410" y="308356"/>
                </a:lnTo>
                <a:lnTo>
                  <a:pt x="105452" y="307213"/>
                </a:lnTo>
                <a:lnTo>
                  <a:pt x="16382" y="307213"/>
                </a:lnTo>
                <a:lnTo>
                  <a:pt x="10922" y="297688"/>
                </a:lnTo>
                <a:lnTo>
                  <a:pt x="21889" y="297688"/>
                </a:lnTo>
                <a:lnTo>
                  <a:pt x="24708" y="292810"/>
                </a:lnTo>
                <a:lnTo>
                  <a:pt x="22987" y="289813"/>
                </a:lnTo>
                <a:lnTo>
                  <a:pt x="28146" y="286863"/>
                </a:lnTo>
                <a:lnTo>
                  <a:pt x="60579" y="230758"/>
                </a:lnTo>
                <a:lnTo>
                  <a:pt x="62230" y="227710"/>
                </a:lnTo>
                <a:lnTo>
                  <a:pt x="61213" y="223900"/>
                </a:lnTo>
                <a:lnTo>
                  <a:pt x="55118" y="220344"/>
                </a:lnTo>
                <a:close/>
              </a:path>
              <a:path w="536575" h="311150">
                <a:moveTo>
                  <a:pt x="10922" y="297688"/>
                </a:moveTo>
                <a:lnTo>
                  <a:pt x="16382" y="307213"/>
                </a:lnTo>
                <a:lnTo>
                  <a:pt x="21834" y="297782"/>
                </a:lnTo>
                <a:lnTo>
                  <a:pt x="10922" y="297688"/>
                </a:lnTo>
                <a:close/>
              </a:path>
              <a:path w="536575" h="311150">
                <a:moveTo>
                  <a:pt x="21834" y="297782"/>
                </a:moveTo>
                <a:lnTo>
                  <a:pt x="16382" y="307213"/>
                </a:lnTo>
                <a:lnTo>
                  <a:pt x="105452" y="307213"/>
                </a:lnTo>
                <a:lnTo>
                  <a:pt x="105537" y="301370"/>
                </a:lnTo>
                <a:lnTo>
                  <a:pt x="105051" y="300863"/>
                </a:lnTo>
                <a:lnTo>
                  <a:pt x="29337" y="300863"/>
                </a:lnTo>
                <a:lnTo>
                  <a:pt x="27595" y="297831"/>
                </a:lnTo>
                <a:lnTo>
                  <a:pt x="21834" y="297782"/>
                </a:lnTo>
                <a:close/>
              </a:path>
              <a:path w="536575" h="311150">
                <a:moveTo>
                  <a:pt x="27595" y="297831"/>
                </a:moveTo>
                <a:lnTo>
                  <a:pt x="29337" y="300863"/>
                </a:lnTo>
                <a:lnTo>
                  <a:pt x="34518" y="297891"/>
                </a:lnTo>
                <a:lnTo>
                  <a:pt x="27595" y="297831"/>
                </a:lnTo>
                <a:close/>
              </a:path>
              <a:path w="536575" h="311150">
                <a:moveTo>
                  <a:pt x="34518" y="297891"/>
                </a:moveTo>
                <a:lnTo>
                  <a:pt x="29337" y="300863"/>
                </a:lnTo>
                <a:lnTo>
                  <a:pt x="105051" y="300863"/>
                </a:lnTo>
                <a:lnTo>
                  <a:pt x="102743" y="298450"/>
                </a:lnTo>
                <a:lnTo>
                  <a:pt x="99187" y="298450"/>
                </a:lnTo>
                <a:lnTo>
                  <a:pt x="34518" y="297891"/>
                </a:lnTo>
                <a:close/>
              </a:path>
              <a:path w="536575" h="311150">
                <a:moveTo>
                  <a:pt x="67182" y="264540"/>
                </a:moveTo>
                <a:lnTo>
                  <a:pt x="28146" y="286863"/>
                </a:lnTo>
                <a:lnTo>
                  <a:pt x="24708" y="292810"/>
                </a:lnTo>
                <a:lnTo>
                  <a:pt x="27595" y="297831"/>
                </a:lnTo>
                <a:lnTo>
                  <a:pt x="34518" y="297891"/>
                </a:lnTo>
                <a:lnTo>
                  <a:pt x="73406" y="275589"/>
                </a:lnTo>
                <a:lnTo>
                  <a:pt x="67182" y="264540"/>
                </a:lnTo>
                <a:close/>
              </a:path>
              <a:path w="536575" h="311150">
                <a:moveTo>
                  <a:pt x="21889" y="297688"/>
                </a:moveTo>
                <a:lnTo>
                  <a:pt x="10922" y="297688"/>
                </a:lnTo>
                <a:lnTo>
                  <a:pt x="21834" y="297782"/>
                </a:lnTo>
                <a:close/>
              </a:path>
              <a:path w="536575" h="311150">
                <a:moveTo>
                  <a:pt x="28146" y="286863"/>
                </a:moveTo>
                <a:lnTo>
                  <a:pt x="22987" y="289813"/>
                </a:lnTo>
                <a:lnTo>
                  <a:pt x="24708" y="292810"/>
                </a:lnTo>
                <a:lnTo>
                  <a:pt x="28146" y="286863"/>
                </a:lnTo>
                <a:close/>
              </a:path>
              <a:path w="536575" h="311150">
                <a:moveTo>
                  <a:pt x="144272" y="220471"/>
                </a:moveTo>
                <a:lnTo>
                  <a:pt x="100202" y="245744"/>
                </a:lnTo>
                <a:lnTo>
                  <a:pt x="106552" y="256666"/>
                </a:lnTo>
                <a:lnTo>
                  <a:pt x="150622" y="231520"/>
                </a:lnTo>
                <a:lnTo>
                  <a:pt x="144272" y="2204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036567" y="4780915"/>
            <a:ext cx="916940" cy="332105"/>
          </a:xfrm>
          <a:custGeom>
            <a:avLst/>
            <a:gdLst/>
            <a:ahLst/>
            <a:cxnLst/>
            <a:rect l="l" t="t" r="r" b="b"/>
            <a:pathLst>
              <a:path w="916939" h="332104">
                <a:moveTo>
                  <a:pt x="4064" y="0"/>
                </a:moveTo>
                <a:lnTo>
                  <a:pt x="0" y="11937"/>
                </a:lnTo>
                <a:lnTo>
                  <a:pt x="48260" y="28067"/>
                </a:lnTo>
                <a:lnTo>
                  <a:pt x="52197" y="16002"/>
                </a:lnTo>
                <a:lnTo>
                  <a:pt x="4064" y="0"/>
                </a:lnTo>
                <a:close/>
              </a:path>
              <a:path w="916939" h="332104">
                <a:moveTo>
                  <a:pt x="88392" y="28067"/>
                </a:moveTo>
                <a:lnTo>
                  <a:pt x="84328" y="40132"/>
                </a:lnTo>
                <a:lnTo>
                  <a:pt x="132587" y="56134"/>
                </a:lnTo>
                <a:lnTo>
                  <a:pt x="136525" y="44068"/>
                </a:lnTo>
                <a:lnTo>
                  <a:pt x="88392" y="28067"/>
                </a:lnTo>
                <a:close/>
              </a:path>
              <a:path w="916939" h="332104">
                <a:moveTo>
                  <a:pt x="172720" y="56134"/>
                </a:moveTo>
                <a:lnTo>
                  <a:pt x="168656" y="68199"/>
                </a:lnTo>
                <a:lnTo>
                  <a:pt x="216916" y="84328"/>
                </a:lnTo>
                <a:lnTo>
                  <a:pt x="220853" y="72262"/>
                </a:lnTo>
                <a:lnTo>
                  <a:pt x="172720" y="56134"/>
                </a:lnTo>
                <a:close/>
              </a:path>
              <a:path w="916939" h="332104">
                <a:moveTo>
                  <a:pt x="257048" y="84328"/>
                </a:moveTo>
                <a:lnTo>
                  <a:pt x="252984" y="96266"/>
                </a:lnTo>
                <a:lnTo>
                  <a:pt x="301244" y="112395"/>
                </a:lnTo>
                <a:lnTo>
                  <a:pt x="305308" y="100330"/>
                </a:lnTo>
                <a:lnTo>
                  <a:pt x="257048" y="84328"/>
                </a:lnTo>
                <a:close/>
              </a:path>
              <a:path w="916939" h="332104">
                <a:moveTo>
                  <a:pt x="341376" y="112395"/>
                </a:moveTo>
                <a:lnTo>
                  <a:pt x="337312" y="124460"/>
                </a:lnTo>
                <a:lnTo>
                  <a:pt x="385572" y="140462"/>
                </a:lnTo>
                <a:lnTo>
                  <a:pt x="389636" y="128397"/>
                </a:lnTo>
                <a:lnTo>
                  <a:pt x="341376" y="112395"/>
                </a:lnTo>
                <a:close/>
              </a:path>
              <a:path w="916939" h="332104">
                <a:moveTo>
                  <a:pt x="425704" y="140462"/>
                </a:moveTo>
                <a:lnTo>
                  <a:pt x="421767" y="152527"/>
                </a:lnTo>
                <a:lnTo>
                  <a:pt x="469900" y="168656"/>
                </a:lnTo>
                <a:lnTo>
                  <a:pt x="473964" y="156591"/>
                </a:lnTo>
                <a:lnTo>
                  <a:pt x="425704" y="140462"/>
                </a:lnTo>
                <a:close/>
              </a:path>
              <a:path w="916939" h="332104">
                <a:moveTo>
                  <a:pt x="510032" y="168656"/>
                </a:moveTo>
                <a:lnTo>
                  <a:pt x="506095" y="180721"/>
                </a:lnTo>
                <a:lnTo>
                  <a:pt x="554228" y="196723"/>
                </a:lnTo>
                <a:lnTo>
                  <a:pt x="558292" y="184658"/>
                </a:lnTo>
                <a:lnTo>
                  <a:pt x="510032" y="168656"/>
                </a:lnTo>
                <a:close/>
              </a:path>
              <a:path w="916939" h="332104">
                <a:moveTo>
                  <a:pt x="594360" y="196723"/>
                </a:moveTo>
                <a:lnTo>
                  <a:pt x="590423" y="208787"/>
                </a:lnTo>
                <a:lnTo>
                  <a:pt x="638556" y="224790"/>
                </a:lnTo>
                <a:lnTo>
                  <a:pt x="642620" y="212852"/>
                </a:lnTo>
                <a:lnTo>
                  <a:pt x="594360" y="196723"/>
                </a:lnTo>
                <a:close/>
              </a:path>
              <a:path w="916939" h="332104">
                <a:moveTo>
                  <a:pt x="678688" y="224790"/>
                </a:moveTo>
                <a:lnTo>
                  <a:pt x="674751" y="236855"/>
                </a:lnTo>
                <a:lnTo>
                  <a:pt x="722884" y="252984"/>
                </a:lnTo>
                <a:lnTo>
                  <a:pt x="726948" y="240919"/>
                </a:lnTo>
                <a:lnTo>
                  <a:pt x="678688" y="224790"/>
                </a:lnTo>
                <a:close/>
              </a:path>
              <a:path w="916939" h="332104">
                <a:moveTo>
                  <a:pt x="880327" y="305390"/>
                </a:moveTo>
                <a:lnTo>
                  <a:pt x="816864" y="318643"/>
                </a:lnTo>
                <a:lnTo>
                  <a:pt x="813435" y="319405"/>
                </a:lnTo>
                <a:lnTo>
                  <a:pt x="811276" y="322707"/>
                </a:lnTo>
                <a:lnTo>
                  <a:pt x="811911" y="326136"/>
                </a:lnTo>
                <a:lnTo>
                  <a:pt x="812673" y="329565"/>
                </a:lnTo>
                <a:lnTo>
                  <a:pt x="815975" y="331851"/>
                </a:lnTo>
                <a:lnTo>
                  <a:pt x="819404" y="331089"/>
                </a:lnTo>
                <a:lnTo>
                  <a:pt x="915219" y="311023"/>
                </a:lnTo>
                <a:lnTo>
                  <a:pt x="899795" y="311023"/>
                </a:lnTo>
                <a:lnTo>
                  <a:pt x="898119" y="309118"/>
                </a:lnTo>
                <a:lnTo>
                  <a:pt x="891540" y="309118"/>
                </a:lnTo>
                <a:lnTo>
                  <a:pt x="880327" y="305390"/>
                </a:lnTo>
                <a:close/>
              </a:path>
              <a:path w="916939" h="332104">
                <a:moveTo>
                  <a:pt x="903224" y="300609"/>
                </a:moveTo>
                <a:lnTo>
                  <a:pt x="893764" y="302584"/>
                </a:lnTo>
                <a:lnTo>
                  <a:pt x="893376" y="303723"/>
                </a:lnTo>
                <a:lnTo>
                  <a:pt x="899795" y="311023"/>
                </a:lnTo>
                <a:lnTo>
                  <a:pt x="903224" y="300609"/>
                </a:lnTo>
                <a:close/>
              </a:path>
              <a:path w="916939" h="332104">
                <a:moveTo>
                  <a:pt x="907502" y="300609"/>
                </a:moveTo>
                <a:lnTo>
                  <a:pt x="903224" y="300609"/>
                </a:lnTo>
                <a:lnTo>
                  <a:pt x="899795" y="311023"/>
                </a:lnTo>
                <a:lnTo>
                  <a:pt x="915219" y="311023"/>
                </a:lnTo>
                <a:lnTo>
                  <a:pt x="916432" y="310769"/>
                </a:lnTo>
                <a:lnTo>
                  <a:pt x="907502" y="300609"/>
                </a:lnTo>
                <a:close/>
              </a:path>
              <a:path w="916939" h="332104">
                <a:moveTo>
                  <a:pt x="892590" y="302829"/>
                </a:moveTo>
                <a:lnTo>
                  <a:pt x="880327" y="305390"/>
                </a:lnTo>
                <a:lnTo>
                  <a:pt x="891540" y="309118"/>
                </a:lnTo>
                <a:lnTo>
                  <a:pt x="893376" y="303723"/>
                </a:lnTo>
                <a:lnTo>
                  <a:pt x="892590" y="302829"/>
                </a:lnTo>
                <a:close/>
              </a:path>
              <a:path w="916939" h="332104">
                <a:moveTo>
                  <a:pt x="893376" y="303723"/>
                </a:moveTo>
                <a:lnTo>
                  <a:pt x="891540" y="309118"/>
                </a:lnTo>
                <a:lnTo>
                  <a:pt x="898119" y="309118"/>
                </a:lnTo>
                <a:lnTo>
                  <a:pt x="893376" y="303723"/>
                </a:lnTo>
                <a:close/>
              </a:path>
              <a:path w="916939" h="332104">
                <a:moveTo>
                  <a:pt x="847471" y="281051"/>
                </a:moveTo>
                <a:lnTo>
                  <a:pt x="843407" y="293116"/>
                </a:lnTo>
                <a:lnTo>
                  <a:pt x="880327" y="305390"/>
                </a:lnTo>
                <a:lnTo>
                  <a:pt x="892590" y="302829"/>
                </a:lnTo>
                <a:lnTo>
                  <a:pt x="884288" y="293388"/>
                </a:lnTo>
                <a:lnTo>
                  <a:pt x="847471" y="281051"/>
                </a:lnTo>
                <a:close/>
              </a:path>
              <a:path w="916939" h="332104">
                <a:moveTo>
                  <a:pt x="893764" y="302584"/>
                </a:moveTo>
                <a:lnTo>
                  <a:pt x="892590" y="302829"/>
                </a:lnTo>
                <a:lnTo>
                  <a:pt x="893376" y="303723"/>
                </a:lnTo>
                <a:lnTo>
                  <a:pt x="893764" y="302584"/>
                </a:lnTo>
                <a:close/>
              </a:path>
              <a:path w="916939" h="332104">
                <a:moveTo>
                  <a:pt x="884288" y="293388"/>
                </a:moveTo>
                <a:lnTo>
                  <a:pt x="892590" y="302829"/>
                </a:lnTo>
                <a:lnTo>
                  <a:pt x="893764" y="302584"/>
                </a:lnTo>
                <a:lnTo>
                  <a:pt x="895604" y="297180"/>
                </a:lnTo>
                <a:lnTo>
                  <a:pt x="884288" y="293388"/>
                </a:lnTo>
                <a:close/>
              </a:path>
              <a:path w="916939" h="332104">
                <a:moveTo>
                  <a:pt x="844677" y="233426"/>
                </a:moveTo>
                <a:lnTo>
                  <a:pt x="839470" y="238125"/>
                </a:lnTo>
                <a:lnTo>
                  <a:pt x="839216" y="242062"/>
                </a:lnTo>
                <a:lnTo>
                  <a:pt x="841502" y="244729"/>
                </a:lnTo>
                <a:lnTo>
                  <a:pt x="884288" y="293388"/>
                </a:lnTo>
                <a:lnTo>
                  <a:pt x="895604" y="297180"/>
                </a:lnTo>
                <a:lnTo>
                  <a:pt x="893764" y="302584"/>
                </a:lnTo>
                <a:lnTo>
                  <a:pt x="903224" y="300609"/>
                </a:lnTo>
                <a:lnTo>
                  <a:pt x="907502" y="300609"/>
                </a:lnTo>
                <a:lnTo>
                  <a:pt x="851027" y="236347"/>
                </a:lnTo>
                <a:lnTo>
                  <a:pt x="848741" y="233680"/>
                </a:lnTo>
                <a:lnTo>
                  <a:pt x="844677" y="233426"/>
                </a:lnTo>
                <a:close/>
              </a:path>
              <a:path w="916939" h="332104">
                <a:moveTo>
                  <a:pt x="763143" y="252984"/>
                </a:moveTo>
                <a:lnTo>
                  <a:pt x="759079" y="265049"/>
                </a:lnTo>
                <a:lnTo>
                  <a:pt x="807212" y="281051"/>
                </a:lnTo>
                <a:lnTo>
                  <a:pt x="811276" y="268986"/>
                </a:lnTo>
                <a:lnTo>
                  <a:pt x="763143" y="2529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648452" y="5325109"/>
            <a:ext cx="652145" cy="306705"/>
          </a:xfrm>
          <a:custGeom>
            <a:avLst/>
            <a:gdLst/>
            <a:ahLst/>
            <a:cxnLst/>
            <a:rect l="l" t="t" r="r" b="b"/>
            <a:pathLst>
              <a:path w="652145" h="306704">
                <a:moveTo>
                  <a:pt x="5080" y="0"/>
                </a:moveTo>
                <a:lnTo>
                  <a:pt x="0" y="11683"/>
                </a:lnTo>
                <a:lnTo>
                  <a:pt x="46355" y="32384"/>
                </a:lnTo>
                <a:lnTo>
                  <a:pt x="51562" y="20700"/>
                </a:lnTo>
                <a:lnTo>
                  <a:pt x="5080" y="0"/>
                </a:lnTo>
                <a:close/>
              </a:path>
              <a:path w="652145" h="306704">
                <a:moveTo>
                  <a:pt x="86360" y="36194"/>
                </a:moveTo>
                <a:lnTo>
                  <a:pt x="81152" y="47878"/>
                </a:lnTo>
                <a:lnTo>
                  <a:pt x="127508" y="68579"/>
                </a:lnTo>
                <a:lnTo>
                  <a:pt x="132714" y="56895"/>
                </a:lnTo>
                <a:lnTo>
                  <a:pt x="86360" y="36194"/>
                </a:lnTo>
                <a:close/>
              </a:path>
              <a:path w="652145" h="306704">
                <a:moveTo>
                  <a:pt x="167512" y="72516"/>
                </a:moveTo>
                <a:lnTo>
                  <a:pt x="162306" y="84073"/>
                </a:lnTo>
                <a:lnTo>
                  <a:pt x="208787" y="104774"/>
                </a:lnTo>
                <a:lnTo>
                  <a:pt x="213868" y="93217"/>
                </a:lnTo>
                <a:lnTo>
                  <a:pt x="167512" y="72516"/>
                </a:lnTo>
                <a:close/>
              </a:path>
              <a:path w="652145" h="306704">
                <a:moveTo>
                  <a:pt x="248665" y="108711"/>
                </a:moveTo>
                <a:lnTo>
                  <a:pt x="243586" y="120268"/>
                </a:lnTo>
                <a:lnTo>
                  <a:pt x="289940" y="140969"/>
                </a:lnTo>
                <a:lnTo>
                  <a:pt x="295148" y="129412"/>
                </a:lnTo>
                <a:lnTo>
                  <a:pt x="248665" y="108711"/>
                </a:lnTo>
                <a:close/>
              </a:path>
              <a:path w="652145" h="306704">
                <a:moveTo>
                  <a:pt x="329946" y="144906"/>
                </a:moveTo>
                <a:lnTo>
                  <a:pt x="324738" y="156463"/>
                </a:lnTo>
                <a:lnTo>
                  <a:pt x="371094" y="177164"/>
                </a:lnTo>
                <a:lnTo>
                  <a:pt x="376300" y="165607"/>
                </a:lnTo>
                <a:lnTo>
                  <a:pt x="329946" y="144906"/>
                </a:lnTo>
                <a:close/>
              </a:path>
              <a:path w="652145" h="306704">
                <a:moveTo>
                  <a:pt x="411099" y="181101"/>
                </a:moveTo>
                <a:lnTo>
                  <a:pt x="405892" y="192658"/>
                </a:lnTo>
                <a:lnTo>
                  <a:pt x="452247" y="213359"/>
                </a:lnTo>
                <a:lnTo>
                  <a:pt x="457453" y="201802"/>
                </a:lnTo>
                <a:lnTo>
                  <a:pt x="411099" y="181101"/>
                </a:lnTo>
                <a:close/>
              </a:path>
              <a:path w="652145" h="306704">
                <a:moveTo>
                  <a:pt x="492251" y="217296"/>
                </a:moveTo>
                <a:lnTo>
                  <a:pt x="487045" y="228853"/>
                </a:lnTo>
                <a:lnTo>
                  <a:pt x="533526" y="249554"/>
                </a:lnTo>
                <a:lnTo>
                  <a:pt x="538607" y="237997"/>
                </a:lnTo>
                <a:lnTo>
                  <a:pt x="492251" y="217296"/>
                </a:lnTo>
                <a:close/>
              </a:path>
              <a:path w="652145" h="306704">
                <a:moveTo>
                  <a:pt x="628782" y="285147"/>
                </a:moveTo>
                <a:lnTo>
                  <a:pt x="548386" y="293903"/>
                </a:lnTo>
                <a:lnTo>
                  <a:pt x="545846" y="297040"/>
                </a:lnTo>
                <a:lnTo>
                  <a:pt x="546608" y="304012"/>
                </a:lnTo>
                <a:lnTo>
                  <a:pt x="549783" y="306527"/>
                </a:lnTo>
                <a:lnTo>
                  <a:pt x="651763" y="295414"/>
                </a:lnTo>
                <a:lnTo>
                  <a:pt x="650734" y="293979"/>
                </a:lnTo>
                <a:lnTo>
                  <a:pt x="635126" y="293979"/>
                </a:lnTo>
                <a:lnTo>
                  <a:pt x="628782" y="285147"/>
                </a:lnTo>
                <a:close/>
              </a:path>
              <a:path w="652145" h="306704">
                <a:moveTo>
                  <a:pt x="639572" y="283971"/>
                </a:moveTo>
                <a:lnTo>
                  <a:pt x="628782" y="285147"/>
                </a:lnTo>
                <a:lnTo>
                  <a:pt x="635126" y="293979"/>
                </a:lnTo>
                <a:lnTo>
                  <a:pt x="639572" y="283971"/>
                </a:lnTo>
                <a:close/>
              </a:path>
              <a:path w="652145" h="306704">
                <a:moveTo>
                  <a:pt x="643553" y="283971"/>
                </a:moveTo>
                <a:lnTo>
                  <a:pt x="639572" y="283971"/>
                </a:lnTo>
                <a:lnTo>
                  <a:pt x="635126" y="293979"/>
                </a:lnTo>
                <a:lnTo>
                  <a:pt x="650734" y="293979"/>
                </a:lnTo>
                <a:lnTo>
                  <a:pt x="643553" y="283971"/>
                </a:lnTo>
                <a:close/>
              </a:path>
              <a:path w="652145" h="306704">
                <a:moveTo>
                  <a:pt x="573405" y="253491"/>
                </a:moveTo>
                <a:lnTo>
                  <a:pt x="568325" y="265125"/>
                </a:lnTo>
                <a:lnTo>
                  <a:pt x="614680" y="285813"/>
                </a:lnTo>
                <a:lnTo>
                  <a:pt x="619887" y="274218"/>
                </a:lnTo>
                <a:lnTo>
                  <a:pt x="573405" y="253491"/>
                </a:lnTo>
                <a:close/>
              </a:path>
              <a:path w="652145" h="306704">
                <a:moveTo>
                  <a:pt x="587883" y="211454"/>
                </a:moveTo>
                <a:lnTo>
                  <a:pt x="582295" y="215518"/>
                </a:lnTo>
                <a:lnTo>
                  <a:pt x="581533" y="219455"/>
                </a:lnTo>
                <a:lnTo>
                  <a:pt x="583692" y="222376"/>
                </a:lnTo>
                <a:lnTo>
                  <a:pt x="628782" y="285147"/>
                </a:lnTo>
                <a:lnTo>
                  <a:pt x="639572" y="283971"/>
                </a:lnTo>
                <a:lnTo>
                  <a:pt x="643553" y="283971"/>
                </a:lnTo>
                <a:lnTo>
                  <a:pt x="593978" y="214883"/>
                </a:lnTo>
                <a:lnTo>
                  <a:pt x="591947" y="212089"/>
                </a:lnTo>
                <a:lnTo>
                  <a:pt x="587883" y="2114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568" y="215900"/>
            <a:ext cx="7296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示例：确定子系统对外的接口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17" y="1462786"/>
            <a:ext cx="7834630" cy="139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5080" indent="-457200" algn="just">
              <a:lnSpc>
                <a:spcPct val="125099"/>
              </a:lnSpc>
              <a:spcBef>
                <a:spcPts val="95"/>
              </a:spcBef>
              <a:buClr>
                <a:srgbClr val="00663B"/>
              </a:buClr>
              <a:buFont typeface="Wingdings"/>
              <a:buChar char=""/>
              <a:tabLst>
                <a:tab pos="469900" algn="l"/>
              </a:tabLst>
            </a:pPr>
            <a:r>
              <a:rPr sz="2400" b="1" dirty="0">
                <a:latin typeface="宋体"/>
                <a:cs typeface="宋体"/>
              </a:rPr>
              <a:t>将整个“在线酒店预订子系统”作为一个构件，考虑其 对外接口。显然它首先需要提供用户界面；其次还需要 与加盟的酒店系统连接，完成预订工作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0967" y="3296665"/>
            <a:ext cx="3240024" cy="2500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5922" y="215900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示例：确定子构件和接口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17" y="1462786"/>
            <a:ext cx="7834630" cy="139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5080" indent="-457200" algn="just">
              <a:lnSpc>
                <a:spcPct val="125099"/>
              </a:lnSpc>
              <a:spcBef>
                <a:spcPts val="95"/>
              </a:spcBef>
              <a:buClr>
                <a:srgbClr val="00663B"/>
              </a:buClr>
              <a:buFont typeface="Wingdings"/>
              <a:buChar char=""/>
              <a:tabLst>
                <a:tab pos="469900" algn="l"/>
              </a:tabLst>
            </a:pPr>
            <a:r>
              <a:rPr sz="2400" b="1" dirty="0">
                <a:latin typeface="宋体"/>
                <a:cs typeface="宋体"/>
              </a:rPr>
              <a:t>显然要有一个构件来实现用户界面，一个构件来完成与 酒店系统的连接和预订，另外还应该有一个负责将用户 的需求与酒店的供给进行匹配的“调度程序”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51304" y="3183607"/>
            <a:ext cx="5210556" cy="2952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78968"/>
            <a:ext cx="7856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应用：对可执行程序的结构建模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17" y="1215008"/>
            <a:ext cx="6609080" cy="161671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95"/>
              </a:spcBef>
              <a:buClr>
                <a:srgbClr val="00663B"/>
              </a:buClr>
              <a:buFont typeface="Wingdings"/>
              <a:buChar char=""/>
              <a:tabLst>
                <a:tab pos="469265" algn="l"/>
                <a:tab pos="469900" algn="l"/>
              </a:tabLst>
            </a:pPr>
            <a:r>
              <a:rPr sz="2400" b="1" dirty="0">
                <a:latin typeface="宋体"/>
                <a:cs typeface="宋体"/>
              </a:rPr>
              <a:t>首先识别想建模的构件集合</a:t>
            </a:r>
            <a:endParaRPr sz="24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295"/>
              </a:spcBef>
              <a:buClr>
                <a:srgbClr val="00663B"/>
              </a:buClr>
              <a:buFont typeface="Wingdings"/>
              <a:buChar char=""/>
              <a:tabLst>
                <a:tab pos="469265" algn="l"/>
                <a:tab pos="469900" algn="l"/>
              </a:tabLst>
            </a:pPr>
            <a:r>
              <a:rPr sz="2400" b="1" dirty="0">
                <a:latin typeface="宋体"/>
                <a:cs typeface="宋体"/>
              </a:rPr>
              <a:t>考虑集合中各构件的不同类型</a:t>
            </a:r>
            <a:endParaRPr sz="24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295"/>
              </a:spcBef>
              <a:buClr>
                <a:srgbClr val="00663B"/>
              </a:buClr>
              <a:buFont typeface="Wingdings"/>
              <a:buChar char=""/>
              <a:tabLst>
                <a:tab pos="469265" algn="l"/>
                <a:tab pos="469900" algn="l"/>
              </a:tabLst>
            </a:pPr>
            <a:r>
              <a:rPr sz="2400" b="1" spc="-5" dirty="0">
                <a:latin typeface="宋体"/>
                <a:cs typeface="宋体"/>
              </a:rPr>
              <a:t>对这个集合中的每个构件，分析它们之的关系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1639" y="3355939"/>
            <a:ext cx="5617464" cy="28926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1905" y="292100"/>
            <a:ext cx="50622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应用：对源代码建模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17" y="1462786"/>
            <a:ext cx="7797800" cy="3903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25000"/>
              </a:lnSpc>
              <a:spcBef>
                <a:spcPts val="100"/>
              </a:spcBef>
              <a:buClr>
                <a:srgbClr val="00663B"/>
              </a:buClr>
              <a:buFont typeface="Wingdings"/>
              <a:buChar char="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识别出感兴趣的相关源代码文件的集合，并把它们建模 为构件；</a:t>
            </a:r>
            <a:endParaRPr sz="2400">
              <a:latin typeface="宋体"/>
              <a:cs typeface="宋体"/>
            </a:endParaRPr>
          </a:p>
          <a:p>
            <a:pPr marL="469900" indent="-457200" algn="just">
              <a:lnSpc>
                <a:spcPct val="100000"/>
              </a:lnSpc>
              <a:spcBef>
                <a:spcPts val="1300"/>
              </a:spcBef>
              <a:buClr>
                <a:srgbClr val="00663B"/>
              </a:buClr>
              <a:buFont typeface="Wingdings"/>
              <a:buChar char="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对于较大的系统，利用包来进行分组；</a:t>
            </a:r>
            <a:endParaRPr sz="2400">
              <a:latin typeface="宋体"/>
              <a:cs typeface="宋体"/>
            </a:endParaRPr>
          </a:p>
          <a:p>
            <a:pPr marL="469265" marR="3967479" indent="-457200" algn="just">
              <a:lnSpc>
                <a:spcPct val="125000"/>
              </a:lnSpc>
              <a:spcBef>
                <a:spcPts val="575"/>
              </a:spcBef>
              <a:buClr>
                <a:srgbClr val="00663B"/>
              </a:buClr>
              <a:buFont typeface="Wingdings"/>
              <a:buChar char="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通过约束来表示源代码的 版本号、作者和最后修改 日期等信息；</a:t>
            </a:r>
            <a:endParaRPr sz="2400">
              <a:latin typeface="宋体"/>
              <a:cs typeface="宋体"/>
            </a:endParaRPr>
          </a:p>
          <a:p>
            <a:pPr marL="469265" marR="4272280" indent="-457200" algn="just">
              <a:lnSpc>
                <a:spcPct val="125000"/>
              </a:lnSpc>
              <a:spcBef>
                <a:spcPts val="575"/>
              </a:spcBef>
              <a:buClr>
                <a:srgbClr val="00663B"/>
              </a:buClr>
              <a:buFont typeface="Wingdings"/>
              <a:buChar char="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用依赖关系来表示这些 文件间编译的依赖关系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00371" y="3118312"/>
            <a:ext cx="4375840" cy="23345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建模</a:t>
            </a:r>
            <a:r>
              <a:rPr spc="-5" dirty="0">
                <a:latin typeface="Calibri"/>
                <a:cs typeface="Calibri"/>
              </a:rPr>
              <a:t>(5)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475" y="1280664"/>
            <a:ext cx="4486275" cy="200088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6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latin typeface="宋体"/>
                <a:cs typeface="宋体"/>
              </a:rPr>
              <a:t>构件和部署基本概念</a:t>
            </a:r>
            <a:endParaRPr sz="3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latin typeface="宋体"/>
                <a:cs typeface="宋体"/>
              </a:rPr>
              <a:t>构件图</a:t>
            </a:r>
            <a:endParaRPr sz="3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solidFill>
                  <a:srgbClr val="FF0000"/>
                </a:solidFill>
                <a:latin typeface="宋体"/>
                <a:cs typeface="宋体"/>
              </a:rPr>
              <a:t>部署图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0716" y="228041"/>
            <a:ext cx="65208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部署</a:t>
            </a:r>
            <a:r>
              <a:rPr spc="-5" dirty="0"/>
              <a:t>图</a:t>
            </a:r>
            <a:r>
              <a:rPr spc="-10" dirty="0">
                <a:latin typeface="Calibri"/>
                <a:cs typeface="Calibri"/>
              </a:rPr>
              <a:t>Deployment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3733800" y="5026152"/>
            <a:ext cx="2057400" cy="1066800"/>
          </a:xfrm>
          <a:custGeom>
            <a:avLst/>
            <a:gdLst/>
            <a:ahLst/>
            <a:cxnLst/>
            <a:rect l="l" t="t" r="r" b="b"/>
            <a:pathLst>
              <a:path w="2057400" h="1066800">
                <a:moveTo>
                  <a:pt x="0" y="266700"/>
                </a:moveTo>
                <a:lnTo>
                  <a:pt x="266700" y="0"/>
                </a:lnTo>
                <a:lnTo>
                  <a:pt x="2057400" y="0"/>
                </a:lnTo>
                <a:lnTo>
                  <a:pt x="2057400" y="800100"/>
                </a:lnTo>
                <a:lnTo>
                  <a:pt x="1790700" y="1066800"/>
                </a:lnTo>
                <a:lnTo>
                  <a:pt x="0" y="1066800"/>
                </a:lnTo>
                <a:lnTo>
                  <a:pt x="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33800" y="5026152"/>
            <a:ext cx="2057400" cy="266700"/>
          </a:xfrm>
          <a:custGeom>
            <a:avLst/>
            <a:gdLst/>
            <a:ahLst/>
            <a:cxnLst/>
            <a:rect l="l" t="t" r="r" b="b"/>
            <a:pathLst>
              <a:path w="2057400" h="266700">
                <a:moveTo>
                  <a:pt x="0" y="266700"/>
                </a:moveTo>
                <a:lnTo>
                  <a:pt x="1790700" y="266700"/>
                </a:lnTo>
                <a:lnTo>
                  <a:pt x="2057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24500" y="5292852"/>
            <a:ext cx="0" cy="800100"/>
          </a:xfrm>
          <a:custGeom>
            <a:avLst/>
            <a:gdLst/>
            <a:ahLst/>
            <a:cxnLst/>
            <a:rect l="l" t="t" r="r" b="b"/>
            <a:pathLst>
              <a:path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4644" y="991514"/>
            <a:ext cx="7484745" cy="4892040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2800" spc="-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800" spc="-5" dirty="0">
                <a:latin typeface="宋体"/>
                <a:cs typeface="宋体"/>
              </a:rPr>
              <a:t>部署图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ts val="3200"/>
              </a:lnSpc>
              <a:spcBef>
                <a:spcPts val="2070"/>
              </a:spcBef>
            </a:pPr>
            <a:r>
              <a:rPr sz="2800" spc="-5" dirty="0">
                <a:latin typeface="宋体"/>
                <a:cs typeface="宋体"/>
              </a:rPr>
              <a:t>表示系统在一个或多个物理节点上</a:t>
            </a:r>
            <a:r>
              <a:rPr sz="2800" dirty="0">
                <a:latin typeface="宋体"/>
                <a:cs typeface="宋体"/>
              </a:rPr>
              <a:t>运</a:t>
            </a:r>
            <a:r>
              <a:rPr sz="2800" spc="-5" dirty="0">
                <a:latin typeface="宋体"/>
                <a:cs typeface="宋体"/>
              </a:rPr>
              <a:t>行的</a:t>
            </a:r>
            <a:r>
              <a:rPr sz="2800" dirty="0">
                <a:latin typeface="宋体"/>
                <a:cs typeface="宋体"/>
              </a:rPr>
              <a:t>拓</a:t>
            </a:r>
            <a:r>
              <a:rPr sz="2800" spc="-5" dirty="0">
                <a:latin typeface="宋体"/>
                <a:cs typeface="宋体"/>
              </a:rPr>
              <a:t>扑结 构。物理节点是可部署构件的处理</a:t>
            </a:r>
            <a:r>
              <a:rPr sz="2800" dirty="0">
                <a:latin typeface="宋体"/>
                <a:cs typeface="宋体"/>
              </a:rPr>
              <a:t>器</a:t>
            </a:r>
            <a:r>
              <a:rPr sz="2800" spc="-5" dirty="0">
                <a:latin typeface="宋体"/>
                <a:cs typeface="宋体"/>
              </a:rPr>
              <a:t>或设</a:t>
            </a:r>
            <a:r>
              <a:rPr sz="2800" dirty="0">
                <a:latin typeface="宋体"/>
                <a:cs typeface="宋体"/>
              </a:rPr>
              <a:t>备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800" spc="-10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800" spc="-10" dirty="0">
                <a:latin typeface="宋体"/>
                <a:cs typeface="宋体"/>
              </a:rPr>
              <a:t>节点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ts val="3200"/>
              </a:lnSpc>
              <a:spcBef>
                <a:spcPts val="2080"/>
              </a:spcBef>
            </a:pPr>
            <a:r>
              <a:rPr sz="2800" spc="-5" dirty="0">
                <a:latin typeface="宋体"/>
                <a:cs typeface="宋体"/>
              </a:rPr>
              <a:t>是具有独立存储空间，运行时存在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并代</a:t>
            </a:r>
            <a:r>
              <a:rPr sz="2800" dirty="0">
                <a:latin typeface="宋体"/>
                <a:cs typeface="宋体"/>
              </a:rPr>
              <a:t>表</a:t>
            </a:r>
            <a:r>
              <a:rPr sz="2800" spc="-5" dirty="0">
                <a:latin typeface="宋体"/>
                <a:cs typeface="宋体"/>
              </a:rPr>
              <a:t>一项 计算资源的物理元素和执行能力。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700">
              <a:latin typeface="宋体"/>
              <a:cs typeface="宋体"/>
            </a:endParaRPr>
          </a:p>
          <a:p>
            <a:pPr marR="4615815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宋体"/>
                <a:cs typeface="宋体"/>
              </a:rPr>
              <a:t>节点表示法：</a:t>
            </a:r>
            <a:endParaRPr sz="2400">
              <a:latin typeface="宋体"/>
              <a:cs typeface="宋体"/>
            </a:endParaRPr>
          </a:p>
          <a:p>
            <a:pPr marL="105410" algn="ctr">
              <a:lnSpc>
                <a:spcPct val="100000"/>
              </a:lnSpc>
              <a:spcBef>
                <a:spcPts val="665"/>
              </a:spcBef>
            </a:pPr>
            <a:r>
              <a:rPr sz="2400" dirty="0">
                <a:latin typeface="宋体"/>
                <a:cs typeface="宋体"/>
              </a:rPr>
              <a:t>节点名称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0902" y="86995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节点和构件</a:t>
            </a:r>
          </a:p>
        </p:txBody>
      </p:sp>
      <p:sp>
        <p:nvSpPr>
          <p:cNvPr id="3" name="object 3"/>
          <p:cNvSpPr/>
          <p:nvPr/>
        </p:nvSpPr>
        <p:spPr>
          <a:xfrm>
            <a:off x="4366259" y="4294632"/>
            <a:ext cx="1143000" cy="685800"/>
          </a:xfrm>
          <a:custGeom>
            <a:avLst/>
            <a:gdLst/>
            <a:ahLst/>
            <a:cxnLst/>
            <a:rect l="l" t="t" r="r" b="b"/>
            <a:pathLst>
              <a:path w="1143000" h="685800">
                <a:moveTo>
                  <a:pt x="0" y="171450"/>
                </a:moveTo>
                <a:lnTo>
                  <a:pt x="171450" y="0"/>
                </a:lnTo>
                <a:lnTo>
                  <a:pt x="1143000" y="0"/>
                </a:lnTo>
                <a:lnTo>
                  <a:pt x="1143000" y="514350"/>
                </a:lnTo>
                <a:lnTo>
                  <a:pt x="971550" y="685800"/>
                </a:lnTo>
                <a:lnTo>
                  <a:pt x="0" y="685800"/>
                </a:lnTo>
                <a:lnTo>
                  <a:pt x="0" y="1714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66259" y="4294632"/>
            <a:ext cx="1143000" cy="171450"/>
          </a:xfrm>
          <a:custGeom>
            <a:avLst/>
            <a:gdLst/>
            <a:ahLst/>
            <a:cxnLst/>
            <a:rect l="l" t="t" r="r" b="b"/>
            <a:pathLst>
              <a:path w="1143000" h="171450">
                <a:moveTo>
                  <a:pt x="0" y="171450"/>
                </a:moveTo>
                <a:lnTo>
                  <a:pt x="971550" y="171450"/>
                </a:lnTo>
                <a:lnTo>
                  <a:pt x="1143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7809" y="4466082"/>
            <a:ext cx="0" cy="514350"/>
          </a:xfrm>
          <a:custGeom>
            <a:avLst/>
            <a:gdLst/>
            <a:ahLst/>
            <a:cxnLst/>
            <a:rect l="l" t="t" r="r" b="b"/>
            <a:pathLst>
              <a:path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16577" y="4566030"/>
            <a:ext cx="471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sal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42260" y="5390388"/>
            <a:ext cx="1447800" cy="762000"/>
          </a:xfrm>
          <a:custGeom>
            <a:avLst/>
            <a:gdLst/>
            <a:ahLst/>
            <a:cxnLst/>
            <a:rect l="l" t="t" r="r" b="b"/>
            <a:pathLst>
              <a:path w="1447800" h="762000">
                <a:moveTo>
                  <a:pt x="0" y="762000"/>
                </a:moveTo>
                <a:lnTo>
                  <a:pt x="1447800" y="762000"/>
                </a:lnTo>
                <a:lnTo>
                  <a:pt x="14478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99002" y="5478272"/>
            <a:ext cx="798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s.e</a:t>
            </a:r>
            <a:r>
              <a:rPr sz="2000" spc="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61260" y="5847588"/>
            <a:ext cx="634365" cy="200025"/>
          </a:xfrm>
          <a:custGeom>
            <a:avLst/>
            <a:gdLst/>
            <a:ahLst/>
            <a:cxnLst/>
            <a:rect l="l" t="t" r="r" b="b"/>
            <a:pathLst>
              <a:path w="634364" h="200025">
                <a:moveTo>
                  <a:pt x="0" y="199644"/>
                </a:moveTo>
                <a:lnTo>
                  <a:pt x="633984" y="199644"/>
                </a:lnTo>
                <a:lnTo>
                  <a:pt x="633984" y="0"/>
                </a:lnTo>
                <a:lnTo>
                  <a:pt x="0" y="0"/>
                </a:lnTo>
                <a:lnTo>
                  <a:pt x="0" y="199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61260" y="5847588"/>
            <a:ext cx="634365" cy="200025"/>
          </a:xfrm>
          <a:custGeom>
            <a:avLst/>
            <a:gdLst/>
            <a:ahLst/>
            <a:cxnLst/>
            <a:rect l="l" t="t" r="r" b="b"/>
            <a:pathLst>
              <a:path w="634364" h="200025">
                <a:moveTo>
                  <a:pt x="0" y="199644"/>
                </a:moveTo>
                <a:lnTo>
                  <a:pt x="633984" y="199644"/>
                </a:lnTo>
                <a:lnTo>
                  <a:pt x="633984" y="0"/>
                </a:lnTo>
                <a:lnTo>
                  <a:pt x="0" y="0"/>
                </a:lnTo>
                <a:lnTo>
                  <a:pt x="0" y="19964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61260" y="5542788"/>
            <a:ext cx="634365" cy="200025"/>
          </a:xfrm>
          <a:custGeom>
            <a:avLst/>
            <a:gdLst/>
            <a:ahLst/>
            <a:cxnLst/>
            <a:rect l="l" t="t" r="r" b="b"/>
            <a:pathLst>
              <a:path w="634364" h="200025">
                <a:moveTo>
                  <a:pt x="0" y="199644"/>
                </a:moveTo>
                <a:lnTo>
                  <a:pt x="633984" y="199644"/>
                </a:lnTo>
                <a:lnTo>
                  <a:pt x="633984" y="0"/>
                </a:lnTo>
                <a:lnTo>
                  <a:pt x="0" y="0"/>
                </a:lnTo>
                <a:lnTo>
                  <a:pt x="0" y="1996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61260" y="5542788"/>
            <a:ext cx="634365" cy="200025"/>
          </a:xfrm>
          <a:custGeom>
            <a:avLst/>
            <a:gdLst/>
            <a:ahLst/>
            <a:cxnLst/>
            <a:rect l="l" t="t" r="r" b="b"/>
            <a:pathLst>
              <a:path w="634364" h="200025">
                <a:moveTo>
                  <a:pt x="0" y="199644"/>
                </a:moveTo>
                <a:lnTo>
                  <a:pt x="633984" y="199644"/>
                </a:lnTo>
                <a:lnTo>
                  <a:pt x="633984" y="0"/>
                </a:lnTo>
                <a:lnTo>
                  <a:pt x="0" y="0"/>
                </a:lnTo>
                <a:lnTo>
                  <a:pt x="0" y="19964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56859" y="5361432"/>
            <a:ext cx="1614170" cy="762000"/>
          </a:xfrm>
          <a:custGeom>
            <a:avLst/>
            <a:gdLst/>
            <a:ahLst/>
            <a:cxnLst/>
            <a:rect l="l" t="t" r="r" b="b"/>
            <a:pathLst>
              <a:path w="1614170" h="762000">
                <a:moveTo>
                  <a:pt x="0" y="762000"/>
                </a:moveTo>
                <a:lnTo>
                  <a:pt x="1613915" y="762000"/>
                </a:lnTo>
                <a:lnTo>
                  <a:pt x="1613915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617209" y="5448096"/>
            <a:ext cx="1275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s.exe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96611" y="5818632"/>
            <a:ext cx="634365" cy="198120"/>
          </a:xfrm>
          <a:custGeom>
            <a:avLst/>
            <a:gdLst/>
            <a:ahLst/>
            <a:cxnLst/>
            <a:rect l="l" t="t" r="r" b="b"/>
            <a:pathLst>
              <a:path w="634364" h="198120">
                <a:moveTo>
                  <a:pt x="0" y="198119"/>
                </a:moveTo>
                <a:lnTo>
                  <a:pt x="633984" y="198119"/>
                </a:lnTo>
                <a:lnTo>
                  <a:pt x="633984" y="0"/>
                </a:lnTo>
                <a:lnTo>
                  <a:pt x="0" y="0"/>
                </a:lnTo>
                <a:lnTo>
                  <a:pt x="0" y="1981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96611" y="5818632"/>
            <a:ext cx="634365" cy="198120"/>
          </a:xfrm>
          <a:custGeom>
            <a:avLst/>
            <a:gdLst/>
            <a:ahLst/>
            <a:cxnLst/>
            <a:rect l="l" t="t" r="r" b="b"/>
            <a:pathLst>
              <a:path w="634364" h="198120">
                <a:moveTo>
                  <a:pt x="0" y="198119"/>
                </a:moveTo>
                <a:lnTo>
                  <a:pt x="633984" y="198119"/>
                </a:lnTo>
                <a:lnTo>
                  <a:pt x="633984" y="0"/>
                </a:lnTo>
                <a:lnTo>
                  <a:pt x="0" y="0"/>
                </a:lnTo>
                <a:lnTo>
                  <a:pt x="0" y="19811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96611" y="5513832"/>
            <a:ext cx="634365" cy="198120"/>
          </a:xfrm>
          <a:custGeom>
            <a:avLst/>
            <a:gdLst/>
            <a:ahLst/>
            <a:cxnLst/>
            <a:rect l="l" t="t" r="r" b="b"/>
            <a:pathLst>
              <a:path w="634364" h="198120">
                <a:moveTo>
                  <a:pt x="0" y="198119"/>
                </a:moveTo>
                <a:lnTo>
                  <a:pt x="633984" y="198119"/>
                </a:lnTo>
                <a:lnTo>
                  <a:pt x="633984" y="0"/>
                </a:lnTo>
                <a:lnTo>
                  <a:pt x="0" y="0"/>
                </a:lnTo>
                <a:lnTo>
                  <a:pt x="0" y="1981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96611" y="5513832"/>
            <a:ext cx="634365" cy="198120"/>
          </a:xfrm>
          <a:custGeom>
            <a:avLst/>
            <a:gdLst/>
            <a:ahLst/>
            <a:cxnLst/>
            <a:rect l="l" t="t" r="r" b="b"/>
            <a:pathLst>
              <a:path w="634364" h="198120">
                <a:moveTo>
                  <a:pt x="0" y="198119"/>
                </a:moveTo>
                <a:lnTo>
                  <a:pt x="633984" y="198119"/>
                </a:lnTo>
                <a:lnTo>
                  <a:pt x="633984" y="0"/>
                </a:lnTo>
                <a:lnTo>
                  <a:pt x="0" y="0"/>
                </a:lnTo>
                <a:lnTo>
                  <a:pt x="0" y="19811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80459" y="4974463"/>
            <a:ext cx="1069340" cy="406400"/>
          </a:xfrm>
          <a:custGeom>
            <a:avLst/>
            <a:gdLst/>
            <a:ahLst/>
            <a:cxnLst/>
            <a:rect l="l" t="t" r="r" b="b"/>
            <a:pathLst>
              <a:path w="1069339" h="406400">
                <a:moveTo>
                  <a:pt x="1064640" y="0"/>
                </a:moveTo>
                <a:lnTo>
                  <a:pt x="1016762" y="17018"/>
                </a:lnTo>
                <a:lnTo>
                  <a:pt x="1021079" y="29082"/>
                </a:lnTo>
                <a:lnTo>
                  <a:pt x="1068959" y="11937"/>
                </a:lnTo>
                <a:lnTo>
                  <a:pt x="1064640" y="0"/>
                </a:lnTo>
                <a:close/>
              </a:path>
              <a:path w="1069339" h="406400">
                <a:moveTo>
                  <a:pt x="980948" y="29844"/>
                </a:moveTo>
                <a:lnTo>
                  <a:pt x="933068" y="46989"/>
                </a:lnTo>
                <a:lnTo>
                  <a:pt x="937387" y="58928"/>
                </a:lnTo>
                <a:lnTo>
                  <a:pt x="985265" y="41782"/>
                </a:lnTo>
                <a:lnTo>
                  <a:pt x="980948" y="29844"/>
                </a:lnTo>
                <a:close/>
              </a:path>
              <a:path w="1069339" h="406400">
                <a:moveTo>
                  <a:pt x="897254" y="59817"/>
                </a:moveTo>
                <a:lnTo>
                  <a:pt x="849376" y="76835"/>
                </a:lnTo>
                <a:lnTo>
                  <a:pt x="853693" y="88773"/>
                </a:lnTo>
                <a:lnTo>
                  <a:pt x="901445" y="71755"/>
                </a:lnTo>
                <a:lnTo>
                  <a:pt x="897254" y="59817"/>
                </a:lnTo>
                <a:close/>
              </a:path>
              <a:path w="1069339" h="406400">
                <a:moveTo>
                  <a:pt x="813562" y="89662"/>
                </a:moveTo>
                <a:lnTo>
                  <a:pt x="765682" y="106806"/>
                </a:lnTo>
                <a:lnTo>
                  <a:pt x="769874" y="118744"/>
                </a:lnTo>
                <a:lnTo>
                  <a:pt x="817752" y="101600"/>
                </a:lnTo>
                <a:lnTo>
                  <a:pt x="813562" y="89662"/>
                </a:lnTo>
                <a:close/>
              </a:path>
              <a:path w="1069339" h="406400">
                <a:moveTo>
                  <a:pt x="729741" y="119634"/>
                </a:moveTo>
                <a:lnTo>
                  <a:pt x="681989" y="136651"/>
                </a:lnTo>
                <a:lnTo>
                  <a:pt x="686180" y="148589"/>
                </a:lnTo>
                <a:lnTo>
                  <a:pt x="734060" y="131572"/>
                </a:lnTo>
                <a:lnTo>
                  <a:pt x="729741" y="119634"/>
                </a:lnTo>
                <a:close/>
              </a:path>
              <a:path w="1069339" h="406400">
                <a:moveTo>
                  <a:pt x="646049" y="149479"/>
                </a:moveTo>
                <a:lnTo>
                  <a:pt x="598169" y="166624"/>
                </a:lnTo>
                <a:lnTo>
                  <a:pt x="602488" y="178562"/>
                </a:lnTo>
                <a:lnTo>
                  <a:pt x="650366" y="161417"/>
                </a:lnTo>
                <a:lnTo>
                  <a:pt x="646049" y="149479"/>
                </a:lnTo>
                <a:close/>
              </a:path>
              <a:path w="1069339" h="406400">
                <a:moveTo>
                  <a:pt x="562355" y="179324"/>
                </a:moveTo>
                <a:lnTo>
                  <a:pt x="514476" y="196469"/>
                </a:lnTo>
                <a:lnTo>
                  <a:pt x="518794" y="208406"/>
                </a:lnTo>
                <a:lnTo>
                  <a:pt x="566674" y="191388"/>
                </a:lnTo>
                <a:lnTo>
                  <a:pt x="562355" y="179324"/>
                </a:lnTo>
                <a:close/>
              </a:path>
              <a:path w="1069339" h="406400">
                <a:moveTo>
                  <a:pt x="478663" y="209295"/>
                </a:moveTo>
                <a:lnTo>
                  <a:pt x="430784" y="226313"/>
                </a:lnTo>
                <a:lnTo>
                  <a:pt x="435101" y="238379"/>
                </a:lnTo>
                <a:lnTo>
                  <a:pt x="482853" y="221234"/>
                </a:lnTo>
                <a:lnTo>
                  <a:pt x="478663" y="209295"/>
                </a:lnTo>
                <a:close/>
              </a:path>
              <a:path w="1069339" h="406400">
                <a:moveTo>
                  <a:pt x="394842" y="239141"/>
                </a:moveTo>
                <a:lnTo>
                  <a:pt x="347090" y="256286"/>
                </a:lnTo>
                <a:lnTo>
                  <a:pt x="351281" y="268224"/>
                </a:lnTo>
                <a:lnTo>
                  <a:pt x="399161" y="251206"/>
                </a:lnTo>
                <a:lnTo>
                  <a:pt x="394842" y="239141"/>
                </a:lnTo>
                <a:close/>
              </a:path>
              <a:path w="1069339" h="406400">
                <a:moveTo>
                  <a:pt x="311150" y="269113"/>
                </a:moveTo>
                <a:lnTo>
                  <a:pt x="263398" y="286131"/>
                </a:lnTo>
                <a:lnTo>
                  <a:pt x="267588" y="298196"/>
                </a:lnTo>
                <a:lnTo>
                  <a:pt x="315467" y="281050"/>
                </a:lnTo>
                <a:lnTo>
                  <a:pt x="311150" y="269113"/>
                </a:lnTo>
                <a:close/>
              </a:path>
              <a:path w="1069339" h="406400">
                <a:moveTo>
                  <a:pt x="227456" y="298958"/>
                </a:moveTo>
                <a:lnTo>
                  <a:pt x="179577" y="316103"/>
                </a:lnTo>
                <a:lnTo>
                  <a:pt x="183895" y="328041"/>
                </a:lnTo>
                <a:lnTo>
                  <a:pt x="231775" y="310896"/>
                </a:lnTo>
                <a:lnTo>
                  <a:pt x="227456" y="298958"/>
                </a:lnTo>
                <a:close/>
              </a:path>
              <a:path w="1069339" h="406400">
                <a:moveTo>
                  <a:pt x="70103" y="308102"/>
                </a:moveTo>
                <a:lnTo>
                  <a:pt x="66039" y="308483"/>
                </a:lnTo>
                <a:lnTo>
                  <a:pt x="63753" y="311150"/>
                </a:lnTo>
                <a:lnTo>
                  <a:pt x="0" y="386969"/>
                </a:lnTo>
                <a:lnTo>
                  <a:pt x="100837" y="405892"/>
                </a:lnTo>
                <a:lnTo>
                  <a:pt x="104139" y="403606"/>
                </a:lnTo>
                <a:lnTo>
                  <a:pt x="105410" y="396748"/>
                </a:lnTo>
                <a:lnTo>
                  <a:pt x="103124" y="393319"/>
                </a:lnTo>
                <a:lnTo>
                  <a:pt x="73750" y="387858"/>
                </a:lnTo>
                <a:lnTo>
                  <a:pt x="16382" y="387858"/>
                </a:lnTo>
                <a:lnTo>
                  <a:pt x="12191" y="375920"/>
                </a:lnTo>
                <a:lnTo>
                  <a:pt x="31724" y="368925"/>
                </a:lnTo>
                <a:lnTo>
                  <a:pt x="73532" y="319278"/>
                </a:lnTo>
                <a:lnTo>
                  <a:pt x="75818" y="316611"/>
                </a:lnTo>
                <a:lnTo>
                  <a:pt x="75437" y="312674"/>
                </a:lnTo>
                <a:lnTo>
                  <a:pt x="70103" y="308102"/>
                </a:lnTo>
                <a:close/>
              </a:path>
              <a:path w="1069339" h="406400">
                <a:moveTo>
                  <a:pt x="31724" y="368925"/>
                </a:moveTo>
                <a:lnTo>
                  <a:pt x="12191" y="375920"/>
                </a:lnTo>
                <a:lnTo>
                  <a:pt x="16382" y="387858"/>
                </a:lnTo>
                <a:lnTo>
                  <a:pt x="19220" y="386842"/>
                </a:lnTo>
                <a:lnTo>
                  <a:pt x="16637" y="386842"/>
                </a:lnTo>
                <a:lnTo>
                  <a:pt x="12953" y="376555"/>
                </a:lnTo>
                <a:lnTo>
                  <a:pt x="25299" y="376555"/>
                </a:lnTo>
                <a:lnTo>
                  <a:pt x="31724" y="368925"/>
                </a:lnTo>
                <a:close/>
              </a:path>
              <a:path w="1069339" h="406400">
                <a:moveTo>
                  <a:pt x="35988" y="380837"/>
                </a:moveTo>
                <a:lnTo>
                  <a:pt x="16382" y="387858"/>
                </a:lnTo>
                <a:lnTo>
                  <a:pt x="73750" y="387858"/>
                </a:lnTo>
                <a:lnTo>
                  <a:pt x="35988" y="380837"/>
                </a:lnTo>
                <a:close/>
              </a:path>
              <a:path w="1069339" h="406400">
                <a:moveTo>
                  <a:pt x="12953" y="376555"/>
                </a:moveTo>
                <a:lnTo>
                  <a:pt x="16637" y="386842"/>
                </a:lnTo>
                <a:lnTo>
                  <a:pt x="23628" y="378539"/>
                </a:lnTo>
                <a:lnTo>
                  <a:pt x="12953" y="376555"/>
                </a:lnTo>
                <a:close/>
              </a:path>
              <a:path w="1069339" h="406400">
                <a:moveTo>
                  <a:pt x="23628" y="378539"/>
                </a:moveTo>
                <a:lnTo>
                  <a:pt x="16637" y="386842"/>
                </a:lnTo>
                <a:lnTo>
                  <a:pt x="19220" y="386842"/>
                </a:lnTo>
                <a:lnTo>
                  <a:pt x="35988" y="380837"/>
                </a:lnTo>
                <a:lnTo>
                  <a:pt x="23628" y="378539"/>
                </a:lnTo>
                <a:close/>
              </a:path>
              <a:path w="1069339" h="406400">
                <a:moveTo>
                  <a:pt x="60070" y="358775"/>
                </a:moveTo>
                <a:lnTo>
                  <a:pt x="31724" y="368925"/>
                </a:lnTo>
                <a:lnTo>
                  <a:pt x="23628" y="378539"/>
                </a:lnTo>
                <a:lnTo>
                  <a:pt x="35988" y="380837"/>
                </a:lnTo>
                <a:lnTo>
                  <a:pt x="64262" y="370713"/>
                </a:lnTo>
                <a:lnTo>
                  <a:pt x="60070" y="358775"/>
                </a:lnTo>
                <a:close/>
              </a:path>
              <a:path w="1069339" h="406400">
                <a:moveTo>
                  <a:pt x="25299" y="376555"/>
                </a:moveTo>
                <a:lnTo>
                  <a:pt x="12953" y="376555"/>
                </a:lnTo>
                <a:lnTo>
                  <a:pt x="23628" y="378539"/>
                </a:lnTo>
                <a:lnTo>
                  <a:pt x="25299" y="376555"/>
                </a:lnTo>
                <a:close/>
              </a:path>
              <a:path w="1069339" h="406400">
                <a:moveTo>
                  <a:pt x="143763" y="328930"/>
                </a:moveTo>
                <a:lnTo>
                  <a:pt x="95885" y="345948"/>
                </a:lnTo>
                <a:lnTo>
                  <a:pt x="100202" y="357886"/>
                </a:lnTo>
                <a:lnTo>
                  <a:pt x="147954" y="340868"/>
                </a:lnTo>
                <a:lnTo>
                  <a:pt x="143763" y="328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49392" y="4974590"/>
            <a:ext cx="841375" cy="397510"/>
          </a:xfrm>
          <a:custGeom>
            <a:avLst/>
            <a:gdLst/>
            <a:ahLst/>
            <a:cxnLst/>
            <a:rect l="l" t="t" r="r" b="b"/>
            <a:pathLst>
              <a:path w="841375" h="397510">
                <a:moveTo>
                  <a:pt x="5334" y="0"/>
                </a:moveTo>
                <a:lnTo>
                  <a:pt x="0" y="11684"/>
                </a:lnTo>
                <a:lnTo>
                  <a:pt x="46228" y="32639"/>
                </a:lnTo>
                <a:lnTo>
                  <a:pt x="51562" y="21082"/>
                </a:lnTo>
                <a:lnTo>
                  <a:pt x="5334" y="0"/>
                </a:lnTo>
                <a:close/>
              </a:path>
              <a:path w="841375" h="397510">
                <a:moveTo>
                  <a:pt x="86233" y="36830"/>
                </a:moveTo>
                <a:lnTo>
                  <a:pt x="81026" y="48387"/>
                </a:lnTo>
                <a:lnTo>
                  <a:pt x="127254" y="69468"/>
                </a:lnTo>
                <a:lnTo>
                  <a:pt x="132461" y="57912"/>
                </a:lnTo>
                <a:lnTo>
                  <a:pt x="86233" y="36830"/>
                </a:lnTo>
                <a:close/>
              </a:path>
              <a:path w="841375" h="397510">
                <a:moveTo>
                  <a:pt x="167132" y="73660"/>
                </a:moveTo>
                <a:lnTo>
                  <a:pt x="161925" y="85217"/>
                </a:lnTo>
                <a:lnTo>
                  <a:pt x="208153" y="106172"/>
                </a:lnTo>
                <a:lnTo>
                  <a:pt x="213360" y="94615"/>
                </a:lnTo>
                <a:lnTo>
                  <a:pt x="167132" y="73660"/>
                </a:lnTo>
                <a:close/>
              </a:path>
              <a:path w="841375" h="397510">
                <a:moveTo>
                  <a:pt x="248031" y="110362"/>
                </a:moveTo>
                <a:lnTo>
                  <a:pt x="242824" y="121920"/>
                </a:lnTo>
                <a:lnTo>
                  <a:pt x="289052" y="143002"/>
                </a:lnTo>
                <a:lnTo>
                  <a:pt x="294386" y="131445"/>
                </a:lnTo>
                <a:lnTo>
                  <a:pt x="248031" y="110362"/>
                </a:lnTo>
                <a:close/>
              </a:path>
              <a:path w="841375" h="397510">
                <a:moveTo>
                  <a:pt x="329057" y="147193"/>
                </a:moveTo>
                <a:lnTo>
                  <a:pt x="323723" y="158750"/>
                </a:lnTo>
                <a:lnTo>
                  <a:pt x="369951" y="179832"/>
                </a:lnTo>
                <a:lnTo>
                  <a:pt x="375285" y="168275"/>
                </a:lnTo>
                <a:lnTo>
                  <a:pt x="329057" y="147193"/>
                </a:lnTo>
                <a:close/>
              </a:path>
              <a:path w="841375" h="397510">
                <a:moveTo>
                  <a:pt x="409956" y="184023"/>
                </a:moveTo>
                <a:lnTo>
                  <a:pt x="404749" y="195580"/>
                </a:lnTo>
                <a:lnTo>
                  <a:pt x="450977" y="216535"/>
                </a:lnTo>
                <a:lnTo>
                  <a:pt x="456184" y="204978"/>
                </a:lnTo>
                <a:lnTo>
                  <a:pt x="409956" y="184023"/>
                </a:lnTo>
                <a:close/>
              </a:path>
              <a:path w="841375" h="397510">
                <a:moveTo>
                  <a:pt x="490855" y="220726"/>
                </a:moveTo>
                <a:lnTo>
                  <a:pt x="485648" y="232283"/>
                </a:lnTo>
                <a:lnTo>
                  <a:pt x="531876" y="253365"/>
                </a:lnTo>
                <a:lnTo>
                  <a:pt x="537083" y="241808"/>
                </a:lnTo>
                <a:lnTo>
                  <a:pt x="490855" y="220726"/>
                </a:lnTo>
                <a:close/>
              </a:path>
              <a:path w="841375" h="397510">
                <a:moveTo>
                  <a:pt x="571754" y="257556"/>
                </a:moveTo>
                <a:lnTo>
                  <a:pt x="566547" y="269113"/>
                </a:lnTo>
                <a:lnTo>
                  <a:pt x="612775" y="290195"/>
                </a:lnTo>
                <a:lnTo>
                  <a:pt x="618109" y="278638"/>
                </a:lnTo>
                <a:lnTo>
                  <a:pt x="571754" y="257556"/>
                </a:lnTo>
                <a:close/>
              </a:path>
              <a:path w="841375" h="397510">
                <a:moveTo>
                  <a:pt x="652780" y="294386"/>
                </a:moveTo>
                <a:lnTo>
                  <a:pt x="647446" y="305943"/>
                </a:lnTo>
                <a:lnTo>
                  <a:pt x="693674" y="326898"/>
                </a:lnTo>
                <a:lnTo>
                  <a:pt x="699008" y="315341"/>
                </a:lnTo>
                <a:lnTo>
                  <a:pt x="652780" y="294386"/>
                </a:lnTo>
                <a:close/>
              </a:path>
              <a:path w="841375" h="397510">
                <a:moveTo>
                  <a:pt x="810407" y="377175"/>
                </a:moveTo>
                <a:lnTo>
                  <a:pt x="741045" y="384302"/>
                </a:lnTo>
                <a:lnTo>
                  <a:pt x="737489" y="384556"/>
                </a:lnTo>
                <a:lnTo>
                  <a:pt x="734949" y="387731"/>
                </a:lnTo>
                <a:lnTo>
                  <a:pt x="735711" y="394716"/>
                </a:lnTo>
                <a:lnTo>
                  <a:pt x="738759" y="397256"/>
                </a:lnTo>
                <a:lnTo>
                  <a:pt x="834629" y="387477"/>
                </a:lnTo>
                <a:lnTo>
                  <a:pt x="826770" y="387477"/>
                </a:lnTo>
                <a:lnTo>
                  <a:pt x="809371" y="379476"/>
                </a:lnTo>
                <a:lnTo>
                  <a:pt x="810407" y="377175"/>
                </a:lnTo>
                <a:close/>
              </a:path>
              <a:path w="841375" h="397510">
                <a:moveTo>
                  <a:pt x="817924" y="376402"/>
                </a:moveTo>
                <a:lnTo>
                  <a:pt x="810407" y="377175"/>
                </a:lnTo>
                <a:lnTo>
                  <a:pt x="809371" y="379476"/>
                </a:lnTo>
                <a:lnTo>
                  <a:pt x="826770" y="387477"/>
                </a:lnTo>
                <a:lnTo>
                  <a:pt x="827766" y="385318"/>
                </a:lnTo>
                <a:lnTo>
                  <a:pt x="824230" y="385318"/>
                </a:lnTo>
                <a:lnTo>
                  <a:pt x="817924" y="376402"/>
                </a:lnTo>
                <a:close/>
              </a:path>
              <a:path w="841375" h="397510">
                <a:moveTo>
                  <a:pt x="827469" y="367919"/>
                </a:moveTo>
                <a:lnTo>
                  <a:pt x="814578" y="367919"/>
                </a:lnTo>
                <a:lnTo>
                  <a:pt x="832104" y="375920"/>
                </a:lnTo>
                <a:lnTo>
                  <a:pt x="826770" y="387477"/>
                </a:lnTo>
                <a:lnTo>
                  <a:pt x="834629" y="387477"/>
                </a:lnTo>
                <a:lnTo>
                  <a:pt x="840867" y="386842"/>
                </a:lnTo>
                <a:lnTo>
                  <a:pt x="827469" y="367919"/>
                </a:lnTo>
                <a:close/>
              </a:path>
              <a:path w="841375" h="397510">
                <a:moveTo>
                  <a:pt x="828802" y="375285"/>
                </a:moveTo>
                <a:lnTo>
                  <a:pt x="817924" y="376402"/>
                </a:lnTo>
                <a:lnTo>
                  <a:pt x="824230" y="385318"/>
                </a:lnTo>
                <a:lnTo>
                  <a:pt x="828802" y="375285"/>
                </a:lnTo>
                <a:close/>
              </a:path>
              <a:path w="841375" h="397510">
                <a:moveTo>
                  <a:pt x="830713" y="375285"/>
                </a:moveTo>
                <a:lnTo>
                  <a:pt x="828802" y="375285"/>
                </a:lnTo>
                <a:lnTo>
                  <a:pt x="824230" y="385318"/>
                </a:lnTo>
                <a:lnTo>
                  <a:pt x="827766" y="385318"/>
                </a:lnTo>
                <a:lnTo>
                  <a:pt x="832104" y="375920"/>
                </a:lnTo>
                <a:lnTo>
                  <a:pt x="830713" y="375285"/>
                </a:lnTo>
                <a:close/>
              </a:path>
              <a:path w="841375" h="397510">
                <a:moveTo>
                  <a:pt x="813545" y="370210"/>
                </a:moveTo>
                <a:lnTo>
                  <a:pt x="810407" y="377175"/>
                </a:lnTo>
                <a:lnTo>
                  <a:pt x="817924" y="376402"/>
                </a:lnTo>
                <a:lnTo>
                  <a:pt x="813545" y="370210"/>
                </a:lnTo>
                <a:close/>
              </a:path>
              <a:path w="841375" h="397510">
                <a:moveTo>
                  <a:pt x="814578" y="367919"/>
                </a:moveTo>
                <a:lnTo>
                  <a:pt x="813545" y="370210"/>
                </a:lnTo>
                <a:lnTo>
                  <a:pt x="817924" y="376402"/>
                </a:lnTo>
                <a:lnTo>
                  <a:pt x="828802" y="375285"/>
                </a:lnTo>
                <a:lnTo>
                  <a:pt x="830713" y="375285"/>
                </a:lnTo>
                <a:lnTo>
                  <a:pt x="814578" y="367919"/>
                </a:lnTo>
                <a:close/>
              </a:path>
              <a:path w="841375" h="397510">
                <a:moveTo>
                  <a:pt x="777621" y="302387"/>
                </a:moveTo>
                <a:lnTo>
                  <a:pt x="774827" y="304419"/>
                </a:lnTo>
                <a:lnTo>
                  <a:pt x="771906" y="306451"/>
                </a:lnTo>
                <a:lnTo>
                  <a:pt x="771271" y="310388"/>
                </a:lnTo>
                <a:lnTo>
                  <a:pt x="773303" y="313309"/>
                </a:lnTo>
                <a:lnTo>
                  <a:pt x="813545" y="370210"/>
                </a:lnTo>
                <a:lnTo>
                  <a:pt x="814578" y="367919"/>
                </a:lnTo>
                <a:lnTo>
                  <a:pt x="827469" y="367919"/>
                </a:lnTo>
                <a:lnTo>
                  <a:pt x="783590" y="305943"/>
                </a:lnTo>
                <a:lnTo>
                  <a:pt x="781558" y="303149"/>
                </a:lnTo>
                <a:lnTo>
                  <a:pt x="777621" y="302387"/>
                </a:lnTo>
                <a:close/>
              </a:path>
              <a:path w="841375" h="397510">
                <a:moveTo>
                  <a:pt x="733679" y="331089"/>
                </a:moveTo>
                <a:lnTo>
                  <a:pt x="728472" y="342646"/>
                </a:lnTo>
                <a:lnTo>
                  <a:pt x="774700" y="363728"/>
                </a:lnTo>
                <a:lnTo>
                  <a:pt x="779907" y="352171"/>
                </a:lnTo>
                <a:lnTo>
                  <a:pt x="733679" y="3310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21640" y="854227"/>
            <a:ext cx="8164195" cy="37604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800" spc="-5" dirty="0">
                <a:latin typeface="Wingdings"/>
                <a:cs typeface="Wingdings"/>
              </a:rPr>
              <a:t></a:t>
            </a:r>
            <a:r>
              <a:rPr sz="2800" spc="-5" dirty="0">
                <a:latin typeface="宋体"/>
                <a:cs typeface="宋体"/>
              </a:rPr>
              <a:t>构件</a:t>
            </a:r>
            <a:r>
              <a:rPr sz="2800" spc="-10" dirty="0">
                <a:latin typeface="宋体"/>
                <a:cs typeface="宋体"/>
              </a:rPr>
              <a:t>是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系统执行的事物</a:t>
            </a:r>
            <a:r>
              <a:rPr sz="2800" spc="-5" dirty="0">
                <a:latin typeface="宋体"/>
                <a:cs typeface="宋体"/>
              </a:rPr>
              <a:t>，节点</a:t>
            </a:r>
            <a:r>
              <a:rPr sz="2800" spc="-15" dirty="0">
                <a:latin typeface="宋体"/>
                <a:cs typeface="宋体"/>
              </a:rPr>
              <a:t>是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执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行构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件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的事</a:t>
            </a:r>
            <a:r>
              <a:rPr sz="2800" u="heavy" spc="1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物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ts val="3350"/>
              </a:lnSpc>
              <a:spcBef>
                <a:spcPts val="805"/>
              </a:spcBef>
            </a:pPr>
            <a:r>
              <a:rPr sz="2800" spc="-5" dirty="0">
                <a:latin typeface="Wingdings"/>
                <a:cs typeface="Wingdings"/>
              </a:rPr>
              <a:t></a:t>
            </a:r>
            <a:r>
              <a:rPr sz="2800" spc="-5" dirty="0">
                <a:latin typeface="宋体"/>
                <a:cs typeface="宋体"/>
              </a:rPr>
              <a:t>构件代表逻辑元素的物理打包，</a:t>
            </a:r>
            <a:r>
              <a:rPr sz="2800" spc="5" dirty="0">
                <a:latin typeface="宋体"/>
                <a:cs typeface="宋体"/>
              </a:rPr>
              <a:t>节</a:t>
            </a:r>
            <a:r>
              <a:rPr sz="2800" spc="-5" dirty="0">
                <a:latin typeface="宋体"/>
                <a:cs typeface="宋体"/>
              </a:rPr>
              <a:t>点可</a:t>
            </a:r>
            <a:r>
              <a:rPr sz="2800" spc="5" dirty="0">
                <a:latin typeface="宋体"/>
                <a:cs typeface="宋体"/>
              </a:rPr>
              <a:t>表</a:t>
            </a:r>
            <a:r>
              <a:rPr sz="2800" spc="-5" dirty="0">
                <a:latin typeface="宋体"/>
                <a:cs typeface="宋体"/>
              </a:rPr>
              <a:t>示构</a:t>
            </a:r>
            <a:r>
              <a:rPr sz="2800" spc="5" dirty="0">
                <a:latin typeface="宋体"/>
                <a:cs typeface="宋体"/>
              </a:rPr>
              <a:t>件</a:t>
            </a:r>
            <a:r>
              <a:rPr sz="2800" spc="-5" dirty="0">
                <a:latin typeface="宋体"/>
                <a:cs typeface="宋体"/>
              </a:rPr>
              <a:t>的 物理部署</a:t>
            </a:r>
            <a:endParaRPr sz="2800">
              <a:latin typeface="宋体"/>
              <a:cs typeface="宋体"/>
            </a:endParaRPr>
          </a:p>
          <a:p>
            <a:pPr marL="64769">
              <a:lnSpc>
                <a:spcPct val="100000"/>
              </a:lnSpc>
              <a:spcBef>
                <a:spcPts val="985"/>
              </a:spcBef>
            </a:pPr>
            <a:r>
              <a:rPr sz="2800" spc="-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2800" spc="-5" dirty="0">
                <a:latin typeface="宋体"/>
                <a:cs typeface="宋体"/>
              </a:rPr>
              <a:t>节点和构件的关系：</a:t>
            </a:r>
            <a:endParaRPr sz="2800">
              <a:latin typeface="宋体"/>
              <a:cs typeface="宋体"/>
            </a:endParaRPr>
          </a:p>
          <a:p>
            <a:pPr marL="64769" marR="276860">
              <a:lnSpc>
                <a:spcPts val="3200"/>
              </a:lnSpc>
              <a:spcBef>
                <a:spcPts val="2075"/>
              </a:spcBef>
            </a:pPr>
            <a:r>
              <a:rPr sz="2800" spc="-5" dirty="0">
                <a:latin typeface="宋体"/>
                <a:cs typeface="宋体"/>
              </a:rPr>
              <a:t>节点上可以有一个或多个构件，一</a:t>
            </a:r>
            <a:r>
              <a:rPr sz="2800" dirty="0">
                <a:latin typeface="宋体"/>
                <a:cs typeface="宋体"/>
              </a:rPr>
              <a:t>个</a:t>
            </a:r>
            <a:r>
              <a:rPr sz="2800" spc="-5" dirty="0">
                <a:latin typeface="宋体"/>
                <a:cs typeface="宋体"/>
              </a:rPr>
              <a:t>构件</a:t>
            </a:r>
            <a:r>
              <a:rPr sz="2800" dirty="0">
                <a:latin typeface="宋体"/>
                <a:cs typeface="宋体"/>
              </a:rPr>
              <a:t>也</a:t>
            </a:r>
            <a:r>
              <a:rPr sz="2800" spc="-5" dirty="0">
                <a:latin typeface="宋体"/>
                <a:cs typeface="宋体"/>
              </a:rPr>
              <a:t>可以部 </a:t>
            </a:r>
            <a:r>
              <a:rPr sz="2800" spc="-10" dirty="0">
                <a:latin typeface="宋体"/>
                <a:cs typeface="宋体"/>
              </a:rPr>
              <a:t>署在一个或多个节点上。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宋体"/>
              <a:cs typeface="宋体"/>
            </a:endParaRPr>
          </a:p>
          <a:p>
            <a:pPr marL="2535555">
              <a:lnSpc>
                <a:spcPct val="100000"/>
              </a:lnSpc>
            </a:pPr>
            <a:r>
              <a:rPr sz="2000" dirty="0">
                <a:latin typeface="宋体"/>
                <a:cs typeface="宋体"/>
              </a:rPr>
              <a:t>例：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594741"/>
            <a:ext cx="7044690" cy="85851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sz="2800" spc="-5" dirty="0">
                <a:latin typeface="Wingdings"/>
                <a:cs typeface="Wingdings"/>
              </a:rPr>
              <a:t>◼</a:t>
            </a:r>
            <a:r>
              <a:rPr sz="2800" spc="-5" dirty="0">
                <a:solidFill>
                  <a:srgbClr val="000000"/>
                </a:solidFill>
              </a:rPr>
              <a:t>节点之间的关联关系：用来表示节</a:t>
            </a:r>
            <a:r>
              <a:rPr sz="2800" spc="5" dirty="0">
                <a:solidFill>
                  <a:srgbClr val="000000"/>
                </a:solidFill>
              </a:rPr>
              <a:t>点</a:t>
            </a:r>
            <a:r>
              <a:rPr sz="2800" spc="-5" dirty="0">
                <a:solidFill>
                  <a:srgbClr val="000000"/>
                </a:solidFill>
              </a:rPr>
              <a:t>之间</a:t>
            </a:r>
            <a:r>
              <a:rPr sz="2800" spc="-710" dirty="0">
                <a:solidFill>
                  <a:srgbClr val="000000"/>
                </a:solidFill>
              </a:rPr>
              <a:t>的 </a:t>
            </a:r>
            <a:r>
              <a:rPr sz="2800" spc="-5" dirty="0">
                <a:solidFill>
                  <a:srgbClr val="000000"/>
                </a:solidFill>
              </a:rPr>
              <a:t>物理连接</a:t>
            </a:r>
            <a:endParaRPr sz="2800">
              <a:latin typeface="Wingdings"/>
              <a:cs typeface="Wingding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90600" y="2895600"/>
            <a:ext cx="1447800" cy="838200"/>
          </a:xfrm>
          <a:custGeom>
            <a:avLst/>
            <a:gdLst/>
            <a:ahLst/>
            <a:cxnLst/>
            <a:rect l="l" t="t" r="r" b="b"/>
            <a:pathLst>
              <a:path w="1447800" h="838200">
                <a:moveTo>
                  <a:pt x="0" y="209550"/>
                </a:moveTo>
                <a:lnTo>
                  <a:pt x="209550" y="0"/>
                </a:lnTo>
                <a:lnTo>
                  <a:pt x="1447800" y="0"/>
                </a:lnTo>
                <a:lnTo>
                  <a:pt x="1447800" y="628650"/>
                </a:lnTo>
                <a:lnTo>
                  <a:pt x="1238250" y="838200"/>
                </a:lnTo>
                <a:lnTo>
                  <a:pt x="0" y="838200"/>
                </a:lnTo>
                <a:lnTo>
                  <a:pt x="0" y="2095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90600" y="2895600"/>
            <a:ext cx="1447800" cy="209550"/>
          </a:xfrm>
          <a:custGeom>
            <a:avLst/>
            <a:gdLst/>
            <a:ahLst/>
            <a:cxnLst/>
            <a:rect l="l" t="t" r="r" b="b"/>
            <a:pathLst>
              <a:path w="1447800" h="209550">
                <a:moveTo>
                  <a:pt x="0" y="209550"/>
                </a:moveTo>
                <a:lnTo>
                  <a:pt x="1238250" y="209550"/>
                </a:lnTo>
                <a:lnTo>
                  <a:pt x="1447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28850" y="3105150"/>
            <a:ext cx="0" cy="628650"/>
          </a:xfrm>
          <a:custGeom>
            <a:avLst/>
            <a:gdLst/>
            <a:ahLst/>
            <a:cxnLst/>
            <a:rect l="l" t="t" r="r" b="b"/>
            <a:pathLst>
              <a:path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69644" y="3262629"/>
            <a:ext cx="5213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kiosk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8200" y="4191000"/>
            <a:ext cx="1447800" cy="838200"/>
          </a:xfrm>
          <a:custGeom>
            <a:avLst/>
            <a:gdLst/>
            <a:ahLst/>
            <a:cxnLst/>
            <a:rect l="l" t="t" r="r" b="b"/>
            <a:pathLst>
              <a:path w="1447800" h="838200">
                <a:moveTo>
                  <a:pt x="0" y="209550"/>
                </a:moveTo>
                <a:lnTo>
                  <a:pt x="209550" y="0"/>
                </a:lnTo>
                <a:lnTo>
                  <a:pt x="1447800" y="0"/>
                </a:lnTo>
                <a:lnTo>
                  <a:pt x="1447800" y="628650"/>
                </a:lnTo>
                <a:lnTo>
                  <a:pt x="1238250" y="838200"/>
                </a:lnTo>
                <a:lnTo>
                  <a:pt x="0" y="838200"/>
                </a:lnTo>
                <a:lnTo>
                  <a:pt x="0" y="2095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8200" y="4191000"/>
            <a:ext cx="1447800" cy="209550"/>
          </a:xfrm>
          <a:custGeom>
            <a:avLst/>
            <a:gdLst/>
            <a:ahLst/>
            <a:cxnLst/>
            <a:rect l="l" t="t" r="r" b="b"/>
            <a:pathLst>
              <a:path w="1447800" h="209550">
                <a:moveTo>
                  <a:pt x="0" y="209550"/>
                </a:moveTo>
                <a:lnTo>
                  <a:pt x="1238250" y="209550"/>
                </a:lnTo>
                <a:lnTo>
                  <a:pt x="1447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76450" y="4400550"/>
            <a:ext cx="0" cy="628650"/>
          </a:xfrm>
          <a:custGeom>
            <a:avLst/>
            <a:gdLst/>
            <a:ahLst/>
            <a:cxnLst/>
            <a:rect l="l" t="t" r="r" b="b"/>
            <a:pathLst>
              <a:path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7244" y="4558410"/>
            <a:ext cx="72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console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67200" y="3733800"/>
            <a:ext cx="1447800" cy="838200"/>
          </a:xfrm>
          <a:custGeom>
            <a:avLst/>
            <a:gdLst/>
            <a:ahLst/>
            <a:cxnLst/>
            <a:rect l="l" t="t" r="r" b="b"/>
            <a:pathLst>
              <a:path w="1447800" h="838200">
                <a:moveTo>
                  <a:pt x="0" y="209550"/>
                </a:moveTo>
                <a:lnTo>
                  <a:pt x="209550" y="0"/>
                </a:lnTo>
                <a:lnTo>
                  <a:pt x="1447800" y="0"/>
                </a:lnTo>
                <a:lnTo>
                  <a:pt x="1447800" y="628650"/>
                </a:lnTo>
                <a:lnTo>
                  <a:pt x="1238250" y="838200"/>
                </a:lnTo>
                <a:lnTo>
                  <a:pt x="0" y="838200"/>
                </a:lnTo>
                <a:lnTo>
                  <a:pt x="0" y="2095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67200" y="3733800"/>
            <a:ext cx="1447800" cy="209550"/>
          </a:xfrm>
          <a:custGeom>
            <a:avLst/>
            <a:gdLst/>
            <a:ahLst/>
            <a:cxnLst/>
            <a:rect l="l" t="t" r="r" b="b"/>
            <a:pathLst>
              <a:path w="1447800" h="209550">
                <a:moveTo>
                  <a:pt x="0" y="209550"/>
                </a:moveTo>
                <a:lnTo>
                  <a:pt x="1238250" y="209550"/>
                </a:lnTo>
                <a:lnTo>
                  <a:pt x="1447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05450" y="3943350"/>
            <a:ext cx="0" cy="628650"/>
          </a:xfrm>
          <a:custGeom>
            <a:avLst/>
            <a:gdLst/>
            <a:ahLst/>
            <a:cxnLst/>
            <a:rect l="l" t="t" r="r" b="b"/>
            <a:pathLst>
              <a:path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46575" y="4101210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server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29400" y="3657600"/>
            <a:ext cx="1447800" cy="838200"/>
          </a:xfrm>
          <a:custGeom>
            <a:avLst/>
            <a:gdLst/>
            <a:ahLst/>
            <a:cxnLst/>
            <a:rect l="l" t="t" r="r" b="b"/>
            <a:pathLst>
              <a:path w="1447800" h="838200">
                <a:moveTo>
                  <a:pt x="0" y="209550"/>
                </a:moveTo>
                <a:lnTo>
                  <a:pt x="209550" y="0"/>
                </a:lnTo>
                <a:lnTo>
                  <a:pt x="1447800" y="0"/>
                </a:lnTo>
                <a:lnTo>
                  <a:pt x="1447800" y="628650"/>
                </a:lnTo>
                <a:lnTo>
                  <a:pt x="1238250" y="838200"/>
                </a:lnTo>
                <a:lnTo>
                  <a:pt x="0" y="838200"/>
                </a:lnTo>
                <a:lnTo>
                  <a:pt x="0" y="2095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29400" y="3657600"/>
            <a:ext cx="1447800" cy="209550"/>
          </a:xfrm>
          <a:custGeom>
            <a:avLst/>
            <a:gdLst/>
            <a:ahLst/>
            <a:cxnLst/>
            <a:rect l="l" t="t" r="r" b="b"/>
            <a:pathLst>
              <a:path w="1447800" h="209550">
                <a:moveTo>
                  <a:pt x="0" y="209550"/>
                </a:moveTo>
                <a:lnTo>
                  <a:pt x="1238250" y="209550"/>
                </a:lnTo>
                <a:lnTo>
                  <a:pt x="1447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67650" y="3867150"/>
            <a:ext cx="0" cy="628650"/>
          </a:xfrm>
          <a:custGeom>
            <a:avLst/>
            <a:gdLst/>
            <a:ahLst/>
            <a:cxnLst/>
            <a:rect l="l" t="t" r="r" b="b"/>
            <a:pathLst>
              <a:path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709409" y="4025010"/>
            <a:ext cx="1073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RAID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farm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09800" y="3276600"/>
            <a:ext cx="2057400" cy="838200"/>
          </a:xfrm>
          <a:custGeom>
            <a:avLst/>
            <a:gdLst/>
            <a:ahLst/>
            <a:cxnLst/>
            <a:rect l="l" t="t" r="r" b="b"/>
            <a:pathLst>
              <a:path w="2057400" h="838200">
                <a:moveTo>
                  <a:pt x="0" y="0"/>
                </a:moveTo>
                <a:lnTo>
                  <a:pt x="2057400" y="838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57400" y="4343400"/>
            <a:ext cx="2209800" cy="304800"/>
          </a:xfrm>
          <a:custGeom>
            <a:avLst/>
            <a:gdLst/>
            <a:ahLst/>
            <a:cxnLst/>
            <a:rect l="l" t="t" r="r" b="b"/>
            <a:pathLst>
              <a:path w="2209800" h="304800">
                <a:moveTo>
                  <a:pt x="0" y="304800"/>
                </a:moveTo>
                <a:lnTo>
                  <a:pt x="2209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86400" y="4191000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22575" y="3303854"/>
            <a:ext cx="151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&lt;&lt;10-Tethernet&gt;&gt;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593594" y="4523613"/>
            <a:ext cx="11715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&lt;&lt;RS--232&gt;&gt;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3444" y="2161159"/>
            <a:ext cx="3088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宋体"/>
                <a:cs typeface="宋体"/>
              </a:rPr>
              <a:t>节点之间的连接示例：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702" y="261061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部署图的补充元素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17" y="1462786"/>
            <a:ext cx="7803515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161925" indent="-457200" algn="just">
              <a:lnSpc>
                <a:spcPct val="125000"/>
              </a:lnSpc>
              <a:spcBef>
                <a:spcPts val="100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处理器（《processor》）：具有处理能力的节点，即 可以执行构件</a:t>
            </a:r>
            <a:endParaRPr sz="2400">
              <a:latin typeface="宋体"/>
              <a:cs typeface="宋体"/>
            </a:endParaRPr>
          </a:p>
          <a:p>
            <a:pPr marL="469265" marR="5080" indent="-457200" algn="just">
              <a:lnSpc>
                <a:spcPct val="125000"/>
              </a:lnSpc>
              <a:spcBef>
                <a:spcPts val="580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设备（《device》）：没有处理能力的节点，至少是不 关心其处理能力的节点。例如打印机</a:t>
            </a:r>
            <a:r>
              <a:rPr sz="2400" spc="5" dirty="0">
                <a:latin typeface="宋体"/>
                <a:cs typeface="宋体"/>
              </a:rPr>
              <a:t>、</a:t>
            </a:r>
            <a:r>
              <a:rPr sz="2400" dirty="0">
                <a:latin typeface="宋体"/>
                <a:cs typeface="宋体"/>
              </a:rPr>
              <a:t>IC卡读写器，如 果我们的系统不考虑它们内部的芯片，就可建模为设备</a:t>
            </a:r>
            <a:endParaRPr sz="2400">
              <a:latin typeface="宋体"/>
              <a:cs typeface="宋体"/>
            </a:endParaRPr>
          </a:p>
          <a:p>
            <a:pPr marL="469265" marR="10160" indent="-457200" algn="just">
              <a:lnSpc>
                <a:spcPct val="125000"/>
              </a:lnSpc>
              <a:spcBef>
                <a:spcPts val="575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节点属性和操作：可以为一个节点提供处理器速度、内 存容量、网卡数量等属性，可以为其提供启动、关机等 操作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/>
              <a:t>部署图的补充元素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17" y="1554226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自定义构造型图标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1639" y="2491739"/>
            <a:ext cx="5257800" cy="2187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1838" y="154939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建立部署图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030" y="1562557"/>
            <a:ext cx="6875780" cy="341947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55600" marR="5080" indent="-342900" algn="just">
              <a:lnSpc>
                <a:spcPct val="97800"/>
              </a:lnSpc>
              <a:spcBef>
                <a:spcPts val="190"/>
              </a:spcBef>
            </a:pPr>
            <a:r>
              <a:rPr sz="3200" spc="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3200" spc="-560" dirty="0">
                <a:solidFill>
                  <a:srgbClr val="00663B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宋体"/>
                <a:cs typeface="宋体"/>
              </a:rPr>
              <a:t>部署图通包含节点、节</a:t>
            </a:r>
            <a:r>
              <a:rPr sz="3200" spc="-15" dirty="0">
                <a:latin typeface="宋体"/>
                <a:cs typeface="宋体"/>
              </a:rPr>
              <a:t>点</a:t>
            </a:r>
            <a:r>
              <a:rPr sz="3200" dirty="0">
                <a:latin typeface="宋体"/>
                <a:cs typeface="宋体"/>
              </a:rPr>
              <a:t>间的</a:t>
            </a:r>
            <a:r>
              <a:rPr sz="3200" spc="-15" dirty="0">
                <a:latin typeface="宋体"/>
                <a:cs typeface="宋体"/>
              </a:rPr>
              <a:t>关</a:t>
            </a:r>
            <a:r>
              <a:rPr sz="3200" dirty="0">
                <a:latin typeface="宋体"/>
                <a:cs typeface="宋体"/>
              </a:rPr>
              <a:t>联</a:t>
            </a:r>
            <a:r>
              <a:rPr sz="3200" spc="-810" dirty="0">
                <a:latin typeface="宋体"/>
                <a:cs typeface="宋体"/>
              </a:rPr>
              <a:t>关 </a:t>
            </a:r>
            <a:r>
              <a:rPr sz="3200" dirty="0">
                <a:latin typeface="宋体"/>
                <a:cs typeface="宋体"/>
              </a:rPr>
              <a:t>系、构件以及构件和节</a:t>
            </a:r>
            <a:r>
              <a:rPr sz="3200" spc="-15" dirty="0">
                <a:latin typeface="宋体"/>
                <a:cs typeface="宋体"/>
              </a:rPr>
              <a:t>点</a:t>
            </a:r>
            <a:r>
              <a:rPr sz="3200" dirty="0">
                <a:latin typeface="宋体"/>
                <a:cs typeface="宋体"/>
              </a:rPr>
              <a:t>间的</a:t>
            </a:r>
            <a:r>
              <a:rPr sz="3200" spc="-15" dirty="0">
                <a:latin typeface="宋体"/>
                <a:cs typeface="宋体"/>
              </a:rPr>
              <a:t>依</a:t>
            </a:r>
            <a:r>
              <a:rPr sz="3200" dirty="0">
                <a:latin typeface="宋体"/>
                <a:cs typeface="宋体"/>
              </a:rPr>
              <a:t>赖关 系。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100">
              <a:latin typeface="宋体"/>
              <a:cs typeface="宋体"/>
            </a:endParaRPr>
          </a:p>
          <a:p>
            <a:pPr marL="355600" marR="5080" indent="-342900">
              <a:lnSpc>
                <a:spcPts val="3670"/>
              </a:lnSpc>
            </a:pPr>
            <a:r>
              <a:rPr sz="3200" spc="30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3200" dirty="0">
                <a:latin typeface="宋体"/>
                <a:cs typeface="宋体"/>
              </a:rPr>
              <a:t>部署图中部署的构件和</a:t>
            </a:r>
            <a:r>
              <a:rPr sz="3200" spc="-15" dirty="0">
                <a:latin typeface="宋体"/>
                <a:cs typeface="宋体"/>
              </a:rPr>
              <a:t>可</a:t>
            </a:r>
            <a:r>
              <a:rPr sz="3200" dirty="0">
                <a:latin typeface="宋体"/>
                <a:cs typeface="宋体"/>
              </a:rPr>
              <a:t>执行</a:t>
            </a:r>
            <a:r>
              <a:rPr sz="3200" spc="-15" dirty="0">
                <a:latin typeface="宋体"/>
                <a:cs typeface="宋体"/>
              </a:rPr>
              <a:t>构</a:t>
            </a:r>
            <a:r>
              <a:rPr sz="3200" dirty="0">
                <a:latin typeface="宋体"/>
                <a:cs typeface="宋体"/>
              </a:rPr>
              <a:t>件</a:t>
            </a:r>
            <a:r>
              <a:rPr sz="3200" spc="-844" dirty="0">
                <a:latin typeface="宋体"/>
                <a:cs typeface="宋体"/>
              </a:rPr>
              <a:t>都 </a:t>
            </a:r>
            <a:r>
              <a:rPr sz="3200" dirty="0">
                <a:latin typeface="宋体"/>
                <a:cs typeface="宋体"/>
              </a:rPr>
              <a:t>必须存在于某些节点上。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75" y="386841"/>
            <a:ext cx="77520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示例：确定所需的节点</a:t>
            </a:r>
            <a:r>
              <a:rPr sz="3200" spc="-15" dirty="0"/>
              <a:t>和</a:t>
            </a:r>
            <a:r>
              <a:rPr sz="3200" dirty="0"/>
              <a:t>节点</a:t>
            </a:r>
            <a:r>
              <a:rPr sz="3200" spc="-15" dirty="0"/>
              <a:t>间</a:t>
            </a:r>
            <a:r>
              <a:rPr sz="3200" dirty="0"/>
              <a:t>的连</a:t>
            </a:r>
            <a:r>
              <a:rPr sz="3200" spc="-15" dirty="0"/>
              <a:t>接</a:t>
            </a:r>
            <a:r>
              <a:rPr sz="3200" dirty="0"/>
              <a:t>关系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1970" marR="309245" indent="-457200">
              <a:lnSpc>
                <a:spcPct val="125000"/>
              </a:lnSpc>
              <a:spcBef>
                <a:spcPts val="100"/>
              </a:spcBef>
              <a:buClr>
                <a:srgbClr val="00663B"/>
              </a:buClr>
              <a:buFont typeface="Wingdings"/>
              <a:buChar char=""/>
              <a:tabLst>
                <a:tab pos="522605" algn="l"/>
                <a:tab pos="523240" algn="l"/>
              </a:tabLst>
            </a:pPr>
            <a:r>
              <a:rPr dirty="0"/>
              <a:t>IC卡读卡器：提供给员工刷卡用，它将收集刷卡的时间 信息，传给应用系统，并存入数据库中</a:t>
            </a:r>
          </a:p>
          <a:p>
            <a:pPr marL="521970" marR="308610" indent="-457200">
              <a:lnSpc>
                <a:spcPct val="125000"/>
              </a:lnSpc>
              <a:spcBef>
                <a:spcPts val="580"/>
              </a:spcBef>
              <a:buClr>
                <a:srgbClr val="00663B"/>
              </a:buClr>
              <a:buFont typeface="Wingdings"/>
              <a:buChar char=""/>
              <a:tabLst>
                <a:tab pos="522605" algn="l"/>
                <a:tab pos="523240" algn="l"/>
              </a:tabLst>
            </a:pPr>
            <a:r>
              <a:rPr dirty="0"/>
              <a:t>应用服务器：用来负责</a:t>
            </a:r>
            <a:r>
              <a:rPr spc="5" dirty="0"/>
              <a:t>从</a:t>
            </a:r>
            <a:r>
              <a:rPr dirty="0"/>
              <a:t>IC卡读卡器中收集信息，并对 管理人员提供员工设置、考勤查询等功能</a:t>
            </a:r>
          </a:p>
          <a:p>
            <a:pPr marL="521970" marR="5080" indent="-457200">
              <a:lnSpc>
                <a:spcPct val="125099"/>
              </a:lnSpc>
              <a:spcBef>
                <a:spcPts val="570"/>
              </a:spcBef>
              <a:buClr>
                <a:srgbClr val="00663B"/>
              </a:buClr>
              <a:buFont typeface="Wingdings"/>
              <a:buChar char=""/>
              <a:tabLst>
                <a:tab pos="522605" algn="l"/>
                <a:tab pos="523240" algn="l"/>
              </a:tabLst>
            </a:pPr>
            <a:r>
              <a:rPr dirty="0"/>
              <a:t>数据库服务器：用来存储考勤数据，由于该系统比较小， 因此在物理上可以与应用服务器合并</a:t>
            </a:r>
          </a:p>
          <a:p>
            <a:pPr marL="521970" marR="309880" indent="-457200">
              <a:lnSpc>
                <a:spcPct val="125000"/>
              </a:lnSpc>
              <a:spcBef>
                <a:spcPts val="575"/>
              </a:spcBef>
              <a:buClr>
                <a:srgbClr val="00663B"/>
              </a:buClr>
              <a:buFont typeface="Wingdings"/>
              <a:buChar char=""/>
              <a:tabLst>
                <a:tab pos="522605" algn="l"/>
                <a:tab pos="523240" algn="l"/>
              </a:tabLst>
            </a:pPr>
            <a:r>
              <a:rPr dirty="0"/>
              <a:t>客户端软件：提供给管理人员使用，连接应用服务器， 完成相应操作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5904" y="2781300"/>
            <a:ext cx="7804404" cy="1943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675" y="386841"/>
            <a:ext cx="77520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示例：确定所需的节点</a:t>
            </a:r>
            <a:r>
              <a:rPr sz="3200" spc="-15" dirty="0"/>
              <a:t>和</a:t>
            </a:r>
            <a:r>
              <a:rPr sz="3200" dirty="0"/>
              <a:t>节点</a:t>
            </a:r>
            <a:r>
              <a:rPr sz="3200" spc="-15" dirty="0"/>
              <a:t>间</a:t>
            </a:r>
            <a:r>
              <a:rPr sz="3200" dirty="0"/>
              <a:t>的连</a:t>
            </a:r>
            <a:r>
              <a:rPr sz="3200" spc="-15" dirty="0"/>
              <a:t>接</a:t>
            </a:r>
            <a:r>
              <a:rPr sz="3200" dirty="0"/>
              <a:t>关系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9382" y="215900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示例：根据实现描述节点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17" y="1462786"/>
            <a:ext cx="8103234" cy="38303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20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客户端：需使用Windows操作系统，安装客户端软件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宋体"/>
                <a:cs typeface="宋体"/>
              </a:rPr>
              <a:t>（假设名为KaoQing.exe）</a:t>
            </a:r>
            <a:endParaRPr sz="2400">
              <a:latin typeface="宋体"/>
              <a:cs typeface="宋体"/>
            </a:endParaRPr>
          </a:p>
          <a:p>
            <a:pPr marL="469265" marR="458470" indent="-457200" algn="just">
              <a:lnSpc>
                <a:spcPct val="125000"/>
              </a:lnSpc>
              <a:spcBef>
                <a:spcPts val="580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服务器：包含一个</a:t>
            </a:r>
            <a:r>
              <a:rPr sz="2400" spc="5" dirty="0">
                <a:latin typeface="宋体"/>
                <a:cs typeface="宋体"/>
              </a:rPr>
              <a:t>用</a:t>
            </a:r>
            <a:r>
              <a:rPr sz="2400" dirty="0">
                <a:latin typeface="宋体"/>
                <a:cs typeface="宋体"/>
              </a:rPr>
              <a:t>Delphi开发的服务端软件（设为 KqServer.exe），它需要与Access数据库交互（设为 KaoQing.mdb），并且需要通过IC卡读卡器的驱动程序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宋体"/>
                <a:cs typeface="宋体"/>
              </a:rPr>
              <a:t>（假设名为cardReader.dll）来实现与IC卡读卡器通信</a:t>
            </a:r>
            <a:endParaRPr sz="2400">
              <a:latin typeface="宋体"/>
              <a:cs typeface="宋体"/>
            </a:endParaRPr>
          </a:p>
          <a:p>
            <a:pPr marL="469265" marR="5080" indent="-457200">
              <a:lnSpc>
                <a:spcPct val="125000"/>
              </a:lnSpc>
              <a:spcBef>
                <a:spcPts val="575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400" dirty="0">
                <a:latin typeface="宋体"/>
                <a:cs typeface="宋体"/>
              </a:rPr>
              <a:t>IC卡读写器：对于本系统而言，它是不执行构件的设备， 不过为了方便员工，安装</a:t>
            </a:r>
            <a:r>
              <a:rPr sz="2400" spc="5" dirty="0">
                <a:latin typeface="宋体"/>
                <a:cs typeface="宋体"/>
              </a:rPr>
              <a:t>了</a:t>
            </a:r>
            <a:r>
              <a:rPr sz="2400" dirty="0">
                <a:latin typeface="宋体"/>
                <a:cs typeface="宋体"/>
              </a:rPr>
              <a:t>3个。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715" y="2491739"/>
            <a:ext cx="8151876" cy="2232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59382" y="215900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示例：根据实现描述节点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1142" y="204977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部署图的应用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065" y="1656079"/>
            <a:ext cx="3378200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Wingdings"/>
                <a:cs typeface="Wingdings"/>
              </a:rPr>
              <a:t></a:t>
            </a:r>
            <a:r>
              <a:rPr sz="2400" dirty="0">
                <a:latin typeface="宋体"/>
                <a:cs typeface="宋体"/>
              </a:rPr>
              <a:t>嵌入式系统建模</a:t>
            </a:r>
            <a:endParaRPr sz="2400">
              <a:latin typeface="宋体"/>
              <a:cs typeface="宋体"/>
            </a:endParaRPr>
          </a:p>
          <a:p>
            <a:pPr marL="12700" marR="5080" algn="just">
              <a:lnSpc>
                <a:spcPct val="98000"/>
              </a:lnSpc>
              <a:spcBef>
                <a:spcPts val="175"/>
              </a:spcBef>
            </a:pPr>
            <a:r>
              <a:rPr sz="2400" spc="-5" dirty="0">
                <a:latin typeface="宋体"/>
                <a:cs typeface="宋体"/>
              </a:rPr>
              <a:t>用部署图描述嵌入式系统 </a:t>
            </a:r>
            <a:r>
              <a:rPr sz="2400" dirty="0">
                <a:latin typeface="宋体"/>
                <a:cs typeface="宋体"/>
              </a:rPr>
              <a:t>的处理器、设备以及构件 在其上的分布情况。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Wingdings"/>
                <a:cs typeface="Wingdings"/>
              </a:rPr>
              <a:t></a:t>
            </a:r>
            <a:r>
              <a:rPr sz="2400" dirty="0">
                <a:latin typeface="宋体"/>
                <a:cs typeface="宋体"/>
              </a:rPr>
              <a:t>分布式系统建模</a:t>
            </a:r>
            <a:endParaRPr sz="2400">
              <a:latin typeface="宋体"/>
              <a:cs typeface="宋体"/>
            </a:endParaRPr>
          </a:p>
          <a:p>
            <a:pPr marL="12700" marR="5080" algn="just">
              <a:lnSpc>
                <a:spcPct val="97900"/>
              </a:lnSpc>
              <a:spcBef>
                <a:spcPts val="180"/>
              </a:spcBef>
            </a:pPr>
            <a:r>
              <a:rPr sz="2400" dirty="0">
                <a:latin typeface="宋体"/>
                <a:cs typeface="宋体"/>
              </a:rPr>
              <a:t>用部署图描述分布式系统 的网络拓扑结构以及构件 </a:t>
            </a:r>
            <a:r>
              <a:rPr sz="2400" spc="-5" dirty="0">
                <a:latin typeface="宋体"/>
                <a:cs typeface="宋体"/>
              </a:rPr>
              <a:t>在其上的分布情况。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48684" y="1333500"/>
            <a:ext cx="4948427" cy="2788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45864" y="4373879"/>
            <a:ext cx="4352544" cy="1810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682</Words>
  <Application>Microsoft Office PowerPoint</Application>
  <PresentationFormat>全屏显示(4:3)</PresentationFormat>
  <Paragraphs>206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华文行楷</vt:lpstr>
      <vt:lpstr>宋体</vt:lpstr>
      <vt:lpstr>Arial</vt:lpstr>
      <vt:lpstr>Calibri</vt:lpstr>
      <vt:lpstr>Times New Roman</vt:lpstr>
      <vt:lpstr>Wingdings</vt:lpstr>
      <vt:lpstr>Office Theme</vt:lpstr>
      <vt:lpstr>面向对象分析与UML建模(5)</vt:lpstr>
      <vt:lpstr>构件和部署基本概念</vt:lpstr>
      <vt:lpstr>面向对象分析与UML建模(5)</vt:lpstr>
      <vt:lpstr>构件图Component Diagram</vt:lpstr>
      <vt:lpstr>构件与类差别</vt:lpstr>
      <vt:lpstr>构件的接口</vt:lpstr>
      <vt:lpstr>构件及构件接口表示法</vt:lpstr>
      <vt:lpstr>基本构件图</vt:lpstr>
      <vt:lpstr>嵌套构件图</vt:lpstr>
      <vt:lpstr>构件的种类</vt:lpstr>
      <vt:lpstr>产品构件建模</vt:lpstr>
      <vt:lpstr>部署构件建模</vt:lpstr>
      <vt:lpstr>应用接口API建模</vt:lpstr>
      <vt:lpstr>可执行构件建模</vt:lpstr>
      <vt:lpstr>示例：确定子系统对外的接口</vt:lpstr>
      <vt:lpstr>示例：确定子构件和接口</vt:lpstr>
      <vt:lpstr>应用：对可执行程序的结构建模</vt:lpstr>
      <vt:lpstr>应用：对源代码建模</vt:lpstr>
      <vt:lpstr>面向对象分析与UML建模(5)</vt:lpstr>
      <vt:lpstr>部署图Deployment Diagram</vt:lpstr>
      <vt:lpstr>节点和构件</vt:lpstr>
      <vt:lpstr>◼节点之间的关联关系：用来表示节点之间的 物理连接</vt:lpstr>
      <vt:lpstr>部署图的补充元素</vt:lpstr>
      <vt:lpstr>部署图的补充元素</vt:lpstr>
      <vt:lpstr>建立部署图</vt:lpstr>
      <vt:lpstr>示例：确定所需的节点和节点间的连接关系</vt:lpstr>
      <vt:lpstr>示例：确定所需的节点和节点间的连接关系</vt:lpstr>
      <vt:lpstr>示例：根据实现描述节点</vt:lpstr>
      <vt:lpstr>示例：根据实现描述节点</vt:lpstr>
      <vt:lpstr>部署图的应用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BigDataBench</dc:title>
  <dc:creator>wanling gao</dc:creator>
  <cp:lastModifiedBy>- Vel</cp:lastModifiedBy>
  <cp:revision>1</cp:revision>
  <dcterms:created xsi:type="dcterms:W3CDTF">2024-04-26T01:54:01Z</dcterms:created>
  <dcterms:modified xsi:type="dcterms:W3CDTF">2024-04-26T03:46:16Z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2024-04-16T00:00:00Z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2024-04-26T00:00:00Z</vt:filetime>
  </property>
</Properties>
</file>
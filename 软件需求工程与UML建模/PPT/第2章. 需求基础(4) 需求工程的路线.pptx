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</p:sldIdLst>
  <p:sldSz cx="9144000" cy="6858000" type="screen4x3"/>
  <p:notesSz cx="9144000" cy="6858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0" d="100"/>
          <a:sy n="90" d="100"/>
        </p:scale>
        <p:origin x="1680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00663C"/>
                </a:solidFill>
                <a:latin typeface="华文行楷"/>
                <a:cs typeface="华文行楷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4/25/2024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00663C"/>
                </a:solidFill>
                <a:latin typeface="宋体"/>
                <a:cs typeface="宋体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宋体"/>
                <a:cs typeface="宋体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00663C"/>
                </a:solidFill>
                <a:latin typeface="华文行楷"/>
                <a:cs typeface="华文行楷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4/25/2024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00663C"/>
                </a:solidFill>
                <a:latin typeface="宋体"/>
                <a:cs typeface="宋体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00663C"/>
                </a:solidFill>
                <a:latin typeface="华文行楷"/>
                <a:cs typeface="华文行楷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4/25/2024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00663C"/>
                </a:solidFill>
                <a:latin typeface="宋体"/>
                <a:cs typeface="宋体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00663C"/>
                </a:solidFill>
                <a:latin typeface="华文行楷"/>
                <a:cs typeface="华文行楷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4/25/2024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9144000" cy="360680"/>
          </a:xfrm>
          <a:custGeom>
            <a:avLst/>
            <a:gdLst/>
            <a:ahLst/>
            <a:cxnLst/>
            <a:rect l="l" t="t" r="r" b="b"/>
            <a:pathLst>
              <a:path w="9144000" h="360680">
                <a:moveTo>
                  <a:pt x="0" y="0"/>
                </a:moveTo>
                <a:lnTo>
                  <a:pt x="9144000" y="0"/>
                </a:lnTo>
                <a:lnTo>
                  <a:pt x="9144000" y="360362"/>
                </a:lnTo>
                <a:lnTo>
                  <a:pt x="0" y="360362"/>
                </a:lnTo>
                <a:lnTo>
                  <a:pt x="0" y="0"/>
                </a:lnTo>
                <a:close/>
              </a:path>
            </a:pathLst>
          </a:custGeom>
          <a:solidFill>
            <a:srgbClr val="00663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0" y="6517305"/>
            <a:ext cx="9144000" cy="340995"/>
          </a:xfrm>
          <a:custGeom>
            <a:avLst/>
            <a:gdLst/>
            <a:ahLst/>
            <a:cxnLst/>
            <a:rect l="l" t="t" r="r" b="b"/>
            <a:pathLst>
              <a:path w="9144000" h="340995">
                <a:moveTo>
                  <a:pt x="0" y="0"/>
                </a:moveTo>
                <a:lnTo>
                  <a:pt x="9144000" y="0"/>
                </a:lnTo>
                <a:lnTo>
                  <a:pt x="9144000" y="340694"/>
                </a:lnTo>
                <a:lnTo>
                  <a:pt x="0" y="340694"/>
                </a:lnTo>
                <a:lnTo>
                  <a:pt x="0" y="0"/>
                </a:lnTo>
                <a:close/>
              </a:path>
            </a:pathLst>
          </a:custGeom>
          <a:solidFill>
            <a:srgbClr val="00663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00663C"/>
                </a:solidFill>
                <a:latin typeface="华文行楷"/>
                <a:cs typeface="华文行楷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4/25/2024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6308725"/>
            <a:ext cx="9144000" cy="1905"/>
          </a:xfrm>
          <a:custGeom>
            <a:avLst/>
            <a:gdLst/>
            <a:ahLst/>
            <a:cxnLst/>
            <a:rect l="l" t="t" r="r" b="b"/>
            <a:pathLst>
              <a:path w="9144000" h="1904">
                <a:moveTo>
                  <a:pt x="0" y="0"/>
                </a:moveTo>
                <a:lnTo>
                  <a:pt x="9144000" y="1588"/>
                </a:lnTo>
              </a:path>
            </a:pathLst>
          </a:custGeom>
          <a:ln w="12700">
            <a:solidFill>
              <a:srgbClr val="00663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603500" y="269747"/>
            <a:ext cx="3937000" cy="695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00663C"/>
                </a:solidFill>
                <a:latin typeface="宋体"/>
                <a:cs typeface="宋体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78151" y="1532805"/>
            <a:ext cx="5183505" cy="22078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宋体"/>
                <a:cs typeface="宋体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21220" y="6432367"/>
            <a:ext cx="2243455" cy="2781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rgbClr val="00663C"/>
                </a:solidFill>
                <a:latin typeface="华文行楷"/>
                <a:cs typeface="华文行楷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4/25/2024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41700" y="269747"/>
            <a:ext cx="22606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主要内容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184147"/>
            <a:ext cx="3213100" cy="34334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ts val="3815"/>
              </a:lnSpc>
              <a:spcBef>
                <a:spcPts val="100"/>
              </a:spcBef>
              <a:buClr>
                <a:srgbClr val="00663C"/>
              </a:buClr>
              <a:buSzPct val="81250"/>
              <a:buFont typeface="Wingdings"/>
              <a:buChar char=""/>
              <a:tabLst>
                <a:tab pos="355600" algn="l"/>
              </a:tabLst>
            </a:pPr>
            <a:r>
              <a:rPr sz="3200" dirty="0">
                <a:latin typeface="宋体"/>
                <a:cs typeface="宋体"/>
              </a:rPr>
              <a:t>需求的定义</a:t>
            </a:r>
            <a:endParaRPr sz="3200">
              <a:latin typeface="宋体"/>
              <a:cs typeface="宋体"/>
            </a:endParaRPr>
          </a:p>
          <a:p>
            <a:pPr marL="355600" indent="-342900">
              <a:lnSpc>
                <a:spcPts val="3804"/>
              </a:lnSpc>
              <a:buClr>
                <a:srgbClr val="00663C"/>
              </a:buClr>
              <a:buSzPct val="81250"/>
              <a:buFont typeface="Wingdings"/>
              <a:buChar char=""/>
              <a:tabLst>
                <a:tab pos="355600" algn="l"/>
              </a:tabLst>
            </a:pPr>
            <a:r>
              <a:rPr sz="3200" dirty="0">
                <a:latin typeface="宋体"/>
                <a:cs typeface="宋体"/>
              </a:rPr>
              <a:t>理解需求内涵</a:t>
            </a:r>
            <a:endParaRPr sz="3200">
              <a:latin typeface="宋体"/>
              <a:cs typeface="宋体"/>
            </a:endParaRPr>
          </a:p>
          <a:p>
            <a:pPr marL="355600" indent="-342900">
              <a:lnSpc>
                <a:spcPts val="3829"/>
              </a:lnSpc>
              <a:buClr>
                <a:srgbClr val="00663C"/>
              </a:buClr>
              <a:buSzPct val="81250"/>
              <a:buFont typeface="Wingdings"/>
              <a:buChar char=""/>
              <a:tabLst>
                <a:tab pos="355600" algn="l"/>
              </a:tabLst>
            </a:pPr>
            <a:r>
              <a:rPr sz="3200" dirty="0">
                <a:latin typeface="宋体"/>
                <a:cs typeface="宋体"/>
              </a:rPr>
              <a:t>需求分类</a:t>
            </a:r>
            <a:endParaRPr sz="3200">
              <a:latin typeface="宋体"/>
              <a:cs typeface="宋体"/>
            </a:endParaRPr>
          </a:p>
          <a:p>
            <a:pPr marL="355600" indent="-342900">
              <a:lnSpc>
                <a:spcPts val="3815"/>
              </a:lnSpc>
              <a:spcBef>
                <a:spcPts val="45"/>
              </a:spcBef>
              <a:buClr>
                <a:srgbClr val="00663C"/>
              </a:buClr>
              <a:buSzPct val="81250"/>
              <a:buFont typeface="Wingdings"/>
              <a:buChar char=""/>
              <a:tabLst>
                <a:tab pos="355600" algn="l"/>
              </a:tabLst>
            </a:pPr>
            <a:r>
              <a:rPr sz="3200" dirty="0">
                <a:solidFill>
                  <a:srgbClr val="FF0000"/>
                </a:solidFill>
                <a:latin typeface="宋体"/>
                <a:cs typeface="宋体"/>
              </a:rPr>
              <a:t>需求工程的路线</a:t>
            </a:r>
            <a:endParaRPr sz="3200">
              <a:latin typeface="宋体"/>
              <a:cs typeface="宋体"/>
            </a:endParaRPr>
          </a:p>
          <a:p>
            <a:pPr marL="355600" indent="-342900">
              <a:lnSpc>
                <a:spcPts val="3815"/>
              </a:lnSpc>
              <a:buClr>
                <a:srgbClr val="00663C"/>
              </a:buClr>
              <a:buSzPct val="81250"/>
              <a:buFont typeface="Wingdings"/>
              <a:buChar char=""/>
              <a:tabLst>
                <a:tab pos="355600" algn="l"/>
              </a:tabLst>
            </a:pPr>
            <a:r>
              <a:rPr sz="3200" dirty="0">
                <a:latin typeface="宋体"/>
                <a:cs typeface="宋体"/>
              </a:rPr>
              <a:t>优秀需求特性</a:t>
            </a:r>
            <a:endParaRPr sz="3200">
              <a:latin typeface="宋体"/>
              <a:cs typeface="宋体"/>
            </a:endParaRPr>
          </a:p>
          <a:p>
            <a:pPr marL="355600" indent="-342900">
              <a:lnSpc>
                <a:spcPts val="3815"/>
              </a:lnSpc>
              <a:spcBef>
                <a:spcPts val="75"/>
              </a:spcBef>
              <a:buClr>
                <a:srgbClr val="00663C"/>
              </a:buClr>
              <a:buSzPct val="81250"/>
              <a:buFont typeface="Wingdings"/>
              <a:buChar char=""/>
              <a:tabLst>
                <a:tab pos="355600" algn="l"/>
              </a:tabLst>
            </a:pPr>
            <a:r>
              <a:rPr sz="3200" dirty="0">
                <a:latin typeface="宋体"/>
                <a:cs typeface="宋体"/>
              </a:rPr>
              <a:t>常见需求错误</a:t>
            </a:r>
            <a:endParaRPr sz="3200">
              <a:latin typeface="宋体"/>
              <a:cs typeface="宋体"/>
            </a:endParaRPr>
          </a:p>
          <a:p>
            <a:pPr marL="355600" indent="-342900">
              <a:lnSpc>
                <a:spcPts val="3815"/>
              </a:lnSpc>
              <a:buClr>
                <a:srgbClr val="00663C"/>
              </a:buClr>
              <a:buSzPct val="81250"/>
              <a:buFont typeface="Wingdings"/>
              <a:buChar char=""/>
              <a:tabLst>
                <a:tab pos="355600" algn="l"/>
              </a:tabLst>
            </a:pPr>
            <a:r>
              <a:rPr sz="3200" dirty="0">
                <a:latin typeface="宋体"/>
                <a:cs typeface="宋体"/>
              </a:rPr>
              <a:t>练习题</a:t>
            </a:r>
            <a:endParaRPr sz="32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03500" y="129539"/>
            <a:ext cx="39370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需求工程的路线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584200" indent="-571500">
              <a:lnSpc>
                <a:spcPct val="100000"/>
              </a:lnSpc>
              <a:spcBef>
                <a:spcPts val="705"/>
              </a:spcBef>
              <a:buClr>
                <a:srgbClr val="00663C"/>
              </a:buClr>
              <a:buSzPct val="78571"/>
              <a:buFont typeface="Wingdings"/>
              <a:buChar char=""/>
              <a:tabLst>
                <a:tab pos="583565" algn="l"/>
                <a:tab pos="584200" algn="l"/>
              </a:tabLst>
            </a:pPr>
            <a:r>
              <a:rPr dirty="0">
                <a:latin typeface="Calibri"/>
                <a:cs typeface="Calibri"/>
              </a:rPr>
              <a:t>1. </a:t>
            </a:r>
            <a:r>
              <a:rPr dirty="0"/>
              <a:t>问题分析和背景分析</a:t>
            </a:r>
          </a:p>
          <a:p>
            <a:pPr marL="852805" lvl="1" indent="-495300">
              <a:lnSpc>
                <a:spcPct val="100000"/>
              </a:lnSpc>
              <a:spcBef>
                <a:spcPts val="520"/>
              </a:spcBef>
              <a:buClr>
                <a:srgbClr val="C00000"/>
              </a:buClr>
              <a:buSzPct val="59574"/>
              <a:buFont typeface="Wingdings"/>
              <a:buChar char=""/>
              <a:tabLst>
                <a:tab pos="852169" algn="l"/>
                <a:tab pos="852805" algn="l"/>
              </a:tabLst>
            </a:pPr>
            <a:r>
              <a:rPr sz="3525" b="1" spc="127" baseline="1182" dirty="0">
                <a:solidFill>
                  <a:srgbClr val="00663C"/>
                </a:solidFill>
                <a:latin typeface="宋体"/>
                <a:cs typeface="宋体"/>
              </a:rPr>
              <a:t>发现问</a:t>
            </a:r>
            <a:r>
              <a:rPr sz="3525" b="1" spc="135" baseline="1182" dirty="0">
                <a:solidFill>
                  <a:srgbClr val="00663C"/>
                </a:solidFill>
                <a:latin typeface="宋体"/>
                <a:cs typeface="宋体"/>
              </a:rPr>
              <a:t>题</a:t>
            </a:r>
            <a:r>
              <a:rPr sz="2400" dirty="0">
                <a:latin typeface="宋体"/>
                <a:cs typeface="宋体"/>
              </a:rPr>
              <a:t>比</a:t>
            </a:r>
            <a:r>
              <a:rPr sz="3525" b="1" spc="127" baseline="1182" dirty="0">
                <a:solidFill>
                  <a:srgbClr val="00663C"/>
                </a:solidFill>
                <a:latin typeface="宋体"/>
                <a:cs typeface="宋体"/>
              </a:rPr>
              <a:t>发现需</a:t>
            </a:r>
            <a:r>
              <a:rPr sz="3525" b="1" spc="135" baseline="1182" dirty="0">
                <a:solidFill>
                  <a:srgbClr val="00663C"/>
                </a:solidFill>
                <a:latin typeface="宋体"/>
                <a:cs typeface="宋体"/>
              </a:rPr>
              <a:t>求</a:t>
            </a:r>
            <a:r>
              <a:rPr sz="2400" dirty="0">
                <a:latin typeface="宋体"/>
                <a:cs typeface="宋体"/>
              </a:rPr>
              <a:t>要简单的多</a:t>
            </a:r>
          </a:p>
          <a:p>
            <a:pPr marL="852805" marR="56515" lvl="1" indent="-495300">
              <a:lnSpc>
                <a:spcPts val="2690"/>
              </a:lnSpc>
              <a:spcBef>
                <a:spcPts val="1090"/>
              </a:spcBef>
              <a:buClr>
                <a:srgbClr val="C00000"/>
              </a:buClr>
              <a:buSzPct val="58333"/>
              <a:buFont typeface="Wingdings"/>
              <a:buChar char=""/>
              <a:tabLst>
                <a:tab pos="852169" algn="l"/>
                <a:tab pos="852805" algn="l"/>
              </a:tabLst>
            </a:pPr>
            <a:r>
              <a:rPr sz="2400" dirty="0">
                <a:latin typeface="宋体"/>
                <a:cs typeface="宋体"/>
              </a:rPr>
              <a:t>进行背景分析，以更好的理解用 户的问题</a:t>
            </a:r>
          </a:p>
          <a:p>
            <a:pPr marL="852805" lvl="1" indent="-495300">
              <a:lnSpc>
                <a:spcPct val="100000"/>
              </a:lnSpc>
              <a:spcBef>
                <a:spcPts val="465"/>
              </a:spcBef>
              <a:buClr>
                <a:srgbClr val="C00000"/>
              </a:buClr>
              <a:buSzPct val="58333"/>
              <a:buFont typeface="Wingdings"/>
              <a:buChar char=""/>
              <a:tabLst>
                <a:tab pos="852169" algn="l"/>
                <a:tab pos="852805" algn="l"/>
              </a:tabLst>
            </a:pPr>
            <a:r>
              <a:rPr sz="2400" dirty="0">
                <a:latin typeface="宋体"/>
                <a:cs typeface="宋体"/>
              </a:rPr>
              <a:t>问题分析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49981" y="3730243"/>
            <a:ext cx="2578100" cy="1762760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431800" indent="-419100">
              <a:lnSpc>
                <a:spcPct val="100000"/>
              </a:lnSpc>
              <a:spcBef>
                <a:spcPts val="605"/>
              </a:spcBef>
              <a:buFont typeface="Arial"/>
              <a:buChar char="•"/>
              <a:tabLst>
                <a:tab pos="431165" algn="l"/>
                <a:tab pos="431800" algn="l"/>
              </a:tabLst>
            </a:pPr>
            <a:r>
              <a:rPr sz="2400" dirty="0">
                <a:latin typeface="宋体"/>
                <a:cs typeface="宋体"/>
              </a:rPr>
              <a:t>明确问题。</a:t>
            </a:r>
            <a:endParaRPr sz="2400">
              <a:latin typeface="宋体"/>
              <a:cs typeface="宋体"/>
            </a:endParaRPr>
          </a:p>
          <a:p>
            <a:pPr marL="431800" indent="-419100">
              <a:lnSpc>
                <a:spcPct val="100000"/>
              </a:lnSpc>
              <a:spcBef>
                <a:spcPts val="500"/>
              </a:spcBef>
              <a:buFont typeface="Arial"/>
              <a:buChar char="•"/>
              <a:tabLst>
                <a:tab pos="431165" algn="l"/>
                <a:tab pos="431800" algn="l"/>
              </a:tabLst>
            </a:pPr>
            <a:r>
              <a:rPr sz="2400" dirty="0">
                <a:latin typeface="宋体"/>
                <a:cs typeface="宋体"/>
              </a:rPr>
              <a:t>定义业务需求。</a:t>
            </a:r>
            <a:endParaRPr sz="2400">
              <a:latin typeface="宋体"/>
              <a:cs typeface="宋体"/>
            </a:endParaRPr>
          </a:p>
          <a:p>
            <a:pPr marL="431800" indent="-419100">
              <a:lnSpc>
                <a:spcPct val="100000"/>
              </a:lnSpc>
              <a:spcBef>
                <a:spcPts val="625"/>
              </a:spcBef>
              <a:buFont typeface="Arial"/>
              <a:buChar char="•"/>
              <a:tabLst>
                <a:tab pos="431165" algn="l"/>
                <a:tab pos="431800" algn="l"/>
              </a:tabLst>
            </a:pPr>
            <a:r>
              <a:rPr sz="2400" dirty="0">
                <a:latin typeface="宋体"/>
                <a:cs typeface="宋体"/>
              </a:rPr>
              <a:t>制定解决方案。</a:t>
            </a:r>
            <a:endParaRPr sz="2400">
              <a:latin typeface="宋体"/>
              <a:cs typeface="宋体"/>
            </a:endParaRPr>
          </a:p>
          <a:p>
            <a:pPr marL="431800" indent="-419100">
              <a:lnSpc>
                <a:spcPct val="100000"/>
              </a:lnSpc>
              <a:spcBef>
                <a:spcPts val="530"/>
              </a:spcBef>
              <a:buFont typeface="Arial"/>
              <a:buChar char="•"/>
              <a:tabLst>
                <a:tab pos="431165" algn="l"/>
                <a:tab pos="431800" algn="l"/>
              </a:tabLst>
            </a:pPr>
            <a:r>
              <a:rPr sz="2400" dirty="0">
                <a:latin typeface="宋体"/>
                <a:cs typeface="宋体"/>
              </a:rPr>
              <a:t>确定系统特性。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220984" y="1737100"/>
            <a:ext cx="630555" cy="379095"/>
          </a:xfrm>
          <a:prstGeom prst="rect">
            <a:avLst/>
          </a:prstGeom>
          <a:solidFill>
            <a:srgbClr val="E8EEF7"/>
          </a:solidFill>
          <a:ln w="3175">
            <a:solidFill>
              <a:srgbClr val="000000"/>
            </a:solidFill>
          </a:ln>
        </p:spPr>
        <p:txBody>
          <a:bodyPr vert="horz" wrap="square" lIns="0" tIns="50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0"/>
              </a:spcBef>
            </a:pPr>
            <a:endParaRPr sz="850">
              <a:latin typeface="Times New Roman"/>
              <a:cs typeface="Times New Roman"/>
            </a:endParaRPr>
          </a:p>
          <a:p>
            <a:pPr marL="137160">
              <a:lnSpc>
                <a:spcPct val="100000"/>
              </a:lnSpc>
            </a:pPr>
            <a:r>
              <a:rPr sz="700" dirty="0">
                <a:latin typeface="宋体"/>
                <a:cs typeface="宋体"/>
              </a:rPr>
              <a:t>业务需求</a:t>
            </a:r>
            <a:endParaRPr sz="7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165002" y="3198688"/>
            <a:ext cx="694055" cy="345440"/>
          </a:xfrm>
          <a:prstGeom prst="rect">
            <a:avLst/>
          </a:prstGeom>
          <a:solidFill>
            <a:srgbClr val="E8EEF7"/>
          </a:solidFill>
          <a:ln w="3175">
            <a:solidFill>
              <a:srgbClr val="000000"/>
            </a:solidFill>
          </a:ln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sz="800">
              <a:latin typeface="Times New Roman"/>
              <a:cs typeface="Times New Roman"/>
            </a:endParaRPr>
          </a:p>
          <a:p>
            <a:pPr marL="168275">
              <a:lnSpc>
                <a:spcPct val="100000"/>
              </a:lnSpc>
              <a:spcBef>
                <a:spcPts val="5"/>
              </a:spcBef>
            </a:pPr>
            <a:r>
              <a:rPr sz="700" dirty="0">
                <a:latin typeface="MS Gothic"/>
                <a:cs typeface="MS Gothic"/>
              </a:rPr>
              <a:t>用</a:t>
            </a:r>
            <a:r>
              <a:rPr sz="700" dirty="0">
                <a:latin typeface="宋体"/>
                <a:cs typeface="宋体"/>
              </a:rPr>
              <a:t>户</a:t>
            </a:r>
            <a:r>
              <a:rPr sz="700" dirty="0">
                <a:latin typeface="MS Gothic"/>
                <a:cs typeface="MS Gothic"/>
              </a:rPr>
              <a:t>需求</a:t>
            </a:r>
            <a:endParaRPr sz="700">
              <a:latin typeface="MS Gothic"/>
              <a:cs typeface="MS Gothic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182472" y="3198688"/>
            <a:ext cx="694055" cy="349250"/>
          </a:xfrm>
          <a:prstGeom prst="rect">
            <a:avLst/>
          </a:prstGeom>
          <a:solidFill>
            <a:srgbClr val="E8EEF7"/>
          </a:solidFill>
          <a:ln w="3175">
            <a:solidFill>
              <a:srgbClr val="000000"/>
            </a:solidFill>
          </a:ln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sz="800">
              <a:latin typeface="Times New Roman"/>
              <a:cs typeface="Times New Roman"/>
            </a:endParaRPr>
          </a:p>
          <a:p>
            <a:pPr marL="123825">
              <a:lnSpc>
                <a:spcPct val="100000"/>
              </a:lnSpc>
              <a:spcBef>
                <a:spcPts val="5"/>
              </a:spcBef>
            </a:pPr>
            <a:r>
              <a:rPr sz="700" dirty="0">
                <a:latin typeface="宋体"/>
                <a:cs typeface="宋体"/>
              </a:rPr>
              <a:t>问题域特性</a:t>
            </a:r>
            <a:endParaRPr sz="70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196530" y="4735202"/>
            <a:ext cx="694055" cy="347345"/>
          </a:xfrm>
          <a:prstGeom prst="rect">
            <a:avLst/>
          </a:prstGeom>
          <a:solidFill>
            <a:srgbClr val="E8EEF7"/>
          </a:solidFill>
          <a:ln w="3175">
            <a:solidFill>
              <a:srgbClr val="000000"/>
            </a:solidFill>
          </a:ln>
        </p:spPr>
        <p:txBody>
          <a:bodyPr vert="horz" wrap="square" lIns="0" tIns="38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0"/>
              </a:spcBef>
            </a:pPr>
            <a:endParaRPr sz="750">
              <a:latin typeface="Times New Roman"/>
              <a:cs typeface="Times New Roman"/>
            </a:endParaRPr>
          </a:p>
          <a:p>
            <a:pPr marL="168275">
              <a:lnSpc>
                <a:spcPct val="100000"/>
              </a:lnSpc>
              <a:spcBef>
                <a:spcPts val="5"/>
              </a:spcBef>
            </a:pPr>
            <a:r>
              <a:rPr sz="700" dirty="0">
                <a:latin typeface="MS Gothic"/>
                <a:cs typeface="MS Gothic"/>
              </a:rPr>
              <a:t>系</a:t>
            </a:r>
            <a:r>
              <a:rPr sz="700" dirty="0">
                <a:latin typeface="宋体"/>
                <a:cs typeface="宋体"/>
              </a:rPr>
              <a:t>统</a:t>
            </a:r>
            <a:r>
              <a:rPr sz="700" dirty="0">
                <a:latin typeface="MS Gothic"/>
                <a:cs typeface="MS Gothic"/>
              </a:rPr>
              <a:t>需求</a:t>
            </a:r>
            <a:endParaRPr sz="700">
              <a:latin typeface="MS Gothic"/>
              <a:cs typeface="MS Gothic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094931" y="2305180"/>
            <a:ext cx="883285" cy="589280"/>
          </a:xfrm>
          <a:custGeom>
            <a:avLst/>
            <a:gdLst/>
            <a:ahLst/>
            <a:cxnLst/>
            <a:rect l="l" t="t" r="r" b="b"/>
            <a:pathLst>
              <a:path w="883284" h="589280">
                <a:moveTo>
                  <a:pt x="441322" y="0"/>
                </a:moveTo>
                <a:lnTo>
                  <a:pt x="385958" y="2293"/>
                </a:lnTo>
                <a:lnTo>
                  <a:pt x="332648" y="8992"/>
                </a:lnTo>
                <a:lnTo>
                  <a:pt x="281804" y="19818"/>
                </a:lnTo>
                <a:lnTo>
                  <a:pt x="233842" y="34497"/>
                </a:lnTo>
                <a:lnTo>
                  <a:pt x="189173" y="52753"/>
                </a:lnTo>
                <a:lnTo>
                  <a:pt x="148211" y="74309"/>
                </a:lnTo>
                <a:lnTo>
                  <a:pt x="111370" y="98891"/>
                </a:lnTo>
                <a:lnTo>
                  <a:pt x="79062" y="126223"/>
                </a:lnTo>
                <a:lnTo>
                  <a:pt x="51702" y="156028"/>
                </a:lnTo>
                <a:lnTo>
                  <a:pt x="29702" y="188031"/>
                </a:lnTo>
                <a:lnTo>
                  <a:pt x="3438" y="257528"/>
                </a:lnTo>
                <a:lnTo>
                  <a:pt x="0" y="294471"/>
                </a:lnTo>
                <a:lnTo>
                  <a:pt x="3438" y="331437"/>
                </a:lnTo>
                <a:lnTo>
                  <a:pt x="29702" y="400971"/>
                </a:lnTo>
                <a:lnTo>
                  <a:pt x="51702" y="432988"/>
                </a:lnTo>
                <a:lnTo>
                  <a:pt x="79062" y="462805"/>
                </a:lnTo>
                <a:lnTo>
                  <a:pt x="111370" y="490145"/>
                </a:lnTo>
                <a:lnTo>
                  <a:pt x="148211" y="514733"/>
                </a:lnTo>
                <a:lnTo>
                  <a:pt x="189173" y="536295"/>
                </a:lnTo>
                <a:lnTo>
                  <a:pt x="233842" y="554554"/>
                </a:lnTo>
                <a:lnTo>
                  <a:pt x="281804" y="569235"/>
                </a:lnTo>
                <a:lnTo>
                  <a:pt x="332648" y="580062"/>
                </a:lnTo>
                <a:lnTo>
                  <a:pt x="385958" y="586761"/>
                </a:lnTo>
                <a:lnTo>
                  <a:pt x="441322" y="589055"/>
                </a:lnTo>
                <a:lnTo>
                  <a:pt x="496687" y="586761"/>
                </a:lnTo>
                <a:lnTo>
                  <a:pt x="550000" y="580062"/>
                </a:lnTo>
                <a:lnTo>
                  <a:pt x="600847" y="569235"/>
                </a:lnTo>
                <a:lnTo>
                  <a:pt x="648815" y="554554"/>
                </a:lnTo>
                <a:lnTo>
                  <a:pt x="693489" y="536295"/>
                </a:lnTo>
                <a:lnTo>
                  <a:pt x="734457" y="514733"/>
                </a:lnTo>
                <a:lnTo>
                  <a:pt x="771305" y="490145"/>
                </a:lnTo>
                <a:lnTo>
                  <a:pt x="803618" y="462805"/>
                </a:lnTo>
                <a:lnTo>
                  <a:pt x="830984" y="432988"/>
                </a:lnTo>
                <a:lnTo>
                  <a:pt x="852989" y="400971"/>
                </a:lnTo>
                <a:lnTo>
                  <a:pt x="879260" y="331437"/>
                </a:lnTo>
                <a:lnTo>
                  <a:pt x="882699" y="294471"/>
                </a:lnTo>
                <a:lnTo>
                  <a:pt x="879260" y="257528"/>
                </a:lnTo>
                <a:lnTo>
                  <a:pt x="852989" y="188031"/>
                </a:lnTo>
                <a:lnTo>
                  <a:pt x="830984" y="156028"/>
                </a:lnTo>
                <a:lnTo>
                  <a:pt x="803618" y="126223"/>
                </a:lnTo>
                <a:lnTo>
                  <a:pt x="771305" y="98891"/>
                </a:lnTo>
                <a:lnTo>
                  <a:pt x="734457" y="74309"/>
                </a:lnTo>
                <a:lnTo>
                  <a:pt x="693489" y="52753"/>
                </a:lnTo>
                <a:lnTo>
                  <a:pt x="648815" y="34497"/>
                </a:lnTo>
                <a:lnTo>
                  <a:pt x="600847" y="19818"/>
                </a:lnTo>
                <a:lnTo>
                  <a:pt x="550000" y="8992"/>
                </a:lnTo>
                <a:lnTo>
                  <a:pt x="496687" y="2293"/>
                </a:lnTo>
                <a:lnTo>
                  <a:pt x="441322" y="0"/>
                </a:lnTo>
                <a:close/>
              </a:path>
            </a:pathLst>
          </a:custGeom>
          <a:solidFill>
            <a:srgbClr val="E8EE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094932" y="2305180"/>
            <a:ext cx="883285" cy="589280"/>
          </a:xfrm>
          <a:custGeom>
            <a:avLst/>
            <a:gdLst/>
            <a:ahLst/>
            <a:cxnLst/>
            <a:rect l="l" t="t" r="r" b="b"/>
            <a:pathLst>
              <a:path w="883284" h="589280">
                <a:moveTo>
                  <a:pt x="0" y="294471"/>
                </a:moveTo>
                <a:lnTo>
                  <a:pt x="13476" y="221957"/>
                </a:lnTo>
                <a:lnTo>
                  <a:pt x="51702" y="156028"/>
                </a:lnTo>
                <a:lnTo>
                  <a:pt x="79062" y="126223"/>
                </a:lnTo>
                <a:lnTo>
                  <a:pt x="111369" y="98892"/>
                </a:lnTo>
                <a:lnTo>
                  <a:pt x="148210" y="74310"/>
                </a:lnTo>
                <a:lnTo>
                  <a:pt x="189172" y="52753"/>
                </a:lnTo>
                <a:lnTo>
                  <a:pt x="233841" y="34497"/>
                </a:lnTo>
                <a:lnTo>
                  <a:pt x="281804" y="19818"/>
                </a:lnTo>
                <a:lnTo>
                  <a:pt x="332647" y="8992"/>
                </a:lnTo>
                <a:lnTo>
                  <a:pt x="385957" y="2293"/>
                </a:lnTo>
                <a:lnTo>
                  <a:pt x="441321" y="0"/>
                </a:lnTo>
                <a:lnTo>
                  <a:pt x="496686" y="2293"/>
                </a:lnTo>
                <a:lnTo>
                  <a:pt x="549999" y="8992"/>
                </a:lnTo>
                <a:lnTo>
                  <a:pt x="600846" y="19818"/>
                </a:lnTo>
                <a:lnTo>
                  <a:pt x="648814" y="34497"/>
                </a:lnTo>
                <a:lnTo>
                  <a:pt x="693489" y="52753"/>
                </a:lnTo>
                <a:lnTo>
                  <a:pt x="734457" y="74310"/>
                </a:lnTo>
                <a:lnTo>
                  <a:pt x="771304" y="98892"/>
                </a:lnTo>
                <a:lnTo>
                  <a:pt x="803618" y="126223"/>
                </a:lnTo>
                <a:lnTo>
                  <a:pt x="830984" y="156028"/>
                </a:lnTo>
                <a:lnTo>
                  <a:pt x="852989" y="188032"/>
                </a:lnTo>
                <a:lnTo>
                  <a:pt x="879260" y="257529"/>
                </a:lnTo>
                <a:lnTo>
                  <a:pt x="882699" y="294471"/>
                </a:lnTo>
                <a:lnTo>
                  <a:pt x="879260" y="331437"/>
                </a:lnTo>
                <a:lnTo>
                  <a:pt x="869218" y="367029"/>
                </a:lnTo>
                <a:lnTo>
                  <a:pt x="830984" y="432989"/>
                </a:lnTo>
                <a:lnTo>
                  <a:pt x="803618" y="462805"/>
                </a:lnTo>
                <a:lnTo>
                  <a:pt x="771304" y="490145"/>
                </a:lnTo>
                <a:lnTo>
                  <a:pt x="734457" y="514733"/>
                </a:lnTo>
                <a:lnTo>
                  <a:pt x="693489" y="536295"/>
                </a:lnTo>
                <a:lnTo>
                  <a:pt x="648814" y="554554"/>
                </a:lnTo>
                <a:lnTo>
                  <a:pt x="600846" y="569235"/>
                </a:lnTo>
                <a:lnTo>
                  <a:pt x="549999" y="580062"/>
                </a:lnTo>
                <a:lnTo>
                  <a:pt x="496686" y="586760"/>
                </a:lnTo>
                <a:lnTo>
                  <a:pt x="441321" y="589054"/>
                </a:lnTo>
                <a:lnTo>
                  <a:pt x="385957" y="586760"/>
                </a:lnTo>
                <a:lnTo>
                  <a:pt x="332647" y="580062"/>
                </a:lnTo>
                <a:lnTo>
                  <a:pt x="281804" y="569235"/>
                </a:lnTo>
                <a:lnTo>
                  <a:pt x="233841" y="554554"/>
                </a:lnTo>
                <a:lnTo>
                  <a:pt x="189172" y="536295"/>
                </a:lnTo>
                <a:lnTo>
                  <a:pt x="148210" y="514733"/>
                </a:lnTo>
                <a:lnTo>
                  <a:pt x="111369" y="490145"/>
                </a:lnTo>
                <a:lnTo>
                  <a:pt x="79062" y="462805"/>
                </a:lnTo>
                <a:lnTo>
                  <a:pt x="51702" y="432989"/>
                </a:lnTo>
                <a:lnTo>
                  <a:pt x="29702" y="400972"/>
                </a:lnTo>
                <a:lnTo>
                  <a:pt x="3438" y="331437"/>
                </a:lnTo>
                <a:lnTo>
                  <a:pt x="0" y="294471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7345623" y="2527279"/>
            <a:ext cx="381635" cy="132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dirty="0">
                <a:latin typeface="MS Gothic"/>
                <a:cs typeface="MS Gothic"/>
              </a:rPr>
              <a:t>需求</a:t>
            </a:r>
            <a:r>
              <a:rPr sz="700" dirty="0">
                <a:latin typeface="宋体"/>
                <a:cs typeface="宋体"/>
              </a:rPr>
              <a:t>获</a:t>
            </a:r>
            <a:r>
              <a:rPr sz="700" dirty="0">
                <a:latin typeface="MS Gothic"/>
                <a:cs typeface="MS Gothic"/>
              </a:rPr>
              <a:t>取</a:t>
            </a:r>
            <a:endParaRPr sz="700">
              <a:latin typeface="MS Gothic"/>
              <a:cs typeface="MS Gothic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536253" y="2115805"/>
            <a:ext cx="0" cy="105410"/>
          </a:xfrm>
          <a:custGeom>
            <a:avLst/>
            <a:gdLst/>
            <a:ahLst/>
            <a:cxnLst/>
            <a:rect l="l" t="t" r="r" b="b"/>
            <a:pathLst>
              <a:path h="105410">
                <a:moveTo>
                  <a:pt x="0" y="0"/>
                </a:moveTo>
                <a:lnTo>
                  <a:pt x="0" y="104874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505560" y="2212997"/>
            <a:ext cx="61594" cy="92710"/>
          </a:xfrm>
          <a:custGeom>
            <a:avLst/>
            <a:gdLst/>
            <a:ahLst/>
            <a:cxnLst/>
            <a:rect l="l" t="t" r="r" b="b"/>
            <a:pathLst>
              <a:path w="61595" h="92710">
                <a:moveTo>
                  <a:pt x="61385" y="0"/>
                </a:moveTo>
                <a:lnTo>
                  <a:pt x="0" y="0"/>
                </a:lnTo>
                <a:lnTo>
                  <a:pt x="30693" y="92182"/>
                </a:lnTo>
                <a:lnTo>
                  <a:pt x="6138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511756" y="2894235"/>
            <a:ext cx="1024890" cy="226060"/>
          </a:xfrm>
          <a:custGeom>
            <a:avLst/>
            <a:gdLst/>
            <a:ahLst/>
            <a:cxnLst/>
            <a:rect l="l" t="t" r="r" b="b"/>
            <a:pathLst>
              <a:path w="1024890" h="226060">
                <a:moveTo>
                  <a:pt x="1024498" y="0"/>
                </a:moveTo>
                <a:lnTo>
                  <a:pt x="1024498" y="136715"/>
                </a:lnTo>
                <a:lnTo>
                  <a:pt x="0" y="136715"/>
                </a:lnTo>
                <a:lnTo>
                  <a:pt x="0" y="225891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481062" y="3112444"/>
            <a:ext cx="61594" cy="92710"/>
          </a:xfrm>
          <a:custGeom>
            <a:avLst/>
            <a:gdLst/>
            <a:ahLst/>
            <a:cxnLst/>
            <a:rect l="l" t="t" r="r" b="b"/>
            <a:pathLst>
              <a:path w="61595" h="92710">
                <a:moveTo>
                  <a:pt x="61385" y="0"/>
                </a:moveTo>
                <a:lnTo>
                  <a:pt x="0" y="0"/>
                </a:lnTo>
                <a:lnTo>
                  <a:pt x="30692" y="92182"/>
                </a:lnTo>
                <a:lnTo>
                  <a:pt x="6138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536253" y="2894235"/>
            <a:ext cx="993140" cy="226060"/>
          </a:xfrm>
          <a:custGeom>
            <a:avLst/>
            <a:gdLst/>
            <a:ahLst/>
            <a:cxnLst/>
            <a:rect l="l" t="t" r="r" b="b"/>
            <a:pathLst>
              <a:path w="993140" h="226060">
                <a:moveTo>
                  <a:pt x="0" y="0"/>
                </a:moveTo>
                <a:lnTo>
                  <a:pt x="0" y="136715"/>
                </a:lnTo>
                <a:lnTo>
                  <a:pt x="992959" y="136715"/>
                </a:lnTo>
                <a:lnTo>
                  <a:pt x="992959" y="225891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8498520" y="3112444"/>
            <a:ext cx="61594" cy="92710"/>
          </a:xfrm>
          <a:custGeom>
            <a:avLst/>
            <a:gdLst/>
            <a:ahLst/>
            <a:cxnLst/>
            <a:rect l="l" t="t" r="r" b="b"/>
            <a:pathLst>
              <a:path w="61595" h="92710">
                <a:moveTo>
                  <a:pt x="61386" y="0"/>
                </a:moveTo>
                <a:lnTo>
                  <a:pt x="0" y="0"/>
                </a:lnTo>
                <a:lnTo>
                  <a:pt x="30693" y="92182"/>
                </a:lnTo>
                <a:lnTo>
                  <a:pt x="6138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7094931" y="3846230"/>
            <a:ext cx="883285" cy="589280"/>
          </a:xfrm>
          <a:custGeom>
            <a:avLst/>
            <a:gdLst/>
            <a:ahLst/>
            <a:cxnLst/>
            <a:rect l="l" t="t" r="r" b="b"/>
            <a:pathLst>
              <a:path w="883284" h="589279">
                <a:moveTo>
                  <a:pt x="441322" y="0"/>
                </a:moveTo>
                <a:lnTo>
                  <a:pt x="385958" y="2295"/>
                </a:lnTo>
                <a:lnTo>
                  <a:pt x="332648" y="8999"/>
                </a:lnTo>
                <a:lnTo>
                  <a:pt x="281804" y="19833"/>
                </a:lnTo>
                <a:lnTo>
                  <a:pt x="233842" y="34522"/>
                </a:lnTo>
                <a:lnTo>
                  <a:pt x="189173" y="52790"/>
                </a:lnTo>
                <a:lnTo>
                  <a:pt x="148211" y="74359"/>
                </a:lnTo>
                <a:lnTo>
                  <a:pt x="111370" y="98954"/>
                </a:lnTo>
                <a:lnTo>
                  <a:pt x="79062" y="126298"/>
                </a:lnTo>
                <a:lnTo>
                  <a:pt x="51702" y="156115"/>
                </a:lnTo>
                <a:lnTo>
                  <a:pt x="29702" y="188129"/>
                </a:lnTo>
                <a:lnTo>
                  <a:pt x="3438" y="257639"/>
                </a:lnTo>
                <a:lnTo>
                  <a:pt x="0" y="294584"/>
                </a:lnTo>
                <a:lnTo>
                  <a:pt x="3438" y="331528"/>
                </a:lnTo>
                <a:lnTo>
                  <a:pt x="29702" y="401038"/>
                </a:lnTo>
                <a:lnTo>
                  <a:pt x="51702" y="433052"/>
                </a:lnTo>
                <a:lnTo>
                  <a:pt x="79062" y="462868"/>
                </a:lnTo>
                <a:lnTo>
                  <a:pt x="111370" y="490212"/>
                </a:lnTo>
                <a:lnTo>
                  <a:pt x="148211" y="514807"/>
                </a:lnTo>
                <a:lnTo>
                  <a:pt x="189173" y="536377"/>
                </a:lnTo>
                <a:lnTo>
                  <a:pt x="233842" y="554644"/>
                </a:lnTo>
                <a:lnTo>
                  <a:pt x="281804" y="569333"/>
                </a:lnTo>
                <a:lnTo>
                  <a:pt x="332648" y="580167"/>
                </a:lnTo>
                <a:lnTo>
                  <a:pt x="385958" y="586871"/>
                </a:lnTo>
                <a:lnTo>
                  <a:pt x="441322" y="589166"/>
                </a:lnTo>
                <a:lnTo>
                  <a:pt x="496687" y="586871"/>
                </a:lnTo>
                <a:lnTo>
                  <a:pt x="550000" y="580167"/>
                </a:lnTo>
                <a:lnTo>
                  <a:pt x="600847" y="569333"/>
                </a:lnTo>
                <a:lnTo>
                  <a:pt x="648815" y="554644"/>
                </a:lnTo>
                <a:lnTo>
                  <a:pt x="693489" y="536377"/>
                </a:lnTo>
                <a:lnTo>
                  <a:pt x="734457" y="514807"/>
                </a:lnTo>
                <a:lnTo>
                  <a:pt x="771305" y="490212"/>
                </a:lnTo>
                <a:lnTo>
                  <a:pt x="803618" y="462868"/>
                </a:lnTo>
                <a:lnTo>
                  <a:pt x="830984" y="433052"/>
                </a:lnTo>
                <a:lnTo>
                  <a:pt x="852989" y="401038"/>
                </a:lnTo>
                <a:lnTo>
                  <a:pt x="879260" y="331528"/>
                </a:lnTo>
                <a:lnTo>
                  <a:pt x="882699" y="294584"/>
                </a:lnTo>
                <a:lnTo>
                  <a:pt x="879260" y="257639"/>
                </a:lnTo>
                <a:lnTo>
                  <a:pt x="852989" y="188129"/>
                </a:lnTo>
                <a:lnTo>
                  <a:pt x="830984" y="156115"/>
                </a:lnTo>
                <a:lnTo>
                  <a:pt x="803618" y="126298"/>
                </a:lnTo>
                <a:lnTo>
                  <a:pt x="771305" y="98954"/>
                </a:lnTo>
                <a:lnTo>
                  <a:pt x="734457" y="74359"/>
                </a:lnTo>
                <a:lnTo>
                  <a:pt x="693489" y="52790"/>
                </a:lnTo>
                <a:lnTo>
                  <a:pt x="648815" y="34522"/>
                </a:lnTo>
                <a:lnTo>
                  <a:pt x="600847" y="19833"/>
                </a:lnTo>
                <a:lnTo>
                  <a:pt x="550000" y="8999"/>
                </a:lnTo>
                <a:lnTo>
                  <a:pt x="496687" y="2295"/>
                </a:lnTo>
                <a:lnTo>
                  <a:pt x="441322" y="0"/>
                </a:lnTo>
                <a:close/>
              </a:path>
            </a:pathLst>
          </a:custGeom>
          <a:solidFill>
            <a:srgbClr val="E8EE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7094932" y="3846231"/>
            <a:ext cx="883285" cy="589280"/>
          </a:xfrm>
          <a:custGeom>
            <a:avLst/>
            <a:gdLst/>
            <a:ahLst/>
            <a:cxnLst/>
            <a:rect l="l" t="t" r="r" b="b"/>
            <a:pathLst>
              <a:path w="883284" h="589279">
                <a:moveTo>
                  <a:pt x="0" y="294583"/>
                </a:moveTo>
                <a:lnTo>
                  <a:pt x="13476" y="222061"/>
                </a:lnTo>
                <a:lnTo>
                  <a:pt x="51702" y="156115"/>
                </a:lnTo>
                <a:lnTo>
                  <a:pt x="79062" y="126298"/>
                </a:lnTo>
                <a:lnTo>
                  <a:pt x="111369" y="98954"/>
                </a:lnTo>
                <a:lnTo>
                  <a:pt x="148210" y="74359"/>
                </a:lnTo>
                <a:lnTo>
                  <a:pt x="189172" y="52789"/>
                </a:lnTo>
                <a:lnTo>
                  <a:pt x="233841" y="34522"/>
                </a:lnTo>
                <a:lnTo>
                  <a:pt x="281804" y="19833"/>
                </a:lnTo>
                <a:lnTo>
                  <a:pt x="332647" y="8999"/>
                </a:lnTo>
                <a:lnTo>
                  <a:pt x="385957" y="2295"/>
                </a:lnTo>
                <a:lnTo>
                  <a:pt x="441321" y="0"/>
                </a:lnTo>
                <a:lnTo>
                  <a:pt x="496686" y="2295"/>
                </a:lnTo>
                <a:lnTo>
                  <a:pt x="549999" y="8999"/>
                </a:lnTo>
                <a:lnTo>
                  <a:pt x="600846" y="19833"/>
                </a:lnTo>
                <a:lnTo>
                  <a:pt x="648814" y="34522"/>
                </a:lnTo>
                <a:lnTo>
                  <a:pt x="693489" y="52789"/>
                </a:lnTo>
                <a:lnTo>
                  <a:pt x="734457" y="74359"/>
                </a:lnTo>
                <a:lnTo>
                  <a:pt x="771304" y="98954"/>
                </a:lnTo>
                <a:lnTo>
                  <a:pt x="803618" y="126298"/>
                </a:lnTo>
                <a:lnTo>
                  <a:pt x="830984" y="156115"/>
                </a:lnTo>
                <a:lnTo>
                  <a:pt x="852989" y="188128"/>
                </a:lnTo>
                <a:lnTo>
                  <a:pt x="879260" y="257638"/>
                </a:lnTo>
                <a:lnTo>
                  <a:pt x="882699" y="294583"/>
                </a:lnTo>
                <a:lnTo>
                  <a:pt x="879260" y="331527"/>
                </a:lnTo>
                <a:lnTo>
                  <a:pt x="869218" y="367104"/>
                </a:lnTo>
                <a:lnTo>
                  <a:pt x="830984" y="433051"/>
                </a:lnTo>
                <a:lnTo>
                  <a:pt x="803618" y="462867"/>
                </a:lnTo>
                <a:lnTo>
                  <a:pt x="771304" y="490212"/>
                </a:lnTo>
                <a:lnTo>
                  <a:pt x="734457" y="514806"/>
                </a:lnTo>
                <a:lnTo>
                  <a:pt x="693489" y="536376"/>
                </a:lnTo>
                <a:lnTo>
                  <a:pt x="648814" y="554643"/>
                </a:lnTo>
                <a:lnTo>
                  <a:pt x="600846" y="569332"/>
                </a:lnTo>
                <a:lnTo>
                  <a:pt x="549999" y="580167"/>
                </a:lnTo>
                <a:lnTo>
                  <a:pt x="496686" y="586870"/>
                </a:lnTo>
                <a:lnTo>
                  <a:pt x="441321" y="589166"/>
                </a:lnTo>
                <a:lnTo>
                  <a:pt x="385957" y="586870"/>
                </a:lnTo>
                <a:lnTo>
                  <a:pt x="332647" y="580167"/>
                </a:lnTo>
                <a:lnTo>
                  <a:pt x="281804" y="569332"/>
                </a:lnTo>
                <a:lnTo>
                  <a:pt x="233841" y="554643"/>
                </a:lnTo>
                <a:lnTo>
                  <a:pt x="189172" y="536376"/>
                </a:lnTo>
                <a:lnTo>
                  <a:pt x="148210" y="514806"/>
                </a:lnTo>
                <a:lnTo>
                  <a:pt x="111369" y="490212"/>
                </a:lnTo>
                <a:lnTo>
                  <a:pt x="79062" y="462867"/>
                </a:lnTo>
                <a:lnTo>
                  <a:pt x="51702" y="433051"/>
                </a:lnTo>
                <a:lnTo>
                  <a:pt x="29702" y="401037"/>
                </a:lnTo>
                <a:lnTo>
                  <a:pt x="3438" y="331527"/>
                </a:lnTo>
                <a:lnTo>
                  <a:pt x="0" y="294583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7345623" y="4068330"/>
            <a:ext cx="381635" cy="132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dirty="0">
                <a:latin typeface="MS Gothic"/>
                <a:cs typeface="MS Gothic"/>
              </a:rPr>
              <a:t>需求分析</a:t>
            </a:r>
            <a:endParaRPr sz="700">
              <a:latin typeface="MS Gothic"/>
              <a:cs typeface="MS Gothic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6511756" y="3551759"/>
            <a:ext cx="1024890" cy="210185"/>
          </a:xfrm>
          <a:custGeom>
            <a:avLst/>
            <a:gdLst/>
            <a:ahLst/>
            <a:cxnLst/>
            <a:rect l="l" t="t" r="r" b="b"/>
            <a:pathLst>
              <a:path w="1024890" h="210185">
                <a:moveTo>
                  <a:pt x="0" y="0"/>
                </a:moveTo>
                <a:lnTo>
                  <a:pt x="0" y="78822"/>
                </a:lnTo>
                <a:lnTo>
                  <a:pt x="1024498" y="78822"/>
                </a:lnTo>
                <a:lnTo>
                  <a:pt x="1024498" y="209971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7505560" y="3754048"/>
            <a:ext cx="61594" cy="92710"/>
          </a:xfrm>
          <a:custGeom>
            <a:avLst/>
            <a:gdLst/>
            <a:ahLst/>
            <a:cxnLst/>
            <a:rect l="l" t="t" r="r" b="b"/>
            <a:pathLst>
              <a:path w="61595" h="92710">
                <a:moveTo>
                  <a:pt x="61385" y="0"/>
                </a:moveTo>
                <a:lnTo>
                  <a:pt x="0" y="0"/>
                </a:lnTo>
                <a:lnTo>
                  <a:pt x="30693" y="92181"/>
                </a:lnTo>
                <a:lnTo>
                  <a:pt x="6138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7536253" y="3551759"/>
            <a:ext cx="993140" cy="210185"/>
          </a:xfrm>
          <a:custGeom>
            <a:avLst/>
            <a:gdLst/>
            <a:ahLst/>
            <a:cxnLst/>
            <a:rect l="l" t="t" r="r" b="b"/>
            <a:pathLst>
              <a:path w="993140" h="210185">
                <a:moveTo>
                  <a:pt x="992959" y="0"/>
                </a:moveTo>
                <a:lnTo>
                  <a:pt x="992959" y="78822"/>
                </a:lnTo>
                <a:lnTo>
                  <a:pt x="0" y="78822"/>
                </a:lnTo>
                <a:lnTo>
                  <a:pt x="0" y="209971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7505560" y="3754048"/>
            <a:ext cx="61594" cy="92710"/>
          </a:xfrm>
          <a:custGeom>
            <a:avLst/>
            <a:gdLst/>
            <a:ahLst/>
            <a:cxnLst/>
            <a:rect l="l" t="t" r="r" b="b"/>
            <a:pathLst>
              <a:path w="61595" h="92710">
                <a:moveTo>
                  <a:pt x="61385" y="0"/>
                </a:moveTo>
                <a:lnTo>
                  <a:pt x="0" y="0"/>
                </a:lnTo>
                <a:lnTo>
                  <a:pt x="30693" y="92181"/>
                </a:lnTo>
                <a:lnTo>
                  <a:pt x="6138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6543282" y="4435397"/>
            <a:ext cx="993140" cy="215900"/>
          </a:xfrm>
          <a:custGeom>
            <a:avLst/>
            <a:gdLst/>
            <a:ahLst/>
            <a:cxnLst/>
            <a:rect l="l" t="t" r="r" b="b"/>
            <a:pathLst>
              <a:path w="993140" h="215900">
                <a:moveTo>
                  <a:pt x="992971" y="0"/>
                </a:moveTo>
                <a:lnTo>
                  <a:pt x="992971" y="118345"/>
                </a:lnTo>
                <a:lnTo>
                  <a:pt x="0" y="118345"/>
                </a:lnTo>
                <a:lnTo>
                  <a:pt x="0" y="215315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6512589" y="4643030"/>
            <a:ext cx="61594" cy="92710"/>
          </a:xfrm>
          <a:custGeom>
            <a:avLst/>
            <a:gdLst/>
            <a:ahLst/>
            <a:cxnLst/>
            <a:rect l="l" t="t" r="r" b="b"/>
            <a:pathLst>
              <a:path w="61595" h="92710">
                <a:moveTo>
                  <a:pt x="61385" y="0"/>
                </a:moveTo>
                <a:lnTo>
                  <a:pt x="0" y="0"/>
                </a:lnTo>
                <a:lnTo>
                  <a:pt x="30693" y="92181"/>
                </a:lnTo>
                <a:lnTo>
                  <a:pt x="6138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7110689" y="821910"/>
            <a:ext cx="851535" cy="568325"/>
          </a:xfrm>
          <a:custGeom>
            <a:avLst/>
            <a:gdLst/>
            <a:ahLst/>
            <a:cxnLst/>
            <a:rect l="l" t="t" r="r" b="b"/>
            <a:pathLst>
              <a:path w="851534" h="568325">
                <a:moveTo>
                  <a:pt x="425564" y="0"/>
                </a:moveTo>
                <a:lnTo>
                  <a:pt x="367828" y="2592"/>
                </a:lnTo>
                <a:lnTo>
                  <a:pt x="312451" y="10144"/>
                </a:lnTo>
                <a:lnTo>
                  <a:pt x="259938" y="22316"/>
                </a:lnTo>
                <a:lnTo>
                  <a:pt x="210797" y="38772"/>
                </a:lnTo>
                <a:lnTo>
                  <a:pt x="165537" y="59172"/>
                </a:lnTo>
                <a:lnTo>
                  <a:pt x="124664" y="83178"/>
                </a:lnTo>
                <a:lnTo>
                  <a:pt x="88687" y="110452"/>
                </a:lnTo>
                <a:lnTo>
                  <a:pt x="58113" y="140657"/>
                </a:lnTo>
                <a:lnTo>
                  <a:pt x="33450" y="173452"/>
                </a:lnTo>
                <a:lnTo>
                  <a:pt x="15205" y="208501"/>
                </a:lnTo>
                <a:lnTo>
                  <a:pt x="3885" y="245465"/>
                </a:lnTo>
                <a:lnTo>
                  <a:pt x="0" y="284006"/>
                </a:lnTo>
                <a:lnTo>
                  <a:pt x="3885" y="322547"/>
                </a:lnTo>
                <a:lnTo>
                  <a:pt x="15205" y="359511"/>
                </a:lnTo>
                <a:lnTo>
                  <a:pt x="33450" y="394560"/>
                </a:lnTo>
                <a:lnTo>
                  <a:pt x="58113" y="427356"/>
                </a:lnTo>
                <a:lnTo>
                  <a:pt x="88687" y="457560"/>
                </a:lnTo>
                <a:lnTo>
                  <a:pt x="124664" y="484835"/>
                </a:lnTo>
                <a:lnTo>
                  <a:pt x="165537" y="508841"/>
                </a:lnTo>
                <a:lnTo>
                  <a:pt x="210797" y="529241"/>
                </a:lnTo>
                <a:lnTo>
                  <a:pt x="259938" y="545697"/>
                </a:lnTo>
                <a:lnTo>
                  <a:pt x="312451" y="557869"/>
                </a:lnTo>
                <a:lnTo>
                  <a:pt x="367828" y="565421"/>
                </a:lnTo>
                <a:lnTo>
                  <a:pt x="425564" y="568013"/>
                </a:lnTo>
                <a:lnTo>
                  <a:pt x="483299" y="565421"/>
                </a:lnTo>
                <a:lnTo>
                  <a:pt x="538678" y="557869"/>
                </a:lnTo>
                <a:lnTo>
                  <a:pt x="591193" y="545697"/>
                </a:lnTo>
                <a:lnTo>
                  <a:pt x="640336" y="529241"/>
                </a:lnTo>
                <a:lnTo>
                  <a:pt x="685598" y="508841"/>
                </a:lnTo>
                <a:lnTo>
                  <a:pt x="726473" y="484835"/>
                </a:lnTo>
                <a:lnTo>
                  <a:pt x="762453" y="457560"/>
                </a:lnTo>
                <a:lnTo>
                  <a:pt x="793030" y="427356"/>
                </a:lnTo>
                <a:lnTo>
                  <a:pt x="817696" y="394560"/>
                </a:lnTo>
                <a:lnTo>
                  <a:pt x="835943" y="359511"/>
                </a:lnTo>
                <a:lnTo>
                  <a:pt x="847263" y="322547"/>
                </a:lnTo>
                <a:lnTo>
                  <a:pt x="851150" y="284006"/>
                </a:lnTo>
                <a:lnTo>
                  <a:pt x="847263" y="245465"/>
                </a:lnTo>
                <a:lnTo>
                  <a:pt x="835943" y="208501"/>
                </a:lnTo>
                <a:lnTo>
                  <a:pt x="817696" y="173452"/>
                </a:lnTo>
                <a:lnTo>
                  <a:pt x="793030" y="140657"/>
                </a:lnTo>
                <a:lnTo>
                  <a:pt x="762453" y="110452"/>
                </a:lnTo>
                <a:lnTo>
                  <a:pt x="726473" y="83178"/>
                </a:lnTo>
                <a:lnTo>
                  <a:pt x="685598" y="59172"/>
                </a:lnTo>
                <a:lnTo>
                  <a:pt x="640336" y="38772"/>
                </a:lnTo>
                <a:lnTo>
                  <a:pt x="591193" y="22316"/>
                </a:lnTo>
                <a:lnTo>
                  <a:pt x="538678" y="10144"/>
                </a:lnTo>
                <a:lnTo>
                  <a:pt x="483299" y="2592"/>
                </a:lnTo>
                <a:lnTo>
                  <a:pt x="425564" y="0"/>
                </a:lnTo>
                <a:close/>
              </a:path>
            </a:pathLst>
          </a:custGeom>
          <a:solidFill>
            <a:srgbClr val="E8EE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7110690" y="821911"/>
            <a:ext cx="851535" cy="568325"/>
          </a:xfrm>
          <a:custGeom>
            <a:avLst/>
            <a:gdLst/>
            <a:ahLst/>
            <a:cxnLst/>
            <a:rect l="l" t="t" r="r" b="b"/>
            <a:pathLst>
              <a:path w="851534" h="568325">
                <a:moveTo>
                  <a:pt x="0" y="284006"/>
                </a:moveTo>
                <a:lnTo>
                  <a:pt x="3885" y="245465"/>
                </a:lnTo>
                <a:lnTo>
                  <a:pt x="15205" y="208501"/>
                </a:lnTo>
                <a:lnTo>
                  <a:pt x="33450" y="173452"/>
                </a:lnTo>
                <a:lnTo>
                  <a:pt x="58113" y="140657"/>
                </a:lnTo>
                <a:lnTo>
                  <a:pt x="88687" y="110452"/>
                </a:lnTo>
                <a:lnTo>
                  <a:pt x="124664" y="83178"/>
                </a:lnTo>
                <a:lnTo>
                  <a:pt x="165537" y="59172"/>
                </a:lnTo>
                <a:lnTo>
                  <a:pt x="210797" y="38772"/>
                </a:lnTo>
                <a:lnTo>
                  <a:pt x="259937" y="22316"/>
                </a:lnTo>
                <a:lnTo>
                  <a:pt x="312450" y="10144"/>
                </a:lnTo>
                <a:lnTo>
                  <a:pt x="367828" y="2592"/>
                </a:lnTo>
                <a:lnTo>
                  <a:pt x="425563" y="0"/>
                </a:lnTo>
                <a:lnTo>
                  <a:pt x="483299" y="2592"/>
                </a:lnTo>
                <a:lnTo>
                  <a:pt x="538678" y="10144"/>
                </a:lnTo>
                <a:lnTo>
                  <a:pt x="591193" y="22316"/>
                </a:lnTo>
                <a:lnTo>
                  <a:pt x="640335" y="38772"/>
                </a:lnTo>
                <a:lnTo>
                  <a:pt x="685598" y="59172"/>
                </a:lnTo>
                <a:lnTo>
                  <a:pt x="726473" y="83178"/>
                </a:lnTo>
                <a:lnTo>
                  <a:pt x="762453" y="110452"/>
                </a:lnTo>
                <a:lnTo>
                  <a:pt x="793030" y="140657"/>
                </a:lnTo>
                <a:lnTo>
                  <a:pt x="817695" y="173452"/>
                </a:lnTo>
                <a:lnTo>
                  <a:pt x="835942" y="208501"/>
                </a:lnTo>
                <a:lnTo>
                  <a:pt x="847263" y="245465"/>
                </a:lnTo>
                <a:lnTo>
                  <a:pt x="851149" y="284006"/>
                </a:lnTo>
                <a:lnTo>
                  <a:pt x="847263" y="322547"/>
                </a:lnTo>
                <a:lnTo>
                  <a:pt x="835942" y="359511"/>
                </a:lnTo>
                <a:lnTo>
                  <a:pt x="817695" y="394560"/>
                </a:lnTo>
                <a:lnTo>
                  <a:pt x="793030" y="427356"/>
                </a:lnTo>
                <a:lnTo>
                  <a:pt x="762453" y="457560"/>
                </a:lnTo>
                <a:lnTo>
                  <a:pt x="726473" y="484834"/>
                </a:lnTo>
                <a:lnTo>
                  <a:pt x="685598" y="508841"/>
                </a:lnTo>
                <a:lnTo>
                  <a:pt x="640335" y="529241"/>
                </a:lnTo>
                <a:lnTo>
                  <a:pt x="591193" y="545696"/>
                </a:lnTo>
                <a:lnTo>
                  <a:pt x="538678" y="557869"/>
                </a:lnTo>
                <a:lnTo>
                  <a:pt x="483299" y="565420"/>
                </a:lnTo>
                <a:lnTo>
                  <a:pt x="425563" y="568013"/>
                </a:lnTo>
                <a:lnTo>
                  <a:pt x="367828" y="565420"/>
                </a:lnTo>
                <a:lnTo>
                  <a:pt x="312450" y="557869"/>
                </a:lnTo>
                <a:lnTo>
                  <a:pt x="259937" y="545696"/>
                </a:lnTo>
                <a:lnTo>
                  <a:pt x="210797" y="529241"/>
                </a:lnTo>
                <a:lnTo>
                  <a:pt x="165537" y="508841"/>
                </a:lnTo>
                <a:lnTo>
                  <a:pt x="124664" y="484834"/>
                </a:lnTo>
                <a:lnTo>
                  <a:pt x="88687" y="457560"/>
                </a:lnTo>
                <a:lnTo>
                  <a:pt x="58113" y="427356"/>
                </a:lnTo>
                <a:lnTo>
                  <a:pt x="33450" y="394560"/>
                </a:lnTo>
                <a:lnTo>
                  <a:pt x="15205" y="359511"/>
                </a:lnTo>
                <a:lnTo>
                  <a:pt x="3885" y="322547"/>
                </a:lnTo>
                <a:lnTo>
                  <a:pt x="0" y="284006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7345512" y="964518"/>
            <a:ext cx="381635" cy="26035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700" dirty="0">
                <a:latin typeface="宋体"/>
                <a:cs typeface="宋体"/>
              </a:rPr>
              <a:t>问题分析</a:t>
            </a:r>
            <a:endParaRPr sz="7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sz="700" dirty="0">
                <a:latin typeface="MS Gothic"/>
                <a:cs typeface="MS Gothic"/>
              </a:rPr>
              <a:t>背景分析</a:t>
            </a:r>
            <a:endParaRPr sz="700">
              <a:latin typeface="MS Gothic"/>
              <a:cs typeface="MS Gothic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7536253" y="1389924"/>
            <a:ext cx="0" cy="262890"/>
          </a:xfrm>
          <a:custGeom>
            <a:avLst/>
            <a:gdLst/>
            <a:ahLst/>
            <a:cxnLst/>
            <a:rect l="l" t="t" r="r" b="b"/>
            <a:pathLst>
              <a:path h="262889">
                <a:moveTo>
                  <a:pt x="0" y="0"/>
                </a:moveTo>
                <a:lnTo>
                  <a:pt x="0" y="26263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7505560" y="1644873"/>
            <a:ext cx="61594" cy="92710"/>
          </a:xfrm>
          <a:custGeom>
            <a:avLst/>
            <a:gdLst/>
            <a:ahLst/>
            <a:cxnLst/>
            <a:rect l="l" t="t" r="r" b="b"/>
            <a:pathLst>
              <a:path w="61595" h="92710">
                <a:moveTo>
                  <a:pt x="61385" y="0"/>
                </a:moveTo>
                <a:lnTo>
                  <a:pt x="0" y="0"/>
                </a:lnTo>
                <a:lnTo>
                  <a:pt x="30693" y="92182"/>
                </a:lnTo>
                <a:lnTo>
                  <a:pt x="6138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6196530" y="1737100"/>
            <a:ext cx="756920" cy="379095"/>
          </a:xfrm>
          <a:prstGeom prst="rect">
            <a:avLst/>
          </a:prstGeom>
          <a:solidFill>
            <a:srgbClr val="E8EEF7"/>
          </a:solidFill>
          <a:ln w="3175">
            <a:solidFill>
              <a:srgbClr val="000000"/>
            </a:solidFill>
          </a:ln>
        </p:spPr>
        <p:txBody>
          <a:bodyPr vert="horz" wrap="square" lIns="0" tIns="50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0"/>
              </a:spcBef>
            </a:pPr>
            <a:endParaRPr sz="850">
              <a:latin typeface="Times New Roman"/>
              <a:cs typeface="Times New Roman"/>
            </a:endParaRPr>
          </a:p>
          <a:p>
            <a:pPr marL="66675">
              <a:lnSpc>
                <a:spcPct val="100000"/>
              </a:lnSpc>
            </a:pPr>
            <a:r>
              <a:rPr sz="700" dirty="0">
                <a:latin typeface="MS Gothic"/>
                <a:cs typeface="MS Gothic"/>
              </a:rPr>
              <a:t>高</a:t>
            </a:r>
            <a:r>
              <a:rPr sz="700" dirty="0">
                <a:latin typeface="宋体"/>
                <a:cs typeface="宋体"/>
              </a:rPr>
              <a:t>层</a:t>
            </a:r>
            <a:r>
              <a:rPr sz="700" dirty="0">
                <a:latin typeface="MS Gothic"/>
                <a:cs typeface="MS Gothic"/>
              </a:rPr>
              <a:t>次解决方案</a:t>
            </a:r>
            <a:endParaRPr sz="700">
              <a:latin typeface="MS Gothic"/>
              <a:cs typeface="MS Gothic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245526" y="1737100"/>
            <a:ext cx="694055" cy="379095"/>
          </a:xfrm>
          <a:prstGeom prst="rect">
            <a:avLst/>
          </a:prstGeom>
          <a:solidFill>
            <a:srgbClr val="E8EEF7"/>
          </a:solidFill>
          <a:ln w="3175">
            <a:solidFill>
              <a:srgbClr val="000000"/>
            </a:solidFill>
          </a:ln>
        </p:spPr>
        <p:txBody>
          <a:bodyPr vert="horz" wrap="square" lIns="0" tIns="50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0"/>
              </a:spcBef>
            </a:pPr>
            <a:endParaRPr sz="850">
              <a:latin typeface="Times New Roman"/>
              <a:cs typeface="Times New Roman"/>
            </a:endParaRPr>
          </a:p>
          <a:p>
            <a:pPr marL="168275">
              <a:lnSpc>
                <a:spcPct val="100000"/>
              </a:lnSpc>
            </a:pPr>
            <a:r>
              <a:rPr sz="700" dirty="0">
                <a:latin typeface="MS Gothic"/>
                <a:cs typeface="MS Gothic"/>
              </a:rPr>
              <a:t>系</a:t>
            </a:r>
            <a:r>
              <a:rPr sz="700" dirty="0">
                <a:latin typeface="宋体"/>
                <a:cs typeface="宋体"/>
              </a:rPr>
              <a:t>统</a:t>
            </a:r>
            <a:r>
              <a:rPr sz="700" dirty="0">
                <a:latin typeface="MS Gothic"/>
                <a:cs typeface="MS Gothic"/>
              </a:rPr>
              <a:t>特性</a:t>
            </a:r>
            <a:endParaRPr sz="700">
              <a:latin typeface="MS Gothic"/>
              <a:cs typeface="MS Gothic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8062036" y="2115805"/>
            <a:ext cx="530225" cy="483870"/>
          </a:xfrm>
          <a:custGeom>
            <a:avLst/>
            <a:gdLst/>
            <a:ahLst/>
            <a:cxnLst/>
            <a:rect l="l" t="t" r="r" b="b"/>
            <a:pathLst>
              <a:path w="530225" h="483869">
                <a:moveTo>
                  <a:pt x="530231" y="0"/>
                </a:moveTo>
                <a:lnTo>
                  <a:pt x="530231" y="483846"/>
                </a:lnTo>
                <a:lnTo>
                  <a:pt x="0" y="483846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7977630" y="2568925"/>
            <a:ext cx="92075" cy="61594"/>
          </a:xfrm>
          <a:custGeom>
            <a:avLst/>
            <a:gdLst/>
            <a:ahLst/>
            <a:cxnLst/>
            <a:rect l="l" t="t" r="r" b="b"/>
            <a:pathLst>
              <a:path w="92075" h="61594">
                <a:moveTo>
                  <a:pt x="92078" y="0"/>
                </a:moveTo>
                <a:lnTo>
                  <a:pt x="0" y="30726"/>
                </a:lnTo>
                <a:lnTo>
                  <a:pt x="92078" y="61454"/>
                </a:lnTo>
                <a:lnTo>
                  <a:pt x="9207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6574798" y="2115805"/>
            <a:ext cx="436245" cy="483870"/>
          </a:xfrm>
          <a:custGeom>
            <a:avLst/>
            <a:gdLst/>
            <a:ahLst/>
            <a:cxnLst/>
            <a:rect l="l" t="t" r="r" b="b"/>
            <a:pathLst>
              <a:path w="436245" h="483869">
                <a:moveTo>
                  <a:pt x="0" y="0"/>
                </a:moveTo>
                <a:lnTo>
                  <a:pt x="0" y="483846"/>
                </a:lnTo>
                <a:lnTo>
                  <a:pt x="435728" y="483846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7002852" y="2568925"/>
            <a:ext cx="92075" cy="61594"/>
          </a:xfrm>
          <a:custGeom>
            <a:avLst/>
            <a:gdLst/>
            <a:ahLst/>
            <a:cxnLst/>
            <a:rect l="l" t="t" r="r" b="b"/>
            <a:pathLst>
              <a:path w="92075" h="61594">
                <a:moveTo>
                  <a:pt x="0" y="0"/>
                </a:moveTo>
                <a:lnTo>
                  <a:pt x="0" y="61454"/>
                </a:lnTo>
                <a:lnTo>
                  <a:pt x="92078" y="3072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6574798" y="1389924"/>
            <a:ext cx="962025" cy="262890"/>
          </a:xfrm>
          <a:custGeom>
            <a:avLst/>
            <a:gdLst/>
            <a:ahLst/>
            <a:cxnLst/>
            <a:rect l="l" t="t" r="r" b="b"/>
            <a:pathLst>
              <a:path w="962025" h="262889">
                <a:moveTo>
                  <a:pt x="961455" y="0"/>
                </a:moveTo>
                <a:lnTo>
                  <a:pt x="961455" y="152524"/>
                </a:lnTo>
                <a:lnTo>
                  <a:pt x="0" y="152524"/>
                </a:lnTo>
                <a:lnTo>
                  <a:pt x="0" y="26263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6544105" y="1644873"/>
            <a:ext cx="61594" cy="92710"/>
          </a:xfrm>
          <a:custGeom>
            <a:avLst/>
            <a:gdLst/>
            <a:ahLst/>
            <a:cxnLst/>
            <a:rect l="l" t="t" r="r" b="b"/>
            <a:pathLst>
              <a:path w="61595" h="92710">
                <a:moveTo>
                  <a:pt x="61385" y="0"/>
                </a:moveTo>
                <a:lnTo>
                  <a:pt x="0" y="0"/>
                </a:lnTo>
                <a:lnTo>
                  <a:pt x="30692" y="92182"/>
                </a:lnTo>
                <a:lnTo>
                  <a:pt x="6138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7536253" y="1389924"/>
            <a:ext cx="1056640" cy="262890"/>
          </a:xfrm>
          <a:custGeom>
            <a:avLst/>
            <a:gdLst/>
            <a:ahLst/>
            <a:cxnLst/>
            <a:rect l="l" t="t" r="r" b="b"/>
            <a:pathLst>
              <a:path w="1056640" h="262889">
                <a:moveTo>
                  <a:pt x="0" y="0"/>
                </a:moveTo>
                <a:lnTo>
                  <a:pt x="0" y="152524"/>
                </a:lnTo>
                <a:lnTo>
                  <a:pt x="1056013" y="152524"/>
                </a:lnTo>
                <a:lnTo>
                  <a:pt x="1056013" y="26263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8561574" y="1644873"/>
            <a:ext cx="61594" cy="92710"/>
          </a:xfrm>
          <a:custGeom>
            <a:avLst/>
            <a:gdLst/>
            <a:ahLst/>
            <a:cxnLst/>
            <a:rect l="l" t="t" r="r" b="b"/>
            <a:pathLst>
              <a:path w="61595" h="92710">
                <a:moveTo>
                  <a:pt x="61385" y="0"/>
                </a:moveTo>
                <a:lnTo>
                  <a:pt x="0" y="0"/>
                </a:lnTo>
                <a:lnTo>
                  <a:pt x="30693" y="92182"/>
                </a:lnTo>
                <a:lnTo>
                  <a:pt x="6138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8182472" y="4735202"/>
            <a:ext cx="694055" cy="347345"/>
          </a:xfrm>
          <a:prstGeom prst="rect">
            <a:avLst/>
          </a:prstGeom>
          <a:solidFill>
            <a:srgbClr val="E8EEF7"/>
          </a:solidFill>
          <a:ln w="3175">
            <a:solidFill>
              <a:srgbClr val="000000"/>
            </a:solidFill>
          </a:ln>
        </p:spPr>
        <p:txBody>
          <a:bodyPr vert="horz" wrap="square" lIns="0" tIns="38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0"/>
              </a:spcBef>
            </a:pPr>
            <a:endParaRPr sz="750">
              <a:latin typeface="Times New Roman"/>
              <a:cs typeface="Times New Roman"/>
            </a:endParaRPr>
          </a:p>
          <a:p>
            <a:pPr marL="168275">
              <a:lnSpc>
                <a:spcPct val="100000"/>
              </a:lnSpc>
              <a:spcBef>
                <a:spcPts val="5"/>
              </a:spcBef>
            </a:pPr>
            <a:r>
              <a:rPr sz="700" dirty="0">
                <a:latin typeface="MS Gothic"/>
                <a:cs typeface="MS Gothic"/>
              </a:rPr>
              <a:t>系</a:t>
            </a:r>
            <a:r>
              <a:rPr sz="700" dirty="0">
                <a:latin typeface="宋体"/>
                <a:cs typeface="宋体"/>
              </a:rPr>
              <a:t>统</a:t>
            </a:r>
            <a:r>
              <a:rPr sz="700" dirty="0">
                <a:latin typeface="MS Gothic"/>
                <a:cs typeface="MS Gothic"/>
              </a:rPr>
              <a:t>模型</a:t>
            </a:r>
            <a:endParaRPr sz="700">
              <a:latin typeface="MS Gothic"/>
              <a:cs typeface="MS Gothic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7536253" y="4435397"/>
            <a:ext cx="993140" cy="215900"/>
          </a:xfrm>
          <a:custGeom>
            <a:avLst/>
            <a:gdLst/>
            <a:ahLst/>
            <a:cxnLst/>
            <a:rect l="l" t="t" r="r" b="b"/>
            <a:pathLst>
              <a:path w="993140" h="215900">
                <a:moveTo>
                  <a:pt x="0" y="0"/>
                </a:moveTo>
                <a:lnTo>
                  <a:pt x="0" y="118345"/>
                </a:lnTo>
                <a:lnTo>
                  <a:pt x="992959" y="118345"/>
                </a:lnTo>
                <a:lnTo>
                  <a:pt x="992959" y="215315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8498520" y="4643030"/>
            <a:ext cx="61594" cy="92710"/>
          </a:xfrm>
          <a:custGeom>
            <a:avLst/>
            <a:gdLst/>
            <a:ahLst/>
            <a:cxnLst/>
            <a:rect l="l" t="t" r="r" b="b"/>
            <a:pathLst>
              <a:path w="61595" h="92710">
                <a:moveTo>
                  <a:pt x="61386" y="0"/>
                </a:moveTo>
                <a:lnTo>
                  <a:pt x="0" y="0"/>
                </a:lnTo>
                <a:lnTo>
                  <a:pt x="30693" y="92181"/>
                </a:lnTo>
                <a:lnTo>
                  <a:pt x="6138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7110689" y="5355808"/>
            <a:ext cx="882650" cy="589280"/>
          </a:xfrm>
          <a:custGeom>
            <a:avLst/>
            <a:gdLst/>
            <a:ahLst/>
            <a:cxnLst/>
            <a:rect l="l" t="t" r="r" b="b"/>
            <a:pathLst>
              <a:path w="882650" h="589279">
                <a:moveTo>
                  <a:pt x="441355" y="0"/>
                </a:moveTo>
                <a:lnTo>
                  <a:pt x="385990" y="2295"/>
                </a:lnTo>
                <a:lnTo>
                  <a:pt x="332678" y="8996"/>
                </a:lnTo>
                <a:lnTo>
                  <a:pt x="281833" y="19827"/>
                </a:lnTo>
                <a:lnTo>
                  <a:pt x="233867" y="34512"/>
                </a:lnTo>
                <a:lnTo>
                  <a:pt x="189195" y="52775"/>
                </a:lnTo>
                <a:lnTo>
                  <a:pt x="148229" y="74340"/>
                </a:lnTo>
                <a:lnTo>
                  <a:pt x="111384" y="98930"/>
                </a:lnTo>
                <a:lnTo>
                  <a:pt x="79073" y="126270"/>
                </a:lnTo>
                <a:lnTo>
                  <a:pt x="51709" y="156084"/>
                </a:lnTo>
                <a:lnTo>
                  <a:pt x="29707" y="188094"/>
                </a:lnTo>
                <a:lnTo>
                  <a:pt x="3438" y="257603"/>
                </a:lnTo>
                <a:lnTo>
                  <a:pt x="0" y="294549"/>
                </a:lnTo>
                <a:lnTo>
                  <a:pt x="3438" y="331497"/>
                </a:lnTo>
                <a:lnTo>
                  <a:pt x="29707" y="401008"/>
                </a:lnTo>
                <a:lnTo>
                  <a:pt x="51709" y="433019"/>
                </a:lnTo>
                <a:lnTo>
                  <a:pt x="79073" y="462832"/>
                </a:lnTo>
                <a:lnTo>
                  <a:pt x="111384" y="490172"/>
                </a:lnTo>
                <a:lnTo>
                  <a:pt x="148229" y="514762"/>
                </a:lnTo>
                <a:lnTo>
                  <a:pt x="189195" y="536326"/>
                </a:lnTo>
                <a:lnTo>
                  <a:pt x="233867" y="554588"/>
                </a:lnTo>
                <a:lnTo>
                  <a:pt x="281833" y="569272"/>
                </a:lnTo>
                <a:lnTo>
                  <a:pt x="332678" y="580103"/>
                </a:lnTo>
                <a:lnTo>
                  <a:pt x="385990" y="586804"/>
                </a:lnTo>
                <a:lnTo>
                  <a:pt x="441355" y="589099"/>
                </a:lnTo>
                <a:lnTo>
                  <a:pt x="496696" y="586804"/>
                </a:lnTo>
                <a:lnTo>
                  <a:pt x="549989" y="580103"/>
                </a:lnTo>
                <a:lnTo>
                  <a:pt x="600819" y="569272"/>
                </a:lnTo>
                <a:lnTo>
                  <a:pt x="648773" y="554588"/>
                </a:lnTo>
                <a:lnTo>
                  <a:pt x="693437" y="536326"/>
                </a:lnTo>
                <a:lnTo>
                  <a:pt x="734396" y="514762"/>
                </a:lnTo>
                <a:lnTo>
                  <a:pt x="771238" y="490172"/>
                </a:lnTo>
                <a:lnTo>
                  <a:pt x="803547" y="462832"/>
                </a:lnTo>
                <a:lnTo>
                  <a:pt x="830910" y="433019"/>
                </a:lnTo>
                <a:lnTo>
                  <a:pt x="852913" y="401008"/>
                </a:lnTo>
                <a:lnTo>
                  <a:pt x="879183" y="331497"/>
                </a:lnTo>
                <a:lnTo>
                  <a:pt x="882622" y="294549"/>
                </a:lnTo>
                <a:lnTo>
                  <a:pt x="879183" y="257603"/>
                </a:lnTo>
                <a:lnTo>
                  <a:pt x="852913" y="188094"/>
                </a:lnTo>
                <a:lnTo>
                  <a:pt x="830910" y="156084"/>
                </a:lnTo>
                <a:lnTo>
                  <a:pt x="803547" y="126270"/>
                </a:lnTo>
                <a:lnTo>
                  <a:pt x="771238" y="98930"/>
                </a:lnTo>
                <a:lnTo>
                  <a:pt x="734396" y="74340"/>
                </a:lnTo>
                <a:lnTo>
                  <a:pt x="693437" y="52775"/>
                </a:lnTo>
                <a:lnTo>
                  <a:pt x="648773" y="34512"/>
                </a:lnTo>
                <a:lnTo>
                  <a:pt x="600819" y="19827"/>
                </a:lnTo>
                <a:lnTo>
                  <a:pt x="549989" y="8996"/>
                </a:lnTo>
                <a:lnTo>
                  <a:pt x="496696" y="2295"/>
                </a:lnTo>
                <a:lnTo>
                  <a:pt x="441355" y="0"/>
                </a:lnTo>
                <a:close/>
              </a:path>
            </a:pathLst>
          </a:custGeom>
          <a:solidFill>
            <a:srgbClr val="E8EE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7110690" y="5355807"/>
            <a:ext cx="882650" cy="589280"/>
          </a:xfrm>
          <a:custGeom>
            <a:avLst/>
            <a:gdLst/>
            <a:ahLst/>
            <a:cxnLst/>
            <a:rect l="l" t="t" r="r" b="b"/>
            <a:pathLst>
              <a:path w="882650" h="589279">
                <a:moveTo>
                  <a:pt x="0" y="294549"/>
                </a:moveTo>
                <a:lnTo>
                  <a:pt x="13478" y="222026"/>
                </a:lnTo>
                <a:lnTo>
                  <a:pt x="51709" y="156084"/>
                </a:lnTo>
                <a:lnTo>
                  <a:pt x="79073" y="126271"/>
                </a:lnTo>
                <a:lnTo>
                  <a:pt x="111384" y="98931"/>
                </a:lnTo>
                <a:lnTo>
                  <a:pt x="148229" y="74340"/>
                </a:lnTo>
                <a:lnTo>
                  <a:pt x="189194" y="52775"/>
                </a:lnTo>
                <a:lnTo>
                  <a:pt x="233867" y="34512"/>
                </a:lnTo>
                <a:lnTo>
                  <a:pt x="281833" y="19827"/>
                </a:lnTo>
                <a:lnTo>
                  <a:pt x="332678" y="8996"/>
                </a:lnTo>
                <a:lnTo>
                  <a:pt x="385990" y="2295"/>
                </a:lnTo>
                <a:lnTo>
                  <a:pt x="441355" y="0"/>
                </a:lnTo>
                <a:lnTo>
                  <a:pt x="496696" y="2295"/>
                </a:lnTo>
                <a:lnTo>
                  <a:pt x="549989" y="8996"/>
                </a:lnTo>
                <a:lnTo>
                  <a:pt x="600819" y="19827"/>
                </a:lnTo>
                <a:lnTo>
                  <a:pt x="648773" y="34512"/>
                </a:lnTo>
                <a:lnTo>
                  <a:pt x="693437" y="52775"/>
                </a:lnTo>
                <a:lnTo>
                  <a:pt x="734396" y="74340"/>
                </a:lnTo>
                <a:lnTo>
                  <a:pt x="771237" y="98931"/>
                </a:lnTo>
                <a:lnTo>
                  <a:pt x="803546" y="126271"/>
                </a:lnTo>
                <a:lnTo>
                  <a:pt x="830909" y="156084"/>
                </a:lnTo>
                <a:lnTo>
                  <a:pt x="852912" y="188094"/>
                </a:lnTo>
                <a:lnTo>
                  <a:pt x="879182" y="257603"/>
                </a:lnTo>
                <a:lnTo>
                  <a:pt x="882621" y="294549"/>
                </a:lnTo>
                <a:lnTo>
                  <a:pt x="879182" y="331497"/>
                </a:lnTo>
                <a:lnTo>
                  <a:pt x="869141" y="367076"/>
                </a:lnTo>
                <a:lnTo>
                  <a:pt x="830909" y="433020"/>
                </a:lnTo>
                <a:lnTo>
                  <a:pt x="803546" y="462833"/>
                </a:lnTo>
                <a:lnTo>
                  <a:pt x="771237" y="490172"/>
                </a:lnTo>
                <a:lnTo>
                  <a:pt x="734396" y="514762"/>
                </a:lnTo>
                <a:lnTo>
                  <a:pt x="693437" y="536326"/>
                </a:lnTo>
                <a:lnTo>
                  <a:pt x="648773" y="554588"/>
                </a:lnTo>
                <a:lnTo>
                  <a:pt x="600819" y="569273"/>
                </a:lnTo>
                <a:lnTo>
                  <a:pt x="549989" y="580103"/>
                </a:lnTo>
                <a:lnTo>
                  <a:pt x="496696" y="586804"/>
                </a:lnTo>
                <a:lnTo>
                  <a:pt x="441355" y="589099"/>
                </a:lnTo>
                <a:lnTo>
                  <a:pt x="385990" y="586804"/>
                </a:lnTo>
                <a:lnTo>
                  <a:pt x="332678" y="580103"/>
                </a:lnTo>
                <a:lnTo>
                  <a:pt x="281833" y="569273"/>
                </a:lnTo>
                <a:lnTo>
                  <a:pt x="233867" y="554588"/>
                </a:lnTo>
                <a:lnTo>
                  <a:pt x="189194" y="536326"/>
                </a:lnTo>
                <a:lnTo>
                  <a:pt x="148229" y="514762"/>
                </a:lnTo>
                <a:lnTo>
                  <a:pt x="111384" y="490172"/>
                </a:lnTo>
                <a:lnTo>
                  <a:pt x="79073" y="462833"/>
                </a:lnTo>
                <a:lnTo>
                  <a:pt x="51709" y="433020"/>
                </a:lnTo>
                <a:lnTo>
                  <a:pt x="29706" y="401009"/>
                </a:lnTo>
                <a:lnTo>
                  <a:pt x="3438" y="331497"/>
                </a:lnTo>
                <a:lnTo>
                  <a:pt x="0" y="294549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/>
          <p:nvPr/>
        </p:nvSpPr>
        <p:spPr>
          <a:xfrm>
            <a:off x="7272450" y="5577907"/>
            <a:ext cx="559435" cy="132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dirty="0">
                <a:latin typeface="MS Gothic"/>
                <a:cs typeface="MS Gothic"/>
              </a:rPr>
              <a:t>文档化和</a:t>
            </a:r>
            <a:r>
              <a:rPr sz="700" dirty="0">
                <a:latin typeface="宋体"/>
                <a:cs typeface="宋体"/>
              </a:rPr>
              <a:t>验证</a:t>
            </a:r>
            <a:endParaRPr sz="700">
              <a:latin typeface="宋体"/>
              <a:cs typeface="宋体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6543282" y="5082344"/>
            <a:ext cx="1009015" cy="189230"/>
          </a:xfrm>
          <a:custGeom>
            <a:avLst/>
            <a:gdLst/>
            <a:ahLst/>
            <a:cxnLst/>
            <a:rect l="l" t="t" r="r" b="b"/>
            <a:pathLst>
              <a:path w="1009015" h="189229">
                <a:moveTo>
                  <a:pt x="0" y="0"/>
                </a:moveTo>
                <a:lnTo>
                  <a:pt x="0" y="118300"/>
                </a:lnTo>
                <a:lnTo>
                  <a:pt x="1008762" y="118300"/>
                </a:lnTo>
                <a:lnTo>
                  <a:pt x="1008762" y="188962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7521351" y="5263625"/>
            <a:ext cx="61594" cy="92710"/>
          </a:xfrm>
          <a:custGeom>
            <a:avLst/>
            <a:gdLst/>
            <a:ahLst/>
            <a:cxnLst/>
            <a:rect l="l" t="t" r="r" b="b"/>
            <a:pathLst>
              <a:path w="61595" h="92710">
                <a:moveTo>
                  <a:pt x="61386" y="0"/>
                </a:moveTo>
                <a:lnTo>
                  <a:pt x="0" y="0"/>
                </a:lnTo>
                <a:lnTo>
                  <a:pt x="30693" y="92182"/>
                </a:lnTo>
                <a:lnTo>
                  <a:pt x="6138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7552045" y="5082344"/>
            <a:ext cx="977265" cy="189230"/>
          </a:xfrm>
          <a:custGeom>
            <a:avLst/>
            <a:gdLst/>
            <a:ahLst/>
            <a:cxnLst/>
            <a:rect l="l" t="t" r="r" b="b"/>
            <a:pathLst>
              <a:path w="977265" h="189229">
                <a:moveTo>
                  <a:pt x="977168" y="0"/>
                </a:moveTo>
                <a:lnTo>
                  <a:pt x="977168" y="118300"/>
                </a:lnTo>
                <a:lnTo>
                  <a:pt x="0" y="118300"/>
                </a:lnTo>
                <a:lnTo>
                  <a:pt x="0" y="188962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7521351" y="5263625"/>
            <a:ext cx="61594" cy="92710"/>
          </a:xfrm>
          <a:custGeom>
            <a:avLst/>
            <a:gdLst/>
            <a:ahLst/>
            <a:cxnLst/>
            <a:rect l="l" t="t" r="r" b="b"/>
            <a:pathLst>
              <a:path w="61595" h="92710">
                <a:moveTo>
                  <a:pt x="61386" y="0"/>
                </a:moveTo>
                <a:lnTo>
                  <a:pt x="0" y="0"/>
                </a:lnTo>
                <a:lnTo>
                  <a:pt x="30693" y="92182"/>
                </a:lnTo>
                <a:lnTo>
                  <a:pt x="6138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7538255" y="504951"/>
            <a:ext cx="0" cy="100965"/>
          </a:xfrm>
          <a:custGeom>
            <a:avLst/>
            <a:gdLst/>
            <a:ahLst/>
            <a:cxnLst/>
            <a:rect l="l" t="t" r="r" b="b"/>
            <a:pathLst>
              <a:path h="100965">
                <a:moveTo>
                  <a:pt x="0" y="0"/>
                </a:moveTo>
                <a:lnTo>
                  <a:pt x="0" y="100542"/>
                </a:lnTo>
              </a:path>
            </a:pathLst>
          </a:custGeom>
          <a:ln w="489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7506450" y="729395"/>
            <a:ext cx="61594" cy="92710"/>
          </a:xfrm>
          <a:custGeom>
            <a:avLst/>
            <a:gdLst/>
            <a:ahLst/>
            <a:cxnLst/>
            <a:rect l="l" t="t" r="r" b="b"/>
            <a:pathLst>
              <a:path w="61595" h="92709">
                <a:moveTo>
                  <a:pt x="0" y="0"/>
                </a:moveTo>
                <a:lnTo>
                  <a:pt x="29803" y="92515"/>
                </a:lnTo>
                <a:lnTo>
                  <a:pt x="61385" y="66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 txBox="1"/>
          <p:nvPr/>
        </p:nvSpPr>
        <p:spPr>
          <a:xfrm>
            <a:off x="7436146" y="591670"/>
            <a:ext cx="203835" cy="132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dirty="0">
                <a:latin typeface="宋体"/>
                <a:cs typeface="宋体"/>
              </a:rPr>
              <a:t>问题</a:t>
            </a:r>
            <a:endParaRPr sz="700">
              <a:latin typeface="宋体"/>
              <a:cs typeface="宋体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7552045" y="5944907"/>
            <a:ext cx="0" cy="62865"/>
          </a:xfrm>
          <a:custGeom>
            <a:avLst/>
            <a:gdLst/>
            <a:ahLst/>
            <a:cxnLst/>
            <a:rect l="l" t="t" r="r" b="b"/>
            <a:pathLst>
              <a:path h="62864">
                <a:moveTo>
                  <a:pt x="0" y="0"/>
                </a:moveTo>
                <a:lnTo>
                  <a:pt x="0" y="62367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7521351" y="6094670"/>
            <a:ext cx="61594" cy="92710"/>
          </a:xfrm>
          <a:custGeom>
            <a:avLst/>
            <a:gdLst/>
            <a:ahLst/>
            <a:cxnLst/>
            <a:rect l="l" t="t" r="r" b="b"/>
            <a:pathLst>
              <a:path w="61595" h="92710">
                <a:moveTo>
                  <a:pt x="61386" y="0"/>
                </a:moveTo>
                <a:lnTo>
                  <a:pt x="0" y="0"/>
                </a:lnTo>
                <a:lnTo>
                  <a:pt x="30693" y="92182"/>
                </a:lnTo>
                <a:lnTo>
                  <a:pt x="6138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7280923" y="6007275"/>
            <a:ext cx="534035" cy="117475"/>
          </a:xfrm>
          <a:custGeom>
            <a:avLst/>
            <a:gdLst/>
            <a:ahLst/>
            <a:cxnLst/>
            <a:rect l="l" t="t" r="r" b="b"/>
            <a:pathLst>
              <a:path w="534034" h="117475">
                <a:moveTo>
                  <a:pt x="0" y="117220"/>
                </a:moveTo>
                <a:lnTo>
                  <a:pt x="533789" y="117220"/>
                </a:lnTo>
                <a:lnTo>
                  <a:pt x="533789" y="0"/>
                </a:lnTo>
                <a:lnTo>
                  <a:pt x="0" y="0"/>
                </a:lnTo>
                <a:lnTo>
                  <a:pt x="0" y="11722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 txBox="1"/>
          <p:nvPr/>
        </p:nvSpPr>
        <p:spPr>
          <a:xfrm>
            <a:off x="7272450" y="5993429"/>
            <a:ext cx="559435" cy="132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dirty="0">
                <a:latin typeface="MS Gothic"/>
                <a:cs typeface="MS Gothic"/>
              </a:rPr>
              <a:t>需求</a:t>
            </a:r>
            <a:r>
              <a:rPr sz="700" dirty="0">
                <a:latin typeface="宋体"/>
                <a:cs typeface="宋体"/>
              </a:rPr>
              <a:t>规</a:t>
            </a:r>
            <a:r>
              <a:rPr sz="700" dirty="0">
                <a:latin typeface="MS Gothic"/>
                <a:cs typeface="MS Gothic"/>
              </a:rPr>
              <a:t>格</a:t>
            </a:r>
            <a:r>
              <a:rPr sz="700" dirty="0">
                <a:latin typeface="宋体"/>
                <a:cs typeface="宋体"/>
              </a:rPr>
              <a:t>说</a:t>
            </a:r>
            <a:r>
              <a:rPr sz="700" dirty="0">
                <a:latin typeface="MS Gothic"/>
                <a:cs typeface="MS Gothic"/>
              </a:rPr>
              <a:t>明</a:t>
            </a:r>
            <a:endParaRPr sz="700">
              <a:latin typeface="MS Gothic"/>
              <a:cs typeface="MS Gothic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7192626" y="3198688"/>
            <a:ext cx="687705" cy="349250"/>
          </a:xfrm>
          <a:prstGeom prst="rect">
            <a:avLst/>
          </a:prstGeom>
          <a:solidFill>
            <a:srgbClr val="E8EEF7"/>
          </a:solidFill>
          <a:ln w="317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525"/>
              </a:lnSpc>
            </a:pPr>
            <a:r>
              <a:rPr sz="500" spc="25" dirty="0">
                <a:latin typeface="MS Gothic"/>
                <a:cs typeface="MS Gothic"/>
              </a:rPr>
              <a:t>性能需求</a:t>
            </a:r>
            <a:endParaRPr sz="500">
              <a:latin typeface="MS Gothic"/>
              <a:cs typeface="MS Gothic"/>
            </a:endParaRPr>
          </a:p>
          <a:p>
            <a:pPr marL="209550" marR="201930" algn="ctr">
              <a:lnSpc>
                <a:spcPct val="115399"/>
              </a:lnSpc>
            </a:pPr>
            <a:r>
              <a:rPr sz="500" spc="20" dirty="0">
                <a:latin typeface="宋体"/>
                <a:cs typeface="宋体"/>
              </a:rPr>
              <a:t>质量属性 对外接口 </a:t>
            </a:r>
            <a:r>
              <a:rPr sz="500" spc="25" dirty="0">
                <a:latin typeface="宋体"/>
                <a:cs typeface="宋体"/>
              </a:rPr>
              <a:t>约束</a:t>
            </a:r>
            <a:endParaRPr sz="500">
              <a:latin typeface="宋体"/>
              <a:cs typeface="宋体"/>
            </a:endParaRPr>
          </a:p>
        </p:txBody>
      </p:sp>
      <p:sp>
        <p:nvSpPr>
          <p:cNvPr id="60" name="object 60"/>
          <p:cNvSpPr/>
          <p:nvPr/>
        </p:nvSpPr>
        <p:spPr>
          <a:xfrm>
            <a:off x="7536253" y="2894235"/>
            <a:ext cx="0" cy="210185"/>
          </a:xfrm>
          <a:custGeom>
            <a:avLst/>
            <a:gdLst/>
            <a:ahLst/>
            <a:cxnLst/>
            <a:rect l="l" t="t" r="r" b="b"/>
            <a:pathLst>
              <a:path h="210185">
                <a:moveTo>
                  <a:pt x="0" y="0"/>
                </a:moveTo>
                <a:lnTo>
                  <a:pt x="0" y="210082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7505560" y="3096635"/>
            <a:ext cx="61594" cy="92710"/>
          </a:xfrm>
          <a:custGeom>
            <a:avLst/>
            <a:gdLst/>
            <a:ahLst/>
            <a:cxnLst/>
            <a:rect l="l" t="t" r="r" b="b"/>
            <a:pathLst>
              <a:path w="61595" h="92710">
                <a:moveTo>
                  <a:pt x="61385" y="0"/>
                </a:moveTo>
                <a:lnTo>
                  <a:pt x="0" y="0"/>
                </a:lnTo>
                <a:lnTo>
                  <a:pt x="30693" y="92182"/>
                </a:lnTo>
                <a:lnTo>
                  <a:pt x="6138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7536253" y="3535950"/>
            <a:ext cx="0" cy="226060"/>
          </a:xfrm>
          <a:custGeom>
            <a:avLst/>
            <a:gdLst/>
            <a:ahLst/>
            <a:cxnLst/>
            <a:rect l="l" t="t" r="r" b="b"/>
            <a:pathLst>
              <a:path h="226060">
                <a:moveTo>
                  <a:pt x="0" y="0"/>
                </a:moveTo>
                <a:lnTo>
                  <a:pt x="0" y="22578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7505560" y="3754048"/>
            <a:ext cx="61594" cy="92710"/>
          </a:xfrm>
          <a:custGeom>
            <a:avLst/>
            <a:gdLst/>
            <a:ahLst/>
            <a:cxnLst/>
            <a:rect l="l" t="t" r="r" b="b"/>
            <a:pathLst>
              <a:path w="61595" h="92710">
                <a:moveTo>
                  <a:pt x="61385" y="0"/>
                </a:moveTo>
                <a:lnTo>
                  <a:pt x="0" y="0"/>
                </a:lnTo>
                <a:lnTo>
                  <a:pt x="30693" y="92181"/>
                </a:lnTo>
                <a:lnTo>
                  <a:pt x="6138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需求工程的路线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217214"/>
            <a:ext cx="5056505" cy="1719580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584200" indent="-571500">
              <a:lnSpc>
                <a:spcPct val="100000"/>
              </a:lnSpc>
              <a:spcBef>
                <a:spcPts val="800"/>
              </a:spcBef>
              <a:buClr>
                <a:srgbClr val="00663C"/>
              </a:buClr>
              <a:buSzPct val="80769"/>
              <a:buFont typeface="Wingdings"/>
              <a:buChar char=""/>
              <a:tabLst>
                <a:tab pos="583565" algn="l"/>
                <a:tab pos="584200" algn="l"/>
              </a:tabLst>
            </a:pPr>
            <a:r>
              <a:rPr sz="2600" spc="-5" dirty="0">
                <a:latin typeface="Calibri"/>
                <a:cs typeface="Calibri"/>
              </a:rPr>
              <a:t>2.</a:t>
            </a:r>
            <a:r>
              <a:rPr sz="2600" dirty="0">
                <a:latin typeface="Calibri"/>
                <a:cs typeface="Calibri"/>
              </a:rPr>
              <a:t> </a:t>
            </a:r>
            <a:r>
              <a:rPr sz="2600" dirty="0">
                <a:latin typeface="宋体"/>
                <a:cs typeface="宋体"/>
              </a:rPr>
              <a:t>需求获取</a:t>
            </a:r>
            <a:endParaRPr sz="2600">
              <a:latin typeface="宋体"/>
              <a:cs typeface="宋体"/>
            </a:endParaRPr>
          </a:p>
          <a:p>
            <a:pPr marL="852805" lvl="1" indent="-495934">
              <a:lnSpc>
                <a:spcPct val="100000"/>
              </a:lnSpc>
              <a:spcBef>
                <a:spcPts val="590"/>
              </a:spcBef>
              <a:buClr>
                <a:srgbClr val="C00000"/>
              </a:buClr>
              <a:buSzPct val="59090"/>
              <a:buFont typeface="Wingdings"/>
              <a:buChar char=""/>
              <a:tabLst>
                <a:tab pos="852169" algn="l"/>
                <a:tab pos="852805" algn="l"/>
              </a:tabLst>
            </a:pPr>
            <a:r>
              <a:rPr sz="2200" dirty="0">
                <a:latin typeface="宋体"/>
                <a:cs typeface="宋体"/>
              </a:rPr>
              <a:t>根据项目范围，确定问题域的范围</a:t>
            </a:r>
            <a:endParaRPr sz="2200">
              <a:latin typeface="宋体"/>
              <a:cs typeface="宋体"/>
            </a:endParaRPr>
          </a:p>
          <a:p>
            <a:pPr marL="852805" lvl="1" indent="-495934">
              <a:lnSpc>
                <a:spcPct val="100000"/>
              </a:lnSpc>
              <a:spcBef>
                <a:spcPts val="455"/>
              </a:spcBef>
              <a:buClr>
                <a:srgbClr val="C00000"/>
              </a:buClr>
              <a:buSzPct val="59090"/>
              <a:buFont typeface="Wingdings"/>
              <a:buChar char=""/>
              <a:tabLst>
                <a:tab pos="852169" algn="l"/>
                <a:tab pos="852805" algn="l"/>
              </a:tabLst>
            </a:pPr>
            <a:r>
              <a:rPr sz="2200" dirty="0">
                <a:latin typeface="宋体"/>
                <a:cs typeface="宋体"/>
              </a:rPr>
              <a:t>确定需求获取的源头</a:t>
            </a:r>
            <a:endParaRPr sz="2200">
              <a:latin typeface="宋体"/>
              <a:cs typeface="宋体"/>
            </a:endParaRPr>
          </a:p>
          <a:p>
            <a:pPr marL="852805" lvl="1" indent="-495934">
              <a:lnSpc>
                <a:spcPct val="100000"/>
              </a:lnSpc>
              <a:spcBef>
                <a:spcPts val="555"/>
              </a:spcBef>
              <a:buClr>
                <a:srgbClr val="C00000"/>
              </a:buClr>
              <a:buSzPct val="59090"/>
              <a:buFont typeface="Wingdings"/>
              <a:buChar char=""/>
              <a:tabLst>
                <a:tab pos="852169" algn="l"/>
                <a:tab pos="852805" algn="l"/>
              </a:tabLst>
            </a:pPr>
            <a:r>
              <a:rPr sz="2200" dirty="0">
                <a:latin typeface="宋体"/>
                <a:cs typeface="宋体"/>
              </a:rPr>
              <a:t>确定获取的主题和内容</a:t>
            </a:r>
            <a:endParaRPr sz="22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80744" y="2983484"/>
            <a:ext cx="4711700" cy="2303780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908050" marR="139065" indent="-495300">
              <a:lnSpc>
                <a:spcPts val="1989"/>
              </a:lnSpc>
              <a:spcBef>
                <a:spcPts val="305"/>
              </a:spcBef>
              <a:buFont typeface="Arial"/>
              <a:buChar char="•"/>
              <a:tabLst>
                <a:tab pos="907415" algn="l"/>
                <a:tab pos="908050" algn="l"/>
              </a:tabLst>
            </a:pPr>
            <a:r>
              <a:rPr sz="1800" dirty="0">
                <a:latin typeface="宋体"/>
                <a:cs typeface="宋体"/>
              </a:rPr>
              <a:t>围绕获取的内容，运用需求获取的方 法，从源头获取需求</a:t>
            </a:r>
            <a:endParaRPr sz="1800">
              <a:latin typeface="宋体"/>
              <a:cs typeface="宋体"/>
            </a:endParaRPr>
          </a:p>
          <a:p>
            <a:pPr marL="508000" indent="-495300">
              <a:lnSpc>
                <a:spcPct val="100000"/>
              </a:lnSpc>
              <a:spcBef>
                <a:spcPts val="500"/>
              </a:spcBef>
              <a:buClr>
                <a:srgbClr val="C00000"/>
              </a:buClr>
              <a:buSzPct val="59090"/>
              <a:buFont typeface="Wingdings"/>
              <a:buChar char=""/>
              <a:tabLst>
                <a:tab pos="507365" algn="l"/>
                <a:tab pos="508000" algn="l"/>
              </a:tabLst>
            </a:pPr>
            <a:r>
              <a:rPr sz="2200" dirty="0">
                <a:latin typeface="宋体"/>
                <a:cs typeface="宋体"/>
              </a:rPr>
              <a:t>选择需求获取的方法</a:t>
            </a:r>
            <a:endParaRPr sz="2200">
              <a:latin typeface="宋体"/>
              <a:cs typeface="宋体"/>
            </a:endParaRPr>
          </a:p>
          <a:p>
            <a:pPr marL="908050" marR="139065" lvl="1" indent="-495300">
              <a:lnSpc>
                <a:spcPts val="2090"/>
              </a:lnSpc>
              <a:spcBef>
                <a:spcPts val="695"/>
              </a:spcBef>
              <a:buFont typeface="Arial"/>
              <a:buChar char="•"/>
              <a:tabLst>
                <a:tab pos="907415" algn="l"/>
                <a:tab pos="908050" algn="l"/>
              </a:tabLst>
            </a:pPr>
            <a:r>
              <a:rPr sz="1800" dirty="0">
                <a:latin typeface="宋体"/>
                <a:cs typeface="宋体"/>
              </a:rPr>
              <a:t>对获取过程中出现的分歧和问题，在 项目前景的指导下进行解决</a:t>
            </a:r>
            <a:endParaRPr sz="1800">
              <a:latin typeface="宋体"/>
              <a:cs typeface="宋体"/>
            </a:endParaRPr>
          </a:p>
          <a:p>
            <a:pPr marL="508000" marR="5080" indent="-495300">
              <a:lnSpc>
                <a:spcPts val="2500"/>
              </a:lnSpc>
              <a:spcBef>
                <a:spcPts val="800"/>
              </a:spcBef>
              <a:buClr>
                <a:srgbClr val="C00000"/>
              </a:buClr>
              <a:buSzPct val="59090"/>
              <a:buFont typeface="Wingdings"/>
              <a:buChar char=""/>
              <a:tabLst>
                <a:tab pos="507365" algn="l"/>
                <a:tab pos="508000" algn="l"/>
              </a:tabLst>
            </a:pPr>
            <a:r>
              <a:rPr sz="2200" dirty="0">
                <a:latin typeface="宋体"/>
                <a:cs typeface="宋体"/>
              </a:rPr>
              <a:t>经过需求获取过程，可以得到获取 的文档资料，其中以获取笔录为主</a:t>
            </a:r>
            <a:endParaRPr sz="22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247472" y="1613868"/>
            <a:ext cx="628650" cy="377825"/>
          </a:xfrm>
          <a:prstGeom prst="rect">
            <a:avLst/>
          </a:prstGeom>
          <a:solidFill>
            <a:srgbClr val="E8EEF7"/>
          </a:solidFill>
          <a:ln w="3175">
            <a:solidFill>
              <a:srgbClr val="000000"/>
            </a:solidFill>
          </a:ln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endParaRPr sz="850">
              <a:latin typeface="Times New Roman"/>
              <a:cs typeface="Times New Roman"/>
            </a:endParaRPr>
          </a:p>
          <a:p>
            <a:pPr marL="136525">
              <a:lnSpc>
                <a:spcPct val="100000"/>
              </a:lnSpc>
            </a:pPr>
            <a:r>
              <a:rPr sz="700" spc="-5" dirty="0">
                <a:latin typeface="宋体"/>
                <a:cs typeface="宋体"/>
              </a:rPr>
              <a:t>业务需求</a:t>
            </a:r>
            <a:endParaRPr sz="7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194973" y="3070636"/>
            <a:ext cx="691515" cy="344170"/>
          </a:xfrm>
          <a:prstGeom prst="rect">
            <a:avLst/>
          </a:prstGeom>
          <a:solidFill>
            <a:srgbClr val="E8EEF7"/>
          </a:solidFill>
          <a:ln w="3175">
            <a:solidFill>
              <a:srgbClr val="000000"/>
            </a:solidFill>
          </a:ln>
        </p:spPr>
        <p:txBody>
          <a:bodyPr vert="horz" wrap="square" lIns="0" tIns="19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endParaRPr sz="800">
              <a:latin typeface="Times New Roman"/>
              <a:cs typeface="Times New Roman"/>
            </a:endParaRPr>
          </a:p>
          <a:p>
            <a:pPr marL="167640">
              <a:lnSpc>
                <a:spcPct val="100000"/>
              </a:lnSpc>
            </a:pPr>
            <a:r>
              <a:rPr sz="700" spc="-5" dirty="0">
                <a:latin typeface="MS Gothic"/>
                <a:cs typeface="MS Gothic"/>
              </a:rPr>
              <a:t>用</a:t>
            </a:r>
            <a:r>
              <a:rPr sz="700" spc="-5" dirty="0">
                <a:latin typeface="宋体"/>
                <a:cs typeface="宋体"/>
              </a:rPr>
              <a:t>户</a:t>
            </a:r>
            <a:r>
              <a:rPr sz="700" spc="-5" dirty="0">
                <a:latin typeface="MS Gothic"/>
                <a:cs typeface="MS Gothic"/>
              </a:rPr>
              <a:t>需求</a:t>
            </a:r>
            <a:endParaRPr sz="700">
              <a:latin typeface="MS Gothic"/>
              <a:cs typeface="MS Gothic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205791" y="3070636"/>
            <a:ext cx="691515" cy="347980"/>
          </a:xfrm>
          <a:prstGeom prst="rect">
            <a:avLst/>
          </a:prstGeom>
          <a:solidFill>
            <a:srgbClr val="E8EEF7"/>
          </a:solidFill>
          <a:ln w="3175">
            <a:solidFill>
              <a:srgbClr val="000000"/>
            </a:solidFill>
          </a:ln>
        </p:spPr>
        <p:txBody>
          <a:bodyPr vert="horz" wrap="square" lIns="0" tIns="19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endParaRPr sz="800">
              <a:latin typeface="Times New Roman"/>
              <a:cs typeface="Times New Roman"/>
            </a:endParaRPr>
          </a:p>
          <a:p>
            <a:pPr marL="123825">
              <a:lnSpc>
                <a:spcPct val="100000"/>
              </a:lnSpc>
            </a:pPr>
            <a:r>
              <a:rPr sz="700" spc="-5" dirty="0">
                <a:latin typeface="宋体"/>
                <a:cs typeface="宋体"/>
              </a:rPr>
              <a:t>问题域特性</a:t>
            </a:r>
            <a:endParaRPr sz="70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226397" y="4602084"/>
            <a:ext cx="691515" cy="346075"/>
          </a:xfrm>
          <a:prstGeom prst="rect">
            <a:avLst/>
          </a:prstGeom>
          <a:solidFill>
            <a:srgbClr val="E8EEF7"/>
          </a:solidFill>
          <a:ln w="3175">
            <a:solidFill>
              <a:srgbClr val="000000"/>
            </a:solidFill>
          </a:ln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endParaRPr sz="750">
              <a:latin typeface="Times New Roman"/>
              <a:cs typeface="Times New Roman"/>
            </a:endParaRPr>
          </a:p>
          <a:p>
            <a:pPr marL="167640">
              <a:lnSpc>
                <a:spcPct val="100000"/>
              </a:lnSpc>
              <a:spcBef>
                <a:spcPts val="5"/>
              </a:spcBef>
            </a:pPr>
            <a:r>
              <a:rPr sz="700" spc="-5" dirty="0">
                <a:latin typeface="MS Gothic"/>
                <a:cs typeface="MS Gothic"/>
              </a:rPr>
              <a:t>系</a:t>
            </a:r>
            <a:r>
              <a:rPr sz="700" spc="-5" dirty="0">
                <a:latin typeface="宋体"/>
                <a:cs typeface="宋体"/>
              </a:rPr>
              <a:t>统</a:t>
            </a:r>
            <a:r>
              <a:rPr sz="700" spc="-5" dirty="0">
                <a:latin typeface="MS Gothic"/>
                <a:cs typeface="MS Gothic"/>
              </a:rPr>
              <a:t>需求</a:t>
            </a:r>
            <a:endParaRPr sz="700">
              <a:latin typeface="MS Gothic"/>
              <a:cs typeface="MS Gothic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121835" y="2180075"/>
            <a:ext cx="880110" cy="587375"/>
          </a:xfrm>
          <a:custGeom>
            <a:avLst/>
            <a:gdLst/>
            <a:ahLst/>
            <a:cxnLst/>
            <a:rect l="l" t="t" r="r" b="b"/>
            <a:pathLst>
              <a:path w="880109" h="587375">
                <a:moveTo>
                  <a:pt x="439867" y="0"/>
                </a:moveTo>
                <a:lnTo>
                  <a:pt x="384685" y="2286"/>
                </a:lnTo>
                <a:lnTo>
                  <a:pt x="331550" y="8962"/>
                </a:lnTo>
                <a:lnTo>
                  <a:pt x="280874" y="19753"/>
                </a:lnTo>
                <a:lnTo>
                  <a:pt x="233070" y="34383"/>
                </a:lnTo>
                <a:lnTo>
                  <a:pt x="188548" y="52579"/>
                </a:lnTo>
                <a:lnTo>
                  <a:pt x="147722" y="74064"/>
                </a:lnTo>
                <a:lnTo>
                  <a:pt x="111002" y="98565"/>
                </a:lnTo>
                <a:lnTo>
                  <a:pt x="78801" y="125807"/>
                </a:lnTo>
                <a:lnTo>
                  <a:pt x="51531" y="155514"/>
                </a:lnTo>
                <a:lnTo>
                  <a:pt x="29604" y="187411"/>
                </a:lnTo>
                <a:lnTo>
                  <a:pt x="3426" y="256680"/>
                </a:lnTo>
                <a:lnTo>
                  <a:pt x="0" y="293500"/>
                </a:lnTo>
                <a:lnTo>
                  <a:pt x="3426" y="330345"/>
                </a:lnTo>
                <a:lnTo>
                  <a:pt x="29604" y="399649"/>
                </a:lnTo>
                <a:lnTo>
                  <a:pt x="51531" y="431561"/>
                </a:lnTo>
                <a:lnTo>
                  <a:pt x="78801" y="461279"/>
                </a:lnTo>
                <a:lnTo>
                  <a:pt x="111002" y="488528"/>
                </a:lnTo>
                <a:lnTo>
                  <a:pt x="147722" y="513036"/>
                </a:lnTo>
                <a:lnTo>
                  <a:pt x="188548" y="534526"/>
                </a:lnTo>
                <a:lnTo>
                  <a:pt x="233070" y="552725"/>
                </a:lnTo>
                <a:lnTo>
                  <a:pt x="280874" y="567357"/>
                </a:lnTo>
                <a:lnTo>
                  <a:pt x="331550" y="578149"/>
                </a:lnTo>
                <a:lnTo>
                  <a:pt x="384685" y="584825"/>
                </a:lnTo>
                <a:lnTo>
                  <a:pt x="439867" y="587112"/>
                </a:lnTo>
                <a:lnTo>
                  <a:pt x="495049" y="584825"/>
                </a:lnTo>
                <a:lnTo>
                  <a:pt x="548186" y="578149"/>
                </a:lnTo>
                <a:lnTo>
                  <a:pt x="598865" y="567357"/>
                </a:lnTo>
                <a:lnTo>
                  <a:pt x="646675" y="552725"/>
                </a:lnTo>
                <a:lnTo>
                  <a:pt x="691202" y="534526"/>
                </a:lnTo>
                <a:lnTo>
                  <a:pt x="732035" y="513036"/>
                </a:lnTo>
                <a:lnTo>
                  <a:pt x="768761" y="488528"/>
                </a:lnTo>
                <a:lnTo>
                  <a:pt x="800968" y="461279"/>
                </a:lnTo>
                <a:lnTo>
                  <a:pt x="828244" y="431561"/>
                </a:lnTo>
                <a:lnTo>
                  <a:pt x="850176" y="399649"/>
                </a:lnTo>
                <a:lnTo>
                  <a:pt x="876361" y="330345"/>
                </a:lnTo>
                <a:lnTo>
                  <a:pt x="879788" y="293500"/>
                </a:lnTo>
                <a:lnTo>
                  <a:pt x="876361" y="256680"/>
                </a:lnTo>
                <a:lnTo>
                  <a:pt x="850176" y="187411"/>
                </a:lnTo>
                <a:lnTo>
                  <a:pt x="828244" y="155514"/>
                </a:lnTo>
                <a:lnTo>
                  <a:pt x="800968" y="125807"/>
                </a:lnTo>
                <a:lnTo>
                  <a:pt x="768761" y="98565"/>
                </a:lnTo>
                <a:lnTo>
                  <a:pt x="732035" y="74064"/>
                </a:lnTo>
                <a:lnTo>
                  <a:pt x="691202" y="52579"/>
                </a:lnTo>
                <a:lnTo>
                  <a:pt x="646675" y="34383"/>
                </a:lnTo>
                <a:lnTo>
                  <a:pt x="598865" y="19753"/>
                </a:lnTo>
                <a:lnTo>
                  <a:pt x="548186" y="8962"/>
                </a:lnTo>
                <a:lnTo>
                  <a:pt x="495049" y="2286"/>
                </a:lnTo>
                <a:lnTo>
                  <a:pt x="439867" y="0"/>
                </a:lnTo>
                <a:close/>
              </a:path>
            </a:pathLst>
          </a:custGeom>
          <a:solidFill>
            <a:srgbClr val="E8EE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121835" y="2180075"/>
            <a:ext cx="880110" cy="587375"/>
          </a:xfrm>
          <a:custGeom>
            <a:avLst/>
            <a:gdLst/>
            <a:ahLst/>
            <a:cxnLst/>
            <a:rect l="l" t="t" r="r" b="b"/>
            <a:pathLst>
              <a:path w="880109" h="587375">
                <a:moveTo>
                  <a:pt x="0" y="293500"/>
                </a:moveTo>
                <a:lnTo>
                  <a:pt x="13432" y="221225"/>
                </a:lnTo>
                <a:lnTo>
                  <a:pt x="51531" y="155514"/>
                </a:lnTo>
                <a:lnTo>
                  <a:pt x="78801" y="125807"/>
                </a:lnTo>
                <a:lnTo>
                  <a:pt x="111002" y="98566"/>
                </a:lnTo>
                <a:lnTo>
                  <a:pt x="147722" y="74065"/>
                </a:lnTo>
                <a:lnTo>
                  <a:pt x="188548" y="52579"/>
                </a:lnTo>
                <a:lnTo>
                  <a:pt x="233070" y="34383"/>
                </a:lnTo>
                <a:lnTo>
                  <a:pt x="280874" y="19753"/>
                </a:lnTo>
                <a:lnTo>
                  <a:pt x="331550" y="8962"/>
                </a:lnTo>
                <a:lnTo>
                  <a:pt x="384685" y="2286"/>
                </a:lnTo>
                <a:lnTo>
                  <a:pt x="439866" y="0"/>
                </a:lnTo>
                <a:lnTo>
                  <a:pt x="495049" y="2286"/>
                </a:lnTo>
                <a:lnTo>
                  <a:pt x="548186" y="8962"/>
                </a:lnTo>
                <a:lnTo>
                  <a:pt x="598865" y="19753"/>
                </a:lnTo>
                <a:lnTo>
                  <a:pt x="646675" y="34383"/>
                </a:lnTo>
                <a:lnTo>
                  <a:pt x="691202" y="52579"/>
                </a:lnTo>
                <a:lnTo>
                  <a:pt x="732035" y="74065"/>
                </a:lnTo>
                <a:lnTo>
                  <a:pt x="768761" y="98566"/>
                </a:lnTo>
                <a:lnTo>
                  <a:pt x="800968" y="125807"/>
                </a:lnTo>
                <a:lnTo>
                  <a:pt x="828244" y="155514"/>
                </a:lnTo>
                <a:lnTo>
                  <a:pt x="850176" y="187412"/>
                </a:lnTo>
                <a:lnTo>
                  <a:pt x="876360" y="256680"/>
                </a:lnTo>
                <a:lnTo>
                  <a:pt x="879788" y="293500"/>
                </a:lnTo>
                <a:lnTo>
                  <a:pt x="876360" y="330345"/>
                </a:lnTo>
                <a:lnTo>
                  <a:pt x="866352" y="365819"/>
                </a:lnTo>
                <a:lnTo>
                  <a:pt x="828244" y="431561"/>
                </a:lnTo>
                <a:lnTo>
                  <a:pt x="800968" y="461279"/>
                </a:lnTo>
                <a:lnTo>
                  <a:pt x="768761" y="488529"/>
                </a:lnTo>
                <a:lnTo>
                  <a:pt x="732035" y="513036"/>
                </a:lnTo>
                <a:lnTo>
                  <a:pt x="691202" y="534526"/>
                </a:lnTo>
                <a:lnTo>
                  <a:pt x="646675" y="552725"/>
                </a:lnTo>
                <a:lnTo>
                  <a:pt x="598865" y="567358"/>
                </a:lnTo>
                <a:lnTo>
                  <a:pt x="548186" y="578149"/>
                </a:lnTo>
                <a:lnTo>
                  <a:pt x="495049" y="584826"/>
                </a:lnTo>
                <a:lnTo>
                  <a:pt x="439866" y="587112"/>
                </a:lnTo>
                <a:lnTo>
                  <a:pt x="384685" y="584826"/>
                </a:lnTo>
                <a:lnTo>
                  <a:pt x="331550" y="578149"/>
                </a:lnTo>
                <a:lnTo>
                  <a:pt x="280874" y="567358"/>
                </a:lnTo>
                <a:lnTo>
                  <a:pt x="233070" y="552725"/>
                </a:lnTo>
                <a:lnTo>
                  <a:pt x="188548" y="534526"/>
                </a:lnTo>
                <a:lnTo>
                  <a:pt x="147722" y="513036"/>
                </a:lnTo>
                <a:lnTo>
                  <a:pt x="111002" y="488529"/>
                </a:lnTo>
                <a:lnTo>
                  <a:pt x="78801" y="461279"/>
                </a:lnTo>
                <a:lnTo>
                  <a:pt x="51531" y="431561"/>
                </a:lnTo>
                <a:lnTo>
                  <a:pt x="29604" y="399649"/>
                </a:lnTo>
                <a:lnTo>
                  <a:pt x="3426" y="330345"/>
                </a:lnTo>
                <a:lnTo>
                  <a:pt x="0" y="29350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7371659" y="2401400"/>
            <a:ext cx="38036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" dirty="0">
                <a:latin typeface="MS Gothic"/>
                <a:cs typeface="MS Gothic"/>
              </a:rPr>
              <a:t>需求</a:t>
            </a:r>
            <a:r>
              <a:rPr sz="700" spc="-5" dirty="0">
                <a:latin typeface="宋体"/>
                <a:cs typeface="宋体"/>
              </a:rPr>
              <a:t>获</a:t>
            </a:r>
            <a:r>
              <a:rPr sz="700" spc="-5" dirty="0">
                <a:latin typeface="MS Gothic"/>
                <a:cs typeface="MS Gothic"/>
              </a:rPr>
              <a:t>取</a:t>
            </a:r>
            <a:endParaRPr sz="700">
              <a:latin typeface="MS Gothic"/>
              <a:cs typeface="MS Gothic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561702" y="1991325"/>
            <a:ext cx="0" cy="104775"/>
          </a:xfrm>
          <a:custGeom>
            <a:avLst/>
            <a:gdLst/>
            <a:ahLst/>
            <a:cxnLst/>
            <a:rect l="l" t="t" r="r" b="b"/>
            <a:pathLst>
              <a:path h="104775">
                <a:moveTo>
                  <a:pt x="0" y="0"/>
                </a:moveTo>
                <a:lnTo>
                  <a:pt x="0" y="104528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531111" y="2088197"/>
            <a:ext cx="61594" cy="92075"/>
          </a:xfrm>
          <a:custGeom>
            <a:avLst/>
            <a:gdLst/>
            <a:ahLst/>
            <a:cxnLst/>
            <a:rect l="l" t="t" r="r" b="b"/>
            <a:pathLst>
              <a:path w="61595" h="92075">
                <a:moveTo>
                  <a:pt x="61183" y="0"/>
                </a:moveTo>
                <a:lnTo>
                  <a:pt x="0" y="0"/>
                </a:lnTo>
                <a:lnTo>
                  <a:pt x="30591" y="91878"/>
                </a:lnTo>
                <a:lnTo>
                  <a:pt x="6118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540582" y="2767188"/>
            <a:ext cx="1021715" cy="225425"/>
          </a:xfrm>
          <a:custGeom>
            <a:avLst/>
            <a:gdLst/>
            <a:ahLst/>
            <a:cxnLst/>
            <a:rect l="l" t="t" r="r" b="b"/>
            <a:pathLst>
              <a:path w="1021715" h="225425">
                <a:moveTo>
                  <a:pt x="1021120" y="0"/>
                </a:moveTo>
                <a:lnTo>
                  <a:pt x="1021120" y="136264"/>
                </a:lnTo>
                <a:lnTo>
                  <a:pt x="0" y="136264"/>
                </a:lnTo>
                <a:lnTo>
                  <a:pt x="0" y="225146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509991" y="2984677"/>
            <a:ext cx="61594" cy="92075"/>
          </a:xfrm>
          <a:custGeom>
            <a:avLst/>
            <a:gdLst/>
            <a:ahLst/>
            <a:cxnLst/>
            <a:rect l="l" t="t" r="r" b="b"/>
            <a:pathLst>
              <a:path w="61595" h="92075">
                <a:moveTo>
                  <a:pt x="61183" y="0"/>
                </a:moveTo>
                <a:lnTo>
                  <a:pt x="0" y="0"/>
                </a:lnTo>
                <a:lnTo>
                  <a:pt x="30591" y="91879"/>
                </a:lnTo>
                <a:lnTo>
                  <a:pt x="6118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561702" y="2767188"/>
            <a:ext cx="989965" cy="225425"/>
          </a:xfrm>
          <a:custGeom>
            <a:avLst/>
            <a:gdLst/>
            <a:ahLst/>
            <a:cxnLst/>
            <a:rect l="l" t="t" r="r" b="b"/>
            <a:pathLst>
              <a:path w="989965" h="225425">
                <a:moveTo>
                  <a:pt x="0" y="0"/>
                </a:moveTo>
                <a:lnTo>
                  <a:pt x="0" y="136264"/>
                </a:lnTo>
                <a:lnTo>
                  <a:pt x="989686" y="136264"/>
                </a:lnTo>
                <a:lnTo>
                  <a:pt x="989686" y="225146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8520796" y="2984677"/>
            <a:ext cx="61594" cy="92075"/>
          </a:xfrm>
          <a:custGeom>
            <a:avLst/>
            <a:gdLst/>
            <a:ahLst/>
            <a:cxnLst/>
            <a:rect l="l" t="t" r="r" b="b"/>
            <a:pathLst>
              <a:path w="61595" h="92075">
                <a:moveTo>
                  <a:pt x="61183" y="0"/>
                </a:moveTo>
                <a:lnTo>
                  <a:pt x="0" y="0"/>
                </a:lnTo>
                <a:lnTo>
                  <a:pt x="30591" y="91879"/>
                </a:lnTo>
                <a:lnTo>
                  <a:pt x="6118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7121835" y="3716044"/>
            <a:ext cx="880110" cy="587375"/>
          </a:xfrm>
          <a:custGeom>
            <a:avLst/>
            <a:gdLst/>
            <a:ahLst/>
            <a:cxnLst/>
            <a:rect l="l" t="t" r="r" b="b"/>
            <a:pathLst>
              <a:path w="880109" h="587375">
                <a:moveTo>
                  <a:pt x="439867" y="0"/>
                </a:moveTo>
                <a:lnTo>
                  <a:pt x="384685" y="2288"/>
                </a:lnTo>
                <a:lnTo>
                  <a:pt x="331550" y="8969"/>
                </a:lnTo>
                <a:lnTo>
                  <a:pt x="280874" y="19768"/>
                </a:lnTo>
                <a:lnTo>
                  <a:pt x="233070" y="34408"/>
                </a:lnTo>
                <a:lnTo>
                  <a:pt x="188548" y="52616"/>
                </a:lnTo>
                <a:lnTo>
                  <a:pt x="147722" y="74114"/>
                </a:lnTo>
                <a:lnTo>
                  <a:pt x="111002" y="98628"/>
                </a:lnTo>
                <a:lnTo>
                  <a:pt x="78801" y="125882"/>
                </a:lnTo>
                <a:lnTo>
                  <a:pt x="51531" y="155600"/>
                </a:lnTo>
                <a:lnTo>
                  <a:pt x="29604" y="187508"/>
                </a:lnTo>
                <a:lnTo>
                  <a:pt x="3426" y="256789"/>
                </a:lnTo>
                <a:lnTo>
                  <a:pt x="0" y="293612"/>
                </a:lnTo>
                <a:lnTo>
                  <a:pt x="3426" y="330434"/>
                </a:lnTo>
                <a:lnTo>
                  <a:pt x="29604" y="399715"/>
                </a:lnTo>
                <a:lnTo>
                  <a:pt x="51531" y="431623"/>
                </a:lnTo>
                <a:lnTo>
                  <a:pt x="78801" y="461341"/>
                </a:lnTo>
                <a:lnTo>
                  <a:pt x="111002" y="488595"/>
                </a:lnTo>
                <a:lnTo>
                  <a:pt x="147722" y="513109"/>
                </a:lnTo>
                <a:lnTo>
                  <a:pt x="188548" y="534607"/>
                </a:lnTo>
                <a:lnTo>
                  <a:pt x="233070" y="552815"/>
                </a:lnTo>
                <a:lnTo>
                  <a:pt x="280874" y="567455"/>
                </a:lnTo>
                <a:lnTo>
                  <a:pt x="331550" y="578254"/>
                </a:lnTo>
                <a:lnTo>
                  <a:pt x="384685" y="584935"/>
                </a:lnTo>
                <a:lnTo>
                  <a:pt x="439867" y="587223"/>
                </a:lnTo>
                <a:lnTo>
                  <a:pt x="495049" y="584935"/>
                </a:lnTo>
                <a:lnTo>
                  <a:pt x="548186" y="578254"/>
                </a:lnTo>
                <a:lnTo>
                  <a:pt x="598865" y="567455"/>
                </a:lnTo>
                <a:lnTo>
                  <a:pt x="646675" y="552815"/>
                </a:lnTo>
                <a:lnTo>
                  <a:pt x="691202" y="534607"/>
                </a:lnTo>
                <a:lnTo>
                  <a:pt x="732035" y="513109"/>
                </a:lnTo>
                <a:lnTo>
                  <a:pt x="768761" y="488595"/>
                </a:lnTo>
                <a:lnTo>
                  <a:pt x="800968" y="461341"/>
                </a:lnTo>
                <a:lnTo>
                  <a:pt x="828244" y="431623"/>
                </a:lnTo>
                <a:lnTo>
                  <a:pt x="850176" y="399715"/>
                </a:lnTo>
                <a:lnTo>
                  <a:pt x="876361" y="330434"/>
                </a:lnTo>
                <a:lnTo>
                  <a:pt x="879788" y="293612"/>
                </a:lnTo>
                <a:lnTo>
                  <a:pt x="876361" y="256789"/>
                </a:lnTo>
                <a:lnTo>
                  <a:pt x="850176" y="187508"/>
                </a:lnTo>
                <a:lnTo>
                  <a:pt x="828244" y="155600"/>
                </a:lnTo>
                <a:lnTo>
                  <a:pt x="800968" y="125882"/>
                </a:lnTo>
                <a:lnTo>
                  <a:pt x="768761" y="98628"/>
                </a:lnTo>
                <a:lnTo>
                  <a:pt x="732035" y="74114"/>
                </a:lnTo>
                <a:lnTo>
                  <a:pt x="691202" y="52616"/>
                </a:lnTo>
                <a:lnTo>
                  <a:pt x="646675" y="34408"/>
                </a:lnTo>
                <a:lnTo>
                  <a:pt x="598865" y="19768"/>
                </a:lnTo>
                <a:lnTo>
                  <a:pt x="548186" y="8969"/>
                </a:lnTo>
                <a:lnTo>
                  <a:pt x="495049" y="2288"/>
                </a:lnTo>
                <a:lnTo>
                  <a:pt x="439867" y="0"/>
                </a:lnTo>
                <a:close/>
              </a:path>
            </a:pathLst>
          </a:custGeom>
          <a:solidFill>
            <a:srgbClr val="E8EE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7121835" y="3716044"/>
            <a:ext cx="880110" cy="587375"/>
          </a:xfrm>
          <a:custGeom>
            <a:avLst/>
            <a:gdLst/>
            <a:ahLst/>
            <a:cxnLst/>
            <a:rect l="l" t="t" r="r" b="b"/>
            <a:pathLst>
              <a:path w="880109" h="587375">
                <a:moveTo>
                  <a:pt x="0" y="293611"/>
                </a:moveTo>
                <a:lnTo>
                  <a:pt x="13432" y="221329"/>
                </a:lnTo>
                <a:lnTo>
                  <a:pt x="51531" y="155600"/>
                </a:lnTo>
                <a:lnTo>
                  <a:pt x="78801" y="125881"/>
                </a:lnTo>
                <a:lnTo>
                  <a:pt x="111002" y="98627"/>
                </a:lnTo>
                <a:lnTo>
                  <a:pt x="147722" y="74114"/>
                </a:lnTo>
                <a:lnTo>
                  <a:pt x="188548" y="52615"/>
                </a:lnTo>
                <a:lnTo>
                  <a:pt x="233070" y="34408"/>
                </a:lnTo>
                <a:lnTo>
                  <a:pt x="280874" y="19768"/>
                </a:lnTo>
                <a:lnTo>
                  <a:pt x="331550" y="8969"/>
                </a:lnTo>
                <a:lnTo>
                  <a:pt x="384685" y="2288"/>
                </a:lnTo>
                <a:lnTo>
                  <a:pt x="439866" y="0"/>
                </a:lnTo>
                <a:lnTo>
                  <a:pt x="495049" y="2288"/>
                </a:lnTo>
                <a:lnTo>
                  <a:pt x="548186" y="8969"/>
                </a:lnTo>
                <a:lnTo>
                  <a:pt x="598865" y="19768"/>
                </a:lnTo>
                <a:lnTo>
                  <a:pt x="646675" y="34408"/>
                </a:lnTo>
                <a:lnTo>
                  <a:pt x="691202" y="52615"/>
                </a:lnTo>
                <a:lnTo>
                  <a:pt x="732035" y="74114"/>
                </a:lnTo>
                <a:lnTo>
                  <a:pt x="768761" y="98627"/>
                </a:lnTo>
                <a:lnTo>
                  <a:pt x="800968" y="125881"/>
                </a:lnTo>
                <a:lnTo>
                  <a:pt x="828244" y="155600"/>
                </a:lnTo>
                <a:lnTo>
                  <a:pt x="850176" y="187508"/>
                </a:lnTo>
                <a:lnTo>
                  <a:pt x="876360" y="256789"/>
                </a:lnTo>
                <a:lnTo>
                  <a:pt x="879788" y="293611"/>
                </a:lnTo>
                <a:lnTo>
                  <a:pt x="876360" y="330434"/>
                </a:lnTo>
                <a:lnTo>
                  <a:pt x="866352" y="365893"/>
                </a:lnTo>
                <a:lnTo>
                  <a:pt x="828244" y="431623"/>
                </a:lnTo>
                <a:lnTo>
                  <a:pt x="800968" y="461341"/>
                </a:lnTo>
                <a:lnTo>
                  <a:pt x="768761" y="488595"/>
                </a:lnTo>
                <a:lnTo>
                  <a:pt x="732035" y="513109"/>
                </a:lnTo>
                <a:lnTo>
                  <a:pt x="691202" y="534607"/>
                </a:lnTo>
                <a:lnTo>
                  <a:pt x="646675" y="552814"/>
                </a:lnTo>
                <a:lnTo>
                  <a:pt x="598865" y="567455"/>
                </a:lnTo>
                <a:lnTo>
                  <a:pt x="548186" y="578254"/>
                </a:lnTo>
                <a:lnTo>
                  <a:pt x="495049" y="584935"/>
                </a:lnTo>
                <a:lnTo>
                  <a:pt x="439866" y="587223"/>
                </a:lnTo>
                <a:lnTo>
                  <a:pt x="384685" y="584935"/>
                </a:lnTo>
                <a:lnTo>
                  <a:pt x="331550" y="578254"/>
                </a:lnTo>
                <a:lnTo>
                  <a:pt x="280874" y="567455"/>
                </a:lnTo>
                <a:lnTo>
                  <a:pt x="233070" y="552814"/>
                </a:lnTo>
                <a:lnTo>
                  <a:pt x="188548" y="534607"/>
                </a:lnTo>
                <a:lnTo>
                  <a:pt x="147722" y="513109"/>
                </a:lnTo>
                <a:lnTo>
                  <a:pt x="111002" y="488595"/>
                </a:lnTo>
                <a:lnTo>
                  <a:pt x="78801" y="461341"/>
                </a:lnTo>
                <a:lnTo>
                  <a:pt x="51531" y="431623"/>
                </a:lnTo>
                <a:lnTo>
                  <a:pt x="29604" y="399715"/>
                </a:lnTo>
                <a:lnTo>
                  <a:pt x="3426" y="330434"/>
                </a:lnTo>
                <a:lnTo>
                  <a:pt x="0" y="293611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7371659" y="3937369"/>
            <a:ext cx="38036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" dirty="0">
                <a:latin typeface="MS Gothic"/>
                <a:cs typeface="MS Gothic"/>
              </a:rPr>
              <a:t>需求分析</a:t>
            </a:r>
            <a:endParaRPr sz="700">
              <a:latin typeface="MS Gothic"/>
              <a:cs typeface="MS Gothic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6540582" y="3422543"/>
            <a:ext cx="1021715" cy="209550"/>
          </a:xfrm>
          <a:custGeom>
            <a:avLst/>
            <a:gdLst/>
            <a:ahLst/>
            <a:cxnLst/>
            <a:rect l="l" t="t" r="r" b="b"/>
            <a:pathLst>
              <a:path w="1021715" h="209550">
                <a:moveTo>
                  <a:pt x="0" y="0"/>
                </a:moveTo>
                <a:lnTo>
                  <a:pt x="0" y="78562"/>
                </a:lnTo>
                <a:lnTo>
                  <a:pt x="1021120" y="78562"/>
                </a:lnTo>
                <a:lnTo>
                  <a:pt x="1021120" y="209278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7531111" y="3624165"/>
            <a:ext cx="61594" cy="92075"/>
          </a:xfrm>
          <a:custGeom>
            <a:avLst/>
            <a:gdLst/>
            <a:ahLst/>
            <a:cxnLst/>
            <a:rect l="l" t="t" r="r" b="b"/>
            <a:pathLst>
              <a:path w="61595" h="92075">
                <a:moveTo>
                  <a:pt x="61183" y="0"/>
                </a:moveTo>
                <a:lnTo>
                  <a:pt x="0" y="0"/>
                </a:lnTo>
                <a:lnTo>
                  <a:pt x="30591" y="91878"/>
                </a:lnTo>
                <a:lnTo>
                  <a:pt x="6118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7561702" y="3422543"/>
            <a:ext cx="989965" cy="209550"/>
          </a:xfrm>
          <a:custGeom>
            <a:avLst/>
            <a:gdLst/>
            <a:ahLst/>
            <a:cxnLst/>
            <a:rect l="l" t="t" r="r" b="b"/>
            <a:pathLst>
              <a:path w="989965" h="209550">
                <a:moveTo>
                  <a:pt x="989686" y="0"/>
                </a:moveTo>
                <a:lnTo>
                  <a:pt x="989686" y="78562"/>
                </a:lnTo>
                <a:lnTo>
                  <a:pt x="0" y="78562"/>
                </a:lnTo>
                <a:lnTo>
                  <a:pt x="0" y="209278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7531111" y="3624165"/>
            <a:ext cx="61594" cy="92075"/>
          </a:xfrm>
          <a:custGeom>
            <a:avLst/>
            <a:gdLst/>
            <a:ahLst/>
            <a:cxnLst/>
            <a:rect l="l" t="t" r="r" b="b"/>
            <a:pathLst>
              <a:path w="61595" h="92075">
                <a:moveTo>
                  <a:pt x="61183" y="0"/>
                </a:moveTo>
                <a:lnTo>
                  <a:pt x="0" y="0"/>
                </a:lnTo>
                <a:lnTo>
                  <a:pt x="30591" y="91878"/>
                </a:lnTo>
                <a:lnTo>
                  <a:pt x="6118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6572005" y="4303267"/>
            <a:ext cx="989965" cy="214629"/>
          </a:xfrm>
          <a:custGeom>
            <a:avLst/>
            <a:gdLst/>
            <a:ahLst/>
            <a:cxnLst/>
            <a:rect l="l" t="t" r="r" b="b"/>
            <a:pathLst>
              <a:path w="989965" h="214629">
                <a:moveTo>
                  <a:pt x="989697" y="0"/>
                </a:moveTo>
                <a:lnTo>
                  <a:pt x="989697" y="117955"/>
                </a:lnTo>
                <a:lnTo>
                  <a:pt x="0" y="117955"/>
                </a:lnTo>
                <a:lnTo>
                  <a:pt x="0" y="214605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6541414" y="4510216"/>
            <a:ext cx="61594" cy="92075"/>
          </a:xfrm>
          <a:custGeom>
            <a:avLst/>
            <a:gdLst/>
            <a:ahLst/>
            <a:cxnLst/>
            <a:rect l="l" t="t" r="r" b="b"/>
            <a:pathLst>
              <a:path w="61595" h="92075">
                <a:moveTo>
                  <a:pt x="61183" y="0"/>
                </a:moveTo>
                <a:lnTo>
                  <a:pt x="0" y="0"/>
                </a:lnTo>
                <a:lnTo>
                  <a:pt x="30591" y="91878"/>
                </a:lnTo>
                <a:lnTo>
                  <a:pt x="6118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7137542" y="701696"/>
            <a:ext cx="848360" cy="566420"/>
          </a:xfrm>
          <a:custGeom>
            <a:avLst/>
            <a:gdLst/>
            <a:ahLst/>
            <a:cxnLst/>
            <a:rect l="l" t="t" r="r" b="b"/>
            <a:pathLst>
              <a:path w="848359" h="566419">
                <a:moveTo>
                  <a:pt x="424160" y="0"/>
                </a:moveTo>
                <a:lnTo>
                  <a:pt x="366615" y="2583"/>
                </a:lnTo>
                <a:lnTo>
                  <a:pt x="311420" y="10110"/>
                </a:lnTo>
                <a:lnTo>
                  <a:pt x="259080" y="22243"/>
                </a:lnTo>
                <a:lnTo>
                  <a:pt x="210102" y="38644"/>
                </a:lnTo>
                <a:lnTo>
                  <a:pt x="164991" y="58977"/>
                </a:lnTo>
                <a:lnTo>
                  <a:pt x="124253" y="82904"/>
                </a:lnTo>
                <a:lnTo>
                  <a:pt x="88395" y="110088"/>
                </a:lnTo>
                <a:lnTo>
                  <a:pt x="57922" y="140193"/>
                </a:lnTo>
                <a:lnTo>
                  <a:pt x="33340" y="172881"/>
                </a:lnTo>
                <a:lnTo>
                  <a:pt x="15155" y="207814"/>
                </a:lnTo>
                <a:lnTo>
                  <a:pt x="3873" y="244656"/>
                </a:lnTo>
                <a:lnTo>
                  <a:pt x="0" y="283070"/>
                </a:lnTo>
                <a:lnTo>
                  <a:pt x="3873" y="321483"/>
                </a:lnTo>
                <a:lnTo>
                  <a:pt x="15155" y="358326"/>
                </a:lnTo>
                <a:lnTo>
                  <a:pt x="33340" y="393259"/>
                </a:lnTo>
                <a:lnTo>
                  <a:pt x="57922" y="425947"/>
                </a:lnTo>
                <a:lnTo>
                  <a:pt x="88395" y="456051"/>
                </a:lnTo>
                <a:lnTo>
                  <a:pt x="124253" y="483236"/>
                </a:lnTo>
                <a:lnTo>
                  <a:pt x="164991" y="507163"/>
                </a:lnTo>
                <a:lnTo>
                  <a:pt x="210102" y="527496"/>
                </a:lnTo>
                <a:lnTo>
                  <a:pt x="259080" y="543897"/>
                </a:lnTo>
                <a:lnTo>
                  <a:pt x="311420" y="556029"/>
                </a:lnTo>
                <a:lnTo>
                  <a:pt x="366615" y="563556"/>
                </a:lnTo>
                <a:lnTo>
                  <a:pt x="424160" y="566140"/>
                </a:lnTo>
                <a:lnTo>
                  <a:pt x="481706" y="563556"/>
                </a:lnTo>
                <a:lnTo>
                  <a:pt x="536902" y="556029"/>
                </a:lnTo>
                <a:lnTo>
                  <a:pt x="589243" y="543897"/>
                </a:lnTo>
                <a:lnTo>
                  <a:pt x="638224" y="527496"/>
                </a:lnTo>
                <a:lnTo>
                  <a:pt x="683338" y="507163"/>
                </a:lnTo>
                <a:lnTo>
                  <a:pt x="724078" y="483236"/>
                </a:lnTo>
                <a:lnTo>
                  <a:pt x="759939" y="456051"/>
                </a:lnTo>
                <a:lnTo>
                  <a:pt x="790415" y="425947"/>
                </a:lnTo>
                <a:lnTo>
                  <a:pt x="814999" y="393259"/>
                </a:lnTo>
                <a:lnTo>
                  <a:pt x="833186" y="358326"/>
                </a:lnTo>
                <a:lnTo>
                  <a:pt x="844469" y="321483"/>
                </a:lnTo>
                <a:lnTo>
                  <a:pt x="848343" y="283070"/>
                </a:lnTo>
                <a:lnTo>
                  <a:pt x="844469" y="244656"/>
                </a:lnTo>
                <a:lnTo>
                  <a:pt x="833186" y="207814"/>
                </a:lnTo>
                <a:lnTo>
                  <a:pt x="814999" y="172881"/>
                </a:lnTo>
                <a:lnTo>
                  <a:pt x="790415" y="140193"/>
                </a:lnTo>
                <a:lnTo>
                  <a:pt x="759939" y="110088"/>
                </a:lnTo>
                <a:lnTo>
                  <a:pt x="724078" y="82904"/>
                </a:lnTo>
                <a:lnTo>
                  <a:pt x="683338" y="58977"/>
                </a:lnTo>
                <a:lnTo>
                  <a:pt x="638224" y="38644"/>
                </a:lnTo>
                <a:lnTo>
                  <a:pt x="589243" y="22243"/>
                </a:lnTo>
                <a:lnTo>
                  <a:pt x="536902" y="10110"/>
                </a:lnTo>
                <a:lnTo>
                  <a:pt x="481706" y="2583"/>
                </a:lnTo>
                <a:lnTo>
                  <a:pt x="424160" y="0"/>
                </a:lnTo>
                <a:close/>
              </a:path>
            </a:pathLst>
          </a:custGeom>
          <a:solidFill>
            <a:srgbClr val="E8EE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7137541" y="701697"/>
            <a:ext cx="848360" cy="566420"/>
          </a:xfrm>
          <a:custGeom>
            <a:avLst/>
            <a:gdLst/>
            <a:ahLst/>
            <a:cxnLst/>
            <a:rect l="l" t="t" r="r" b="b"/>
            <a:pathLst>
              <a:path w="848359" h="566419">
                <a:moveTo>
                  <a:pt x="0" y="283070"/>
                </a:moveTo>
                <a:lnTo>
                  <a:pt x="3873" y="244656"/>
                </a:lnTo>
                <a:lnTo>
                  <a:pt x="15155" y="207814"/>
                </a:lnTo>
                <a:lnTo>
                  <a:pt x="33340" y="172880"/>
                </a:lnTo>
                <a:lnTo>
                  <a:pt x="57922" y="140193"/>
                </a:lnTo>
                <a:lnTo>
                  <a:pt x="88395" y="110088"/>
                </a:lnTo>
                <a:lnTo>
                  <a:pt x="124253" y="82904"/>
                </a:lnTo>
                <a:lnTo>
                  <a:pt x="164991" y="58977"/>
                </a:lnTo>
                <a:lnTo>
                  <a:pt x="210102" y="38644"/>
                </a:lnTo>
                <a:lnTo>
                  <a:pt x="259080" y="22243"/>
                </a:lnTo>
                <a:lnTo>
                  <a:pt x="311420" y="10110"/>
                </a:lnTo>
                <a:lnTo>
                  <a:pt x="366615" y="2583"/>
                </a:lnTo>
                <a:lnTo>
                  <a:pt x="424160" y="0"/>
                </a:lnTo>
                <a:lnTo>
                  <a:pt x="481705" y="2583"/>
                </a:lnTo>
                <a:lnTo>
                  <a:pt x="536902" y="10110"/>
                </a:lnTo>
                <a:lnTo>
                  <a:pt x="589243" y="22243"/>
                </a:lnTo>
                <a:lnTo>
                  <a:pt x="638224" y="38644"/>
                </a:lnTo>
                <a:lnTo>
                  <a:pt x="683338" y="58977"/>
                </a:lnTo>
                <a:lnTo>
                  <a:pt x="724078" y="82904"/>
                </a:lnTo>
                <a:lnTo>
                  <a:pt x="759939" y="110088"/>
                </a:lnTo>
                <a:lnTo>
                  <a:pt x="790415" y="140193"/>
                </a:lnTo>
                <a:lnTo>
                  <a:pt x="814999" y="172880"/>
                </a:lnTo>
                <a:lnTo>
                  <a:pt x="833186" y="207814"/>
                </a:lnTo>
                <a:lnTo>
                  <a:pt x="844469" y="244656"/>
                </a:lnTo>
                <a:lnTo>
                  <a:pt x="848343" y="283070"/>
                </a:lnTo>
                <a:lnTo>
                  <a:pt x="844469" y="321483"/>
                </a:lnTo>
                <a:lnTo>
                  <a:pt x="833186" y="358326"/>
                </a:lnTo>
                <a:lnTo>
                  <a:pt x="814999" y="393259"/>
                </a:lnTo>
                <a:lnTo>
                  <a:pt x="790415" y="425947"/>
                </a:lnTo>
                <a:lnTo>
                  <a:pt x="759939" y="456051"/>
                </a:lnTo>
                <a:lnTo>
                  <a:pt x="724078" y="483236"/>
                </a:lnTo>
                <a:lnTo>
                  <a:pt x="683338" y="507163"/>
                </a:lnTo>
                <a:lnTo>
                  <a:pt x="638224" y="527495"/>
                </a:lnTo>
                <a:lnTo>
                  <a:pt x="589243" y="543897"/>
                </a:lnTo>
                <a:lnTo>
                  <a:pt x="536902" y="556029"/>
                </a:lnTo>
                <a:lnTo>
                  <a:pt x="481705" y="563556"/>
                </a:lnTo>
                <a:lnTo>
                  <a:pt x="424160" y="566140"/>
                </a:lnTo>
                <a:lnTo>
                  <a:pt x="366615" y="563556"/>
                </a:lnTo>
                <a:lnTo>
                  <a:pt x="311420" y="556029"/>
                </a:lnTo>
                <a:lnTo>
                  <a:pt x="259080" y="543897"/>
                </a:lnTo>
                <a:lnTo>
                  <a:pt x="210102" y="527495"/>
                </a:lnTo>
                <a:lnTo>
                  <a:pt x="164991" y="507163"/>
                </a:lnTo>
                <a:lnTo>
                  <a:pt x="124253" y="483236"/>
                </a:lnTo>
                <a:lnTo>
                  <a:pt x="88395" y="456051"/>
                </a:lnTo>
                <a:lnTo>
                  <a:pt x="57922" y="425947"/>
                </a:lnTo>
                <a:lnTo>
                  <a:pt x="33340" y="393259"/>
                </a:lnTo>
                <a:lnTo>
                  <a:pt x="15155" y="358326"/>
                </a:lnTo>
                <a:lnTo>
                  <a:pt x="3873" y="321483"/>
                </a:lnTo>
                <a:lnTo>
                  <a:pt x="0" y="28307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7371548" y="843792"/>
            <a:ext cx="380365" cy="259715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700" spc="-5" dirty="0">
                <a:latin typeface="宋体"/>
                <a:cs typeface="宋体"/>
              </a:rPr>
              <a:t>问题分析</a:t>
            </a:r>
            <a:endParaRPr sz="7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sz="700" spc="-5" dirty="0">
                <a:latin typeface="MS Gothic"/>
                <a:cs typeface="MS Gothic"/>
              </a:rPr>
              <a:t>背景分析</a:t>
            </a:r>
            <a:endParaRPr sz="700">
              <a:latin typeface="MS Gothic"/>
              <a:cs typeface="MS Gothic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7561702" y="1267837"/>
            <a:ext cx="0" cy="262255"/>
          </a:xfrm>
          <a:custGeom>
            <a:avLst/>
            <a:gdLst/>
            <a:ahLst/>
            <a:cxnLst/>
            <a:rect l="l" t="t" r="r" b="b"/>
            <a:pathLst>
              <a:path h="262255">
                <a:moveTo>
                  <a:pt x="0" y="0"/>
                </a:moveTo>
                <a:lnTo>
                  <a:pt x="0" y="261764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7531111" y="1521945"/>
            <a:ext cx="61594" cy="92075"/>
          </a:xfrm>
          <a:custGeom>
            <a:avLst/>
            <a:gdLst/>
            <a:ahLst/>
            <a:cxnLst/>
            <a:rect l="l" t="t" r="r" b="b"/>
            <a:pathLst>
              <a:path w="61595" h="92075">
                <a:moveTo>
                  <a:pt x="61183" y="0"/>
                </a:moveTo>
                <a:lnTo>
                  <a:pt x="0" y="0"/>
                </a:lnTo>
                <a:lnTo>
                  <a:pt x="30591" y="91879"/>
                </a:lnTo>
                <a:lnTo>
                  <a:pt x="6118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6226397" y="1613868"/>
            <a:ext cx="754380" cy="377825"/>
          </a:xfrm>
          <a:prstGeom prst="rect">
            <a:avLst/>
          </a:prstGeom>
          <a:solidFill>
            <a:srgbClr val="E8EEF7"/>
          </a:solidFill>
          <a:ln w="3175">
            <a:solidFill>
              <a:srgbClr val="000000"/>
            </a:solidFill>
          </a:ln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endParaRPr sz="850">
              <a:latin typeface="Times New Roman"/>
              <a:cs typeface="Times New Roman"/>
            </a:endParaRPr>
          </a:p>
          <a:p>
            <a:pPr marL="66675">
              <a:lnSpc>
                <a:spcPct val="100000"/>
              </a:lnSpc>
            </a:pPr>
            <a:r>
              <a:rPr sz="700" spc="-5" dirty="0">
                <a:latin typeface="MS Gothic"/>
                <a:cs typeface="MS Gothic"/>
              </a:rPr>
              <a:t>高</a:t>
            </a:r>
            <a:r>
              <a:rPr sz="700" spc="-5" dirty="0">
                <a:latin typeface="宋体"/>
                <a:cs typeface="宋体"/>
              </a:rPr>
              <a:t>层</a:t>
            </a:r>
            <a:r>
              <a:rPr sz="700" spc="-5" dirty="0">
                <a:latin typeface="MS Gothic"/>
                <a:cs typeface="MS Gothic"/>
              </a:rPr>
              <a:t>次解决方案</a:t>
            </a:r>
            <a:endParaRPr sz="700">
              <a:latin typeface="MS Gothic"/>
              <a:cs typeface="MS Gothic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268637" y="1613868"/>
            <a:ext cx="691515" cy="377825"/>
          </a:xfrm>
          <a:prstGeom prst="rect">
            <a:avLst/>
          </a:prstGeom>
          <a:solidFill>
            <a:srgbClr val="E8EEF7"/>
          </a:solidFill>
          <a:ln w="3175">
            <a:solidFill>
              <a:srgbClr val="000000"/>
            </a:solidFill>
          </a:ln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endParaRPr sz="850">
              <a:latin typeface="Times New Roman"/>
              <a:cs typeface="Times New Roman"/>
            </a:endParaRPr>
          </a:p>
          <a:p>
            <a:pPr marL="167640">
              <a:lnSpc>
                <a:spcPct val="100000"/>
              </a:lnSpc>
            </a:pPr>
            <a:r>
              <a:rPr sz="700" spc="-5" dirty="0">
                <a:latin typeface="MS Gothic"/>
                <a:cs typeface="MS Gothic"/>
              </a:rPr>
              <a:t>系</a:t>
            </a:r>
            <a:r>
              <a:rPr sz="700" spc="-5" dirty="0">
                <a:latin typeface="宋体"/>
                <a:cs typeface="宋体"/>
              </a:rPr>
              <a:t>统</a:t>
            </a:r>
            <a:r>
              <a:rPr sz="700" spc="-5" dirty="0">
                <a:latin typeface="MS Gothic"/>
                <a:cs typeface="MS Gothic"/>
              </a:rPr>
              <a:t>特性</a:t>
            </a:r>
            <a:endParaRPr sz="700">
              <a:latin typeface="MS Gothic"/>
              <a:cs typeface="MS Gothic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8085752" y="1991325"/>
            <a:ext cx="528955" cy="482600"/>
          </a:xfrm>
          <a:custGeom>
            <a:avLst/>
            <a:gdLst/>
            <a:ahLst/>
            <a:cxnLst/>
            <a:rect l="l" t="t" r="r" b="b"/>
            <a:pathLst>
              <a:path w="528954" h="482600">
                <a:moveTo>
                  <a:pt x="528482" y="0"/>
                </a:moveTo>
                <a:lnTo>
                  <a:pt x="528482" y="482251"/>
                </a:lnTo>
                <a:lnTo>
                  <a:pt x="0" y="482251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8001624" y="2442950"/>
            <a:ext cx="92075" cy="61594"/>
          </a:xfrm>
          <a:custGeom>
            <a:avLst/>
            <a:gdLst/>
            <a:ahLst/>
            <a:cxnLst/>
            <a:rect l="l" t="t" r="r" b="b"/>
            <a:pathLst>
              <a:path w="92075" h="61594">
                <a:moveTo>
                  <a:pt x="91775" y="0"/>
                </a:moveTo>
                <a:lnTo>
                  <a:pt x="0" y="30626"/>
                </a:lnTo>
                <a:lnTo>
                  <a:pt x="91775" y="61252"/>
                </a:lnTo>
                <a:lnTo>
                  <a:pt x="917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6603417" y="1991325"/>
            <a:ext cx="434340" cy="482600"/>
          </a:xfrm>
          <a:custGeom>
            <a:avLst/>
            <a:gdLst/>
            <a:ahLst/>
            <a:cxnLst/>
            <a:rect l="l" t="t" r="r" b="b"/>
            <a:pathLst>
              <a:path w="434340" h="482600">
                <a:moveTo>
                  <a:pt x="0" y="0"/>
                </a:moveTo>
                <a:lnTo>
                  <a:pt x="0" y="482251"/>
                </a:lnTo>
                <a:lnTo>
                  <a:pt x="434291" y="482251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7030060" y="2442950"/>
            <a:ext cx="92075" cy="61594"/>
          </a:xfrm>
          <a:custGeom>
            <a:avLst/>
            <a:gdLst/>
            <a:ahLst/>
            <a:cxnLst/>
            <a:rect l="l" t="t" r="r" b="b"/>
            <a:pathLst>
              <a:path w="92075" h="61594">
                <a:moveTo>
                  <a:pt x="0" y="0"/>
                </a:moveTo>
                <a:lnTo>
                  <a:pt x="0" y="61252"/>
                </a:lnTo>
                <a:lnTo>
                  <a:pt x="91775" y="3062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6603417" y="1267837"/>
            <a:ext cx="958850" cy="262255"/>
          </a:xfrm>
          <a:custGeom>
            <a:avLst/>
            <a:gdLst/>
            <a:ahLst/>
            <a:cxnLst/>
            <a:rect l="l" t="t" r="r" b="b"/>
            <a:pathLst>
              <a:path w="958850" h="262255">
                <a:moveTo>
                  <a:pt x="958285" y="0"/>
                </a:moveTo>
                <a:lnTo>
                  <a:pt x="958285" y="152021"/>
                </a:lnTo>
                <a:lnTo>
                  <a:pt x="0" y="152021"/>
                </a:lnTo>
                <a:lnTo>
                  <a:pt x="0" y="261764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6572825" y="1521945"/>
            <a:ext cx="61594" cy="92075"/>
          </a:xfrm>
          <a:custGeom>
            <a:avLst/>
            <a:gdLst/>
            <a:ahLst/>
            <a:cxnLst/>
            <a:rect l="l" t="t" r="r" b="b"/>
            <a:pathLst>
              <a:path w="61595" h="92075">
                <a:moveTo>
                  <a:pt x="61183" y="0"/>
                </a:moveTo>
                <a:lnTo>
                  <a:pt x="0" y="0"/>
                </a:lnTo>
                <a:lnTo>
                  <a:pt x="30591" y="91879"/>
                </a:lnTo>
                <a:lnTo>
                  <a:pt x="6118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7561702" y="1267837"/>
            <a:ext cx="1052830" cy="262255"/>
          </a:xfrm>
          <a:custGeom>
            <a:avLst/>
            <a:gdLst/>
            <a:ahLst/>
            <a:cxnLst/>
            <a:rect l="l" t="t" r="r" b="b"/>
            <a:pathLst>
              <a:path w="1052829" h="262255">
                <a:moveTo>
                  <a:pt x="0" y="0"/>
                </a:moveTo>
                <a:lnTo>
                  <a:pt x="0" y="152021"/>
                </a:lnTo>
                <a:lnTo>
                  <a:pt x="1052532" y="152021"/>
                </a:lnTo>
                <a:lnTo>
                  <a:pt x="1052532" y="261764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8583642" y="1521945"/>
            <a:ext cx="61594" cy="92075"/>
          </a:xfrm>
          <a:custGeom>
            <a:avLst/>
            <a:gdLst/>
            <a:ahLst/>
            <a:cxnLst/>
            <a:rect l="l" t="t" r="r" b="b"/>
            <a:pathLst>
              <a:path w="61595" h="92075">
                <a:moveTo>
                  <a:pt x="61183" y="0"/>
                </a:moveTo>
                <a:lnTo>
                  <a:pt x="0" y="0"/>
                </a:lnTo>
                <a:lnTo>
                  <a:pt x="30591" y="91879"/>
                </a:lnTo>
                <a:lnTo>
                  <a:pt x="6118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8205791" y="4602084"/>
            <a:ext cx="691515" cy="346075"/>
          </a:xfrm>
          <a:prstGeom prst="rect">
            <a:avLst/>
          </a:prstGeom>
          <a:solidFill>
            <a:srgbClr val="E8EEF7"/>
          </a:solidFill>
          <a:ln w="3175">
            <a:solidFill>
              <a:srgbClr val="000000"/>
            </a:solidFill>
          </a:ln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endParaRPr sz="750">
              <a:latin typeface="Times New Roman"/>
              <a:cs typeface="Times New Roman"/>
            </a:endParaRPr>
          </a:p>
          <a:p>
            <a:pPr marL="167640">
              <a:lnSpc>
                <a:spcPct val="100000"/>
              </a:lnSpc>
              <a:spcBef>
                <a:spcPts val="5"/>
              </a:spcBef>
            </a:pPr>
            <a:r>
              <a:rPr sz="700" spc="-5" dirty="0">
                <a:latin typeface="MS Gothic"/>
                <a:cs typeface="MS Gothic"/>
              </a:rPr>
              <a:t>系</a:t>
            </a:r>
            <a:r>
              <a:rPr sz="700" spc="-5" dirty="0">
                <a:latin typeface="宋体"/>
                <a:cs typeface="宋体"/>
              </a:rPr>
              <a:t>统</a:t>
            </a:r>
            <a:r>
              <a:rPr sz="700" spc="-5" dirty="0">
                <a:latin typeface="MS Gothic"/>
                <a:cs typeface="MS Gothic"/>
              </a:rPr>
              <a:t>模型</a:t>
            </a:r>
            <a:endParaRPr sz="700">
              <a:latin typeface="MS Gothic"/>
              <a:cs typeface="MS Gothic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7561702" y="4303267"/>
            <a:ext cx="989965" cy="214629"/>
          </a:xfrm>
          <a:custGeom>
            <a:avLst/>
            <a:gdLst/>
            <a:ahLst/>
            <a:cxnLst/>
            <a:rect l="l" t="t" r="r" b="b"/>
            <a:pathLst>
              <a:path w="989965" h="214629">
                <a:moveTo>
                  <a:pt x="0" y="0"/>
                </a:moveTo>
                <a:lnTo>
                  <a:pt x="0" y="117955"/>
                </a:lnTo>
                <a:lnTo>
                  <a:pt x="989686" y="117955"/>
                </a:lnTo>
                <a:lnTo>
                  <a:pt x="989686" y="214605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8520796" y="4510216"/>
            <a:ext cx="61594" cy="92075"/>
          </a:xfrm>
          <a:custGeom>
            <a:avLst/>
            <a:gdLst/>
            <a:ahLst/>
            <a:cxnLst/>
            <a:rect l="l" t="t" r="r" b="b"/>
            <a:pathLst>
              <a:path w="61595" h="92075">
                <a:moveTo>
                  <a:pt x="61183" y="0"/>
                </a:moveTo>
                <a:lnTo>
                  <a:pt x="0" y="0"/>
                </a:lnTo>
                <a:lnTo>
                  <a:pt x="30591" y="91878"/>
                </a:lnTo>
                <a:lnTo>
                  <a:pt x="6118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7137542" y="5220643"/>
            <a:ext cx="880110" cy="587375"/>
          </a:xfrm>
          <a:custGeom>
            <a:avLst/>
            <a:gdLst/>
            <a:ahLst/>
            <a:cxnLst/>
            <a:rect l="l" t="t" r="r" b="b"/>
            <a:pathLst>
              <a:path w="880109" h="587375">
                <a:moveTo>
                  <a:pt x="439900" y="0"/>
                </a:moveTo>
                <a:lnTo>
                  <a:pt x="384718" y="2287"/>
                </a:lnTo>
                <a:lnTo>
                  <a:pt x="331581" y="8966"/>
                </a:lnTo>
                <a:lnTo>
                  <a:pt x="280904" y="19762"/>
                </a:lnTo>
                <a:lnTo>
                  <a:pt x="233096" y="34399"/>
                </a:lnTo>
                <a:lnTo>
                  <a:pt x="188571" y="52601"/>
                </a:lnTo>
                <a:lnTo>
                  <a:pt x="147740" y="74095"/>
                </a:lnTo>
                <a:lnTo>
                  <a:pt x="111017" y="98605"/>
                </a:lnTo>
                <a:lnTo>
                  <a:pt x="78812" y="125854"/>
                </a:lnTo>
                <a:lnTo>
                  <a:pt x="51539" y="155569"/>
                </a:lnTo>
                <a:lnTo>
                  <a:pt x="29609" y="187474"/>
                </a:lnTo>
                <a:lnTo>
                  <a:pt x="3427" y="256754"/>
                </a:lnTo>
                <a:lnTo>
                  <a:pt x="0" y="293578"/>
                </a:lnTo>
                <a:lnTo>
                  <a:pt x="3427" y="330404"/>
                </a:lnTo>
                <a:lnTo>
                  <a:pt x="29609" y="399686"/>
                </a:lnTo>
                <a:lnTo>
                  <a:pt x="51539" y="431592"/>
                </a:lnTo>
                <a:lnTo>
                  <a:pt x="78812" y="461307"/>
                </a:lnTo>
                <a:lnTo>
                  <a:pt x="111017" y="488556"/>
                </a:lnTo>
                <a:lnTo>
                  <a:pt x="147740" y="513065"/>
                </a:lnTo>
                <a:lnTo>
                  <a:pt x="188571" y="534558"/>
                </a:lnTo>
                <a:lnTo>
                  <a:pt x="233096" y="552760"/>
                </a:lnTo>
                <a:lnTo>
                  <a:pt x="280904" y="567396"/>
                </a:lnTo>
                <a:lnTo>
                  <a:pt x="331581" y="578191"/>
                </a:lnTo>
                <a:lnTo>
                  <a:pt x="384718" y="584869"/>
                </a:lnTo>
                <a:lnTo>
                  <a:pt x="439900" y="587157"/>
                </a:lnTo>
                <a:lnTo>
                  <a:pt x="495058" y="584869"/>
                </a:lnTo>
                <a:lnTo>
                  <a:pt x="548175" y="578191"/>
                </a:lnTo>
                <a:lnTo>
                  <a:pt x="598838" y="567396"/>
                </a:lnTo>
                <a:lnTo>
                  <a:pt x="646634" y="552760"/>
                </a:lnTo>
                <a:lnTo>
                  <a:pt x="691151" y="534558"/>
                </a:lnTo>
                <a:lnTo>
                  <a:pt x="731975" y="513065"/>
                </a:lnTo>
                <a:lnTo>
                  <a:pt x="768695" y="488556"/>
                </a:lnTo>
                <a:lnTo>
                  <a:pt x="800897" y="461307"/>
                </a:lnTo>
                <a:lnTo>
                  <a:pt x="828170" y="431592"/>
                </a:lnTo>
                <a:lnTo>
                  <a:pt x="850100" y="399686"/>
                </a:lnTo>
                <a:lnTo>
                  <a:pt x="876283" y="330404"/>
                </a:lnTo>
                <a:lnTo>
                  <a:pt x="879711" y="293578"/>
                </a:lnTo>
                <a:lnTo>
                  <a:pt x="876283" y="256754"/>
                </a:lnTo>
                <a:lnTo>
                  <a:pt x="850100" y="187474"/>
                </a:lnTo>
                <a:lnTo>
                  <a:pt x="828170" y="155569"/>
                </a:lnTo>
                <a:lnTo>
                  <a:pt x="800897" y="125854"/>
                </a:lnTo>
                <a:lnTo>
                  <a:pt x="768695" y="98605"/>
                </a:lnTo>
                <a:lnTo>
                  <a:pt x="731975" y="74095"/>
                </a:lnTo>
                <a:lnTo>
                  <a:pt x="691151" y="52601"/>
                </a:lnTo>
                <a:lnTo>
                  <a:pt x="646634" y="34399"/>
                </a:lnTo>
                <a:lnTo>
                  <a:pt x="598838" y="19762"/>
                </a:lnTo>
                <a:lnTo>
                  <a:pt x="548175" y="8966"/>
                </a:lnTo>
                <a:lnTo>
                  <a:pt x="495058" y="2287"/>
                </a:lnTo>
                <a:lnTo>
                  <a:pt x="439900" y="0"/>
                </a:lnTo>
                <a:close/>
              </a:path>
            </a:pathLst>
          </a:custGeom>
          <a:solidFill>
            <a:srgbClr val="E8EE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7137541" y="5220644"/>
            <a:ext cx="880110" cy="587375"/>
          </a:xfrm>
          <a:custGeom>
            <a:avLst/>
            <a:gdLst/>
            <a:ahLst/>
            <a:cxnLst/>
            <a:rect l="l" t="t" r="r" b="b"/>
            <a:pathLst>
              <a:path w="880109" h="587375">
                <a:moveTo>
                  <a:pt x="0" y="293578"/>
                </a:moveTo>
                <a:lnTo>
                  <a:pt x="13434" y="221294"/>
                </a:lnTo>
                <a:lnTo>
                  <a:pt x="51539" y="155569"/>
                </a:lnTo>
                <a:lnTo>
                  <a:pt x="78812" y="125854"/>
                </a:lnTo>
                <a:lnTo>
                  <a:pt x="111017" y="98604"/>
                </a:lnTo>
                <a:lnTo>
                  <a:pt x="147740" y="74095"/>
                </a:lnTo>
                <a:lnTo>
                  <a:pt x="188571" y="52601"/>
                </a:lnTo>
                <a:lnTo>
                  <a:pt x="233096" y="34399"/>
                </a:lnTo>
                <a:lnTo>
                  <a:pt x="280903" y="19762"/>
                </a:lnTo>
                <a:lnTo>
                  <a:pt x="331581" y="8966"/>
                </a:lnTo>
                <a:lnTo>
                  <a:pt x="384717" y="2287"/>
                </a:lnTo>
                <a:lnTo>
                  <a:pt x="439899" y="0"/>
                </a:lnTo>
                <a:lnTo>
                  <a:pt x="495058" y="2287"/>
                </a:lnTo>
                <a:lnTo>
                  <a:pt x="548175" y="8966"/>
                </a:lnTo>
                <a:lnTo>
                  <a:pt x="598838" y="19762"/>
                </a:lnTo>
                <a:lnTo>
                  <a:pt x="646634" y="34399"/>
                </a:lnTo>
                <a:lnTo>
                  <a:pt x="691150" y="52601"/>
                </a:lnTo>
                <a:lnTo>
                  <a:pt x="731975" y="74095"/>
                </a:lnTo>
                <a:lnTo>
                  <a:pt x="768694" y="98604"/>
                </a:lnTo>
                <a:lnTo>
                  <a:pt x="800897" y="125854"/>
                </a:lnTo>
                <a:lnTo>
                  <a:pt x="828170" y="155569"/>
                </a:lnTo>
                <a:lnTo>
                  <a:pt x="850100" y="187474"/>
                </a:lnTo>
                <a:lnTo>
                  <a:pt x="876283" y="256754"/>
                </a:lnTo>
                <a:lnTo>
                  <a:pt x="879711" y="293578"/>
                </a:lnTo>
                <a:lnTo>
                  <a:pt x="876283" y="330404"/>
                </a:lnTo>
                <a:lnTo>
                  <a:pt x="866275" y="365865"/>
                </a:lnTo>
                <a:lnTo>
                  <a:pt x="828170" y="431592"/>
                </a:lnTo>
                <a:lnTo>
                  <a:pt x="800897" y="461307"/>
                </a:lnTo>
                <a:lnTo>
                  <a:pt x="768694" y="488556"/>
                </a:lnTo>
                <a:lnTo>
                  <a:pt x="731975" y="513065"/>
                </a:lnTo>
                <a:lnTo>
                  <a:pt x="691150" y="534558"/>
                </a:lnTo>
                <a:lnTo>
                  <a:pt x="646634" y="552760"/>
                </a:lnTo>
                <a:lnTo>
                  <a:pt x="598838" y="567396"/>
                </a:lnTo>
                <a:lnTo>
                  <a:pt x="548175" y="578190"/>
                </a:lnTo>
                <a:lnTo>
                  <a:pt x="495058" y="584869"/>
                </a:lnTo>
                <a:lnTo>
                  <a:pt x="439899" y="587156"/>
                </a:lnTo>
                <a:lnTo>
                  <a:pt x="384717" y="584869"/>
                </a:lnTo>
                <a:lnTo>
                  <a:pt x="331581" y="578190"/>
                </a:lnTo>
                <a:lnTo>
                  <a:pt x="280903" y="567396"/>
                </a:lnTo>
                <a:lnTo>
                  <a:pt x="233096" y="552760"/>
                </a:lnTo>
                <a:lnTo>
                  <a:pt x="188571" y="534558"/>
                </a:lnTo>
                <a:lnTo>
                  <a:pt x="147740" y="513065"/>
                </a:lnTo>
                <a:lnTo>
                  <a:pt x="111017" y="488556"/>
                </a:lnTo>
                <a:lnTo>
                  <a:pt x="78812" y="461307"/>
                </a:lnTo>
                <a:lnTo>
                  <a:pt x="51539" y="431592"/>
                </a:lnTo>
                <a:lnTo>
                  <a:pt x="29609" y="399686"/>
                </a:lnTo>
                <a:lnTo>
                  <a:pt x="3427" y="330404"/>
                </a:lnTo>
                <a:lnTo>
                  <a:pt x="0" y="293578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/>
          <p:nvPr/>
        </p:nvSpPr>
        <p:spPr>
          <a:xfrm>
            <a:off x="7298727" y="5441968"/>
            <a:ext cx="55753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" dirty="0">
                <a:latin typeface="MS Gothic"/>
                <a:cs typeface="MS Gothic"/>
              </a:rPr>
              <a:t>文档化和</a:t>
            </a:r>
            <a:r>
              <a:rPr sz="700" spc="-5" dirty="0">
                <a:latin typeface="宋体"/>
                <a:cs typeface="宋体"/>
              </a:rPr>
              <a:t>验证</a:t>
            </a:r>
            <a:endParaRPr sz="700">
              <a:latin typeface="宋体"/>
              <a:cs typeface="宋体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6572005" y="4948082"/>
            <a:ext cx="1005840" cy="188595"/>
          </a:xfrm>
          <a:custGeom>
            <a:avLst/>
            <a:gdLst/>
            <a:ahLst/>
            <a:cxnLst/>
            <a:rect l="l" t="t" r="r" b="b"/>
            <a:pathLst>
              <a:path w="1005840" h="188595">
                <a:moveTo>
                  <a:pt x="0" y="0"/>
                </a:moveTo>
                <a:lnTo>
                  <a:pt x="0" y="117910"/>
                </a:lnTo>
                <a:lnTo>
                  <a:pt x="1005436" y="117910"/>
                </a:lnTo>
                <a:lnTo>
                  <a:pt x="1005436" y="188339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7546850" y="5128765"/>
            <a:ext cx="61594" cy="92075"/>
          </a:xfrm>
          <a:custGeom>
            <a:avLst/>
            <a:gdLst/>
            <a:ahLst/>
            <a:cxnLst/>
            <a:rect l="l" t="t" r="r" b="b"/>
            <a:pathLst>
              <a:path w="61595" h="92075">
                <a:moveTo>
                  <a:pt x="61183" y="0"/>
                </a:moveTo>
                <a:lnTo>
                  <a:pt x="0" y="0"/>
                </a:lnTo>
                <a:lnTo>
                  <a:pt x="30591" y="91878"/>
                </a:lnTo>
                <a:lnTo>
                  <a:pt x="6118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7577442" y="4948082"/>
            <a:ext cx="974090" cy="188595"/>
          </a:xfrm>
          <a:custGeom>
            <a:avLst/>
            <a:gdLst/>
            <a:ahLst/>
            <a:cxnLst/>
            <a:rect l="l" t="t" r="r" b="b"/>
            <a:pathLst>
              <a:path w="974090" h="188595">
                <a:moveTo>
                  <a:pt x="973946" y="0"/>
                </a:moveTo>
                <a:lnTo>
                  <a:pt x="973946" y="117910"/>
                </a:lnTo>
                <a:lnTo>
                  <a:pt x="0" y="117910"/>
                </a:lnTo>
                <a:lnTo>
                  <a:pt x="0" y="188339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7546850" y="5128765"/>
            <a:ext cx="61594" cy="92075"/>
          </a:xfrm>
          <a:custGeom>
            <a:avLst/>
            <a:gdLst/>
            <a:ahLst/>
            <a:cxnLst/>
            <a:rect l="l" t="t" r="r" b="b"/>
            <a:pathLst>
              <a:path w="61595" h="92075">
                <a:moveTo>
                  <a:pt x="61183" y="0"/>
                </a:moveTo>
                <a:lnTo>
                  <a:pt x="0" y="0"/>
                </a:lnTo>
                <a:lnTo>
                  <a:pt x="30591" y="91878"/>
                </a:lnTo>
                <a:lnTo>
                  <a:pt x="6118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7563698" y="385782"/>
            <a:ext cx="0" cy="100330"/>
          </a:xfrm>
          <a:custGeom>
            <a:avLst/>
            <a:gdLst/>
            <a:ahLst/>
            <a:cxnLst/>
            <a:rect l="l" t="t" r="r" b="b"/>
            <a:pathLst>
              <a:path h="100329">
                <a:moveTo>
                  <a:pt x="0" y="0"/>
                </a:moveTo>
                <a:lnTo>
                  <a:pt x="0" y="100209"/>
                </a:lnTo>
              </a:path>
            </a:pathLst>
          </a:custGeom>
          <a:ln w="487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7531997" y="609485"/>
            <a:ext cx="61594" cy="92710"/>
          </a:xfrm>
          <a:custGeom>
            <a:avLst/>
            <a:gdLst/>
            <a:ahLst/>
            <a:cxnLst/>
            <a:rect l="l" t="t" r="r" b="b"/>
            <a:pathLst>
              <a:path w="61595" h="92709">
                <a:moveTo>
                  <a:pt x="0" y="0"/>
                </a:moveTo>
                <a:lnTo>
                  <a:pt x="29705" y="92210"/>
                </a:lnTo>
                <a:lnTo>
                  <a:pt x="61183" y="66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 txBox="1"/>
          <p:nvPr/>
        </p:nvSpPr>
        <p:spPr>
          <a:xfrm>
            <a:off x="7461883" y="472173"/>
            <a:ext cx="20320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" dirty="0">
                <a:latin typeface="宋体"/>
                <a:cs typeface="宋体"/>
              </a:rPr>
              <a:t>问题</a:t>
            </a:r>
            <a:endParaRPr sz="700">
              <a:latin typeface="宋体"/>
              <a:cs typeface="宋体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7577442" y="5807800"/>
            <a:ext cx="0" cy="62230"/>
          </a:xfrm>
          <a:custGeom>
            <a:avLst/>
            <a:gdLst/>
            <a:ahLst/>
            <a:cxnLst/>
            <a:rect l="l" t="t" r="r" b="b"/>
            <a:pathLst>
              <a:path h="62229">
                <a:moveTo>
                  <a:pt x="0" y="0"/>
                </a:moveTo>
                <a:lnTo>
                  <a:pt x="0" y="62162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7546850" y="5957070"/>
            <a:ext cx="61594" cy="92075"/>
          </a:xfrm>
          <a:custGeom>
            <a:avLst/>
            <a:gdLst/>
            <a:ahLst/>
            <a:cxnLst/>
            <a:rect l="l" t="t" r="r" b="b"/>
            <a:pathLst>
              <a:path w="61595" h="92075">
                <a:moveTo>
                  <a:pt x="61183" y="0"/>
                </a:moveTo>
                <a:lnTo>
                  <a:pt x="0" y="0"/>
                </a:lnTo>
                <a:lnTo>
                  <a:pt x="30591" y="91878"/>
                </a:lnTo>
                <a:lnTo>
                  <a:pt x="6118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7307215" y="5869963"/>
            <a:ext cx="532130" cy="116839"/>
          </a:xfrm>
          <a:custGeom>
            <a:avLst/>
            <a:gdLst/>
            <a:ahLst/>
            <a:cxnLst/>
            <a:rect l="l" t="t" r="r" b="b"/>
            <a:pathLst>
              <a:path w="532129" h="116839">
                <a:moveTo>
                  <a:pt x="0" y="116834"/>
                </a:moveTo>
                <a:lnTo>
                  <a:pt x="532029" y="116834"/>
                </a:lnTo>
                <a:lnTo>
                  <a:pt x="532029" y="0"/>
                </a:lnTo>
                <a:lnTo>
                  <a:pt x="0" y="0"/>
                </a:lnTo>
                <a:lnTo>
                  <a:pt x="0" y="11683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 txBox="1"/>
          <p:nvPr/>
        </p:nvSpPr>
        <p:spPr>
          <a:xfrm>
            <a:off x="7298727" y="5856121"/>
            <a:ext cx="55753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" dirty="0">
                <a:latin typeface="MS Gothic"/>
                <a:cs typeface="MS Gothic"/>
              </a:rPr>
              <a:t>需求</a:t>
            </a:r>
            <a:r>
              <a:rPr sz="700" spc="-5" dirty="0">
                <a:latin typeface="宋体"/>
                <a:cs typeface="宋体"/>
              </a:rPr>
              <a:t>规</a:t>
            </a:r>
            <a:r>
              <a:rPr sz="700" spc="-5" dirty="0">
                <a:latin typeface="MS Gothic"/>
                <a:cs typeface="MS Gothic"/>
              </a:rPr>
              <a:t>格</a:t>
            </a:r>
            <a:r>
              <a:rPr sz="700" spc="-5" dirty="0">
                <a:latin typeface="宋体"/>
                <a:cs typeface="宋体"/>
              </a:rPr>
              <a:t>说</a:t>
            </a:r>
            <a:r>
              <a:rPr sz="700" spc="-5" dirty="0">
                <a:latin typeface="MS Gothic"/>
                <a:cs typeface="MS Gothic"/>
              </a:rPr>
              <a:t>明</a:t>
            </a:r>
            <a:endParaRPr sz="700">
              <a:latin typeface="MS Gothic"/>
              <a:cs typeface="MS Gothic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7219208" y="3070636"/>
            <a:ext cx="685165" cy="347980"/>
          </a:xfrm>
          <a:prstGeom prst="rect">
            <a:avLst/>
          </a:prstGeom>
          <a:solidFill>
            <a:srgbClr val="E8EEF7"/>
          </a:solidFill>
          <a:ln w="317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520"/>
              </a:lnSpc>
            </a:pPr>
            <a:r>
              <a:rPr sz="500" spc="20" dirty="0">
                <a:latin typeface="MS Gothic"/>
                <a:cs typeface="MS Gothic"/>
              </a:rPr>
              <a:t>性能需求</a:t>
            </a:r>
            <a:endParaRPr sz="500">
              <a:latin typeface="MS Gothic"/>
              <a:cs typeface="MS Gothic"/>
            </a:endParaRPr>
          </a:p>
          <a:p>
            <a:pPr marL="208915" marR="201295" algn="ctr">
              <a:lnSpc>
                <a:spcPct val="114999"/>
              </a:lnSpc>
            </a:pPr>
            <a:r>
              <a:rPr sz="500" spc="20" dirty="0">
                <a:latin typeface="宋体"/>
                <a:cs typeface="宋体"/>
              </a:rPr>
              <a:t>质量属性 对外接口 约束</a:t>
            </a:r>
            <a:endParaRPr sz="500">
              <a:latin typeface="宋体"/>
              <a:cs typeface="宋体"/>
            </a:endParaRPr>
          </a:p>
        </p:txBody>
      </p:sp>
      <p:sp>
        <p:nvSpPr>
          <p:cNvPr id="60" name="object 60"/>
          <p:cNvSpPr/>
          <p:nvPr/>
        </p:nvSpPr>
        <p:spPr>
          <a:xfrm>
            <a:off x="7561702" y="2767188"/>
            <a:ext cx="0" cy="209550"/>
          </a:xfrm>
          <a:custGeom>
            <a:avLst/>
            <a:gdLst/>
            <a:ahLst/>
            <a:cxnLst/>
            <a:rect l="l" t="t" r="r" b="b"/>
            <a:pathLst>
              <a:path h="209550">
                <a:moveTo>
                  <a:pt x="0" y="0"/>
                </a:moveTo>
                <a:lnTo>
                  <a:pt x="0" y="209389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7531111" y="2968920"/>
            <a:ext cx="61594" cy="92075"/>
          </a:xfrm>
          <a:custGeom>
            <a:avLst/>
            <a:gdLst/>
            <a:ahLst/>
            <a:cxnLst/>
            <a:rect l="l" t="t" r="r" b="b"/>
            <a:pathLst>
              <a:path w="61595" h="92075">
                <a:moveTo>
                  <a:pt x="61183" y="0"/>
                </a:moveTo>
                <a:lnTo>
                  <a:pt x="0" y="0"/>
                </a:lnTo>
                <a:lnTo>
                  <a:pt x="30591" y="91879"/>
                </a:lnTo>
                <a:lnTo>
                  <a:pt x="6118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7561702" y="3406787"/>
            <a:ext cx="0" cy="225425"/>
          </a:xfrm>
          <a:custGeom>
            <a:avLst/>
            <a:gdLst/>
            <a:ahLst/>
            <a:cxnLst/>
            <a:rect l="l" t="t" r="r" b="b"/>
            <a:pathLst>
              <a:path h="225425">
                <a:moveTo>
                  <a:pt x="0" y="0"/>
                </a:moveTo>
                <a:lnTo>
                  <a:pt x="0" y="225035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7531111" y="3624165"/>
            <a:ext cx="61594" cy="92075"/>
          </a:xfrm>
          <a:custGeom>
            <a:avLst/>
            <a:gdLst/>
            <a:ahLst/>
            <a:cxnLst/>
            <a:rect l="l" t="t" r="r" b="b"/>
            <a:pathLst>
              <a:path w="61595" h="92075">
                <a:moveTo>
                  <a:pt x="61183" y="0"/>
                </a:moveTo>
                <a:lnTo>
                  <a:pt x="0" y="0"/>
                </a:lnTo>
                <a:lnTo>
                  <a:pt x="30591" y="91878"/>
                </a:lnTo>
                <a:lnTo>
                  <a:pt x="6118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需求工程的路线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267268" y="1547060"/>
            <a:ext cx="644525" cy="387350"/>
          </a:xfrm>
          <a:prstGeom prst="rect">
            <a:avLst/>
          </a:prstGeom>
          <a:solidFill>
            <a:srgbClr val="E8EEF7"/>
          </a:solidFill>
          <a:ln w="3175">
            <a:solidFill>
              <a:srgbClr val="000000"/>
            </a:solidFill>
          </a:ln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sz="900">
              <a:latin typeface="Times New Roman"/>
              <a:cs typeface="Times New Roman"/>
            </a:endParaRPr>
          </a:p>
          <a:p>
            <a:pPr marL="139700">
              <a:lnSpc>
                <a:spcPct val="100000"/>
              </a:lnSpc>
              <a:spcBef>
                <a:spcPts val="5"/>
              </a:spcBef>
            </a:pPr>
            <a:r>
              <a:rPr sz="700" spc="15" dirty="0">
                <a:latin typeface="宋体"/>
                <a:cs typeface="宋体"/>
              </a:rPr>
              <a:t>业务需求</a:t>
            </a:r>
            <a:endParaRPr sz="7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88456" y="3040676"/>
            <a:ext cx="708660" cy="353060"/>
          </a:xfrm>
          <a:prstGeom prst="rect">
            <a:avLst/>
          </a:prstGeom>
          <a:solidFill>
            <a:srgbClr val="E8EEF7"/>
          </a:solidFill>
          <a:ln w="317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850">
              <a:latin typeface="Times New Roman"/>
              <a:cs typeface="Times New Roman"/>
            </a:endParaRPr>
          </a:p>
          <a:p>
            <a:pPr marL="172085">
              <a:lnSpc>
                <a:spcPct val="100000"/>
              </a:lnSpc>
            </a:pPr>
            <a:r>
              <a:rPr sz="700" spc="15" dirty="0">
                <a:latin typeface="MS Gothic"/>
                <a:cs typeface="MS Gothic"/>
              </a:rPr>
              <a:t>用</a:t>
            </a:r>
            <a:r>
              <a:rPr sz="700" spc="15" dirty="0">
                <a:latin typeface="宋体"/>
                <a:cs typeface="宋体"/>
              </a:rPr>
              <a:t>户</a:t>
            </a:r>
            <a:r>
              <a:rPr sz="700" spc="15" dirty="0">
                <a:latin typeface="MS Gothic"/>
                <a:cs typeface="MS Gothic"/>
              </a:rPr>
              <a:t>需求</a:t>
            </a:r>
            <a:endParaRPr sz="700">
              <a:latin typeface="MS Gothic"/>
              <a:cs typeface="MS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249544" y="3040676"/>
            <a:ext cx="708660" cy="356870"/>
          </a:xfrm>
          <a:prstGeom prst="rect">
            <a:avLst/>
          </a:prstGeom>
          <a:solidFill>
            <a:srgbClr val="E8EEF7"/>
          </a:solidFill>
          <a:ln w="317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850">
              <a:latin typeface="Times New Roman"/>
              <a:cs typeface="Times New Roman"/>
            </a:endParaRPr>
          </a:p>
          <a:p>
            <a:pPr marL="127000">
              <a:lnSpc>
                <a:spcPct val="100000"/>
              </a:lnSpc>
            </a:pPr>
            <a:r>
              <a:rPr sz="700" spc="15" dirty="0">
                <a:latin typeface="宋体"/>
                <a:cs typeface="宋体"/>
              </a:rPr>
              <a:t>问题域特性</a:t>
            </a:r>
            <a:endParaRPr sz="7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20666" y="4610861"/>
            <a:ext cx="708660" cy="354965"/>
          </a:xfrm>
          <a:prstGeom prst="rect">
            <a:avLst/>
          </a:prstGeom>
          <a:solidFill>
            <a:srgbClr val="E8EEF7"/>
          </a:solidFill>
          <a:ln w="3175">
            <a:solidFill>
              <a:srgbClr val="000000"/>
            </a:solidFill>
          </a:ln>
        </p:spPr>
        <p:txBody>
          <a:bodyPr vert="horz" wrap="square" lIns="0" tIns="12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"/>
              </a:spcBef>
            </a:pPr>
            <a:endParaRPr sz="800">
              <a:latin typeface="Times New Roman"/>
              <a:cs typeface="Times New Roman"/>
            </a:endParaRPr>
          </a:p>
          <a:p>
            <a:pPr marL="172085">
              <a:lnSpc>
                <a:spcPct val="100000"/>
              </a:lnSpc>
            </a:pPr>
            <a:r>
              <a:rPr sz="700" spc="15" dirty="0">
                <a:latin typeface="MS Gothic"/>
                <a:cs typeface="MS Gothic"/>
              </a:rPr>
              <a:t>系</a:t>
            </a:r>
            <a:r>
              <a:rPr sz="700" spc="15" dirty="0">
                <a:latin typeface="宋体"/>
                <a:cs typeface="宋体"/>
              </a:rPr>
              <a:t>统</a:t>
            </a:r>
            <a:r>
              <a:rPr sz="700" spc="15" dirty="0">
                <a:latin typeface="MS Gothic"/>
                <a:cs typeface="MS Gothic"/>
              </a:rPr>
              <a:t>需求</a:t>
            </a:r>
            <a:endParaRPr sz="700">
              <a:latin typeface="MS Gothic"/>
              <a:cs typeface="MS Gothic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138490" y="2127589"/>
            <a:ext cx="902335" cy="601980"/>
          </a:xfrm>
          <a:custGeom>
            <a:avLst/>
            <a:gdLst/>
            <a:ahLst/>
            <a:cxnLst/>
            <a:rect l="l" t="t" r="r" b="b"/>
            <a:pathLst>
              <a:path w="902334" h="601980">
                <a:moveTo>
                  <a:pt x="450862" y="0"/>
                </a:moveTo>
                <a:lnTo>
                  <a:pt x="394301" y="2344"/>
                </a:lnTo>
                <a:lnTo>
                  <a:pt x="339838" y="9189"/>
                </a:lnTo>
                <a:lnTo>
                  <a:pt x="287896" y="20252"/>
                </a:lnTo>
                <a:lnTo>
                  <a:pt x="238896" y="35253"/>
                </a:lnTo>
                <a:lnTo>
                  <a:pt x="193262" y="53909"/>
                </a:lnTo>
                <a:lnTo>
                  <a:pt x="151414" y="75938"/>
                </a:lnTo>
                <a:lnTo>
                  <a:pt x="113777" y="101059"/>
                </a:lnTo>
                <a:lnTo>
                  <a:pt x="80771" y="128989"/>
                </a:lnTo>
                <a:lnTo>
                  <a:pt x="52819" y="159448"/>
                </a:lnTo>
                <a:lnTo>
                  <a:pt x="30344" y="192152"/>
                </a:lnTo>
                <a:lnTo>
                  <a:pt x="13767" y="226821"/>
                </a:lnTo>
                <a:lnTo>
                  <a:pt x="0" y="300925"/>
                </a:lnTo>
                <a:lnTo>
                  <a:pt x="3512" y="338701"/>
                </a:lnTo>
                <a:lnTo>
                  <a:pt x="30344" y="409759"/>
                </a:lnTo>
                <a:lnTo>
                  <a:pt x="52819" y="442477"/>
                </a:lnTo>
                <a:lnTo>
                  <a:pt x="80771" y="472947"/>
                </a:lnTo>
                <a:lnTo>
                  <a:pt x="113777" y="500886"/>
                </a:lnTo>
                <a:lnTo>
                  <a:pt x="151414" y="526013"/>
                </a:lnTo>
                <a:lnTo>
                  <a:pt x="193262" y="548047"/>
                </a:lnTo>
                <a:lnTo>
                  <a:pt x="238896" y="566706"/>
                </a:lnTo>
                <a:lnTo>
                  <a:pt x="287896" y="581709"/>
                </a:lnTo>
                <a:lnTo>
                  <a:pt x="339838" y="592773"/>
                </a:lnTo>
                <a:lnTo>
                  <a:pt x="394301" y="599619"/>
                </a:lnTo>
                <a:lnTo>
                  <a:pt x="450862" y="601963"/>
                </a:lnTo>
                <a:lnTo>
                  <a:pt x="507424" y="599619"/>
                </a:lnTo>
                <a:lnTo>
                  <a:pt x="561890" y="592773"/>
                </a:lnTo>
                <a:lnTo>
                  <a:pt x="613836" y="581709"/>
                </a:lnTo>
                <a:lnTo>
                  <a:pt x="662841" y="566706"/>
                </a:lnTo>
                <a:lnTo>
                  <a:pt x="708482" y="548047"/>
                </a:lnTo>
                <a:lnTo>
                  <a:pt x="750335" y="526013"/>
                </a:lnTo>
                <a:lnTo>
                  <a:pt x="787980" y="500886"/>
                </a:lnTo>
                <a:lnTo>
                  <a:pt x="820992" y="472947"/>
                </a:lnTo>
                <a:lnTo>
                  <a:pt x="848949" y="442477"/>
                </a:lnTo>
                <a:lnTo>
                  <a:pt x="871430" y="409759"/>
                </a:lnTo>
                <a:lnTo>
                  <a:pt x="888010" y="375073"/>
                </a:lnTo>
                <a:lnTo>
                  <a:pt x="901782" y="300925"/>
                </a:lnTo>
                <a:lnTo>
                  <a:pt x="898269" y="263173"/>
                </a:lnTo>
                <a:lnTo>
                  <a:pt x="871430" y="192152"/>
                </a:lnTo>
                <a:lnTo>
                  <a:pt x="848949" y="159448"/>
                </a:lnTo>
                <a:lnTo>
                  <a:pt x="820992" y="128989"/>
                </a:lnTo>
                <a:lnTo>
                  <a:pt x="787980" y="101059"/>
                </a:lnTo>
                <a:lnTo>
                  <a:pt x="750335" y="75938"/>
                </a:lnTo>
                <a:lnTo>
                  <a:pt x="708482" y="53909"/>
                </a:lnTo>
                <a:lnTo>
                  <a:pt x="662841" y="35253"/>
                </a:lnTo>
                <a:lnTo>
                  <a:pt x="613836" y="20252"/>
                </a:lnTo>
                <a:lnTo>
                  <a:pt x="561890" y="9189"/>
                </a:lnTo>
                <a:lnTo>
                  <a:pt x="507424" y="2344"/>
                </a:lnTo>
                <a:lnTo>
                  <a:pt x="450862" y="0"/>
                </a:lnTo>
                <a:close/>
              </a:path>
            </a:pathLst>
          </a:custGeom>
          <a:solidFill>
            <a:srgbClr val="E8EE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138490" y="2127589"/>
            <a:ext cx="902335" cy="601980"/>
          </a:xfrm>
          <a:custGeom>
            <a:avLst/>
            <a:gdLst/>
            <a:ahLst/>
            <a:cxnLst/>
            <a:rect l="l" t="t" r="r" b="b"/>
            <a:pathLst>
              <a:path w="902334" h="601980">
                <a:moveTo>
                  <a:pt x="0" y="300924"/>
                </a:moveTo>
                <a:lnTo>
                  <a:pt x="13768" y="226821"/>
                </a:lnTo>
                <a:lnTo>
                  <a:pt x="30344" y="192152"/>
                </a:lnTo>
                <a:lnTo>
                  <a:pt x="52819" y="159448"/>
                </a:lnTo>
                <a:lnTo>
                  <a:pt x="80771" y="128989"/>
                </a:lnTo>
                <a:lnTo>
                  <a:pt x="113777" y="101059"/>
                </a:lnTo>
                <a:lnTo>
                  <a:pt x="151415" y="75938"/>
                </a:lnTo>
                <a:lnTo>
                  <a:pt x="193262" y="53909"/>
                </a:lnTo>
                <a:lnTo>
                  <a:pt x="238897" y="35253"/>
                </a:lnTo>
                <a:lnTo>
                  <a:pt x="287896" y="20252"/>
                </a:lnTo>
                <a:lnTo>
                  <a:pt x="339839" y="9189"/>
                </a:lnTo>
                <a:lnTo>
                  <a:pt x="394302" y="2344"/>
                </a:lnTo>
                <a:lnTo>
                  <a:pt x="450863" y="0"/>
                </a:lnTo>
                <a:lnTo>
                  <a:pt x="507425" y="2344"/>
                </a:lnTo>
                <a:lnTo>
                  <a:pt x="561890" y="9189"/>
                </a:lnTo>
                <a:lnTo>
                  <a:pt x="613837" y="20252"/>
                </a:lnTo>
                <a:lnTo>
                  <a:pt x="662842" y="35253"/>
                </a:lnTo>
                <a:lnTo>
                  <a:pt x="708482" y="53909"/>
                </a:lnTo>
                <a:lnTo>
                  <a:pt x="750336" y="75938"/>
                </a:lnTo>
                <a:lnTo>
                  <a:pt x="787980" y="101059"/>
                </a:lnTo>
                <a:lnTo>
                  <a:pt x="820992" y="128989"/>
                </a:lnTo>
                <a:lnTo>
                  <a:pt x="848950" y="159448"/>
                </a:lnTo>
                <a:lnTo>
                  <a:pt x="871430" y="192152"/>
                </a:lnTo>
                <a:lnTo>
                  <a:pt x="888011" y="226821"/>
                </a:lnTo>
                <a:lnTo>
                  <a:pt x="901783" y="300924"/>
                </a:lnTo>
                <a:lnTo>
                  <a:pt x="898269" y="338701"/>
                </a:lnTo>
                <a:lnTo>
                  <a:pt x="888011" y="375072"/>
                </a:lnTo>
                <a:lnTo>
                  <a:pt x="871430" y="409758"/>
                </a:lnTo>
                <a:lnTo>
                  <a:pt x="848950" y="442477"/>
                </a:lnTo>
                <a:lnTo>
                  <a:pt x="820992" y="472947"/>
                </a:lnTo>
                <a:lnTo>
                  <a:pt x="787980" y="500886"/>
                </a:lnTo>
                <a:lnTo>
                  <a:pt x="750336" y="526013"/>
                </a:lnTo>
                <a:lnTo>
                  <a:pt x="708482" y="548047"/>
                </a:lnTo>
                <a:lnTo>
                  <a:pt x="662842" y="566706"/>
                </a:lnTo>
                <a:lnTo>
                  <a:pt x="613837" y="581709"/>
                </a:lnTo>
                <a:lnTo>
                  <a:pt x="561890" y="592773"/>
                </a:lnTo>
                <a:lnTo>
                  <a:pt x="507425" y="599619"/>
                </a:lnTo>
                <a:lnTo>
                  <a:pt x="450863" y="601963"/>
                </a:lnTo>
                <a:lnTo>
                  <a:pt x="394302" y="599619"/>
                </a:lnTo>
                <a:lnTo>
                  <a:pt x="339839" y="592773"/>
                </a:lnTo>
                <a:lnTo>
                  <a:pt x="287896" y="581709"/>
                </a:lnTo>
                <a:lnTo>
                  <a:pt x="238897" y="566706"/>
                </a:lnTo>
                <a:lnTo>
                  <a:pt x="193262" y="548047"/>
                </a:lnTo>
                <a:lnTo>
                  <a:pt x="151415" y="526013"/>
                </a:lnTo>
                <a:lnTo>
                  <a:pt x="113777" y="500886"/>
                </a:lnTo>
                <a:lnTo>
                  <a:pt x="80771" y="472947"/>
                </a:lnTo>
                <a:lnTo>
                  <a:pt x="52819" y="442477"/>
                </a:lnTo>
                <a:lnTo>
                  <a:pt x="30344" y="409758"/>
                </a:lnTo>
                <a:lnTo>
                  <a:pt x="13768" y="375072"/>
                </a:lnTo>
                <a:lnTo>
                  <a:pt x="3512" y="338701"/>
                </a:lnTo>
                <a:lnTo>
                  <a:pt x="0" y="300924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7394877" y="2354833"/>
            <a:ext cx="389255" cy="1346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700" spc="15" dirty="0">
                <a:latin typeface="MS Gothic"/>
                <a:cs typeface="MS Gothic"/>
              </a:rPr>
              <a:t>需求</a:t>
            </a:r>
            <a:r>
              <a:rPr sz="700" spc="15" dirty="0">
                <a:latin typeface="宋体"/>
                <a:cs typeface="宋体"/>
              </a:rPr>
              <a:t>获</a:t>
            </a:r>
            <a:r>
              <a:rPr sz="700" spc="15" dirty="0">
                <a:latin typeface="MS Gothic"/>
                <a:cs typeface="MS Gothic"/>
              </a:rPr>
              <a:t>取</a:t>
            </a:r>
            <a:endParaRPr sz="700">
              <a:latin typeface="MS Gothic"/>
              <a:cs typeface="MS Gothic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589353" y="1934064"/>
            <a:ext cx="0" cy="107314"/>
          </a:xfrm>
          <a:custGeom>
            <a:avLst/>
            <a:gdLst/>
            <a:ahLst/>
            <a:cxnLst/>
            <a:rect l="l" t="t" r="r" b="b"/>
            <a:pathLst>
              <a:path h="107314">
                <a:moveTo>
                  <a:pt x="0" y="0"/>
                </a:moveTo>
                <a:lnTo>
                  <a:pt x="0" y="107172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557997" y="2033386"/>
            <a:ext cx="62865" cy="94615"/>
          </a:xfrm>
          <a:custGeom>
            <a:avLst/>
            <a:gdLst/>
            <a:ahLst/>
            <a:cxnLst/>
            <a:rect l="l" t="t" r="r" b="b"/>
            <a:pathLst>
              <a:path w="62865" h="94614">
                <a:moveTo>
                  <a:pt x="62712" y="0"/>
                </a:moveTo>
                <a:lnTo>
                  <a:pt x="0" y="0"/>
                </a:lnTo>
                <a:lnTo>
                  <a:pt x="31356" y="94202"/>
                </a:lnTo>
                <a:lnTo>
                  <a:pt x="627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542706" y="2729552"/>
            <a:ext cx="1047115" cy="231140"/>
          </a:xfrm>
          <a:custGeom>
            <a:avLst/>
            <a:gdLst/>
            <a:ahLst/>
            <a:cxnLst/>
            <a:rect l="l" t="t" r="r" b="b"/>
            <a:pathLst>
              <a:path w="1047115" h="231139">
                <a:moveTo>
                  <a:pt x="1046647" y="0"/>
                </a:moveTo>
                <a:lnTo>
                  <a:pt x="1046647" y="139711"/>
                </a:lnTo>
                <a:lnTo>
                  <a:pt x="0" y="139711"/>
                </a:lnTo>
                <a:lnTo>
                  <a:pt x="0" y="230841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511349" y="2952544"/>
            <a:ext cx="62865" cy="94615"/>
          </a:xfrm>
          <a:custGeom>
            <a:avLst/>
            <a:gdLst/>
            <a:ahLst/>
            <a:cxnLst/>
            <a:rect l="l" t="t" r="r" b="b"/>
            <a:pathLst>
              <a:path w="62865" h="94614">
                <a:moveTo>
                  <a:pt x="62712" y="0"/>
                </a:moveTo>
                <a:lnTo>
                  <a:pt x="0" y="0"/>
                </a:lnTo>
                <a:lnTo>
                  <a:pt x="31356" y="94202"/>
                </a:lnTo>
                <a:lnTo>
                  <a:pt x="627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589353" y="2729552"/>
            <a:ext cx="1014730" cy="231140"/>
          </a:xfrm>
          <a:custGeom>
            <a:avLst/>
            <a:gdLst/>
            <a:ahLst/>
            <a:cxnLst/>
            <a:rect l="l" t="t" r="r" b="b"/>
            <a:pathLst>
              <a:path w="1014729" h="231139">
                <a:moveTo>
                  <a:pt x="0" y="0"/>
                </a:moveTo>
                <a:lnTo>
                  <a:pt x="0" y="139711"/>
                </a:lnTo>
                <a:lnTo>
                  <a:pt x="1014427" y="139711"/>
                </a:lnTo>
                <a:lnTo>
                  <a:pt x="1014427" y="230841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8572424" y="2952544"/>
            <a:ext cx="62865" cy="94615"/>
          </a:xfrm>
          <a:custGeom>
            <a:avLst/>
            <a:gdLst/>
            <a:ahLst/>
            <a:cxnLst/>
            <a:rect l="l" t="t" r="r" b="b"/>
            <a:pathLst>
              <a:path w="62865" h="94614">
                <a:moveTo>
                  <a:pt x="62712" y="0"/>
                </a:moveTo>
                <a:lnTo>
                  <a:pt x="0" y="0"/>
                </a:lnTo>
                <a:lnTo>
                  <a:pt x="31356" y="94202"/>
                </a:lnTo>
                <a:lnTo>
                  <a:pt x="627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138490" y="3702410"/>
            <a:ext cx="902335" cy="602615"/>
          </a:xfrm>
          <a:custGeom>
            <a:avLst/>
            <a:gdLst/>
            <a:ahLst/>
            <a:cxnLst/>
            <a:rect l="l" t="t" r="r" b="b"/>
            <a:pathLst>
              <a:path w="902334" h="602614">
                <a:moveTo>
                  <a:pt x="450862" y="0"/>
                </a:moveTo>
                <a:lnTo>
                  <a:pt x="394301" y="2346"/>
                </a:lnTo>
                <a:lnTo>
                  <a:pt x="339838" y="9196"/>
                </a:lnTo>
                <a:lnTo>
                  <a:pt x="287896" y="20268"/>
                </a:lnTo>
                <a:lnTo>
                  <a:pt x="238896" y="35278"/>
                </a:lnTo>
                <a:lnTo>
                  <a:pt x="193262" y="53946"/>
                </a:lnTo>
                <a:lnTo>
                  <a:pt x="151414" y="75988"/>
                </a:lnTo>
                <a:lnTo>
                  <a:pt x="113777" y="101122"/>
                </a:lnTo>
                <a:lnTo>
                  <a:pt x="80771" y="129065"/>
                </a:lnTo>
                <a:lnTo>
                  <a:pt x="52819" y="159535"/>
                </a:lnTo>
                <a:lnTo>
                  <a:pt x="30344" y="192250"/>
                </a:lnTo>
                <a:lnTo>
                  <a:pt x="13767" y="226927"/>
                </a:lnTo>
                <a:lnTo>
                  <a:pt x="0" y="301038"/>
                </a:lnTo>
                <a:lnTo>
                  <a:pt x="3512" y="338792"/>
                </a:lnTo>
                <a:lnTo>
                  <a:pt x="30344" y="409825"/>
                </a:lnTo>
                <a:lnTo>
                  <a:pt x="52819" y="442540"/>
                </a:lnTo>
                <a:lnTo>
                  <a:pt x="80771" y="473010"/>
                </a:lnTo>
                <a:lnTo>
                  <a:pt x="113777" y="500953"/>
                </a:lnTo>
                <a:lnTo>
                  <a:pt x="151414" y="526087"/>
                </a:lnTo>
                <a:lnTo>
                  <a:pt x="193262" y="548129"/>
                </a:lnTo>
                <a:lnTo>
                  <a:pt x="238896" y="566797"/>
                </a:lnTo>
                <a:lnTo>
                  <a:pt x="287896" y="581808"/>
                </a:lnTo>
                <a:lnTo>
                  <a:pt x="339838" y="592880"/>
                </a:lnTo>
                <a:lnTo>
                  <a:pt x="394301" y="599730"/>
                </a:lnTo>
                <a:lnTo>
                  <a:pt x="450862" y="602076"/>
                </a:lnTo>
                <a:lnTo>
                  <a:pt x="507424" y="599730"/>
                </a:lnTo>
                <a:lnTo>
                  <a:pt x="561890" y="592880"/>
                </a:lnTo>
                <a:lnTo>
                  <a:pt x="613836" y="581808"/>
                </a:lnTo>
                <a:lnTo>
                  <a:pt x="662841" y="566797"/>
                </a:lnTo>
                <a:lnTo>
                  <a:pt x="708482" y="548129"/>
                </a:lnTo>
                <a:lnTo>
                  <a:pt x="750335" y="526087"/>
                </a:lnTo>
                <a:lnTo>
                  <a:pt x="787980" y="500953"/>
                </a:lnTo>
                <a:lnTo>
                  <a:pt x="820992" y="473010"/>
                </a:lnTo>
                <a:lnTo>
                  <a:pt x="848949" y="442540"/>
                </a:lnTo>
                <a:lnTo>
                  <a:pt x="871430" y="409825"/>
                </a:lnTo>
                <a:lnTo>
                  <a:pt x="888010" y="375148"/>
                </a:lnTo>
                <a:lnTo>
                  <a:pt x="901782" y="301038"/>
                </a:lnTo>
                <a:lnTo>
                  <a:pt x="898269" y="263284"/>
                </a:lnTo>
                <a:lnTo>
                  <a:pt x="871430" y="192250"/>
                </a:lnTo>
                <a:lnTo>
                  <a:pt x="848949" y="159535"/>
                </a:lnTo>
                <a:lnTo>
                  <a:pt x="820992" y="129065"/>
                </a:lnTo>
                <a:lnTo>
                  <a:pt x="787980" y="101122"/>
                </a:lnTo>
                <a:lnTo>
                  <a:pt x="750335" y="75988"/>
                </a:lnTo>
                <a:lnTo>
                  <a:pt x="708482" y="53946"/>
                </a:lnTo>
                <a:lnTo>
                  <a:pt x="662841" y="35278"/>
                </a:lnTo>
                <a:lnTo>
                  <a:pt x="613836" y="20268"/>
                </a:lnTo>
                <a:lnTo>
                  <a:pt x="561890" y="9196"/>
                </a:lnTo>
                <a:lnTo>
                  <a:pt x="507424" y="2346"/>
                </a:lnTo>
                <a:lnTo>
                  <a:pt x="450862" y="0"/>
                </a:lnTo>
                <a:close/>
              </a:path>
            </a:pathLst>
          </a:custGeom>
          <a:solidFill>
            <a:srgbClr val="E8EE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138490" y="3702410"/>
            <a:ext cx="902335" cy="602615"/>
          </a:xfrm>
          <a:custGeom>
            <a:avLst/>
            <a:gdLst/>
            <a:ahLst/>
            <a:cxnLst/>
            <a:rect l="l" t="t" r="r" b="b"/>
            <a:pathLst>
              <a:path w="902334" h="602614">
                <a:moveTo>
                  <a:pt x="0" y="301038"/>
                </a:moveTo>
                <a:lnTo>
                  <a:pt x="13768" y="226927"/>
                </a:lnTo>
                <a:lnTo>
                  <a:pt x="30344" y="192251"/>
                </a:lnTo>
                <a:lnTo>
                  <a:pt x="52819" y="159536"/>
                </a:lnTo>
                <a:lnTo>
                  <a:pt x="80771" y="129065"/>
                </a:lnTo>
                <a:lnTo>
                  <a:pt x="113777" y="101122"/>
                </a:lnTo>
                <a:lnTo>
                  <a:pt x="151415" y="75988"/>
                </a:lnTo>
                <a:lnTo>
                  <a:pt x="193262" y="53946"/>
                </a:lnTo>
                <a:lnTo>
                  <a:pt x="238897" y="35279"/>
                </a:lnTo>
                <a:lnTo>
                  <a:pt x="287896" y="20268"/>
                </a:lnTo>
                <a:lnTo>
                  <a:pt x="339839" y="9196"/>
                </a:lnTo>
                <a:lnTo>
                  <a:pt x="394302" y="2346"/>
                </a:lnTo>
                <a:lnTo>
                  <a:pt x="450863" y="0"/>
                </a:lnTo>
                <a:lnTo>
                  <a:pt x="507425" y="2346"/>
                </a:lnTo>
                <a:lnTo>
                  <a:pt x="561890" y="9196"/>
                </a:lnTo>
                <a:lnTo>
                  <a:pt x="613837" y="20268"/>
                </a:lnTo>
                <a:lnTo>
                  <a:pt x="662842" y="35279"/>
                </a:lnTo>
                <a:lnTo>
                  <a:pt x="708482" y="53946"/>
                </a:lnTo>
                <a:lnTo>
                  <a:pt x="750336" y="75988"/>
                </a:lnTo>
                <a:lnTo>
                  <a:pt x="787980" y="101122"/>
                </a:lnTo>
                <a:lnTo>
                  <a:pt x="820992" y="129065"/>
                </a:lnTo>
                <a:lnTo>
                  <a:pt x="848950" y="159536"/>
                </a:lnTo>
                <a:lnTo>
                  <a:pt x="871430" y="192251"/>
                </a:lnTo>
                <a:lnTo>
                  <a:pt x="888011" y="226927"/>
                </a:lnTo>
                <a:lnTo>
                  <a:pt x="901783" y="301038"/>
                </a:lnTo>
                <a:lnTo>
                  <a:pt x="898269" y="338792"/>
                </a:lnTo>
                <a:lnTo>
                  <a:pt x="888011" y="375149"/>
                </a:lnTo>
                <a:lnTo>
                  <a:pt x="871430" y="409826"/>
                </a:lnTo>
                <a:lnTo>
                  <a:pt x="848950" y="442540"/>
                </a:lnTo>
                <a:lnTo>
                  <a:pt x="820992" y="473011"/>
                </a:lnTo>
                <a:lnTo>
                  <a:pt x="787980" y="500954"/>
                </a:lnTo>
                <a:lnTo>
                  <a:pt x="750336" y="526088"/>
                </a:lnTo>
                <a:lnTo>
                  <a:pt x="708482" y="548130"/>
                </a:lnTo>
                <a:lnTo>
                  <a:pt x="662842" y="566798"/>
                </a:lnTo>
                <a:lnTo>
                  <a:pt x="613837" y="581808"/>
                </a:lnTo>
                <a:lnTo>
                  <a:pt x="561890" y="592880"/>
                </a:lnTo>
                <a:lnTo>
                  <a:pt x="507425" y="599730"/>
                </a:lnTo>
                <a:lnTo>
                  <a:pt x="450863" y="602077"/>
                </a:lnTo>
                <a:lnTo>
                  <a:pt x="394302" y="599730"/>
                </a:lnTo>
                <a:lnTo>
                  <a:pt x="339839" y="592880"/>
                </a:lnTo>
                <a:lnTo>
                  <a:pt x="287896" y="581808"/>
                </a:lnTo>
                <a:lnTo>
                  <a:pt x="238897" y="566798"/>
                </a:lnTo>
                <a:lnTo>
                  <a:pt x="193262" y="548130"/>
                </a:lnTo>
                <a:lnTo>
                  <a:pt x="151415" y="526088"/>
                </a:lnTo>
                <a:lnTo>
                  <a:pt x="113777" y="500954"/>
                </a:lnTo>
                <a:lnTo>
                  <a:pt x="80771" y="473011"/>
                </a:lnTo>
                <a:lnTo>
                  <a:pt x="52819" y="442540"/>
                </a:lnTo>
                <a:lnTo>
                  <a:pt x="30344" y="409826"/>
                </a:lnTo>
                <a:lnTo>
                  <a:pt x="13768" y="375149"/>
                </a:lnTo>
                <a:lnTo>
                  <a:pt x="3512" y="338792"/>
                </a:lnTo>
                <a:lnTo>
                  <a:pt x="0" y="301038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7394877" y="3929654"/>
            <a:ext cx="389255" cy="1346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700" spc="15" dirty="0">
                <a:latin typeface="MS Gothic"/>
                <a:cs typeface="MS Gothic"/>
              </a:rPr>
              <a:t>需求分析</a:t>
            </a:r>
            <a:endParaRPr sz="700">
              <a:latin typeface="MS Gothic"/>
              <a:cs typeface="MS Gothic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6542706" y="3401485"/>
            <a:ext cx="1047115" cy="214629"/>
          </a:xfrm>
          <a:custGeom>
            <a:avLst/>
            <a:gdLst/>
            <a:ahLst/>
            <a:cxnLst/>
            <a:rect l="l" t="t" r="r" b="b"/>
            <a:pathLst>
              <a:path w="1047115" h="214629">
                <a:moveTo>
                  <a:pt x="0" y="0"/>
                </a:moveTo>
                <a:lnTo>
                  <a:pt x="0" y="80550"/>
                </a:lnTo>
                <a:lnTo>
                  <a:pt x="1046647" y="80550"/>
                </a:lnTo>
                <a:lnTo>
                  <a:pt x="1046647" y="214572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7557997" y="3608207"/>
            <a:ext cx="62865" cy="94615"/>
          </a:xfrm>
          <a:custGeom>
            <a:avLst/>
            <a:gdLst/>
            <a:ahLst/>
            <a:cxnLst/>
            <a:rect l="l" t="t" r="r" b="b"/>
            <a:pathLst>
              <a:path w="62865" h="94614">
                <a:moveTo>
                  <a:pt x="62712" y="0"/>
                </a:moveTo>
                <a:lnTo>
                  <a:pt x="0" y="0"/>
                </a:lnTo>
                <a:lnTo>
                  <a:pt x="31356" y="94203"/>
                </a:lnTo>
                <a:lnTo>
                  <a:pt x="627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7589353" y="3401485"/>
            <a:ext cx="1014730" cy="214629"/>
          </a:xfrm>
          <a:custGeom>
            <a:avLst/>
            <a:gdLst/>
            <a:ahLst/>
            <a:cxnLst/>
            <a:rect l="l" t="t" r="r" b="b"/>
            <a:pathLst>
              <a:path w="1014729" h="214629">
                <a:moveTo>
                  <a:pt x="1014427" y="0"/>
                </a:moveTo>
                <a:lnTo>
                  <a:pt x="1014427" y="80550"/>
                </a:lnTo>
                <a:lnTo>
                  <a:pt x="0" y="80550"/>
                </a:lnTo>
                <a:lnTo>
                  <a:pt x="0" y="214572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7557997" y="3608207"/>
            <a:ext cx="62865" cy="94615"/>
          </a:xfrm>
          <a:custGeom>
            <a:avLst/>
            <a:gdLst/>
            <a:ahLst/>
            <a:cxnLst/>
            <a:rect l="l" t="t" r="r" b="b"/>
            <a:pathLst>
              <a:path w="62865" h="94614">
                <a:moveTo>
                  <a:pt x="62712" y="0"/>
                </a:moveTo>
                <a:lnTo>
                  <a:pt x="0" y="0"/>
                </a:lnTo>
                <a:lnTo>
                  <a:pt x="31356" y="94203"/>
                </a:lnTo>
                <a:lnTo>
                  <a:pt x="627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6574914" y="4304487"/>
            <a:ext cx="1014730" cy="220345"/>
          </a:xfrm>
          <a:custGeom>
            <a:avLst/>
            <a:gdLst/>
            <a:ahLst/>
            <a:cxnLst/>
            <a:rect l="l" t="t" r="r" b="b"/>
            <a:pathLst>
              <a:path w="1014729" h="220345">
                <a:moveTo>
                  <a:pt x="1014439" y="0"/>
                </a:moveTo>
                <a:lnTo>
                  <a:pt x="1014439" y="120938"/>
                </a:lnTo>
                <a:lnTo>
                  <a:pt x="0" y="120938"/>
                </a:lnTo>
                <a:lnTo>
                  <a:pt x="0" y="22003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6543557" y="4516670"/>
            <a:ext cx="62865" cy="94615"/>
          </a:xfrm>
          <a:custGeom>
            <a:avLst/>
            <a:gdLst/>
            <a:ahLst/>
            <a:cxnLst/>
            <a:rect l="l" t="t" r="r" b="b"/>
            <a:pathLst>
              <a:path w="62865" h="94614">
                <a:moveTo>
                  <a:pt x="62712" y="0"/>
                </a:moveTo>
                <a:lnTo>
                  <a:pt x="0" y="0"/>
                </a:lnTo>
                <a:lnTo>
                  <a:pt x="31356" y="94203"/>
                </a:lnTo>
                <a:lnTo>
                  <a:pt x="627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7154589" y="611816"/>
            <a:ext cx="869950" cy="581025"/>
          </a:xfrm>
          <a:custGeom>
            <a:avLst/>
            <a:gdLst/>
            <a:ahLst/>
            <a:cxnLst/>
            <a:rect l="l" t="t" r="r" b="b"/>
            <a:pathLst>
              <a:path w="869950" h="581025">
                <a:moveTo>
                  <a:pt x="434764" y="0"/>
                </a:moveTo>
                <a:lnTo>
                  <a:pt x="375780" y="2649"/>
                </a:lnTo>
                <a:lnTo>
                  <a:pt x="319205" y="10366"/>
                </a:lnTo>
                <a:lnTo>
                  <a:pt x="265557" y="22805"/>
                </a:lnTo>
                <a:lnTo>
                  <a:pt x="215354" y="39621"/>
                </a:lnTo>
                <a:lnTo>
                  <a:pt x="169115" y="60468"/>
                </a:lnTo>
                <a:lnTo>
                  <a:pt x="127359" y="85001"/>
                </a:lnTo>
                <a:lnTo>
                  <a:pt x="90605" y="112873"/>
                </a:lnTo>
                <a:lnTo>
                  <a:pt x="59370" y="143739"/>
                </a:lnTo>
                <a:lnTo>
                  <a:pt x="34173" y="177253"/>
                </a:lnTo>
                <a:lnTo>
                  <a:pt x="15533" y="213070"/>
                </a:lnTo>
                <a:lnTo>
                  <a:pt x="3969" y="250844"/>
                </a:lnTo>
                <a:lnTo>
                  <a:pt x="0" y="290230"/>
                </a:lnTo>
                <a:lnTo>
                  <a:pt x="3969" y="329615"/>
                </a:lnTo>
                <a:lnTo>
                  <a:pt x="15533" y="367389"/>
                </a:lnTo>
                <a:lnTo>
                  <a:pt x="34173" y="403206"/>
                </a:lnTo>
                <a:lnTo>
                  <a:pt x="59370" y="436721"/>
                </a:lnTo>
                <a:lnTo>
                  <a:pt x="90605" y="467586"/>
                </a:lnTo>
                <a:lnTo>
                  <a:pt x="127359" y="495458"/>
                </a:lnTo>
                <a:lnTo>
                  <a:pt x="169115" y="519991"/>
                </a:lnTo>
                <a:lnTo>
                  <a:pt x="215354" y="540838"/>
                </a:lnTo>
                <a:lnTo>
                  <a:pt x="265557" y="557654"/>
                </a:lnTo>
                <a:lnTo>
                  <a:pt x="319205" y="570093"/>
                </a:lnTo>
                <a:lnTo>
                  <a:pt x="375780" y="577810"/>
                </a:lnTo>
                <a:lnTo>
                  <a:pt x="434764" y="580459"/>
                </a:lnTo>
                <a:lnTo>
                  <a:pt x="493748" y="577810"/>
                </a:lnTo>
                <a:lnTo>
                  <a:pt x="550324" y="570093"/>
                </a:lnTo>
                <a:lnTo>
                  <a:pt x="603974" y="557654"/>
                </a:lnTo>
                <a:lnTo>
                  <a:pt x="654179" y="540838"/>
                </a:lnTo>
                <a:lnTo>
                  <a:pt x="700421" y="519991"/>
                </a:lnTo>
                <a:lnTo>
                  <a:pt x="742179" y="495458"/>
                </a:lnTo>
                <a:lnTo>
                  <a:pt x="778937" y="467586"/>
                </a:lnTo>
                <a:lnTo>
                  <a:pt x="810175" y="436721"/>
                </a:lnTo>
                <a:lnTo>
                  <a:pt x="835374" y="403206"/>
                </a:lnTo>
                <a:lnTo>
                  <a:pt x="854015" y="367389"/>
                </a:lnTo>
                <a:lnTo>
                  <a:pt x="865580" y="329615"/>
                </a:lnTo>
                <a:lnTo>
                  <a:pt x="869551" y="290230"/>
                </a:lnTo>
                <a:lnTo>
                  <a:pt x="865580" y="250844"/>
                </a:lnTo>
                <a:lnTo>
                  <a:pt x="854015" y="213070"/>
                </a:lnTo>
                <a:lnTo>
                  <a:pt x="835374" y="177253"/>
                </a:lnTo>
                <a:lnTo>
                  <a:pt x="810175" y="143739"/>
                </a:lnTo>
                <a:lnTo>
                  <a:pt x="778937" y="112873"/>
                </a:lnTo>
                <a:lnTo>
                  <a:pt x="742179" y="85001"/>
                </a:lnTo>
                <a:lnTo>
                  <a:pt x="700421" y="60468"/>
                </a:lnTo>
                <a:lnTo>
                  <a:pt x="654179" y="39621"/>
                </a:lnTo>
                <a:lnTo>
                  <a:pt x="603974" y="22805"/>
                </a:lnTo>
                <a:lnTo>
                  <a:pt x="550324" y="10366"/>
                </a:lnTo>
                <a:lnTo>
                  <a:pt x="493748" y="2649"/>
                </a:lnTo>
                <a:lnTo>
                  <a:pt x="434764" y="0"/>
                </a:lnTo>
                <a:close/>
              </a:path>
            </a:pathLst>
          </a:custGeom>
          <a:solidFill>
            <a:srgbClr val="E8EE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7154589" y="611815"/>
            <a:ext cx="869950" cy="581025"/>
          </a:xfrm>
          <a:custGeom>
            <a:avLst/>
            <a:gdLst/>
            <a:ahLst/>
            <a:cxnLst/>
            <a:rect l="l" t="t" r="r" b="b"/>
            <a:pathLst>
              <a:path w="869950" h="581025">
                <a:moveTo>
                  <a:pt x="0" y="290230"/>
                </a:moveTo>
                <a:lnTo>
                  <a:pt x="3969" y="250844"/>
                </a:lnTo>
                <a:lnTo>
                  <a:pt x="15534" y="213070"/>
                </a:lnTo>
                <a:lnTo>
                  <a:pt x="34173" y="177253"/>
                </a:lnTo>
                <a:lnTo>
                  <a:pt x="59370" y="143739"/>
                </a:lnTo>
                <a:lnTo>
                  <a:pt x="90605" y="112873"/>
                </a:lnTo>
                <a:lnTo>
                  <a:pt x="127360" y="85001"/>
                </a:lnTo>
                <a:lnTo>
                  <a:pt x="169116" y="60468"/>
                </a:lnTo>
                <a:lnTo>
                  <a:pt x="215354" y="39621"/>
                </a:lnTo>
                <a:lnTo>
                  <a:pt x="265557" y="22805"/>
                </a:lnTo>
                <a:lnTo>
                  <a:pt x="319206" y="10366"/>
                </a:lnTo>
                <a:lnTo>
                  <a:pt x="375781" y="2649"/>
                </a:lnTo>
                <a:lnTo>
                  <a:pt x="434764" y="0"/>
                </a:lnTo>
                <a:lnTo>
                  <a:pt x="493748" y="2649"/>
                </a:lnTo>
                <a:lnTo>
                  <a:pt x="550324" y="10366"/>
                </a:lnTo>
                <a:lnTo>
                  <a:pt x="603974" y="22805"/>
                </a:lnTo>
                <a:lnTo>
                  <a:pt x="654180" y="39621"/>
                </a:lnTo>
                <a:lnTo>
                  <a:pt x="700421" y="60468"/>
                </a:lnTo>
                <a:lnTo>
                  <a:pt x="742180" y="85001"/>
                </a:lnTo>
                <a:lnTo>
                  <a:pt x="778938" y="112873"/>
                </a:lnTo>
                <a:lnTo>
                  <a:pt x="810175" y="143739"/>
                </a:lnTo>
                <a:lnTo>
                  <a:pt x="835374" y="177253"/>
                </a:lnTo>
                <a:lnTo>
                  <a:pt x="854016" y="213070"/>
                </a:lnTo>
                <a:lnTo>
                  <a:pt x="865581" y="250844"/>
                </a:lnTo>
                <a:lnTo>
                  <a:pt x="869551" y="290230"/>
                </a:lnTo>
                <a:lnTo>
                  <a:pt x="865581" y="329615"/>
                </a:lnTo>
                <a:lnTo>
                  <a:pt x="854016" y="367389"/>
                </a:lnTo>
                <a:lnTo>
                  <a:pt x="835374" y="403206"/>
                </a:lnTo>
                <a:lnTo>
                  <a:pt x="810175" y="436721"/>
                </a:lnTo>
                <a:lnTo>
                  <a:pt x="778938" y="467587"/>
                </a:lnTo>
                <a:lnTo>
                  <a:pt x="742180" y="495459"/>
                </a:lnTo>
                <a:lnTo>
                  <a:pt x="700421" y="519991"/>
                </a:lnTo>
                <a:lnTo>
                  <a:pt x="654180" y="540838"/>
                </a:lnTo>
                <a:lnTo>
                  <a:pt x="603974" y="557654"/>
                </a:lnTo>
                <a:lnTo>
                  <a:pt x="550324" y="570094"/>
                </a:lnTo>
                <a:lnTo>
                  <a:pt x="493748" y="577811"/>
                </a:lnTo>
                <a:lnTo>
                  <a:pt x="434764" y="580460"/>
                </a:lnTo>
                <a:lnTo>
                  <a:pt x="375781" y="577811"/>
                </a:lnTo>
                <a:lnTo>
                  <a:pt x="319206" y="570094"/>
                </a:lnTo>
                <a:lnTo>
                  <a:pt x="265557" y="557654"/>
                </a:lnTo>
                <a:lnTo>
                  <a:pt x="215354" y="540838"/>
                </a:lnTo>
                <a:lnTo>
                  <a:pt x="169116" y="519991"/>
                </a:lnTo>
                <a:lnTo>
                  <a:pt x="127360" y="495459"/>
                </a:lnTo>
                <a:lnTo>
                  <a:pt x="90605" y="467587"/>
                </a:lnTo>
                <a:lnTo>
                  <a:pt x="59370" y="436721"/>
                </a:lnTo>
                <a:lnTo>
                  <a:pt x="34173" y="403206"/>
                </a:lnTo>
                <a:lnTo>
                  <a:pt x="15534" y="367389"/>
                </a:lnTo>
                <a:lnTo>
                  <a:pt x="3969" y="329615"/>
                </a:lnTo>
                <a:lnTo>
                  <a:pt x="0" y="29023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7394763" y="757826"/>
            <a:ext cx="389255" cy="265430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0"/>
              </a:spcBef>
            </a:pPr>
            <a:r>
              <a:rPr sz="700" spc="15" dirty="0">
                <a:latin typeface="宋体"/>
                <a:cs typeface="宋体"/>
              </a:rPr>
              <a:t>问题分析</a:t>
            </a:r>
            <a:endParaRPr sz="7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spc="15" dirty="0">
                <a:latin typeface="MS Gothic"/>
                <a:cs typeface="MS Gothic"/>
              </a:rPr>
              <a:t>背景分析</a:t>
            </a:r>
            <a:endParaRPr sz="700">
              <a:latin typeface="MS Gothic"/>
              <a:cs typeface="MS Gothic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7589353" y="1192276"/>
            <a:ext cx="0" cy="268605"/>
          </a:xfrm>
          <a:custGeom>
            <a:avLst/>
            <a:gdLst/>
            <a:ahLst/>
            <a:cxnLst/>
            <a:rect l="l" t="t" r="r" b="b"/>
            <a:pathLst>
              <a:path h="268605">
                <a:moveTo>
                  <a:pt x="0" y="0"/>
                </a:moveTo>
                <a:lnTo>
                  <a:pt x="0" y="268386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7557997" y="1452812"/>
            <a:ext cx="62865" cy="94615"/>
          </a:xfrm>
          <a:custGeom>
            <a:avLst/>
            <a:gdLst/>
            <a:ahLst/>
            <a:cxnLst/>
            <a:rect l="l" t="t" r="r" b="b"/>
            <a:pathLst>
              <a:path w="62865" h="94615">
                <a:moveTo>
                  <a:pt x="62712" y="0"/>
                </a:moveTo>
                <a:lnTo>
                  <a:pt x="0" y="0"/>
                </a:lnTo>
                <a:lnTo>
                  <a:pt x="31356" y="94202"/>
                </a:lnTo>
                <a:lnTo>
                  <a:pt x="627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6220666" y="1547060"/>
            <a:ext cx="773430" cy="387350"/>
          </a:xfrm>
          <a:prstGeom prst="rect">
            <a:avLst/>
          </a:prstGeom>
          <a:solidFill>
            <a:srgbClr val="E8EEF7"/>
          </a:solidFill>
          <a:ln w="3175">
            <a:solidFill>
              <a:srgbClr val="000000"/>
            </a:solidFill>
          </a:ln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sz="900">
              <a:latin typeface="Times New Roman"/>
              <a:cs typeface="Times New Roman"/>
            </a:endParaRPr>
          </a:p>
          <a:p>
            <a:pPr marL="67945">
              <a:lnSpc>
                <a:spcPct val="100000"/>
              </a:lnSpc>
              <a:spcBef>
                <a:spcPts val="5"/>
              </a:spcBef>
            </a:pPr>
            <a:r>
              <a:rPr sz="700" spc="15" dirty="0">
                <a:latin typeface="MS Gothic"/>
                <a:cs typeface="MS Gothic"/>
              </a:rPr>
              <a:t>高</a:t>
            </a:r>
            <a:r>
              <a:rPr sz="700" spc="15" dirty="0">
                <a:latin typeface="宋体"/>
                <a:cs typeface="宋体"/>
              </a:rPr>
              <a:t>层</a:t>
            </a:r>
            <a:r>
              <a:rPr sz="700" spc="15" dirty="0">
                <a:latin typeface="MS Gothic"/>
                <a:cs typeface="MS Gothic"/>
              </a:rPr>
              <a:t>次解决方案</a:t>
            </a:r>
            <a:endParaRPr sz="700">
              <a:latin typeface="MS Gothic"/>
              <a:cs typeface="MS Gothic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8313961" y="1547060"/>
            <a:ext cx="708660" cy="387350"/>
          </a:xfrm>
          <a:prstGeom prst="rect">
            <a:avLst/>
          </a:prstGeom>
          <a:solidFill>
            <a:srgbClr val="E8EEF7"/>
          </a:solidFill>
          <a:ln w="3175">
            <a:solidFill>
              <a:srgbClr val="000000"/>
            </a:solidFill>
          </a:ln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sz="900">
              <a:latin typeface="Times New Roman"/>
              <a:cs typeface="Times New Roman"/>
            </a:endParaRPr>
          </a:p>
          <a:p>
            <a:pPr marL="172085">
              <a:lnSpc>
                <a:spcPct val="100000"/>
              </a:lnSpc>
              <a:spcBef>
                <a:spcPts val="5"/>
              </a:spcBef>
            </a:pPr>
            <a:r>
              <a:rPr sz="700" spc="15" dirty="0">
                <a:latin typeface="MS Gothic"/>
                <a:cs typeface="MS Gothic"/>
              </a:rPr>
              <a:t>系</a:t>
            </a:r>
            <a:r>
              <a:rPr sz="700" spc="15" dirty="0">
                <a:latin typeface="宋体"/>
                <a:cs typeface="宋体"/>
              </a:rPr>
              <a:t>统</a:t>
            </a:r>
            <a:r>
              <a:rPr sz="700" spc="15" dirty="0">
                <a:latin typeface="MS Gothic"/>
                <a:cs typeface="MS Gothic"/>
              </a:rPr>
              <a:t>特性</a:t>
            </a:r>
            <a:endParaRPr sz="700">
              <a:latin typeface="MS Gothic"/>
              <a:cs typeface="MS Gothic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8126504" y="1934064"/>
            <a:ext cx="542290" cy="494665"/>
          </a:xfrm>
          <a:custGeom>
            <a:avLst/>
            <a:gdLst/>
            <a:ahLst/>
            <a:cxnLst/>
            <a:rect l="l" t="t" r="r" b="b"/>
            <a:pathLst>
              <a:path w="542290" h="494664">
                <a:moveTo>
                  <a:pt x="541694" y="0"/>
                </a:moveTo>
                <a:lnTo>
                  <a:pt x="541694" y="494449"/>
                </a:lnTo>
                <a:lnTo>
                  <a:pt x="0" y="494449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8040273" y="2397113"/>
            <a:ext cx="94615" cy="62865"/>
          </a:xfrm>
          <a:custGeom>
            <a:avLst/>
            <a:gdLst/>
            <a:ahLst/>
            <a:cxnLst/>
            <a:rect l="l" t="t" r="r" b="b"/>
            <a:pathLst>
              <a:path w="94615" h="62864">
                <a:moveTo>
                  <a:pt x="94070" y="0"/>
                </a:moveTo>
                <a:lnTo>
                  <a:pt x="0" y="31400"/>
                </a:lnTo>
                <a:lnTo>
                  <a:pt x="94070" y="62801"/>
                </a:lnTo>
                <a:lnTo>
                  <a:pt x="9407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6607112" y="1934064"/>
            <a:ext cx="445770" cy="494665"/>
          </a:xfrm>
          <a:custGeom>
            <a:avLst/>
            <a:gdLst/>
            <a:ahLst/>
            <a:cxnLst/>
            <a:rect l="l" t="t" r="r" b="b"/>
            <a:pathLst>
              <a:path w="445770" h="494664">
                <a:moveTo>
                  <a:pt x="0" y="0"/>
                </a:moveTo>
                <a:lnTo>
                  <a:pt x="0" y="494449"/>
                </a:lnTo>
                <a:lnTo>
                  <a:pt x="445148" y="494449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7044420" y="2397113"/>
            <a:ext cx="94615" cy="62865"/>
          </a:xfrm>
          <a:custGeom>
            <a:avLst/>
            <a:gdLst/>
            <a:ahLst/>
            <a:cxnLst/>
            <a:rect l="l" t="t" r="r" b="b"/>
            <a:pathLst>
              <a:path w="94615" h="62864">
                <a:moveTo>
                  <a:pt x="0" y="0"/>
                </a:moveTo>
                <a:lnTo>
                  <a:pt x="0" y="62801"/>
                </a:lnTo>
                <a:lnTo>
                  <a:pt x="94070" y="314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6607112" y="1192276"/>
            <a:ext cx="982344" cy="268605"/>
          </a:xfrm>
          <a:custGeom>
            <a:avLst/>
            <a:gdLst/>
            <a:ahLst/>
            <a:cxnLst/>
            <a:rect l="l" t="t" r="r" b="b"/>
            <a:pathLst>
              <a:path w="982345" h="268605">
                <a:moveTo>
                  <a:pt x="982242" y="0"/>
                </a:moveTo>
                <a:lnTo>
                  <a:pt x="982242" y="155866"/>
                </a:lnTo>
                <a:lnTo>
                  <a:pt x="0" y="155866"/>
                </a:lnTo>
                <a:lnTo>
                  <a:pt x="0" y="268386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6575755" y="1452812"/>
            <a:ext cx="62865" cy="94615"/>
          </a:xfrm>
          <a:custGeom>
            <a:avLst/>
            <a:gdLst/>
            <a:ahLst/>
            <a:cxnLst/>
            <a:rect l="l" t="t" r="r" b="b"/>
            <a:pathLst>
              <a:path w="62865" h="94615">
                <a:moveTo>
                  <a:pt x="62712" y="0"/>
                </a:moveTo>
                <a:lnTo>
                  <a:pt x="0" y="0"/>
                </a:lnTo>
                <a:lnTo>
                  <a:pt x="31356" y="94202"/>
                </a:lnTo>
                <a:lnTo>
                  <a:pt x="627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7589353" y="1192276"/>
            <a:ext cx="1078865" cy="268605"/>
          </a:xfrm>
          <a:custGeom>
            <a:avLst/>
            <a:gdLst/>
            <a:ahLst/>
            <a:cxnLst/>
            <a:rect l="l" t="t" r="r" b="b"/>
            <a:pathLst>
              <a:path w="1078865" h="268605">
                <a:moveTo>
                  <a:pt x="0" y="0"/>
                </a:moveTo>
                <a:lnTo>
                  <a:pt x="0" y="155866"/>
                </a:lnTo>
                <a:lnTo>
                  <a:pt x="1078845" y="155866"/>
                </a:lnTo>
                <a:lnTo>
                  <a:pt x="1078845" y="268386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8636841" y="1452812"/>
            <a:ext cx="62865" cy="94615"/>
          </a:xfrm>
          <a:custGeom>
            <a:avLst/>
            <a:gdLst/>
            <a:ahLst/>
            <a:cxnLst/>
            <a:rect l="l" t="t" r="r" b="b"/>
            <a:pathLst>
              <a:path w="62865" h="94615">
                <a:moveTo>
                  <a:pt x="62713" y="0"/>
                </a:moveTo>
                <a:lnTo>
                  <a:pt x="0" y="0"/>
                </a:lnTo>
                <a:lnTo>
                  <a:pt x="31356" y="94202"/>
                </a:lnTo>
                <a:lnTo>
                  <a:pt x="6271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8249544" y="4610861"/>
            <a:ext cx="708660" cy="354965"/>
          </a:xfrm>
          <a:prstGeom prst="rect">
            <a:avLst/>
          </a:prstGeom>
          <a:solidFill>
            <a:srgbClr val="E8EEF7"/>
          </a:solidFill>
          <a:ln w="3175">
            <a:solidFill>
              <a:srgbClr val="000000"/>
            </a:solidFill>
          </a:ln>
        </p:spPr>
        <p:txBody>
          <a:bodyPr vert="horz" wrap="square" lIns="0" tIns="12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"/>
              </a:spcBef>
            </a:pPr>
            <a:endParaRPr sz="800">
              <a:latin typeface="Times New Roman"/>
              <a:cs typeface="Times New Roman"/>
            </a:endParaRPr>
          </a:p>
          <a:p>
            <a:pPr marL="172085">
              <a:lnSpc>
                <a:spcPct val="100000"/>
              </a:lnSpc>
            </a:pPr>
            <a:r>
              <a:rPr sz="700" spc="15" dirty="0">
                <a:latin typeface="MS Gothic"/>
                <a:cs typeface="MS Gothic"/>
              </a:rPr>
              <a:t>系</a:t>
            </a:r>
            <a:r>
              <a:rPr sz="700" spc="15" dirty="0">
                <a:latin typeface="宋体"/>
                <a:cs typeface="宋体"/>
              </a:rPr>
              <a:t>统</a:t>
            </a:r>
            <a:r>
              <a:rPr sz="700" spc="15" dirty="0">
                <a:latin typeface="MS Gothic"/>
                <a:cs typeface="MS Gothic"/>
              </a:rPr>
              <a:t>模型</a:t>
            </a:r>
            <a:endParaRPr sz="700">
              <a:latin typeface="MS Gothic"/>
              <a:cs typeface="MS Gothic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7589353" y="4304487"/>
            <a:ext cx="1014730" cy="220345"/>
          </a:xfrm>
          <a:custGeom>
            <a:avLst/>
            <a:gdLst/>
            <a:ahLst/>
            <a:cxnLst/>
            <a:rect l="l" t="t" r="r" b="b"/>
            <a:pathLst>
              <a:path w="1014729" h="220345">
                <a:moveTo>
                  <a:pt x="0" y="0"/>
                </a:moveTo>
                <a:lnTo>
                  <a:pt x="0" y="120938"/>
                </a:lnTo>
                <a:lnTo>
                  <a:pt x="1014427" y="120938"/>
                </a:lnTo>
                <a:lnTo>
                  <a:pt x="1014427" y="22003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8572424" y="4516670"/>
            <a:ext cx="62865" cy="94615"/>
          </a:xfrm>
          <a:custGeom>
            <a:avLst/>
            <a:gdLst/>
            <a:ahLst/>
            <a:cxnLst/>
            <a:rect l="l" t="t" r="r" b="b"/>
            <a:pathLst>
              <a:path w="62865" h="94614">
                <a:moveTo>
                  <a:pt x="62712" y="0"/>
                </a:moveTo>
                <a:lnTo>
                  <a:pt x="0" y="0"/>
                </a:lnTo>
                <a:lnTo>
                  <a:pt x="31356" y="94203"/>
                </a:lnTo>
                <a:lnTo>
                  <a:pt x="627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7154589" y="5245068"/>
            <a:ext cx="901700" cy="602615"/>
          </a:xfrm>
          <a:custGeom>
            <a:avLst/>
            <a:gdLst/>
            <a:ahLst/>
            <a:cxnLst/>
            <a:rect l="l" t="t" r="r" b="b"/>
            <a:pathLst>
              <a:path w="901700" h="602614">
                <a:moveTo>
                  <a:pt x="450896" y="0"/>
                </a:moveTo>
                <a:lnTo>
                  <a:pt x="394335" y="2345"/>
                </a:lnTo>
                <a:lnTo>
                  <a:pt x="339870" y="9193"/>
                </a:lnTo>
                <a:lnTo>
                  <a:pt x="287925" y="20262"/>
                </a:lnTo>
                <a:lnTo>
                  <a:pt x="238923" y="35268"/>
                </a:lnTo>
                <a:lnTo>
                  <a:pt x="193285" y="53932"/>
                </a:lnTo>
                <a:lnTo>
                  <a:pt x="151434" y="75969"/>
                </a:lnTo>
                <a:lnTo>
                  <a:pt x="113792" y="101098"/>
                </a:lnTo>
                <a:lnTo>
                  <a:pt x="80782" y="129037"/>
                </a:lnTo>
                <a:lnTo>
                  <a:pt x="52827" y="159504"/>
                </a:lnTo>
                <a:lnTo>
                  <a:pt x="30349" y="192216"/>
                </a:lnTo>
                <a:lnTo>
                  <a:pt x="13770" y="226891"/>
                </a:lnTo>
                <a:lnTo>
                  <a:pt x="0" y="301003"/>
                </a:lnTo>
                <a:lnTo>
                  <a:pt x="3512" y="338761"/>
                </a:lnTo>
                <a:lnTo>
                  <a:pt x="30349" y="409796"/>
                </a:lnTo>
                <a:lnTo>
                  <a:pt x="52827" y="442508"/>
                </a:lnTo>
                <a:lnTo>
                  <a:pt x="80782" y="472975"/>
                </a:lnTo>
                <a:lnTo>
                  <a:pt x="113792" y="500913"/>
                </a:lnTo>
                <a:lnTo>
                  <a:pt x="151434" y="526042"/>
                </a:lnTo>
                <a:lnTo>
                  <a:pt x="193285" y="548079"/>
                </a:lnTo>
                <a:lnTo>
                  <a:pt x="238923" y="566741"/>
                </a:lnTo>
                <a:lnTo>
                  <a:pt x="287925" y="581747"/>
                </a:lnTo>
                <a:lnTo>
                  <a:pt x="339870" y="592815"/>
                </a:lnTo>
                <a:lnTo>
                  <a:pt x="394335" y="599663"/>
                </a:lnTo>
                <a:lnTo>
                  <a:pt x="450896" y="602008"/>
                </a:lnTo>
                <a:lnTo>
                  <a:pt x="507434" y="599663"/>
                </a:lnTo>
                <a:lnTo>
                  <a:pt x="561880" y="592815"/>
                </a:lnTo>
                <a:lnTo>
                  <a:pt x="613809" y="581747"/>
                </a:lnTo>
                <a:lnTo>
                  <a:pt x="662800" y="566741"/>
                </a:lnTo>
                <a:lnTo>
                  <a:pt x="708429" y="548079"/>
                </a:lnTo>
                <a:lnTo>
                  <a:pt x="750274" y="526042"/>
                </a:lnTo>
                <a:lnTo>
                  <a:pt x="787912" y="500913"/>
                </a:lnTo>
                <a:lnTo>
                  <a:pt x="820919" y="472975"/>
                </a:lnTo>
                <a:lnTo>
                  <a:pt x="848874" y="442508"/>
                </a:lnTo>
                <a:lnTo>
                  <a:pt x="871352" y="409796"/>
                </a:lnTo>
                <a:lnTo>
                  <a:pt x="887932" y="375119"/>
                </a:lnTo>
                <a:lnTo>
                  <a:pt x="901703" y="301003"/>
                </a:lnTo>
                <a:lnTo>
                  <a:pt x="898190" y="263248"/>
                </a:lnTo>
                <a:lnTo>
                  <a:pt x="871352" y="192216"/>
                </a:lnTo>
                <a:lnTo>
                  <a:pt x="848874" y="159504"/>
                </a:lnTo>
                <a:lnTo>
                  <a:pt x="820919" y="129037"/>
                </a:lnTo>
                <a:lnTo>
                  <a:pt x="787912" y="101098"/>
                </a:lnTo>
                <a:lnTo>
                  <a:pt x="750274" y="75969"/>
                </a:lnTo>
                <a:lnTo>
                  <a:pt x="708429" y="53932"/>
                </a:lnTo>
                <a:lnTo>
                  <a:pt x="662800" y="35268"/>
                </a:lnTo>
                <a:lnTo>
                  <a:pt x="613809" y="20262"/>
                </a:lnTo>
                <a:lnTo>
                  <a:pt x="561880" y="9193"/>
                </a:lnTo>
                <a:lnTo>
                  <a:pt x="507434" y="2345"/>
                </a:lnTo>
                <a:lnTo>
                  <a:pt x="450896" y="0"/>
                </a:lnTo>
                <a:close/>
              </a:path>
            </a:pathLst>
          </a:custGeom>
          <a:solidFill>
            <a:srgbClr val="E8EE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7154589" y="5245067"/>
            <a:ext cx="901700" cy="602615"/>
          </a:xfrm>
          <a:custGeom>
            <a:avLst/>
            <a:gdLst/>
            <a:ahLst/>
            <a:cxnLst/>
            <a:rect l="l" t="t" r="r" b="b"/>
            <a:pathLst>
              <a:path w="901700" h="602614">
                <a:moveTo>
                  <a:pt x="0" y="301004"/>
                </a:moveTo>
                <a:lnTo>
                  <a:pt x="13770" y="226892"/>
                </a:lnTo>
                <a:lnTo>
                  <a:pt x="30349" y="192216"/>
                </a:lnTo>
                <a:lnTo>
                  <a:pt x="52827" y="159504"/>
                </a:lnTo>
                <a:lnTo>
                  <a:pt x="80782" y="129038"/>
                </a:lnTo>
                <a:lnTo>
                  <a:pt x="113792" y="101099"/>
                </a:lnTo>
                <a:lnTo>
                  <a:pt x="151434" y="75969"/>
                </a:lnTo>
                <a:lnTo>
                  <a:pt x="193285" y="53932"/>
                </a:lnTo>
                <a:lnTo>
                  <a:pt x="238923" y="35269"/>
                </a:lnTo>
                <a:lnTo>
                  <a:pt x="287926" y="20262"/>
                </a:lnTo>
                <a:lnTo>
                  <a:pt x="339871" y="9193"/>
                </a:lnTo>
                <a:lnTo>
                  <a:pt x="394335" y="2345"/>
                </a:lnTo>
                <a:lnTo>
                  <a:pt x="450897" y="0"/>
                </a:lnTo>
                <a:lnTo>
                  <a:pt x="507435" y="2345"/>
                </a:lnTo>
                <a:lnTo>
                  <a:pt x="561880" y="9193"/>
                </a:lnTo>
                <a:lnTo>
                  <a:pt x="613809" y="20262"/>
                </a:lnTo>
                <a:lnTo>
                  <a:pt x="662800" y="35269"/>
                </a:lnTo>
                <a:lnTo>
                  <a:pt x="708429" y="53932"/>
                </a:lnTo>
                <a:lnTo>
                  <a:pt x="750274" y="75969"/>
                </a:lnTo>
                <a:lnTo>
                  <a:pt x="787912" y="101099"/>
                </a:lnTo>
                <a:lnTo>
                  <a:pt x="820919" y="129038"/>
                </a:lnTo>
                <a:lnTo>
                  <a:pt x="848874" y="159504"/>
                </a:lnTo>
                <a:lnTo>
                  <a:pt x="871352" y="192216"/>
                </a:lnTo>
                <a:lnTo>
                  <a:pt x="887932" y="226892"/>
                </a:lnTo>
                <a:lnTo>
                  <a:pt x="901703" y="301004"/>
                </a:lnTo>
                <a:lnTo>
                  <a:pt x="898190" y="338762"/>
                </a:lnTo>
                <a:lnTo>
                  <a:pt x="887932" y="375120"/>
                </a:lnTo>
                <a:lnTo>
                  <a:pt x="871352" y="409796"/>
                </a:lnTo>
                <a:lnTo>
                  <a:pt x="848874" y="442509"/>
                </a:lnTo>
                <a:lnTo>
                  <a:pt x="820919" y="472975"/>
                </a:lnTo>
                <a:lnTo>
                  <a:pt x="787912" y="500914"/>
                </a:lnTo>
                <a:lnTo>
                  <a:pt x="750274" y="526042"/>
                </a:lnTo>
                <a:lnTo>
                  <a:pt x="708429" y="548079"/>
                </a:lnTo>
                <a:lnTo>
                  <a:pt x="662800" y="566741"/>
                </a:lnTo>
                <a:lnTo>
                  <a:pt x="613809" y="581748"/>
                </a:lnTo>
                <a:lnTo>
                  <a:pt x="561880" y="592816"/>
                </a:lnTo>
                <a:lnTo>
                  <a:pt x="507435" y="599663"/>
                </a:lnTo>
                <a:lnTo>
                  <a:pt x="450897" y="602008"/>
                </a:lnTo>
                <a:lnTo>
                  <a:pt x="394335" y="599663"/>
                </a:lnTo>
                <a:lnTo>
                  <a:pt x="339871" y="592816"/>
                </a:lnTo>
                <a:lnTo>
                  <a:pt x="287926" y="581748"/>
                </a:lnTo>
                <a:lnTo>
                  <a:pt x="238923" y="566741"/>
                </a:lnTo>
                <a:lnTo>
                  <a:pt x="193285" y="548079"/>
                </a:lnTo>
                <a:lnTo>
                  <a:pt x="151434" y="526042"/>
                </a:lnTo>
                <a:lnTo>
                  <a:pt x="113792" y="500914"/>
                </a:lnTo>
                <a:lnTo>
                  <a:pt x="80782" y="472975"/>
                </a:lnTo>
                <a:lnTo>
                  <a:pt x="52827" y="442509"/>
                </a:lnTo>
                <a:lnTo>
                  <a:pt x="30349" y="409796"/>
                </a:lnTo>
                <a:lnTo>
                  <a:pt x="13770" y="375120"/>
                </a:lnTo>
                <a:lnTo>
                  <a:pt x="3512" y="338762"/>
                </a:lnTo>
                <a:lnTo>
                  <a:pt x="0" y="301004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 txBox="1"/>
          <p:nvPr/>
        </p:nvSpPr>
        <p:spPr>
          <a:xfrm>
            <a:off x="7320121" y="5472312"/>
            <a:ext cx="570865" cy="1346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700" spc="15" dirty="0">
                <a:latin typeface="MS Gothic"/>
                <a:cs typeface="MS Gothic"/>
              </a:rPr>
              <a:t>文档化和</a:t>
            </a:r>
            <a:r>
              <a:rPr sz="700" spc="15" dirty="0">
                <a:latin typeface="宋体"/>
                <a:cs typeface="宋体"/>
              </a:rPr>
              <a:t>验证</a:t>
            </a:r>
            <a:endParaRPr sz="700">
              <a:latin typeface="宋体"/>
              <a:cs typeface="宋体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6574914" y="4965611"/>
            <a:ext cx="1030605" cy="193675"/>
          </a:xfrm>
          <a:custGeom>
            <a:avLst/>
            <a:gdLst/>
            <a:ahLst/>
            <a:cxnLst/>
            <a:rect l="l" t="t" r="r" b="b"/>
            <a:pathLst>
              <a:path w="1030604" h="193675">
                <a:moveTo>
                  <a:pt x="0" y="0"/>
                </a:moveTo>
                <a:lnTo>
                  <a:pt x="0" y="120893"/>
                </a:lnTo>
                <a:lnTo>
                  <a:pt x="1030572" y="120893"/>
                </a:lnTo>
                <a:lnTo>
                  <a:pt x="1030572" y="19310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7574129" y="5150864"/>
            <a:ext cx="62865" cy="94615"/>
          </a:xfrm>
          <a:custGeom>
            <a:avLst/>
            <a:gdLst/>
            <a:ahLst/>
            <a:cxnLst/>
            <a:rect l="l" t="t" r="r" b="b"/>
            <a:pathLst>
              <a:path w="62865" h="94614">
                <a:moveTo>
                  <a:pt x="62712" y="0"/>
                </a:moveTo>
                <a:lnTo>
                  <a:pt x="0" y="0"/>
                </a:lnTo>
                <a:lnTo>
                  <a:pt x="31356" y="94203"/>
                </a:lnTo>
                <a:lnTo>
                  <a:pt x="627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7605486" y="4965611"/>
            <a:ext cx="998855" cy="193675"/>
          </a:xfrm>
          <a:custGeom>
            <a:avLst/>
            <a:gdLst/>
            <a:ahLst/>
            <a:cxnLst/>
            <a:rect l="l" t="t" r="r" b="b"/>
            <a:pathLst>
              <a:path w="998854" h="193675">
                <a:moveTo>
                  <a:pt x="998295" y="0"/>
                </a:moveTo>
                <a:lnTo>
                  <a:pt x="998295" y="120893"/>
                </a:lnTo>
                <a:lnTo>
                  <a:pt x="0" y="120893"/>
                </a:lnTo>
                <a:lnTo>
                  <a:pt x="0" y="193103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7574129" y="5150864"/>
            <a:ext cx="62865" cy="94615"/>
          </a:xfrm>
          <a:custGeom>
            <a:avLst/>
            <a:gdLst/>
            <a:ahLst/>
            <a:cxnLst/>
            <a:rect l="l" t="t" r="r" b="b"/>
            <a:pathLst>
              <a:path w="62865" h="94614">
                <a:moveTo>
                  <a:pt x="62712" y="0"/>
                </a:moveTo>
                <a:lnTo>
                  <a:pt x="0" y="0"/>
                </a:lnTo>
                <a:lnTo>
                  <a:pt x="31356" y="94203"/>
                </a:lnTo>
                <a:lnTo>
                  <a:pt x="627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7591399" y="287911"/>
            <a:ext cx="0" cy="102870"/>
          </a:xfrm>
          <a:custGeom>
            <a:avLst/>
            <a:gdLst/>
            <a:ahLst/>
            <a:cxnLst/>
            <a:rect l="l" t="t" r="r" b="b"/>
            <a:pathLst>
              <a:path h="102870">
                <a:moveTo>
                  <a:pt x="0" y="0"/>
                </a:moveTo>
                <a:lnTo>
                  <a:pt x="0" y="102745"/>
                </a:lnTo>
              </a:path>
            </a:pathLst>
          </a:custGeom>
          <a:ln w="499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7558906" y="517272"/>
            <a:ext cx="62865" cy="94615"/>
          </a:xfrm>
          <a:custGeom>
            <a:avLst/>
            <a:gdLst/>
            <a:ahLst/>
            <a:cxnLst/>
            <a:rect l="l" t="t" r="r" b="b"/>
            <a:pathLst>
              <a:path w="62865" h="94615">
                <a:moveTo>
                  <a:pt x="0" y="0"/>
                </a:moveTo>
                <a:lnTo>
                  <a:pt x="30446" y="94543"/>
                </a:lnTo>
                <a:lnTo>
                  <a:pt x="62712" y="68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 txBox="1"/>
          <p:nvPr/>
        </p:nvSpPr>
        <p:spPr>
          <a:xfrm>
            <a:off x="7487356" y="376807"/>
            <a:ext cx="207645" cy="1346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700" spc="15" dirty="0">
                <a:latin typeface="宋体"/>
                <a:cs typeface="宋体"/>
              </a:rPr>
              <a:t>问题</a:t>
            </a:r>
            <a:endParaRPr sz="700">
              <a:latin typeface="宋体"/>
              <a:cs typeface="宋体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7605486" y="5847076"/>
            <a:ext cx="0" cy="64135"/>
          </a:xfrm>
          <a:custGeom>
            <a:avLst/>
            <a:gdLst/>
            <a:ahLst/>
            <a:cxnLst/>
            <a:rect l="l" t="t" r="r" b="b"/>
            <a:pathLst>
              <a:path h="64135">
                <a:moveTo>
                  <a:pt x="0" y="0"/>
                </a:moveTo>
                <a:lnTo>
                  <a:pt x="0" y="63734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7574129" y="6000121"/>
            <a:ext cx="62865" cy="94615"/>
          </a:xfrm>
          <a:custGeom>
            <a:avLst/>
            <a:gdLst/>
            <a:ahLst/>
            <a:cxnLst/>
            <a:rect l="l" t="t" r="r" b="b"/>
            <a:pathLst>
              <a:path w="62865" h="94614">
                <a:moveTo>
                  <a:pt x="62712" y="0"/>
                </a:moveTo>
                <a:lnTo>
                  <a:pt x="0" y="0"/>
                </a:lnTo>
                <a:lnTo>
                  <a:pt x="31356" y="94202"/>
                </a:lnTo>
                <a:lnTo>
                  <a:pt x="627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7328504" y="5910811"/>
            <a:ext cx="545465" cy="120014"/>
          </a:xfrm>
          <a:custGeom>
            <a:avLst/>
            <a:gdLst/>
            <a:ahLst/>
            <a:cxnLst/>
            <a:rect l="l" t="t" r="r" b="b"/>
            <a:pathLst>
              <a:path w="545465" h="120014">
                <a:moveTo>
                  <a:pt x="0" y="119789"/>
                </a:moveTo>
                <a:lnTo>
                  <a:pt x="545330" y="119789"/>
                </a:lnTo>
                <a:lnTo>
                  <a:pt x="545330" y="0"/>
                </a:lnTo>
                <a:lnTo>
                  <a:pt x="0" y="0"/>
                </a:lnTo>
                <a:lnTo>
                  <a:pt x="0" y="11978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 txBox="1"/>
          <p:nvPr/>
        </p:nvSpPr>
        <p:spPr>
          <a:xfrm>
            <a:off x="7320121" y="5896940"/>
            <a:ext cx="570865" cy="1346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700" spc="15" dirty="0">
                <a:latin typeface="MS Gothic"/>
                <a:cs typeface="MS Gothic"/>
              </a:rPr>
              <a:t>需求</a:t>
            </a:r>
            <a:r>
              <a:rPr sz="700" spc="15" dirty="0">
                <a:latin typeface="宋体"/>
                <a:cs typeface="宋体"/>
              </a:rPr>
              <a:t>规</a:t>
            </a:r>
            <a:r>
              <a:rPr sz="700" spc="15" dirty="0">
                <a:latin typeface="MS Gothic"/>
                <a:cs typeface="MS Gothic"/>
              </a:rPr>
              <a:t>格</a:t>
            </a:r>
            <a:r>
              <a:rPr sz="700" spc="15" dirty="0">
                <a:latin typeface="宋体"/>
                <a:cs typeface="宋体"/>
              </a:rPr>
              <a:t>说</a:t>
            </a:r>
            <a:r>
              <a:rPr sz="700" spc="15" dirty="0">
                <a:latin typeface="MS Gothic"/>
                <a:cs typeface="MS Gothic"/>
              </a:rPr>
              <a:t>明</a:t>
            </a:r>
            <a:endParaRPr sz="700">
              <a:latin typeface="MS Gothic"/>
              <a:cs typeface="MS Gothic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7238297" y="3040676"/>
            <a:ext cx="702310" cy="356870"/>
          </a:xfrm>
          <a:prstGeom prst="rect">
            <a:avLst/>
          </a:prstGeom>
          <a:solidFill>
            <a:srgbClr val="E8EEF7"/>
          </a:solidFill>
          <a:ln w="317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535"/>
              </a:lnSpc>
            </a:pPr>
            <a:r>
              <a:rPr sz="500" spc="35" dirty="0">
                <a:latin typeface="MS Gothic"/>
                <a:cs typeface="MS Gothic"/>
              </a:rPr>
              <a:t>性能需求</a:t>
            </a:r>
            <a:endParaRPr sz="500">
              <a:latin typeface="MS Gothic"/>
              <a:cs typeface="MS Gothic"/>
            </a:endParaRPr>
          </a:p>
          <a:p>
            <a:pPr marL="214629" marR="207010" algn="ctr">
              <a:lnSpc>
                <a:spcPts val="710"/>
              </a:lnSpc>
              <a:spcBef>
                <a:spcPts val="35"/>
              </a:spcBef>
            </a:pPr>
            <a:r>
              <a:rPr sz="500" spc="30" dirty="0">
                <a:latin typeface="宋体"/>
                <a:cs typeface="宋体"/>
              </a:rPr>
              <a:t>质量属性 对外接口 </a:t>
            </a:r>
            <a:r>
              <a:rPr sz="500" spc="35" dirty="0">
                <a:latin typeface="宋体"/>
                <a:cs typeface="宋体"/>
              </a:rPr>
              <a:t>约束</a:t>
            </a:r>
            <a:endParaRPr sz="500">
              <a:latin typeface="宋体"/>
              <a:cs typeface="宋体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7589353" y="2729552"/>
            <a:ext cx="0" cy="215265"/>
          </a:xfrm>
          <a:custGeom>
            <a:avLst/>
            <a:gdLst/>
            <a:ahLst/>
            <a:cxnLst/>
            <a:rect l="l" t="t" r="r" b="b"/>
            <a:pathLst>
              <a:path h="215264">
                <a:moveTo>
                  <a:pt x="0" y="0"/>
                </a:moveTo>
                <a:lnTo>
                  <a:pt x="0" y="214686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7557997" y="2936388"/>
            <a:ext cx="62865" cy="94615"/>
          </a:xfrm>
          <a:custGeom>
            <a:avLst/>
            <a:gdLst/>
            <a:ahLst/>
            <a:cxnLst/>
            <a:rect l="l" t="t" r="r" b="b"/>
            <a:pathLst>
              <a:path w="62865" h="94614">
                <a:moveTo>
                  <a:pt x="62712" y="0"/>
                </a:moveTo>
                <a:lnTo>
                  <a:pt x="0" y="0"/>
                </a:lnTo>
                <a:lnTo>
                  <a:pt x="31356" y="94202"/>
                </a:lnTo>
                <a:lnTo>
                  <a:pt x="627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7589353" y="3385329"/>
            <a:ext cx="0" cy="231140"/>
          </a:xfrm>
          <a:custGeom>
            <a:avLst/>
            <a:gdLst/>
            <a:ahLst/>
            <a:cxnLst/>
            <a:rect l="l" t="t" r="r" b="b"/>
            <a:pathLst>
              <a:path h="231139">
                <a:moveTo>
                  <a:pt x="0" y="0"/>
                </a:moveTo>
                <a:lnTo>
                  <a:pt x="0" y="230727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7557997" y="3608207"/>
            <a:ext cx="62865" cy="94615"/>
          </a:xfrm>
          <a:custGeom>
            <a:avLst/>
            <a:gdLst/>
            <a:ahLst/>
            <a:cxnLst/>
            <a:rect l="l" t="t" r="r" b="b"/>
            <a:pathLst>
              <a:path w="62865" h="94614">
                <a:moveTo>
                  <a:pt x="62712" y="0"/>
                </a:moveTo>
                <a:lnTo>
                  <a:pt x="0" y="0"/>
                </a:lnTo>
                <a:lnTo>
                  <a:pt x="31356" y="94203"/>
                </a:lnTo>
                <a:lnTo>
                  <a:pt x="627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 txBox="1"/>
          <p:nvPr/>
        </p:nvSpPr>
        <p:spPr>
          <a:xfrm>
            <a:off x="535940" y="1220385"/>
            <a:ext cx="5132705" cy="2142490"/>
          </a:xfrm>
          <a:prstGeom prst="rect">
            <a:avLst/>
          </a:prstGeom>
        </p:spPr>
        <p:txBody>
          <a:bodyPr vert="horz" wrap="square" lIns="0" tIns="122555" rIns="0" bIns="0" rtlCol="0">
            <a:spAutoFit/>
          </a:bodyPr>
          <a:lstStyle/>
          <a:p>
            <a:pPr marL="584200" indent="-571500">
              <a:lnSpc>
                <a:spcPct val="100000"/>
              </a:lnSpc>
              <a:spcBef>
                <a:spcPts val="965"/>
              </a:spcBef>
              <a:buClr>
                <a:srgbClr val="00663C"/>
              </a:buClr>
              <a:buSzPct val="80769"/>
              <a:buFont typeface="Wingdings"/>
              <a:buChar char=""/>
              <a:tabLst>
                <a:tab pos="583565" algn="l"/>
                <a:tab pos="584200" algn="l"/>
              </a:tabLst>
            </a:pPr>
            <a:r>
              <a:rPr sz="2600" spc="-5" dirty="0">
                <a:latin typeface="Calibri"/>
                <a:cs typeface="Calibri"/>
              </a:rPr>
              <a:t>3.</a:t>
            </a:r>
            <a:r>
              <a:rPr sz="2600" dirty="0">
                <a:latin typeface="Calibri"/>
                <a:cs typeface="Calibri"/>
              </a:rPr>
              <a:t> </a:t>
            </a:r>
            <a:r>
              <a:rPr sz="2600" dirty="0">
                <a:latin typeface="宋体"/>
                <a:cs typeface="宋体"/>
              </a:rPr>
              <a:t>需求分析</a:t>
            </a:r>
            <a:endParaRPr sz="2600">
              <a:latin typeface="宋体"/>
              <a:cs typeface="宋体"/>
            </a:endParaRPr>
          </a:p>
          <a:p>
            <a:pPr marL="852169" marR="5080" lvl="1" indent="-495300">
              <a:lnSpc>
                <a:spcPts val="2690"/>
              </a:lnSpc>
              <a:spcBef>
                <a:spcPts val="1050"/>
              </a:spcBef>
              <a:buClr>
                <a:srgbClr val="C00000"/>
              </a:buClr>
              <a:buSzPct val="58333"/>
              <a:buFont typeface="Wingdings"/>
              <a:buChar char=""/>
              <a:tabLst>
                <a:tab pos="852169" algn="l"/>
                <a:tab pos="852805" algn="l"/>
              </a:tabLst>
            </a:pPr>
            <a:r>
              <a:rPr sz="2400" dirty="0">
                <a:latin typeface="宋体"/>
                <a:cs typeface="宋体"/>
              </a:rPr>
              <a:t>建立一个综合考虑了问题域特性 和需求的系统模型</a:t>
            </a:r>
            <a:endParaRPr sz="2400">
              <a:latin typeface="宋体"/>
              <a:cs typeface="宋体"/>
            </a:endParaRPr>
          </a:p>
          <a:p>
            <a:pPr marL="852169" marR="5080" lvl="1" indent="-495300">
              <a:lnSpc>
                <a:spcPts val="2710"/>
              </a:lnSpc>
              <a:spcBef>
                <a:spcPts val="890"/>
              </a:spcBef>
              <a:buClr>
                <a:srgbClr val="C00000"/>
              </a:buClr>
              <a:buSzPct val="58333"/>
              <a:buFont typeface="Wingdings"/>
              <a:buChar char=""/>
              <a:tabLst>
                <a:tab pos="852169" algn="l"/>
                <a:tab pos="852805" algn="l"/>
              </a:tabLst>
            </a:pPr>
            <a:r>
              <a:rPr sz="2400" dirty="0">
                <a:latin typeface="宋体"/>
                <a:cs typeface="宋体"/>
              </a:rPr>
              <a:t>根据系统模型将用户需求转化为 系统需求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64" name="object 6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63" name="object 63"/>
          <p:cNvSpPr txBox="1"/>
          <p:nvPr/>
        </p:nvSpPr>
        <p:spPr>
          <a:xfrm>
            <a:off x="535940" y="3688503"/>
            <a:ext cx="2903855" cy="1387475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584200" indent="-571500">
              <a:lnSpc>
                <a:spcPct val="100000"/>
              </a:lnSpc>
              <a:spcBef>
                <a:spcPts val="730"/>
              </a:spcBef>
              <a:buClr>
                <a:srgbClr val="00663C"/>
              </a:buClr>
              <a:buSzPct val="80769"/>
              <a:buFont typeface="Wingdings"/>
              <a:buChar char=""/>
              <a:tabLst>
                <a:tab pos="583565" algn="l"/>
                <a:tab pos="584200" algn="l"/>
              </a:tabLst>
            </a:pPr>
            <a:r>
              <a:rPr sz="2600" spc="-5" dirty="0">
                <a:latin typeface="Calibri"/>
                <a:cs typeface="Calibri"/>
              </a:rPr>
              <a:t>4.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宋体"/>
                <a:cs typeface="宋体"/>
              </a:rPr>
              <a:t>文档化和验证</a:t>
            </a:r>
          </a:p>
          <a:p>
            <a:pPr marL="852805" lvl="1" indent="-495934">
              <a:lnSpc>
                <a:spcPct val="100000"/>
              </a:lnSpc>
              <a:spcBef>
                <a:spcPts val="585"/>
              </a:spcBef>
              <a:buClr>
                <a:srgbClr val="C00000"/>
              </a:buClr>
              <a:buSzPct val="58333"/>
              <a:buFont typeface="Wingdings"/>
              <a:buChar char=""/>
              <a:tabLst>
                <a:tab pos="852169" algn="l"/>
                <a:tab pos="852805" algn="l"/>
              </a:tabLst>
            </a:pPr>
            <a:r>
              <a:rPr sz="2400" dirty="0">
                <a:latin typeface="宋体"/>
                <a:cs typeface="宋体"/>
              </a:rPr>
              <a:t>产生规格说明</a:t>
            </a:r>
          </a:p>
          <a:p>
            <a:pPr marL="852805" lvl="1" indent="-495934">
              <a:lnSpc>
                <a:spcPct val="100000"/>
              </a:lnSpc>
              <a:spcBef>
                <a:spcPts val="625"/>
              </a:spcBef>
              <a:buClr>
                <a:srgbClr val="C00000"/>
              </a:buClr>
              <a:buSzPct val="58333"/>
              <a:buFont typeface="Wingdings"/>
              <a:buChar char=""/>
              <a:tabLst>
                <a:tab pos="852169" algn="l"/>
                <a:tab pos="852805" algn="l"/>
              </a:tabLst>
            </a:pPr>
            <a:r>
              <a:rPr sz="2400" dirty="0">
                <a:latin typeface="宋体"/>
                <a:cs typeface="宋体"/>
              </a:rPr>
              <a:t>进行验证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62300" y="486156"/>
            <a:ext cx="28194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功能分解图</a:t>
            </a:r>
          </a:p>
        </p:txBody>
      </p:sp>
      <p:sp>
        <p:nvSpPr>
          <p:cNvPr id="3" name="object 3"/>
          <p:cNvSpPr/>
          <p:nvPr/>
        </p:nvSpPr>
        <p:spPr>
          <a:xfrm>
            <a:off x="1858918" y="2051437"/>
            <a:ext cx="4901453" cy="30860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135</Words>
  <Application>Microsoft Office PowerPoint</Application>
  <PresentationFormat>全屏显示(4:3)</PresentationFormat>
  <Paragraphs>108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3" baseType="lpstr">
      <vt:lpstr>MS Gothic</vt:lpstr>
      <vt:lpstr>华文行楷</vt:lpstr>
      <vt:lpstr>宋体</vt:lpstr>
      <vt:lpstr>Arial</vt:lpstr>
      <vt:lpstr>Calibri</vt:lpstr>
      <vt:lpstr>Times New Roman</vt:lpstr>
      <vt:lpstr>Wingdings</vt:lpstr>
      <vt:lpstr>Office Theme</vt:lpstr>
      <vt:lpstr>主要内容</vt:lpstr>
      <vt:lpstr>需求工程的路线</vt:lpstr>
      <vt:lpstr>需求工程的路线</vt:lpstr>
      <vt:lpstr>需求工程的路线</vt:lpstr>
      <vt:lpstr>功能分解图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主要内容</dc:title>
  <cp:lastModifiedBy>- Vel</cp:lastModifiedBy>
  <cp:revision>1</cp:revision>
  <dcterms:created xsi:type="dcterms:W3CDTF">2024-04-25T07:37:32Z</dcterms:created>
  <dcterms:modified xsi:type="dcterms:W3CDTF">2024-04-25T08:05:49Z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2024-03-05T00:00:00Z</vt:filetime>
  </property>
  <property fmtid="{D5CDD505-2E9C-101B-9397-08002B2CF9AE}" pid="3" name="LastSaved">
    <vt:filetime>2024-04-25T00:00:00Z</vt:filetime>
  </property>
</Properties>
</file>
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55994" y="202691"/>
            <a:ext cx="583201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71850" y="257556"/>
            <a:ext cx="240030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0744" y="2109724"/>
            <a:ext cx="4351655" cy="2070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138683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745" y="1006348"/>
            <a:ext cx="4152900" cy="46272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745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latin typeface="宋体"/>
                <a:cs typeface="宋体"/>
              </a:rPr>
              <a:t>结构化需求分析与建模</a:t>
            </a:r>
            <a:endParaRPr sz="28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650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latin typeface="宋体"/>
                <a:cs typeface="宋体"/>
              </a:rPr>
              <a:t>过程建模</a:t>
            </a:r>
            <a:endParaRPr sz="28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过程建模</a:t>
            </a:r>
            <a:endParaRPr sz="24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数据流图</a:t>
            </a:r>
            <a:r>
              <a:rPr sz="2400" spc="-5" dirty="0">
                <a:latin typeface="Calibri"/>
                <a:cs typeface="Calibri"/>
              </a:rPr>
              <a:t>DFD</a:t>
            </a:r>
            <a:endParaRPr sz="2400">
              <a:latin typeface="Calibri"/>
              <a:cs typeface="Calibri"/>
            </a:endParaRPr>
          </a:p>
          <a:p>
            <a:pPr marL="852805" lvl="1" indent="-4953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微规格说明</a:t>
            </a:r>
            <a:endParaRPr sz="24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数据字典</a:t>
            </a:r>
            <a:endParaRPr sz="24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30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latin typeface="宋体"/>
                <a:cs typeface="宋体"/>
              </a:rPr>
              <a:t>数据建模</a:t>
            </a:r>
            <a:endParaRPr sz="28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5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数据模型</a:t>
            </a:r>
            <a:endParaRPr sz="24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实体关系模型</a:t>
            </a:r>
            <a:r>
              <a:rPr sz="2400" spc="-5" dirty="0">
                <a:latin typeface="Calibri"/>
                <a:cs typeface="Calibri"/>
              </a:rPr>
              <a:t>ERD</a:t>
            </a:r>
            <a:endParaRPr sz="2400">
              <a:latin typeface="Calibri"/>
              <a:cs typeface="Calibri"/>
            </a:endParaRPr>
          </a:p>
          <a:p>
            <a:pPr marL="852805" lvl="1" indent="-495300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spc="-5" dirty="0">
                <a:latin typeface="Calibri"/>
                <a:cs typeface="Calibri"/>
              </a:rPr>
              <a:t>ERD</a:t>
            </a:r>
            <a:r>
              <a:rPr sz="2400" dirty="0">
                <a:latin typeface="宋体"/>
                <a:cs typeface="宋体"/>
              </a:rPr>
              <a:t>建模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650" y="242315"/>
            <a:ext cx="5613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结构化需求分析与建模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615" y="1140151"/>
            <a:ext cx="8644255" cy="237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b="1" spc="85" dirty="0">
                <a:latin typeface="宋体"/>
                <a:cs typeface="宋体"/>
              </a:rPr>
              <a:t>结构化分析概述</a:t>
            </a:r>
            <a:endParaRPr sz="2750" dirty="0">
              <a:latin typeface="宋体"/>
              <a:cs typeface="宋体"/>
            </a:endParaRPr>
          </a:p>
          <a:p>
            <a:pPr marL="12700" marR="5080" indent="673100" algn="just">
              <a:lnSpc>
                <a:spcPct val="120300"/>
              </a:lnSpc>
              <a:spcBef>
                <a:spcPts val="1345"/>
              </a:spcBef>
            </a:pPr>
            <a:r>
              <a:rPr sz="2400" dirty="0" err="1">
                <a:latin typeface="宋体"/>
                <a:cs typeface="宋体"/>
              </a:rPr>
              <a:t>结构化分析的核心是</a:t>
            </a:r>
            <a:r>
              <a:rPr sz="2400" dirty="0" err="1">
                <a:solidFill>
                  <a:srgbClr val="009257"/>
                </a:solidFill>
                <a:highlight>
                  <a:srgbClr val="FFFF00"/>
                </a:highlight>
                <a:latin typeface="宋体"/>
                <a:cs typeface="宋体"/>
              </a:rPr>
              <a:t>数据</a:t>
            </a:r>
            <a:r>
              <a:rPr sz="2400" dirty="0" err="1">
                <a:latin typeface="宋体"/>
                <a:cs typeface="宋体"/>
              </a:rPr>
              <a:t>。数据包括在</a:t>
            </a:r>
            <a:r>
              <a:rPr sz="2400" u="sng" dirty="0" err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分析、设计和实现中</a:t>
            </a:r>
            <a:r>
              <a:rPr sz="2400" u="sng" spc="-2280" dirty="0" err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涉</a:t>
            </a:r>
            <a:r>
              <a:rPr sz="2400" u="sng" spc="-228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</a:t>
            </a:r>
            <a:r>
              <a:rPr lang="en-US" sz="2400" u="sng" spc="-2280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   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及</a:t>
            </a:r>
            <a:r>
              <a:rPr lang="en-US"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</a:t>
            </a:r>
            <a:r>
              <a:rPr sz="2400" u="sng" dirty="0" err="1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的概念、术语、属性等所有内容</a:t>
            </a:r>
            <a:r>
              <a:rPr sz="2400" dirty="0" err="1">
                <a:latin typeface="宋体"/>
                <a:cs typeface="宋体"/>
              </a:rPr>
              <a:t>，并把这些内容定义在数据字</a:t>
            </a:r>
            <a:r>
              <a:rPr sz="2400" dirty="0">
                <a:latin typeface="宋体"/>
                <a:cs typeface="宋体"/>
              </a:rPr>
              <a:t> 典中。围绕数据字典，完成</a:t>
            </a:r>
            <a:r>
              <a:rPr sz="2400" dirty="0">
                <a:solidFill>
                  <a:srgbClr val="009257"/>
                </a:solidFill>
                <a:latin typeface="宋体"/>
                <a:cs typeface="宋体"/>
              </a:rPr>
              <a:t>功能</a:t>
            </a:r>
            <a:r>
              <a:rPr sz="2400" spc="-5" dirty="0">
                <a:solidFill>
                  <a:srgbClr val="009257"/>
                </a:solidFill>
                <a:latin typeface="Arial"/>
                <a:cs typeface="Arial"/>
              </a:rPr>
              <a:t>/</a:t>
            </a:r>
            <a:r>
              <a:rPr sz="2400" dirty="0">
                <a:solidFill>
                  <a:srgbClr val="009257"/>
                </a:solidFill>
                <a:latin typeface="宋体"/>
                <a:cs typeface="宋体"/>
              </a:rPr>
              <a:t>过程模型、数据模型和行为模型 </a:t>
            </a:r>
            <a:r>
              <a:rPr sz="2400" dirty="0">
                <a:latin typeface="宋体"/>
                <a:cs typeface="宋体"/>
              </a:rPr>
              <a:t>的结构化建模过程。</a:t>
            </a:r>
          </a:p>
        </p:txBody>
      </p:sp>
      <p:sp>
        <p:nvSpPr>
          <p:cNvPr id="4" name="object 4"/>
          <p:cNvSpPr/>
          <p:nvPr/>
        </p:nvSpPr>
        <p:spPr>
          <a:xfrm>
            <a:off x="4089594" y="4229787"/>
            <a:ext cx="1048385" cy="1071880"/>
          </a:xfrm>
          <a:custGeom>
            <a:avLst/>
            <a:gdLst/>
            <a:ahLst/>
            <a:cxnLst/>
            <a:rect l="l" t="t" r="r" b="b"/>
            <a:pathLst>
              <a:path w="1048385" h="1071879">
                <a:moveTo>
                  <a:pt x="0" y="535671"/>
                </a:moveTo>
                <a:lnTo>
                  <a:pt x="2141" y="486914"/>
                </a:lnTo>
                <a:lnTo>
                  <a:pt x="8441" y="439383"/>
                </a:lnTo>
                <a:lnTo>
                  <a:pt x="18715" y="393268"/>
                </a:lnTo>
                <a:lnTo>
                  <a:pt x="32778" y="348758"/>
                </a:lnTo>
                <a:lnTo>
                  <a:pt x="50445" y="306041"/>
                </a:lnTo>
                <a:lnTo>
                  <a:pt x="71532" y="265307"/>
                </a:lnTo>
                <a:lnTo>
                  <a:pt x="95852" y="226745"/>
                </a:lnTo>
                <a:lnTo>
                  <a:pt x="123222" y="190545"/>
                </a:lnTo>
                <a:lnTo>
                  <a:pt x="153456" y="156894"/>
                </a:lnTo>
                <a:lnTo>
                  <a:pt x="186369" y="125983"/>
                </a:lnTo>
                <a:lnTo>
                  <a:pt x="221776" y="98000"/>
                </a:lnTo>
                <a:lnTo>
                  <a:pt x="259493" y="73134"/>
                </a:lnTo>
                <a:lnTo>
                  <a:pt x="299334" y="51576"/>
                </a:lnTo>
                <a:lnTo>
                  <a:pt x="341115" y="33512"/>
                </a:lnTo>
                <a:lnTo>
                  <a:pt x="384650" y="19134"/>
                </a:lnTo>
                <a:lnTo>
                  <a:pt x="429754" y="8630"/>
                </a:lnTo>
                <a:lnTo>
                  <a:pt x="476243" y="2189"/>
                </a:lnTo>
                <a:lnTo>
                  <a:pt x="523932" y="0"/>
                </a:lnTo>
                <a:lnTo>
                  <a:pt x="571620" y="2189"/>
                </a:lnTo>
                <a:lnTo>
                  <a:pt x="618109" y="8630"/>
                </a:lnTo>
                <a:lnTo>
                  <a:pt x="663213" y="19134"/>
                </a:lnTo>
                <a:lnTo>
                  <a:pt x="706748" y="33512"/>
                </a:lnTo>
                <a:lnTo>
                  <a:pt x="748529" y="51576"/>
                </a:lnTo>
                <a:lnTo>
                  <a:pt x="788370" y="73134"/>
                </a:lnTo>
                <a:lnTo>
                  <a:pt x="826087" y="98000"/>
                </a:lnTo>
                <a:lnTo>
                  <a:pt x="861494" y="125983"/>
                </a:lnTo>
                <a:lnTo>
                  <a:pt x="894407" y="156894"/>
                </a:lnTo>
                <a:lnTo>
                  <a:pt x="924641" y="190545"/>
                </a:lnTo>
                <a:lnTo>
                  <a:pt x="952011" y="226745"/>
                </a:lnTo>
                <a:lnTo>
                  <a:pt x="976331" y="265307"/>
                </a:lnTo>
                <a:lnTo>
                  <a:pt x="997418" y="306041"/>
                </a:lnTo>
                <a:lnTo>
                  <a:pt x="1015085" y="348758"/>
                </a:lnTo>
                <a:lnTo>
                  <a:pt x="1029148" y="393268"/>
                </a:lnTo>
                <a:lnTo>
                  <a:pt x="1039422" y="439383"/>
                </a:lnTo>
                <a:lnTo>
                  <a:pt x="1045722" y="486914"/>
                </a:lnTo>
                <a:lnTo>
                  <a:pt x="1047864" y="535671"/>
                </a:lnTo>
                <a:lnTo>
                  <a:pt x="1045722" y="584427"/>
                </a:lnTo>
                <a:lnTo>
                  <a:pt x="1039422" y="631958"/>
                </a:lnTo>
                <a:lnTo>
                  <a:pt x="1029148" y="678073"/>
                </a:lnTo>
                <a:lnTo>
                  <a:pt x="1015085" y="722583"/>
                </a:lnTo>
                <a:lnTo>
                  <a:pt x="997418" y="765300"/>
                </a:lnTo>
                <a:lnTo>
                  <a:pt x="976331" y="806034"/>
                </a:lnTo>
                <a:lnTo>
                  <a:pt x="952011" y="844596"/>
                </a:lnTo>
                <a:lnTo>
                  <a:pt x="924641" y="880797"/>
                </a:lnTo>
                <a:lnTo>
                  <a:pt x="894407" y="914447"/>
                </a:lnTo>
                <a:lnTo>
                  <a:pt x="861494" y="945358"/>
                </a:lnTo>
                <a:lnTo>
                  <a:pt x="826087" y="973341"/>
                </a:lnTo>
                <a:lnTo>
                  <a:pt x="788370" y="998207"/>
                </a:lnTo>
                <a:lnTo>
                  <a:pt x="748529" y="1019766"/>
                </a:lnTo>
                <a:lnTo>
                  <a:pt x="706748" y="1037829"/>
                </a:lnTo>
                <a:lnTo>
                  <a:pt x="663213" y="1052207"/>
                </a:lnTo>
                <a:lnTo>
                  <a:pt x="618109" y="1062711"/>
                </a:lnTo>
                <a:lnTo>
                  <a:pt x="571620" y="1069152"/>
                </a:lnTo>
                <a:lnTo>
                  <a:pt x="523932" y="1071342"/>
                </a:lnTo>
                <a:lnTo>
                  <a:pt x="476243" y="1069152"/>
                </a:lnTo>
                <a:lnTo>
                  <a:pt x="429754" y="1062711"/>
                </a:lnTo>
                <a:lnTo>
                  <a:pt x="384650" y="1052207"/>
                </a:lnTo>
                <a:lnTo>
                  <a:pt x="341115" y="1037829"/>
                </a:lnTo>
                <a:lnTo>
                  <a:pt x="299334" y="1019766"/>
                </a:lnTo>
                <a:lnTo>
                  <a:pt x="259493" y="998207"/>
                </a:lnTo>
                <a:lnTo>
                  <a:pt x="221776" y="973341"/>
                </a:lnTo>
                <a:lnTo>
                  <a:pt x="186369" y="945358"/>
                </a:lnTo>
                <a:lnTo>
                  <a:pt x="153456" y="914447"/>
                </a:lnTo>
                <a:lnTo>
                  <a:pt x="123222" y="880797"/>
                </a:lnTo>
                <a:lnTo>
                  <a:pt x="95852" y="844596"/>
                </a:lnTo>
                <a:lnTo>
                  <a:pt x="71532" y="806034"/>
                </a:lnTo>
                <a:lnTo>
                  <a:pt x="50445" y="765300"/>
                </a:lnTo>
                <a:lnTo>
                  <a:pt x="32778" y="722583"/>
                </a:lnTo>
                <a:lnTo>
                  <a:pt x="18715" y="678073"/>
                </a:lnTo>
                <a:lnTo>
                  <a:pt x="8441" y="631958"/>
                </a:lnTo>
                <a:lnTo>
                  <a:pt x="2141" y="584427"/>
                </a:lnTo>
                <a:lnTo>
                  <a:pt x="0" y="53567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9391" y="4352544"/>
            <a:ext cx="691896" cy="472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79391" y="4593335"/>
            <a:ext cx="691896" cy="4724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92864" y="4421352"/>
            <a:ext cx="441325" cy="50545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80"/>
              </a:spcBef>
            </a:pPr>
            <a:r>
              <a:rPr sz="1550" b="1" spc="70" dirty="0">
                <a:latin typeface="宋体"/>
                <a:cs typeface="宋体"/>
              </a:rPr>
              <a:t>数据 字典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89404" y="3828282"/>
            <a:ext cx="2964815" cy="1873885"/>
          </a:xfrm>
          <a:custGeom>
            <a:avLst/>
            <a:gdLst/>
            <a:ahLst/>
            <a:cxnLst/>
            <a:rect l="l" t="t" r="r" b="b"/>
            <a:pathLst>
              <a:path w="2964815" h="1873885">
                <a:moveTo>
                  <a:pt x="0" y="936679"/>
                </a:moveTo>
                <a:lnTo>
                  <a:pt x="4459" y="863478"/>
                </a:lnTo>
                <a:lnTo>
                  <a:pt x="17618" y="791818"/>
                </a:lnTo>
                <a:lnTo>
                  <a:pt x="39148" y="721907"/>
                </a:lnTo>
                <a:lnTo>
                  <a:pt x="68718" y="653953"/>
                </a:lnTo>
                <a:lnTo>
                  <a:pt x="105998" y="588165"/>
                </a:lnTo>
                <a:lnTo>
                  <a:pt x="127427" y="556148"/>
                </a:lnTo>
                <a:lnTo>
                  <a:pt x="150661" y="524751"/>
                </a:lnTo>
                <a:lnTo>
                  <a:pt x="175657" y="493999"/>
                </a:lnTo>
                <a:lnTo>
                  <a:pt x="202375" y="463919"/>
                </a:lnTo>
                <a:lnTo>
                  <a:pt x="230773" y="434536"/>
                </a:lnTo>
                <a:lnTo>
                  <a:pt x="260811" y="405877"/>
                </a:lnTo>
                <a:lnTo>
                  <a:pt x="292448" y="377967"/>
                </a:lnTo>
                <a:lnTo>
                  <a:pt x="325641" y="350834"/>
                </a:lnTo>
                <a:lnTo>
                  <a:pt x="360350" y="324501"/>
                </a:lnTo>
                <a:lnTo>
                  <a:pt x="396534" y="298997"/>
                </a:lnTo>
                <a:lnTo>
                  <a:pt x="434151" y="274346"/>
                </a:lnTo>
                <a:lnTo>
                  <a:pt x="473160" y="250576"/>
                </a:lnTo>
                <a:lnTo>
                  <a:pt x="513521" y="227711"/>
                </a:lnTo>
                <a:lnTo>
                  <a:pt x="555191" y="205777"/>
                </a:lnTo>
                <a:lnTo>
                  <a:pt x="598130" y="184802"/>
                </a:lnTo>
                <a:lnTo>
                  <a:pt x="642296" y="164811"/>
                </a:lnTo>
                <a:lnTo>
                  <a:pt x="687649" y="145829"/>
                </a:lnTo>
                <a:lnTo>
                  <a:pt x="734147" y="127884"/>
                </a:lnTo>
                <a:lnTo>
                  <a:pt x="781749" y="111000"/>
                </a:lnTo>
                <a:lnTo>
                  <a:pt x="830413" y="95205"/>
                </a:lnTo>
                <a:lnTo>
                  <a:pt x="880099" y="80523"/>
                </a:lnTo>
                <a:lnTo>
                  <a:pt x="930765" y="66982"/>
                </a:lnTo>
                <a:lnTo>
                  <a:pt x="982371" y="54607"/>
                </a:lnTo>
                <a:lnTo>
                  <a:pt x="1034874" y="43424"/>
                </a:lnTo>
                <a:lnTo>
                  <a:pt x="1088234" y="33459"/>
                </a:lnTo>
                <a:lnTo>
                  <a:pt x="1142410" y="24738"/>
                </a:lnTo>
                <a:lnTo>
                  <a:pt x="1197360" y="17287"/>
                </a:lnTo>
                <a:lnTo>
                  <a:pt x="1253044" y="11133"/>
                </a:lnTo>
                <a:lnTo>
                  <a:pt x="1309419" y="6301"/>
                </a:lnTo>
                <a:lnTo>
                  <a:pt x="1366445" y="2818"/>
                </a:lnTo>
                <a:lnTo>
                  <a:pt x="1424080" y="708"/>
                </a:lnTo>
                <a:lnTo>
                  <a:pt x="1482285" y="0"/>
                </a:lnTo>
                <a:lnTo>
                  <a:pt x="1540489" y="708"/>
                </a:lnTo>
                <a:lnTo>
                  <a:pt x="1598124" y="2818"/>
                </a:lnTo>
                <a:lnTo>
                  <a:pt x="1655150" y="6301"/>
                </a:lnTo>
                <a:lnTo>
                  <a:pt x="1711525" y="11133"/>
                </a:lnTo>
                <a:lnTo>
                  <a:pt x="1767209" y="17287"/>
                </a:lnTo>
                <a:lnTo>
                  <a:pt x="1822159" y="24738"/>
                </a:lnTo>
                <a:lnTo>
                  <a:pt x="1876334" y="33459"/>
                </a:lnTo>
                <a:lnTo>
                  <a:pt x="1929695" y="43424"/>
                </a:lnTo>
                <a:lnTo>
                  <a:pt x="1982198" y="54607"/>
                </a:lnTo>
                <a:lnTo>
                  <a:pt x="2033803" y="66982"/>
                </a:lnTo>
                <a:lnTo>
                  <a:pt x="2084470" y="80523"/>
                </a:lnTo>
                <a:lnTo>
                  <a:pt x="2134156" y="95205"/>
                </a:lnTo>
                <a:lnTo>
                  <a:pt x="2182820" y="111000"/>
                </a:lnTo>
                <a:lnTo>
                  <a:pt x="2230422" y="127884"/>
                </a:lnTo>
                <a:lnTo>
                  <a:pt x="2276920" y="145829"/>
                </a:lnTo>
                <a:lnTo>
                  <a:pt x="2322273" y="164811"/>
                </a:lnTo>
                <a:lnTo>
                  <a:pt x="2366439" y="184802"/>
                </a:lnTo>
                <a:lnTo>
                  <a:pt x="2409378" y="205777"/>
                </a:lnTo>
                <a:lnTo>
                  <a:pt x="2451048" y="227711"/>
                </a:lnTo>
                <a:lnTo>
                  <a:pt x="2491409" y="250576"/>
                </a:lnTo>
                <a:lnTo>
                  <a:pt x="2530418" y="274346"/>
                </a:lnTo>
                <a:lnTo>
                  <a:pt x="2568035" y="298997"/>
                </a:lnTo>
                <a:lnTo>
                  <a:pt x="2604219" y="324501"/>
                </a:lnTo>
                <a:lnTo>
                  <a:pt x="2638928" y="350834"/>
                </a:lnTo>
                <a:lnTo>
                  <a:pt x="2672121" y="377967"/>
                </a:lnTo>
                <a:lnTo>
                  <a:pt x="2703757" y="405877"/>
                </a:lnTo>
                <a:lnTo>
                  <a:pt x="2733795" y="434536"/>
                </a:lnTo>
                <a:lnTo>
                  <a:pt x="2762194" y="463919"/>
                </a:lnTo>
                <a:lnTo>
                  <a:pt x="2788912" y="493999"/>
                </a:lnTo>
                <a:lnTo>
                  <a:pt x="2813908" y="524751"/>
                </a:lnTo>
                <a:lnTo>
                  <a:pt x="2837142" y="556148"/>
                </a:lnTo>
                <a:lnTo>
                  <a:pt x="2858571" y="588165"/>
                </a:lnTo>
                <a:lnTo>
                  <a:pt x="2895851" y="653953"/>
                </a:lnTo>
                <a:lnTo>
                  <a:pt x="2925421" y="721907"/>
                </a:lnTo>
                <a:lnTo>
                  <a:pt x="2946951" y="791818"/>
                </a:lnTo>
                <a:lnTo>
                  <a:pt x="2960110" y="863478"/>
                </a:lnTo>
                <a:lnTo>
                  <a:pt x="2964570" y="936679"/>
                </a:lnTo>
                <a:lnTo>
                  <a:pt x="2963448" y="973459"/>
                </a:lnTo>
                <a:lnTo>
                  <a:pt x="2954597" y="1045915"/>
                </a:lnTo>
                <a:lnTo>
                  <a:pt x="2937212" y="1116726"/>
                </a:lnTo>
                <a:lnTo>
                  <a:pt x="2911621" y="1185685"/>
                </a:lnTo>
                <a:lnTo>
                  <a:pt x="2878154" y="1252582"/>
                </a:lnTo>
                <a:lnTo>
                  <a:pt x="2837142" y="1317209"/>
                </a:lnTo>
                <a:lnTo>
                  <a:pt x="2813908" y="1348606"/>
                </a:lnTo>
                <a:lnTo>
                  <a:pt x="2788912" y="1379358"/>
                </a:lnTo>
                <a:lnTo>
                  <a:pt x="2762194" y="1409438"/>
                </a:lnTo>
                <a:lnTo>
                  <a:pt x="2733795" y="1438821"/>
                </a:lnTo>
                <a:lnTo>
                  <a:pt x="2703757" y="1467480"/>
                </a:lnTo>
                <a:lnTo>
                  <a:pt x="2672121" y="1495389"/>
                </a:lnTo>
                <a:lnTo>
                  <a:pt x="2638928" y="1522523"/>
                </a:lnTo>
                <a:lnTo>
                  <a:pt x="2604219" y="1548855"/>
                </a:lnTo>
                <a:lnTo>
                  <a:pt x="2568035" y="1574360"/>
                </a:lnTo>
                <a:lnTo>
                  <a:pt x="2530418" y="1599010"/>
                </a:lnTo>
                <a:lnTo>
                  <a:pt x="2491409" y="1622781"/>
                </a:lnTo>
                <a:lnTo>
                  <a:pt x="2451048" y="1645646"/>
                </a:lnTo>
                <a:lnTo>
                  <a:pt x="2409378" y="1667580"/>
                </a:lnTo>
                <a:lnTo>
                  <a:pt x="2366439" y="1688555"/>
                </a:lnTo>
                <a:lnTo>
                  <a:pt x="2322273" y="1708546"/>
                </a:lnTo>
                <a:lnTo>
                  <a:pt x="2276920" y="1727528"/>
                </a:lnTo>
                <a:lnTo>
                  <a:pt x="2230422" y="1745473"/>
                </a:lnTo>
                <a:lnTo>
                  <a:pt x="2182820" y="1762357"/>
                </a:lnTo>
                <a:lnTo>
                  <a:pt x="2134156" y="1778152"/>
                </a:lnTo>
                <a:lnTo>
                  <a:pt x="2084470" y="1792834"/>
                </a:lnTo>
                <a:lnTo>
                  <a:pt x="2033803" y="1806375"/>
                </a:lnTo>
                <a:lnTo>
                  <a:pt x="1982198" y="1818750"/>
                </a:lnTo>
                <a:lnTo>
                  <a:pt x="1929695" y="1829933"/>
                </a:lnTo>
                <a:lnTo>
                  <a:pt x="1876334" y="1839898"/>
                </a:lnTo>
                <a:lnTo>
                  <a:pt x="1822159" y="1848619"/>
                </a:lnTo>
                <a:lnTo>
                  <a:pt x="1767209" y="1856070"/>
                </a:lnTo>
                <a:lnTo>
                  <a:pt x="1711525" y="1862224"/>
                </a:lnTo>
                <a:lnTo>
                  <a:pt x="1655150" y="1867056"/>
                </a:lnTo>
                <a:lnTo>
                  <a:pt x="1598124" y="1870539"/>
                </a:lnTo>
                <a:lnTo>
                  <a:pt x="1540489" y="1872649"/>
                </a:lnTo>
                <a:lnTo>
                  <a:pt x="1482285" y="1873358"/>
                </a:lnTo>
                <a:lnTo>
                  <a:pt x="1424080" y="1872649"/>
                </a:lnTo>
                <a:lnTo>
                  <a:pt x="1366445" y="1870539"/>
                </a:lnTo>
                <a:lnTo>
                  <a:pt x="1309419" y="1867056"/>
                </a:lnTo>
                <a:lnTo>
                  <a:pt x="1253044" y="1862224"/>
                </a:lnTo>
                <a:lnTo>
                  <a:pt x="1197360" y="1856070"/>
                </a:lnTo>
                <a:lnTo>
                  <a:pt x="1142410" y="1848619"/>
                </a:lnTo>
                <a:lnTo>
                  <a:pt x="1088234" y="1839898"/>
                </a:lnTo>
                <a:lnTo>
                  <a:pt x="1034874" y="1829933"/>
                </a:lnTo>
                <a:lnTo>
                  <a:pt x="982371" y="1818750"/>
                </a:lnTo>
                <a:lnTo>
                  <a:pt x="930765" y="1806375"/>
                </a:lnTo>
                <a:lnTo>
                  <a:pt x="880099" y="1792834"/>
                </a:lnTo>
                <a:lnTo>
                  <a:pt x="830413" y="1778152"/>
                </a:lnTo>
                <a:lnTo>
                  <a:pt x="781749" y="1762357"/>
                </a:lnTo>
                <a:lnTo>
                  <a:pt x="734147" y="1745473"/>
                </a:lnTo>
                <a:lnTo>
                  <a:pt x="687649" y="1727528"/>
                </a:lnTo>
                <a:lnTo>
                  <a:pt x="642296" y="1708546"/>
                </a:lnTo>
                <a:lnTo>
                  <a:pt x="598130" y="1688555"/>
                </a:lnTo>
                <a:lnTo>
                  <a:pt x="555191" y="1667580"/>
                </a:lnTo>
                <a:lnTo>
                  <a:pt x="513521" y="1645646"/>
                </a:lnTo>
                <a:lnTo>
                  <a:pt x="473160" y="1622781"/>
                </a:lnTo>
                <a:lnTo>
                  <a:pt x="434151" y="1599010"/>
                </a:lnTo>
                <a:lnTo>
                  <a:pt x="396534" y="1574360"/>
                </a:lnTo>
                <a:lnTo>
                  <a:pt x="360350" y="1548855"/>
                </a:lnTo>
                <a:lnTo>
                  <a:pt x="325641" y="1522523"/>
                </a:lnTo>
                <a:lnTo>
                  <a:pt x="292448" y="1495389"/>
                </a:lnTo>
                <a:lnTo>
                  <a:pt x="260811" y="1467480"/>
                </a:lnTo>
                <a:lnTo>
                  <a:pt x="230773" y="1438821"/>
                </a:lnTo>
                <a:lnTo>
                  <a:pt x="202375" y="1409438"/>
                </a:lnTo>
                <a:lnTo>
                  <a:pt x="175657" y="1379358"/>
                </a:lnTo>
                <a:lnTo>
                  <a:pt x="150661" y="1348606"/>
                </a:lnTo>
                <a:lnTo>
                  <a:pt x="127427" y="1317209"/>
                </a:lnTo>
                <a:lnTo>
                  <a:pt x="105998" y="1285192"/>
                </a:lnTo>
                <a:lnTo>
                  <a:pt x="68718" y="1219404"/>
                </a:lnTo>
                <a:lnTo>
                  <a:pt x="39148" y="1151450"/>
                </a:lnTo>
                <a:lnTo>
                  <a:pt x="17618" y="1081539"/>
                </a:lnTo>
                <a:lnTo>
                  <a:pt x="4459" y="1009879"/>
                </a:lnTo>
                <a:lnTo>
                  <a:pt x="0" y="93667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1795" y="3407895"/>
            <a:ext cx="4094479" cy="2771775"/>
          </a:xfrm>
          <a:custGeom>
            <a:avLst/>
            <a:gdLst/>
            <a:ahLst/>
            <a:cxnLst/>
            <a:rect l="l" t="t" r="r" b="b"/>
            <a:pathLst>
              <a:path w="4094479" h="2771775">
                <a:moveTo>
                  <a:pt x="0" y="1385887"/>
                </a:moveTo>
                <a:lnTo>
                  <a:pt x="786" y="1347095"/>
                </a:lnTo>
                <a:lnTo>
                  <a:pt x="3132" y="1308567"/>
                </a:lnTo>
                <a:lnTo>
                  <a:pt x="7016" y="1270317"/>
                </a:lnTo>
                <a:lnTo>
                  <a:pt x="12418" y="1232358"/>
                </a:lnTo>
                <a:lnTo>
                  <a:pt x="19319" y="1194704"/>
                </a:lnTo>
                <a:lnTo>
                  <a:pt x="27696" y="1157370"/>
                </a:lnTo>
                <a:lnTo>
                  <a:pt x="37530" y="1120369"/>
                </a:lnTo>
                <a:lnTo>
                  <a:pt x="48800" y="1083715"/>
                </a:lnTo>
                <a:lnTo>
                  <a:pt x="61485" y="1047421"/>
                </a:lnTo>
                <a:lnTo>
                  <a:pt x="75566" y="1011503"/>
                </a:lnTo>
                <a:lnTo>
                  <a:pt x="91021" y="975974"/>
                </a:lnTo>
                <a:lnTo>
                  <a:pt x="107830" y="940847"/>
                </a:lnTo>
                <a:lnTo>
                  <a:pt x="125973" y="906136"/>
                </a:lnTo>
                <a:lnTo>
                  <a:pt x="145428" y="871856"/>
                </a:lnTo>
                <a:lnTo>
                  <a:pt x="166176" y="838020"/>
                </a:lnTo>
                <a:lnTo>
                  <a:pt x="188196" y="804643"/>
                </a:lnTo>
                <a:lnTo>
                  <a:pt x="211467" y="771737"/>
                </a:lnTo>
                <a:lnTo>
                  <a:pt x="235970" y="739318"/>
                </a:lnTo>
                <a:lnTo>
                  <a:pt x="261682" y="707398"/>
                </a:lnTo>
                <a:lnTo>
                  <a:pt x="288584" y="675992"/>
                </a:lnTo>
                <a:lnTo>
                  <a:pt x="316656" y="645114"/>
                </a:lnTo>
                <a:lnTo>
                  <a:pt x="345876" y="614777"/>
                </a:lnTo>
                <a:lnTo>
                  <a:pt x="376225" y="584996"/>
                </a:lnTo>
                <a:lnTo>
                  <a:pt x="407682" y="555784"/>
                </a:lnTo>
                <a:lnTo>
                  <a:pt x="440225" y="527156"/>
                </a:lnTo>
                <a:lnTo>
                  <a:pt x="473836" y="499124"/>
                </a:lnTo>
                <a:lnTo>
                  <a:pt x="508492" y="471703"/>
                </a:lnTo>
                <a:lnTo>
                  <a:pt x="544174" y="444908"/>
                </a:lnTo>
                <a:lnTo>
                  <a:pt x="580861" y="418751"/>
                </a:lnTo>
                <a:lnTo>
                  <a:pt x="618533" y="393247"/>
                </a:lnTo>
                <a:lnTo>
                  <a:pt x="657169" y="368409"/>
                </a:lnTo>
                <a:lnTo>
                  <a:pt x="696749" y="344252"/>
                </a:lnTo>
                <a:lnTo>
                  <a:pt x="737252" y="320790"/>
                </a:lnTo>
                <a:lnTo>
                  <a:pt x="778657" y="298035"/>
                </a:lnTo>
                <a:lnTo>
                  <a:pt x="820944" y="276003"/>
                </a:lnTo>
                <a:lnTo>
                  <a:pt x="864092" y="254707"/>
                </a:lnTo>
                <a:lnTo>
                  <a:pt x="908082" y="234161"/>
                </a:lnTo>
                <a:lnTo>
                  <a:pt x="952892" y="214378"/>
                </a:lnTo>
                <a:lnTo>
                  <a:pt x="998502" y="195373"/>
                </a:lnTo>
                <a:lnTo>
                  <a:pt x="1044891" y="177160"/>
                </a:lnTo>
                <a:lnTo>
                  <a:pt x="1092040" y="159753"/>
                </a:lnTo>
                <a:lnTo>
                  <a:pt x="1139926" y="143165"/>
                </a:lnTo>
                <a:lnTo>
                  <a:pt x="1188530" y="127410"/>
                </a:lnTo>
                <a:lnTo>
                  <a:pt x="1237832" y="112502"/>
                </a:lnTo>
                <a:lnTo>
                  <a:pt x="1287811" y="98456"/>
                </a:lnTo>
                <a:lnTo>
                  <a:pt x="1338445" y="85284"/>
                </a:lnTo>
                <a:lnTo>
                  <a:pt x="1389716" y="73002"/>
                </a:lnTo>
                <a:lnTo>
                  <a:pt x="1441602" y="61622"/>
                </a:lnTo>
                <a:lnTo>
                  <a:pt x="1494082" y="51159"/>
                </a:lnTo>
                <a:lnTo>
                  <a:pt x="1547137" y="41626"/>
                </a:lnTo>
                <a:lnTo>
                  <a:pt x="1600745" y="33038"/>
                </a:lnTo>
                <a:lnTo>
                  <a:pt x="1654886" y="25408"/>
                </a:lnTo>
                <a:lnTo>
                  <a:pt x="1709541" y="18750"/>
                </a:lnTo>
                <a:lnTo>
                  <a:pt x="1764687" y="13079"/>
                </a:lnTo>
                <a:lnTo>
                  <a:pt x="1820304" y="8407"/>
                </a:lnTo>
                <a:lnTo>
                  <a:pt x="1876373" y="4750"/>
                </a:lnTo>
                <a:lnTo>
                  <a:pt x="1932872" y="2120"/>
                </a:lnTo>
                <a:lnTo>
                  <a:pt x="1989782" y="532"/>
                </a:lnTo>
                <a:lnTo>
                  <a:pt x="2047081" y="0"/>
                </a:lnTo>
                <a:lnTo>
                  <a:pt x="2104379" y="532"/>
                </a:lnTo>
                <a:lnTo>
                  <a:pt x="2161289" y="2120"/>
                </a:lnTo>
                <a:lnTo>
                  <a:pt x="2217788" y="4750"/>
                </a:lnTo>
                <a:lnTo>
                  <a:pt x="2273857" y="8407"/>
                </a:lnTo>
                <a:lnTo>
                  <a:pt x="2329474" y="13079"/>
                </a:lnTo>
                <a:lnTo>
                  <a:pt x="2384620" y="18750"/>
                </a:lnTo>
                <a:lnTo>
                  <a:pt x="2439274" y="25408"/>
                </a:lnTo>
                <a:lnTo>
                  <a:pt x="2493416" y="33038"/>
                </a:lnTo>
                <a:lnTo>
                  <a:pt x="2547024" y="41626"/>
                </a:lnTo>
                <a:lnTo>
                  <a:pt x="2600079" y="51159"/>
                </a:lnTo>
                <a:lnTo>
                  <a:pt x="2652559" y="61622"/>
                </a:lnTo>
                <a:lnTo>
                  <a:pt x="2704445" y="73002"/>
                </a:lnTo>
                <a:lnTo>
                  <a:pt x="2755715" y="85284"/>
                </a:lnTo>
                <a:lnTo>
                  <a:pt x="2806350" y="98456"/>
                </a:lnTo>
                <a:lnTo>
                  <a:pt x="2856329" y="112502"/>
                </a:lnTo>
                <a:lnTo>
                  <a:pt x="2905630" y="127410"/>
                </a:lnTo>
                <a:lnTo>
                  <a:pt x="2954235" y="143165"/>
                </a:lnTo>
                <a:lnTo>
                  <a:pt x="3002121" y="159753"/>
                </a:lnTo>
                <a:lnTo>
                  <a:pt x="3049269" y="177160"/>
                </a:lnTo>
                <a:lnTo>
                  <a:pt x="3095659" y="195373"/>
                </a:lnTo>
                <a:lnTo>
                  <a:pt x="3141269" y="214378"/>
                </a:lnTo>
                <a:lnTo>
                  <a:pt x="3186079" y="234161"/>
                </a:lnTo>
                <a:lnTo>
                  <a:pt x="3230068" y="254707"/>
                </a:lnTo>
                <a:lnTo>
                  <a:pt x="3273217" y="276003"/>
                </a:lnTo>
                <a:lnTo>
                  <a:pt x="3315504" y="298035"/>
                </a:lnTo>
                <a:lnTo>
                  <a:pt x="3356909" y="320790"/>
                </a:lnTo>
                <a:lnTo>
                  <a:pt x="3397412" y="344252"/>
                </a:lnTo>
                <a:lnTo>
                  <a:pt x="3436991" y="368409"/>
                </a:lnTo>
                <a:lnTo>
                  <a:pt x="3475627" y="393247"/>
                </a:lnTo>
                <a:lnTo>
                  <a:pt x="3513299" y="418751"/>
                </a:lnTo>
                <a:lnTo>
                  <a:pt x="3549987" y="444908"/>
                </a:lnTo>
                <a:lnTo>
                  <a:pt x="3585669" y="471703"/>
                </a:lnTo>
                <a:lnTo>
                  <a:pt x="3620325" y="499124"/>
                </a:lnTo>
                <a:lnTo>
                  <a:pt x="3653936" y="527156"/>
                </a:lnTo>
                <a:lnTo>
                  <a:pt x="3686479" y="555784"/>
                </a:lnTo>
                <a:lnTo>
                  <a:pt x="3717936" y="584996"/>
                </a:lnTo>
                <a:lnTo>
                  <a:pt x="3748284" y="614777"/>
                </a:lnTo>
                <a:lnTo>
                  <a:pt x="3777505" y="645114"/>
                </a:lnTo>
                <a:lnTo>
                  <a:pt x="3805576" y="675992"/>
                </a:lnTo>
                <a:lnTo>
                  <a:pt x="3832479" y="707398"/>
                </a:lnTo>
                <a:lnTo>
                  <a:pt x="3858191" y="739318"/>
                </a:lnTo>
                <a:lnTo>
                  <a:pt x="3882693" y="771737"/>
                </a:lnTo>
                <a:lnTo>
                  <a:pt x="3905965" y="804643"/>
                </a:lnTo>
                <a:lnTo>
                  <a:pt x="3927985" y="838020"/>
                </a:lnTo>
                <a:lnTo>
                  <a:pt x="3948733" y="871856"/>
                </a:lnTo>
                <a:lnTo>
                  <a:pt x="3968188" y="906136"/>
                </a:lnTo>
                <a:lnTo>
                  <a:pt x="3986331" y="940847"/>
                </a:lnTo>
                <a:lnTo>
                  <a:pt x="4003140" y="975974"/>
                </a:lnTo>
                <a:lnTo>
                  <a:pt x="4018595" y="1011503"/>
                </a:lnTo>
                <a:lnTo>
                  <a:pt x="4032676" y="1047421"/>
                </a:lnTo>
                <a:lnTo>
                  <a:pt x="4045361" y="1083715"/>
                </a:lnTo>
                <a:lnTo>
                  <a:pt x="4056631" y="1120369"/>
                </a:lnTo>
                <a:lnTo>
                  <a:pt x="4066465" y="1157370"/>
                </a:lnTo>
                <a:lnTo>
                  <a:pt x="4074842" y="1194704"/>
                </a:lnTo>
                <a:lnTo>
                  <a:pt x="4081743" y="1232358"/>
                </a:lnTo>
                <a:lnTo>
                  <a:pt x="4087145" y="1270317"/>
                </a:lnTo>
                <a:lnTo>
                  <a:pt x="4091029" y="1308567"/>
                </a:lnTo>
                <a:lnTo>
                  <a:pt x="4093375" y="1347095"/>
                </a:lnTo>
                <a:lnTo>
                  <a:pt x="4094162" y="1385887"/>
                </a:lnTo>
                <a:lnTo>
                  <a:pt x="4093375" y="1424678"/>
                </a:lnTo>
                <a:lnTo>
                  <a:pt x="4091029" y="1463206"/>
                </a:lnTo>
                <a:lnTo>
                  <a:pt x="4087145" y="1501457"/>
                </a:lnTo>
                <a:lnTo>
                  <a:pt x="4081743" y="1539416"/>
                </a:lnTo>
                <a:lnTo>
                  <a:pt x="4074842" y="1577069"/>
                </a:lnTo>
                <a:lnTo>
                  <a:pt x="4066465" y="1614403"/>
                </a:lnTo>
                <a:lnTo>
                  <a:pt x="4056631" y="1651405"/>
                </a:lnTo>
                <a:lnTo>
                  <a:pt x="4045361" y="1688059"/>
                </a:lnTo>
                <a:lnTo>
                  <a:pt x="4032676" y="1724352"/>
                </a:lnTo>
                <a:lnTo>
                  <a:pt x="4018595" y="1760270"/>
                </a:lnTo>
                <a:lnTo>
                  <a:pt x="4003140" y="1795800"/>
                </a:lnTo>
                <a:lnTo>
                  <a:pt x="3986331" y="1830927"/>
                </a:lnTo>
                <a:lnTo>
                  <a:pt x="3968188" y="1865637"/>
                </a:lnTo>
                <a:lnTo>
                  <a:pt x="3948733" y="1899918"/>
                </a:lnTo>
                <a:lnTo>
                  <a:pt x="3927985" y="1933753"/>
                </a:lnTo>
                <a:lnTo>
                  <a:pt x="3905965" y="1967131"/>
                </a:lnTo>
                <a:lnTo>
                  <a:pt x="3882693" y="2000036"/>
                </a:lnTo>
                <a:lnTo>
                  <a:pt x="3858191" y="2032456"/>
                </a:lnTo>
                <a:lnTo>
                  <a:pt x="3832479" y="2064376"/>
                </a:lnTo>
                <a:lnTo>
                  <a:pt x="3805576" y="2095782"/>
                </a:lnTo>
                <a:lnTo>
                  <a:pt x="3777505" y="2126660"/>
                </a:lnTo>
                <a:lnTo>
                  <a:pt x="3748284" y="2156996"/>
                </a:lnTo>
                <a:lnTo>
                  <a:pt x="3717936" y="2186778"/>
                </a:lnTo>
                <a:lnTo>
                  <a:pt x="3686479" y="2215990"/>
                </a:lnTo>
                <a:lnTo>
                  <a:pt x="3653936" y="2244618"/>
                </a:lnTo>
                <a:lnTo>
                  <a:pt x="3620325" y="2272650"/>
                </a:lnTo>
                <a:lnTo>
                  <a:pt x="3585669" y="2300070"/>
                </a:lnTo>
                <a:lnTo>
                  <a:pt x="3549987" y="2326866"/>
                </a:lnTo>
                <a:lnTo>
                  <a:pt x="3513299" y="2353023"/>
                </a:lnTo>
                <a:lnTo>
                  <a:pt x="3475627" y="2378527"/>
                </a:lnTo>
                <a:lnTo>
                  <a:pt x="3436991" y="2403365"/>
                </a:lnTo>
                <a:lnTo>
                  <a:pt x="3397412" y="2427522"/>
                </a:lnTo>
                <a:lnTo>
                  <a:pt x="3356909" y="2450984"/>
                </a:lnTo>
                <a:lnTo>
                  <a:pt x="3315504" y="2473739"/>
                </a:lnTo>
                <a:lnTo>
                  <a:pt x="3273217" y="2495771"/>
                </a:lnTo>
                <a:lnTo>
                  <a:pt x="3230068" y="2517067"/>
                </a:lnTo>
                <a:lnTo>
                  <a:pt x="3186079" y="2537613"/>
                </a:lnTo>
                <a:lnTo>
                  <a:pt x="3141269" y="2557396"/>
                </a:lnTo>
                <a:lnTo>
                  <a:pt x="3095659" y="2576401"/>
                </a:lnTo>
                <a:lnTo>
                  <a:pt x="3049269" y="2594614"/>
                </a:lnTo>
                <a:lnTo>
                  <a:pt x="3002121" y="2612021"/>
                </a:lnTo>
                <a:lnTo>
                  <a:pt x="2954235" y="2628609"/>
                </a:lnTo>
                <a:lnTo>
                  <a:pt x="2905630" y="2644364"/>
                </a:lnTo>
                <a:lnTo>
                  <a:pt x="2856329" y="2659272"/>
                </a:lnTo>
                <a:lnTo>
                  <a:pt x="2806350" y="2673318"/>
                </a:lnTo>
                <a:lnTo>
                  <a:pt x="2755715" y="2686490"/>
                </a:lnTo>
                <a:lnTo>
                  <a:pt x="2704445" y="2698772"/>
                </a:lnTo>
                <a:lnTo>
                  <a:pt x="2652559" y="2710152"/>
                </a:lnTo>
                <a:lnTo>
                  <a:pt x="2600079" y="2720616"/>
                </a:lnTo>
                <a:lnTo>
                  <a:pt x="2547024" y="2730148"/>
                </a:lnTo>
                <a:lnTo>
                  <a:pt x="2493416" y="2738736"/>
                </a:lnTo>
                <a:lnTo>
                  <a:pt x="2439274" y="2746366"/>
                </a:lnTo>
                <a:lnTo>
                  <a:pt x="2384620" y="2753024"/>
                </a:lnTo>
                <a:lnTo>
                  <a:pt x="2329474" y="2758695"/>
                </a:lnTo>
                <a:lnTo>
                  <a:pt x="2273857" y="2763367"/>
                </a:lnTo>
                <a:lnTo>
                  <a:pt x="2217788" y="2767024"/>
                </a:lnTo>
                <a:lnTo>
                  <a:pt x="2161289" y="2769654"/>
                </a:lnTo>
                <a:lnTo>
                  <a:pt x="2104379" y="2771242"/>
                </a:lnTo>
                <a:lnTo>
                  <a:pt x="2047081" y="2771775"/>
                </a:lnTo>
                <a:lnTo>
                  <a:pt x="1989782" y="2771242"/>
                </a:lnTo>
                <a:lnTo>
                  <a:pt x="1932872" y="2769654"/>
                </a:lnTo>
                <a:lnTo>
                  <a:pt x="1876373" y="2767024"/>
                </a:lnTo>
                <a:lnTo>
                  <a:pt x="1820304" y="2763367"/>
                </a:lnTo>
                <a:lnTo>
                  <a:pt x="1764687" y="2758695"/>
                </a:lnTo>
                <a:lnTo>
                  <a:pt x="1709541" y="2753024"/>
                </a:lnTo>
                <a:lnTo>
                  <a:pt x="1654886" y="2746366"/>
                </a:lnTo>
                <a:lnTo>
                  <a:pt x="1600745" y="2738736"/>
                </a:lnTo>
                <a:lnTo>
                  <a:pt x="1547137" y="2730148"/>
                </a:lnTo>
                <a:lnTo>
                  <a:pt x="1494082" y="2720616"/>
                </a:lnTo>
                <a:lnTo>
                  <a:pt x="1441602" y="2710152"/>
                </a:lnTo>
                <a:lnTo>
                  <a:pt x="1389716" y="2698772"/>
                </a:lnTo>
                <a:lnTo>
                  <a:pt x="1338445" y="2686490"/>
                </a:lnTo>
                <a:lnTo>
                  <a:pt x="1287811" y="2673318"/>
                </a:lnTo>
                <a:lnTo>
                  <a:pt x="1237832" y="2659272"/>
                </a:lnTo>
                <a:lnTo>
                  <a:pt x="1188530" y="2644364"/>
                </a:lnTo>
                <a:lnTo>
                  <a:pt x="1139926" y="2628609"/>
                </a:lnTo>
                <a:lnTo>
                  <a:pt x="1092040" y="2612021"/>
                </a:lnTo>
                <a:lnTo>
                  <a:pt x="1044891" y="2594614"/>
                </a:lnTo>
                <a:lnTo>
                  <a:pt x="998502" y="2576401"/>
                </a:lnTo>
                <a:lnTo>
                  <a:pt x="952892" y="2557396"/>
                </a:lnTo>
                <a:lnTo>
                  <a:pt x="908082" y="2537613"/>
                </a:lnTo>
                <a:lnTo>
                  <a:pt x="864092" y="2517067"/>
                </a:lnTo>
                <a:lnTo>
                  <a:pt x="820944" y="2495771"/>
                </a:lnTo>
                <a:lnTo>
                  <a:pt x="778657" y="2473739"/>
                </a:lnTo>
                <a:lnTo>
                  <a:pt x="737252" y="2450984"/>
                </a:lnTo>
                <a:lnTo>
                  <a:pt x="696749" y="2427522"/>
                </a:lnTo>
                <a:lnTo>
                  <a:pt x="657169" y="2403365"/>
                </a:lnTo>
                <a:lnTo>
                  <a:pt x="618533" y="2378527"/>
                </a:lnTo>
                <a:lnTo>
                  <a:pt x="580861" y="2353023"/>
                </a:lnTo>
                <a:lnTo>
                  <a:pt x="544174" y="2326866"/>
                </a:lnTo>
                <a:lnTo>
                  <a:pt x="508492" y="2300070"/>
                </a:lnTo>
                <a:lnTo>
                  <a:pt x="473836" y="2272650"/>
                </a:lnTo>
                <a:lnTo>
                  <a:pt x="440225" y="2244618"/>
                </a:lnTo>
                <a:lnTo>
                  <a:pt x="407682" y="2215990"/>
                </a:lnTo>
                <a:lnTo>
                  <a:pt x="376225" y="2186778"/>
                </a:lnTo>
                <a:lnTo>
                  <a:pt x="345876" y="2156996"/>
                </a:lnTo>
                <a:lnTo>
                  <a:pt x="316656" y="2126660"/>
                </a:lnTo>
                <a:lnTo>
                  <a:pt x="288584" y="2095782"/>
                </a:lnTo>
                <a:lnTo>
                  <a:pt x="261682" y="2064376"/>
                </a:lnTo>
                <a:lnTo>
                  <a:pt x="235970" y="2032456"/>
                </a:lnTo>
                <a:lnTo>
                  <a:pt x="211467" y="2000036"/>
                </a:lnTo>
                <a:lnTo>
                  <a:pt x="188196" y="1967131"/>
                </a:lnTo>
                <a:lnTo>
                  <a:pt x="166176" y="1933753"/>
                </a:lnTo>
                <a:lnTo>
                  <a:pt x="145428" y="1899918"/>
                </a:lnTo>
                <a:lnTo>
                  <a:pt x="125973" y="1865637"/>
                </a:lnTo>
                <a:lnTo>
                  <a:pt x="107830" y="1830927"/>
                </a:lnTo>
                <a:lnTo>
                  <a:pt x="91021" y="1795800"/>
                </a:lnTo>
                <a:lnTo>
                  <a:pt x="75566" y="1760270"/>
                </a:lnTo>
                <a:lnTo>
                  <a:pt x="61485" y="1724352"/>
                </a:lnTo>
                <a:lnTo>
                  <a:pt x="48800" y="1688059"/>
                </a:lnTo>
                <a:lnTo>
                  <a:pt x="37530" y="1651405"/>
                </a:lnTo>
                <a:lnTo>
                  <a:pt x="27696" y="1614403"/>
                </a:lnTo>
                <a:lnTo>
                  <a:pt x="19319" y="1577069"/>
                </a:lnTo>
                <a:lnTo>
                  <a:pt x="12418" y="1539416"/>
                </a:lnTo>
                <a:lnTo>
                  <a:pt x="7016" y="1501457"/>
                </a:lnTo>
                <a:lnTo>
                  <a:pt x="3132" y="1463206"/>
                </a:lnTo>
                <a:lnTo>
                  <a:pt x="786" y="1424678"/>
                </a:lnTo>
                <a:lnTo>
                  <a:pt x="0" y="138588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14984" y="3440690"/>
            <a:ext cx="0" cy="775335"/>
          </a:xfrm>
          <a:custGeom>
            <a:avLst/>
            <a:gdLst/>
            <a:ahLst/>
            <a:cxnLst/>
            <a:rect l="l" t="t" r="r" b="b"/>
            <a:pathLst>
              <a:path h="775335">
                <a:moveTo>
                  <a:pt x="0" y="0"/>
                </a:moveTo>
                <a:lnTo>
                  <a:pt x="1" y="77518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00438" y="4913537"/>
            <a:ext cx="1300480" cy="555625"/>
          </a:xfrm>
          <a:custGeom>
            <a:avLst/>
            <a:gdLst/>
            <a:ahLst/>
            <a:cxnLst/>
            <a:rect l="l" t="t" r="r" b="b"/>
            <a:pathLst>
              <a:path w="1300479" h="555625">
                <a:moveTo>
                  <a:pt x="1299858" y="0"/>
                </a:moveTo>
                <a:lnTo>
                  <a:pt x="0" y="55554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15080" y="4900618"/>
            <a:ext cx="1379220" cy="465455"/>
          </a:xfrm>
          <a:custGeom>
            <a:avLst/>
            <a:gdLst/>
            <a:ahLst/>
            <a:cxnLst/>
            <a:rect l="l" t="t" r="r" b="b"/>
            <a:pathLst>
              <a:path w="1379220" h="465454">
                <a:moveTo>
                  <a:pt x="0" y="0"/>
                </a:moveTo>
                <a:lnTo>
                  <a:pt x="1378666" y="46511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12007" y="4297679"/>
            <a:ext cx="1109471" cy="472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19271" y="4526279"/>
            <a:ext cx="694944" cy="47244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54167" y="4117847"/>
            <a:ext cx="694943" cy="46939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154167" y="4358640"/>
            <a:ext cx="694943" cy="4693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92879" y="5215127"/>
            <a:ext cx="1316736" cy="4724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25823" y="5641847"/>
            <a:ext cx="1524000" cy="4724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040666" y="5283936"/>
            <a:ext cx="1273175" cy="691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14"/>
              </a:spcBef>
            </a:pPr>
            <a:r>
              <a:rPr sz="1550" b="1" spc="75" dirty="0">
                <a:latin typeface="宋体"/>
                <a:cs typeface="宋体"/>
              </a:rPr>
              <a:t>状态转换图</a:t>
            </a:r>
            <a:endParaRPr sz="15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550" b="1" spc="75" dirty="0">
                <a:latin typeface="宋体"/>
                <a:cs typeface="宋体"/>
              </a:rPr>
              <a:t>控制规格说明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53455" y="3794759"/>
            <a:ext cx="902208" cy="46939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57088" y="4035552"/>
            <a:ext cx="694943" cy="46939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244087" y="3863568"/>
            <a:ext cx="1099185" cy="82867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 indent="398780">
              <a:lnSpc>
                <a:spcPct val="101899"/>
              </a:lnSpc>
              <a:spcBef>
                <a:spcPts val="80"/>
              </a:spcBef>
            </a:pPr>
            <a:r>
              <a:rPr sz="1550" b="1" spc="70" dirty="0">
                <a:latin typeface="宋体"/>
                <a:cs typeface="宋体"/>
              </a:rPr>
              <a:t>微规格 </a:t>
            </a:r>
            <a:r>
              <a:rPr sz="2325" b="1" spc="112" baseline="-23297" dirty="0">
                <a:latin typeface="宋体"/>
                <a:cs typeface="宋体"/>
              </a:rPr>
              <a:t>数</a:t>
            </a:r>
            <a:r>
              <a:rPr sz="2325" b="1" spc="60" baseline="-23297" dirty="0">
                <a:latin typeface="宋体"/>
                <a:cs typeface="宋体"/>
              </a:rPr>
              <a:t>据</a:t>
            </a:r>
            <a:r>
              <a:rPr sz="2325" b="1" spc="-150" baseline="-23297" dirty="0">
                <a:latin typeface="宋体"/>
                <a:cs typeface="宋体"/>
              </a:rPr>
              <a:t> </a:t>
            </a:r>
            <a:r>
              <a:rPr sz="1550" b="1" spc="75" dirty="0">
                <a:latin typeface="宋体"/>
                <a:cs typeface="宋体"/>
              </a:rPr>
              <a:t>说明</a:t>
            </a:r>
            <a:endParaRPr sz="155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sz="1550" b="1" spc="75" dirty="0">
                <a:latin typeface="宋体"/>
                <a:cs typeface="宋体"/>
              </a:rPr>
              <a:t>流图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663951" y="3794759"/>
            <a:ext cx="1106424" cy="46939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71216" y="4035552"/>
            <a:ext cx="691895" cy="4693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777045" y="3863568"/>
            <a:ext cx="1307465" cy="9963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0345" marR="454659" indent="-208279">
              <a:lnSpc>
                <a:spcPct val="101899"/>
              </a:lnSpc>
              <a:spcBef>
                <a:spcPts val="80"/>
              </a:spcBef>
            </a:pPr>
            <a:r>
              <a:rPr sz="1550" b="1" spc="70" dirty="0">
                <a:latin typeface="宋体"/>
                <a:cs typeface="宋体"/>
              </a:rPr>
              <a:t>数据对象 </a:t>
            </a:r>
            <a:r>
              <a:rPr sz="1550" b="1" spc="75" dirty="0">
                <a:latin typeface="宋体"/>
                <a:cs typeface="宋体"/>
              </a:rPr>
              <a:t>说明</a:t>
            </a:r>
            <a:endParaRPr sz="1550">
              <a:latin typeface="宋体"/>
              <a:cs typeface="宋体"/>
            </a:endParaRPr>
          </a:p>
          <a:p>
            <a:pPr marL="670560" marR="5080" indent="-208279">
              <a:lnSpc>
                <a:spcPts val="1800"/>
              </a:lnSpc>
              <a:spcBef>
                <a:spcPts val="315"/>
              </a:spcBef>
            </a:pPr>
            <a:r>
              <a:rPr sz="1550" b="1" spc="70" dirty="0">
                <a:latin typeface="宋体"/>
                <a:cs typeface="宋体"/>
              </a:rPr>
              <a:t>实体关系 </a:t>
            </a:r>
            <a:r>
              <a:rPr sz="1550" b="1" spc="75" dirty="0">
                <a:latin typeface="宋体"/>
                <a:cs typeface="宋体"/>
              </a:rPr>
              <a:t>模型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8650" y="242315"/>
            <a:ext cx="5613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结构化需求分析与建模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3711" y="1878075"/>
            <a:ext cx="4575175" cy="3338829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800" dirty="0">
                <a:latin typeface="宋体"/>
                <a:cs typeface="宋体"/>
              </a:rPr>
              <a:t>需要回答以下几个问题：</a:t>
            </a:r>
            <a:endParaRPr sz="2800">
              <a:latin typeface="宋体"/>
              <a:cs typeface="宋体"/>
            </a:endParaRPr>
          </a:p>
          <a:p>
            <a:pPr marL="295275" indent="-283210">
              <a:lnSpc>
                <a:spcPct val="100000"/>
              </a:lnSpc>
              <a:spcBef>
                <a:spcPts val="93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宋体"/>
                <a:cs typeface="宋体"/>
              </a:rPr>
              <a:t>系统中有哪些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数据对象</a:t>
            </a:r>
            <a:r>
              <a:rPr sz="2800" dirty="0"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marL="295275" indent="-283210">
              <a:lnSpc>
                <a:spcPct val="100000"/>
              </a:lnSpc>
              <a:spcBef>
                <a:spcPts val="103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宋体"/>
                <a:cs typeface="宋体"/>
              </a:rPr>
              <a:t>数据对象具有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哪些属性</a:t>
            </a:r>
            <a:r>
              <a:rPr sz="2800" dirty="0"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marL="295275" indent="-283210">
              <a:lnSpc>
                <a:spcPct val="100000"/>
              </a:lnSpc>
              <a:spcBef>
                <a:spcPts val="105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宋体"/>
                <a:cs typeface="宋体"/>
              </a:rPr>
              <a:t>数据对象间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有什么关系</a:t>
            </a:r>
            <a:r>
              <a:rPr sz="2800" dirty="0">
                <a:latin typeface="宋体"/>
                <a:cs typeface="宋体"/>
              </a:rPr>
              <a:t>？</a:t>
            </a:r>
            <a:endParaRPr sz="2800">
              <a:latin typeface="宋体"/>
              <a:cs typeface="宋体"/>
            </a:endParaRPr>
          </a:p>
          <a:p>
            <a:pPr marL="12700" marR="5080">
              <a:lnSpc>
                <a:spcPts val="4390"/>
              </a:lnSpc>
              <a:spcBef>
                <a:spcPts val="22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宋体"/>
                <a:cs typeface="宋体"/>
              </a:rPr>
              <a:t>数据对象分别处于系统的哪 些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功能或流程</a:t>
            </a:r>
            <a:r>
              <a:rPr sz="2800" dirty="0">
                <a:latin typeface="宋体"/>
                <a:cs typeface="宋体"/>
              </a:rPr>
              <a:t>中？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028" y="1321498"/>
            <a:ext cx="3205480" cy="32766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b="1" spc="145" dirty="0">
                <a:latin typeface="宋体"/>
                <a:cs typeface="宋体"/>
              </a:rPr>
              <a:t>面向数据的建模</a:t>
            </a:r>
            <a:endParaRPr sz="31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4150">
              <a:latin typeface="宋体"/>
              <a:cs typeface="宋体"/>
            </a:endParaRPr>
          </a:p>
          <a:p>
            <a:pPr marL="64769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基本要素：</a:t>
            </a:r>
            <a:endParaRPr sz="2800">
              <a:latin typeface="宋体"/>
              <a:cs typeface="宋体"/>
            </a:endParaRPr>
          </a:p>
          <a:p>
            <a:pPr marL="347980" indent="-283845">
              <a:lnSpc>
                <a:spcPct val="100000"/>
              </a:lnSpc>
              <a:spcBef>
                <a:spcPts val="935"/>
              </a:spcBef>
              <a:buSzPct val="96428"/>
              <a:buFont typeface="Wingdings"/>
              <a:buChar char=""/>
              <a:tabLst>
                <a:tab pos="348615" algn="l"/>
              </a:tabLst>
            </a:pPr>
            <a:r>
              <a:rPr sz="2800" dirty="0">
                <a:latin typeface="宋体"/>
                <a:cs typeface="宋体"/>
              </a:rPr>
              <a:t>数据对象（实体）</a:t>
            </a:r>
            <a:endParaRPr sz="2800">
              <a:latin typeface="宋体"/>
              <a:cs typeface="宋体"/>
            </a:endParaRPr>
          </a:p>
          <a:p>
            <a:pPr marL="347980" indent="-283845">
              <a:lnSpc>
                <a:spcPct val="100000"/>
              </a:lnSpc>
              <a:spcBef>
                <a:spcPts val="1060"/>
              </a:spcBef>
              <a:buSzPct val="96428"/>
              <a:buFont typeface="Wingdings"/>
              <a:buChar char=""/>
              <a:tabLst>
                <a:tab pos="348615" algn="l"/>
              </a:tabLst>
            </a:pPr>
            <a:r>
              <a:rPr sz="2800" dirty="0">
                <a:latin typeface="宋体"/>
                <a:cs typeface="宋体"/>
              </a:rPr>
              <a:t>属性</a:t>
            </a:r>
            <a:endParaRPr sz="2800">
              <a:latin typeface="宋体"/>
              <a:cs typeface="宋体"/>
            </a:endParaRPr>
          </a:p>
          <a:p>
            <a:pPr marL="347980" indent="-283845">
              <a:lnSpc>
                <a:spcPct val="100000"/>
              </a:lnSpc>
              <a:spcBef>
                <a:spcPts val="1030"/>
              </a:spcBef>
              <a:buSzPct val="96428"/>
              <a:buFont typeface="Wingdings"/>
              <a:buChar char=""/>
              <a:tabLst>
                <a:tab pos="348615" algn="l"/>
              </a:tabLst>
            </a:pPr>
            <a:r>
              <a:rPr sz="2800" dirty="0">
                <a:latin typeface="宋体"/>
                <a:cs typeface="宋体"/>
              </a:rPr>
              <a:t>关系和基数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0687" y="242315"/>
            <a:ext cx="60293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1.1.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过程建模：数据流图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615" y="1173489"/>
            <a:ext cx="8612505" cy="2496820"/>
          </a:xfrm>
          <a:prstGeom prst="rect">
            <a:avLst/>
          </a:prstGeom>
        </p:spPr>
        <p:txBody>
          <a:bodyPr vert="horz" wrap="square" lIns="0" tIns="173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sz="2350" b="1" spc="85" dirty="0">
                <a:latin typeface="宋体"/>
                <a:cs typeface="宋体"/>
              </a:rPr>
              <a:t>面向数据流的过程建模</a:t>
            </a:r>
            <a:endParaRPr sz="2350">
              <a:latin typeface="宋体"/>
              <a:cs typeface="宋体"/>
            </a:endParaRPr>
          </a:p>
          <a:p>
            <a:pPr marL="12700" marR="5080" indent="673100" algn="just">
              <a:lnSpc>
                <a:spcPct val="129700"/>
              </a:lnSpc>
              <a:spcBef>
                <a:spcPts val="430"/>
              </a:spcBef>
            </a:pPr>
            <a:r>
              <a:rPr sz="2400" dirty="0">
                <a:latin typeface="宋体"/>
                <a:cs typeface="宋体"/>
              </a:rPr>
              <a:t>数据流图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Arial"/>
                <a:cs typeface="Arial"/>
              </a:rPr>
              <a:t>Data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Flowing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Diagram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Arial"/>
                <a:cs typeface="Arial"/>
              </a:rPr>
              <a:t>DFD</a:t>
            </a:r>
            <a:r>
              <a:rPr sz="2400" dirty="0">
                <a:latin typeface="宋体"/>
                <a:cs typeface="宋体"/>
              </a:rPr>
              <a:t>）是结构化建模中 最流行的功能建模工具。</a:t>
            </a:r>
            <a:r>
              <a:rPr sz="2400" spc="-5" dirty="0">
                <a:latin typeface="Arial"/>
                <a:cs typeface="Arial"/>
              </a:rPr>
              <a:t>DFD</a:t>
            </a:r>
            <a:r>
              <a:rPr sz="2400" dirty="0">
                <a:latin typeface="宋体"/>
                <a:cs typeface="宋体"/>
              </a:rPr>
              <a:t>描述从数据输入、数据转换到数据 输出的全过程。能对</a:t>
            </a:r>
            <a:r>
              <a:rPr sz="2400" spc="-5" dirty="0">
                <a:latin typeface="Arial"/>
                <a:cs typeface="Arial"/>
              </a:rPr>
              <a:t>DFD</a:t>
            </a:r>
            <a:r>
              <a:rPr sz="2400" dirty="0">
                <a:latin typeface="宋体"/>
                <a:cs typeface="宋体"/>
              </a:rPr>
              <a:t>图分层，分层的</a:t>
            </a:r>
            <a:r>
              <a:rPr sz="2400" spc="-5" dirty="0">
                <a:latin typeface="Arial"/>
                <a:cs typeface="Arial"/>
              </a:rPr>
              <a:t>DFD</a:t>
            </a:r>
            <a:r>
              <a:rPr sz="2400" dirty="0">
                <a:latin typeface="宋体"/>
                <a:cs typeface="宋体"/>
              </a:rPr>
              <a:t>更进一步刻画了系 统的功能分解。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7094" y="4206422"/>
            <a:ext cx="1524635" cy="537210"/>
          </a:xfrm>
          <a:custGeom>
            <a:avLst/>
            <a:gdLst/>
            <a:ahLst/>
            <a:cxnLst/>
            <a:rect l="l" t="t" r="r" b="b"/>
            <a:pathLst>
              <a:path w="1524635" h="537210">
                <a:moveTo>
                  <a:pt x="0" y="0"/>
                </a:moveTo>
                <a:lnTo>
                  <a:pt x="1524223" y="0"/>
                </a:lnTo>
                <a:lnTo>
                  <a:pt x="1524223" y="536595"/>
                </a:lnTo>
                <a:lnTo>
                  <a:pt x="0" y="53659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" y="4163567"/>
            <a:ext cx="1249680" cy="527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5834" y="4240755"/>
            <a:ext cx="9588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外部系统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7050" y="5564640"/>
            <a:ext cx="1524635" cy="548005"/>
          </a:xfrm>
          <a:custGeom>
            <a:avLst/>
            <a:gdLst/>
            <a:ahLst/>
            <a:cxnLst/>
            <a:rect l="l" t="t" r="r" b="b"/>
            <a:pathLst>
              <a:path w="1524635" h="548004">
                <a:moveTo>
                  <a:pt x="0" y="0"/>
                </a:moveTo>
                <a:lnTo>
                  <a:pt x="1524223" y="0"/>
                </a:lnTo>
                <a:lnTo>
                  <a:pt x="1524223" y="547749"/>
                </a:lnTo>
                <a:lnTo>
                  <a:pt x="0" y="54774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08303" y="5519927"/>
            <a:ext cx="786384" cy="527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43098" y="5600163"/>
            <a:ext cx="49212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用户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20756" y="4475340"/>
            <a:ext cx="1177925" cy="1188720"/>
          </a:xfrm>
          <a:custGeom>
            <a:avLst/>
            <a:gdLst/>
            <a:ahLst/>
            <a:cxnLst/>
            <a:rect l="l" t="t" r="r" b="b"/>
            <a:pathLst>
              <a:path w="1177925" h="1188720">
                <a:moveTo>
                  <a:pt x="0" y="594220"/>
                </a:moveTo>
                <a:lnTo>
                  <a:pt x="1952" y="545485"/>
                </a:lnTo>
                <a:lnTo>
                  <a:pt x="7707" y="497834"/>
                </a:lnTo>
                <a:lnTo>
                  <a:pt x="17115" y="451422"/>
                </a:lnTo>
                <a:lnTo>
                  <a:pt x="30022" y="406400"/>
                </a:lnTo>
                <a:lnTo>
                  <a:pt x="46279" y="362923"/>
                </a:lnTo>
                <a:lnTo>
                  <a:pt x="65732" y="321141"/>
                </a:lnTo>
                <a:lnTo>
                  <a:pt x="88231" y="281210"/>
                </a:lnTo>
                <a:lnTo>
                  <a:pt x="113624" y="243281"/>
                </a:lnTo>
                <a:lnTo>
                  <a:pt x="141759" y="207508"/>
                </a:lnTo>
                <a:lnTo>
                  <a:pt x="172486" y="174043"/>
                </a:lnTo>
                <a:lnTo>
                  <a:pt x="205651" y="143039"/>
                </a:lnTo>
                <a:lnTo>
                  <a:pt x="241105" y="114650"/>
                </a:lnTo>
                <a:lnTo>
                  <a:pt x="278694" y="89027"/>
                </a:lnTo>
                <a:lnTo>
                  <a:pt x="318268" y="66325"/>
                </a:lnTo>
                <a:lnTo>
                  <a:pt x="359676" y="46696"/>
                </a:lnTo>
                <a:lnTo>
                  <a:pt x="402765" y="30293"/>
                </a:lnTo>
                <a:lnTo>
                  <a:pt x="447383" y="17269"/>
                </a:lnTo>
                <a:lnTo>
                  <a:pt x="493381" y="7777"/>
                </a:lnTo>
                <a:lnTo>
                  <a:pt x="540605" y="1969"/>
                </a:lnTo>
                <a:lnTo>
                  <a:pt x="588904" y="0"/>
                </a:lnTo>
                <a:lnTo>
                  <a:pt x="637203" y="1969"/>
                </a:lnTo>
                <a:lnTo>
                  <a:pt x="684427" y="7777"/>
                </a:lnTo>
                <a:lnTo>
                  <a:pt x="730425" y="17269"/>
                </a:lnTo>
                <a:lnTo>
                  <a:pt x="775043" y="30293"/>
                </a:lnTo>
                <a:lnTo>
                  <a:pt x="818132" y="46696"/>
                </a:lnTo>
                <a:lnTo>
                  <a:pt x="859540" y="66325"/>
                </a:lnTo>
                <a:lnTo>
                  <a:pt x="899114" y="89027"/>
                </a:lnTo>
                <a:lnTo>
                  <a:pt x="936703" y="114650"/>
                </a:lnTo>
                <a:lnTo>
                  <a:pt x="972157" y="143039"/>
                </a:lnTo>
                <a:lnTo>
                  <a:pt x="1005322" y="174043"/>
                </a:lnTo>
                <a:lnTo>
                  <a:pt x="1036049" y="207508"/>
                </a:lnTo>
                <a:lnTo>
                  <a:pt x="1064184" y="243281"/>
                </a:lnTo>
                <a:lnTo>
                  <a:pt x="1089577" y="281210"/>
                </a:lnTo>
                <a:lnTo>
                  <a:pt x="1112076" y="321141"/>
                </a:lnTo>
                <a:lnTo>
                  <a:pt x="1131529" y="362923"/>
                </a:lnTo>
                <a:lnTo>
                  <a:pt x="1147786" y="406400"/>
                </a:lnTo>
                <a:lnTo>
                  <a:pt x="1160693" y="451422"/>
                </a:lnTo>
                <a:lnTo>
                  <a:pt x="1170101" y="497834"/>
                </a:lnTo>
                <a:lnTo>
                  <a:pt x="1175856" y="545485"/>
                </a:lnTo>
                <a:lnTo>
                  <a:pt x="1177809" y="594220"/>
                </a:lnTo>
                <a:lnTo>
                  <a:pt x="1175856" y="642955"/>
                </a:lnTo>
                <a:lnTo>
                  <a:pt x="1170101" y="690606"/>
                </a:lnTo>
                <a:lnTo>
                  <a:pt x="1160693" y="737018"/>
                </a:lnTo>
                <a:lnTo>
                  <a:pt x="1147786" y="782040"/>
                </a:lnTo>
                <a:lnTo>
                  <a:pt x="1131529" y="825517"/>
                </a:lnTo>
                <a:lnTo>
                  <a:pt x="1112076" y="867299"/>
                </a:lnTo>
                <a:lnTo>
                  <a:pt x="1089577" y="907230"/>
                </a:lnTo>
                <a:lnTo>
                  <a:pt x="1064184" y="945159"/>
                </a:lnTo>
                <a:lnTo>
                  <a:pt x="1036049" y="980932"/>
                </a:lnTo>
                <a:lnTo>
                  <a:pt x="1005322" y="1014397"/>
                </a:lnTo>
                <a:lnTo>
                  <a:pt x="972157" y="1045401"/>
                </a:lnTo>
                <a:lnTo>
                  <a:pt x="936703" y="1073790"/>
                </a:lnTo>
                <a:lnTo>
                  <a:pt x="899114" y="1099413"/>
                </a:lnTo>
                <a:lnTo>
                  <a:pt x="859540" y="1122115"/>
                </a:lnTo>
                <a:lnTo>
                  <a:pt x="818132" y="1141744"/>
                </a:lnTo>
                <a:lnTo>
                  <a:pt x="775043" y="1158147"/>
                </a:lnTo>
                <a:lnTo>
                  <a:pt x="730425" y="1171171"/>
                </a:lnTo>
                <a:lnTo>
                  <a:pt x="684427" y="1180663"/>
                </a:lnTo>
                <a:lnTo>
                  <a:pt x="637203" y="1186471"/>
                </a:lnTo>
                <a:lnTo>
                  <a:pt x="588904" y="1188441"/>
                </a:lnTo>
                <a:lnTo>
                  <a:pt x="540605" y="1186471"/>
                </a:lnTo>
                <a:lnTo>
                  <a:pt x="493381" y="1180663"/>
                </a:lnTo>
                <a:lnTo>
                  <a:pt x="447383" y="1171171"/>
                </a:lnTo>
                <a:lnTo>
                  <a:pt x="402765" y="1158147"/>
                </a:lnTo>
                <a:lnTo>
                  <a:pt x="359676" y="1141744"/>
                </a:lnTo>
                <a:lnTo>
                  <a:pt x="318268" y="1122115"/>
                </a:lnTo>
                <a:lnTo>
                  <a:pt x="278694" y="1099413"/>
                </a:lnTo>
                <a:lnTo>
                  <a:pt x="241105" y="1073790"/>
                </a:lnTo>
                <a:lnTo>
                  <a:pt x="205651" y="1045401"/>
                </a:lnTo>
                <a:lnTo>
                  <a:pt x="172486" y="1014397"/>
                </a:lnTo>
                <a:lnTo>
                  <a:pt x="141759" y="980932"/>
                </a:lnTo>
                <a:lnTo>
                  <a:pt x="113624" y="945159"/>
                </a:lnTo>
                <a:lnTo>
                  <a:pt x="88231" y="907230"/>
                </a:lnTo>
                <a:lnTo>
                  <a:pt x="65732" y="867299"/>
                </a:lnTo>
                <a:lnTo>
                  <a:pt x="46279" y="825517"/>
                </a:lnTo>
                <a:lnTo>
                  <a:pt x="30022" y="782040"/>
                </a:lnTo>
                <a:lnTo>
                  <a:pt x="17115" y="737018"/>
                </a:lnTo>
                <a:lnTo>
                  <a:pt x="7707" y="690606"/>
                </a:lnTo>
                <a:lnTo>
                  <a:pt x="1952" y="642955"/>
                </a:lnTo>
                <a:lnTo>
                  <a:pt x="0" y="59422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30040" y="4605528"/>
            <a:ext cx="783336" cy="5273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130040" y="4873752"/>
            <a:ext cx="783336" cy="5242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63598" y="4682715"/>
            <a:ext cx="492125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00"/>
              </a:spcBef>
            </a:pPr>
            <a:r>
              <a:rPr sz="1750" b="1" spc="70" dirty="0">
                <a:latin typeface="宋体"/>
                <a:cs typeface="宋体"/>
              </a:rPr>
              <a:t>目标 系统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410967" y="5623559"/>
            <a:ext cx="1252728" cy="5273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545711" y="5700747"/>
            <a:ext cx="9588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输入数据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438400" y="4093464"/>
            <a:ext cx="1249679" cy="5273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571114" y="4170651"/>
            <a:ext cx="9588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输入数据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119411" y="4471956"/>
            <a:ext cx="1802764" cy="469900"/>
          </a:xfrm>
          <a:custGeom>
            <a:avLst/>
            <a:gdLst/>
            <a:ahLst/>
            <a:cxnLst/>
            <a:rect l="l" t="t" r="r" b="b"/>
            <a:pathLst>
              <a:path w="1802764" h="469900">
                <a:moveTo>
                  <a:pt x="1727388" y="437057"/>
                </a:moveTo>
                <a:lnTo>
                  <a:pt x="1719374" y="469417"/>
                </a:lnTo>
                <a:lnTo>
                  <a:pt x="1802499" y="450752"/>
                </a:lnTo>
                <a:lnTo>
                  <a:pt x="1790029" y="440110"/>
                </a:lnTo>
                <a:lnTo>
                  <a:pt x="1739717" y="440110"/>
                </a:lnTo>
                <a:lnTo>
                  <a:pt x="1727388" y="437057"/>
                </a:lnTo>
                <a:close/>
              </a:path>
              <a:path w="1802764" h="469900">
                <a:moveTo>
                  <a:pt x="1729678" y="427811"/>
                </a:moveTo>
                <a:lnTo>
                  <a:pt x="1727388" y="437057"/>
                </a:lnTo>
                <a:lnTo>
                  <a:pt x="1739717" y="440110"/>
                </a:lnTo>
                <a:lnTo>
                  <a:pt x="1742006" y="430865"/>
                </a:lnTo>
                <a:lnTo>
                  <a:pt x="1729678" y="427811"/>
                </a:lnTo>
                <a:close/>
              </a:path>
              <a:path w="1802764" h="469900">
                <a:moveTo>
                  <a:pt x="1737692" y="395451"/>
                </a:moveTo>
                <a:lnTo>
                  <a:pt x="1729678" y="427811"/>
                </a:lnTo>
                <a:lnTo>
                  <a:pt x="1742006" y="430865"/>
                </a:lnTo>
                <a:lnTo>
                  <a:pt x="1739717" y="440110"/>
                </a:lnTo>
                <a:lnTo>
                  <a:pt x="1790029" y="440110"/>
                </a:lnTo>
                <a:lnTo>
                  <a:pt x="1737692" y="395451"/>
                </a:lnTo>
                <a:close/>
              </a:path>
              <a:path w="1802764" h="469900">
                <a:moveTo>
                  <a:pt x="2289" y="0"/>
                </a:moveTo>
                <a:lnTo>
                  <a:pt x="0" y="9245"/>
                </a:lnTo>
                <a:lnTo>
                  <a:pt x="1727388" y="437057"/>
                </a:lnTo>
                <a:lnTo>
                  <a:pt x="1729678" y="427811"/>
                </a:lnTo>
                <a:lnTo>
                  <a:pt x="22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119411" y="5350176"/>
            <a:ext cx="1802764" cy="469900"/>
          </a:xfrm>
          <a:custGeom>
            <a:avLst/>
            <a:gdLst/>
            <a:ahLst/>
            <a:cxnLst/>
            <a:rect l="l" t="t" r="r" b="b"/>
            <a:pathLst>
              <a:path w="1802764" h="469900">
                <a:moveTo>
                  <a:pt x="1727388" y="32359"/>
                </a:moveTo>
                <a:lnTo>
                  <a:pt x="0" y="460171"/>
                </a:lnTo>
                <a:lnTo>
                  <a:pt x="2289" y="469416"/>
                </a:lnTo>
                <a:lnTo>
                  <a:pt x="1729678" y="41605"/>
                </a:lnTo>
                <a:lnTo>
                  <a:pt x="1727388" y="32359"/>
                </a:lnTo>
                <a:close/>
              </a:path>
              <a:path w="1802764" h="469900">
                <a:moveTo>
                  <a:pt x="1790027" y="29306"/>
                </a:moveTo>
                <a:lnTo>
                  <a:pt x="1739717" y="29306"/>
                </a:lnTo>
                <a:lnTo>
                  <a:pt x="1742006" y="38552"/>
                </a:lnTo>
                <a:lnTo>
                  <a:pt x="1729678" y="41605"/>
                </a:lnTo>
                <a:lnTo>
                  <a:pt x="1737692" y="73964"/>
                </a:lnTo>
                <a:lnTo>
                  <a:pt x="1790027" y="29306"/>
                </a:lnTo>
                <a:close/>
              </a:path>
              <a:path w="1802764" h="469900">
                <a:moveTo>
                  <a:pt x="1739717" y="29306"/>
                </a:moveTo>
                <a:lnTo>
                  <a:pt x="1727388" y="32359"/>
                </a:lnTo>
                <a:lnTo>
                  <a:pt x="1729678" y="41605"/>
                </a:lnTo>
                <a:lnTo>
                  <a:pt x="1742006" y="38552"/>
                </a:lnTo>
                <a:lnTo>
                  <a:pt x="1739717" y="29306"/>
                </a:lnTo>
                <a:close/>
              </a:path>
              <a:path w="1802764" h="469900">
                <a:moveTo>
                  <a:pt x="1719374" y="0"/>
                </a:moveTo>
                <a:lnTo>
                  <a:pt x="1727388" y="32359"/>
                </a:lnTo>
                <a:lnTo>
                  <a:pt x="1739717" y="29306"/>
                </a:lnTo>
                <a:lnTo>
                  <a:pt x="1790027" y="29306"/>
                </a:lnTo>
                <a:lnTo>
                  <a:pt x="1802499" y="18663"/>
                </a:lnTo>
                <a:lnTo>
                  <a:pt x="17193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30438" y="4180399"/>
            <a:ext cx="1386205" cy="593725"/>
          </a:xfrm>
          <a:custGeom>
            <a:avLst/>
            <a:gdLst/>
            <a:ahLst/>
            <a:cxnLst/>
            <a:rect l="l" t="t" r="r" b="b"/>
            <a:pathLst>
              <a:path w="1386204" h="593725">
                <a:moveTo>
                  <a:pt x="0" y="0"/>
                </a:moveTo>
                <a:lnTo>
                  <a:pt x="1385657" y="0"/>
                </a:lnTo>
                <a:lnTo>
                  <a:pt x="1385657" y="593600"/>
                </a:lnTo>
                <a:lnTo>
                  <a:pt x="0" y="593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030438" y="4180399"/>
            <a:ext cx="1386205" cy="593725"/>
          </a:xfrm>
          <a:custGeom>
            <a:avLst/>
            <a:gdLst/>
            <a:ahLst/>
            <a:cxnLst/>
            <a:rect l="l" t="t" r="r" b="b"/>
            <a:pathLst>
              <a:path w="1386204" h="593725">
                <a:moveTo>
                  <a:pt x="0" y="0"/>
                </a:moveTo>
                <a:lnTo>
                  <a:pt x="1385658" y="0"/>
                </a:lnTo>
                <a:lnTo>
                  <a:pt x="1385658" y="593601"/>
                </a:lnTo>
                <a:lnTo>
                  <a:pt x="0" y="593601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74335" y="4136135"/>
            <a:ext cx="1252727" cy="527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09178" y="4216371"/>
            <a:ext cx="9588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输出数据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98531" y="4458690"/>
            <a:ext cx="1733550" cy="468630"/>
          </a:xfrm>
          <a:custGeom>
            <a:avLst/>
            <a:gdLst/>
            <a:ahLst/>
            <a:cxnLst/>
            <a:rect l="l" t="t" r="r" b="b"/>
            <a:pathLst>
              <a:path w="1733550" h="468629">
                <a:moveTo>
                  <a:pt x="1658280" y="32284"/>
                </a:moveTo>
                <a:lnTo>
                  <a:pt x="0" y="459407"/>
                </a:lnTo>
                <a:lnTo>
                  <a:pt x="2376" y="468631"/>
                </a:lnTo>
                <a:lnTo>
                  <a:pt x="1660656" y="41508"/>
                </a:lnTo>
                <a:lnTo>
                  <a:pt x="1658280" y="32284"/>
                </a:lnTo>
                <a:close/>
              </a:path>
              <a:path w="1733550" h="468629">
                <a:moveTo>
                  <a:pt x="1720349" y="29116"/>
                </a:moveTo>
                <a:lnTo>
                  <a:pt x="1670580" y="29116"/>
                </a:lnTo>
                <a:lnTo>
                  <a:pt x="1672955" y="38340"/>
                </a:lnTo>
                <a:lnTo>
                  <a:pt x="1660656" y="41508"/>
                </a:lnTo>
                <a:lnTo>
                  <a:pt x="1668971" y="73792"/>
                </a:lnTo>
                <a:lnTo>
                  <a:pt x="1720349" y="29116"/>
                </a:lnTo>
                <a:close/>
              </a:path>
              <a:path w="1733550" h="468629">
                <a:moveTo>
                  <a:pt x="1670580" y="29116"/>
                </a:moveTo>
                <a:lnTo>
                  <a:pt x="1658280" y="32284"/>
                </a:lnTo>
                <a:lnTo>
                  <a:pt x="1660656" y="41508"/>
                </a:lnTo>
                <a:lnTo>
                  <a:pt x="1672955" y="38340"/>
                </a:lnTo>
                <a:lnTo>
                  <a:pt x="1670580" y="29116"/>
                </a:lnTo>
                <a:close/>
              </a:path>
              <a:path w="1733550" h="468629">
                <a:moveTo>
                  <a:pt x="1649964" y="0"/>
                </a:moveTo>
                <a:lnTo>
                  <a:pt x="1658280" y="32284"/>
                </a:lnTo>
                <a:lnTo>
                  <a:pt x="1670580" y="29116"/>
                </a:lnTo>
                <a:lnTo>
                  <a:pt x="1720349" y="29116"/>
                </a:lnTo>
                <a:lnTo>
                  <a:pt x="1733260" y="17889"/>
                </a:lnTo>
                <a:lnTo>
                  <a:pt x="164996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44440" y="5623559"/>
            <a:ext cx="1249680" cy="5273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177306" y="5700747"/>
            <a:ext cx="9588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输出数据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98531" y="5364227"/>
            <a:ext cx="1733550" cy="468630"/>
          </a:xfrm>
          <a:custGeom>
            <a:avLst/>
            <a:gdLst/>
            <a:ahLst/>
            <a:cxnLst/>
            <a:rect l="l" t="t" r="r" b="b"/>
            <a:pathLst>
              <a:path w="1733550" h="468629">
                <a:moveTo>
                  <a:pt x="1658280" y="436347"/>
                </a:moveTo>
                <a:lnTo>
                  <a:pt x="1649964" y="468631"/>
                </a:lnTo>
                <a:lnTo>
                  <a:pt x="1733260" y="450742"/>
                </a:lnTo>
                <a:lnTo>
                  <a:pt x="1720349" y="439516"/>
                </a:lnTo>
                <a:lnTo>
                  <a:pt x="1670580" y="439516"/>
                </a:lnTo>
                <a:lnTo>
                  <a:pt x="1658280" y="436347"/>
                </a:lnTo>
                <a:close/>
              </a:path>
              <a:path w="1733550" h="468629">
                <a:moveTo>
                  <a:pt x="1660656" y="427124"/>
                </a:moveTo>
                <a:lnTo>
                  <a:pt x="1658280" y="436347"/>
                </a:lnTo>
                <a:lnTo>
                  <a:pt x="1670580" y="439516"/>
                </a:lnTo>
                <a:lnTo>
                  <a:pt x="1672955" y="430292"/>
                </a:lnTo>
                <a:lnTo>
                  <a:pt x="1660656" y="427124"/>
                </a:lnTo>
                <a:close/>
              </a:path>
              <a:path w="1733550" h="468629">
                <a:moveTo>
                  <a:pt x="1668971" y="394840"/>
                </a:moveTo>
                <a:lnTo>
                  <a:pt x="1660656" y="427124"/>
                </a:lnTo>
                <a:lnTo>
                  <a:pt x="1672955" y="430292"/>
                </a:lnTo>
                <a:lnTo>
                  <a:pt x="1670580" y="439516"/>
                </a:lnTo>
                <a:lnTo>
                  <a:pt x="1720349" y="439516"/>
                </a:lnTo>
                <a:lnTo>
                  <a:pt x="1668971" y="394840"/>
                </a:lnTo>
                <a:close/>
              </a:path>
              <a:path w="1733550" h="468629">
                <a:moveTo>
                  <a:pt x="2376" y="0"/>
                </a:moveTo>
                <a:lnTo>
                  <a:pt x="0" y="9224"/>
                </a:lnTo>
                <a:lnTo>
                  <a:pt x="1658280" y="436347"/>
                </a:lnTo>
                <a:lnTo>
                  <a:pt x="1660656" y="427124"/>
                </a:lnTo>
                <a:lnTo>
                  <a:pt x="23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846803" y="4194030"/>
            <a:ext cx="1524635" cy="537845"/>
          </a:xfrm>
          <a:custGeom>
            <a:avLst/>
            <a:gdLst/>
            <a:ahLst/>
            <a:cxnLst/>
            <a:rect l="l" t="t" r="r" b="b"/>
            <a:pathLst>
              <a:path w="1524634" h="537845">
                <a:moveTo>
                  <a:pt x="0" y="0"/>
                </a:moveTo>
                <a:lnTo>
                  <a:pt x="1524223" y="0"/>
                </a:lnTo>
                <a:lnTo>
                  <a:pt x="1524223" y="537835"/>
                </a:lnTo>
                <a:lnTo>
                  <a:pt x="0" y="537835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790943" y="4151376"/>
            <a:ext cx="1252727" cy="5273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925543" y="4228563"/>
            <a:ext cx="95885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外部系统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76826" y="5548531"/>
            <a:ext cx="1524635" cy="553085"/>
          </a:xfrm>
          <a:custGeom>
            <a:avLst/>
            <a:gdLst/>
            <a:ahLst/>
            <a:cxnLst/>
            <a:rect l="l" t="t" r="r" b="b"/>
            <a:pathLst>
              <a:path w="1524634" h="553085">
                <a:moveTo>
                  <a:pt x="0" y="0"/>
                </a:moveTo>
                <a:lnTo>
                  <a:pt x="1524223" y="0"/>
                </a:lnTo>
                <a:lnTo>
                  <a:pt x="1524223" y="552706"/>
                </a:lnTo>
                <a:lnTo>
                  <a:pt x="0" y="55270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60335" y="5504688"/>
            <a:ext cx="783335" cy="5273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392874" y="5581875"/>
            <a:ext cx="492125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用户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8074" y="187451"/>
            <a:ext cx="64611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</a:t>
            </a:r>
            <a:r>
              <a:rPr dirty="0"/>
              <a:t>.</a:t>
            </a:r>
            <a:r>
              <a:rPr spc="-5" dirty="0"/>
              <a:t>2.</a:t>
            </a:r>
            <a:r>
              <a:rPr dirty="0">
                <a:latin typeface="宋体"/>
                <a:cs typeface="宋体"/>
              </a:rPr>
              <a:t>数据建模：实体关系图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38" y="1183131"/>
            <a:ext cx="8026400" cy="3477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起源于</a:t>
            </a:r>
            <a:r>
              <a:rPr sz="2800" spc="-5" dirty="0">
                <a:latin typeface="Calibri"/>
                <a:cs typeface="Calibri"/>
              </a:rPr>
              <a:t>Peter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Chen1976</a:t>
            </a:r>
            <a:r>
              <a:rPr sz="2800" dirty="0">
                <a:latin typeface="宋体"/>
                <a:cs typeface="宋体"/>
              </a:rPr>
              <a:t>年提出的实体关系建模方法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SzPct val="101818"/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4125" b="1" spc="127" baseline="1010" dirty="0">
                <a:latin typeface="宋体"/>
                <a:cs typeface="宋体"/>
              </a:rPr>
              <a:t>要</a:t>
            </a:r>
            <a:r>
              <a:rPr sz="4125" b="1" spc="120" baseline="1010" dirty="0">
                <a:latin typeface="宋体"/>
                <a:cs typeface="宋体"/>
              </a:rPr>
              <a:t>点</a:t>
            </a:r>
            <a:r>
              <a:rPr sz="2800" dirty="0">
                <a:latin typeface="宋体"/>
                <a:cs typeface="宋体"/>
              </a:rPr>
              <a:t>：分析系统中的实体，实体属性和实间关系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没有标准的表示法，基本元素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实体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0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关系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Font typeface="Arial"/>
              <a:buChar char="–"/>
              <a:tabLst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属性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9487" y="242315"/>
            <a:ext cx="49117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1.2.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实体关系图示例</a:t>
            </a:r>
          </a:p>
        </p:txBody>
      </p:sp>
      <p:sp>
        <p:nvSpPr>
          <p:cNvPr id="3" name="object 3"/>
          <p:cNvSpPr/>
          <p:nvPr/>
        </p:nvSpPr>
        <p:spPr>
          <a:xfrm>
            <a:off x="4736481" y="3183657"/>
            <a:ext cx="648970" cy="311150"/>
          </a:xfrm>
          <a:custGeom>
            <a:avLst/>
            <a:gdLst/>
            <a:ahLst/>
            <a:cxnLst/>
            <a:rect l="l" t="t" r="r" b="b"/>
            <a:pathLst>
              <a:path w="648970" h="311150">
                <a:moveTo>
                  <a:pt x="0" y="310763"/>
                </a:moveTo>
                <a:lnTo>
                  <a:pt x="648821" y="310763"/>
                </a:lnTo>
                <a:lnTo>
                  <a:pt x="648821" y="0"/>
                </a:lnTo>
                <a:lnTo>
                  <a:pt x="0" y="0"/>
                </a:lnTo>
                <a:lnTo>
                  <a:pt x="0" y="310763"/>
                </a:lnTo>
                <a:close/>
              </a:path>
            </a:pathLst>
          </a:custGeom>
          <a:ln w="109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19931" y="3240538"/>
            <a:ext cx="28194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latin typeface="MS Gothic"/>
                <a:cs typeface="MS Gothic"/>
              </a:rPr>
              <a:t>学生</a:t>
            </a:r>
            <a:endParaRPr sz="100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6481" y="4323165"/>
            <a:ext cx="648970" cy="311150"/>
          </a:xfrm>
          <a:prstGeom prst="rect">
            <a:avLst/>
          </a:prstGeom>
          <a:ln w="10967">
            <a:solidFill>
              <a:srgbClr val="000000"/>
            </a:solidFill>
          </a:ln>
        </p:spPr>
        <p:txBody>
          <a:bodyPr vert="horz" wrap="square" lIns="0" tIns="70485" rIns="0" bIns="0" rtlCol="0">
            <a:spAutoFit/>
          </a:bodyPr>
          <a:lstStyle/>
          <a:p>
            <a:pPr marL="131445">
              <a:lnSpc>
                <a:spcPct val="100000"/>
              </a:lnSpc>
              <a:spcBef>
                <a:spcPts val="555"/>
              </a:spcBef>
            </a:pPr>
            <a:r>
              <a:rPr sz="1000" spc="5" dirty="0">
                <a:latin typeface="MS Gothic"/>
                <a:cs typeface="MS Gothic"/>
              </a:rPr>
              <a:t>研</a:t>
            </a:r>
            <a:r>
              <a:rPr sz="1000" spc="5" dirty="0">
                <a:latin typeface="宋体"/>
                <a:cs typeface="宋体"/>
              </a:rPr>
              <a:t>讨</a:t>
            </a:r>
            <a:r>
              <a:rPr sz="1000" spc="5" dirty="0">
                <a:latin typeface="MS Gothic"/>
                <a:cs typeface="MS Gothic"/>
              </a:rPr>
              <a:t>班</a:t>
            </a:r>
            <a:endParaRPr sz="1000">
              <a:latin typeface="MS Gothic"/>
              <a:cs typeface="MS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36481" y="5475565"/>
            <a:ext cx="648970" cy="311150"/>
          </a:xfrm>
          <a:custGeom>
            <a:avLst/>
            <a:gdLst/>
            <a:ahLst/>
            <a:cxnLst/>
            <a:rect l="l" t="t" r="r" b="b"/>
            <a:pathLst>
              <a:path w="648970" h="311150">
                <a:moveTo>
                  <a:pt x="0" y="310763"/>
                </a:moveTo>
                <a:lnTo>
                  <a:pt x="648821" y="310763"/>
                </a:lnTo>
                <a:lnTo>
                  <a:pt x="648821" y="0"/>
                </a:lnTo>
                <a:lnTo>
                  <a:pt x="0" y="0"/>
                </a:lnTo>
                <a:lnTo>
                  <a:pt x="0" y="310763"/>
                </a:lnTo>
                <a:close/>
              </a:path>
            </a:pathLst>
          </a:custGeom>
          <a:ln w="109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919931" y="5532428"/>
            <a:ext cx="28194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latin typeface="MS Gothic"/>
                <a:cs typeface="MS Gothic"/>
              </a:rPr>
              <a:t>教</a:t>
            </a:r>
            <a:r>
              <a:rPr sz="1000" spc="5" dirty="0">
                <a:latin typeface="宋体"/>
                <a:cs typeface="宋体"/>
              </a:rPr>
              <a:t>师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14263" y="4323165"/>
            <a:ext cx="648970" cy="311150"/>
          </a:xfrm>
          <a:custGeom>
            <a:avLst/>
            <a:gdLst/>
            <a:ahLst/>
            <a:cxnLst/>
            <a:rect l="l" t="t" r="r" b="b"/>
            <a:pathLst>
              <a:path w="648970" h="311150">
                <a:moveTo>
                  <a:pt x="0" y="310763"/>
                </a:moveTo>
                <a:lnTo>
                  <a:pt x="648821" y="310763"/>
                </a:lnTo>
                <a:lnTo>
                  <a:pt x="648821" y="0"/>
                </a:lnTo>
                <a:lnTo>
                  <a:pt x="0" y="0"/>
                </a:lnTo>
                <a:lnTo>
                  <a:pt x="0" y="310763"/>
                </a:lnTo>
                <a:close/>
              </a:path>
            </a:pathLst>
          </a:custGeom>
          <a:ln w="109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697676" y="4380046"/>
            <a:ext cx="28194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latin typeface="MS Gothic"/>
                <a:cs typeface="MS Gothic"/>
              </a:rPr>
              <a:t>活</a:t>
            </a:r>
            <a:r>
              <a:rPr sz="1000" spc="5" dirty="0">
                <a:latin typeface="宋体"/>
                <a:cs typeface="宋体"/>
              </a:rPr>
              <a:t>动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70867" y="2937410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96"/>
                </a:moveTo>
                <a:lnTo>
                  <a:pt x="27038" y="83540"/>
                </a:lnTo>
                <a:lnTo>
                  <a:pt x="58440" y="55856"/>
                </a:lnTo>
                <a:lnTo>
                  <a:pt x="99636" y="32764"/>
                </a:lnTo>
                <a:lnTo>
                  <a:pt x="149029" y="15159"/>
                </a:lnTo>
                <a:lnTo>
                  <a:pt x="205022" y="3939"/>
                </a:lnTo>
                <a:lnTo>
                  <a:pt x="266019" y="0"/>
                </a:lnTo>
                <a:lnTo>
                  <a:pt x="327012" y="3939"/>
                </a:lnTo>
                <a:lnTo>
                  <a:pt x="383003" y="15159"/>
                </a:lnTo>
                <a:lnTo>
                  <a:pt x="432396" y="32764"/>
                </a:lnTo>
                <a:lnTo>
                  <a:pt x="473592" y="55856"/>
                </a:lnTo>
                <a:lnTo>
                  <a:pt x="504996" y="83540"/>
                </a:lnTo>
                <a:lnTo>
                  <a:pt x="532035" y="149096"/>
                </a:lnTo>
                <a:lnTo>
                  <a:pt x="525009" y="183239"/>
                </a:lnTo>
                <a:lnTo>
                  <a:pt x="504996" y="214593"/>
                </a:lnTo>
                <a:lnTo>
                  <a:pt x="473592" y="242261"/>
                </a:lnTo>
                <a:lnTo>
                  <a:pt x="432396" y="265344"/>
                </a:lnTo>
                <a:lnTo>
                  <a:pt x="383003" y="282943"/>
                </a:lnTo>
                <a:lnTo>
                  <a:pt x="327012" y="294162"/>
                </a:lnTo>
                <a:lnTo>
                  <a:pt x="266019" y="298101"/>
                </a:lnTo>
                <a:lnTo>
                  <a:pt x="205022" y="294162"/>
                </a:lnTo>
                <a:lnTo>
                  <a:pt x="149029" y="282943"/>
                </a:lnTo>
                <a:lnTo>
                  <a:pt x="99636" y="265344"/>
                </a:lnTo>
                <a:lnTo>
                  <a:pt x="58440" y="242261"/>
                </a:lnTo>
                <a:lnTo>
                  <a:pt x="27038" y="214593"/>
                </a:lnTo>
                <a:lnTo>
                  <a:pt x="7025" y="183239"/>
                </a:lnTo>
                <a:lnTo>
                  <a:pt x="0" y="149096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14337" y="3000170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u="sng" spc="15" dirty="0">
                <a:uFill>
                  <a:solidFill>
                    <a:srgbClr val="000000"/>
                  </a:solidFill>
                </a:uFill>
                <a:latin typeface="MS Gothic"/>
                <a:cs typeface="MS Gothic"/>
              </a:rPr>
              <a:t>学号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964378" y="5326514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50"/>
                </a:moveTo>
                <a:lnTo>
                  <a:pt x="27037" y="83508"/>
                </a:lnTo>
                <a:lnTo>
                  <a:pt x="58439" y="55832"/>
                </a:lnTo>
                <a:lnTo>
                  <a:pt x="99635" y="32749"/>
                </a:lnTo>
                <a:lnTo>
                  <a:pt x="149027" y="15152"/>
                </a:lnTo>
                <a:lnTo>
                  <a:pt x="205020" y="3937"/>
                </a:lnTo>
                <a:lnTo>
                  <a:pt x="266016" y="0"/>
                </a:lnTo>
                <a:lnTo>
                  <a:pt x="327012" y="3937"/>
                </a:lnTo>
                <a:lnTo>
                  <a:pt x="383005" y="15152"/>
                </a:lnTo>
                <a:lnTo>
                  <a:pt x="432397" y="32749"/>
                </a:lnTo>
                <a:lnTo>
                  <a:pt x="473592" y="55832"/>
                </a:lnTo>
                <a:lnTo>
                  <a:pt x="504995" y="83508"/>
                </a:lnTo>
                <a:lnTo>
                  <a:pt x="532032" y="149050"/>
                </a:lnTo>
                <a:lnTo>
                  <a:pt x="525007" y="183217"/>
                </a:lnTo>
                <a:lnTo>
                  <a:pt x="504995" y="214581"/>
                </a:lnTo>
                <a:lnTo>
                  <a:pt x="473592" y="242250"/>
                </a:lnTo>
                <a:lnTo>
                  <a:pt x="432397" y="265327"/>
                </a:lnTo>
                <a:lnTo>
                  <a:pt x="383005" y="282918"/>
                </a:lnTo>
                <a:lnTo>
                  <a:pt x="327012" y="294129"/>
                </a:lnTo>
                <a:lnTo>
                  <a:pt x="266016" y="298064"/>
                </a:lnTo>
                <a:lnTo>
                  <a:pt x="205020" y="294129"/>
                </a:lnTo>
                <a:lnTo>
                  <a:pt x="149027" y="282918"/>
                </a:lnTo>
                <a:lnTo>
                  <a:pt x="99635" y="265327"/>
                </a:lnTo>
                <a:lnTo>
                  <a:pt x="58439" y="242250"/>
                </a:lnTo>
                <a:lnTo>
                  <a:pt x="27037" y="214581"/>
                </a:lnTo>
                <a:lnTo>
                  <a:pt x="7025" y="183217"/>
                </a:lnTo>
                <a:lnTo>
                  <a:pt x="0" y="149050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64378" y="3973319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37" y="83467"/>
                </a:lnTo>
                <a:lnTo>
                  <a:pt x="58439" y="55801"/>
                </a:lnTo>
                <a:lnTo>
                  <a:pt x="99635" y="32728"/>
                </a:lnTo>
                <a:lnTo>
                  <a:pt x="149027" y="15141"/>
                </a:lnTo>
                <a:lnTo>
                  <a:pt x="205020" y="3934"/>
                </a:lnTo>
                <a:lnTo>
                  <a:pt x="266016" y="0"/>
                </a:lnTo>
                <a:lnTo>
                  <a:pt x="327012" y="3934"/>
                </a:lnTo>
                <a:lnTo>
                  <a:pt x="383005" y="15141"/>
                </a:lnTo>
                <a:lnTo>
                  <a:pt x="432397" y="32728"/>
                </a:lnTo>
                <a:lnTo>
                  <a:pt x="473592" y="55801"/>
                </a:lnTo>
                <a:lnTo>
                  <a:pt x="504995" y="83467"/>
                </a:lnTo>
                <a:lnTo>
                  <a:pt x="532032" y="149004"/>
                </a:lnTo>
                <a:lnTo>
                  <a:pt x="525007" y="183176"/>
                </a:lnTo>
                <a:lnTo>
                  <a:pt x="504995" y="214542"/>
                </a:lnTo>
                <a:lnTo>
                  <a:pt x="473592" y="242208"/>
                </a:lnTo>
                <a:lnTo>
                  <a:pt x="432397" y="265281"/>
                </a:lnTo>
                <a:lnTo>
                  <a:pt x="383005" y="282868"/>
                </a:lnTo>
                <a:lnTo>
                  <a:pt x="327012" y="294075"/>
                </a:lnTo>
                <a:lnTo>
                  <a:pt x="266016" y="298009"/>
                </a:lnTo>
                <a:lnTo>
                  <a:pt x="205020" y="294075"/>
                </a:lnTo>
                <a:lnTo>
                  <a:pt x="149027" y="282868"/>
                </a:lnTo>
                <a:lnTo>
                  <a:pt x="99635" y="265281"/>
                </a:lnTo>
                <a:lnTo>
                  <a:pt x="58439" y="242208"/>
                </a:lnTo>
                <a:lnTo>
                  <a:pt x="27037" y="214542"/>
                </a:lnTo>
                <a:lnTo>
                  <a:pt x="7025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83680" y="4326326"/>
            <a:ext cx="571500" cy="304800"/>
          </a:xfrm>
          <a:custGeom>
            <a:avLst/>
            <a:gdLst/>
            <a:ahLst/>
            <a:cxnLst/>
            <a:rect l="l" t="t" r="r" b="b"/>
            <a:pathLst>
              <a:path w="571500" h="304800">
                <a:moveTo>
                  <a:pt x="0" y="152202"/>
                </a:moveTo>
                <a:lnTo>
                  <a:pt x="22434" y="92962"/>
                </a:lnTo>
                <a:lnTo>
                  <a:pt x="83613" y="44582"/>
                </a:lnTo>
                <a:lnTo>
                  <a:pt x="125862" y="25996"/>
                </a:lnTo>
                <a:lnTo>
                  <a:pt x="174354" y="11962"/>
                </a:lnTo>
                <a:lnTo>
                  <a:pt x="227940" y="3092"/>
                </a:lnTo>
                <a:lnTo>
                  <a:pt x="285472" y="0"/>
                </a:lnTo>
                <a:lnTo>
                  <a:pt x="343003" y="3092"/>
                </a:lnTo>
                <a:lnTo>
                  <a:pt x="396589" y="11962"/>
                </a:lnTo>
                <a:lnTo>
                  <a:pt x="445081" y="25996"/>
                </a:lnTo>
                <a:lnTo>
                  <a:pt x="487330" y="44582"/>
                </a:lnTo>
                <a:lnTo>
                  <a:pt x="522189" y="67108"/>
                </a:lnTo>
                <a:lnTo>
                  <a:pt x="565144" y="121531"/>
                </a:lnTo>
                <a:lnTo>
                  <a:pt x="570944" y="152202"/>
                </a:lnTo>
                <a:lnTo>
                  <a:pt x="565144" y="182873"/>
                </a:lnTo>
                <a:lnTo>
                  <a:pt x="548509" y="211442"/>
                </a:lnTo>
                <a:lnTo>
                  <a:pt x="487330" y="259822"/>
                </a:lnTo>
                <a:lnTo>
                  <a:pt x="445081" y="278408"/>
                </a:lnTo>
                <a:lnTo>
                  <a:pt x="396589" y="292442"/>
                </a:lnTo>
                <a:lnTo>
                  <a:pt x="343003" y="301312"/>
                </a:lnTo>
                <a:lnTo>
                  <a:pt x="285472" y="304404"/>
                </a:lnTo>
                <a:lnTo>
                  <a:pt x="227940" y="301312"/>
                </a:lnTo>
                <a:lnTo>
                  <a:pt x="174354" y="292442"/>
                </a:lnTo>
                <a:lnTo>
                  <a:pt x="125862" y="278408"/>
                </a:lnTo>
                <a:lnTo>
                  <a:pt x="83613" y="259822"/>
                </a:lnTo>
                <a:lnTo>
                  <a:pt x="48754" y="237296"/>
                </a:lnTo>
                <a:lnTo>
                  <a:pt x="5799" y="182873"/>
                </a:lnTo>
                <a:lnTo>
                  <a:pt x="0" y="152202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491559" y="4316913"/>
            <a:ext cx="355600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u="sng" spc="15" dirty="0">
                <a:uFill>
                  <a:solidFill>
                    <a:srgbClr val="000000"/>
                  </a:solidFill>
                </a:uFill>
                <a:latin typeface="MS Gothic"/>
                <a:cs typeface="MS Gothic"/>
              </a:rPr>
              <a:t>活</a:t>
            </a:r>
            <a:r>
              <a:rPr sz="850" u="sng" spc="15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动顺</a:t>
            </a:r>
            <a:endParaRPr sz="85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46493" y="4458061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u="sng" spc="15" dirty="0">
                <a:uFill>
                  <a:solidFill>
                    <a:srgbClr val="000000"/>
                  </a:solidFill>
                </a:uFill>
                <a:latin typeface="MS Gothic"/>
                <a:cs typeface="MS Gothic"/>
              </a:rPr>
              <a:t>序号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502903" y="3086506"/>
            <a:ext cx="233679" cy="252729"/>
          </a:xfrm>
          <a:custGeom>
            <a:avLst/>
            <a:gdLst/>
            <a:ahLst/>
            <a:cxnLst/>
            <a:rect l="l" t="t" r="r" b="b"/>
            <a:pathLst>
              <a:path w="233679" h="252729">
                <a:moveTo>
                  <a:pt x="0" y="0"/>
                </a:moveTo>
                <a:lnTo>
                  <a:pt x="233578" y="252604"/>
                </a:lnTo>
              </a:path>
            </a:pathLst>
          </a:custGeom>
          <a:ln w="109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96411" y="5475565"/>
            <a:ext cx="240665" cy="155575"/>
          </a:xfrm>
          <a:custGeom>
            <a:avLst/>
            <a:gdLst/>
            <a:ahLst/>
            <a:cxnLst/>
            <a:rect l="l" t="t" r="r" b="b"/>
            <a:pathLst>
              <a:path w="240664" h="155575">
                <a:moveTo>
                  <a:pt x="0" y="0"/>
                </a:moveTo>
                <a:lnTo>
                  <a:pt x="240069" y="155381"/>
                </a:lnTo>
              </a:path>
            </a:pathLst>
          </a:custGeom>
          <a:ln w="109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96411" y="4122324"/>
            <a:ext cx="240665" cy="356235"/>
          </a:xfrm>
          <a:custGeom>
            <a:avLst/>
            <a:gdLst/>
            <a:ahLst/>
            <a:cxnLst/>
            <a:rect l="l" t="t" r="r" b="b"/>
            <a:pathLst>
              <a:path w="240664" h="356235">
                <a:moveTo>
                  <a:pt x="0" y="0"/>
                </a:moveTo>
                <a:lnTo>
                  <a:pt x="240069" y="356204"/>
                </a:lnTo>
              </a:path>
            </a:pathLst>
          </a:custGeom>
          <a:ln w="109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163121" y="4478529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>
                <a:moveTo>
                  <a:pt x="0" y="0"/>
                </a:moveTo>
                <a:lnTo>
                  <a:pt x="220558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462350" y="3183657"/>
            <a:ext cx="753110" cy="311150"/>
          </a:xfrm>
          <a:custGeom>
            <a:avLst/>
            <a:gdLst/>
            <a:ahLst/>
            <a:cxnLst/>
            <a:rect l="l" t="t" r="r" b="b"/>
            <a:pathLst>
              <a:path w="753109" h="311150">
                <a:moveTo>
                  <a:pt x="0" y="310763"/>
                </a:moveTo>
                <a:lnTo>
                  <a:pt x="752637" y="310763"/>
                </a:lnTo>
                <a:lnTo>
                  <a:pt x="752637" y="0"/>
                </a:lnTo>
                <a:lnTo>
                  <a:pt x="0" y="0"/>
                </a:lnTo>
                <a:lnTo>
                  <a:pt x="0" y="310763"/>
                </a:lnTo>
                <a:close/>
              </a:path>
            </a:pathLst>
          </a:custGeom>
          <a:ln w="10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569589" y="3240538"/>
            <a:ext cx="53848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latin typeface="MS Gothic"/>
                <a:cs typeface="MS Gothic"/>
              </a:rPr>
              <a:t>学</a:t>
            </a:r>
            <a:r>
              <a:rPr sz="1000" spc="5" dirty="0">
                <a:latin typeface="宋体"/>
                <a:cs typeface="宋体"/>
              </a:rPr>
              <a:t>习报</a:t>
            </a:r>
            <a:r>
              <a:rPr sz="1000" spc="5" dirty="0">
                <a:latin typeface="MS Gothic"/>
                <a:cs typeface="MS Gothic"/>
              </a:rPr>
              <a:t>告</a:t>
            </a:r>
            <a:endParaRPr sz="1000">
              <a:latin typeface="MS Gothic"/>
              <a:cs typeface="MS Gothic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907269" y="3757622"/>
            <a:ext cx="307340" cy="306705"/>
          </a:xfrm>
          <a:custGeom>
            <a:avLst/>
            <a:gdLst/>
            <a:ahLst/>
            <a:cxnLst/>
            <a:rect l="l" t="t" r="r" b="b"/>
            <a:pathLst>
              <a:path w="307339" h="306704">
                <a:moveTo>
                  <a:pt x="153631" y="306597"/>
                </a:moveTo>
                <a:lnTo>
                  <a:pt x="307262" y="153298"/>
                </a:lnTo>
                <a:lnTo>
                  <a:pt x="153631" y="0"/>
                </a:lnTo>
                <a:lnTo>
                  <a:pt x="0" y="153298"/>
                </a:lnTo>
                <a:lnTo>
                  <a:pt x="153631" y="306597"/>
                </a:lnTo>
                <a:close/>
              </a:path>
            </a:pathLst>
          </a:custGeom>
          <a:ln w="109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907269" y="4933857"/>
            <a:ext cx="307340" cy="306705"/>
          </a:xfrm>
          <a:custGeom>
            <a:avLst/>
            <a:gdLst/>
            <a:ahLst/>
            <a:cxnLst/>
            <a:rect l="l" t="t" r="r" b="b"/>
            <a:pathLst>
              <a:path w="307339" h="306704">
                <a:moveTo>
                  <a:pt x="153631" y="306506"/>
                </a:moveTo>
                <a:lnTo>
                  <a:pt x="307262" y="153298"/>
                </a:lnTo>
                <a:lnTo>
                  <a:pt x="153631" y="0"/>
                </a:lnTo>
                <a:lnTo>
                  <a:pt x="0" y="153298"/>
                </a:lnTo>
                <a:lnTo>
                  <a:pt x="153631" y="306506"/>
                </a:lnTo>
                <a:close/>
              </a:path>
            </a:pathLst>
          </a:custGeom>
          <a:ln w="109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60901" y="3494420"/>
            <a:ext cx="0" cy="263525"/>
          </a:xfrm>
          <a:custGeom>
            <a:avLst/>
            <a:gdLst/>
            <a:ahLst/>
            <a:cxnLst/>
            <a:rect l="l" t="t" r="r" b="b"/>
            <a:pathLst>
              <a:path h="263525">
                <a:moveTo>
                  <a:pt x="0" y="0"/>
                </a:moveTo>
                <a:lnTo>
                  <a:pt x="0" y="263202"/>
                </a:lnTo>
              </a:path>
            </a:pathLst>
          </a:custGeom>
          <a:ln w="109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060901" y="4064220"/>
            <a:ext cx="0" cy="259079"/>
          </a:xfrm>
          <a:custGeom>
            <a:avLst/>
            <a:gdLst/>
            <a:ahLst/>
            <a:cxnLst/>
            <a:rect l="l" t="t" r="r" b="b"/>
            <a:pathLst>
              <a:path h="259079">
                <a:moveTo>
                  <a:pt x="0" y="0"/>
                </a:moveTo>
                <a:lnTo>
                  <a:pt x="0" y="258908"/>
                </a:lnTo>
              </a:path>
            </a:pathLst>
          </a:custGeom>
          <a:ln w="109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060901" y="4633929"/>
            <a:ext cx="0" cy="300355"/>
          </a:xfrm>
          <a:custGeom>
            <a:avLst/>
            <a:gdLst/>
            <a:ahLst/>
            <a:cxnLst/>
            <a:rect l="l" t="t" r="r" b="b"/>
            <a:pathLst>
              <a:path h="300354">
                <a:moveTo>
                  <a:pt x="0" y="0"/>
                </a:moveTo>
                <a:lnTo>
                  <a:pt x="0" y="299928"/>
                </a:lnTo>
              </a:path>
            </a:pathLst>
          </a:custGeom>
          <a:ln w="109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60901" y="5240363"/>
            <a:ext cx="0" cy="235585"/>
          </a:xfrm>
          <a:custGeom>
            <a:avLst/>
            <a:gdLst/>
            <a:ahLst/>
            <a:cxnLst/>
            <a:rect l="l" t="t" r="r" b="b"/>
            <a:pathLst>
              <a:path h="235585">
                <a:moveTo>
                  <a:pt x="0" y="0"/>
                </a:moveTo>
                <a:lnTo>
                  <a:pt x="0" y="235201"/>
                </a:lnTo>
              </a:path>
            </a:pathLst>
          </a:custGeom>
          <a:ln w="109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85284" y="4478529"/>
            <a:ext cx="402590" cy="0"/>
          </a:xfrm>
          <a:custGeom>
            <a:avLst/>
            <a:gdLst/>
            <a:ahLst/>
            <a:cxnLst/>
            <a:rect l="l" t="t" r="r" b="b"/>
            <a:pathLst>
              <a:path w="402589">
                <a:moveTo>
                  <a:pt x="0" y="0"/>
                </a:moveTo>
                <a:lnTo>
                  <a:pt x="402297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546674" y="4355570"/>
            <a:ext cx="584200" cy="246379"/>
          </a:xfrm>
          <a:custGeom>
            <a:avLst/>
            <a:gdLst/>
            <a:ahLst/>
            <a:cxnLst/>
            <a:rect l="l" t="t" r="r" b="b"/>
            <a:pathLst>
              <a:path w="584200" h="246379">
                <a:moveTo>
                  <a:pt x="0" y="246018"/>
                </a:moveTo>
                <a:lnTo>
                  <a:pt x="583945" y="246018"/>
                </a:lnTo>
                <a:lnTo>
                  <a:pt x="583945" y="0"/>
                </a:lnTo>
                <a:lnTo>
                  <a:pt x="0" y="0"/>
                </a:lnTo>
                <a:lnTo>
                  <a:pt x="0" y="246018"/>
                </a:lnTo>
                <a:close/>
              </a:path>
            </a:pathLst>
          </a:custGeom>
          <a:ln w="10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87582" y="4325230"/>
            <a:ext cx="307340" cy="306705"/>
          </a:xfrm>
          <a:custGeom>
            <a:avLst/>
            <a:gdLst/>
            <a:ahLst/>
            <a:cxnLst/>
            <a:rect l="l" t="t" r="r" b="b"/>
            <a:pathLst>
              <a:path w="307339" h="306704">
                <a:moveTo>
                  <a:pt x="153631" y="306597"/>
                </a:moveTo>
                <a:lnTo>
                  <a:pt x="307170" y="153298"/>
                </a:lnTo>
                <a:lnTo>
                  <a:pt x="153631" y="0"/>
                </a:lnTo>
                <a:lnTo>
                  <a:pt x="0" y="153298"/>
                </a:lnTo>
                <a:lnTo>
                  <a:pt x="153631" y="306597"/>
                </a:lnTo>
                <a:close/>
              </a:path>
            </a:pathLst>
          </a:custGeom>
          <a:ln w="109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094753" y="4478529"/>
            <a:ext cx="419734" cy="0"/>
          </a:xfrm>
          <a:custGeom>
            <a:avLst/>
            <a:gdLst/>
            <a:ahLst/>
            <a:cxnLst/>
            <a:rect l="l" t="t" r="r" b="b"/>
            <a:pathLst>
              <a:path w="419734">
                <a:moveTo>
                  <a:pt x="0" y="0"/>
                </a:moveTo>
                <a:lnTo>
                  <a:pt x="419510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107846" y="5009224"/>
            <a:ext cx="1066800" cy="5372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主持</a:t>
            </a:r>
            <a:endParaRPr sz="85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800">
              <a:latin typeface="MS Gothic"/>
              <a:cs typeface="MS Gothic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70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50" u="sng" spc="15" dirty="0">
                <a:uFill>
                  <a:solidFill>
                    <a:srgbClr val="000000"/>
                  </a:solidFill>
                </a:uFill>
                <a:latin typeface="MS Gothic"/>
                <a:cs typeface="MS Gothic"/>
              </a:rPr>
              <a:t>工号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11779" y="4392283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开展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385284" y="3339111"/>
            <a:ext cx="1077595" cy="0"/>
          </a:xfrm>
          <a:custGeom>
            <a:avLst/>
            <a:gdLst/>
            <a:ahLst/>
            <a:cxnLst/>
            <a:rect l="l" t="t" r="r" b="b"/>
            <a:pathLst>
              <a:path w="1077595">
                <a:moveTo>
                  <a:pt x="0" y="0"/>
                </a:moveTo>
                <a:lnTo>
                  <a:pt x="1077066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38646" y="3494420"/>
            <a:ext cx="0" cy="829310"/>
          </a:xfrm>
          <a:custGeom>
            <a:avLst/>
            <a:gdLst/>
            <a:ahLst/>
            <a:cxnLst/>
            <a:rect l="l" t="t" r="r" b="b"/>
            <a:pathLst>
              <a:path h="829310">
                <a:moveTo>
                  <a:pt x="0" y="0"/>
                </a:moveTo>
                <a:lnTo>
                  <a:pt x="0" y="828708"/>
                </a:lnTo>
              </a:path>
            </a:pathLst>
          </a:custGeom>
          <a:ln w="109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462350" y="3183711"/>
            <a:ext cx="376555" cy="155575"/>
          </a:xfrm>
          <a:custGeom>
            <a:avLst/>
            <a:gdLst/>
            <a:ahLst/>
            <a:cxnLst/>
            <a:rect l="l" t="t" r="r" b="b"/>
            <a:pathLst>
              <a:path w="376554" h="155575">
                <a:moveTo>
                  <a:pt x="376295" y="0"/>
                </a:moveTo>
                <a:lnTo>
                  <a:pt x="0" y="155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38646" y="3183711"/>
            <a:ext cx="376555" cy="155575"/>
          </a:xfrm>
          <a:custGeom>
            <a:avLst/>
            <a:gdLst/>
            <a:ahLst/>
            <a:cxnLst/>
            <a:rect l="l" t="t" r="r" b="b"/>
            <a:pathLst>
              <a:path w="376554" h="155575">
                <a:moveTo>
                  <a:pt x="0" y="0"/>
                </a:moveTo>
                <a:lnTo>
                  <a:pt x="376295" y="15540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38646" y="3339111"/>
            <a:ext cx="376555" cy="155575"/>
          </a:xfrm>
          <a:custGeom>
            <a:avLst/>
            <a:gdLst/>
            <a:ahLst/>
            <a:cxnLst/>
            <a:rect l="l" t="t" r="r" b="b"/>
            <a:pathLst>
              <a:path w="376554" h="155575">
                <a:moveTo>
                  <a:pt x="376295" y="0"/>
                </a:moveTo>
                <a:lnTo>
                  <a:pt x="0" y="155308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62350" y="3339111"/>
            <a:ext cx="376555" cy="155575"/>
          </a:xfrm>
          <a:custGeom>
            <a:avLst/>
            <a:gdLst/>
            <a:ahLst/>
            <a:cxnLst/>
            <a:rect l="l" t="t" r="r" b="b"/>
            <a:pathLst>
              <a:path w="376554" h="155575">
                <a:moveTo>
                  <a:pt x="376295" y="155308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967625" y="5475565"/>
            <a:ext cx="753110" cy="311150"/>
          </a:xfrm>
          <a:custGeom>
            <a:avLst/>
            <a:gdLst/>
            <a:ahLst/>
            <a:cxnLst/>
            <a:rect l="l" t="t" r="r" b="b"/>
            <a:pathLst>
              <a:path w="753109" h="311150">
                <a:moveTo>
                  <a:pt x="0" y="310763"/>
                </a:moveTo>
                <a:lnTo>
                  <a:pt x="752637" y="310763"/>
                </a:lnTo>
                <a:lnTo>
                  <a:pt x="752637" y="0"/>
                </a:lnTo>
                <a:lnTo>
                  <a:pt x="0" y="0"/>
                </a:lnTo>
                <a:lnTo>
                  <a:pt x="0" y="310763"/>
                </a:lnTo>
                <a:close/>
              </a:path>
            </a:pathLst>
          </a:custGeom>
          <a:ln w="10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8010774" y="5532428"/>
            <a:ext cx="6667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5" dirty="0">
                <a:latin typeface="MS Gothic"/>
                <a:cs typeface="MS Gothic"/>
              </a:rPr>
              <a:t>点</a:t>
            </a:r>
            <a:r>
              <a:rPr sz="1000" spc="5" dirty="0">
                <a:latin typeface="宋体"/>
                <a:cs typeface="宋体"/>
              </a:rPr>
              <a:t>评</a:t>
            </a:r>
            <a:r>
              <a:rPr sz="1000" spc="5" dirty="0">
                <a:latin typeface="MS Gothic"/>
                <a:cs typeface="MS Gothic"/>
              </a:rPr>
              <a:t>和指</a:t>
            </a:r>
            <a:r>
              <a:rPr sz="1000" spc="5" dirty="0">
                <a:latin typeface="宋体"/>
                <a:cs typeface="宋体"/>
              </a:rPr>
              <a:t>导</a:t>
            </a:r>
            <a:endParaRPr sz="1000">
              <a:latin typeface="宋体"/>
              <a:cs typeface="宋体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967625" y="5475565"/>
            <a:ext cx="376555" cy="155575"/>
          </a:xfrm>
          <a:custGeom>
            <a:avLst/>
            <a:gdLst/>
            <a:ahLst/>
            <a:cxnLst/>
            <a:rect l="l" t="t" r="r" b="b"/>
            <a:pathLst>
              <a:path w="376554" h="155575">
                <a:moveTo>
                  <a:pt x="376295" y="0"/>
                </a:moveTo>
                <a:lnTo>
                  <a:pt x="0" y="15538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43920" y="5475565"/>
            <a:ext cx="376555" cy="155575"/>
          </a:xfrm>
          <a:custGeom>
            <a:avLst/>
            <a:gdLst/>
            <a:ahLst/>
            <a:cxnLst/>
            <a:rect l="l" t="t" r="r" b="b"/>
            <a:pathLst>
              <a:path w="376554" h="155575">
                <a:moveTo>
                  <a:pt x="0" y="0"/>
                </a:moveTo>
                <a:lnTo>
                  <a:pt x="376295" y="15538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8343920" y="5630946"/>
            <a:ext cx="376555" cy="155575"/>
          </a:xfrm>
          <a:custGeom>
            <a:avLst/>
            <a:gdLst/>
            <a:ahLst/>
            <a:cxnLst/>
            <a:rect l="l" t="t" r="r" b="b"/>
            <a:pathLst>
              <a:path w="376554" h="155575">
                <a:moveTo>
                  <a:pt x="376295" y="0"/>
                </a:moveTo>
                <a:lnTo>
                  <a:pt x="0" y="15538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967625" y="5630946"/>
            <a:ext cx="376555" cy="155575"/>
          </a:xfrm>
          <a:custGeom>
            <a:avLst/>
            <a:gdLst/>
            <a:ahLst/>
            <a:cxnLst/>
            <a:rect l="l" t="t" r="r" b="b"/>
            <a:pathLst>
              <a:path w="376554" h="155575">
                <a:moveTo>
                  <a:pt x="376295" y="155381"/>
                </a:moveTo>
                <a:lnTo>
                  <a:pt x="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385284" y="5630946"/>
            <a:ext cx="2582545" cy="0"/>
          </a:xfrm>
          <a:custGeom>
            <a:avLst/>
            <a:gdLst/>
            <a:ahLst/>
            <a:cxnLst/>
            <a:rect l="l" t="t" r="r" b="b"/>
            <a:pathLst>
              <a:path w="2582545">
                <a:moveTo>
                  <a:pt x="0" y="0"/>
                </a:moveTo>
                <a:lnTo>
                  <a:pt x="2582340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214942" y="3339111"/>
            <a:ext cx="1129030" cy="2136775"/>
          </a:xfrm>
          <a:custGeom>
            <a:avLst/>
            <a:gdLst/>
            <a:ahLst/>
            <a:cxnLst/>
            <a:rect l="l" t="t" r="r" b="b"/>
            <a:pathLst>
              <a:path w="1129029" h="2136775">
                <a:moveTo>
                  <a:pt x="0" y="0"/>
                </a:moveTo>
                <a:lnTo>
                  <a:pt x="1128978" y="0"/>
                </a:lnTo>
                <a:lnTo>
                  <a:pt x="1128978" y="2136453"/>
                </a:lnTo>
              </a:path>
            </a:pathLst>
          </a:custGeom>
          <a:ln w="1098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970867" y="5708637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14"/>
                </a:moveTo>
                <a:lnTo>
                  <a:pt x="27038" y="83482"/>
                </a:lnTo>
                <a:lnTo>
                  <a:pt x="58440" y="55814"/>
                </a:lnTo>
                <a:lnTo>
                  <a:pt x="99636" y="32737"/>
                </a:lnTo>
                <a:lnTo>
                  <a:pt x="149029" y="15146"/>
                </a:lnTo>
                <a:lnTo>
                  <a:pt x="205022" y="3935"/>
                </a:lnTo>
                <a:lnTo>
                  <a:pt x="266019" y="0"/>
                </a:lnTo>
                <a:lnTo>
                  <a:pt x="327012" y="3935"/>
                </a:lnTo>
                <a:lnTo>
                  <a:pt x="383003" y="15146"/>
                </a:lnTo>
                <a:lnTo>
                  <a:pt x="432396" y="32737"/>
                </a:lnTo>
                <a:lnTo>
                  <a:pt x="473592" y="55814"/>
                </a:lnTo>
                <a:lnTo>
                  <a:pt x="504996" y="83482"/>
                </a:lnTo>
                <a:lnTo>
                  <a:pt x="532035" y="149014"/>
                </a:lnTo>
                <a:lnTo>
                  <a:pt x="525009" y="183184"/>
                </a:lnTo>
                <a:lnTo>
                  <a:pt x="504996" y="214551"/>
                </a:lnTo>
                <a:lnTo>
                  <a:pt x="473592" y="242221"/>
                </a:lnTo>
                <a:lnTo>
                  <a:pt x="432396" y="265298"/>
                </a:lnTo>
                <a:lnTo>
                  <a:pt x="383003" y="282890"/>
                </a:lnTo>
                <a:lnTo>
                  <a:pt x="327012" y="294101"/>
                </a:lnTo>
                <a:lnTo>
                  <a:pt x="266019" y="298037"/>
                </a:lnTo>
                <a:lnTo>
                  <a:pt x="205022" y="294101"/>
                </a:lnTo>
                <a:lnTo>
                  <a:pt x="149029" y="282890"/>
                </a:lnTo>
                <a:lnTo>
                  <a:pt x="99636" y="265298"/>
                </a:lnTo>
                <a:lnTo>
                  <a:pt x="58440" y="242221"/>
                </a:lnTo>
                <a:lnTo>
                  <a:pt x="27038" y="214551"/>
                </a:lnTo>
                <a:lnTo>
                  <a:pt x="7025" y="183184"/>
                </a:lnTo>
                <a:lnTo>
                  <a:pt x="0" y="14901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114337" y="5771397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姓名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502903" y="5630946"/>
            <a:ext cx="233679" cy="227329"/>
          </a:xfrm>
          <a:custGeom>
            <a:avLst/>
            <a:gdLst/>
            <a:ahLst/>
            <a:cxnLst/>
            <a:rect l="l" t="t" r="r" b="b"/>
            <a:pathLst>
              <a:path w="233679" h="227329">
                <a:moveTo>
                  <a:pt x="233578" y="0"/>
                </a:moveTo>
                <a:lnTo>
                  <a:pt x="0" y="226704"/>
                </a:lnTo>
              </a:path>
            </a:pathLst>
          </a:custGeom>
          <a:ln w="109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450197" y="3235511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0"/>
                </a:moveTo>
                <a:lnTo>
                  <a:pt x="0" y="207200"/>
                </a:lnTo>
              </a:path>
            </a:pathLst>
          </a:custGeom>
          <a:ln w="19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502110" y="3235511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0"/>
                </a:moveTo>
                <a:lnTo>
                  <a:pt x="0" y="207200"/>
                </a:lnTo>
              </a:path>
            </a:pathLst>
          </a:custGeom>
          <a:ln w="19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362737" y="3261366"/>
            <a:ext cx="99695" cy="77470"/>
          </a:xfrm>
          <a:custGeom>
            <a:avLst/>
            <a:gdLst/>
            <a:ahLst/>
            <a:cxnLst/>
            <a:rect l="l" t="t" r="r" b="b"/>
            <a:pathLst>
              <a:path w="99695" h="77470">
                <a:moveTo>
                  <a:pt x="0" y="77014"/>
                </a:moveTo>
                <a:lnTo>
                  <a:pt x="99613" y="0"/>
                </a:lnTo>
              </a:path>
            </a:pathLst>
          </a:custGeom>
          <a:ln w="19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358526" y="3338381"/>
            <a:ext cx="104139" cy="78740"/>
          </a:xfrm>
          <a:custGeom>
            <a:avLst/>
            <a:gdLst/>
            <a:ahLst/>
            <a:cxnLst/>
            <a:rect l="l" t="t" r="r" b="b"/>
            <a:pathLst>
              <a:path w="104139" h="78739">
                <a:moveTo>
                  <a:pt x="0" y="0"/>
                </a:moveTo>
                <a:lnTo>
                  <a:pt x="103824" y="78385"/>
                </a:lnTo>
              </a:path>
            </a:pathLst>
          </a:custGeom>
          <a:ln w="19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763090" y="5530415"/>
            <a:ext cx="71685" cy="2010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450197" y="4374929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0"/>
                </a:moveTo>
                <a:lnTo>
                  <a:pt x="0" y="207200"/>
                </a:lnTo>
              </a:path>
            </a:pathLst>
          </a:custGeom>
          <a:ln w="19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502110" y="4374929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0"/>
                </a:moveTo>
                <a:lnTo>
                  <a:pt x="0" y="207200"/>
                </a:lnTo>
              </a:path>
            </a:pathLst>
          </a:custGeom>
          <a:ln w="19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401649" y="4400874"/>
            <a:ext cx="99695" cy="77470"/>
          </a:xfrm>
          <a:custGeom>
            <a:avLst/>
            <a:gdLst/>
            <a:ahLst/>
            <a:cxnLst/>
            <a:rect l="l" t="t" r="r" b="b"/>
            <a:pathLst>
              <a:path w="99695" h="77470">
                <a:moveTo>
                  <a:pt x="0" y="77014"/>
                </a:moveTo>
                <a:lnTo>
                  <a:pt x="99613" y="0"/>
                </a:lnTo>
              </a:path>
            </a:pathLst>
          </a:custGeom>
          <a:ln w="19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397437" y="4477798"/>
            <a:ext cx="104139" cy="78740"/>
          </a:xfrm>
          <a:custGeom>
            <a:avLst/>
            <a:gdLst/>
            <a:ahLst/>
            <a:cxnLst/>
            <a:rect l="l" t="t" r="r" b="b"/>
            <a:pathLst>
              <a:path w="104139" h="78739">
                <a:moveTo>
                  <a:pt x="0" y="0"/>
                </a:moveTo>
                <a:lnTo>
                  <a:pt x="103824" y="78385"/>
                </a:lnTo>
              </a:path>
            </a:pathLst>
          </a:custGeom>
          <a:ln w="19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319615" y="3235511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0"/>
                </a:moveTo>
                <a:lnTo>
                  <a:pt x="0" y="207200"/>
                </a:lnTo>
              </a:path>
            </a:pathLst>
          </a:custGeom>
          <a:ln w="19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292856" y="3235511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0"/>
                </a:moveTo>
                <a:lnTo>
                  <a:pt x="0" y="207200"/>
                </a:lnTo>
              </a:path>
            </a:pathLst>
          </a:custGeom>
          <a:ln w="19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344768" y="3235511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0"/>
                </a:moveTo>
                <a:lnTo>
                  <a:pt x="0" y="207200"/>
                </a:lnTo>
              </a:path>
            </a:pathLst>
          </a:custGeom>
          <a:ln w="19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398285" y="5630946"/>
            <a:ext cx="99695" cy="77470"/>
          </a:xfrm>
          <a:custGeom>
            <a:avLst/>
            <a:gdLst/>
            <a:ahLst/>
            <a:cxnLst/>
            <a:rect l="l" t="t" r="r" b="b"/>
            <a:pathLst>
              <a:path w="99695" h="77470">
                <a:moveTo>
                  <a:pt x="0" y="77014"/>
                </a:moveTo>
                <a:lnTo>
                  <a:pt x="99613" y="0"/>
                </a:lnTo>
              </a:path>
            </a:pathLst>
          </a:custGeom>
          <a:ln w="19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398285" y="5552552"/>
            <a:ext cx="104139" cy="78740"/>
          </a:xfrm>
          <a:custGeom>
            <a:avLst/>
            <a:gdLst/>
            <a:ahLst/>
            <a:cxnLst/>
            <a:rect l="l" t="t" r="r" b="b"/>
            <a:pathLst>
              <a:path w="104139" h="78739">
                <a:moveTo>
                  <a:pt x="0" y="0"/>
                </a:moveTo>
                <a:lnTo>
                  <a:pt x="103824" y="78394"/>
                </a:lnTo>
              </a:path>
            </a:pathLst>
          </a:custGeom>
          <a:ln w="19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5554022" y="5527356"/>
            <a:ext cx="0" cy="207645"/>
          </a:xfrm>
          <a:custGeom>
            <a:avLst/>
            <a:gdLst/>
            <a:ahLst/>
            <a:cxnLst/>
            <a:rect l="l" t="t" r="r" b="b"/>
            <a:pathLst>
              <a:path h="207645">
                <a:moveTo>
                  <a:pt x="0" y="0"/>
                </a:moveTo>
                <a:lnTo>
                  <a:pt x="0" y="207172"/>
                </a:lnTo>
              </a:path>
            </a:pathLst>
          </a:custGeom>
          <a:ln w="197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868011" y="5553255"/>
            <a:ext cx="99695" cy="77470"/>
          </a:xfrm>
          <a:custGeom>
            <a:avLst/>
            <a:gdLst/>
            <a:ahLst/>
            <a:cxnLst/>
            <a:rect l="l" t="t" r="r" b="b"/>
            <a:pathLst>
              <a:path w="99695" h="77470">
                <a:moveTo>
                  <a:pt x="0" y="77014"/>
                </a:moveTo>
                <a:lnTo>
                  <a:pt x="99613" y="0"/>
                </a:lnTo>
              </a:path>
            </a:pathLst>
          </a:custGeom>
          <a:ln w="19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863800" y="5630243"/>
            <a:ext cx="104139" cy="78740"/>
          </a:xfrm>
          <a:custGeom>
            <a:avLst/>
            <a:gdLst/>
            <a:ahLst/>
            <a:cxnLst/>
            <a:rect l="l" t="t" r="r" b="b"/>
            <a:pathLst>
              <a:path w="104140" h="78739">
                <a:moveTo>
                  <a:pt x="0" y="0"/>
                </a:moveTo>
                <a:lnTo>
                  <a:pt x="103824" y="78394"/>
                </a:lnTo>
              </a:path>
            </a:pathLst>
          </a:custGeom>
          <a:ln w="19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234433" y="5297369"/>
            <a:ext cx="223186" cy="1880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57076" y="4219529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207649" y="0"/>
                </a:moveTo>
                <a:lnTo>
                  <a:pt x="0" y="0"/>
                </a:lnTo>
              </a:path>
            </a:pathLst>
          </a:custGeom>
          <a:ln w="197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957076" y="4271329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207649" y="0"/>
                </a:moveTo>
                <a:lnTo>
                  <a:pt x="0" y="0"/>
                </a:lnTo>
              </a:path>
            </a:pathLst>
          </a:custGeom>
          <a:ln w="197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947201" y="3484545"/>
            <a:ext cx="223186" cy="1881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951322" y="4624054"/>
            <a:ext cx="223278" cy="1880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961196" y="5398550"/>
            <a:ext cx="99695" cy="77470"/>
          </a:xfrm>
          <a:custGeom>
            <a:avLst/>
            <a:gdLst/>
            <a:ahLst/>
            <a:cxnLst/>
            <a:rect l="l" t="t" r="r" b="b"/>
            <a:pathLst>
              <a:path w="99695" h="77470">
                <a:moveTo>
                  <a:pt x="0" y="77014"/>
                </a:moveTo>
                <a:lnTo>
                  <a:pt x="99613" y="0"/>
                </a:lnTo>
              </a:path>
            </a:pathLst>
          </a:custGeom>
          <a:ln w="19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060809" y="5397170"/>
            <a:ext cx="104139" cy="78740"/>
          </a:xfrm>
          <a:custGeom>
            <a:avLst/>
            <a:gdLst/>
            <a:ahLst/>
            <a:cxnLst/>
            <a:rect l="l" t="t" r="r" b="b"/>
            <a:pathLst>
              <a:path w="104139" h="78739">
                <a:moveTo>
                  <a:pt x="0" y="0"/>
                </a:moveTo>
                <a:lnTo>
                  <a:pt x="103916" y="78394"/>
                </a:lnTo>
              </a:path>
            </a:pathLst>
          </a:custGeom>
          <a:ln w="19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957076" y="5359029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207649" y="0"/>
                </a:moveTo>
                <a:lnTo>
                  <a:pt x="0" y="0"/>
                </a:lnTo>
              </a:path>
            </a:pathLst>
          </a:custGeom>
          <a:ln w="197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734822" y="4219529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207649" y="0"/>
                </a:moveTo>
                <a:lnTo>
                  <a:pt x="0" y="0"/>
                </a:lnTo>
              </a:path>
            </a:pathLst>
          </a:custGeom>
          <a:ln w="197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34822" y="4271329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207649" y="0"/>
                </a:moveTo>
                <a:lnTo>
                  <a:pt x="0" y="0"/>
                </a:lnTo>
              </a:path>
            </a:pathLst>
          </a:custGeom>
          <a:ln w="197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838738" y="3494420"/>
            <a:ext cx="99695" cy="77470"/>
          </a:xfrm>
          <a:custGeom>
            <a:avLst/>
            <a:gdLst/>
            <a:ahLst/>
            <a:cxnLst/>
            <a:rect l="l" t="t" r="r" b="b"/>
            <a:pathLst>
              <a:path w="99695" h="77470">
                <a:moveTo>
                  <a:pt x="0" y="77014"/>
                </a:moveTo>
                <a:lnTo>
                  <a:pt x="99613" y="0"/>
                </a:lnTo>
              </a:path>
            </a:pathLst>
          </a:custGeom>
          <a:ln w="19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734822" y="3494420"/>
            <a:ext cx="104139" cy="78740"/>
          </a:xfrm>
          <a:custGeom>
            <a:avLst/>
            <a:gdLst/>
            <a:ahLst/>
            <a:cxnLst/>
            <a:rect l="l" t="t" r="r" b="b"/>
            <a:pathLst>
              <a:path w="104140" h="78739">
                <a:moveTo>
                  <a:pt x="0" y="0"/>
                </a:moveTo>
                <a:lnTo>
                  <a:pt x="103916" y="78476"/>
                </a:lnTo>
              </a:path>
            </a:pathLst>
          </a:custGeom>
          <a:ln w="197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734822" y="3610993"/>
            <a:ext cx="207645" cy="0"/>
          </a:xfrm>
          <a:custGeom>
            <a:avLst/>
            <a:gdLst/>
            <a:ahLst/>
            <a:cxnLst/>
            <a:rect l="l" t="t" r="r" b="b"/>
            <a:pathLst>
              <a:path w="207645">
                <a:moveTo>
                  <a:pt x="207649" y="0"/>
                </a:moveTo>
                <a:lnTo>
                  <a:pt x="0" y="0"/>
                </a:lnTo>
              </a:path>
            </a:pathLst>
          </a:custGeom>
          <a:ln w="197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970867" y="4672573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38" y="83467"/>
                </a:lnTo>
                <a:lnTo>
                  <a:pt x="58440" y="55801"/>
                </a:lnTo>
                <a:lnTo>
                  <a:pt x="99636" y="32728"/>
                </a:lnTo>
                <a:lnTo>
                  <a:pt x="149029" y="15141"/>
                </a:lnTo>
                <a:lnTo>
                  <a:pt x="205022" y="3934"/>
                </a:lnTo>
                <a:lnTo>
                  <a:pt x="266019" y="0"/>
                </a:lnTo>
                <a:lnTo>
                  <a:pt x="327012" y="3934"/>
                </a:lnTo>
                <a:lnTo>
                  <a:pt x="383003" y="15141"/>
                </a:lnTo>
                <a:lnTo>
                  <a:pt x="432396" y="32728"/>
                </a:lnTo>
                <a:lnTo>
                  <a:pt x="473592" y="55801"/>
                </a:lnTo>
                <a:lnTo>
                  <a:pt x="504996" y="83467"/>
                </a:lnTo>
                <a:lnTo>
                  <a:pt x="532035" y="149004"/>
                </a:lnTo>
                <a:lnTo>
                  <a:pt x="525009" y="183176"/>
                </a:lnTo>
                <a:lnTo>
                  <a:pt x="504996" y="214542"/>
                </a:lnTo>
                <a:lnTo>
                  <a:pt x="473592" y="242208"/>
                </a:lnTo>
                <a:lnTo>
                  <a:pt x="432396" y="265281"/>
                </a:lnTo>
                <a:lnTo>
                  <a:pt x="383003" y="282868"/>
                </a:lnTo>
                <a:lnTo>
                  <a:pt x="327012" y="294075"/>
                </a:lnTo>
                <a:lnTo>
                  <a:pt x="266019" y="298009"/>
                </a:lnTo>
                <a:lnTo>
                  <a:pt x="205022" y="294075"/>
                </a:lnTo>
                <a:lnTo>
                  <a:pt x="149029" y="282868"/>
                </a:lnTo>
                <a:lnTo>
                  <a:pt x="99636" y="265281"/>
                </a:lnTo>
                <a:lnTo>
                  <a:pt x="58440" y="242208"/>
                </a:lnTo>
                <a:lnTo>
                  <a:pt x="27038" y="214542"/>
                </a:lnTo>
                <a:lnTo>
                  <a:pt x="7025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4114337" y="4735333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方向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3970867" y="4329524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38" y="83467"/>
                </a:lnTo>
                <a:lnTo>
                  <a:pt x="58440" y="55801"/>
                </a:lnTo>
                <a:lnTo>
                  <a:pt x="99636" y="32728"/>
                </a:lnTo>
                <a:lnTo>
                  <a:pt x="149029" y="15141"/>
                </a:lnTo>
                <a:lnTo>
                  <a:pt x="205022" y="3934"/>
                </a:lnTo>
                <a:lnTo>
                  <a:pt x="266019" y="0"/>
                </a:lnTo>
                <a:lnTo>
                  <a:pt x="327012" y="3934"/>
                </a:lnTo>
                <a:lnTo>
                  <a:pt x="383003" y="15141"/>
                </a:lnTo>
                <a:lnTo>
                  <a:pt x="432396" y="32728"/>
                </a:lnTo>
                <a:lnTo>
                  <a:pt x="473592" y="55801"/>
                </a:lnTo>
                <a:lnTo>
                  <a:pt x="504996" y="83467"/>
                </a:lnTo>
                <a:lnTo>
                  <a:pt x="532035" y="149004"/>
                </a:lnTo>
                <a:lnTo>
                  <a:pt x="525009" y="183176"/>
                </a:lnTo>
                <a:lnTo>
                  <a:pt x="504996" y="214542"/>
                </a:lnTo>
                <a:lnTo>
                  <a:pt x="473592" y="242208"/>
                </a:lnTo>
                <a:lnTo>
                  <a:pt x="432396" y="265281"/>
                </a:lnTo>
                <a:lnTo>
                  <a:pt x="383003" y="282868"/>
                </a:lnTo>
                <a:lnTo>
                  <a:pt x="327012" y="294075"/>
                </a:lnTo>
                <a:lnTo>
                  <a:pt x="266019" y="298009"/>
                </a:lnTo>
                <a:lnTo>
                  <a:pt x="205022" y="294075"/>
                </a:lnTo>
                <a:lnTo>
                  <a:pt x="149029" y="282868"/>
                </a:lnTo>
                <a:lnTo>
                  <a:pt x="99636" y="265281"/>
                </a:lnTo>
                <a:lnTo>
                  <a:pt x="58440" y="242208"/>
                </a:lnTo>
                <a:lnTo>
                  <a:pt x="27038" y="214542"/>
                </a:lnTo>
                <a:lnTo>
                  <a:pt x="7025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114337" y="4392283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学年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502903" y="4478529"/>
            <a:ext cx="233679" cy="0"/>
          </a:xfrm>
          <a:custGeom>
            <a:avLst/>
            <a:gdLst/>
            <a:ahLst/>
            <a:cxnLst/>
            <a:rect l="l" t="t" r="r" b="b"/>
            <a:pathLst>
              <a:path w="233679">
                <a:moveTo>
                  <a:pt x="0" y="0"/>
                </a:moveTo>
                <a:lnTo>
                  <a:pt x="233578" y="0"/>
                </a:lnTo>
              </a:path>
            </a:pathLst>
          </a:custGeom>
          <a:ln w="1096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502903" y="4478529"/>
            <a:ext cx="233679" cy="343535"/>
          </a:xfrm>
          <a:custGeom>
            <a:avLst/>
            <a:gdLst/>
            <a:ahLst/>
            <a:cxnLst/>
            <a:rect l="l" t="t" r="r" b="b"/>
            <a:pathLst>
              <a:path w="233679" h="343535">
                <a:moveTo>
                  <a:pt x="0" y="343049"/>
                </a:moveTo>
                <a:lnTo>
                  <a:pt x="233578" y="0"/>
                </a:lnTo>
              </a:path>
            </a:pathLst>
          </a:custGeom>
          <a:ln w="1097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970867" y="3416766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38" y="83467"/>
                </a:lnTo>
                <a:lnTo>
                  <a:pt x="58440" y="55801"/>
                </a:lnTo>
                <a:lnTo>
                  <a:pt x="99636" y="32728"/>
                </a:lnTo>
                <a:lnTo>
                  <a:pt x="149029" y="15141"/>
                </a:lnTo>
                <a:lnTo>
                  <a:pt x="205022" y="3934"/>
                </a:lnTo>
                <a:lnTo>
                  <a:pt x="266019" y="0"/>
                </a:lnTo>
                <a:lnTo>
                  <a:pt x="327012" y="3934"/>
                </a:lnTo>
                <a:lnTo>
                  <a:pt x="383003" y="15141"/>
                </a:lnTo>
                <a:lnTo>
                  <a:pt x="432396" y="32728"/>
                </a:lnTo>
                <a:lnTo>
                  <a:pt x="473592" y="55801"/>
                </a:lnTo>
                <a:lnTo>
                  <a:pt x="504996" y="83467"/>
                </a:lnTo>
                <a:lnTo>
                  <a:pt x="532035" y="149004"/>
                </a:lnTo>
                <a:lnTo>
                  <a:pt x="525009" y="183176"/>
                </a:lnTo>
                <a:lnTo>
                  <a:pt x="504996" y="214542"/>
                </a:lnTo>
                <a:lnTo>
                  <a:pt x="473592" y="242208"/>
                </a:lnTo>
                <a:lnTo>
                  <a:pt x="432396" y="265281"/>
                </a:lnTo>
                <a:lnTo>
                  <a:pt x="383003" y="282868"/>
                </a:lnTo>
                <a:lnTo>
                  <a:pt x="327012" y="294075"/>
                </a:lnTo>
                <a:lnTo>
                  <a:pt x="266019" y="298009"/>
                </a:lnTo>
                <a:lnTo>
                  <a:pt x="205022" y="294075"/>
                </a:lnTo>
                <a:lnTo>
                  <a:pt x="149029" y="282868"/>
                </a:lnTo>
                <a:lnTo>
                  <a:pt x="99636" y="265281"/>
                </a:lnTo>
                <a:lnTo>
                  <a:pt x="58440" y="242208"/>
                </a:lnTo>
                <a:lnTo>
                  <a:pt x="27038" y="214542"/>
                </a:lnTo>
                <a:lnTo>
                  <a:pt x="7025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107846" y="3479525"/>
            <a:ext cx="108521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姓名</a:t>
            </a:r>
            <a:endParaRPr sz="850">
              <a:latin typeface="MS Gothic"/>
              <a:cs typeface="MS Gothic"/>
            </a:endParaRPr>
          </a:p>
          <a:p>
            <a:pPr>
              <a:lnSpc>
                <a:spcPct val="100000"/>
              </a:lnSpc>
            </a:pPr>
            <a:endParaRPr sz="800">
              <a:latin typeface="MS Gothic"/>
              <a:cs typeface="MS Gothic"/>
            </a:endParaRPr>
          </a:p>
          <a:p>
            <a:pPr marR="5080" algn="r">
              <a:lnSpc>
                <a:spcPct val="100000"/>
              </a:lnSpc>
              <a:spcBef>
                <a:spcPts val="660"/>
              </a:spcBef>
            </a:pPr>
            <a:r>
              <a:rPr sz="850" spc="15" dirty="0">
                <a:latin typeface="MS Gothic"/>
                <a:cs typeface="MS Gothic"/>
              </a:rPr>
              <a:t>参加</a:t>
            </a:r>
            <a:endParaRPr sz="850">
              <a:latin typeface="MS Gothic"/>
              <a:cs typeface="MS Gothic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850" u="sng" spc="15" dirty="0">
                <a:uFill>
                  <a:solidFill>
                    <a:srgbClr val="000000"/>
                  </a:solidFill>
                </a:uFill>
                <a:latin typeface="MS Gothic"/>
                <a:cs typeface="MS Gothic"/>
              </a:rPr>
              <a:t>班号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502903" y="3339111"/>
            <a:ext cx="233679" cy="226695"/>
          </a:xfrm>
          <a:custGeom>
            <a:avLst/>
            <a:gdLst/>
            <a:ahLst/>
            <a:cxnLst/>
            <a:rect l="l" t="t" r="r" b="b"/>
            <a:pathLst>
              <a:path w="233679" h="226695">
                <a:moveTo>
                  <a:pt x="233578" y="0"/>
                </a:moveTo>
                <a:lnTo>
                  <a:pt x="0" y="226659"/>
                </a:lnTo>
              </a:path>
            </a:pathLst>
          </a:custGeom>
          <a:ln w="109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572676" y="4802028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39" y="83467"/>
                </a:lnTo>
                <a:lnTo>
                  <a:pt x="58441" y="55801"/>
                </a:lnTo>
                <a:lnTo>
                  <a:pt x="99634" y="32728"/>
                </a:lnTo>
                <a:lnTo>
                  <a:pt x="149018" y="15141"/>
                </a:lnTo>
                <a:lnTo>
                  <a:pt x="204997" y="3934"/>
                </a:lnTo>
                <a:lnTo>
                  <a:pt x="265970" y="0"/>
                </a:lnTo>
                <a:lnTo>
                  <a:pt x="326977" y="3934"/>
                </a:lnTo>
                <a:lnTo>
                  <a:pt x="382980" y="15141"/>
                </a:lnTo>
                <a:lnTo>
                  <a:pt x="432381" y="32728"/>
                </a:lnTo>
                <a:lnTo>
                  <a:pt x="473583" y="55801"/>
                </a:lnTo>
                <a:lnTo>
                  <a:pt x="504990" y="83467"/>
                </a:lnTo>
                <a:lnTo>
                  <a:pt x="532032" y="149004"/>
                </a:lnTo>
                <a:lnTo>
                  <a:pt x="525006" y="183176"/>
                </a:lnTo>
                <a:lnTo>
                  <a:pt x="504990" y="214542"/>
                </a:lnTo>
                <a:lnTo>
                  <a:pt x="473583" y="242208"/>
                </a:lnTo>
                <a:lnTo>
                  <a:pt x="432381" y="265281"/>
                </a:lnTo>
                <a:lnTo>
                  <a:pt x="382980" y="282868"/>
                </a:lnTo>
                <a:lnTo>
                  <a:pt x="326977" y="294075"/>
                </a:lnTo>
                <a:lnTo>
                  <a:pt x="265970" y="298009"/>
                </a:lnTo>
                <a:lnTo>
                  <a:pt x="204997" y="294075"/>
                </a:lnTo>
                <a:lnTo>
                  <a:pt x="149018" y="282868"/>
                </a:lnTo>
                <a:lnTo>
                  <a:pt x="99634" y="265281"/>
                </a:lnTo>
                <a:lnTo>
                  <a:pt x="58441" y="242208"/>
                </a:lnTo>
                <a:lnTo>
                  <a:pt x="27039" y="214542"/>
                </a:lnTo>
                <a:lnTo>
                  <a:pt x="7026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6716079" y="4864787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地点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5982230" y="4802028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39" y="83467"/>
                </a:lnTo>
                <a:lnTo>
                  <a:pt x="58441" y="55801"/>
                </a:lnTo>
                <a:lnTo>
                  <a:pt x="99634" y="32728"/>
                </a:lnTo>
                <a:lnTo>
                  <a:pt x="149018" y="15141"/>
                </a:lnTo>
                <a:lnTo>
                  <a:pt x="204997" y="3934"/>
                </a:lnTo>
                <a:lnTo>
                  <a:pt x="265970" y="0"/>
                </a:lnTo>
                <a:lnTo>
                  <a:pt x="326977" y="3934"/>
                </a:lnTo>
                <a:lnTo>
                  <a:pt x="382980" y="15141"/>
                </a:lnTo>
                <a:lnTo>
                  <a:pt x="432381" y="32728"/>
                </a:lnTo>
                <a:lnTo>
                  <a:pt x="473583" y="55801"/>
                </a:lnTo>
                <a:lnTo>
                  <a:pt x="504990" y="83467"/>
                </a:lnTo>
                <a:lnTo>
                  <a:pt x="532032" y="149004"/>
                </a:lnTo>
                <a:lnTo>
                  <a:pt x="525006" y="183176"/>
                </a:lnTo>
                <a:lnTo>
                  <a:pt x="504990" y="214542"/>
                </a:lnTo>
                <a:lnTo>
                  <a:pt x="473583" y="242208"/>
                </a:lnTo>
                <a:lnTo>
                  <a:pt x="432381" y="265281"/>
                </a:lnTo>
                <a:lnTo>
                  <a:pt x="382980" y="282868"/>
                </a:lnTo>
                <a:lnTo>
                  <a:pt x="326977" y="294075"/>
                </a:lnTo>
                <a:lnTo>
                  <a:pt x="265970" y="298009"/>
                </a:lnTo>
                <a:lnTo>
                  <a:pt x="204997" y="294075"/>
                </a:lnTo>
                <a:lnTo>
                  <a:pt x="149018" y="282868"/>
                </a:lnTo>
                <a:lnTo>
                  <a:pt x="99634" y="265281"/>
                </a:lnTo>
                <a:lnTo>
                  <a:pt x="58441" y="242208"/>
                </a:lnTo>
                <a:lnTo>
                  <a:pt x="27039" y="214542"/>
                </a:lnTo>
                <a:lnTo>
                  <a:pt x="7026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6125725" y="4864787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宋体"/>
                <a:cs typeface="宋体"/>
              </a:rPr>
              <a:t>时间</a:t>
            </a:r>
            <a:endParaRPr sz="850">
              <a:latin typeface="宋体"/>
              <a:cs typeface="宋体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248201" y="4633929"/>
            <a:ext cx="590550" cy="168275"/>
          </a:xfrm>
          <a:custGeom>
            <a:avLst/>
            <a:gdLst/>
            <a:ahLst/>
            <a:cxnLst/>
            <a:rect l="l" t="t" r="r" b="b"/>
            <a:pathLst>
              <a:path w="590550" h="168275">
                <a:moveTo>
                  <a:pt x="0" y="168098"/>
                </a:moveTo>
                <a:lnTo>
                  <a:pt x="590445" y="0"/>
                </a:lnTo>
              </a:path>
            </a:pathLst>
          </a:custGeom>
          <a:ln w="109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838646" y="4633929"/>
            <a:ext cx="0" cy="168275"/>
          </a:xfrm>
          <a:custGeom>
            <a:avLst/>
            <a:gdLst/>
            <a:ahLst/>
            <a:cxnLst/>
            <a:rect l="l" t="t" r="r" b="b"/>
            <a:pathLst>
              <a:path h="168275">
                <a:moveTo>
                  <a:pt x="0" y="168098"/>
                </a:moveTo>
                <a:lnTo>
                  <a:pt x="0" y="0"/>
                </a:lnTo>
              </a:path>
            </a:pathLst>
          </a:custGeom>
          <a:ln w="109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176030" y="4802028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41" y="83467"/>
                </a:lnTo>
                <a:lnTo>
                  <a:pt x="58449" y="55801"/>
                </a:lnTo>
                <a:lnTo>
                  <a:pt x="99651" y="32728"/>
                </a:lnTo>
                <a:lnTo>
                  <a:pt x="149052" y="15141"/>
                </a:lnTo>
                <a:lnTo>
                  <a:pt x="205054" y="3934"/>
                </a:lnTo>
                <a:lnTo>
                  <a:pt x="266062" y="0"/>
                </a:lnTo>
                <a:lnTo>
                  <a:pt x="327035" y="3934"/>
                </a:lnTo>
                <a:lnTo>
                  <a:pt x="383013" y="15141"/>
                </a:lnTo>
                <a:lnTo>
                  <a:pt x="432398" y="32728"/>
                </a:lnTo>
                <a:lnTo>
                  <a:pt x="473590" y="55801"/>
                </a:lnTo>
                <a:lnTo>
                  <a:pt x="504992" y="83467"/>
                </a:lnTo>
                <a:lnTo>
                  <a:pt x="532032" y="149004"/>
                </a:lnTo>
                <a:lnTo>
                  <a:pt x="525006" y="183176"/>
                </a:lnTo>
                <a:lnTo>
                  <a:pt x="504992" y="214542"/>
                </a:lnTo>
                <a:lnTo>
                  <a:pt x="473590" y="242208"/>
                </a:lnTo>
                <a:lnTo>
                  <a:pt x="432398" y="265281"/>
                </a:lnTo>
                <a:lnTo>
                  <a:pt x="383013" y="282868"/>
                </a:lnTo>
                <a:lnTo>
                  <a:pt x="327035" y="294075"/>
                </a:lnTo>
                <a:lnTo>
                  <a:pt x="266062" y="298009"/>
                </a:lnTo>
                <a:lnTo>
                  <a:pt x="205054" y="294075"/>
                </a:lnTo>
                <a:lnTo>
                  <a:pt x="149052" y="282868"/>
                </a:lnTo>
                <a:lnTo>
                  <a:pt x="99651" y="265281"/>
                </a:lnTo>
                <a:lnTo>
                  <a:pt x="58449" y="242208"/>
                </a:lnTo>
                <a:lnTo>
                  <a:pt x="27041" y="214542"/>
                </a:lnTo>
                <a:lnTo>
                  <a:pt x="7026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7319526" y="4864787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主</a:t>
            </a:r>
            <a:r>
              <a:rPr sz="850" spc="15" dirty="0">
                <a:latin typeface="宋体"/>
                <a:cs typeface="宋体"/>
              </a:rPr>
              <a:t>题</a:t>
            </a:r>
            <a:endParaRPr sz="850">
              <a:latin typeface="宋体"/>
              <a:cs typeface="宋体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6838646" y="4633929"/>
            <a:ext cx="603885" cy="168275"/>
          </a:xfrm>
          <a:custGeom>
            <a:avLst/>
            <a:gdLst/>
            <a:ahLst/>
            <a:cxnLst/>
            <a:rect l="l" t="t" r="r" b="b"/>
            <a:pathLst>
              <a:path w="603884" h="168275">
                <a:moveTo>
                  <a:pt x="603446" y="168098"/>
                </a:moveTo>
                <a:lnTo>
                  <a:pt x="0" y="0"/>
                </a:lnTo>
              </a:path>
            </a:pathLst>
          </a:custGeom>
          <a:ln w="109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929470" y="2717603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41" y="83467"/>
                </a:lnTo>
                <a:lnTo>
                  <a:pt x="58449" y="55801"/>
                </a:lnTo>
                <a:lnTo>
                  <a:pt x="99651" y="32728"/>
                </a:lnTo>
                <a:lnTo>
                  <a:pt x="149052" y="15141"/>
                </a:lnTo>
                <a:lnTo>
                  <a:pt x="205054" y="3934"/>
                </a:lnTo>
                <a:lnTo>
                  <a:pt x="266062" y="0"/>
                </a:lnTo>
                <a:lnTo>
                  <a:pt x="327064" y="3905"/>
                </a:lnTo>
                <a:lnTo>
                  <a:pt x="383053" y="15101"/>
                </a:lnTo>
                <a:lnTo>
                  <a:pt x="432436" y="32689"/>
                </a:lnTo>
                <a:lnTo>
                  <a:pt x="473619" y="55772"/>
                </a:lnTo>
                <a:lnTo>
                  <a:pt x="505008" y="83451"/>
                </a:lnTo>
                <a:lnTo>
                  <a:pt x="532032" y="149004"/>
                </a:lnTo>
                <a:lnTo>
                  <a:pt x="525011" y="183176"/>
                </a:lnTo>
                <a:lnTo>
                  <a:pt x="505008" y="214542"/>
                </a:lnTo>
                <a:lnTo>
                  <a:pt x="473619" y="242208"/>
                </a:lnTo>
                <a:lnTo>
                  <a:pt x="432436" y="265281"/>
                </a:lnTo>
                <a:lnTo>
                  <a:pt x="383053" y="282868"/>
                </a:lnTo>
                <a:lnTo>
                  <a:pt x="327064" y="294075"/>
                </a:lnTo>
                <a:lnTo>
                  <a:pt x="266062" y="298009"/>
                </a:lnTo>
                <a:lnTo>
                  <a:pt x="205054" y="294075"/>
                </a:lnTo>
                <a:lnTo>
                  <a:pt x="149052" y="282868"/>
                </a:lnTo>
                <a:lnTo>
                  <a:pt x="99651" y="265281"/>
                </a:lnTo>
                <a:lnTo>
                  <a:pt x="58449" y="242208"/>
                </a:lnTo>
                <a:lnTo>
                  <a:pt x="27041" y="214542"/>
                </a:lnTo>
                <a:lnTo>
                  <a:pt x="7026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7072965" y="2780362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心得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6838646" y="3015613"/>
            <a:ext cx="357505" cy="168275"/>
          </a:xfrm>
          <a:custGeom>
            <a:avLst/>
            <a:gdLst/>
            <a:ahLst/>
            <a:cxnLst/>
            <a:rect l="l" t="t" r="r" b="b"/>
            <a:pathLst>
              <a:path w="357504" h="168275">
                <a:moveTo>
                  <a:pt x="0" y="168098"/>
                </a:moveTo>
                <a:lnTo>
                  <a:pt x="356885" y="0"/>
                </a:lnTo>
              </a:path>
            </a:pathLst>
          </a:custGeom>
          <a:ln w="109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111965" y="2723906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04"/>
                </a:moveTo>
                <a:lnTo>
                  <a:pt x="27041" y="83467"/>
                </a:lnTo>
                <a:lnTo>
                  <a:pt x="58449" y="55801"/>
                </a:lnTo>
                <a:lnTo>
                  <a:pt x="99651" y="32728"/>
                </a:lnTo>
                <a:lnTo>
                  <a:pt x="149052" y="15141"/>
                </a:lnTo>
                <a:lnTo>
                  <a:pt x="205054" y="3934"/>
                </a:lnTo>
                <a:lnTo>
                  <a:pt x="266062" y="0"/>
                </a:lnTo>
                <a:lnTo>
                  <a:pt x="327035" y="3934"/>
                </a:lnTo>
                <a:lnTo>
                  <a:pt x="383013" y="15141"/>
                </a:lnTo>
                <a:lnTo>
                  <a:pt x="432398" y="32728"/>
                </a:lnTo>
                <a:lnTo>
                  <a:pt x="473590" y="55801"/>
                </a:lnTo>
                <a:lnTo>
                  <a:pt x="504992" y="83467"/>
                </a:lnTo>
                <a:lnTo>
                  <a:pt x="532032" y="149004"/>
                </a:lnTo>
                <a:lnTo>
                  <a:pt x="525006" y="183176"/>
                </a:lnTo>
                <a:lnTo>
                  <a:pt x="504992" y="214542"/>
                </a:lnTo>
                <a:lnTo>
                  <a:pt x="473590" y="242208"/>
                </a:lnTo>
                <a:lnTo>
                  <a:pt x="432398" y="265281"/>
                </a:lnTo>
                <a:lnTo>
                  <a:pt x="383013" y="282868"/>
                </a:lnTo>
                <a:lnTo>
                  <a:pt x="327035" y="294075"/>
                </a:lnTo>
                <a:lnTo>
                  <a:pt x="266062" y="298009"/>
                </a:lnTo>
                <a:lnTo>
                  <a:pt x="205054" y="294075"/>
                </a:lnTo>
                <a:lnTo>
                  <a:pt x="149052" y="282868"/>
                </a:lnTo>
                <a:lnTo>
                  <a:pt x="99651" y="265281"/>
                </a:lnTo>
                <a:lnTo>
                  <a:pt x="58449" y="242208"/>
                </a:lnTo>
                <a:lnTo>
                  <a:pt x="27041" y="214542"/>
                </a:lnTo>
                <a:lnTo>
                  <a:pt x="7026" y="183176"/>
                </a:lnTo>
                <a:lnTo>
                  <a:pt x="0" y="14900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/>
          <p:nvPr/>
        </p:nvSpPr>
        <p:spPr>
          <a:xfrm>
            <a:off x="6255460" y="2786666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内容</a:t>
            </a:r>
            <a:endParaRPr sz="850">
              <a:latin typeface="MS Gothic"/>
              <a:cs typeface="MS Gothic"/>
            </a:endParaRPr>
          </a:p>
        </p:txBody>
      </p:sp>
      <p:sp>
        <p:nvSpPr>
          <p:cNvPr id="105" name="object 105"/>
          <p:cNvSpPr/>
          <p:nvPr/>
        </p:nvSpPr>
        <p:spPr>
          <a:xfrm>
            <a:off x="6378027" y="3021916"/>
            <a:ext cx="461009" cy="161925"/>
          </a:xfrm>
          <a:custGeom>
            <a:avLst/>
            <a:gdLst/>
            <a:ahLst/>
            <a:cxnLst/>
            <a:rect l="l" t="t" r="r" b="b"/>
            <a:pathLst>
              <a:path w="461009" h="161925">
                <a:moveTo>
                  <a:pt x="460618" y="161795"/>
                </a:moveTo>
                <a:lnTo>
                  <a:pt x="0" y="0"/>
                </a:lnTo>
              </a:path>
            </a:pathLst>
          </a:custGeom>
          <a:ln w="109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759975" y="5941482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14"/>
                </a:moveTo>
                <a:lnTo>
                  <a:pt x="27041" y="83482"/>
                </a:lnTo>
                <a:lnTo>
                  <a:pt x="58449" y="55814"/>
                </a:lnTo>
                <a:lnTo>
                  <a:pt x="99651" y="32737"/>
                </a:lnTo>
                <a:lnTo>
                  <a:pt x="149052" y="15146"/>
                </a:lnTo>
                <a:lnTo>
                  <a:pt x="205054" y="3935"/>
                </a:lnTo>
                <a:lnTo>
                  <a:pt x="266062" y="0"/>
                </a:lnTo>
                <a:lnTo>
                  <a:pt x="327035" y="3935"/>
                </a:lnTo>
                <a:lnTo>
                  <a:pt x="383013" y="15146"/>
                </a:lnTo>
                <a:lnTo>
                  <a:pt x="432398" y="32737"/>
                </a:lnTo>
                <a:lnTo>
                  <a:pt x="473590" y="55814"/>
                </a:lnTo>
                <a:lnTo>
                  <a:pt x="504992" y="83482"/>
                </a:lnTo>
                <a:lnTo>
                  <a:pt x="532032" y="149014"/>
                </a:lnTo>
                <a:lnTo>
                  <a:pt x="525006" y="183184"/>
                </a:lnTo>
                <a:lnTo>
                  <a:pt x="504992" y="214550"/>
                </a:lnTo>
                <a:lnTo>
                  <a:pt x="473590" y="242220"/>
                </a:lnTo>
                <a:lnTo>
                  <a:pt x="432398" y="265297"/>
                </a:lnTo>
                <a:lnTo>
                  <a:pt x="383013" y="282889"/>
                </a:lnTo>
                <a:lnTo>
                  <a:pt x="327035" y="294099"/>
                </a:lnTo>
                <a:lnTo>
                  <a:pt x="266062" y="298035"/>
                </a:lnTo>
                <a:lnTo>
                  <a:pt x="205054" y="294099"/>
                </a:lnTo>
                <a:lnTo>
                  <a:pt x="149052" y="282889"/>
                </a:lnTo>
                <a:lnTo>
                  <a:pt x="99651" y="265297"/>
                </a:lnTo>
                <a:lnTo>
                  <a:pt x="58449" y="242220"/>
                </a:lnTo>
                <a:lnTo>
                  <a:pt x="27041" y="214550"/>
                </a:lnTo>
                <a:lnTo>
                  <a:pt x="7026" y="183184"/>
                </a:lnTo>
                <a:lnTo>
                  <a:pt x="0" y="14901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7903471" y="6004241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建</a:t>
            </a:r>
            <a:r>
              <a:rPr sz="850" spc="15" dirty="0">
                <a:latin typeface="宋体"/>
                <a:cs typeface="宋体"/>
              </a:rPr>
              <a:t>议</a:t>
            </a:r>
            <a:endParaRPr sz="850">
              <a:latin typeface="宋体"/>
              <a:cs typeface="宋体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8026038" y="5786328"/>
            <a:ext cx="318135" cy="155575"/>
          </a:xfrm>
          <a:custGeom>
            <a:avLst/>
            <a:gdLst/>
            <a:ahLst/>
            <a:cxnLst/>
            <a:rect l="l" t="t" r="r" b="b"/>
            <a:pathLst>
              <a:path w="318134" h="155575">
                <a:moveTo>
                  <a:pt x="0" y="155153"/>
                </a:moveTo>
                <a:lnTo>
                  <a:pt x="317882" y="0"/>
                </a:lnTo>
              </a:path>
            </a:pathLst>
          </a:custGeom>
          <a:ln w="109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8434744" y="5941482"/>
            <a:ext cx="532130" cy="298450"/>
          </a:xfrm>
          <a:custGeom>
            <a:avLst/>
            <a:gdLst/>
            <a:ahLst/>
            <a:cxnLst/>
            <a:rect l="l" t="t" r="r" b="b"/>
            <a:pathLst>
              <a:path w="532129" h="298450">
                <a:moveTo>
                  <a:pt x="0" y="149014"/>
                </a:moveTo>
                <a:lnTo>
                  <a:pt x="27041" y="83482"/>
                </a:lnTo>
                <a:lnTo>
                  <a:pt x="58449" y="55814"/>
                </a:lnTo>
                <a:lnTo>
                  <a:pt x="99651" y="32737"/>
                </a:lnTo>
                <a:lnTo>
                  <a:pt x="149052" y="15146"/>
                </a:lnTo>
                <a:lnTo>
                  <a:pt x="205054" y="3935"/>
                </a:lnTo>
                <a:lnTo>
                  <a:pt x="266062" y="0"/>
                </a:lnTo>
                <a:lnTo>
                  <a:pt x="327035" y="3935"/>
                </a:lnTo>
                <a:lnTo>
                  <a:pt x="383013" y="15146"/>
                </a:lnTo>
                <a:lnTo>
                  <a:pt x="432398" y="32737"/>
                </a:lnTo>
                <a:lnTo>
                  <a:pt x="473590" y="55814"/>
                </a:lnTo>
                <a:lnTo>
                  <a:pt x="504992" y="83482"/>
                </a:lnTo>
                <a:lnTo>
                  <a:pt x="532032" y="149014"/>
                </a:lnTo>
                <a:lnTo>
                  <a:pt x="525006" y="183184"/>
                </a:lnTo>
                <a:lnTo>
                  <a:pt x="504992" y="214550"/>
                </a:lnTo>
                <a:lnTo>
                  <a:pt x="473590" y="242220"/>
                </a:lnTo>
                <a:lnTo>
                  <a:pt x="432398" y="265297"/>
                </a:lnTo>
                <a:lnTo>
                  <a:pt x="383013" y="282889"/>
                </a:lnTo>
                <a:lnTo>
                  <a:pt x="327035" y="294099"/>
                </a:lnTo>
                <a:lnTo>
                  <a:pt x="266062" y="298035"/>
                </a:lnTo>
                <a:lnTo>
                  <a:pt x="205054" y="294099"/>
                </a:lnTo>
                <a:lnTo>
                  <a:pt x="149052" y="282889"/>
                </a:lnTo>
                <a:lnTo>
                  <a:pt x="99651" y="265297"/>
                </a:lnTo>
                <a:lnTo>
                  <a:pt x="58449" y="242220"/>
                </a:lnTo>
                <a:lnTo>
                  <a:pt x="27041" y="214550"/>
                </a:lnTo>
                <a:lnTo>
                  <a:pt x="7026" y="183184"/>
                </a:lnTo>
                <a:lnTo>
                  <a:pt x="0" y="149014"/>
                </a:lnTo>
                <a:close/>
              </a:path>
            </a:pathLst>
          </a:custGeom>
          <a:ln w="109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8578239" y="6004241"/>
            <a:ext cx="245745" cy="1574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850" spc="15" dirty="0">
                <a:latin typeface="MS Gothic"/>
                <a:cs typeface="MS Gothic"/>
              </a:rPr>
              <a:t>意</a:t>
            </a:r>
            <a:r>
              <a:rPr sz="850" spc="15" dirty="0">
                <a:latin typeface="宋体"/>
                <a:cs typeface="宋体"/>
              </a:rPr>
              <a:t>见</a:t>
            </a:r>
            <a:endParaRPr sz="850">
              <a:latin typeface="宋体"/>
              <a:cs typeface="宋体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8343920" y="5786328"/>
            <a:ext cx="357505" cy="155575"/>
          </a:xfrm>
          <a:custGeom>
            <a:avLst/>
            <a:gdLst/>
            <a:ahLst/>
            <a:cxnLst/>
            <a:rect l="l" t="t" r="r" b="b"/>
            <a:pathLst>
              <a:path w="357504" h="155575">
                <a:moveTo>
                  <a:pt x="356885" y="155153"/>
                </a:moveTo>
                <a:lnTo>
                  <a:pt x="0" y="0"/>
                </a:lnTo>
              </a:path>
            </a:pathLst>
          </a:custGeom>
          <a:ln w="109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03418" y="1492633"/>
            <a:ext cx="4325112" cy="21183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7937" y="196595"/>
            <a:ext cx="65881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1.3.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行为建模：状态转换图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1615" y="1335222"/>
            <a:ext cx="8359140" cy="3261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b="1" spc="85" dirty="0">
                <a:latin typeface="宋体"/>
                <a:cs typeface="宋体"/>
              </a:rPr>
              <a:t>面向状态转换的建模</a:t>
            </a:r>
            <a:endParaRPr sz="27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>
              <a:latin typeface="宋体"/>
              <a:cs typeface="宋体"/>
            </a:endParaRPr>
          </a:p>
          <a:p>
            <a:pPr marL="116205" marR="5080" indent="420370" algn="just">
              <a:lnSpc>
                <a:spcPct val="159700"/>
              </a:lnSpc>
            </a:pPr>
            <a:r>
              <a:rPr sz="2400" dirty="0">
                <a:latin typeface="宋体"/>
                <a:cs typeface="宋体"/>
              </a:rPr>
              <a:t>状态转换图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Arial"/>
                <a:cs typeface="Arial"/>
              </a:rPr>
              <a:t>Status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Transition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Diagram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Arial"/>
                <a:cs typeface="Arial"/>
              </a:rPr>
              <a:t>STD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通过描述 </a:t>
            </a:r>
            <a:r>
              <a:rPr sz="2400" dirty="0">
                <a:solidFill>
                  <a:srgbClr val="009257"/>
                </a:solidFill>
                <a:latin typeface="宋体"/>
                <a:cs typeface="宋体"/>
              </a:rPr>
              <a:t>系统状态及引起状态转换的事件</a:t>
            </a:r>
            <a:r>
              <a:rPr sz="2400" dirty="0">
                <a:latin typeface="宋体"/>
                <a:cs typeface="宋体"/>
              </a:rPr>
              <a:t>来表示系统行为。</a:t>
            </a:r>
            <a:r>
              <a:rPr sz="2400" spc="-5" dirty="0">
                <a:latin typeface="Arial"/>
                <a:cs typeface="Arial"/>
              </a:rPr>
              <a:t>ST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dirty="0">
                <a:latin typeface="宋体"/>
                <a:cs typeface="宋体"/>
              </a:rPr>
              <a:t>图同时 也反映了事件执行的行为。</a:t>
            </a:r>
            <a:r>
              <a:rPr sz="2400" spc="-5" dirty="0">
                <a:latin typeface="Arial"/>
                <a:cs typeface="Arial"/>
              </a:rPr>
              <a:t>ST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dirty="0">
                <a:latin typeface="宋体"/>
                <a:cs typeface="宋体"/>
              </a:rPr>
              <a:t>图主要由</a:t>
            </a:r>
            <a:r>
              <a:rPr sz="2400" dirty="0">
                <a:solidFill>
                  <a:srgbClr val="009257"/>
                </a:solidFill>
                <a:latin typeface="宋体"/>
                <a:cs typeface="宋体"/>
              </a:rPr>
              <a:t>状态、转换和事件</a:t>
            </a:r>
            <a:r>
              <a:rPr sz="2400" dirty="0">
                <a:latin typeface="宋体"/>
                <a:cs typeface="宋体"/>
              </a:rPr>
              <a:t>的 图形符号构成。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3449" y="147827"/>
            <a:ext cx="55848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1.3.</a:t>
            </a:r>
            <a:r>
              <a:rPr spc="-90" dirty="0">
                <a:latin typeface="Arial"/>
                <a:cs typeface="Arial"/>
              </a:rPr>
              <a:t> </a:t>
            </a:r>
            <a:r>
              <a:rPr dirty="0">
                <a:latin typeface="宋体"/>
                <a:cs typeface="宋体"/>
              </a:rPr>
              <a:t>状态转换图：状态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276" y="1186179"/>
            <a:ext cx="8648700" cy="1818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87400" algn="just">
              <a:lnSpc>
                <a:spcPct val="140000"/>
              </a:lnSpc>
              <a:spcBef>
                <a:spcPts val="100"/>
              </a:spcBef>
            </a:pPr>
            <a:r>
              <a:rPr sz="4125" b="1" spc="127" baseline="1010" dirty="0">
                <a:solidFill>
                  <a:srgbClr val="009257"/>
                </a:solidFill>
                <a:latin typeface="宋体"/>
                <a:cs typeface="宋体"/>
              </a:rPr>
              <a:t>状</a:t>
            </a:r>
            <a:r>
              <a:rPr sz="4125" b="1" spc="120" baseline="1010" dirty="0">
                <a:solidFill>
                  <a:srgbClr val="009257"/>
                </a:solidFill>
                <a:latin typeface="宋体"/>
                <a:cs typeface="宋体"/>
              </a:rPr>
              <a:t>态</a:t>
            </a:r>
            <a:r>
              <a:rPr sz="2800" dirty="0">
                <a:latin typeface="宋体"/>
                <a:cs typeface="宋体"/>
              </a:rPr>
              <a:t>是可观察到的行为，是同一数据对象在系统的 不同运行时刻所具有的行为属性值，是事件触发后一系 列动作的结果。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44672" y="4270376"/>
            <a:ext cx="282575" cy="254000"/>
          </a:xfrm>
          <a:custGeom>
            <a:avLst/>
            <a:gdLst/>
            <a:ahLst/>
            <a:cxnLst/>
            <a:rect l="l" t="t" r="r" b="b"/>
            <a:pathLst>
              <a:path w="282575" h="254000">
                <a:moveTo>
                  <a:pt x="141287" y="0"/>
                </a:moveTo>
                <a:lnTo>
                  <a:pt x="96629" y="6474"/>
                </a:lnTo>
                <a:lnTo>
                  <a:pt x="57844" y="24503"/>
                </a:lnTo>
                <a:lnTo>
                  <a:pt x="27260" y="51995"/>
                </a:lnTo>
                <a:lnTo>
                  <a:pt x="7202" y="86857"/>
                </a:lnTo>
                <a:lnTo>
                  <a:pt x="0" y="127000"/>
                </a:lnTo>
                <a:lnTo>
                  <a:pt x="7202" y="167141"/>
                </a:lnTo>
                <a:lnTo>
                  <a:pt x="27260" y="202004"/>
                </a:lnTo>
                <a:lnTo>
                  <a:pt x="57844" y="229496"/>
                </a:lnTo>
                <a:lnTo>
                  <a:pt x="96629" y="247525"/>
                </a:lnTo>
                <a:lnTo>
                  <a:pt x="141287" y="254000"/>
                </a:lnTo>
                <a:lnTo>
                  <a:pt x="185944" y="247525"/>
                </a:lnTo>
                <a:lnTo>
                  <a:pt x="224729" y="229496"/>
                </a:lnTo>
                <a:lnTo>
                  <a:pt x="255314" y="202004"/>
                </a:lnTo>
                <a:lnTo>
                  <a:pt x="275371" y="167141"/>
                </a:lnTo>
                <a:lnTo>
                  <a:pt x="282575" y="127000"/>
                </a:lnTo>
                <a:lnTo>
                  <a:pt x="275371" y="86857"/>
                </a:lnTo>
                <a:lnTo>
                  <a:pt x="255314" y="51995"/>
                </a:lnTo>
                <a:lnTo>
                  <a:pt x="224729" y="24503"/>
                </a:lnTo>
                <a:lnTo>
                  <a:pt x="185944" y="6474"/>
                </a:lnTo>
                <a:lnTo>
                  <a:pt x="1412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44672" y="4270376"/>
            <a:ext cx="282575" cy="254000"/>
          </a:xfrm>
          <a:custGeom>
            <a:avLst/>
            <a:gdLst/>
            <a:ahLst/>
            <a:cxnLst/>
            <a:rect l="l" t="t" r="r" b="b"/>
            <a:pathLst>
              <a:path w="282575" h="254000">
                <a:moveTo>
                  <a:pt x="0" y="127000"/>
                </a:moveTo>
                <a:lnTo>
                  <a:pt x="7202" y="86858"/>
                </a:lnTo>
                <a:lnTo>
                  <a:pt x="27260" y="51995"/>
                </a:lnTo>
                <a:lnTo>
                  <a:pt x="57844" y="24503"/>
                </a:lnTo>
                <a:lnTo>
                  <a:pt x="96629" y="6474"/>
                </a:lnTo>
                <a:lnTo>
                  <a:pt x="141287" y="0"/>
                </a:lnTo>
                <a:lnTo>
                  <a:pt x="185945" y="6474"/>
                </a:lnTo>
                <a:lnTo>
                  <a:pt x="224730" y="24503"/>
                </a:lnTo>
                <a:lnTo>
                  <a:pt x="255314" y="51995"/>
                </a:lnTo>
                <a:lnTo>
                  <a:pt x="275372" y="86858"/>
                </a:lnTo>
                <a:lnTo>
                  <a:pt x="282575" y="127000"/>
                </a:lnTo>
                <a:lnTo>
                  <a:pt x="275372" y="167141"/>
                </a:lnTo>
                <a:lnTo>
                  <a:pt x="255314" y="202004"/>
                </a:lnTo>
                <a:lnTo>
                  <a:pt x="224730" y="229496"/>
                </a:lnTo>
                <a:lnTo>
                  <a:pt x="185945" y="247525"/>
                </a:lnTo>
                <a:lnTo>
                  <a:pt x="141287" y="254000"/>
                </a:lnTo>
                <a:lnTo>
                  <a:pt x="96629" y="247525"/>
                </a:lnTo>
                <a:lnTo>
                  <a:pt x="57844" y="229496"/>
                </a:lnTo>
                <a:lnTo>
                  <a:pt x="27260" y="202004"/>
                </a:lnTo>
                <a:lnTo>
                  <a:pt x="7202" y="167141"/>
                </a:lnTo>
                <a:lnTo>
                  <a:pt x="0" y="127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02204" y="4270340"/>
            <a:ext cx="281940" cy="309880"/>
          </a:xfrm>
          <a:custGeom>
            <a:avLst/>
            <a:gdLst/>
            <a:ahLst/>
            <a:cxnLst/>
            <a:rect l="l" t="t" r="r" b="b"/>
            <a:pathLst>
              <a:path w="281940" h="309879">
                <a:moveTo>
                  <a:pt x="140881" y="0"/>
                </a:moveTo>
                <a:lnTo>
                  <a:pt x="96351" y="7892"/>
                </a:lnTo>
                <a:lnTo>
                  <a:pt x="57678" y="29871"/>
                </a:lnTo>
                <a:lnTo>
                  <a:pt x="27181" y="63385"/>
                </a:lnTo>
                <a:lnTo>
                  <a:pt x="7182" y="105884"/>
                </a:lnTo>
                <a:lnTo>
                  <a:pt x="0" y="154819"/>
                </a:lnTo>
                <a:lnTo>
                  <a:pt x="7182" y="203754"/>
                </a:lnTo>
                <a:lnTo>
                  <a:pt x="27181" y="246253"/>
                </a:lnTo>
                <a:lnTo>
                  <a:pt x="57678" y="279767"/>
                </a:lnTo>
                <a:lnTo>
                  <a:pt x="96351" y="301745"/>
                </a:lnTo>
                <a:lnTo>
                  <a:pt x="140881" y="309638"/>
                </a:lnTo>
                <a:lnTo>
                  <a:pt x="185411" y="301745"/>
                </a:lnTo>
                <a:lnTo>
                  <a:pt x="224084" y="279767"/>
                </a:lnTo>
                <a:lnTo>
                  <a:pt x="254581" y="246253"/>
                </a:lnTo>
                <a:lnTo>
                  <a:pt x="274581" y="203754"/>
                </a:lnTo>
                <a:lnTo>
                  <a:pt x="281763" y="154819"/>
                </a:lnTo>
                <a:lnTo>
                  <a:pt x="274581" y="105884"/>
                </a:lnTo>
                <a:lnTo>
                  <a:pt x="254581" y="63385"/>
                </a:lnTo>
                <a:lnTo>
                  <a:pt x="224084" y="29871"/>
                </a:lnTo>
                <a:lnTo>
                  <a:pt x="185411" y="7892"/>
                </a:lnTo>
                <a:lnTo>
                  <a:pt x="1408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02204" y="4270340"/>
            <a:ext cx="281940" cy="309880"/>
          </a:xfrm>
          <a:custGeom>
            <a:avLst/>
            <a:gdLst/>
            <a:ahLst/>
            <a:cxnLst/>
            <a:rect l="l" t="t" r="r" b="b"/>
            <a:pathLst>
              <a:path w="281940" h="309879">
                <a:moveTo>
                  <a:pt x="0" y="154819"/>
                </a:moveTo>
                <a:lnTo>
                  <a:pt x="7182" y="105884"/>
                </a:lnTo>
                <a:lnTo>
                  <a:pt x="27182" y="63384"/>
                </a:lnTo>
                <a:lnTo>
                  <a:pt x="57678" y="29871"/>
                </a:lnTo>
                <a:lnTo>
                  <a:pt x="96352" y="7892"/>
                </a:lnTo>
                <a:lnTo>
                  <a:pt x="140882" y="0"/>
                </a:lnTo>
                <a:lnTo>
                  <a:pt x="185411" y="7892"/>
                </a:lnTo>
                <a:lnTo>
                  <a:pt x="224085" y="29871"/>
                </a:lnTo>
                <a:lnTo>
                  <a:pt x="254581" y="63384"/>
                </a:lnTo>
                <a:lnTo>
                  <a:pt x="274581" y="105884"/>
                </a:lnTo>
                <a:lnTo>
                  <a:pt x="281764" y="154819"/>
                </a:lnTo>
                <a:lnTo>
                  <a:pt x="274581" y="203753"/>
                </a:lnTo>
                <a:lnTo>
                  <a:pt x="254581" y="246253"/>
                </a:lnTo>
                <a:lnTo>
                  <a:pt x="224085" y="279766"/>
                </a:lnTo>
                <a:lnTo>
                  <a:pt x="185411" y="301745"/>
                </a:lnTo>
                <a:lnTo>
                  <a:pt x="140882" y="309638"/>
                </a:lnTo>
                <a:lnTo>
                  <a:pt x="96352" y="301745"/>
                </a:lnTo>
                <a:lnTo>
                  <a:pt x="57678" y="279766"/>
                </a:lnTo>
                <a:lnTo>
                  <a:pt x="27182" y="246253"/>
                </a:lnTo>
                <a:lnTo>
                  <a:pt x="7182" y="203753"/>
                </a:lnTo>
                <a:lnTo>
                  <a:pt x="0" y="15481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143622" y="4051301"/>
            <a:ext cx="809625" cy="727075"/>
          </a:xfrm>
          <a:custGeom>
            <a:avLst/>
            <a:gdLst/>
            <a:ahLst/>
            <a:cxnLst/>
            <a:rect l="l" t="t" r="r" b="b"/>
            <a:pathLst>
              <a:path w="809625" h="727075">
                <a:moveTo>
                  <a:pt x="0" y="363537"/>
                </a:moveTo>
                <a:lnTo>
                  <a:pt x="3154" y="317936"/>
                </a:lnTo>
                <a:lnTo>
                  <a:pt x="12363" y="274025"/>
                </a:lnTo>
                <a:lnTo>
                  <a:pt x="27248" y="232145"/>
                </a:lnTo>
                <a:lnTo>
                  <a:pt x="47430" y="192636"/>
                </a:lnTo>
                <a:lnTo>
                  <a:pt x="72528" y="155840"/>
                </a:lnTo>
                <a:lnTo>
                  <a:pt x="102165" y="122097"/>
                </a:lnTo>
                <a:lnTo>
                  <a:pt x="135960" y="91748"/>
                </a:lnTo>
                <a:lnTo>
                  <a:pt x="173534" y="65133"/>
                </a:lnTo>
                <a:lnTo>
                  <a:pt x="214508" y="42594"/>
                </a:lnTo>
                <a:lnTo>
                  <a:pt x="258502" y="24470"/>
                </a:lnTo>
                <a:lnTo>
                  <a:pt x="305137" y="11102"/>
                </a:lnTo>
                <a:lnTo>
                  <a:pt x="354033" y="2832"/>
                </a:lnTo>
                <a:lnTo>
                  <a:pt x="404812" y="0"/>
                </a:lnTo>
                <a:lnTo>
                  <a:pt x="455591" y="2832"/>
                </a:lnTo>
                <a:lnTo>
                  <a:pt x="504487" y="11102"/>
                </a:lnTo>
                <a:lnTo>
                  <a:pt x="551122" y="24470"/>
                </a:lnTo>
                <a:lnTo>
                  <a:pt x="595116" y="42594"/>
                </a:lnTo>
                <a:lnTo>
                  <a:pt x="636090" y="65133"/>
                </a:lnTo>
                <a:lnTo>
                  <a:pt x="673664" y="91748"/>
                </a:lnTo>
                <a:lnTo>
                  <a:pt x="707459" y="122097"/>
                </a:lnTo>
                <a:lnTo>
                  <a:pt x="737096" y="155840"/>
                </a:lnTo>
                <a:lnTo>
                  <a:pt x="762194" y="192636"/>
                </a:lnTo>
                <a:lnTo>
                  <a:pt x="782376" y="232145"/>
                </a:lnTo>
                <a:lnTo>
                  <a:pt x="797261" y="274025"/>
                </a:lnTo>
                <a:lnTo>
                  <a:pt x="806470" y="317936"/>
                </a:lnTo>
                <a:lnTo>
                  <a:pt x="809625" y="363537"/>
                </a:lnTo>
                <a:lnTo>
                  <a:pt x="806470" y="409138"/>
                </a:lnTo>
                <a:lnTo>
                  <a:pt x="797261" y="453049"/>
                </a:lnTo>
                <a:lnTo>
                  <a:pt x="782376" y="494929"/>
                </a:lnTo>
                <a:lnTo>
                  <a:pt x="762194" y="534438"/>
                </a:lnTo>
                <a:lnTo>
                  <a:pt x="737096" y="571234"/>
                </a:lnTo>
                <a:lnTo>
                  <a:pt x="707459" y="604977"/>
                </a:lnTo>
                <a:lnTo>
                  <a:pt x="673664" y="635326"/>
                </a:lnTo>
                <a:lnTo>
                  <a:pt x="636090" y="661941"/>
                </a:lnTo>
                <a:lnTo>
                  <a:pt x="595116" y="684480"/>
                </a:lnTo>
                <a:lnTo>
                  <a:pt x="551122" y="702604"/>
                </a:lnTo>
                <a:lnTo>
                  <a:pt x="504487" y="715972"/>
                </a:lnTo>
                <a:lnTo>
                  <a:pt x="455591" y="724242"/>
                </a:lnTo>
                <a:lnTo>
                  <a:pt x="404812" y="727075"/>
                </a:lnTo>
                <a:lnTo>
                  <a:pt x="354033" y="724242"/>
                </a:lnTo>
                <a:lnTo>
                  <a:pt x="305137" y="715972"/>
                </a:lnTo>
                <a:lnTo>
                  <a:pt x="258502" y="702604"/>
                </a:lnTo>
                <a:lnTo>
                  <a:pt x="214508" y="684480"/>
                </a:lnTo>
                <a:lnTo>
                  <a:pt x="173534" y="661941"/>
                </a:lnTo>
                <a:lnTo>
                  <a:pt x="135960" y="635326"/>
                </a:lnTo>
                <a:lnTo>
                  <a:pt x="102165" y="604977"/>
                </a:lnTo>
                <a:lnTo>
                  <a:pt x="72528" y="571234"/>
                </a:lnTo>
                <a:lnTo>
                  <a:pt x="47430" y="534438"/>
                </a:lnTo>
                <a:lnTo>
                  <a:pt x="27248" y="494929"/>
                </a:lnTo>
                <a:lnTo>
                  <a:pt x="12363" y="453049"/>
                </a:lnTo>
                <a:lnTo>
                  <a:pt x="3154" y="409138"/>
                </a:lnTo>
                <a:lnTo>
                  <a:pt x="0" y="363537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0859" y="3378201"/>
            <a:ext cx="2247900" cy="1881505"/>
          </a:xfrm>
          <a:custGeom>
            <a:avLst/>
            <a:gdLst/>
            <a:ahLst/>
            <a:cxnLst/>
            <a:rect l="l" t="t" r="r" b="b"/>
            <a:pathLst>
              <a:path w="2247900" h="1881504">
                <a:moveTo>
                  <a:pt x="0" y="313530"/>
                </a:moveTo>
                <a:lnTo>
                  <a:pt x="3399" y="267199"/>
                </a:lnTo>
                <a:lnTo>
                  <a:pt x="13274" y="222979"/>
                </a:lnTo>
                <a:lnTo>
                  <a:pt x="29140" y="181354"/>
                </a:lnTo>
                <a:lnTo>
                  <a:pt x="50511" y="142810"/>
                </a:lnTo>
                <a:lnTo>
                  <a:pt x="76903" y="107831"/>
                </a:lnTo>
                <a:lnTo>
                  <a:pt x="107831" y="76903"/>
                </a:lnTo>
                <a:lnTo>
                  <a:pt x="142810" y="50511"/>
                </a:lnTo>
                <a:lnTo>
                  <a:pt x="181354" y="29140"/>
                </a:lnTo>
                <a:lnTo>
                  <a:pt x="222979" y="13274"/>
                </a:lnTo>
                <a:lnTo>
                  <a:pt x="267199" y="3399"/>
                </a:lnTo>
                <a:lnTo>
                  <a:pt x="313530" y="0"/>
                </a:lnTo>
                <a:lnTo>
                  <a:pt x="1934369" y="0"/>
                </a:lnTo>
                <a:lnTo>
                  <a:pt x="1980700" y="3399"/>
                </a:lnTo>
                <a:lnTo>
                  <a:pt x="2024920" y="13274"/>
                </a:lnTo>
                <a:lnTo>
                  <a:pt x="2066545" y="29140"/>
                </a:lnTo>
                <a:lnTo>
                  <a:pt x="2105089" y="50511"/>
                </a:lnTo>
                <a:lnTo>
                  <a:pt x="2140068" y="76903"/>
                </a:lnTo>
                <a:lnTo>
                  <a:pt x="2170996" y="107831"/>
                </a:lnTo>
                <a:lnTo>
                  <a:pt x="2197388" y="142810"/>
                </a:lnTo>
                <a:lnTo>
                  <a:pt x="2218759" y="181354"/>
                </a:lnTo>
                <a:lnTo>
                  <a:pt x="2234625" y="222979"/>
                </a:lnTo>
                <a:lnTo>
                  <a:pt x="2244500" y="267199"/>
                </a:lnTo>
                <a:lnTo>
                  <a:pt x="2247900" y="313530"/>
                </a:lnTo>
                <a:lnTo>
                  <a:pt x="2247900" y="1567657"/>
                </a:lnTo>
                <a:lnTo>
                  <a:pt x="2244500" y="1613988"/>
                </a:lnTo>
                <a:lnTo>
                  <a:pt x="2234625" y="1658209"/>
                </a:lnTo>
                <a:lnTo>
                  <a:pt x="2218759" y="1699834"/>
                </a:lnTo>
                <a:lnTo>
                  <a:pt x="2197388" y="1738378"/>
                </a:lnTo>
                <a:lnTo>
                  <a:pt x="2170996" y="1773356"/>
                </a:lnTo>
                <a:lnTo>
                  <a:pt x="2140068" y="1804284"/>
                </a:lnTo>
                <a:lnTo>
                  <a:pt x="2105089" y="1830676"/>
                </a:lnTo>
                <a:lnTo>
                  <a:pt x="2066545" y="1852047"/>
                </a:lnTo>
                <a:lnTo>
                  <a:pt x="2024920" y="1867913"/>
                </a:lnTo>
                <a:lnTo>
                  <a:pt x="1980700" y="1877788"/>
                </a:lnTo>
                <a:lnTo>
                  <a:pt x="1934369" y="1881188"/>
                </a:lnTo>
                <a:lnTo>
                  <a:pt x="313530" y="1881188"/>
                </a:lnTo>
                <a:lnTo>
                  <a:pt x="267199" y="1877788"/>
                </a:lnTo>
                <a:lnTo>
                  <a:pt x="222979" y="1867913"/>
                </a:lnTo>
                <a:lnTo>
                  <a:pt x="181354" y="1852047"/>
                </a:lnTo>
                <a:lnTo>
                  <a:pt x="142810" y="1830676"/>
                </a:lnTo>
                <a:lnTo>
                  <a:pt x="107831" y="1804284"/>
                </a:lnTo>
                <a:lnTo>
                  <a:pt x="76903" y="1773356"/>
                </a:lnTo>
                <a:lnTo>
                  <a:pt x="50511" y="1738378"/>
                </a:lnTo>
                <a:lnTo>
                  <a:pt x="29140" y="1699834"/>
                </a:lnTo>
                <a:lnTo>
                  <a:pt x="13274" y="1658209"/>
                </a:lnTo>
                <a:lnTo>
                  <a:pt x="3399" y="1613988"/>
                </a:lnTo>
                <a:lnTo>
                  <a:pt x="0" y="1567657"/>
                </a:lnTo>
                <a:lnTo>
                  <a:pt x="0" y="31353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86200" y="3435096"/>
            <a:ext cx="682751" cy="472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81984" y="4160520"/>
            <a:ext cx="1088136" cy="4693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86200" y="4898135"/>
            <a:ext cx="682751" cy="4693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95709" y="3502660"/>
            <a:ext cx="838200" cy="17297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宋体"/>
                <a:cs typeface="宋体"/>
              </a:rPr>
              <a:t>名字</a:t>
            </a:r>
            <a:endParaRPr sz="1600">
              <a:latin typeface="宋体"/>
              <a:cs typeface="宋体"/>
            </a:endParaRPr>
          </a:p>
          <a:p>
            <a:pPr marL="12700" marR="5080" algn="ctr">
              <a:lnSpc>
                <a:spcPts val="5780"/>
              </a:lnSpc>
              <a:spcBef>
                <a:spcPts val="765"/>
              </a:spcBef>
            </a:pPr>
            <a:r>
              <a:rPr sz="1600" dirty="0">
                <a:latin typeface="宋体"/>
                <a:cs typeface="宋体"/>
              </a:rPr>
              <a:t>状态变量 活动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90859" y="4051443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>
                <a:moveTo>
                  <a:pt x="0" y="0"/>
                </a:moveTo>
                <a:lnTo>
                  <a:pt x="224790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90859" y="4576986"/>
            <a:ext cx="2247900" cy="0"/>
          </a:xfrm>
          <a:custGeom>
            <a:avLst/>
            <a:gdLst/>
            <a:ahLst/>
            <a:cxnLst/>
            <a:rect l="l" t="t" r="r" b="b"/>
            <a:pathLst>
              <a:path w="2247900">
                <a:moveTo>
                  <a:pt x="0" y="0"/>
                </a:moveTo>
                <a:lnTo>
                  <a:pt x="224790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722120" y="5309615"/>
            <a:ext cx="685800" cy="469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837687" y="5374132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宋体"/>
                <a:cs typeface="宋体"/>
              </a:rPr>
              <a:t>初态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712464" y="5309615"/>
            <a:ext cx="1088136" cy="4693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825236" y="5374132"/>
            <a:ext cx="8382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宋体"/>
                <a:cs typeface="宋体"/>
              </a:rPr>
              <a:t>中间状态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217920" y="5309615"/>
            <a:ext cx="682751" cy="4693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331899" y="5374132"/>
            <a:ext cx="43180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宋体"/>
                <a:cs typeface="宋体"/>
              </a:rPr>
              <a:t>终态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682" y="275844"/>
            <a:ext cx="67024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1.3.</a:t>
            </a:r>
            <a:r>
              <a:rPr spc="-90" dirty="0">
                <a:latin typeface="Arial"/>
                <a:cs typeface="Arial"/>
              </a:rPr>
              <a:t> </a:t>
            </a:r>
            <a:r>
              <a:rPr dirty="0">
                <a:latin typeface="宋体"/>
                <a:cs typeface="宋体"/>
              </a:rPr>
              <a:t>状态转换图：状态转换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8309" y="1650492"/>
            <a:ext cx="8093075" cy="446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100"/>
              </a:spcBef>
            </a:pPr>
            <a:r>
              <a:rPr sz="3825" b="1" spc="127" baseline="1089" dirty="0">
                <a:latin typeface="宋体"/>
                <a:cs typeface="宋体"/>
              </a:rPr>
              <a:t>定义</a:t>
            </a:r>
            <a:r>
              <a:rPr sz="3825" b="1" spc="135" baseline="1089" dirty="0">
                <a:latin typeface="宋体"/>
                <a:cs typeface="宋体"/>
              </a:rPr>
              <a:t>：</a:t>
            </a:r>
            <a:r>
              <a:rPr sz="2600" dirty="0">
                <a:latin typeface="宋体"/>
                <a:cs typeface="宋体"/>
              </a:rPr>
              <a:t>由一个状态转换到另一个状态的关联就是状态</a:t>
            </a:r>
            <a:endParaRPr sz="2600">
              <a:latin typeface="宋体"/>
              <a:cs typeface="宋体"/>
            </a:endParaRPr>
          </a:p>
          <a:p>
            <a:pPr marL="12700" marR="148590">
              <a:lnSpc>
                <a:spcPct val="169200"/>
              </a:lnSpc>
              <a:spcBef>
                <a:spcPts val="25"/>
              </a:spcBef>
            </a:pPr>
            <a:r>
              <a:rPr sz="2600" dirty="0">
                <a:latin typeface="宋体"/>
                <a:cs typeface="宋体"/>
              </a:rPr>
              <a:t>转换，它表明状态变换是有序变换过程，用有向箭头表 示。</a:t>
            </a:r>
            <a:endParaRPr sz="2600">
              <a:latin typeface="宋体"/>
              <a:cs typeface="宋体"/>
            </a:endParaRPr>
          </a:p>
          <a:p>
            <a:pPr marL="12700" marR="5080" indent="460375">
              <a:lnSpc>
                <a:spcPct val="170000"/>
              </a:lnSpc>
            </a:pPr>
            <a:r>
              <a:rPr sz="3825" b="1" spc="127" baseline="1089" dirty="0">
                <a:latin typeface="宋体"/>
                <a:cs typeface="宋体"/>
              </a:rPr>
              <a:t>触</a:t>
            </a:r>
            <a:r>
              <a:rPr sz="3825" b="1" spc="135" baseline="1089" dirty="0">
                <a:latin typeface="宋体"/>
                <a:cs typeface="宋体"/>
              </a:rPr>
              <a:t>发</a:t>
            </a:r>
            <a:r>
              <a:rPr sz="2600" dirty="0">
                <a:latin typeface="宋体"/>
                <a:cs typeface="宋体"/>
              </a:rPr>
              <a:t>：状态变换是由事件或条件触发的，因而箭头上 应说明事件名称或触发条件。如果状态间转换没有事件 触发，则前一状态结束信息就是转换到下一状态的触发 条件。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2937" y="254507"/>
            <a:ext cx="55848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1.3.</a:t>
            </a:r>
            <a:r>
              <a:rPr spc="-90" dirty="0">
                <a:latin typeface="Arial"/>
                <a:cs typeface="Arial"/>
              </a:rPr>
              <a:t> </a:t>
            </a:r>
            <a:r>
              <a:rPr dirty="0">
                <a:latin typeface="宋体"/>
                <a:cs typeface="宋体"/>
              </a:rPr>
              <a:t>状态转换图：事件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2252" y="1274572"/>
            <a:ext cx="8597900" cy="479171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393700" algn="just">
              <a:lnSpc>
                <a:spcPct val="150400"/>
              </a:lnSpc>
              <a:spcBef>
                <a:spcPts val="60"/>
              </a:spcBef>
            </a:pP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事件</a:t>
            </a:r>
            <a:r>
              <a:rPr sz="2800" dirty="0">
                <a:latin typeface="宋体"/>
                <a:cs typeface="宋体"/>
              </a:rPr>
              <a:t>是指在某一时刻发生的事情，是触发状态转换的 条件或一系列动作。在中间状态的符号中，活动即是事 件。</a:t>
            </a:r>
            <a:endParaRPr sz="2800">
              <a:latin typeface="宋体"/>
              <a:cs typeface="宋体"/>
            </a:endParaRPr>
          </a:p>
          <a:p>
            <a:pPr marL="800100">
              <a:lnSpc>
                <a:spcPct val="100000"/>
              </a:lnSpc>
              <a:spcBef>
                <a:spcPts val="1655"/>
              </a:spcBef>
            </a:pPr>
            <a:r>
              <a:rPr sz="2800" dirty="0">
                <a:latin typeface="宋体"/>
                <a:cs typeface="宋体"/>
              </a:rPr>
              <a:t>事件名</a:t>
            </a:r>
            <a:r>
              <a:rPr sz="2800" spc="5" dirty="0">
                <a:latin typeface="Arial"/>
                <a:cs typeface="Arial"/>
              </a:rPr>
              <a:t>(</a:t>
            </a:r>
            <a:r>
              <a:rPr sz="2800" dirty="0">
                <a:latin typeface="宋体"/>
                <a:cs typeface="宋体"/>
              </a:rPr>
              <a:t>参数列表</a:t>
            </a:r>
            <a:r>
              <a:rPr sz="2800" spc="-5" dirty="0">
                <a:latin typeface="Arial"/>
                <a:cs typeface="Arial"/>
              </a:rPr>
              <a:t>[</a:t>
            </a:r>
            <a:r>
              <a:rPr sz="2800" dirty="0">
                <a:latin typeface="宋体"/>
                <a:cs typeface="宋体"/>
              </a:rPr>
              <a:t>条件表达式</a:t>
            </a:r>
            <a:r>
              <a:rPr sz="2800" spc="-5" dirty="0">
                <a:latin typeface="Arial"/>
                <a:cs typeface="Arial"/>
              </a:rPr>
              <a:t>])/</a:t>
            </a:r>
            <a:r>
              <a:rPr sz="2800" dirty="0">
                <a:latin typeface="宋体"/>
                <a:cs typeface="宋体"/>
              </a:rPr>
              <a:t>动作表达式</a:t>
            </a:r>
            <a:endParaRPr sz="2800">
              <a:latin typeface="宋体"/>
              <a:cs typeface="宋体"/>
            </a:endParaRPr>
          </a:p>
          <a:p>
            <a:pPr marL="671195">
              <a:lnSpc>
                <a:spcPct val="100000"/>
              </a:lnSpc>
              <a:spcBef>
                <a:spcPts val="2420"/>
              </a:spcBef>
            </a:pPr>
            <a:r>
              <a:rPr sz="2400" spc="-5" dirty="0">
                <a:latin typeface="Arial"/>
                <a:cs typeface="Arial"/>
              </a:rPr>
              <a:t>STD</a:t>
            </a:r>
            <a:r>
              <a:rPr sz="2400" dirty="0">
                <a:latin typeface="宋体"/>
                <a:cs typeface="宋体"/>
              </a:rPr>
              <a:t>图定义了</a:t>
            </a:r>
            <a:r>
              <a:rPr sz="2400" dirty="0">
                <a:latin typeface="Arial"/>
                <a:cs typeface="Arial"/>
              </a:rPr>
              <a:t>3</a:t>
            </a:r>
            <a:r>
              <a:rPr sz="2400" dirty="0">
                <a:latin typeface="宋体"/>
                <a:cs typeface="宋体"/>
              </a:rPr>
              <a:t>个标准事件，它们都没有参数：</a:t>
            </a:r>
            <a:endParaRPr sz="2400">
              <a:latin typeface="宋体"/>
              <a:cs typeface="宋体"/>
            </a:endParaRPr>
          </a:p>
          <a:p>
            <a:pPr marL="914400" indent="-243204">
              <a:lnSpc>
                <a:spcPct val="100000"/>
              </a:lnSpc>
              <a:spcBef>
                <a:spcPts val="1200"/>
              </a:spcBef>
              <a:buSzPct val="95833"/>
              <a:buFont typeface="Wingdings"/>
              <a:buChar char=""/>
              <a:tabLst>
                <a:tab pos="914400" algn="l"/>
              </a:tabLst>
            </a:pPr>
            <a:r>
              <a:rPr sz="2400" spc="-5" dirty="0">
                <a:latin typeface="Arial"/>
                <a:cs typeface="Arial"/>
              </a:rPr>
              <a:t>entry</a:t>
            </a:r>
            <a:r>
              <a:rPr sz="2400" dirty="0">
                <a:latin typeface="宋体"/>
                <a:cs typeface="宋体"/>
              </a:rPr>
              <a:t>事件：用于说明转换到该状态的特定动作；</a:t>
            </a:r>
            <a:endParaRPr sz="2400">
              <a:latin typeface="宋体"/>
              <a:cs typeface="宋体"/>
            </a:endParaRPr>
          </a:p>
          <a:p>
            <a:pPr marL="914400" indent="-243204">
              <a:lnSpc>
                <a:spcPct val="100000"/>
              </a:lnSpc>
              <a:spcBef>
                <a:spcPts val="1125"/>
              </a:spcBef>
              <a:buSzPct val="95833"/>
              <a:buFont typeface="Wingdings"/>
              <a:buChar char=""/>
              <a:tabLst>
                <a:tab pos="914400" algn="l"/>
              </a:tabLst>
            </a:pPr>
            <a:r>
              <a:rPr sz="2400" spc="-5" dirty="0">
                <a:latin typeface="Arial"/>
                <a:cs typeface="Arial"/>
              </a:rPr>
              <a:t>exit</a:t>
            </a:r>
            <a:r>
              <a:rPr sz="2400" dirty="0">
                <a:latin typeface="宋体"/>
                <a:cs typeface="宋体"/>
              </a:rPr>
              <a:t>事件：用于说明触发该状态的特定动作；</a:t>
            </a:r>
            <a:endParaRPr sz="2400">
              <a:latin typeface="宋体"/>
              <a:cs typeface="宋体"/>
            </a:endParaRPr>
          </a:p>
          <a:p>
            <a:pPr marL="914400" indent="-243204">
              <a:lnSpc>
                <a:spcPct val="100000"/>
              </a:lnSpc>
              <a:spcBef>
                <a:spcPts val="1130"/>
              </a:spcBef>
              <a:buSzPct val="95833"/>
              <a:buFont typeface="Wingdings"/>
              <a:buChar char=""/>
              <a:tabLst>
                <a:tab pos="914400" algn="l"/>
              </a:tabLst>
            </a:pPr>
            <a:r>
              <a:rPr sz="2400" dirty="0">
                <a:latin typeface="Arial"/>
                <a:cs typeface="Arial"/>
              </a:rPr>
              <a:t>do</a:t>
            </a:r>
            <a:r>
              <a:rPr sz="2400" dirty="0">
                <a:latin typeface="宋体"/>
                <a:cs typeface="宋体"/>
              </a:rPr>
              <a:t>事件：用于说明处于当前状态时执行的动作。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70760" y="45719"/>
            <a:ext cx="4642103" cy="12222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03500" y="224027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状态转换图示例</a:t>
            </a:r>
          </a:p>
        </p:txBody>
      </p:sp>
      <p:sp>
        <p:nvSpPr>
          <p:cNvPr id="4" name="object 4"/>
          <p:cNvSpPr/>
          <p:nvPr/>
        </p:nvSpPr>
        <p:spPr>
          <a:xfrm>
            <a:off x="508000" y="1527175"/>
            <a:ext cx="8294687" cy="4506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138683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745" y="1006348"/>
            <a:ext cx="4152900" cy="46272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745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latin typeface="宋体"/>
                <a:cs typeface="宋体"/>
              </a:rPr>
              <a:t>结构化需求分析与建模</a:t>
            </a:r>
            <a:endParaRPr sz="28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650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solidFill>
                  <a:srgbClr val="FF0000"/>
                </a:solidFill>
                <a:latin typeface="宋体"/>
                <a:cs typeface="宋体"/>
              </a:rPr>
              <a:t>过程建模</a:t>
            </a:r>
            <a:endParaRPr sz="28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Calibri"/>
              <a:buAutoNum type="arabicPeriod"/>
              <a:tabLst>
                <a:tab pos="852169" algn="l"/>
                <a:tab pos="852805" algn="l"/>
              </a:tabLst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过程建模</a:t>
            </a:r>
            <a:endParaRPr sz="24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SzPct val="58333"/>
              <a:buFont typeface="Calibri"/>
              <a:buAutoNum type="arabicPeriod"/>
              <a:tabLst>
                <a:tab pos="852169" algn="l"/>
                <a:tab pos="852805" algn="l"/>
              </a:tabLst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数据流图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DFD</a:t>
            </a:r>
            <a:endParaRPr sz="2400">
              <a:latin typeface="Calibri"/>
              <a:cs typeface="Calibri"/>
            </a:endParaRPr>
          </a:p>
          <a:p>
            <a:pPr marL="852805" lvl="1" indent="-4953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58333"/>
              <a:buFont typeface="Calibri"/>
              <a:buAutoNum type="arabicPeriod"/>
              <a:tabLst>
                <a:tab pos="852169" algn="l"/>
                <a:tab pos="852805" algn="l"/>
              </a:tabLst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微规格说明</a:t>
            </a:r>
            <a:endParaRPr sz="24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8333"/>
              <a:buFont typeface="Calibri"/>
              <a:buAutoNum type="arabicPeriod"/>
              <a:tabLst>
                <a:tab pos="852169" algn="l"/>
                <a:tab pos="852805" algn="l"/>
              </a:tabLst>
            </a:pPr>
            <a:r>
              <a:rPr sz="2400" dirty="0">
                <a:solidFill>
                  <a:srgbClr val="FF0000"/>
                </a:solidFill>
                <a:latin typeface="宋体"/>
                <a:cs typeface="宋体"/>
              </a:rPr>
              <a:t>数据字典</a:t>
            </a:r>
            <a:endParaRPr sz="24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30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latin typeface="宋体"/>
                <a:cs typeface="宋体"/>
              </a:rPr>
              <a:t>数据建模</a:t>
            </a:r>
            <a:endParaRPr sz="2800">
              <a:latin typeface="宋体"/>
              <a:cs typeface="宋体"/>
            </a:endParaRPr>
          </a:p>
          <a:p>
            <a:pPr marL="984250" lvl="1" indent="-571500">
              <a:lnSpc>
                <a:spcPct val="100000"/>
              </a:lnSpc>
              <a:spcBef>
                <a:spcPts val="540"/>
              </a:spcBef>
              <a:buClr>
                <a:srgbClr val="C00000"/>
              </a:buClr>
              <a:buSzPct val="58333"/>
              <a:buFont typeface="Calibri"/>
              <a:buAutoNum type="arabicPeriod"/>
              <a:tabLst>
                <a:tab pos="983615" algn="l"/>
                <a:tab pos="984250" algn="l"/>
              </a:tabLst>
            </a:pPr>
            <a:r>
              <a:rPr sz="2400" dirty="0">
                <a:latin typeface="宋体"/>
                <a:cs typeface="宋体"/>
              </a:rPr>
              <a:t>数据模型</a:t>
            </a:r>
            <a:endParaRPr sz="2400">
              <a:latin typeface="宋体"/>
              <a:cs typeface="宋体"/>
            </a:endParaRPr>
          </a:p>
          <a:p>
            <a:pPr marL="984250" lvl="1" indent="-5715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58333"/>
              <a:buFont typeface="Calibri"/>
              <a:buAutoNum type="arabicPeriod"/>
              <a:tabLst>
                <a:tab pos="983615" algn="l"/>
                <a:tab pos="984250" algn="l"/>
              </a:tabLst>
            </a:pPr>
            <a:r>
              <a:rPr sz="2400" dirty="0">
                <a:latin typeface="宋体"/>
                <a:cs typeface="宋体"/>
              </a:rPr>
              <a:t>实体关系模型</a:t>
            </a:r>
            <a:r>
              <a:rPr sz="2400" spc="-5" dirty="0">
                <a:latin typeface="Calibri"/>
                <a:cs typeface="Calibri"/>
              </a:rPr>
              <a:t>ERD</a:t>
            </a:r>
            <a:endParaRPr sz="2400">
              <a:latin typeface="Calibri"/>
              <a:cs typeface="Calibri"/>
            </a:endParaRPr>
          </a:p>
          <a:p>
            <a:pPr marL="852805" lvl="1" indent="-495300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8333"/>
              <a:buAutoNum type="arabicPeriod"/>
              <a:tabLst>
                <a:tab pos="852169" algn="l"/>
                <a:tab pos="852805" algn="l"/>
              </a:tabLst>
            </a:pPr>
            <a:r>
              <a:rPr sz="2400" spc="-5" dirty="0">
                <a:latin typeface="Calibri"/>
                <a:cs typeface="Calibri"/>
              </a:rPr>
              <a:t>ERD</a:t>
            </a:r>
            <a:r>
              <a:rPr sz="2400" dirty="0">
                <a:latin typeface="宋体"/>
                <a:cs typeface="宋体"/>
              </a:rPr>
              <a:t>建模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037" y="196595"/>
            <a:ext cx="32353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2.1.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过程建模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8569"/>
            <a:ext cx="7880350" cy="477710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44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结构化建模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6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过程建模，数据建模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3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过程建模是结构化建模的核心方法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7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系统是过程的集合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过程可以被分解为子过程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最终的子过程可以被映射为计算实体</a:t>
            </a:r>
            <a:r>
              <a:rPr sz="2800" dirty="0">
                <a:latin typeface="Times New Roman"/>
                <a:cs typeface="Times New Roman"/>
              </a:rPr>
              <a:t>——</a:t>
            </a:r>
            <a:r>
              <a:rPr sz="2800" dirty="0">
                <a:latin typeface="宋体"/>
                <a:cs typeface="宋体"/>
              </a:rPr>
              <a:t>函数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所有的系统都是由过程构建的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82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主要思想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用图形的方式建立和描述良好的过程模型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162" y="227076"/>
            <a:ext cx="7534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</a:t>
            </a:r>
            <a:r>
              <a:rPr spc="-75" dirty="0"/>
              <a:t> </a:t>
            </a:r>
            <a:r>
              <a:rPr dirty="0">
                <a:latin typeface="宋体"/>
                <a:cs typeface="宋体"/>
              </a:rPr>
              <a:t>数据流图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基本图形元素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8561" y="2052828"/>
            <a:ext cx="4606925" cy="6197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75"/>
              </a:spcBef>
            </a:pPr>
            <a:r>
              <a:rPr sz="2000" dirty="0">
                <a:latin typeface="宋体"/>
                <a:cs typeface="宋体"/>
              </a:rPr>
              <a:t>数据加工</a:t>
            </a:r>
            <a:r>
              <a:rPr sz="2925" b="1" spc="112" baseline="1424" dirty="0">
                <a:solidFill>
                  <a:srgbClr val="009257"/>
                </a:solidFill>
                <a:latin typeface="宋体"/>
                <a:cs typeface="宋体"/>
              </a:rPr>
              <a:t>过程</a:t>
            </a:r>
            <a:r>
              <a:rPr sz="2000" dirty="0">
                <a:latin typeface="宋体"/>
                <a:cs typeface="宋体"/>
              </a:rPr>
              <a:t>，实现数据变换。其中要注 明加工的名字。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8561" y="3272028"/>
            <a:ext cx="4616450" cy="6197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75"/>
              </a:spcBef>
            </a:pPr>
            <a:r>
              <a:rPr sz="2925" b="1" spc="112" baseline="1424" dirty="0">
                <a:solidFill>
                  <a:srgbClr val="009257"/>
                </a:solidFill>
                <a:latin typeface="宋体"/>
                <a:cs typeface="宋体"/>
              </a:rPr>
              <a:t>外部实体</a:t>
            </a:r>
            <a:r>
              <a:rPr sz="2000" dirty="0">
                <a:latin typeface="宋体"/>
                <a:cs typeface="宋体"/>
              </a:rPr>
              <a:t>，即数据源或外部系统。其中要 注明数据源或外部系统的名字。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8561" y="4475988"/>
            <a:ext cx="48704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25" b="1" spc="112" baseline="1424" dirty="0">
                <a:solidFill>
                  <a:srgbClr val="009257"/>
                </a:solidFill>
                <a:latin typeface="宋体"/>
                <a:cs typeface="宋体"/>
              </a:rPr>
              <a:t>数据存储</a:t>
            </a:r>
            <a:r>
              <a:rPr sz="2000" dirty="0">
                <a:latin typeface="宋体"/>
                <a:cs typeface="宋体"/>
              </a:rPr>
              <a:t>。其中注明数据存储名字或编号。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8561" y="5405628"/>
            <a:ext cx="4612005" cy="6197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280"/>
              </a:lnSpc>
              <a:spcBef>
                <a:spcPts val="275"/>
              </a:spcBef>
            </a:pPr>
            <a:r>
              <a:rPr sz="2925" b="1" spc="112" baseline="1424" dirty="0">
                <a:solidFill>
                  <a:srgbClr val="009257"/>
                </a:solidFill>
                <a:latin typeface="宋体"/>
                <a:cs typeface="宋体"/>
              </a:rPr>
              <a:t>数据流</a:t>
            </a:r>
            <a:r>
              <a:rPr sz="2000" dirty="0">
                <a:latin typeface="宋体"/>
                <a:cs typeface="宋体"/>
              </a:rPr>
              <a:t>，描述变换的加工数据及数据流方 向。箭头上部要注明数据流的名字。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8673" y="2059159"/>
            <a:ext cx="724535" cy="715645"/>
          </a:xfrm>
          <a:custGeom>
            <a:avLst/>
            <a:gdLst/>
            <a:ahLst/>
            <a:cxnLst/>
            <a:rect l="l" t="t" r="r" b="b"/>
            <a:pathLst>
              <a:path w="724535" h="715644">
                <a:moveTo>
                  <a:pt x="0" y="357768"/>
                </a:moveTo>
                <a:lnTo>
                  <a:pt x="3304" y="309221"/>
                </a:lnTo>
                <a:lnTo>
                  <a:pt x="12929" y="262659"/>
                </a:lnTo>
                <a:lnTo>
                  <a:pt x="28444" y="218509"/>
                </a:lnTo>
                <a:lnTo>
                  <a:pt x="49418" y="177196"/>
                </a:lnTo>
                <a:lnTo>
                  <a:pt x="75419" y="139147"/>
                </a:lnTo>
                <a:lnTo>
                  <a:pt x="106016" y="104788"/>
                </a:lnTo>
                <a:lnTo>
                  <a:pt x="140778" y="74545"/>
                </a:lnTo>
                <a:lnTo>
                  <a:pt x="179274" y="48846"/>
                </a:lnTo>
                <a:lnTo>
                  <a:pt x="221072" y="28115"/>
                </a:lnTo>
                <a:lnTo>
                  <a:pt x="265740" y="12779"/>
                </a:lnTo>
                <a:lnTo>
                  <a:pt x="312849" y="3266"/>
                </a:lnTo>
                <a:lnTo>
                  <a:pt x="361966" y="0"/>
                </a:lnTo>
                <a:lnTo>
                  <a:pt x="411083" y="3266"/>
                </a:lnTo>
                <a:lnTo>
                  <a:pt x="458191" y="12779"/>
                </a:lnTo>
                <a:lnTo>
                  <a:pt x="502859" y="28115"/>
                </a:lnTo>
                <a:lnTo>
                  <a:pt x="544655" y="48846"/>
                </a:lnTo>
                <a:lnTo>
                  <a:pt x="583149" y="74545"/>
                </a:lnTo>
                <a:lnTo>
                  <a:pt x="617910" y="104788"/>
                </a:lnTo>
                <a:lnTo>
                  <a:pt x="648505" y="139147"/>
                </a:lnTo>
                <a:lnTo>
                  <a:pt x="674505" y="177196"/>
                </a:lnTo>
                <a:lnTo>
                  <a:pt x="695477" y="218509"/>
                </a:lnTo>
                <a:lnTo>
                  <a:pt x="710991" y="262659"/>
                </a:lnTo>
                <a:lnTo>
                  <a:pt x="720616" y="309221"/>
                </a:lnTo>
                <a:lnTo>
                  <a:pt x="723920" y="357768"/>
                </a:lnTo>
                <a:lnTo>
                  <a:pt x="720616" y="406313"/>
                </a:lnTo>
                <a:lnTo>
                  <a:pt x="710991" y="452873"/>
                </a:lnTo>
                <a:lnTo>
                  <a:pt x="695477" y="497022"/>
                </a:lnTo>
                <a:lnTo>
                  <a:pt x="674505" y="538334"/>
                </a:lnTo>
                <a:lnTo>
                  <a:pt x="648505" y="576382"/>
                </a:lnTo>
                <a:lnTo>
                  <a:pt x="617910" y="610740"/>
                </a:lnTo>
                <a:lnTo>
                  <a:pt x="583149" y="640982"/>
                </a:lnTo>
                <a:lnTo>
                  <a:pt x="544655" y="666681"/>
                </a:lnTo>
                <a:lnTo>
                  <a:pt x="502859" y="687411"/>
                </a:lnTo>
                <a:lnTo>
                  <a:pt x="458191" y="702747"/>
                </a:lnTo>
                <a:lnTo>
                  <a:pt x="411083" y="712260"/>
                </a:lnTo>
                <a:lnTo>
                  <a:pt x="361966" y="715526"/>
                </a:lnTo>
                <a:lnTo>
                  <a:pt x="312849" y="712260"/>
                </a:lnTo>
                <a:lnTo>
                  <a:pt x="265740" y="702747"/>
                </a:lnTo>
                <a:lnTo>
                  <a:pt x="221072" y="687411"/>
                </a:lnTo>
                <a:lnTo>
                  <a:pt x="179274" y="666681"/>
                </a:lnTo>
                <a:lnTo>
                  <a:pt x="140778" y="640982"/>
                </a:lnTo>
                <a:lnTo>
                  <a:pt x="106016" y="610740"/>
                </a:lnTo>
                <a:lnTo>
                  <a:pt x="75419" y="576382"/>
                </a:lnTo>
                <a:lnTo>
                  <a:pt x="49418" y="538334"/>
                </a:lnTo>
                <a:lnTo>
                  <a:pt x="28444" y="497022"/>
                </a:lnTo>
                <a:lnTo>
                  <a:pt x="12929" y="452873"/>
                </a:lnTo>
                <a:lnTo>
                  <a:pt x="3304" y="406313"/>
                </a:lnTo>
                <a:lnTo>
                  <a:pt x="0" y="357768"/>
                </a:lnTo>
                <a:close/>
              </a:path>
            </a:pathLst>
          </a:custGeom>
          <a:ln w="198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3697" y="2292769"/>
            <a:ext cx="4616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dirty="0">
                <a:latin typeface="Times New Roman"/>
                <a:cs typeface="Times New Roman"/>
              </a:rPr>
              <a:t>Lable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58420" y="2059159"/>
            <a:ext cx="923290" cy="684530"/>
          </a:xfrm>
          <a:custGeom>
            <a:avLst/>
            <a:gdLst/>
            <a:ahLst/>
            <a:cxnLst/>
            <a:rect l="l" t="t" r="r" b="b"/>
            <a:pathLst>
              <a:path w="923289" h="684530">
                <a:moveTo>
                  <a:pt x="832562" y="684223"/>
                </a:moveTo>
                <a:lnTo>
                  <a:pt x="867761" y="677194"/>
                </a:lnTo>
                <a:lnTo>
                  <a:pt x="896520" y="658026"/>
                </a:lnTo>
                <a:lnTo>
                  <a:pt x="915918" y="629596"/>
                </a:lnTo>
                <a:lnTo>
                  <a:pt x="923033" y="594784"/>
                </a:lnTo>
                <a:lnTo>
                  <a:pt x="923033" y="89419"/>
                </a:lnTo>
                <a:lnTo>
                  <a:pt x="915918" y="54629"/>
                </a:lnTo>
                <a:lnTo>
                  <a:pt x="896520" y="26204"/>
                </a:lnTo>
                <a:lnTo>
                  <a:pt x="867761" y="7032"/>
                </a:lnTo>
                <a:lnTo>
                  <a:pt x="832562" y="0"/>
                </a:lnTo>
                <a:lnTo>
                  <a:pt x="90534" y="0"/>
                </a:lnTo>
                <a:lnTo>
                  <a:pt x="55298" y="7032"/>
                </a:lnTo>
                <a:lnTo>
                  <a:pt x="26520" y="26204"/>
                </a:lnTo>
                <a:lnTo>
                  <a:pt x="7115" y="54629"/>
                </a:lnTo>
                <a:lnTo>
                  <a:pt x="0" y="89419"/>
                </a:lnTo>
                <a:lnTo>
                  <a:pt x="0" y="594784"/>
                </a:lnTo>
                <a:lnTo>
                  <a:pt x="7115" y="629596"/>
                </a:lnTo>
                <a:lnTo>
                  <a:pt x="26520" y="658026"/>
                </a:lnTo>
                <a:lnTo>
                  <a:pt x="55298" y="677194"/>
                </a:lnTo>
                <a:lnTo>
                  <a:pt x="90534" y="684223"/>
                </a:lnTo>
                <a:lnTo>
                  <a:pt x="832562" y="684223"/>
                </a:lnTo>
                <a:close/>
              </a:path>
            </a:pathLst>
          </a:custGeom>
          <a:ln w="197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58420" y="2309598"/>
            <a:ext cx="923290" cy="36195"/>
          </a:xfrm>
          <a:custGeom>
            <a:avLst/>
            <a:gdLst/>
            <a:ahLst/>
            <a:cxnLst/>
            <a:rect l="l" t="t" r="r" b="b"/>
            <a:pathLst>
              <a:path w="923289" h="36194">
                <a:moveTo>
                  <a:pt x="0" y="0"/>
                </a:moveTo>
                <a:lnTo>
                  <a:pt x="923033" y="0"/>
                </a:lnTo>
                <a:lnTo>
                  <a:pt x="923033" y="35774"/>
                </a:lnTo>
              </a:path>
            </a:pathLst>
          </a:custGeom>
          <a:ln w="196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73972" y="2364324"/>
            <a:ext cx="46164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dirty="0">
                <a:latin typeface="Times New Roman"/>
                <a:cs typeface="Times New Roman"/>
              </a:rPr>
              <a:t>Lable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03390" y="2042337"/>
            <a:ext cx="227965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dirty="0">
                <a:latin typeface="Times New Roman"/>
                <a:cs typeface="Times New Roman"/>
              </a:rPr>
              <a:t>ID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9330" y="1773340"/>
            <a:ext cx="906780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imes New Roman"/>
                <a:cs typeface="Times New Roman"/>
              </a:rPr>
              <a:t>DeMarco-Yourdon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7580" y="1752263"/>
            <a:ext cx="619125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imes New Roman"/>
                <a:cs typeface="Times New Roman"/>
              </a:rPr>
              <a:t>Gane</a:t>
            </a:r>
            <a:r>
              <a:rPr sz="900" spc="-5" dirty="0">
                <a:latin typeface="Times New Roman"/>
                <a:cs typeface="Times New Roman"/>
              </a:rPr>
              <a:t>-</a:t>
            </a:r>
            <a:r>
              <a:rPr sz="900" dirty="0">
                <a:latin typeface="Times New Roman"/>
                <a:cs typeface="Times New Roman"/>
              </a:rPr>
              <a:t>Sarson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2607" y="3413046"/>
            <a:ext cx="800100" cy="594360"/>
          </a:xfrm>
          <a:prstGeom prst="rect">
            <a:avLst/>
          </a:prstGeom>
          <a:ln w="21870">
            <a:solidFill>
              <a:srgbClr val="000000"/>
            </a:solidFill>
          </a:ln>
        </p:spPr>
        <p:txBody>
          <a:bodyPr vert="horz" wrap="square" lIns="0" tIns="163830" rIns="0" bIns="0" rtlCol="0">
            <a:spAutoFit/>
          </a:bodyPr>
          <a:lstStyle/>
          <a:p>
            <a:pPr marL="161925">
              <a:lnSpc>
                <a:spcPct val="100000"/>
              </a:lnSpc>
              <a:spcBef>
                <a:spcPts val="1290"/>
              </a:spcBef>
            </a:pPr>
            <a:r>
              <a:rPr sz="1650" spc="5" dirty="0">
                <a:latin typeface="Times New Roman"/>
                <a:cs typeface="Times New Roman"/>
              </a:rPr>
              <a:t>Lable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42234" y="3403146"/>
            <a:ext cx="800100" cy="594360"/>
          </a:xfrm>
          <a:prstGeom prst="rect">
            <a:avLst/>
          </a:prstGeom>
          <a:ln w="21870">
            <a:solidFill>
              <a:srgbClr val="000000"/>
            </a:solidFill>
          </a:ln>
        </p:spPr>
        <p:txBody>
          <a:bodyPr vert="horz" wrap="square" lIns="0" tIns="166370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310"/>
              </a:spcBef>
            </a:pPr>
            <a:r>
              <a:rPr sz="1650" spc="5" dirty="0">
                <a:latin typeface="Times New Roman"/>
                <a:cs typeface="Times New Roman"/>
              </a:rPr>
              <a:t>Lable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6276" y="2989151"/>
            <a:ext cx="99885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25" dirty="0">
                <a:latin typeface="Times New Roman"/>
                <a:cs typeface="Times New Roman"/>
              </a:rPr>
              <a:t>DeMarco-Yourdon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94730" y="2949549"/>
            <a:ext cx="68135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20" dirty="0">
                <a:latin typeface="Times New Roman"/>
                <a:cs typeface="Times New Roman"/>
              </a:rPr>
              <a:t>Gane-Sarson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33578" y="3390288"/>
            <a:ext cx="740410" cy="549910"/>
          </a:xfrm>
          <a:custGeom>
            <a:avLst/>
            <a:gdLst/>
            <a:ahLst/>
            <a:cxnLst/>
            <a:rect l="l" t="t" r="r" b="b"/>
            <a:pathLst>
              <a:path w="740410" h="549910">
                <a:moveTo>
                  <a:pt x="0" y="549409"/>
                </a:moveTo>
                <a:lnTo>
                  <a:pt x="739877" y="549409"/>
                </a:lnTo>
                <a:lnTo>
                  <a:pt x="739877" y="0"/>
                </a:lnTo>
                <a:lnTo>
                  <a:pt x="0" y="0"/>
                </a:lnTo>
                <a:lnTo>
                  <a:pt x="0" y="549409"/>
                </a:lnTo>
                <a:close/>
              </a:path>
            </a:pathLst>
          </a:custGeom>
          <a:ln w="218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3559" y="3444739"/>
            <a:ext cx="700405" cy="520065"/>
          </a:xfrm>
          <a:custGeom>
            <a:avLst/>
            <a:gdLst/>
            <a:ahLst/>
            <a:cxnLst/>
            <a:rect l="l" t="t" r="r" b="b"/>
            <a:pathLst>
              <a:path w="700405" h="520064">
                <a:moveTo>
                  <a:pt x="0" y="519711"/>
                </a:moveTo>
                <a:lnTo>
                  <a:pt x="699899" y="519711"/>
                </a:lnTo>
                <a:lnTo>
                  <a:pt x="699899" y="0"/>
                </a:lnTo>
                <a:lnTo>
                  <a:pt x="0" y="0"/>
                </a:lnTo>
                <a:lnTo>
                  <a:pt x="0" y="5197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03559" y="3417514"/>
            <a:ext cx="685165" cy="534670"/>
          </a:xfrm>
          <a:prstGeom prst="rect">
            <a:avLst/>
          </a:prstGeom>
          <a:ln w="21870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550">
              <a:latin typeface="Times New Roman"/>
              <a:cs typeface="Times New Roman"/>
            </a:endParaRPr>
          </a:p>
          <a:p>
            <a:pPr marL="130810">
              <a:lnSpc>
                <a:spcPct val="100000"/>
              </a:lnSpc>
              <a:spcBef>
                <a:spcPts val="5"/>
              </a:spcBef>
            </a:pPr>
            <a:r>
              <a:rPr sz="1650" spc="5" dirty="0">
                <a:latin typeface="Times New Roman"/>
                <a:cs typeface="Times New Roman"/>
              </a:rPr>
              <a:t>Lable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7719" y="5429077"/>
            <a:ext cx="113347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15" dirty="0">
                <a:latin typeface="Times New Roman"/>
                <a:cs typeface="Times New Roman"/>
              </a:rPr>
              <a:t>DeMarco-Yourdon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80120" y="5420987"/>
            <a:ext cx="772160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20" dirty="0">
                <a:latin typeface="Times New Roman"/>
                <a:cs typeface="Times New Roman"/>
              </a:rPr>
              <a:t>Gane</a:t>
            </a:r>
            <a:r>
              <a:rPr sz="1100" spc="5" dirty="0">
                <a:latin typeface="Times New Roman"/>
                <a:cs typeface="Times New Roman"/>
              </a:rPr>
              <a:t>-</a:t>
            </a:r>
            <a:r>
              <a:rPr sz="1100" spc="15" dirty="0">
                <a:latin typeface="Times New Roman"/>
                <a:cs typeface="Times New Roman"/>
              </a:rPr>
              <a:t>Sarson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211461" y="5889570"/>
            <a:ext cx="205104" cy="0"/>
          </a:xfrm>
          <a:custGeom>
            <a:avLst/>
            <a:gdLst/>
            <a:ahLst/>
            <a:cxnLst/>
            <a:rect l="l" t="t" r="r" b="b"/>
            <a:pathLst>
              <a:path w="205105">
                <a:moveTo>
                  <a:pt x="0" y="0"/>
                </a:moveTo>
                <a:lnTo>
                  <a:pt x="204803" y="0"/>
                </a:lnTo>
              </a:path>
            </a:pathLst>
          </a:custGeom>
          <a:ln w="250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48105" y="5889570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324588" y="0"/>
                </a:lnTo>
              </a:path>
            </a:pathLst>
          </a:custGeom>
          <a:ln w="250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04940" y="5844307"/>
            <a:ext cx="135890" cy="90805"/>
          </a:xfrm>
          <a:custGeom>
            <a:avLst/>
            <a:gdLst/>
            <a:ahLst/>
            <a:cxnLst/>
            <a:rect l="l" t="t" r="r" b="b"/>
            <a:pathLst>
              <a:path w="135890" h="90804">
                <a:moveTo>
                  <a:pt x="0" y="0"/>
                </a:moveTo>
                <a:lnTo>
                  <a:pt x="0" y="90526"/>
                </a:lnTo>
                <a:lnTo>
                  <a:pt x="135887" y="452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62402" y="5742045"/>
            <a:ext cx="464184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5" dirty="0">
                <a:latin typeface="Times New Roman"/>
                <a:cs typeface="Times New Roman"/>
              </a:rPr>
              <a:t>Lable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05864" y="5889570"/>
            <a:ext cx="205104" cy="0"/>
          </a:xfrm>
          <a:custGeom>
            <a:avLst/>
            <a:gdLst/>
            <a:ahLst/>
            <a:cxnLst/>
            <a:rect l="l" t="t" r="r" b="b"/>
            <a:pathLst>
              <a:path w="205104">
                <a:moveTo>
                  <a:pt x="0" y="0"/>
                </a:moveTo>
                <a:lnTo>
                  <a:pt x="204850" y="0"/>
                </a:lnTo>
              </a:path>
            </a:pathLst>
          </a:custGeom>
          <a:ln w="250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542557" y="5889570"/>
            <a:ext cx="325120" cy="0"/>
          </a:xfrm>
          <a:custGeom>
            <a:avLst/>
            <a:gdLst/>
            <a:ahLst/>
            <a:cxnLst/>
            <a:rect l="l" t="t" r="r" b="b"/>
            <a:pathLst>
              <a:path w="325119">
                <a:moveTo>
                  <a:pt x="0" y="0"/>
                </a:moveTo>
                <a:lnTo>
                  <a:pt x="324540" y="0"/>
                </a:lnTo>
              </a:path>
            </a:pathLst>
          </a:custGeom>
          <a:ln w="250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499392" y="5844307"/>
            <a:ext cx="135890" cy="90805"/>
          </a:xfrm>
          <a:custGeom>
            <a:avLst/>
            <a:gdLst/>
            <a:ahLst/>
            <a:cxnLst/>
            <a:rect l="l" t="t" r="r" b="b"/>
            <a:pathLst>
              <a:path w="135889" h="90804">
                <a:moveTo>
                  <a:pt x="0" y="0"/>
                </a:moveTo>
                <a:lnTo>
                  <a:pt x="0" y="90526"/>
                </a:lnTo>
                <a:lnTo>
                  <a:pt x="135887" y="452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56806" y="5742045"/>
            <a:ext cx="464184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5" dirty="0">
                <a:latin typeface="Times New Roman"/>
                <a:cs typeface="Times New Roman"/>
              </a:rPr>
              <a:t>Lable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2939" y="4262829"/>
            <a:ext cx="1079500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spc="15" dirty="0">
                <a:latin typeface="Times New Roman"/>
                <a:cs typeface="Times New Roman"/>
              </a:rPr>
              <a:t>DeMarco-Yourdon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76339" y="4243183"/>
            <a:ext cx="735965" cy="1892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50" spc="10" dirty="0">
                <a:latin typeface="Times New Roman"/>
                <a:cs typeface="Times New Roman"/>
              </a:rPr>
              <a:t>Gane-Sarson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2951" y="4668888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4">
                <a:moveTo>
                  <a:pt x="0" y="0"/>
                </a:moveTo>
                <a:lnTo>
                  <a:pt x="1039489" y="0"/>
                </a:lnTo>
              </a:path>
            </a:pathLst>
          </a:custGeom>
          <a:ln w="23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52951" y="5011854"/>
            <a:ext cx="1039494" cy="0"/>
          </a:xfrm>
          <a:custGeom>
            <a:avLst/>
            <a:gdLst/>
            <a:ahLst/>
            <a:cxnLst/>
            <a:rect l="l" t="t" r="r" b="b"/>
            <a:pathLst>
              <a:path w="1039494">
                <a:moveTo>
                  <a:pt x="0" y="0"/>
                </a:moveTo>
                <a:lnTo>
                  <a:pt x="1039489" y="0"/>
                </a:lnTo>
              </a:path>
            </a:pathLst>
          </a:custGeom>
          <a:ln w="23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88574" y="4668888"/>
            <a:ext cx="1083310" cy="0"/>
          </a:xfrm>
          <a:custGeom>
            <a:avLst/>
            <a:gdLst/>
            <a:ahLst/>
            <a:cxnLst/>
            <a:rect l="l" t="t" r="r" b="b"/>
            <a:pathLst>
              <a:path w="1083310">
                <a:moveTo>
                  <a:pt x="0" y="0"/>
                </a:moveTo>
                <a:lnTo>
                  <a:pt x="1082768" y="0"/>
                </a:lnTo>
              </a:path>
            </a:pathLst>
          </a:custGeom>
          <a:ln w="23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488574" y="5011854"/>
            <a:ext cx="1083310" cy="0"/>
          </a:xfrm>
          <a:custGeom>
            <a:avLst/>
            <a:gdLst/>
            <a:ahLst/>
            <a:cxnLst/>
            <a:rect l="l" t="t" r="r" b="b"/>
            <a:pathLst>
              <a:path w="1083310">
                <a:moveTo>
                  <a:pt x="0" y="0"/>
                </a:moveTo>
                <a:lnTo>
                  <a:pt x="1082768" y="0"/>
                </a:lnTo>
              </a:path>
            </a:pathLst>
          </a:custGeom>
          <a:ln w="235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06592" y="4686487"/>
            <a:ext cx="54737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20" dirty="0">
                <a:latin typeface="Times New Roman"/>
                <a:cs typeface="Times New Roman"/>
              </a:rPr>
              <a:t>Lable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2947623" y="4686487"/>
            <a:ext cx="547370" cy="297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50" spc="20" dirty="0">
                <a:latin typeface="Times New Roman"/>
                <a:cs typeface="Times New Roman"/>
              </a:rPr>
              <a:t>Lable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88574" y="4668888"/>
            <a:ext cx="299720" cy="343535"/>
          </a:xfrm>
          <a:prstGeom prst="rect">
            <a:avLst/>
          </a:prstGeom>
          <a:ln w="23835">
            <a:solidFill>
              <a:srgbClr val="000000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334"/>
              </a:spcBef>
            </a:pPr>
            <a:r>
              <a:rPr sz="1750" spc="25" dirty="0">
                <a:latin typeface="Times New Roman"/>
                <a:cs typeface="Times New Roman"/>
              </a:rPr>
              <a:t>ID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78958" y="1268955"/>
            <a:ext cx="2125980" cy="2946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750" b="1" spc="75" dirty="0">
                <a:latin typeface="宋体"/>
                <a:cs typeface="宋体"/>
              </a:rPr>
              <a:t>两种图形化表示方法</a:t>
            </a:r>
            <a:endParaRPr sz="17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9931" y="175259"/>
            <a:ext cx="5164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2.2.1.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的基本元素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6558"/>
            <a:ext cx="8026400" cy="306387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19"/>
              </a:spcBef>
              <a:buClr>
                <a:srgbClr val="00663C"/>
              </a:buClr>
              <a:buSzPct val="8372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25" b="1" spc="112" baseline="1291" dirty="0">
                <a:latin typeface="宋体"/>
                <a:cs typeface="宋体"/>
              </a:rPr>
              <a:t>数据加工过程</a:t>
            </a:r>
            <a:endParaRPr sz="3225" baseline="1291">
              <a:latin typeface="宋体"/>
              <a:cs typeface="宋体"/>
            </a:endParaRPr>
          </a:p>
          <a:p>
            <a:pPr marL="755650" marR="151130" lvl="1" indent="-285750">
              <a:lnSpc>
                <a:spcPts val="2210"/>
              </a:lnSpc>
              <a:spcBef>
                <a:spcPts val="90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过程是指施加于数据的</a:t>
            </a:r>
            <a:r>
              <a:rPr sz="2000" dirty="0">
                <a:solidFill>
                  <a:srgbClr val="009257"/>
                </a:solidFill>
                <a:latin typeface="宋体"/>
                <a:cs typeface="宋体"/>
              </a:rPr>
              <a:t>动作</a:t>
            </a:r>
            <a:r>
              <a:rPr sz="2000" dirty="0">
                <a:latin typeface="宋体"/>
                <a:cs typeface="宋体"/>
              </a:rPr>
              <a:t>或者</a:t>
            </a:r>
            <a:r>
              <a:rPr sz="2000" dirty="0">
                <a:solidFill>
                  <a:srgbClr val="009257"/>
                </a:solidFill>
                <a:latin typeface="宋体"/>
                <a:cs typeface="宋体"/>
              </a:rPr>
              <a:t>行为</a:t>
            </a:r>
            <a:r>
              <a:rPr sz="2000" dirty="0">
                <a:latin typeface="宋体"/>
                <a:cs typeface="宋体"/>
              </a:rPr>
              <a:t>，它们使得数据发生变化， 包括被转换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spc="-5" dirty="0">
                <a:latin typeface="Calibri"/>
                <a:cs typeface="Calibri"/>
              </a:rPr>
              <a:t>transformed</a:t>
            </a:r>
            <a:r>
              <a:rPr sz="2000" spc="-5" dirty="0">
                <a:latin typeface="宋体"/>
                <a:cs typeface="宋体"/>
              </a:rPr>
              <a:t>）</a:t>
            </a:r>
            <a:r>
              <a:rPr sz="2000" dirty="0">
                <a:latin typeface="宋体"/>
                <a:cs typeface="宋体"/>
              </a:rPr>
              <a:t>、被存储（</a:t>
            </a:r>
            <a:r>
              <a:rPr sz="2000" dirty="0">
                <a:latin typeface="Calibri"/>
                <a:cs typeface="Calibri"/>
              </a:rPr>
              <a:t>stored</a:t>
            </a:r>
            <a:r>
              <a:rPr sz="2000" dirty="0">
                <a:latin typeface="宋体"/>
                <a:cs typeface="宋体"/>
              </a:rPr>
              <a:t>）或者被分布</a:t>
            </a:r>
            <a:endParaRPr sz="2000">
              <a:latin typeface="宋体"/>
              <a:cs typeface="宋体"/>
            </a:endParaRPr>
          </a:p>
          <a:p>
            <a:pPr marL="755650">
              <a:lnSpc>
                <a:spcPts val="2355"/>
              </a:lnSpc>
            </a:pPr>
            <a:r>
              <a:rPr sz="2000" spc="-5" dirty="0">
                <a:latin typeface="宋体"/>
                <a:cs typeface="宋体"/>
              </a:rPr>
              <a:t>（</a:t>
            </a:r>
            <a:r>
              <a:rPr sz="2000" spc="-5" dirty="0">
                <a:latin typeface="Calibri"/>
                <a:cs typeface="Calibri"/>
              </a:rPr>
              <a:t>distributed</a:t>
            </a:r>
            <a:r>
              <a:rPr sz="2000" spc="-5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755650" marR="151765" lvl="1" indent="-285750">
              <a:lnSpc>
                <a:spcPts val="2210"/>
              </a:lnSpc>
              <a:spcBef>
                <a:spcPts val="93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可能是由软件系统控制的，也可能是由人工执行的，它重在数据 发生变化的效果而不是其执行者</a:t>
            </a:r>
            <a:endParaRPr sz="20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可能会表现为</a:t>
            </a:r>
            <a:r>
              <a:rPr sz="2000" dirty="0">
                <a:solidFill>
                  <a:srgbClr val="009257"/>
                </a:solidFill>
                <a:latin typeface="宋体"/>
                <a:cs typeface="宋体"/>
              </a:rPr>
              <a:t>不同的抽象层次</a:t>
            </a:r>
            <a:endParaRPr sz="2000">
              <a:latin typeface="宋体"/>
              <a:cs typeface="宋体"/>
            </a:endParaRPr>
          </a:p>
          <a:p>
            <a:pPr marL="1155065" marR="5080" lvl="2" indent="-228600">
              <a:lnSpc>
                <a:spcPts val="1989"/>
              </a:lnSpc>
              <a:spcBef>
                <a:spcPts val="81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内容足够细节和具体，能够对其直接进行“编码”处理的过程被称为 原始过程</a:t>
            </a:r>
            <a:r>
              <a:rPr sz="1800" spc="-5" dirty="0">
                <a:latin typeface="宋体"/>
                <a:cs typeface="宋体"/>
              </a:rPr>
              <a:t>（</a:t>
            </a:r>
            <a:r>
              <a:rPr sz="1800" spc="-5" dirty="0">
                <a:latin typeface="Calibri"/>
                <a:cs typeface="Calibri"/>
              </a:rPr>
              <a:t>Primitive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Process</a:t>
            </a:r>
            <a:r>
              <a:rPr sz="1800" spc="-5" dirty="0">
                <a:latin typeface="宋体"/>
                <a:cs typeface="宋体"/>
              </a:rPr>
              <a:t>，</a:t>
            </a:r>
            <a:r>
              <a:rPr sz="1800" dirty="0">
                <a:latin typeface="宋体"/>
                <a:cs typeface="宋体"/>
              </a:rPr>
              <a:t>又称为基本过程</a:t>
            </a:r>
            <a:r>
              <a:rPr sz="1800" spc="-5" dirty="0">
                <a:latin typeface="Calibri"/>
                <a:cs typeface="Calibri"/>
              </a:rPr>
              <a:t>Elementary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Process</a:t>
            </a:r>
            <a:r>
              <a:rPr sz="1800" spc="-5" dirty="0"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5024" y="4987321"/>
            <a:ext cx="1227455" cy="1213485"/>
          </a:xfrm>
          <a:custGeom>
            <a:avLst/>
            <a:gdLst/>
            <a:ahLst/>
            <a:cxnLst/>
            <a:rect l="l" t="t" r="r" b="b"/>
            <a:pathLst>
              <a:path w="1227454" h="1213485">
                <a:moveTo>
                  <a:pt x="0" y="606580"/>
                </a:moveTo>
                <a:lnTo>
                  <a:pt x="1846" y="559177"/>
                </a:lnTo>
                <a:lnTo>
                  <a:pt x="7294" y="512771"/>
                </a:lnTo>
                <a:lnTo>
                  <a:pt x="16208" y="467498"/>
                </a:lnTo>
                <a:lnTo>
                  <a:pt x="28450" y="423492"/>
                </a:lnTo>
                <a:lnTo>
                  <a:pt x="43885" y="380889"/>
                </a:lnTo>
                <a:lnTo>
                  <a:pt x="62376" y="339823"/>
                </a:lnTo>
                <a:lnTo>
                  <a:pt x="83787" y="300429"/>
                </a:lnTo>
                <a:lnTo>
                  <a:pt x="107981" y="262841"/>
                </a:lnTo>
                <a:lnTo>
                  <a:pt x="134821" y="227196"/>
                </a:lnTo>
                <a:lnTo>
                  <a:pt x="164172" y="193627"/>
                </a:lnTo>
                <a:lnTo>
                  <a:pt x="195897" y="162270"/>
                </a:lnTo>
                <a:lnTo>
                  <a:pt x="229860" y="133259"/>
                </a:lnTo>
                <a:lnTo>
                  <a:pt x="265923" y="106730"/>
                </a:lnTo>
                <a:lnTo>
                  <a:pt x="303952" y="82816"/>
                </a:lnTo>
                <a:lnTo>
                  <a:pt x="343808" y="61654"/>
                </a:lnTo>
                <a:lnTo>
                  <a:pt x="385356" y="43377"/>
                </a:lnTo>
                <a:lnTo>
                  <a:pt x="428460" y="28121"/>
                </a:lnTo>
                <a:lnTo>
                  <a:pt x="472982" y="16020"/>
                </a:lnTo>
                <a:lnTo>
                  <a:pt x="518787" y="7210"/>
                </a:lnTo>
                <a:lnTo>
                  <a:pt x="565738" y="1824"/>
                </a:lnTo>
                <a:lnTo>
                  <a:pt x="613699" y="0"/>
                </a:lnTo>
                <a:lnTo>
                  <a:pt x="661660" y="1824"/>
                </a:lnTo>
                <a:lnTo>
                  <a:pt x="708610" y="7210"/>
                </a:lnTo>
                <a:lnTo>
                  <a:pt x="754415" y="16020"/>
                </a:lnTo>
                <a:lnTo>
                  <a:pt x="798936" y="28121"/>
                </a:lnTo>
                <a:lnTo>
                  <a:pt x="842039" y="43377"/>
                </a:lnTo>
                <a:lnTo>
                  <a:pt x="883586" y="61654"/>
                </a:lnTo>
                <a:lnTo>
                  <a:pt x="923441" y="82816"/>
                </a:lnTo>
                <a:lnTo>
                  <a:pt x="961468" y="106730"/>
                </a:lnTo>
                <a:lnTo>
                  <a:pt x="997530" y="133259"/>
                </a:lnTo>
                <a:lnTo>
                  <a:pt x="1031491" y="162270"/>
                </a:lnTo>
                <a:lnTo>
                  <a:pt x="1063214" y="193627"/>
                </a:lnTo>
                <a:lnTo>
                  <a:pt x="1092564" y="227196"/>
                </a:lnTo>
                <a:lnTo>
                  <a:pt x="1119403" y="262841"/>
                </a:lnTo>
                <a:lnTo>
                  <a:pt x="1143595" y="300429"/>
                </a:lnTo>
                <a:lnTo>
                  <a:pt x="1165005" y="339823"/>
                </a:lnTo>
                <a:lnTo>
                  <a:pt x="1183495" y="380889"/>
                </a:lnTo>
                <a:lnTo>
                  <a:pt x="1198928" y="423492"/>
                </a:lnTo>
                <a:lnTo>
                  <a:pt x="1211170" y="467498"/>
                </a:lnTo>
                <a:lnTo>
                  <a:pt x="1220083" y="512771"/>
                </a:lnTo>
                <a:lnTo>
                  <a:pt x="1225531" y="559177"/>
                </a:lnTo>
                <a:lnTo>
                  <a:pt x="1227377" y="606580"/>
                </a:lnTo>
                <a:lnTo>
                  <a:pt x="1225531" y="653983"/>
                </a:lnTo>
                <a:lnTo>
                  <a:pt x="1220083" y="700387"/>
                </a:lnTo>
                <a:lnTo>
                  <a:pt x="1211170" y="745659"/>
                </a:lnTo>
                <a:lnTo>
                  <a:pt x="1198928" y="789663"/>
                </a:lnTo>
                <a:lnTo>
                  <a:pt x="1183495" y="832265"/>
                </a:lnTo>
                <a:lnTo>
                  <a:pt x="1165005" y="873330"/>
                </a:lnTo>
                <a:lnTo>
                  <a:pt x="1143595" y="912723"/>
                </a:lnTo>
                <a:lnTo>
                  <a:pt x="1119403" y="950310"/>
                </a:lnTo>
                <a:lnTo>
                  <a:pt x="1092564" y="985954"/>
                </a:lnTo>
                <a:lnTo>
                  <a:pt x="1063214" y="1019522"/>
                </a:lnTo>
                <a:lnTo>
                  <a:pt x="1031491" y="1050878"/>
                </a:lnTo>
                <a:lnTo>
                  <a:pt x="997530" y="1079889"/>
                </a:lnTo>
                <a:lnTo>
                  <a:pt x="961468" y="1106418"/>
                </a:lnTo>
                <a:lnTo>
                  <a:pt x="923441" y="1130331"/>
                </a:lnTo>
                <a:lnTo>
                  <a:pt x="883586" y="1151493"/>
                </a:lnTo>
                <a:lnTo>
                  <a:pt x="842039" y="1169769"/>
                </a:lnTo>
                <a:lnTo>
                  <a:pt x="798936" y="1185025"/>
                </a:lnTo>
                <a:lnTo>
                  <a:pt x="754415" y="1197125"/>
                </a:lnTo>
                <a:lnTo>
                  <a:pt x="708610" y="1205935"/>
                </a:lnTo>
                <a:lnTo>
                  <a:pt x="661660" y="1211320"/>
                </a:lnTo>
                <a:lnTo>
                  <a:pt x="613699" y="1213145"/>
                </a:lnTo>
                <a:lnTo>
                  <a:pt x="565738" y="1211320"/>
                </a:lnTo>
                <a:lnTo>
                  <a:pt x="518787" y="1205935"/>
                </a:lnTo>
                <a:lnTo>
                  <a:pt x="472982" y="1197125"/>
                </a:lnTo>
                <a:lnTo>
                  <a:pt x="428460" y="1185025"/>
                </a:lnTo>
                <a:lnTo>
                  <a:pt x="385356" y="1169769"/>
                </a:lnTo>
                <a:lnTo>
                  <a:pt x="343808" y="1151493"/>
                </a:lnTo>
                <a:lnTo>
                  <a:pt x="303952" y="1130331"/>
                </a:lnTo>
                <a:lnTo>
                  <a:pt x="265923" y="1106418"/>
                </a:lnTo>
                <a:lnTo>
                  <a:pt x="229860" y="1079889"/>
                </a:lnTo>
                <a:lnTo>
                  <a:pt x="195897" y="1050878"/>
                </a:lnTo>
                <a:lnTo>
                  <a:pt x="164172" y="1019522"/>
                </a:lnTo>
                <a:lnTo>
                  <a:pt x="134821" y="985954"/>
                </a:lnTo>
                <a:lnTo>
                  <a:pt x="107981" y="950310"/>
                </a:lnTo>
                <a:lnTo>
                  <a:pt x="83787" y="912723"/>
                </a:lnTo>
                <a:lnTo>
                  <a:pt x="62376" y="873330"/>
                </a:lnTo>
                <a:lnTo>
                  <a:pt x="43885" y="832265"/>
                </a:lnTo>
                <a:lnTo>
                  <a:pt x="28450" y="789663"/>
                </a:lnTo>
                <a:lnTo>
                  <a:pt x="16208" y="745659"/>
                </a:lnTo>
                <a:lnTo>
                  <a:pt x="7294" y="700387"/>
                </a:lnTo>
                <a:lnTo>
                  <a:pt x="1846" y="653983"/>
                </a:lnTo>
                <a:lnTo>
                  <a:pt x="0" y="606580"/>
                </a:lnTo>
                <a:close/>
              </a:path>
            </a:pathLst>
          </a:custGeom>
          <a:ln w="33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655829" y="5392230"/>
            <a:ext cx="765175" cy="41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spc="25" dirty="0">
                <a:latin typeface="Times New Roman"/>
                <a:cs typeface="Times New Roman"/>
              </a:rPr>
              <a:t>Lable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59101" y="4987321"/>
            <a:ext cx="1565275" cy="1160145"/>
          </a:xfrm>
          <a:custGeom>
            <a:avLst/>
            <a:gdLst/>
            <a:ahLst/>
            <a:cxnLst/>
            <a:rect l="l" t="t" r="r" b="b"/>
            <a:pathLst>
              <a:path w="1565275" h="1160145">
                <a:moveTo>
                  <a:pt x="1411574" y="1160072"/>
                </a:moveTo>
                <a:lnTo>
                  <a:pt x="1460033" y="1152341"/>
                </a:lnTo>
                <a:lnTo>
                  <a:pt x="1502137" y="1130813"/>
                </a:lnTo>
                <a:lnTo>
                  <a:pt x="1535351" y="1097986"/>
                </a:lnTo>
                <a:lnTo>
                  <a:pt x="1557138" y="1056360"/>
                </a:lnTo>
                <a:lnTo>
                  <a:pt x="1564964" y="1008432"/>
                </a:lnTo>
                <a:lnTo>
                  <a:pt x="1564964" y="151607"/>
                </a:lnTo>
                <a:lnTo>
                  <a:pt x="1557138" y="103712"/>
                </a:lnTo>
                <a:lnTo>
                  <a:pt x="1535351" y="62097"/>
                </a:lnTo>
                <a:lnTo>
                  <a:pt x="1502137" y="29269"/>
                </a:lnTo>
                <a:lnTo>
                  <a:pt x="1460033" y="7735"/>
                </a:lnTo>
                <a:lnTo>
                  <a:pt x="1411574" y="0"/>
                </a:lnTo>
                <a:lnTo>
                  <a:pt x="153497" y="0"/>
                </a:lnTo>
                <a:lnTo>
                  <a:pt x="104986" y="7735"/>
                </a:lnTo>
                <a:lnTo>
                  <a:pt x="62850" y="29269"/>
                </a:lnTo>
                <a:lnTo>
                  <a:pt x="29620" y="62097"/>
                </a:lnTo>
                <a:lnTo>
                  <a:pt x="7826" y="103712"/>
                </a:lnTo>
                <a:lnTo>
                  <a:pt x="0" y="151607"/>
                </a:lnTo>
                <a:lnTo>
                  <a:pt x="0" y="1008432"/>
                </a:lnTo>
                <a:lnTo>
                  <a:pt x="7826" y="1056360"/>
                </a:lnTo>
                <a:lnTo>
                  <a:pt x="29620" y="1097986"/>
                </a:lnTo>
                <a:lnTo>
                  <a:pt x="62850" y="1130813"/>
                </a:lnTo>
                <a:lnTo>
                  <a:pt x="104986" y="1152341"/>
                </a:lnTo>
                <a:lnTo>
                  <a:pt x="153497" y="1160072"/>
                </a:lnTo>
                <a:lnTo>
                  <a:pt x="1411574" y="1160072"/>
                </a:lnTo>
                <a:close/>
              </a:path>
            </a:pathLst>
          </a:custGeom>
          <a:ln w="3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59101" y="5411930"/>
            <a:ext cx="1565275" cy="60960"/>
          </a:xfrm>
          <a:custGeom>
            <a:avLst/>
            <a:gdLst/>
            <a:ahLst/>
            <a:cxnLst/>
            <a:rect l="l" t="t" r="r" b="b"/>
            <a:pathLst>
              <a:path w="1565275" h="60960">
                <a:moveTo>
                  <a:pt x="0" y="0"/>
                </a:moveTo>
                <a:lnTo>
                  <a:pt x="1564964" y="0"/>
                </a:lnTo>
                <a:lnTo>
                  <a:pt x="1564964" y="60653"/>
                </a:lnTo>
              </a:path>
            </a:pathLst>
          </a:custGeom>
          <a:ln w="333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33393" y="5513548"/>
            <a:ext cx="765175" cy="41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spc="25" dirty="0">
                <a:latin typeface="Times New Roman"/>
                <a:cs typeface="Times New Roman"/>
              </a:rPr>
              <a:t>Lable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452815" y="4967632"/>
            <a:ext cx="368300" cy="410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0" spc="30" dirty="0">
                <a:latin typeface="Times New Roman"/>
                <a:cs typeface="Times New Roman"/>
              </a:rPr>
              <a:t>ID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09333" y="4511559"/>
            <a:ext cx="1518920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15" dirty="0">
                <a:latin typeface="Times New Roman"/>
                <a:cs typeface="Times New Roman"/>
              </a:rPr>
              <a:t>DeMarco-Yourdon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71691" y="4475824"/>
            <a:ext cx="103187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15" dirty="0">
                <a:latin typeface="Times New Roman"/>
                <a:cs typeface="Times New Roman"/>
              </a:rPr>
              <a:t>Gane</a:t>
            </a:r>
            <a:r>
              <a:rPr sz="1500" spc="5" dirty="0">
                <a:latin typeface="Times New Roman"/>
                <a:cs typeface="Times New Roman"/>
              </a:rPr>
              <a:t>-</a:t>
            </a:r>
            <a:r>
              <a:rPr sz="1500" spc="15" dirty="0">
                <a:latin typeface="Times New Roman"/>
                <a:cs typeface="Times New Roman"/>
              </a:rPr>
              <a:t>Sarson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9931" y="92963"/>
            <a:ext cx="5164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2.2.1.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的基本元素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6134"/>
            <a:ext cx="7914005" cy="249301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085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外部实体</a:t>
            </a:r>
            <a:endParaRPr sz="3525" baseline="1182">
              <a:latin typeface="宋体"/>
              <a:cs typeface="宋体"/>
            </a:endParaRPr>
          </a:p>
          <a:p>
            <a:pPr marL="755650" marR="38100" lvl="1" indent="-285750" algn="just">
              <a:lnSpc>
                <a:spcPts val="2280"/>
              </a:lnSpc>
              <a:spcBef>
                <a:spcPts val="82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外部实体是指处于待构建</a:t>
            </a:r>
            <a:r>
              <a:rPr sz="2000" dirty="0">
                <a:solidFill>
                  <a:srgbClr val="009257"/>
                </a:solidFill>
                <a:latin typeface="宋体"/>
                <a:cs typeface="宋体"/>
              </a:rPr>
              <a:t>系统之外的人、组织、设备或者其他软 件系统</a:t>
            </a:r>
            <a:r>
              <a:rPr sz="2000" dirty="0">
                <a:latin typeface="宋体"/>
                <a:cs typeface="宋体"/>
              </a:rPr>
              <a:t>，它们不受系统的控制，开发者不能以任何方式操纵它们</a:t>
            </a:r>
            <a:endParaRPr sz="200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98500"/>
              </a:lnSpc>
              <a:spcBef>
                <a:spcPts val="58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需要进行建模的外部实体是那些和待构建的软件系统之间</a:t>
            </a:r>
            <a:r>
              <a:rPr sz="2000" dirty="0">
                <a:solidFill>
                  <a:srgbClr val="009257"/>
                </a:solidFill>
                <a:latin typeface="宋体"/>
                <a:cs typeface="宋体"/>
              </a:rPr>
              <a:t>存在着 数据交互</a:t>
            </a:r>
            <a:r>
              <a:rPr sz="2000" dirty="0">
                <a:latin typeface="宋体"/>
                <a:cs typeface="宋体"/>
              </a:rPr>
              <a:t>的外部实体，它们是待构建系统的</a:t>
            </a:r>
            <a:r>
              <a:rPr sz="2925" b="1" spc="112" baseline="1424" dirty="0">
                <a:latin typeface="宋体"/>
                <a:cs typeface="宋体"/>
              </a:rPr>
              <a:t>数据源</a:t>
            </a:r>
            <a:r>
              <a:rPr sz="2000" dirty="0">
                <a:latin typeface="宋体"/>
                <a:cs typeface="宋体"/>
              </a:rPr>
              <a:t>或者</a:t>
            </a:r>
            <a:r>
              <a:rPr sz="2925" b="1" spc="104" baseline="1424" dirty="0">
                <a:latin typeface="宋体"/>
                <a:cs typeface="宋体"/>
              </a:rPr>
              <a:t>数据目的 </a:t>
            </a:r>
            <a:r>
              <a:rPr sz="1950" b="1" spc="40" dirty="0">
                <a:latin typeface="宋体"/>
                <a:cs typeface="宋体"/>
              </a:rPr>
              <a:t>地</a:t>
            </a:r>
            <a:endParaRPr sz="1950">
              <a:latin typeface="宋体"/>
              <a:cs typeface="宋体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所有的外部实体联合起来构成了软件系统的外部上下文环境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1254" y="4832558"/>
            <a:ext cx="1424305" cy="1057275"/>
          </a:xfrm>
          <a:prstGeom prst="rect">
            <a:avLst/>
          </a:prstGeom>
          <a:ln w="38928">
            <a:solidFill>
              <a:srgbClr val="000000"/>
            </a:solidFill>
          </a:ln>
        </p:spPr>
        <p:txBody>
          <a:bodyPr vert="horz" wrap="square" lIns="0" tIns="295910" rIns="0" bIns="0" rtlCol="0">
            <a:spAutoFit/>
          </a:bodyPr>
          <a:lstStyle/>
          <a:p>
            <a:pPr marL="288290">
              <a:lnSpc>
                <a:spcPct val="100000"/>
              </a:lnSpc>
              <a:spcBef>
                <a:spcPts val="2330"/>
              </a:spcBef>
            </a:pPr>
            <a:r>
              <a:rPr sz="2900" spc="30" dirty="0">
                <a:latin typeface="Times New Roman"/>
                <a:cs typeface="Times New Roman"/>
              </a:rPr>
              <a:t>Lable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0355" y="4814937"/>
            <a:ext cx="1424305" cy="1057275"/>
          </a:xfrm>
          <a:prstGeom prst="rect">
            <a:avLst/>
          </a:prstGeom>
          <a:ln w="38928">
            <a:solidFill>
              <a:srgbClr val="000000"/>
            </a:solidFill>
          </a:ln>
        </p:spPr>
        <p:txBody>
          <a:bodyPr vert="horz" wrap="square" lIns="0" tIns="300990" rIns="0" bIns="0" rtlCol="0">
            <a:spAutoFit/>
          </a:bodyPr>
          <a:lstStyle/>
          <a:p>
            <a:pPr marL="306070">
              <a:lnSpc>
                <a:spcPct val="100000"/>
              </a:lnSpc>
              <a:spcBef>
                <a:spcPts val="2370"/>
              </a:spcBef>
            </a:pPr>
            <a:r>
              <a:rPr sz="2900" spc="30" dirty="0">
                <a:latin typeface="Times New Roman"/>
                <a:cs typeface="Times New Roman"/>
              </a:rPr>
              <a:t>Lable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5290" y="4087937"/>
            <a:ext cx="175768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15" dirty="0">
                <a:latin typeface="Times New Roman"/>
                <a:cs typeface="Times New Roman"/>
              </a:rPr>
              <a:t>DeMarco-Yourdon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5713" y="4017445"/>
            <a:ext cx="119316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spc="10" dirty="0">
                <a:latin typeface="Times New Roman"/>
                <a:cs typeface="Times New Roman"/>
              </a:rPr>
              <a:t>Gane-Sarson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84963" y="4792050"/>
            <a:ext cx="1316990" cy="978535"/>
          </a:xfrm>
          <a:custGeom>
            <a:avLst/>
            <a:gdLst/>
            <a:ahLst/>
            <a:cxnLst/>
            <a:rect l="l" t="t" r="r" b="b"/>
            <a:pathLst>
              <a:path w="1316989" h="978535">
                <a:moveTo>
                  <a:pt x="0" y="977941"/>
                </a:moveTo>
                <a:lnTo>
                  <a:pt x="1316972" y="977941"/>
                </a:lnTo>
                <a:lnTo>
                  <a:pt x="1316972" y="0"/>
                </a:lnTo>
                <a:lnTo>
                  <a:pt x="0" y="0"/>
                </a:lnTo>
                <a:lnTo>
                  <a:pt x="0" y="977941"/>
                </a:lnTo>
                <a:close/>
              </a:path>
            </a:pathLst>
          </a:custGeom>
          <a:ln w="389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09527" y="4888972"/>
            <a:ext cx="1245870" cy="925194"/>
          </a:xfrm>
          <a:custGeom>
            <a:avLst/>
            <a:gdLst/>
            <a:ahLst/>
            <a:cxnLst/>
            <a:rect l="l" t="t" r="r" b="b"/>
            <a:pathLst>
              <a:path w="1245870" h="925195">
                <a:moveTo>
                  <a:pt x="0" y="925079"/>
                </a:moveTo>
                <a:lnTo>
                  <a:pt x="1245812" y="925079"/>
                </a:lnTo>
                <a:lnTo>
                  <a:pt x="1245812" y="0"/>
                </a:lnTo>
                <a:lnTo>
                  <a:pt x="0" y="0"/>
                </a:lnTo>
                <a:lnTo>
                  <a:pt x="0" y="9250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09528" y="4888972"/>
            <a:ext cx="1219200" cy="903605"/>
          </a:xfrm>
          <a:prstGeom prst="rect">
            <a:avLst/>
          </a:prstGeom>
          <a:ln w="38928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sz="2900" spc="30" dirty="0">
                <a:latin typeface="Times New Roman"/>
                <a:cs typeface="Times New Roman"/>
              </a:rPr>
              <a:t>Lable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9931" y="196595"/>
            <a:ext cx="5164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2.2.1.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的基本元素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2457" y="5633211"/>
            <a:ext cx="74422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SzPct val="60465"/>
              <a:buFont typeface="Wingdings"/>
              <a:buChar char=""/>
              <a:tabLst>
                <a:tab pos="297815" algn="l"/>
                <a:tab pos="298450" algn="l"/>
              </a:tabLst>
            </a:pPr>
            <a:r>
              <a:rPr sz="3225" b="1" spc="112" baseline="1291" dirty="0">
                <a:solidFill>
                  <a:srgbClr val="C00000"/>
                </a:solidFill>
                <a:latin typeface="宋体"/>
                <a:cs typeface="宋体"/>
              </a:rPr>
              <a:t>数据字典</a:t>
            </a:r>
            <a:r>
              <a:rPr sz="2200" dirty="0">
                <a:latin typeface="宋体"/>
                <a:cs typeface="宋体"/>
              </a:rPr>
              <a:t>和</a:t>
            </a:r>
            <a:r>
              <a:rPr sz="3225" b="1" spc="112" baseline="1291" dirty="0">
                <a:solidFill>
                  <a:srgbClr val="C00000"/>
                </a:solidFill>
                <a:latin typeface="宋体"/>
                <a:cs typeface="宋体"/>
              </a:rPr>
              <a:t>实体关系图</a:t>
            </a:r>
            <a:r>
              <a:rPr sz="2200" b="1" spc="-5" dirty="0">
                <a:solidFill>
                  <a:srgbClr val="C00000"/>
                </a:solidFill>
                <a:latin typeface="Calibri"/>
                <a:cs typeface="Calibri"/>
              </a:rPr>
              <a:t>ERD</a:t>
            </a:r>
            <a:r>
              <a:rPr sz="2200" dirty="0">
                <a:latin typeface="宋体"/>
                <a:cs typeface="宋体"/>
              </a:rPr>
              <a:t>通常被用来描述</a:t>
            </a:r>
            <a:r>
              <a:rPr sz="2200" spc="-5" dirty="0">
                <a:latin typeface="Calibri"/>
                <a:cs typeface="Calibri"/>
              </a:rPr>
              <a:t>DFD</a:t>
            </a:r>
            <a:r>
              <a:rPr sz="2200" dirty="0">
                <a:latin typeface="宋体"/>
                <a:cs typeface="宋体"/>
              </a:rPr>
              <a:t>的详细内容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2398" y="3371154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>
                <a:moveTo>
                  <a:pt x="0" y="0"/>
                </a:moveTo>
                <a:lnTo>
                  <a:pt x="285498" y="0"/>
                </a:lnTo>
              </a:path>
            </a:pathLst>
          </a:custGeom>
          <a:ln w="34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98268" y="3371154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5">
                <a:moveTo>
                  <a:pt x="0" y="0"/>
                </a:moveTo>
                <a:lnTo>
                  <a:pt x="452481" y="0"/>
                </a:lnTo>
              </a:path>
            </a:pathLst>
          </a:custGeom>
          <a:ln w="34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32110" y="3308056"/>
            <a:ext cx="189865" cy="126364"/>
          </a:xfrm>
          <a:custGeom>
            <a:avLst/>
            <a:gdLst/>
            <a:ahLst/>
            <a:cxnLst/>
            <a:rect l="l" t="t" r="r" b="b"/>
            <a:pathLst>
              <a:path w="189864" h="126364">
                <a:moveTo>
                  <a:pt x="0" y="0"/>
                </a:moveTo>
                <a:lnTo>
                  <a:pt x="0" y="126196"/>
                </a:lnTo>
                <a:lnTo>
                  <a:pt x="189429" y="6309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482029" y="3371154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>
                <a:moveTo>
                  <a:pt x="0" y="0"/>
                </a:moveTo>
                <a:lnTo>
                  <a:pt x="285566" y="0"/>
                </a:lnTo>
              </a:path>
            </a:pathLst>
          </a:custGeom>
          <a:ln w="34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17966" y="3371154"/>
            <a:ext cx="452755" cy="0"/>
          </a:xfrm>
          <a:custGeom>
            <a:avLst/>
            <a:gdLst/>
            <a:ahLst/>
            <a:cxnLst/>
            <a:rect l="l" t="t" r="r" b="b"/>
            <a:pathLst>
              <a:path w="452754">
                <a:moveTo>
                  <a:pt x="0" y="0"/>
                </a:moveTo>
                <a:lnTo>
                  <a:pt x="452413" y="0"/>
                </a:lnTo>
              </a:path>
            </a:pathLst>
          </a:custGeom>
          <a:ln w="349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51808" y="3308056"/>
            <a:ext cx="189865" cy="126364"/>
          </a:xfrm>
          <a:custGeom>
            <a:avLst/>
            <a:gdLst/>
            <a:ahLst/>
            <a:cxnLst/>
            <a:rect l="l" t="t" r="r" b="b"/>
            <a:pathLst>
              <a:path w="189865" h="126364">
                <a:moveTo>
                  <a:pt x="0" y="0"/>
                </a:moveTo>
                <a:lnTo>
                  <a:pt x="0" y="126196"/>
                </a:lnTo>
                <a:lnTo>
                  <a:pt x="189430" y="6309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5258" y="1523748"/>
            <a:ext cx="8032750" cy="246507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5"/>
              </a:spcBef>
              <a:buClr>
                <a:srgbClr val="00663C"/>
              </a:buClr>
              <a:buSzPct val="82352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825" b="1" spc="127" baseline="1089" dirty="0">
                <a:latin typeface="宋体"/>
                <a:cs typeface="宋体"/>
              </a:rPr>
              <a:t>数据流</a:t>
            </a:r>
            <a:endParaRPr sz="3825" baseline="1089">
              <a:latin typeface="宋体"/>
              <a:cs typeface="宋体"/>
            </a:endParaRPr>
          </a:p>
          <a:p>
            <a:pPr marL="755015" marR="5080" lvl="1" indent="-285750">
              <a:lnSpc>
                <a:spcPts val="2500"/>
              </a:lnSpc>
              <a:spcBef>
                <a:spcPts val="90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数据流是指数据的运动，它是系统与其环境之间或者系统内 两个过程之间的通信形式</a:t>
            </a:r>
            <a:endParaRPr sz="2200">
              <a:latin typeface="宋体"/>
              <a:cs typeface="宋体"/>
            </a:endParaRPr>
          </a:p>
          <a:p>
            <a:pPr marL="212090" algn="ctr">
              <a:lnSpc>
                <a:spcPts val="1660"/>
              </a:lnSpc>
              <a:tabLst>
                <a:tab pos="3352165" algn="l"/>
              </a:tabLst>
            </a:pPr>
            <a:r>
              <a:rPr sz="1550" spc="15" dirty="0">
                <a:latin typeface="Times New Roman"/>
                <a:cs typeface="Times New Roman"/>
              </a:rPr>
              <a:t>DeMarco-Yourdon	</a:t>
            </a:r>
            <a:r>
              <a:rPr sz="2325" spc="22" baseline="3584" dirty="0">
                <a:latin typeface="Times New Roman"/>
                <a:cs typeface="Times New Roman"/>
              </a:rPr>
              <a:t>Gane-Sarson</a:t>
            </a:r>
            <a:endParaRPr sz="2325" baseline="3584">
              <a:latin typeface="Times New Roman"/>
              <a:cs typeface="Times New Roman"/>
            </a:endParaRPr>
          </a:p>
          <a:p>
            <a:pPr marL="495934" algn="ctr">
              <a:lnSpc>
                <a:spcPct val="100000"/>
              </a:lnSpc>
              <a:spcBef>
                <a:spcPts val="1555"/>
              </a:spcBef>
              <a:tabLst>
                <a:tab pos="3415665" algn="l"/>
              </a:tabLst>
            </a:pPr>
            <a:r>
              <a:rPr sz="2100" spc="5" dirty="0">
                <a:latin typeface="Times New Roman"/>
                <a:cs typeface="Times New Roman"/>
              </a:rPr>
              <a:t>Lable	Lable</a:t>
            </a:r>
            <a:endParaRPr sz="2100">
              <a:latin typeface="Times New Roman"/>
              <a:cs typeface="Times New Roman"/>
            </a:endParaRPr>
          </a:p>
          <a:p>
            <a:pPr marL="755650" lvl="1" indent="-286385">
              <a:lnSpc>
                <a:spcPct val="100000"/>
              </a:lnSpc>
              <a:spcBef>
                <a:spcPts val="106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数据流可以分割和组合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565429" y="4769890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342"/>
                </a:lnTo>
                <a:lnTo>
                  <a:pt x="179805" y="600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55485" y="4406813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4">
                <a:moveTo>
                  <a:pt x="0" y="0"/>
                </a:moveTo>
                <a:lnTo>
                  <a:pt x="316858" y="0"/>
                </a:lnTo>
              </a:path>
            </a:pathLst>
          </a:custGeom>
          <a:ln w="33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57705" y="4346495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341"/>
                </a:lnTo>
                <a:lnTo>
                  <a:pt x="179839" y="603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745234" y="4829914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>
                <a:moveTo>
                  <a:pt x="0" y="0"/>
                </a:moveTo>
                <a:lnTo>
                  <a:pt x="327109" y="0"/>
                </a:lnTo>
              </a:path>
            </a:pathLst>
          </a:custGeom>
          <a:ln w="33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57705" y="4769890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342"/>
                </a:lnTo>
                <a:lnTo>
                  <a:pt x="179839" y="600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55485" y="5253887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4">
                <a:moveTo>
                  <a:pt x="0" y="0"/>
                </a:moveTo>
                <a:lnTo>
                  <a:pt x="316858" y="0"/>
                </a:lnTo>
              </a:path>
            </a:pathLst>
          </a:custGeom>
          <a:ln w="33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57705" y="519356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624"/>
                </a:lnTo>
                <a:lnTo>
                  <a:pt x="179839" y="603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755485" y="4406813"/>
            <a:ext cx="0" cy="847090"/>
          </a:xfrm>
          <a:custGeom>
            <a:avLst/>
            <a:gdLst/>
            <a:ahLst/>
            <a:cxnLst/>
            <a:rect l="l" t="t" r="r" b="b"/>
            <a:pathLst>
              <a:path h="847089">
                <a:moveTo>
                  <a:pt x="0" y="0"/>
                </a:moveTo>
                <a:lnTo>
                  <a:pt x="0" y="847073"/>
                </a:lnTo>
              </a:path>
            </a:pathLst>
          </a:custGeom>
          <a:ln w="33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859336" y="4093713"/>
            <a:ext cx="15367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5" dirty="0">
                <a:latin typeface="Times New Roman"/>
                <a:cs typeface="Times New Roman"/>
              </a:rPr>
              <a:t>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756126" y="4769890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342"/>
                </a:lnTo>
                <a:lnTo>
                  <a:pt x="179781" y="600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45580" y="4406813"/>
            <a:ext cx="317500" cy="0"/>
          </a:xfrm>
          <a:custGeom>
            <a:avLst/>
            <a:gdLst/>
            <a:ahLst/>
            <a:cxnLst/>
            <a:rect l="l" t="t" r="r" b="b"/>
            <a:pathLst>
              <a:path w="317500">
                <a:moveTo>
                  <a:pt x="0" y="0"/>
                </a:moveTo>
                <a:lnTo>
                  <a:pt x="317448" y="0"/>
                </a:lnTo>
              </a:path>
            </a:pathLst>
          </a:custGeom>
          <a:ln w="33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47810" y="4346495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341"/>
                </a:lnTo>
                <a:lnTo>
                  <a:pt x="179781" y="603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935907" y="4829914"/>
            <a:ext cx="327660" cy="0"/>
          </a:xfrm>
          <a:custGeom>
            <a:avLst/>
            <a:gdLst/>
            <a:ahLst/>
            <a:cxnLst/>
            <a:rect l="l" t="t" r="r" b="b"/>
            <a:pathLst>
              <a:path w="327660">
                <a:moveTo>
                  <a:pt x="0" y="0"/>
                </a:moveTo>
                <a:lnTo>
                  <a:pt x="327121" y="0"/>
                </a:lnTo>
              </a:path>
            </a:pathLst>
          </a:custGeom>
          <a:ln w="33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47810" y="4769890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342"/>
                </a:lnTo>
                <a:lnTo>
                  <a:pt x="179781" y="600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945580" y="5253887"/>
            <a:ext cx="317500" cy="0"/>
          </a:xfrm>
          <a:custGeom>
            <a:avLst/>
            <a:gdLst/>
            <a:ahLst/>
            <a:cxnLst/>
            <a:rect l="l" t="t" r="r" b="b"/>
            <a:pathLst>
              <a:path w="317500">
                <a:moveTo>
                  <a:pt x="0" y="0"/>
                </a:moveTo>
                <a:lnTo>
                  <a:pt x="317448" y="0"/>
                </a:lnTo>
              </a:path>
            </a:pathLst>
          </a:custGeom>
          <a:ln w="330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47810" y="519356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624"/>
                </a:lnTo>
                <a:lnTo>
                  <a:pt x="179781" y="603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945580" y="4406813"/>
            <a:ext cx="0" cy="847090"/>
          </a:xfrm>
          <a:custGeom>
            <a:avLst/>
            <a:gdLst/>
            <a:ahLst/>
            <a:cxnLst/>
            <a:rect l="l" t="t" r="r" b="b"/>
            <a:pathLst>
              <a:path h="847089">
                <a:moveTo>
                  <a:pt x="0" y="0"/>
                </a:moveTo>
                <a:lnTo>
                  <a:pt x="0" y="847073"/>
                </a:lnTo>
              </a:path>
            </a:pathLst>
          </a:custGeom>
          <a:ln w="33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260467" y="4516802"/>
            <a:ext cx="1936114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11505" algn="l"/>
                <a:tab pos="1202690" algn="l"/>
                <a:tab pos="1809114" algn="l"/>
              </a:tabLst>
            </a:pPr>
            <a:r>
              <a:rPr sz="2000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5" dirty="0">
                <a:latin typeface="Times New Roman"/>
                <a:cs typeface="Times New Roman"/>
              </a:rPr>
              <a:t>z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50375" y="4093713"/>
            <a:ext cx="15367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5" dirty="0">
                <a:latin typeface="Times New Roman"/>
                <a:cs typeface="Times New Roman"/>
              </a:rPr>
              <a:t>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59336" y="4940775"/>
            <a:ext cx="1372870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174750" algn="l"/>
              </a:tabLst>
            </a:pPr>
            <a:r>
              <a:rPr sz="2000" spc="5" dirty="0">
                <a:latin typeface="Times New Roman"/>
                <a:cs typeface="Times New Roman"/>
              </a:rPr>
              <a:t>x	</a:t>
            </a:r>
            <a:r>
              <a:rPr sz="2000" spc="10" dirty="0">
                <a:latin typeface="Times New Roman"/>
                <a:cs typeface="Times New Roman"/>
              </a:rPr>
              <a:t>w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980622" y="473445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636"/>
                </a:lnTo>
                <a:lnTo>
                  <a:pt x="180135" y="603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94718" y="4311370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329"/>
                </a:lnTo>
                <a:lnTo>
                  <a:pt x="179899" y="600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94718" y="473445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636"/>
                </a:lnTo>
                <a:lnTo>
                  <a:pt x="179899" y="603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494718" y="5157843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39" h="120650">
                <a:moveTo>
                  <a:pt x="0" y="0"/>
                </a:moveTo>
                <a:lnTo>
                  <a:pt x="0" y="120341"/>
                </a:lnTo>
                <a:lnTo>
                  <a:pt x="179899" y="603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63175" y="4371394"/>
            <a:ext cx="0" cy="847090"/>
          </a:xfrm>
          <a:custGeom>
            <a:avLst/>
            <a:gdLst/>
            <a:ahLst/>
            <a:cxnLst/>
            <a:rect l="l" t="t" r="r" b="b"/>
            <a:pathLst>
              <a:path h="847089">
                <a:moveTo>
                  <a:pt x="0" y="0"/>
                </a:moveTo>
                <a:lnTo>
                  <a:pt x="0" y="846767"/>
                </a:lnTo>
              </a:path>
            </a:pathLst>
          </a:custGeom>
          <a:ln w="33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70671" y="473445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0" y="0"/>
                </a:moveTo>
                <a:lnTo>
                  <a:pt x="0" y="120636"/>
                </a:lnTo>
                <a:lnTo>
                  <a:pt x="179899" y="603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03876" y="4311370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0" y="0"/>
                </a:moveTo>
                <a:lnTo>
                  <a:pt x="0" y="120329"/>
                </a:lnTo>
                <a:lnTo>
                  <a:pt x="179899" y="600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03876" y="4734459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0" y="0"/>
                </a:moveTo>
                <a:lnTo>
                  <a:pt x="0" y="120636"/>
                </a:lnTo>
                <a:lnTo>
                  <a:pt x="179899" y="603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703876" y="5157843"/>
            <a:ext cx="180340" cy="120650"/>
          </a:xfrm>
          <a:custGeom>
            <a:avLst/>
            <a:gdLst/>
            <a:ahLst/>
            <a:cxnLst/>
            <a:rect l="l" t="t" r="r" b="b"/>
            <a:pathLst>
              <a:path w="180340" h="120650">
                <a:moveTo>
                  <a:pt x="0" y="0"/>
                </a:moveTo>
                <a:lnTo>
                  <a:pt x="0" y="120341"/>
                </a:lnTo>
                <a:lnTo>
                  <a:pt x="179899" y="603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53222" y="4371394"/>
            <a:ext cx="0" cy="847090"/>
          </a:xfrm>
          <a:custGeom>
            <a:avLst/>
            <a:gdLst/>
            <a:ahLst/>
            <a:cxnLst/>
            <a:rect l="l" t="t" r="r" b="b"/>
            <a:pathLst>
              <a:path h="847089">
                <a:moveTo>
                  <a:pt x="0" y="0"/>
                </a:moveTo>
                <a:lnTo>
                  <a:pt x="0" y="846767"/>
                </a:lnTo>
              </a:path>
            </a:pathLst>
          </a:custGeom>
          <a:ln w="330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169642" y="3941151"/>
            <a:ext cx="2029460" cy="129730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35"/>
              </a:spcBef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heavy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  <a:tabLst>
                <a:tab pos="518795" algn="l"/>
                <a:tab pos="1221740" algn="l"/>
                <a:tab pos="1708785" algn="l"/>
              </a:tabLst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spc="5" dirty="0">
                <a:latin typeface="Times New Roman"/>
                <a:cs typeface="Times New Roman"/>
              </a:rPr>
              <a:t>	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x</a:t>
            </a:r>
            <a:r>
              <a:rPr sz="2000" spc="5" dirty="0">
                <a:latin typeface="Times New Roman"/>
                <a:cs typeface="Times New Roman"/>
              </a:rPr>
              <a:t>	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z</a:t>
            </a:r>
            <a:r>
              <a:rPr sz="2000" spc="5" dirty="0">
                <a:latin typeface="Times New Roman"/>
                <a:cs typeface="Times New Roman"/>
              </a:rPr>
              <a:t>	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x</a:t>
            </a:r>
            <a:r>
              <a:rPr sz="2000" u="heavy" spc="1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935"/>
              </a:spcBef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000" u="heavy" spc="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89064" y="4057692"/>
            <a:ext cx="34226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-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y</a:t>
            </a:r>
            <a:r>
              <a:rPr sz="2000" u="heavy" spc="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89064" y="4905049"/>
            <a:ext cx="2990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u="heavy" spc="1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872999" y="4759643"/>
            <a:ext cx="158138" cy="158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780405" y="4714257"/>
            <a:ext cx="158138" cy="1592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9419" y="220980"/>
            <a:ext cx="5164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2.2.1.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的基本元素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0509"/>
            <a:ext cx="8012430" cy="215646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0"/>
              </a:spcBef>
              <a:buClr>
                <a:srgbClr val="00663C"/>
              </a:buClr>
              <a:buSzPct val="8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4125" b="1" spc="127" baseline="1010" dirty="0">
                <a:latin typeface="宋体"/>
                <a:cs typeface="宋体"/>
              </a:rPr>
              <a:t>数据存储</a:t>
            </a:r>
            <a:endParaRPr sz="4125" baseline="1010">
              <a:latin typeface="宋体"/>
              <a:cs typeface="宋体"/>
            </a:endParaRPr>
          </a:p>
          <a:p>
            <a:pPr marL="755650" marR="238125" lvl="1" indent="-285750">
              <a:lnSpc>
                <a:spcPts val="2690"/>
              </a:lnSpc>
              <a:spcBef>
                <a:spcPts val="99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数据存储是软件系统需要在内部收集、保存，以供日 后使用的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数据集合</a:t>
            </a:r>
            <a:endParaRPr sz="3525" baseline="1182">
              <a:latin typeface="宋体"/>
              <a:cs typeface="宋体"/>
            </a:endParaRPr>
          </a:p>
          <a:p>
            <a:pPr marL="755650" marR="5080" lvl="1" indent="-285750">
              <a:lnSpc>
                <a:spcPts val="2810"/>
              </a:lnSpc>
              <a:spcBef>
                <a:spcPts val="72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数据存储的详细内容通常也是用</a:t>
            </a:r>
            <a:r>
              <a:rPr sz="3525" b="1" spc="127" baseline="1182" dirty="0">
                <a:solidFill>
                  <a:srgbClr val="C00000"/>
                </a:solidFill>
                <a:latin typeface="宋体"/>
                <a:cs typeface="宋体"/>
              </a:rPr>
              <a:t>数据字</a:t>
            </a:r>
            <a:r>
              <a:rPr sz="3525" b="1" spc="135" baseline="1182" dirty="0">
                <a:solidFill>
                  <a:srgbClr val="C00000"/>
                </a:solidFill>
                <a:latin typeface="宋体"/>
                <a:cs typeface="宋体"/>
              </a:rPr>
              <a:t>典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b="1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RD</a:t>
            </a:r>
            <a:r>
              <a:rPr sz="2400" dirty="0">
                <a:latin typeface="宋体"/>
                <a:cs typeface="宋体"/>
              </a:rPr>
              <a:t>来进行 描述的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8502" y="4128113"/>
            <a:ext cx="191135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15" dirty="0">
                <a:latin typeface="Times New Roman"/>
                <a:cs typeface="Times New Roman"/>
              </a:rPr>
              <a:t>DeMarco-Yourdon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2109" y="4092965"/>
            <a:ext cx="129667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spc="15" dirty="0">
                <a:latin typeface="Times New Roman"/>
                <a:cs typeface="Times New Roman"/>
              </a:rPr>
              <a:t>Gane</a:t>
            </a:r>
            <a:r>
              <a:rPr sz="1900" spc="5" dirty="0">
                <a:latin typeface="Times New Roman"/>
                <a:cs typeface="Times New Roman"/>
              </a:rPr>
              <a:t>-</a:t>
            </a:r>
            <a:r>
              <a:rPr sz="1900" spc="15" dirty="0">
                <a:latin typeface="Times New Roman"/>
                <a:cs typeface="Times New Roman"/>
              </a:rPr>
              <a:t>Sarson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34282" y="4844562"/>
            <a:ext cx="1859914" cy="0"/>
          </a:xfrm>
          <a:custGeom>
            <a:avLst/>
            <a:gdLst/>
            <a:ahLst/>
            <a:cxnLst/>
            <a:rect l="l" t="t" r="r" b="b"/>
            <a:pathLst>
              <a:path w="1859914">
                <a:moveTo>
                  <a:pt x="0" y="0"/>
                </a:moveTo>
                <a:lnTo>
                  <a:pt x="1859723" y="0"/>
                </a:lnTo>
              </a:path>
            </a:pathLst>
          </a:custGeom>
          <a:ln w="42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34282" y="5458153"/>
            <a:ext cx="1859914" cy="0"/>
          </a:xfrm>
          <a:custGeom>
            <a:avLst/>
            <a:gdLst/>
            <a:ahLst/>
            <a:cxnLst/>
            <a:rect l="l" t="t" r="r" b="b"/>
            <a:pathLst>
              <a:path w="1859914">
                <a:moveTo>
                  <a:pt x="0" y="0"/>
                </a:moveTo>
                <a:lnTo>
                  <a:pt x="1859723" y="0"/>
                </a:lnTo>
              </a:path>
            </a:pathLst>
          </a:custGeom>
          <a:ln w="42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76164" y="4844562"/>
            <a:ext cx="1937385" cy="0"/>
          </a:xfrm>
          <a:custGeom>
            <a:avLst/>
            <a:gdLst/>
            <a:ahLst/>
            <a:cxnLst/>
            <a:rect l="l" t="t" r="r" b="b"/>
            <a:pathLst>
              <a:path w="1937384">
                <a:moveTo>
                  <a:pt x="0" y="0"/>
                </a:moveTo>
                <a:lnTo>
                  <a:pt x="1937152" y="0"/>
                </a:lnTo>
              </a:path>
            </a:pathLst>
          </a:custGeom>
          <a:ln w="42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76164" y="5458153"/>
            <a:ext cx="1937385" cy="0"/>
          </a:xfrm>
          <a:custGeom>
            <a:avLst/>
            <a:gdLst/>
            <a:ahLst/>
            <a:cxnLst/>
            <a:rect l="l" t="t" r="r" b="b"/>
            <a:pathLst>
              <a:path w="1937384">
                <a:moveTo>
                  <a:pt x="0" y="0"/>
                </a:moveTo>
                <a:lnTo>
                  <a:pt x="1937152" y="0"/>
                </a:lnTo>
              </a:path>
            </a:pathLst>
          </a:custGeom>
          <a:ln w="422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98086" y="4886069"/>
            <a:ext cx="9588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10" dirty="0">
                <a:latin typeface="Times New Roman"/>
                <a:cs typeface="Times New Roman"/>
              </a:rPr>
              <a:t>Lable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07457" y="4886069"/>
            <a:ext cx="95885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10" dirty="0">
                <a:latin typeface="Times New Roman"/>
                <a:cs typeface="Times New Roman"/>
              </a:rPr>
              <a:t>Lable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76164" y="4844562"/>
            <a:ext cx="535940" cy="614045"/>
          </a:xfrm>
          <a:prstGeom prst="rect">
            <a:avLst/>
          </a:prstGeom>
          <a:ln w="42643">
            <a:solidFill>
              <a:srgbClr val="000000"/>
            </a:solidFill>
          </a:ln>
        </p:spPr>
        <p:txBody>
          <a:bodyPr vert="horz" wrap="square" lIns="0" tIns="6731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530"/>
              </a:spcBef>
            </a:pPr>
            <a:r>
              <a:rPr sz="3200" spc="15" dirty="0">
                <a:latin typeface="Times New Roman"/>
                <a:cs typeface="Times New Roman"/>
              </a:rPr>
              <a:t>ID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4837" y="280923"/>
            <a:ext cx="79343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DFD</a:t>
            </a:r>
            <a:r>
              <a:rPr sz="4000" dirty="0">
                <a:latin typeface="宋体"/>
                <a:cs typeface="宋体"/>
              </a:rPr>
              <a:t>的基本元素示例</a:t>
            </a:r>
            <a:r>
              <a:rPr sz="3800" dirty="0"/>
              <a:t>:</a:t>
            </a:r>
            <a:r>
              <a:rPr sz="3800" spc="-60" dirty="0"/>
              <a:t> </a:t>
            </a:r>
            <a:r>
              <a:rPr sz="3800" spc="-5" dirty="0"/>
              <a:t>DeMarco</a:t>
            </a:r>
            <a:r>
              <a:rPr sz="3800" dirty="0">
                <a:latin typeface="宋体"/>
                <a:cs typeface="宋体"/>
              </a:rPr>
              <a:t>表示法</a:t>
            </a:r>
            <a:endParaRPr sz="3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79664" y="1221735"/>
            <a:ext cx="1003300" cy="504825"/>
          </a:xfrm>
          <a:prstGeom prst="rect">
            <a:avLst/>
          </a:prstGeom>
          <a:ln w="4265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00" spc="10" dirty="0">
                <a:latin typeface="MS Gothic"/>
                <a:cs typeface="MS Gothic"/>
              </a:rPr>
              <a:t>厨房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72241" y="1726102"/>
            <a:ext cx="1003300" cy="1009015"/>
          </a:xfrm>
          <a:custGeom>
            <a:avLst/>
            <a:gdLst/>
            <a:ahLst/>
            <a:cxnLst/>
            <a:rect l="l" t="t" r="r" b="b"/>
            <a:pathLst>
              <a:path w="1003300" h="1009014">
                <a:moveTo>
                  <a:pt x="0" y="504438"/>
                </a:moveTo>
                <a:lnTo>
                  <a:pt x="2295" y="455849"/>
                </a:lnTo>
                <a:lnTo>
                  <a:pt x="9041" y="408569"/>
                </a:lnTo>
                <a:lnTo>
                  <a:pt x="20028" y="362809"/>
                </a:lnTo>
                <a:lnTo>
                  <a:pt x="35045" y="318779"/>
                </a:lnTo>
                <a:lnTo>
                  <a:pt x="53883" y="276692"/>
                </a:lnTo>
                <a:lnTo>
                  <a:pt x="76330" y="236757"/>
                </a:lnTo>
                <a:lnTo>
                  <a:pt x="102177" y="199187"/>
                </a:lnTo>
                <a:lnTo>
                  <a:pt x="131213" y="164193"/>
                </a:lnTo>
                <a:lnTo>
                  <a:pt x="163228" y="131986"/>
                </a:lnTo>
                <a:lnTo>
                  <a:pt x="198013" y="102776"/>
                </a:lnTo>
                <a:lnTo>
                  <a:pt x="235356" y="76776"/>
                </a:lnTo>
                <a:lnTo>
                  <a:pt x="275048" y="54197"/>
                </a:lnTo>
                <a:lnTo>
                  <a:pt x="316878" y="35249"/>
                </a:lnTo>
                <a:lnTo>
                  <a:pt x="360637" y="20144"/>
                </a:lnTo>
                <a:lnTo>
                  <a:pt x="406113" y="9093"/>
                </a:lnTo>
                <a:lnTo>
                  <a:pt x="453097" y="2308"/>
                </a:lnTo>
                <a:lnTo>
                  <a:pt x="501378" y="0"/>
                </a:lnTo>
                <a:lnTo>
                  <a:pt x="549689" y="2308"/>
                </a:lnTo>
                <a:lnTo>
                  <a:pt x="596698" y="9093"/>
                </a:lnTo>
                <a:lnTo>
                  <a:pt x="642197" y="20144"/>
                </a:lnTo>
                <a:lnTo>
                  <a:pt x="685975" y="35249"/>
                </a:lnTo>
                <a:lnTo>
                  <a:pt x="727822" y="54197"/>
                </a:lnTo>
                <a:lnTo>
                  <a:pt x="767528" y="76776"/>
                </a:lnTo>
                <a:lnTo>
                  <a:pt x="804884" y="102776"/>
                </a:lnTo>
                <a:lnTo>
                  <a:pt x="839678" y="131986"/>
                </a:lnTo>
                <a:lnTo>
                  <a:pt x="871701" y="164193"/>
                </a:lnTo>
                <a:lnTo>
                  <a:pt x="900744" y="199187"/>
                </a:lnTo>
                <a:lnTo>
                  <a:pt x="926595" y="236757"/>
                </a:lnTo>
                <a:lnTo>
                  <a:pt x="949046" y="276692"/>
                </a:lnTo>
                <a:lnTo>
                  <a:pt x="967885" y="318779"/>
                </a:lnTo>
                <a:lnTo>
                  <a:pt x="982904" y="362809"/>
                </a:lnTo>
                <a:lnTo>
                  <a:pt x="993891" y="408569"/>
                </a:lnTo>
                <a:lnTo>
                  <a:pt x="1000638" y="455849"/>
                </a:lnTo>
                <a:lnTo>
                  <a:pt x="1002933" y="504438"/>
                </a:lnTo>
                <a:lnTo>
                  <a:pt x="1000638" y="552998"/>
                </a:lnTo>
                <a:lnTo>
                  <a:pt x="993891" y="600257"/>
                </a:lnTo>
                <a:lnTo>
                  <a:pt x="982904" y="646003"/>
                </a:lnTo>
                <a:lnTo>
                  <a:pt x="967885" y="690023"/>
                </a:lnTo>
                <a:lnTo>
                  <a:pt x="949046" y="732105"/>
                </a:lnTo>
                <a:lnTo>
                  <a:pt x="926595" y="772039"/>
                </a:lnTo>
                <a:lnTo>
                  <a:pt x="900744" y="809612"/>
                </a:lnTo>
                <a:lnTo>
                  <a:pt x="871701" y="844612"/>
                </a:lnTo>
                <a:lnTo>
                  <a:pt x="839678" y="876827"/>
                </a:lnTo>
                <a:lnTo>
                  <a:pt x="804884" y="906046"/>
                </a:lnTo>
                <a:lnTo>
                  <a:pt x="767528" y="932056"/>
                </a:lnTo>
                <a:lnTo>
                  <a:pt x="727822" y="954646"/>
                </a:lnTo>
                <a:lnTo>
                  <a:pt x="685975" y="973604"/>
                </a:lnTo>
                <a:lnTo>
                  <a:pt x="642197" y="988717"/>
                </a:lnTo>
                <a:lnTo>
                  <a:pt x="596698" y="999775"/>
                </a:lnTo>
                <a:lnTo>
                  <a:pt x="549689" y="1006565"/>
                </a:lnTo>
                <a:lnTo>
                  <a:pt x="501378" y="1008876"/>
                </a:lnTo>
                <a:lnTo>
                  <a:pt x="453097" y="1006565"/>
                </a:lnTo>
                <a:lnTo>
                  <a:pt x="406113" y="999775"/>
                </a:lnTo>
                <a:lnTo>
                  <a:pt x="360637" y="988717"/>
                </a:lnTo>
                <a:lnTo>
                  <a:pt x="316878" y="973604"/>
                </a:lnTo>
                <a:lnTo>
                  <a:pt x="275048" y="954646"/>
                </a:lnTo>
                <a:lnTo>
                  <a:pt x="235356" y="932056"/>
                </a:lnTo>
                <a:lnTo>
                  <a:pt x="198013" y="906046"/>
                </a:lnTo>
                <a:lnTo>
                  <a:pt x="163228" y="876827"/>
                </a:lnTo>
                <a:lnTo>
                  <a:pt x="131213" y="844612"/>
                </a:lnTo>
                <a:lnTo>
                  <a:pt x="102177" y="809612"/>
                </a:lnTo>
                <a:lnTo>
                  <a:pt x="76330" y="772039"/>
                </a:lnTo>
                <a:lnTo>
                  <a:pt x="53883" y="732105"/>
                </a:lnTo>
                <a:lnTo>
                  <a:pt x="35045" y="690023"/>
                </a:lnTo>
                <a:lnTo>
                  <a:pt x="20028" y="646003"/>
                </a:lnTo>
                <a:lnTo>
                  <a:pt x="9041" y="600257"/>
                </a:lnTo>
                <a:lnTo>
                  <a:pt x="2295" y="552998"/>
                </a:lnTo>
                <a:lnTo>
                  <a:pt x="0" y="504438"/>
                </a:lnTo>
                <a:close/>
              </a:path>
            </a:pathLst>
          </a:custGeom>
          <a:ln w="4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36499" y="2011972"/>
            <a:ext cx="875030" cy="392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300"/>
              </a:lnSpc>
              <a:spcBef>
                <a:spcPts val="95"/>
              </a:spcBef>
            </a:pPr>
            <a:r>
              <a:rPr sz="1100" spc="10" dirty="0">
                <a:latin typeface="MS Gothic"/>
                <a:cs typeface="MS Gothic"/>
              </a:rPr>
              <a:t>接收、</a:t>
            </a:r>
            <a:r>
              <a:rPr sz="1100" spc="10" dirty="0">
                <a:latin typeface="宋体"/>
                <a:cs typeface="宋体"/>
              </a:rPr>
              <a:t>传递顾 </a:t>
            </a:r>
            <a:r>
              <a:rPr sz="1100" spc="10" dirty="0">
                <a:latin typeface="MS Gothic"/>
                <a:cs typeface="MS Gothic"/>
              </a:rPr>
              <a:t>客的食物</a:t>
            </a:r>
            <a:r>
              <a:rPr sz="1100" spc="10" dirty="0">
                <a:latin typeface="宋体"/>
                <a:cs typeface="宋体"/>
              </a:rPr>
              <a:t>订单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67130" y="2734978"/>
            <a:ext cx="1003300" cy="1009015"/>
          </a:xfrm>
          <a:custGeom>
            <a:avLst/>
            <a:gdLst/>
            <a:ahLst/>
            <a:cxnLst/>
            <a:rect l="l" t="t" r="r" b="b"/>
            <a:pathLst>
              <a:path w="1003300" h="1009014">
                <a:moveTo>
                  <a:pt x="0" y="504260"/>
                </a:moveTo>
                <a:lnTo>
                  <a:pt x="2295" y="455701"/>
                </a:lnTo>
                <a:lnTo>
                  <a:pt x="9042" y="408447"/>
                </a:lnTo>
                <a:lnTo>
                  <a:pt x="20030" y="362710"/>
                </a:lnTo>
                <a:lnTo>
                  <a:pt x="35049" y="318700"/>
                </a:lnTo>
                <a:lnTo>
                  <a:pt x="53888" y="276629"/>
                </a:lnTo>
                <a:lnTo>
                  <a:pt x="76339" y="236709"/>
                </a:lnTo>
                <a:lnTo>
                  <a:pt x="102189" y="199151"/>
                </a:lnTo>
                <a:lnTo>
                  <a:pt x="131230" y="164167"/>
                </a:lnTo>
                <a:lnTo>
                  <a:pt x="163251" y="131967"/>
                </a:lnTo>
                <a:lnTo>
                  <a:pt x="198042" y="102764"/>
                </a:lnTo>
                <a:lnTo>
                  <a:pt x="235393" y="76768"/>
                </a:lnTo>
                <a:lnTo>
                  <a:pt x="275093" y="54192"/>
                </a:lnTo>
                <a:lnTo>
                  <a:pt x="316933" y="35247"/>
                </a:lnTo>
                <a:lnTo>
                  <a:pt x="360702" y="20143"/>
                </a:lnTo>
                <a:lnTo>
                  <a:pt x="406191" y="9093"/>
                </a:lnTo>
                <a:lnTo>
                  <a:pt x="453188" y="2308"/>
                </a:lnTo>
                <a:lnTo>
                  <a:pt x="501484" y="0"/>
                </a:lnTo>
                <a:lnTo>
                  <a:pt x="549777" y="2308"/>
                </a:lnTo>
                <a:lnTo>
                  <a:pt x="596771" y="9093"/>
                </a:lnTo>
                <a:lnTo>
                  <a:pt x="642257" y="20143"/>
                </a:lnTo>
                <a:lnTo>
                  <a:pt x="686023" y="35247"/>
                </a:lnTo>
                <a:lnTo>
                  <a:pt x="727860" y="54192"/>
                </a:lnTo>
                <a:lnTo>
                  <a:pt x="767557" y="76768"/>
                </a:lnTo>
                <a:lnTo>
                  <a:pt x="804905" y="102764"/>
                </a:lnTo>
                <a:lnTo>
                  <a:pt x="839694" y="131967"/>
                </a:lnTo>
                <a:lnTo>
                  <a:pt x="871712" y="164167"/>
                </a:lnTo>
                <a:lnTo>
                  <a:pt x="900751" y="199151"/>
                </a:lnTo>
                <a:lnTo>
                  <a:pt x="926600" y="236709"/>
                </a:lnTo>
                <a:lnTo>
                  <a:pt x="949048" y="276629"/>
                </a:lnTo>
                <a:lnTo>
                  <a:pt x="967887" y="318700"/>
                </a:lnTo>
                <a:lnTo>
                  <a:pt x="982904" y="362710"/>
                </a:lnTo>
                <a:lnTo>
                  <a:pt x="993891" y="408447"/>
                </a:lnTo>
                <a:lnTo>
                  <a:pt x="1000638" y="455701"/>
                </a:lnTo>
                <a:lnTo>
                  <a:pt x="1002933" y="504260"/>
                </a:lnTo>
                <a:lnTo>
                  <a:pt x="1000638" y="552848"/>
                </a:lnTo>
                <a:lnTo>
                  <a:pt x="993891" y="600128"/>
                </a:lnTo>
                <a:lnTo>
                  <a:pt x="982904" y="645888"/>
                </a:lnTo>
                <a:lnTo>
                  <a:pt x="967887" y="689918"/>
                </a:lnTo>
                <a:lnTo>
                  <a:pt x="949048" y="732006"/>
                </a:lnTo>
                <a:lnTo>
                  <a:pt x="926600" y="771940"/>
                </a:lnTo>
                <a:lnTo>
                  <a:pt x="900751" y="809510"/>
                </a:lnTo>
                <a:lnTo>
                  <a:pt x="871712" y="844504"/>
                </a:lnTo>
                <a:lnTo>
                  <a:pt x="839694" y="876712"/>
                </a:lnTo>
                <a:lnTo>
                  <a:pt x="804905" y="905921"/>
                </a:lnTo>
                <a:lnTo>
                  <a:pt x="767557" y="931921"/>
                </a:lnTo>
                <a:lnTo>
                  <a:pt x="727860" y="954501"/>
                </a:lnTo>
                <a:lnTo>
                  <a:pt x="686023" y="973448"/>
                </a:lnTo>
                <a:lnTo>
                  <a:pt x="642257" y="988553"/>
                </a:lnTo>
                <a:lnTo>
                  <a:pt x="596771" y="999604"/>
                </a:lnTo>
                <a:lnTo>
                  <a:pt x="549777" y="1006389"/>
                </a:lnTo>
                <a:lnTo>
                  <a:pt x="501484" y="1008698"/>
                </a:lnTo>
                <a:lnTo>
                  <a:pt x="453188" y="1006389"/>
                </a:lnTo>
                <a:lnTo>
                  <a:pt x="406191" y="999604"/>
                </a:lnTo>
                <a:lnTo>
                  <a:pt x="360702" y="988553"/>
                </a:lnTo>
                <a:lnTo>
                  <a:pt x="316933" y="973448"/>
                </a:lnTo>
                <a:lnTo>
                  <a:pt x="275093" y="954501"/>
                </a:lnTo>
                <a:lnTo>
                  <a:pt x="235393" y="931921"/>
                </a:lnTo>
                <a:lnTo>
                  <a:pt x="198042" y="905921"/>
                </a:lnTo>
                <a:lnTo>
                  <a:pt x="163251" y="876712"/>
                </a:lnTo>
                <a:lnTo>
                  <a:pt x="131230" y="844504"/>
                </a:lnTo>
                <a:lnTo>
                  <a:pt x="102189" y="809510"/>
                </a:lnTo>
                <a:lnTo>
                  <a:pt x="76339" y="771940"/>
                </a:lnTo>
                <a:lnTo>
                  <a:pt x="53888" y="732006"/>
                </a:lnTo>
                <a:lnTo>
                  <a:pt x="35049" y="689918"/>
                </a:lnTo>
                <a:lnTo>
                  <a:pt x="20030" y="645888"/>
                </a:lnTo>
                <a:lnTo>
                  <a:pt x="9042" y="600128"/>
                </a:lnTo>
                <a:lnTo>
                  <a:pt x="2295" y="552848"/>
                </a:lnTo>
                <a:lnTo>
                  <a:pt x="0" y="504260"/>
                </a:lnTo>
                <a:close/>
              </a:path>
            </a:pathLst>
          </a:custGeom>
          <a:ln w="4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31388" y="3021027"/>
            <a:ext cx="875030" cy="3917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100" spc="10" dirty="0">
                <a:latin typeface="MS Gothic"/>
                <a:cs typeface="MS Gothic"/>
              </a:rPr>
              <a:t>更新食物</a:t>
            </a:r>
            <a:r>
              <a:rPr sz="1100" spc="10" dirty="0">
                <a:latin typeface="宋体"/>
                <a:cs typeface="宋体"/>
              </a:rPr>
              <a:t>销</a:t>
            </a:r>
            <a:r>
              <a:rPr sz="1100" spc="10" dirty="0">
                <a:latin typeface="MS Gothic"/>
                <a:cs typeface="MS Gothic"/>
              </a:rPr>
              <a:t>售</a:t>
            </a:r>
            <a:endParaRPr sz="1100">
              <a:latin typeface="MS Gothic"/>
              <a:cs typeface="MS Gothic"/>
            </a:endParaRPr>
          </a:p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100" spc="10" dirty="0">
                <a:latin typeface="宋体"/>
                <a:cs typeface="宋体"/>
              </a:rPr>
              <a:t>记录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27108" y="2734978"/>
            <a:ext cx="1003300" cy="1009015"/>
          </a:xfrm>
          <a:custGeom>
            <a:avLst/>
            <a:gdLst/>
            <a:ahLst/>
            <a:cxnLst/>
            <a:rect l="l" t="t" r="r" b="b"/>
            <a:pathLst>
              <a:path w="1003300" h="1009014">
                <a:moveTo>
                  <a:pt x="0" y="504260"/>
                </a:moveTo>
                <a:lnTo>
                  <a:pt x="2295" y="455701"/>
                </a:lnTo>
                <a:lnTo>
                  <a:pt x="9042" y="408447"/>
                </a:lnTo>
                <a:lnTo>
                  <a:pt x="20029" y="362710"/>
                </a:lnTo>
                <a:lnTo>
                  <a:pt x="35048" y="318700"/>
                </a:lnTo>
                <a:lnTo>
                  <a:pt x="53887" y="276629"/>
                </a:lnTo>
                <a:lnTo>
                  <a:pt x="76338" y="236709"/>
                </a:lnTo>
                <a:lnTo>
                  <a:pt x="102189" y="199151"/>
                </a:lnTo>
                <a:lnTo>
                  <a:pt x="131231" y="164167"/>
                </a:lnTo>
                <a:lnTo>
                  <a:pt x="163255" y="131967"/>
                </a:lnTo>
                <a:lnTo>
                  <a:pt x="198049" y="102764"/>
                </a:lnTo>
                <a:lnTo>
                  <a:pt x="235404" y="76768"/>
                </a:lnTo>
                <a:lnTo>
                  <a:pt x="275110" y="54192"/>
                </a:lnTo>
                <a:lnTo>
                  <a:pt x="316957" y="35247"/>
                </a:lnTo>
                <a:lnTo>
                  <a:pt x="360735" y="20143"/>
                </a:lnTo>
                <a:lnTo>
                  <a:pt x="406234" y="9093"/>
                </a:lnTo>
                <a:lnTo>
                  <a:pt x="453244" y="2308"/>
                </a:lnTo>
                <a:lnTo>
                  <a:pt x="501555" y="0"/>
                </a:lnTo>
                <a:lnTo>
                  <a:pt x="549836" y="2308"/>
                </a:lnTo>
                <a:lnTo>
                  <a:pt x="596820" y="9093"/>
                </a:lnTo>
                <a:lnTo>
                  <a:pt x="642296" y="20143"/>
                </a:lnTo>
                <a:lnTo>
                  <a:pt x="686054" y="35247"/>
                </a:lnTo>
                <a:lnTo>
                  <a:pt x="727885" y="54192"/>
                </a:lnTo>
                <a:lnTo>
                  <a:pt x="767576" y="76768"/>
                </a:lnTo>
                <a:lnTo>
                  <a:pt x="804920" y="102764"/>
                </a:lnTo>
                <a:lnTo>
                  <a:pt x="839704" y="131967"/>
                </a:lnTo>
                <a:lnTo>
                  <a:pt x="871720" y="164167"/>
                </a:lnTo>
                <a:lnTo>
                  <a:pt x="900756" y="199151"/>
                </a:lnTo>
                <a:lnTo>
                  <a:pt x="926603" y="236709"/>
                </a:lnTo>
                <a:lnTo>
                  <a:pt x="949050" y="276629"/>
                </a:lnTo>
                <a:lnTo>
                  <a:pt x="967887" y="318700"/>
                </a:lnTo>
                <a:lnTo>
                  <a:pt x="982905" y="362710"/>
                </a:lnTo>
                <a:lnTo>
                  <a:pt x="993891" y="408447"/>
                </a:lnTo>
                <a:lnTo>
                  <a:pt x="1000638" y="455701"/>
                </a:lnTo>
                <a:lnTo>
                  <a:pt x="1002933" y="504260"/>
                </a:lnTo>
                <a:lnTo>
                  <a:pt x="1000638" y="552848"/>
                </a:lnTo>
                <a:lnTo>
                  <a:pt x="993891" y="600128"/>
                </a:lnTo>
                <a:lnTo>
                  <a:pt x="982905" y="645888"/>
                </a:lnTo>
                <a:lnTo>
                  <a:pt x="967887" y="689918"/>
                </a:lnTo>
                <a:lnTo>
                  <a:pt x="949050" y="732006"/>
                </a:lnTo>
                <a:lnTo>
                  <a:pt x="926603" y="771940"/>
                </a:lnTo>
                <a:lnTo>
                  <a:pt x="900756" y="809510"/>
                </a:lnTo>
                <a:lnTo>
                  <a:pt x="871720" y="844504"/>
                </a:lnTo>
                <a:lnTo>
                  <a:pt x="839704" y="876712"/>
                </a:lnTo>
                <a:lnTo>
                  <a:pt x="804920" y="905921"/>
                </a:lnTo>
                <a:lnTo>
                  <a:pt x="767576" y="931921"/>
                </a:lnTo>
                <a:lnTo>
                  <a:pt x="727885" y="954501"/>
                </a:lnTo>
                <a:lnTo>
                  <a:pt x="686054" y="973448"/>
                </a:lnTo>
                <a:lnTo>
                  <a:pt x="642296" y="988553"/>
                </a:lnTo>
                <a:lnTo>
                  <a:pt x="596820" y="999604"/>
                </a:lnTo>
                <a:lnTo>
                  <a:pt x="549836" y="1006389"/>
                </a:lnTo>
                <a:lnTo>
                  <a:pt x="501555" y="1008698"/>
                </a:lnTo>
                <a:lnTo>
                  <a:pt x="453244" y="1006389"/>
                </a:lnTo>
                <a:lnTo>
                  <a:pt x="406234" y="999604"/>
                </a:lnTo>
                <a:lnTo>
                  <a:pt x="360735" y="988553"/>
                </a:lnTo>
                <a:lnTo>
                  <a:pt x="316957" y="973448"/>
                </a:lnTo>
                <a:lnTo>
                  <a:pt x="275110" y="954501"/>
                </a:lnTo>
                <a:lnTo>
                  <a:pt x="235404" y="931921"/>
                </a:lnTo>
                <a:lnTo>
                  <a:pt x="198049" y="905921"/>
                </a:lnTo>
                <a:lnTo>
                  <a:pt x="163255" y="876712"/>
                </a:lnTo>
                <a:lnTo>
                  <a:pt x="131231" y="844504"/>
                </a:lnTo>
                <a:lnTo>
                  <a:pt x="102189" y="809510"/>
                </a:lnTo>
                <a:lnTo>
                  <a:pt x="76338" y="771940"/>
                </a:lnTo>
                <a:lnTo>
                  <a:pt x="53887" y="732006"/>
                </a:lnTo>
                <a:lnTo>
                  <a:pt x="35048" y="689918"/>
                </a:lnTo>
                <a:lnTo>
                  <a:pt x="20029" y="645888"/>
                </a:lnTo>
                <a:lnTo>
                  <a:pt x="9042" y="600128"/>
                </a:lnTo>
                <a:lnTo>
                  <a:pt x="2295" y="552848"/>
                </a:lnTo>
                <a:lnTo>
                  <a:pt x="0" y="504260"/>
                </a:lnTo>
                <a:close/>
              </a:path>
            </a:pathLst>
          </a:custGeom>
          <a:ln w="4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91366" y="3130991"/>
            <a:ext cx="8750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更新</a:t>
            </a:r>
            <a:r>
              <a:rPr sz="1100" spc="10" dirty="0">
                <a:latin typeface="宋体"/>
                <a:cs typeface="宋体"/>
              </a:rPr>
              <a:t>库</a:t>
            </a:r>
            <a:r>
              <a:rPr sz="1100" spc="10" dirty="0">
                <a:latin typeface="MS Gothic"/>
                <a:cs typeface="MS Gothic"/>
              </a:rPr>
              <a:t>存</a:t>
            </a:r>
            <a:r>
              <a:rPr sz="1100" spc="10" dirty="0">
                <a:latin typeface="宋体"/>
                <a:cs typeface="宋体"/>
              </a:rPr>
              <a:t>记录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64437" y="4701967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2986" y="0"/>
                </a:lnTo>
              </a:path>
            </a:pathLst>
          </a:custGeom>
          <a:ln w="4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64437" y="4197582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2986" y="0"/>
                </a:lnTo>
              </a:path>
            </a:pathLst>
          </a:custGeom>
          <a:ln w="4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28695" y="4341571"/>
            <a:ext cx="8750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食物</a:t>
            </a:r>
            <a:r>
              <a:rPr sz="1100" spc="10" dirty="0">
                <a:latin typeface="宋体"/>
                <a:cs typeface="宋体"/>
              </a:rPr>
              <a:t>销</a:t>
            </a:r>
            <a:r>
              <a:rPr sz="1100" spc="10" dirty="0">
                <a:latin typeface="MS Gothic"/>
                <a:cs typeface="MS Gothic"/>
              </a:rPr>
              <a:t>售</a:t>
            </a:r>
            <a:r>
              <a:rPr sz="1100" spc="10" dirty="0">
                <a:latin typeface="宋体"/>
                <a:cs typeface="宋体"/>
              </a:rPr>
              <a:t>记录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9664" y="4701967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2933" y="0"/>
                </a:lnTo>
              </a:path>
            </a:pathLst>
          </a:custGeom>
          <a:ln w="4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79664" y="4197582"/>
            <a:ext cx="1003300" cy="0"/>
          </a:xfrm>
          <a:custGeom>
            <a:avLst/>
            <a:gdLst/>
            <a:ahLst/>
            <a:cxnLst/>
            <a:rect l="l" t="t" r="r" b="b"/>
            <a:pathLst>
              <a:path w="1003300">
                <a:moveTo>
                  <a:pt x="0" y="0"/>
                </a:moveTo>
                <a:lnTo>
                  <a:pt x="1002933" y="0"/>
                </a:lnTo>
              </a:path>
            </a:pathLst>
          </a:custGeom>
          <a:ln w="4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685454" y="4341571"/>
            <a:ext cx="59182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宋体"/>
                <a:cs typeface="宋体"/>
              </a:rPr>
              <a:t>库存记录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270064" y="5055020"/>
            <a:ext cx="1003300" cy="1009015"/>
          </a:xfrm>
          <a:custGeom>
            <a:avLst/>
            <a:gdLst/>
            <a:ahLst/>
            <a:cxnLst/>
            <a:rect l="l" t="t" r="r" b="b"/>
            <a:pathLst>
              <a:path w="1003300" h="1009014">
                <a:moveTo>
                  <a:pt x="0" y="504384"/>
                </a:moveTo>
                <a:lnTo>
                  <a:pt x="2295" y="455808"/>
                </a:lnTo>
                <a:lnTo>
                  <a:pt x="9042" y="408538"/>
                </a:lnTo>
                <a:lnTo>
                  <a:pt x="20029" y="362785"/>
                </a:lnTo>
                <a:lnTo>
                  <a:pt x="35048" y="318763"/>
                </a:lnTo>
                <a:lnTo>
                  <a:pt x="53887" y="276681"/>
                </a:lnTo>
                <a:lnTo>
                  <a:pt x="76338" y="236751"/>
                </a:lnTo>
                <a:lnTo>
                  <a:pt x="102189" y="199184"/>
                </a:lnTo>
                <a:lnTo>
                  <a:pt x="131231" y="164192"/>
                </a:lnTo>
                <a:lnTo>
                  <a:pt x="163255" y="131986"/>
                </a:lnTo>
                <a:lnTo>
                  <a:pt x="198049" y="102778"/>
                </a:lnTo>
                <a:lnTo>
                  <a:pt x="235404" y="76778"/>
                </a:lnTo>
                <a:lnTo>
                  <a:pt x="275110" y="54199"/>
                </a:lnTo>
                <a:lnTo>
                  <a:pt x="316957" y="35251"/>
                </a:lnTo>
                <a:lnTo>
                  <a:pt x="360735" y="20145"/>
                </a:lnTo>
                <a:lnTo>
                  <a:pt x="406234" y="9094"/>
                </a:lnTo>
                <a:lnTo>
                  <a:pt x="453244" y="2308"/>
                </a:lnTo>
                <a:lnTo>
                  <a:pt x="501555" y="0"/>
                </a:lnTo>
                <a:lnTo>
                  <a:pt x="549838" y="2308"/>
                </a:lnTo>
                <a:lnTo>
                  <a:pt x="596827" y="9094"/>
                </a:lnTo>
                <a:lnTo>
                  <a:pt x="642311" y="20145"/>
                </a:lnTo>
                <a:lnTo>
                  <a:pt x="686079" y="35251"/>
                </a:lnTo>
                <a:lnTo>
                  <a:pt x="727921" y="54199"/>
                </a:lnTo>
                <a:lnTo>
                  <a:pt x="767627" y="76778"/>
                </a:lnTo>
                <a:lnTo>
                  <a:pt x="804985" y="102778"/>
                </a:lnTo>
                <a:lnTo>
                  <a:pt x="839785" y="131986"/>
                </a:lnTo>
                <a:lnTo>
                  <a:pt x="871816" y="164192"/>
                </a:lnTo>
                <a:lnTo>
                  <a:pt x="900868" y="199184"/>
                </a:lnTo>
                <a:lnTo>
                  <a:pt x="926729" y="236751"/>
                </a:lnTo>
                <a:lnTo>
                  <a:pt x="949190" y="276681"/>
                </a:lnTo>
                <a:lnTo>
                  <a:pt x="968040" y="318763"/>
                </a:lnTo>
                <a:lnTo>
                  <a:pt x="983067" y="362785"/>
                </a:lnTo>
                <a:lnTo>
                  <a:pt x="994062" y="408538"/>
                </a:lnTo>
                <a:lnTo>
                  <a:pt x="1000813" y="455808"/>
                </a:lnTo>
                <a:lnTo>
                  <a:pt x="1003110" y="504384"/>
                </a:lnTo>
                <a:lnTo>
                  <a:pt x="1000813" y="552958"/>
                </a:lnTo>
                <a:lnTo>
                  <a:pt x="994062" y="600225"/>
                </a:lnTo>
                <a:lnTo>
                  <a:pt x="983067" y="645975"/>
                </a:lnTo>
                <a:lnTo>
                  <a:pt x="968040" y="689996"/>
                </a:lnTo>
                <a:lnTo>
                  <a:pt x="949190" y="732076"/>
                </a:lnTo>
                <a:lnTo>
                  <a:pt x="926729" y="772005"/>
                </a:lnTo>
                <a:lnTo>
                  <a:pt x="900868" y="809570"/>
                </a:lnTo>
                <a:lnTo>
                  <a:pt x="871816" y="844561"/>
                </a:lnTo>
                <a:lnTo>
                  <a:pt x="839785" y="876766"/>
                </a:lnTo>
                <a:lnTo>
                  <a:pt x="804985" y="905974"/>
                </a:lnTo>
                <a:lnTo>
                  <a:pt x="767627" y="931973"/>
                </a:lnTo>
                <a:lnTo>
                  <a:pt x="727921" y="954553"/>
                </a:lnTo>
                <a:lnTo>
                  <a:pt x="686079" y="973500"/>
                </a:lnTo>
                <a:lnTo>
                  <a:pt x="642311" y="988606"/>
                </a:lnTo>
                <a:lnTo>
                  <a:pt x="596827" y="999657"/>
                </a:lnTo>
                <a:lnTo>
                  <a:pt x="549838" y="1006442"/>
                </a:lnTo>
                <a:lnTo>
                  <a:pt x="501555" y="1008751"/>
                </a:lnTo>
                <a:lnTo>
                  <a:pt x="453244" y="1006442"/>
                </a:lnTo>
                <a:lnTo>
                  <a:pt x="406234" y="999657"/>
                </a:lnTo>
                <a:lnTo>
                  <a:pt x="360735" y="988606"/>
                </a:lnTo>
                <a:lnTo>
                  <a:pt x="316957" y="973500"/>
                </a:lnTo>
                <a:lnTo>
                  <a:pt x="275110" y="954553"/>
                </a:lnTo>
                <a:lnTo>
                  <a:pt x="235404" y="931973"/>
                </a:lnTo>
                <a:lnTo>
                  <a:pt x="198049" y="905974"/>
                </a:lnTo>
                <a:lnTo>
                  <a:pt x="163255" y="876766"/>
                </a:lnTo>
                <a:lnTo>
                  <a:pt x="131231" y="844561"/>
                </a:lnTo>
                <a:lnTo>
                  <a:pt x="102189" y="809570"/>
                </a:lnTo>
                <a:lnTo>
                  <a:pt x="76338" y="772005"/>
                </a:lnTo>
                <a:lnTo>
                  <a:pt x="53887" y="732076"/>
                </a:lnTo>
                <a:lnTo>
                  <a:pt x="35048" y="689996"/>
                </a:lnTo>
                <a:lnTo>
                  <a:pt x="20029" y="645975"/>
                </a:lnTo>
                <a:lnTo>
                  <a:pt x="9042" y="600225"/>
                </a:lnTo>
                <a:lnTo>
                  <a:pt x="2295" y="552958"/>
                </a:lnTo>
                <a:lnTo>
                  <a:pt x="0" y="504384"/>
                </a:lnTo>
                <a:close/>
              </a:path>
            </a:pathLst>
          </a:custGeom>
          <a:ln w="42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334322" y="5451192"/>
            <a:ext cx="8750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宋体"/>
                <a:cs typeface="宋体"/>
              </a:rPr>
              <a:t>产生管理报表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79664" y="5307222"/>
            <a:ext cx="1003300" cy="504825"/>
          </a:xfrm>
          <a:prstGeom prst="rect">
            <a:avLst/>
          </a:prstGeom>
          <a:ln w="4265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288925">
              <a:lnSpc>
                <a:spcPct val="100000"/>
              </a:lnSpc>
            </a:pPr>
            <a:r>
              <a:rPr sz="1100" spc="10" dirty="0">
                <a:latin typeface="MS Gothic"/>
                <a:cs typeface="MS Gothic"/>
              </a:rPr>
              <a:t>管理者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67423" y="1473972"/>
            <a:ext cx="2106295" cy="166370"/>
          </a:xfrm>
          <a:custGeom>
            <a:avLst/>
            <a:gdLst/>
            <a:ahLst/>
            <a:cxnLst/>
            <a:rect l="l" t="t" r="r" b="b"/>
            <a:pathLst>
              <a:path w="2106295" h="166369">
                <a:moveTo>
                  <a:pt x="0" y="0"/>
                </a:moveTo>
                <a:lnTo>
                  <a:pt x="2106196" y="0"/>
                </a:lnTo>
                <a:lnTo>
                  <a:pt x="2106196" y="166188"/>
                </a:lnTo>
              </a:path>
            </a:pathLst>
          </a:custGeom>
          <a:ln w="4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24790" y="1627884"/>
            <a:ext cx="97790" cy="98425"/>
          </a:xfrm>
          <a:custGeom>
            <a:avLst/>
            <a:gdLst/>
            <a:ahLst/>
            <a:cxnLst/>
            <a:rect l="l" t="t" r="r" b="b"/>
            <a:pathLst>
              <a:path w="97789" h="98425">
                <a:moveTo>
                  <a:pt x="97657" y="0"/>
                </a:moveTo>
                <a:lnTo>
                  <a:pt x="0" y="0"/>
                </a:lnTo>
                <a:lnTo>
                  <a:pt x="48828" y="98219"/>
                </a:lnTo>
                <a:lnTo>
                  <a:pt x="976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257503" y="1380221"/>
            <a:ext cx="566420" cy="187960"/>
          </a:xfrm>
          <a:custGeom>
            <a:avLst/>
            <a:gdLst/>
            <a:ahLst/>
            <a:cxnLst/>
            <a:rect l="l" t="t" r="r" b="b"/>
            <a:pathLst>
              <a:path w="566420" h="187959">
                <a:moveTo>
                  <a:pt x="0" y="187344"/>
                </a:moveTo>
                <a:lnTo>
                  <a:pt x="566129" y="187344"/>
                </a:lnTo>
                <a:lnTo>
                  <a:pt x="566129" y="0"/>
                </a:lnTo>
                <a:lnTo>
                  <a:pt x="0" y="0"/>
                </a:lnTo>
                <a:lnTo>
                  <a:pt x="0" y="187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364437" y="1221735"/>
            <a:ext cx="2477770" cy="504825"/>
          </a:xfrm>
          <a:prstGeom prst="rect">
            <a:avLst/>
          </a:prstGeom>
          <a:ln w="4265">
            <a:solidFill>
              <a:srgbClr val="000000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050">
              <a:latin typeface="Times New Roman"/>
              <a:cs typeface="Times New Roman"/>
            </a:endParaRPr>
          </a:p>
          <a:p>
            <a:pPr marL="359410">
              <a:lnSpc>
                <a:spcPct val="100000"/>
              </a:lnSpc>
              <a:tabLst>
                <a:tab pos="1898014" algn="l"/>
              </a:tabLst>
            </a:pPr>
            <a:r>
              <a:rPr sz="1100" spc="10" dirty="0">
                <a:latin typeface="宋体"/>
                <a:cs typeface="宋体"/>
              </a:rPr>
              <a:t>顾客	顾客订单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65939" y="1812044"/>
            <a:ext cx="2106930" cy="419100"/>
          </a:xfrm>
          <a:custGeom>
            <a:avLst/>
            <a:gdLst/>
            <a:ahLst/>
            <a:cxnLst/>
            <a:rect l="l" t="t" r="r" b="b"/>
            <a:pathLst>
              <a:path w="2106929" h="419100">
                <a:moveTo>
                  <a:pt x="2106302" y="418496"/>
                </a:moveTo>
                <a:lnTo>
                  <a:pt x="0" y="418496"/>
                </a:lnTo>
                <a:lnTo>
                  <a:pt x="0" y="0"/>
                </a:lnTo>
              </a:path>
            </a:pathLst>
          </a:custGeom>
          <a:ln w="42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17110" y="1726103"/>
            <a:ext cx="97790" cy="98425"/>
          </a:xfrm>
          <a:custGeom>
            <a:avLst/>
            <a:gdLst/>
            <a:ahLst/>
            <a:cxnLst/>
            <a:rect l="l" t="t" r="r" b="b"/>
            <a:pathLst>
              <a:path w="97789" h="98425">
                <a:moveTo>
                  <a:pt x="48828" y="0"/>
                </a:moveTo>
                <a:lnTo>
                  <a:pt x="0" y="98217"/>
                </a:lnTo>
                <a:lnTo>
                  <a:pt x="97656" y="98217"/>
                </a:lnTo>
                <a:lnTo>
                  <a:pt x="48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521482" y="2136789"/>
            <a:ext cx="283210" cy="187960"/>
          </a:xfrm>
          <a:custGeom>
            <a:avLst/>
            <a:gdLst/>
            <a:ahLst/>
            <a:cxnLst/>
            <a:rect l="l" t="t" r="r" b="b"/>
            <a:pathLst>
              <a:path w="283210" h="187960">
                <a:moveTo>
                  <a:pt x="0" y="187344"/>
                </a:moveTo>
                <a:lnTo>
                  <a:pt x="283064" y="187344"/>
                </a:lnTo>
                <a:lnTo>
                  <a:pt x="283064" y="0"/>
                </a:lnTo>
                <a:lnTo>
                  <a:pt x="0" y="0"/>
                </a:lnTo>
                <a:lnTo>
                  <a:pt x="0" y="187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514089" y="2122292"/>
            <a:ext cx="30861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收条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975175" y="1812044"/>
            <a:ext cx="2006600" cy="419100"/>
          </a:xfrm>
          <a:custGeom>
            <a:avLst/>
            <a:gdLst/>
            <a:ahLst/>
            <a:cxnLst/>
            <a:rect l="l" t="t" r="r" b="b"/>
            <a:pathLst>
              <a:path w="2006600" h="419100">
                <a:moveTo>
                  <a:pt x="0" y="418496"/>
                </a:moveTo>
                <a:lnTo>
                  <a:pt x="2006044" y="418496"/>
                </a:lnTo>
                <a:lnTo>
                  <a:pt x="2006044" y="0"/>
                </a:lnTo>
              </a:path>
            </a:pathLst>
          </a:custGeom>
          <a:ln w="42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932390" y="1726103"/>
            <a:ext cx="97790" cy="98425"/>
          </a:xfrm>
          <a:custGeom>
            <a:avLst/>
            <a:gdLst/>
            <a:ahLst/>
            <a:cxnLst/>
            <a:rect l="l" t="t" r="r" b="b"/>
            <a:pathLst>
              <a:path w="97790" h="98425">
                <a:moveTo>
                  <a:pt x="48828" y="0"/>
                </a:moveTo>
                <a:lnTo>
                  <a:pt x="0" y="98217"/>
                </a:lnTo>
                <a:lnTo>
                  <a:pt x="97656" y="98217"/>
                </a:lnTo>
                <a:lnTo>
                  <a:pt x="48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40601" y="2136789"/>
            <a:ext cx="566420" cy="187960"/>
          </a:xfrm>
          <a:custGeom>
            <a:avLst/>
            <a:gdLst/>
            <a:ahLst/>
            <a:cxnLst/>
            <a:rect l="l" t="t" r="r" b="b"/>
            <a:pathLst>
              <a:path w="566420" h="187960">
                <a:moveTo>
                  <a:pt x="0" y="187344"/>
                </a:moveTo>
                <a:lnTo>
                  <a:pt x="566129" y="187344"/>
                </a:lnTo>
                <a:lnTo>
                  <a:pt x="566129" y="0"/>
                </a:lnTo>
                <a:lnTo>
                  <a:pt x="0" y="0"/>
                </a:lnTo>
                <a:lnTo>
                  <a:pt x="0" y="187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933210" y="2122292"/>
            <a:ext cx="59182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食物</a:t>
            </a:r>
            <a:r>
              <a:rPr sz="1100" spc="10" dirty="0">
                <a:latin typeface="宋体"/>
                <a:cs typeface="宋体"/>
              </a:rPr>
              <a:t>订单</a:t>
            </a:r>
            <a:endParaRPr sz="1100">
              <a:latin typeface="宋体"/>
              <a:cs typeface="宋体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348968" y="2734978"/>
            <a:ext cx="1125220" cy="471170"/>
          </a:xfrm>
          <a:custGeom>
            <a:avLst/>
            <a:gdLst/>
            <a:ahLst/>
            <a:cxnLst/>
            <a:rect l="l" t="t" r="r" b="b"/>
            <a:pathLst>
              <a:path w="1125220" h="471169">
                <a:moveTo>
                  <a:pt x="1124651" y="0"/>
                </a:moveTo>
                <a:lnTo>
                  <a:pt x="0" y="471164"/>
                </a:lnTo>
              </a:path>
            </a:pathLst>
          </a:custGeom>
          <a:ln w="4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70063" y="3156145"/>
            <a:ext cx="109220" cy="90805"/>
          </a:xfrm>
          <a:custGeom>
            <a:avLst/>
            <a:gdLst/>
            <a:ahLst/>
            <a:cxnLst/>
            <a:rect l="l" t="t" r="r" b="b"/>
            <a:pathLst>
              <a:path w="109220" h="90805">
                <a:moveTo>
                  <a:pt x="71474" y="0"/>
                </a:moveTo>
                <a:lnTo>
                  <a:pt x="0" y="83094"/>
                </a:lnTo>
                <a:lnTo>
                  <a:pt x="108979" y="90745"/>
                </a:lnTo>
                <a:lnTo>
                  <a:pt x="714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76165" y="2878860"/>
            <a:ext cx="59182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食物</a:t>
            </a:r>
            <a:r>
              <a:rPr sz="1100" spc="10" dirty="0">
                <a:latin typeface="宋体"/>
                <a:cs typeface="宋体"/>
              </a:rPr>
              <a:t>销</a:t>
            </a:r>
            <a:r>
              <a:rPr sz="1100" spc="10" dirty="0">
                <a:latin typeface="MS Gothic"/>
                <a:cs typeface="MS Gothic"/>
              </a:rPr>
              <a:t>售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473619" y="2734978"/>
            <a:ext cx="1075690" cy="470534"/>
          </a:xfrm>
          <a:custGeom>
            <a:avLst/>
            <a:gdLst/>
            <a:ahLst/>
            <a:cxnLst/>
            <a:rect l="l" t="t" r="r" b="b"/>
            <a:pathLst>
              <a:path w="1075689" h="470535">
                <a:moveTo>
                  <a:pt x="0" y="0"/>
                </a:moveTo>
                <a:lnTo>
                  <a:pt x="1075115" y="470097"/>
                </a:lnTo>
              </a:path>
            </a:pathLst>
          </a:custGeom>
          <a:ln w="42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18128" y="3155077"/>
            <a:ext cx="109220" cy="90170"/>
          </a:xfrm>
          <a:custGeom>
            <a:avLst/>
            <a:gdLst/>
            <a:ahLst/>
            <a:cxnLst/>
            <a:rect l="l" t="t" r="r" b="b"/>
            <a:pathLst>
              <a:path w="109220" h="90169">
                <a:moveTo>
                  <a:pt x="38921" y="0"/>
                </a:moveTo>
                <a:lnTo>
                  <a:pt x="0" y="90034"/>
                </a:lnTo>
                <a:lnTo>
                  <a:pt x="108979" y="84162"/>
                </a:lnTo>
                <a:lnTo>
                  <a:pt x="389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4754599" y="2878860"/>
            <a:ext cx="59182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存</a:t>
            </a:r>
            <a:r>
              <a:rPr sz="1100" spc="10" dirty="0">
                <a:latin typeface="宋体"/>
                <a:cs typeface="宋体"/>
              </a:rPr>
              <a:t>货</a:t>
            </a:r>
            <a:r>
              <a:rPr sz="1100" spc="10" dirty="0">
                <a:latin typeface="MS Gothic"/>
                <a:cs typeface="MS Gothic"/>
              </a:rPr>
              <a:t>信息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078420" y="3844564"/>
            <a:ext cx="316230" cy="605790"/>
          </a:xfrm>
          <a:custGeom>
            <a:avLst/>
            <a:gdLst/>
            <a:ahLst/>
            <a:cxnLst/>
            <a:rect l="l" t="t" r="r" b="b"/>
            <a:pathLst>
              <a:path w="316229" h="605789">
                <a:moveTo>
                  <a:pt x="0" y="0"/>
                </a:moveTo>
                <a:lnTo>
                  <a:pt x="0" y="605201"/>
                </a:lnTo>
                <a:lnTo>
                  <a:pt x="315794" y="605201"/>
                </a:lnTo>
              </a:path>
            </a:pathLst>
          </a:custGeom>
          <a:ln w="42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382006" y="4400603"/>
            <a:ext cx="97790" cy="98425"/>
          </a:xfrm>
          <a:custGeom>
            <a:avLst/>
            <a:gdLst/>
            <a:ahLst/>
            <a:cxnLst/>
            <a:rect l="l" t="t" r="r" b="b"/>
            <a:pathLst>
              <a:path w="97789" h="98425">
                <a:moveTo>
                  <a:pt x="0" y="0"/>
                </a:moveTo>
                <a:lnTo>
                  <a:pt x="0" y="98272"/>
                </a:lnTo>
                <a:lnTo>
                  <a:pt x="97656" y="491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506982" y="3952588"/>
            <a:ext cx="1132840" cy="187960"/>
          </a:xfrm>
          <a:custGeom>
            <a:avLst/>
            <a:gdLst/>
            <a:ahLst/>
            <a:cxnLst/>
            <a:rect l="l" t="t" r="r" b="b"/>
            <a:pathLst>
              <a:path w="1132840" h="187960">
                <a:moveTo>
                  <a:pt x="0" y="187344"/>
                </a:moveTo>
                <a:lnTo>
                  <a:pt x="1132258" y="187344"/>
                </a:lnTo>
                <a:lnTo>
                  <a:pt x="1132258" y="0"/>
                </a:lnTo>
                <a:lnTo>
                  <a:pt x="0" y="0"/>
                </a:lnTo>
                <a:lnTo>
                  <a:pt x="0" y="187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499590" y="3938091"/>
            <a:ext cx="115824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格式化的</a:t>
            </a:r>
            <a:r>
              <a:rPr sz="1100" spc="10" dirty="0">
                <a:latin typeface="宋体"/>
                <a:cs typeface="宋体"/>
              </a:rPr>
              <a:t>库</a:t>
            </a:r>
            <a:r>
              <a:rPr sz="1100" spc="10" dirty="0">
                <a:latin typeface="MS Gothic"/>
                <a:cs typeface="MS Gothic"/>
              </a:rPr>
              <a:t>存数据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452874" y="3743677"/>
            <a:ext cx="316230" cy="706120"/>
          </a:xfrm>
          <a:custGeom>
            <a:avLst/>
            <a:gdLst/>
            <a:ahLst/>
            <a:cxnLst/>
            <a:rect l="l" t="t" r="r" b="b"/>
            <a:pathLst>
              <a:path w="316230" h="706120">
                <a:moveTo>
                  <a:pt x="315741" y="0"/>
                </a:moveTo>
                <a:lnTo>
                  <a:pt x="315741" y="706088"/>
                </a:lnTo>
                <a:lnTo>
                  <a:pt x="0" y="706088"/>
                </a:lnTo>
              </a:path>
            </a:pathLst>
          </a:custGeom>
          <a:ln w="42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367423" y="4400603"/>
            <a:ext cx="97790" cy="98425"/>
          </a:xfrm>
          <a:custGeom>
            <a:avLst/>
            <a:gdLst/>
            <a:ahLst/>
            <a:cxnLst/>
            <a:rect l="l" t="t" r="r" b="b"/>
            <a:pathLst>
              <a:path w="97789" h="98425">
                <a:moveTo>
                  <a:pt x="97657" y="0"/>
                </a:moveTo>
                <a:lnTo>
                  <a:pt x="0" y="49162"/>
                </a:lnTo>
                <a:lnTo>
                  <a:pt x="97657" y="98272"/>
                </a:lnTo>
                <a:lnTo>
                  <a:pt x="976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055628" y="3952588"/>
            <a:ext cx="1415415" cy="187960"/>
          </a:xfrm>
          <a:custGeom>
            <a:avLst/>
            <a:gdLst/>
            <a:ahLst/>
            <a:cxnLst/>
            <a:rect l="l" t="t" r="r" b="b"/>
            <a:pathLst>
              <a:path w="1415414" h="187960">
                <a:moveTo>
                  <a:pt x="0" y="187344"/>
                </a:moveTo>
                <a:lnTo>
                  <a:pt x="1415323" y="187344"/>
                </a:lnTo>
                <a:lnTo>
                  <a:pt x="1415323" y="0"/>
                </a:lnTo>
                <a:lnTo>
                  <a:pt x="0" y="0"/>
                </a:lnTo>
                <a:lnTo>
                  <a:pt x="0" y="187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048235" y="3938091"/>
            <a:ext cx="144081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格式化的食</a:t>
            </a:r>
            <a:r>
              <a:rPr sz="1100" spc="5" dirty="0">
                <a:latin typeface="MS Gothic"/>
                <a:cs typeface="MS Gothic"/>
              </a:rPr>
              <a:t>物</a:t>
            </a:r>
            <a:r>
              <a:rPr sz="1100" spc="5" dirty="0">
                <a:latin typeface="宋体"/>
                <a:cs typeface="宋体"/>
              </a:rPr>
              <a:t>销</a:t>
            </a:r>
            <a:r>
              <a:rPr sz="1100" spc="10" dirty="0">
                <a:latin typeface="MS Gothic"/>
                <a:cs typeface="MS Gothic"/>
              </a:rPr>
              <a:t>售数据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865939" y="4701967"/>
            <a:ext cx="1318895" cy="857885"/>
          </a:xfrm>
          <a:custGeom>
            <a:avLst/>
            <a:gdLst/>
            <a:ahLst/>
            <a:cxnLst/>
            <a:rect l="l" t="t" r="r" b="b"/>
            <a:pathLst>
              <a:path w="1318895" h="857885">
                <a:moveTo>
                  <a:pt x="0" y="0"/>
                </a:moveTo>
                <a:lnTo>
                  <a:pt x="0" y="857438"/>
                </a:lnTo>
                <a:lnTo>
                  <a:pt x="1318674" y="857438"/>
                </a:lnTo>
              </a:path>
            </a:pathLst>
          </a:custGeom>
          <a:ln w="426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72406" y="5510296"/>
            <a:ext cx="97790" cy="98425"/>
          </a:xfrm>
          <a:custGeom>
            <a:avLst/>
            <a:gdLst/>
            <a:ahLst/>
            <a:cxnLst/>
            <a:rect l="l" t="t" r="r" b="b"/>
            <a:pathLst>
              <a:path w="97789" h="98425">
                <a:moveTo>
                  <a:pt x="0" y="0"/>
                </a:moveTo>
                <a:lnTo>
                  <a:pt x="0" y="98218"/>
                </a:lnTo>
                <a:lnTo>
                  <a:pt x="97656" y="491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711827" y="5465724"/>
            <a:ext cx="849630" cy="187960"/>
          </a:xfrm>
          <a:custGeom>
            <a:avLst/>
            <a:gdLst/>
            <a:ahLst/>
            <a:cxnLst/>
            <a:rect l="l" t="t" r="r" b="b"/>
            <a:pathLst>
              <a:path w="849630" h="187960">
                <a:moveTo>
                  <a:pt x="0" y="187344"/>
                </a:moveTo>
                <a:lnTo>
                  <a:pt x="849194" y="187344"/>
                </a:lnTo>
                <a:lnTo>
                  <a:pt x="849194" y="0"/>
                </a:lnTo>
                <a:lnTo>
                  <a:pt x="0" y="0"/>
                </a:lnTo>
                <a:lnTo>
                  <a:pt x="0" y="187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704418" y="5451192"/>
            <a:ext cx="8750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日常食物</a:t>
            </a:r>
            <a:r>
              <a:rPr sz="1100" spc="10" dirty="0">
                <a:latin typeface="宋体"/>
                <a:cs typeface="宋体"/>
              </a:rPr>
              <a:t>销</a:t>
            </a:r>
            <a:r>
              <a:rPr sz="1100" spc="10" dirty="0">
                <a:latin typeface="MS Gothic"/>
                <a:cs typeface="MS Gothic"/>
              </a:rPr>
              <a:t>售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771619" y="4701967"/>
            <a:ext cx="3209925" cy="267335"/>
          </a:xfrm>
          <a:custGeom>
            <a:avLst/>
            <a:gdLst/>
            <a:ahLst/>
            <a:cxnLst/>
            <a:rect l="l" t="t" r="r" b="b"/>
            <a:pathLst>
              <a:path w="3209925" h="267335">
                <a:moveTo>
                  <a:pt x="3209600" y="0"/>
                </a:moveTo>
                <a:lnTo>
                  <a:pt x="3209600" y="189142"/>
                </a:lnTo>
                <a:lnTo>
                  <a:pt x="0" y="189142"/>
                </a:lnTo>
                <a:lnTo>
                  <a:pt x="0" y="267112"/>
                </a:lnTo>
              </a:path>
            </a:pathLst>
          </a:custGeom>
          <a:ln w="4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722790" y="4956802"/>
            <a:ext cx="97790" cy="98425"/>
          </a:xfrm>
          <a:custGeom>
            <a:avLst/>
            <a:gdLst/>
            <a:ahLst/>
            <a:cxnLst/>
            <a:rect l="l" t="t" r="r" b="b"/>
            <a:pathLst>
              <a:path w="97789" h="98425">
                <a:moveTo>
                  <a:pt x="97657" y="0"/>
                </a:moveTo>
                <a:lnTo>
                  <a:pt x="0" y="0"/>
                </a:lnTo>
                <a:lnTo>
                  <a:pt x="48828" y="98219"/>
                </a:lnTo>
                <a:lnTo>
                  <a:pt x="976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958897" y="4797428"/>
            <a:ext cx="849630" cy="187960"/>
          </a:xfrm>
          <a:custGeom>
            <a:avLst/>
            <a:gdLst/>
            <a:ahLst/>
            <a:cxnLst/>
            <a:rect l="l" t="t" r="r" b="b"/>
            <a:pathLst>
              <a:path w="849629" h="187960">
                <a:moveTo>
                  <a:pt x="0" y="187344"/>
                </a:moveTo>
                <a:lnTo>
                  <a:pt x="849194" y="187344"/>
                </a:lnTo>
                <a:lnTo>
                  <a:pt x="849194" y="0"/>
                </a:lnTo>
                <a:lnTo>
                  <a:pt x="0" y="0"/>
                </a:lnTo>
                <a:lnTo>
                  <a:pt x="0" y="1873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4951506" y="4782896"/>
            <a:ext cx="87503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日常</a:t>
            </a:r>
            <a:r>
              <a:rPr sz="1100" spc="10" dirty="0">
                <a:latin typeface="宋体"/>
                <a:cs typeface="宋体"/>
              </a:rPr>
              <a:t>库</a:t>
            </a:r>
            <a:r>
              <a:rPr sz="1100" spc="10" dirty="0">
                <a:latin typeface="MS Gothic"/>
                <a:cs typeface="MS Gothic"/>
              </a:rPr>
              <a:t>存消耗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654176" y="5559405"/>
            <a:ext cx="740410" cy="0"/>
          </a:xfrm>
          <a:custGeom>
            <a:avLst/>
            <a:gdLst/>
            <a:ahLst/>
            <a:cxnLst/>
            <a:rect l="l" t="t" r="r" b="b"/>
            <a:pathLst>
              <a:path w="740410">
                <a:moveTo>
                  <a:pt x="0" y="0"/>
                </a:moveTo>
                <a:lnTo>
                  <a:pt x="740038" y="0"/>
                </a:lnTo>
              </a:path>
            </a:pathLst>
          </a:custGeom>
          <a:ln w="4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273174" y="5559405"/>
            <a:ext cx="815340" cy="0"/>
          </a:xfrm>
          <a:custGeom>
            <a:avLst/>
            <a:gdLst/>
            <a:ahLst/>
            <a:cxnLst/>
            <a:rect l="l" t="t" r="r" b="b"/>
            <a:pathLst>
              <a:path w="815339">
                <a:moveTo>
                  <a:pt x="0" y="0"/>
                </a:moveTo>
                <a:lnTo>
                  <a:pt x="814871" y="0"/>
                </a:lnTo>
              </a:path>
            </a:pathLst>
          </a:custGeom>
          <a:ln w="42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382006" y="5510296"/>
            <a:ext cx="97790" cy="98425"/>
          </a:xfrm>
          <a:custGeom>
            <a:avLst/>
            <a:gdLst/>
            <a:ahLst/>
            <a:cxnLst/>
            <a:rect l="l" t="t" r="r" b="b"/>
            <a:pathLst>
              <a:path w="97789" h="98425">
                <a:moveTo>
                  <a:pt x="0" y="0"/>
                </a:moveTo>
                <a:lnTo>
                  <a:pt x="0" y="98218"/>
                </a:lnTo>
                <a:lnTo>
                  <a:pt x="97656" y="4910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080654" y="5451192"/>
            <a:ext cx="591820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10" dirty="0">
                <a:latin typeface="MS Gothic"/>
                <a:cs typeface="MS Gothic"/>
              </a:rPr>
              <a:t>管理</a:t>
            </a:r>
            <a:r>
              <a:rPr sz="1100" spc="10" dirty="0">
                <a:latin typeface="宋体"/>
                <a:cs typeface="宋体"/>
              </a:rPr>
              <a:t>报</a:t>
            </a:r>
            <a:r>
              <a:rPr sz="1100" spc="10" dirty="0">
                <a:latin typeface="MS Gothic"/>
                <a:cs typeface="MS Gothic"/>
              </a:rPr>
              <a:t>表</a:t>
            </a:r>
            <a:endParaRPr sz="1100">
              <a:latin typeface="MS Gothic"/>
              <a:cs typeface="MS Gothic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725" y="206755"/>
            <a:ext cx="7956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DFD</a:t>
            </a:r>
            <a:r>
              <a:rPr sz="3600" dirty="0">
                <a:latin typeface="宋体"/>
                <a:cs typeface="宋体"/>
              </a:rPr>
              <a:t>的基本元素示例</a:t>
            </a:r>
            <a:r>
              <a:rPr sz="3600" dirty="0"/>
              <a:t>:</a:t>
            </a:r>
            <a:r>
              <a:rPr sz="3600" spc="-80" dirty="0"/>
              <a:t> </a:t>
            </a:r>
            <a:r>
              <a:rPr sz="3600" spc="-5" dirty="0"/>
              <a:t>Gane-Sarson</a:t>
            </a:r>
            <a:r>
              <a:rPr sz="3600" dirty="0">
                <a:latin typeface="宋体"/>
                <a:cs typeface="宋体"/>
              </a:rPr>
              <a:t>表示法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94030" y="1122422"/>
            <a:ext cx="1038860" cy="518795"/>
          </a:xfrm>
          <a:prstGeom prst="rect">
            <a:avLst/>
          </a:prstGeom>
          <a:ln w="43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50" dirty="0">
                <a:latin typeface="MS Gothic"/>
                <a:cs typeface="MS Gothic"/>
              </a:rPr>
              <a:t>厨房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4030" y="5516978"/>
            <a:ext cx="1038860" cy="518795"/>
          </a:xfrm>
          <a:prstGeom prst="rect">
            <a:avLst/>
          </a:prstGeom>
          <a:ln w="43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150" dirty="0">
                <a:latin typeface="MS Gothic"/>
                <a:cs typeface="MS Gothic"/>
              </a:rPr>
              <a:t>管理者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49729" y="147246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1039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34925" y="1472466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>
                <a:moveTo>
                  <a:pt x="0" y="0"/>
                </a:moveTo>
                <a:lnTo>
                  <a:pt x="428455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88125" y="142198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0" y="100973"/>
                </a:lnTo>
                <a:lnTo>
                  <a:pt x="101145" y="504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96117" y="1213153"/>
            <a:ext cx="2072005" cy="346890"/>
          </a:xfrm>
          <a:prstGeom prst="rect">
            <a:avLst/>
          </a:prstGeom>
          <a:ln w="43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372745">
              <a:lnSpc>
                <a:spcPct val="100000"/>
              </a:lnSpc>
              <a:tabLst>
                <a:tab pos="1472565" algn="l"/>
              </a:tabLst>
            </a:pPr>
            <a:r>
              <a:rPr sz="1150" dirty="0">
                <a:latin typeface="宋体"/>
                <a:cs typeface="宋体"/>
              </a:rPr>
              <a:t>顾客	顾客订单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15530" y="1820023"/>
            <a:ext cx="2181860" cy="339725"/>
          </a:xfrm>
          <a:custGeom>
            <a:avLst/>
            <a:gdLst/>
            <a:ahLst/>
            <a:cxnLst/>
            <a:rect l="l" t="t" r="r" b="b"/>
            <a:pathLst>
              <a:path w="2181860" h="339725">
                <a:moveTo>
                  <a:pt x="2181526" y="339508"/>
                </a:moveTo>
                <a:lnTo>
                  <a:pt x="2181526" y="145059"/>
                </a:lnTo>
                <a:lnTo>
                  <a:pt x="0" y="145059"/>
                </a:lnTo>
                <a:lnTo>
                  <a:pt x="0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4958" y="1731671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572" y="0"/>
                </a:moveTo>
                <a:lnTo>
                  <a:pt x="0" y="100973"/>
                </a:lnTo>
                <a:lnTo>
                  <a:pt x="101145" y="100973"/>
                </a:lnTo>
                <a:lnTo>
                  <a:pt x="50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27520" y="1854153"/>
            <a:ext cx="3187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收条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35810" y="1729293"/>
            <a:ext cx="2077720" cy="430530"/>
          </a:xfrm>
          <a:custGeom>
            <a:avLst/>
            <a:gdLst/>
            <a:ahLst/>
            <a:cxnLst/>
            <a:rect l="l" t="t" r="r" b="b"/>
            <a:pathLst>
              <a:path w="2077720" h="430530">
                <a:moveTo>
                  <a:pt x="0" y="430238"/>
                </a:moveTo>
                <a:lnTo>
                  <a:pt x="0" y="235789"/>
                </a:lnTo>
                <a:lnTo>
                  <a:pt x="2077688" y="235789"/>
                </a:lnTo>
                <a:lnTo>
                  <a:pt x="2077688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62925" y="1640941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572" y="0"/>
                </a:moveTo>
                <a:lnTo>
                  <a:pt x="0" y="100973"/>
                </a:lnTo>
                <a:lnTo>
                  <a:pt x="101145" y="100973"/>
                </a:lnTo>
                <a:lnTo>
                  <a:pt x="50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33553" y="1854153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食物</a:t>
            </a:r>
            <a:r>
              <a:rPr sz="1150" dirty="0">
                <a:latin typeface="宋体"/>
                <a:cs typeface="宋体"/>
              </a:rPr>
              <a:t>订单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78826" y="2405748"/>
            <a:ext cx="1033780" cy="384175"/>
          </a:xfrm>
          <a:custGeom>
            <a:avLst/>
            <a:gdLst/>
            <a:ahLst/>
            <a:cxnLst/>
            <a:rect l="l" t="t" r="r" b="b"/>
            <a:pathLst>
              <a:path w="1033779" h="384175">
                <a:moveTo>
                  <a:pt x="1033621" y="0"/>
                </a:moveTo>
                <a:lnTo>
                  <a:pt x="0" y="384141"/>
                </a:lnTo>
              </a:path>
            </a:pathLst>
          </a:custGeom>
          <a:ln w="4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95822" y="2738122"/>
            <a:ext cx="113030" cy="94615"/>
          </a:xfrm>
          <a:custGeom>
            <a:avLst/>
            <a:gdLst/>
            <a:ahLst/>
            <a:cxnLst/>
            <a:rect l="l" t="t" r="r" b="b"/>
            <a:pathLst>
              <a:path w="113029" h="94614">
                <a:moveTo>
                  <a:pt x="77141" y="0"/>
                </a:moveTo>
                <a:lnTo>
                  <a:pt x="0" y="82499"/>
                </a:lnTo>
                <a:lnTo>
                  <a:pt x="112505" y="94571"/>
                </a:lnTo>
                <a:lnTo>
                  <a:pt x="77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48261" y="2502255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食物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03836" y="2405748"/>
            <a:ext cx="1113790" cy="483870"/>
          </a:xfrm>
          <a:custGeom>
            <a:avLst/>
            <a:gdLst/>
            <a:ahLst/>
            <a:cxnLst/>
            <a:rect l="l" t="t" r="r" b="b"/>
            <a:pathLst>
              <a:path w="1113789" h="483869">
                <a:moveTo>
                  <a:pt x="0" y="0"/>
                </a:moveTo>
                <a:lnTo>
                  <a:pt x="1113511" y="483286"/>
                </a:lnTo>
              </a:path>
            </a:pathLst>
          </a:custGeom>
          <a:ln w="4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85649" y="2837816"/>
            <a:ext cx="113030" cy="92710"/>
          </a:xfrm>
          <a:custGeom>
            <a:avLst/>
            <a:gdLst/>
            <a:ahLst/>
            <a:cxnLst/>
            <a:rect l="l" t="t" r="r" b="b"/>
            <a:pathLst>
              <a:path w="113029" h="92710">
                <a:moveTo>
                  <a:pt x="40312" y="0"/>
                </a:moveTo>
                <a:lnTo>
                  <a:pt x="0" y="92560"/>
                </a:lnTo>
                <a:lnTo>
                  <a:pt x="112872" y="86523"/>
                </a:lnTo>
                <a:lnTo>
                  <a:pt x="40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95304" y="2554206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存</a:t>
            </a:r>
            <a:r>
              <a:rPr sz="1150" dirty="0">
                <a:latin typeface="宋体"/>
                <a:cs typeface="宋体"/>
              </a:rPr>
              <a:t>货</a:t>
            </a:r>
            <a:r>
              <a:rPr sz="1150" dirty="0">
                <a:latin typeface="MS Gothic"/>
                <a:cs typeface="MS Gothic"/>
              </a:rPr>
              <a:t>信息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78456" y="3818840"/>
            <a:ext cx="551180" cy="389890"/>
          </a:xfrm>
          <a:custGeom>
            <a:avLst/>
            <a:gdLst/>
            <a:ahLst/>
            <a:cxnLst/>
            <a:rect l="l" t="t" r="r" b="b"/>
            <a:pathLst>
              <a:path w="551179" h="389889">
                <a:moveTo>
                  <a:pt x="0" y="0"/>
                </a:moveTo>
                <a:lnTo>
                  <a:pt x="551167" y="389629"/>
                </a:lnTo>
              </a:path>
            </a:pathLst>
          </a:custGeom>
          <a:ln w="43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790046" y="4159995"/>
            <a:ext cx="112395" cy="99695"/>
          </a:xfrm>
          <a:custGeom>
            <a:avLst/>
            <a:gdLst/>
            <a:ahLst/>
            <a:cxnLst/>
            <a:rect l="l" t="t" r="r" b="b"/>
            <a:pathLst>
              <a:path w="112395" h="99695">
                <a:moveTo>
                  <a:pt x="58450" y="0"/>
                </a:moveTo>
                <a:lnTo>
                  <a:pt x="0" y="82315"/>
                </a:lnTo>
                <a:lnTo>
                  <a:pt x="111771" y="99510"/>
                </a:lnTo>
                <a:lnTo>
                  <a:pt x="58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90505" y="3968857"/>
            <a:ext cx="1172845" cy="193040"/>
          </a:xfrm>
          <a:custGeom>
            <a:avLst/>
            <a:gdLst/>
            <a:ahLst/>
            <a:cxnLst/>
            <a:rect l="l" t="t" r="r" b="b"/>
            <a:pathLst>
              <a:path w="1172845" h="193039">
                <a:moveTo>
                  <a:pt x="0" y="192601"/>
                </a:moveTo>
                <a:lnTo>
                  <a:pt x="1172696" y="192601"/>
                </a:lnTo>
                <a:lnTo>
                  <a:pt x="1172696" y="0"/>
                </a:lnTo>
                <a:lnTo>
                  <a:pt x="0" y="0"/>
                </a:lnTo>
                <a:lnTo>
                  <a:pt x="0" y="192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783301" y="3954128"/>
            <a:ext cx="11982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格式化的</a:t>
            </a:r>
            <a:r>
              <a:rPr sz="1150" dirty="0">
                <a:latin typeface="宋体"/>
                <a:cs typeface="宋体"/>
              </a:rPr>
              <a:t>库</a:t>
            </a:r>
            <a:r>
              <a:rPr sz="1150" dirty="0">
                <a:latin typeface="MS Gothic"/>
                <a:cs typeface="MS Gothic"/>
              </a:rPr>
              <a:t>存数据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91325" y="3766889"/>
            <a:ext cx="455295" cy="432434"/>
          </a:xfrm>
          <a:custGeom>
            <a:avLst/>
            <a:gdLst/>
            <a:ahLst/>
            <a:cxnLst/>
            <a:rect l="l" t="t" r="r" b="b"/>
            <a:pathLst>
              <a:path w="455294" h="432435">
                <a:moveTo>
                  <a:pt x="455244" y="0"/>
                </a:moveTo>
                <a:lnTo>
                  <a:pt x="0" y="431884"/>
                </a:lnTo>
              </a:path>
            </a:pathLst>
          </a:custGeom>
          <a:ln w="43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27157" y="4153409"/>
            <a:ext cx="108585" cy="106680"/>
          </a:xfrm>
          <a:custGeom>
            <a:avLst/>
            <a:gdLst/>
            <a:ahLst/>
            <a:cxnLst/>
            <a:rect l="l" t="t" r="r" b="b"/>
            <a:pathLst>
              <a:path w="108585" h="106679">
                <a:moveTo>
                  <a:pt x="38497" y="0"/>
                </a:moveTo>
                <a:lnTo>
                  <a:pt x="0" y="106097"/>
                </a:lnTo>
                <a:lnTo>
                  <a:pt x="108162" y="73169"/>
                </a:lnTo>
                <a:lnTo>
                  <a:pt x="384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97244" y="3955503"/>
            <a:ext cx="1466215" cy="193040"/>
          </a:xfrm>
          <a:custGeom>
            <a:avLst/>
            <a:gdLst/>
            <a:ahLst/>
            <a:cxnLst/>
            <a:rect l="l" t="t" r="r" b="b"/>
            <a:pathLst>
              <a:path w="1466214" h="193039">
                <a:moveTo>
                  <a:pt x="0" y="192601"/>
                </a:moveTo>
                <a:lnTo>
                  <a:pt x="1465870" y="192601"/>
                </a:lnTo>
                <a:lnTo>
                  <a:pt x="1465870" y="0"/>
                </a:lnTo>
                <a:lnTo>
                  <a:pt x="0" y="0"/>
                </a:lnTo>
                <a:lnTo>
                  <a:pt x="0" y="192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890041" y="3940957"/>
            <a:ext cx="14916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格式化的食物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售数据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44472" y="4907698"/>
            <a:ext cx="907415" cy="735330"/>
          </a:xfrm>
          <a:custGeom>
            <a:avLst/>
            <a:gdLst/>
            <a:ahLst/>
            <a:cxnLst/>
            <a:rect l="l" t="t" r="r" b="b"/>
            <a:pathLst>
              <a:path w="907414" h="735329">
                <a:moveTo>
                  <a:pt x="0" y="0"/>
                </a:moveTo>
                <a:lnTo>
                  <a:pt x="0" y="734716"/>
                </a:lnTo>
                <a:lnTo>
                  <a:pt x="907099" y="734716"/>
                </a:lnTo>
              </a:path>
            </a:pathLst>
          </a:custGeom>
          <a:ln w="43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38928" y="5591928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0" y="100974"/>
                </a:lnTo>
                <a:lnTo>
                  <a:pt x="101145" y="504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8980" y="5546124"/>
            <a:ext cx="880110" cy="193040"/>
          </a:xfrm>
          <a:custGeom>
            <a:avLst/>
            <a:gdLst/>
            <a:ahLst/>
            <a:cxnLst/>
            <a:rect l="l" t="t" r="r" b="b"/>
            <a:pathLst>
              <a:path w="880110" h="193039">
                <a:moveTo>
                  <a:pt x="0" y="192601"/>
                </a:moveTo>
                <a:lnTo>
                  <a:pt x="879522" y="192601"/>
                </a:lnTo>
                <a:lnTo>
                  <a:pt x="879522" y="0"/>
                </a:lnTo>
                <a:lnTo>
                  <a:pt x="0" y="0"/>
                </a:lnTo>
                <a:lnTo>
                  <a:pt x="0" y="192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921777" y="5531541"/>
            <a:ext cx="9055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日常食</a:t>
            </a:r>
            <a:r>
              <a:rPr sz="1150" spc="-5" dirty="0">
                <a:latin typeface="MS Gothic"/>
                <a:cs typeface="MS Gothic"/>
              </a:rPr>
              <a:t>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26969" y="4907698"/>
            <a:ext cx="2275205" cy="298450"/>
          </a:xfrm>
          <a:custGeom>
            <a:avLst/>
            <a:gdLst/>
            <a:ahLst/>
            <a:cxnLst/>
            <a:rect l="l" t="t" r="r" b="b"/>
            <a:pathLst>
              <a:path w="2275204" h="298450">
                <a:moveTo>
                  <a:pt x="2274847" y="0"/>
                </a:moveTo>
                <a:lnTo>
                  <a:pt x="2274847" y="298148"/>
                </a:lnTo>
                <a:lnTo>
                  <a:pt x="0" y="298148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38468" y="515536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145" y="0"/>
                </a:moveTo>
                <a:lnTo>
                  <a:pt x="0" y="50487"/>
                </a:lnTo>
                <a:lnTo>
                  <a:pt x="101145" y="100975"/>
                </a:lnTo>
                <a:lnTo>
                  <a:pt x="101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32511" y="5096586"/>
            <a:ext cx="880110" cy="193040"/>
          </a:xfrm>
          <a:custGeom>
            <a:avLst/>
            <a:gdLst/>
            <a:ahLst/>
            <a:cxnLst/>
            <a:rect l="l" t="t" r="r" b="b"/>
            <a:pathLst>
              <a:path w="880110" h="193039">
                <a:moveTo>
                  <a:pt x="0" y="192601"/>
                </a:moveTo>
                <a:lnTo>
                  <a:pt x="879522" y="192601"/>
                </a:lnTo>
                <a:lnTo>
                  <a:pt x="879522" y="0"/>
                </a:lnTo>
                <a:lnTo>
                  <a:pt x="0" y="0"/>
                </a:lnTo>
                <a:lnTo>
                  <a:pt x="0" y="192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525308" y="5082004"/>
            <a:ext cx="9055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日常</a:t>
            </a:r>
            <a:r>
              <a:rPr sz="1150" dirty="0">
                <a:latin typeface="宋体"/>
                <a:cs typeface="宋体"/>
              </a:rPr>
              <a:t>库</a:t>
            </a:r>
            <a:r>
              <a:rPr sz="1150" dirty="0">
                <a:latin typeface="MS Gothic"/>
                <a:cs typeface="MS Gothic"/>
              </a:rPr>
              <a:t>存消耗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03927" y="5776243"/>
            <a:ext cx="701675" cy="0"/>
          </a:xfrm>
          <a:custGeom>
            <a:avLst/>
            <a:gdLst/>
            <a:ahLst/>
            <a:cxnLst/>
            <a:rect l="l" t="t" r="r" b="b"/>
            <a:pathLst>
              <a:path w="701675">
                <a:moveTo>
                  <a:pt x="0" y="0"/>
                </a:moveTo>
                <a:lnTo>
                  <a:pt x="701601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538467" y="5776243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5">
                <a:moveTo>
                  <a:pt x="0" y="0"/>
                </a:moveTo>
                <a:lnTo>
                  <a:pt x="779110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92885" y="5725737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0" y="100992"/>
                </a:lnTo>
                <a:lnTo>
                  <a:pt x="101145" y="505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310375" y="5665350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管理</a:t>
            </a:r>
            <a:r>
              <a:rPr sz="1150" dirty="0">
                <a:latin typeface="宋体"/>
                <a:cs typeface="宋体"/>
              </a:rPr>
              <a:t>报</a:t>
            </a:r>
            <a:r>
              <a:rPr sz="1150" dirty="0">
                <a:latin typeface="MS Gothic"/>
                <a:cs typeface="MS Gothic"/>
              </a:rPr>
              <a:t>表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889270" y="1265030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133668" y="0"/>
                </a:moveTo>
                <a:lnTo>
                  <a:pt x="164910" y="0"/>
                </a:lnTo>
                <a:lnTo>
                  <a:pt x="121074" y="5881"/>
                </a:lnTo>
                <a:lnTo>
                  <a:pt x="81681" y="22479"/>
                </a:lnTo>
                <a:lnTo>
                  <a:pt x="48304" y="48223"/>
                </a:lnTo>
                <a:lnTo>
                  <a:pt x="22517" y="81544"/>
                </a:lnTo>
                <a:lnTo>
                  <a:pt x="5891" y="120870"/>
                </a:lnTo>
                <a:lnTo>
                  <a:pt x="0" y="164632"/>
                </a:lnTo>
                <a:lnTo>
                  <a:pt x="0" y="976086"/>
                </a:lnTo>
                <a:lnTo>
                  <a:pt x="5891" y="1019848"/>
                </a:lnTo>
                <a:lnTo>
                  <a:pt x="22517" y="1059174"/>
                </a:lnTo>
                <a:lnTo>
                  <a:pt x="48304" y="1092494"/>
                </a:lnTo>
                <a:lnTo>
                  <a:pt x="81681" y="1118238"/>
                </a:lnTo>
                <a:lnTo>
                  <a:pt x="121074" y="1134836"/>
                </a:lnTo>
                <a:lnTo>
                  <a:pt x="164910" y="1140717"/>
                </a:lnTo>
                <a:lnTo>
                  <a:pt x="1133668" y="1140717"/>
                </a:lnTo>
                <a:lnTo>
                  <a:pt x="1177503" y="1134836"/>
                </a:lnTo>
                <a:lnTo>
                  <a:pt x="1216896" y="1118238"/>
                </a:lnTo>
                <a:lnTo>
                  <a:pt x="1250272" y="1092494"/>
                </a:lnTo>
                <a:lnTo>
                  <a:pt x="1276060" y="1059174"/>
                </a:lnTo>
                <a:lnTo>
                  <a:pt x="1292686" y="1019848"/>
                </a:lnTo>
                <a:lnTo>
                  <a:pt x="1298577" y="976086"/>
                </a:lnTo>
                <a:lnTo>
                  <a:pt x="1298577" y="164632"/>
                </a:lnTo>
                <a:lnTo>
                  <a:pt x="1292686" y="120870"/>
                </a:lnTo>
                <a:lnTo>
                  <a:pt x="1276060" y="81544"/>
                </a:lnTo>
                <a:lnTo>
                  <a:pt x="1250272" y="48223"/>
                </a:lnTo>
                <a:lnTo>
                  <a:pt x="1216896" y="22479"/>
                </a:lnTo>
                <a:lnTo>
                  <a:pt x="1177503" y="5881"/>
                </a:lnTo>
                <a:lnTo>
                  <a:pt x="1133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889270" y="1265030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64910" y="1140717"/>
                </a:moveTo>
                <a:lnTo>
                  <a:pt x="1133667" y="1140717"/>
                </a:lnTo>
                <a:lnTo>
                  <a:pt x="1177503" y="1134836"/>
                </a:lnTo>
                <a:lnTo>
                  <a:pt x="1216896" y="1118238"/>
                </a:lnTo>
                <a:lnTo>
                  <a:pt x="1250273" y="1092494"/>
                </a:lnTo>
                <a:lnTo>
                  <a:pt x="1276060" y="1059173"/>
                </a:lnTo>
                <a:lnTo>
                  <a:pt x="1292686" y="1019847"/>
                </a:lnTo>
                <a:lnTo>
                  <a:pt x="1298578" y="976085"/>
                </a:lnTo>
                <a:lnTo>
                  <a:pt x="1298578" y="164632"/>
                </a:lnTo>
                <a:lnTo>
                  <a:pt x="1292686" y="120869"/>
                </a:lnTo>
                <a:lnTo>
                  <a:pt x="1276060" y="81543"/>
                </a:lnTo>
                <a:lnTo>
                  <a:pt x="1250273" y="48223"/>
                </a:lnTo>
                <a:lnTo>
                  <a:pt x="1216896" y="22479"/>
                </a:lnTo>
                <a:lnTo>
                  <a:pt x="1177503" y="5881"/>
                </a:lnTo>
                <a:lnTo>
                  <a:pt x="1133667" y="0"/>
                </a:lnTo>
                <a:lnTo>
                  <a:pt x="164910" y="0"/>
                </a:lnTo>
                <a:lnTo>
                  <a:pt x="121074" y="5881"/>
                </a:lnTo>
                <a:lnTo>
                  <a:pt x="81681" y="22479"/>
                </a:lnTo>
                <a:lnTo>
                  <a:pt x="48305" y="48223"/>
                </a:lnTo>
                <a:lnTo>
                  <a:pt x="22517" y="81543"/>
                </a:lnTo>
                <a:lnTo>
                  <a:pt x="5891" y="120869"/>
                </a:lnTo>
                <a:lnTo>
                  <a:pt x="0" y="164632"/>
                </a:lnTo>
                <a:lnTo>
                  <a:pt x="0" y="976085"/>
                </a:lnTo>
                <a:lnTo>
                  <a:pt x="5891" y="1019847"/>
                </a:lnTo>
                <a:lnTo>
                  <a:pt x="22517" y="1059173"/>
                </a:lnTo>
                <a:lnTo>
                  <a:pt x="48305" y="1092494"/>
                </a:lnTo>
                <a:lnTo>
                  <a:pt x="81681" y="1118238"/>
                </a:lnTo>
                <a:lnTo>
                  <a:pt x="121074" y="1134836"/>
                </a:lnTo>
                <a:lnTo>
                  <a:pt x="164910" y="1140717"/>
                </a:lnTo>
                <a:close/>
              </a:path>
            </a:pathLst>
          </a:custGeom>
          <a:ln w="8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874375" y="1434890"/>
            <a:ext cx="13284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6745" algn="l"/>
                <a:tab pos="1315085" algn="l"/>
              </a:tabLst>
            </a:pPr>
            <a:r>
              <a:rPr sz="11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1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12530" y="1753177"/>
            <a:ext cx="1051560" cy="44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5080" indent="-146685">
              <a:lnSpc>
                <a:spcPct val="119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接收、</a:t>
            </a:r>
            <a:r>
              <a:rPr sz="1150" dirty="0">
                <a:latin typeface="宋体"/>
                <a:cs typeface="宋体"/>
              </a:rPr>
              <a:t>传递顾客 </a:t>
            </a:r>
            <a:r>
              <a:rPr sz="1150" dirty="0">
                <a:latin typeface="MS Gothic"/>
                <a:cs typeface="MS Gothic"/>
              </a:rPr>
              <a:t>的食物</a:t>
            </a:r>
            <a:r>
              <a:rPr sz="1150" dirty="0">
                <a:latin typeface="宋体"/>
                <a:cs typeface="宋体"/>
              </a:rPr>
              <a:t>订单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097317" y="2626172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64910" y="1140717"/>
                </a:moveTo>
                <a:lnTo>
                  <a:pt x="1133594" y="1140717"/>
                </a:lnTo>
                <a:lnTo>
                  <a:pt x="1177430" y="1134836"/>
                </a:lnTo>
                <a:lnTo>
                  <a:pt x="1216823" y="1118238"/>
                </a:lnTo>
                <a:lnTo>
                  <a:pt x="1250199" y="1092494"/>
                </a:lnTo>
                <a:lnTo>
                  <a:pt x="1275987" y="1059173"/>
                </a:lnTo>
                <a:lnTo>
                  <a:pt x="1292613" y="1019847"/>
                </a:lnTo>
                <a:lnTo>
                  <a:pt x="1298504" y="976085"/>
                </a:lnTo>
                <a:lnTo>
                  <a:pt x="1298504" y="164632"/>
                </a:lnTo>
                <a:lnTo>
                  <a:pt x="1292613" y="120869"/>
                </a:lnTo>
                <a:lnTo>
                  <a:pt x="1275987" y="81543"/>
                </a:lnTo>
                <a:lnTo>
                  <a:pt x="1250199" y="48223"/>
                </a:lnTo>
                <a:lnTo>
                  <a:pt x="1216823" y="22479"/>
                </a:lnTo>
                <a:lnTo>
                  <a:pt x="1177430" y="5881"/>
                </a:lnTo>
                <a:lnTo>
                  <a:pt x="1133594" y="0"/>
                </a:lnTo>
                <a:lnTo>
                  <a:pt x="164910" y="0"/>
                </a:lnTo>
                <a:lnTo>
                  <a:pt x="121067" y="5881"/>
                </a:lnTo>
                <a:lnTo>
                  <a:pt x="81673" y="22479"/>
                </a:lnTo>
                <a:lnTo>
                  <a:pt x="48298" y="48223"/>
                </a:lnTo>
                <a:lnTo>
                  <a:pt x="22513" y="81543"/>
                </a:lnTo>
                <a:lnTo>
                  <a:pt x="5890" y="120869"/>
                </a:lnTo>
                <a:lnTo>
                  <a:pt x="0" y="164632"/>
                </a:lnTo>
                <a:lnTo>
                  <a:pt x="0" y="976085"/>
                </a:lnTo>
                <a:lnTo>
                  <a:pt x="5890" y="1019847"/>
                </a:lnTo>
                <a:lnTo>
                  <a:pt x="22513" y="1059173"/>
                </a:lnTo>
                <a:lnTo>
                  <a:pt x="48298" y="1092494"/>
                </a:lnTo>
                <a:lnTo>
                  <a:pt x="81673" y="1118238"/>
                </a:lnTo>
                <a:lnTo>
                  <a:pt x="121067" y="1134836"/>
                </a:lnTo>
                <a:lnTo>
                  <a:pt x="164910" y="1140717"/>
                </a:lnTo>
                <a:close/>
              </a:path>
            </a:pathLst>
          </a:custGeom>
          <a:ln w="8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082422" y="2796032"/>
            <a:ext cx="13284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6745" algn="l"/>
                <a:tab pos="1315085" algn="l"/>
              </a:tabLst>
            </a:pPr>
            <a:r>
              <a:rPr sz="11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2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20668" y="3114319"/>
            <a:ext cx="1051560" cy="44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120" marR="5080" indent="-440055">
              <a:lnSpc>
                <a:spcPct val="119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更新食物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</a:t>
            </a:r>
            <a:r>
              <a:rPr sz="1150" dirty="0">
                <a:latin typeface="宋体"/>
                <a:cs typeface="宋体"/>
              </a:rPr>
              <a:t>记 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681113" y="2665135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133668" y="0"/>
                </a:moveTo>
                <a:lnTo>
                  <a:pt x="164910" y="0"/>
                </a:lnTo>
                <a:lnTo>
                  <a:pt x="121074" y="5881"/>
                </a:lnTo>
                <a:lnTo>
                  <a:pt x="81682" y="22479"/>
                </a:lnTo>
                <a:lnTo>
                  <a:pt x="48305" y="48223"/>
                </a:lnTo>
                <a:lnTo>
                  <a:pt x="22517" y="81543"/>
                </a:lnTo>
                <a:lnTo>
                  <a:pt x="5891" y="120870"/>
                </a:lnTo>
                <a:lnTo>
                  <a:pt x="0" y="164632"/>
                </a:lnTo>
                <a:lnTo>
                  <a:pt x="0" y="976085"/>
                </a:lnTo>
                <a:lnTo>
                  <a:pt x="5891" y="1019847"/>
                </a:lnTo>
                <a:lnTo>
                  <a:pt x="22517" y="1059174"/>
                </a:lnTo>
                <a:lnTo>
                  <a:pt x="48305" y="1092494"/>
                </a:lnTo>
                <a:lnTo>
                  <a:pt x="81682" y="1118238"/>
                </a:lnTo>
                <a:lnTo>
                  <a:pt x="121074" y="1134836"/>
                </a:lnTo>
                <a:lnTo>
                  <a:pt x="164910" y="1140717"/>
                </a:lnTo>
                <a:lnTo>
                  <a:pt x="1133668" y="1140717"/>
                </a:lnTo>
                <a:lnTo>
                  <a:pt x="1177504" y="1134836"/>
                </a:lnTo>
                <a:lnTo>
                  <a:pt x="1216897" y="1118238"/>
                </a:lnTo>
                <a:lnTo>
                  <a:pt x="1250273" y="1092494"/>
                </a:lnTo>
                <a:lnTo>
                  <a:pt x="1276061" y="1059174"/>
                </a:lnTo>
                <a:lnTo>
                  <a:pt x="1292687" y="1019847"/>
                </a:lnTo>
                <a:lnTo>
                  <a:pt x="1298578" y="976085"/>
                </a:lnTo>
                <a:lnTo>
                  <a:pt x="1298578" y="164632"/>
                </a:lnTo>
                <a:lnTo>
                  <a:pt x="1292687" y="120870"/>
                </a:lnTo>
                <a:lnTo>
                  <a:pt x="1276061" y="81543"/>
                </a:lnTo>
                <a:lnTo>
                  <a:pt x="1250273" y="48223"/>
                </a:lnTo>
                <a:lnTo>
                  <a:pt x="1216897" y="22479"/>
                </a:lnTo>
                <a:lnTo>
                  <a:pt x="1177504" y="5881"/>
                </a:lnTo>
                <a:lnTo>
                  <a:pt x="1133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681114" y="2665135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64910" y="1140717"/>
                </a:moveTo>
                <a:lnTo>
                  <a:pt x="1133667" y="1140717"/>
                </a:lnTo>
                <a:lnTo>
                  <a:pt x="1177503" y="1134836"/>
                </a:lnTo>
                <a:lnTo>
                  <a:pt x="1216896" y="1118238"/>
                </a:lnTo>
                <a:lnTo>
                  <a:pt x="1250273" y="1092494"/>
                </a:lnTo>
                <a:lnTo>
                  <a:pt x="1276060" y="1059173"/>
                </a:lnTo>
                <a:lnTo>
                  <a:pt x="1292686" y="1019847"/>
                </a:lnTo>
                <a:lnTo>
                  <a:pt x="1298578" y="976085"/>
                </a:lnTo>
                <a:lnTo>
                  <a:pt x="1298578" y="164632"/>
                </a:lnTo>
                <a:lnTo>
                  <a:pt x="1292686" y="120869"/>
                </a:lnTo>
                <a:lnTo>
                  <a:pt x="1276060" y="81543"/>
                </a:lnTo>
                <a:lnTo>
                  <a:pt x="1250273" y="48223"/>
                </a:lnTo>
                <a:lnTo>
                  <a:pt x="1216896" y="22479"/>
                </a:lnTo>
                <a:lnTo>
                  <a:pt x="1177503" y="5881"/>
                </a:lnTo>
                <a:lnTo>
                  <a:pt x="1133667" y="0"/>
                </a:lnTo>
                <a:lnTo>
                  <a:pt x="164910" y="0"/>
                </a:lnTo>
                <a:lnTo>
                  <a:pt x="121074" y="5881"/>
                </a:lnTo>
                <a:lnTo>
                  <a:pt x="81681" y="22479"/>
                </a:lnTo>
                <a:lnTo>
                  <a:pt x="48305" y="48223"/>
                </a:lnTo>
                <a:lnTo>
                  <a:pt x="22517" y="81543"/>
                </a:lnTo>
                <a:lnTo>
                  <a:pt x="5891" y="120869"/>
                </a:lnTo>
                <a:lnTo>
                  <a:pt x="0" y="164632"/>
                </a:lnTo>
                <a:lnTo>
                  <a:pt x="0" y="976085"/>
                </a:lnTo>
                <a:lnTo>
                  <a:pt x="5891" y="1019847"/>
                </a:lnTo>
                <a:lnTo>
                  <a:pt x="22517" y="1059173"/>
                </a:lnTo>
                <a:lnTo>
                  <a:pt x="48305" y="1092494"/>
                </a:lnTo>
                <a:lnTo>
                  <a:pt x="81681" y="1118238"/>
                </a:lnTo>
                <a:lnTo>
                  <a:pt x="121074" y="1134836"/>
                </a:lnTo>
                <a:lnTo>
                  <a:pt x="164910" y="1140717"/>
                </a:lnTo>
                <a:close/>
              </a:path>
            </a:pathLst>
          </a:custGeom>
          <a:ln w="8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280964" y="2826397"/>
            <a:ext cx="990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77850" y="3190417"/>
            <a:ext cx="9055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更新</a:t>
            </a:r>
            <a:r>
              <a:rPr sz="1150" dirty="0">
                <a:latin typeface="宋体"/>
                <a:cs typeface="宋体"/>
              </a:rPr>
              <a:t>库</a:t>
            </a:r>
            <a:r>
              <a:rPr sz="1150" dirty="0">
                <a:latin typeface="MS Gothic"/>
                <a:cs typeface="MS Gothic"/>
              </a:rPr>
              <a:t>存</a:t>
            </a:r>
            <a:r>
              <a:rPr sz="1150" dirty="0">
                <a:latin typeface="宋体"/>
                <a:cs typeface="宋体"/>
              </a:rPr>
              <a:t>记录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681114" y="3028057"/>
            <a:ext cx="1298575" cy="13335"/>
          </a:xfrm>
          <a:custGeom>
            <a:avLst/>
            <a:gdLst/>
            <a:ahLst/>
            <a:cxnLst/>
            <a:rect l="l" t="t" r="r" b="b"/>
            <a:pathLst>
              <a:path w="1298575" h="13335">
                <a:moveTo>
                  <a:pt x="0" y="12987"/>
                </a:moveTo>
                <a:lnTo>
                  <a:pt x="1298578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240073" y="5011399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64910" y="1140767"/>
                </a:moveTo>
                <a:lnTo>
                  <a:pt x="1133484" y="1140767"/>
                </a:lnTo>
                <a:lnTo>
                  <a:pt x="1177320" y="1134886"/>
                </a:lnTo>
                <a:lnTo>
                  <a:pt x="1216713" y="1118290"/>
                </a:lnTo>
                <a:lnTo>
                  <a:pt x="1250089" y="1092548"/>
                </a:lnTo>
                <a:lnTo>
                  <a:pt x="1275877" y="1059229"/>
                </a:lnTo>
                <a:lnTo>
                  <a:pt x="1292503" y="1019904"/>
                </a:lnTo>
                <a:lnTo>
                  <a:pt x="1298394" y="976140"/>
                </a:lnTo>
                <a:lnTo>
                  <a:pt x="1298394" y="164632"/>
                </a:lnTo>
                <a:lnTo>
                  <a:pt x="1292503" y="120869"/>
                </a:lnTo>
                <a:lnTo>
                  <a:pt x="1275877" y="81543"/>
                </a:lnTo>
                <a:lnTo>
                  <a:pt x="1250089" y="48223"/>
                </a:lnTo>
                <a:lnTo>
                  <a:pt x="1216713" y="22479"/>
                </a:lnTo>
                <a:lnTo>
                  <a:pt x="1177320" y="5881"/>
                </a:lnTo>
                <a:lnTo>
                  <a:pt x="1133484" y="0"/>
                </a:lnTo>
                <a:lnTo>
                  <a:pt x="164910" y="0"/>
                </a:lnTo>
                <a:lnTo>
                  <a:pt x="121074" y="5881"/>
                </a:lnTo>
                <a:lnTo>
                  <a:pt x="81681" y="22479"/>
                </a:lnTo>
                <a:lnTo>
                  <a:pt x="48305" y="48223"/>
                </a:lnTo>
                <a:lnTo>
                  <a:pt x="22517" y="81543"/>
                </a:lnTo>
                <a:lnTo>
                  <a:pt x="5891" y="120869"/>
                </a:lnTo>
                <a:lnTo>
                  <a:pt x="0" y="164632"/>
                </a:lnTo>
                <a:lnTo>
                  <a:pt x="0" y="976140"/>
                </a:lnTo>
                <a:lnTo>
                  <a:pt x="5891" y="1019904"/>
                </a:lnTo>
                <a:lnTo>
                  <a:pt x="22517" y="1059229"/>
                </a:lnTo>
                <a:lnTo>
                  <a:pt x="48305" y="1092548"/>
                </a:lnTo>
                <a:lnTo>
                  <a:pt x="81681" y="1118290"/>
                </a:lnTo>
                <a:lnTo>
                  <a:pt x="121074" y="1134886"/>
                </a:lnTo>
                <a:lnTo>
                  <a:pt x="164910" y="1140767"/>
                </a:lnTo>
                <a:close/>
              </a:path>
            </a:pathLst>
          </a:custGeom>
          <a:ln w="8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225178" y="5172789"/>
            <a:ext cx="13284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6745" algn="l"/>
                <a:tab pos="1315085" algn="l"/>
              </a:tabLst>
            </a:pPr>
            <a:r>
              <a:rPr sz="11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4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36626" y="5536754"/>
            <a:ext cx="9055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宋体"/>
                <a:cs typeface="宋体"/>
              </a:rPr>
              <a:t>产生管理报表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383133" y="4259505"/>
            <a:ext cx="1688464" cy="648335"/>
          </a:xfrm>
          <a:custGeom>
            <a:avLst/>
            <a:gdLst/>
            <a:ahLst/>
            <a:cxnLst/>
            <a:rect l="l" t="t" r="r" b="b"/>
            <a:pathLst>
              <a:path w="1688464" h="648335">
                <a:moveTo>
                  <a:pt x="1688052" y="0"/>
                </a:moveTo>
                <a:lnTo>
                  <a:pt x="0" y="0"/>
                </a:lnTo>
                <a:lnTo>
                  <a:pt x="0" y="648193"/>
                </a:lnTo>
                <a:lnTo>
                  <a:pt x="1688052" y="648193"/>
                </a:lnTo>
              </a:path>
            </a:pathLst>
          </a:custGeom>
          <a:ln w="87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387525" y="4472737"/>
            <a:ext cx="15106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00"/>
              </a:spcBef>
              <a:tabLst>
                <a:tab pos="617855" algn="l"/>
              </a:tabLst>
            </a:pPr>
            <a:r>
              <a:rPr sz="1150" dirty="0">
                <a:latin typeface="Times New Roman"/>
                <a:cs typeface="Times New Roman"/>
              </a:rPr>
              <a:t>D2	</a:t>
            </a:r>
            <a:r>
              <a:rPr sz="1150" dirty="0">
                <a:latin typeface="MS Gothic"/>
                <a:cs typeface="MS Gothic"/>
              </a:rPr>
              <a:t>食物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</a:t>
            </a:r>
            <a:r>
              <a:rPr sz="1150" dirty="0">
                <a:latin typeface="宋体"/>
                <a:cs typeface="宋体"/>
              </a:rPr>
              <a:t>记录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928503" y="4259505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0"/>
                </a:moveTo>
                <a:lnTo>
                  <a:pt x="0" y="648193"/>
                </a:lnTo>
              </a:path>
            </a:pathLst>
          </a:custGeom>
          <a:ln w="4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966775" y="4259505"/>
            <a:ext cx="1688464" cy="648335"/>
          </a:xfrm>
          <a:custGeom>
            <a:avLst/>
            <a:gdLst/>
            <a:ahLst/>
            <a:cxnLst/>
            <a:rect l="l" t="t" r="r" b="b"/>
            <a:pathLst>
              <a:path w="1688465" h="648335">
                <a:moveTo>
                  <a:pt x="1688133" y="0"/>
                </a:moveTo>
                <a:lnTo>
                  <a:pt x="0" y="0"/>
                </a:lnTo>
                <a:lnTo>
                  <a:pt x="0" y="648193"/>
                </a:lnTo>
                <a:lnTo>
                  <a:pt x="1688133" y="648193"/>
                </a:lnTo>
              </a:path>
            </a:pathLst>
          </a:custGeom>
          <a:ln w="87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5971166" y="4472737"/>
            <a:ext cx="5391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Times New Roman"/>
                <a:cs typeface="Times New Roman"/>
              </a:rPr>
              <a:t>D1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14725" y="4472737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宋体"/>
                <a:cs typeface="宋体"/>
              </a:rPr>
              <a:t>库存记录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512262" y="4259505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0"/>
                </a:moveTo>
                <a:lnTo>
                  <a:pt x="0" y="648193"/>
                </a:lnTo>
              </a:path>
            </a:pathLst>
          </a:custGeom>
          <a:ln w="4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131" y="473963"/>
            <a:ext cx="34880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2.2.2.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规则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7444"/>
            <a:ext cx="7975600" cy="78740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55600" marR="5080" indent="-342900">
              <a:lnSpc>
                <a:spcPts val="2880"/>
              </a:lnSpc>
              <a:spcBef>
                <a:spcPts val="395"/>
              </a:spcBef>
              <a:buClr>
                <a:srgbClr val="00663C"/>
              </a:buClr>
              <a:buSzPct val="82352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825" b="1" spc="127" baseline="1089" dirty="0">
                <a:solidFill>
                  <a:srgbClr val="009257"/>
                </a:solidFill>
                <a:latin typeface="宋体"/>
                <a:cs typeface="宋体"/>
              </a:rPr>
              <a:t>过</a:t>
            </a:r>
            <a:r>
              <a:rPr sz="3825" b="1" spc="135" baseline="1089" dirty="0">
                <a:solidFill>
                  <a:srgbClr val="009257"/>
                </a:solidFill>
                <a:latin typeface="宋体"/>
                <a:cs typeface="宋体"/>
              </a:rPr>
              <a:t>程</a:t>
            </a:r>
            <a:r>
              <a:rPr sz="2600" dirty="0">
                <a:latin typeface="宋体"/>
                <a:cs typeface="宋体"/>
              </a:rPr>
              <a:t>是对数据的处理，</a:t>
            </a:r>
            <a:r>
              <a:rPr sz="2600" dirty="0">
                <a:solidFill>
                  <a:srgbClr val="009257"/>
                </a:solidFill>
                <a:latin typeface="宋体"/>
                <a:cs typeface="宋体"/>
              </a:rPr>
              <a:t>必须有输入，也必须有输出</a:t>
            </a:r>
            <a:r>
              <a:rPr sz="2600" dirty="0">
                <a:latin typeface="宋体"/>
                <a:cs typeface="宋体"/>
              </a:rPr>
              <a:t>， 而且输入数据集和输出数据集</a:t>
            </a:r>
            <a:r>
              <a:rPr sz="2600" dirty="0">
                <a:solidFill>
                  <a:srgbClr val="009257"/>
                </a:solidFill>
                <a:latin typeface="宋体"/>
                <a:cs typeface="宋体"/>
              </a:rPr>
              <a:t>应该存在差异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36799" y="2694141"/>
            <a:ext cx="3962170" cy="32774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364739" y="5290820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583940" y="5290820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340" y="5290820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X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8540" y="5306059"/>
            <a:ext cx="17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131" y="117347"/>
            <a:ext cx="34880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2.2.2.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规则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1" y="1107947"/>
            <a:ext cx="7683500" cy="14522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 algn="just">
              <a:lnSpc>
                <a:spcPct val="96300"/>
              </a:lnSpc>
              <a:spcBef>
                <a:spcPts val="2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数据流是必须</a:t>
            </a:r>
            <a:r>
              <a:rPr sz="3200" dirty="0">
                <a:solidFill>
                  <a:srgbClr val="009257"/>
                </a:solidFill>
                <a:latin typeface="宋体"/>
                <a:cs typeface="宋体"/>
              </a:rPr>
              <a:t>和过程产生关联</a:t>
            </a:r>
            <a:r>
              <a:rPr sz="3200" dirty="0">
                <a:latin typeface="宋体"/>
                <a:cs typeface="宋体"/>
              </a:rPr>
              <a:t>的，它要么 是过程的数据输入，要么是过程的数据输 出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14925" y="2514600"/>
            <a:ext cx="4722625" cy="35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8131" y="336803"/>
            <a:ext cx="34880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2.2.2.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规则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7966075" cy="20269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>
              <a:lnSpc>
                <a:spcPts val="3820"/>
              </a:lnSpc>
              <a:spcBef>
                <a:spcPts val="2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spc="5" dirty="0">
                <a:latin typeface="Calibri"/>
                <a:cs typeface="Calibri"/>
              </a:rPr>
              <a:t>DF</a:t>
            </a:r>
            <a:r>
              <a:rPr sz="3200" dirty="0">
                <a:latin typeface="Calibri"/>
                <a:cs typeface="Calibri"/>
              </a:rPr>
              <a:t>D</a:t>
            </a:r>
            <a:r>
              <a:rPr sz="3200" dirty="0">
                <a:latin typeface="宋体"/>
                <a:cs typeface="宋体"/>
              </a:rPr>
              <a:t>当中所有的对象都应该有一个可以</a:t>
            </a:r>
            <a:r>
              <a:rPr sz="3200" dirty="0">
                <a:solidFill>
                  <a:srgbClr val="009257"/>
                </a:solidFill>
                <a:latin typeface="宋体"/>
                <a:cs typeface="宋体"/>
              </a:rPr>
              <a:t>唯一 标识自己的名称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过程使用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动词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外部实体、数据流和数据存储使用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名词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331" y="202691"/>
            <a:ext cx="46056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2.2.3.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层次结构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1515"/>
            <a:ext cx="3340100" cy="449008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marR="5080" indent="-342900">
              <a:lnSpc>
                <a:spcPct val="77900"/>
              </a:lnSpc>
              <a:spcBef>
                <a:spcPts val="79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依据所含过程的</a:t>
            </a:r>
            <a:r>
              <a:rPr sz="2600" dirty="0">
                <a:solidFill>
                  <a:srgbClr val="009257"/>
                </a:solidFill>
                <a:latin typeface="宋体"/>
                <a:cs typeface="宋体"/>
              </a:rPr>
              <a:t>不同 抽象程度</a:t>
            </a:r>
            <a:r>
              <a:rPr sz="2600" dirty="0">
                <a:latin typeface="宋体"/>
                <a:cs typeface="宋体"/>
              </a:rPr>
              <a:t>，</a:t>
            </a:r>
            <a:r>
              <a:rPr sz="2600" dirty="0">
                <a:latin typeface="Calibri"/>
                <a:cs typeface="Calibri"/>
              </a:rPr>
              <a:t>DFD</a:t>
            </a:r>
            <a:r>
              <a:rPr sz="2600" dirty="0">
                <a:latin typeface="宋体"/>
                <a:cs typeface="宋体"/>
              </a:rPr>
              <a:t>可以 在不同的抽象层次上 进行系统的描述</a:t>
            </a:r>
            <a:endParaRPr sz="2600">
              <a:latin typeface="宋体"/>
              <a:cs typeface="宋体"/>
            </a:endParaRPr>
          </a:p>
          <a:p>
            <a:pPr marL="355600" marR="5080" indent="-342900">
              <a:lnSpc>
                <a:spcPct val="77900"/>
              </a:lnSpc>
              <a:spcBef>
                <a:spcPts val="88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一个比较抽象的过程 可以被展开为一个子 过程，更加具体的 </a:t>
            </a:r>
            <a:r>
              <a:rPr sz="2600" dirty="0">
                <a:latin typeface="Calibri"/>
                <a:cs typeface="Calibri"/>
              </a:rPr>
              <a:t>DFD</a:t>
            </a:r>
            <a:r>
              <a:rPr sz="2600" dirty="0">
                <a:latin typeface="宋体"/>
                <a:cs typeface="宋体"/>
              </a:rPr>
              <a:t>图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00663C"/>
              </a:buClr>
              <a:buFont typeface="Wingdings"/>
              <a:buChar char=""/>
            </a:pPr>
            <a:endParaRPr sz="2350">
              <a:latin typeface="宋体"/>
              <a:cs typeface="宋体"/>
            </a:endParaRPr>
          </a:p>
          <a:p>
            <a:pPr marL="355600" indent="-342900">
              <a:lnSpc>
                <a:spcPts val="3115"/>
              </a:lnSpc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DFD</a:t>
            </a:r>
            <a:r>
              <a:rPr sz="2600" dirty="0">
                <a:latin typeface="宋体"/>
                <a:cs typeface="宋体"/>
              </a:rPr>
              <a:t>的层次结构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ts val="2635"/>
              </a:lnSpc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上下文图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ts val="2630"/>
              </a:lnSpc>
              <a:spcBef>
                <a:spcPts val="5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latin typeface="Calibri"/>
                <a:cs typeface="Calibri"/>
              </a:rPr>
              <a:t>0</a:t>
            </a:r>
            <a:r>
              <a:rPr sz="2200" dirty="0">
                <a:latin typeface="宋体"/>
                <a:cs typeface="宋体"/>
              </a:rPr>
              <a:t>层图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ts val="2630"/>
              </a:lnSpc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Calibri"/>
                <a:cs typeface="Calibri"/>
              </a:rPr>
              <a:t>N</a:t>
            </a:r>
            <a:r>
              <a:rPr sz="2200" dirty="0">
                <a:latin typeface="宋体"/>
                <a:cs typeface="宋体"/>
              </a:rPr>
              <a:t>层图</a:t>
            </a:r>
            <a:r>
              <a:rPr sz="2200" spc="-5" dirty="0">
                <a:latin typeface="宋体"/>
                <a:cs typeface="宋体"/>
              </a:rPr>
              <a:t>（</a:t>
            </a:r>
            <a:r>
              <a:rPr sz="2200" spc="-5" dirty="0">
                <a:latin typeface="Calibri"/>
                <a:cs typeface="Calibri"/>
              </a:rPr>
              <a:t>N&gt;0</a:t>
            </a:r>
            <a:r>
              <a:rPr sz="2200" spc="-5" dirty="0">
                <a:latin typeface="宋体"/>
                <a:cs typeface="宋体"/>
              </a:rPr>
              <a:t>）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86200" y="1416418"/>
            <a:ext cx="5153201" cy="43891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3618" y="156971"/>
            <a:ext cx="71170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2.2.3.</a:t>
            </a:r>
            <a:r>
              <a:rPr spc="-35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层次结构</a:t>
            </a:r>
            <a:r>
              <a:rPr dirty="0"/>
              <a:t>:</a:t>
            </a:r>
            <a:r>
              <a:rPr spc="-40" dirty="0"/>
              <a:t> </a:t>
            </a:r>
            <a:r>
              <a:rPr dirty="0">
                <a:latin typeface="宋体"/>
                <a:cs typeface="宋体"/>
              </a:rPr>
              <a:t>上下文图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4679"/>
            <a:ext cx="8026400" cy="299910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10"/>
              </a:spcBef>
              <a:buClr>
                <a:srgbClr val="00663C"/>
              </a:buClr>
              <a:buSzPct val="8181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dirty="0">
                <a:latin typeface="宋体"/>
                <a:cs typeface="宋体"/>
              </a:rPr>
              <a:t>上下文图</a:t>
            </a:r>
          </a:p>
          <a:p>
            <a:pPr marL="755650" marR="22225" lvl="1" indent="-285750">
              <a:lnSpc>
                <a:spcPct val="100000"/>
              </a:lnSpc>
              <a:spcBef>
                <a:spcPts val="46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将</a:t>
            </a:r>
            <a:r>
              <a:rPr sz="2925" b="1" spc="112" baseline="1424" dirty="0">
                <a:latin typeface="宋体"/>
                <a:cs typeface="宋体"/>
              </a:rPr>
              <a:t>整个系统看做是一个过程</a:t>
            </a:r>
            <a:r>
              <a:rPr sz="2000" dirty="0">
                <a:latin typeface="宋体"/>
                <a:cs typeface="宋体"/>
              </a:rPr>
              <a:t>，这个过程实现系统的</a:t>
            </a:r>
            <a:r>
              <a:rPr sz="2925" b="1" spc="112" baseline="1424" dirty="0">
                <a:latin typeface="宋体"/>
                <a:cs typeface="宋体"/>
              </a:rPr>
              <a:t>所有功</a:t>
            </a:r>
            <a:r>
              <a:rPr sz="2925" b="1" spc="60" baseline="1424" dirty="0">
                <a:latin typeface="宋体"/>
                <a:cs typeface="宋体"/>
              </a:rPr>
              <a:t>能</a:t>
            </a:r>
            <a:r>
              <a:rPr sz="2925" b="1" spc="-839" baseline="1424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，是 系统功能的最高抽象</a:t>
            </a:r>
          </a:p>
          <a:p>
            <a:pPr marL="1155065" marR="5080" lvl="2" indent="-228600">
              <a:lnSpc>
                <a:spcPts val="1989"/>
              </a:lnSpc>
              <a:spcBef>
                <a:spcPts val="81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上下文图中存在且仅存在一个过程，表示整个系统。这个单一的过程 通常编号为</a:t>
            </a:r>
            <a:r>
              <a:rPr sz="1800" dirty="0">
                <a:latin typeface="Calibri"/>
                <a:cs typeface="Calibri"/>
              </a:rPr>
              <a:t>0</a:t>
            </a:r>
          </a:p>
          <a:p>
            <a:pPr marL="1155065" marR="5080" lvl="2" indent="-228600">
              <a:lnSpc>
                <a:spcPts val="1989"/>
              </a:lnSpc>
              <a:spcBef>
                <a:spcPts val="819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上下文图中需要表示出所有和系统交互的外部实体，并描述交互的数 据流，包括系统输入和系统输出</a:t>
            </a:r>
          </a:p>
          <a:p>
            <a:pPr marL="1155700" lvl="2" indent="-228600">
              <a:lnSpc>
                <a:spcPct val="100000"/>
              </a:lnSpc>
              <a:spcBef>
                <a:spcPts val="39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上下文图中不会出现数据存储实例</a:t>
            </a:r>
          </a:p>
          <a:p>
            <a:pPr marL="755650" lvl="1" indent="-285750">
              <a:lnSpc>
                <a:spcPct val="100000"/>
              </a:lnSpc>
              <a:spcBef>
                <a:spcPts val="45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它非常适合于描述系统的应用环境、定义系统的边界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94272" y="4201123"/>
            <a:ext cx="848360" cy="422909"/>
          </a:xfrm>
          <a:prstGeom prst="rect">
            <a:avLst/>
          </a:prstGeom>
          <a:ln w="3582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900" spc="40" dirty="0">
                <a:latin typeface="MS Gothic"/>
                <a:cs typeface="MS Gothic"/>
              </a:rPr>
              <a:t>厨房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90116" y="5774181"/>
            <a:ext cx="848360" cy="422909"/>
          </a:xfrm>
          <a:prstGeom prst="rect">
            <a:avLst/>
          </a:prstGeom>
          <a:ln w="3582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Times New Roman"/>
              <a:cs typeface="Times New Roman"/>
            </a:endParaRPr>
          </a:p>
          <a:p>
            <a:pPr marL="244475">
              <a:lnSpc>
                <a:spcPct val="100000"/>
              </a:lnSpc>
              <a:spcBef>
                <a:spcPts val="5"/>
              </a:spcBef>
            </a:pPr>
            <a:r>
              <a:rPr sz="900" spc="40" dirty="0">
                <a:latin typeface="MS Gothic"/>
                <a:cs typeface="MS Gothic"/>
              </a:rPr>
              <a:t>管理者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46624" y="4486607"/>
            <a:ext cx="287020" cy="0"/>
          </a:xfrm>
          <a:custGeom>
            <a:avLst/>
            <a:gdLst/>
            <a:ahLst/>
            <a:cxnLst/>
            <a:rect l="l" t="t" r="r" b="b"/>
            <a:pathLst>
              <a:path w="287020">
                <a:moveTo>
                  <a:pt x="0" y="0"/>
                </a:moveTo>
                <a:lnTo>
                  <a:pt x="286480" y="0"/>
                </a:lnTo>
              </a:path>
            </a:pathLst>
          </a:custGeom>
          <a:ln w="35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8450" y="4486607"/>
            <a:ext cx="349885" cy="0"/>
          </a:xfrm>
          <a:custGeom>
            <a:avLst/>
            <a:gdLst/>
            <a:ahLst/>
            <a:cxnLst/>
            <a:rect l="l" t="t" r="r" b="b"/>
            <a:pathLst>
              <a:path w="349885">
                <a:moveTo>
                  <a:pt x="0" y="0"/>
                </a:moveTo>
                <a:lnTo>
                  <a:pt x="349659" y="0"/>
                </a:lnTo>
              </a:path>
            </a:pathLst>
          </a:custGeom>
          <a:ln w="35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22787" y="4445431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0" y="0"/>
                </a:moveTo>
                <a:lnTo>
                  <a:pt x="0" y="82351"/>
                </a:lnTo>
                <a:lnTo>
                  <a:pt x="82543" y="4117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70688" y="4275120"/>
            <a:ext cx="1693545" cy="422909"/>
          </a:xfrm>
          <a:prstGeom prst="rect">
            <a:avLst/>
          </a:prstGeom>
          <a:ln w="3582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900">
              <a:latin typeface="Times New Roman"/>
              <a:cs typeface="Times New Roman"/>
            </a:endParaRPr>
          </a:p>
          <a:p>
            <a:pPr marL="304165">
              <a:lnSpc>
                <a:spcPct val="100000"/>
              </a:lnSpc>
              <a:spcBef>
                <a:spcPts val="5"/>
              </a:spcBef>
              <a:tabLst>
                <a:tab pos="1201420" algn="l"/>
              </a:tabLst>
            </a:pPr>
            <a:r>
              <a:rPr sz="900" spc="40" dirty="0">
                <a:latin typeface="宋体"/>
                <a:cs typeface="宋体"/>
              </a:rPr>
              <a:t>顾客	顾客订单</a:t>
            </a:r>
            <a:endParaRPr sz="9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94576" y="4770062"/>
            <a:ext cx="1780539" cy="277495"/>
          </a:xfrm>
          <a:custGeom>
            <a:avLst/>
            <a:gdLst/>
            <a:ahLst/>
            <a:cxnLst/>
            <a:rect l="l" t="t" r="r" b="b"/>
            <a:pathLst>
              <a:path w="1780539" h="277495">
                <a:moveTo>
                  <a:pt x="1780326" y="276875"/>
                </a:moveTo>
                <a:lnTo>
                  <a:pt x="1780326" y="118290"/>
                </a:lnTo>
                <a:lnTo>
                  <a:pt x="0" y="118290"/>
                </a:lnTo>
                <a:lnTo>
                  <a:pt x="0" y="0"/>
                </a:lnTo>
              </a:path>
            </a:pathLst>
          </a:custGeom>
          <a:ln w="35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53304" y="4698005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41272" y="0"/>
                </a:moveTo>
                <a:lnTo>
                  <a:pt x="0" y="82350"/>
                </a:lnTo>
                <a:lnTo>
                  <a:pt x="82543" y="82350"/>
                </a:lnTo>
                <a:lnTo>
                  <a:pt x="412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336508" y="4795570"/>
            <a:ext cx="264795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00" spc="40" dirty="0">
                <a:latin typeface="MS Gothic"/>
                <a:cs typeface="MS Gothic"/>
              </a:rPr>
              <a:t>收条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22621" y="4696065"/>
            <a:ext cx="1696085" cy="351155"/>
          </a:xfrm>
          <a:custGeom>
            <a:avLst/>
            <a:gdLst/>
            <a:ahLst/>
            <a:cxnLst/>
            <a:rect l="l" t="t" r="r" b="b"/>
            <a:pathLst>
              <a:path w="1696084" h="351154">
                <a:moveTo>
                  <a:pt x="0" y="350872"/>
                </a:moveTo>
                <a:lnTo>
                  <a:pt x="0" y="192286"/>
                </a:lnTo>
                <a:lnTo>
                  <a:pt x="1695584" y="192286"/>
                </a:lnTo>
                <a:lnTo>
                  <a:pt x="1695584" y="0"/>
                </a:lnTo>
              </a:path>
            </a:pathLst>
          </a:custGeom>
          <a:ln w="35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76934" y="4624009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41271" y="0"/>
                </a:moveTo>
                <a:lnTo>
                  <a:pt x="0" y="82350"/>
                </a:lnTo>
                <a:lnTo>
                  <a:pt x="82543" y="82350"/>
                </a:lnTo>
                <a:lnTo>
                  <a:pt x="412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71317" y="4795570"/>
            <a:ext cx="504190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00" spc="40" dirty="0">
                <a:latin typeface="MS Gothic"/>
                <a:cs typeface="MS Gothic"/>
              </a:rPr>
              <a:t>食物</a:t>
            </a:r>
            <a:r>
              <a:rPr sz="900" spc="40" dirty="0">
                <a:latin typeface="宋体"/>
                <a:cs typeface="宋体"/>
              </a:rPr>
              <a:t>订单</a:t>
            </a:r>
            <a:endParaRPr sz="9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13900" y="5247818"/>
            <a:ext cx="0" cy="184785"/>
          </a:xfrm>
          <a:custGeom>
            <a:avLst/>
            <a:gdLst/>
            <a:ahLst/>
            <a:cxnLst/>
            <a:rect l="l" t="t" r="r" b="b"/>
            <a:pathLst>
              <a:path h="184785">
                <a:moveTo>
                  <a:pt x="0" y="0"/>
                </a:moveTo>
                <a:lnTo>
                  <a:pt x="0" y="184648"/>
                </a:lnTo>
              </a:path>
            </a:pathLst>
          </a:custGeom>
          <a:ln w="3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713900" y="5589545"/>
            <a:ext cx="0" cy="113030"/>
          </a:xfrm>
          <a:custGeom>
            <a:avLst/>
            <a:gdLst/>
            <a:ahLst/>
            <a:cxnLst/>
            <a:rect l="l" t="t" r="r" b="b"/>
            <a:pathLst>
              <a:path h="113029">
                <a:moveTo>
                  <a:pt x="0" y="0"/>
                </a:moveTo>
                <a:lnTo>
                  <a:pt x="0" y="112576"/>
                </a:lnTo>
              </a:path>
            </a:pathLst>
          </a:custGeom>
          <a:ln w="35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72628" y="5691827"/>
            <a:ext cx="82550" cy="82550"/>
          </a:xfrm>
          <a:custGeom>
            <a:avLst/>
            <a:gdLst/>
            <a:ahLst/>
            <a:cxnLst/>
            <a:rect l="l" t="t" r="r" b="b"/>
            <a:pathLst>
              <a:path w="82550" h="82550">
                <a:moveTo>
                  <a:pt x="82543" y="0"/>
                </a:moveTo>
                <a:lnTo>
                  <a:pt x="0" y="0"/>
                </a:lnTo>
                <a:lnTo>
                  <a:pt x="41272" y="82351"/>
                </a:lnTo>
                <a:lnTo>
                  <a:pt x="825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61943" y="5418216"/>
            <a:ext cx="504190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00" spc="40" dirty="0">
                <a:latin typeface="MS Gothic"/>
                <a:cs typeface="MS Gothic"/>
              </a:rPr>
              <a:t>管理</a:t>
            </a:r>
            <a:r>
              <a:rPr sz="900" spc="40" dirty="0">
                <a:latin typeface="宋体"/>
                <a:cs typeface="宋体"/>
              </a:rPr>
              <a:t>报</a:t>
            </a:r>
            <a:r>
              <a:rPr sz="900" spc="40" dirty="0">
                <a:latin typeface="MS Gothic"/>
                <a:cs typeface="MS Gothic"/>
              </a:rPr>
              <a:t>表</a:t>
            </a:r>
            <a:endParaRPr sz="900">
              <a:latin typeface="MS Gothic"/>
              <a:cs typeface="MS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205330" y="4317429"/>
            <a:ext cx="1059815" cy="930910"/>
          </a:xfrm>
          <a:custGeom>
            <a:avLst/>
            <a:gdLst/>
            <a:ahLst/>
            <a:cxnLst/>
            <a:rect l="l" t="t" r="r" b="b"/>
            <a:pathLst>
              <a:path w="1059814" h="930910">
                <a:moveTo>
                  <a:pt x="925175" y="0"/>
                </a:moveTo>
                <a:lnTo>
                  <a:pt x="134581" y="0"/>
                </a:lnTo>
                <a:lnTo>
                  <a:pt x="92046" y="6845"/>
                </a:lnTo>
                <a:lnTo>
                  <a:pt x="55103" y="25908"/>
                </a:lnTo>
                <a:lnTo>
                  <a:pt x="25968" y="54974"/>
                </a:lnTo>
                <a:lnTo>
                  <a:pt x="6861" y="91832"/>
                </a:lnTo>
                <a:lnTo>
                  <a:pt x="0" y="134268"/>
                </a:lnTo>
                <a:lnTo>
                  <a:pt x="0" y="796119"/>
                </a:lnTo>
                <a:lnTo>
                  <a:pt x="6861" y="838555"/>
                </a:lnTo>
                <a:lnTo>
                  <a:pt x="25968" y="875413"/>
                </a:lnTo>
                <a:lnTo>
                  <a:pt x="55103" y="904479"/>
                </a:lnTo>
                <a:lnTo>
                  <a:pt x="92046" y="923542"/>
                </a:lnTo>
                <a:lnTo>
                  <a:pt x="134581" y="930388"/>
                </a:lnTo>
                <a:lnTo>
                  <a:pt x="925175" y="930388"/>
                </a:lnTo>
                <a:lnTo>
                  <a:pt x="967711" y="923542"/>
                </a:lnTo>
                <a:lnTo>
                  <a:pt x="1004655" y="904479"/>
                </a:lnTo>
                <a:lnTo>
                  <a:pt x="1033790" y="875413"/>
                </a:lnTo>
                <a:lnTo>
                  <a:pt x="1052897" y="838555"/>
                </a:lnTo>
                <a:lnTo>
                  <a:pt x="1059759" y="796119"/>
                </a:lnTo>
                <a:lnTo>
                  <a:pt x="1059759" y="134268"/>
                </a:lnTo>
                <a:lnTo>
                  <a:pt x="1052897" y="91832"/>
                </a:lnTo>
                <a:lnTo>
                  <a:pt x="1033790" y="54974"/>
                </a:lnTo>
                <a:lnTo>
                  <a:pt x="1004655" y="25908"/>
                </a:lnTo>
                <a:lnTo>
                  <a:pt x="967711" y="6845"/>
                </a:lnTo>
                <a:lnTo>
                  <a:pt x="92517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05330" y="4317429"/>
            <a:ext cx="1059815" cy="930910"/>
          </a:xfrm>
          <a:custGeom>
            <a:avLst/>
            <a:gdLst/>
            <a:ahLst/>
            <a:cxnLst/>
            <a:rect l="l" t="t" r="r" b="b"/>
            <a:pathLst>
              <a:path w="1059814" h="930910">
                <a:moveTo>
                  <a:pt x="134582" y="930388"/>
                </a:moveTo>
                <a:lnTo>
                  <a:pt x="925177" y="930388"/>
                </a:lnTo>
                <a:lnTo>
                  <a:pt x="967712" y="923542"/>
                </a:lnTo>
                <a:lnTo>
                  <a:pt x="1004655" y="904479"/>
                </a:lnTo>
                <a:lnTo>
                  <a:pt x="1033790" y="875413"/>
                </a:lnTo>
                <a:lnTo>
                  <a:pt x="1052897" y="838556"/>
                </a:lnTo>
                <a:lnTo>
                  <a:pt x="1059759" y="796120"/>
                </a:lnTo>
                <a:lnTo>
                  <a:pt x="1059759" y="134268"/>
                </a:lnTo>
                <a:lnTo>
                  <a:pt x="1052897" y="91832"/>
                </a:lnTo>
                <a:lnTo>
                  <a:pt x="1033790" y="54974"/>
                </a:lnTo>
                <a:lnTo>
                  <a:pt x="1004655" y="25908"/>
                </a:lnTo>
                <a:lnTo>
                  <a:pt x="967712" y="6845"/>
                </a:lnTo>
                <a:lnTo>
                  <a:pt x="925177" y="0"/>
                </a:lnTo>
                <a:lnTo>
                  <a:pt x="134582" y="0"/>
                </a:lnTo>
                <a:lnTo>
                  <a:pt x="92046" y="6845"/>
                </a:lnTo>
                <a:lnTo>
                  <a:pt x="55103" y="25908"/>
                </a:lnTo>
                <a:lnTo>
                  <a:pt x="25968" y="54974"/>
                </a:lnTo>
                <a:lnTo>
                  <a:pt x="6861" y="91832"/>
                </a:lnTo>
                <a:lnTo>
                  <a:pt x="0" y="134268"/>
                </a:lnTo>
                <a:lnTo>
                  <a:pt x="0" y="796120"/>
                </a:lnTo>
                <a:lnTo>
                  <a:pt x="6861" y="838556"/>
                </a:lnTo>
                <a:lnTo>
                  <a:pt x="25968" y="875413"/>
                </a:lnTo>
                <a:lnTo>
                  <a:pt x="55103" y="904479"/>
                </a:lnTo>
                <a:lnTo>
                  <a:pt x="92046" y="923542"/>
                </a:lnTo>
                <a:lnTo>
                  <a:pt x="134582" y="930388"/>
                </a:lnTo>
                <a:close/>
              </a:path>
            </a:pathLst>
          </a:custGeom>
          <a:ln w="716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190839" y="4471521"/>
            <a:ext cx="1089025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513715" algn="l"/>
                <a:tab pos="1075690" algn="l"/>
              </a:tabLst>
            </a:pPr>
            <a:r>
              <a:rPr sz="900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900" u="heavy" spc="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0	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363399" y="4757989"/>
            <a:ext cx="743585" cy="1689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00" spc="40" dirty="0">
                <a:latin typeface="MS Gothic"/>
                <a:cs typeface="MS Gothic"/>
              </a:rPr>
              <a:t>食物</a:t>
            </a:r>
            <a:r>
              <a:rPr sz="900" spc="40" dirty="0">
                <a:latin typeface="宋体"/>
                <a:cs typeface="宋体"/>
              </a:rPr>
              <a:t>订货</a:t>
            </a:r>
            <a:r>
              <a:rPr sz="900" spc="40" dirty="0">
                <a:latin typeface="MS Gothic"/>
                <a:cs typeface="MS Gothic"/>
              </a:rPr>
              <a:t>系</a:t>
            </a:r>
            <a:r>
              <a:rPr sz="900" spc="40" dirty="0">
                <a:latin typeface="宋体"/>
                <a:cs typeface="宋体"/>
              </a:rPr>
              <a:t>统</a:t>
            </a:r>
            <a:endParaRPr sz="9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1131" y="196595"/>
            <a:ext cx="6282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2.2.3.</a:t>
            </a:r>
            <a:r>
              <a:rPr spc="-35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层次结构</a:t>
            </a:r>
            <a:r>
              <a:rPr dirty="0"/>
              <a:t>:</a:t>
            </a:r>
            <a:r>
              <a:rPr spc="-35" dirty="0"/>
              <a:t> </a:t>
            </a:r>
            <a:r>
              <a:rPr spc="-10" dirty="0"/>
              <a:t>0</a:t>
            </a:r>
            <a:r>
              <a:rPr dirty="0">
                <a:latin typeface="宋体"/>
                <a:cs typeface="宋体"/>
              </a:rPr>
              <a:t>层图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55673"/>
            <a:ext cx="7883525" cy="443865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5"/>
              </a:spcBef>
              <a:buClr>
                <a:srgbClr val="00663C"/>
              </a:buClr>
              <a:buSzPct val="80555"/>
              <a:buFont typeface="Wingdings"/>
              <a:buChar char=""/>
              <a:tabLst>
                <a:tab pos="355600" algn="l"/>
              </a:tabLst>
            </a:pPr>
            <a:r>
              <a:rPr sz="3600" dirty="0">
                <a:latin typeface="Calibri"/>
                <a:cs typeface="Calibri"/>
              </a:rPr>
              <a:t>0</a:t>
            </a:r>
            <a:r>
              <a:rPr sz="3600" dirty="0">
                <a:latin typeface="宋体"/>
                <a:cs typeface="宋体"/>
              </a:rPr>
              <a:t>层图</a:t>
            </a:r>
            <a:r>
              <a:rPr sz="3600" spc="-5" dirty="0">
                <a:latin typeface="Calibri"/>
                <a:cs typeface="Calibri"/>
              </a:rPr>
              <a:t>(</a:t>
            </a:r>
            <a:r>
              <a:rPr sz="3600" dirty="0">
                <a:latin typeface="宋体"/>
                <a:cs typeface="宋体"/>
              </a:rPr>
              <a:t>顶层图</a:t>
            </a:r>
            <a:r>
              <a:rPr sz="3600" dirty="0">
                <a:latin typeface="Calibri"/>
                <a:cs typeface="Calibri"/>
              </a:rPr>
              <a:t>)</a:t>
            </a:r>
            <a:endParaRPr sz="3600">
              <a:latin typeface="Calibri"/>
              <a:cs typeface="Calibri"/>
            </a:endParaRPr>
          </a:p>
          <a:p>
            <a:pPr marL="755650" marR="211454" lvl="1" indent="-285750" algn="just">
              <a:lnSpc>
                <a:spcPct val="96200"/>
              </a:lnSpc>
              <a:spcBef>
                <a:spcPts val="1215"/>
              </a:spcBef>
              <a:buClr>
                <a:srgbClr val="C00000"/>
              </a:buClr>
              <a:buSzPct val="59375"/>
              <a:buFont typeface="Wingdings"/>
              <a:buChar char=""/>
              <a:tabLst>
                <a:tab pos="755650" algn="l"/>
              </a:tabLst>
            </a:pPr>
            <a:r>
              <a:rPr sz="3200" dirty="0">
                <a:latin typeface="宋体"/>
                <a:cs typeface="宋体"/>
              </a:rPr>
              <a:t>位于上下文图下面一层，是上下文图中 单一过程的细节描述，是对该单一过程 的</a:t>
            </a:r>
            <a:r>
              <a:rPr sz="3200" dirty="0">
                <a:solidFill>
                  <a:srgbClr val="009257"/>
                </a:solidFill>
                <a:latin typeface="宋体"/>
                <a:cs typeface="宋体"/>
              </a:rPr>
              <a:t>第一次功能分解</a:t>
            </a:r>
            <a:endParaRPr sz="3200">
              <a:latin typeface="宋体"/>
              <a:cs typeface="宋体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869"/>
              </a:spcBef>
              <a:buSzPct val="61290"/>
              <a:buFont typeface="Wingdings"/>
              <a:buChar char=""/>
              <a:tabLst>
                <a:tab pos="755650" algn="l"/>
              </a:tabLst>
            </a:pPr>
            <a:r>
              <a:rPr sz="3100" b="1" spc="145" dirty="0">
                <a:solidFill>
                  <a:srgbClr val="C00000"/>
                </a:solidFill>
                <a:latin typeface="宋体"/>
                <a:cs typeface="宋体"/>
              </a:rPr>
              <a:t>是整个系统的功能概图</a:t>
            </a:r>
            <a:endParaRPr sz="310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100299"/>
              </a:lnSpc>
              <a:spcBef>
                <a:spcPts val="775"/>
              </a:spcBef>
              <a:buClr>
                <a:srgbClr val="C00000"/>
              </a:buClr>
              <a:buSzPct val="59375"/>
              <a:buFont typeface="Wingdings"/>
              <a:buChar char=""/>
              <a:tabLst>
                <a:tab pos="755650" algn="l"/>
              </a:tabLst>
            </a:pPr>
            <a:r>
              <a:rPr sz="3200" dirty="0">
                <a:latin typeface="Calibri"/>
                <a:cs typeface="Calibri"/>
              </a:rPr>
              <a:t>0</a:t>
            </a:r>
            <a:r>
              <a:rPr sz="3200" dirty="0">
                <a:latin typeface="宋体"/>
                <a:cs typeface="宋体"/>
              </a:rPr>
              <a:t>层图应该被描述的简洁、清晰，需求工 程师要根据系统的复杂度掌握</a:t>
            </a:r>
            <a:r>
              <a:rPr sz="3200" dirty="0">
                <a:latin typeface="Calibri"/>
                <a:cs typeface="Calibri"/>
              </a:rPr>
              <a:t>0</a:t>
            </a:r>
            <a:r>
              <a:rPr sz="3200" dirty="0">
                <a:latin typeface="宋体"/>
                <a:cs typeface="宋体"/>
              </a:rPr>
              <a:t>层图中过 程的抽象程度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5037" y="206755"/>
            <a:ext cx="7273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DFD</a:t>
            </a:r>
            <a:r>
              <a:rPr sz="3600" dirty="0">
                <a:latin typeface="宋体"/>
                <a:cs typeface="宋体"/>
              </a:rPr>
              <a:t>的</a:t>
            </a:r>
            <a:r>
              <a:rPr sz="3600" dirty="0"/>
              <a:t>0</a:t>
            </a:r>
            <a:r>
              <a:rPr sz="3600" dirty="0">
                <a:latin typeface="宋体"/>
                <a:cs typeface="宋体"/>
              </a:rPr>
              <a:t>层图示例</a:t>
            </a:r>
            <a:r>
              <a:rPr sz="3600" dirty="0"/>
              <a:t>:</a:t>
            </a:r>
            <a:r>
              <a:rPr sz="3600" spc="-80" dirty="0"/>
              <a:t> </a:t>
            </a:r>
            <a:r>
              <a:rPr sz="3600" spc="-5" dirty="0"/>
              <a:t>Gane-Sarson</a:t>
            </a:r>
            <a:r>
              <a:rPr sz="3600" dirty="0">
                <a:latin typeface="宋体"/>
                <a:cs typeface="宋体"/>
              </a:rPr>
              <a:t>表示法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94030" y="1122422"/>
            <a:ext cx="1038860" cy="518795"/>
          </a:xfrm>
          <a:prstGeom prst="rect">
            <a:avLst/>
          </a:prstGeom>
          <a:ln w="43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150" dirty="0">
                <a:latin typeface="MS Gothic"/>
                <a:cs typeface="MS Gothic"/>
              </a:rPr>
              <a:t>厨房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4030" y="5516978"/>
            <a:ext cx="1038860" cy="518795"/>
          </a:xfrm>
          <a:prstGeom prst="rect">
            <a:avLst/>
          </a:prstGeom>
          <a:ln w="43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sz="1150" dirty="0">
                <a:latin typeface="MS Gothic"/>
                <a:cs typeface="MS Gothic"/>
              </a:rPr>
              <a:t>管理者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49729" y="1472466"/>
            <a:ext cx="351155" cy="0"/>
          </a:xfrm>
          <a:custGeom>
            <a:avLst/>
            <a:gdLst/>
            <a:ahLst/>
            <a:cxnLst/>
            <a:rect l="l" t="t" r="r" b="b"/>
            <a:pathLst>
              <a:path w="351154">
                <a:moveTo>
                  <a:pt x="0" y="0"/>
                </a:moveTo>
                <a:lnTo>
                  <a:pt x="351039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34925" y="1472466"/>
            <a:ext cx="428625" cy="0"/>
          </a:xfrm>
          <a:custGeom>
            <a:avLst/>
            <a:gdLst/>
            <a:ahLst/>
            <a:cxnLst/>
            <a:rect l="l" t="t" r="r" b="b"/>
            <a:pathLst>
              <a:path w="428625">
                <a:moveTo>
                  <a:pt x="0" y="0"/>
                </a:moveTo>
                <a:lnTo>
                  <a:pt x="428455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88125" y="142198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0" y="100973"/>
                </a:lnTo>
                <a:lnTo>
                  <a:pt x="101145" y="5048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96117" y="1213153"/>
            <a:ext cx="2072005" cy="518795"/>
          </a:xfrm>
          <a:prstGeom prst="rect">
            <a:avLst/>
          </a:prstGeom>
          <a:ln w="4391">
            <a:solidFill>
              <a:srgbClr val="000000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Times New Roman"/>
              <a:cs typeface="Times New Roman"/>
            </a:endParaRPr>
          </a:p>
          <a:p>
            <a:pPr marL="372745">
              <a:lnSpc>
                <a:spcPct val="100000"/>
              </a:lnSpc>
              <a:tabLst>
                <a:tab pos="1472565" algn="l"/>
              </a:tabLst>
            </a:pPr>
            <a:r>
              <a:rPr sz="1150" dirty="0">
                <a:latin typeface="宋体"/>
                <a:cs typeface="宋体"/>
              </a:rPr>
              <a:t>顾客	顾客订单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15530" y="1820023"/>
            <a:ext cx="2181860" cy="339725"/>
          </a:xfrm>
          <a:custGeom>
            <a:avLst/>
            <a:gdLst/>
            <a:ahLst/>
            <a:cxnLst/>
            <a:rect l="l" t="t" r="r" b="b"/>
            <a:pathLst>
              <a:path w="2181860" h="339725">
                <a:moveTo>
                  <a:pt x="2181526" y="339508"/>
                </a:moveTo>
                <a:lnTo>
                  <a:pt x="2181526" y="145059"/>
                </a:lnTo>
                <a:lnTo>
                  <a:pt x="0" y="145059"/>
                </a:lnTo>
                <a:lnTo>
                  <a:pt x="0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4958" y="1731671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572" y="0"/>
                </a:moveTo>
                <a:lnTo>
                  <a:pt x="0" y="100973"/>
                </a:lnTo>
                <a:lnTo>
                  <a:pt x="101145" y="100973"/>
                </a:lnTo>
                <a:lnTo>
                  <a:pt x="50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827520" y="1854153"/>
            <a:ext cx="3187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收条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135810" y="1729293"/>
            <a:ext cx="2077720" cy="430530"/>
          </a:xfrm>
          <a:custGeom>
            <a:avLst/>
            <a:gdLst/>
            <a:ahLst/>
            <a:cxnLst/>
            <a:rect l="l" t="t" r="r" b="b"/>
            <a:pathLst>
              <a:path w="2077720" h="430530">
                <a:moveTo>
                  <a:pt x="0" y="430238"/>
                </a:moveTo>
                <a:lnTo>
                  <a:pt x="0" y="235789"/>
                </a:lnTo>
                <a:lnTo>
                  <a:pt x="2077688" y="235789"/>
                </a:lnTo>
                <a:lnTo>
                  <a:pt x="2077688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162925" y="1640941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572" y="0"/>
                </a:moveTo>
                <a:lnTo>
                  <a:pt x="0" y="100973"/>
                </a:lnTo>
                <a:lnTo>
                  <a:pt x="101145" y="100973"/>
                </a:lnTo>
                <a:lnTo>
                  <a:pt x="505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33553" y="1854153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食物</a:t>
            </a:r>
            <a:r>
              <a:rPr sz="1150" dirty="0">
                <a:latin typeface="宋体"/>
                <a:cs typeface="宋体"/>
              </a:rPr>
              <a:t>订单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478826" y="2405748"/>
            <a:ext cx="1033780" cy="384175"/>
          </a:xfrm>
          <a:custGeom>
            <a:avLst/>
            <a:gdLst/>
            <a:ahLst/>
            <a:cxnLst/>
            <a:rect l="l" t="t" r="r" b="b"/>
            <a:pathLst>
              <a:path w="1033779" h="384175">
                <a:moveTo>
                  <a:pt x="1033621" y="0"/>
                </a:moveTo>
                <a:lnTo>
                  <a:pt x="0" y="384141"/>
                </a:lnTo>
              </a:path>
            </a:pathLst>
          </a:custGeom>
          <a:ln w="4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95822" y="2738122"/>
            <a:ext cx="113030" cy="94615"/>
          </a:xfrm>
          <a:custGeom>
            <a:avLst/>
            <a:gdLst/>
            <a:ahLst/>
            <a:cxnLst/>
            <a:rect l="l" t="t" r="r" b="b"/>
            <a:pathLst>
              <a:path w="113029" h="94614">
                <a:moveTo>
                  <a:pt x="77141" y="0"/>
                </a:moveTo>
                <a:lnTo>
                  <a:pt x="0" y="82499"/>
                </a:lnTo>
                <a:lnTo>
                  <a:pt x="112505" y="94571"/>
                </a:lnTo>
                <a:lnTo>
                  <a:pt x="77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648261" y="2502255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食物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03836" y="2405748"/>
            <a:ext cx="1113790" cy="483870"/>
          </a:xfrm>
          <a:custGeom>
            <a:avLst/>
            <a:gdLst/>
            <a:ahLst/>
            <a:cxnLst/>
            <a:rect l="l" t="t" r="r" b="b"/>
            <a:pathLst>
              <a:path w="1113789" h="483869">
                <a:moveTo>
                  <a:pt x="0" y="0"/>
                </a:moveTo>
                <a:lnTo>
                  <a:pt x="1113511" y="483286"/>
                </a:lnTo>
              </a:path>
            </a:pathLst>
          </a:custGeom>
          <a:ln w="43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85649" y="2837816"/>
            <a:ext cx="113030" cy="92710"/>
          </a:xfrm>
          <a:custGeom>
            <a:avLst/>
            <a:gdLst/>
            <a:ahLst/>
            <a:cxnLst/>
            <a:rect l="l" t="t" r="r" b="b"/>
            <a:pathLst>
              <a:path w="113029" h="92710">
                <a:moveTo>
                  <a:pt x="40312" y="0"/>
                </a:moveTo>
                <a:lnTo>
                  <a:pt x="0" y="92560"/>
                </a:lnTo>
                <a:lnTo>
                  <a:pt x="112872" y="86523"/>
                </a:lnTo>
                <a:lnTo>
                  <a:pt x="403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95304" y="2554206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存</a:t>
            </a:r>
            <a:r>
              <a:rPr sz="1150" dirty="0">
                <a:latin typeface="宋体"/>
                <a:cs typeface="宋体"/>
              </a:rPr>
              <a:t>货</a:t>
            </a:r>
            <a:r>
              <a:rPr sz="1150" dirty="0">
                <a:latin typeface="MS Gothic"/>
                <a:cs typeface="MS Gothic"/>
              </a:rPr>
              <a:t>信息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78456" y="3818840"/>
            <a:ext cx="551180" cy="389890"/>
          </a:xfrm>
          <a:custGeom>
            <a:avLst/>
            <a:gdLst/>
            <a:ahLst/>
            <a:cxnLst/>
            <a:rect l="l" t="t" r="r" b="b"/>
            <a:pathLst>
              <a:path w="551179" h="389889">
                <a:moveTo>
                  <a:pt x="0" y="0"/>
                </a:moveTo>
                <a:lnTo>
                  <a:pt x="551167" y="389629"/>
                </a:lnTo>
              </a:path>
            </a:pathLst>
          </a:custGeom>
          <a:ln w="43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790046" y="4159995"/>
            <a:ext cx="112395" cy="99695"/>
          </a:xfrm>
          <a:custGeom>
            <a:avLst/>
            <a:gdLst/>
            <a:ahLst/>
            <a:cxnLst/>
            <a:rect l="l" t="t" r="r" b="b"/>
            <a:pathLst>
              <a:path w="112395" h="99695">
                <a:moveTo>
                  <a:pt x="58450" y="0"/>
                </a:moveTo>
                <a:lnTo>
                  <a:pt x="0" y="82315"/>
                </a:lnTo>
                <a:lnTo>
                  <a:pt x="111771" y="99510"/>
                </a:lnTo>
                <a:lnTo>
                  <a:pt x="58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790505" y="3968857"/>
            <a:ext cx="1172845" cy="193040"/>
          </a:xfrm>
          <a:custGeom>
            <a:avLst/>
            <a:gdLst/>
            <a:ahLst/>
            <a:cxnLst/>
            <a:rect l="l" t="t" r="r" b="b"/>
            <a:pathLst>
              <a:path w="1172845" h="193039">
                <a:moveTo>
                  <a:pt x="0" y="192601"/>
                </a:moveTo>
                <a:lnTo>
                  <a:pt x="1172696" y="192601"/>
                </a:lnTo>
                <a:lnTo>
                  <a:pt x="1172696" y="0"/>
                </a:lnTo>
                <a:lnTo>
                  <a:pt x="0" y="0"/>
                </a:lnTo>
                <a:lnTo>
                  <a:pt x="0" y="192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783301" y="3954128"/>
            <a:ext cx="11982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格式化的</a:t>
            </a:r>
            <a:r>
              <a:rPr sz="1150" dirty="0">
                <a:latin typeface="宋体"/>
                <a:cs typeface="宋体"/>
              </a:rPr>
              <a:t>库</a:t>
            </a:r>
            <a:r>
              <a:rPr sz="1150" dirty="0">
                <a:latin typeface="MS Gothic"/>
                <a:cs typeface="MS Gothic"/>
              </a:rPr>
              <a:t>存数据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291325" y="3766889"/>
            <a:ext cx="455295" cy="432434"/>
          </a:xfrm>
          <a:custGeom>
            <a:avLst/>
            <a:gdLst/>
            <a:ahLst/>
            <a:cxnLst/>
            <a:rect l="l" t="t" r="r" b="b"/>
            <a:pathLst>
              <a:path w="455294" h="432435">
                <a:moveTo>
                  <a:pt x="455244" y="0"/>
                </a:moveTo>
                <a:lnTo>
                  <a:pt x="0" y="431884"/>
                </a:lnTo>
              </a:path>
            </a:pathLst>
          </a:custGeom>
          <a:ln w="43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227157" y="4153409"/>
            <a:ext cx="108585" cy="106680"/>
          </a:xfrm>
          <a:custGeom>
            <a:avLst/>
            <a:gdLst/>
            <a:ahLst/>
            <a:cxnLst/>
            <a:rect l="l" t="t" r="r" b="b"/>
            <a:pathLst>
              <a:path w="108585" h="106679">
                <a:moveTo>
                  <a:pt x="38497" y="0"/>
                </a:moveTo>
                <a:lnTo>
                  <a:pt x="0" y="106097"/>
                </a:lnTo>
                <a:lnTo>
                  <a:pt x="108162" y="73169"/>
                </a:lnTo>
                <a:lnTo>
                  <a:pt x="384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97244" y="3955503"/>
            <a:ext cx="1466215" cy="193040"/>
          </a:xfrm>
          <a:custGeom>
            <a:avLst/>
            <a:gdLst/>
            <a:ahLst/>
            <a:cxnLst/>
            <a:rect l="l" t="t" r="r" b="b"/>
            <a:pathLst>
              <a:path w="1466214" h="193039">
                <a:moveTo>
                  <a:pt x="0" y="192601"/>
                </a:moveTo>
                <a:lnTo>
                  <a:pt x="1465870" y="192601"/>
                </a:lnTo>
                <a:lnTo>
                  <a:pt x="1465870" y="0"/>
                </a:lnTo>
                <a:lnTo>
                  <a:pt x="0" y="0"/>
                </a:lnTo>
                <a:lnTo>
                  <a:pt x="0" y="192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890041" y="3940957"/>
            <a:ext cx="14916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格式化的食物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售数据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44472" y="4907698"/>
            <a:ext cx="907415" cy="735330"/>
          </a:xfrm>
          <a:custGeom>
            <a:avLst/>
            <a:gdLst/>
            <a:ahLst/>
            <a:cxnLst/>
            <a:rect l="l" t="t" r="r" b="b"/>
            <a:pathLst>
              <a:path w="907414" h="735329">
                <a:moveTo>
                  <a:pt x="0" y="0"/>
                </a:moveTo>
                <a:lnTo>
                  <a:pt x="0" y="734716"/>
                </a:lnTo>
                <a:lnTo>
                  <a:pt x="907099" y="734716"/>
                </a:lnTo>
              </a:path>
            </a:pathLst>
          </a:custGeom>
          <a:ln w="43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38928" y="5591928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0" y="100974"/>
                </a:lnTo>
                <a:lnTo>
                  <a:pt x="101145" y="504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28980" y="5546124"/>
            <a:ext cx="880110" cy="193040"/>
          </a:xfrm>
          <a:custGeom>
            <a:avLst/>
            <a:gdLst/>
            <a:ahLst/>
            <a:cxnLst/>
            <a:rect l="l" t="t" r="r" b="b"/>
            <a:pathLst>
              <a:path w="880110" h="193039">
                <a:moveTo>
                  <a:pt x="0" y="192601"/>
                </a:moveTo>
                <a:lnTo>
                  <a:pt x="879522" y="192601"/>
                </a:lnTo>
                <a:lnTo>
                  <a:pt x="879522" y="0"/>
                </a:lnTo>
                <a:lnTo>
                  <a:pt x="0" y="0"/>
                </a:lnTo>
                <a:lnTo>
                  <a:pt x="0" y="192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921777" y="5531541"/>
            <a:ext cx="9055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日常食</a:t>
            </a:r>
            <a:r>
              <a:rPr sz="1150" spc="-5" dirty="0">
                <a:latin typeface="MS Gothic"/>
                <a:cs typeface="MS Gothic"/>
              </a:rPr>
              <a:t>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626969" y="4907698"/>
            <a:ext cx="2275205" cy="298450"/>
          </a:xfrm>
          <a:custGeom>
            <a:avLst/>
            <a:gdLst/>
            <a:ahLst/>
            <a:cxnLst/>
            <a:rect l="l" t="t" r="r" b="b"/>
            <a:pathLst>
              <a:path w="2275204" h="298450">
                <a:moveTo>
                  <a:pt x="2274847" y="0"/>
                </a:moveTo>
                <a:lnTo>
                  <a:pt x="2274847" y="298148"/>
                </a:lnTo>
                <a:lnTo>
                  <a:pt x="0" y="298148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38468" y="515536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101145" y="0"/>
                </a:moveTo>
                <a:lnTo>
                  <a:pt x="0" y="50487"/>
                </a:lnTo>
                <a:lnTo>
                  <a:pt x="101145" y="100975"/>
                </a:lnTo>
                <a:lnTo>
                  <a:pt x="1011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532511" y="5096586"/>
            <a:ext cx="880110" cy="193040"/>
          </a:xfrm>
          <a:custGeom>
            <a:avLst/>
            <a:gdLst/>
            <a:ahLst/>
            <a:cxnLst/>
            <a:rect l="l" t="t" r="r" b="b"/>
            <a:pathLst>
              <a:path w="880110" h="193039">
                <a:moveTo>
                  <a:pt x="0" y="192601"/>
                </a:moveTo>
                <a:lnTo>
                  <a:pt x="879522" y="192601"/>
                </a:lnTo>
                <a:lnTo>
                  <a:pt x="879522" y="0"/>
                </a:lnTo>
                <a:lnTo>
                  <a:pt x="0" y="0"/>
                </a:lnTo>
                <a:lnTo>
                  <a:pt x="0" y="1926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525308" y="5082004"/>
            <a:ext cx="9055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日常</a:t>
            </a:r>
            <a:r>
              <a:rPr sz="1150" dirty="0">
                <a:latin typeface="宋体"/>
                <a:cs typeface="宋体"/>
              </a:rPr>
              <a:t>库</a:t>
            </a:r>
            <a:r>
              <a:rPr sz="1150" dirty="0">
                <a:latin typeface="MS Gothic"/>
                <a:cs typeface="MS Gothic"/>
              </a:rPr>
              <a:t>存消耗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903927" y="5776243"/>
            <a:ext cx="701675" cy="0"/>
          </a:xfrm>
          <a:custGeom>
            <a:avLst/>
            <a:gdLst/>
            <a:ahLst/>
            <a:cxnLst/>
            <a:rect l="l" t="t" r="r" b="b"/>
            <a:pathLst>
              <a:path w="701675">
                <a:moveTo>
                  <a:pt x="0" y="0"/>
                </a:moveTo>
                <a:lnTo>
                  <a:pt x="701601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538467" y="5776243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5">
                <a:moveTo>
                  <a:pt x="0" y="0"/>
                </a:moveTo>
                <a:lnTo>
                  <a:pt x="779110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92885" y="5725737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0" y="0"/>
                </a:moveTo>
                <a:lnTo>
                  <a:pt x="0" y="100992"/>
                </a:lnTo>
                <a:lnTo>
                  <a:pt x="101145" y="505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5310375" y="5665350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管理</a:t>
            </a:r>
            <a:r>
              <a:rPr sz="1150" dirty="0">
                <a:latin typeface="宋体"/>
                <a:cs typeface="宋体"/>
              </a:rPr>
              <a:t>报</a:t>
            </a:r>
            <a:r>
              <a:rPr sz="1150" dirty="0">
                <a:latin typeface="MS Gothic"/>
                <a:cs typeface="MS Gothic"/>
              </a:rPr>
              <a:t>表</a:t>
            </a:r>
            <a:endParaRPr sz="1150">
              <a:latin typeface="MS Gothic"/>
              <a:cs typeface="MS Gothic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889270" y="1265030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133668" y="0"/>
                </a:moveTo>
                <a:lnTo>
                  <a:pt x="164910" y="0"/>
                </a:lnTo>
                <a:lnTo>
                  <a:pt x="121074" y="5881"/>
                </a:lnTo>
                <a:lnTo>
                  <a:pt x="81681" y="22479"/>
                </a:lnTo>
                <a:lnTo>
                  <a:pt x="48304" y="48223"/>
                </a:lnTo>
                <a:lnTo>
                  <a:pt x="22517" y="81544"/>
                </a:lnTo>
                <a:lnTo>
                  <a:pt x="5891" y="120870"/>
                </a:lnTo>
                <a:lnTo>
                  <a:pt x="0" y="164632"/>
                </a:lnTo>
                <a:lnTo>
                  <a:pt x="0" y="976086"/>
                </a:lnTo>
                <a:lnTo>
                  <a:pt x="5891" y="1019848"/>
                </a:lnTo>
                <a:lnTo>
                  <a:pt x="22517" y="1059174"/>
                </a:lnTo>
                <a:lnTo>
                  <a:pt x="48304" y="1092494"/>
                </a:lnTo>
                <a:lnTo>
                  <a:pt x="81681" y="1118238"/>
                </a:lnTo>
                <a:lnTo>
                  <a:pt x="121074" y="1134836"/>
                </a:lnTo>
                <a:lnTo>
                  <a:pt x="164910" y="1140717"/>
                </a:lnTo>
                <a:lnTo>
                  <a:pt x="1133668" y="1140717"/>
                </a:lnTo>
                <a:lnTo>
                  <a:pt x="1177503" y="1134836"/>
                </a:lnTo>
                <a:lnTo>
                  <a:pt x="1216896" y="1118238"/>
                </a:lnTo>
                <a:lnTo>
                  <a:pt x="1250272" y="1092494"/>
                </a:lnTo>
                <a:lnTo>
                  <a:pt x="1276060" y="1059174"/>
                </a:lnTo>
                <a:lnTo>
                  <a:pt x="1292686" y="1019848"/>
                </a:lnTo>
                <a:lnTo>
                  <a:pt x="1298577" y="976086"/>
                </a:lnTo>
                <a:lnTo>
                  <a:pt x="1298577" y="164632"/>
                </a:lnTo>
                <a:lnTo>
                  <a:pt x="1292686" y="120870"/>
                </a:lnTo>
                <a:lnTo>
                  <a:pt x="1276060" y="81544"/>
                </a:lnTo>
                <a:lnTo>
                  <a:pt x="1250272" y="48223"/>
                </a:lnTo>
                <a:lnTo>
                  <a:pt x="1216896" y="22479"/>
                </a:lnTo>
                <a:lnTo>
                  <a:pt x="1177503" y="5881"/>
                </a:lnTo>
                <a:lnTo>
                  <a:pt x="1133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889270" y="1265030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64910" y="1140717"/>
                </a:moveTo>
                <a:lnTo>
                  <a:pt x="1133667" y="1140717"/>
                </a:lnTo>
                <a:lnTo>
                  <a:pt x="1177503" y="1134836"/>
                </a:lnTo>
                <a:lnTo>
                  <a:pt x="1216896" y="1118238"/>
                </a:lnTo>
                <a:lnTo>
                  <a:pt x="1250273" y="1092494"/>
                </a:lnTo>
                <a:lnTo>
                  <a:pt x="1276060" y="1059173"/>
                </a:lnTo>
                <a:lnTo>
                  <a:pt x="1292686" y="1019847"/>
                </a:lnTo>
                <a:lnTo>
                  <a:pt x="1298578" y="976085"/>
                </a:lnTo>
                <a:lnTo>
                  <a:pt x="1298578" y="164632"/>
                </a:lnTo>
                <a:lnTo>
                  <a:pt x="1292686" y="120869"/>
                </a:lnTo>
                <a:lnTo>
                  <a:pt x="1276060" y="81543"/>
                </a:lnTo>
                <a:lnTo>
                  <a:pt x="1250273" y="48223"/>
                </a:lnTo>
                <a:lnTo>
                  <a:pt x="1216896" y="22479"/>
                </a:lnTo>
                <a:lnTo>
                  <a:pt x="1177503" y="5881"/>
                </a:lnTo>
                <a:lnTo>
                  <a:pt x="1133667" y="0"/>
                </a:lnTo>
                <a:lnTo>
                  <a:pt x="164910" y="0"/>
                </a:lnTo>
                <a:lnTo>
                  <a:pt x="121074" y="5881"/>
                </a:lnTo>
                <a:lnTo>
                  <a:pt x="81681" y="22479"/>
                </a:lnTo>
                <a:lnTo>
                  <a:pt x="48305" y="48223"/>
                </a:lnTo>
                <a:lnTo>
                  <a:pt x="22517" y="81543"/>
                </a:lnTo>
                <a:lnTo>
                  <a:pt x="5891" y="120869"/>
                </a:lnTo>
                <a:lnTo>
                  <a:pt x="0" y="164632"/>
                </a:lnTo>
                <a:lnTo>
                  <a:pt x="0" y="976085"/>
                </a:lnTo>
                <a:lnTo>
                  <a:pt x="5891" y="1019847"/>
                </a:lnTo>
                <a:lnTo>
                  <a:pt x="22517" y="1059173"/>
                </a:lnTo>
                <a:lnTo>
                  <a:pt x="48305" y="1092494"/>
                </a:lnTo>
                <a:lnTo>
                  <a:pt x="81681" y="1118238"/>
                </a:lnTo>
                <a:lnTo>
                  <a:pt x="121074" y="1134836"/>
                </a:lnTo>
                <a:lnTo>
                  <a:pt x="164910" y="1140717"/>
                </a:lnTo>
                <a:close/>
              </a:path>
            </a:pathLst>
          </a:custGeom>
          <a:ln w="8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874375" y="1434890"/>
            <a:ext cx="13284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6745" algn="l"/>
                <a:tab pos="1315085" algn="l"/>
              </a:tabLst>
            </a:pPr>
            <a:r>
              <a:rPr sz="11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1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12530" y="1753177"/>
            <a:ext cx="1051560" cy="44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0" marR="5080" indent="-146685">
              <a:lnSpc>
                <a:spcPct val="119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接收、</a:t>
            </a:r>
            <a:r>
              <a:rPr sz="1150" dirty="0">
                <a:latin typeface="宋体"/>
                <a:cs typeface="宋体"/>
              </a:rPr>
              <a:t>传递顾客 </a:t>
            </a:r>
            <a:r>
              <a:rPr sz="1150" dirty="0">
                <a:latin typeface="MS Gothic"/>
                <a:cs typeface="MS Gothic"/>
              </a:rPr>
              <a:t>的食物</a:t>
            </a:r>
            <a:r>
              <a:rPr sz="1150" dirty="0">
                <a:latin typeface="宋体"/>
                <a:cs typeface="宋体"/>
              </a:rPr>
              <a:t>订单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097317" y="2626172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64910" y="1140717"/>
                </a:moveTo>
                <a:lnTo>
                  <a:pt x="1133594" y="1140717"/>
                </a:lnTo>
                <a:lnTo>
                  <a:pt x="1177430" y="1134836"/>
                </a:lnTo>
                <a:lnTo>
                  <a:pt x="1216823" y="1118238"/>
                </a:lnTo>
                <a:lnTo>
                  <a:pt x="1250199" y="1092494"/>
                </a:lnTo>
                <a:lnTo>
                  <a:pt x="1275987" y="1059173"/>
                </a:lnTo>
                <a:lnTo>
                  <a:pt x="1292613" y="1019847"/>
                </a:lnTo>
                <a:lnTo>
                  <a:pt x="1298504" y="976085"/>
                </a:lnTo>
                <a:lnTo>
                  <a:pt x="1298504" y="164632"/>
                </a:lnTo>
                <a:lnTo>
                  <a:pt x="1292613" y="120869"/>
                </a:lnTo>
                <a:lnTo>
                  <a:pt x="1275987" y="81543"/>
                </a:lnTo>
                <a:lnTo>
                  <a:pt x="1250199" y="48223"/>
                </a:lnTo>
                <a:lnTo>
                  <a:pt x="1216823" y="22479"/>
                </a:lnTo>
                <a:lnTo>
                  <a:pt x="1177430" y="5881"/>
                </a:lnTo>
                <a:lnTo>
                  <a:pt x="1133594" y="0"/>
                </a:lnTo>
                <a:lnTo>
                  <a:pt x="164910" y="0"/>
                </a:lnTo>
                <a:lnTo>
                  <a:pt x="121067" y="5881"/>
                </a:lnTo>
                <a:lnTo>
                  <a:pt x="81673" y="22479"/>
                </a:lnTo>
                <a:lnTo>
                  <a:pt x="48298" y="48223"/>
                </a:lnTo>
                <a:lnTo>
                  <a:pt x="22513" y="81543"/>
                </a:lnTo>
                <a:lnTo>
                  <a:pt x="5890" y="120869"/>
                </a:lnTo>
                <a:lnTo>
                  <a:pt x="0" y="164632"/>
                </a:lnTo>
                <a:lnTo>
                  <a:pt x="0" y="976085"/>
                </a:lnTo>
                <a:lnTo>
                  <a:pt x="5890" y="1019847"/>
                </a:lnTo>
                <a:lnTo>
                  <a:pt x="22513" y="1059173"/>
                </a:lnTo>
                <a:lnTo>
                  <a:pt x="48298" y="1092494"/>
                </a:lnTo>
                <a:lnTo>
                  <a:pt x="81673" y="1118238"/>
                </a:lnTo>
                <a:lnTo>
                  <a:pt x="121067" y="1134836"/>
                </a:lnTo>
                <a:lnTo>
                  <a:pt x="164910" y="1140717"/>
                </a:lnTo>
                <a:close/>
              </a:path>
            </a:pathLst>
          </a:custGeom>
          <a:ln w="8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082422" y="2796032"/>
            <a:ext cx="13284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6745" algn="l"/>
                <a:tab pos="1315085" algn="l"/>
              </a:tabLst>
            </a:pPr>
            <a:r>
              <a:rPr sz="11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2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220668" y="3114319"/>
            <a:ext cx="1051560" cy="44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2120" marR="5080" indent="-440055">
              <a:lnSpc>
                <a:spcPct val="119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更新食物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</a:t>
            </a:r>
            <a:r>
              <a:rPr sz="1150" dirty="0">
                <a:latin typeface="宋体"/>
                <a:cs typeface="宋体"/>
              </a:rPr>
              <a:t>记 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681113" y="2665135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133668" y="0"/>
                </a:moveTo>
                <a:lnTo>
                  <a:pt x="164910" y="0"/>
                </a:lnTo>
                <a:lnTo>
                  <a:pt x="121074" y="5881"/>
                </a:lnTo>
                <a:lnTo>
                  <a:pt x="81682" y="22479"/>
                </a:lnTo>
                <a:lnTo>
                  <a:pt x="48305" y="48223"/>
                </a:lnTo>
                <a:lnTo>
                  <a:pt x="22517" y="81543"/>
                </a:lnTo>
                <a:lnTo>
                  <a:pt x="5891" y="120870"/>
                </a:lnTo>
                <a:lnTo>
                  <a:pt x="0" y="164632"/>
                </a:lnTo>
                <a:lnTo>
                  <a:pt x="0" y="976085"/>
                </a:lnTo>
                <a:lnTo>
                  <a:pt x="5891" y="1019847"/>
                </a:lnTo>
                <a:lnTo>
                  <a:pt x="22517" y="1059174"/>
                </a:lnTo>
                <a:lnTo>
                  <a:pt x="48305" y="1092494"/>
                </a:lnTo>
                <a:lnTo>
                  <a:pt x="81682" y="1118238"/>
                </a:lnTo>
                <a:lnTo>
                  <a:pt x="121074" y="1134836"/>
                </a:lnTo>
                <a:lnTo>
                  <a:pt x="164910" y="1140717"/>
                </a:lnTo>
                <a:lnTo>
                  <a:pt x="1133668" y="1140717"/>
                </a:lnTo>
                <a:lnTo>
                  <a:pt x="1177504" y="1134836"/>
                </a:lnTo>
                <a:lnTo>
                  <a:pt x="1216897" y="1118238"/>
                </a:lnTo>
                <a:lnTo>
                  <a:pt x="1250273" y="1092494"/>
                </a:lnTo>
                <a:lnTo>
                  <a:pt x="1276061" y="1059174"/>
                </a:lnTo>
                <a:lnTo>
                  <a:pt x="1292687" y="1019847"/>
                </a:lnTo>
                <a:lnTo>
                  <a:pt x="1298578" y="976085"/>
                </a:lnTo>
                <a:lnTo>
                  <a:pt x="1298578" y="164632"/>
                </a:lnTo>
                <a:lnTo>
                  <a:pt x="1292687" y="120870"/>
                </a:lnTo>
                <a:lnTo>
                  <a:pt x="1276061" y="81543"/>
                </a:lnTo>
                <a:lnTo>
                  <a:pt x="1250273" y="48223"/>
                </a:lnTo>
                <a:lnTo>
                  <a:pt x="1216897" y="22479"/>
                </a:lnTo>
                <a:lnTo>
                  <a:pt x="1177504" y="5881"/>
                </a:lnTo>
                <a:lnTo>
                  <a:pt x="11336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681114" y="2665135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64910" y="1140717"/>
                </a:moveTo>
                <a:lnTo>
                  <a:pt x="1133667" y="1140717"/>
                </a:lnTo>
                <a:lnTo>
                  <a:pt x="1177503" y="1134836"/>
                </a:lnTo>
                <a:lnTo>
                  <a:pt x="1216896" y="1118238"/>
                </a:lnTo>
                <a:lnTo>
                  <a:pt x="1250273" y="1092494"/>
                </a:lnTo>
                <a:lnTo>
                  <a:pt x="1276060" y="1059173"/>
                </a:lnTo>
                <a:lnTo>
                  <a:pt x="1292686" y="1019847"/>
                </a:lnTo>
                <a:lnTo>
                  <a:pt x="1298578" y="976085"/>
                </a:lnTo>
                <a:lnTo>
                  <a:pt x="1298578" y="164632"/>
                </a:lnTo>
                <a:lnTo>
                  <a:pt x="1292686" y="120869"/>
                </a:lnTo>
                <a:lnTo>
                  <a:pt x="1276060" y="81543"/>
                </a:lnTo>
                <a:lnTo>
                  <a:pt x="1250273" y="48223"/>
                </a:lnTo>
                <a:lnTo>
                  <a:pt x="1216896" y="22479"/>
                </a:lnTo>
                <a:lnTo>
                  <a:pt x="1177503" y="5881"/>
                </a:lnTo>
                <a:lnTo>
                  <a:pt x="1133667" y="0"/>
                </a:lnTo>
                <a:lnTo>
                  <a:pt x="164910" y="0"/>
                </a:lnTo>
                <a:lnTo>
                  <a:pt x="121074" y="5881"/>
                </a:lnTo>
                <a:lnTo>
                  <a:pt x="81681" y="22479"/>
                </a:lnTo>
                <a:lnTo>
                  <a:pt x="48305" y="48223"/>
                </a:lnTo>
                <a:lnTo>
                  <a:pt x="22517" y="81543"/>
                </a:lnTo>
                <a:lnTo>
                  <a:pt x="5891" y="120869"/>
                </a:lnTo>
                <a:lnTo>
                  <a:pt x="0" y="164632"/>
                </a:lnTo>
                <a:lnTo>
                  <a:pt x="0" y="976085"/>
                </a:lnTo>
                <a:lnTo>
                  <a:pt x="5891" y="1019847"/>
                </a:lnTo>
                <a:lnTo>
                  <a:pt x="22517" y="1059173"/>
                </a:lnTo>
                <a:lnTo>
                  <a:pt x="48305" y="1092494"/>
                </a:lnTo>
                <a:lnTo>
                  <a:pt x="81681" y="1118238"/>
                </a:lnTo>
                <a:lnTo>
                  <a:pt x="121074" y="1134836"/>
                </a:lnTo>
                <a:lnTo>
                  <a:pt x="164910" y="1140717"/>
                </a:lnTo>
                <a:close/>
              </a:path>
            </a:pathLst>
          </a:custGeom>
          <a:ln w="8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6280964" y="2826397"/>
            <a:ext cx="990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Times New Roman"/>
                <a:cs typeface="Times New Roman"/>
              </a:rPr>
              <a:t>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77850" y="3190417"/>
            <a:ext cx="9055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MS Gothic"/>
                <a:cs typeface="MS Gothic"/>
              </a:rPr>
              <a:t>更新</a:t>
            </a:r>
            <a:r>
              <a:rPr sz="1150" dirty="0">
                <a:latin typeface="宋体"/>
                <a:cs typeface="宋体"/>
              </a:rPr>
              <a:t>库</a:t>
            </a:r>
            <a:r>
              <a:rPr sz="1150" dirty="0">
                <a:latin typeface="MS Gothic"/>
                <a:cs typeface="MS Gothic"/>
              </a:rPr>
              <a:t>存</a:t>
            </a:r>
            <a:r>
              <a:rPr sz="1150" dirty="0">
                <a:latin typeface="宋体"/>
                <a:cs typeface="宋体"/>
              </a:rPr>
              <a:t>记录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681114" y="3028057"/>
            <a:ext cx="1298575" cy="13335"/>
          </a:xfrm>
          <a:custGeom>
            <a:avLst/>
            <a:gdLst/>
            <a:ahLst/>
            <a:cxnLst/>
            <a:rect l="l" t="t" r="r" b="b"/>
            <a:pathLst>
              <a:path w="1298575" h="13335">
                <a:moveTo>
                  <a:pt x="0" y="12987"/>
                </a:moveTo>
                <a:lnTo>
                  <a:pt x="1298578" y="0"/>
                </a:lnTo>
              </a:path>
            </a:pathLst>
          </a:custGeom>
          <a:ln w="43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240073" y="5011399"/>
            <a:ext cx="1298575" cy="1141095"/>
          </a:xfrm>
          <a:custGeom>
            <a:avLst/>
            <a:gdLst/>
            <a:ahLst/>
            <a:cxnLst/>
            <a:rect l="l" t="t" r="r" b="b"/>
            <a:pathLst>
              <a:path w="1298575" h="1141095">
                <a:moveTo>
                  <a:pt x="164910" y="1140767"/>
                </a:moveTo>
                <a:lnTo>
                  <a:pt x="1133484" y="1140767"/>
                </a:lnTo>
                <a:lnTo>
                  <a:pt x="1177320" y="1134886"/>
                </a:lnTo>
                <a:lnTo>
                  <a:pt x="1216713" y="1118290"/>
                </a:lnTo>
                <a:lnTo>
                  <a:pt x="1250089" y="1092548"/>
                </a:lnTo>
                <a:lnTo>
                  <a:pt x="1275877" y="1059229"/>
                </a:lnTo>
                <a:lnTo>
                  <a:pt x="1292503" y="1019904"/>
                </a:lnTo>
                <a:lnTo>
                  <a:pt x="1298394" y="976140"/>
                </a:lnTo>
                <a:lnTo>
                  <a:pt x="1298394" y="164632"/>
                </a:lnTo>
                <a:lnTo>
                  <a:pt x="1292503" y="120869"/>
                </a:lnTo>
                <a:lnTo>
                  <a:pt x="1275877" y="81543"/>
                </a:lnTo>
                <a:lnTo>
                  <a:pt x="1250089" y="48223"/>
                </a:lnTo>
                <a:lnTo>
                  <a:pt x="1216713" y="22479"/>
                </a:lnTo>
                <a:lnTo>
                  <a:pt x="1177320" y="5881"/>
                </a:lnTo>
                <a:lnTo>
                  <a:pt x="1133484" y="0"/>
                </a:lnTo>
                <a:lnTo>
                  <a:pt x="164910" y="0"/>
                </a:lnTo>
                <a:lnTo>
                  <a:pt x="121074" y="5881"/>
                </a:lnTo>
                <a:lnTo>
                  <a:pt x="81681" y="22479"/>
                </a:lnTo>
                <a:lnTo>
                  <a:pt x="48305" y="48223"/>
                </a:lnTo>
                <a:lnTo>
                  <a:pt x="22517" y="81543"/>
                </a:lnTo>
                <a:lnTo>
                  <a:pt x="5891" y="120869"/>
                </a:lnTo>
                <a:lnTo>
                  <a:pt x="0" y="164632"/>
                </a:lnTo>
                <a:lnTo>
                  <a:pt x="0" y="976140"/>
                </a:lnTo>
                <a:lnTo>
                  <a:pt x="5891" y="1019904"/>
                </a:lnTo>
                <a:lnTo>
                  <a:pt x="22517" y="1059229"/>
                </a:lnTo>
                <a:lnTo>
                  <a:pt x="48305" y="1092548"/>
                </a:lnTo>
                <a:lnTo>
                  <a:pt x="81681" y="1118290"/>
                </a:lnTo>
                <a:lnTo>
                  <a:pt x="121074" y="1134886"/>
                </a:lnTo>
                <a:lnTo>
                  <a:pt x="164910" y="1140767"/>
                </a:lnTo>
                <a:close/>
              </a:path>
            </a:pathLst>
          </a:custGeom>
          <a:ln w="8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225178" y="5172789"/>
            <a:ext cx="13284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6745" algn="l"/>
                <a:tab pos="1315085" algn="l"/>
              </a:tabLst>
            </a:pPr>
            <a:r>
              <a:rPr sz="11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4	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36626" y="5536754"/>
            <a:ext cx="9055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宋体"/>
                <a:cs typeface="宋体"/>
              </a:rPr>
              <a:t>产生管理报表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383133" y="4259505"/>
            <a:ext cx="1688464" cy="648335"/>
          </a:xfrm>
          <a:custGeom>
            <a:avLst/>
            <a:gdLst/>
            <a:ahLst/>
            <a:cxnLst/>
            <a:rect l="l" t="t" r="r" b="b"/>
            <a:pathLst>
              <a:path w="1688464" h="648335">
                <a:moveTo>
                  <a:pt x="1688052" y="0"/>
                </a:moveTo>
                <a:lnTo>
                  <a:pt x="0" y="0"/>
                </a:lnTo>
                <a:lnTo>
                  <a:pt x="0" y="648193"/>
                </a:lnTo>
                <a:lnTo>
                  <a:pt x="1688052" y="648193"/>
                </a:lnTo>
              </a:path>
            </a:pathLst>
          </a:custGeom>
          <a:ln w="87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387525" y="4472737"/>
            <a:ext cx="151066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00"/>
              </a:spcBef>
              <a:tabLst>
                <a:tab pos="617855" algn="l"/>
              </a:tabLst>
            </a:pPr>
            <a:r>
              <a:rPr sz="1150" dirty="0">
                <a:latin typeface="Times New Roman"/>
                <a:cs typeface="Times New Roman"/>
              </a:rPr>
              <a:t>D2	</a:t>
            </a:r>
            <a:r>
              <a:rPr sz="1150" dirty="0">
                <a:latin typeface="MS Gothic"/>
                <a:cs typeface="MS Gothic"/>
              </a:rPr>
              <a:t>食物</a:t>
            </a:r>
            <a:r>
              <a:rPr sz="1150" dirty="0">
                <a:latin typeface="宋体"/>
                <a:cs typeface="宋体"/>
              </a:rPr>
              <a:t>销</a:t>
            </a:r>
            <a:r>
              <a:rPr sz="1150" dirty="0">
                <a:latin typeface="MS Gothic"/>
                <a:cs typeface="MS Gothic"/>
              </a:rPr>
              <a:t>售</a:t>
            </a:r>
            <a:r>
              <a:rPr sz="1150" dirty="0">
                <a:latin typeface="宋体"/>
                <a:cs typeface="宋体"/>
              </a:rPr>
              <a:t>记录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928503" y="4259505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0"/>
                </a:moveTo>
                <a:lnTo>
                  <a:pt x="0" y="648193"/>
                </a:lnTo>
              </a:path>
            </a:pathLst>
          </a:custGeom>
          <a:ln w="4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966775" y="4259505"/>
            <a:ext cx="1688464" cy="648335"/>
          </a:xfrm>
          <a:custGeom>
            <a:avLst/>
            <a:gdLst/>
            <a:ahLst/>
            <a:cxnLst/>
            <a:rect l="l" t="t" r="r" b="b"/>
            <a:pathLst>
              <a:path w="1688465" h="648335">
                <a:moveTo>
                  <a:pt x="1688133" y="0"/>
                </a:moveTo>
                <a:lnTo>
                  <a:pt x="0" y="0"/>
                </a:lnTo>
                <a:lnTo>
                  <a:pt x="0" y="648193"/>
                </a:lnTo>
                <a:lnTo>
                  <a:pt x="1688133" y="648193"/>
                </a:lnTo>
              </a:path>
            </a:pathLst>
          </a:custGeom>
          <a:ln w="87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5971166" y="4472737"/>
            <a:ext cx="5391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854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Times New Roman"/>
                <a:cs typeface="Times New Roman"/>
              </a:rPr>
              <a:t>D1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814725" y="4472737"/>
            <a:ext cx="61214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latin typeface="宋体"/>
                <a:cs typeface="宋体"/>
              </a:rPr>
              <a:t>库存记录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512262" y="4259505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0"/>
                </a:moveTo>
                <a:lnTo>
                  <a:pt x="0" y="648193"/>
                </a:lnTo>
              </a:path>
            </a:pathLst>
          </a:custGeom>
          <a:ln w="43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5577" y="230124"/>
            <a:ext cx="63595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2.2.3.</a:t>
            </a:r>
            <a:r>
              <a:rPr spc="-35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层次结构</a:t>
            </a:r>
            <a:r>
              <a:rPr dirty="0"/>
              <a:t>:</a:t>
            </a:r>
            <a:r>
              <a:rPr spc="-40" dirty="0"/>
              <a:t> </a:t>
            </a:r>
            <a:r>
              <a:rPr spc="-5" dirty="0"/>
              <a:t>N</a:t>
            </a:r>
            <a:r>
              <a:rPr dirty="0">
                <a:latin typeface="宋体"/>
                <a:cs typeface="宋体"/>
              </a:rPr>
              <a:t>层图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20775"/>
            <a:ext cx="8047355" cy="279844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610"/>
              </a:spcBef>
              <a:buClr>
                <a:srgbClr val="00663C"/>
              </a:buClr>
              <a:buSzPct val="81818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Calibri"/>
                <a:cs typeface="Calibri"/>
              </a:rPr>
              <a:t>N</a:t>
            </a:r>
            <a:r>
              <a:rPr sz="2200" dirty="0">
                <a:latin typeface="宋体"/>
                <a:cs typeface="宋体"/>
              </a:rPr>
              <a:t>层图</a:t>
            </a:r>
            <a:endParaRPr sz="220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464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对</a:t>
            </a:r>
            <a:r>
              <a:rPr sz="2000" spc="-5" dirty="0">
                <a:latin typeface="Calibri"/>
                <a:cs typeface="Calibri"/>
              </a:rPr>
              <a:t>0</a:t>
            </a:r>
            <a:r>
              <a:rPr sz="2000" dirty="0">
                <a:latin typeface="宋体"/>
                <a:cs typeface="宋体"/>
              </a:rPr>
              <a:t>层图的过程分解产生的子图称为</a:t>
            </a:r>
            <a:r>
              <a:rPr sz="2000" spc="-5" dirty="0">
                <a:latin typeface="Calibri"/>
                <a:cs typeface="Calibri"/>
              </a:rPr>
              <a:t>1</a:t>
            </a:r>
            <a:r>
              <a:rPr sz="2000" dirty="0">
                <a:latin typeface="宋体"/>
                <a:cs typeface="宋体"/>
              </a:rPr>
              <a:t>层图，对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宋体"/>
                <a:cs typeface="宋体"/>
              </a:rPr>
              <a:t>层图的过程分解后 产生的子图称为</a:t>
            </a:r>
            <a:r>
              <a:rPr sz="2000" spc="-5" dirty="0">
                <a:latin typeface="Calibri"/>
                <a:cs typeface="Calibri"/>
              </a:rPr>
              <a:t>N+1</a:t>
            </a:r>
            <a:r>
              <a:rPr sz="2000" dirty="0">
                <a:latin typeface="宋体"/>
                <a:cs typeface="宋体"/>
              </a:rPr>
              <a:t>层图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spc="-5" dirty="0">
                <a:latin typeface="Calibri"/>
                <a:cs typeface="Calibri"/>
              </a:rPr>
              <a:t>N&gt;0</a:t>
            </a:r>
            <a:r>
              <a:rPr sz="2000" spc="-5" dirty="0">
                <a:latin typeface="宋体"/>
                <a:cs typeface="宋体"/>
              </a:rPr>
              <a:t>）</a:t>
            </a:r>
            <a:r>
              <a:rPr sz="2000" spc="-60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，过程分解是可以持续进行的，  直至</a:t>
            </a:r>
            <a:r>
              <a:rPr sz="2000" dirty="0">
                <a:solidFill>
                  <a:srgbClr val="009257"/>
                </a:solidFill>
                <a:latin typeface="宋体"/>
                <a:cs typeface="宋体"/>
              </a:rPr>
              <a:t>最终产生的子图都是原始</a:t>
            </a:r>
            <a:r>
              <a:rPr sz="2000" spc="-5" dirty="0">
                <a:solidFill>
                  <a:srgbClr val="009257"/>
                </a:solidFill>
                <a:latin typeface="Calibri"/>
                <a:cs typeface="Calibri"/>
              </a:rPr>
              <a:t>DFD</a:t>
            </a:r>
            <a:r>
              <a:rPr sz="2000" dirty="0">
                <a:solidFill>
                  <a:srgbClr val="009257"/>
                </a:solidFill>
                <a:latin typeface="宋体"/>
                <a:cs typeface="宋体"/>
              </a:rPr>
              <a:t>图</a:t>
            </a:r>
            <a:endParaRPr sz="2000">
              <a:latin typeface="宋体"/>
              <a:cs typeface="宋体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原始</a:t>
            </a:r>
            <a:r>
              <a:rPr sz="2000" spc="-5" dirty="0">
                <a:latin typeface="Calibri"/>
                <a:cs typeface="Calibri"/>
              </a:rPr>
              <a:t>DFD</a:t>
            </a:r>
            <a:r>
              <a:rPr sz="2000" dirty="0">
                <a:latin typeface="宋体"/>
                <a:cs typeface="宋体"/>
              </a:rPr>
              <a:t>图可以进一步展开为</a:t>
            </a:r>
            <a:endParaRPr sz="20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1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微规格说明</a:t>
            </a:r>
            <a:endParaRPr sz="18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1800" dirty="0">
                <a:latin typeface="宋体"/>
                <a:cs typeface="宋体"/>
              </a:rPr>
              <a:t>数据字典</a:t>
            </a:r>
            <a:endParaRPr sz="1800">
              <a:latin typeface="宋体"/>
              <a:cs typeface="宋体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545"/>
              </a:spcBef>
              <a:buClr>
                <a:srgbClr val="C00000"/>
              </a:buClr>
              <a:buSzPct val="60000"/>
              <a:buFont typeface="Wingdings"/>
              <a:buChar char=""/>
              <a:tabLst>
                <a:tab pos="755650" algn="l"/>
              </a:tabLst>
            </a:pPr>
            <a:r>
              <a:rPr sz="2000" dirty="0">
                <a:latin typeface="宋体"/>
                <a:cs typeface="宋体"/>
              </a:rPr>
              <a:t>在低于</a:t>
            </a:r>
            <a:r>
              <a:rPr sz="2000" spc="-5" dirty="0">
                <a:latin typeface="Calibri"/>
                <a:cs typeface="Calibri"/>
              </a:rPr>
              <a:t>0</a:t>
            </a:r>
            <a:r>
              <a:rPr sz="2000" dirty="0">
                <a:latin typeface="宋体"/>
                <a:cs typeface="宋体"/>
              </a:rPr>
              <a:t>层图的子图上通常不显示外部实体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68091" y="4270504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>
                <a:moveTo>
                  <a:pt x="0" y="0"/>
                </a:moveTo>
                <a:lnTo>
                  <a:pt x="228695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83554" y="4270504"/>
            <a:ext cx="294005" cy="0"/>
          </a:xfrm>
          <a:custGeom>
            <a:avLst/>
            <a:gdLst/>
            <a:ahLst/>
            <a:cxnLst/>
            <a:rect l="l" t="t" r="r" b="b"/>
            <a:pathLst>
              <a:path w="294005">
                <a:moveTo>
                  <a:pt x="0" y="0"/>
                </a:moveTo>
                <a:lnTo>
                  <a:pt x="293544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86199" y="4228067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0" y="0"/>
                </a:moveTo>
                <a:lnTo>
                  <a:pt x="0" y="84874"/>
                </a:lnTo>
                <a:lnTo>
                  <a:pt x="84696" y="424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769001" y="4175237"/>
            <a:ext cx="5168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宋体"/>
                <a:cs typeface="宋体"/>
              </a:rPr>
              <a:t>顾客订单</a:t>
            </a:r>
            <a:endParaRPr sz="95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45374" y="6275430"/>
            <a:ext cx="426084" cy="0"/>
          </a:xfrm>
          <a:custGeom>
            <a:avLst/>
            <a:gdLst/>
            <a:ahLst/>
            <a:cxnLst/>
            <a:rect l="l" t="t" r="r" b="b"/>
            <a:pathLst>
              <a:path w="426085">
                <a:moveTo>
                  <a:pt x="0" y="0"/>
                </a:moveTo>
                <a:lnTo>
                  <a:pt x="425520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57670" y="6275430"/>
            <a:ext cx="342265" cy="0"/>
          </a:xfrm>
          <a:custGeom>
            <a:avLst/>
            <a:gdLst/>
            <a:ahLst/>
            <a:cxnLst/>
            <a:rect l="l" t="t" r="r" b="b"/>
            <a:pathLst>
              <a:path w="342264">
                <a:moveTo>
                  <a:pt x="0" y="0"/>
                </a:moveTo>
                <a:lnTo>
                  <a:pt x="342207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483554" y="6232993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90" h="85089">
                <a:moveTo>
                  <a:pt x="84703" y="0"/>
                </a:moveTo>
                <a:lnTo>
                  <a:pt x="0" y="42437"/>
                </a:lnTo>
                <a:lnTo>
                  <a:pt x="84703" y="84874"/>
                </a:lnTo>
                <a:lnTo>
                  <a:pt x="847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24273" y="4270504"/>
            <a:ext cx="174625" cy="0"/>
          </a:xfrm>
          <a:custGeom>
            <a:avLst/>
            <a:gdLst/>
            <a:ahLst/>
            <a:cxnLst/>
            <a:rect l="l" t="t" r="r" b="b"/>
            <a:pathLst>
              <a:path w="174625">
                <a:moveTo>
                  <a:pt x="0" y="0"/>
                </a:moveTo>
                <a:lnTo>
                  <a:pt x="174300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94072" y="4270504"/>
            <a:ext cx="239395" cy="0"/>
          </a:xfrm>
          <a:custGeom>
            <a:avLst/>
            <a:gdLst/>
            <a:ahLst/>
            <a:cxnLst/>
            <a:rect l="l" t="t" r="r" b="b"/>
            <a:pathLst>
              <a:path w="239395">
                <a:moveTo>
                  <a:pt x="0" y="0"/>
                </a:moveTo>
                <a:lnTo>
                  <a:pt x="239207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87988" y="4228067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90" h="85089">
                <a:moveTo>
                  <a:pt x="0" y="0"/>
                </a:moveTo>
                <a:lnTo>
                  <a:pt x="0" y="84874"/>
                </a:lnTo>
                <a:lnTo>
                  <a:pt x="84696" y="424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25181" y="4175237"/>
            <a:ext cx="5168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MS Gothic"/>
                <a:cs typeface="MS Gothic"/>
              </a:rPr>
              <a:t>食物</a:t>
            </a:r>
            <a:r>
              <a:rPr sz="950" spc="15" dirty="0">
                <a:latin typeface="宋体"/>
                <a:cs typeface="宋体"/>
              </a:rPr>
              <a:t>订单</a:t>
            </a:r>
            <a:endParaRPr sz="95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82606" y="6275430"/>
            <a:ext cx="815975" cy="0"/>
          </a:xfrm>
          <a:custGeom>
            <a:avLst/>
            <a:gdLst/>
            <a:ahLst/>
            <a:cxnLst/>
            <a:rect l="l" t="t" r="r" b="b"/>
            <a:pathLst>
              <a:path w="815975">
                <a:moveTo>
                  <a:pt x="0" y="0"/>
                </a:moveTo>
                <a:lnTo>
                  <a:pt x="815966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87988" y="6232993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90" h="85089">
                <a:moveTo>
                  <a:pt x="0" y="0"/>
                </a:moveTo>
                <a:lnTo>
                  <a:pt x="0" y="84874"/>
                </a:lnTo>
                <a:lnTo>
                  <a:pt x="84696" y="424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13379" y="5490911"/>
            <a:ext cx="185420" cy="0"/>
          </a:xfrm>
          <a:custGeom>
            <a:avLst/>
            <a:gdLst/>
            <a:ahLst/>
            <a:cxnLst/>
            <a:rect l="l" t="t" r="r" b="b"/>
            <a:pathLst>
              <a:path w="185420">
                <a:moveTo>
                  <a:pt x="0" y="0"/>
                </a:moveTo>
                <a:lnTo>
                  <a:pt x="185194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72284" y="5490911"/>
            <a:ext cx="250190" cy="0"/>
          </a:xfrm>
          <a:custGeom>
            <a:avLst/>
            <a:gdLst/>
            <a:ahLst/>
            <a:cxnLst/>
            <a:rect l="l" t="t" r="r" b="b"/>
            <a:pathLst>
              <a:path w="250190">
                <a:moveTo>
                  <a:pt x="0" y="0"/>
                </a:moveTo>
                <a:lnTo>
                  <a:pt x="250101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87988" y="5448474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90" h="85089">
                <a:moveTo>
                  <a:pt x="0" y="0"/>
                </a:moveTo>
                <a:lnTo>
                  <a:pt x="0" y="84875"/>
                </a:lnTo>
                <a:lnTo>
                  <a:pt x="84696" y="424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814287" y="5395675"/>
            <a:ext cx="5168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MS Gothic"/>
                <a:cs typeface="MS Gothic"/>
              </a:rPr>
              <a:t>存</a:t>
            </a:r>
            <a:r>
              <a:rPr sz="950" spc="15" dirty="0">
                <a:latin typeface="宋体"/>
                <a:cs typeface="宋体"/>
              </a:rPr>
              <a:t>货</a:t>
            </a:r>
            <a:r>
              <a:rPr sz="950" spc="15" dirty="0">
                <a:latin typeface="MS Gothic"/>
                <a:cs typeface="MS Gothic"/>
              </a:rPr>
              <a:t>信息</a:t>
            </a:r>
            <a:endParaRPr sz="950">
              <a:latin typeface="MS Gothic"/>
              <a:cs typeface="MS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70895" y="3834600"/>
            <a:ext cx="1087755" cy="959485"/>
          </a:xfrm>
          <a:custGeom>
            <a:avLst/>
            <a:gdLst/>
            <a:ahLst/>
            <a:cxnLst/>
            <a:rect l="l" t="t" r="r" b="b"/>
            <a:pathLst>
              <a:path w="1087754" h="959485">
                <a:moveTo>
                  <a:pt x="138091" y="958987"/>
                </a:moveTo>
                <a:lnTo>
                  <a:pt x="949257" y="958987"/>
                </a:lnTo>
                <a:lnTo>
                  <a:pt x="992901" y="951932"/>
                </a:lnTo>
                <a:lnTo>
                  <a:pt x="1030808" y="932285"/>
                </a:lnTo>
                <a:lnTo>
                  <a:pt x="1060702" y="902328"/>
                </a:lnTo>
                <a:lnTo>
                  <a:pt x="1080308" y="864341"/>
                </a:lnTo>
                <a:lnTo>
                  <a:pt x="1087349" y="820605"/>
                </a:lnTo>
                <a:lnTo>
                  <a:pt x="1087349" y="138382"/>
                </a:lnTo>
                <a:lnTo>
                  <a:pt x="1080308" y="94645"/>
                </a:lnTo>
                <a:lnTo>
                  <a:pt x="1060702" y="56659"/>
                </a:lnTo>
                <a:lnTo>
                  <a:pt x="1030808" y="26702"/>
                </a:lnTo>
                <a:lnTo>
                  <a:pt x="992901" y="7055"/>
                </a:lnTo>
                <a:lnTo>
                  <a:pt x="949257" y="0"/>
                </a:lnTo>
                <a:lnTo>
                  <a:pt x="138091" y="0"/>
                </a:lnTo>
                <a:lnTo>
                  <a:pt x="94441" y="7055"/>
                </a:lnTo>
                <a:lnTo>
                  <a:pt x="56533" y="26702"/>
                </a:lnTo>
                <a:lnTo>
                  <a:pt x="26641" y="56659"/>
                </a:lnTo>
                <a:lnTo>
                  <a:pt x="7039" y="94645"/>
                </a:lnTo>
                <a:lnTo>
                  <a:pt x="0" y="138382"/>
                </a:lnTo>
                <a:lnTo>
                  <a:pt x="0" y="820605"/>
                </a:lnTo>
                <a:lnTo>
                  <a:pt x="7039" y="864341"/>
                </a:lnTo>
                <a:lnTo>
                  <a:pt x="26641" y="902328"/>
                </a:lnTo>
                <a:lnTo>
                  <a:pt x="56533" y="932285"/>
                </a:lnTo>
                <a:lnTo>
                  <a:pt x="94441" y="951932"/>
                </a:lnTo>
                <a:lnTo>
                  <a:pt x="138091" y="958987"/>
                </a:lnTo>
                <a:close/>
              </a:path>
            </a:pathLst>
          </a:custGeom>
          <a:ln w="7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556350" y="3968279"/>
            <a:ext cx="111696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81330" algn="l"/>
                <a:tab pos="1103630" algn="l"/>
              </a:tabLst>
            </a:pPr>
            <a:r>
              <a:rPr sz="9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95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1.1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33494" y="4274257"/>
            <a:ext cx="76200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MS Gothic"/>
                <a:cs typeface="MS Gothic"/>
              </a:rPr>
              <a:t>接收</a:t>
            </a:r>
            <a:r>
              <a:rPr sz="950" spc="15" dirty="0">
                <a:latin typeface="宋体"/>
                <a:cs typeface="宋体"/>
              </a:rPr>
              <a:t>顾</a:t>
            </a:r>
            <a:r>
              <a:rPr sz="950" spc="15" dirty="0">
                <a:latin typeface="MS Gothic"/>
                <a:cs typeface="MS Gothic"/>
              </a:rPr>
              <a:t>客</a:t>
            </a:r>
            <a:r>
              <a:rPr sz="950" spc="15" dirty="0">
                <a:latin typeface="宋体"/>
                <a:cs typeface="宋体"/>
              </a:rPr>
              <a:t>订单</a:t>
            </a:r>
            <a:endParaRPr sz="950">
              <a:latin typeface="宋体"/>
              <a:cs typeface="宋体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506677" y="3834600"/>
            <a:ext cx="1087755" cy="959485"/>
          </a:xfrm>
          <a:custGeom>
            <a:avLst/>
            <a:gdLst/>
            <a:ahLst/>
            <a:cxnLst/>
            <a:rect l="l" t="t" r="r" b="b"/>
            <a:pathLst>
              <a:path w="1087754" h="959485">
                <a:moveTo>
                  <a:pt x="138091" y="958987"/>
                </a:moveTo>
                <a:lnTo>
                  <a:pt x="949303" y="958987"/>
                </a:lnTo>
                <a:lnTo>
                  <a:pt x="992947" y="951932"/>
                </a:lnTo>
                <a:lnTo>
                  <a:pt x="1030854" y="932285"/>
                </a:lnTo>
                <a:lnTo>
                  <a:pt x="1060748" y="902328"/>
                </a:lnTo>
                <a:lnTo>
                  <a:pt x="1080354" y="864341"/>
                </a:lnTo>
                <a:lnTo>
                  <a:pt x="1087395" y="820605"/>
                </a:lnTo>
                <a:lnTo>
                  <a:pt x="1087395" y="138382"/>
                </a:lnTo>
                <a:lnTo>
                  <a:pt x="1080354" y="94645"/>
                </a:lnTo>
                <a:lnTo>
                  <a:pt x="1060748" y="56659"/>
                </a:lnTo>
                <a:lnTo>
                  <a:pt x="1030854" y="26702"/>
                </a:lnTo>
                <a:lnTo>
                  <a:pt x="992947" y="7055"/>
                </a:lnTo>
                <a:lnTo>
                  <a:pt x="949303" y="0"/>
                </a:lnTo>
                <a:lnTo>
                  <a:pt x="138091" y="0"/>
                </a:lnTo>
                <a:lnTo>
                  <a:pt x="94447" y="7055"/>
                </a:lnTo>
                <a:lnTo>
                  <a:pt x="56540" y="26702"/>
                </a:lnTo>
                <a:lnTo>
                  <a:pt x="26646" y="56659"/>
                </a:lnTo>
                <a:lnTo>
                  <a:pt x="7040" y="94645"/>
                </a:lnTo>
                <a:lnTo>
                  <a:pt x="0" y="138382"/>
                </a:lnTo>
                <a:lnTo>
                  <a:pt x="0" y="820605"/>
                </a:lnTo>
                <a:lnTo>
                  <a:pt x="7040" y="864341"/>
                </a:lnTo>
                <a:lnTo>
                  <a:pt x="26646" y="902328"/>
                </a:lnTo>
                <a:lnTo>
                  <a:pt x="56540" y="932285"/>
                </a:lnTo>
                <a:lnTo>
                  <a:pt x="94447" y="951932"/>
                </a:lnTo>
                <a:lnTo>
                  <a:pt x="138091" y="958987"/>
                </a:lnTo>
                <a:close/>
              </a:path>
            </a:pathLst>
          </a:custGeom>
          <a:ln w="7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960881" y="3901702"/>
            <a:ext cx="17907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5" dirty="0">
                <a:latin typeface="Times New Roman"/>
                <a:cs typeface="Times New Roman"/>
              </a:rPr>
              <a:t>1.3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07980" y="4196917"/>
            <a:ext cx="885190" cy="4959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2000"/>
              </a:lnSpc>
              <a:spcBef>
                <a:spcPts val="95"/>
              </a:spcBef>
            </a:pPr>
            <a:r>
              <a:rPr sz="950" spc="15" dirty="0">
                <a:latin typeface="MS Gothic"/>
                <a:cs typeface="MS Gothic"/>
              </a:rPr>
              <a:t>将</a:t>
            </a:r>
            <a:r>
              <a:rPr sz="950" spc="15" dirty="0">
                <a:latin typeface="宋体"/>
                <a:cs typeface="宋体"/>
              </a:rPr>
              <a:t>订单</a:t>
            </a:r>
            <a:r>
              <a:rPr sz="950" spc="15" dirty="0">
                <a:latin typeface="MS Gothic"/>
                <a:cs typeface="MS Gothic"/>
              </a:rPr>
              <a:t>的格式</a:t>
            </a:r>
            <a:r>
              <a:rPr sz="950" spc="15" dirty="0">
                <a:latin typeface="宋体"/>
                <a:cs typeface="宋体"/>
              </a:rPr>
              <a:t>转 换为厨房使用的</a:t>
            </a:r>
            <a:endParaRPr sz="9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40"/>
              </a:spcBef>
            </a:pPr>
            <a:r>
              <a:rPr sz="950" spc="15" dirty="0">
                <a:latin typeface="宋体"/>
                <a:cs typeface="宋体"/>
              </a:rPr>
              <a:t>订单格式</a:t>
            </a:r>
            <a:endParaRPr sz="95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506677" y="4139810"/>
            <a:ext cx="1087755" cy="11430"/>
          </a:xfrm>
          <a:custGeom>
            <a:avLst/>
            <a:gdLst/>
            <a:ahLst/>
            <a:cxnLst/>
            <a:rect l="l" t="t" r="r" b="b"/>
            <a:pathLst>
              <a:path w="1087754" h="11429">
                <a:moveTo>
                  <a:pt x="0" y="10916"/>
                </a:moveTo>
                <a:lnTo>
                  <a:pt x="1087395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23278" y="4270504"/>
            <a:ext cx="609600" cy="0"/>
          </a:xfrm>
          <a:custGeom>
            <a:avLst/>
            <a:gdLst/>
            <a:ahLst/>
            <a:cxnLst/>
            <a:rect l="l" t="t" r="r" b="b"/>
            <a:pathLst>
              <a:path w="609600">
                <a:moveTo>
                  <a:pt x="0" y="0"/>
                </a:moveTo>
                <a:lnTo>
                  <a:pt x="609289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58244" y="4270504"/>
            <a:ext cx="674370" cy="0"/>
          </a:xfrm>
          <a:custGeom>
            <a:avLst/>
            <a:gdLst/>
            <a:ahLst/>
            <a:cxnLst/>
            <a:rect l="l" t="t" r="r" b="b"/>
            <a:pathLst>
              <a:path w="674370">
                <a:moveTo>
                  <a:pt x="0" y="0"/>
                </a:moveTo>
                <a:lnTo>
                  <a:pt x="674041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421983" y="4228067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0" y="0"/>
                </a:moveTo>
                <a:lnTo>
                  <a:pt x="0" y="84874"/>
                </a:lnTo>
                <a:lnTo>
                  <a:pt x="84696" y="4243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324188" y="4175237"/>
            <a:ext cx="5168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宋体"/>
                <a:cs typeface="宋体"/>
              </a:rPr>
              <a:t>顾客订单</a:t>
            </a:r>
            <a:endParaRPr sz="950">
              <a:latin typeface="宋体"/>
              <a:cs typeface="宋体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570895" y="5752407"/>
            <a:ext cx="1087755" cy="959485"/>
          </a:xfrm>
          <a:custGeom>
            <a:avLst/>
            <a:gdLst/>
            <a:ahLst/>
            <a:cxnLst/>
            <a:rect l="l" t="t" r="r" b="b"/>
            <a:pathLst>
              <a:path w="1087754" h="959484">
                <a:moveTo>
                  <a:pt x="949257" y="0"/>
                </a:moveTo>
                <a:lnTo>
                  <a:pt x="138092" y="0"/>
                </a:lnTo>
                <a:lnTo>
                  <a:pt x="94441" y="7055"/>
                </a:lnTo>
                <a:lnTo>
                  <a:pt x="56534" y="26702"/>
                </a:lnTo>
                <a:lnTo>
                  <a:pt x="26641" y="56659"/>
                </a:lnTo>
                <a:lnTo>
                  <a:pt x="7039" y="94645"/>
                </a:lnTo>
                <a:lnTo>
                  <a:pt x="0" y="138382"/>
                </a:lnTo>
                <a:lnTo>
                  <a:pt x="0" y="820498"/>
                </a:lnTo>
                <a:lnTo>
                  <a:pt x="7039" y="864234"/>
                </a:lnTo>
                <a:lnTo>
                  <a:pt x="26641" y="902220"/>
                </a:lnTo>
                <a:lnTo>
                  <a:pt x="56534" y="932174"/>
                </a:lnTo>
                <a:lnTo>
                  <a:pt x="94441" y="951819"/>
                </a:lnTo>
                <a:lnTo>
                  <a:pt x="138092" y="958874"/>
                </a:lnTo>
                <a:lnTo>
                  <a:pt x="949257" y="958874"/>
                </a:lnTo>
                <a:lnTo>
                  <a:pt x="992902" y="951819"/>
                </a:lnTo>
                <a:lnTo>
                  <a:pt x="1030809" y="932174"/>
                </a:lnTo>
                <a:lnTo>
                  <a:pt x="1060703" y="902220"/>
                </a:lnTo>
                <a:lnTo>
                  <a:pt x="1080309" y="864234"/>
                </a:lnTo>
                <a:lnTo>
                  <a:pt x="1087349" y="820498"/>
                </a:lnTo>
                <a:lnTo>
                  <a:pt x="1087349" y="138382"/>
                </a:lnTo>
                <a:lnTo>
                  <a:pt x="1080309" y="94645"/>
                </a:lnTo>
                <a:lnTo>
                  <a:pt x="1060703" y="56659"/>
                </a:lnTo>
                <a:lnTo>
                  <a:pt x="1030809" y="26702"/>
                </a:lnTo>
                <a:lnTo>
                  <a:pt x="992902" y="7055"/>
                </a:lnTo>
                <a:lnTo>
                  <a:pt x="94925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70895" y="5752407"/>
            <a:ext cx="1087755" cy="959485"/>
          </a:xfrm>
          <a:custGeom>
            <a:avLst/>
            <a:gdLst/>
            <a:ahLst/>
            <a:cxnLst/>
            <a:rect l="l" t="t" r="r" b="b"/>
            <a:pathLst>
              <a:path w="1087754" h="959484">
                <a:moveTo>
                  <a:pt x="138091" y="958874"/>
                </a:moveTo>
                <a:lnTo>
                  <a:pt x="949257" y="958874"/>
                </a:lnTo>
                <a:lnTo>
                  <a:pt x="992901" y="951819"/>
                </a:lnTo>
                <a:lnTo>
                  <a:pt x="1030808" y="932175"/>
                </a:lnTo>
                <a:lnTo>
                  <a:pt x="1060702" y="902220"/>
                </a:lnTo>
                <a:lnTo>
                  <a:pt x="1080308" y="864234"/>
                </a:lnTo>
                <a:lnTo>
                  <a:pt x="1087349" y="820498"/>
                </a:lnTo>
                <a:lnTo>
                  <a:pt x="1087349" y="138382"/>
                </a:lnTo>
                <a:lnTo>
                  <a:pt x="1080308" y="94645"/>
                </a:lnTo>
                <a:lnTo>
                  <a:pt x="1060702" y="56659"/>
                </a:lnTo>
                <a:lnTo>
                  <a:pt x="1030808" y="26702"/>
                </a:lnTo>
                <a:lnTo>
                  <a:pt x="992901" y="7055"/>
                </a:lnTo>
                <a:lnTo>
                  <a:pt x="949257" y="0"/>
                </a:lnTo>
                <a:lnTo>
                  <a:pt x="138091" y="0"/>
                </a:lnTo>
                <a:lnTo>
                  <a:pt x="94441" y="7055"/>
                </a:lnTo>
                <a:lnTo>
                  <a:pt x="56533" y="26702"/>
                </a:lnTo>
                <a:lnTo>
                  <a:pt x="26641" y="56659"/>
                </a:lnTo>
                <a:lnTo>
                  <a:pt x="7039" y="94645"/>
                </a:lnTo>
                <a:lnTo>
                  <a:pt x="0" y="138382"/>
                </a:lnTo>
                <a:lnTo>
                  <a:pt x="0" y="820498"/>
                </a:lnTo>
                <a:lnTo>
                  <a:pt x="7039" y="864234"/>
                </a:lnTo>
                <a:lnTo>
                  <a:pt x="26641" y="902220"/>
                </a:lnTo>
                <a:lnTo>
                  <a:pt x="56533" y="932175"/>
                </a:lnTo>
                <a:lnTo>
                  <a:pt x="94441" y="951819"/>
                </a:lnTo>
                <a:lnTo>
                  <a:pt x="138091" y="958874"/>
                </a:lnTo>
                <a:close/>
              </a:path>
            </a:pathLst>
          </a:custGeom>
          <a:ln w="7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556350" y="5886039"/>
            <a:ext cx="1116965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81330" algn="l"/>
                <a:tab pos="1103630" algn="l"/>
              </a:tabLst>
            </a:pPr>
            <a:r>
              <a:rPr sz="9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95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1.2	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136257" y="4793588"/>
            <a:ext cx="0" cy="398780"/>
          </a:xfrm>
          <a:custGeom>
            <a:avLst/>
            <a:gdLst/>
            <a:ahLst/>
            <a:cxnLst/>
            <a:rect l="l" t="t" r="r" b="b"/>
            <a:pathLst>
              <a:path h="398779">
                <a:moveTo>
                  <a:pt x="0" y="0"/>
                </a:moveTo>
                <a:lnTo>
                  <a:pt x="0" y="398448"/>
                </a:lnTo>
              </a:path>
            </a:pathLst>
          </a:custGeom>
          <a:ln w="36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36257" y="5353929"/>
            <a:ext cx="0" cy="324485"/>
          </a:xfrm>
          <a:custGeom>
            <a:avLst/>
            <a:gdLst/>
            <a:ahLst/>
            <a:cxnLst/>
            <a:rect l="l" t="t" r="r" b="b"/>
            <a:pathLst>
              <a:path h="324485">
                <a:moveTo>
                  <a:pt x="0" y="0"/>
                </a:moveTo>
                <a:lnTo>
                  <a:pt x="0" y="324213"/>
                </a:lnTo>
              </a:path>
            </a:pathLst>
          </a:custGeom>
          <a:ln w="368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93910" y="5667533"/>
            <a:ext cx="85090" cy="85090"/>
          </a:xfrm>
          <a:custGeom>
            <a:avLst/>
            <a:gdLst/>
            <a:ahLst/>
            <a:cxnLst/>
            <a:rect l="l" t="t" r="r" b="b"/>
            <a:pathLst>
              <a:path w="85089" h="85089">
                <a:moveTo>
                  <a:pt x="84696" y="0"/>
                </a:moveTo>
                <a:lnTo>
                  <a:pt x="0" y="0"/>
                </a:lnTo>
                <a:lnTo>
                  <a:pt x="42348" y="84874"/>
                </a:lnTo>
                <a:lnTo>
                  <a:pt x="84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878077" y="5177754"/>
            <a:ext cx="5168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宋体"/>
                <a:cs typeface="宋体"/>
              </a:rPr>
              <a:t>顾客订单</a:t>
            </a:r>
            <a:endParaRPr sz="95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223654" y="5752407"/>
            <a:ext cx="1087755" cy="959485"/>
          </a:xfrm>
          <a:custGeom>
            <a:avLst/>
            <a:gdLst/>
            <a:ahLst/>
            <a:cxnLst/>
            <a:rect l="l" t="t" r="r" b="b"/>
            <a:pathLst>
              <a:path w="1087754" h="959484">
                <a:moveTo>
                  <a:pt x="949303" y="0"/>
                </a:moveTo>
                <a:lnTo>
                  <a:pt x="138090" y="0"/>
                </a:lnTo>
                <a:lnTo>
                  <a:pt x="94446" y="7055"/>
                </a:lnTo>
                <a:lnTo>
                  <a:pt x="56539" y="26702"/>
                </a:lnTo>
                <a:lnTo>
                  <a:pt x="26645" y="56659"/>
                </a:lnTo>
                <a:lnTo>
                  <a:pt x="7040" y="94645"/>
                </a:lnTo>
                <a:lnTo>
                  <a:pt x="0" y="138382"/>
                </a:lnTo>
                <a:lnTo>
                  <a:pt x="0" y="820498"/>
                </a:lnTo>
                <a:lnTo>
                  <a:pt x="7040" y="864234"/>
                </a:lnTo>
                <a:lnTo>
                  <a:pt x="26645" y="902220"/>
                </a:lnTo>
                <a:lnTo>
                  <a:pt x="56539" y="932174"/>
                </a:lnTo>
                <a:lnTo>
                  <a:pt x="94446" y="951819"/>
                </a:lnTo>
                <a:lnTo>
                  <a:pt x="138090" y="958874"/>
                </a:lnTo>
                <a:lnTo>
                  <a:pt x="949303" y="958874"/>
                </a:lnTo>
                <a:lnTo>
                  <a:pt x="992947" y="951819"/>
                </a:lnTo>
                <a:lnTo>
                  <a:pt x="1030854" y="932174"/>
                </a:lnTo>
                <a:lnTo>
                  <a:pt x="1060749" y="902220"/>
                </a:lnTo>
                <a:lnTo>
                  <a:pt x="1080354" y="864234"/>
                </a:lnTo>
                <a:lnTo>
                  <a:pt x="1087395" y="820498"/>
                </a:lnTo>
                <a:lnTo>
                  <a:pt x="1087395" y="138382"/>
                </a:lnTo>
                <a:lnTo>
                  <a:pt x="1080354" y="94645"/>
                </a:lnTo>
                <a:lnTo>
                  <a:pt x="1060749" y="56659"/>
                </a:lnTo>
                <a:lnTo>
                  <a:pt x="1030854" y="26702"/>
                </a:lnTo>
                <a:lnTo>
                  <a:pt x="992947" y="7055"/>
                </a:lnTo>
                <a:lnTo>
                  <a:pt x="9493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23653" y="5752407"/>
            <a:ext cx="1087755" cy="959485"/>
          </a:xfrm>
          <a:custGeom>
            <a:avLst/>
            <a:gdLst/>
            <a:ahLst/>
            <a:cxnLst/>
            <a:rect l="l" t="t" r="r" b="b"/>
            <a:pathLst>
              <a:path w="1087754" h="959484">
                <a:moveTo>
                  <a:pt x="138091" y="958874"/>
                </a:moveTo>
                <a:lnTo>
                  <a:pt x="949303" y="958874"/>
                </a:lnTo>
                <a:lnTo>
                  <a:pt x="992947" y="951819"/>
                </a:lnTo>
                <a:lnTo>
                  <a:pt x="1030854" y="932175"/>
                </a:lnTo>
                <a:lnTo>
                  <a:pt x="1060748" y="902220"/>
                </a:lnTo>
                <a:lnTo>
                  <a:pt x="1080354" y="864234"/>
                </a:lnTo>
                <a:lnTo>
                  <a:pt x="1087395" y="820498"/>
                </a:lnTo>
                <a:lnTo>
                  <a:pt x="1087395" y="138382"/>
                </a:lnTo>
                <a:lnTo>
                  <a:pt x="1080354" y="94645"/>
                </a:lnTo>
                <a:lnTo>
                  <a:pt x="1060748" y="56659"/>
                </a:lnTo>
                <a:lnTo>
                  <a:pt x="1030854" y="26702"/>
                </a:lnTo>
                <a:lnTo>
                  <a:pt x="992947" y="7055"/>
                </a:lnTo>
                <a:lnTo>
                  <a:pt x="949303" y="0"/>
                </a:lnTo>
                <a:lnTo>
                  <a:pt x="138091" y="0"/>
                </a:lnTo>
                <a:lnTo>
                  <a:pt x="94447" y="7055"/>
                </a:lnTo>
                <a:lnTo>
                  <a:pt x="56540" y="26702"/>
                </a:lnTo>
                <a:lnTo>
                  <a:pt x="26646" y="56659"/>
                </a:lnTo>
                <a:lnTo>
                  <a:pt x="7040" y="94645"/>
                </a:lnTo>
                <a:lnTo>
                  <a:pt x="0" y="138382"/>
                </a:lnTo>
                <a:lnTo>
                  <a:pt x="0" y="820498"/>
                </a:lnTo>
                <a:lnTo>
                  <a:pt x="7040" y="864234"/>
                </a:lnTo>
                <a:lnTo>
                  <a:pt x="26646" y="902220"/>
                </a:lnTo>
                <a:lnTo>
                  <a:pt x="56540" y="932175"/>
                </a:lnTo>
                <a:lnTo>
                  <a:pt x="94447" y="951819"/>
                </a:lnTo>
                <a:lnTo>
                  <a:pt x="138091" y="958874"/>
                </a:lnTo>
                <a:close/>
              </a:path>
            </a:pathLst>
          </a:custGeom>
          <a:ln w="7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677702" y="5812236"/>
            <a:ext cx="17907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5" dirty="0">
                <a:latin typeface="Times New Roman"/>
                <a:cs typeface="Times New Roman"/>
              </a:rPr>
              <a:t>1.4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-44450" y="6191972"/>
            <a:ext cx="923290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943735" algn="l"/>
                <a:tab pos="2790190" algn="l"/>
                <a:tab pos="4381500" algn="l"/>
                <a:tab pos="6235700" algn="l"/>
                <a:tab pos="9194165" algn="l"/>
              </a:tabLst>
            </a:pPr>
            <a:r>
              <a:rPr sz="1425" u="heavy" baseline="5847" dirty="0">
                <a:uFill>
                  <a:solidFill>
                    <a:srgbClr val="00663C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425" spc="22" baseline="5847" dirty="0">
                <a:latin typeface="MS Gothic"/>
                <a:cs typeface="MS Gothic"/>
              </a:rPr>
              <a:t>收</a:t>
            </a:r>
            <a:r>
              <a:rPr sz="1425" spc="-37" baseline="5847" dirty="0">
                <a:latin typeface="MS Gothic"/>
                <a:cs typeface="MS Gothic"/>
              </a:rPr>
              <a:t>条</a:t>
            </a:r>
            <a:r>
              <a:rPr sz="950" u="heavy" dirty="0">
                <a:uFill>
                  <a:solidFill>
                    <a:srgbClr val="00663C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950" u="heavy" spc="15" dirty="0">
                <a:uFill>
                  <a:solidFill>
                    <a:srgbClr val="00663C"/>
                  </a:solidFill>
                </a:uFill>
                <a:latin typeface="宋体"/>
                <a:cs typeface="宋体"/>
              </a:rPr>
              <a:t>产生顾客收条</a:t>
            </a:r>
            <a:r>
              <a:rPr sz="950" u="heavy" dirty="0">
                <a:uFill>
                  <a:solidFill>
                    <a:srgbClr val="00663C"/>
                  </a:solidFill>
                </a:uFill>
                <a:latin typeface="宋体"/>
                <a:cs typeface="宋体"/>
              </a:rPr>
              <a:t>	</a:t>
            </a:r>
            <a:r>
              <a:rPr sz="1425" u="heavy" spc="22" baseline="38011" dirty="0">
                <a:uFill>
                  <a:solidFill>
                    <a:srgbClr val="00663C"/>
                  </a:solidFill>
                </a:uFill>
                <a:latin typeface="宋体"/>
                <a:cs typeface="宋体"/>
              </a:rPr>
              <a:t>产生食物销售信</a:t>
            </a:r>
            <a:r>
              <a:rPr sz="1425" u="heavy" baseline="38011" dirty="0">
                <a:uFill>
                  <a:solidFill>
                    <a:srgbClr val="00663C"/>
                  </a:solidFill>
                </a:uFill>
                <a:latin typeface="宋体"/>
                <a:cs typeface="宋体"/>
              </a:rPr>
              <a:t> </a:t>
            </a:r>
            <a:r>
              <a:rPr sz="1425" u="heavy" spc="-75" baseline="38011" dirty="0">
                <a:uFill>
                  <a:solidFill>
                    <a:srgbClr val="00663C"/>
                  </a:solidFill>
                </a:uFill>
                <a:latin typeface="宋体"/>
                <a:cs typeface="宋体"/>
              </a:rPr>
              <a:t> </a:t>
            </a:r>
            <a:r>
              <a:rPr sz="1425" u="heavy" baseline="38011" dirty="0">
                <a:uFill>
                  <a:solidFill>
                    <a:srgbClr val="00663C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425" spc="22" baseline="5847" dirty="0">
                <a:latin typeface="MS Gothic"/>
                <a:cs typeface="MS Gothic"/>
              </a:rPr>
              <a:t>食物</a:t>
            </a:r>
            <a:r>
              <a:rPr sz="1425" spc="22" baseline="5847" dirty="0">
                <a:latin typeface="宋体"/>
                <a:cs typeface="宋体"/>
              </a:rPr>
              <a:t>销</a:t>
            </a:r>
            <a:r>
              <a:rPr sz="1425" spc="-37" baseline="5847" dirty="0">
                <a:latin typeface="MS Gothic"/>
                <a:cs typeface="MS Gothic"/>
              </a:rPr>
              <a:t>售</a:t>
            </a:r>
            <a:r>
              <a:rPr sz="1425" u="heavy" baseline="5847" dirty="0">
                <a:uFill>
                  <a:solidFill>
                    <a:srgbClr val="00663C"/>
                  </a:solidFill>
                </a:uFill>
                <a:latin typeface="Times New Roman"/>
                <a:cs typeface="Times New Roman"/>
              </a:rPr>
              <a:t> 	</a:t>
            </a:r>
            <a:endParaRPr sz="1425" baseline="5847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93046" y="6265760"/>
            <a:ext cx="1485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MS Gothic"/>
                <a:cs typeface="MS Gothic"/>
              </a:rPr>
              <a:t>息</a:t>
            </a:r>
            <a:endParaRPr sz="950">
              <a:latin typeface="MS Gothic"/>
              <a:cs typeface="MS Gothic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223653" y="6057509"/>
            <a:ext cx="1087755" cy="11430"/>
          </a:xfrm>
          <a:custGeom>
            <a:avLst/>
            <a:gdLst/>
            <a:ahLst/>
            <a:cxnLst/>
            <a:rect l="l" t="t" r="r" b="b"/>
            <a:pathLst>
              <a:path w="1087754" h="11429">
                <a:moveTo>
                  <a:pt x="0" y="10901"/>
                </a:moveTo>
                <a:lnTo>
                  <a:pt x="1087395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484890" y="5011463"/>
            <a:ext cx="1087755" cy="959485"/>
          </a:xfrm>
          <a:custGeom>
            <a:avLst/>
            <a:gdLst/>
            <a:ahLst/>
            <a:cxnLst/>
            <a:rect l="l" t="t" r="r" b="b"/>
            <a:pathLst>
              <a:path w="1087754" h="959485">
                <a:moveTo>
                  <a:pt x="138091" y="958880"/>
                </a:moveTo>
                <a:lnTo>
                  <a:pt x="949303" y="958880"/>
                </a:lnTo>
                <a:lnTo>
                  <a:pt x="992947" y="951824"/>
                </a:lnTo>
                <a:lnTo>
                  <a:pt x="1030854" y="932178"/>
                </a:lnTo>
                <a:lnTo>
                  <a:pt x="1060748" y="902221"/>
                </a:lnTo>
                <a:lnTo>
                  <a:pt x="1080354" y="864234"/>
                </a:lnTo>
                <a:lnTo>
                  <a:pt x="1087395" y="820498"/>
                </a:lnTo>
                <a:lnTo>
                  <a:pt x="1087395" y="138382"/>
                </a:lnTo>
                <a:lnTo>
                  <a:pt x="1080354" y="94645"/>
                </a:lnTo>
                <a:lnTo>
                  <a:pt x="1060748" y="56659"/>
                </a:lnTo>
                <a:lnTo>
                  <a:pt x="1030854" y="26702"/>
                </a:lnTo>
                <a:lnTo>
                  <a:pt x="992947" y="7055"/>
                </a:lnTo>
                <a:lnTo>
                  <a:pt x="949303" y="0"/>
                </a:lnTo>
                <a:lnTo>
                  <a:pt x="138091" y="0"/>
                </a:lnTo>
                <a:lnTo>
                  <a:pt x="94447" y="7055"/>
                </a:lnTo>
                <a:lnTo>
                  <a:pt x="56540" y="26702"/>
                </a:lnTo>
                <a:lnTo>
                  <a:pt x="26646" y="56659"/>
                </a:lnTo>
                <a:lnTo>
                  <a:pt x="7040" y="94645"/>
                </a:lnTo>
                <a:lnTo>
                  <a:pt x="0" y="138382"/>
                </a:lnTo>
                <a:lnTo>
                  <a:pt x="0" y="820498"/>
                </a:lnTo>
                <a:lnTo>
                  <a:pt x="7040" y="864234"/>
                </a:lnTo>
                <a:lnTo>
                  <a:pt x="26646" y="902221"/>
                </a:lnTo>
                <a:lnTo>
                  <a:pt x="56540" y="932178"/>
                </a:lnTo>
                <a:lnTo>
                  <a:pt x="94447" y="951824"/>
                </a:lnTo>
                <a:lnTo>
                  <a:pt x="138091" y="958880"/>
                </a:lnTo>
                <a:close/>
              </a:path>
            </a:pathLst>
          </a:custGeom>
          <a:ln w="73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939093" y="5145096"/>
            <a:ext cx="17907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5" dirty="0">
                <a:latin typeface="Times New Roman"/>
                <a:cs typeface="Times New Roman"/>
              </a:rPr>
              <a:t>1.5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47566" y="5451028"/>
            <a:ext cx="76200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宋体"/>
                <a:cs typeface="宋体"/>
              </a:rPr>
              <a:t>产生存货信息</a:t>
            </a:r>
            <a:endParaRPr sz="95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484890" y="5316565"/>
            <a:ext cx="1087755" cy="11430"/>
          </a:xfrm>
          <a:custGeom>
            <a:avLst/>
            <a:gdLst/>
            <a:ahLst/>
            <a:cxnLst/>
            <a:rect l="l" t="t" r="r" b="b"/>
            <a:pathLst>
              <a:path w="1087754" h="11429">
                <a:moveTo>
                  <a:pt x="0" y="10901"/>
                </a:moveTo>
                <a:lnTo>
                  <a:pt x="1087395" y="0"/>
                </a:lnTo>
              </a:path>
            </a:pathLst>
          </a:custGeom>
          <a:ln w="36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658244" y="4532046"/>
            <a:ext cx="1762125" cy="967105"/>
          </a:xfrm>
          <a:custGeom>
            <a:avLst/>
            <a:gdLst/>
            <a:ahLst/>
            <a:cxnLst/>
            <a:rect l="l" t="t" r="r" b="b"/>
            <a:pathLst>
              <a:path w="1762125" h="967104">
                <a:moveTo>
                  <a:pt x="0" y="0"/>
                </a:moveTo>
                <a:lnTo>
                  <a:pt x="1761742" y="966768"/>
                </a:lnTo>
              </a:path>
            </a:pathLst>
          </a:custGeom>
          <a:ln w="36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390375" y="5456500"/>
            <a:ext cx="94615" cy="78105"/>
          </a:xfrm>
          <a:custGeom>
            <a:avLst/>
            <a:gdLst/>
            <a:ahLst/>
            <a:cxnLst/>
            <a:rect l="l" t="t" r="r" b="b"/>
            <a:pathLst>
              <a:path w="94614" h="78104">
                <a:moveTo>
                  <a:pt x="40660" y="0"/>
                </a:moveTo>
                <a:lnTo>
                  <a:pt x="0" y="74449"/>
                </a:lnTo>
                <a:lnTo>
                  <a:pt x="94515" y="77985"/>
                </a:lnTo>
                <a:lnTo>
                  <a:pt x="40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313294" y="4938030"/>
            <a:ext cx="5168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宋体"/>
                <a:cs typeface="宋体"/>
              </a:rPr>
              <a:t>顾客订单</a:t>
            </a:r>
            <a:endParaRPr sz="950">
              <a:latin typeface="宋体"/>
              <a:cs typeface="宋体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310253" y="4793588"/>
            <a:ext cx="1330960" cy="916940"/>
          </a:xfrm>
          <a:custGeom>
            <a:avLst/>
            <a:gdLst/>
            <a:ahLst/>
            <a:cxnLst/>
            <a:rect l="l" t="t" r="r" b="b"/>
            <a:pathLst>
              <a:path w="1330960" h="916939">
                <a:moveTo>
                  <a:pt x="0" y="0"/>
                </a:moveTo>
                <a:lnTo>
                  <a:pt x="1330743" y="916750"/>
                </a:lnTo>
              </a:path>
            </a:pathLst>
          </a:custGeom>
          <a:ln w="36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608315" y="5669362"/>
            <a:ext cx="93980" cy="83185"/>
          </a:xfrm>
          <a:custGeom>
            <a:avLst/>
            <a:gdLst/>
            <a:ahLst/>
            <a:cxnLst/>
            <a:rect l="l" t="t" r="r" b="b"/>
            <a:pathLst>
              <a:path w="93979" h="83185">
                <a:moveTo>
                  <a:pt x="48025" y="0"/>
                </a:moveTo>
                <a:lnTo>
                  <a:pt x="0" y="69944"/>
                </a:lnTo>
                <a:lnTo>
                  <a:pt x="93748" y="83044"/>
                </a:lnTo>
                <a:lnTo>
                  <a:pt x="48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747885" y="5177754"/>
            <a:ext cx="516890" cy="1733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15" dirty="0">
                <a:latin typeface="宋体"/>
                <a:cs typeface="宋体"/>
              </a:rPr>
              <a:t>顾客订单</a:t>
            </a:r>
            <a:endParaRPr sz="950">
              <a:latin typeface="宋体"/>
              <a:cs typeface="宋体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1131" y="257556"/>
            <a:ext cx="6282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2.2.4.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层次结构的建立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316228"/>
            <a:ext cx="2402205" cy="3874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583565" algn="l"/>
                <a:tab pos="584200" algn="l"/>
              </a:tabLst>
            </a:pPr>
            <a:r>
              <a:rPr sz="2400" dirty="0">
                <a:latin typeface="宋体"/>
                <a:cs typeface="宋体"/>
              </a:rPr>
              <a:t>建立步骤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0663C"/>
              </a:buClr>
              <a:buFont typeface="Wingdings"/>
              <a:buChar char=""/>
            </a:pPr>
            <a:endParaRPr sz="2250">
              <a:latin typeface="宋体"/>
              <a:cs typeface="宋体"/>
            </a:endParaRPr>
          </a:p>
          <a:p>
            <a:pPr marL="606425" lvl="1" indent="-249554">
              <a:lnSpc>
                <a:spcPct val="100000"/>
              </a:lnSpc>
              <a:buFont typeface="Calibri"/>
              <a:buAutoNum type="arabicPeriod"/>
              <a:tabLst>
                <a:tab pos="607060" algn="l"/>
              </a:tabLst>
            </a:pPr>
            <a:r>
              <a:rPr sz="2000" dirty="0">
                <a:latin typeface="宋体"/>
                <a:cs typeface="宋体"/>
              </a:rPr>
              <a:t>创建上下文图</a:t>
            </a:r>
            <a:endParaRPr sz="20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alibri"/>
              <a:buAutoNum type="arabicPeriod"/>
            </a:pPr>
            <a:endParaRPr sz="2250">
              <a:latin typeface="宋体"/>
              <a:cs typeface="宋体"/>
            </a:endParaRPr>
          </a:p>
          <a:p>
            <a:pPr marL="357505" marR="88265" lvl="1">
              <a:lnSpc>
                <a:spcPct val="79000"/>
              </a:lnSpc>
              <a:buFont typeface="Calibri"/>
              <a:buAutoNum type="arabicPeriod"/>
              <a:tabLst>
                <a:tab pos="607060" algn="l"/>
              </a:tabLst>
            </a:pPr>
            <a:r>
              <a:rPr sz="2000" dirty="0">
                <a:latin typeface="宋体"/>
                <a:cs typeface="宋体"/>
              </a:rPr>
              <a:t>发现并建立</a:t>
            </a:r>
            <a:r>
              <a:rPr sz="2000" spc="-1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F</a:t>
            </a:r>
            <a:r>
              <a:rPr sz="2000" dirty="0">
                <a:latin typeface="Calibri"/>
                <a:cs typeface="Calibri"/>
              </a:rPr>
              <a:t>D </a:t>
            </a:r>
            <a:r>
              <a:rPr sz="2000" dirty="0">
                <a:latin typeface="宋体"/>
                <a:cs typeface="宋体"/>
              </a:rPr>
              <a:t>片断</a:t>
            </a:r>
            <a:endParaRPr sz="20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alibri"/>
              <a:buAutoNum type="arabicPeriod"/>
            </a:pPr>
            <a:endParaRPr sz="2250">
              <a:latin typeface="宋体"/>
              <a:cs typeface="宋体"/>
            </a:endParaRPr>
          </a:p>
          <a:p>
            <a:pPr marL="357505" marR="88900" lvl="1">
              <a:lnSpc>
                <a:spcPct val="79000"/>
              </a:lnSpc>
              <a:spcBef>
                <a:spcPts val="5"/>
              </a:spcBef>
              <a:buFont typeface="Calibri"/>
              <a:buAutoNum type="arabicPeriod"/>
              <a:tabLst>
                <a:tab pos="607060" algn="l"/>
              </a:tabLst>
            </a:pPr>
            <a:r>
              <a:rPr sz="2000" dirty="0">
                <a:latin typeface="宋体"/>
                <a:cs typeface="宋体"/>
              </a:rPr>
              <a:t>根据</a:t>
            </a:r>
            <a:r>
              <a:rPr sz="2000" spc="-10" dirty="0">
                <a:latin typeface="Calibri"/>
                <a:cs typeface="Calibri"/>
              </a:rPr>
              <a:t>D</a:t>
            </a:r>
            <a:r>
              <a:rPr sz="2000" spc="5" dirty="0">
                <a:latin typeface="Calibri"/>
                <a:cs typeface="Calibri"/>
              </a:rPr>
              <a:t>F</a:t>
            </a:r>
            <a:r>
              <a:rPr sz="2000" spc="-10" dirty="0">
                <a:latin typeface="Calibri"/>
                <a:cs typeface="Calibri"/>
              </a:rPr>
              <a:t>D</a:t>
            </a:r>
            <a:r>
              <a:rPr sz="2000" dirty="0">
                <a:latin typeface="宋体"/>
                <a:cs typeface="宋体"/>
              </a:rPr>
              <a:t>片断组 合产生</a:t>
            </a:r>
            <a:r>
              <a:rPr sz="2000" spc="-5" dirty="0">
                <a:latin typeface="Calibri"/>
                <a:cs typeface="Calibri"/>
              </a:rPr>
              <a:t>0</a:t>
            </a:r>
            <a:r>
              <a:rPr sz="2000" dirty="0">
                <a:latin typeface="宋体"/>
                <a:cs typeface="宋体"/>
              </a:rPr>
              <a:t>层图；</a:t>
            </a:r>
            <a:endParaRPr sz="20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Calibri"/>
              <a:buAutoNum type="arabicPeriod"/>
            </a:pPr>
            <a:endParaRPr sz="2200">
              <a:latin typeface="宋体"/>
              <a:cs typeface="宋体"/>
            </a:endParaRPr>
          </a:p>
          <a:p>
            <a:pPr marL="357505" marR="5080" lvl="1">
              <a:lnSpc>
                <a:spcPct val="81500"/>
              </a:lnSpc>
              <a:spcBef>
                <a:spcPts val="5"/>
              </a:spcBef>
              <a:buFont typeface="Calibri"/>
              <a:buAutoNum type="arabicPeriod"/>
              <a:tabLst>
                <a:tab pos="607060" algn="l"/>
              </a:tabLst>
            </a:pPr>
            <a:r>
              <a:rPr sz="2000" dirty="0">
                <a:latin typeface="宋体"/>
                <a:cs typeface="宋体"/>
              </a:rPr>
              <a:t>对</a:t>
            </a:r>
            <a:r>
              <a:rPr sz="2000" spc="-5" dirty="0">
                <a:latin typeface="Calibri"/>
                <a:cs typeface="Calibri"/>
              </a:rPr>
              <a:t>0</a:t>
            </a:r>
            <a:r>
              <a:rPr sz="2000" dirty="0">
                <a:latin typeface="宋体"/>
                <a:cs typeface="宋体"/>
              </a:rPr>
              <a:t>层图的过程 进行功能分解，产 生</a:t>
            </a:r>
            <a:r>
              <a:rPr sz="2000" spc="-5" dirty="0">
                <a:latin typeface="Calibri"/>
                <a:cs typeface="Calibri"/>
              </a:rPr>
              <a:t>N</a:t>
            </a:r>
            <a:r>
              <a:rPr sz="2000" dirty="0">
                <a:latin typeface="宋体"/>
                <a:cs typeface="宋体"/>
              </a:rPr>
              <a:t>层图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50198" y="1789259"/>
            <a:ext cx="6586838" cy="4233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1285" y="242315"/>
            <a:ext cx="436245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宋体"/>
                <a:cs typeface="宋体"/>
              </a:rPr>
              <a:t>步骤</a:t>
            </a:r>
            <a:r>
              <a:rPr sz="3800" spc="-5" dirty="0"/>
              <a:t>1.</a:t>
            </a:r>
            <a:r>
              <a:rPr sz="3800" spc="-80" dirty="0"/>
              <a:t> </a:t>
            </a:r>
            <a:r>
              <a:rPr sz="3800" dirty="0">
                <a:latin typeface="宋体"/>
                <a:cs typeface="宋体"/>
              </a:rPr>
              <a:t>创建上下文图</a:t>
            </a:r>
            <a:endParaRPr sz="3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7444"/>
            <a:ext cx="7683500" cy="145224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 algn="just">
              <a:lnSpc>
                <a:spcPct val="96300"/>
              </a:lnSpc>
              <a:spcBef>
                <a:spcPts val="2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在需求获取阶段获得的业务需求以及业务 需求所决定的项目前景与范围可以用来帮 助建立系统的上下文图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1487" y="382524"/>
            <a:ext cx="56610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宋体"/>
                <a:cs typeface="宋体"/>
              </a:rPr>
              <a:t>步骤</a:t>
            </a:r>
            <a:r>
              <a:rPr sz="3800" spc="-5" dirty="0"/>
              <a:t>2.</a:t>
            </a:r>
            <a:r>
              <a:rPr sz="3800" spc="-75" dirty="0"/>
              <a:t> </a:t>
            </a:r>
            <a:r>
              <a:rPr sz="3800" dirty="0">
                <a:latin typeface="宋体"/>
                <a:cs typeface="宋体"/>
              </a:rPr>
              <a:t>发现并建立</a:t>
            </a:r>
            <a:r>
              <a:rPr sz="3800" spc="-5" dirty="0"/>
              <a:t>DFD</a:t>
            </a:r>
            <a:r>
              <a:rPr sz="3800" dirty="0">
                <a:latin typeface="宋体"/>
                <a:cs typeface="宋体"/>
              </a:rPr>
              <a:t>片段</a:t>
            </a:r>
            <a:endParaRPr sz="3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7966075" cy="3536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marR="5080" indent="-342900">
              <a:lnSpc>
                <a:spcPct val="99100"/>
              </a:lnSpc>
              <a:spcBef>
                <a:spcPts val="13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DFD</a:t>
            </a:r>
            <a:r>
              <a:rPr sz="3200" dirty="0">
                <a:latin typeface="宋体"/>
                <a:cs typeface="宋体"/>
              </a:rPr>
              <a:t>片断是</a:t>
            </a:r>
            <a:r>
              <a:rPr sz="3100" b="1" spc="145" dirty="0">
                <a:solidFill>
                  <a:srgbClr val="C00000"/>
                </a:solidFill>
                <a:latin typeface="宋体"/>
                <a:cs typeface="宋体"/>
              </a:rPr>
              <a:t>系统对某个事件的响应过程</a:t>
            </a:r>
            <a:r>
              <a:rPr sz="3200" dirty="0">
                <a:latin typeface="宋体"/>
                <a:cs typeface="宋体"/>
              </a:rPr>
              <a:t>的 </a:t>
            </a:r>
            <a:r>
              <a:rPr sz="3200" spc="5" dirty="0">
                <a:latin typeface="Calibri"/>
                <a:cs typeface="Calibri"/>
              </a:rPr>
              <a:t>DF</a:t>
            </a:r>
            <a:r>
              <a:rPr sz="3200" dirty="0">
                <a:latin typeface="Calibri"/>
                <a:cs typeface="Calibri"/>
              </a:rPr>
              <a:t>D</a:t>
            </a:r>
            <a:r>
              <a:rPr sz="3200" dirty="0">
                <a:latin typeface="宋体"/>
                <a:cs typeface="宋体"/>
              </a:rPr>
              <a:t>描述，它是为系统中发生的重要事件创 建的。</a:t>
            </a:r>
            <a:endParaRPr sz="3200">
              <a:latin typeface="宋体"/>
              <a:cs typeface="宋体"/>
            </a:endParaRPr>
          </a:p>
          <a:p>
            <a:pPr marL="355600" marR="215900" indent="-342900">
              <a:lnSpc>
                <a:spcPts val="3790"/>
              </a:lnSpc>
              <a:spcBef>
                <a:spcPts val="122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它将系统对事件的处理看做是一个单一的 过程，重点描述这个</a:t>
            </a:r>
            <a:r>
              <a:rPr sz="3100" b="1" spc="145" dirty="0">
                <a:solidFill>
                  <a:srgbClr val="C00000"/>
                </a:solidFill>
                <a:latin typeface="宋体"/>
                <a:cs typeface="宋体"/>
              </a:rPr>
              <a:t>单一过程与事件外界</a:t>
            </a:r>
            <a:endParaRPr sz="3100">
              <a:latin typeface="宋体"/>
              <a:cs typeface="宋体"/>
            </a:endParaRPr>
          </a:p>
          <a:p>
            <a:pPr marL="355600" marR="287655">
              <a:lnSpc>
                <a:spcPts val="3600"/>
              </a:lnSpc>
              <a:spcBef>
                <a:spcPts val="280"/>
              </a:spcBef>
            </a:pPr>
            <a:r>
              <a:rPr sz="3200" dirty="0">
                <a:latin typeface="宋体"/>
                <a:cs typeface="宋体"/>
              </a:rPr>
              <a:t>（包括系统内其他部分和系统外的外部实 体）</a:t>
            </a:r>
            <a:r>
              <a:rPr sz="3100" b="1" spc="145" dirty="0">
                <a:solidFill>
                  <a:srgbClr val="C00000"/>
                </a:solidFill>
                <a:latin typeface="宋体"/>
                <a:cs typeface="宋体"/>
              </a:rPr>
              <a:t>的数据流交互</a:t>
            </a:r>
            <a:endParaRPr sz="3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1136" y="355091"/>
            <a:ext cx="364172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宋体"/>
                <a:cs typeface="宋体"/>
              </a:rPr>
              <a:t>步骤</a:t>
            </a:r>
            <a:r>
              <a:rPr sz="3800" spc="-5" dirty="0"/>
              <a:t>3.</a:t>
            </a:r>
            <a:r>
              <a:rPr sz="3800" spc="-80" dirty="0"/>
              <a:t> </a:t>
            </a:r>
            <a:r>
              <a:rPr sz="3800" dirty="0">
                <a:latin typeface="宋体"/>
                <a:cs typeface="宋体"/>
              </a:rPr>
              <a:t>产生</a:t>
            </a:r>
            <a:r>
              <a:rPr sz="3800" spc="-5" dirty="0"/>
              <a:t>0</a:t>
            </a:r>
            <a:r>
              <a:rPr sz="3800" dirty="0">
                <a:latin typeface="宋体"/>
                <a:cs typeface="宋体"/>
              </a:rPr>
              <a:t>层图</a:t>
            </a:r>
            <a:endParaRPr sz="3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9907"/>
            <a:ext cx="8358505" cy="387413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6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往往需要多次调整</a:t>
            </a:r>
            <a:r>
              <a:rPr sz="2600" dirty="0">
                <a:latin typeface="Calibri"/>
                <a:cs typeface="Calibri"/>
              </a:rPr>
              <a:t>DFD</a:t>
            </a:r>
            <a:r>
              <a:rPr sz="2600" dirty="0">
                <a:latin typeface="宋体"/>
                <a:cs typeface="宋体"/>
              </a:rPr>
              <a:t>片段的整合结果才能得出</a:t>
            </a:r>
            <a:endParaRPr sz="2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26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对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5" dirty="0">
                <a:latin typeface="Calibri"/>
                <a:cs typeface="Calibri"/>
              </a:rPr>
              <a:t>F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dirty="0">
                <a:latin typeface="宋体"/>
                <a:cs typeface="宋体"/>
              </a:rPr>
              <a:t>图（尤其是</a:t>
            </a:r>
            <a:r>
              <a:rPr sz="2600" spc="-10" dirty="0">
                <a:latin typeface="Calibri"/>
                <a:cs typeface="Calibri"/>
              </a:rPr>
              <a:t>0</a:t>
            </a:r>
            <a:r>
              <a:rPr sz="2600" dirty="0">
                <a:latin typeface="宋体"/>
                <a:cs typeface="宋体"/>
              </a:rPr>
              <a:t>层图）质量的判定有下面几个准则：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8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latin typeface="Calibri"/>
                <a:cs typeface="Calibri"/>
              </a:rPr>
              <a:t>1</a:t>
            </a:r>
            <a:r>
              <a:rPr sz="2200" dirty="0">
                <a:latin typeface="宋体"/>
                <a:cs typeface="宋体"/>
              </a:rPr>
              <a:t>、没有语法错误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latin typeface="Calibri"/>
                <a:cs typeface="Calibri"/>
              </a:rPr>
              <a:t>2</a:t>
            </a:r>
            <a:r>
              <a:rPr sz="2200" dirty="0">
                <a:latin typeface="宋体"/>
                <a:cs typeface="宋体"/>
              </a:rPr>
              <a:t>、具有良好的语义，过程的功能设置要高内聚、低耦合。</a:t>
            </a:r>
            <a:endParaRPr sz="2200">
              <a:latin typeface="宋体"/>
              <a:cs typeface="宋体"/>
            </a:endParaRPr>
          </a:p>
          <a:p>
            <a:pPr marL="755650" marR="330200" lvl="1" indent="-285750">
              <a:lnSpc>
                <a:spcPct val="90900"/>
              </a:lnSpc>
              <a:spcBef>
                <a:spcPts val="50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latin typeface="Calibri"/>
                <a:cs typeface="Calibri"/>
              </a:rPr>
              <a:t>3</a:t>
            </a:r>
            <a:r>
              <a:rPr sz="2200" dirty="0">
                <a:latin typeface="宋体"/>
                <a:cs typeface="宋体"/>
              </a:rPr>
              <a:t>、保持数据一致性，过程的输入流要足以产生数据输出。 同时过程的输出流是在充分利用输入数据的基础上产生的， 不存在输入数据的浪费。</a:t>
            </a:r>
            <a:endParaRPr sz="2200">
              <a:latin typeface="宋体"/>
              <a:cs typeface="宋体"/>
            </a:endParaRPr>
          </a:p>
          <a:p>
            <a:pPr marL="755650" marR="327025" lvl="1" indent="-285750">
              <a:lnSpc>
                <a:spcPct val="89700"/>
              </a:lnSpc>
              <a:spcBef>
                <a:spcPts val="53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spc="-5" dirty="0">
                <a:latin typeface="Calibri"/>
                <a:cs typeface="Calibri"/>
              </a:rPr>
              <a:t>4</a:t>
            </a:r>
            <a:r>
              <a:rPr sz="2200" dirty="0">
                <a:latin typeface="宋体"/>
                <a:cs typeface="宋体"/>
              </a:rPr>
              <a:t>、控制复杂度，不要一次在图中显示太多的信息。一般情 况下，一个图中的过程数量最好控制在</a:t>
            </a:r>
            <a:r>
              <a:rPr sz="2200" spc="-5" dirty="0">
                <a:latin typeface="Calibri"/>
                <a:cs typeface="Calibri"/>
              </a:rPr>
              <a:t>5</a:t>
            </a:r>
            <a:r>
              <a:rPr sz="2200" dirty="0">
                <a:latin typeface="宋体"/>
                <a:cs typeface="宋体"/>
              </a:rPr>
              <a:t>～</a:t>
            </a:r>
            <a:r>
              <a:rPr sz="2200" spc="-5" dirty="0">
                <a:latin typeface="Calibri"/>
                <a:cs typeface="Calibri"/>
              </a:rPr>
              <a:t>9</a:t>
            </a:r>
            <a:r>
              <a:rPr sz="2200" dirty="0">
                <a:latin typeface="宋体"/>
                <a:cs typeface="宋体"/>
              </a:rPr>
              <a:t>（人脑的最佳信 息处理量）个。而且图中的数据流数量越少越好，越简洁越 好（接口最小化）。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600" y="403859"/>
            <a:ext cx="5638800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宋体"/>
                <a:cs typeface="宋体"/>
              </a:rPr>
              <a:t>步骤</a:t>
            </a:r>
            <a:r>
              <a:rPr sz="3800" spc="-5" dirty="0"/>
              <a:t>4.</a:t>
            </a:r>
            <a:r>
              <a:rPr sz="3800" spc="-80" dirty="0"/>
              <a:t> </a:t>
            </a:r>
            <a:r>
              <a:rPr sz="3800" dirty="0">
                <a:latin typeface="宋体"/>
                <a:cs typeface="宋体"/>
              </a:rPr>
              <a:t>功能分解产生</a:t>
            </a:r>
            <a:r>
              <a:rPr sz="3800" spc="-5" dirty="0"/>
              <a:t>N</a:t>
            </a:r>
            <a:r>
              <a:rPr sz="3800" dirty="0">
                <a:latin typeface="宋体"/>
                <a:cs typeface="宋体"/>
              </a:rPr>
              <a:t>层图</a:t>
            </a:r>
            <a:endParaRPr sz="38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90979"/>
            <a:ext cx="7936230" cy="17449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marR="28575" indent="-342900">
              <a:lnSpc>
                <a:spcPts val="2400"/>
              </a:lnSpc>
              <a:spcBef>
                <a:spcPts val="380"/>
              </a:spcBef>
              <a:buClr>
                <a:srgbClr val="00663C"/>
              </a:buClr>
              <a:buSzPct val="8181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dirty="0">
                <a:latin typeface="宋体"/>
                <a:cs typeface="宋体"/>
              </a:rPr>
              <a:t>功能分解是一个拆分功能的描述，将单个复杂的过程变为多个 更加具体、更加精确和更加细节的过程</a:t>
            </a:r>
            <a:endParaRPr sz="2200">
              <a:latin typeface="宋体"/>
              <a:cs typeface="宋体"/>
            </a:endParaRPr>
          </a:p>
          <a:p>
            <a:pPr marL="355600" indent="-342900">
              <a:lnSpc>
                <a:spcPts val="2570"/>
              </a:lnSpc>
              <a:spcBef>
                <a:spcPts val="725"/>
              </a:spcBef>
              <a:buClr>
                <a:srgbClr val="00663C"/>
              </a:buClr>
              <a:buSzPct val="8181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dirty="0">
                <a:latin typeface="宋体"/>
                <a:cs typeface="宋体"/>
              </a:rPr>
              <a:t>在功能分解过程当中，最重要的是要保证分解过程的平衡性</a:t>
            </a:r>
            <a:endParaRPr sz="2200">
              <a:latin typeface="宋体"/>
              <a:cs typeface="宋体"/>
            </a:endParaRPr>
          </a:p>
          <a:p>
            <a:pPr marL="355600" marR="5080">
              <a:lnSpc>
                <a:spcPts val="2590"/>
              </a:lnSpc>
              <a:spcBef>
                <a:spcPts val="60"/>
              </a:spcBef>
            </a:pPr>
            <a:r>
              <a:rPr sz="2200" spc="-5" dirty="0">
                <a:latin typeface="宋体"/>
                <a:cs typeface="宋体"/>
              </a:rPr>
              <a:t>（</a:t>
            </a:r>
            <a:r>
              <a:rPr sz="2200" spc="-5" dirty="0">
                <a:latin typeface="Calibri"/>
                <a:cs typeface="Calibri"/>
              </a:rPr>
              <a:t>Balance</a:t>
            </a:r>
            <a:r>
              <a:rPr sz="2200" spc="-5" dirty="0">
                <a:latin typeface="宋体"/>
                <a:cs typeface="宋体"/>
              </a:rPr>
              <a:t>）</a:t>
            </a:r>
            <a:r>
              <a:rPr sz="2200" spc="-680" dirty="0">
                <a:latin typeface="宋体"/>
                <a:cs typeface="宋体"/>
              </a:rPr>
              <a:t> </a:t>
            </a:r>
            <a:r>
              <a:rPr sz="2200" dirty="0">
                <a:latin typeface="宋体"/>
                <a:cs typeface="宋体"/>
              </a:rPr>
              <a:t>，它要求</a:t>
            </a:r>
            <a:r>
              <a:rPr sz="2200" spc="-5" dirty="0">
                <a:latin typeface="Calibri"/>
                <a:cs typeface="Calibri"/>
              </a:rPr>
              <a:t>DFD</a:t>
            </a:r>
            <a:r>
              <a:rPr sz="2200" dirty="0">
                <a:latin typeface="宋体"/>
                <a:cs typeface="宋体"/>
              </a:rPr>
              <a:t>子图的输入流、输出流必须和父过程 的输入流、输出流保持一致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74904" y="3356931"/>
            <a:ext cx="786130" cy="775970"/>
          </a:xfrm>
          <a:custGeom>
            <a:avLst/>
            <a:gdLst/>
            <a:ahLst/>
            <a:cxnLst/>
            <a:rect l="l" t="t" r="r" b="b"/>
            <a:pathLst>
              <a:path w="786129" h="775970">
                <a:moveTo>
                  <a:pt x="392840" y="0"/>
                </a:moveTo>
                <a:lnTo>
                  <a:pt x="352748" y="1594"/>
                </a:lnTo>
                <a:lnTo>
                  <a:pt x="313613" y="7439"/>
                </a:lnTo>
                <a:lnTo>
                  <a:pt x="276179" y="17217"/>
                </a:lnTo>
                <a:lnTo>
                  <a:pt x="240022" y="30396"/>
                </a:lnTo>
                <a:lnTo>
                  <a:pt x="205459" y="46763"/>
                </a:lnTo>
                <a:lnTo>
                  <a:pt x="157604" y="76522"/>
                </a:lnTo>
                <a:lnTo>
                  <a:pt x="115172" y="113507"/>
                </a:lnTo>
                <a:lnTo>
                  <a:pt x="77632" y="155701"/>
                </a:lnTo>
                <a:lnTo>
                  <a:pt x="47323" y="202889"/>
                </a:lnTo>
                <a:lnTo>
                  <a:pt x="23821" y="254329"/>
                </a:lnTo>
                <a:lnTo>
                  <a:pt x="8188" y="309489"/>
                </a:lnTo>
                <a:lnTo>
                  <a:pt x="1914" y="348281"/>
                </a:lnTo>
                <a:lnTo>
                  <a:pt x="0" y="387605"/>
                </a:lnTo>
                <a:lnTo>
                  <a:pt x="850" y="407692"/>
                </a:lnTo>
                <a:lnTo>
                  <a:pt x="4785" y="446909"/>
                </a:lnTo>
                <a:lnTo>
                  <a:pt x="12123" y="484958"/>
                </a:lnTo>
                <a:lnTo>
                  <a:pt x="23821" y="521412"/>
                </a:lnTo>
                <a:lnTo>
                  <a:pt x="47323" y="572533"/>
                </a:lnTo>
                <a:lnTo>
                  <a:pt x="77632" y="619722"/>
                </a:lnTo>
                <a:lnTo>
                  <a:pt x="115172" y="662021"/>
                </a:lnTo>
                <a:lnTo>
                  <a:pt x="157604" y="698901"/>
                </a:lnTo>
                <a:lnTo>
                  <a:pt x="205459" y="728978"/>
                </a:lnTo>
                <a:lnTo>
                  <a:pt x="240022" y="745133"/>
                </a:lnTo>
                <a:lnTo>
                  <a:pt x="276179" y="758311"/>
                </a:lnTo>
                <a:lnTo>
                  <a:pt x="313613" y="768089"/>
                </a:lnTo>
                <a:lnTo>
                  <a:pt x="352748" y="773828"/>
                </a:lnTo>
                <a:lnTo>
                  <a:pt x="372741" y="775741"/>
                </a:lnTo>
                <a:lnTo>
                  <a:pt x="392840" y="775741"/>
                </a:lnTo>
                <a:lnTo>
                  <a:pt x="412940" y="775741"/>
                </a:lnTo>
                <a:lnTo>
                  <a:pt x="452819" y="771490"/>
                </a:lnTo>
                <a:lnTo>
                  <a:pt x="491316" y="763519"/>
                </a:lnTo>
                <a:lnTo>
                  <a:pt x="528006" y="752466"/>
                </a:lnTo>
                <a:lnTo>
                  <a:pt x="563100" y="737480"/>
                </a:lnTo>
                <a:lnTo>
                  <a:pt x="612551" y="709210"/>
                </a:lnTo>
                <a:lnTo>
                  <a:pt x="656897" y="675200"/>
                </a:lnTo>
                <a:lnTo>
                  <a:pt x="695926" y="634282"/>
                </a:lnTo>
                <a:lnTo>
                  <a:pt x="728680" y="588688"/>
                </a:lnTo>
                <a:lnTo>
                  <a:pt x="754522" y="538523"/>
                </a:lnTo>
                <a:lnTo>
                  <a:pt x="762179" y="521412"/>
                </a:lnTo>
                <a:lnTo>
                  <a:pt x="773558" y="484958"/>
                </a:lnTo>
                <a:lnTo>
                  <a:pt x="781215" y="446909"/>
                </a:lnTo>
                <a:lnTo>
                  <a:pt x="785150" y="407692"/>
                </a:lnTo>
                <a:lnTo>
                  <a:pt x="785681" y="387605"/>
                </a:lnTo>
                <a:lnTo>
                  <a:pt x="785150" y="367837"/>
                </a:lnTo>
                <a:lnTo>
                  <a:pt x="781215" y="328725"/>
                </a:lnTo>
                <a:lnTo>
                  <a:pt x="773558" y="290464"/>
                </a:lnTo>
                <a:lnTo>
                  <a:pt x="754522" y="236899"/>
                </a:lnTo>
                <a:lnTo>
                  <a:pt x="747184" y="219575"/>
                </a:lnTo>
                <a:lnTo>
                  <a:pt x="718364" y="170686"/>
                </a:lnTo>
                <a:lnTo>
                  <a:pt x="684015" y="126686"/>
                </a:lnTo>
                <a:lnTo>
                  <a:pt x="643072" y="88106"/>
                </a:lnTo>
                <a:lnTo>
                  <a:pt x="596386" y="55903"/>
                </a:lnTo>
                <a:lnTo>
                  <a:pt x="545978" y="30396"/>
                </a:lnTo>
                <a:lnTo>
                  <a:pt x="509502" y="17217"/>
                </a:lnTo>
                <a:lnTo>
                  <a:pt x="472281" y="7439"/>
                </a:lnTo>
                <a:lnTo>
                  <a:pt x="433252" y="1594"/>
                </a:lnTo>
                <a:lnTo>
                  <a:pt x="412940" y="531"/>
                </a:lnTo>
                <a:lnTo>
                  <a:pt x="392840" y="0"/>
                </a:lnTo>
              </a:path>
            </a:pathLst>
          </a:custGeom>
          <a:ln w="19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75073" y="3529765"/>
            <a:ext cx="186055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spc="10" dirty="0">
                <a:latin typeface="Times New Roman"/>
                <a:cs typeface="Times New Roman"/>
              </a:rPr>
              <a:t>P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03862" y="3692034"/>
            <a:ext cx="537210" cy="19050"/>
          </a:xfrm>
          <a:custGeom>
            <a:avLst/>
            <a:gdLst/>
            <a:ahLst/>
            <a:cxnLst/>
            <a:rect l="l" t="t" r="r" b="b"/>
            <a:pathLst>
              <a:path w="537210" h="19050">
                <a:moveTo>
                  <a:pt x="0" y="0"/>
                </a:moveTo>
                <a:lnTo>
                  <a:pt x="536726" y="0"/>
                </a:lnTo>
                <a:lnTo>
                  <a:pt x="536726" y="19024"/>
                </a:lnTo>
                <a:lnTo>
                  <a:pt x="0" y="19024"/>
                </a:lnTo>
                <a:lnTo>
                  <a:pt x="0" y="0"/>
                </a:lnTo>
                <a:close/>
              </a:path>
            </a:pathLst>
          </a:custGeom>
          <a:ln w="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31337" y="3672266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0" y="0"/>
                </a:moveTo>
                <a:lnTo>
                  <a:pt x="57533" y="29014"/>
                </a:lnTo>
                <a:lnTo>
                  <a:pt x="0" y="57710"/>
                </a:lnTo>
                <a:lnTo>
                  <a:pt x="0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41550" y="3692034"/>
            <a:ext cx="537210" cy="19050"/>
          </a:xfrm>
          <a:custGeom>
            <a:avLst/>
            <a:gdLst/>
            <a:ahLst/>
            <a:cxnLst/>
            <a:rect l="l" t="t" r="r" b="b"/>
            <a:pathLst>
              <a:path w="537210" h="19050">
                <a:moveTo>
                  <a:pt x="0" y="0"/>
                </a:moveTo>
                <a:lnTo>
                  <a:pt x="536726" y="0"/>
                </a:lnTo>
                <a:lnTo>
                  <a:pt x="536726" y="19024"/>
                </a:lnTo>
                <a:lnTo>
                  <a:pt x="0" y="19024"/>
                </a:lnTo>
                <a:lnTo>
                  <a:pt x="0" y="0"/>
                </a:lnTo>
                <a:close/>
              </a:path>
            </a:pathLst>
          </a:custGeom>
          <a:ln w="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68492" y="3672266"/>
            <a:ext cx="57785" cy="58419"/>
          </a:xfrm>
          <a:custGeom>
            <a:avLst/>
            <a:gdLst/>
            <a:ahLst/>
            <a:cxnLst/>
            <a:rect l="l" t="t" r="r" b="b"/>
            <a:pathLst>
              <a:path w="57785" h="58420">
                <a:moveTo>
                  <a:pt x="0" y="0"/>
                </a:moveTo>
                <a:lnTo>
                  <a:pt x="57533" y="29014"/>
                </a:lnTo>
                <a:lnTo>
                  <a:pt x="0" y="58241"/>
                </a:lnTo>
                <a:lnTo>
                  <a:pt x="0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34463" y="3433453"/>
            <a:ext cx="498475" cy="526415"/>
          </a:xfrm>
          <a:custGeom>
            <a:avLst/>
            <a:gdLst/>
            <a:ahLst/>
            <a:cxnLst/>
            <a:rect l="l" t="t" r="r" b="b"/>
            <a:pathLst>
              <a:path w="498475" h="526414">
                <a:moveTo>
                  <a:pt x="0" y="526088"/>
                </a:moveTo>
                <a:lnTo>
                  <a:pt x="498165" y="526088"/>
                </a:lnTo>
                <a:lnTo>
                  <a:pt x="498165" y="0"/>
                </a:lnTo>
                <a:lnTo>
                  <a:pt x="0" y="0"/>
                </a:lnTo>
                <a:lnTo>
                  <a:pt x="0" y="526088"/>
                </a:lnTo>
                <a:close/>
              </a:path>
            </a:pathLst>
          </a:custGeom>
          <a:ln w="19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34463" y="3433453"/>
            <a:ext cx="498475" cy="526415"/>
          </a:xfrm>
          <a:prstGeom prst="rect">
            <a:avLst/>
          </a:prstGeom>
          <a:ln w="19002">
            <a:solidFill>
              <a:srgbClr val="000000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2250" spc="10" dirty="0">
                <a:latin typeface="Times New Roman"/>
                <a:cs typeface="Times New Roman"/>
              </a:rPr>
              <a:t>x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35809" y="3462521"/>
            <a:ext cx="498475" cy="526415"/>
          </a:xfrm>
          <a:custGeom>
            <a:avLst/>
            <a:gdLst/>
            <a:ahLst/>
            <a:cxnLst/>
            <a:rect l="l" t="t" r="r" b="b"/>
            <a:pathLst>
              <a:path w="498475" h="526414">
                <a:moveTo>
                  <a:pt x="0" y="525823"/>
                </a:moveTo>
                <a:lnTo>
                  <a:pt x="497899" y="525823"/>
                </a:lnTo>
                <a:lnTo>
                  <a:pt x="497899" y="0"/>
                </a:lnTo>
                <a:lnTo>
                  <a:pt x="0" y="0"/>
                </a:lnTo>
                <a:lnTo>
                  <a:pt x="0" y="525823"/>
                </a:lnTo>
                <a:close/>
              </a:path>
            </a:pathLst>
          </a:custGeom>
          <a:ln w="19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400281" y="3510741"/>
            <a:ext cx="17018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spc="10" dirty="0">
                <a:latin typeface="Times New Roman"/>
                <a:cs typeface="Times New Roman"/>
              </a:rPr>
              <a:t>y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92652" y="3386733"/>
            <a:ext cx="152019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65250" algn="l"/>
              </a:tabLst>
            </a:pPr>
            <a:r>
              <a:rPr sz="2700" b="1" spc="22" baseline="3086" dirty="0">
                <a:latin typeface="Arial"/>
                <a:cs typeface="Arial"/>
              </a:rPr>
              <a:t>a	</a:t>
            </a:r>
            <a:r>
              <a:rPr sz="1800" b="1" spc="15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820784" y="4663757"/>
            <a:ext cx="603250" cy="612775"/>
          </a:xfrm>
          <a:custGeom>
            <a:avLst/>
            <a:gdLst/>
            <a:ahLst/>
            <a:cxnLst/>
            <a:rect l="l" t="t" r="r" b="b"/>
            <a:pathLst>
              <a:path w="603250" h="612775">
                <a:moveTo>
                  <a:pt x="302011" y="0"/>
                </a:moveTo>
                <a:lnTo>
                  <a:pt x="286442" y="0"/>
                </a:lnTo>
                <a:lnTo>
                  <a:pt x="270862" y="1062"/>
                </a:lnTo>
                <a:lnTo>
                  <a:pt x="225984" y="9246"/>
                </a:lnTo>
                <a:lnTo>
                  <a:pt x="184009" y="23700"/>
                </a:lnTo>
                <a:lnTo>
                  <a:pt x="144938" y="44319"/>
                </a:lnTo>
                <a:lnTo>
                  <a:pt x="109823" y="69613"/>
                </a:lnTo>
                <a:lnTo>
                  <a:pt x="69167" y="111275"/>
                </a:lnTo>
                <a:lnTo>
                  <a:pt x="43825" y="146879"/>
                </a:lnTo>
                <a:lnTo>
                  <a:pt x="23757" y="186734"/>
                </a:lnTo>
                <a:lnTo>
                  <a:pt x="9241" y="229459"/>
                </a:lnTo>
                <a:lnTo>
                  <a:pt x="1318" y="275160"/>
                </a:lnTo>
                <a:lnTo>
                  <a:pt x="0" y="290719"/>
                </a:lnTo>
                <a:lnTo>
                  <a:pt x="0" y="306290"/>
                </a:lnTo>
                <a:lnTo>
                  <a:pt x="0" y="321860"/>
                </a:lnTo>
                <a:lnTo>
                  <a:pt x="5806" y="368028"/>
                </a:lnTo>
                <a:lnTo>
                  <a:pt x="18482" y="411826"/>
                </a:lnTo>
                <a:lnTo>
                  <a:pt x="36168" y="452192"/>
                </a:lnTo>
                <a:lnTo>
                  <a:pt x="43825" y="464850"/>
                </a:lnTo>
                <a:lnTo>
                  <a:pt x="51216" y="477518"/>
                </a:lnTo>
                <a:lnTo>
                  <a:pt x="88181" y="523166"/>
                </a:lnTo>
                <a:lnTo>
                  <a:pt x="132793" y="560630"/>
                </a:lnTo>
                <a:lnTo>
                  <a:pt x="170812" y="582523"/>
                </a:lnTo>
                <a:lnTo>
                  <a:pt x="212255" y="598614"/>
                </a:lnTo>
                <a:lnTo>
                  <a:pt x="256080" y="608913"/>
                </a:lnTo>
                <a:lnTo>
                  <a:pt x="270862" y="611283"/>
                </a:lnTo>
                <a:lnTo>
                  <a:pt x="286442" y="612335"/>
                </a:lnTo>
                <a:lnTo>
                  <a:pt x="302011" y="612335"/>
                </a:lnTo>
                <a:lnTo>
                  <a:pt x="317590" y="612335"/>
                </a:lnTo>
                <a:lnTo>
                  <a:pt x="332372" y="611283"/>
                </a:lnTo>
                <a:lnTo>
                  <a:pt x="347952" y="608913"/>
                </a:lnTo>
                <a:lnTo>
                  <a:pt x="362468" y="606798"/>
                </a:lnTo>
                <a:lnTo>
                  <a:pt x="405517" y="593874"/>
                </a:lnTo>
                <a:lnTo>
                  <a:pt x="445928" y="575403"/>
                </a:lnTo>
                <a:lnTo>
                  <a:pt x="494209" y="542689"/>
                </a:lnTo>
                <a:lnTo>
                  <a:pt x="534833" y="500996"/>
                </a:lnTo>
                <a:lnTo>
                  <a:pt x="560250" y="464850"/>
                </a:lnTo>
                <a:lnTo>
                  <a:pt x="579711" y="425547"/>
                </a:lnTo>
                <a:lnTo>
                  <a:pt x="594280" y="382801"/>
                </a:lnTo>
                <a:lnTo>
                  <a:pt x="599810" y="352989"/>
                </a:lnTo>
                <a:lnTo>
                  <a:pt x="602150" y="337419"/>
                </a:lnTo>
                <a:lnTo>
                  <a:pt x="603213" y="321860"/>
                </a:lnTo>
                <a:lnTo>
                  <a:pt x="603213" y="306290"/>
                </a:lnTo>
                <a:lnTo>
                  <a:pt x="603213" y="290719"/>
                </a:lnTo>
                <a:lnTo>
                  <a:pt x="602150" y="275160"/>
                </a:lnTo>
                <a:lnTo>
                  <a:pt x="599810" y="259537"/>
                </a:lnTo>
                <a:lnTo>
                  <a:pt x="597683" y="244551"/>
                </a:lnTo>
                <a:lnTo>
                  <a:pt x="585560" y="200764"/>
                </a:lnTo>
                <a:lnTo>
                  <a:pt x="567056" y="160377"/>
                </a:lnTo>
                <a:lnTo>
                  <a:pt x="560250" y="146879"/>
                </a:lnTo>
                <a:lnTo>
                  <a:pt x="534833" y="111275"/>
                </a:lnTo>
                <a:lnTo>
                  <a:pt x="494209" y="69613"/>
                </a:lnTo>
                <a:lnTo>
                  <a:pt x="458264" y="44319"/>
                </a:lnTo>
                <a:lnTo>
                  <a:pt x="419235" y="23700"/>
                </a:lnTo>
                <a:lnTo>
                  <a:pt x="377229" y="9246"/>
                </a:lnTo>
                <a:lnTo>
                  <a:pt x="332372" y="1062"/>
                </a:lnTo>
                <a:lnTo>
                  <a:pt x="317590" y="0"/>
                </a:lnTo>
                <a:lnTo>
                  <a:pt x="302011" y="0"/>
                </a:lnTo>
              </a:path>
            </a:pathLst>
          </a:custGeom>
          <a:ln w="19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66220" y="4755510"/>
            <a:ext cx="31369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spc="5" dirty="0">
                <a:latin typeface="Times New Roman"/>
                <a:cs typeface="Times New Roman"/>
              </a:rPr>
              <a:t>p</a:t>
            </a:r>
            <a:r>
              <a:rPr sz="2250" spc="1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26623" y="4327592"/>
            <a:ext cx="604520" cy="612775"/>
          </a:xfrm>
          <a:custGeom>
            <a:avLst/>
            <a:gdLst/>
            <a:ahLst/>
            <a:cxnLst/>
            <a:rect l="l" t="t" r="r" b="b"/>
            <a:pathLst>
              <a:path w="604520" h="612775">
                <a:moveTo>
                  <a:pt x="302021" y="0"/>
                </a:moveTo>
                <a:lnTo>
                  <a:pt x="286388" y="0"/>
                </a:lnTo>
                <a:lnTo>
                  <a:pt x="271606" y="1062"/>
                </a:lnTo>
                <a:lnTo>
                  <a:pt x="256080" y="3400"/>
                </a:lnTo>
                <a:lnTo>
                  <a:pt x="240979" y="6376"/>
                </a:lnTo>
                <a:lnTo>
                  <a:pt x="226728" y="9033"/>
                </a:lnTo>
                <a:lnTo>
                  <a:pt x="184828" y="23488"/>
                </a:lnTo>
                <a:lnTo>
                  <a:pt x="145480" y="44319"/>
                </a:lnTo>
                <a:lnTo>
                  <a:pt x="109855" y="69613"/>
                </a:lnTo>
                <a:lnTo>
                  <a:pt x="69124" y="111063"/>
                </a:lnTo>
                <a:lnTo>
                  <a:pt x="43814" y="146986"/>
                </a:lnTo>
                <a:lnTo>
                  <a:pt x="36901" y="160164"/>
                </a:lnTo>
                <a:lnTo>
                  <a:pt x="30095" y="172812"/>
                </a:lnTo>
                <a:lnTo>
                  <a:pt x="24246" y="186841"/>
                </a:lnTo>
                <a:lnTo>
                  <a:pt x="18504" y="200551"/>
                </a:lnTo>
                <a:lnTo>
                  <a:pt x="14037" y="215005"/>
                </a:lnTo>
                <a:lnTo>
                  <a:pt x="3403" y="259324"/>
                </a:lnTo>
                <a:lnTo>
                  <a:pt x="0" y="306088"/>
                </a:lnTo>
                <a:lnTo>
                  <a:pt x="744" y="321605"/>
                </a:lnTo>
                <a:lnTo>
                  <a:pt x="6380" y="367837"/>
                </a:lnTo>
                <a:lnTo>
                  <a:pt x="18504" y="411093"/>
                </a:lnTo>
                <a:lnTo>
                  <a:pt x="36901" y="452011"/>
                </a:lnTo>
                <a:lnTo>
                  <a:pt x="69124" y="501006"/>
                </a:lnTo>
                <a:lnTo>
                  <a:pt x="109855" y="542456"/>
                </a:lnTo>
                <a:lnTo>
                  <a:pt x="145480" y="568069"/>
                </a:lnTo>
                <a:lnTo>
                  <a:pt x="171641" y="581779"/>
                </a:lnTo>
                <a:lnTo>
                  <a:pt x="184828" y="588156"/>
                </a:lnTo>
                <a:lnTo>
                  <a:pt x="226728" y="602610"/>
                </a:lnTo>
                <a:lnTo>
                  <a:pt x="271606" y="610528"/>
                </a:lnTo>
                <a:lnTo>
                  <a:pt x="302021" y="612378"/>
                </a:lnTo>
                <a:lnTo>
                  <a:pt x="317548" y="611846"/>
                </a:lnTo>
                <a:lnTo>
                  <a:pt x="362957" y="606043"/>
                </a:lnTo>
                <a:lnTo>
                  <a:pt x="406027" y="593895"/>
                </a:lnTo>
                <a:lnTo>
                  <a:pt x="445907" y="575403"/>
                </a:lnTo>
                <a:lnTo>
                  <a:pt x="494188" y="542456"/>
                </a:lnTo>
                <a:lnTo>
                  <a:pt x="534812" y="501006"/>
                </a:lnTo>
                <a:lnTo>
                  <a:pt x="560228" y="464658"/>
                </a:lnTo>
                <a:lnTo>
                  <a:pt x="580221" y="425016"/>
                </a:lnTo>
                <a:lnTo>
                  <a:pt x="594791" y="382291"/>
                </a:lnTo>
                <a:lnTo>
                  <a:pt x="602129" y="337228"/>
                </a:lnTo>
                <a:lnTo>
                  <a:pt x="604043" y="306088"/>
                </a:lnTo>
                <a:lnTo>
                  <a:pt x="603511" y="289933"/>
                </a:lnTo>
                <a:lnTo>
                  <a:pt x="602129" y="274416"/>
                </a:lnTo>
                <a:lnTo>
                  <a:pt x="600640" y="259324"/>
                </a:lnTo>
                <a:lnTo>
                  <a:pt x="597662" y="244339"/>
                </a:lnTo>
                <a:lnTo>
                  <a:pt x="594791" y="229566"/>
                </a:lnTo>
                <a:lnTo>
                  <a:pt x="590005" y="215005"/>
                </a:lnTo>
                <a:lnTo>
                  <a:pt x="585539" y="200551"/>
                </a:lnTo>
                <a:lnTo>
                  <a:pt x="580221" y="186841"/>
                </a:lnTo>
                <a:lnTo>
                  <a:pt x="560228" y="146986"/>
                </a:lnTo>
                <a:lnTo>
                  <a:pt x="534812" y="111063"/>
                </a:lnTo>
                <a:lnTo>
                  <a:pt x="494188" y="69613"/>
                </a:lnTo>
                <a:lnTo>
                  <a:pt x="458562" y="44319"/>
                </a:lnTo>
                <a:lnTo>
                  <a:pt x="445907" y="36666"/>
                </a:lnTo>
                <a:lnTo>
                  <a:pt x="433252" y="29864"/>
                </a:lnTo>
                <a:lnTo>
                  <a:pt x="419214" y="23488"/>
                </a:lnTo>
                <a:lnTo>
                  <a:pt x="406027" y="18173"/>
                </a:lnTo>
                <a:lnTo>
                  <a:pt x="391777" y="13710"/>
                </a:lnTo>
                <a:lnTo>
                  <a:pt x="377208" y="9033"/>
                </a:lnTo>
                <a:lnTo>
                  <a:pt x="362957" y="6376"/>
                </a:lnTo>
                <a:lnTo>
                  <a:pt x="347963" y="3400"/>
                </a:lnTo>
                <a:lnTo>
                  <a:pt x="333180" y="1062"/>
                </a:lnTo>
                <a:lnTo>
                  <a:pt x="317548" y="0"/>
                </a:lnTo>
                <a:lnTo>
                  <a:pt x="302021" y="0"/>
                </a:lnTo>
              </a:path>
            </a:pathLst>
          </a:custGeom>
          <a:ln w="19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16164" y="5231774"/>
            <a:ext cx="603885" cy="611505"/>
          </a:xfrm>
          <a:custGeom>
            <a:avLst/>
            <a:gdLst/>
            <a:ahLst/>
            <a:cxnLst/>
            <a:rect l="l" t="t" r="r" b="b"/>
            <a:pathLst>
              <a:path w="603885" h="611504">
                <a:moveTo>
                  <a:pt x="302021" y="0"/>
                </a:moveTo>
                <a:lnTo>
                  <a:pt x="255867" y="3432"/>
                </a:lnTo>
                <a:lnTo>
                  <a:pt x="212265" y="13975"/>
                </a:lnTo>
                <a:lnTo>
                  <a:pt x="170897" y="30077"/>
                </a:lnTo>
                <a:lnTo>
                  <a:pt x="132825" y="52502"/>
                </a:lnTo>
                <a:lnTo>
                  <a:pt x="88798" y="89435"/>
                </a:lnTo>
                <a:lnTo>
                  <a:pt x="51790" y="135082"/>
                </a:lnTo>
                <a:lnTo>
                  <a:pt x="29883" y="173077"/>
                </a:lnTo>
                <a:lnTo>
                  <a:pt x="13824" y="215026"/>
                </a:lnTo>
                <a:lnTo>
                  <a:pt x="3509" y="259611"/>
                </a:lnTo>
                <a:lnTo>
                  <a:pt x="0" y="305779"/>
                </a:lnTo>
                <a:lnTo>
                  <a:pt x="531" y="321881"/>
                </a:lnTo>
                <a:lnTo>
                  <a:pt x="1914" y="337440"/>
                </a:lnTo>
                <a:lnTo>
                  <a:pt x="3509" y="352479"/>
                </a:lnTo>
                <a:lnTo>
                  <a:pt x="6380" y="367252"/>
                </a:lnTo>
                <a:lnTo>
                  <a:pt x="9252" y="382291"/>
                </a:lnTo>
                <a:lnTo>
                  <a:pt x="13824" y="396809"/>
                </a:lnTo>
                <a:lnTo>
                  <a:pt x="18504" y="411316"/>
                </a:lnTo>
                <a:lnTo>
                  <a:pt x="23502" y="425037"/>
                </a:lnTo>
                <a:lnTo>
                  <a:pt x="29883" y="438226"/>
                </a:lnTo>
                <a:lnTo>
                  <a:pt x="36263" y="451681"/>
                </a:lnTo>
                <a:lnTo>
                  <a:pt x="68911" y="500496"/>
                </a:lnTo>
                <a:lnTo>
                  <a:pt x="109855" y="541648"/>
                </a:lnTo>
                <a:lnTo>
                  <a:pt x="145480" y="567506"/>
                </a:lnTo>
                <a:lnTo>
                  <a:pt x="184084" y="587827"/>
                </a:lnTo>
                <a:lnTo>
                  <a:pt x="197802" y="592833"/>
                </a:lnTo>
                <a:lnTo>
                  <a:pt x="212265" y="598115"/>
                </a:lnTo>
                <a:lnTo>
                  <a:pt x="255867" y="607871"/>
                </a:lnTo>
                <a:lnTo>
                  <a:pt x="286495" y="611304"/>
                </a:lnTo>
                <a:lnTo>
                  <a:pt x="302021" y="611304"/>
                </a:lnTo>
                <a:lnTo>
                  <a:pt x="317654" y="611304"/>
                </a:lnTo>
                <a:lnTo>
                  <a:pt x="363064" y="605501"/>
                </a:lnTo>
                <a:lnTo>
                  <a:pt x="405496" y="592833"/>
                </a:lnTo>
                <a:lnTo>
                  <a:pt x="419320" y="587827"/>
                </a:lnTo>
                <a:lnTo>
                  <a:pt x="458349" y="567506"/>
                </a:lnTo>
                <a:lnTo>
                  <a:pt x="493975" y="541648"/>
                </a:lnTo>
                <a:lnTo>
                  <a:pt x="534918" y="500496"/>
                </a:lnTo>
                <a:lnTo>
                  <a:pt x="560228" y="464350"/>
                </a:lnTo>
                <a:lnTo>
                  <a:pt x="579796" y="425037"/>
                </a:lnTo>
                <a:lnTo>
                  <a:pt x="594046" y="382291"/>
                </a:lnTo>
                <a:lnTo>
                  <a:pt x="602235" y="337440"/>
                </a:lnTo>
                <a:lnTo>
                  <a:pt x="603298" y="321881"/>
                </a:lnTo>
                <a:lnTo>
                  <a:pt x="603298" y="305779"/>
                </a:lnTo>
                <a:lnTo>
                  <a:pt x="603298" y="290220"/>
                </a:lnTo>
                <a:lnTo>
                  <a:pt x="597449" y="244041"/>
                </a:lnTo>
                <a:lnTo>
                  <a:pt x="585645" y="200774"/>
                </a:lnTo>
                <a:lnTo>
                  <a:pt x="567141" y="160409"/>
                </a:lnTo>
                <a:lnTo>
                  <a:pt x="560228" y="146954"/>
                </a:lnTo>
                <a:lnTo>
                  <a:pt x="534918" y="111339"/>
                </a:lnTo>
                <a:lnTo>
                  <a:pt x="493975" y="69911"/>
                </a:lnTo>
                <a:lnTo>
                  <a:pt x="458349" y="44319"/>
                </a:lnTo>
                <a:lnTo>
                  <a:pt x="419320" y="24274"/>
                </a:lnTo>
                <a:lnTo>
                  <a:pt x="377314" y="9756"/>
                </a:lnTo>
                <a:lnTo>
                  <a:pt x="332436" y="1849"/>
                </a:lnTo>
                <a:lnTo>
                  <a:pt x="317654" y="520"/>
                </a:lnTo>
                <a:lnTo>
                  <a:pt x="302021" y="0"/>
                </a:lnTo>
              </a:path>
            </a:pathLst>
          </a:custGeom>
          <a:ln w="19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61601" y="5322761"/>
            <a:ext cx="31369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spc="5" dirty="0">
                <a:latin typeface="Times New Roman"/>
                <a:cs typeface="Times New Roman"/>
              </a:rPr>
              <a:t>p</a:t>
            </a:r>
            <a:r>
              <a:rPr sz="2250" spc="10" dirty="0">
                <a:latin typeface="Times New Roman"/>
                <a:cs typeface="Times New Roman"/>
              </a:rPr>
              <a:t>3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84017" y="4980867"/>
            <a:ext cx="603885" cy="612775"/>
          </a:xfrm>
          <a:custGeom>
            <a:avLst/>
            <a:gdLst/>
            <a:ahLst/>
            <a:cxnLst/>
            <a:rect l="l" t="t" r="r" b="b"/>
            <a:pathLst>
              <a:path w="603885" h="612775">
                <a:moveTo>
                  <a:pt x="302021" y="0"/>
                </a:moveTo>
                <a:lnTo>
                  <a:pt x="256080" y="3422"/>
                </a:lnTo>
                <a:lnTo>
                  <a:pt x="212265" y="13975"/>
                </a:lnTo>
                <a:lnTo>
                  <a:pt x="170791" y="30077"/>
                </a:lnTo>
                <a:lnTo>
                  <a:pt x="133038" y="52502"/>
                </a:lnTo>
                <a:lnTo>
                  <a:pt x="88160" y="89435"/>
                </a:lnTo>
                <a:lnTo>
                  <a:pt x="51258" y="135082"/>
                </a:lnTo>
                <a:lnTo>
                  <a:pt x="29351" y="173598"/>
                </a:lnTo>
                <a:lnTo>
                  <a:pt x="13186" y="215281"/>
                </a:lnTo>
                <a:lnTo>
                  <a:pt x="3403" y="259611"/>
                </a:lnTo>
                <a:lnTo>
                  <a:pt x="0" y="290741"/>
                </a:lnTo>
                <a:lnTo>
                  <a:pt x="0" y="306311"/>
                </a:lnTo>
                <a:lnTo>
                  <a:pt x="0" y="321881"/>
                </a:lnTo>
                <a:lnTo>
                  <a:pt x="5849" y="368049"/>
                </a:lnTo>
                <a:lnTo>
                  <a:pt x="18504" y="411847"/>
                </a:lnTo>
                <a:lnTo>
                  <a:pt x="36476" y="452213"/>
                </a:lnTo>
                <a:lnTo>
                  <a:pt x="69124" y="501283"/>
                </a:lnTo>
                <a:lnTo>
                  <a:pt x="109855" y="542711"/>
                </a:lnTo>
                <a:lnTo>
                  <a:pt x="145693" y="568037"/>
                </a:lnTo>
                <a:lnTo>
                  <a:pt x="157604" y="575690"/>
                </a:lnTo>
                <a:lnTo>
                  <a:pt x="198015" y="594150"/>
                </a:lnTo>
                <a:lnTo>
                  <a:pt x="241085" y="606288"/>
                </a:lnTo>
                <a:lnTo>
                  <a:pt x="286495" y="611836"/>
                </a:lnTo>
                <a:lnTo>
                  <a:pt x="302021" y="612622"/>
                </a:lnTo>
                <a:lnTo>
                  <a:pt x="317548" y="611836"/>
                </a:lnTo>
                <a:lnTo>
                  <a:pt x="362426" y="606288"/>
                </a:lnTo>
                <a:lnTo>
                  <a:pt x="405496" y="594150"/>
                </a:lnTo>
                <a:lnTo>
                  <a:pt x="445907" y="575690"/>
                </a:lnTo>
                <a:lnTo>
                  <a:pt x="493443" y="542711"/>
                </a:lnTo>
                <a:lnTo>
                  <a:pt x="534918" y="501283"/>
                </a:lnTo>
                <a:lnTo>
                  <a:pt x="559697" y="464871"/>
                </a:lnTo>
                <a:lnTo>
                  <a:pt x="579796" y="425568"/>
                </a:lnTo>
                <a:lnTo>
                  <a:pt x="594259" y="383088"/>
                </a:lnTo>
                <a:lnTo>
                  <a:pt x="599789" y="353010"/>
                </a:lnTo>
                <a:lnTo>
                  <a:pt x="602235" y="337440"/>
                </a:lnTo>
                <a:lnTo>
                  <a:pt x="603511" y="321881"/>
                </a:lnTo>
                <a:lnTo>
                  <a:pt x="603511" y="306311"/>
                </a:lnTo>
                <a:lnTo>
                  <a:pt x="603511" y="290741"/>
                </a:lnTo>
                <a:lnTo>
                  <a:pt x="602235" y="275181"/>
                </a:lnTo>
                <a:lnTo>
                  <a:pt x="599789" y="259611"/>
                </a:lnTo>
                <a:lnTo>
                  <a:pt x="597662" y="244572"/>
                </a:lnTo>
                <a:lnTo>
                  <a:pt x="585539" y="200774"/>
                </a:lnTo>
                <a:lnTo>
                  <a:pt x="567035" y="160409"/>
                </a:lnTo>
                <a:lnTo>
                  <a:pt x="534918" y="111339"/>
                </a:lnTo>
                <a:lnTo>
                  <a:pt x="493443" y="69911"/>
                </a:lnTo>
                <a:lnTo>
                  <a:pt x="458562" y="44319"/>
                </a:lnTo>
                <a:lnTo>
                  <a:pt x="419214" y="24274"/>
                </a:lnTo>
                <a:lnTo>
                  <a:pt x="377314" y="9756"/>
                </a:lnTo>
                <a:lnTo>
                  <a:pt x="332649" y="1838"/>
                </a:lnTo>
                <a:lnTo>
                  <a:pt x="317548" y="520"/>
                </a:lnTo>
                <a:lnTo>
                  <a:pt x="302021" y="0"/>
                </a:lnTo>
              </a:path>
            </a:pathLst>
          </a:custGeom>
          <a:ln w="19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8921" y="5072641"/>
            <a:ext cx="31369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spc="5" dirty="0">
                <a:latin typeface="Times New Roman"/>
                <a:cs typeface="Times New Roman"/>
              </a:rPr>
              <a:t>p</a:t>
            </a:r>
            <a:r>
              <a:rPr sz="2250" spc="10" dirty="0">
                <a:latin typeface="Times New Roman"/>
                <a:cs typeface="Times New Roman"/>
              </a:rPr>
              <a:t>4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13584" y="5067401"/>
            <a:ext cx="603885" cy="612775"/>
          </a:xfrm>
          <a:custGeom>
            <a:avLst/>
            <a:gdLst/>
            <a:ahLst/>
            <a:cxnLst/>
            <a:rect l="l" t="t" r="r" b="b"/>
            <a:pathLst>
              <a:path w="603885" h="612775">
                <a:moveTo>
                  <a:pt x="301702" y="0"/>
                </a:moveTo>
                <a:lnTo>
                  <a:pt x="255761" y="3432"/>
                </a:lnTo>
                <a:lnTo>
                  <a:pt x="212265" y="13986"/>
                </a:lnTo>
                <a:lnTo>
                  <a:pt x="170791" y="30077"/>
                </a:lnTo>
                <a:lnTo>
                  <a:pt x="132719" y="52502"/>
                </a:lnTo>
                <a:lnTo>
                  <a:pt x="88373" y="89445"/>
                </a:lnTo>
                <a:lnTo>
                  <a:pt x="51683" y="135082"/>
                </a:lnTo>
                <a:lnTo>
                  <a:pt x="29776" y="173609"/>
                </a:lnTo>
                <a:lnTo>
                  <a:pt x="13718" y="215026"/>
                </a:lnTo>
                <a:lnTo>
                  <a:pt x="3403" y="259611"/>
                </a:lnTo>
                <a:lnTo>
                  <a:pt x="0" y="306311"/>
                </a:lnTo>
                <a:lnTo>
                  <a:pt x="531" y="321881"/>
                </a:lnTo>
                <a:lnTo>
                  <a:pt x="6274" y="368049"/>
                </a:lnTo>
                <a:lnTo>
                  <a:pt x="13718" y="397340"/>
                </a:lnTo>
                <a:lnTo>
                  <a:pt x="18185" y="411847"/>
                </a:lnTo>
                <a:lnTo>
                  <a:pt x="36157" y="452213"/>
                </a:lnTo>
                <a:lnTo>
                  <a:pt x="68911" y="501293"/>
                </a:lnTo>
                <a:lnTo>
                  <a:pt x="109748" y="542711"/>
                </a:lnTo>
                <a:lnTo>
                  <a:pt x="145480" y="568037"/>
                </a:lnTo>
                <a:lnTo>
                  <a:pt x="183978" y="588358"/>
                </a:lnTo>
                <a:lnTo>
                  <a:pt x="226516" y="602600"/>
                </a:lnTo>
                <a:lnTo>
                  <a:pt x="270862" y="610783"/>
                </a:lnTo>
                <a:lnTo>
                  <a:pt x="301702" y="612633"/>
                </a:lnTo>
                <a:lnTo>
                  <a:pt x="317335" y="611836"/>
                </a:lnTo>
                <a:lnTo>
                  <a:pt x="362745" y="606033"/>
                </a:lnTo>
                <a:lnTo>
                  <a:pt x="405496" y="594161"/>
                </a:lnTo>
                <a:lnTo>
                  <a:pt x="445588" y="575690"/>
                </a:lnTo>
                <a:lnTo>
                  <a:pt x="493869" y="542711"/>
                </a:lnTo>
                <a:lnTo>
                  <a:pt x="534812" y="501293"/>
                </a:lnTo>
                <a:lnTo>
                  <a:pt x="560228" y="464881"/>
                </a:lnTo>
                <a:lnTo>
                  <a:pt x="579690" y="425568"/>
                </a:lnTo>
                <a:lnTo>
                  <a:pt x="593940" y="383088"/>
                </a:lnTo>
                <a:lnTo>
                  <a:pt x="602129" y="337451"/>
                </a:lnTo>
                <a:lnTo>
                  <a:pt x="603724" y="306311"/>
                </a:lnTo>
                <a:lnTo>
                  <a:pt x="603192" y="290751"/>
                </a:lnTo>
                <a:lnTo>
                  <a:pt x="597449" y="244572"/>
                </a:lnTo>
                <a:lnTo>
                  <a:pt x="585220" y="200785"/>
                </a:lnTo>
                <a:lnTo>
                  <a:pt x="567035" y="160409"/>
                </a:lnTo>
                <a:lnTo>
                  <a:pt x="534812" y="111339"/>
                </a:lnTo>
                <a:lnTo>
                  <a:pt x="493869" y="69921"/>
                </a:lnTo>
                <a:lnTo>
                  <a:pt x="458243" y="44329"/>
                </a:lnTo>
                <a:lnTo>
                  <a:pt x="419214" y="24274"/>
                </a:lnTo>
                <a:lnTo>
                  <a:pt x="377208" y="9767"/>
                </a:lnTo>
                <a:lnTo>
                  <a:pt x="332330" y="1849"/>
                </a:lnTo>
                <a:lnTo>
                  <a:pt x="317335" y="531"/>
                </a:lnTo>
                <a:lnTo>
                  <a:pt x="301702" y="0"/>
                </a:lnTo>
              </a:path>
            </a:pathLst>
          </a:custGeom>
          <a:ln w="19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659020" y="5159185"/>
            <a:ext cx="31369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50" dirty="0">
                <a:latin typeface="Times New Roman"/>
                <a:cs typeface="Times New Roman"/>
              </a:rPr>
              <a:t>p</a:t>
            </a:r>
            <a:r>
              <a:rPr sz="2250" spc="10" dirty="0">
                <a:latin typeface="Times New Roman"/>
                <a:cs typeface="Times New Roman"/>
              </a:rPr>
              <a:t>5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59471" y="4844753"/>
            <a:ext cx="537210" cy="20320"/>
          </a:xfrm>
          <a:custGeom>
            <a:avLst/>
            <a:gdLst/>
            <a:ahLst/>
            <a:cxnLst/>
            <a:rect l="l" t="t" r="r" b="b"/>
            <a:pathLst>
              <a:path w="537210" h="20320">
                <a:moveTo>
                  <a:pt x="0" y="0"/>
                </a:moveTo>
                <a:lnTo>
                  <a:pt x="536707" y="0"/>
                </a:lnTo>
                <a:lnTo>
                  <a:pt x="536707" y="19768"/>
                </a:lnTo>
                <a:lnTo>
                  <a:pt x="0" y="19768"/>
                </a:lnTo>
                <a:lnTo>
                  <a:pt x="0" y="0"/>
                </a:lnTo>
                <a:close/>
              </a:path>
            </a:pathLst>
          </a:custGeom>
          <a:ln w="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86150" y="4825729"/>
            <a:ext cx="58419" cy="58419"/>
          </a:xfrm>
          <a:custGeom>
            <a:avLst/>
            <a:gdLst/>
            <a:ahLst/>
            <a:cxnLst/>
            <a:rect l="l" t="t" r="r" b="b"/>
            <a:pathLst>
              <a:path w="58419" h="58420">
                <a:moveTo>
                  <a:pt x="0" y="0"/>
                </a:moveTo>
                <a:lnTo>
                  <a:pt x="58341" y="28802"/>
                </a:lnTo>
                <a:lnTo>
                  <a:pt x="0" y="57816"/>
                </a:lnTo>
                <a:lnTo>
                  <a:pt x="0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174841" y="5402471"/>
            <a:ext cx="536575" cy="19050"/>
          </a:xfrm>
          <a:custGeom>
            <a:avLst/>
            <a:gdLst/>
            <a:ahLst/>
            <a:cxnLst/>
            <a:rect l="l" t="t" r="r" b="b"/>
            <a:pathLst>
              <a:path w="536575" h="19050">
                <a:moveTo>
                  <a:pt x="0" y="0"/>
                </a:moveTo>
                <a:lnTo>
                  <a:pt x="536513" y="0"/>
                </a:lnTo>
                <a:lnTo>
                  <a:pt x="536513" y="19002"/>
                </a:lnTo>
                <a:lnTo>
                  <a:pt x="0" y="19002"/>
                </a:lnTo>
                <a:lnTo>
                  <a:pt x="0" y="0"/>
                </a:lnTo>
                <a:close/>
              </a:path>
            </a:pathLst>
          </a:custGeom>
          <a:ln w="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01571" y="5383479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4" h="57785">
                <a:moveTo>
                  <a:pt x="0" y="0"/>
                </a:moveTo>
                <a:lnTo>
                  <a:pt x="57533" y="28228"/>
                </a:lnTo>
                <a:lnTo>
                  <a:pt x="0" y="57774"/>
                </a:lnTo>
                <a:lnTo>
                  <a:pt x="0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73590" y="4746338"/>
            <a:ext cx="372745" cy="146685"/>
          </a:xfrm>
          <a:custGeom>
            <a:avLst/>
            <a:gdLst/>
            <a:ahLst/>
            <a:cxnLst/>
            <a:rect l="l" t="t" r="r" b="b"/>
            <a:pathLst>
              <a:path w="372745" h="146685">
                <a:moveTo>
                  <a:pt x="0" y="127961"/>
                </a:moveTo>
                <a:lnTo>
                  <a:pt x="366998" y="0"/>
                </a:lnTo>
                <a:lnTo>
                  <a:pt x="372528" y="17642"/>
                </a:lnTo>
                <a:lnTo>
                  <a:pt x="6380" y="146454"/>
                </a:lnTo>
                <a:lnTo>
                  <a:pt x="0" y="127961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724956" y="4731246"/>
            <a:ext cx="64135" cy="54610"/>
          </a:xfrm>
          <a:custGeom>
            <a:avLst/>
            <a:gdLst/>
            <a:ahLst/>
            <a:cxnLst/>
            <a:rect l="l" t="t" r="r" b="b"/>
            <a:pathLst>
              <a:path w="64135" h="54610">
                <a:moveTo>
                  <a:pt x="0" y="0"/>
                </a:moveTo>
                <a:lnTo>
                  <a:pt x="63913" y="7971"/>
                </a:lnTo>
                <a:lnTo>
                  <a:pt x="19035" y="54096"/>
                </a:lnTo>
                <a:lnTo>
                  <a:pt x="0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23395" y="5116470"/>
            <a:ext cx="285750" cy="181610"/>
          </a:xfrm>
          <a:custGeom>
            <a:avLst/>
            <a:gdLst/>
            <a:ahLst/>
            <a:cxnLst/>
            <a:rect l="l" t="t" r="r" b="b"/>
            <a:pathLst>
              <a:path w="285750" h="181610">
                <a:moveTo>
                  <a:pt x="10315" y="0"/>
                </a:moveTo>
                <a:lnTo>
                  <a:pt x="285431" y="165425"/>
                </a:lnTo>
                <a:lnTo>
                  <a:pt x="275647" y="181527"/>
                </a:lnTo>
                <a:lnTo>
                  <a:pt x="0" y="16622"/>
                </a:lnTo>
                <a:lnTo>
                  <a:pt x="10315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80539" y="5260534"/>
            <a:ext cx="64769" cy="54610"/>
          </a:xfrm>
          <a:custGeom>
            <a:avLst/>
            <a:gdLst/>
            <a:ahLst/>
            <a:cxnLst/>
            <a:rect l="l" t="t" r="r" b="b"/>
            <a:pathLst>
              <a:path w="64770" h="54610">
                <a:moveTo>
                  <a:pt x="29883" y="0"/>
                </a:moveTo>
                <a:lnTo>
                  <a:pt x="64445" y="54351"/>
                </a:lnTo>
                <a:lnTo>
                  <a:pt x="0" y="49069"/>
                </a:lnTo>
                <a:lnTo>
                  <a:pt x="29883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36904" y="5404852"/>
            <a:ext cx="274320" cy="85090"/>
          </a:xfrm>
          <a:custGeom>
            <a:avLst/>
            <a:gdLst/>
            <a:ahLst/>
            <a:cxnLst/>
            <a:rect l="l" t="t" r="r" b="b"/>
            <a:pathLst>
              <a:path w="274320" h="85089">
                <a:moveTo>
                  <a:pt x="0" y="66223"/>
                </a:moveTo>
                <a:lnTo>
                  <a:pt x="269479" y="0"/>
                </a:lnTo>
                <a:lnTo>
                  <a:pt x="274265" y="18460"/>
                </a:lnTo>
                <a:lnTo>
                  <a:pt x="4466" y="84684"/>
                </a:lnTo>
                <a:lnTo>
                  <a:pt x="0" y="66223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492666" y="5387964"/>
            <a:ext cx="62865" cy="56515"/>
          </a:xfrm>
          <a:custGeom>
            <a:avLst/>
            <a:gdLst/>
            <a:ahLst/>
            <a:cxnLst/>
            <a:rect l="l" t="t" r="r" b="b"/>
            <a:pathLst>
              <a:path w="62864" h="56514">
                <a:moveTo>
                  <a:pt x="0" y="0"/>
                </a:moveTo>
                <a:lnTo>
                  <a:pt x="62637" y="14507"/>
                </a:lnTo>
                <a:lnTo>
                  <a:pt x="13718" y="55935"/>
                </a:lnTo>
                <a:lnTo>
                  <a:pt x="0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03534" y="4818168"/>
            <a:ext cx="258766" cy="2290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06245" y="5336248"/>
            <a:ext cx="231775" cy="33655"/>
          </a:xfrm>
          <a:custGeom>
            <a:avLst/>
            <a:gdLst/>
            <a:ahLst/>
            <a:cxnLst/>
            <a:rect l="l" t="t" r="r" b="b"/>
            <a:pathLst>
              <a:path w="231775" h="33654">
                <a:moveTo>
                  <a:pt x="1382" y="0"/>
                </a:moveTo>
                <a:lnTo>
                  <a:pt x="231301" y="14252"/>
                </a:lnTo>
                <a:lnTo>
                  <a:pt x="230238" y="33244"/>
                </a:lnTo>
                <a:lnTo>
                  <a:pt x="0" y="19523"/>
                </a:lnTo>
                <a:lnTo>
                  <a:pt x="1382" y="0"/>
                </a:lnTo>
                <a:close/>
              </a:path>
            </a:pathLst>
          </a:custGeom>
          <a:ln w="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425423" y="5330445"/>
            <a:ext cx="59690" cy="57785"/>
          </a:xfrm>
          <a:custGeom>
            <a:avLst/>
            <a:gdLst/>
            <a:ahLst/>
            <a:cxnLst/>
            <a:rect l="l" t="t" r="r" b="b"/>
            <a:pathLst>
              <a:path w="59689" h="57785">
                <a:moveTo>
                  <a:pt x="3615" y="0"/>
                </a:moveTo>
                <a:lnTo>
                  <a:pt x="59340" y="32192"/>
                </a:lnTo>
                <a:lnTo>
                  <a:pt x="0" y="57519"/>
                </a:lnTo>
                <a:lnTo>
                  <a:pt x="3615" y="0"/>
                </a:lnTo>
                <a:close/>
              </a:path>
            </a:pathLst>
          </a:custGeom>
          <a:ln w="34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2388327" y="4559220"/>
            <a:ext cx="15494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b="1" spc="1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97910" y="5105885"/>
            <a:ext cx="16764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b="1" spc="15" dirty="0"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562066" y="3720730"/>
            <a:ext cx="1217295" cy="1739900"/>
          </a:xfrm>
          <a:custGeom>
            <a:avLst/>
            <a:gdLst/>
            <a:ahLst/>
            <a:cxnLst/>
            <a:rect l="l" t="t" r="r" b="b"/>
            <a:pathLst>
              <a:path w="1217295" h="1739900">
                <a:moveTo>
                  <a:pt x="1217019" y="0"/>
                </a:moveTo>
                <a:lnTo>
                  <a:pt x="900535" y="403759"/>
                </a:lnTo>
                <a:lnTo>
                  <a:pt x="345049" y="633751"/>
                </a:lnTo>
                <a:lnTo>
                  <a:pt x="0" y="1739526"/>
                </a:lnTo>
              </a:path>
            </a:pathLst>
          </a:custGeom>
          <a:ln w="19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631766" y="3711058"/>
            <a:ext cx="1610360" cy="2115820"/>
          </a:xfrm>
          <a:custGeom>
            <a:avLst/>
            <a:gdLst/>
            <a:ahLst/>
            <a:cxnLst/>
            <a:rect l="l" t="t" r="r" b="b"/>
            <a:pathLst>
              <a:path w="1610360" h="2115820">
                <a:moveTo>
                  <a:pt x="0" y="0"/>
                </a:moveTo>
                <a:lnTo>
                  <a:pt x="469409" y="615258"/>
                </a:lnTo>
                <a:lnTo>
                  <a:pt x="1389512" y="999887"/>
                </a:lnTo>
                <a:lnTo>
                  <a:pt x="1609860" y="2115398"/>
                </a:lnTo>
              </a:path>
            </a:pathLst>
          </a:custGeom>
          <a:ln w="190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509774" y="4419122"/>
            <a:ext cx="77597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74345" algn="l"/>
              </a:tabLst>
            </a:pPr>
            <a:r>
              <a:rPr sz="1800" b="1" spc="15" dirty="0">
                <a:latin typeface="Arial"/>
                <a:cs typeface="Arial"/>
              </a:rPr>
              <a:t>c	</a:t>
            </a:r>
            <a:r>
              <a:rPr sz="2250" spc="5" dirty="0">
                <a:latin typeface="Times New Roman"/>
                <a:cs typeface="Times New Roman"/>
              </a:rPr>
              <a:t>p</a:t>
            </a:r>
            <a:r>
              <a:rPr sz="2250" spc="10" dirty="0">
                <a:latin typeface="Times New Roman"/>
                <a:cs typeface="Times New Roman"/>
              </a:rPr>
              <a:t>2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4402865" y="5452041"/>
            <a:ext cx="15494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b="1" spc="15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627254" y="4604284"/>
            <a:ext cx="10287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b="1" spc="5" dirty="0">
                <a:latin typeface="Arial"/>
                <a:cs typeface="Arial"/>
              </a:rPr>
              <a:t>f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304676" y="5375785"/>
            <a:ext cx="167640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b="1" spc="15" dirty="0"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86104" y="3566666"/>
            <a:ext cx="903605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b="1" spc="5" dirty="0">
                <a:latin typeface="Arial"/>
                <a:cs typeface="Arial"/>
              </a:rPr>
              <a:t>level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20" dirty="0">
                <a:latin typeface="Arial"/>
                <a:cs typeface="Arial"/>
              </a:rPr>
              <a:t>n-1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674769" y="5076553"/>
            <a:ext cx="861694" cy="8902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94055">
              <a:lnSpc>
                <a:spcPct val="157600"/>
              </a:lnSpc>
              <a:spcBef>
                <a:spcPts val="95"/>
              </a:spcBef>
            </a:pPr>
            <a:r>
              <a:rPr sz="1800" b="1" spc="10" dirty="0">
                <a:latin typeface="Arial"/>
                <a:cs typeface="Arial"/>
              </a:rPr>
              <a:t>d </a:t>
            </a:r>
            <a:r>
              <a:rPr sz="1800" b="1" spc="5" dirty="0">
                <a:latin typeface="Arial"/>
                <a:cs typeface="Arial"/>
              </a:rPr>
              <a:t> level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15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1350" y="382524"/>
            <a:ext cx="7861934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dirty="0">
                <a:latin typeface="宋体"/>
                <a:cs typeface="宋体"/>
              </a:rPr>
              <a:t>步骤</a:t>
            </a:r>
            <a:r>
              <a:rPr sz="3800" spc="-5" dirty="0"/>
              <a:t>4.</a:t>
            </a:r>
            <a:r>
              <a:rPr sz="3800" spc="-80" dirty="0"/>
              <a:t> </a:t>
            </a:r>
            <a:r>
              <a:rPr sz="3800" dirty="0">
                <a:latin typeface="宋体"/>
                <a:cs typeface="宋体"/>
              </a:rPr>
              <a:t>功能分解产生</a:t>
            </a:r>
            <a:r>
              <a:rPr sz="3800" spc="-5" dirty="0"/>
              <a:t>N</a:t>
            </a:r>
            <a:r>
              <a:rPr sz="3800" dirty="0">
                <a:latin typeface="宋体"/>
                <a:cs typeface="宋体"/>
              </a:rPr>
              <a:t>层图</a:t>
            </a:r>
            <a:r>
              <a:rPr sz="3800" spc="-5" dirty="0"/>
              <a:t>(</a:t>
            </a:r>
            <a:r>
              <a:rPr sz="3800" dirty="0">
                <a:latin typeface="宋体"/>
                <a:cs typeface="宋体"/>
              </a:rPr>
              <a:t>终止判定</a:t>
            </a:r>
            <a:r>
              <a:rPr sz="3800" dirty="0"/>
              <a:t>)</a:t>
            </a:r>
            <a:endParaRPr sz="38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820"/>
            <a:ext cx="8312150" cy="386524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marR="354330" indent="-342900">
              <a:lnSpc>
                <a:spcPts val="2590"/>
              </a:lnSpc>
              <a:spcBef>
                <a:spcPts val="62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在分解产生的子图为下述情景之一时，可以判定其为 </a:t>
            </a:r>
            <a:r>
              <a:rPr sz="2600" dirty="0">
                <a:solidFill>
                  <a:srgbClr val="009257"/>
                </a:solidFill>
                <a:latin typeface="宋体"/>
                <a:cs typeface="宋体"/>
              </a:rPr>
              <a:t>原始</a:t>
            </a:r>
            <a:r>
              <a:rPr sz="2600" dirty="0">
                <a:solidFill>
                  <a:srgbClr val="009257"/>
                </a:solidFill>
                <a:latin typeface="Calibri"/>
                <a:cs typeface="Calibri"/>
              </a:rPr>
              <a:t>DFD</a:t>
            </a:r>
            <a:r>
              <a:rPr sz="2600" dirty="0">
                <a:solidFill>
                  <a:srgbClr val="009257"/>
                </a:solidFill>
                <a:latin typeface="宋体"/>
                <a:cs typeface="宋体"/>
              </a:rPr>
              <a:t>图</a:t>
            </a:r>
            <a:r>
              <a:rPr sz="2600" dirty="0">
                <a:latin typeface="宋体"/>
                <a:cs typeface="宋体"/>
              </a:rPr>
              <a:t>，此时应该停止持续的功能分解活动：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8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所有过程都已经被简化为</a:t>
            </a:r>
            <a:r>
              <a:rPr sz="3225" b="1" spc="112" baseline="1291" dirty="0">
                <a:solidFill>
                  <a:srgbClr val="C00000"/>
                </a:solidFill>
                <a:latin typeface="宋体"/>
                <a:cs typeface="宋体"/>
              </a:rPr>
              <a:t>一个选择、计算或者数据库操作</a:t>
            </a:r>
            <a:r>
              <a:rPr sz="2200" dirty="0">
                <a:latin typeface="宋体"/>
                <a:cs typeface="宋体"/>
              </a:rPr>
              <a:t>；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6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所有数据存储都仅仅表示了</a:t>
            </a:r>
            <a:r>
              <a:rPr sz="3225" b="1" spc="112" baseline="1291" dirty="0">
                <a:solidFill>
                  <a:srgbClr val="C00000"/>
                </a:solidFill>
                <a:latin typeface="宋体"/>
                <a:cs typeface="宋体"/>
              </a:rPr>
              <a:t>一个单独的数据实体</a:t>
            </a:r>
            <a:r>
              <a:rPr sz="2200" dirty="0">
                <a:latin typeface="宋体"/>
                <a:cs typeface="宋体"/>
              </a:rPr>
              <a:t>；</a:t>
            </a:r>
            <a:endParaRPr sz="2200">
              <a:latin typeface="宋体"/>
              <a:cs typeface="宋体"/>
            </a:endParaRPr>
          </a:p>
          <a:p>
            <a:pPr marL="755650" marR="285115" lvl="1" indent="-285750">
              <a:lnSpc>
                <a:spcPts val="2210"/>
              </a:lnSpc>
              <a:spcBef>
                <a:spcPts val="88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用户已经不关心比子图更为细节的内容，或者子图的描述已 经详细的足以支持后续的开发活动；</a:t>
            </a:r>
            <a:endParaRPr sz="2200">
              <a:latin typeface="宋体"/>
              <a:cs typeface="宋体"/>
            </a:endParaRPr>
          </a:p>
          <a:p>
            <a:pPr marL="755650" marR="285115" lvl="1" indent="-285750">
              <a:lnSpc>
                <a:spcPts val="2210"/>
              </a:lnSpc>
              <a:spcBef>
                <a:spcPts val="79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每一个数据流都已经不需要进行更详细的切分，以展示对不 同数据的不同处理方式；</a:t>
            </a:r>
            <a:endParaRPr sz="2200">
              <a:latin typeface="宋体"/>
              <a:cs typeface="宋体"/>
            </a:endParaRPr>
          </a:p>
          <a:p>
            <a:pPr marL="755650" marR="136525" lvl="1" indent="-285750">
              <a:lnSpc>
                <a:spcPts val="2300"/>
              </a:lnSpc>
              <a:spcBef>
                <a:spcPts val="71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每一个业务表单、事务、计算机的屏幕显示</a:t>
            </a:r>
            <a:r>
              <a:rPr sz="2200" spc="-5" dirty="0">
                <a:latin typeface="宋体"/>
                <a:cs typeface="宋体"/>
              </a:rPr>
              <a:t>（</a:t>
            </a:r>
            <a:r>
              <a:rPr sz="2200" spc="-5" dirty="0">
                <a:latin typeface="Calibri"/>
                <a:cs typeface="Calibri"/>
              </a:rPr>
              <a:t>computer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on-  line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display</a:t>
            </a:r>
            <a:r>
              <a:rPr sz="2200" spc="-5" dirty="0">
                <a:latin typeface="宋体"/>
                <a:cs typeface="宋体"/>
              </a:rPr>
              <a:t>）</a:t>
            </a:r>
            <a:r>
              <a:rPr sz="2200" dirty="0">
                <a:latin typeface="宋体"/>
                <a:cs typeface="宋体"/>
              </a:rPr>
              <a:t>和业务报表都已经被表示为一个单独的数据流；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22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系统的每一个最低层菜单选项都能在子图中找到独立的过程。</a:t>
            </a:r>
            <a:endParaRPr sz="2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8731" y="336803"/>
            <a:ext cx="404685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2.2.5.</a:t>
            </a:r>
            <a:r>
              <a:rPr spc="-70" dirty="0"/>
              <a:t> </a:t>
            </a:r>
            <a:r>
              <a:rPr dirty="0"/>
              <a:t>DFD</a:t>
            </a:r>
            <a:r>
              <a:rPr dirty="0">
                <a:latin typeface="宋体"/>
                <a:cs typeface="宋体"/>
              </a:rPr>
              <a:t>的验证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6704330" cy="38271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验证</a:t>
            </a:r>
            <a:r>
              <a:rPr sz="3200" dirty="0">
                <a:latin typeface="Calibri"/>
                <a:cs typeface="Calibri"/>
              </a:rPr>
              <a:t>DFD</a:t>
            </a:r>
            <a:r>
              <a:rPr sz="3200" dirty="0">
                <a:latin typeface="宋体"/>
                <a:cs typeface="宋体"/>
              </a:rPr>
              <a:t>的语法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确保</a:t>
            </a:r>
            <a:r>
              <a:rPr sz="2800" dirty="0">
                <a:latin typeface="Calibri"/>
                <a:cs typeface="Calibri"/>
              </a:rPr>
              <a:t>DFD</a:t>
            </a:r>
            <a:r>
              <a:rPr sz="2800" dirty="0">
                <a:latin typeface="宋体"/>
                <a:cs typeface="宋体"/>
              </a:rPr>
              <a:t>中不会发生语法错误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验证</a:t>
            </a:r>
            <a:r>
              <a:rPr sz="3200" dirty="0">
                <a:latin typeface="Calibri"/>
                <a:cs typeface="Calibri"/>
              </a:rPr>
              <a:t>DFD</a:t>
            </a:r>
            <a:r>
              <a:rPr sz="3200" dirty="0">
                <a:latin typeface="宋体"/>
                <a:cs typeface="宋体"/>
              </a:rPr>
              <a:t>的结构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验证</a:t>
            </a:r>
            <a:r>
              <a:rPr sz="2800" dirty="0">
                <a:latin typeface="Calibri"/>
                <a:cs typeface="Calibri"/>
              </a:rPr>
              <a:t>DFD</a:t>
            </a:r>
            <a:r>
              <a:rPr sz="2800" dirty="0">
                <a:latin typeface="宋体"/>
                <a:cs typeface="宋体"/>
              </a:rPr>
              <a:t>层次结构之间的一致性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7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验证</a:t>
            </a:r>
            <a:r>
              <a:rPr sz="2800" dirty="0">
                <a:latin typeface="Calibri"/>
                <a:cs typeface="Calibri"/>
              </a:rPr>
              <a:t>DFD</a:t>
            </a:r>
            <a:r>
              <a:rPr sz="2800" dirty="0">
                <a:latin typeface="宋体"/>
                <a:cs typeface="宋体"/>
              </a:rPr>
              <a:t>层次结构说明的完备性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验证</a:t>
            </a:r>
            <a:r>
              <a:rPr sz="3200" dirty="0">
                <a:latin typeface="Calibri"/>
                <a:cs typeface="Calibri"/>
              </a:rPr>
              <a:t>DFD</a:t>
            </a:r>
            <a:r>
              <a:rPr sz="3200" dirty="0">
                <a:latin typeface="宋体"/>
                <a:cs typeface="宋体"/>
              </a:rPr>
              <a:t>的语义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确保</a:t>
            </a:r>
            <a:r>
              <a:rPr sz="2800" dirty="0">
                <a:latin typeface="Calibri"/>
                <a:cs typeface="Calibri"/>
              </a:rPr>
              <a:t>DFD</a:t>
            </a:r>
            <a:r>
              <a:rPr sz="2800" dirty="0">
                <a:latin typeface="宋体"/>
                <a:cs typeface="宋体"/>
              </a:rPr>
              <a:t>所说明内容的正确性和准确性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74936" y="281939"/>
            <a:ext cx="37941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2.3.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微规格说明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7515" y="1263396"/>
            <a:ext cx="4308475" cy="324358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目的：细化原始</a:t>
            </a:r>
            <a:r>
              <a:rPr sz="3200" spc="5" dirty="0">
                <a:latin typeface="Calibri"/>
                <a:cs typeface="Calibri"/>
              </a:rPr>
              <a:t>DF</a:t>
            </a:r>
            <a:r>
              <a:rPr sz="3200" dirty="0">
                <a:latin typeface="Calibri"/>
                <a:cs typeface="Calibri"/>
              </a:rPr>
              <a:t>D</a:t>
            </a:r>
            <a:r>
              <a:rPr sz="3200" dirty="0">
                <a:latin typeface="宋体"/>
                <a:cs typeface="宋体"/>
              </a:rPr>
              <a:t>图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方式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结构化英语</a:t>
            </a:r>
            <a:r>
              <a:rPr sz="2800" spc="5" dirty="0">
                <a:latin typeface="Calibri"/>
                <a:cs typeface="Calibri"/>
              </a:rPr>
              <a:t>/</a:t>
            </a:r>
            <a:r>
              <a:rPr sz="2800" dirty="0">
                <a:latin typeface="宋体"/>
                <a:cs typeface="宋体"/>
              </a:rPr>
              <a:t>伪码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行为图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7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决策表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决策树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900" y="257556"/>
            <a:ext cx="5410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2.3.1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结构化英语</a:t>
            </a:r>
            <a:r>
              <a:rPr dirty="0"/>
              <a:t>/</a:t>
            </a:r>
            <a:r>
              <a:rPr dirty="0">
                <a:latin typeface="宋体"/>
                <a:cs typeface="宋体"/>
              </a:rPr>
              <a:t>伪码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6428"/>
            <a:ext cx="7977505" cy="288798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55600" marR="69850" indent="-342900">
              <a:lnSpc>
                <a:spcPts val="2400"/>
              </a:lnSpc>
              <a:spcBef>
                <a:spcPts val="380"/>
              </a:spcBef>
              <a:buClr>
                <a:srgbClr val="00663C"/>
              </a:buClr>
              <a:buSzPct val="8181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dirty="0">
                <a:latin typeface="宋体"/>
                <a:cs typeface="宋体"/>
              </a:rPr>
              <a:t>叙述上采用了结构化程序语言的三种控制结构：顺序、条件决 策和循环；</a:t>
            </a:r>
            <a:endParaRPr sz="2200">
              <a:latin typeface="宋体"/>
              <a:cs typeface="宋体"/>
            </a:endParaRPr>
          </a:p>
          <a:p>
            <a:pPr marL="355600" indent="-342900">
              <a:lnSpc>
                <a:spcPts val="2570"/>
              </a:lnSpc>
              <a:spcBef>
                <a:spcPts val="725"/>
              </a:spcBef>
              <a:buClr>
                <a:srgbClr val="00663C"/>
              </a:buClr>
              <a:buSzPct val="8181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dirty="0">
                <a:latin typeface="宋体"/>
                <a:cs typeface="宋体"/>
              </a:rPr>
              <a:t>使用了一些类似于结构化程序语言关键字的词语来表明叙述的</a:t>
            </a:r>
            <a:endParaRPr sz="2200">
              <a:latin typeface="宋体"/>
              <a:cs typeface="宋体"/>
            </a:endParaRPr>
          </a:p>
          <a:p>
            <a:pPr marL="355600">
              <a:lnSpc>
                <a:spcPts val="2570"/>
              </a:lnSpc>
            </a:pPr>
            <a:r>
              <a:rPr sz="2200" dirty="0">
                <a:latin typeface="宋体"/>
                <a:cs typeface="宋体"/>
              </a:rPr>
              <a:t>逻辑，例如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dirty="0">
                <a:latin typeface="宋体"/>
                <a:cs typeface="宋体"/>
              </a:rPr>
              <a:t>、</a:t>
            </a:r>
            <a:r>
              <a:rPr sz="2200" dirty="0">
                <a:latin typeface="Calibri"/>
                <a:cs typeface="Calibri"/>
              </a:rPr>
              <a:t>THEN</a:t>
            </a:r>
            <a:r>
              <a:rPr sz="2200" dirty="0">
                <a:latin typeface="宋体"/>
                <a:cs typeface="宋体"/>
              </a:rPr>
              <a:t>、</a:t>
            </a:r>
            <a:r>
              <a:rPr sz="2200" spc="-5" dirty="0">
                <a:latin typeface="Calibri"/>
                <a:cs typeface="Calibri"/>
              </a:rPr>
              <a:t>ELSE</a:t>
            </a:r>
            <a:r>
              <a:rPr sz="2200" dirty="0">
                <a:latin typeface="宋体"/>
                <a:cs typeface="宋体"/>
              </a:rPr>
              <a:t>、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dirty="0">
                <a:latin typeface="宋体"/>
                <a:cs typeface="宋体"/>
              </a:rPr>
              <a:t>、</a:t>
            </a:r>
            <a:r>
              <a:rPr sz="2200" spc="-5" dirty="0">
                <a:latin typeface="Calibri"/>
                <a:cs typeface="Calibri"/>
              </a:rPr>
              <a:t>DO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WHILE</a:t>
            </a:r>
            <a:r>
              <a:rPr sz="2200" dirty="0">
                <a:latin typeface="宋体"/>
                <a:cs typeface="宋体"/>
              </a:rPr>
              <a:t>、</a:t>
            </a:r>
            <a:r>
              <a:rPr sz="2200" spc="-5" dirty="0">
                <a:latin typeface="Calibri"/>
                <a:cs typeface="Calibri"/>
              </a:rPr>
              <a:t>DO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UNTIL</a:t>
            </a:r>
            <a:r>
              <a:rPr sz="2200" dirty="0">
                <a:latin typeface="宋体"/>
                <a:cs typeface="宋体"/>
              </a:rPr>
              <a:t>等等；</a:t>
            </a:r>
            <a:endParaRPr sz="2200">
              <a:latin typeface="宋体"/>
              <a:cs typeface="宋体"/>
            </a:endParaRPr>
          </a:p>
          <a:p>
            <a:pPr marL="355600" marR="69850" indent="-342900">
              <a:lnSpc>
                <a:spcPts val="2500"/>
              </a:lnSpc>
              <a:spcBef>
                <a:spcPts val="850"/>
              </a:spcBef>
              <a:buClr>
                <a:srgbClr val="00663C"/>
              </a:buClr>
              <a:buSzPct val="8181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dirty="0">
                <a:latin typeface="宋体"/>
                <a:cs typeface="宋体"/>
              </a:rPr>
              <a:t>在格式上，使用和结构化程序语言相同的缩进方式来表明叙述 的结构。</a:t>
            </a:r>
            <a:endParaRPr sz="2200">
              <a:latin typeface="宋体"/>
              <a:cs typeface="宋体"/>
            </a:endParaRPr>
          </a:p>
          <a:p>
            <a:pPr marL="355600" marR="6350" indent="-342900">
              <a:lnSpc>
                <a:spcPct val="101800"/>
              </a:lnSpc>
              <a:spcBef>
                <a:spcPts val="370"/>
              </a:spcBef>
              <a:buClr>
                <a:srgbClr val="00663C"/>
              </a:buClr>
              <a:buSzPct val="8181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200" dirty="0">
                <a:latin typeface="宋体"/>
                <a:cs typeface="宋体"/>
              </a:rPr>
              <a:t>简短语句</a:t>
            </a:r>
            <a:r>
              <a:rPr sz="2200" spc="-700" dirty="0">
                <a:latin typeface="宋体"/>
                <a:cs typeface="宋体"/>
              </a:rPr>
              <a:t> </a:t>
            </a:r>
            <a:r>
              <a:rPr sz="2200" dirty="0">
                <a:latin typeface="宋体"/>
                <a:cs typeface="宋体"/>
              </a:rPr>
              <a:t>，使用名词和动词，避免使用容易产生歧义的形容词 和副词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0323" y="4961234"/>
            <a:ext cx="1273175" cy="5937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宋体"/>
                <a:cs typeface="宋体"/>
              </a:rPr>
              <a:t>自然语言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94451" y="4961234"/>
            <a:ext cx="1454150" cy="5937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154940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宋体"/>
                <a:cs typeface="宋体"/>
              </a:rPr>
              <a:t>结构化英语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19813" y="4961235"/>
            <a:ext cx="1273175" cy="5937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407670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宋体"/>
                <a:cs typeface="宋体"/>
              </a:rPr>
              <a:t>伪码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3940" y="4961234"/>
            <a:ext cx="1273175" cy="5937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179070">
              <a:lnSpc>
                <a:spcPct val="100000"/>
              </a:lnSpc>
              <a:spcBef>
                <a:spcPts val="1160"/>
              </a:spcBef>
            </a:pPr>
            <a:r>
              <a:rPr sz="1800" dirty="0">
                <a:latin typeface="宋体"/>
                <a:cs typeface="宋体"/>
              </a:rPr>
              <a:t>程序语言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23070" y="5219698"/>
            <a:ext cx="671830" cy="76200"/>
          </a:xfrm>
          <a:custGeom>
            <a:avLst/>
            <a:gdLst/>
            <a:ahLst/>
            <a:cxnLst/>
            <a:rect l="l" t="t" r="r" b="b"/>
            <a:pathLst>
              <a:path w="671830" h="76200">
                <a:moveTo>
                  <a:pt x="595181" y="42862"/>
                </a:moveTo>
                <a:lnTo>
                  <a:pt x="595181" y="76199"/>
                </a:lnTo>
                <a:lnTo>
                  <a:pt x="661856" y="42862"/>
                </a:lnTo>
                <a:lnTo>
                  <a:pt x="595181" y="42862"/>
                </a:lnTo>
                <a:close/>
              </a:path>
              <a:path w="671830" h="76200">
                <a:moveTo>
                  <a:pt x="595181" y="33337"/>
                </a:moveTo>
                <a:lnTo>
                  <a:pt x="595181" y="42862"/>
                </a:lnTo>
                <a:lnTo>
                  <a:pt x="607881" y="42862"/>
                </a:lnTo>
                <a:lnTo>
                  <a:pt x="607881" y="33337"/>
                </a:lnTo>
                <a:lnTo>
                  <a:pt x="595181" y="33337"/>
                </a:lnTo>
                <a:close/>
              </a:path>
              <a:path w="671830" h="76200">
                <a:moveTo>
                  <a:pt x="595181" y="0"/>
                </a:moveTo>
                <a:lnTo>
                  <a:pt x="595181" y="33337"/>
                </a:lnTo>
                <a:lnTo>
                  <a:pt x="607881" y="33337"/>
                </a:lnTo>
                <a:lnTo>
                  <a:pt x="607881" y="42862"/>
                </a:lnTo>
                <a:lnTo>
                  <a:pt x="661859" y="42861"/>
                </a:lnTo>
                <a:lnTo>
                  <a:pt x="671381" y="38099"/>
                </a:lnTo>
                <a:lnTo>
                  <a:pt x="595181" y="0"/>
                </a:lnTo>
                <a:close/>
              </a:path>
              <a:path w="671830" h="76200">
                <a:moveTo>
                  <a:pt x="0" y="33336"/>
                </a:moveTo>
                <a:lnTo>
                  <a:pt x="0" y="42861"/>
                </a:lnTo>
                <a:lnTo>
                  <a:pt x="595181" y="42862"/>
                </a:lnTo>
                <a:lnTo>
                  <a:pt x="595181" y="33337"/>
                </a:lnTo>
                <a:lnTo>
                  <a:pt x="0" y="3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448430" y="5219698"/>
            <a:ext cx="671830" cy="76200"/>
          </a:xfrm>
          <a:custGeom>
            <a:avLst/>
            <a:gdLst/>
            <a:ahLst/>
            <a:cxnLst/>
            <a:rect l="l" t="t" r="r" b="b"/>
            <a:pathLst>
              <a:path w="671829" h="76200">
                <a:moveTo>
                  <a:pt x="595182" y="42862"/>
                </a:moveTo>
                <a:lnTo>
                  <a:pt x="595182" y="76199"/>
                </a:lnTo>
                <a:lnTo>
                  <a:pt x="661857" y="42862"/>
                </a:lnTo>
                <a:lnTo>
                  <a:pt x="595182" y="42862"/>
                </a:lnTo>
                <a:close/>
              </a:path>
              <a:path w="671829" h="76200">
                <a:moveTo>
                  <a:pt x="595182" y="33337"/>
                </a:moveTo>
                <a:lnTo>
                  <a:pt x="595182" y="42862"/>
                </a:lnTo>
                <a:lnTo>
                  <a:pt x="607882" y="42862"/>
                </a:lnTo>
                <a:lnTo>
                  <a:pt x="607882" y="33337"/>
                </a:lnTo>
                <a:lnTo>
                  <a:pt x="595182" y="33337"/>
                </a:lnTo>
                <a:close/>
              </a:path>
              <a:path w="671829" h="76200">
                <a:moveTo>
                  <a:pt x="595182" y="0"/>
                </a:moveTo>
                <a:lnTo>
                  <a:pt x="595182" y="33337"/>
                </a:lnTo>
                <a:lnTo>
                  <a:pt x="607882" y="33337"/>
                </a:lnTo>
                <a:lnTo>
                  <a:pt x="607882" y="42862"/>
                </a:lnTo>
                <a:lnTo>
                  <a:pt x="661860" y="42861"/>
                </a:lnTo>
                <a:lnTo>
                  <a:pt x="671382" y="38099"/>
                </a:lnTo>
                <a:lnTo>
                  <a:pt x="595182" y="0"/>
                </a:lnTo>
                <a:close/>
              </a:path>
              <a:path w="671829" h="76200">
                <a:moveTo>
                  <a:pt x="0" y="33336"/>
                </a:moveTo>
                <a:lnTo>
                  <a:pt x="0" y="42861"/>
                </a:lnTo>
                <a:lnTo>
                  <a:pt x="595182" y="42862"/>
                </a:lnTo>
                <a:lnTo>
                  <a:pt x="595182" y="33337"/>
                </a:lnTo>
                <a:lnTo>
                  <a:pt x="0" y="3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392559" y="5219697"/>
            <a:ext cx="671830" cy="76200"/>
          </a:xfrm>
          <a:custGeom>
            <a:avLst/>
            <a:gdLst/>
            <a:ahLst/>
            <a:cxnLst/>
            <a:rect l="l" t="t" r="r" b="b"/>
            <a:pathLst>
              <a:path w="671829" h="76200">
                <a:moveTo>
                  <a:pt x="661856" y="33337"/>
                </a:moveTo>
                <a:lnTo>
                  <a:pt x="607881" y="33337"/>
                </a:lnTo>
                <a:lnTo>
                  <a:pt x="607881" y="42862"/>
                </a:lnTo>
                <a:lnTo>
                  <a:pt x="595181" y="42862"/>
                </a:lnTo>
                <a:lnTo>
                  <a:pt x="595181" y="76200"/>
                </a:lnTo>
                <a:lnTo>
                  <a:pt x="671381" y="38100"/>
                </a:lnTo>
                <a:lnTo>
                  <a:pt x="661856" y="33337"/>
                </a:lnTo>
                <a:close/>
              </a:path>
              <a:path w="671829" h="76200">
                <a:moveTo>
                  <a:pt x="595181" y="33337"/>
                </a:moveTo>
                <a:lnTo>
                  <a:pt x="0" y="33338"/>
                </a:lnTo>
                <a:lnTo>
                  <a:pt x="0" y="42863"/>
                </a:lnTo>
                <a:lnTo>
                  <a:pt x="595181" y="42862"/>
                </a:lnTo>
                <a:lnTo>
                  <a:pt x="595181" y="33337"/>
                </a:lnTo>
                <a:close/>
              </a:path>
              <a:path w="671829" h="76200">
                <a:moveTo>
                  <a:pt x="607881" y="33337"/>
                </a:moveTo>
                <a:lnTo>
                  <a:pt x="595181" y="33337"/>
                </a:lnTo>
                <a:lnTo>
                  <a:pt x="595181" y="42862"/>
                </a:lnTo>
                <a:lnTo>
                  <a:pt x="607881" y="42862"/>
                </a:lnTo>
                <a:lnTo>
                  <a:pt x="607881" y="33337"/>
                </a:lnTo>
                <a:close/>
              </a:path>
              <a:path w="671829" h="76200">
                <a:moveTo>
                  <a:pt x="595181" y="0"/>
                </a:moveTo>
                <a:lnTo>
                  <a:pt x="595181" y="33337"/>
                </a:lnTo>
                <a:lnTo>
                  <a:pt x="661856" y="33337"/>
                </a:lnTo>
                <a:lnTo>
                  <a:pt x="5951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36662" y="5754116"/>
            <a:ext cx="2821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图：</a:t>
            </a:r>
            <a:r>
              <a:rPr sz="1800" spc="-570" dirty="0">
                <a:latin typeface="宋体"/>
                <a:cs typeface="宋体"/>
              </a:rPr>
              <a:t> </a:t>
            </a:r>
            <a:r>
              <a:rPr sz="1800" dirty="0">
                <a:latin typeface="宋体"/>
                <a:cs typeface="宋体"/>
              </a:rPr>
              <a:t>结构化英语的语言地位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900" y="236219"/>
            <a:ext cx="5410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2.3.1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结构化英语</a:t>
            </a:r>
            <a:r>
              <a:rPr dirty="0"/>
              <a:t>/</a:t>
            </a:r>
            <a:r>
              <a:rPr dirty="0">
                <a:latin typeface="宋体"/>
                <a:cs typeface="宋体"/>
              </a:rPr>
              <a:t>伪码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1181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示例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43545" y="1377959"/>
            <a:ext cx="5574030" cy="4639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950">
              <a:lnSpc>
                <a:spcPct val="1442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READ </a:t>
            </a:r>
            <a:r>
              <a:rPr sz="1400" spc="-5" dirty="0">
                <a:latin typeface="Times New Roman"/>
                <a:cs typeface="Times New Roman"/>
              </a:rPr>
              <a:t>customer account-type and </a:t>
            </a:r>
            <a:r>
              <a:rPr sz="1400" spc="-10" dirty="0">
                <a:latin typeface="Times New Roman"/>
                <a:cs typeface="Times New Roman"/>
              </a:rPr>
              <a:t>summary </a:t>
            </a:r>
            <a:r>
              <a:rPr sz="1400" spc="10" dirty="0">
                <a:latin typeface="Times New Roman"/>
                <a:cs typeface="Times New Roman"/>
              </a:rPr>
              <a:t>of </a:t>
            </a:r>
            <a:r>
              <a:rPr sz="1400" spc="-10" dirty="0">
                <a:latin typeface="Times New Roman"/>
                <a:cs typeface="Times New Roman"/>
              </a:rPr>
              <a:t>customer </a:t>
            </a:r>
            <a:r>
              <a:rPr sz="1400" spc="-5" dirty="0">
                <a:latin typeface="Times New Roman"/>
                <a:cs typeface="Times New Roman"/>
              </a:rPr>
              <a:t>monthly balances  SELECT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CASE</a:t>
            </a:r>
            <a:endParaRPr sz="1400">
              <a:latin typeface="Times New Roman"/>
              <a:cs typeface="Times New Roman"/>
            </a:endParaRPr>
          </a:p>
          <a:p>
            <a:pPr marL="665480" marR="3019425" indent="-414655">
              <a:lnSpc>
                <a:spcPct val="144100"/>
              </a:lnSpc>
            </a:pPr>
            <a:r>
              <a:rPr sz="1400" spc="-10" dirty="0">
                <a:latin typeface="Times New Roman"/>
                <a:cs typeface="Times New Roman"/>
              </a:rPr>
              <a:t>CASE </a:t>
            </a:r>
            <a:r>
              <a:rPr sz="1400" spc="-5" dirty="0">
                <a:latin typeface="Times New Roman"/>
                <a:cs typeface="Times New Roman"/>
              </a:rPr>
              <a:t>1 (account-type is </a:t>
            </a:r>
            <a:r>
              <a:rPr sz="1400" spc="-10" dirty="0">
                <a:latin typeface="Times New Roman"/>
                <a:cs typeface="Times New Roman"/>
              </a:rPr>
              <a:t>NOW)  BEGIN </a:t>
            </a:r>
            <a:r>
              <a:rPr sz="1400" spc="-5" dirty="0">
                <a:latin typeface="Times New Roman"/>
                <a:cs typeface="Times New Roman"/>
              </a:rPr>
              <a:t>IF</a:t>
            </a:r>
            <a:endParaRPr sz="1400">
              <a:latin typeface="Times New Roman"/>
              <a:cs typeface="Times New Roman"/>
            </a:endParaRPr>
          </a:p>
          <a:p>
            <a:pPr marL="1494155" marR="1584325" indent="-414655">
              <a:lnSpc>
                <a:spcPct val="144100"/>
              </a:lnSpc>
              <a:spcBef>
                <a:spcPts val="5"/>
              </a:spcBef>
            </a:pPr>
            <a:r>
              <a:rPr sz="1400" spc="-5" dirty="0">
                <a:latin typeface="Times New Roman"/>
                <a:cs typeface="Times New Roman"/>
              </a:rPr>
              <a:t>IF daily-balance &lt; </a:t>
            </a:r>
            <a:r>
              <a:rPr sz="1400" dirty="0">
                <a:latin typeface="Times New Roman"/>
                <a:cs typeface="Times New Roman"/>
              </a:rPr>
              <a:t>300 </a:t>
            </a:r>
            <a:r>
              <a:rPr sz="1400" spc="-1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any given day  </a:t>
            </a:r>
            <a:r>
              <a:rPr sz="1400" spc="-10" dirty="0">
                <a:latin typeface="Times New Roman"/>
                <a:cs typeface="Times New Roman"/>
              </a:rPr>
              <a:t>THEN set </a:t>
            </a:r>
            <a:r>
              <a:rPr sz="1400" spc="-5" dirty="0">
                <a:latin typeface="Times New Roman"/>
                <a:cs typeface="Times New Roman"/>
              </a:rPr>
              <a:t>service-charge to </a:t>
            </a:r>
            <a:r>
              <a:rPr sz="1400" dirty="0">
                <a:latin typeface="Times New Roman"/>
                <a:cs typeface="Times New Roman"/>
              </a:rPr>
              <a:t>$5  </a:t>
            </a:r>
            <a:r>
              <a:rPr sz="1400" spc="-10" dirty="0">
                <a:latin typeface="Times New Roman"/>
                <a:cs typeface="Times New Roman"/>
              </a:rPr>
              <a:t>ELSE set service-charge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$0</a:t>
            </a:r>
            <a:endParaRPr sz="1400">
              <a:latin typeface="Times New Roman"/>
              <a:cs typeface="Times New Roman"/>
            </a:endParaRPr>
          </a:p>
          <a:p>
            <a:pPr marL="665480">
              <a:lnSpc>
                <a:spcPct val="100000"/>
              </a:lnSpc>
              <a:spcBef>
                <a:spcPts val="740"/>
              </a:spcBef>
            </a:pPr>
            <a:r>
              <a:rPr sz="1400" spc="-5" dirty="0">
                <a:latin typeface="Times New Roman"/>
                <a:cs typeface="Times New Roman"/>
              </a:rPr>
              <a:t>END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IF</a:t>
            </a:r>
            <a:endParaRPr sz="1400">
              <a:latin typeface="Times New Roman"/>
              <a:cs typeface="Times New Roman"/>
            </a:endParaRPr>
          </a:p>
          <a:p>
            <a:pPr marL="665480" marR="2605405" indent="-414655">
              <a:lnSpc>
                <a:spcPct val="144100"/>
              </a:lnSpc>
            </a:pPr>
            <a:r>
              <a:rPr sz="1400" spc="-10" dirty="0">
                <a:latin typeface="Times New Roman"/>
                <a:cs typeface="Times New Roman"/>
              </a:rPr>
              <a:t>CASE </a:t>
            </a:r>
            <a:r>
              <a:rPr sz="1400" spc="-5" dirty="0">
                <a:latin typeface="Times New Roman"/>
                <a:cs typeface="Times New Roman"/>
              </a:rPr>
              <a:t>2 (account-type is </a:t>
            </a:r>
            <a:r>
              <a:rPr sz="1400" spc="-10" dirty="0">
                <a:latin typeface="Times New Roman"/>
                <a:cs typeface="Times New Roman"/>
              </a:rPr>
              <a:t>REGULAR)  BEGIN </a:t>
            </a:r>
            <a:r>
              <a:rPr sz="1400" spc="-5" dirty="0">
                <a:latin typeface="Times New Roman"/>
                <a:cs typeface="Times New Roman"/>
              </a:rPr>
              <a:t>IF</a:t>
            </a:r>
            <a:endParaRPr sz="1400">
              <a:latin typeface="Times New Roman"/>
              <a:cs typeface="Times New Roman"/>
            </a:endParaRPr>
          </a:p>
          <a:p>
            <a:pPr marL="1079500">
              <a:lnSpc>
                <a:spcPct val="100000"/>
              </a:lnSpc>
              <a:spcBef>
                <a:spcPts val="745"/>
              </a:spcBef>
            </a:pPr>
            <a:r>
              <a:rPr sz="1400" spc="-5" dirty="0">
                <a:latin typeface="Times New Roman"/>
                <a:cs typeface="Times New Roman"/>
              </a:rPr>
              <a:t>IF daily-balance &lt; </a:t>
            </a:r>
            <a:r>
              <a:rPr sz="1400" dirty="0">
                <a:latin typeface="Times New Roman"/>
                <a:cs typeface="Times New Roman"/>
              </a:rPr>
              <a:t>100 </a:t>
            </a:r>
            <a:r>
              <a:rPr sz="1400" spc="-10" dirty="0">
                <a:latin typeface="Times New Roman"/>
                <a:cs typeface="Times New Roman"/>
              </a:rPr>
              <a:t>for </a:t>
            </a:r>
            <a:r>
              <a:rPr sz="1400" spc="-5" dirty="0">
                <a:latin typeface="Times New Roman"/>
                <a:cs typeface="Times New Roman"/>
              </a:rPr>
              <a:t>any given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day</a:t>
            </a:r>
            <a:endParaRPr sz="1400">
              <a:latin typeface="Times New Roman"/>
              <a:cs typeface="Times New Roman"/>
            </a:endParaRPr>
          </a:p>
          <a:p>
            <a:pPr marL="1079500" marR="5080" indent="414020">
              <a:lnSpc>
                <a:spcPct val="144100"/>
              </a:lnSpc>
            </a:pPr>
            <a:r>
              <a:rPr sz="1400" spc="-10" dirty="0">
                <a:latin typeface="Times New Roman"/>
                <a:cs typeface="Times New Roman"/>
              </a:rPr>
              <a:t>THEN set </a:t>
            </a:r>
            <a:r>
              <a:rPr sz="1400" spc="-5" dirty="0">
                <a:latin typeface="Times New Roman"/>
                <a:cs typeface="Times New Roman"/>
              </a:rPr>
              <a:t>service-charge to greater </a:t>
            </a:r>
            <a:r>
              <a:rPr sz="1400" dirty="0">
                <a:latin typeface="Times New Roman"/>
                <a:cs typeface="Times New Roman"/>
              </a:rPr>
              <a:t>of $3 or </a:t>
            </a:r>
            <a:r>
              <a:rPr sz="1400" spc="-5" dirty="0">
                <a:latin typeface="Times New Roman"/>
                <a:cs typeface="Times New Roman"/>
              </a:rPr>
              <a:t>$.20 </a:t>
            </a:r>
            <a:r>
              <a:rPr sz="1400" spc="-10" dirty="0">
                <a:latin typeface="Times New Roman"/>
                <a:cs typeface="Times New Roman"/>
              </a:rPr>
              <a:t>times  number-checks</a:t>
            </a:r>
            <a:endParaRPr sz="1400">
              <a:latin typeface="Times New Roman"/>
              <a:cs typeface="Times New Roman"/>
            </a:endParaRPr>
          </a:p>
          <a:p>
            <a:pPr marL="1494155">
              <a:lnSpc>
                <a:spcPct val="100000"/>
              </a:lnSpc>
              <a:spcBef>
                <a:spcPts val="745"/>
              </a:spcBef>
            </a:pPr>
            <a:r>
              <a:rPr sz="1400" spc="-10" dirty="0">
                <a:latin typeface="Times New Roman"/>
                <a:cs typeface="Times New Roman"/>
              </a:rPr>
              <a:t>ELSE set service-charge </a:t>
            </a:r>
            <a:r>
              <a:rPr sz="1400" spc="-5" dirty="0">
                <a:latin typeface="Times New Roman"/>
                <a:cs typeface="Times New Roman"/>
              </a:rPr>
              <a:t>to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$0</a:t>
            </a:r>
            <a:endParaRPr sz="1400">
              <a:latin typeface="Times New Roman"/>
              <a:cs typeface="Times New Roman"/>
            </a:endParaRPr>
          </a:p>
          <a:p>
            <a:pPr marL="665480">
              <a:lnSpc>
                <a:spcPct val="100000"/>
              </a:lnSpc>
              <a:spcBef>
                <a:spcPts val="740"/>
              </a:spcBef>
            </a:pPr>
            <a:r>
              <a:rPr sz="1400" spc="-5" dirty="0">
                <a:latin typeface="Times New Roman"/>
                <a:cs typeface="Times New Roman"/>
              </a:rPr>
              <a:t>END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-5" dirty="0">
                <a:latin typeface="Times New Roman"/>
                <a:cs typeface="Times New Roman"/>
              </a:rPr>
              <a:t>IF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19050" y="6086432"/>
            <a:ext cx="918210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74875" algn="l"/>
                <a:tab pos="9168765" algn="l"/>
              </a:tabLst>
            </a:pPr>
            <a:r>
              <a:rPr sz="1400" u="heavy" spc="-5" dirty="0">
                <a:uFill>
                  <a:solidFill>
                    <a:srgbClr val="00663C"/>
                  </a:solidFill>
                </a:uFill>
                <a:latin typeface="Times New Roman"/>
                <a:cs typeface="Times New Roman"/>
              </a:rPr>
              <a:t> 	END</a:t>
            </a:r>
            <a:r>
              <a:rPr sz="1400" u="heavy" spc="-85" dirty="0">
                <a:uFill>
                  <a:solidFill>
                    <a:srgbClr val="00663C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heavy" spc="-10" dirty="0">
                <a:uFill>
                  <a:solidFill>
                    <a:srgbClr val="00663C"/>
                  </a:solidFill>
                </a:uFill>
                <a:latin typeface="Times New Roman"/>
                <a:cs typeface="Times New Roman"/>
              </a:rPr>
              <a:t>CASE	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91596" y="175259"/>
            <a:ext cx="29591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2.3.2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行为图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68324"/>
            <a:ext cx="7775575" cy="998219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55600" marR="5080" indent="-342900">
              <a:lnSpc>
                <a:spcPts val="3820"/>
              </a:lnSpc>
              <a:spcBef>
                <a:spcPts val="2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结构化英语的一种特殊表达方式</a:t>
            </a:r>
            <a:r>
              <a:rPr sz="3200" spc="-975" dirty="0">
                <a:latin typeface="宋体"/>
                <a:cs typeface="宋体"/>
              </a:rPr>
              <a:t> </a:t>
            </a:r>
            <a:r>
              <a:rPr sz="3200" dirty="0">
                <a:latin typeface="宋体"/>
                <a:cs typeface="宋体"/>
              </a:rPr>
              <a:t>，用特定 的图示来表示过程的逻辑结构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35348" y="2480272"/>
            <a:ext cx="6853845" cy="3419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57450" y="135636"/>
            <a:ext cx="4076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2.3.2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行为图示例</a:t>
            </a:r>
          </a:p>
        </p:txBody>
      </p:sp>
      <p:sp>
        <p:nvSpPr>
          <p:cNvPr id="3" name="object 3"/>
          <p:cNvSpPr/>
          <p:nvPr/>
        </p:nvSpPr>
        <p:spPr>
          <a:xfrm>
            <a:off x="1264753" y="1320594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6617" y="0"/>
                </a:lnTo>
              </a:path>
            </a:pathLst>
          </a:custGeom>
          <a:ln w="19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73720" y="1311500"/>
            <a:ext cx="0" cy="4944745"/>
          </a:xfrm>
          <a:custGeom>
            <a:avLst/>
            <a:gdLst/>
            <a:ahLst/>
            <a:cxnLst/>
            <a:rect l="l" t="t" r="r" b="b"/>
            <a:pathLst>
              <a:path h="4944745">
                <a:moveTo>
                  <a:pt x="0" y="0"/>
                </a:moveTo>
                <a:lnTo>
                  <a:pt x="0" y="4944462"/>
                </a:lnTo>
              </a:path>
            </a:pathLst>
          </a:custGeom>
          <a:ln w="197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14702" y="2368764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96" y="0"/>
                </a:lnTo>
              </a:path>
            </a:pathLst>
          </a:custGeom>
          <a:ln w="19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23661" y="2359666"/>
            <a:ext cx="0" cy="814069"/>
          </a:xfrm>
          <a:custGeom>
            <a:avLst/>
            <a:gdLst/>
            <a:ahLst/>
            <a:cxnLst/>
            <a:rect l="l" t="t" r="r" b="b"/>
            <a:pathLst>
              <a:path h="814069">
                <a:moveTo>
                  <a:pt x="0" y="0"/>
                </a:moveTo>
                <a:lnTo>
                  <a:pt x="0" y="813841"/>
                </a:lnTo>
              </a:path>
            </a:pathLst>
          </a:custGeom>
          <a:ln w="197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14702" y="316443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96" y="0"/>
                </a:lnTo>
              </a:path>
            </a:pathLst>
          </a:custGeom>
          <a:ln w="19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23661" y="3155017"/>
            <a:ext cx="0" cy="541020"/>
          </a:xfrm>
          <a:custGeom>
            <a:avLst/>
            <a:gdLst/>
            <a:ahLst/>
            <a:cxnLst/>
            <a:rect l="l" t="t" r="r" b="b"/>
            <a:pathLst>
              <a:path h="541020">
                <a:moveTo>
                  <a:pt x="0" y="0"/>
                </a:moveTo>
                <a:lnTo>
                  <a:pt x="0" y="540747"/>
                </a:lnTo>
              </a:path>
            </a:pathLst>
          </a:custGeom>
          <a:ln w="197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14702" y="3686547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96" y="0"/>
                </a:lnTo>
              </a:path>
            </a:pathLst>
          </a:custGeom>
          <a:ln w="19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14702" y="3977811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96" y="0"/>
                </a:lnTo>
              </a:path>
            </a:pathLst>
          </a:custGeom>
          <a:ln w="19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14702" y="4036766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96" y="0"/>
                </a:lnTo>
              </a:path>
            </a:pathLst>
          </a:custGeom>
          <a:ln w="19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923661" y="3968800"/>
            <a:ext cx="0" cy="1163955"/>
          </a:xfrm>
          <a:custGeom>
            <a:avLst/>
            <a:gdLst/>
            <a:ahLst/>
            <a:cxnLst/>
            <a:rect l="l" t="t" r="r" b="b"/>
            <a:pathLst>
              <a:path h="1163954">
                <a:moveTo>
                  <a:pt x="0" y="0"/>
                </a:moveTo>
                <a:lnTo>
                  <a:pt x="0" y="1163914"/>
                </a:lnTo>
              </a:path>
            </a:pathLst>
          </a:custGeom>
          <a:ln w="197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14702" y="5123629"/>
            <a:ext cx="361315" cy="0"/>
          </a:xfrm>
          <a:custGeom>
            <a:avLst/>
            <a:gdLst/>
            <a:ahLst/>
            <a:cxnLst/>
            <a:rect l="l" t="t" r="r" b="b"/>
            <a:pathLst>
              <a:path w="361314">
                <a:moveTo>
                  <a:pt x="0" y="0"/>
                </a:moveTo>
                <a:lnTo>
                  <a:pt x="361196" y="0"/>
                </a:lnTo>
              </a:path>
            </a:pathLst>
          </a:custGeom>
          <a:ln w="19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33485" y="1192456"/>
            <a:ext cx="4744720" cy="48736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dirty="0">
                <a:latin typeface="Times New Roman"/>
                <a:cs typeface="Times New Roman"/>
              </a:rPr>
              <a:t>Produce </a:t>
            </a:r>
            <a:r>
              <a:rPr sz="1500" spc="-5" dirty="0">
                <a:latin typeface="Times New Roman"/>
                <a:cs typeface="Times New Roman"/>
              </a:rPr>
              <a:t>Customer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Invoice</a:t>
            </a:r>
            <a:endParaRPr sz="1500">
              <a:latin typeface="Times New Roman"/>
              <a:cs typeface="Times New Roman"/>
            </a:endParaRPr>
          </a:p>
          <a:p>
            <a:pPr marL="490855" marR="862965" indent="-38100">
              <a:lnSpc>
                <a:spcPct val="211600"/>
              </a:lnSpc>
              <a:spcBef>
                <a:spcPts val="620"/>
              </a:spcBef>
            </a:pPr>
            <a:r>
              <a:rPr sz="1500" spc="5" dirty="0">
                <a:latin typeface="Times New Roman"/>
                <a:cs typeface="Times New Roman"/>
              </a:rPr>
              <a:t>Enter </a:t>
            </a:r>
            <a:r>
              <a:rPr sz="1500" spc="-5" dirty="0">
                <a:latin typeface="Times New Roman"/>
                <a:cs typeface="Times New Roman"/>
              </a:rPr>
              <a:t>customer </a:t>
            </a:r>
            <a:r>
              <a:rPr sz="1500" spc="-20" dirty="0">
                <a:latin typeface="Times New Roman"/>
                <a:cs typeface="Times New Roman"/>
              </a:rPr>
              <a:t>name </a:t>
            </a:r>
            <a:r>
              <a:rPr sz="1500" spc="20" dirty="0">
                <a:latin typeface="Times New Roman"/>
                <a:cs typeface="Times New Roman"/>
              </a:rPr>
              <a:t>and </a:t>
            </a:r>
            <a:r>
              <a:rPr sz="1500" dirty="0">
                <a:latin typeface="Times New Roman"/>
                <a:cs typeface="Times New Roman"/>
              </a:rPr>
              <a:t>address </a:t>
            </a:r>
            <a:r>
              <a:rPr sz="1500" spc="-5" dirty="0">
                <a:latin typeface="Times New Roman"/>
                <a:cs typeface="Times New Roman"/>
              </a:rPr>
              <a:t>on </a:t>
            </a:r>
            <a:r>
              <a:rPr sz="1500" dirty="0">
                <a:latin typeface="Times New Roman"/>
                <a:cs typeface="Times New Roman"/>
              </a:rPr>
              <a:t>invoice  </a:t>
            </a:r>
            <a:r>
              <a:rPr sz="1500" spc="-5" dirty="0">
                <a:latin typeface="Times New Roman"/>
                <a:cs typeface="Times New Roman"/>
              </a:rPr>
              <a:t>IF customer</a:t>
            </a:r>
            <a:r>
              <a:rPr sz="1500" spc="1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"SPECIAL"</a:t>
            </a:r>
            <a:endParaRPr sz="1500">
              <a:latin typeface="Times New Roman"/>
              <a:cs typeface="Times New Roman"/>
            </a:endParaRPr>
          </a:p>
          <a:p>
            <a:pPr marL="730250">
              <a:lnSpc>
                <a:spcPct val="100000"/>
              </a:lnSpc>
              <a:spcBef>
                <a:spcPts val="190"/>
              </a:spcBef>
            </a:pPr>
            <a:r>
              <a:rPr sz="1500" spc="10" dirty="0">
                <a:latin typeface="Times New Roman"/>
                <a:cs typeface="Times New Roman"/>
              </a:rPr>
              <a:t>get </a:t>
            </a:r>
            <a:r>
              <a:rPr sz="1500" spc="5" dirty="0">
                <a:latin typeface="Times New Roman"/>
                <a:cs typeface="Times New Roman"/>
              </a:rPr>
              <a:t>discount </a:t>
            </a:r>
            <a:r>
              <a:rPr sz="1500" spc="10" dirty="0">
                <a:latin typeface="Times New Roman"/>
                <a:cs typeface="Times New Roman"/>
              </a:rPr>
              <a:t>from </a:t>
            </a:r>
            <a:r>
              <a:rPr sz="1500" spc="-5" dirty="0">
                <a:latin typeface="Times New Roman"/>
                <a:cs typeface="Times New Roman"/>
              </a:rPr>
              <a:t>discount</a:t>
            </a:r>
            <a:r>
              <a:rPr sz="1500" spc="-125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file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5"/>
              </a:spcBef>
            </a:pPr>
            <a:r>
              <a:rPr sz="1500" spc="5" dirty="0">
                <a:latin typeface="Times New Roman"/>
                <a:cs typeface="Times New Roman"/>
              </a:rPr>
              <a:t>ELSE</a:t>
            </a:r>
            <a:endParaRPr sz="1500">
              <a:latin typeface="Times New Roman"/>
              <a:cs typeface="Times New Roman"/>
            </a:endParaRPr>
          </a:p>
          <a:p>
            <a:pPr marL="730250">
              <a:lnSpc>
                <a:spcPct val="100000"/>
              </a:lnSpc>
              <a:spcBef>
                <a:spcPts val="175"/>
              </a:spcBef>
            </a:pPr>
            <a:r>
              <a:rPr sz="1500" spc="15" dirty="0">
                <a:latin typeface="Times New Roman"/>
                <a:cs typeface="Times New Roman"/>
              </a:rPr>
              <a:t>set </a:t>
            </a:r>
            <a:r>
              <a:rPr sz="1500" spc="5" dirty="0">
                <a:latin typeface="Times New Roman"/>
                <a:cs typeface="Times New Roman"/>
              </a:rPr>
              <a:t>discount </a:t>
            </a:r>
            <a:r>
              <a:rPr sz="1500" spc="-5" dirty="0">
                <a:latin typeface="Times New Roman"/>
                <a:cs typeface="Times New Roman"/>
              </a:rPr>
              <a:t>to</a:t>
            </a:r>
            <a:r>
              <a:rPr sz="1500" spc="-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0%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1440"/>
              </a:spcBef>
            </a:pPr>
            <a:r>
              <a:rPr sz="1500" spc="10" dirty="0">
                <a:latin typeface="Times New Roman"/>
                <a:cs typeface="Times New Roman"/>
              </a:rPr>
              <a:t>FOR </a:t>
            </a:r>
            <a:r>
              <a:rPr sz="1500" spc="5" dirty="0">
                <a:latin typeface="Times New Roman"/>
                <a:cs typeface="Times New Roman"/>
              </a:rPr>
              <a:t>EACH sales</a:t>
            </a:r>
            <a:r>
              <a:rPr sz="1500" spc="-6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item</a:t>
            </a:r>
            <a:endParaRPr sz="1500">
              <a:latin typeface="Times New Roman"/>
              <a:cs typeface="Times New Roman"/>
            </a:endParaRPr>
          </a:p>
          <a:p>
            <a:pPr marL="720725" marR="710565">
              <a:lnSpc>
                <a:spcPct val="109700"/>
              </a:lnSpc>
              <a:spcBef>
                <a:spcPts val="1085"/>
              </a:spcBef>
            </a:pPr>
            <a:r>
              <a:rPr sz="1500" spc="5" dirty="0">
                <a:latin typeface="Times New Roman"/>
                <a:cs typeface="Times New Roman"/>
              </a:rPr>
              <a:t>Copy stock </a:t>
            </a:r>
            <a:r>
              <a:rPr sz="1500" dirty="0">
                <a:latin typeface="Times New Roman"/>
                <a:cs typeface="Times New Roman"/>
              </a:rPr>
              <a:t>number </a:t>
            </a:r>
            <a:r>
              <a:rPr sz="1500" spc="-10" dirty="0">
                <a:latin typeface="Times New Roman"/>
                <a:cs typeface="Times New Roman"/>
              </a:rPr>
              <a:t>and </a:t>
            </a:r>
            <a:r>
              <a:rPr sz="1500" spc="-5" dirty="0">
                <a:latin typeface="Times New Roman"/>
                <a:cs typeface="Times New Roman"/>
              </a:rPr>
              <a:t>quantity </a:t>
            </a:r>
            <a:r>
              <a:rPr sz="1500" spc="-10" dirty="0">
                <a:latin typeface="Times New Roman"/>
                <a:cs typeface="Times New Roman"/>
              </a:rPr>
              <a:t>to </a:t>
            </a:r>
            <a:r>
              <a:rPr sz="1500" dirty="0">
                <a:latin typeface="Times New Roman"/>
                <a:cs typeface="Times New Roman"/>
              </a:rPr>
              <a:t>invoice  </a:t>
            </a:r>
            <a:r>
              <a:rPr sz="1500" spc="15" dirty="0">
                <a:latin typeface="Times New Roman"/>
                <a:cs typeface="Times New Roman"/>
              </a:rPr>
              <a:t>Get </a:t>
            </a:r>
            <a:r>
              <a:rPr sz="1500" spc="5" dirty="0">
                <a:latin typeface="Times New Roman"/>
                <a:cs typeface="Times New Roman"/>
              </a:rPr>
              <a:t>unit </a:t>
            </a:r>
            <a:r>
              <a:rPr sz="1500" spc="-10" dirty="0">
                <a:latin typeface="Times New Roman"/>
                <a:cs typeface="Times New Roman"/>
              </a:rPr>
              <a:t>price from </a:t>
            </a:r>
            <a:r>
              <a:rPr sz="1500" spc="5" dirty="0">
                <a:latin typeface="Times New Roman"/>
                <a:cs typeface="Times New Roman"/>
              </a:rPr>
              <a:t>price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file</a:t>
            </a:r>
            <a:endParaRPr sz="1500">
              <a:latin typeface="Times New Roman"/>
              <a:cs typeface="Times New Roman"/>
            </a:endParaRPr>
          </a:p>
          <a:p>
            <a:pPr marL="720725">
              <a:lnSpc>
                <a:spcPct val="100000"/>
              </a:lnSpc>
              <a:spcBef>
                <a:spcPts val="195"/>
              </a:spcBef>
            </a:pPr>
            <a:r>
              <a:rPr sz="1500" spc="-10" dirty="0">
                <a:latin typeface="Times New Roman"/>
                <a:cs typeface="Times New Roman"/>
              </a:rPr>
              <a:t>Set </a:t>
            </a:r>
            <a:r>
              <a:rPr sz="1500" spc="-5" dirty="0">
                <a:latin typeface="Times New Roman"/>
                <a:cs typeface="Times New Roman"/>
              </a:rPr>
              <a:t>subtotal to </a:t>
            </a:r>
            <a:r>
              <a:rPr sz="1500" spc="10" dirty="0">
                <a:latin typeface="Times New Roman"/>
                <a:cs typeface="Times New Roman"/>
              </a:rPr>
              <a:t>unit </a:t>
            </a:r>
            <a:r>
              <a:rPr sz="1500" spc="5" dirty="0">
                <a:latin typeface="Times New Roman"/>
                <a:cs typeface="Times New Roman"/>
              </a:rPr>
              <a:t>price x </a:t>
            </a:r>
            <a:r>
              <a:rPr sz="1500" spc="-5" dirty="0">
                <a:latin typeface="Times New Roman"/>
                <a:cs typeface="Times New Roman"/>
              </a:rPr>
              <a:t>quantity </a:t>
            </a:r>
            <a:r>
              <a:rPr sz="1500" spc="5" dirty="0">
                <a:latin typeface="Times New Roman"/>
                <a:cs typeface="Times New Roman"/>
              </a:rPr>
              <a:t>x</a:t>
            </a:r>
            <a:r>
              <a:rPr sz="1500" dirty="0">
                <a:latin typeface="Times New Roman"/>
                <a:cs typeface="Times New Roman"/>
              </a:rPr>
              <a:t> (100-discount)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Times New Roman"/>
                <a:cs typeface="Times New Roman"/>
              </a:rPr>
              <a:t>Set </a:t>
            </a:r>
            <a:r>
              <a:rPr sz="1500" dirty="0">
                <a:latin typeface="Times New Roman"/>
                <a:cs typeface="Times New Roman"/>
              </a:rPr>
              <a:t>invoice </a:t>
            </a:r>
            <a:r>
              <a:rPr sz="1500" spc="5" dirty="0">
                <a:latin typeface="Times New Roman"/>
                <a:cs typeface="Times New Roman"/>
              </a:rPr>
              <a:t>total </a:t>
            </a:r>
            <a:r>
              <a:rPr sz="1500" spc="40" dirty="0">
                <a:latin typeface="Times New Roman"/>
                <a:cs typeface="Times New Roman"/>
              </a:rPr>
              <a:t>to </a:t>
            </a:r>
            <a:r>
              <a:rPr sz="1500" spc="15" dirty="0">
                <a:latin typeface="Times New Roman"/>
                <a:cs typeface="Times New Roman"/>
              </a:rPr>
              <a:t>sum </a:t>
            </a:r>
            <a:r>
              <a:rPr sz="1500" spc="-10" dirty="0">
                <a:latin typeface="Times New Roman"/>
                <a:cs typeface="Times New Roman"/>
              </a:rPr>
              <a:t>of item</a:t>
            </a:r>
            <a:r>
              <a:rPr sz="1500" spc="-13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subtotals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90855">
              <a:lnSpc>
                <a:spcPct val="100000"/>
              </a:lnSpc>
            </a:pPr>
            <a:r>
              <a:rPr sz="1500" spc="-10" dirty="0">
                <a:latin typeface="Times New Roman"/>
                <a:cs typeface="Times New Roman"/>
              </a:rPr>
              <a:t>Set </a:t>
            </a:r>
            <a:r>
              <a:rPr sz="1500" dirty="0">
                <a:latin typeface="Times New Roman"/>
                <a:cs typeface="Times New Roman"/>
              </a:rPr>
              <a:t>amount </a:t>
            </a:r>
            <a:r>
              <a:rPr sz="1500" spc="-10" dirty="0">
                <a:latin typeface="Times New Roman"/>
                <a:cs typeface="Times New Roman"/>
              </a:rPr>
              <a:t>due </a:t>
            </a:r>
            <a:r>
              <a:rPr sz="1500" spc="-5" dirty="0">
                <a:latin typeface="Times New Roman"/>
                <a:cs typeface="Times New Roman"/>
              </a:rPr>
              <a:t>to </a:t>
            </a:r>
            <a:r>
              <a:rPr sz="1500" dirty="0">
                <a:latin typeface="Times New Roman"/>
                <a:cs typeface="Times New Roman"/>
              </a:rPr>
              <a:t>invoice </a:t>
            </a:r>
            <a:r>
              <a:rPr sz="1500" spc="5" dirty="0">
                <a:latin typeface="Times New Roman"/>
                <a:cs typeface="Times New Roman"/>
              </a:rPr>
              <a:t>total </a:t>
            </a:r>
            <a:r>
              <a:rPr sz="1500" dirty="0">
                <a:latin typeface="Times New Roman"/>
                <a:cs typeface="Times New Roman"/>
              </a:rPr>
              <a:t>- </a:t>
            </a:r>
            <a:r>
              <a:rPr sz="1500" spc="-5" dirty="0">
                <a:latin typeface="Times New Roman"/>
                <a:cs typeface="Times New Roman"/>
              </a:rPr>
              <a:t>amount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paid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64753" y="6246884"/>
            <a:ext cx="457200" cy="0"/>
          </a:xfrm>
          <a:custGeom>
            <a:avLst/>
            <a:gdLst/>
            <a:ahLst/>
            <a:cxnLst/>
            <a:rect l="l" t="t" r="r" b="b"/>
            <a:pathLst>
              <a:path w="457200">
                <a:moveTo>
                  <a:pt x="0" y="0"/>
                </a:moveTo>
                <a:lnTo>
                  <a:pt x="456617" y="0"/>
                </a:lnTo>
              </a:path>
            </a:pathLst>
          </a:custGeom>
          <a:ln w="199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2450" y="355091"/>
            <a:ext cx="29591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2.3.3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决策表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4297171"/>
            <a:ext cx="6464300" cy="17754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条件声明是进行决策时需要参考的变量列表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条件选项是那些变量可能的取值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动作声明是决策后可能采取的动作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动作选项表明那些动作会在怎样的条件下发生</a:t>
            </a:r>
            <a:endParaRPr sz="24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3250" y="2831517"/>
          <a:ext cx="8001000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条件和行动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规则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条件声明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Condition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sz="2000" spc="-10" dirty="0">
                          <a:latin typeface="微软雅黑"/>
                          <a:cs typeface="微软雅黑"/>
                        </a:rPr>
                        <a:t>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628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条件选项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Condition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Entry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628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行动声明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Action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sz="2000" spc="-10" dirty="0">
                          <a:latin typeface="微软雅黑"/>
                          <a:cs typeface="微软雅黑"/>
                        </a:rPr>
                        <a:t>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628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行动选项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Action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Entry</a:t>
                      </a:r>
                      <a:r>
                        <a:rPr sz="2000" spc="-5" dirty="0">
                          <a:latin typeface="微软雅黑"/>
                          <a:cs typeface="微软雅黑"/>
                        </a:rPr>
                        <a:t>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6286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57215" y="1477771"/>
            <a:ext cx="7683500" cy="119316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5600" marR="5080" indent="-342900">
              <a:lnSpc>
                <a:spcPts val="2710"/>
              </a:lnSpc>
              <a:spcBef>
                <a:spcPts val="33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决策表是一种决策逻辑的表示方法，可以比结构化英语 更好的描述决策逻辑。</a:t>
            </a:r>
            <a:endParaRPr sz="24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60"/>
              </a:spcBef>
              <a:buClr>
                <a:srgbClr val="00663C"/>
              </a:buClr>
              <a:buSzPct val="7916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宋体"/>
                <a:cs typeface="宋体"/>
              </a:rPr>
              <a:t>决策表是一个行和列组成的表格</a:t>
            </a:r>
            <a:r>
              <a:rPr sz="1400" dirty="0">
                <a:latin typeface="宋体"/>
                <a:cs typeface="宋体"/>
              </a:rPr>
              <a:t>。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33650" y="275844"/>
            <a:ext cx="40767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2.3.3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决策表示例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2127250"/>
          <a:ext cx="8229600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4025">
                <a:tc>
                  <a:txBody>
                    <a:bodyPr/>
                    <a:lstStyle/>
                    <a:p>
                      <a:pPr marL="10414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条件和行动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规则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account-type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NOW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5" dirty="0">
                          <a:latin typeface="Times New Roman"/>
                          <a:cs typeface="Times New Roman"/>
                        </a:rPr>
                        <a:t>NOW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REGULAR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REGULAR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daily-balance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2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300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&gt;=300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&lt;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100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&gt;=100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0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9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set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service-charge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$5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set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service-charge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$0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set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service-charge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to greater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of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4343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$3 or $.20</a:t>
                      </a:r>
                      <a:r>
                        <a:rPr sz="2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times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X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1D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92450" y="260603"/>
            <a:ext cx="29591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2.3.4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决策树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48740"/>
            <a:ext cx="7683500" cy="14554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5080" indent="-342900" algn="just">
              <a:lnSpc>
                <a:spcPct val="96600"/>
              </a:lnSpc>
              <a:spcBef>
                <a:spcPts val="229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通常是一颗平放的树，树根在左边，树枝 从左向右展开。树枝上是有关条件和行动 的描述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6452" y="2767378"/>
            <a:ext cx="2025014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spc="5" dirty="0">
                <a:latin typeface="Times New Roman"/>
                <a:cs typeface="Times New Roman"/>
              </a:rPr>
              <a:t>set service-charge to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$5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6313" y="2619111"/>
            <a:ext cx="7425105" cy="33710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88913" y="4083447"/>
            <a:ext cx="2025014" cy="2724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600" spc="5" dirty="0">
                <a:latin typeface="Times New Roman"/>
                <a:cs typeface="Times New Roman"/>
              </a:rPr>
              <a:t>set service-charge to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$0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588076" y="5131284"/>
            <a:ext cx="2561590" cy="7651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600" spc="5" dirty="0">
                <a:latin typeface="Times New Roman"/>
                <a:cs typeface="Times New Roman"/>
              </a:rPr>
              <a:t>set service-charge to greater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of</a:t>
            </a:r>
            <a:endParaRPr sz="1600">
              <a:latin typeface="Times New Roman"/>
              <a:cs typeface="Times New Roman"/>
            </a:endParaRPr>
          </a:p>
          <a:p>
            <a:pPr marL="237490" marR="229870" algn="ctr">
              <a:lnSpc>
                <a:spcPct val="101099"/>
              </a:lnSpc>
            </a:pPr>
            <a:r>
              <a:rPr sz="1600" spc="10" dirty="0">
                <a:latin typeface="Times New Roman"/>
                <a:cs typeface="Times New Roman"/>
              </a:rPr>
              <a:t>$3 </a:t>
            </a:r>
            <a:r>
              <a:rPr sz="1600" spc="5" dirty="0">
                <a:latin typeface="Times New Roman"/>
                <a:cs typeface="Times New Roman"/>
              </a:rPr>
              <a:t>or $.20 times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number-  checks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605" y="4427598"/>
            <a:ext cx="878840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latin typeface="Times New Roman"/>
                <a:cs typeface="Times New Roman"/>
              </a:rPr>
              <a:t>accout-type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75807" y="4956095"/>
            <a:ext cx="889000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5" dirty="0">
                <a:latin typeface="Times New Roman"/>
                <a:cs typeface="Times New Roman"/>
              </a:rPr>
              <a:t>REGULAR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9228" y="3532257"/>
            <a:ext cx="171767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719455" algn="l"/>
              </a:tabLst>
            </a:pPr>
            <a:r>
              <a:rPr sz="1400" spc="30" dirty="0">
                <a:latin typeface="Times New Roman"/>
                <a:cs typeface="Times New Roman"/>
              </a:rPr>
              <a:t>NOW	</a:t>
            </a:r>
            <a:r>
              <a:rPr sz="1400" spc="15" dirty="0">
                <a:latin typeface="Times New Roman"/>
                <a:cs typeface="Times New Roman"/>
              </a:rPr>
              <a:t>daily</a:t>
            </a:r>
            <a:r>
              <a:rPr sz="1400" spc="5" dirty="0">
                <a:latin typeface="Times New Roman"/>
                <a:cs typeface="Times New Roman"/>
              </a:rPr>
              <a:t>-</a:t>
            </a:r>
            <a:r>
              <a:rPr sz="1400" spc="15" dirty="0">
                <a:latin typeface="Times New Roman"/>
                <a:cs typeface="Times New Roman"/>
              </a:rPr>
              <a:t>balance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6311" y="5430707"/>
            <a:ext cx="1010919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latin typeface="Times New Roman"/>
                <a:cs typeface="Times New Roman"/>
              </a:rPr>
              <a:t>daily</a:t>
            </a:r>
            <a:r>
              <a:rPr sz="1400" spc="5" dirty="0">
                <a:latin typeface="Times New Roman"/>
                <a:cs typeface="Times New Roman"/>
              </a:rPr>
              <a:t>-</a:t>
            </a:r>
            <a:r>
              <a:rPr sz="1400" spc="15" dirty="0">
                <a:latin typeface="Times New Roman"/>
                <a:cs typeface="Times New Roman"/>
              </a:rPr>
              <a:t>balance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92371" y="2783362"/>
            <a:ext cx="40322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latin typeface="Times New Roman"/>
                <a:cs typeface="Times New Roman"/>
              </a:rPr>
              <a:t>&lt;300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15002" y="3985271"/>
            <a:ext cx="50609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latin typeface="Times New Roman"/>
                <a:cs typeface="Times New Roman"/>
              </a:rPr>
              <a:t>&gt;=</a:t>
            </a:r>
            <a:r>
              <a:rPr sz="1400" spc="20" dirty="0">
                <a:latin typeface="Times New Roman"/>
                <a:cs typeface="Times New Roman"/>
              </a:rPr>
              <a:t>300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37050" y="5659031"/>
            <a:ext cx="40322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latin typeface="Times New Roman"/>
                <a:cs typeface="Times New Roman"/>
              </a:rPr>
              <a:t>&lt;</a:t>
            </a:r>
            <a:r>
              <a:rPr sz="1400" spc="20" dirty="0">
                <a:latin typeface="Times New Roman"/>
                <a:cs typeface="Times New Roman"/>
              </a:rPr>
              <a:t>100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11320" y="4438306"/>
            <a:ext cx="506095" cy="2451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latin typeface="Times New Roman"/>
                <a:cs typeface="Times New Roman"/>
              </a:rPr>
              <a:t>&gt;=</a:t>
            </a:r>
            <a:r>
              <a:rPr sz="1400" spc="20" dirty="0">
                <a:latin typeface="Times New Roman"/>
                <a:cs typeface="Times New Roman"/>
              </a:rPr>
              <a:t>100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337" y="251459"/>
            <a:ext cx="32353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2.4.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数据字典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5908"/>
            <a:ext cx="7835900" cy="454469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5080" indent="-342900" algn="just">
              <a:lnSpc>
                <a:spcPts val="3100"/>
              </a:lnSpc>
              <a:spcBef>
                <a:spcPts val="42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数据字典以结构化方式定义了在建模过程中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涉及 到的所有数据信息、控制信息</a:t>
            </a:r>
            <a:r>
              <a:rPr sz="2800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55600" marR="5080" indent="-342900" algn="just">
              <a:lnSpc>
                <a:spcPct val="97400"/>
              </a:lnSpc>
              <a:spcBef>
                <a:spcPts val="96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它是当前系统的软件词典，提供用户和软件人员 的概念解释，也提供在系统开发过程中各种有关 数据和控制的描述信息，使得系统所有的相关人 员对信息有共同的、一致的理解。</a:t>
            </a:r>
            <a:endParaRPr sz="2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00663C"/>
              </a:buClr>
              <a:buFont typeface="Wingdings"/>
              <a:buChar char=""/>
            </a:pPr>
            <a:endParaRPr sz="365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常用方式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词条描述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定义式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4806" y="473963"/>
            <a:ext cx="5894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2.4.1.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数据字典词条描述</a:t>
            </a:r>
          </a:p>
        </p:txBody>
      </p:sp>
      <p:sp>
        <p:nvSpPr>
          <p:cNvPr id="3" name="object 3"/>
          <p:cNvSpPr/>
          <p:nvPr/>
        </p:nvSpPr>
        <p:spPr>
          <a:xfrm>
            <a:off x="563880" y="2490215"/>
            <a:ext cx="8327135" cy="33741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600" y="2516516"/>
            <a:ext cx="8229598" cy="32772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04837" y="2511753"/>
          <a:ext cx="8230234" cy="32772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名称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数据元素的原始名称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57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别名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数据元素的其他名称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使用地点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会使用该数据元素的过程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8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使用方法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该数据元素扮演的角色（输入流、输出流或者数据存储等）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57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使用范围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该数据元素存在的范围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1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描述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对数据元素内容的描述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4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单位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2000" dirty="0">
                          <a:latin typeface="宋体"/>
                          <a:cs typeface="宋体"/>
                        </a:rPr>
                        <a:t>格式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数据元素的数据类型，可能事先设置的取值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4A7EBB"/>
                      </a:solidFill>
                      <a:prstDash val="solid"/>
                    </a:lnL>
                    <a:lnR w="12700">
                      <a:solidFill>
                        <a:srgbClr val="4A7EBB"/>
                      </a:solidFill>
                      <a:prstDash val="solid"/>
                    </a:lnR>
                    <a:lnT w="12700">
                      <a:solidFill>
                        <a:srgbClr val="4A7EBB"/>
                      </a:solidFill>
                      <a:prstDash val="solid"/>
                    </a:lnT>
                    <a:lnB w="12700">
                      <a:solidFill>
                        <a:srgbClr val="4A7EBB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940" y="1620012"/>
            <a:ext cx="59817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词条描述为每个</a:t>
            </a:r>
            <a:r>
              <a:rPr sz="2600" dirty="0">
                <a:solidFill>
                  <a:srgbClr val="009257"/>
                </a:solidFill>
                <a:latin typeface="宋体"/>
                <a:cs typeface="宋体"/>
              </a:rPr>
              <a:t>数据元素</a:t>
            </a:r>
            <a:r>
              <a:rPr sz="2600" dirty="0">
                <a:latin typeface="宋体"/>
                <a:cs typeface="宋体"/>
              </a:rPr>
              <a:t>组织描述信息</a:t>
            </a:r>
            <a:endParaRPr sz="2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473963"/>
            <a:ext cx="33782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词条描述示例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359567"/>
          <a:ext cx="8229600" cy="4594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0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名称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5016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telephone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5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别名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5080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phone 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number,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9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使用的地点和方法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2974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read-phone-number (input)  display-phone-number (output)  analyze-long-distance-calls</a:t>
                      </a:r>
                      <a:r>
                        <a:rPr sz="20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(input)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570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描述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6555" marR="48133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telephone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no. = [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local extension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|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outside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no. | 0 ] 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local extension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3{0-9}3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6555" marR="72771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outside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no. = 9 + [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service code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|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domestic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20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] 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service code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 [ </a:t>
                      </a:r>
                      <a:r>
                        <a:rPr sz="2000" spc="-25" dirty="0">
                          <a:latin typeface="Times New Roman"/>
                          <a:cs typeface="Times New Roman"/>
                        </a:rPr>
                        <a:t>110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| 120|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…</a:t>
                      </a:r>
                      <a:r>
                        <a:rPr sz="20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]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6555" marR="117348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domestic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no. =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(area code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) +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local number  area code 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3{0-9}4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76555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local number=</a:t>
                      </a:r>
                      <a:r>
                        <a:rPr sz="20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8{0-9}8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0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000" dirty="0">
                          <a:latin typeface="宋体"/>
                          <a:cs typeface="宋体"/>
                        </a:rPr>
                        <a:t>格式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52069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alphanumeric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4206" y="160019"/>
            <a:ext cx="53359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2.4.2.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数据字典定义式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33779"/>
            <a:ext cx="7835900" cy="84581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5080" indent="-342900">
              <a:lnSpc>
                <a:spcPts val="3100"/>
              </a:lnSpc>
              <a:spcBef>
                <a:spcPts val="420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数据字典要求对数据元素（尤其是其结构）的描 述要</a:t>
            </a:r>
            <a:r>
              <a:rPr sz="4125" b="1" spc="127" baseline="1010" dirty="0">
                <a:solidFill>
                  <a:srgbClr val="C00000"/>
                </a:solidFill>
                <a:latin typeface="宋体"/>
                <a:cs typeface="宋体"/>
              </a:rPr>
              <a:t>精确、严格和明确</a:t>
            </a:r>
            <a:endParaRPr sz="4125" baseline="101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2250" y="2181028"/>
          <a:ext cx="8839834" cy="4079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8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341">
                <a:tc>
                  <a:txBody>
                    <a:bodyPr/>
                    <a:lstStyle/>
                    <a:p>
                      <a:pPr marL="2584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符号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含义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示例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34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=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包含，由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…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构成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Name=first_name+last_name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34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+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指明序列结构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34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()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内容可选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Phone_No.=(Area_No.)+Local_No.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34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[]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内容多选一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Number=[0|1|2|3|4|5|6|7|8|9]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34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|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分割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[]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内部的多个选项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34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n{}m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循环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最少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次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最多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次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Area_No=3{Number}4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341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@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数据存储的标识符</a:t>
                      </a:r>
                      <a:r>
                        <a:rPr sz="2000" spc="-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关键字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)</a:t>
                      </a: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Student=@ID+Name+...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114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**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注释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 marR="151765" indent="-3429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5" dirty="0">
                          <a:latin typeface="Times New Roman"/>
                          <a:cs typeface="Times New Roman"/>
                        </a:rPr>
                        <a:t>Area_No=3{Number}4**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区号为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到</a:t>
                      </a:r>
                      <a:r>
                        <a:rPr sz="20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位数 字</a:t>
                      </a: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4700" y="473963"/>
            <a:ext cx="5054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数据字典定义式示例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9850" y="2355850"/>
          <a:ext cx="8991600" cy="2514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907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定义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说明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3693">
                <a:tc>
                  <a:txBody>
                    <a:bodyPr/>
                    <a:lstStyle/>
                    <a:p>
                      <a:pPr marL="90805" marR="184150">
                        <a:lnSpc>
                          <a:spcPct val="105000"/>
                        </a:lnSpc>
                        <a:spcBef>
                          <a:spcPts val="15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telephone no. = [ local extension | outside no. | 0</a:t>
                      </a:r>
                      <a:r>
                        <a:rPr sz="16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]  local extension =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3{0-9}3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90805" marR="382270">
                        <a:lnSpc>
                          <a:spcPts val="1900"/>
                        </a:lnSpc>
                        <a:spcBef>
                          <a:spcPts val="6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outside no. = 9 + [ service code | domestic no.</a:t>
                      </a:r>
                      <a:r>
                        <a:rPr sz="16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]  service code = [ 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110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| 120| 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…</a:t>
                      </a:r>
                      <a:r>
                        <a:rPr sz="16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]</a:t>
                      </a:r>
                    </a:p>
                    <a:p>
                      <a:pPr marL="90805">
                        <a:lnSpc>
                          <a:spcPts val="182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domestic no. = (area code ) + local</a:t>
                      </a:r>
                      <a:r>
                        <a:rPr sz="16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number</a:t>
                      </a:r>
                    </a:p>
                    <a:p>
                      <a:pPr marL="90805">
                        <a:lnSpc>
                          <a:spcPts val="1910"/>
                        </a:lnSpc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area code =</a:t>
                      </a:r>
                      <a:r>
                        <a:rPr sz="16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3{0-9}4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local number=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 8{0-9}8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180340">
                        <a:lnSpc>
                          <a:spcPts val="1900"/>
                        </a:lnSpc>
                        <a:spcBef>
                          <a:spcPts val="45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电话号码可能是内线、外线或者转接主机（拨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） 内线号码是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位数字</a:t>
                      </a:r>
                    </a:p>
                    <a:p>
                      <a:pPr marL="90805">
                        <a:lnSpc>
                          <a:spcPts val="182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外线要先拨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，然后再拨特服号码或普通电话号码</a:t>
                      </a:r>
                    </a:p>
                    <a:p>
                      <a:pPr marL="90805">
                        <a:lnSpc>
                          <a:spcPts val="189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特服号码有</a:t>
                      </a:r>
                      <a:r>
                        <a:rPr sz="1600" spc="-20" dirty="0">
                          <a:latin typeface="Times New Roman"/>
                          <a:cs typeface="Times New Roman"/>
                        </a:rPr>
                        <a:t>110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、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120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、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…</a:t>
                      </a:r>
                    </a:p>
                    <a:p>
                      <a:pPr marL="90805">
                        <a:lnSpc>
                          <a:spcPts val="191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普通电话号码为可选的区号加本地号</a:t>
                      </a:r>
                    </a:p>
                    <a:p>
                      <a:pPr marL="90805" marR="2923540">
                        <a:lnSpc>
                          <a:spcPts val="1900"/>
                        </a:lnSpc>
                        <a:spcBef>
                          <a:spcPts val="17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区号是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到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位数字 本地号是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600" dirty="0">
                          <a:latin typeface="宋体"/>
                          <a:cs typeface="宋体"/>
                        </a:rPr>
                        <a:t>位数字</a:t>
                      </a:r>
                    </a:p>
                  </a:txBody>
                  <a:tcPr marL="0" marR="0" marT="571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0412" y="355091"/>
            <a:ext cx="25431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第</a:t>
            </a:r>
            <a:r>
              <a:rPr spc="-10" dirty="0"/>
              <a:t>2</a:t>
            </a:r>
            <a:r>
              <a:rPr dirty="0">
                <a:latin typeface="宋体"/>
                <a:cs typeface="宋体"/>
              </a:rPr>
              <a:t>节小结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9220"/>
            <a:ext cx="8089900" cy="409447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5080" indent="-342900">
              <a:lnSpc>
                <a:spcPts val="3600"/>
              </a:lnSpc>
              <a:spcBef>
                <a:spcPts val="42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结构化分析的主要方法是过程建模和数据建 模，其中过程建模是其核心</a:t>
            </a:r>
            <a:endParaRPr sz="3200">
              <a:latin typeface="宋体"/>
              <a:cs typeface="宋体"/>
            </a:endParaRPr>
          </a:p>
          <a:p>
            <a:pPr marL="355600" marR="5080" indent="-342900">
              <a:lnSpc>
                <a:spcPct val="100299"/>
              </a:lnSpc>
              <a:spcBef>
                <a:spcPts val="65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过程建模以</a:t>
            </a:r>
            <a:r>
              <a:rPr sz="3200" dirty="0">
                <a:latin typeface="Calibri"/>
                <a:cs typeface="Calibri"/>
              </a:rPr>
              <a:t>DFD</a:t>
            </a:r>
            <a:r>
              <a:rPr sz="3200" dirty="0">
                <a:latin typeface="宋体"/>
                <a:cs typeface="宋体"/>
              </a:rPr>
              <a:t>为中心，结合使用微规格说 明、数据字典等技术一起完成结构化分析的 建模任务</a:t>
            </a:r>
            <a:endParaRPr sz="3200">
              <a:latin typeface="宋体"/>
              <a:cs typeface="宋体"/>
            </a:endParaRPr>
          </a:p>
          <a:p>
            <a:pPr marL="355600" marR="5080" indent="-342900">
              <a:lnSpc>
                <a:spcPct val="100299"/>
              </a:lnSpc>
              <a:spcBef>
                <a:spcPts val="7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DFD</a:t>
            </a:r>
            <a:r>
              <a:rPr sz="3200" dirty="0">
                <a:latin typeface="宋体"/>
                <a:cs typeface="宋体"/>
              </a:rPr>
              <a:t>建立在四种简单的元素之上，使用层次 结构表达了功能分解关系，它是一种简洁、 易于理解和使用的技术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138683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4745" y="1006348"/>
            <a:ext cx="4152900" cy="46272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745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latin typeface="宋体"/>
                <a:cs typeface="宋体"/>
              </a:rPr>
              <a:t>结构化需求分析与建模</a:t>
            </a:r>
            <a:endParaRPr sz="28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650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latin typeface="宋体"/>
                <a:cs typeface="宋体"/>
              </a:rPr>
              <a:t>过程建模</a:t>
            </a:r>
            <a:endParaRPr sz="28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过程建模</a:t>
            </a:r>
            <a:endParaRPr sz="24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52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数据流图</a:t>
            </a:r>
            <a:r>
              <a:rPr sz="2400" spc="-5" dirty="0">
                <a:latin typeface="Calibri"/>
                <a:cs typeface="Calibri"/>
              </a:rPr>
              <a:t>DFD</a:t>
            </a:r>
            <a:endParaRPr sz="2400">
              <a:latin typeface="Calibri"/>
              <a:cs typeface="Calibri"/>
            </a:endParaRPr>
          </a:p>
          <a:p>
            <a:pPr marL="852805" lvl="1" indent="-4953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微规格说明</a:t>
            </a:r>
            <a:endParaRPr sz="24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53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latin typeface="宋体"/>
                <a:cs typeface="宋体"/>
              </a:rPr>
              <a:t>数据字典</a:t>
            </a:r>
            <a:endParaRPr sz="240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730"/>
              </a:spcBef>
              <a:buClr>
                <a:srgbClr val="00663C"/>
              </a:buClr>
              <a:buSzPct val="78571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2800" dirty="0">
                <a:solidFill>
                  <a:srgbClr val="C00000"/>
                </a:solidFill>
                <a:latin typeface="宋体"/>
                <a:cs typeface="宋体"/>
              </a:rPr>
              <a:t>数据建模</a:t>
            </a:r>
            <a:endParaRPr sz="28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540"/>
              </a:spcBef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solidFill>
                  <a:srgbClr val="C00000"/>
                </a:solidFill>
                <a:latin typeface="宋体"/>
                <a:cs typeface="宋体"/>
              </a:rPr>
              <a:t>数据模型</a:t>
            </a:r>
            <a:endParaRPr sz="2400">
              <a:latin typeface="宋体"/>
              <a:cs typeface="宋体"/>
            </a:endParaRPr>
          </a:p>
          <a:p>
            <a:pPr marL="852805" lvl="1" indent="-495300">
              <a:lnSpc>
                <a:spcPct val="100000"/>
              </a:lnSpc>
              <a:spcBef>
                <a:spcPts val="600"/>
              </a:spcBef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dirty="0">
                <a:solidFill>
                  <a:srgbClr val="C00000"/>
                </a:solidFill>
                <a:latin typeface="宋体"/>
                <a:cs typeface="宋体"/>
              </a:rPr>
              <a:t>实体关系模型</a:t>
            </a: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ERD</a:t>
            </a:r>
            <a:endParaRPr sz="2400">
              <a:latin typeface="Calibri"/>
              <a:cs typeface="Calibri"/>
            </a:endParaRPr>
          </a:p>
          <a:p>
            <a:pPr marL="852805" lvl="1" indent="-495300">
              <a:lnSpc>
                <a:spcPct val="100000"/>
              </a:lnSpc>
              <a:spcBef>
                <a:spcPts val="530"/>
              </a:spcBef>
              <a:buSzPct val="58333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400" spc="-5" dirty="0">
                <a:solidFill>
                  <a:srgbClr val="C00000"/>
                </a:solidFill>
                <a:latin typeface="Calibri"/>
                <a:cs typeface="Calibri"/>
              </a:rPr>
              <a:t>ERD</a:t>
            </a:r>
            <a:r>
              <a:rPr sz="2400" dirty="0">
                <a:solidFill>
                  <a:srgbClr val="C00000"/>
                </a:solidFill>
                <a:latin typeface="宋体"/>
                <a:cs typeface="宋体"/>
              </a:rPr>
              <a:t>建模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4337" y="199644"/>
            <a:ext cx="32353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3.1.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数据模型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49317"/>
            <a:ext cx="7880350" cy="455168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数据模型</a:t>
            </a: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描述数据的定义、结构和关系等特性的模型</a:t>
            </a:r>
          </a:p>
          <a:p>
            <a:pPr marL="755650" marR="5080" lvl="1" indent="-285750">
              <a:lnSpc>
                <a:spcPts val="3190"/>
              </a:lnSpc>
              <a:spcBef>
                <a:spcPts val="109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说明了问题域和解系统共享的事物、对共享事 物的描述和共享事物之间的关系</a:t>
            </a: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能够反映企业业务的核心知识</a:t>
            </a: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建立数据模型的过程被称为</a:t>
            </a:r>
            <a:r>
              <a:rPr sz="3100" b="1" spc="145" dirty="0">
                <a:solidFill>
                  <a:srgbClr val="C00000"/>
                </a:solidFill>
                <a:latin typeface="宋体"/>
                <a:cs typeface="宋体"/>
              </a:rPr>
              <a:t>数据建模</a:t>
            </a:r>
            <a:endParaRPr sz="31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7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实体关系图</a:t>
            </a:r>
            <a:r>
              <a:rPr sz="2800" spc="-5" dirty="0">
                <a:latin typeface="Calibri"/>
                <a:cs typeface="Calibri"/>
              </a:rPr>
              <a:t>ERD</a:t>
            </a:r>
            <a:r>
              <a:rPr sz="2800" dirty="0">
                <a:latin typeface="宋体"/>
                <a:cs typeface="宋体"/>
              </a:rPr>
              <a:t>建立</a:t>
            </a:r>
          </a:p>
          <a:p>
            <a:pPr marL="1155700" lvl="2" indent="-2286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没有标准的表示法</a:t>
            </a:r>
          </a:p>
          <a:p>
            <a:pPr marL="1155700" lvl="2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基本元素：</a:t>
            </a:r>
            <a:r>
              <a:rPr sz="3525" b="1" spc="127" baseline="1182" dirty="0">
                <a:latin typeface="宋体"/>
                <a:cs typeface="宋体"/>
              </a:rPr>
              <a:t>实体、关系、属性</a:t>
            </a:r>
            <a:endParaRPr sz="3525" baseline="1182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95537" y="473963"/>
            <a:ext cx="435292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3.1.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数据模型建立</a:t>
            </a:r>
          </a:p>
        </p:txBody>
      </p:sp>
      <p:sp>
        <p:nvSpPr>
          <p:cNvPr id="3" name="object 3"/>
          <p:cNvSpPr/>
          <p:nvPr/>
        </p:nvSpPr>
        <p:spPr>
          <a:xfrm>
            <a:off x="1018799" y="2220914"/>
            <a:ext cx="7217999" cy="3547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01545" y="2005398"/>
            <a:ext cx="2372995" cy="1170305"/>
          </a:xfrm>
          <a:custGeom>
            <a:avLst/>
            <a:gdLst/>
            <a:ahLst/>
            <a:cxnLst/>
            <a:rect l="l" t="t" r="r" b="b"/>
            <a:pathLst>
              <a:path w="2372995" h="1170305">
                <a:moveTo>
                  <a:pt x="0" y="0"/>
                </a:moveTo>
                <a:lnTo>
                  <a:pt x="2372497" y="0"/>
                </a:lnTo>
                <a:lnTo>
                  <a:pt x="2372497" y="1170287"/>
                </a:lnTo>
                <a:lnTo>
                  <a:pt x="0" y="117028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69492" y="4728004"/>
            <a:ext cx="1973580" cy="1170305"/>
          </a:xfrm>
          <a:custGeom>
            <a:avLst/>
            <a:gdLst/>
            <a:ahLst/>
            <a:cxnLst/>
            <a:rect l="l" t="t" r="r" b="b"/>
            <a:pathLst>
              <a:path w="1973579" h="1170304">
                <a:moveTo>
                  <a:pt x="0" y="0"/>
                </a:moveTo>
                <a:lnTo>
                  <a:pt x="1972962" y="0"/>
                </a:lnTo>
                <a:lnTo>
                  <a:pt x="1972962" y="1170287"/>
                </a:lnTo>
                <a:lnTo>
                  <a:pt x="0" y="117028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55972" y="3341472"/>
            <a:ext cx="3482975" cy="1170305"/>
          </a:xfrm>
          <a:custGeom>
            <a:avLst/>
            <a:gdLst/>
            <a:ahLst/>
            <a:cxnLst/>
            <a:rect l="l" t="t" r="r" b="b"/>
            <a:pathLst>
              <a:path w="3482975" h="1170304">
                <a:moveTo>
                  <a:pt x="0" y="0"/>
                </a:moveTo>
                <a:lnTo>
                  <a:pt x="3482545" y="0"/>
                </a:lnTo>
                <a:lnTo>
                  <a:pt x="3482545" y="1170287"/>
                </a:lnTo>
                <a:lnTo>
                  <a:pt x="0" y="117028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1850" y="196595"/>
            <a:ext cx="2400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3.2.1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实体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7169150" cy="22117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实例（</a:t>
            </a:r>
            <a:r>
              <a:rPr sz="3200" dirty="0">
                <a:latin typeface="Calibri"/>
                <a:cs typeface="Calibri"/>
              </a:rPr>
              <a:t>Instance</a:t>
            </a:r>
            <a:r>
              <a:rPr sz="3200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需要在系统中收集和存储的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现实世界事物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实体（</a:t>
            </a:r>
            <a:r>
              <a:rPr sz="3200" dirty="0">
                <a:latin typeface="Calibri"/>
                <a:cs typeface="Calibri"/>
              </a:rPr>
              <a:t>Entity</a:t>
            </a:r>
            <a:r>
              <a:rPr sz="3200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具有相同特征和属性的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实例集的类别描述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37133" y="4039313"/>
            <a:ext cx="5496944" cy="19513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3.2.1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实体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0012"/>
            <a:ext cx="19939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概念实体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957828"/>
            <a:ext cx="19939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逻辑实体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1637" y="1773237"/>
            <a:ext cx="22098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465455">
              <a:lnSpc>
                <a:spcPct val="100000"/>
              </a:lnSpc>
              <a:spcBef>
                <a:spcPts val="650"/>
              </a:spcBef>
            </a:pPr>
            <a:r>
              <a:rPr sz="2400" spc="-5" dirty="0">
                <a:latin typeface="Courier New"/>
                <a:cs typeface="Courier New"/>
              </a:rPr>
              <a:t>Student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11637" y="4013200"/>
            <a:ext cx="2209800" cy="1640205"/>
          </a:xfrm>
          <a:custGeom>
            <a:avLst/>
            <a:gdLst/>
            <a:ahLst/>
            <a:cxnLst/>
            <a:rect l="l" t="t" r="r" b="b"/>
            <a:pathLst>
              <a:path w="2209800" h="1640204">
                <a:moveTo>
                  <a:pt x="0" y="0"/>
                </a:moveTo>
                <a:lnTo>
                  <a:pt x="2209800" y="0"/>
                </a:lnTo>
                <a:lnTo>
                  <a:pt x="2209800" y="1639888"/>
                </a:lnTo>
                <a:lnTo>
                  <a:pt x="0" y="163988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11637" y="4013200"/>
            <a:ext cx="2209800" cy="5765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425"/>
              </a:spcBef>
            </a:pPr>
            <a:r>
              <a:rPr sz="2800" dirty="0">
                <a:latin typeface="Arial"/>
                <a:cs typeface="Arial"/>
              </a:rPr>
              <a:t>Student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211637" y="4589462"/>
            <a:ext cx="2209800" cy="10636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0330" rIns="0" bIns="0" rtlCol="0">
            <a:spAutoFit/>
          </a:bodyPr>
          <a:lstStyle/>
          <a:p>
            <a:pPr marL="318135">
              <a:lnSpc>
                <a:spcPct val="100000"/>
              </a:lnSpc>
              <a:spcBef>
                <a:spcPts val="790"/>
              </a:spcBef>
            </a:pPr>
            <a:r>
              <a:rPr sz="2000" spc="-10" dirty="0">
                <a:latin typeface="Arial"/>
                <a:cs typeface="Arial"/>
              </a:rPr>
              <a:t>ID</a:t>
            </a:r>
            <a:endParaRPr sz="2000">
              <a:latin typeface="Arial"/>
              <a:cs typeface="Arial"/>
            </a:endParaRPr>
          </a:p>
          <a:p>
            <a:pPr marL="318135" marR="1205865">
              <a:lnSpc>
                <a:spcPct val="100000"/>
              </a:lnSpc>
            </a:pPr>
            <a:r>
              <a:rPr sz="2000" spc="5" dirty="0">
                <a:latin typeface="Arial"/>
                <a:cs typeface="Arial"/>
              </a:rPr>
              <a:t>N</a:t>
            </a:r>
            <a:r>
              <a:rPr sz="2000" spc="-5" dirty="0">
                <a:latin typeface="Arial"/>
                <a:cs typeface="Arial"/>
              </a:rPr>
              <a:t>am</a:t>
            </a:r>
            <a:r>
              <a:rPr sz="2000" dirty="0">
                <a:latin typeface="Arial"/>
                <a:cs typeface="Arial"/>
              </a:rPr>
              <a:t>e  </a:t>
            </a:r>
            <a:r>
              <a:rPr sz="2000" spc="-5" dirty="0">
                <a:latin typeface="Arial"/>
                <a:cs typeface="Arial"/>
              </a:rPr>
              <a:t>DOB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9475" y="230124"/>
            <a:ext cx="2400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3.2.1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实体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64854"/>
            <a:ext cx="7880350" cy="201993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进程实体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ts val="3100"/>
              </a:lnSpc>
              <a:spcBef>
                <a:spcPts val="120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系统需要它们在某些时刻的快照或者它们的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运 行环境信息</a:t>
            </a:r>
            <a:endParaRPr sz="28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不是它们所体现出来的功能和达成的效果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92462" y="3637053"/>
            <a:ext cx="2209800" cy="2037080"/>
          </a:xfrm>
          <a:custGeom>
            <a:avLst/>
            <a:gdLst/>
            <a:ahLst/>
            <a:cxnLst/>
            <a:rect l="l" t="t" r="r" b="b"/>
            <a:pathLst>
              <a:path w="2209800" h="2037079">
                <a:moveTo>
                  <a:pt x="0" y="0"/>
                </a:moveTo>
                <a:lnTo>
                  <a:pt x="2209800" y="0"/>
                </a:lnTo>
                <a:lnTo>
                  <a:pt x="2209800" y="2036763"/>
                </a:lnTo>
                <a:lnTo>
                  <a:pt x="0" y="2036763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92462" y="3637053"/>
            <a:ext cx="2209800" cy="5765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248285">
              <a:lnSpc>
                <a:spcPct val="100000"/>
              </a:lnSpc>
              <a:spcBef>
                <a:spcPts val="360"/>
              </a:spcBef>
            </a:pPr>
            <a:r>
              <a:rPr sz="2800" dirty="0">
                <a:latin typeface="宋体"/>
                <a:cs typeface="宋体"/>
              </a:rPr>
              <a:t>选课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92462" y="4213316"/>
            <a:ext cx="2209800" cy="14605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318135" marR="1121410">
              <a:lnSpc>
                <a:spcPct val="100000"/>
              </a:lnSpc>
              <a:spcBef>
                <a:spcPts val="775"/>
              </a:spcBef>
            </a:pPr>
            <a:r>
              <a:rPr sz="2000" dirty="0">
                <a:latin typeface="宋体"/>
                <a:cs typeface="宋体"/>
              </a:rPr>
              <a:t>时间 地点 选课人</a:t>
            </a:r>
            <a:endParaRPr sz="2000">
              <a:latin typeface="宋体"/>
              <a:cs typeface="宋体"/>
            </a:endParaRPr>
          </a:p>
          <a:p>
            <a:pPr marL="318135">
              <a:lnSpc>
                <a:spcPct val="100000"/>
              </a:lnSpc>
            </a:pPr>
            <a:r>
              <a:rPr sz="2000" dirty="0">
                <a:latin typeface="宋体"/>
                <a:cs typeface="宋体"/>
              </a:rPr>
              <a:t>被选课程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3.2.2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属性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6373"/>
            <a:ext cx="7880350" cy="455993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属性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实体的描述特征。</a:t>
            </a:r>
            <a:endParaRPr sz="2800">
              <a:latin typeface="宋体"/>
              <a:cs typeface="宋体"/>
            </a:endParaRPr>
          </a:p>
          <a:p>
            <a:pPr marL="755650" marR="5080" lvl="1" indent="-285750">
              <a:lnSpc>
                <a:spcPts val="3190"/>
              </a:lnSpc>
              <a:spcBef>
                <a:spcPts val="109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以数字、代号、单词、短语、文本乃至声音和 图像的形式存在</a:t>
            </a:r>
            <a:endParaRPr sz="2800">
              <a:latin typeface="宋体"/>
              <a:cs typeface="宋体"/>
            </a:endParaRPr>
          </a:p>
          <a:p>
            <a:pPr marL="755650" marR="5080" lvl="1" indent="-285750">
              <a:lnSpc>
                <a:spcPts val="3190"/>
              </a:lnSpc>
              <a:spcBef>
                <a:spcPts val="101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一系列属性的存在集成起来就可以描述一个实 体的实例</a:t>
            </a:r>
            <a:endParaRPr sz="2800">
              <a:latin typeface="宋体"/>
              <a:cs typeface="宋体"/>
            </a:endParaRPr>
          </a:p>
          <a:p>
            <a:pPr marL="355600" marR="201930" indent="-342900" algn="just">
              <a:lnSpc>
                <a:spcPct val="97800"/>
              </a:lnSpc>
              <a:spcBef>
                <a:spcPts val="9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属性是实体的特征，不是数据。属性会以 一定的形式存在，这种存在才是数据，被 称为属性的</a:t>
            </a:r>
            <a:r>
              <a:rPr sz="3100" b="1" spc="145" dirty="0">
                <a:solidFill>
                  <a:srgbClr val="C00000"/>
                </a:solidFill>
                <a:latin typeface="宋体"/>
                <a:cs typeface="宋体"/>
              </a:rPr>
              <a:t>值</a:t>
            </a:r>
            <a:r>
              <a:rPr sz="3100" b="1" spc="30" dirty="0">
                <a:solidFill>
                  <a:srgbClr val="C00000"/>
                </a:solidFill>
                <a:latin typeface="宋体"/>
                <a:cs typeface="宋体"/>
              </a:rPr>
              <a:t>（</a:t>
            </a:r>
            <a:r>
              <a:rPr sz="3200" b="1" spc="30" dirty="0">
                <a:solidFill>
                  <a:srgbClr val="C00000"/>
                </a:solidFill>
                <a:latin typeface="Calibri"/>
                <a:cs typeface="Calibri"/>
              </a:rPr>
              <a:t>Value</a:t>
            </a:r>
            <a:r>
              <a:rPr sz="3100" b="1" spc="30" dirty="0">
                <a:solidFill>
                  <a:srgbClr val="C00000"/>
                </a:solidFill>
                <a:latin typeface="宋体"/>
                <a:cs typeface="宋体"/>
              </a:rPr>
              <a:t>）</a:t>
            </a:r>
            <a:endParaRPr sz="31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3.2.2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属性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370076"/>
            <a:ext cx="803783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00663C"/>
              </a:buClr>
              <a:buFont typeface="Wingdings"/>
              <a:buChar char=""/>
              <a:tabLst>
                <a:tab pos="429895" algn="l"/>
                <a:tab pos="430530" algn="l"/>
              </a:tabLst>
            </a:pPr>
            <a:r>
              <a:rPr dirty="0"/>
              <a:t>	</a:t>
            </a:r>
            <a:r>
              <a:rPr sz="2600" dirty="0">
                <a:latin typeface="宋体"/>
                <a:cs typeface="宋体"/>
              </a:rPr>
              <a:t>属性的值就应该是一个合法的或者有业务含义的值， 这个合法的取值范围称为域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Calibri"/>
                <a:cs typeface="Calibri"/>
              </a:rPr>
              <a:t>Domain</a:t>
            </a:r>
            <a:r>
              <a:rPr sz="2600" spc="-5" dirty="0">
                <a:latin typeface="宋体"/>
                <a:cs typeface="宋体"/>
              </a:rPr>
              <a:t>）</a:t>
            </a:r>
            <a:endParaRPr sz="26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2925" y="2403887"/>
          <a:ext cx="7957819" cy="34719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8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68">
                <a:tc>
                  <a:txBody>
                    <a:bodyPr/>
                    <a:lstStyle/>
                    <a:p>
                      <a:pPr marL="3175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数据类型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类型说明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例子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6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整数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｛最小～最大｝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15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月份的域：｛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～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6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Real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实数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｛最小～最大｝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159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考试得分：｛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0.0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～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100.0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7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6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30" dirty="0">
                          <a:latin typeface="Times New Roman"/>
                          <a:cs typeface="Times New Roman"/>
                        </a:rPr>
                        <a:t>Text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文本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TEXT(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属性的最大长度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)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15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电话号码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：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1600" spc="-5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600" spc="-5" dirty="0">
                          <a:latin typeface="微软雅黑"/>
                          <a:cs typeface="微软雅黑"/>
                        </a:rPr>
                        <a:t>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6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5" dirty="0">
                          <a:latin typeface="Times New Roman"/>
                          <a:cs typeface="Times New Roman"/>
                        </a:rPr>
                        <a:t>Date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日期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｛最早～最晚｝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出生日期：｛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1900-01-01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～今天｝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71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5" dirty="0">
                          <a:latin typeface="Times New Roman"/>
                          <a:cs typeface="Times New Roman"/>
                        </a:rPr>
                        <a:t>Time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时间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｛最早～最晚｝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29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Boolean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布尔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26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Enumeration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枚举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｛值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、</a:t>
                      </a:r>
                      <a:r>
                        <a:rPr sz="1600" dirty="0">
                          <a:latin typeface="Arial"/>
                          <a:cs typeface="Arial"/>
                        </a:rPr>
                        <a:t>…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、值</a:t>
                      </a:r>
                      <a:r>
                        <a:rPr sz="16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600" dirty="0">
                          <a:latin typeface="微软雅黑"/>
                          <a:cs typeface="微软雅黑"/>
                        </a:rPr>
                        <a:t>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 marR="2159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性别：｛男、女、未知｝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29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Times New Roman"/>
                          <a:cs typeface="Times New Roman"/>
                        </a:rPr>
                        <a:t>Binary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二进制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11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3.2.2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属性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2018"/>
            <a:ext cx="8187055" cy="459994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5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标识符，又称为键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spc="-5" dirty="0">
                <a:latin typeface="Calibri"/>
                <a:cs typeface="Calibri"/>
              </a:rPr>
              <a:t>Key</a:t>
            </a:r>
            <a:r>
              <a:rPr sz="3200" spc="-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marR="311150" lvl="1" indent="-285750">
              <a:lnSpc>
                <a:spcPts val="2780"/>
              </a:lnSpc>
              <a:spcBef>
                <a:spcPts val="11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可以被用来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唯一的确定和标识</a:t>
            </a:r>
            <a:r>
              <a:rPr sz="2800" dirty="0">
                <a:latin typeface="宋体"/>
                <a:cs typeface="宋体"/>
              </a:rPr>
              <a:t>每个实例的属性 或者属性组合</a:t>
            </a:r>
          </a:p>
          <a:p>
            <a:pPr marL="355600" indent="-342900">
              <a:lnSpc>
                <a:spcPts val="3670"/>
              </a:lnSpc>
              <a:spcBef>
                <a:spcPts val="3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一个实体可能有多个键</a:t>
            </a:r>
            <a:r>
              <a:rPr sz="3200" spc="-894" dirty="0">
                <a:latin typeface="宋体"/>
                <a:cs typeface="宋体"/>
              </a:rPr>
              <a:t> </a:t>
            </a:r>
            <a:r>
              <a:rPr sz="3200" dirty="0">
                <a:latin typeface="宋体"/>
                <a:cs typeface="宋体"/>
              </a:rPr>
              <a:t>，都被称为候选键</a:t>
            </a:r>
          </a:p>
          <a:p>
            <a:pPr marL="355600">
              <a:lnSpc>
                <a:spcPts val="3670"/>
              </a:lnSpc>
            </a:pPr>
            <a:r>
              <a:rPr sz="3200" dirty="0">
                <a:latin typeface="宋体"/>
                <a:cs typeface="宋体"/>
              </a:rPr>
              <a:t>（</a:t>
            </a:r>
            <a:r>
              <a:rPr sz="3200" dirty="0">
                <a:latin typeface="Calibri"/>
                <a:cs typeface="Calibri"/>
              </a:rPr>
              <a:t>Candidate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Key</a:t>
            </a:r>
            <a:r>
              <a:rPr sz="3200" spc="-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marR="311150" lvl="1" indent="-285750">
              <a:lnSpc>
                <a:spcPts val="2780"/>
              </a:lnSpc>
              <a:spcBef>
                <a:spcPts val="11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人们通常会从多个候选键中选择和使用固定的 某一个键来进行实例的标识</a:t>
            </a:r>
          </a:p>
          <a:p>
            <a:pPr marL="755650" lvl="1" indent="-285750">
              <a:lnSpc>
                <a:spcPct val="100000"/>
              </a:lnSpc>
              <a:spcBef>
                <a:spcPts val="3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这个被选中的候选键被称为主键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Calibri"/>
                <a:cs typeface="Calibri"/>
              </a:rPr>
              <a:t>Primary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Key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 dirty="0">
              <a:latin typeface="宋体"/>
              <a:cs typeface="宋体"/>
            </a:endParaRPr>
          </a:p>
          <a:p>
            <a:pPr marL="755650" lvl="1" indent="-285750">
              <a:lnSpc>
                <a:spcPts val="3085"/>
              </a:lnSpc>
              <a:spcBef>
                <a:spcPts val="53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没有被选做主键的候选键被称为替代键</a:t>
            </a:r>
          </a:p>
          <a:p>
            <a:pPr marL="755650">
              <a:lnSpc>
                <a:spcPts val="3085"/>
              </a:lnSpc>
            </a:pP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Calibri"/>
                <a:cs typeface="Calibri"/>
              </a:rPr>
              <a:t>Alternate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Key</a:t>
            </a:r>
            <a:r>
              <a:rPr sz="2800" spc="-5" dirty="0">
                <a:latin typeface="宋体"/>
                <a:cs typeface="宋体"/>
              </a:rPr>
              <a:t>）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1850" y="358139"/>
            <a:ext cx="2400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3.2.2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属性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6860"/>
            <a:ext cx="3340100" cy="14490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单值属性和多值属性</a:t>
            </a:r>
            <a:endParaRPr sz="2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简单属性和组合属性</a:t>
            </a:r>
            <a:endParaRPr sz="26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95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存储属性和导出属性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06265" y="4516276"/>
            <a:ext cx="2145665" cy="732155"/>
          </a:xfrm>
          <a:custGeom>
            <a:avLst/>
            <a:gdLst/>
            <a:ahLst/>
            <a:cxnLst/>
            <a:rect l="l" t="t" r="r" b="b"/>
            <a:pathLst>
              <a:path w="2145665" h="732154">
                <a:moveTo>
                  <a:pt x="0" y="732107"/>
                </a:moveTo>
                <a:lnTo>
                  <a:pt x="2145204" y="732107"/>
                </a:lnTo>
                <a:lnTo>
                  <a:pt x="2145204" y="0"/>
                </a:lnTo>
                <a:lnTo>
                  <a:pt x="0" y="0"/>
                </a:lnTo>
                <a:lnTo>
                  <a:pt x="0" y="732107"/>
                </a:lnTo>
                <a:close/>
              </a:path>
            </a:pathLst>
          </a:custGeom>
          <a:ln w="192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06265" y="4516276"/>
            <a:ext cx="2145665" cy="732155"/>
          </a:xfrm>
          <a:prstGeom prst="rect">
            <a:avLst/>
          </a:prstGeom>
          <a:ln w="1921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500" spc="15" dirty="0">
                <a:latin typeface="Times New Roman"/>
                <a:cs typeface="Times New Roman"/>
              </a:rPr>
              <a:t>Student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00969" y="3787928"/>
            <a:ext cx="1016635" cy="506095"/>
          </a:xfrm>
          <a:custGeom>
            <a:avLst/>
            <a:gdLst/>
            <a:ahLst/>
            <a:cxnLst/>
            <a:rect l="l" t="t" r="r" b="b"/>
            <a:pathLst>
              <a:path w="1016635" h="506095">
                <a:moveTo>
                  <a:pt x="508262" y="0"/>
                </a:moveTo>
                <a:lnTo>
                  <a:pt x="456224" y="773"/>
                </a:lnTo>
                <a:lnTo>
                  <a:pt x="405740" y="5106"/>
                </a:lnTo>
                <a:lnTo>
                  <a:pt x="356653" y="10831"/>
                </a:lnTo>
                <a:lnTo>
                  <a:pt x="310518" y="19341"/>
                </a:lnTo>
                <a:lnTo>
                  <a:pt x="266092" y="30481"/>
                </a:lnTo>
                <a:lnTo>
                  <a:pt x="223995" y="42705"/>
                </a:lnTo>
                <a:lnTo>
                  <a:pt x="185161" y="58023"/>
                </a:lnTo>
                <a:lnTo>
                  <a:pt x="149278" y="73806"/>
                </a:lnTo>
                <a:lnTo>
                  <a:pt x="132347" y="83090"/>
                </a:lnTo>
                <a:lnTo>
                  <a:pt x="116036" y="91445"/>
                </a:lnTo>
                <a:lnTo>
                  <a:pt x="74095" y="121772"/>
                </a:lnTo>
                <a:lnTo>
                  <a:pt x="40542" y="154421"/>
                </a:lnTo>
                <a:lnTo>
                  <a:pt x="16155" y="189854"/>
                </a:lnTo>
                <a:lnTo>
                  <a:pt x="2796" y="227453"/>
                </a:lnTo>
                <a:lnTo>
                  <a:pt x="0" y="253603"/>
                </a:lnTo>
                <a:lnTo>
                  <a:pt x="1242" y="265827"/>
                </a:lnTo>
                <a:lnTo>
                  <a:pt x="10407" y="303890"/>
                </a:lnTo>
                <a:lnTo>
                  <a:pt x="31222" y="339943"/>
                </a:lnTo>
                <a:lnTo>
                  <a:pt x="61668" y="374138"/>
                </a:lnTo>
                <a:lnTo>
                  <a:pt x="101124" y="404465"/>
                </a:lnTo>
                <a:lnTo>
                  <a:pt x="149278" y="432162"/>
                </a:lnTo>
                <a:lnTo>
                  <a:pt x="185161" y="448718"/>
                </a:lnTo>
                <a:lnTo>
                  <a:pt x="223995" y="463263"/>
                </a:lnTo>
                <a:lnTo>
                  <a:pt x="266092" y="475641"/>
                </a:lnTo>
                <a:lnTo>
                  <a:pt x="310518" y="486782"/>
                </a:lnTo>
                <a:lnTo>
                  <a:pt x="356653" y="495137"/>
                </a:lnTo>
                <a:lnTo>
                  <a:pt x="405740" y="501017"/>
                </a:lnTo>
                <a:lnTo>
                  <a:pt x="456224" y="505195"/>
                </a:lnTo>
                <a:lnTo>
                  <a:pt x="508262" y="505968"/>
                </a:lnTo>
                <a:lnTo>
                  <a:pt x="560300" y="505195"/>
                </a:lnTo>
                <a:lnTo>
                  <a:pt x="610785" y="501017"/>
                </a:lnTo>
                <a:lnTo>
                  <a:pt x="658628" y="495137"/>
                </a:lnTo>
                <a:lnTo>
                  <a:pt x="706162" y="486782"/>
                </a:lnTo>
                <a:lnTo>
                  <a:pt x="750433" y="475641"/>
                </a:lnTo>
                <a:lnTo>
                  <a:pt x="791752" y="463263"/>
                </a:lnTo>
                <a:lnTo>
                  <a:pt x="831363" y="448718"/>
                </a:lnTo>
                <a:lnTo>
                  <a:pt x="867246" y="432162"/>
                </a:lnTo>
                <a:lnTo>
                  <a:pt x="915400" y="404465"/>
                </a:lnTo>
                <a:lnTo>
                  <a:pt x="928915" y="394098"/>
                </a:lnTo>
                <a:lnTo>
                  <a:pt x="942429" y="384196"/>
                </a:lnTo>
                <a:lnTo>
                  <a:pt x="975982" y="351547"/>
                </a:lnTo>
                <a:lnTo>
                  <a:pt x="1000370" y="316269"/>
                </a:lnTo>
                <a:lnTo>
                  <a:pt x="1005341" y="303890"/>
                </a:lnTo>
                <a:lnTo>
                  <a:pt x="1010311" y="291976"/>
                </a:lnTo>
                <a:lnTo>
                  <a:pt x="1013884" y="279288"/>
                </a:lnTo>
                <a:lnTo>
                  <a:pt x="1015282" y="265827"/>
                </a:lnTo>
                <a:lnTo>
                  <a:pt x="1016525" y="253603"/>
                </a:lnTo>
                <a:lnTo>
                  <a:pt x="1015282" y="240141"/>
                </a:lnTo>
                <a:lnTo>
                  <a:pt x="1005341" y="202078"/>
                </a:lnTo>
                <a:lnTo>
                  <a:pt x="985302" y="166025"/>
                </a:lnTo>
                <a:lnTo>
                  <a:pt x="954856" y="132604"/>
                </a:lnTo>
                <a:lnTo>
                  <a:pt x="915400" y="101503"/>
                </a:lnTo>
                <a:lnTo>
                  <a:pt x="884178" y="83090"/>
                </a:lnTo>
                <a:lnTo>
                  <a:pt x="867246" y="73806"/>
                </a:lnTo>
                <a:lnTo>
                  <a:pt x="831363" y="58023"/>
                </a:lnTo>
                <a:lnTo>
                  <a:pt x="791752" y="42705"/>
                </a:lnTo>
                <a:lnTo>
                  <a:pt x="750433" y="30481"/>
                </a:lnTo>
                <a:lnTo>
                  <a:pt x="706162" y="19341"/>
                </a:lnTo>
                <a:lnTo>
                  <a:pt x="658628" y="10831"/>
                </a:lnTo>
                <a:lnTo>
                  <a:pt x="610785" y="5106"/>
                </a:lnTo>
                <a:lnTo>
                  <a:pt x="560300" y="773"/>
                </a:lnTo>
                <a:lnTo>
                  <a:pt x="508262" y="0"/>
                </a:lnTo>
              </a:path>
            </a:pathLst>
          </a:custGeom>
          <a:ln w="19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90170" y="3912041"/>
            <a:ext cx="82486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"/>
                <a:cs typeface="Arial"/>
              </a:rPr>
              <a:t>Student</a:t>
            </a:r>
            <a:r>
              <a:rPr sz="1300" spc="10" dirty="0">
                <a:latin typeface="Arial"/>
                <a:cs typeface="Arial"/>
              </a:rPr>
              <a:t>N</a:t>
            </a:r>
            <a:r>
              <a:rPr sz="1300" spc="15" dirty="0">
                <a:latin typeface="Arial"/>
                <a:cs typeface="Arial"/>
              </a:rPr>
              <a:t>o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13278" y="4144428"/>
            <a:ext cx="802640" cy="0"/>
          </a:xfrm>
          <a:custGeom>
            <a:avLst/>
            <a:gdLst/>
            <a:ahLst/>
            <a:cxnLst/>
            <a:rect l="l" t="t" r="r" b="b"/>
            <a:pathLst>
              <a:path w="802639">
                <a:moveTo>
                  <a:pt x="0" y="0"/>
                </a:moveTo>
                <a:lnTo>
                  <a:pt x="802470" y="0"/>
                </a:lnTo>
              </a:path>
            </a:pathLst>
          </a:custGeom>
          <a:ln w="34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710009" y="4293124"/>
            <a:ext cx="0" cy="224790"/>
          </a:xfrm>
          <a:custGeom>
            <a:avLst/>
            <a:gdLst/>
            <a:ahLst/>
            <a:cxnLst/>
            <a:rect l="l" t="t" r="r" b="b"/>
            <a:pathLst>
              <a:path h="224789">
                <a:moveTo>
                  <a:pt x="0" y="0"/>
                </a:moveTo>
                <a:lnTo>
                  <a:pt x="0" y="224668"/>
                </a:lnTo>
              </a:path>
            </a:pathLst>
          </a:custGeom>
          <a:ln w="18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938505" y="3333194"/>
            <a:ext cx="34544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"/>
                <a:cs typeface="Arial"/>
              </a:rPr>
              <a:t>Last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1556" y="3377757"/>
            <a:ext cx="35496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0" dirty="0">
                <a:latin typeface="Arial"/>
                <a:cs typeface="Arial"/>
              </a:rPr>
              <a:t>First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65752" y="4368342"/>
            <a:ext cx="476884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15" dirty="0">
                <a:latin typeface="Arial"/>
                <a:cs typeface="Arial"/>
              </a:rPr>
              <a:t>Name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68400" y="5643643"/>
            <a:ext cx="1015365" cy="506730"/>
          </a:xfrm>
          <a:custGeom>
            <a:avLst/>
            <a:gdLst/>
            <a:ahLst/>
            <a:cxnLst/>
            <a:rect l="l" t="t" r="r" b="b"/>
            <a:pathLst>
              <a:path w="1015364" h="506729">
                <a:moveTo>
                  <a:pt x="507330" y="0"/>
                </a:moveTo>
                <a:lnTo>
                  <a:pt x="456069" y="1531"/>
                </a:lnTo>
                <a:lnTo>
                  <a:pt x="405584" y="4982"/>
                </a:lnTo>
                <a:lnTo>
                  <a:pt x="356653" y="11511"/>
                </a:lnTo>
                <a:lnTo>
                  <a:pt x="309586" y="19960"/>
                </a:lnTo>
                <a:lnTo>
                  <a:pt x="265936" y="31100"/>
                </a:lnTo>
                <a:lnTo>
                  <a:pt x="223995" y="43401"/>
                </a:lnTo>
                <a:lnTo>
                  <a:pt x="184229" y="57606"/>
                </a:lnTo>
                <a:lnTo>
                  <a:pt x="149123" y="74518"/>
                </a:lnTo>
                <a:lnTo>
                  <a:pt x="100969" y="101394"/>
                </a:lnTo>
                <a:lnTo>
                  <a:pt x="61668" y="132511"/>
                </a:lnTo>
                <a:lnTo>
                  <a:pt x="39610" y="155179"/>
                </a:lnTo>
                <a:lnTo>
                  <a:pt x="30446" y="165933"/>
                </a:lnTo>
                <a:lnTo>
                  <a:pt x="10407" y="202031"/>
                </a:lnTo>
                <a:lnTo>
                  <a:pt x="0" y="240838"/>
                </a:lnTo>
                <a:lnTo>
                  <a:pt x="0" y="253123"/>
                </a:lnTo>
                <a:lnTo>
                  <a:pt x="0" y="266569"/>
                </a:lnTo>
                <a:lnTo>
                  <a:pt x="10407" y="304587"/>
                </a:lnTo>
                <a:lnTo>
                  <a:pt x="30446" y="340314"/>
                </a:lnTo>
                <a:lnTo>
                  <a:pt x="61668" y="374123"/>
                </a:lnTo>
                <a:lnTo>
                  <a:pt x="73163" y="384876"/>
                </a:lnTo>
                <a:lnTo>
                  <a:pt x="86678" y="394860"/>
                </a:lnTo>
                <a:lnTo>
                  <a:pt x="100969" y="405230"/>
                </a:lnTo>
                <a:lnTo>
                  <a:pt x="116036" y="414448"/>
                </a:lnTo>
                <a:lnTo>
                  <a:pt x="132191" y="423667"/>
                </a:lnTo>
                <a:lnTo>
                  <a:pt x="148036" y="432886"/>
                </a:lnTo>
                <a:lnTo>
                  <a:pt x="184229" y="448635"/>
                </a:lnTo>
                <a:lnTo>
                  <a:pt x="223995" y="463616"/>
                </a:lnTo>
                <a:lnTo>
                  <a:pt x="265936" y="476291"/>
                </a:lnTo>
                <a:lnTo>
                  <a:pt x="309586" y="486277"/>
                </a:lnTo>
                <a:lnTo>
                  <a:pt x="356653" y="495496"/>
                </a:lnTo>
                <a:lnTo>
                  <a:pt x="405584" y="501642"/>
                </a:lnTo>
                <a:lnTo>
                  <a:pt x="456069" y="505868"/>
                </a:lnTo>
                <a:lnTo>
                  <a:pt x="507330" y="506635"/>
                </a:lnTo>
                <a:lnTo>
                  <a:pt x="559523" y="505868"/>
                </a:lnTo>
                <a:lnTo>
                  <a:pt x="610008" y="501642"/>
                </a:lnTo>
                <a:lnTo>
                  <a:pt x="658628" y="495496"/>
                </a:lnTo>
                <a:lnTo>
                  <a:pt x="704764" y="486277"/>
                </a:lnTo>
                <a:lnTo>
                  <a:pt x="749501" y="476291"/>
                </a:lnTo>
                <a:lnTo>
                  <a:pt x="791597" y="463616"/>
                </a:lnTo>
                <a:lnTo>
                  <a:pt x="830120" y="448635"/>
                </a:lnTo>
                <a:lnTo>
                  <a:pt x="866469" y="432886"/>
                </a:lnTo>
                <a:lnTo>
                  <a:pt x="914624" y="405230"/>
                </a:lnTo>
                <a:lnTo>
                  <a:pt x="953924" y="374123"/>
                </a:lnTo>
                <a:lnTo>
                  <a:pt x="965885" y="362982"/>
                </a:lnTo>
                <a:lnTo>
                  <a:pt x="975982" y="352228"/>
                </a:lnTo>
                <a:lnTo>
                  <a:pt x="984370" y="340314"/>
                </a:lnTo>
                <a:lnTo>
                  <a:pt x="992914" y="328787"/>
                </a:lnTo>
                <a:lnTo>
                  <a:pt x="1009535" y="291914"/>
                </a:lnTo>
                <a:lnTo>
                  <a:pt x="1015282" y="253123"/>
                </a:lnTo>
                <a:lnTo>
                  <a:pt x="1014506" y="240838"/>
                </a:lnTo>
                <a:lnTo>
                  <a:pt x="1005185" y="202031"/>
                </a:lnTo>
                <a:lnTo>
                  <a:pt x="984370" y="165933"/>
                </a:lnTo>
                <a:lnTo>
                  <a:pt x="953924" y="132511"/>
                </a:lnTo>
                <a:lnTo>
                  <a:pt x="914624" y="101394"/>
                </a:lnTo>
                <a:lnTo>
                  <a:pt x="866469" y="74518"/>
                </a:lnTo>
                <a:lnTo>
                  <a:pt x="830120" y="57606"/>
                </a:lnTo>
                <a:lnTo>
                  <a:pt x="791597" y="43401"/>
                </a:lnTo>
                <a:lnTo>
                  <a:pt x="749501" y="31100"/>
                </a:lnTo>
                <a:lnTo>
                  <a:pt x="704764" y="19960"/>
                </a:lnTo>
                <a:lnTo>
                  <a:pt x="658628" y="11511"/>
                </a:lnTo>
                <a:lnTo>
                  <a:pt x="610008" y="4982"/>
                </a:lnTo>
                <a:lnTo>
                  <a:pt x="559523" y="1531"/>
                </a:lnTo>
                <a:lnTo>
                  <a:pt x="507330" y="0"/>
                </a:lnTo>
              </a:path>
            </a:pathLst>
          </a:custGeom>
          <a:ln w="184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09934" y="3199082"/>
            <a:ext cx="2485020" cy="16041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05053" y="5725035"/>
            <a:ext cx="39433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Arial"/>
                <a:cs typeface="Arial"/>
              </a:rPr>
              <a:t>y</a:t>
            </a:r>
            <a:r>
              <a:rPr sz="1450" spc="10" dirty="0">
                <a:latin typeface="Arial"/>
                <a:cs typeface="Arial"/>
              </a:rPr>
              <a:t>ear</a:t>
            </a:r>
            <a:endParaRPr sz="14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008004" y="4911907"/>
            <a:ext cx="1015365" cy="507365"/>
          </a:xfrm>
          <a:custGeom>
            <a:avLst/>
            <a:gdLst/>
            <a:ahLst/>
            <a:cxnLst/>
            <a:rect l="l" t="t" r="r" b="b"/>
            <a:pathLst>
              <a:path w="1015365" h="507364">
                <a:moveTo>
                  <a:pt x="507486" y="0"/>
                </a:moveTo>
                <a:lnTo>
                  <a:pt x="455758" y="1918"/>
                </a:lnTo>
                <a:lnTo>
                  <a:pt x="405584" y="5384"/>
                </a:lnTo>
                <a:lnTo>
                  <a:pt x="356653" y="11914"/>
                </a:lnTo>
                <a:lnTo>
                  <a:pt x="309586" y="20362"/>
                </a:lnTo>
                <a:lnTo>
                  <a:pt x="265626" y="31116"/>
                </a:lnTo>
                <a:lnTo>
                  <a:pt x="223685" y="43788"/>
                </a:lnTo>
                <a:lnTo>
                  <a:pt x="184385" y="57993"/>
                </a:lnTo>
                <a:lnTo>
                  <a:pt x="148036" y="74905"/>
                </a:lnTo>
                <a:lnTo>
                  <a:pt x="116036" y="92575"/>
                </a:lnTo>
                <a:lnTo>
                  <a:pt x="100969" y="101781"/>
                </a:lnTo>
                <a:lnTo>
                  <a:pt x="86678" y="111777"/>
                </a:lnTo>
                <a:lnTo>
                  <a:pt x="73319" y="121757"/>
                </a:lnTo>
                <a:lnTo>
                  <a:pt x="61358" y="132898"/>
                </a:lnTo>
                <a:lnTo>
                  <a:pt x="49707" y="143651"/>
                </a:lnTo>
                <a:lnTo>
                  <a:pt x="22679" y="177847"/>
                </a:lnTo>
                <a:lnTo>
                  <a:pt x="5747" y="215106"/>
                </a:lnTo>
                <a:lnTo>
                  <a:pt x="0" y="240064"/>
                </a:lnTo>
                <a:lnTo>
                  <a:pt x="0" y="253510"/>
                </a:lnTo>
                <a:lnTo>
                  <a:pt x="0" y="266183"/>
                </a:lnTo>
                <a:lnTo>
                  <a:pt x="2640" y="279629"/>
                </a:lnTo>
                <a:lnTo>
                  <a:pt x="5747" y="291930"/>
                </a:lnTo>
                <a:lnTo>
                  <a:pt x="9941" y="304602"/>
                </a:lnTo>
                <a:lnTo>
                  <a:pt x="16155" y="316501"/>
                </a:lnTo>
                <a:lnTo>
                  <a:pt x="22679" y="329189"/>
                </a:lnTo>
                <a:lnTo>
                  <a:pt x="30446" y="340701"/>
                </a:lnTo>
                <a:lnTo>
                  <a:pt x="39766" y="352615"/>
                </a:lnTo>
                <a:lnTo>
                  <a:pt x="49707" y="363369"/>
                </a:lnTo>
                <a:lnTo>
                  <a:pt x="61358" y="374123"/>
                </a:lnTo>
                <a:lnTo>
                  <a:pt x="73319" y="385263"/>
                </a:lnTo>
                <a:lnTo>
                  <a:pt x="116036" y="414461"/>
                </a:lnTo>
                <a:lnTo>
                  <a:pt x="184385" y="449028"/>
                </a:lnTo>
                <a:lnTo>
                  <a:pt x="223685" y="463232"/>
                </a:lnTo>
                <a:lnTo>
                  <a:pt x="265626" y="475920"/>
                </a:lnTo>
                <a:lnTo>
                  <a:pt x="309586" y="486674"/>
                </a:lnTo>
                <a:lnTo>
                  <a:pt x="356653" y="495122"/>
                </a:lnTo>
                <a:lnTo>
                  <a:pt x="405584" y="501652"/>
                </a:lnTo>
                <a:lnTo>
                  <a:pt x="455758" y="505102"/>
                </a:lnTo>
                <a:lnTo>
                  <a:pt x="507486" y="507021"/>
                </a:lnTo>
                <a:lnTo>
                  <a:pt x="559523" y="505102"/>
                </a:lnTo>
                <a:lnTo>
                  <a:pt x="610008" y="501652"/>
                </a:lnTo>
                <a:lnTo>
                  <a:pt x="658628" y="495122"/>
                </a:lnTo>
                <a:lnTo>
                  <a:pt x="704919" y="486674"/>
                </a:lnTo>
                <a:lnTo>
                  <a:pt x="749656" y="475920"/>
                </a:lnTo>
                <a:lnTo>
                  <a:pt x="791597" y="463232"/>
                </a:lnTo>
                <a:lnTo>
                  <a:pt x="830276" y="449028"/>
                </a:lnTo>
                <a:lnTo>
                  <a:pt x="866469" y="432889"/>
                </a:lnTo>
                <a:lnTo>
                  <a:pt x="914313" y="405239"/>
                </a:lnTo>
                <a:lnTo>
                  <a:pt x="953924" y="374123"/>
                </a:lnTo>
                <a:lnTo>
                  <a:pt x="965574" y="363369"/>
                </a:lnTo>
                <a:lnTo>
                  <a:pt x="992603" y="329189"/>
                </a:lnTo>
                <a:lnTo>
                  <a:pt x="1009535" y="291930"/>
                </a:lnTo>
                <a:lnTo>
                  <a:pt x="1015282" y="253510"/>
                </a:lnTo>
                <a:lnTo>
                  <a:pt x="1014506" y="240064"/>
                </a:lnTo>
                <a:lnTo>
                  <a:pt x="1005341" y="202418"/>
                </a:lnTo>
                <a:lnTo>
                  <a:pt x="985302" y="166319"/>
                </a:lnTo>
                <a:lnTo>
                  <a:pt x="953924" y="132898"/>
                </a:lnTo>
                <a:lnTo>
                  <a:pt x="942118" y="121757"/>
                </a:lnTo>
                <a:lnTo>
                  <a:pt x="899245" y="92575"/>
                </a:lnTo>
                <a:lnTo>
                  <a:pt x="830276" y="57993"/>
                </a:lnTo>
                <a:lnTo>
                  <a:pt x="791597" y="43788"/>
                </a:lnTo>
                <a:lnTo>
                  <a:pt x="749656" y="31116"/>
                </a:lnTo>
                <a:lnTo>
                  <a:pt x="704919" y="20362"/>
                </a:lnTo>
                <a:lnTo>
                  <a:pt x="658628" y="11914"/>
                </a:lnTo>
                <a:lnTo>
                  <a:pt x="610008" y="5384"/>
                </a:lnTo>
                <a:lnTo>
                  <a:pt x="559523" y="1918"/>
                </a:lnTo>
                <a:lnTo>
                  <a:pt x="507486" y="0"/>
                </a:lnTo>
              </a:path>
            </a:pathLst>
          </a:custGeom>
          <a:ln w="192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53437" y="5045551"/>
            <a:ext cx="75184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Arial"/>
                <a:cs typeface="Arial"/>
              </a:rPr>
              <a:t>Program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37178" y="4793987"/>
            <a:ext cx="508000" cy="281940"/>
          </a:xfrm>
          <a:custGeom>
            <a:avLst/>
            <a:gdLst/>
            <a:ahLst/>
            <a:cxnLst/>
            <a:rect l="l" t="t" r="r" b="b"/>
            <a:pathLst>
              <a:path w="508000" h="281939">
                <a:moveTo>
                  <a:pt x="0" y="0"/>
                </a:moveTo>
                <a:lnTo>
                  <a:pt x="507796" y="281547"/>
                </a:lnTo>
              </a:path>
            </a:pathLst>
          </a:custGeom>
          <a:ln w="19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922605" y="5231874"/>
            <a:ext cx="0" cy="394335"/>
          </a:xfrm>
          <a:custGeom>
            <a:avLst/>
            <a:gdLst/>
            <a:ahLst/>
            <a:cxnLst/>
            <a:rect l="l" t="t" r="r" b="b"/>
            <a:pathLst>
              <a:path h="394335">
                <a:moveTo>
                  <a:pt x="0" y="394098"/>
                </a:moveTo>
                <a:lnTo>
                  <a:pt x="0" y="0"/>
                </a:lnTo>
              </a:path>
            </a:pathLst>
          </a:custGeom>
          <a:ln w="18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048177" y="5587167"/>
            <a:ext cx="1016635" cy="563245"/>
          </a:xfrm>
          <a:custGeom>
            <a:avLst/>
            <a:gdLst/>
            <a:ahLst/>
            <a:cxnLst/>
            <a:rect l="l" t="t" r="r" b="b"/>
            <a:pathLst>
              <a:path w="1016635" h="563245">
                <a:moveTo>
                  <a:pt x="508262" y="0"/>
                </a:moveTo>
                <a:lnTo>
                  <a:pt x="455758" y="1934"/>
                </a:lnTo>
                <a:lnTo>
                  <a:pt x="405740" y="6158"/>
                </a:lnTo>
                <a:lnTo>
                  <a:pt x="356653" y="12687"/>
                </a:lnTo>
                <a:lnTo>
                  <a:pt x="310363" y="22668"/>
                </a:lnTo>
                <a:lnTo>
                  <a:pt x="265781" y="34582"/>
                </a:lnTo>
                <a:lnTo>
                  <a:pt x="223685" y="48012"/>
                </a:lnTo>
                <a:lnTo>
                  <a:pt x="185161" y="64924"/>
                </a:lnTo>
                <a:lnTo>
                  <a:pt x="148812" y="82595"/>
                </a:lnTo>
                <a:lnTo>
                  <a:pt x="116036" y="102570"/>
                </a:lnTo>
                <a:lnTo>
                  <a:pt x="74095" y="135977"/>
                </a:lnTo>
                <a:lnTo>
                  <a:pt x="40542" y="172091"/>
                </a:lnTo>
                <a:lnTo>
                  <a:pt x="16155" y="211655"/>
                </a:lnTo>
                <a:lnTo>
                  <a:pt x="2640" y="252752"/>
                </a:lnTo>
                <a:lnTo>
                  <a:pt x="0" y="281950"/>
                </a:lnTo>
                <a:lnTo>
                  <a:pt x="776" y="296154"/>
                </a:lnTo>
                <a:lnTo>
                  <a:pt x="10096" y="338411"/>
                </a:lnTo>
                <a:lnTo>
                  <a:pt x="31222" y="378362"/>
                </a:lnTo>
                <a:lnTo>
                  <a:pt x="61358" y="416379"/>
                </a:lnTo>
                <a:lnTo>
                  <a:pt x="101124" y="449800"/>
                </a:lnTo>
                <a:lnTo>
                  <a:pt x="148812" y="480913"/>
                </a:lnTo>
                <a:lnTo>
                  <a:pt x="185161" y="499349"/>
                </a:lnTo>
                <a:lnTo>
                  <a:pt x="223685" y="515099"/>
                </a:lnTo>
                <a:lnTo>
                  <a:pt x="265781" y="529695"/>
                </a:lnTo>
                <a:lnTo>
                  <a:pt x="310363" y="541218"/>
                </a:lnTo>
                <a:lnTo>
                  <a:pt x="356653" y="550437"/>
                </a:lnTo>
                <a:lnTo>
                  <a:pt x="405740" y="557350"/>
                </a:lnTo>
                <a:lnTo>
                  <a:pt x="455758" y="561576"/>
                </a:lnTo>
                <a:lnTo>
                  <a:pt x="508262" y="563112"/>
                </a:lnTo>
                <a:lnTo>
                  <a:pt x="560300" y="561576"/>
                </a:lnTo>
                <a:lnTo>
                  <a:pt x="610785" y="557350"/>
                </a:lnTo>
                <a:lnTo>
                  <a:pt x="658628" y="550437"/>
                </a:lnTo>
                <a:lnTo>
                  <a:pt x="705696" y="541218"/>
                </a:lnTo>
                <a:lnTo>
                  <a:pt x="750433" y="529695"/>
                </a:lnTo>
                <a:lnTo>
                  <a:pt x="791752" y="515099"/>
                </a:lnTo>
                <a:lnTo>
                  <a:pt x="831052" y="499349"/>
                </a:lnTo>
                <a:lnTo>
                  <a:pt x="867246" y="480913"/>
                </a:lnTo>
                <a:lnTo>
                  <a:pt x="900022" y="460555"/>
                </a:lnTo>
                <a:lnTo>
                  <a:pt x="942118" y="427907"/>
                </a:lnTo>
                <a:lnTo>
                  <a:pt x="975982" y="391035"/>
                </a:lnTo>
                <a:lnTo>
                  <a:pt x="992603" y="364916"/>
                </a:lnTo>
                <a:lnTo>
                  <a:pt x="1000370" y="351857"/>
                </a:lnTo>
                <a:lnTo>
                  <a:pt x="1005341" y="338411"/>
                </a:lnTo>
                <a:lnTo>
                  <a:pt x="1010311" y="324965"/>
                </a:lnTo>
                <a:lnTo>
                  <a:pt x="1013729" y="310745"/>
                </a:lnTo>
                <a:lnTo>
                  <a:pt x="1015282" y="296154"/>
                </a:lnTo>
                <a:lnTo>
                  <a:pt x="1016059" y="281950"/>
                </a:lnTo>
                <a:lnTo>
                  <a:pt x="1015282" y="266956"/>
                </a:lnTo>
                <a:lnTo>
                  <a:pt x="1005341" y="225102"/>
                </a:lnTo>
                <a:lnTo>
                  <a:pt x="992603" y="198209"/>
                </a:lnTo>
                <a:lnTo>
                  <a:pt x="985302" y="184763"/>
                </a:lnTo>
                <a:lnTo>
                  <a:pt x="954856" y="147891"/>
                </a:lnTo>
                <a:lnTo>
                  <a:pt x="915400" y="113324"/>
                </a:lnTo>
                <a:lnTo>
                  <a:pt x="867246" y="82595"/>
                </a:lnTo>
                <a:lnTo>
                  <a:pt x="831052" y="64924"/>
                </a:lnTo>
                <a:lnTo>
                  <a:pt x="791752" y="48012"/>
                </a:lnTo>
                <a:lnTo>
                  <a:pt x="750433" y="34582"/>
                </a:lnTo>
                <a:lnTo>
                  <a:pt x="705696" y="22668"/>
                </a:lnTo>
                <a:lnTo>
                  <a:pt x="658628" y="12687"/>
                </a:lnTo>
                <a:lnTo>
                  <a:pt x="610785" y="6158"/>
                </a:lnTo>
                <a:lnTo>
                  <a:pt x="560300" y="1934"/>
                </a:lnTo>
                <a:lnTo>
                  <a:pt x="508262" y="0"/>
                </a:lnTo>
              </a:path>
            </a:pathLst>
          </a:custGeom>
          <a:ln w="19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98469" y="5249158"/>
            <a:ext cx="394970" cy="337820"/>
          </a:xfrm>
          <a:custGeom>
            <a:avLst/>
            <a:gdLst/>
            <a:ahLst/>
            <a:cxnLst/>
            <a:rect l="l" t="t" r="r" b="b"/>
            <a:pathLst>
              <a:path w="394970" h="337820">
                <a:moveTo>
                  <a:pt x="394866" y="337250"/>
                </a:moveTo>
                <a:lnTo>
                  <a:pt x="0" y="0"/>
                </a:lnTo>
              </a:path>
            </a:pathLst>
          </a:custGeom>
          <a:ln w="192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373646" y="5725035"/>
            <a:ext cx="43624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5" dirty="0">
                <a:latin typeface="Arial"/>
                <a:cs typeface="Arial"/>
              </a:rPr>
              <a:t>DOB</a:t>
            </a:r>
            <a:endParaRPr sz="14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85398" y="4942249"/>
            <a:ext cx="621030" cy="337820"/>
          </a:xfrm>
          <a:custGeom>
            <a:avLst/>
            <a:gdLst/>
            <a:ahLst/>
            <a:cxnLst/>
            <a:rect l="l" t="t" r="r" b="b"/>
            <a:pathLst>
              <a:path w="621029" h="337820">
                <a:moveTo>
                  <a:pt x="0" y="337250"/>
                </a:moveTo>
                <a:lnTo>
                  <a:pt x="620866" y="0"/>
                </a:lnTo>
              </a:path>
            </a:pathLst>
          </a:custGeom>
          <a:ln w="184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904653" y="5305619"/>
            <a:ext cx="1016635" cy="561975"/>
          </a:xfrm>
          <a:custGeom>
            <a:avLst/>
            <a:gdLst/>
            <a:ahLst/>
            <a:cxnLst/>
            <a:rect l="l" t="t" r="r" b="b"/>
            <a:pathLst>
              <a:path w="1016635" h="561975">
                <a:moveTo>
                  <a:pt x="508247" y="0"/>
                </a:moveTo>
                <a:lnTo>
                  <a:pt x="455789" y="773"/>
                </a:lnTo>
                <a:lnTo>
                  <a:pt x="405662" y="4997"/>
                </a:lnTo>
                <a:lnTo>
                  <a:pt x="357461" y="12285"/>
                </a:lnTo>
                <a:lnTo>
                  <a:pt x="310425" y="21507"/>
                </a:lnTo>
                <a:lnTo>
                  <a:pt x="265688" y="33421"/>
                </a:lnTo>
                <a:lnTo>
                  <a:pt x="223654" y="47626"/>
                </a:lnTo>
                <a:lnTo>
                  <a:pt x="185099" y="63764"/>
                </a:lnTo>
                <a:lnTo>
                  <a:pt x="148843" y="82208"/>
                </a:lnTo>
                <a:lnTo>
                  <a:pt x="116067" y="102168"/>
                </a:lnTo>
                <a:lnTo>
                  <a:pt x="74033" y="134816"/>
                </a:lnTo>
                <a:lnTo>
                  <a:pt x="50515" y="159403"/>
                </a:lnTo>
                <a:lnTo>
                  <a:pt x="40480" y="170930"/>
                </a:lnTo>
                <a:lnTo>
                  <a:pt x="16186" y="210495"/>
                </a:lnTo>
                <a:lnTo>
                  <a:pt x="2702" y="252365"/>
                </a:lnTo>
                <a:lnTo>
                  <a:pt x="0" y="280789"/>
                </a:lnTo>
                <a:lnTo>
                  <a:pt x="761" y="294993"/>
                </a:lnTo>
                <a:lnTo>
                  <a:pt x="10019" y="338024"/>
                </a:lnTo>
                <a:lnTo>
                  <a:pt x="31238" y="377202"/>
                </a:lnTo>
                <a:lnTo>
                  <a:pt x="40480" y="390648"/>
                </a:lnTo>
                <a:lnTo>
                  <a:pt x="50515" y="402547"/>
                </a:lnTo>
                <a:lnTo>
                  <a:pt x="61311" y="415219"/>
                </a:lnTo>
                <a:lnTo>
                  <a:pt x="74033" y="426746"/>
                </a:lnTo>
                <a:lnTo>
                  <a:pt x="86755" y="438661"/>
                </a:lnTo>
                <a:lnTo>
                  <a:pt x="101031" y="449414"/>
                </a:lnTo>
                <a:lnTo>
                  <a:pt x="116067" y="459395"/>
                </a:lnTo>
                <a:lnTo>
                  <a:pt x="132269" y="470535"/>
                </a:lnTo>
                <a:lnTo>
                  <a:pt x="185099" y="498186"/>
                </a:lnTo>
                <a:lnTo>
                  <a:pt x="223654" y="513937"/>
                </a:lnTo>
                <a:lnTo>
                  <a:pt x="265688" y="528544"/>
                </a:lnTo>
                <a:lnTo>
                  <a:pt x="310425" y="540056"/>
                </a:lnTo>
                <a:lnTo>
                  <a:pt x="357461" y="549278"/>
                </a:lnTo>
                <a:lnTo>
                  <a:pt x="405662" y="556968"/>
                </a:lnTo>
                <a:lnTo>
                  <a:pt x="455789" y="561192"/>
                </a:lnTo>
                <a:lnTo>
                  <a:pt x="508247" y="561950"/>
                </a:lnTo>
                <a:lnTo>
                  <a:pt x="560300" y="561192"/>
                </a:lnTo>
                <a:lnTo>
                  <a:pt x="610816" y="556968"/>
                </a:lnTo>
                <a:lnTo>
                  <a:pt x="659405" y="549278"/>
                </a:lnTo>
                <a:lnTo>
                  <a:pt x="705680" y="540056"/>
                </a:lnTo>
                <a:lnTo>
                  <a:pt x="750402" y="528544"/>
                </a:lnTo>
                <a:lnTo>
                  <a:pt x="792436" y="513937"/>
                </a:lnTo>
                <a:lnTo>
                  <a:pt x="831006" y="498186"/>
                </a:lnTo>
                <a:lnTo>
                  <a:pt x="867246" y="479757"/>
                </a:lnTo>
                <a:lnTo>
                  <a:pt x="900022" y="459395"/>
                </a:lnTo>
                <a:lnTo>
                  <a:pt x="915447" y="449414"/>
                </a:lnTo>
                <a:lnTo>
                  <a:pt x="929723" y="438661"/>
                </a:lnTo>
                <a:lnTo>
                  <a:pt x="942056" y="426746"/>
                </a:lnTo>
                <a:lnTo>
                  <a:pt x="954778" y="415219"/>
                </a:lnTo>
                <a:lnTo>
                  <a:pt x="965574" y="402547"/>
                </a:lnTo>
                <a:lnTo>
                  <a:pt x="975997" y="390648"/>
                </a:lnTo>
                <a:lnTo>
                  <a:pt x="985240" y="377202"/>
                </a:lnTo>
                <a:lnTo>
                  <a:pt x="1005294" y="338024"/>
                </a:lnTo>
                <a:lnTo>
                  <a:pt x="1015329" y="294993"/>
                </a:lnTo>
                <a:lnTo>
                  <a:pt x="1016090" y="280789"/>
                </a:lnTo>
                <a:lnTo>
                  <a:pt x="1015329" y="266569"/>
                </a:lnTo>
                <a:lnTo>
                  <a:pt x="1005294" y="223941"/>
                </a:lnTo>
                <a:lnTo>
                  <a:pt x="985240" y="184376"/>
                </a:lnTo>
                <a:lnTo>
                  <a:pt x="965574" y="159403"/>
                </a:lnTo>
                <a:lnTo>
                  <a:pt x="954778" y="146731"/>
                </a:lnTo>
                <a:lnTo>
                  <a:pt x="915447" y="112164"/>
                </a:lnTo>
                <a:lnTo>
                  <a:pt x="867246" y="82208"/>
                </a:lnTo>
                <a:lnTo>
                  <a:pt x="831006" y="63764"/>
                </a:lnTo>
                <a:lnTo>
                  <a:pt x="792436" y="47626"/>
                </a:lnTo>
                <a:lnTo>
                  <a:pt x="750402" y="33421"/>
                </a:lnTo>
                <a:lnTo>
                  <a:pt x="705680" y="21507"/>
                </a:lnTo>
                <a:lnTo>
                  <a:pt x="659405" y="12285"/>
                </a:lnTo>
                <a:lnTo>
                  <a:pt x="610816" y="4997"/>
                </a:lnTo>
                <a:lnTo>
                  <a:pt x="560300" y="773"/>
                </a:lnTo>
                <a:lnTo>
                  <a:pt x="508247" y="0"/>
                </a:lnTo>
              </a:path>
            </a:pathLst>
          </a:custGeom>
          <a:ln w="184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544595" y="5177481"/>
            <a:ext cx="1705610" cy="815975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50" spc="10" dirty="0">
                <a:latin typeface="Arial"/>
                <a:cs typeface="Arial"/>
              </a:rPr>
              <a:t>email</a:t>
            </a:r>
            <a:endParaRPr sz="14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735755" y="5248384"/>
            <a:ext cx="1354455" cy="675640"/>
          </a:xfrm>
          <a:custGeom>
            <a:avLst/>
            <a:gdLst/>
            <a:ahLst/>
            <a:cxnLst/>
            <a:rect l="l" t="t" r="r" b="b"/>
            <a:pathLst>
              <a:path w="1354455" h="675639">
                <a:moveTo>
                  <a:pt x="677145" y="0"/>
                </a:moveTo>
                <a:lnTo>
                  <a:pt x="642427" y="773"/>
                </a:lnTo>
                <a:lnTo>
                  <a:pt x="608113" y="2692"/>
                </a:lnTo>
                <a:lnTo>
                  <a:pt x="573411" y="4224"/>
                </a:lnTo>
                <a:lnTo>
                  <a:pt x="475843" y="16138"/>
                </a:lnTo>
                <a:lnTo>
                  <a:pt x="413755" y="26892"/>
                </a:lnTo>
                <a:lnTo>
                  <a:pt x="353997" y="41096"/>
                </a:lnTo>
                <a:lnTo>
                  <a:pt x="326223" y="49560"/>
                </a:lnTo>
                <a:lnTo>
                  <a:pt x="298464" y="58008"/>
                </a:lnTo>
                <a:lnTo>
                  <a:pt x="271466" y="67230"/>
                </a:lnTo>
                <a:lnTo>
                  <a:pt x="246411" y="77210"/>
                </a:lnTo>
                <a:lnTo>
                  <a:pt x="222116" y="88351"/>
                </a:lnTo>
                <a:lnTo>
                  <a:pt x="198194" y="99104"/>
                </a:lnTo>
                <a:lnTo>
                  <a:pt x="154622" y="123304"/>
                </a:lnTo>
                <a:lnTo>
                  <a:pt x="115291" y="149423"/>
                </a:lnTo>
                <a:lnTo>
                  <a:pt x="81365" y="177073"/>
                </a:lnTo>
                <a:lnTo>
                  <a:pt x="52830" y="206271"/>
                </a:lnTo>
                <a:lnTo>
                  <a:pt x="41257" y="222409"/>
                </a:lnTo>
                <a:lnTo>
                  <a:pt x="30073" y="237387"/>
                </a:lnTo>
                <a:lnTo>
                  <a:pt x="7316" y="286932"/>
                </a:lnTo>
                <a:lnTo>
                  <a:pt x="0" y="338024"/>
                </a:lnTo>
                <a:lnTo>
                  <a:pt x="761" y="355694"/>
                </a:lnTo>
                <a:lnTo>
                  <a:pt x="13498" y="406013"/>
                </a:lnTo>
                <a:lnTo>
                  <a:pt x="41257" y="454025"/>
                </a:lnTo>
                <a:lnTo>
                  <a:pt x="66328" y="484755"/>
                </a:lnTo>
                <a:lnTo>
                  <a:pt x="98328" y="513566"/>
                </a:lnTo>
                <a:lnTo>
                  <a:pt x="134568" y="540442"/>
                </a:lnTo>
                <a:lnTo>
                  <a:pt x="175841" y="565416"/>
                </a:lnTo>
                <a:lnTo>
                  <a:pt x="222116" y="588069"/>
                </a:lnTo>
                <a:lnTo>
                  <a:pt x="271466" y="609205"/>
                </a:lnTo>
                <a:lnTo>
                  <a:pt x="326223" y="626875"/>
                </a:lnTo>
                <a:lnTo>
                  <a:pt x="413755" y="649528"/>
                </a:lnTo>
                <a:lnTo>
                  <a:pt x="475843" y="660297"/>
                </a:lnTo>
                <a:lnTo>
                  <a:pt x="540634" y="668745"/>
                </a:lnTo>
                <a:lnTo>
                  <a:pt x="608113" y="673727"/>
                </a:lnTo>
                <a:lnTo>
                  <a:pt x="642427" y="675275"/>
                </a:lnTo>
                <a:lnTo>
                  <a:pt x="677145" y="675275"/>
                </a:lnTo>
                <a:lnTo>
                  <a:pt x="711459" y="675275"/>
                </a:lnTo>
                <a:lnTo>
                  <a:pt x="780475" y="671809"/>
                </a:lnTo>
                <a:lnTo>
                  <a:pt x="878042" y="660297"/>
                </a:lnTo>
                <a:lnTo>
                  <a:pt x="940518" y="649528"/>
                </a:lnTo>
                <a:lnTo>
                  <a:pt x="999904" y="634936"/>
                </a:lnTo>
                <a:lnTo>
                  <a:pt x="1055421" y="618427"/>
                </a:lnTo>
                <a:lnTo>
                  <a:pt x="1107863" y="598838"/>
                </a:lnTo>
                <a:lnTo>
                  <a:pt x="1155691" y="577315"/>
                </a:lnTo>
                <a:lnTo>
                  <a:pt x="1199263" y="552744"/>
                </a:lnTo>
                <a:lnTo>
                  <a:pt x="1219706" y="540442"/>
                </a:lnTo>
                <a:lnTo>
                  <a:pt x="1255915" y="513566"/>
                </a:lnTo>
                <a:lnTo>
                  <a:pt x="1287603" y="484755"/>
                </a:lnTo>
                <a:lnTo>
                  <a:pt x="1313079" y="454025"/>
                </a:lnTo>
                <a:lnTo>
                  <a:pt x="1340729" y="406013"/>
                </a:lnTo>
                <a:lnTo>
                  <a:pt x="1353466" y="355694"/>
                </a:lnTo>
                <a:lnTo>
                  <a:pt x="1354243" y="338024"/>
                </a:lnTo>
                <a:lnTo>
                  <a:pt x="1353466" y="320354"/>
                </a:lnTo>
                <a:lnTo>
                  <a:pt x="1340729" y="270035"/>
                </a:lnTo>
                <a:lnTo>
                  <a:pt x="1313079" y="222409"/>
                </a:lnTo>
                <a:lnTo>
                  <a:pt x="1287603" y="191293"/>
                </a:lnTo>
                <a:lnTo>
                  <a:pt x="1255915" y="162869"/>
                </a:lnTo>
                <a:lnTo>
                  <a:pt x="1219706" y="135977"/>
                </a:lnTo>
                <a:lnTo>
                  <a:pt x="1178433" y="110632"/>
                </a:lnTo>
                <a:lnTo>
                  <a:pt x="1132158" y="88351"/>
                </a:lnTo>
                <a:lnTo>
                  <a:pt x="1107863" y="77210"/>
                </a:lnTo>
                <a:lnTo>
                  <a:pt x="1082419" y="67230"/>
                </a:lnTo>
                <a:lnTo>
                  <a:pt x="1055421" y="58008"/>
                </a:lnTo>
                <a:lnTo>
                  <a:pt x="1027663" y="49560"/>
                </a:lnTo>
                <a:lnTo>
                  <a:pt x="999904" y="41096"/>
                </a:lnTo>
                <a:lnTo>
                  <a:pt x="940518" y="26892"/>
                </a:lnTo>
                <a:lnTo>
                  <a:pt x="878042" y="16138"/>
                </a:lnTo>
                <a:lnTo>
                  <a:pt x="813266" y="7690"/>
                </a:lnTo>
                <a:lnTo>
                  <a:pt x="746161" y="2692"/>
                </a:lnTo>
                <a:lnTo>
                  <a:pt x="711459" y="773"/>
                </a:lnTo>
                <a:lnTo>
                  <a:pt x="677145" y="0"/>
                </a:lnTo>
              </a:path>
            </a:pathLst>
          </a:custGeom>
          <a:ln w="184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66137" y="3525196"/>
            <a:ext cx="1015365" cy="555625"/>
          </a:xfrm>
          <a:custGeom>
            <a:avLst/>
            <a:gdLst/>
            <a:ahLst/>
            <a:cxnLst/>
            <a:rect l="l" t="t" r="r" b="b"/>
            <a:pathLst>
              <a:path w="1015365" h="555625">
                <a:moveTo>
                  <a:pt x="508262" y="0"/>
                </a:moveTo>
                <a:lnTo>
                  <a:pt x="456069" y="2011"/>
                </a:lnTo>
                <a:lnTo>
                  <a:pt x="405584" y="6189"/>
                </a:lnTo>
                <a:lnTo>
                  <a:pt x="356653" y="12687"/>
                </a:lnTo>
                <a:lnTo>
                  <a:pt x="310363" y="21971"/>
                </a:lnTo>
                <a:lnTo>
                  <a:pt x="266092" y="33885"/>
                </a:lnTo>
                <a:lnTo>
                  <a:pt x="223995" y="48121"/>
                </a:lnTo>
                <a:lnTo>
                  <a:pt x="185006" y="63903"/>
                </a:lnTo>
                <a:lnTo>
                  <a:pt x="148812" y="81543"/>
                </a:lnTo>
                <a:lnTo>
                  <a:pt x="132191" y="91909"/>
                </a:lnTo>
                <a:lnTo>
                  <a:pt x="116036" y="101812"/>
                </a:lnTo>
                <a:lnTo>
                  <a:pt x="73163" y="134460"/>
                </a:lnTo>
                <a:lnTo>
                  <a:pt x="39610" y="169894"/>
                </a:lnTo>
                <a:lnTo>
                  <a:pt x="16155" y="208267"/>
                </a:lnTo>
                <a:lnTo>
                  <a:pt x="2640" y="249425"/>
                </a:lnTo>
                <a:lnTo>
                  <a:pt x="0" y="277741"/>
                </a:lnTo>
                <a:lnTo>
                  <a:pt x="776" y="291976"/>
                </a:lnTo>
                <a:lnTo>
                  <a:pt x="9941" y="334218"/>
                </a:lnTo>
                <a:lnTo>
                  <a:pt x="31222" y="373364"/>
                </a:lnTo>
                <a:lnTo>
                  <a:pt x="61668" y="410345"/>
                </a:lnTo>
                <a:lnTo>
                  <a:pt x="73163" y="422259"/>
                </a:lnTo>
                <a:lnTo>
                  <a:pt x="116036" y="454134"/>
                </a:lnTo>
                <a:lnTo>
                  <a:pt x="148812" y="474094"/>
                </a:lnTo>
                <a:lnTo>
                  <a:pt x="185006" y="491733"/>
                </a:lnTo>
                <a:lnTo>
                  <a:pt x="223995" y="507825"/>
                </a:lnTo>
                <a:lnTo>
                  <a:pt x="266092" y="522060"/>
                </a:lnTo>
                <a:lnTo>
                  <a:pt x="310363" y="533665"/>
                </a:lnTo>
                <a:lnTo>
                  <a:pt x="356653" y="542794"/>
                </a:lnTo>
                <a:lnTo>
                  <a:pt x="405584" y="549757"/>
                </a:lnTo>
                <a:lnTo>
                  <a:pt x="456069" y="553935"/>
                </a:lnTo>
                <a:lnTo>
                  <a:pt x="508262" y="555482"/>
                </a:lnTo>
                <a:lnTo>
                  <a:pt x="559523" y="553935"/>
                </a:lnTo>
                <a:lnTo>
                  <a:pt x="610008" y="549757"/>
                </a:lnTo>
                <a:lnTo>
                  <a:pt x="658628" y="542794"/>
                </a:lnTo>
                <a:lnTo>
                  <a:pt x="705696" y="533665"/>
                </a:lnTo>
                <a:lnTo>
                  <a:pt x="749656" y="522060"/>
                </a:lnTo>
                <a:lnTo>
                  <a:pt x="791597" y="507825"/>
                </a:lnTo>
                <a:lnTo>
                  <a:pt x="831363" y="491733"/>
                </a:lnTo>
                <a:lnTo>
                  <a:pt x="867246" y="474094"/>
                </a:lnTo>
                <a:lnTo>
                  <a:pt x="900022" y="454134"/>
                </a:lnTo>
                <a:lnTo>
                  <a:pt x="941963" y="422259"/>
                </a:lnTo>
                <a:lnTo>
                  <a:pt x="975982" y="386052"/>
                </a:lnTo>
                <a:lnTo>
                  <a:pt x="999438" y="347679"/>
                </a:lnTo>
                <a:lnTo>
                  <a:pt x="1012952" y="306521"/>
                </a:lnTo>
                <a:lnTo>
                  <a:pt x="1015282" y="291976"/>
                </a:lnTo>
                <a:lnTo>
                  <a:pt x="1015282" y="277741"/>
                </a:lnTo>
                <a:lnTo>
                  <a:pt x="1015282" y="263506"/>
                </a:lnTo>
                <a:lnTo>
                  <a:pt x="1005185" y="221728"/>
                </a:lnTo>
                <a:lnTo>
                  <a:pt x="985147" y="182117"/>
                </a:lnTo>
                <a:lnTo>
                  <a:pt x="954701" y="145292"/>
                </a:lnTo>
                <a:lnTo>
                  <a:pt x="941963" y="134460"/>
                </a:lnTo>
                <a:lnTo>
                  <a:pt x="928915" y="122546"/>
                </a:lnTo>
                <a:lnTo>
                  <a:pt x="884178" y="91909"/>
                </a:lnTo>
                <a:lnTo>
                  <a:pt x="831363" y="63903"/>
                </a:lnTo>
                <a:lnTo>
                  <a:pt x="791597" y="48121"/>
                </a:lnTo>
                <a:lnTo>
                  <a:pt x="749656" y="33885"/>
                </a:lnTo>
                <a:lnTo>
                  <a:pt x="705696" y="21971"/>
                </a:lnTo>
                <a:lnTo>
                  <a:pt x="658628" y="12687"/>
                </a:lnTo>
                <a:lnTo>
                  <a:pt x="610008" y="6189"/>
                </a:lnTo>
                <a:lnTo>
                  <a:pt x="559523" y="2011"/>
                </a:lnTo>
                <a:lnTo>
                  <a:pt x="508262" y="0"/>
                </a:lnTo>
              </a:path>
            </a:pathLst>
          </a:custGeom>
          <a:ln w="192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517450" y="4018786"/>
            <a:ext cx="870585" cy="758825"/>
          </a:xfrm>
          <a:custGeom>
            <a:avLst/>
            <a:gdLst/>
            <a:ahLst/>
            <a:cxnLst/>
            <a:rect l="l" t="t" r="r" b="b"/>
            <a:pathLst>
              <a:path w="870585" h="758825">
                <a:moveTo>
                  <a:pt x="0" y="758303"/>
                </a:moveTo>
                <a:lnTo>
                  <a:pt x="870042" y="0"/>
                </a:lnTo>
              </a:path>
            </a:pathLst>
          </a:custGeom>
          <a:ln w="192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6355493" y="3658113"/>
            <a:ext cx="70802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Arial"/>
                <a:cs typeface="Arial"/>
              </a:rPr>
              <a:t>Address</a:t>
            </a:r>
            <a:endParaRPr sz="145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742784" y="2934125"/>
            <a:ext cx="903605" cy="433070"/>
          </a:xfrm>
          <a:custGeom>
            <a:avLst/>
            <a:gdLst/>
            <a:ahLst/>
            <a:cxnLst/>
            <a:rect l="l" t="t" r="r" b="b"/>
            <a:pathLst>
              <a:path w="903604" h="433070">
                <a:moveTo>
                  <a:pt x="451875" y="0"/>
                </a:moveTo>
                <a:lnTo>
                  <a:pt x="405740" y="773"/>
                </a:lnTo>
                <a:lnTo>
                  <a:pt x="361003" y="4177"/>
                </a:lnTo>
                <a:lnTo>
                  <a:pt x="318130" y="9283"/>
                </a:lnTo>
                <a:lnTo>
                  <a:pt x="276033" y="16865"/>
                </a:lnTo>
                <a:lnTo>
                  <a:pt x="236422" y="26149"/>
                </a:lnTo>
                <a:lnTo>
                  <a:pt x="199297" y="36825"/>
                </a:lnTo>
                <a:lnTo>
                  <a:pt x="132968" y="62975"/>
                </a:lnTo>
                <a:lnTo>
                  <a:pt x="90250" y="86494"/>
                </a:lnTo>
                <a:lnTo>
                  <a:pt x="77513" y="95623"/>
                </a:lnTo>
                <a:lnTo>
                  <a:pt x="65552" y="104133"/>
                </a:lnTo>
                <a:lnTo>
                  <a:pt x="54833" y="113262"/>
                </a:lnTo>
                <a:lnTo>
                  <a:pt x="44737" y="122546"/>
                </a:lnTo>
                <a:lnTo>
                  <a:pt x="36193" y="132449"/>
                </a:lnTo>
                <a:lnTo>
                  <a:pt x="27805" y="141733"/>
                </a:lnTo>
                <a:lnTo>
                  <a:pt x="21281" y="151790"/>
                </a:lnTo>
                <a:lnTo>
                  <a:pt x="14291" y="162931"/>
                </a:lnTo>
                <a:lnTo>
                  <a:pt x="9320" y="172834"/>
                </a:lnTo>
                <a:lnTo>
                  <a:pt x="6213" y="183665"/>
                </a:lnTo>
                <a:lnTo>
                  <a:pt x="2640" y="194805"/>
                </a:lnTo>
                <a:lnTo>
                  <a:pt x="776" y="205482"/>
                </a:lnTo>
                <a:lnTo>
                  <a:pt x="0" y="216313"/>
                </a:lnTo>
                <a:lnTo>
                  <a:pt x="776" y="227453"/>
                </a:lnTo>
                <a:lnTo>
                  <a:pt x="2640" y="238904"/>
                </a:lnTo>
                <a:lnTo>
                  <a:pt x="6213" y="250044"/>
                </a:lnTo>
                <a:lnTo>
                  <a:pt x="9320" y="260102"/>
                </a:lnTo>
                <a:lnTo>
                  <a:pt x="14291" y="270778"/>
                </a:lnTo>
                <a:lnTo>
                  <a:pt x="21281" y="280835"/>
                </a:lnTo>
                <a:lnTo>
                  <a:pt x="27805" y="291202"/>
                </a:lnTo>
                <a:lnTo>
                  <a:pt x="54833" y="319518"/>
                </a:lnTo>
                <a:lnTo>
                  <a:pt x="90250" y="346441"/>
                </a:lnTo>
                <a:lnTo>
                  <a:pt x="103765" y="353714"/>
                </a:lnTo>
                <a:lnTo>
                  <a:pt x="132968" y="369960"/>
                </a:lnTo>
                <a:lnTo>
                  <a:pt x="199297" y="395955"/>
                </a:lnTo>
                <a:lnTo>
                  <a:pt x="236422" y="406786"/>
                </a:lnTo>
                <a:lnTo>
                  <a:pt x="276033" y="415915"/>
                </a:lnTo>
                <a:lnTo>
                  <a:pt x="318130" y="423652"/>
                </a:lnTo>
                <a:lnTo>
                  <a:pt x="361003" y="428603"/>
                </a:lnTo>
                <a:lnTo>
                  <a:pt x="405740" y="432162"/>
                </a:lnTo>
                <a:lnTo>
                  <a:pt x="451875" y="432936"/>
                </a:lnTo>
                <a:lnTo>
                  <a:pt x="498165" y="432162"/>
                </a:lnTo>
                <a:lnTo>
                  <a:pt x="542592" y="428603"/>
                </a:lnTo>
                <a:lnTo>
                  <a:pt x="586552" y="423652"/>
                </a:lnTo>
                <a:lnTo>
                  <a:pt x="627716" y="415915"/>
                </a:lnTo>
                <a:lnTo>
                  <a:pt x="667172" y="406786"/>
                </a:lnTo>
                <a:lnTo>
                  <a:pt x="704142" y="395955"/>
                </a:lnTo>
                <a:lnTo>
                  <a:pt x="771558" y="369960"/>
                </a:lnTo>
                <a:lnTo>
                  <a:pt x="800140" y="353714"/>
                </a:lnTo>
                <a:lnTo>
                  <a:pt x="813655" y="346441"/>
                </a:lnTo>
                <a:lnTo>
                  <a:pt x="848761" y="319518"/>
                </a:lnTo>
                <a:lnTo>
                  <a:pt x="875790" y="291202"/>
                </a:lnTo>
                <a:lnTo>
                  <a:pt x="898469" y="250044"/>
                </a:lnTo>
                <a:lnTo>
                  <a:pt x="903440" y="216313"/>
                </a:lnTo>
                <a:lnTo>
                  <a:pt x="902663" y="205482"/>
                </a:lnTo>
                <a:lnTo>
                  <a:pt x="889304" y="162931"/>
                </a:lnTo>
                <a:lnTo>
                  <a:pt x="859168" y="122546"/>
                </a:lnTo>
                <a:lnTo>
                  <a:pt x="825926" y="95623"/>
                </a:lnTo>
                <a:lnTo>
                  <a:pt x="813655" y="86494"/>
                </a:lnTo>
                <a:lnTo>
                  <a:pt x="771558" y="62975"/>
                </a:lnTo>
                <a:lnTo>
                  <a:pt x="704142" y="36825"/>
                </a:lnTo>
                <a:lnTo>
                  <a:pt x="667172" y="26149"/>
                </a:lnTo>
                <a:lnTo>
                  <a:pt x="627716" y="16865"/>
                </a:lnTo>
                <a:lnTo>
                  <a:pt x="586552" y="9283"/>
                </a:lnTo>
                <a:lnTo>
                  <a:pt x="542592" y="4177"/>
                </a:lnTo>
                <a:lnTo>
                  <a:pt x="498165" y="773"/>
                </a:lnTo>
                <a:lnTo>
                  <a:pt x="451875" y="0"/>
                </a:lnTo>
              </a:path>
            </a:pathLst>
          </a:custGeom>
          <a:ln w="192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996139" y="3002394"/>
            <a:ext cx="41084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150" spc="15" dirty="0">
                <a:latin typeface="Arial"/>
                <a:cs typeface="Arial"/>
              </a:rPr>
              <a:t>S</a:t>
            </a:r>
            <a:r>
              <a:rPr sz="1150" dirty="0">
                <a:latin typeface="Arial"/>
                <a:cs typeface="Arial"/>
              </a:rPr>
              <a:t>t</a:t>
            </a:r>
            <a:r>
              <a:rPr sz="1150" spc="10" dirty="0">
                <a:latin typeface="Arial"/>
                <a:cs typeface="Arial"/>
              </a:rPr>
              <a:t>reet</a:t>
            </a:r>
            <a:endParaRPr sz="11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950996" y="2942635"/>
            <a:ext cx="903605" cy="338455"/>
          </a:xfrm>
          <a:custGeom>
            <a:avLst/>
            <a:gdLst/>
            <a:ahLst/>
            <a:cxnLst/>
            <a:rect l="l" t="t" r="r" b="b"/>
            <a:pathLst>
              <a:path w="903604" h="338454">
                <a:moveTo>
                  <a:pt x="451409" y="0"/>
                </a:moveTo>
                <a:lnTo>
                  <a:pt x="405274" y="773"/>
                </a:lnTo>
                <a:lnTo>
                  <a:pt x="360847" y="2939"/>
                </a:lnTo>
                <a:lnTo>
                  <a:pt x="317664" y="7272"/>
                </a:lnTo>
                <a:lnTo>
                  <a:pt x="275567" y="13306"/>
                </a:lnTo>
                <a:lnTo>
                  <a:pt x="236267" y="19960"/>
                </a:lnTo>
                <a:lnTo>
                  <a:pt x="164657" y="38373"/>
                </a:lnTo>
                <a:lnTo>
                  <a:pt x="103299" y="60963"/>
                </a:lnTo>
                <a:lnTo>
                  <a:pt x="65552" y="81388"/>
                </a:lnTo>
                <a:lnTo>
                  <a:pt x="27649" y="110632"/>
                </a:lnTo>
                <a:lnTo>
                  <a:pt x="5747" y="143280"/>
                </a:lnTo>
                <a:lnTo>
                  <a:pt x="2174" y="151635"/>
                </a:lnTo>
                <a:lnTo>
                  <a:pt x="621" y="160146"/>
                </a:lnTo>
                <a:lnTo>
                  <a:pt x="0" y="168501"/>
                </a:lnTo>
                <a:lnTo>
                  <a:pt x="621" y="177785"/>
                </a:lnTo>
                <a:lnTo>
                  <a:pt x="2174" y="186295"/>
                </a:lnTo>
                <a:lnTo>
                  <a:pt x="5747" y="194341"/>
                </a:lnTo>
                <a:lnTo>
                  <a:pt x="9164" y="202697"/>
                </a:lnTo>
                <a:lnTo>
                  <a:pt x="36193" y="234571"/>
                </a:lnTo>
                <a:lnTo>
                  <a:pt x="54678" y="248806"/>
                </a:lnTo>
                <a:lnTo>
                  <a:pt x="65552" y="256543"/>
                </a:lnTo>
                <a:lnTo>
                  <a:pt x="77357" y="263041"/>
                </a:lnTo>
                <a:lnTo>
                  <a:pt x="89784" y="270004"/>
                </a:lnTo>
                <a:lnTo>
                  <a:pt x="103299" y="275729"/>
                </a:lnTo>
                <a:lnTo>
                  <a:pt x="164657" y="299094"/>
                </a:lnTo>
                <a:lnTo>
                  <a:pt x="236267" y="316888"/>
                </a:lnTo>
                <a:lnTo>
                  <a:pt x="275567" y="324470"/>
                </a:lnTo>
                <a:lnTo>
                  <a:pt x="317664" y="330195"/>
                </a:lnTo>
                <a:lnTo>
                  <a:pt x="360847" y="334527"/>
                </a:lnTo>
                <a:lnTo>
                  <a:pt x="405274" y="337157"/>
                </a:lnTo>
                <a:lnTo>
                  <a:pt x="451409" y="337931"/>
                </a:lnTo>
                <a:lnTo>
                  <a:pt x="497699" y="337157"/>
                </a:lnTo>
                <a:lnTo>
                  <a:pt x="542436" y="334527"/>
                </a:lnTo>
                <a:lnTo>
                  <a:pt x="586086" y="330195"/>
                </a:lnTo>
                <a:lnTo>
                  <a:pt x="627250" y="324470"/>
                </a:lnTo>
                <a:lnTo>
                  <a:pt x="667017" y="316888"/>
                </a:lnTo>
                <a:lnTo>
                  <a:pt x="739093" y="299094"/>
                </a:lnTo>
                <a:lnTo>
                  <a:pt x="799674" y="275729"/>
                </a:lnTo>
                <a:lnTo>
                  <a:pt x="813189" y="270004"/>
                </a:lnTo>
                <a:lnTo>
                  <a:pt x="825926" y="263041"/>
                </a:lnTo>
                <a:lnTo>
                  <a:pt x="837887" y="256543"/>
                </a:lnTo>
                <a:lnTo>
                  <a:pt x="848606" y="248806"/>
                </a:lnTo>
                <a:lnTo>
                  <a:pt x="858702" y="241534"/>
                </a:lnTo>
                <a:lnTo>
                  <a:pt x="868023" y="234571"/>
                </a:lnTo>
                <a:lnTo>
                  <a:pt x="875634" y="226216"/>
                </a:lnTo>
                <a:lnTo>
                  <a:pt x="882935" y="218943"/>
                </a:lnTo>
                <a:lnTo>
                  <a:pt x="902197" y="177785"/>
                </a:lnTo>
                <a:lnTo>
                  <a:pt x="903440" y="168501"/>
                </a:lnTo>
                <a:lnTo>
                  <a:pt x="902197" y="160146"/>
                </a:lnTo>
                <a:lnTo>
                  <a:pt x="882935" y="118214"/>
                </a:lnTo>
                <a:lnTo>
                  <a:pt x="848606" y="87886"/>
                </a:lnTo>
                <a:lnTo>
                  <a:pt x="813189" y="67926"/>
                </a:lnTo>
                <a:lnTo>
                  <a:pt x="799674" y="60963"/>
                </a:lnTo>
                <a:lnTo>
                  <a:pt x="739093" y="38373"/>
                </a:lnTo>
                <a:lnTo>
                  <a:pt x="667017" y="19960"/>
                </a:lnTo>
                <a:lnTo>
                  <a:pt x="627250" y="13306"/>
                </a:lnTo>
                <a:lnTo>
                  <a:pt x="586086" y="7272"/>
                </a:lnTo>
                <a:lnTo>
                  <a:pt x="542436" y="2939"/>
                </a:lnTo>
                <a:lnTo>
                  <a:pt x="497699" y="773"/>
                </a:lnTo>
                <a:lnTo>
                  <a:pt x="451409" y="0"/>
                </a:lnTo>
              </a:path>
            </a:pathLst>
          </a:custGeom>
          <a:ln w="1921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281397" y="2982434"/>
            <a:ext cx="269875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150" spc="5" dirty="0">
                <a:latin typeface="Arial"/>
                <a:cs typeface="Arial"/>
              </a:rPr>
              <a:t>City</a:t>
            </a:r>
            <a:endParaRPr sz="11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023287" y="2886159"/>
            <a:ext cx="902969" cy="394970"/>
          </a:xfrm>
          <a:custGeom>
            <a:avLst/>
            <a:gdLst/>
            <a:ahLst/>
            <a:cxnLst/>
            <a:rect l="l" t="t" r="r" b="b"/>
            <a:pathLst>
              <a:path w="902970" h="394970">
                <a:moveTo>
                  <a:pt x="452030" y="0"/>
                </a:moveTo>
                <a:lnTo>
                  <a:pt x="405740" y="1083"/>
                </a:lnTo>
                <a:lnTo>
                  <a:pt x="361003" y="4177"/>
                </a:lnTo>
                <a:lnTo>
                  <a:pt x="317353" y="8355"/>
                </a:lnTo>
                <a:lnTo>
                  <a:pt x="276189" y="15318"/>
                </a:lnTo>
                <a:lnTo>
                  <a:pt x="236422" y="23828"/>
                </a:lnTo>
                <a:lnTo>
                  <a:pt x="199452" y="33731"/>
                </a:lnTo>
                <a:lnTo>
                  <a:pt x="132347" y="58023"/>
                </a:lnTo>
                <a:lnTo>
                  <a:pt x="90250" y="79067"/>
                </a:lnTo>
                <a:lnTo>
                  <a:pt x="77513" y="86339"/>
                </a:lnTo>
                <a:lnTo>
                  <a:pt x="44737" y="111715"/>
                </a:lnTo>
                <a:lnTo>
                  <a:pt x="14291" y="147767"/>
                </a:lnTo>
                <a:lnTo>
                  <a:pt x="776" y="187069"/>
                </a:lnTo>
                <a:lnTo>
                  <a:pt x="0" y="197436"/>
                </a:lnTo>
                <a:lnTo>
                  <a:pt x="776" y="207338"/>
                </a:lnTo>
                <a:lnTo>
                  <a:pt x="14291" y="245712"/>
                </a:lnTo>
                <a:lnTo>
                  <a:pt x="27805" y="264279"/>
                </a:lnTo>
                <a:lnTo>
                  <a:pt x="35572" y="273408"/>
                </a:lnTo>
                <a:lnTo>
                  <a:pt x="65552" y="298784"/>
                </a:lnTo>
                <a:lnTo>
                  <a:pt x="90250" y="314567"/>
                </a:lnTo>
                <a:lnTo>
                  <a:pt x="103454" y="322149"/>
                </a:lnTo>
                <a:lnTo>
                  <a:pt x="164346" y="349072"/>
                </a:lnTo>
                <a:lnTo>
                  <a:pt x="236422" y="369806"/>
                </a:lnTo>
                <a:lnTo>
                  <a:pt x="276189" y="378316"/>
                </a:lnTo>
                <a:lnTo>
                  <a:pt x="317353" y="385279"/>
                </a:lnTo>
                <a:lnTo>
                  <a:pt x="361003" y="390230"/>
                </a:lnTo>
                <a:lnTo>
                  <a:pt x="405740" y="392551"/>
                </a:lnTo>
                <a:lnTo>
                  <a:pt x="452030" y="394408"/>
                </a:lnTo>
                <a:lnTo>
                  <a:pt x="498321" y="392551"/>
                </a:lnTo>
                <a:lnTo>
                  <a:pt x="542592" y="390230"/>
                </a:lnTo>
                <a:lnTo>
                  <a:pt x="585465" y="385279"/>
                </a:lnTo>
                <a:lnTo>
                  <a:pt x="627406" y="378316"/>
                </a:lnTo>
                <a:lnTo>
                  <a:pt x="667172" y="369806"/>
                </a:lnTo>
                <a:lnTo>
                  <a:pt x="738472" y="349072"/>
                </a:lnTo>
                <a:lnTo>
                  <a:pt x="800140" y="322149"/>
                </a:lnTo>
                <a:lnTo>
                  <a:pt x="838043" y="298784"/>
                </a:lnTo>
                <a:lnTo>
                  <a:pt x="867246" y="273408"/>
                </a:lnTo>
                <a:lnTo>
                  <a:pt x="894275" y="236583"/>
                </a:lnTo>
                <a:lnTo>
                  <a:pt x="897692" y="226525"/>
                </a:lnTo>
                <a:lnTo>
                  <a:pt x="900799" y="217396"/>
                </a:lnTo>
                <a:lnTo>
                  <a:pt x="902818" y="207338"/>
                </a:lnTo>
                <a:lnTo>
                  <a:pt x="902818" y="197436"/>
                </a:lnTo>
                <a:lnTo>
                  <a:pt x="902818" y="187069"/>
                </a:lnTo>
                <a:lnTo>
                  <a:pt x="889304" y="147767"/>
                </a:lnTo>
                <a:lnTo>
                  <a:pt x="882314" y="138638"/>
                </a:lnTo>
                <a:lnTo>
                  <a:pt x="875790" y="129354"/>
                </a:lnTo>
                <a:lnTo>
                  <a:pt x="838043" y="94849"/>
                </a:lnTo>
                <a:lnTo>
                  <a:pt x="800140" y="71330"/>
                </a:lnTo>
                <a:lnTo>
                  <a:pt x="738472" y="44562"/>
                </a:lnTo>
                <a:lnTo>
                  <a:pt x="667172" y="23828"/>
                </a:lnTo>
                <a:lnTo>
                  <a:pt x="627406" y="15318"/>
                </a:lnTo>
                <a:lnTo>
                  <a:pt x="585465" y="8355"/>
                </a:lnTo>
                <a:lnTo>
                  <a:pt x="542592" y="4177"/>
                </a:lnTo>
                <a:lnTo>
                  <a:pt x="498321" y="1083"/>
                </a:lnTo>
                <a:lnTo>
                  <a:pt x="452030" y="0"/>
                </a:lnTo>
              </a:path>
            </a:pathLst>
          </a:custGeom>
          <a:ln w="1921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7424678" y="2982434"/>
            <a:ext cx="219710" cy="2038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150" spc="10" dirty="0">
                <a:latin typeface="Arial"/>
                <a:cs typeface="Arial"/>
              </a:rPr>
              <a:t>PC</a:t>
            </a:r>
            <a:endParaRPr sz="11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443510" y="3335961"/>
            <a:ext cx="959485" cy="226060"/>
          </a:xfrm>
          <a:custGeom>
            <a:avLst/>
            <a:gdLst/>
            <a:ahLst/>
            <a:cxnLst/>
            <a:rect l="l" t="t" r="r" b="b"/>
            <a:pathLst>
              <a:path w="959485" h="226060">
                <a:moveTo>
                  <a:pt x="0" y="0"/>
                </a:moveTo>
                <a:lnTo>
                  <a:pt x="958895" y="225442"/>
                </a:lnTo>
              </a:path>
            </a:pathLst>
          </a:custGeom>
          <a:ln w="192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506171" y="3283971"/>
            <a:ext cx="0" cy="245745"/>
          </a:xfrm>
          <a:custGeom>
            <a:avLst/>
            <a:gdLst/>
            <a:ahLst/>
            <a:cxnLst/>
            <a:rect l="l" t="t" r="r" b="b"/>
            <a:pathLst>
              <a:path h="245745">
                <a:moveTo>
                  <a:pt x="0" y="0"/>
                </a:moveTo>
                <a:lnTo>
                  <a:pt x="0" y="245557"/>
                </a:lnTo>
              </a:path>
            </a:pathLst>
          </a:custGeom>
          <a:ln w="192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041772" y="3267105"/>
            <a:ext cx="339090" cy="338455"/>
          </a:xfrm>
          <a:custGeom>
            <a:avLst/>
            <a:gdLst/>
            <a:ahLst/>
            <a:cxnLst/>
            <a:rect l="l" t="t" r="r" b="b"/>
            <a:pathLst>
              <a:path w="339090" h="338454">
                <a:moveTo>
                  <a:pt x="338945" y="0"/>
                </a:moveTo>
                <a:lnTo>
                  <a:pt x="0" y="338086"/>
                </a:lnTo>
              </a:path>
            </a:pathLst>
          </a:custGeom>
          <a:ln w="19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126258" y="3719384"/>
            <a:ext cx="828040" cy="531495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315"/>
              </a:spcBef>
            </a:pPr>
            <a:r>
              <a:rPr sz="1300" spc="10" dirty="0">
                <a:latin typeface="Arial"/>
                <a:cs typeface="Arial"/>
              </a:rPr>
              <a:t>age</a:t>
            </a:r>
            <a:endParaRPr sz="13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683210" y="2533134"/>
            <a:ext cx="3583940" cy="1606550"/>
          </a:xfrm>
          <a:custGeom>
            <a:avLst/>
            <a:gdLst/>
            <a:ahLst/>
            <a:cxnLst/>
            <a:rect l="l" t="t" r="r" b="b"/>
            <a:pathLst>
              <a:path w="3583940" h="1606550">
                <a:moveTo>
                  <a:pt x="0" y="0"/>
                </a:moveTo>
                <a:lnTo>
                  <a:pt x="3583459" y="0"/>
                </a:lnTo>
                <a:lnTo>
                  <a:pt x="3583459" y="1606379"/>
                </a:lnTo>
                <a:lnTo>
                  <a:pt x="0" y="160637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1850" y="358139"/>
            <a:ext cx="2400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3.2.3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5212"/>
            <a:ext cx="7683500" cy="31165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5080" indent="-342900" algn="just">
              <a:lnSpc>
                <a:spcPts val="3600"/>
              </a:lnSpc>
              <a:spcBef>
                <a:spcPts val="42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存在于一个或多个实体之间的</a:t>
            </a:r>
            <a:r>
              <a:rPr sz="3200" dirty="0">
                <a:solidFill>
                  <a:srgbClr val="009257"/>
                </a:solidFill>
                <a:latin typeface="宋体"/>
                <a:cs typeface="宋体"/>
              </a:rPr>
              <a:t>自然业务联 系</a:t>
            </a:r>
            <a:endParaRPr sz="3200" dirty="0">
              <a:latin typeface="宋体"/>
              <a:cs typeface="宋体"/>
            </a:endParaRPr>
          </a:p>
          <a:p>
            <a:pPr marL="355600" indent="-342900" algn="just">
              <a:lnSpc>
                <a:spcPct val="100000"/>
              </a:lnSpc>
              <a:spcBef>
                <a:spcPts val="68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所有的关系隐含地都是双向的</a:t>
            </a:r>
          </a:p>
          <a:p>
            <a:pPr marL="355600" marR="5080" indent="-342900" algn="just">
              <a:lnSpc>
                <a:spcPct val="96200"/>
              </a:lnSpc>
              <a:spcBef>
                <a:spcPts val="120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关系表达的不是实体物理上的联系（例如 车与车轮），而是逻辑上的链接（例如整 体部分关系）</a:t>
            </a:r>
          </a:p>
        </p:txBody>
      </p:sp>
      <p:sp>
        <p:nvSpPr>
          <p:cNvPr id="4" name="object 4"/>
          <p:cNvSpPr/>
          <p:nvPr/>
        </p:nvSpPr>
        <p:spPr>
          <a:xfrm>
            <a:off x="1926441" y="4780879"/>
            <a:ext cx="5661818" cy="8173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1850" y="300227"/>
            <a:ext cx="2400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3.2.3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67605"/>
            <a:ext cx="3968750" cy="112077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度数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参与关系的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实体数量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74810" y="3039678"/>
            <a:ext cx="6256859" cy="3111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3.2.3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关系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07" y="1132424"/>
            <a:ext cx="8280400" cy="20402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0769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基数（约束）</a:t>
            </a:r>
            <a:endParaRPr sz="26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最大基数（键约束</a:t>
            </a:r>
            <a:r>
              <a:rPr sz="2200" spc="-5" dirty="0">
                <a:latin typeface="Calibri"/>
                <a:cs typeface="Calibri"/>
              </a:rPr>
              <a:t>Key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Constraint</a:t>
            </a:r>
            <a:r>
              <a:rPr sz="2200" spc="-5" dirty="0">
                <a:latin typeface="宋体"/>
                <a:cs typeface="宋体"/>
              </a:rPr>
              <a:t>）</a:t>
            </a:r>
            <a:endParaRPr sz="22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对关系中任意的其他实体实例，该实体可能参与关系的最大数量</a:t>
            </a:r>
            <a:endParaRPr sz="20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最小基数（参与约束</a:t>
            </a:r>
            <a:r>
              <a:rPr sz="2200" spc="-5" dirty="0">
                <a:latin typeface="Calibri"/>
                <a:cs typeface="Calibri"/>
              </a:rPr>
              <a:t>Participant Constraint</a:t>
            </a:r>
            <a:r>
              <a:rPr sz="2200" spc="-5" dirty="0">
                <a:latin typeface="宋体"/>
                <a:cs typeface="宋体"/>
              </a:rPr>
              <a:t>）</a:t>
            </a:r>
            <a:endParaRPr sz="22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对关系中任意的其他实体实例，该实体可能参与关系的最小数量</a:t>
            </a:r>
            <a:endParaRPr sz="20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4950" y="3851840"/>
          <a:ext cx="8580754" cy="23764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7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764">
                <a:tc rowSpan="2"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Sales</a:t>
                      </a:r>
                      <a:r>
                        <a:rPr sz="2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spc="-15" dirty="0">
                          <a:latin typeface="Arial"/>
                          <a:cs typeface="Arial"/>
                        </a:rPr>
                        <a:t>Staff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3229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Sales</a:t>
                      </a:r>
                      <a:r>
                        <a:rPr sz="2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800" dirty="0">
                          <a:latin typeface="Arial"/>
                          <a:cs typeface="Arial"/>
                        </a:rPr>
                        <a:t>Organizational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49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525"/>
                        </a:spcBef>
                        <a:tabLst>
                          <a:tab pos="918210" algn="l"/>
                          <a:tab pos="2141855" algn="l"/>
                        </a:tabLst>
                      </a:pPr>
                      <a:r>
                        <a:rPr sz="2700" spc="-7" baseline="4629" dirty="0">
                          <a:solidFill>
                            <a:srgbClr val="FF0066"/>
                          </a:solidFill>
                          <a:latin typeface="Arial"/>
                          <a:cs typeface="Arial"/>
                        </a:rPr>
                        <a:t>0:N	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manage	</a:t>
                      </a:r>
                      <a:r>
                        <a:rPr sz="2700" spc="-7" baseline="21604" dirty="0">
                          <a:solidFill>
                            <a:srgbClr val="FF0066"/>
                          </a:solidFill>
                          <a:latin typeface="Arial"/>
                          <a:cs typeface="Arial"/>
                        </a:rPr>
                        <a:t>1:1</a:t>
                      </a:r>
                      <a:endParaRPr sz="2700" baseline="21604">
                        <a:latin typeface="Arial"/>
                        <a:cs typeface="Arial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03505">
                        <a:lnSpc>
                          <a:spcPts val="3225"/>
                        </a:lnSpc>
                      </a:pPr>
                      <a:r>
                        <a:rPr sz="2800" dirty="0">
                          <a:latin typeface="Arial"/>
                          <a:cs typeface="Arial"/>
                        </a:rPr>
                        <a:t>Structure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694">
                <a:tc rowSpan="3">
                  <a:txBody>
                    <a:bodyPr/>
                    <a:lstStyle/>
                    <a:p>
                      <a:pPr marL="162560">
                        <a:lnSpc>
                          <a:spcPts val="2370"/>
                        </a:lnSpc>
                        <a:spcBef>
                          <a:spcPts val="79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#Employee</a:t>
                      </a:r>
                      <a:r>
                        <a:rPr sz="20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ID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66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64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03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532">
                <a:tc>
                  <a:txBody>
                    <a:bodyPr/>
                    <a:lstStyle/>
                    <a:p>
                      <a:pPr marL="162560">
                        <a:lnSpc>
                          <a:spcPts val="226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Employee</a:t>
                      </a:r>
                      <a:r>
                        <a:rPr sz="20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Name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255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#Manage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ID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67">
                <a:tc>
                  <a:txBody>
                    <a:bodyPr/>
                    <a:lstStyle/>
                    <a:p>
                      <a:pPr marL="162560">
                        <a:lnSpc>
                          <a:spcPts val="2340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Employee</a:t>
                      </a:r>
                      <a:r>
                        <a:rPr sz="20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Arial"/>
                          <a:cs typeface="Arial"/>
                        </a:rPr>
                        <a:t>Phone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45185">
                        <a:lnSpc>
                          <a:spcPts val="1995"/>
                        </a:lnSpc>
                      </a:pPr>
                      <a:r>
                        <a:rPr sz="1800" spc="-5" dirty="0">
                          <a:latin typeface="Arial"/>
                          <a:cs typeface="Arial"/>
                        </a:rPr>
                        <a:t>Reports</a:t>
                      </a:r>
                      <a:r>
                        <a:rPr sz="1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5" dirty="0">
                          <a:latin typeface="Arial"/>
                          <a:cs typeface="Arial"/>
                        </a:rPr>
                        <a:t>to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2300"/>
                        </a:lnSpc>
                      </a:pPr>
                      <a:r>
                        <a:rPr sz="2000" spc="-5" dirty="0">
                          <a:latin typeface="Arial"/>
                          <a:cs typeface="Arial"/>
                        </a:rPr>
                        <a:t>#Subordinate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ID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71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62560">
                        <a:lnSpc>
                          <a:spcPts val="2255"/>
                        </a:lnSpc>
                      </a:pPr>
                      <a:r>
                        <a:rPr sz="2000" spc="-45" dirty="0">
                          <a:latin typeface="Arial"/>
                          <a:cs typeface="Arial"/>
                        </a:rPr>
                        <a:t>#Team</a:t>
                      </a:r>
                      <a:r>
                        <a:rPr sz="20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name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51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520"/>
                        </a:spcBef>
                        <a:tabLst>
                          <a:tab pos="2143760" algn="l"/>
                        </a:tabLst>
                      </a:pPr>
                      <a:r>
                        <a:rPr sz="1800" spc="-5" dirty="0">
                          <a:solidFill>
                            <a:srgbClr val="FF0066"/>
                          </a:solidFill>
                          <a:latin typeface="Arial"/>
                          <a:cs typeface="Arial"/>
                        </a:rPr>
                        <a:t>0:N	</a:t>
                      </a:r>
                      <a:r>
                        <a:rPr sz="2700" spc="-7" baseline="-12345" dirty="0">
                          <a:solidFill>
                            <a:srgbClr val="FF0066"/>
                          </a:solidFill>
                          <a:latin typeface="Arial"/>
                          <a:cs typeface="Arial"/>
                        </a:rPr>
                        <a:t>1:1</a:t>
                      </a:r>
                      <a:endParaRPr sz="2700" baseline="-12345">
                        <a:latin typeface="Arial"/>
                        <a:cs typeface="Arial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66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162560">
                        <a:lnSpc>
                          <a:spcPts val="2295"/>
                        </a:lnSpc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Assignment</a:t>
                      </a:r>
                      <a:r>
                        <a:rPr sz="20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-5" dirty="0">
                          <a:latin typeface="Arial"/>
                          <a:cs typeface="Arial"/>
                        </a:rPr>
                        <a:t>Date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28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3.2.3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2681"/>
            <a:ext cx="7981950" cy="173418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5"/>
              </a:spcBef>
              <a:buClr>
                <a:srgbClr val="00663C"/>
              </a:buClr>
              <a:buSzPct val="78571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宋体"/>
                <a:cs typeface="宋体"/>
              </a:rPr>
              <a:t>子类型关系</a:t>
            </a:r>
            <a:endParaRPr sz="2800">
              <a:latin typeface="宋体"/>
              <a:cs typeface="宋体"/>
            </a:endParaRPr>
          </a:p>
          <a:p>
            <a:pPr marL="755650" marR="5080" lvl="1" indent="-285750">
              <a:lnSpc>
                <a:spcPct val="97500"/>
              </a:lnSpc>
              <a:spcBef>
                <a:spcPts val="810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在多个实体大部分相似、少部分不同时，可以从相似 的实体当中抽取共性，建立一个公共的超类型（</a:t>
            </a:r>
            <a:r>
              <a:rPr sz="2400" spc="-5" dirty="0">
                <a:latin typeface="Calibri"/>
                <a:cs typeface="Calibri"/>
              </a:rPr>
              <a:t>S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-  type</a:t>
            </a:r>
            <a:r>
              <a:rPr sz="2400" dirty="0">
                <a:latin typeface="宋体"/>
                <a:cs typeface="宋体"/>
              </a:rPr>
              <a:t>），所有实体都是超类型的子类型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71999" y="3341377"/>
            <a:ext cx="4599999" cy="27448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3.2.3</a:t>
            </a:r>
            <a:r>
              <a:rPr spc="-85" dirty="0"/>
              <a:t> </a:t>
            </a:r>
            <a:r>
              <a:rPr dirty="0">
                <a:latin typeface="宋体"/>
                <a:cs typeface="宋体"/>
              </a:rPr>
              <a:t>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3637"/>
            <a:ext cx="6654800" cy="155575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被关系影响的实体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弱实体</a:t>
            </a:r>
            <a:endParaRPr sz="28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指存在和标识需要依赖于其他实体的实体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9" y="4358809"/>
            <a:ext cx="4368800" cy="99441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844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298450" algn="l"/>
              </a:tabLst>
            </a:pPr>
            <a:r>
              <a:rPr sz="2800" dirty="0">
                <a:latin typeface="宋体"/>
                <a:cs typeface="宋体"/>
              </a:rPr>
              <a:t>关联实体</a:t>
            </a:r>
            <a:endParaRPr sz="2800">
              <a:latin typeface="宋体"/>
              <a:cs typeface="宋体"/>
            </a:endParaRPr>
          </a:p>
          <a:p>
            <a:pPr marL="698500" lvl="1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宋体"/>
                <a:cs typeface="宋体"/>
              </a:rPr>
              <a:t>实体间建立关系时的副产品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81200" y="3230879"/>
            <a:ext cx="5763767" cy="32674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1387" y="196595"/>
            <a:ext cx="47224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3.2.3</a:t>
            </a:r>
            <a:r>
              <a:rPr spc="-75" dirty="0"/>
              <a:t> </a:t>
            </a:r>
            <a:r>
              <a:rPr spc="-5" dirty="0"/>
              <a:t>ERD</a:t>
            </a:r>
            <a:r>
              <a:rPr dirty="0">
                <a:latin typeface="宋体"/>
                <a:cs typeface="宋体"/>
              </a:rPr>
              <a:t>表示方式</a:t>
            </a:r>
            <a:r>
              <a:rPr dirty="0"/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794885" y="1378419"/>
            <a:ext cx="7817020" cy="4636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1387" y="269747"/>
            <a:ext cx="47224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3.2.3</a:t>
            </a:r>
            <a:r>
              <a:rPr spc="-75" dirty="0"/>
              <a:t> </a:t>
            </a:r>
            <a:r>
              <a:rPr spc="-5" dirty="0"/>
              <a:t>ERD</a:t>
            </a:r>
            <a:r>
              <a:rPr dirty="0">
                <a:latin typeface="宋体"/>
                <a:cs typeface="宋体"/>
              </a:rPr>
              <a:t>表示方式</a:t>
            </a:r>
            <a:r>
              <a:rPr dirty="0"/>
              <a:t>2</a:t>
            </a:r>
          </a:p>
        </p:txBody>
      </p:sp>
      <p:sp>
        <p:nvSpPr>
          <p:cNvPr id="3" name="object 3"/>
          <p:cNvSpPr/>
          <p:nvPr/>
        </p:nvSpPr>
        <p:spPr>
          <a:xfrm>
            <a:off x="631411" y="1358414"/>
            <a:ext cx="7881175" cy="47876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620012"/>
            <a:ext cx="22193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</a:rPr>
              <a:t>3.3.</a:t>
            </a:r>
            <a:r>
              <a:rPr sz="3200" spc="-8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ERD</a:t>
            </a:r>
            <a:r>
              <a:rPr sz="3200" dirty="0">
                <a:solidFill>
                  <a:srgbClr val="000000"/>
                </a:solidFill>
                <a:latin typeface="宋体"/>
                <a:cs typeface="宋体"/>
              </a:rPr>
              <a:t>建模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908050" lvl="2" indent="-895350">
              <a:lnSpc>
                <a:spcPct val="100000"/>
              </a:lnSpc>
              <a:spcBef>
                <a:spcPts val="745"/>
              </a:spcBef>
              <a:buFont typeface="Calibri"/>
              <a:buAutoNum type="arabicPeriod"/>
              <a:tabLst>
                <a:tab pos="908050" algn="l"/>
              </a:tabLst>
            </a:pPr>
            <a:r>
              <a:rPr sz="2800" dirty="0">
                <a:latin typeface="宋体"/>
                <a:cs typeface="宋体"/>
              </a:rPr>
              <a:t>简单情况下的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RD</a:t>
            </a:r>
            <a:r>
              <a:rPr sz="2800" dirty="0">
                <a:latin typeface="宋体"/>
                <a:cs typeface="宋体"/>
              </a:rPr>
              <a:t>建模</a:t>
            </a:r>
            <a:endParaRPr sz="2800">
              <a:latin typeface="宋体"/>
              <a:cs typeface="宋体"/>
            </a:endParaRPr>
          </a:p>
          <a:p>
            <a:pPr marL="908050" lvl="2" indent="-895350">
              <a:lnSpc>
                <a:spcPct val="100000"/>
              </a:lnSpc>
              <a:spcBef>
                <a:spcPts val="650"/>
              </a:spcBef>
              <a:buFont typeface="Calibri"/>
              <a:buAutoNum type="arabicPeriod"/>
              <a:tabLst>
                <a:tab pos="908050" algn="l"/>
              </a:tabLst>
            </a:pPr>
            <a:r>
              <a:rPr sz="2800" dirty="0">
                <a:latin typeface="宋体"/>
                <a:cs typeface="宋体"/>
              </a:rPr>
              <a:t>硬数据的</a:t>
            </a:r>
            <a:r>
              <a:rPr sz="2800" spc="-5" dirty="0">
                <a:latin typeface="Calibri"/>
                <a:cs typeface="Calibri"/>
              </a:rPr>
              <a:t>ERD</a:t>
            </a:r>
            <a:r>
              <a:rPr sz="2800" dirty="0">
                <a:latin typeface="宋体"/>
                <a:cs typeface="宋体"/>
              </a:rPr>
              <a:t>建模</a:t>
            </a:r>
            <a:endParaRPr sz="2800">
              <a:latin typeface="宋体"/>
              <a:cs typeface="宋体"/>
            </a:endParaRPr>
          </a:p>
          <a:p>
            <a:pPr marL="908050" lvl="2" indent="-895350">
              <a:lnSpc>
                <a:spcPct val="100000"/>
              </a:lnSpc>
              <a:spcBef>
                <a:spcPts val="745"/>
              </a:spcBef>
              <a:buFont typeface="Calibri"/>
              <a:buAutoNum type="arabicPeriod"/>
              <a:tabLst>
                <a:tab pos="908050" algn="l"/>
              </a:tabLst>
            </a:pPr>
            <a:r>
              <a:rPr sz="2800" dirty="0">
                <a:latin typeface="宋体"/>
                <a:cs typeface="宋体"/>
              </a:rPr>
              <a:t>复杂情况下的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RD</a:t>
            </a:r>
            <a:r>
              <a:rPr sz="2800" dirty="0">
                <a:latin typeface="宋体"/>
                <a:cs typeface="宋体"/>
              </a:rPr>
              <a:t>建模</a:t>
            </a:r>
            <a:endParaRPr sz="2800">
              <a:latin typeface="宋体"/>
              <a:cs typeface="宋体"/>
            </a:endParaRPr>
          </a:p>
          <a:p>
            <a:pPr marL="908685" lvl="2" indent="-896619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909319" algn="l"/>
              </a:tabLst>
            </a:pPr>
            <a:r>
              <a:rPr sz="2800" spc="-5" dirty="0">
                <a:latin typeface="Calibri"/>
                <a:cs typeface="Calibri"/>
              </a:rPr>
              <a:t>ERD</a:t>
            </a:r>
            <a:r>
              <a:rPr sz="2800" dirty="0">
                <a:latin typeface="宋体"/>
                <a:cs typeface="宋体"/>
              </a:rPr>
              <a:t>与过程模型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4430" y="230124"/>
            <a:ext cx="6815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3.3.1.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简单情况下的</a:t>
            </a:r>
            <a:r>
              <a:rPr dirty="0"/>
              <a:t>ERD</a:t>
            </a:r>
            <a:r>
              <a:rPr dirty="0">
                <a:latin typeface="宋体"/>
                <a:cs typeface="宋体"/>
              </a:rPr>
              <a:t>建模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12890"/>
            <a:ext cx="7880350" cy="478218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009257"/>
                </a:solidFill>
                <a:latin typeface="宋体"/>
                <a:cs typeface="宋体"/>
              </a:rPr>
              <a:t>步骤</a:t>
            </a:r>
            <a:r>
              <a:rPr sz="3200" dirty="0">
                <a:solidFill>
                  <a:srgbClr val="009257"/>
                </a:solidFill>
                <a:latin typeface="Calibri"/>
                <a:cs typeface="Calibri"/>
              </a:rPr>
              <a:t>1. </a:t>
            </a:r>
            <a:r>
              <a:rPr sz="3200" dirty="0">
                <a:latin typeface="宋体"/>
                <a:cs typeface="宋体"/>
              </a:rPr>
              <a:t>从描述信息中辨识实体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ts val="3120"/>
              </a:lnSpc>
              <a:spcBef>
                <a:spcPts val="11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可以重点关注描述信息中的名词，看系统是否 需要收集其相关的特征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6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009257"/>
                </a:solidFill>
                <a:latin typeface="宋体"/>
                <a:cs typeface="宋体"/>
              </a:rPr>
              <a:t>步骤</a:t>
            </a:r>
            <a:r>
              <a:rPr sz="3200" dirty="0">
                <a:solidFill>
                  <a:srgbClr val="009257"/>
                </a:solidFill>
                <a:latin typeface="Calibri"/>
                <a:cs typeface="Calibri"/>
              </a:rPr>
              <a:t>2. </a:t>
            </a:r>
            <a:r>
              <a:rPr sz="3200" dirty="0">
                <a:latin typeface="宋体"/>
                <a:cs typeface="宋体"/>
              </a:rPr>
              <a:t>确定实体的标识符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009257"/>
                </a:solidFill>
                <a:latin typeface="宋体"/>
                <a:cs typeface="宋体"/>
              </a:rPr>
              <a:t>步骤</a:t>
            </a:r>
            <a:r>
              <a:rPr sz="3200" dirty="0">
                <a:solidFill>
                  <a:srgbClr val="009257"/>
                </a:solidFill>
                <a:latin typeface="Calibri"/>
                <a:cs typeface="Calibri"/>
              </a:rPr>
              <a:t>3. </a:t>
            </a:r>
            <a:r>
              <a:rPr sz="3200" dirty="0">
                <a:latin typeface="宋体"/>
                <a:cs typeface="宋体"/>
              </a:rPr>
              <a:t>建立实体间关系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ts val="3190"/>
              </a:lnSpc>
              <a:spcBef>
                <a:spcPts val="110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判断各个关系的建立是否会产生新的关联实体 或者影响已有的实体特性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009257"/>
                </a:solidFill>
                <a:latin typeface="宋体"/>
                <a:cs typeface="宋体"/>
              </a:rPr>
              <a:t>步骤</a:t>
            </a:r>
            <a:r>
              <a:rPr sz="3200" dirty="0">
                <a:solidFill>
                  <a:srgbClr val="009257"/>
                </a:solidFill>
                <a:latin typeface="Calibri"/>
                <a:cs typeface="Calibri"/>
              </a:rPr>
              <a:t>4. </a:t>
            </a:r>
            <a:r>
              <a:rPr sz="3200" dirty="0">
                <a:latin typeface="宋体"/>
                <a:cs typeface="宋体"/>
              </a:rPr>
              <a:t>添加详细的描述信息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实体的详细属性和关系的基数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994" y="202691"/>
            <a:ext cx="56978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3.3.2.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硬数据的</a:t>
            </a:r>
            <a:r>
              <a:rPr dirty="0"/>
              <a:t>ERD</a:t>
            </a:r>
            <a:r>
              <a:rPr dirty="0">
                <a:latin typeface="宋体"/>
                <a:cs typeface="宋体"/>
              </a:rPr>
              <a:t>建模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0881"/>
            <a:ext cx="5568950" cy="236347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980"/>
              </a:spcBef>
              <a:buClr>
                <a:srgbClr val="00663C"/>
              </a:buClr>
              <a:buSzPct val="8387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3100" b="1" spc="145" dirty="0">
                <a:latin typeface="宋体"/>
                <a:cs typeface="宋体"/>
              </a:rPr>
              <a:t>分析表单内容确定表单主</a:t>
            </a:r>
            <a:r>
              <a:rPr sz="3100" b="1" spc="85" dirty="0">
                <a:latin typeface="宋体"/>
                <a:cs typeface="宋体"/>
              </a:rPr>
              <a:t>题</a:t>
            </a:r>
            <a:endParaRPr sz="3100" dirty="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885"/>
              </a:spcBef>
              <a:buClr>
                <a:srgbClr val="00663C"/>
              </a:buClr>
              <a:buSzPct val="8387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3100" b="1" spc="145" dirty="0">
                <a:latin typeface="宋体"/>
                <a:cs typeface="宋体"/>
              </a:rPr>
              <a:t>建立主题之间的关系</a:t>
            </a:r>
            <a:endParaRPr sz="3100" dirty="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890"/>
              </a:spcBef>
              <a:buClr>
                <a:srgbClr val="00663C"/>
              </a:buClr>
              <a:buSzPct val="8387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3100" b="1" spc="145" dirty="0">
                <a:latin typeface="宋体"/>
                <a:cs typeface="宋体"/>
              </a:rPr>
              <a:t>围绕主题组织表单的项目</a:t>
            </a:r>
            <a:endParaRPr sz="3100" dirty="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spcBef>
                <a:spcPts val="865"/>
              </a:spcBef>
              <a:buClr>
                <a:srgbClr val="00663C"/>
              </a:buClr>
              <a:buSzPct val="8387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3100" b="1" spc="145" dirty="0">
                <a:latin typeface="宋体"/>
                <a:cs typeface="宋体"/>
              </a:rPr>
              <a:t>补充实体关系图的详细信息</a:t>
            </a:r>
            <a:endParaRPr sz="31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5994" y="202691"/>
            <a:ext cx="56978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solidFill>
                  <a:srgbClr val="00663C"/>
                </a:solidFill>
                <a:latin typeface="Calibri"/>
                <a:cs typeface="Calibri"/>
              </a:rPr>
              <a:t>3.3.2.</a:t>
            </a:r>
            <a:r>
              <a:rPr sz="4400" spc="-80" dirty="0">
                <a:solidFill>
                  <a:srgbClr val="00663C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00663C"/>
                </a:solidFill>
                <a:latin typeface="宋体"/>
                <a:cs typeface="宋体"/>
              </a:rPr>
              <a:t>硬数据的</a:t>
            </a:r>
            <a:r>
              <a:rPr sz="4400" dirty="0">
                <a:solidFill>
                  <a:srgbClr val="00663C"/>
                </a:solidFill>
                <a:latin typeface="Calibri"/>
                <a:cs typeface="Calibri"/>
              </a:rPr>
              <a:t>ERD</a:t>
            </a:r>
            <a:r>
              <a:rPr sz="4400" dirty="0">
                <a:solidFill>
                  <a:srgbClr val="00663C"/>
                </a:solidFill>
                <a:latin typeface="宋体"/>
                <a:cs typeface="宋体"/>
              </a:rPr>
              <a:t>建模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980"/>
            <a:ext cx="556133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83565" algn="l"/>
              </a:tabLst>
            </a:pPr>
            <a:r>
              <a:rPr sz="2600" b="1" spc="-10" dirty="0">
                <a:solidFill>
                  <a:srgbClr val="00663C"/>
                </a:solidFill>
                <a:latin typeface="Calibri"/>
                <a:cs typeface="Calibri"/>
              </a:rPr>
              <a:t>1.	</a:t>
            </a:r>
            <a:r>
              <a:rPr sz="3100" b="1" spc="145" dirty="0">
                <a:latin typeface="宋体"/>
                <a:cs typeface="宋体"/>
              </a:rPr>
              <a:t>分析表单内容确定表单主</a:t>
            </a:r>
            <a:r>
              <a:rPr sz="3100" b="1" spc="85" dirty="0">
                <a:latin typeface="宋体"/>
                <a:cs typeface="宋体"/>
              </a:rPr>
              <a:t>题</a:t>
            </a:r>
            <a:endParaRPr sz="31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27804" y="2409586"/>
            <a:ext cx="6276807" cy="37165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55994" y="202691"/>
            <a:ext cx="56978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solidFill>
                  <a:srgbClr val="00663C"/>
                </a:solidFill>
                <a:latin typeface="Calibri"/>
                <a:cs typeface="Calibri"/>
              </a:rPr>
              <a:t>3.3.2.</a:t>
            </a:r>
            <a:r>
              <a:rPr sz="4400" spc="-80" dirty="0">
                <a:solidFill>
                  <a:srgbClr val="00663C"/>
                </a:solidFill>
                <a:latin typeface="Calibri"/>
                <a:cs typeface="Calibri"/>
              </a:rPr>
              <a:t> </a:t>
            </a:r>
            <a:r>
              <a:rPr sz="4400" dirty="0">
                <a:solidFill>
                  <a:srgbClr val="00663C"/>
                </a:solidFill>
                <a:latin typeface="宋体"/>
                <a:cs typeface="宋体"/>
              </a:rPr>
              <a:t>硬数据的</a:t>
            </a:r>
            <a:r>
              <a:rPr sz="4400" dirty="0">
                <a:solidFill>
                  <a:srgbClr val="00663C"/>
                </a:solidFill>
                <a:latin typeface="Calibri"/>
                <a:cs typeface="Calibri"/>
              </a:rPr>
              <a:t>ERD</a:t>
            </a:r>
            <a:r>
              <a:rPr sz="4400" dirty="0">
                <a:solidFill>
                  <a:srgbClr val="00663C"/>
                </a:solidFill>
                <a:latin typeface="宋体"/>
                <a:cs typeface="宋体"/>
              </a:rPr>
              <a:t>建模</a:t>
            </a:r>
            <a:endParaRPr sz="44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980"/>
            <a:ext cx="4326255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83565" algn="l"/>
              </a:tabLst>
            </a:pPr>
            <a:r>
              <a:rPr sz="2600" b="1" spc="-10" dirty="0">
                <a:solidFill>
                  <a:srgbClr val="00663C"/>
                </a:solidFill>
                <a:latin typeface="Calibri"/>
                <a:cs typeface="Calibri"/>
              </a:rPr>
              <a:t>2.	</a:t>
            </a:r>
            <a:r>
              <a:rPr sz="3100" b="1" spc="145" dirty="0">
                <a:latin typeface="宋体"/>
                <a:cs typeface="宋体"/>
              </a:rPr>
              <a:t>建立主题之间的关系</a:t>
            </a:r>
            <a:endParaRPr sz="31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9830" y="2489213"/>
            <a:ext cx="6451599" cy="1118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994" y="202691"/>
            <a:ext cx="56978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3.3.2.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硬数据的</a:t>
            </a:r>
            <a:r>
              <a:rPr dirty="0"/>
              <a:t>ERD</a:t>
            </a:r>
            <a:r>
              <a:rPr dirty="0">
                <a:latin typeface="宋体"/>
                <a:cs typeface="宋体"/>
              </a:rPr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6171"/>
            <a:ext cx="2768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00663C"/>
                </a:solidFill>
                <a:latin typeface="Calibri"/>
                <a:cs typeface="Calibri"/>
              </a:rPr>
              <a:t>3.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439" y="1303210"/>
            <a:ext cx="458343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b="1" spc="145" dirty="0">
                <a:latin typeface="宋体"/>
                <a:cs typeface="宋体"/>
              </a:rPr>
              <a:t>围绕主题组织表单的项目</a:t>
            </a:r>
            <a:endParaRPr sz="31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8762" y="2014017"/>
            <a:ext cx="7652619" cy="42233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994" y="202691"/>
            <a:ext cx="56978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3.3.2.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硬数据的</a:t>
            </a:r>
            <a:r>
              <a:rPr dirty="0"/>
              <a:t>ERD</a:t>
            </a:r>
            <a:r>
              <a:rPr dirty="0">
                <a:latin typeface="宋体"/>
                <a:cs typeface="宋体"/>
              </a:rPr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02308"/>
            <a:ext cx="2768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00663C"/>
                </a:solidFill>
                <a:latin typeface="Calibri"/>
                <a:cs typeface="Calibri"/>
              </a:rPr>
              <a:t>3.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439" y="1629346"/>
            <a:ext cx="458343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b="1" spc="145" dirty="0">
                <a:latin typeface="宋体"/>
                <a:cs typeface="宋体"/>
              </a:rPr>
              <a:t>围绕主题组织表单的项目</a:t>
            </a:r>
            <a:endParaRPr sz="31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9964" y="2225622"/>
            <a:ext cx="8444975" cy="33534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5994" y="202691"/>
            <a:ext cx="56978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3.3.2.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硬数据的</a:t>
            </a:r>
            <a:r>
              <a:rPr dirty="0"/>
              <a:t>ERD</a:t>
            </a:r>
            <a:r>
              <a:rPr dirty="0">
                <a:latin typeface="宋体"/>
                <a:cs typeface="宋体"/>
              </a:rPr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02308"/>
            <a:ext cx="2768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20" dirty="0">
                <a:solidFill>
                  <a:srgbClr val="00663C"/>
                </a:solidFill>
                <a:latin typeface="Calibri"/>
                <a:cs typeface="Calibri"/>
              </a:rPr>
              <a:t>4.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439" y="1629346"/>
            <a:ext cx="4997450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b="1" spc="145" dirty="0">
                <a:latin typeface="宋体"/>
                <a:cs typeface="宋体"/>
              </a:rPr>
              <a:t>补充实体关系图的详细信息</a:t>
            </a:r>
            <a:endParaRPr sz="31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2680130"/>
            <a:ext cx="7772400" cy="2955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7194" y="202691"/>
            <a:ext cx="6815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3.3.3.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复杂情况下的</a:t>
            </a:r>
            <a:r>
              <a:rPr dirty="0"/>
              <a:t>ERD</a:t>
            </a:r>
            <a:r>
              <a:rPr dirty="0">
                <a:latin typeface="宋体"/>
                <a:cs typeface="宋体"/>
              </a:rPr>
              <a:t>建模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4389"/>
            <a:ext cx="7977505" cy="387096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1110"/>
              </a:spcBef>
              <a:buClr>
                <a:srgbClr val="00663C"/>
              </a:buClr>
              <a:buSzPct val="83870"/>
              <a:buFont typeface="Calibri"/>
              <a:buAutoNum type="arabicPeriod"/>
              <a:tabLst>
                <a:tab pos="583565" algn="l"/>
                <a:tab pos="584200" algn="l"/>
              </a:tabLst>
            </a:pPr>
            <a:r>
              <a:rPr sz="3100" b="1" spc="145" dirty="0">
                <a:latin typeface="宋体"/>
                <a:cs typeface="宋体"/>
              </a:rPr>
              <a:t>发现系统的</a:t>
            </a:r>
            <a:r>
              <a:rPr sz="3100" b="1" spc="145" dirty="0">
                <a:solidFill>
                  <a:srgbClr val="009257"/>
                </a:solidFill>
                <a:latin typeface="宋体"/>
                <a:cs typeface="宋体"/>
              </a:rPr>
              <a:t>概念</a:t>
            </a:r>
            <a:r>
              <a:rPr sz="3100" b="1" spc="85" dirty="0">
                <a:solidFill>
                  <a:srgbClr val="009257"/>
                </a:solidFill>
                <a:latin typeface="宋体"/>
                <a:cs typeface="宋体"/>
              </a:rPr>
              <a:t>域</a:t>
            </a:r>
            <a:endParaRPr sz="3100">
              <a:latin typeface="宋体"/>
              <a:cs typeface="宋体"/>
            </a:endParaRPr>
          </a:p>
          <a:p>
            <a:pPr marL="852169" marR="5080" lvl="1" indent="-495300" algn="just">
              <a:lnSpc>
                <a:spcPct val="96800"/>
              </a:lnSpc>
              <a:spcBef>
                <a:spcPts val="98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指那些在系统业务中非常重要的概念，如果没 有这个概念，组织就可能不会存在或者业务发 生重大变化</a:t>
            </a:r>
            <a:endParaRPr sz="2800">
              <a:latin typeface="宋体"/>
              <a:cs typeface="宋体"/>
            </a:endParaRPr>
          </a:p>
          <a:p>
            <a:pPr marL="852169" marR="5080" lvl="1" indent="-495300" algn="just">
              <a:lnSpc>
                <a:spcPts val="3120"/>
              </a:lnSpc>
              <a:spcBef>
                <a:spcPts val="12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不能遗漏那些对业务有重大影响的概念，同时 概念域的发现也不要太细节</a:t>
            </a:r>
            <a:endParaRPr sz="2800">
              <a:latin typeface="宋体"/>
              <a:cs typeface="宋体"/>
            </a:endParaRPr>
          </a:p>
          <a:p>
            <a:pPr marL="852805" lvl="1" indent="-495934" algn="just">
              <a:lnSpc>
                <a:spcPts val="3275"/>
              </a:lnSpc>
              <a:spcBef>
                <a:spcPts val="78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每一个概念域都会以星型发散的方式扩展为多</a:t>
            </a:r>
            <a:endParaRPr sz="2800">
              <a:latin typeface="宋体"/>
              <a:cs typeface="宋体"/>
            </a:endParaRPr>
          </a:p>
          <a:p>
            <a:pPr marL="852169">
              <a:lnSpc>
                <a:spcPts val="3275"/>
              </a:lnSpc>
            </a:pPr>
            <a:r>
              <a:rPr sz="2800" dirty="0">
                <a:latin typeface="宋体"/>
                <a:cs typeface="宋体"/>
              </a:rPr>
              <a:t>个逻辑实体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284" y="224027"/>
            <a:ext cx="6815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3.3.3.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复杂情况下的</a:t>
            </a:r>
            <a:r>
              <a:rPr dirty="0"/>
              <a:t>ERD</a:t>
            </a:r>
            <a:r>
              <a:rPr dirty="0">
                <a:latin typeface="宋体"/>
                <a:cs typeface="宋体"/>
              </a:rPr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6486"/>
            <a:ext cx="3549650" cy="4140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  <a:tabLst>
                <a:tab pos="507365" algn="l"/>
              </a:tabLst>
            </a:pPr>
            <a:r>
              <a:rPr sz="2600" b="1" spc="-5" dirty="0">
                <a:latin typeface="Calibri"/>
                <a:cs typeface="Calibri"/>
              </a:rPr>
              <a:t>2.	</a:t>
            </a:r>
            <a:r>
              <a:rPr sz="3825" b="1" spc="127" baseline="1089" dirty="0">
                <a:latin typeface="宋体"/>
                <a:cs typeface="宋体"/>
              </a:rPr>
              <a:t>建立对概念域的描述</a:t>
            </a:r>
            <a:endParaRPr sz="3825" baseline="1089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9300" y="2486025"/>
          <a:ext cx="7931150" cy="3206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8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概念域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同义词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定义和描述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资源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相关的程序功能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>
                          <a:latin typeface="微软雅黑"/>
                          <a:cs typeface="微软雅黑"/>
                        </a:rPr>
                        <a:t>待确定的问题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T="32384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220" y="6422644"/>
            <a:ext cx="22434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软件需求工程与</a:t>
            </a:r>
            <a:r>
              <a:rPr sz="1600" spc="-5" dirty="0">
                <a:solidFill>
                  <a:srgbClr val="00663C"/>
                </a:solidFill>
                <a:latin typeface="Calibri"/>
                <a:cs typeface="Calibri"/>
              </a:rPr>
              <a:t>UM</a:t>
            </a:r>
            <a:r>
              <a:rPr sz="1600" dirty="0">
                <a:solidFill>
                  <a:srgbClr val="00663C"/>
                </a:solidFill>
                <a:latin typeface="Calibri"/>
                <a:cs typeface="Calibri"/>
              </a:rPr>
              <a:t>L</a:t>
            </a: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4430" y="473963"/>
            <a:ext cx="68154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3.3.3.</a:t>
            </a:r>
            <a:r>
              <a:rPr spc="-80" dirty="0"/>
              <a:t> </a:t>
            </a:r>
            <a:r>
              <a:rPr dirty="0">
                <a:latin typeface="宋体"/>
                <a:cs typeface="宋体"/>
              </a:rPr>
              <a:t>复杂情况下的</a:t>
            </a:r>
            <a:r>
              <a:rPr dirty="0"/>
              <a:t>ERD</a:t>
            </a:r>
            <a:r>
              <a:rPr dirty="0">
                <a:latin typeface="宋体"/>
                <a:cs typeface="宋体"/>
              </a:rPr>
              <a:t>建模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31709"/>
            <a:ext cx="5568950" cy="323405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584200" indent="-571500">
              <a:lnSpc>
                <a:spcPct val="100000"/>
              </a:lnSpc>
              <a:spcBef>
                <a:spcPts val="894"/>
              </a:spcBef>
              <a:buClr>
                <a:srgbClr val="00663C"/>
              </a:buClr>
              <a:buSzPct val="83870"/>
              <a:buFont typeface="Calibri"/>
              <a:buAutoNum type="arabicPeriod" startAt="3"/>
              <a:tabLst>
                <a:tab pos="583565" algn="l"/>
                <a:tab pos="584200" algn="l"/>
              </a:tabLst>
            </a:pPr>
            <a:r>
              <a:rPr sz="3100" b="1" spc="145" dirty="0">
                <a:latin typeface="宋体"/>
                <a:cs typeface="宋体"/>
              </a:rPr>
              <a:t>展开概念</a:t>
            </a:r>
            <a:r>
              <a:rPr sz="3100" b="1" spc="85" dirty="0">
                <a:latin typeface="宋体"/>
                <a:cs typeface="宋体"/>
              </a:rPr>
              <a:t>域</a:t>
            </a:r>
            <a:endParaRPr sz="31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简单情况下的</a:t>
            </a:r>
            <a:r>
              <a:rPr sz="2800" spc="-5" dirty="0">
                <a:latin typeface="Calibri"/>
                <a:cs typeface="Calibri"/>
              </a:rPr>
              <a:t>ERD</a:t>
            </a:r>
            <a:r>
              <a:rPr sz="2800" dirty="0">
                <a:latin typeface="宋体"/>
                <a:cs typeface="宋体"/>
              </a:rPr>
              <a:t>建模</a:t>
            </a:r>
            <a:endParaRPr sz="28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64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或者进一步细分子域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"/>
            </a:pPr>
            <a:endParaRPr sz="3850">
              <a:latin typeface="宋体"/>
              <a:cs typeface="宋体"/>
            </a:endParaRPr>
          </a:p>
          <a:p>
            <a:pPr marL="584200" indent="-571500">
              <a:lnSpc>
                <a:spcPct val="100000"/>
              </a:lnSpc>
              <a:buClr>
                <a:srgbClr val="00663C"/>
              </a:buClr>
              <a:buSzPct val="83870"/>
              <a:buFont typeface="Calibri"/>
              <a:buAutoNum type="arabicPeriod" startAt="3"/>
              <a:tabLst>
                <a:tab pos="583565" algn="l"/>
                <a:tab pos="584200" algn="l"/>
              </a:tabLst>
            </a:pPr>
            <a:r>
              <a:rPr sz="3100" b="1" spc="145" dirty="0">
                <a:latin typeface="宋体"/>
                <a:cs typeface="宋体"/>
              </a:rPr>
              <a:t>合并概念域的局部数据模型</a:t>
            </a:r>
            <a:endParaRPr sz="3100">
              <a:latin typeface="宋体"/>
              <a:cs typeface="宋体"/>
            </a:endParaRPr>
          </a:p>
          <a:p>
            <a:pPr marL="852805" lvl="1" indent="-495934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852169" algn="l"/>
                <a:tab pos="852805" algn="l"/>
              </a:tabLst>
            </a:pPr>
            <a:r>
              <a:rPr sz="2800" dirty="0">
                <a:latin typeface="宋体"/>
                <a:cs typeface="宋体"/>
              </a:rPr>
              <a:t>消除冗余和冲突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2631" y="284988"/>
            <a:ext cx="5139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3.3.4.</a:t>
            </a:r>
            <a:r>
              <a:rPr spc="-65" dirty="0"/>
              <a:t> </a:t>
            </a:r>
            <a:r>
              <a:rPr spc="-5" dirty="0"/>
              <a:t>ERD</a:t>
            </a:r>
            <a:r>
              <a:rPr dirty="0">
                <a:latin typeface="宋体"/>
                <a:cs typeface="宋体"/>
              </a:rPr>
              <a:t>与过程模型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6749"/>
            <a:ext cx="8032750" cy="126492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600" dirty="0">
                <a:latin typeface="宋体"/>
                <a:cs typeface="宋体"/>
              </a:rPr>
              <a:t>功能</a:t>
            </a:r>
            <a:r>
              <a:rPr sz="2600" spc="-5" dirty="0">
                <a:latin typeface="Calibri"/>
                <a:cs typeface="Calibri"/>
              </a:rPr>
              <a:t>/</a:t>
            </a:r>
            <a:r>
              <a:rPr sz="2600" dirty="0">
                <a:latin typeface="宋体"/>
                <a:cs typeface="宋体"/>
              </a:rPr>
              <a:t>实体矩阵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Calibri"/>
                <a:cs typeface="Calibri"/>
              </a:rPr>
              <a:t>Function/Entity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Matrix</a:t>
            </a:r>
            <a:r>
              <a:rPr sz="2600" dirty="0">
                <a:latin typeface="宋体"/>
                <a:cs typeface="宋体"/>
              </a:rPr>
              <a:t>）</a:t>
            </a:r>
            <a:endParaRPr sz="2600">
              <a:latin typeface="宋体"/>
              <a:cs typeface="宋体"/>
            </a:endParaRPr>
          </a:p>
          <a:p>
            <a:pPr marL="755650" marR="5080" indent="-285750">
              <a:lnSpc>
                <a:spcPts val="2500"/>
              </a:lnSpc>
              <a:spcBef>
                <a:spcPts val="890"/>
              </a:spcBef>
              <a:tabLst>
                <a:tab pos="755015" algn="l"/>
              </a:tabLst>
            </a:pPr>
            <a:r>
              <a:rPr sz="2200" dirty="0">
                <a:latin typeface="Arial"/>
                <a:cs typeface="Arial"/>
              </a:rPr>
              <a:t>–	</a:t>
            </a:r>
            <a:r>
              <a:rPr sz="2200" dirty="0">
                <a:latin typeface="宋体"/>
                <a:cs typeface="宋体"/>
              </a:rPr>
              <a:t>可以帮助验证过程模型和数据模块的</a:t>
            </a:r>
            <a:r>
              <a:rPr sz="2200" dirty="0">
                <a:solidFill>
                  <a:srgbClr val="009257"/>
                </a:solidFill>
                <a:latin typeface="宋体"/>
                <a:cs typeface="宋体"/>
              </a:rPr>
              <a:t>正确性</a:t>
            </a:r>
            <a:r>
              <a:rPr sz="2200" dirty="0">
                <a:latin typeface="宋体"/>
                <a:cs typeface="宋体"/>
              </a:rPr>
              <a:t>，发现其中的错 误、遗漏、冗余和不一致</a:t>
            </a:r>
            <a:endParaRPr sz="2200">
              <a:latin typeface="宋体"/>
              <a:cs typeface="宋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3400" y="3351212"/>
          <a:ext cx="8147049" cy="21605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5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3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marL="47942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功能</a:t>
                      </a:r>
                      <a:r>
                        <a:rPr sz="2000" spc="-1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2000" dirty="0">
                          <a:latin typeface="微软雅黑"/>
                          <a:cs typeface="微软雅黑"/>
                        </a:rPr>
                        <a:t>实体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学生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课程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注册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修改课程信息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RU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33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注册课程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C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微软雅黑"/>
                          <a:cs typeface="微软雅黑"/>
                        </a:rPr>
                        <a:t>取消课程注册</a:t>
                      </a:r>
                      <a:endParaRPr sz="2000">
                        <a:latin typeface="微软雅黑"/>
                        <a:cs typeface="微软雅黑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R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2000" dirty="0">
                          <a:latin typeface="Times New Roman"/>
                          <a:cs typeface="Times New Roman"/>
                        </a:rPr>
                        <a:t>D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220" y="6422644"/>
            <a:ext cx="224345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软件需求工程与</a:t>
            </a:r>
            <a:r>
              <a:rPr sz="1600" spc="-5" dirty="0">
                <a:solidFill>
                  <a:srgbClr val="00663C"/>
                </a:solidFill>
                <a:latin typeface="Calibri"/>
                <a:cs typeface="Calibri"/>
              </a:rPr>
              <a:t>UM</a:t>
            </a:r>
            <a:r>
              <a:rPr sz="1600" dirty="0">
                <a:solidFill>
                  <a:srgbClr val="00663C"/>
                </a:solidFill>
                <a:latin typeface="Calibri"/>
                <a:cs typeface="Calibri"/>
              </a:rPr>
              <a:t>L</a:t>
            </a:r>
            <a:r>
              <a:rPr sz="1600" dirty="0">
                <a:solidFill>
                  <a:srgbClr val="00663C"/>
                </a:solidFill>
                <a:latin typeface="华文行楷"/>
                <a:cs typeface="华文行楷"/>
              </a:rPr>
              <a:t>建模</a:t>
            </a:r>
            <a:endParaRPr sz="1600">
              <a:latin typeface="华文行楷"/>
              <a:cs typeface="华文行楷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0412" y="473963"/>
            <a:ext cx="25431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宋体"/>
                <a:cs typeface="宋体"/>
              </a:rPr>
              <a:t>第</a:t>
            </a:r>
            <a:r>
              <a:rPr spc="-10" dirty="0"/>
              <a:t>3</a:t>
            </a:r>
            <a:r>
              <a:rPr dirty="0">
                <a:latin typeface="宋体"/>
                <a:cs typeface="宋体"/>
              </a:rPr>
              <a:t>节小结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47444"/>
            <a:ext cx="7947025" cy="418337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55600" marR="268605" indent="-342900">
              <a:lnSpc>
                <a:spcPts val="3600"/>
              </a:lnSpc>
              <a:spcBef>
                <a:spcPts val="42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在结构化分析当中，数据建模是过程建模 的有利补充。</a:t>
            </a:r>
            <a:endParaRPr sz="3200">
              <a:latin typeface="宋体"/>
              <a:cs typeface="宋体"/>
            </a:endParaRPr>
          </a:p>
          <a:p>
            <a:pPr marL="355600" marR="268605" indent="-342900">
              <a:lnSpc>
                <a:spcPts val="3600"/>
              </a:lnSpc>
              <a:spcBef>
                <a:spcPts val="12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数据建模也可能会单独发生，起到主导需 求分析的作用</a:t>
            </a:r>
            <a:endParaRPr sz="3200">
              <a:latin typeface="宋体"/>
              <a:cs typeface="宋体"/>
            </a:endParaRPr>
          </a:p>
          <a:p>
            <a:pPr marL="355600" marR="5080" indent="-342900">
              <a:lnSpc>
                <a:spcPts val="3820"/>
              </a:lnSpc>
              <a:spcBef>
                <a:spcPts val="9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ER</a:t>
            </a:r>
            <a:r>
              <a:rPr sz="3200" spc="5" dirty="0">
                <a:latin typeface="Calibri"/>
                <a:cs typeface="Calibri"/>
              </a:rPr>
              <a:t>D</a:t>
            </a:r>
            <a:r>
              <a:rPr sz="3200" dirty="0">
                <a:latin typeface="宋体"/>
                <a:cs typeface="宋体"/>
              </a:rPr>
              <a:t>是最为常用的数据模型，它拥有完备的 语法和语义</a:t>
            </a:r>
            <a:endParaRPr sz="3200">
              <a:latin typeface="宋体"/>
              <a:cs typeface="宋体"/>
            </a:endParaRPr>
          </a:p>
          <a:p>
            <a:pPr marL="355600" marR="5080" indent="-342900">
              <a:lnSpc>
                <a:spcPts val="3820"/>
              </a:lnSpc>
              <a:spcBef>
                <a:spcPts val="76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ER</a:t>
            </a:r>
            <a:r>
              <a:rPr sz="3200" spc="5" dirty="0">
                <a:latin typeface="Calibri"/>
                <a:cs typeface="Calibri"/>
              </a:rPr>
              <a:t>D</a:t>
            </a:r>
            <a:r>
              <a:rPr sz="3200" dirty="0">
                <a:latin typeface="宋体"/>
                <a:cs typeface="宋体"/>
              </a:rPr>
              <a:t>的建立过程通常是复杂的，但是复杂情 况可以分为简单情况进而逐一治之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6529" y="3482340"/>
            <a:ext cx="56114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3540" algn="ctr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385723"/>
                </a:solidFill>
                <a:latin typeface="微软雅黑"/>
                <a:cs typeface="微软雅黑"/>
              </a:rPr>
              <a:t>Q</a:t>
            </a:r>
            <a:r>
              <a:rPr sz="4400" b="1" spc="-720" dirty="0">
                <a:solidFill>
                  <a:srgbClr val="385723"/>
                </a:solidFill>
                <a:latin typeface="微软雅黑"/>
                <a:cs typeface="微软雅黑"/>
              </a:rPr>
              <a:t> </a:t>
            </a:r>
            <a:r>
              <a:rPr sz="4400" b="1" dirty="0">
                <a:solidFill>
                  <a:srgbClr val="385723"/>
                </a:solidFill>
                <a:latin typeface="微软雅黑"/>
                <a:cs typeface="微软雅黑"/>
              </a:rPr>
              <a:t>&amp;</a:t>
            </a:r>
            <a:r>
              <a:rPr sz="4400" b="1" spc="-715" dirty="0">
                <a:solidFill>
                  <a:srgbClr val="385723"/>
                </a:solidFill>
                <a:latin typeface="微软雅黑"/>
                <a:cs typeface="微软雅黑"/>
              </a:rPr>
              <a:t> </a:t>
            </a:r>
            <a:r>
              <a:rPr sz="4400" b="1" dirty="0">
                <a:solidFill>
                  <a:srgbClr val="385723"/>
                </a:solidFill>
                <a:latin typeface="微软雅黑"/>
                <a:cs typeface="微软雅黑"/>
              </a:rPr>
              <a:t>A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53829" y="2666160"/>
            <a:ext cx="5636895" cy="2383155"/>
          </a:xfrm>
          <a:custGeom>
            <a:avLst/>
            <a:gdLst/>
            <a:ahLst/>
            <a:cxnLst/>
            <a:rect l="l" t="t" r="r" b="b"/>
            <a:pathLst>
              <a:path w="5636895" h="2383154">
                <a:moveTo>
                  <a:pt x="0" y="0"/>
                </a:moveTo>
                <a:lnTo>
                  <a:pt x="5636342" y="0"/>
                </a:lnTo>
                <a:lnTo>
                  <a:pt x="5636342" y="2382838"/>
                </a:lnTo>
                <a:lnTo>
                  <a:pt x="0" y="238283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3857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20416" y="2047035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5" h="770255">
                <a:moveTo>
                  <a:pt x="0" y="0"/>
                </a:moveTo>
                <a:lnTo>
                  <a:pt x="769937" y="0"/>
                </a:lnTo>
                <a:lnTo>
                  <a:pt x="769937" y="769937"/>
                </a:lnTo>
                <a:lnTo>
                  <a:pt x="0" y="769937"/>
                </a:lnTo>
                <a:lnTo>
                  <a:pt x="0" y="0"/>
                </a:lnTo>
                <a:close/>
              </a:path>
            </a:pathLst>
          </a:custGeom>
          <a:solidFill>
            <a:srgbClr val="AE2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5791" y="1870823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799" y="0"/>
                </a:lnTo>
                <a:lnTo>
                  <a:pt x="558799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96653" y="244391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67140" y="4951366"/>
            <a:ext cx="770255" cy="770255"/>
          </a:xfrm>
          <a:custGeom>
            <a:avLst/>
            <a:gdLst/>
            <a:ahLst/>
            <a:cxnLst/>
            <a:rect l="l" t="t" r="r" b="b"/>
            <a:pathLst>
              <a:path w="770254" h="770254">
                <a:moveTo>
                  <a:pt x="0" y="0"/>
                </a:moveTo>
                <a:lnTo>
                  <a:pt x="769937" y="0"/>
                </a:lnTo>
                <a:lnTo>
                  <a:pt x="769937" y="769938"/>
                </a:lnTo>
                <a:lnTo>
                  <a:pt x="0" y="769938"/>
                </a:lnTo>
                <a:lnTo>
                  <a:pt x="0" y="0"/>
                </a:lnTo>
                <a:close/>
              </a:path>
            </a:pathLst>
          </a:custGeom>
          <a:solidFill>
            <a:srgbClr val="AE2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92515" y="4775154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43378" y="5348241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0" y="0"/>
                </a:moveTo>
                <a:lnTo>
                  <a:pt x="558800" y="0"/>
                </a:lnTo>
                <a:lnTo>
                  <a:pt x="558800" y="558800"/>
                </a:lnTo>
                <a:lnTo>
                  <a:pt x="0" y="558800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78371" y="744588"/>
            <a:ext cx="1079999" cy="10834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13115" y="6232652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98989"/>
                </a:solidFill>
                <a:latin typeface="Arial"/>
                <a:cs typeface="Arial"/>
              </a:rPr>
              <a:t>81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Words>2594</Words>
  <Application>Microsoft Office PowerPoint</Application>
  <PresentationFormat>全屏显示(4:3)</PresentationFormat>
  <Paragraphs>884</Paragraphs>
  <Slides>80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80</vt:i4>
      </vt:variant>
    </vt:vector>
  </HeadingPairs>
  <TitlesOfParts>
    <vt:vector size="90" baseType="lpstr">
      <vt:lpstr>MS Gothic</vt:lpstr>
      <vt:lpstr>华文行楷</vt:lpstr>
      <vt:lpstr>宋体</vt:lpstr>
      <vt:lpstr>微软雅黑</vt:lpstr>
      <vt:lpstr>Arial</vt:lpstr>
      <vt:lpstr>Calibri</vt:lpstr>
      <vt:lpstr>Courier New</vt:lpstr>
      <vt:lpstr>Times New Roman</vt:lpstr>
      <vt:lpstr>Wingdings</vt:lpstr>
      <vt:lpstr>Office Theme</vt:lpstr>
      <vt:lpstr>主要内容</vt:lpstr>
      <vt:lpstr>结构化需求分析与建模</vt:lpstr>
      <vt:lpstr>结构化需求分析与建模</vt:lpstr>
      <vt:lpstr>1.1. 过程建模：数据流图</vt:lpstr>
      <vt:lpstr>1.2.数据建模：实体关系图</vt:lpstr>
      <vt:lpstr>1.2. 实体关系图示例</vt:lpstr>
      <vt:lpstr>1.3. 行为建模：状态转换图</vt:lpstr>
      <vt:lpstr>1.3. 状态转换图：状态</vt:lpstr>
      <vt:lpstr>1.3. 状态转换图：状态转换</vt:lpstr>
      <vt:lpstr>1.3. 状态转换图：事件</vt:lpstr>
      <vt:lpstr>状态转换图示例</vt:lpstr>
      <vt:lpstr>主要内容</vt:lpstr>
      <vt:lpstr>2.1. 过程建模</vt:lpstr>
      <vt:lpstr>2.2. 数据流图DFD基本图形元素</vt:lpstr>
      <vt:lpstr>2.2.1. DFD的基本元素</vt:lpstr>
      <vt:lpstr>2.2.1. DFD的基本元素</vt:lpstr>
      <vt:lpstr>2.2.1. DFD的基本元素</vt:lpstr>
      <vt:lpstr>2.2.1. DFD的基本元素</vt:lpstr>
      <vt:lpstr>DFD的基本元素示例: DeMarco表示法</vt:lpstr>
      <vt:lpstr>DFD的基本元素示例: Gane-Sarson表示法</vt:lpstr>
      <vt:lpstr>2.2.2. DFD规则</vt:lpstr>
      <vt:lpstr>2.2.2. DFD规则</vt:lpstr>
      <vt:lpstr>2.2.2. DFD规则</vt:lpstr>
      <vt:lpstr>2.2.3. DFD层次结构</vt:lpstr>
      <vt:lpstr>2.2.3. DFD层次结构: 上下文图</vt:lpstr>
      <vt:lpstr>2.2.3. DFD层次结构: 0层图</vt:lpstr>
      <vt:lpstr>DFD的0层图示例: Gane-Sarson表示法</vt:lpstr>
      <vt:lpstr>2.2.3. DFD层次结构: N层图</vt:lpstr>
      <vt:lpstr>2.2.4. DFD层次结构的建立</vt:lpstr>
      <vt:lpstr>步骤1. 创建上下文图</vt:lpstr>
      <vt:lpstr>步骤2. 发现并建立DFD片段</vt:lpstr>
      <vt:lpstr>步骤3. 产生0层图</vt:lpstr>
      <vt:lpstr>步骤4. 功能分解产生N层图</vt:lpstr>
      <vt:lpstr>步骤4. 功能分解产生N层图(终止判定)</vt:lpstr>
      <vt:lpstr>2.2.5. DFD的验证</vt:lpstr>
      <vt:lpstr>2.3. 微规格说明</vt:lpstr>
      <vt:lpstr>2.3.1 结构化英语/伪码</vt:lpstr>
      <vt:lpstr>2.3.1 结构化英语/伪码</vt:lpstr>
      <vt:lpstr>2.3.2 行为图</vt:lpstr>
      <vt:lpstr>2.3.2 行为图示例</vt:lpstr>
      <vt:lpstr>2.3.3 决策表</vt:lpstr>
      <vt:lpstr>2.3.3 决策表示例</vt:lpstr>
      <vt:lpstr>2.3.4 决策树</vt:lpstr>
      <vt:lpstr>2.4. 数据字典</vt:lpstr>
      <vt:lpstr>2.4.1. 数据字典词条描述</vt:lpstr>
      <vt:lpstr>词条描述示例</vt:lpstr>
      <vt:lpstr>2.4.2. 数据字典定义式</vt:lpstr>
      <vt:lpstr>数据字典定义式示例</vt:lpstr>
      <vt:lpstr>第2节小结</vt:lpstr>
      <vt:lpstr>主要内容</vt:lpstr>
      <vt:lpstr>3.1. 数据模型</vt:lpstr>
      <vt:lpstr>3.1. 数据模型建立</vt:lpstr>
      <vt:lpstr>3.2.1 实体</vt:lpstr>
      <vt:lpstr>3.2.1 实体</vt:lpstr>
      <vt:lpstr>3.2.1 实体</vt:lpstr>
      <vt:lpstr>3.2.2 属性</vt:lpstr>
      <vt:lpstr>3.2.2 属性</vt:lpstr>
      <vt:lpstr>3.2.2 属性</vt:lpstr>
      <vt:lpstr>3.2.2 属性</vt:lpstr>
      <vt:lpstr>3.2.3 关系</vt:lpstr>
      <vt:lpstr>3.2.3 关系</vt:lpstr>
      <vt:lpstr>3.2.3 关系</vt:lpstr>
      <vt:lpstr>3.2.3 关系</vt:lpstr>
      <vt:lpstr>3.2.3 关系</vt:lpstr>
      <vt:lpstr>3.2.3 ERD表示方式1</vt:lpstr>
      <vt:lpstr>3.2.3 ERD表示方式2</vt:lpstr>
      <vt:lpstr>3.3. ERD建模</vt:lpstr>
      <vt:lpstr>3.3.1. 简单情况下的ERD建模</vt:lpstr>
      <vt:lpstr>3.3.2. 硬数据的ERD建模</vt:lpstr>
      <vt:lpstr>PowerPoint 演示文稿</vt:lpstr>
      <vt:lpstr>PowerPoint 演示文稿</vt:lpstr>
      <vt:lpstr>3.3.2. 硬数据的ERD建模</vt:lpstr>
      <vt:lpstr>3.3.2. 硬数据的ERD建模</vt:lpstr>
      <vt:lpstr>3.3.2. 硬数据的ERD建模</vt:lpstr>
      <vt:lpstr>3.3.3. 复杂情况下的ERD建模</vt:lpstr>
      <vt:lpstr>3.3.3. 复杂情况下的ERD建模</vt:lpstr>
      <vt:lpstr>3.3.3. 复杂情况下的ERD建模</vt:lpstr>
      <vt:lpstr>3.3.4. ERD与过程模型</vt:lpstr>
      <vt:lpstr>第3节小结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主要内容</dc:title>
  <cp:lastModifiedBy>- Vel</cp:lastModifiedBy>
  <cp:revision>2</cp:revision>
  <dcterms:created xsi:type="dcterms:W3CDTF">2024-04-24T11:14:08Z</dcterms:created>
  <dcterms:modified xsi:type="dcterms:W3CDTF">2024-04-26T07:05:32Z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2024-04-02T00:00:00Z</vt:filetime>
  </property>
  <property fmtid="{D5CDD505-2E9C-101B-9397-08002B2CF9AE}" pid="3" name="LastSaved">
    <vt:filetime>2024-04-24T00:00:00Z</vt:filetime>
  </property>
</Properties>
</file>
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045"/>
          </a:xfrm>
          <a:custGeom>
            <a:avLst/>
            <a:gdLst/>
            <a:ahLst/>
            <a:cxnLst/>
            <a:rect l="l" t="t" r="r" b="b"/>
            <a:pathLst>
              <a:path w="9144000" h="360045">
                <a:moveTo>
                  <a:pt x="0" y="359663"/>
                </a:moveTo>
                <a:lnTo>
                  <a:pt x="9144000" y="359663"/>
                </a:lnTo>
                <a:lnTo>
                  <a:pt x="9144000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solidFill>
            <a:srgbClr val="0066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6623"/>
            <a:ext cx="9144000" cy="341630"/>
          </a:xfrm>
          <a:custGeom>
            <a:avLst/>
            <a:gdLst/>
            <a:ahLst/>
            <a:cxnLst/>
            <a:rect l="l" t="t" r="r" b="b"/>
            <a:pathLst>
              <a:path w="9144000" h="341629">
                <a:moveTo>
                  <a:pt x="9144000" y="341372"/>
                </a:moveTo>
                <a:lnTo>
                  <a:pt x="9144000" y="0"/>
                </a:lnTo>
                <a:lnTo>
                  <a:pt x="0" y="0"/>
                </a:lnTo>
                <a:lnTo>
                  <a:pt x="0" y="341372"/>
                </a:lnTo>
                <a:lnTo>
                  <a:pt x="9144000" y="341372"/>
                </a:lnTo>
                <a:close/>
              </a:path>
            </a:pathLst>
          </a:custGeom>
          <a:solidFill>
            <a:srgbClr val="0066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5172" y="285114"/>
            <a:ext cx="561365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4014" y="1177922"/>
            <a:ext cx="8395970" cy="4636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74033"/>
            <a:ext cx="2239645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12999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65721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需求工程过程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需求工程过程的活动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需求工程过程的并发和</a:t>
            </a:r>
            <a:r>
              <a:rPr sz="3200" spc="-15" dirty="0">
                <a:latin typeface="宋体"/>
                <a:cs typeface="宋体"/>
              </a:rPr>
              <a:t>迭</a:t>
            </a:r>
            <a:r>
              <a:rPr sz="3200" dirty="0">
                <a:latin typeface="宋体"/>
                <a:cs typeface="宋体"/>
              </a:rPr>
              <a:t>代性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实践方法的应用</a:t>
            </a:r>
            <a:endParaRPr sz="32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思考题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980" y="973116"/>
            <a:ext cx="7783830" cy="501904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79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过程模型是什么</a:t>
            </a:r>
            <a:endParaRPr sz="2800">
              <a:latin typeface="宋体"/>
              <a:cs typeface="宋体"/>
            </a:endParaRPr>
          </a:p>
          <a:p>
            <a:pPr marL="150495" marR="5080">
              <a:lnSpc>
                <a:spcPct val="100000"/>
              </a:lnSpc>
              <a:spcBef>
                <a:spcPts val="1460"/>
              </a:spcBef>
            </a:pPr>
            <a:r>
              <a:rPr sz="2400" dirty="0">
                <a:latin typeface="宋体"/>
                <a:cs typeface="宋体"/>
              </a:rPr>
              <a:t>针对不同的应用,</a:t>
            </a:r>
            <a:r>
              <a:rPr sz="2400" spc="-2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软件开发过程会不同,过程活动的组 </a:t>
            </a:r>
            <a:r>
              <a:rPr sz="2400" spc="-5" dirty="0">
                <a:latin typeface="宋体"/>
                <a:cs typeface="宋体"/>
              </a:rPr>
              <a:t>织也依赖参与者的能力和经</a:t>
            </a:r>
            <a:r>
              <a:rPr sz="2400" dirty="0">
                <a:latin typeface="宋体"/>
                <a:cs typeface="宋体"/>
              </a:rPr>
              <a:t>验</a:t>
            </a:r>
            <a:r>
              <a:rPr sz="2400" spc="-5" dirty="0">
                <a:latin typeface="宋体"/>
                <a:cs typeface="宋体"/>
              </a:rPr>
              <a:t>,以及团队工作文化等。 </a:t>
            </a:r>
            <a:r>
              <a:rPr sz="2400" dirty="0">
                <a:latin typeface="宋体"/>
                <a:cs typeface="宋体"/>
              </a:rPr>
              <a:t>将不同过程中具有共性的、可复用的活动经验总结出来， 并将其结构化和规范化,得到的就是过程模型。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宋体"/>
              <a:cs typeface="宋体"/>
            </a:endParaRPr>
          </a:p>
          <a:p>
            <a:pPr marL="469900" indent="-457834">
              <a:lnSpc>
                <a:spcPct val="100000"/>
              </a:lnSpc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为什么需要过程模型</a:t>
            </a:r>
            <a:endParaRPr sz="2800">
              <a:latin typeface="宋体"/>
              <a:cs typeface="宋体"/>
            </a:endParaRPr>
          </a:p>
          <a:p>
            <a:pPr marL="150495" marR="30988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latin typeface="宋体"/>
                <a:cs typeface="宋体"/>
              </a:rPr>
              <a:t>软件工程的基本思路之一是引入工程化的规范过</a:t>
            </a:r>
            <a:r>
              <a:rPr sz="2400" spc="5" dirty="0">
                <a:latin typeface="宋体"/>
                <a:cs typeface="宋体"/>
              </a:rPr>
              <a:t>程</a:t>
            </a:r>
            <a:r>
              <a:rPr sz="2400" dirty="0">
                <a:latin typeface="宋体"/>
                <a:cs typeface="宋体"/>
              </a:rPr>
              <a:t>,以 及时交付高质量的产品。高质量软件需求的开发也同样 需要遵循过程规范,用系统有序的过程来管理并控制软 </a:t>
            </a:r>
            <a:r>
              <a:rPr sz="2400" spc="-5" dirty="0">
                <a:latin typeface="宋体"/>
                <a:cs typeface="宋体"/>
              </a:rPr>
              <a:t>件需求的开发。建立过程模</a:t>
            </a:r>
            <a:r>
              <a:rPr sz="2400" dirty="0">
                <a:latin typeface="宋体"/>
                <a:cs typeface="宋体"/>
              </a:rPr>
              <a:t>型</a:t>
            </a:r>
            <a:r>
              <a:rPr sz="2400" spc="-5" dirty="0">
                <a:latin typeface="宋体"/>
                <a:cs typeface="宋体"/>
              </a:rPr>
              <a:t>,对软件需求开发的工程 </a:t>
            </a:r>
            <a:r>
              <a:rPr sz="2400" dirty="0">
                <a:latin typeface="宋体"/>
                <a:cs typeface="宋体"/>
              </a:rPr>
              <a:t>化有重要作用。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6801" y="269239"/>
            <a:ext cx="3931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需求工程过程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269239"/>
            <a:ext cx="3931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需求工程过程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0287"/>
            <a:ext cx="8296909" cy="2198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2790"/>
              </a:lnSpc>
              <a:spcBef>
                <a:spcPts val="10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009256"/>
                </a:solidFill>
                <a:latin typeface="宋体"/>
                <a:cs typeface="宋体"/>
              </a:rPr>
              <a:t>过程</a:t>
            </a:r>
            <a:r>
              <a:rPr sz="2400" spc="-5" dirty="0">
                <a:latin typeface="宋体"/>
                <a:cs typeface="宋体"/>
              </a:rPr>
              <a:t>是一组相关活动的集成，通过这些活动的执行，可以完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成一项任务或者达到一个目标。</a:t>
            </a:r>
            <a:endParaRPr sz="2400">
              <a:latin typeface="宋体"/>
              <a:cs typeface="宋体"/>
            </a:endParaRPr>
          </a:p>
          <a:p>
            <a:pPr marL="355600" marR="5080" indent="-343535">
              <a:lnSpc>
                <a:spcPts val="2700"/>
              </a:lnSpc>
              <a:spcBef>
                <a:spcPts val="42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宋体"/>
                <a:cs typeface="宋体"/>
              </a:rPr>
              <a:t>需求工程过程是系统开发中</a:t>
            </a:r>
            <a:r>
              <a:rPr sz="2400" dirty="0">
                <a:solidFill>
                  <a:srgbClr val="009256"/>
                </a:solidFill>
                <a:latin typeface="宋体"/>
                <a:cs typeface="宋体"/>
              </a:rPr>
              <a:t>需求开发活</a:t>
            </a:r>
            <a:r>
              <a:rPr sz="2400" spc="-10" dirty="0">
                <a:solidFill>
                  <a:srgbClr val="009256"/>
                </a:solidFill>
                <a:latin typeface="宋体"/>
                <a:cs typeface="宋体"/>
              </a:rPr>
              <a:t>动</a:t>
            </a:r>
            <a:r>
              <a:rPr sz="2400" dirty="0">
                <a:latin typeface="宋体"/>
                <a:cs typeface="宋体"/>
              </a:rPr>
              <a:t>的集成，它的目的 是产生一个能够在用户环境下解决用户业务问题</a:t>
            </a:r>
            <a:r>
              <a:rPr sz="2400" spc="5" dirty="0">
                <a:latin typeface="宋体"/>
                <a:cs typeface="宋体"/>
              </a:rPr>
              <a:t>的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系统方案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ts val="2790"/>
              </a:lnSpc>
              <a:spcBef>
                <a:spcPts val="12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宋体"/>
                <a:cs typeface="宋体"/>
              </a:rPr>
              <a:t>需求工程过程可能会表现出极大的差异，但是除了少数情况</a:t>
            </a:r>
            <a:endParaRPr sz="2400">
              <a:latin typeface="宋体"/>
              <a:cs typeface="宋体"/>
            </a:endParaRPr>
          </a:p>
          <a:p>
            <a:pPr marL="355600">
              <a:lnSpc>
                <a:spcPts val="2790"/>
              </a:lnSpc>
            </a:pPr>
            <a:r>
              <a:rPr sz="2400" dirty="0">
                <a:latin typeface="宋体"/>
                <a:cs typeface="宋体"/>
              </a:rPr>
              <a:t>之外，主要的需求工程活动是</a:t>
            </a:r>
            <a:r>
              <a:rPr sz="2400" dirty="0">
                <a:solidFill>
                  <a:srgbClr val="009256"/>
                </a:solidFill>
                <a:latin typeface="宋体"/>
                <a:cs typeface="宋体"/>
              </a:rPr>
              <a:t>比较固定的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9266" y="3818744"/>
            <a:ext cx="7098102" cy="2317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801" y="129997"/>
            <a:ext cx="3931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/>
              <a:t>需求工程过程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7459632" y="4157997"/>
            <a:ext cx="967740" cy="0"/>
          </a:xfrm>
          <a:custGeom>
            <a:avLst/>
            <a:gdLst/>
            <a:ahLst/>
            <a:cxnLst/>
            <a:rect l="l" t="t" r="r" b="b"/>
            <a:pathLst>
              <a:path w="967740">
                <a:moveTo>
                  <a:pt x="0" y="0"/>
                </a:moveTo>
                <a:lnTo>
                  <a:pt x="967678" y="0"/>
                </a:lnTo>
              </a:path>
            </a:pathLst>
          </a:custGeom>
          <a:ln w="2408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14924" y="4157997"/>
            <a:ext cx="1252855" cy="0"/>
          </a:xfrm>
          <a:custGeom>
            <a:avLst/>
            <a:gdLst/>
            <a:ahLst/>
            <a:cxnLst/>
            <a:rect l="l" t="t" r="r" b="b"/>
            <a:pathLst>
              <a:path w="1252854">
                <a:moveTo>
                  <a:pt x="0" y="0"/>
                </a:moveTo>
                <a:lnTo>
                  <a:pt x="1252337" y="0"/>
                </a:lnTo>
              </a:path>
            </a:pathLst>
          </a:custGeom>
          <a:ln w="2408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3225" y="4157997"/>
            <a:ext cx="1252855" cy="0"/>
          </a:xfrm>
          <a:custGeom>
            <a:avLst/>
            <a:gdLst/>
            <a:ahLst/>
            <a:cxnLst/>
            <a:rect l="l" t="t" r="r" b="b"/>
            <a:pathLst>
              <a:path w="1252855">
                <a:moveTo>
                  <a:pt x="0" y="0"/>
                </a:moveTo>
                <a:lnTo>
                  <a:pt x="1252357" y="0"/>
                </a:lnTo>
              </a:path>
            </a:pathLst>
          </a:custGeom>
          <a:ln w="2408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59511" y="1882284"/>
            <a:ext cx="2049145" cy="1365885"/>
          </a:xfrm>
          <a:custGeom>
            <a:avLst/>
            <a:gdLst/>
            <a:ahLst/>
            <a:cxnLst/>
            <a:rect l="l" t="t" r="r" b="b"/>
            <a:pathLst>
              <a:path w="2049145" h="1365885">
                <a:moveTo>
                  <a:pt x="0" y="682609"/>
                </a:moveTo>
                <a:lnTo>
                  <a:pt x="1621" y="643880"/>
                </a:lnTo>
                <a:lnTo>
                  <a:pt x="6429" y="605717"/>
                </a:lnTo>
                <a:lnTo>
                  <a:pt x="14336" y="568178"/>
                </a:lnTo>
                <a:lnTo>
                  <a:pt x="25256" y="531320"/>
                </a:lnTo>
                <a:lnTo>
                  <a:pt x="39102" y="495201"/>
                </a:lnTo>
                <a:lnTo>
                  <a:pt x="55788" y="459878"/>
                </a:lnTo>
                <a:lnTo>
                  <a:pt x="75228" y="425410"/>
                </a:lnTo>
                <a:lnTo>
                  <a:pt x="97335" y="391855"/>
                </a:lnTo>
                <a:lnTo>
                  <a:pt x="122023" y="359268"/>
                </a:lnTo>
                <a:lnTo>
                  <a:pt x="149205" y="327710"/>
                </a:lnTo>
                <a:lnTo>
                  <a:pt x="178795" y="297236"/>
                </a:lnTo>
                <a:lnTo>
                  <a:pt x="210705" y="267905"/>
                </a:lnTo>
                <a:lnTo>
                  <a:pt x="244851" y="239774"/>
                </a:lnTo>
                <a:lnTo>
                  <a:pt x="281145" y="212902"/>
                </a:lnTo>
                <a:lnTo>
                  <a:pt x="319501" y="187345"/>
                </a:lnTo>
                <a:lnTo>
                  <a:pt x="359833" y="163162"/>
                </a:lnTo>
                <a:lnTo>
                  <a:pt x="402053" y="140409"/>
                </a:lnTo>
                <a:lnTo>
                  <a:pt x="446076" y="119146"/>
                </a:lnTo>
                <a:lnTo>
                  <a:pt x="491815" y="99429"/>
                </a:lnTo>
                <a:lnTo>
                  <a:pt x="539184" y="81316"/>
                </a:lnTo>
                <a:lnTo>
                  <a:pt x="588096" y="64865"/>
                </a:lnTo>
                <a:lnTo>
                  <a:pt x="638464" y="50133"/>
                </a:lnTo>
                <a:lnTo>
                  <a:pt x="690203" y="37178"/>
                </a:lnTo>
                <a:lnTo>
                  <a:pt x="743226" y="26058"/>
                </a:lnTo>
                <a:lnTo>
                  <a:pt x="797446" y="16831"/>
                </a:lnTo>
                <a:lnTo>
                  <a:pt x="852776" y="9554"/>
                </a:lnTo>
                <a:lnTo>
                  <a:pt x="909132" y="4284"/>
                </a:lnTo>
                <a:lnTo>
                  <a:pt x="966425" y="1080"/>
                </a:lnTo>
                <a:lnTo>
                  <a:pt x="1024570" y="0"/>
                </a:lnTo>
                <a:lnTo>
                  <a:pt x="1082715" y="1080"/>
                </a:lnTo>
                <a:lnTo>
                  <a:pt x="1140008" y="4284"/>
                </a:lnTo>
                <a:lnTo>
                  <a:pt x="1196363" y="9554"/>
                </a:lnTo>
                <a:lnTo>
                  <a:pt x="1251694" y="16831"/>
                </a:lnTo>
                <a:lnTo>
                  <a:pt x="1305914" y="26058"/>
                </a:lnTo>
                <a:lnTo>
                  <a:pt x="1358937" y="37178"/>
                </a:lnTo>
                <a:lnTo>
                  <a:pt x="1410676" y="50133"/>
                </a:lnTo>
                <a:lnTo>
                  <a:pt x="1461044" y="64865"/>
                </a:lnTo>
                <a:lnTo>
                  <a:pt x="1509956" y="81316"/>
                </a:lnTo>
                <a:lnTo>
                  <a:pt x="1557325" y="99429"/>
                </a:lnTo>
                <a:lnTo>
                  <a:pt x="1603064" y="119146"/>
                </a:lnTo>
                <a:lnTo>
                  <a:pt x="1647087" y="140409"/>
                </a:lnTo>
                <a:lnTo>
                  <a:pt x="1689307" y="163162"/>
                </a:lnTo>
                <a:lnTo>
                  <a:pt x="1729638" y="187345"/>
                </a:lnTo>
                <a:lnTo>
                  <a:pt x="1767994" y="212902"/>
                </a:lnTo>
                <a:lnTo>
                  <a:pt x="1804289" y="239774"/>
                </a:lnTo>
                <a:lnTo>
                  <a:pt x="1838434" y="267905"/>
                </a:lnTo>
                <a:lnTo>
                  <a:pt x="1870345" y="297236"/>
                </a:lnTo>
                <a:lnTo>
                  <a:pt x="1899935" y="327710"/>
                </a:lnTo>
                <a:lnTo>
                  <a:pt x="1927117" y="359268"/>
                </a:lnTo>
                <a:lnTo>
                  <a:pt x="1951804" y="391855"/>
                </a:lnTo>
                <a:lnTo>
                  <a:pt x="1973911" y="425410"/>
                </a:lnTo>
                <a:lnTo>
                  <a:pt x="1993351" y="459878"/>
                </a:lnTo>
                <a:lnTo>
                  <a:pt x="2010038" y="495201"/>
                </a:lnTo>
                <a:lnTo>
                  <a:pt x="2023884" y="531320"/>
                </a:lnTo>
                <a:lnTo>
                  <a:pt x="2034804" y="568178"/>
                </a:lnTo>
                <a:lnTo>
                  <a:pt x="2042711" y="605717"/>
                </a:lnTo>
                <a:lnTo>
                  <a:pt x="2047518" y="643880"/>
                </a:lnTo>
                <a:lnTo>
                  <a:pt x="2049140" y="682609"/>
                </a:lnTo>
                <a:lnTo>
                  <a:pt x="2047518" y="721358"/>
                </a:lnTo>
                <a:lnTo>
                  <a:pt x="2042711" y="759540"/>
                </a:lnTo>
                <a:lnTo>
                  <a:pt x="2034804" y="797097"/>
                </a:lnTo>
                <a:lnTo>
                  <a:pt x="2023884" y="833971"/>
                </a:lnTo>
                <a:lnTo>
                  <a:pt x="2010038" y="870104"/>
                </a:lnTo>
                <a:lnTo>
                  <a:pt x="1993351" y="905440"/>
                </a:lnTo>
                <a:lnTo>
                  <a:pt x="1973911" y="939921"/>
                </a:lnTo>
                <a:lnTo>
                  <a:pt x="1951804" y="973488"/>
                </a:lnTo>
                <a:lnTo>
                  <a:pt x="1927117" y="1006085"/>
                </a:lnTo>
                <a:lnTo>
                  <a:pt x="1899935" y="1037653"/>
                </a:lnTo>
                <a:lnTo>
                  <a:pt x="1870345" y="1068135"/>
                </a:lnTo>
                <a:lnTo>
                  <a:pt x="1838434" y="1097473"/>
                </a:lnTo>
                <a:lnTo>
                  <a:pt x="1804289" y="1125611"/>
                </a:lnTo>
                <a:lnTo>
                  <a:pt x="1767994" y="1152489"/>
                </a:lnTo>
                <a:lnTo>
                  <a:pt x="1729638" y="1178051"/>
                </a:lnTo>
                <a:lnTo>
                  <a:pt x="1689307" y="1202239"/>
                </a:lnTo>
                <a:lnTo>
                  <a:pt x="1647087" y="1224995"/>
                </a:lnTo>
                <a:lnTo>
                  <a:pt x="1603064" y="1246262"/>
                </a:lnTo>
                <a:lnTo>
                  <a:pt x="1557325" y="1265982"/>
                </a:lnTo>
                <a:lnTo>
                  <a:pt x="1509956" y="1284097"/>
                </a:lnTo>
                <a:lnTo>
                  <a:pt x="1461044" y="1300550"/>
                </a:lnTo>
                <a:lnTo>
                  <a:pt x="1410676" y="1315283"/>
                </a:lnTo>
                <a:lnTo>
                  <a:pt x="1358937" y="1328239"/>
                </a:lnTo>
                <a:lnTo>
                  <a:pt x="1305914" y="1339359"/>
                </a:lnTo>
                <a:lnTo>
                  <a:pt x="1251694" y="1348587"/>
                </a:lnTo>
                <a:lnTo>
                  <a:pt x="1196363" y="1355865"/>
                </a:lnTo>
                <a:lnTo>
                  <a:pt x="1140008" y="1361134"/>
                </a:lnTo>
                <a:lnTo>
                  <a:pt x="1082715" y="1364338"/>
                </a:lnTo>
                <a:lnTo>
                  <a:pt x="1024570" y="1365419"/>
                </a:lnTo>
                <a:lnTo>
                  <a:pt x="966425" y="1364338"/>
                </a:lnTo>
                <a:lnTo>
                  <a:pt x="909132" y="1361134"/>
                </a:lnTo>
                <a:lnTo>
                  <a:pt x="852776" y="1355865"/>
                </a:lnTo>
                <a:lnTo>
                  <a:pt x="797446" y="1348587"/>
                </a:lnTo>
                <a:lnTo>
                  <a:pt x="743226" y="1339359"/>
                </a:lnTo>
                <a:lnTo>
                  <a:pt x="690203" y="1328239"/>
                </a:lnTo>
                <a:lnTo>
                  <a:pt x="638464" y="1315283"/>
                </a:lnTo>
                <a:lnTo>
                  <a:pt x="588096" y="1300550"/>
                </a:lnTo>
                <a:lnTo>
                  <a:pt x="539184" y="1284097"/>
                </a:lnTo>
                <a:lnTo>
                  <a:pt x="491815" y="1265982"/>
                </a:lnTo>
                <a:lnTo>
                  <a:pt x="446076" y="1246262"/>
                </a:lnTo>
                <a:lnTo>
                  <a:pt x="402053" y="1224995"/>
                </a:lnTo>
                <a:lnTo>
                  <a:pt x="359833" y="1202239"/>
                </a:lnTo>
                <a:lnTo>
                  <a:pt x="319501" y="1178051"/>
                </a:lnTo>
                <a:lnTo>
                  <a:pt x="281145" y="1152489"/>
                </a:lnTo>
                <a:lnTo>
                  <a:pt x="244851" y="1125611"/>
                </a:lnTo>
                <a:lnTo>
                  <a:pt x="210705" y="1097473"/>
                </a:lnTo>
                <a:lnTo>
                  <a:pt x="178795" y="1068135"/>
                </a:lnTo>
                <a:lnTo>
                  <a:pt x="149205" y="1037653"/>
                </a:lnTo>
                <a:lnTo>
                  <a:pt x="122023" y="1006085"/>
                </a:lnTo>
                <a:lnTo>
                  <a:pt x="97335" y="973488"/>
                </a:lnTo>
                <a:lnTo>
                  <a:pt x="75228" y="939921"/>
                </a:lnTo>
                <a:lnTo>
                  <a:pt x="55788" y="905440"/>
                </a:lnTo>
                <a:lnTo>
                  <a:pt x="39102" y="870104"/>
                </a:lnTo>
                <a:lnTo>
                  <a:pt x="25256" y="833971"/>
                </a:lnTo>
                <a:lnTo>
                  <a:pt x="14336" y="797097"/>
                </a:lnTo>
                <a:lnTo>
                  <a:pt x="6429" y="759540"/>
                </a:lnTo>
                <a:lnTo>
                  <a:pt x="1621" y="721358"/>
                </a:lnTo>
                <a:lnTo>
                  <a:pt x="0" y="682609"/>
                </a:lnTo>
                <a:close/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89620" y="2108828"/>
            <a:ext cx="989330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720" marR="166370" algn="ctr">
              <a:lnSpc>
                <a:spcPct val="110900"/>
              </a:lnSpc>
              <a:spcBef>
                <a:spcPts val="95"/>
              </a:spcBef>
            </a:pPr>
            <a:r>
              <a:rPr sz="1250" spc="10" dirty="0">
                <a:latin typeface="宋体"/>
                <a:cs typeface="宋体"/>
              </a:rPr>
              <a:t>需求获取 需求分析</a:t>
            </a:r>
            <a:endParaRPr sz="1250">
              <a:latin typeface="宋体"/>
              <a:cs typeface="宋体"/>
            </a:endParaRPr>
          </a:p>
          <a:p>
            <a:pPr marL="12700" marR="5080" algn="ctr">
              <a:lnSpc>
                <a:spcPct val="110900"/>
              </a:lnSpc>
            </a:pPr>
            <a:r>
              <a:rPr sz="1250" spc="10" dirty="0">
                <a:latin typeface="宋体"/>
                <a:cs typeface="宋体"/>
              </a:rPr>
              <a:t>需求规格说明 </a:t>
            </a:r>
            <a:r>
              <a:rPr sz="1250" spc="15" dirty="0">
                <a:latin typeface="宋体"/>
                <a:cs typeface="宋体"/>
              </a:rPr>
              <a:t>需求验证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2491" y="1195058"/>
            <a:ext cx="674370" cy="725805"/>
          </a:xfrm>
          <a:custGeom>
            <a:avLst/>
            <a:gdLst/>
            <a:ahLst/>
            <a:cxnLst/>
            <a:rect l="l" t="t" r="r" b="b"/>
            <a:pathLst>
              <a:path w="674370" h="725805">
                <a:moveTo>
                  <a:pt x="0" y="0"/>
                </a:moveTo>
                <a:lnTo>
                  <a:pt x="674144" y="725561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7997" y="1864421"/>
            <a:ext cx="180975" cy="187325"/>
          </a:xfrm>
          <a:custGeom>
            <a:avLst/>
            <a:gdLst/>
            <a:ahLst/>
            <a:cxnLst/>
            <a:rect l="l" t="t" r="r" b="b"/>
            <a:pathLst>
              <a:path w="180975" h="187325">
                <a:moveTo>
                  <a:pt x="95388" y="0"/>
                </a:moveTo>
                <a:lnTo>
                  <a:pt x="0" y="88512"/>
                </a:lnTo>
                <a:lnTo>
                  <a:pt x="180534" y="187261"/>
                </a:lnTo>
                <a:lnTo>
                  <a:pt x="95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98642" y="1331540"/>
            <a:ext cx="615315" cy="592455"/>
          </a:xfrm>
          <a:custGeom>
            <a:avLst/>
            <a:gdLst/>
            <a:ahLst/>
            <a:cxnLst/>
            <a:rect l="l" t="t" r="r" b="b"/>
            <a:pathLst>
              <a:path w="615314" h="592455">
                <a:moveTo>
                  <a:pt x="470916" y="0"/>
                </a:moveTo>
                <a:lnTo>
                  <a:pt x="0" y="436942"/>
                </a:lnTo>
                <a:lnTo>
                  <a:pt x="143986" y="591889"/>
                </a:lnTo>
                <a:lnTo>
                  <a:pt x="614902" y="154746"/>
                </a:lnTo>
                <a:lnTo>
                  <a:pt x="4709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 rot="19080000">
            <a:off x="3374852" y="1539366"/>
            <a:ext cx="664861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spc="-10" dirty="0">
                <a:latin typeface="宋体"/>
                <a:cs typeface="宋体"/>
              </a:rPr>
              <a:t>系统</a:t>
            </a:r>
            <a:r>
              <a:rPr sz="1875" spc="-15" baseline="2222" dirty="0">
                <a:latin typeface="宋体"/>
                <a:cs typeface="宋体"/>
              </a:rPr>
              <a:t>环</a:t>
            </a:r>
            <a:r>
              <a:rPr sz="1875" spc="15" baseline="2222" dirty="0">
                <a:latin typeface="宋体"/>
                <a:cs typeface="宋体"/>
              </a:rPr>
              <a:t>境</a:t>
            </a:r>
            <a:endParaRPr sz="1875" baseline="2222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84081" y="1142673"/>
            <a:ext cx="0" cy="264160"/>
          </a:xfrm>
          <a:custGeom>
            <a:avLst/>
            <a:gdLst/>
            <a:ahLst/>
            <a:cxnLst/>
            <a:rect l="l" t="t" r="r" b="b"/>
            <a:pathLst>
              <a:path h="264159">
                <a:moveTo>
                  <a:pt x="0" y="0"/>
                </a:moveTo>
                <a:lnTo>
                  <a:pt x="0" y="264152"/>
                </a:lnTo>
              </a:path>
            </a:pathLst>
          </a:custGeom>
          <a:ln w="144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84081" y="1618152"/>
            <a:ext cx="0" cy="85725"/>
          </a:xfrm>
          <a:custGeom>
            <a:avLst/>
            <a:gdLst/>
            <a:ahLst/>
            <a:cxnLst/>
            <a:rect l="l" t="t" r="r" b="b"/>
            <a:pathLst>
              <a:path h="85725">
                <a:moveTo>
                  <a:pt x="0" y="0"/>
                </a:moveTo>
                <a:lnTo>
                  <a:pt x="0" y="85301"/>
                </a:lnTo>
              </a:path>
            </a:pathLst>
          </a:custGeom>
          <a:ln w="144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19016" y="1687196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80">
                <a:moveTo>
                  <a:pt x="130129" y="0"/>
                </a:moveTo>
                <a:lnTo>
                  <a:pt x="0" y="0"/>
                </a:lnTo>
                <a:lnTo>
                  <a:pt x="65064" y="195088"/>
                </a:lnTo>
                <a:lnTo>
                  <a:pt x="130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0727" y="1391900"/>
            <a:ext cx="34671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涉众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11441" y="1199474"/>
            <a:ext cx="638810" cy="683895"/>
          </a:xfrm>
          <a:custGeom>
            <a:avLst/>
            <a:gdLst/>
            <a:ahLst/>
            <a:cxnLst/>
            <a:rect l="l" t="t" r="r" b="b"/>
            <a:pathLst>
              <a:path w="638810" h="683894">
                <a:moveTo>
                  <a:pt x="638800" y="0"/>
                </a:moveTo>
                <a:lnTo>
                  <a:pt x="0" y="683813"/>
                </a:lnTo>
              </a:path>
            </a:pathLst>
          </a:custGeom>
          <a:ln w="14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89345" y="1827089"/>
            <a:ext cx="180975" cy="187325"/>
          </a:xfrm>
          <a:custGeom>
            <a:avLst/>
            <a:gdLst/>
            <a:ahLst/>
            <a:cxnLst/>
            <a:rect l="l" t="t" r="r" b="b"/>
            <a:pathLst>
              <a:path w="180975" h="187325">
                <a:moveTo>
                  <a:pt x="85749" y="0"/>
                </a:moveTo>
                <a:lnTo>
                  <a:pt x="0" y="187060"/>
                </a:lnTo>
                <a:lnTo>
                  <a:pt x="180735" y="88713"/>
                </a:lnTo>
                <a:lnTo>
                  <a:pt x="85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16864" y="1360844"/>
            <a:ext cx="497205" cy="483870"/>
          </a:xfrm>
          <a:custGeom>
            <a:avLst/>
            <a:gdLst/>
            <a:ahLst/>
            <a:cxnLst/>
            <a:rect l="l" t="t" r="r" b="b"/>
            <a:pathLst>
              <a:path w="497204" h="483869">
                <a:moveTo>
                  <a:pt x="144387" y="0"/>
                </a:moveTo>
                <a:lnTo>
                  <a:pt x="0" y="154545"/>
                </a:lnTo>
                <a:lnTo>
                  <a:pt x="352434" y="483306"/>
                </a:lnTo>
                <a:lnTo>
                  <a:pt x="496621" y="328760"/>
                </a:lnTo>
                <a:lnTo>
                  <a:pt x="1443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 rot="2580000">
            <a:off x="5518966" y="1522732"/>
            <a:ext cx="508035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spc="5" dirty="0">
                <a:latin typeface="宋体"/>
                <a:cs typeface="宋体"/>
              </a:rPr>
              <a:t>硬数</a:t>
            </a:r>
            <a:r>
              <a:rPr sz="1250" spc="10" dirty="0">
                <a:latin typeface="宋体"/>
                <a:cs typeface="宋体"/>
              </a:rPr>
              <a:t>据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5583" y="3873533"/>
            <a:ext cx="2049780" cy="568960"/>
          </a:xfrm>
          <a:prstGeom prst="rect">
            <a:avLst/>
          </a:prstGeom>
          <a:ln w="14451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50" spc="15" dirty="0">
                <a:latin typeface="宋体"/>
                <a:cs typeface="宋体"/>
              </a:rPr>
              <a:t>需求基线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67262" y="3873533"/>
            <a:ext cx="1992630" cy="568960"/>
          </a:xfrm>
          <a:prstGeom prst="rect">
            <a:avLst/>
          </a:prstGeom>
          <a:ln w="14451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513715">
              <a:lnSpc>
                <a:spcPct val="100000"/>
              </a:lnSpc>
            </a:pPr>
            <a:r>
              <a:rPr sz="1250" spc="15" dirty="0">
                <a:latin typeface="宋体"/>
                <a:cs typeface="宋体"/>
              </a:rPr>
              <a:t>需求跟踪信息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50201" y="5182072"/>
            <a:ext cx="1366520" cy="910590"/>
          </a:xfrm>
          <a:custGeom>
            <a:avLst/>
            <a:gdLst/>
            <a:ahLst/>
            <a:cxnLst/>
            <a:rect l="l" t="t" r="r" b="b"/>
            <a:pathLst>
              <a:path w="1366520" h="910589">
                <a:moveTo>
                  <a:pt x="0" y="455146"/>
                </a:moveTo>
                <a:lnTo>
                  <a:pt x="8940" y="381320"/>
                </a:lnTo>
                <a:lnTo>
                  <a:pt x="34824" y="311286"/>
                </a:lnTo>
                <a:lnTo>
                  <a:pt x="53681" y="277984"/>
                </a:lnTo>
                <a:lnTo>
                  <a:pt x="76246" y="245981"/>
                </a:lnTo>
                <a:lnTo>
                  <a:pt x="102344" y="215396"/>
                </a:lnTo>
                <a:lnTo>
                  <a:pt x="131799" y="186344"/>
                </a:lnTo>
                <a:lnTo>
                  <a:pt x="164436" y="158943"/>
                </a:lnTo>
                <a:lnTo>
                  <a:pt x="200079" y="133310"/>
                </a:lnTo>
                <a:lnTo>
                  <a:pt x="238552" y="109563"/>
                </a:lnTo>
                <a:lnTo>
                  <a:pt x="279679" y="87817"/>
                </a:lnTo>
                <a:lnTo>
                  <a:pt x="323284" y="68192"/>
                </a:lnTo>
                <a:lnTo>
                  <a:pt x="369192" y="50803"/>
                </a:lnTo>
                <a:lnTo>
                  <a:pt x="417228" y="35768"/>
                </a:lnTo>
                <a:lnTo>
                  <a:pt x="467215" y="23203"/>
                </a:lnTo>
                <a:lnTo>
                  <a:pt x="518977" y="13227"/>
                </a:lnTo>
                <a:lnTo>
                  <a:pt x="572339" y="5957"/>
                </a:lnTo>
                <a:lnTo>
                  <a:pt x="627125" y="1508"/>
                </a:lnTo>
                <a:lnTo>
                  <a:pt x="683160" y="0"/>
                </a:lnTo>
                <a:lnTo>
                  <a:pt x="739166" y="1508"/>
                </a:lnTo>
                <a:lnTo>
                  <a:pt x="793927" y="5957"/>
                </a:lnTo>
                <a:lnTo>
                  <a:pt x="847267" y="13227"/>
                </a:lnTo>
                <a:lnTo>
                  <a:pt x="899010" y="23203"/>
                </a:lnTo>
                <a:lnTo>
                  <a:pt x="948980" y="35768"/>
                </a:lnTo>
                <a:lnTo>
                  <a:pt x="997000" y="50803"/>
                </a:lnTo>
                <a:lnTo>
                  <a:pt x="1042896" y="68192"/>
                </a:lnTo>
                <a:lnTo>
                  <a:pt x="1086491" y="87817"/>
                </a:lnTo>
                <a:lnTo>
                  <a:pt x="1127610" y="109563"/>
                </a:lnTo>
                <a:lnTo>
                  <a:pt x="1166076" y="133310"/>
                </a:lnTo>
                <a:lnTo>
                  <a:pt x="1201713" y="158943"/>
                </a:lnTo>
                <a:lnTo>
                  <a:pt x="1234346" y="186344"/>
                </a:lnTo>
                <a:lnTo>
                  <a:pt x="1263799" y="215396"/>
                </a:lnTo>
                <a:lnTo>
                  <a:pt x="1289895" y="245981"/>
                </a:lnTo>
                <a:lnTo>
                  <a:pt x="1312459" y="277984"/>
                </a:lnTo>
                <a:lnTo>
                  <a:pt x="1331315" y="311286"/>
                </a:lnTo>
                <a:lnTo>
                  <a:pt x="1357199" y="381320"/>
                </a:lnTo>
                <a:lnTo>
                  <a:pt x="1366140" y="455146"/>
                </a:lnTo>
                <a:lnTo>
                  <a:pt x="1363876" y="492478"/>
                </a:lnTo>
                <a:lnTo>
                  <a:pt x="1357199" y="528978"/>
                </a:lnTo>
                <a:lnTo>
                  <a:pt x="1331315" y="599015"/>
                </a:lnTo>
                <a:lnTo>
                  <a:pt x="1312459" y="632318"/>
                </a:lnTo>
                <a:lnTo>
                  <a:pt x="1289895" y="664322"/>
                </a:lnTo>
                <a:lnTo>
                  <a:pt x="1263799" y="694908"/>
                </a:lnTo>
                <a:lnTo>
                  <a:pt x="1234346" y="723961"/>
                </a:lnTo>
                <a:lnTo>
                  <a:pt x="1201713" y="751362"/>
                </a:lnTo>
                <a:lnTo>
                  <a:pt x="1166076" y="776995"/>
                </a:lnTo>
                <a:lnTo>
                  <a:pt x="1127610" y="800742"/>
                </a:lnTo>
                <a:lnTo>
                  <a:pt x="1086491" y="822487"/>
                </a:lnTo>
                <a:lnTo>
                  <a:pt x="1042896" y="842113"/>
                </a:lnTo>
                <a:lnTo>
                  <a:pt x="997000" y="859501"/>
                </a:lnTo>
                <a:lnTo>
                  <a:pt x="948980" y="874536"/>
                </a:lnTo>
                <a:lnTo>
                  <a:pt x="899010" y="887100"/>
                </a:lnTo>
                <a:lnTo>
                  <a:pt x="847267" y="897075"/>
                </a:lnTo>
                <a:lnTo>
                  <a:pt x="793927" y="904346"/>
                </a:lnTo>
                <a:lnTo>
                  <a:pt x="739166" y="908794"/>
                </a:lnTo>
                <a:lnTo>
                  <a:pt x="683160" y="910303"/>
                </a:lnTo>
                <a:lnTo>
                  <a:pt x="627125" y="908794"/>
                </a:lnTo>
                <a:lnTo>
                  <a:pt x="572339" y="904346"/>
                </a:lnTo>
                <a:lnTo>
                  <a:pt x="518977" y="897075"/>
                </a:lnTo>
                <a:lnTo>
                  <a:pt x="467215" y="887100"/>
                </a:lnTo>
                <a:lnTo>
                  <a:pt x="417228" y="874536"/>
                </a:lnTo>
                <a:lnTo>
                  <a:pt x="369192" y="859501"/>
                </a:lnTo>
                <a:lnTo>
                  <a:pt x="323284" y="842113"/>
                </a:lnTo>
                <a:lnTo>
                  <a:pt x="279679" y="822487"/>
                </a:lnTo>
                <a:lnTo>
                  <a:pt x="238552" y="800742"/>
                </a:lnTo>
                <a:lnTo>
                  <a:pt x="200079" y="776995"/>
                </a:lnTo>
                <a:lnTo>
                  <a:pt x="164436" y="751362"/>
                </a:lnTo>
                <a:lnTo>
                  <a:pt x="131799" y="723961"/>
                </a:lnTo>
                <a:lnTo>
                  <a:pt x="102344" y="694908"/>
                </a:lnTo>
                <a:lnTo>
                  <a:pt x="76246" y="664322"/>
                </a:lnTo>
                <a:lnTo>
                  <a:pt x="53681" y="632318"/>
                </a:lnTo>
                <a:lnTo>
                  <a:pt x="34824" y="599015"/>
                </a:lnTo>
                <a:lnTo>
                  <a:pt x="8940" y="528978"/>
                </a:lnTo>
                <a:lnTo>
                  <a:pt x="2264" y="492478"/>
                </a:lnTo>
                <a:lnTo>
                  <a:pt x="0" y="455146"/>
                </a:lnTo>
                <a:close/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99555" y="5516800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变更控制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51820" y="5182072"/>
            <a:ext cx="1366520" cy="910590"/>
          </a:xfrm>
          <a:custGeom>
            <a:avLst/>
            <a:gdLst/>
            <a:ahLst/>
            <a:cxnLst/>
            <a:rect l="l" t="t" r="r" b="b"/>
            <a:pathLst>
              <a:path w="1366520" h="910589">
                <a:moveTo>
                  <a:pt x="0" y="455146"/>
                </a:moveTo>
                <a:lnTo>
                  <a:pt x="8940" y="381320"/>
                </a:lnTo>
                <a:lnTo>
                  <a:pt x="34826" y="311286"/>
                </a:lnTo>
                <a:lnTo>
                  <a:pt x="53684" y="277984"/>
                </a:lnTo>
                <a:lnTo>
                  <a:pt x="76250" y="245981"/>
                </a:lnTo>
                <a:lnTo>
                  <a:pt x="102350" y="215396"/>
                </a:lnTo>
                <a:lnTo>
                  <a:pt x="131806" y="186344"/>
                </a:lnTo>
                <a:lnTo>
                  <a:pt x="164445" y="158943"/>
                </a:lnTo>
                <a:lnTo>
                  <a:pt x="200089" y="133310"/>
                </a:lnTo>
                <a:lnTo>
                  <a:pt x="238563" y="109563"/>
                </a:lnTo>
                <a:lnTo>
                  <a:pt x="279692" y="87817"/>
                </a:lnTo>
                <a:lnTo>
                  <a:pt x="323298" y="68192"/>
                </a:lnTo>
                <a:lnTo>
                  <a:pt x="369208" y="50803"/>
                </a:lnTo>
                <a:lnTo>
                  <a:pt x="417245" y="35768"/>
                </a:lnTo>
                <a:lnTo>
                  <a:pt x="467233" y="23203"/>
                </a:lnTo>
                <a:lnTo>
                  <a:pt x="518996" y="13227"/>
                </a:lnTo>
                <a:lnTo>
                  <a:pt x="572359" y="5957"/>
                </a:lnTo>
                <a:lnTo>
                  <a:pt x="627145" y="1508"/>
                </a:lnTo>
                <a:lnTo>
                  <a:pt x="683180" y="0"/>
                </a:lnTo>
                <a:lnTo>
                  <a:pt x="739187" y="1508"/>
                </a:lnTo>
                <a:lnTo>
                  <a:pt x="793948" y="5957"/>
                </a:lnTo>
                <a:lnTo>
                  <a:pt x="847287" y="13227"/>
                </a:lnTo>
                <a:lnTo>
                  <a:pt x="899030" y="23203"/>
                </a:lnTo>
                <a:lnTo>
                  <a:pt x="949000" y="35768"/>
                </a:lnTo>
                <a:lnTo>
                  <a:pt x="997021" y="50803"/>
                </a:lnTo>
                <a:lnTo>
                  <a:pt x="1042916" y="68192"/>
                </a:lnTo>
                <a:lnTo>
                  <a:pt x="1086512" y="87817"/>
                </a:lnTo>
                <a:lnTo>
                  <a:pt x="1127630" y="109563"/>
                </a:lnTo>
                <a:lnTo>
                  <a:pt x="1166096" y="133310"/>
                </a:lnTo>
                <a:lnTo>
                  <a:pt x="1201733" y="158943"/>
                </a:lnTo>
                <a:lnTo>
                  <a:pt x="1234366" y="186344"/>
                </a:lnTo>
                <a:lnTo>
                  <a:pt x="1263819" y="215396"/>
                </a:lnTo>
                <a:lnTo>
                  <a:pt x="1289915" y="245981"/>
                </a:lnTo>
                <a:lnTo>
                  <a:pt x="1312479" y="277984"/>
                </a:lnTo>
                <a:lnTo>
                  <a:pt x="1331335" y="311286"/>
                </a:lnTo>
                <a:lnTo>
                  <a:pt x="1357219" y="381320"/>
                </a:lnTo>
                <a:lnTo>
                  <a:pt x="1366160" y="455146"/>
                </a:lnTo>
                <a:lnTo>
                  <a:pt x="1363896" y="492478"/>
                </a:lnTo>
                <a:lnTo>
                  <a:pt x="1357219" y="528978"/>
                </a:lnTo>
                <a:lnTo>
                  <a:pt x="1331335" y="599015"/>
                </a:lnTo>
                <a:lnTo>
                  <a:pt x="1312479" y="632318"/>
                </a:lnTo>
                <a:lnTo>
                  <a:pt x="1289915" y="664322"/>
                </a:lnTo>
                <a:lnTo>
                  <a:pt x="1263819" y="694908"/>
                </a:lnTo>
                <a:lnTo>
                  <a:pt x="1234366" y="723961"/>
                </a:lnTo>
                <a:lnTo>
                  <a:pt x="1201733" y="751362"/>
                </a:lnTo>
                <a:lnTo>
                  <a:pt x="1166096" y="776995"/>
                </a:lnTo>
                <a:lnTo>
                  <a:pt x="1127630" y="800742"/>
                </a:lnTo>
                <a:lnTo>
                  <a:pt x="1086512" y="822487"/>
                </a:lnTo>
                <a:lnTo>
                  <a:pt x="1042916" y="842113"/>
                </a:lnTo>
                <a:lnTo>
                  <a:pt x="997021" y="859501"/>
                </a:lnTo>
                <a:lnTo>
                  <a:pt x="949000" y="874536"/>
                </a:lnTo>
                <a:lnTo>
                  <a:pt x="899030" y="887100"/>
                </a:lnTo>
                <a:lnTo>
                  <a:pt x="847287" y="897075"/>
                </a:lnTo>
                <a:lnTo>
                  <a:pt x="793948" y="904346"/>
                </a:lnTo>
                <a:lnTo>
                  <a:pt x="739187" y="908794"/>
                </a:lnTo>
                <a:lnTo>
                  <a:pt x="683180" y="910303"/>
                </a:lnTo>
                <a:lnTo>
                  <a:pt x="627145" y="908794"/>
                </a:lnTo>
                <a:lnTo>
                  <a:pt x="572359" y="904346"/>
                </a:lnTo>
                <a:lnTo>
                  <a:pt x="518996" y="897075"/>
                </a:lnTo>
                <a:lnTo>
                  <a:pt x="467233" y="887100"/>
                </a:lnTo>
                <a:lnTo>
                  <a:pt x="417245" y="874536"/>
                </a:lnTo>
                <a:lnTo>
                  <a:pt x="369208" y="859501"/>
                </a:lnTo>
                <a:lnTo>
                  <a:pt x="323298" y="842113"/>
                </a:lnTo>
                <a:lnTo>
                  <a:pt x="279692" y="822487"/>
                </a:lnTo>
                <a:lnTo>
                  <a:pt x="238563" y="800742"/>
                </a:lnTo>
                <a:lnTo>
                  <a:pt x="200089" y="776995"/>
                </a:lnTo>
                <a:lnTo>
                  <a:pt x="164445" y="751362"/>
                </a:lnTo>
                <a:lnTo>
                  <a:pt x="131806" y="723961"/>
                </a:lnTo>
                <a:lnTo>
                  <a:pt x="102350" y="694908"/>
                </a:lnTo>
                <a:lnTo>
                  <a:pt x="76250" y="664322"/>
                </a:lnTo>
                <a:lnTo>
                  <a:pt x="53684" y="632318"/>
                </a:lnTo>
                <a:lnTo>
                  <a:pt x="34826" y="599015"/>
                </a:lnTo>
                <a:lnTo>
                  <a:pt x="8940" y="528978"/>
                </a:lnTo>
                <a:lnTo>
                  <a:pt x="2264" y="492478"/>
                </a:lnTo>
                <a:lnTo>
                  <a:pt x="0" y="455146"/>
                </a:lnTo>
                <a:close/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01194" y="5516800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项目活动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9802" y="3158790"/>
            <a:ext cx="939165" cy="616585"/>
          </a:xfrm>
          <a:custGeom>
            <a:avLst/>
            <a:gdLst/>
            <a:ahLst/>
            <a:cxnLst/>
            <a:rect l="l" t="t" r="r" b="b"/>
            <a:pathLst>
              <a:path w="939164" h="616585">
                <a:moveTo>
                  <a:pt x="939022" y="0"/>
                </a:moveTo>
                <a:lnTo>
                  <a:pt x="0" y="616576"/>
                </a:lnTo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90193" y="3712143"/>
            <a:ext cx="199390" cy="161925"/>
          </a:xfrm>
          <a:custGeom>
            <a:avLst/>
            <a:gdLst/>
            <a:ahLst/>
            <a:cxnLst/>
            <a:rect l="l" t="t" r="r" b="b"/>
            <a:pathLst>
              <a:path w="199389" h="161925">
                <a:moveTo>
                  <a:pt x="127519" y="0"/>
                </a:moveTo>
                <a:lnTo>
                  <a:pt x="0" y="161369"/>
                </a:lnTo>
                <a:lnTo>
                  <a:pt x="198809" y="108583"/>
                </a:lnTo>
                <a:lnTo>
                  <a:pt x="127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15243" y="3148755"/>
            <a:ext cx="1024890" cy="631190"/>
          </a:xfrm>
          <a:custGeom>
            <a:avLst/>
            <a:gdLst/>
            <a:ahLst/>
            <a:cxnLst/>
            <a:rect l="l" t="t" r="r" b="b"/>
            <a:pathLst>
              <a:path w="1024889" h="631189">
                <a:moveTo>
                  <a:pt x="0" y="0"/>
                </a:moveTo>
                <a:lnTo>
                  <a:pt x="1024369" y="631027"/>
                </a:lnTo>
              </a:path>
            </a:pathLst>
          </a:custGeom>
          <a:ln w="14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91617" y="3715756"/>
            <a:ext cx="200660" cy="158115"/>
          </a:xfrm>
          <a:custGeom>
            <a:avLst/>
            <a:gdLst/>
            <a:ahLst/>
            <a:cxnLst/>
            <a:rect l="l" t="t" r="r" b="b"/>
            <a:pathLst>
              <a:path w="200660" h="158114">
                <a:moveTo>
                  <a:pt x="68277" y="0"/>
                </a:moveTo>
                <a:lnTo>
                  <a:pt x="0" y="110791"/>
                </a:lnTo>
                <a:lnTo>
                  <a:pt x="200214" y="157756"/>
                </a:lnTo>
                <a:lnTo>
                  <a:pt x="68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35643" y="4435232"/>
            <a:ext cx="0" cy="313055"/>
          </a:xfrm>
          <a:custGeom>
            <a:avLst/>
            <a:gdLst/>
            <a:ahLst/>
            <a:cxnLst/>
            <a:rect l="l" t="t" r="r" b="b"/>
            <a:pathLst>
              <a:path h="313054">
                <a:moveTo>
                  <a:pt x="0" y="0"/>
                </a:moveTo>
                <a:lnTo>
                  <a:pt x="0" y="312687"/>
                </a:lnTo>
              </a:path>
            </a:pathLst>
          </a:custGeom>
          <a:ln w="1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35643" y="4961032"/>
            <a:ext cx="0" cy="133985"/>
          </a:xfrm>
          <a:custGeom>
            <a:avLst/>
            <a:gdLst/>
            <a:ahLst/>
            <a:cxnLst/>
            <a:rect l="l" t="t" r="r" b="b"/>
            <a:pathLst>
              <a:path h="133985">
                <a:moveTo>
                  <a:pt x="0" y="0"/>
                </a:moveTo>
                <a:lnTo>
                  <a:pt x="0" y="133816"/>
                </a:lnTo>
              </a:path>
            </a:pathLst>
          </a:custGeom>
          <a:ln w="16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71502" y="5071181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130109" y="0"/>
                </a:moveTo>
                <a:lnTo>
                  <a:pt x="0" y="361"/>
                </a:lnTo>
                <a:lnTo>
                  <a:pt x="65647" y="195269"/>
                </a:lnTo>
                <a:lnTo>
                  <a:pt x="1301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01673" y="4734919"/>
            <a:ext cx="668655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0" dirty="0">
                <a:latin typeface="宋体"/>
                <a:cs typeface="宋体"/>
              </a:rPr>
              <a:t>当前基</a:t>
            </a:r>
            <a:r>
              <a:rPr sz="1250" spc="15" dirty="0">
                <a:latin typeface="宋体"/>
                <a:cs typeface="宋体"/>
              </a:rPr>
              <a:t>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534595" y="4614063"/>
            <a:ext cx="0" cy="38735"/>
          </a:xfrm>
          <a:custGeom>
            <a:avLst/>
            <a:gdLst/>
            <a:ahLst/>
            <a:cxnLst/>
            <a:rect l="l" t="t" r="r" b="b"/>
            <a:pathLst>
              <a:path h="38735">
                <a:moveTo>
                  <a:pt x="0" y="0"/>
                </a:moveTo>
                <a:lnTo>
                  <a:pt x="0" y="38299"/>
                </a:lnTo>
              </a:path>
            </a:pathLst>
          </a:custGeom>
          <a:ln w="18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34595" y="5059921"/>
            <a:ext cx="0" cy="217170"/>
          </a:xfrm>
          <a:custGeom>
            <a:avLst/>
            <a:gdLst/>
            <a:ahLst/>
            <a:cxnLst/>
            <a:rect l="l" t="t" r="r" b="b"/>
            <a:pathLst>
              <a:path h="217170">
                <a:moveTo>
                  <a:pt x="0" y="0"/>
                </a:moveTo>
                <a:lnTo>
                  <a:pt x="0" y="217070"/>
                </a:lnTo>
              </a:path>
            </a:pathLst>
          </a:custGeom>
          <a:ln w="18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7723" y="4442461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64060" y="0"/>
                </a:moveTo>
                <a:lnTo>
                  <a:pt x="0" y="195449"/>
                </a:lnTo>
                <a:lnTo>
                  <a:pt x="130129" y="194727"/>
                </a:lnTo>
                <a:lnTo>
                  <a:pt x="64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198817" y="4614493"/>
            <a:ext cx="669290" cy="436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635" marR="5080" indent="-242570">
              <a:lnSpc>
                <a:spcPct val="107800"/>
              </a:lnSpc>
              <a:spcBef>
                <a:spcPts val="95"/>
              </a:spcBef>
            </a:pPr>
            <a:r>
              <a:rPr sz="1250" spc="5" dirty="0">
                <a:latin typeface="宋体"/>
                <a:cs typeface="宋体"/>
              </a:rPr>
              <a:t>修订的</a:t>
            </a:r>
            <a:r>
              <a:rPr sz="1250" spc="10" dirty="0">
                <a:latin typeface="宋体"/>
                <a:cs typeface="宋体"/>
              </a:rPr>
              <a:t>基 </a:t>
            </a:r>
            <a:r>
              <a:rPr sz="1250" spc="15" dirty="0">
                <a:latin typeface="宋体"/>
                <a:cs typeface="宋体"/>
              </a:rPr>
              <a:t>线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151246" y="4435232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5">
                <a:moveTo>
                  <a:pt x="0" y="0"/>
                </a:moveTo>
                <a:lnTo>
                  <a:pt x="0" y="194610"/>
                </a:lnTo>
              </a:path>
            </a:pathLst>
          </a:custGeom>
          <a:ln w="157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86985" y="5027426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130129" y="0"/>
                </a:moveTo>
                <a:lnTo>
                  <a:pt x="0" y="401"/>
                </a:lnTo>
                <a:lnTo>
                  <a:pt x="65868" y="195289"/>
                </a:lnTo>
                <a:lnTo>
                  <a:pt x="130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19458" y="5034993"/>
            <a:ext cx="0" cy="196215"/>
          </a:xfrm>
          <a:custGeom>
            <a:avLst/>
            <a:gdLst/>
            <a:ahLst/>
            <a:cxnLst/>
            <a:rect l="l" t="t" r="r" b="b"/>
            <a:pathLst>
              <a:path h="196214">
                <a:moveTo>
                  <a:pt x="0" y="0"/>
                </a:moveTo>
                <a:lnTo>
                  <a:pt x="0" y="195634"/>
                </a:lnTo>
              </a:path>
            </a:pathLst>
          </a:custGeom>
          <a:ln w="14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54494" y="4442461"/>
            <a:ext cx="130175" cy="195580"/>
          </a:xfrm>
          <a:custGeom>
            <a:avLst/>
            <a:gdLst/>
            <a:ahLst/>
            <a:cxnLst/>
            <a:rect l="l" t="t" r="r" b="b"/>
            <a:pathLst>
              <a:path w="130175" h="195579">
                <a:moveTo>
                  <a:pt x="65064" y="0"/>
                </a:moveTo>
                <a:lnTo>
                  <a:pt x="0" y="195068"/>
                </a:lnTo>
                <a:lnTo>
                  <a:pt x="130129" y="195108"/>
                </a:lnTo>
                <a:lnTo>
                  <a:pt x="6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897531" y="4588622"/>
            <a:ext cx="1075690" cy="4387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8500"/>
              </a:lnSpc>
              <a:spcBef>
                <a:spcPts val="95"/>
              </a:spcBef>
              <a:tabLst>
                <a:tab pos="741045" algn="l"/>
              </a:tabLst>
            </a:pPr>
            <a:r>
              <a:rPr sz="1250" spc="10" dirty="0">
                <a:latin typeface="宋体"/>
                <a:cs typeface="宋体"/>
              </a:rPr>
              <a:t>项目</a:t>
            </a:r>
            <a:r>
              <a:rPr sz="1250" spc="15" dirty="0">
                <a:latin typeface="宋体"/>
                <a:cs typeface="宋体"/>
              </a:rPr>
              <a:t>当</a:t>
            </a:r>
            <a:r>
              <a:rPr sz="1250" spc="-50" dirty="0">
                <a:latin typeface="宋体"/>
                <a:cs typeface="宋体"/>
              </a:rPr>
              <a:t> </a:t>
            </a:r>
            <a:r>
              <a:rPr sz="1250" spc="10" dirty="0">
                <a:latin typeface="宋体"/>
                <a:cs typeface="宋体"/>
              </a:rPr>
              <a:t>项目</a:t>
            </a:r>
            <a:r>
              <a:rPr sz="1250" spc="15" dirty="0">
                <a:latin typeface="宋体"/>
                <a:cs typeface="宋体"/>
              </a:rPr>
              <a:t>进 </a:t>
            </a:r>
            <a:r>
              <a:rPr sz="1250" spc="10" dirty="0">
                <a:latin typeface="宋体"/>
                <a:cs typeface="宋体"/>
              </a:rPr>
              <a:t>前状</a:t>
            </a:r>
            <a:r>
              <a:rPr sz="1250" spc="15" dirty="0">
                <a:latin typeface="宋体"/>
                <a:cs typeface="宋体"/>
              </a:rPr>
              <a:t>态	展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67993" y="5637219"/>
            <a:ext cx="103505" cy="0"/>
          </a:xfrm>
          <a:custGeom>
            <a:avLst/>
            <a:gdLst/>
            <a:ahLst/>
            <a:cxnLst/>
            <a:rect l="l" t="t" r="r" b="b"/>
            <a:pathLst>
              <a:path w="103505">
                <a:moveTo>
                  <a:pt x="0" y="0"/>
                </a:moveTo>
                <a:lnTo>
                  <a:pt x="103280" y="0"/>
                </a:lnTo>
              </a:path>
            </a:pathLst>
          </a:custGeom>
          <a:ln w="144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54775" y="5637219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4">
                <a:moveTo>
                  <a:pt x="0" y="0"/>
                </a:moveTo>
                <a:lnTo>
                  <a:pt x="270601" y="0"/>
                </a:lnTo>
              </a:path>
            </a:pathLst>
          </a:custGeom>
          <a:ln w="144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55007" y="5572189"/>
            <a:ext cx="195580" cy="130175"/>
          </a:xfrm>
          <a:custGeom>
            <a:avLst/>
            <a:gdLst/>
            <a:ahLst/>
            <a:cxnLst/>
            <a:rect l="l" t="t" r="r" b="b"/>
            <a:pathLst>
              <a:path w="195580" h="130175">
                <a:moveTo>
                  <a:pt x="0" y="0"/>
                </a:moveTo>
                <a:lnTo>
                  <a:pt x="0" y="130059"/>
                </a:lnTo>
                <a:lnTo>
                  <a:pt x="195194" y="65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18701" y="5516800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需求变化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059413" y="5637219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65" y="0"/>
                </a:lnTo>
              </a:path>
            </a:pathLst>
          </a:custGeom>
          <a:ln w="144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96909" y="563721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888" y="0"/>
                </a:lnTo>
              </a:path>
            </a:pathLst>
          </a:custGeom>
          <a:ln w="144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17981" y="5572189"/>
            <a:ext cx="195580" cy="130175"/>
          </a:xfrm>
          <a:custGeom>
            <a:avLst/>
            <a:gdLst/>
            <a:ahLst/>
            <a:cxnLst/>
            <a:rect l="l" t="t" r="r" b="b"/>
            <a:pathLst>
              <a:path w="195579" h="130175">
                <a:moveTo>
                  <a:pt x="195194" y="0"/>
                </a:moveTo>
                <a:lnTo>
                  <a:pt x="0" y="65029"/>
                </a:lnTo>
                <a:lnTo>
                  <a:pt x="195194" y="130059"/>
                </a:lnTo>
                <a:lnTo>
                  <a:pt x="1951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410122" y="5516800"/>
            <a:ext cx="66802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15" dirty="0">
                <a:latin typeface="宋体"/>
                <a:cs typeface="宋体"/>
              </a:rPr>
              <a:t>系统开发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908859" y="3689002"/>
            <a:ext cx="9899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宋体"/>
                <a:cs typeface="宋体"/>
              </a:rPr>
              <a:t>需求开发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92392" y="4258030"/>
            <a:ext cx="9899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宋体"/>
                <a:cs typeface="宋体"/>
              </a:rPr>
              <a:t>需求管理</a:t>
            </a:r>
            <a:endParaRPr sz="19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444" y="1377504"/>
            <a:ext cx="6887845" cy="422402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过程性体现在步骤上</a:t>
            </a:r>
            <a:endParaRPr sz="2800">
              <a:latin typeface="宋体"/>
              <a:cs typeface="宋体"/>
            </a:endParaRPr>
          </a:p>
          <a:p>
            <a:pPr marL="414655" lvl="1" indent="-34417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415290" algn="l"/>
              </a:tabLst>
            </a:pPr>
            <a:r>
              <a:rPr sz="2400" dirty="0">
                <a:latin typeface="宋体"/>
                <a:cs typeface="宋体"/>
              </a:rPr>
              <a:t>需求获取</a:t>
            </a:r>
            <a:endParaRPr sz="2400">
              <a:latin typeface="宋体"/>
              <a:cs typeface="宋体"/>
            </a:endParaRPr>
          </a:p>
          <a:p>
            <a:pPr marL="414655" lvl="1" indent="-344170">
              <a:lnSpc>
                <a:spcPct val="100000"/>
              </a:lnSpc>
              <a:buAutoNum type="arabicPeriod"/>
              <a:tabLst>
                <a:tab pos="415290" algn="l"/>
              </a:tabLst>
            </a:pPr>
            <a:r>
              <a:rPr sz="2400" dirty="0">
                <a:latin typeface="宋体"/>
                <a:cs typeface="宋体"/>
              </a:rPr>
              <a:t>需求分析和磋商</a:t>
            </a:r>
            <a:endParaRPr sz="2400">
              <a:latin typeface="宋体"/>
              <a:cs typeface="宋体"/>
            </a:endParaRPr>
          </a:p>
          <a:p>
            <a:pPr marL="414655" lvl="1" indent="-344170">
              <a:lnSpc>
                <a:spcPct val="100000"/>
              </a:lnSpc>
              <a:buAutoNum type="arabicPeriod"/>
              <a:tabLst>
                <a:tab pos="415290" algn="l"/>
              </a:tabLst>
            </a:pPr>
            <a:r>
              <a:rPr sz="2400" dirty="0">
                <a:latin typeface="宋体"/>
                <a:cs typeface="宋体"/>
              </a:rPr>
              <a:t>需求文档化</a:t>
            </a:r>
            <a:endParaRPr sz="2400">
              <a:latin typeface="宋体"/>
              <a:cs typeface="宋体"/>
            </a:endParaRPr>
          </a:p>
          <a:p>
            <a:pPr marL="414655" lvl="1" indent="-344170">
              <a:lnSpc>
                <a:spcPct val="100000"/>
              </a:lnSpc>
              <a:buAutoNum type="arabicPeriod"/>
              <a:tabLst>
                <a:tab pos="415290" algn="l"/>
              </a:tabLst>
            </a:pPr>
            <a:r>
              <a:rPr sz="2400" spc="-5" dirty="0">
                <a:latin typeface="宋体"/>
                <a:cs typeface="宋体"/>
              </a:rPr>
              <a:t>需求验证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宋体"/>
              <a:cs typeface="宋体"/>
            </a:endParaRPr>
          </a:p>
          <a:p>
            <a:pPr marL="520700" indent="-458470">
              <a:lnSpc>
                <a:spcPct val="100000"/>
              </a:lnSpc>
              <a:buClr>
                <a:srgbClr val="00663B"/>
              </a:buClr>
              <a:buFont typeface="Wingdings"/>
              <a:buChar char=""/>
              <a:tabLst>
                <a:tab pos="520700" algn="l"/>
                <a:tab pos="521334" algn="l"/>
              </a:tabLst>
            </a:pPr>
            <a:r>
              <a:rPr sz="2800" spc="-5" dirty="0">
                <a:latin typeface="宋体"/>
                <a:cs typeface="宋体"/>
              </a:rPr>
              <a:t>特点：</a:t>
            </a:r>
            <a:endParaRPr sz="2800">
              <a:latin typeface="宋体"/>
              <a:cs typeface="宋体"/>
            </a:endParaRPr>
          </a:p>
          <a:p>
            <a:pPr marL="320675" indent="-258445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320675" algn="l"/>
                <a:tab pos="321310" algn="l"/>
              </a:tabLst>
            </a:pPr>
            <a:r>
              <a:rPr sz="2400" dirty="0">
                <a:latin typeface="宋体"/>
                <a:cs typeface="宋体"/>
              </a:rPr>
              <a:t>每个活动都可以支持迭代性。</a:t>
            </a:r>
            <a:endParaRPr sz="2400">
              <a:latin typeface="宋体"/>
              <a:cs typeface="宋体"/>
            </a:endParaRPr>
          </a:p>
          <a:p>
            <a:pPr marL="320675" marR="5080" indent="-258445">
              <a:lnSpc>
                <a:spcPct val="100000"/>
              </a:lnSpc>
              <a:buFont typeface="Arial"/>
              <a:buChar char="•"/>
              <a:tabLst>
                <a:tab pos="320675" algn="l"/>
                <a:tab pos="321310" algn="l"/>
              </a:tabLst>
            </a:pPr>
            <a:r>
              <a:rPr sz="2400" dirty="0">
                <a:latin typeface="宋体"/>
                <a:cs typeface="宋体"/>
              </a:rPr>
              <a:t>在不需要进一步迭代的时候,就得到完整、正确、 结构化、规范化的需求规格说明。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484" y="251282"/>
            <a:ext cx="8413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需求工程过程与软件开发过程</a:t>
            </a:r>
            <a:r>
              <a:rPr spc="-20" dirty="0"/>
              <a:t>模</a:t>
            </a:r>
            <a:r>
              <a:rPr spc="5" dirty="0"/>
              <a:t>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269239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88581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需求工程过程的活动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需求工程过程的并发和</a:t>
            </a:r>
            <a:r>
              <a:rPr sz="3200" spc="-15" dirty="0">
                <a:latin typeface="宋体"/>
                <a:cs typeface="宋体"/>
              </a:rPr>
              <a:t>迭</a:t>
            </a:r>
            <a:r>
              <a:rPr sz="3200" dirty="0">
                <a:latin typeface="宋体"/>
                <a:cs typeface="宋体"/>
              </a:rPr>
              <a:t>代性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实践方法的应用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24683" y="2519172"/>
            <a:ext cx="1891664" cy="1414780"/>
          </a:xfrm>
          <a:custGeom>
            <a:avLst/>
            <a:gdLst/>
            <a:ahLst/>
            <a:cxnLst/>
            <a:rect l="l" t="t" r="r" b="b"/>
            <a:pathLst>
              <a:path w="1891664" h="1414779">
                <a:moveTo>
                  <a:pt x="0" y="1414271"/>
                </a:moveTo>
                <a:lnTo>
                  <a:pt x="1891283" y="1414271"/>
                </a:lnTo>
                <a:lnTo>
                  <a:pt x="1891283" y="0"/>
                </a:lnTo>
                <a:lnTo>
                  <a:pt x="0" y="0"/>
                </a:lnTo>
                <a:lnTo>
                  <a:pt x="0" y="1414271"/>
                </a:lnTo>
                <a:close/>
              </a:path>
            </a:pathLst>
          </a:custGeom>
          <a:solidFill>
            <a:srgbClr val="FFFF00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38700" y="2513076"/>
            <a:ext cx="1891664" cy="1412875"/>
          </a:xfrm>
          <a:custGeom>
            <a:avLst/>
            <a:gdLst/>
            <a:ahLst/>
            <a:cxnLst/>
            <a:rect l="l" t="t" r="r" b="b"/>
            <a:pathLst>
              <a:path w="1891665" h="1412875">
                <a:moveTo>
                  <a:pt x="0" y="1412748"/>
                </a:moveTo>
                <a:lnTo>
                  <a:pt x="1891283" y="1412748"/>
                </a:lnTo>
                <a:lnTo>
                  <a:pt x="1891283" y="0"/>
                </a:lnTo>
                <a:lnTo>
                  <a:pt x="0" y="0"/>
                </a:lnTo>
                <a:lnTo>
                  <a:pt x="0" y="1412748"/>
                </a:lnTo>
                <a:close/>
              </a:path>
            </a:pathLst>
          </a:custGeom>
          <a:solidFill>
            <a:srgbClr val="FFFF00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70419" y="2513076"/>
            <a:ext cx="1891664" cy="1412875"/>
          </a:xfrm>
          <a:custGeom>
            <a:avLst/>
            <a:gdLst/>
            <a:ahLst/>
            <a:cxnLst/>
            <a:rect l="l" t="t" r="r" b="b"/>
            <a:pathLst>
              <a:path w="1891665" h="1412875">
                <a:moveTo>
                  <a:pt x="0" y="1412748"/>
                </a:moveTo>
                <a:lnTo>
                  <a:pt x="1891283" y="1412748"/>
                </a:lnTo>
                <a:lnTo>
                  <a:pt x="1891283" y="0"/>
                </a:lnTo>
                <a:lnTo>
                  <a:pt x="0" y="0"/>
                </a:lnTo>
                <a:lnTo>
                  <a:pt x="0" y="1412748"/>
                </a:lnTo>
                <a:close/>
              </a:path>
            </a:pathLst>
          </a:custGeom>
          <a:solidFill>
            <a:srgbClr val="FFFF00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4215" y="2532888"/>
            <a:ext cx="1891664" cy="1412875"/>
          </a:xfrm>
          <a:custGeom>
            <a:avLst/>
            <a:gdLst/>
            <a:ahLst/>
            <a:cxnLst/>
            <a:rect l="l" t="t" r="r" b="b"/>
            <a:pathLst>
              <a:path w="1891664" h="1412875">
                <a:moveTo>
                  <a:pt x="0" y="1412748"/>
                </a:moveTo>
                <a:lnTo>
                  <a:pt x="1891284" y="1412748"/>
                </a:lnTo>
                <a:lnTo>
                  <a:pt x="1891284" y="0"/>
                </a:lnTo>
                <a:lnTo>
                  <a:pt x="0" y="0"/>
                </a:lnTo>
                <a:lnTo>
                  <a:pt x="0" y="1412748"/>
                </a:lnTo>
                <a:close/>
              </a:path>
            </a:pathLst>
          </a:custGeom>
          <a:solidFill>
            <a:srgbClr val="FFFF00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66697" y="171653"/>
            <a:ext cx="5612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5" dirty="0"/>
              <a:t>需求工程过程的活动</a:t>
            </a:r>
          </a:p>
        </p:txBody>
      </p:sp>
      <p:sp>
        <p:nvSpPr>
          <p:cNvPr id="7" name="object 7"/>
          <p:cNvSpPr/>
          <p:nvPr/>
        </p:nvSpPr>
        <p:spPr>
          <a:xfrm>
            <a:off x="363149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791900" y="888610"/>
                </a:moveTo>
                <a:lnTo>
                  <a:pt x="592050" y="888610"/>
                </a:lnTo>
                <a:lnTo>
                  <a:pt x="651129" y="1228257"/>
                </a:lnTo>
                <a:lnTo>
                  <a:pt x="791900" y="888610"/>
                </a:lnTo>
                <a:close/>
              </a:path>
              <a:path w="1657985" h="1228725">
                <a:moveTo>
                  <a:pt x="1070512" y="849255"/>
                </a:moveTo>
                <a:lnTo>
                  <a:pt x="808211" y="849255"/>
                </a:lnTo>
                <a:lnTo>
                  <a:pt x="1016551" y="1122320"/>
                </a:lnTo>
                <a:lnTo>
                  <a:pt x="1070512" y="849255"/>
                </a:lnTo>
                <a:close/>
              </a:path>
              <a:path w="1657985" h="1228725">
                <a:moveTo>
                  <a:pt x="1321553" y="822079"/>
                </a:moveTo>
                <a:lnTo>
                  <a:pt x="1075882" y="822079"/>
                </a:lnTo>
                <a:lnTo>
                  <a:pt x="1392417" y="1028956"/>
                </a:lnTo>
                <a:lnTo>
                  <a:pt x="1321553" y="822079"/>
                </a:lnTo>
                <a:close/>
              </a:path>
              <a:path w="1657985" h="1228725">
                <a:moveTo>
                  <a:pt x="1311426" y="792516"/>
                </a:move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791900" y="888610"/>
                </a:lnTo>
                <a:lnTo>
                  <a:pt x="808211" y="849255"/>
                </a:lnTo>
                <a:lnTo>
                  <a:pt x="1070512" y="849255"/>
                </a:lnTo>
                <a:lnTo>
                  <a:pt x="1075882" y="822079"/>
                </a:lnTo>
                <a:lnTo>
                  <a:pt x="1321553" y="822079"/>
                </a:lnTo>
                <a:lnTo>
                  <a:pt x="1311426" y="792516"/>
                </a:lnTo>
                <a:close/>
              </a:path>
              <a:path w="1657985" h="1228725">
                <a:moveTo>
                  <a:pt x="28393" y="130502"/>
                </a:move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1311426" y="792516"/>
                </a:lnTo>
                <a:lnTo>
                  <a:pt x="1292043" y="735931"/>
                </a:lnTo>
                <a:lnTo>
                  <a:pt x="1619676" y="735931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326513" y="359384"/>
                </a:lnTo>
                <a:lnTo>
                  <a:pt x="561108" y="359384"/>
                </a:lnTo>
                <a:lnTo>
                  <a:pt x="28393" y="130502"/>
                </a:lnTo>
                <a:close/>
              </a:path>
              <a:path w="1657985" h="1228725">
                <a:moveTo>
                  <a:pt x="1619676" y="735931"/>
                </a:moveTo>
                <a:lnTo>
                  <a:pt x="1292043" y="735931"/>
                </a:lnTo>
                <a:lnTo>
                  <a:pt x="1657557" y="755719"/>
                </a:lnTo>
                <a:lnTo>
                  <a:pt x="1619676" y="735931"/>
                </a:lnTo>
                <a:close/>
              </a:path>
              <a:path w="1657985" h="1228725">
                <a:moveTo>
                  <a:pt x="640914" y="130502"/>
                </a:moveTo>
                <a:lnTo>
                  <a:pt x="561108" y="359384"/>
                </a:lnTo>
                <a:lnTo>
                  <a:pt x="1326513" y="359384"/>
                </a:lnTo>
                <a:lnTo>
                  <a:pt x="1349952" y="329804"/>
                </a:lnTo>
                <a:lnTo>
                  <a:pt x="828778" y="329804"/>
                </a:lnTo>
                <a:lnTo>
                  <a:pt x="640914" y="130502"/>
                </a:lnTo>
                <a:close/>
              </a:path>
              <a:path w="1657985" h="1228725">
                <a:moveTo>
                  <a:pt x="1114394" y="0"/>
                </a:moveTo>
                <a:lnTo>
                  <a:pt x="828778" y="329804"/>
                </a:lnTo>
                <a:lnTo>
                  <a:pt x="1349952" y="329804"/>
                </a:lnTo>
                <a:lnTo>
                  <a:pt x="1371349" y="302799"/>
                </a:lnTo>
                <a:lnTo>
                  <a:pt x="1086235" y="302799"/>
                </a:lnTo>
                <a:lnTo>
                  <a:pt x="1114394" y="0"/>
                </a:lnTo>
                <a:close/>
              </a:path>
              <a:path w="1657985" h="1228725">
                <a:moveTo>
                  <a:pt x="1410454" y="253447"/>
                </a:moveTo>
                <a:lnTo>
                  <a:pt x="1086235" y="302799"/>
                </a:lnTo>
                <a:lnTo>
                  <a:pt x="1371349" y="302799"/>
                </a:lnTo>
                <a:lnTo>
                  <a:pt x="1410454" y="253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3149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45567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791900" y="888610"/>
                </a:moveTo>
                <a:lnTo>
                  <a:pt x="592050" y="888610"/>
                </a:lnTo>
                <a:lnTo>
                  <a:pt x="651129" y="1228257"/>
                </a:lnTo>
                <a:lnTo>
                  <a:pt x="791900" y="888610"/>
                </a:lnTo>
                <a:close/>
              </a:path>
              <a:path w="1657985" h="1228725">
                <a:moveTo>
                  <a:pt x="1070512" y="849255"/>
                </a:moveTo>
                <a:lnTo>
                  <a:pt x="808211" y="849255"/>
                </a:lnTo>
                <a:lnTo>
                  <a:pt x="1016551" y="1122320"/>
                </a:lnTo>
                <a:lnTo>
                  <a:pt x="1070512" y="849255"/>
                </a:lnTo>
                <a:close/>
              </a:path>
              <a:path w="1657985" h="1228725">
                <a:moveTo>
                  <a:pt x="1321553" y="822079"/>
                </a:moveTo>
                <a:lnTo>
                  <a:pt x="1075882" y="822079"/>
                </a:lnTo>
                <a:lnTo>
                  <a:pt x="1392417" y="1028956"/>
                </a:lnTo>
                <a:lnTo>
                  <a:pt x="1321553" y="822079"/>
                </a:lnTo>
                <a:close/>
              </a:path>
              <a:path w="1657985" h="1228725">
                <a:moveTo>
                  <a:pt x="1311426" y="792516"/>
                </a:move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791900" y="888610"/>
                </a:lnTo>
                <a:lnTo>
                  <a:pt x="808211" y="849255"/>
                </a:lnTo>
                <a:lnTo>
                  <a:pt x="1070512" y="849255"/>
                </a:lnTo>
                <a:lnTo>
                  <a:pt x="1075882" y="822079"/>
                </a:lnTo>
                <a:lnTo>
                  <a:pt x="1321553" y="822079"/>
                </a:lnTo>
                <a:lnTo>
                  <a:pt x="1311426" y="792516"/>
                </a:lnTo>
                <a:close/>
              </a:path>
              <a:path w="1657985" h="1228725">
                <a:moveTo>
                  <a:pt x="28393" y="130502"/>
                </a:move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1311426" y="792516"/>
                </a:lnTo>
                <a:lnTo>
                  <a:pt x="1292043" y="735931"/>
                </a:lnTo>
                <a:lnTo>
                  <a:pt x="1619676" y="735931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326513" y="359384"/>
                </a:lnTo>
                <a:lnTo>
                  <a:pt x="561108" y="359384"/>
                </a:lnTo>
                <a:lnTo>
                  <a:pt x="28393" y="130502"/>
                </a:lnTo>
                <a:close/>
              </a:path>
              <a:path w="1657985" h="1228725">
                <a:moveTo>
                  <a:pt x="1619676" y="735931"/>
                </a:moveTo>
                <a:lnTo>
                  <a:pt x="1292043" y="735931"/>
                </a:lnTo>
                <a:lnTo>
                  <a:pt x="1657557" y="755719"/>
                </a:lnTo>
                <a:lnTo>
                  <a:pt x="1619676" y="735931"/>
                </a:lnTo>
                <a:close/>
              </a:path>
              <a:path w="1657985" h="1228725">
                <a:moveTo>
                  <a:pt x="640914" y="130502"/>
                </a:moveTo>
                <a:lnTo>
                  <a:pt x="561108" y="359384"/>
                </a:lnTo>
                <a:lnTo>
                  <a:pt x="1326513" y="359384"/>
                </a:lnTo>
                <a:lnTo>
                  <a:pt x="1349952" y="329804"/>
                </a:lnTo>
                <a:lnTo>
                  <a:pt x="828778" y="329804"/>
                </a:lnTo>
                <a:lnTo>
                  <a:pt x="640914" y="130502"/>
                </a:lnTo>
                <a:close/>
              </a:path>
              <a:path w="1657985" h="1228725">
                <a:moveTo>
                  <a:pt x="1114394" y="0"/>
                </a:moveTo>
                <a:lnTo>
                  <a:pt x="828778" y="329804"/>
                </a:lnTo>
                <a:lnTo>
                  <a:pt x="1349952" y="329804"/>
                </a:lnTo>
                <a:lnTo>
                  <a:pt x="1371349" y="302799"/>
                </a:lnTo>
                <a:lnTo>
                  <a:pt x="1086235" y="302799"/>
                </a:lnTo>
                <a:lnTo>
                  <a:pt x="1114394" y="0"/>
                </a:lnTo>
                <a:close/>
              </a:path>
              <a:path w="1657985" h="1228725">
                <a:moveTo>
                  <a:pt x="1410454" y="253447"/>
                </a:moveTo>
                <a:lnTo>
                  <a:pt x="1086235" y="302799"/>
                </a:lnTo>
                <a:lnTo>
                  <a:pt x="1371349" y="302799"/>
                </a:lnTo>
                <a:lnTo>
                  <a:pt x="1410454" y="253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45567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5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00736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791900" y="888610"/>
                </a:moveTo>
                <a:lnTo>
                  <a:pt x="592050" y="888610"/>
                </a:lnTo>
                <a:lnTo>
                  <a:pt x="651129" y="1228257"/>
                </a:lnTo>
                <a:lnTo>
                  <a:pt x="791900" y="888610"/>
                </a:lnTo>
                <a:close/>
              </a:path>
              <a:path w="1657984" h="1228725">
                <a:moveTo>
                  <a:pt x="1070512" y="849255"/>
                </a:moveTo>
                <a:lnTo>
                  <a:pt x="808211" y="849255"/>
                </a:lnTo>
                <a:lnTo>
                  <a:pt x="1016551" y="1122320"/>
                </a:lnTo>
                <a:lnTo>
                  <a:pt x="1070512" y="849255"/>
                </a:lnTo>
                <a:close/>
              </a:path>
              <a:path w="1657984" h="1228725">
                <a:moveTo>
                  <a:pt x="1321553" y="822079"/>
                </a:moveTo>
                <a:lnTo>
                  <a:pt x="1075882" y="822079"/>
                </a:lnTo>
                <a:lnTo>
                  <a:pt x="1392417" y="1028956"/>
                </a:lnTo>
                <a:lnTo>
                  <a:pt x="1321553" y="822079"/>
                </a:lnTo>
                <a:close/>
              </a:path>
              <a:path w="1657984" h="1228725">
                <a:moveTo>
                  <a:pt x="1311426" y="792516"/>
                </a:move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791900" y="888610"/>
                </a:lnTo>
                <a:lnTo>
                  <a:pt x="808211" y="849255"/>
                </a:lnTo>
                <a:lnTo>
                  <a:pt x="1070512" y="849255"/>
                </a:lnTo>
                <a:lnTo>
                  <a:pt x="1075882" y="822079"/>
                </a:lnTo>
                <a:lnTo>
                  <a:pt x="1321553" y="822079"/>
                </a:lnTo>
                <a:lnTo>
                  <a:pt x="1311426" y="792516"/>
                </a:lnTo>
                <a:close/>
              </a:path>
              <a:path w="1657984" h="1228725">
                <a:moveTo>
                  <a:pt x="28393" y="130502"/>
                </a:move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1311426" y="792516"/>
                </a:lnTo>
                <a:lnTo>
                  <a:pt x="1292043" y="735931"/>
                </a:lnTo>
                <a:lnTo>
                  <a:pt x="1619676" y="735931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326513" y="359384"/>
                </a:lnTo>
                <a:lnTo>
                  <a:pt x="561108" y="359384"/>
                </a:lnTo>
                <a:lnTo>
                  <a:pt x="28393" y="130502"/>
                </a:lnTo>
                <a:close/>
              </a:path>
              <a:path w="1657984" h="1228725">
                <a:moveTo>
                  <a:pt x="1619676" y="735931"/>
                </a:moveTo>
                <a:lnTo>
                  <a:pt x="1292043" y="735931"/>
                </a:lnTo>
                <a:lnTo>
                  <a:pt x="1657557" y="755719"/>
                </a:lnTo>
                <a:lnTo>
                  <a:pt x="1619676" y="735931"/>
                </a:lnTo>
                <a:close/>
              </a:path>
              <a:path w="1657984" h="1228725">
                <a:moveTo>
                  <a:pt x="640914" y="130502"/>
                </a:moveTo>
                <a:lnTo>
                  <a:pt x="561108" y="359384"/>
                </a:lnTo>
                <a:lnTo>
                  <a:pt x="1326513" y="359384"/>
                </a:lnTo>
                <a:lnTo>
                  <a:pt x="1349952" y="329804"/>
                </a:lnTo>
                <a:lnTo>
                  <a:pt x="828778" y="329804"/>
                </a:lnTo>
                <a:lnTo>
                  <a:pt x="640914" y="130502"/>
                </a:lnTo>
                <a:close/>
              </a:path>
              <a:path w="1657984" h="1228725">
                <a:moveTo>
                  <a:pt x="1114394" y="0"/>
                </a:moveTo>
                <a:lnTo>
                  <a:pt x="828778" y="329804"/>
                </a:lnTo>
                <a:lnTo>
                  <a:pt x="1349952" y="329804"/>
                </a:lnTo>
                <a:lnTo>
                  <a:pt x="1371349" y="302799"/>
                </a:lnTo>
                <a:lnTo>
                  <a:pt x="1086235" y="302799"/>
                </a:lnTo>
                <a:lnTo>
                  <a:pt x="1114394" y="0"/>
                </a:lnTo>
                <a:close/>
              </a:path>
              <a:path w="1657984" h="1228725">
                <a:moveTo>
                  <a:pt x="1410454" y="253447"/>
                </a:moveTo>
                <a:lnTo>
                  <a:pt x="1086235" y="302799"/>
                </a:lnTo>
                <a:lnTo>
                  <a:pt x="1371349" y="302799"/>
                </a:lnTo>
                <a:lnTo>
                  <a:pt x="1410454" y="253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00736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19570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791900" y="888610"/>
                </a:moveTo>
                <a:lnTo>
                  <a:pt x="592050" y="888610"/>
                </a:lnTo>
                <a:lnTo>
                  <a:pt x="651129" y="1228257"/>
                </a:lnTo>
                <a:lnTo>
                  <a:pt x="791900" y="888610"/>
                </a:lnTo>
                <a:close/>
              </a:path>
              <a:path w="1657984" h="1228725">
                <a:moveTo>
                  <a:pt x="1070512" y="849255"/>
                </a:moveTo>
                <a:lnTo>
                  <a:pt x="808211" y="849255"/>
                </a:lnTo>
                <a:lnTo>
                  <a:pt x="1016551" y="1122320"/>
                </a:lnTo>
                <a:lnTo>
                  <a:pt x="1070512" y="849255"/>
                </a:lnTo>
                <a:close/>
              </a:path>
              <a:path w="1657984" h="1228725">
                <a:moveTo>
                  <a:pt x="1321553" y="822079"/>
                </a:moveTo>
                <a:lnTo>
                  <a:pt x="1075882" y="822079"/>
                </a:lnTo>
                <a:lnTo>
                  <a:pt x="1392417" y="1028956"/>
                </a:lnTo>
                <a:lnTo>
                  <a:pt x="1321553" y="822079"/>
                </a:lnTo>
                <a:close/>
              </a:path>
              <a:path w="1657984" h="1228725">
                <a:moveTo>
                  <a:pt x="1311426" y="792516"/>
                </a:move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791900" y="888610"/>
                </a:lnTo>
                <a:lnTo>
                  <a:pt x="808211" y="849255"/>
                </a:lnTo>
                <a:lnTo>
                  <a:pt x="1070512" y="849255"/>
                </a:lnTo>
                <a:lnTo>
                  <a:pt x="1075882" y="822079"/>
                </a:lnTo>
                <a:lnTo>
                  <a:pt x="1321553" y="822079"/>
                </a:lnTo>
                <a:lnTo>
                  <a:pt x="1311426" y="792516"/>
                </a:lnTo>
                <a:close/>
              </a:path>
              <a:path w="1657984" h="1228725">
                <a:moveTo>
                  <a:pt x="28393" y="130502"/>
                </a:move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1311426" y="792516"/>
                </a:lnTo>
                <a:lnTo>
                  <a:pt x="1292043" y="735931"/>
                </a:lnTo>
                <a:lnTo>
                  <a:pt x="1619676" y="735931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326513" y="359384"/>
                </a:lnTo>
                <a:lnTo>
                  <a:pt x="561108" y="359384"/>
                </a:lnTo>
                <a:lnTo>
                  <a:pt x="28393" y="130502"/>
                </a:lnTo>
                <a:close/>
              </a:path>
              <a:path w="1657984" h="1228725">
                <a:moveTo>
                  <a:pt x="1619676" y="735931"/>
                </a:moveTo>
                <a:lnTo>
                  <a:pt x="1292043" y="735931"/>
                </a:lnTo>
                <a:lnTo>
                  <a:pt x="1657557" y="755719"/>
                </a:lnTo>
                <a:lnTo>
                  <a:pt x="1619676" y="735931"/>
                </a:lnTo>
                <a:close/>
              </a:path>
              <a:path w="1657984" h="1228725">
                <a:moveTo>
                  <a:pt x="640914" y="130502"/>
                </a:moveTo>
                <a:lnTo>
                  <a:pt x="561108" y="359384"/>
                </a:lnTo>
                <a:lnTo>
                  <a:pt x="1326513" y="359384"/>
                </a:lnTo>
                <a:lnTo>
                  <a:pt x="1349952" y="329804"/>
                </a:lnTo>
                <a:lnTo>
                  <a:pt x="828778" y="329804"/>
                </a:lnTo>
                <a:lnTo>
                  <a:pt x="640914" y="130502"/>
                </a:lnTo>
                <a:close/>
              </a:path>
              <a:path w="1657984" h="1228725">
                <a:moveTo>
                  <a:pt x="1114394" y="0"/>
                </a:moveTo>
                <a:lnTo>
                  <a:pt x="828778" y="329804"/>
                </a:lnTo>
                <a:lnTo>
                  <a:pt x="1349952" y="329804"/>
                </a:lnTo>
                <a:lnTo>
                  <a:pt x="1371349" y="302799"/>
                </a:lnTo>
                <a:lnTo>
                  <a:pt x="1086235" y="302799"/>
                </a:lnTo>
                <a:lnTo>
                  <a:pt x="1114394" y="0"/>
                </a:lnTo>
                <a:close/>
              </a:path>
              <a:path w="1657984" h="1228725">
                <a:moveTo>
                  <a:pt x="1410454" y="253447"/>
                </a:moveTo>
                <a:lnTo>
                  <a:pt x="1086235" y="302799"/>
                </a:lnTo>
                <a:lnTo>
                  <a:pt x="1371349" y="302799"/>
                </a:lnTo>
                <a:lnTo>
                  <a:pt x="1410454" y="253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19570" y="2659116"/>
            <a:ext cx="1657985" cy="1228725"/>
          </a:xfrm>
          <a:custGeom>
            <a:avLst/>
            <a:gdLst/>
            <a:ahLst/>
            <a:cxnLst/>
            <a:rect l="l" t="t" r="r" b="b"/>
            <a:pathLst>
              <a:path w="1657984" h="1228725">
                <a:moveTo>
                  <a:pt x="828778" y="329804"/>
                </a:moveTo>
                <a:lnTo>
                  <a:pt x="640914" y="130502"/>
                </a:lnTo>
                <a:lnTo>
                  <a:pt x="561108" y="359384"/>
                </a:lnTo>
                <a:lnTo>
                  <a:pt x="28393" y="130502"/>
                </a:lnTo>
                <a:lnTo>
                  <a:pt x="355069" y="433131"/>
                </a:lnTo>
                <a:lnTo>
                  <a:pt x="0" y="489887"/>
                </a:lnTo>
                <a:lnTo>
                  <a:pt x="285615" y="669571"/>
                </a:lnTo>
                <a:lnTo>
                  <a:pt x="10359" y="829466"/>
                </a:lnTo>
                <a:lnTo>
                  <a:pt x="434876" y="792516"/>
                </a:lnTo>
                <a:lnTo>
                  <a:pt x="365421" y="1001763"/>
                </a:lnTo>
                <a:lnTo>
                  <a:pt x="592050" y="888610"/>
                </a:lnTo>
                <a:lnTo>
                  <a:pt x="651129" y="1228257"/>
                </a:lnTo>
                <a:lnTo>
                  <a:pt x="808211" y="849255"/>
                </a:lnTo>
                <a:lnTo>
                  <a:pt x="1016551" y="1122320"/>
                </a:lnTo>
                <a:lnTo>
                  <a:pt x="1075882" y="822079"/>
                </a:lnTo>
                <a:lnTo>
                  <a:pt x="1392417" y="1028956"/>
                </a:lnTo>
                <a:lnTo>
                  <a:pt x="1292043" y="735931"/>
                </a:lnTo>
                <a:lnTo>
                  <a:pt x="1657557" y="755719"/>
                </a:lnTo>
                <a:lnTo>
                  <a:pt x="1351145" y="595653"/>
                </a:lnTo>
                <a:lnTo>
                  <a:pt x="1618954" y="462694"/>
                </a:lnTo>
                <a:lnTo>
                  <a:pt x="1281691" y="415952"/>
                </a:lnTo>
                <a:lnTo>
                  <a:pt x="1410454" y="253447"/>
                </a:lnTo>
                <a:lnTo>
                  <a:pt x="1086235" y="302799"/>
                </a:lnTo>
                <a:lnTo>
                  <a:pt x="1114394" y="0"/>
                </a:lnTo>
                <a:lnTo>
                  <a:pt x="828778" y="329804"/>
                </a:lnTo>
                <a:close/>
              </a:path>
            </a:pathLst>
          </a:custGeom>
          <a:ln w="14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49104" y="3117366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需求获取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1489" y="3133531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需求分析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1982" y="3117366"/>
            <a:ext cx="98806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需求规格说明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50884" y="3117366"/>
            <a:ext cx="66738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" dirty="0">
                <a:latin typeface="宋体"/>
                <a:cs typeface="宋体"/>
              </a:rPr>
              <a:t>需求验证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7193" y="4561282"/>
            <a:ext cx="1228090" cy="635635"/>
          </a:xfrm>
          <a:prstGeom prst="rect">
            <a:avLst/>
          </a:prstGeom>
          <a:ln w="1921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92735" marR="285115">
              <a:lnSpc>
                <a:spcPct val="110600"/>
              </a:lnSpc>
              <a:spcBef>
                <a:spcPts val="675"/>
              </a:spcBef>
            </a:pPr>
            <a:r>
              <a:rPr sz="1250" spc="10" dirty="0">
                <a:latin typeface="宋体"/>
                <a:cs typeface="宋体"/>
              </a:rPr>
              <a:t>用户需求 领域特性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8756" y="4277729"/>
            <a:ext cx="1591945" cy="930275"/>
          </a:xfrm>
          <a:prstGeom prst="rect">
            <a:avLst/>
          </a:prstGeom>
          <a:ln w="19216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835"/>
              </a:spcBef>
            </a:pPr>
            <a:r>
              <a:rPr sz="1250" spc="10" dirty="0">
                <a:latin typeface="宋体"/>
                <a:cs typeface="宋体"/>
              </a:rPr>
              <a:t>成果文档：</a:t>
            </a:r>
            <a:endParaRPr sz="1250">
              <a:latin typeface="宋体"/>
              <a:cs typeface="宋体"/>
            </a:endParaRPr>
          </a:p>
          <a:p>
            <a:pPr marL="64135" marR="364490">
              <a:lnSpc>
                <a:spcPct val="110600"/>
              </a:lnSpc>
              <a:spcBef>
                <a:spcPts val="30"/>
              </a:spcBef>
            </a:pPr>
            <a:r>
              <a:rPr sz="1000" spc="5" dirty="0">
                <a:latin typeface="宋体"/>
                <a:cs typeface="宋体"/>
              </a:rPr>
              <a:t>项目前景和范围文档 </a:t>
            </a:r>
            <a:r>
              <a:rPr sz="1000" spc="10" dirty="0">
                <a:latin typeface="宋体"/>
                <a:cs typeface="宋体"/>
              </a:rPr>
              <a:t>用户需求文档</a:t>
            </a:r>
            <a:endParaRPr sz="1000">
              <a:latin typeface="宋体"/>
              <a:cs typeface="宋体"/>
            </a:endParaRPr>
          </a:p>
          <a:p>
            <a:pPr marL="64135">
              <a:lnSpc>
                <a:spcPct val="100000"/>
              </a:lnSpc>
              <a:spcBef>
                <a:spcPts val="130"/>
              </a:spcBef>
            </a:pPr>
            <a:r>
              <a:rPr sz="1000" spc="10" dirty="0">
                <a:latin typeface="宋体"/>
                <a:cs typeface="宋体"/>
              </a:rPr>
              <a:t>需求规格说明文档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98249" y="3863007"/>
            <a:ext cx="0" cy="698500"/>
          </a:xfrm>
          <a:custGeom>
            <a:avLst/>
            <a:gdLst/>
            <a:ahLst/>
            <a:cxnLst/>
            <a:rect l="l" t="t" r="r" b="b"/>
            <a:pathLst>
              <a:path h="698500">
                <a:moveTo>
                  <a:pt x="0" y="698272"/>
                </a:moveTo>
                <a:lnTo>
                  <a:pt x="0" y="0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38582" y="3699274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70">
                <a:moveTo>
                  <a:pt x="59667" y="0"/>
                </a:moveTo>
                <a:lnTo>
                  <a:pt x="0" y="178617"/>
                </a:lnTo>
                <a:lnTo>
                  <a:pt x="119334" y="178617"/>
                </a:lnTo>
                <a:lnTo>
                  <a:pt x="5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16698" y="3200169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336027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37809" y="3140630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69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44426" y="3200169"/>
            <a:ext cx="563880" cy="0"/>
          </a:xfrm>
          <a:custGeom>
            <a:avLst/>
            <a:gdLst/>
            <a:ahLst/>
            <a:cxnLst/>
            <a:rect l="l" t="t" r="r" b="b"/>
            <a:pathLst>
              <a:path w="563879">
                <a:moveTo>
                  <a:pt x="0" y="0"/>
                </a:moveTo>
                <a:lnTo>
                  <a:pt x="563468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92978" y="3140630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08812" y="3200169"/>
            <a:ext cx="518159" cy="0"/>
          </a:xfrm>
          <a:custGeom>
            <a:avLst/>
            <a:gdLst/>
            <a:ahLst/>
            <a:cxnLst/>
            <a:rect l="l" t="t" r="r" b="b"/>
            <a:pathLst>
              <a:path w="518159">
                <a:moveTo>
                  <a:pt x="0" y="0"/>
                </a:moveTo>
                <a:lnTo>
                  <a:pt x="517916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11811" y="3140630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07321" y="2111339"/>
            <a:ext cx="7002145" cy="0"/>
          </a:xfrm>
          <a:custGeom>
            <a:avLst/>
            <a:gdLst/>
            <a:ahLst/>
            <a:cxnLst/>
            <a:rect l="l" t="t" r="r" b="b"/>
            <a:pathLst>
              <a:path w="7002145">
                <a:moveTo>
                  <a:pt x="0" y="0"/>
                </a:moveTo>
                <a:lnTo>
                  <a:pt x="7001828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07321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47654" y="2522511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80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80698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1031" y="2522511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35868" y="211133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6057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76200" y="2522511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69">
                <a:moveTo>
                  <a:pt x="119334" y="0"/>
                </a:moveTo>
                <a:lnTo>
                  <a:pt x="0" y="0"/>
                </a:lnTo>
                <a:lnTo>
                  <a:pt x="59667" y="178617"/>
                </a:lnTo>
                <a:lnTo>
                  <a:pt x="119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09149" y="2111339"/>
            <a:ext cx="0" cy="589915"/>
          </a:xfrm>
          <a:custGeom>
            <a:avLst/>
            <a:gdLst/>
            <a:ahLst/>
            <a:cxnLst/>
            <a:rect l="l" t="t" r="r" b="b"/>
            <a:pathLst>
              <a:path h="589914">
                <a:moveTo>
                  <a:pt x="0" y="0"/>
                </a:moveTo>
                <a:lnTo>
                  <a:pt x="0" y="589790"/>
                </a:lnTo>
              </a:path>
            </a:pathLst>
          </a:custGeom>
          <a:ln w="192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759070" y="4925974"/>
            <a:ext cx="0" cy="19685"/>
          </a:xfrm>
          <a:custGeom>
            <a:avLst/>
            <a:gdLst/>
            <a:ahLst/>
            <a:cxnLst/>
            <a:rect l="l" t="t" r="r" b="b"/>
            <a:pathLst>
              <a:path h="19685">
                <a:moveTo>
                  <a:pt x="0" y="0"/>
                </a:moveTo>
                <a:lnTo>
                  <a:pt x="0" y="19206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50037" y="4935577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>
                <a:moveTo>
                  <a:pt x="0" y="0"/>
                </a:moveTo>
                <a:lnTo>
                  <a:pt x="163121" y="0"/>
                </a:lnTo>
              </a:path>
            </a:pathLst>
          </a:custGeom>
          <a:ln w="19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48484" y="4876038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105271" y="4836962"/>
            <a:ext cx="66738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0" dirty="0">
                <a:latin typeface="宋体"/>
                <a:cs typeface="宋体"/>
              </a:rPr>
              <a:t>一致的需求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835868" y="3699274"/>
            <a:ext cx="381635" cy="782955"/>
          </a:xfrm>
          <a:custGeom>
            <a:avLst/>
            <a:gdLst/>
            <a:ahLst/>
            <a:cxnLst/>
            <a:rect l="l" t="t" r="r" b="b"/>
            <a:pathLst>
              <a:path w="381635" h="782954">
                <a:moveTo>
                  <a:pt x="0" y="0"/>
                </a:moveTo>
                <a:lnTo>
                  <a:pt x="0" y="782604"/>
                </a:lnTo>
                <a:lnTo>
                  <a:pt x="381419" y="782604"/>
                </a:lnTo>
              </a:path>
            </a:pathLst>
          </a:custGeom>
          <a:ln w="19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02371" y="4422339"/>
            <a:ext cx="179070" cy="119380"/>
          </a:xfrm>
          <a:custGeom>
            <a:avLst/>
            <a:gdLst/>
            <a:ahLst/>
            <a:cxnLst/>
            <a:rect l="l" t="t" r="r" b="b"/>
            <a:pathLst>
              <a:path w="179070" h="119379">
                <a:moveTo>
                  <a:pt x="0" y="0"/>
                </a:moveTo>
                <a:lnTo>
                  <a:pt x="0" y="119078"/>
                </a:lnTo>
                <a:lnTo>
                  <a:pt x="179001" y="5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50037" y="3999115"/>
            <a:ext cx="340995" cy="483234"/>
          </a:xfrm>
          <a:custGeom>
            <a:avLst/>
            <a:gdLst/>
            <a:ahLst/>
            <a:cxnLst/>
            <a:rect l="l" t="t" r="r" b="b"/>
            <a:pathLst>
              <a:path w="340995" h="483235">
                <a:moveTo>
                  <a:pt x="0" y="482763"/>
                </a:moveTo>
                <a:lnTo>
                  <a:pt x="341000" y="482763"/>
                </a:lnTo>
                <a:lnTo>
                  <a:pt x="341000" y="0"/>
                </a:lnTo>
              </a:path>
            </a:pathLst>
          </a:custGeom>
          <a:ln w="19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31370" y="3835382"/>
            <a:ext cx="119380" cy="179070"/>
          </a:xfrm>
          <a:custGeom>
            <a:avLst/>
            <a:gdLst/>
            <a:ahLst/>
            <a:cxnLst/>
            <a:rect l="l" t="t" r="r" b="b"/>
            <a:pathLst>
              <a:path w="119379" h="179070">
                <a:moveTo>
                  <a:pt x="59667" y="0"/>
                </a:moveTo>
                <a:lnTo>
                  <a:pt x="0" y="178617"/>
                </a:lnTo>
                <a:lnTo>
                  <a:pt x="119334" y="178617"/>
                </a:lnTo>
                <a:lnTo>
                  <a:pt x="5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8882"/>
            <a:ext cx="7519034" cy="303847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4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需求获取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需求获取是从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人</a:t>
            </a:r>
            <a:r>
              <a:rPr sz="2800" spc="-5" dirty="0">
                <a:latin typeface="宋体"/>
                <a:cs typeface="宋体"/>
              </a:rPr>
              <a:t>、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文档</a:t>
            </a:r>
            <a:r>
              <a:rPr sz="2800" spc="-5" dirty="0">
                <a:latin typeface="宋体"/>
                <a:cs typeface="宋体"/>
              </a:rPr>
              <a:t>或者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环境</a:t>
            </a:r>
            <a:r>
              <a:rPr sz="2800" spc="-5" dirty="0">
                <a:latin typeface="宋体"/>
                <a:cs typeface="宋体"/>
              </a:rPr>
              <a:t>当</a:t>
            </a:r>
            <a:r>
              <a:rPr sz="2800" spc="5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获取需 求的过程</a:t>
            </a:r>
            <a:endParaRPr sz="2800">
              <a:latin typeface="宋体"/>
              <a:cs typeface="宋体"/>
            </a:endParaRPr>
          </a:p>
          <a:p>
            <a:pPr marL="756285" marR="361315" lvl="1" indent="-287020">
              <a:lnSpc>
                <a:spcPts val="3150"/>
              </a:lnSpc>
              <a:spcBef>
                <a:spcPts val="110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需求工程师必须要利用各种方法和</a:t>
            </a:r>
            <a:r>
              <a:rPr sz="2800" dirty="0">
                <a:latin typeface="宋体"/>
                <a:cs typeface="宋体"/>
              </a:rPr>
              <a:t>技</a:t>
            </a:r>
            <a:r>
              <a:rPr sz="2800" spc="-5" dirty="0">
                <a:latin typeface="宋体"/>
                <a:cs typeface="宋体"/>
              </a:rPr>
              <a:t>术来  “发现”需求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需求获取和需求分析是交织在一起的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9357"/>
            <a:ext cx="4675505" cy="31775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需求获取子活动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收集背景资料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定义项目前景和范围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选择信息的来源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选择获取方法，执行获取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记录获取结果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69949"/>
            <a:ext cx="357377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584200" algn="l"/>
                <a:tab pos="584835" algn="l"/>
              </a:tabLst>
            </a:pPr>
            <a:r>
              <a:rPr sz="3200" spc="-300" dirty="0">
                <a:latin typeface="宋体"/>
                <a:cs typeface="宋体"/>
              </a:rPr>
              <a:t>需求获取问题列表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8643" y="2076563"/>
            <a:ext cx="8050500" cy="2513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5716" y="5029580"/>
            <a:ext cx="58642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0000"/>
                </a:solidFill>
                <a:latin typeface="微软雅黑"/>
                <a:cs typeface="微软雅黑"/>
              </a:rPr>
              <a:t>需求工程师要像记者一样</a:t>
            </a:r>
            <a:r>
              <a:rPr sz="1500" spc="-5" dirty="0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sz="1500" dirty="0">
                <a:solidFill>
                  <a:srgbClr val="FF0000"/>
                </a:solidFill>
                <a:latin typeface="微软雅黑"/>
                <a:cs typeface="微软雅黑"/>
              </a:rPr>
              <a:t>按照如表</a:t>
            </a:r>
            <a:r>
              <a:rPr sz="1500" spc="-5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sz="1500" spc="-10" dirty="0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r>
              <a:rPr sz="1500" spc="-5" dirty="0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r>
              <a:rPr sz="1500" dirty="0">
                <a:solidFill>
                  <a:srgbClr val="FF0000"/>
                </a:solidFill>
                <a:latin typeface="微软雅黑"/>
                <a:cs typeface="微软雅黑"/>
              </a:rPr>
              <a:t>所示的问题列表进行信息采集。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6786"/>
            <a:ext cx="7874000" cy="346456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4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建模来整合各种信息，以使得人们</a:t>
            </a:r>
            <a:r>
              <a:rPr sz="2800" dirty="0">
                <a:latin typeface="宋体"/>
                <a:cs typeface="宋体"/>
              </a:rPr>
              <a:t>更</a:t>
            </a:r>
            <a:r>
              <a:rPr sz="2800" spc="-5" dirty="0">
                <a:latin typeface="宋体"/>
                <a:cs typeface="宋体"/>
              </a:rPr>
              <a:t>好的</a:t>
            </a:r>
            <a:r>
              <a:rPr sz="2800" dirty="0">
                <a:latin typeface="宋体"/>
                <a:cs typeface="宋体"/>
              </a:rPr>
              <a:t>理</a:t>
            </a:r>
            <a:r>
              <a:rPr sz="2800" spc="-5" dirty="0">
                <a:latin typeface="宋体"/>
                <a:cs typeface="宋体"/>
              </a:rPr>
              <a:t>解 </a:t>
            </a:r>
            <a:r>
              <a:rPr sz="2800" spc="-10" dirty="0">
                <a:latin typeface="宋体"/>
                <a:cs typeface="宋体"/>
              </a:rPr>
              <a:t>问题</a:t>
            </a:r>
            <a:endParaRPr sz="2800">
              <a:latin typeface="宋体"/>
              <a:cs typeface="宋体"/>
            </a:endParaRPr>
          </a:p>
          <a:p>
            <a:pPr marL="756285" marR="5080" lvl="1" indent="-287020">
              <a:lnSpc>
                <a:spcPts val="3140"/>
              </a:lnSpc>
              <a:spcBef>
                <a:spcPts val="111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为问题定义出一个需求集合，这个</a:t>
            </a:r>
            <a:r>
              <a:rPr sz="2800" dirty="0">
                <a:latin typeface="宋体"/>
                <a:cs typeface="宋体"/>
              </a:rPr>
              <a:t>集</a:t>
            </a:r>
            <a:r>
              <a:rPr sz="2800" spc="-5" dirty="0">
                <a:latin typeface="宋体"/>
                <a:cs typeface="宋体"/>
              </a:rPr>
              <a:t>合能</a:t>
            </a:r>
            <a:r>
              <a:rPr sz="2800" dirty="0">
                <a:latin typeface="宋体"/>
                <a:cs typeface="宋体"/>
              </a:rPr>
              <a:t>够</a:t>
            </a:r>
            <a:r>
              <a:rPr sz="2800" spc="-5" dirty="0">
                <a:latin typeface="宋体"/>
                <a:cs typeface="宋体"/>
              </a:rPr>
              <a:t>为 问题界定一个有效的解决方案</a:t>
            </a:r>
            <a:endParaRPr sz="2800">
              <a:latin typeface="宋体"/>
              <a:cs typeface="宋体"/>
            </a:endParaRPr>
          </a:p>
          <a:p>
            <a:pPr marL="756285" marR="5080" lvl="1" indent="-287020">
              <a:lnSpc>
                <a:spcPts val="3150"/>
              </a:lnSpc>
              <a:spcBef>
                <a:spcPts val="110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检查需求当中存在的错误、遗漏、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10" dirty="0">
                <a:latin typeface="宋体"/>
                <a:cs typeface="宋体"/>
              </a:rPr>
              <a:t>一致</a:t>
            </a:r>
            <a:r>
              <a:rPr sz="2800" dirty="0">
                <a:latin typeface="宋体"/>
                <a:cs typeface="宋体"/>
              </a:rPr>
              <a:t>等</a:t>
            </a:r>
            <a:r>
              <a:rPr sz="2800" spc="-5" dirty="0">
                <a:latin typeface="宋体"/>
                <a:cs typeface="宋体"/>
              </a:rPr>
              <a:t>各 种缺陷，并加以修正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8221"/>
            <a:ext cx="3217545" cy="36893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需求分析子活动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背景分析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确定系统边界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需求建模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需求细化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确定优先级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需求协商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517525" indent="-343535">
              <a:lnSpc>
                <a:spcPct val="100000"/>
              </a:lnSpc>
              <a:spcBef>
                <a:spcPts val="114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518159" algn="l"/>
              </a:tabLst>
            </a:pPr>
            <a:r>
              <a:rPr dirty="0"/>
              <a:t>需求规格说明</a:t>
            </a:r>
          </a:p>
          <a:p>
            <a:pPr marL="918210" marR="365125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获取的需求需要被编写成文档，主</a:t>
            </a:r>
            <a:r>
              <a:rPr sz="2800" dirty="0">
                <a:latin typeface="宋体"/>
                <a:cs typeface="宋体"/>
              </a:rPr>
              <a:t>要</a:t>
            </a:r>
            <a:r>
              <a:rPr sz="2800" spc="-5" dirty="0">
                <a:latin typeface="宋体"/>
                <a:cs typeface="宋体"/>
              </a:rPr>
              <a:t>目的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宋体"/>
                <a:cs typeface="宋体"/>
              </a:rPr>
              <a:t>为 了在系统涉众之间交流需求信息</a:t>
            </a:r>
            <a:endParaRPr sz="2800">
              <a:latin typeface="宋体"/>
              <a:cs typeface="宋体"/>
            </a:endParaRPr>
          </a:p>
          <a:p>
            <a:pPr marL="918210" lvl="1" indent="-28702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业务需求被写入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项目前景和范围文档</a:t>
            </a:r>
            <a:endParaRPr sz="2800">
              <a:latin typeface="宋体"/>
              <a:cs typeface="宋体"/>
            </a:endParaRPr>
          </a:p>
          <a:p>
            <a:pPr marL="918210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用户需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宋体"/>
                <a:cs typeface="宋体"/>
              </a:rPr>
              <a:t>被写</a:t>
            </a:r>
            <a:r>
              <a:rPr sz="2800" dirty="0">
                <a:latin typeface="宋体"/>
                <a:cs typeface="宋体"/>
              </a:rPr>
              <a:t>入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用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户需求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文档</a:t>
            </a:r>
            <a:r>
              <a:rPr sz="2800" spc="-5" dirty="0">
                <a:latin typeface="宋体"/>
                <a:cs typeface="宋体"/>
              </a:rPr>
              <a:t>（或</a:t>
            </a:r>
            <a:r>
              <a:rPr sz="2800" dirty="0">
                <a:latin typeface="宋体"/>
                <a:cs typeface="宋体"/>
              </a:rPr>
              <a:t>者</a:t>
            </a:r>
            <a:r>
              <a:rPr sz="2800" spc="-5" dirty="0">
                <a:latin typeface="宋体"/>
                <a:cs typeface="宋体"/>
              </a:rPr>
              <a:t>用例文</a:t>
            </a:r>
            <a:r>
              <a:rPr sz="2800" dirty="0">
                <a:latin typeface="宋体"/>
                <a:cs typeface="宋体"/>
              </a:rPr>
              <a:t>档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918210" lvl="1" indent="-287020">
              <a:lnSpc>
                <a:spcPts val="335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系统需求被写入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需求规格说明</a:t>
            </a:r>
            <a:endParaRPr sz="2800">
              <a:latin typeface="宋体"/>
              <a:cs typeface="宋体"/>
            </a:endParaRPr>
          </a:p>
          <a:p>
            <a:pPr marL="517525" indent="-343535">
              <a:lnSpc>
                <a:spcPts val="3829"/>
              </a:lnSpc>
              <a:buClr>
                <a:srgbClr val="00663B"/>
              </a:buClr>
              <a:buSzPct val="79687"/>
              <a:buFont typeface="Wingdings"/>
              <a:buChar char=""/>
              <a:tabLst>
                <a:tab pos="518159" algn="l"/>
              </a:tabLst>
            </a:pPr>
            <a:r>
              <a:rPr dirty="0"/>
              <a:t>需求规格说明子活动</a:t>
            </a:r>
          </a:p>
          <a:p>
            <a:pPr marL="918210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定制文档模版</a:t>
            </a:r>
            <a:endParaRPr sz="2800">
              <a:latin typeface="宋体"/>
              <a:cs typeface="宋体"/>
            </a:endParaRPr>
          </a:p>
          <a:p>
            <a:pPr marL="918210" lvl="1" indent="-287020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918210" algn="l"/>
                <a:tab pos="918844" algn="l"/>
              </a:tabLst>
            </a:pPr>
            <a:r>
              <a:rPr sz="2800" spc="-5" dirty="0">
                <a:latin typeface="宋体"/>
                <a:cs typeface="宋体"/>
              </a:rPr>
              <a:t>编写文档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393316"/>
            <a:ext cx="23526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3200" spc="-300" dirty="0">
                <a:latin typeface="宋体"/>
                <a:cs typeface="宋体"/>
              </a:rPr>
              <a:t>需求文档化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287" y="2399827"/>
            <a:ext cx="9058274" cy="3007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87890"/>
            <a:ext cx="8179434" cy="51301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6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</a:t>
            </a:r>
            <a:endParaRPr sz="3200">
              <a:latin typeface="宋体"/>
              <a:cs typeface="宋体"/>
            </a:endParaRPr>
          </a:p>
          <a:p>
            <a:pPr marL="756285" marR="310515" lvl="1" indent="-287020">
              <a:lnSpc>
                <a:spcPts val="2810"/>
              </a:lnSpc>
              <a:spcBef>
                <a:spcPts val="112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确保需求规格说明文档能正确、准</a:t>
            </a:r>
            <a:r>
              <a:rPr sz="2800" dirty="0">
                <a:latin typeface="宋体"/>
                <a:cs typeface="宋体"/>
              </a:rPr>
              <a:t>确</a:t>
            </a:r>
            <a:r>
              <a:rPr sz="2800" spc="-5" dirty="0">
                <a:latin typeface="宋体"/>
                <a:cs typeface="宋体"/>
              </a:rPr>
              <a:t>的反</a:t>
            </a:r>
            <a:r>
              <a:rPr sz="2800" dirty="0">
                <a:latin typeface="宋体"/>
                <a:cs typeface="宋体"/>
              </a:rPr>
              <a:t>映</a:t>
            </a:r>
            <a:r>
              <a:rPr sz="2800" spc="-5" dirty="0">
                <a:latin typeface="宋体"/>
                <a:cs typeface="宋体"/>
              </a:rPr>
              <a:t>用 户的意图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34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确保文档的高质量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文档内每条需求都正确、准确的反映了用户的意图；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文档记录的需求集在整体上具有完整性和一致性；</a:t>
            </a:r>
            <a:endParaRPr sz="2400">
              <a:latin typeface="宋体"/>
              <a:cs typeface="宋体"/>
            </a:endParaRPr>
          </a:p>
          <a:p>
            <a:pPr marL="1155700" marR="309880" lvl="2" indent="-228600">
              <a:lnSpc>
                <a:spcPts val="2410"/>
              </a:lnSpc>
              <a:spcBef>
                <a:spcPts val="94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宋体"/>
                <a:cs typeface="宋体"/>
              </a:rPr>
              <a:t>文档的组织方式和需求的书写方式具有可读性和可 </a:t>
            </a:r>
            <a:r>
              <a:rPr sz="2400" spc="-5" dirty="0">
                <a:latin typeface="宋体"/>
                <a:cs typeface="宋体"/>
              </a:rPr>
              <a:t>修改性</a:t>
            </a:r>
            <a:endParaRPr sz="24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123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需求验证子活动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101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执行验证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问题修正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37773"/>
            <a:ext cx="7922895" cy="49428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457200" marR="5816600" indent="-457200" algn="r">
              <a:lnSpc>
                <a:spcPct val="100000"/>
              </a:lnSpc>
              <a:spcBef>
                <a:spcPts val="7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57200" algn="l"/>
                <a:tab pos="457834" algn="l"/>
              </a:tabLst>
            </a:pPr>
            <a:r>
              <a:rPr sz="3200" dirty="0">
                <a:latin typeface="宋体"/>
                <a:cs typeface="宋体"/>
              </a:rPr>
              <a:t>常用手段</a:t>
            </a:r>
            <a:endParaRPr sz="3200">
              <a:latin typeface="宋体"/>
              <a:cs typeface="宋体"/>
            </a:endParaRPr>
          </a:p>
          <a:p>
            <a:pPr marL="286385" marR="5738495" lvl="1" indent="-286385" algn="r">
              <a:lnSpc>
                <a:spcPts val="3345"/>
              </a:lnSpc>
              <a:spcBef>
                <a:spcPts val="57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286385" algn="l"/>
                <a:tab pos="287020" algn="l"/>
              </a:tabLst>
            </a:pPr>
            <a:r>
              <a:rPr sz="2800" spc="-5" dirty="0">
                <a:latin typeface="宋体"/>
                <a:cs typeface="宋体"/>
              </a:rPr>
              <a:t>人工审查</a:t>
            </a:r>
            <a:endParaRPr sz="2800">
              <a:latin typeface="宋体"/>
              <a:cs typeface="宋体"/>
            </a:endParaRPr>
          </a:p>
          <a:p>
            <a:pPr marL="1172210" marR="5080" lvl="2" indent="-228600">
              <a:lnSpc>
                <a:spcPts val="2400"/>
              </a:lnSpc>
              <a:spcBef>
                <a:spcPts val="65"/>
              </a:spcBef>
              <a:buFont typeface="Arial"/>
              <a:buChar char="•"/>
              <a:tabLst>
                <a:tab pos="1172210" algn="l"/>
                <a:tab pos="1172845" algn="l"/>
              </a:tabLst>
            </a:pPr>
            <a:r>
              <a:rPr sz="2000" dirty="0">
                <a:latin typeface="宋体"/>
                <a:cs typeface="宋体"/>
              </a:rPr>
              <a:t>由一组专家完成，通过</a:t>
            </a:r>
            <a:r>
              <a:rPr sz="2000" spc="-15" dirty="0">
                <a:latin typeface="宋体"/>
                <a:cs typeface="宋体"/>
              </a:rPr>
              <a:t>阅</a:t>
            </a:r>
            <a:r>
              <a:rPr sz="2000" dirty="0">
                <a:latin typeface="宋体"/>
                <a:cs typeface="宋体"/>
              </a:rPr>
              <a:t>读和</a:t>
            </a:r>
            <a:r>
              <a:rPr sz="2000" spc="-15" dirty="0">
                <a:latin typeface="宋体"/>
                <a:cs typeface="宋体"/>
              </a:rPr>
              <a:t>分</a:t>
            </a:r>
            <a:r>
              <a:rPr sz="2000" dirty="0">
                <a:latin typeface="宋体"/>
                <a:cs typeface="宋体"/>
              </a:rPr>
              <a:t>析需</a:t>
            </a:r>
            <a:r>
              <a:rPr sz="2000" spc="-15" dirty="0">
                <a:latin typeface="宋体"/>
                <a:cs typeface="宋体"/>
              </a:rPr>
              <a:t>求</a:t>
            </a:r>
            <a:r>
              <a:rPr sz="2000" dirty="0">
                <a:latin typeface="宋体"/>
                <a:cs typeface="宋体"/>
              </a:rPr>
              <a:t>文档</a:t>
            </a:r>
            <a:r>
              <a:rPr sz="2000" spc="-15" dirty="0">
                <a:latin typeface="宋体"/>
                <a:cs typeface="宋体"/>
              </a:rPr>
              <a:t>寻</a:t>
            </a:r>
            <a:r>
              <a:rPr sz="2000" dirty="0">
                <a:latin typeface="宋体"/>
                <a:cs typeface="宋体"/>
              </a:rPr>
              <a:t>找问</a:t>
            </a:r>
            <a:r>
              <a:rPr sz="2000" spc="-5" dirty="0">
                <a:latin typeface="宋体"/>
                <a:cs typeface="宋体"/>
              </a:rPr>
              <a:t>题</a:t>
            </a:r>
            <a:r>
              <a:rPr sz="2000" spc="5" dirty="0">
                <a:latin typeface="宋体"/>
                <a:cs typeface="宋体"/>
              </a:rPr>
              <a:t>,</a:t>
            </a:r>
            <a:r>
              <a:rPr sz="2000" spc="-15" dirty="0">
                <a:latin typeface="宋体"/>
                <a:cs typeface="宋体"/>
              </a:rPr>
              <a:t>并</a:t>
            </a:r>
            <a:r>
              <a:rPr sz="2000" dirty="0">
                <a:latin typeface="宋体"/>
                <a:cs typeface="宋体"/>
              </a:rPr>
              <a:t>开会 讨论就如何解决这些问</a:t>
            </a:r>
            <a:r>
              <a:rPr sz="2000" spc="-15" dirty="0">
                <a:latin typeface="宋体"/>
                <a:cs typeface="宋体"/>
              </a:rPr>
              <a:t>题</a:t>
            </a:r>
            <a:r>
              <a:rPr sz="2000" dirty="0">
                <a:latin typeface="宋体"/>
                <a:cs typeface="宋体"/>
              </a:rPr>
              <a:t>达成</a:t>
            </a:r>
            <a:r>
              <a:rPr sz="2000" spc="-15" dirty="0">
                <a:latin typeface="宋体"/>
                <a:cs typeface="宋体"/>
              </a:rPr>
              <a:t>一</a:t>
            </a:r>
            <a:r>
              <a:rPr sz="2000" dirty="0">
                <a:latin typeface="宋体"/>
                <a:cs typeface="宋体"/>
              </a:rPr>
              <a:t>致意</a:t>
            </a:r>
            <a:r>
              <a:rPr sz="2000" spc="-15" dirty="0">
                <a:latin typeface="宋体"/>
                <a:cs typeface="宋体"/>
              </a:rPr>
              <a:t>见</a:t>
            </a:r>
            <a:r>
              <a:rPr sz="2000" dirty="0">
                <a:latin typeface="宋体"/>
                <a:cs typeface="宋体"/>
              </a:rPr>
              <a:t>。包</a:t>
            </a:r>
            <a:r>
              <a:rPr sz="2000" spc="-15" dirty="0">
                <a:latin typeface="宋体"/>
                <a:cs typeface="宋体"/>
              </a:rPr>
              <a:t>括</a:t>
            </a:r>
            <a:r>
              <a:rPr sz="2000" dirty="0">
                <a:latin typeface="宋体"/>
                <a:cs typeface="宋体"/>
              </a:rPr>
              <a:t>以下</a:t>
            </a:r>
            <a:r>
              <a:rPr sz="2000" spc="-15" dirty="0">
                <a:latin typeface="宋体"/>
                <a:cs typeface="宋体"/>
              </a:rPr>
              <a:t>步</a:t>
            </a:r>
            <a:r>
              <a:rPr sz="2000" dirty="0">
                <a:latin typeface="宋体"/>
                <a:cs typeface="宋体"/>
              </a:rPr>
              <a:t>骤：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ts val="2320"/>
              </a:lnSpc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审查计划，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文档分发，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ct val="100000"/>
              </a:lnSpc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审查准备，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ct val="100000"/>
              </a:lnSpc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举行审查会，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ct val="100000"/>
              </a:lnSpc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需求获取，</a:t>
            </a:r>
            <a:endParaRPr sz="2000">
              <a:latin typeface="宋体"/>
              <a:cs typeface="宋体"/>
            </a:endParaRPr>
          </a:p>
          <a:p>
            <a:pPr marL="1629410" lvl="3" indent="-229235">
              <a:lnSpc>
                <a:spcPct val="100000"/>
              </a:lnSpc>
              <a:buFont typeface="Arial"/>
              <a:buChar char="–"/>
              <a:tabLst>
                <a:tab pos="1630045" algn="l"/>
              </a:tabLst>
            </a:pPr>
            <a:r>
              <a:rPr sz="2000" dirty="0">
                <a:latin typeface="宋体"/>
                <a:cs typeface="宋体"/>
              </a:rPr>
              <a:t>文档修改。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6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原型法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模型验证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需求测试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987" y="1033399"/>
            <a:ext cx="19837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3200" spc="-300" dirty="0">
                <a:latin typeface="宋体"/>
                <a:cs typeface="宋体"/>
              </a:rPr>
              <a:t>人工审查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3855" y="1502664"/>
            <a:ext cx="6876288" cy="433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6786"/>
            <a:ext cx="8232140" cy="484251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4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需求管理（管理活动）</a:t>
            </a:r>
            <a:endParaRPr sz="3200">
              <a:latin typeface="宋体"/>
              <a:cs typeface="宋体"/>
            </a:endParaRPr>
          </a:p>
          <a:p>
            <a:pPr marL="756285" marR="363220" lvl="1" indent="-287020">
              <a:lnSpc>
                <a:spcPts val="3140"/>
              </a:lnSpc>
              <a:spcBef>
                <a:spcPts val="119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保证需求作用在整个软件的产品生</a:t>
            </a:r>
            <a:r>
              <a:rPr sz="2800" dirty="0">
                <a:latin typeface="宋体"/>
                <a:cs typeface="宋体"/>
              </a:rPr>
              <a:t>命</a:t>
            </a:r>
            <a:r>
              <a:rPr sz="2800" spc="-5" dirty="0">
                <a:latin typeface="宋体"/>
                <a:cs typeface="宋体"/>
              </a:rPr>
              <a:t>周期</a:t>
            </a:r>
            <a:r>
              <a:rPr sz="2800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spc="-10" dirty="0">
                <a:latin typeface="宋体"/>
                <a:cs typeface="宋体"/>
              </a:rPr>
              <a:t>持续、稳定和有效发挥</a:t>
            </a:r>
            <a:endParaRPr sz="2800">
              <a:latin typeface="宋体"/>
              <a:cs typeface="宋体"/>
            </a:endParaRPr>
          </a:p>
          <a:p>
            <a:pPr marL="756285" marR="274320" lvl="1" indent="-28702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需求变化是不可避免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" dirty="0">
                <a:latin typeface="宋体"/>
                <a:cs typeface="宋体"/>
              </a:rPr>
              <a:t>一般通过</a:t>
            </a:r>
            <a:r>
              <a:rPr sz="2800" dirty="0">
                <a:latin typeface="宋体"/>
                <a:cs typeface="宋体"/>
              </a:rPr>
              <a:t>需</a:t>
            </a:r>
            <a:r>
              <a:rPr sz="2800" spc="-5" dirty="0">
                <a:latin typeface="宋体"/>
                <a:cs typeface="宋体"/>
              </a:rPr>
              <a:t>求变</a:t>
            </a:r>
            <a:r>
              <a:rPr sz="2800" dirty="0">
                <a:latin typeface="宋体"/>
                <a:cs typeface="宋体"/>
              </a:rPr>
              <a:t>更</a:t>
            </a:r>
            <a:r>
              <a:rPr sz="2800" spc="-5" dirty="0">
                <a:latin typeface="宋体"/>
                <a:cs typeface="宋体"/>
              </a:rPr>
              <a:t>管理 来控制影响</a:t>
            </a:r>
            <a:endParaRPr sz="280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229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需求管理子活动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建立和维护需求基线集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建立需求跟踪信息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进行变</a:t>
            </a:r>
            <a:r>
              <a:rPr sz="2800" dirty="0">
                <a:latin typeface="宋体"/>
                <a:cs typeface="宋体"/>
              </a:rPr>
              <a:t>更</a:t>
            </a:r>
            <a:r>
              <a:rPr sz="2800" spc="-5" dirty="0">
                <a:latin typeface="宋体"/>
                <a:cs typeface="宋体"/>
              </a:rPr>
              <a:t>控制（</a:t>
            </a:r>
            <a:r>
              <a:rPr sz="2800" dirty="0">
                <a:latin typeface="宋体"/>
                <a:cs typeface="宋体"/>
              </a:rPr>
              <a:t>纳</a:t>
            </a:r>
            <a:r>
              <a:rPr sz="2800" spc="-5" dirty="0">
                <a:latin typeface="宋体"/>
                <a:cs typeface="宋体"/>
              </a:rPr>
              <a:t>入和拒</a:t>
            </a:r>
            <a:r>
              <a:rPr sz="2800" dirty="0">
                <a:latin typeface="宋体"/>
                <a:cs typeface="宋体"/>
              </a:rPr>
              <a:t>绝</a:t>
            </a:r>
            <a:r>
              <a:rPr sz="2800" spc="-5" dirty="0">
                <a:latin typeface="宋体"/>
                <a:cs typeface="宋体"/>
              </a:rPr>
              <a:t>、陈本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5" dirty="0">
                <a:latin typeface="宋体"/>
                <a:cs typeface="宋体"/>
              </a:rPr>
              <a:t>影响范</a:t>
            </a:r>
            <a:r>
              <a:rPr sz="2800" dirty="0">
                <a:latin typeface="宋体"/>
                <a:cs typeface="宋体"/>
              </a:rPr>
              <a:t>围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8221"/>
            <a:ext cx="7971790" cy="44704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宋体"/>
                <a:cs typeface="宋体"/>
              </a:rPr>
              <a:t>需求变化溯源</a:t>
            </a:r>
            <a:endParaRPr sz="32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外部原因</a:t>
            </a:r>
            <a:endParaRPr sz="2800">
              <a:latin typeface="宋体"/>
              <a:cs typeface="宋体"/>
            </a:endParaRPr>
          </a:p>
          <a:p>
            <a:pPr marL="948690" indent="-457200">
              <a:lnSpc>
                <a:spcPct val="100000"/>
              </a:lnSpc>
              <a:spcBef>
                <a:spcPts val="195"/>
              </a:spcBef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spc="-5" dirty="0">
                <a:latin typeface="宋体"/>
                <a:cs typeface="宋体"/>
              </a:rPr>
              <a:t>问题本身发生了变化。</a:t>
            </a:r>
            <a:endParaRPr sz="2400">
              <a:latin typeface="宋体"/>
              <a:cs typeface="宋体"/>
            </a:endParaRPr>
          </a:p>
          <a:p>
            <a:pPr marL="948690" indent="-457200">
              <a:lnSpc>
                <a:spcPct val="100000"/>
              </a:lnSpc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dirty="0">
                <a:latin typeface="宋体"/>
                <a:cs typeface="宋体"/>
              </a:rPr>
              <a:t>需求干系人的意图发生了变化。</a:t>
            </a:r>
            <a:endParaRPr sz="2400">
              <a:latin typeface="宋体"/>
              <a:cs typeface="宋体"/>
            </a:endParaRPr>
          </a:p>
          <a:p>
            <a:pPr marL="948690" indent="-457200">
              <a:lnSpc>
                <a:spcPct val="100000"/>
              </a:lnSpc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dirty="0">
                <a:latin typeface="宋体"/>
                <a:cs typeface="宋体"/>
              </a:rPr>
              <a:t>外部环境的变化给系统开发带来了新的约束和机会。</a:t>
            </a:r>
            <a:endParaRPr sz="2400">
              <a:latin typeface="宋体"/>
              <a:cs typeface="宋体"/>
            </a:endParaRPr>
          </a:p>
          <a:p>
            <a:pPr marL="948690" indent="-457200">
              <a:lnSpc>
                <a:spcPct val="100000"/>
              </a:lnSpc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dirty="0">
                <a:latin typeface="宋体"/>
                <a:cs typeface="宋体"/>
              </a:rPr>
              <a:t>当前系统的环境中引入其他新系统。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58928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内部原因</a:t>
            </a:r>
            <a:endParaRPr sz="2800">
              <a:latin typeface="宋体"/>
              <a:cs typeface="宋体"/>
            </a:endParaRPr>
          </a:p>
          <a:p>
            <a:pPr marL="948690" lvl="1" indent="-342900">
              <a:lnSpc>
                <a:spcPct val="100000"/>
              </a:lnSpc>
              <a:spcBef>
                <a:spcPts val="195"/>
              </a:spcBef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dirty="0">
                <a:latin typeface="宋体"/>
                <a:cs typeface="宋体"/>
              </a:rPr>
              <a:t>未理解系统的真正需求。</a:t>
            </a:r>
            <a:endParaRPr sz="2400">
              <a:latin typeface="宋体"/>
              <a:cs typeface="宋体"/>
            </a:endParaRPr>
          </a:p>
          <a:p>
            <a:pPr marL="948690" lvl="1" indent="-342900">
              <a:lnSpc>
                <a:spcPct val="100000"/>
              </a:lnSpc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dirty="0">
                <a:latin typeface="宋体"/>
                <a:cs typeface="宋体"/>
              </a:rPr>
              <a:t>未采取有效过程来管理不断出现的需求变化。</a:t>
            </a:r>
            <a:endParaRPr sz="2400">
              <a:latin typeface="宋体"/>
              <a:cs typeface="宋体"/>
            </a:endParaRPr>
          </a:p>
          <a:p>
            <a:pPr marL="948690" lvl="1" indent="-342900">
              <a:lnSpc>
                <a:spcPct val="100000"/>
              </a:lnSpc>
              <a:buSzPct val="79166"/>
              <a:buFont typeface="Wingdings"/>
              <a:buChar char=""/>
              <a:tabLst>
                <a:tab pos="948055" algn="l"/>
                <a:tab pos="948690" algn="l"/>
              </a:tabLst>
            </a:pPr>
            <a:r>
              <a:rPr sz="2400" spc="-5" dirty="0">
                <a:latin typeface="宋体"/>
                <a:cs typeface="宋体"/>
              </a:rPr>
              <a:t>从需求到设计的迭代过程中引出新的需求。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29705"/>
            <a:ext cx="8065770" cy="277241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202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3200" spc="-300" dirty="0">
                <a:latin typeface="宋体"/>
                <a:cs typeface="宋体"/>
              </a:rPr>
              <a:t>需求追踪</a:t>
            </a:r>
            <a:endParaRPr sz="3200">
              <a:latin typeface="宋体"/>
              <a:cs typeface="宋体"/>
            </a:endParaRPr>
          </a:p>
          <a:p>
            <a:pPr marL="74295">
              <a:lnSpc>
                <a:spcPct val="100000"/>
              </a:lnSpc>
              <a:spcBef>
                <a:spcPts val="1255"/>
              </a:spcBef>
            </a:pPr>
            <a:r>
              <a:rPr sz="2100" b="1" spc="225" dirty="0">
                <a:latin typeface="宋体"/>
                <a:cs typeface="宋体"/>
              </a:rPr>
              <a:t>记录不同</a:t>
            </a:r>
            <a:r>
              <a:rPr sz="2100" b="1" spc="215" dirty="0">
                <a:latin typeface="宋体"/>
                <a:cs typeface="宋体"/>
              </a:rPr>
              <a:t>层</a:t>
            </a:r>
            <a:r>
              <a:rPr sz="2100" b="1" spc="225" dirty="0">
                <a:latin typeface="宋体"/>
                <a:cs typeface="宋体"/>
              </a:rPr>
              <a:t>次的需求</a:t>
            </a:r>
            <a:r>
              <a:rPr sz="2100" b="1" spc="215" dirty="0">
                <a:latin typeface="宋体"/>
                <a:cs typeface="宋体"/>
              </a:rPr>
              <a:t>之</a:t>
            </a:r>
            <a:r>
              <a:rPr sz="2100" b="1" spc="225" dirty="0">
                <a:latin typeface="宋体"/>
                <a:cs typeface="宋体"/>
              </a:rPr>
              <a:t>间、需求</a:t>
            </a:r>
            <a:r>
              <a:rPr sz="2100" b="1" spc="215" dirty="0">
                <a:latin typeface="宋体"/>
                <a:cs typeface="宋体"/>
              </a:rPr>
              <a:t>和</a:t>
            </a:r>
            <a:r>
              <a:rPr sz="2100" b="1" spc="225" dirty="0">
                <a:latin typeface="宋体"/>
                <a:cs typeface="宋体"/>
              </a:rPr>
              <a:t>其他要素</a:t>
            </a:r>
            <a:r>
              <a:rPr sz="2100" b="1" spc="215" dirty="0">
                <a:latin typeface="宋体"/>
                <a:cs typeface="宋体"/>
              </a:rPr>
              <a:t>之</a:t>
            </a:r>
            <a:r>
              <a:rPr sz="2100" b="1" spc="225" dirty="0">
                <a:latin typeface="宋体"/>
                <a:cs typeface="宋体"/>
              </a:rPr>
              <a:t>间的依赖</a:t>
            </a:r>
            <a:r>
              <a:rPr sz="2100" b="1" spc="215" dirty="0">
                <a:latin typeface="宋体"/>
                <a:cs typeface="宋体"/>
              </a:rPr>
              <a:t>关</a:t>
            </a:r>
            <a:r>
              <a:rPr sz="2100" b="1" spc="225" dirty="0">
                <a:latin typeface="宋体"/>
                <a:cs typeface="宋体"/>
              </a:rPr>
              <a:t>系</a:t>
            </a:r>
            <a:r>
              <a:rPr sz="2100" b="1" spc="-10" dirty="0">
                <a:latin typeface="宋体"/>
                <a:cs typeface="宋体"/>
              </a:rPr>
              <a:t>。</a:t>
            </a:r>
            <a:endParaRPr sz="2100">
              <a:latin typeface="宋体"/>
              <a:cs typeface="宋体"/>
            </a:endParaRPr>
          </a:p>
          <a:p>
            <a:pPr marL="74295">
              <a:lnSpc>
                <a:spcPct val="100000"/>
              </a:lnSpc>
              <a:spcBef>
                <a:spcPts val="1085"/>
              </a:spcBef>
            </a:pPr>
            <a:r>
              <a:rPr sz="2100" b="1" spc="225" dirty="0">
                <a:latin typeface="宋体"/>
                <a:cs typeface="宋体"/>
              </a:rPr>
              <a:t>目的</a:t>
            </a:r>
            <a:r>
              <a:rPr sz="2100" b="1" spc="-10" dirty="0">
                <a:latin typeface="宋体"/>
                <a:cs typeface="宋体"/>
              </a:rPr>
              <a:t>：</a:t>
            </a:r>
            <a:r>
              <a:rPr sz="2100" b="1" spc="-825" dirty="0">
                <a:latin typeface="宋体"/>
                <a:cs typeface="宋体"/>
              </a:rPr>
              <a:t> </a:t>
            </a:r>
            <a:endParaRPr sz="2100">
              <a:latin typeface="宋体"/>
              <a:cs typeface="宋体"/>
            </a:endParaRPr>
          </a:p>
          <a:p>
            <a:pPr marL="417195" marR="208279" lvl="1" indent="-342900">
              <a:lnSpc>
                <a:spcPct val="130000"/>
              </a:lnSpc>
              <a:spcBef>
                <a:spcPts val="60"/>
              </a:spcBef>
              <a:buAutoNum type="arabicPeriod"/>
              <a:tabLst>
                <a:tab pos="417830" algn="l"/>
              </a:tabLst>
            </a:pPr>
            <a:r>
              <a:rPr sz="1800" dirty="0">
                <a:latin typeface="宋体"/>
                <a:cs typeface="宋体"/>
              </a:rPr>
              <a:t>为开发过程中的两个或多个需求和其他要素建立某种程度上的关</a:t>
            </a:r>
            <a:r>
              <a:rPr sz="1800" spc="5" dirty="0">
                <a:latin typeface="宋体"/>
                <a:cs typeface="宋体"/>
              </a:rPr>
              <a:t>联</a:t>
            </a:r>
            <a:r>
              <a:rPr sz="1800" dirty="0">
                <a:latin typeface="宋体"/>
                <a:cs typeface="宋体"/>
              </a:rPr>
              <a:t>,如因果 关系、主从关系等,用于分析制品变化的影响</a:t>
            </a:r>
            <a:endParaRPr sz="1800">
              <a:latin typeface="宋体"/>
              <a:cs typeface="宋体"/>
            </a:endParaRPr>
          </a:p>
          <a:p>
            <a:pPr marL="417195" lvl="1" indent="-343535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417830" algn="l"/>
              </a:tabLst>
            </a:pPr>
            <a:r>
              <a:rPr sz="1800" dirty="0">
                <a:latin typeface="宋体"/>
                <a:cs typeface="宋体"/>
              </a:rPr>
              <a:t>建立需求和其他要素存在的理由。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1413" y="3920453"/>
            <a:ext cx="7436385" cy="2106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/>
              <a:t>需求工程过程的活动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269239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78813"/>
            <a:ext cx="588581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需求工程过程的活动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需求工程过程的并发和</a:t>
            </a:r>
            <a:r>
              <a:rPr sz="3200" spc="-15" dirty="0">
                <a:solidFill>
                  <a:srgbClr val="F73609"/>
                </a:solidFill>
                <a:latin typeface="宋体"/>
                <a:cs typeface="宋体"/>
              </a:rPr>
              <a:t>迭</a:t>
            </a:r>
            <a:r>
              <a:rPr sz="3200" dirty="0">
                <a:solidFill>
                  <a:srgbClr val="F73609"/>
                </a:solidFill>
                <a:latin typeface="宋体"/>
                <a:cs typeface="宋体"/>
              </a:rPr>
              <a:t>代性</a:t>
            </a:r>
            <a:endParaRPr sz="3200">
              <a:latin typeface="宋体"/>
              <a:cs typeface="宋体"/>
            </a:endParaRPr>
          </a:p>
          <a:p>
            <a:pPr marL="584200" indent="-572135">
              <a:lnSpc>
                <a:spcPct val="100000"/>
              </a:lnSpc>
              <a:buClr>
                <a:srgbClr val="00663B"/>
              </a:buClr>
              <a:buSzPct val="79687"/>
              <a:buFont typeface="Calibri"/>
              <a:buAutoNum type="arabicPeriod"/>
              <a:tabLst>
                <a:tab pos="584200" algn="l"/>
                <a:tab pos="584835" algn="l"/>
              </a:tabLst>
            </a:pPr>
            <a:r>
              <a:rPr sz="3200" dirty="0">
                <a:latin typeface="宋体"/>
                <a:cs typeface="宋体"/>
              </a:rPr>
              <a:t>实践方法的应用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370" y="106807"/>
            <a:ext cx="694499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3.</a:t>
            </a:r>
            <a:r>
              <a:rPr sz="3800" dirty="0"/>
              <a:t>需求工程过程的并发</a:t>
            </a:r>
            <a:r>
              <a:rPr sz="3800" spc="-15" dirty="0"/>
              <a:t>和</a:t>
            </a:r>
            <a:r>
              <a:rPr sz="3800" dirty="0"/>
              <a:t>迭代性</a:t>
            </a:r>
            <a:endParaRPr sz="3800">
              <a:latin typeface="Calibri"/>
              <a:cs typeface="Calibri"/>
            </a:endParaRPr>
          </a:p>
          <a:p>
            <a:pPr marL="652145">
              <a:lnSpc>
                <a:spcPct val="100000"/>
              </a:lnSpc>
            </a:pPr>
            <a:r>
              <a:rPr sz="3800" dirty="0">
                <a:latin typeface="Arial"/>
                <a:cs typeface="Arial"/>
              </a:rPr>
              <a:t>——</a:t>
            </a:r>
            <a:r>
              <a:rPr sz="3800" dirty="0"/>
              <a:t>迭代的需求开发过</a:t>
            </a:r>
            <a:r>
              <a:rPr sz="3800" spc="-15" dirty="0"/>
              <a:t>程</a:t>
            </a:r>
            <a:r>
              <a:rPr sz="3800" dirty="0"/>
              <a:t>模型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7370" y="1537506"/>
            <a:ext cx="7206104" cy="46221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249" y="97612"/>
            <a:ext cx="7234555" cy="1155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5" dirty="0">
                <a:latin typeface="Calibri"/>
                <a:cs typeface="Calibri"/>
              </a:rPr>
              <a:t>3.</a:t>
            </a:r>
            <a:r>
              <a:rPr sz="3800" dirty="0"/>
              <a:t>需求工程过程的并发</a:t>
            </a:r>
            <a:r>
              <a:rPr sz="3800" spc="-10" dirty="0"/>
              <a:t>和</a:t>
            </a:r>
            <a:r>
              <a:rPr sz="3800" dirty="0"/>
              <a:t>迭代性</a:t>
            </a:r>
            <a:endParaRPr sz="3800">
              <a:latin typeface="Calibri"/>
              <a:cs typeface="Calibri"/>
            </a:endParaRPr>
          </a:p>
          <a:p>
            <a:pPr marL="363220">
              <a:lnSpc>
                <a:spcPct val="100000"/>
              </a:lnSpc>
              <a:spcBef>
                <a:spcPts val="10"/>
              </a:spcBef>
            </a:pPr>
            <a:r>
              <a:rPr sz="3600" dirty="0">
                <a:latin typeface="Arial"/>
                <a:cs typeface="Arial"/>
              </a:rPr>
              <a:t>——</a:t>
            </a:r>
            <a:r>
              <a:rPr sz="3600" dirty="0"/>
              <a:t>需求开发中的分析模型复杂度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976" y="1721336"/>
            <a:ext cx="4339209" cy="29165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03419" y="2653665"/>
            <a:ext cx="3683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513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理论上随着时间的延伸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dirty="0">
                <a:latin typeface="宋体"/>
                <a:cs typeface="宋体"/>
              </a:rPr>
              <a:t>获取的内 容逐渐积累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dirty="0">
                <a:latin typeface="宋体"/>
                <a:cs typeface="宋体"/>
              </a:rPr>
              <a:t>需求分析模型的复杂 度应是线性上升的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dirty="0">
                <a:latin typeface="宋体"/>
                <a:cs typeface="宋体"/>
              </a:rPr>
              <a:t>可事实上却在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总体上升趋势中伴随着间歇性下降。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400" y="5059171"/>
            <a:ext cx="778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实际的需求开发过程应该</a:t>
            </a:r>
            <a:r>
              <a:rPr sz="1800" spc="5" dirty="0">
                <a:latin typeface="宋体"/>
                <a:cs typeface="宋体"/>
              </a:rPr>
              <a:t>是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“获取、分析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重构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再获取、分析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再重构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…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”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370" y="208864"/>
            <a:ext cx="6704330" cy="1185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7465" algn="r">
              <a:lnSpc>
                <a:spcPct val="100000"/>
              </a:lnSpc>
              <a:spcBef>
                <a:spcPts val="105"/>
              </a:spcBef>
            </a:pPr>
            <a:r>
              <a:rPr sz="3800" dirty="0">
                <a:latin typeface="Calibri"/>
                <a:cs typeface="Calibri"/>
              </a:rPr>
              <a:t>3</a:t>
            </a:r>
            <a:r>
              <a:rPr sz="3800" spc="-5" dirty="0">
                <a:latin typeface="Calibri"/>
                <a:cs typeface="Calibri"/>
              </a:rPr>
              <a:t>.</a:t>
            </a:r>
            <a:r>
              <a:rPr sz="3800" dirty="0"/>
              <a:t>需求工程过程的并发</a:t>
            </a:r>
            <a:r>
              <a:rPr sz="3800" spc="-10" dirty="0"/>
              <a:t>和</a:t>
            </a:r>
            <a:r>
              <a:rPr sz="3800" dirty="0"/>
              <a:t>迭代性</a:t>
            </a:r>
            <a:endParaRPr sz="3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3800" dirty="0">
                <a:latin typeface="Arial"/>
                <a:cs typeface="Arial"/>
              </a:rPr>
              <a:t>——</a:t>
            </a:r>
            <a:r>
              <a:rPr sz="3800" dirty="0"/>
              <a:t>需求开发活动的并</a:t>
            </a:r>
            <a:r>
              <a:rPr sz="3800" spc="-15" dirty="0"/>
              <a:t>发</a:t>
            </a:r>
            <a:r>
              <a:rPr sz="3800" dirty="0"/>
              <a:t>性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336" y="1538552"/>
            <a:ext cx="7966363" cy="4690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5661" y="5906261"/>
            <a:ext cx="617220" cy="335280"/>
          </a:xfrm>
          <a:custGeom>
            <a:avLst/>
            <a:gdLst/>
            <a:ahLst/>
            <a:cxnLst/>
            <a:rect l="l" t="t" r="r" b="b"/>
            <a:pathLst>
              <a:path w="617220" h="335279">
                <a:moveTo>
                  <a:pt x="561339" y="0"/>
                </a:moveTo>
                <a:lnTo>
                  <a:pt x="55879" y="0"/>
                </a:lnTo>
                <a:lnTo>
                  <a:pt x="34129" y="4391"/>
                </a:lnTo>
                <a:lnTo>
                  <a:pt x="16367" y="16367"/>
                </a:lnTo>
                <a:lnTo>
                  <a:pt x="4391" y="34129"/>
                </a:lnTo>
                <a:lnTo>
                  <a:pt x="0" y="55879"/>
                </a:lnTo>
                <a:lnTo>
                  <a:pt x="0" y="279400"/>
                </a:lnTo>
                <a:lnTo>
                  <a:pt x="4391" y="301150"/>
                </a:lnTo>
                <a:lnTo>
                  <a:pt x="16367" y="318912"/>
                </a:lnTo>
                <a:lnTo>
                  <a:pt x="34129" y="330888"/>
                </a:lnTo>
                <a:lnTo>
                  <a:pt x="55879" y="335280"/>
                </a:lnTo>
                <a:lnTo>
                  <a:pt x="561339" y="335280"/>
                </a:lnTo>
                <a:lnTo>
                  <a:pt x="583090" y="330888"/>
                </a:lnTo>
                <a:lnTo>
                  <a:pt x="600852" y="318912"/>
                </a:lnTo>
                <a:lnTo>
                  <a:pt x="612828" y="301150"/>
                </a:lnTo>
                <a:lnTo>
                  <a:pt x="617220" y="279400"/>
                </a:lnTo>
                <a:lnTo>
                  <a:pt x="617220" y="55879"/>
                </a:lnTo>
                <a:lnTo>
                  <a:pt x="612828" y="34129"/>
                </a:lnTo>
                <a:lnTo>
                  <a:pt x="600852" y="16367"/>
                </a:lnTo>
                <a:lnTo>
                  <a:pt x="583090" y="4391"/>
                </a:lnTo>
                <a:lnTo>
                  <a:pt x="5613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5661" y="5906261"/>
            <a:ext cx="617220" cy="335280"/>
          </a:xfrm>
          <a:custGeom>
            <a:avLst/>
            <a:gdLst/>
            <a:ahLst/>
            <a:cxnLst/>
            <a:rect l="l" t="t" r="r" b="b"/>
            <a:pathLst>
              <a:path w="617220" h="335279">
                <a:moveTo>
                  <a:pt x="0" y="55879"/>
                </a:moveTo>
                <a:lnTo>
                  <a:pt x="4391" y="34129"/>
                </a:lnTo>
                <a:lnTo>
                  <a:pt x="16367" y="16367"/>
                </a:lnTo>
                <a:lnTo>
                  <a:pt x="34129" y="4391"/>
                </a:lnTo>
                <a:lnTo>
                  <a:pt x="55879" y="0"/>
                </a:lnTo>
                <a:lnTo>
                  <a:pt x="561339" y="0"/>
                </a:lnTo>
                <a:lnTo>
                  <a:pt x="583090" y="4391"/>
                </a:lnTo>
                <a:lnTo>
                  <a:pt x="600852" y="16367"/>
                </a:lnTo>
                <a:lnTo>
                  <a:pt x="612828" y="34129"/>
                </a:lnTo>
                <a:lnTo>
                  <a:pt x="617220" y="55879"/>
                </a:lnTo>
                <a:lnTo>
                  <a:pt x="617220" y="279400"/>
                </a:lnTo>
                <a:lnTo>
                  <a:pt x="612828" y="301150"/>
                </a:lnTo>
                <a:lnTo>
                  <a:pt x="600852" y="318912"/>
                </a:lnTo>
                <a:lnTo>
                  <a:pt x="583090" y="330888"/>
                </a:lnTo>
                <a:lnTo>
                  <a:pt x="561339" y="335280"/>
                </a:lnTo>
                <a:lnTo>
                  <a:pt x="55879" y="335280"/>
                </a:lnTo>
                <a:lnTo>
                  <a:pt x="34129" y="330888"/>
                </a:lnTo>
                <a:lnTo>
                  <a:pt x="16367" y="318912"/>
                </a:lnTo>
                <a:lnTo>
                  <a:pt x="4391" y="301150"/>
                </a:lnTo>
                <a:lnTo>
                  <a:pt x="0" y="279400"/>
                </a:lnTo>
                <a:lnTo>
                  <a:pt x="0" y="55879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450</Words>
  <Application>Microsoft Office PowerPoint</Application>
  <PresentationFormat>全屏显示(4:3)</PresentationFormat>
  <Paragraphs>190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宋体</vt:lpstr>
      <vt:lpstr>微软雅黑</vt:lpstr>
      <vt:lpstr>Arial</vt:lpstr>
      <vt:lpstr>Calibri</vt:lpstr>
      <vt:lpstr>Times New Roman</vt:lpstr>
      <vt:lpstr>Wingdings</vt:lpstr>
      <vt:lpstr>Office Theme</vt:lpstr>
      <vt:lpstr>主要内容</vt:lpstr>
      <vt:lpstr>1. 需求工程过程</vt:lpstr>
      <vt:lpstr>1. 需求工程过程</vt:lpstr>
      <vt:lpstr>1. 需求工程过程</vt:lpstr>
      <vt:lpstr>需求工程过程与软件开发过程模型</vt:lpstr>
      <vt:lpstr>主要内容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2. 需求工程过程的活动</vt:lpstr>
      <vt:lpstr>主要内容</vt:lpstr>
      <vt:lpstr>3.需求工程过程的并发和迭代性 ——迭代的需求开发过程模型</vt:lpstr>
      <vt:lpstr>3.需求工程过程的并发和迭代性 ——需求开发中的分析模型复杂度</vt:lpstr>
      <vt:lpstr>3.需求工程过程的并发和迭代性 ——需求开发活动的并发性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2024-04-25T08:20:46Z</dcterms:created>
  <dcterms:modified xsi:type="dcterms:W3CDTF">2024-04-25T08:25:58Z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2024-04-25T00:00:00Z</vt:filetime>
  </property>
</Properties>
</file>
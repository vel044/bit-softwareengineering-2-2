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9359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23"/>
                </a:lnTo>
              </a:path>
            </a:pathLst>
          </a:custGeom>
          <a:ln w="12700">
            <a:solidFill>
              <a:srgbClr val="006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0429" y="269239"/>
            <a:ext cx="226314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7524" y="1209294"/>
            <a:ext cx="8108950" cy="438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107" y="6474033"/>
            <a:ext cx="2239645" cy="238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78813"/>
            <a:ext cx="5885815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4200" indent="-572135">
              <a:lnSpc>
                <a:spcPct val="100000"/>
              </a:lnSpc>
              <a:spcBef>
                <a:spcPts val="105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latin typeface="宋体"/>
                <a:cs typeface="宋体"/>
              </a:rPr>
              <a:t>需求工程过程</a:t>
            </a:r>
            <a:endParaRPr sz="3200">
              <a:latin typeface="宋体"/>
              <a:cs typeface="宋体"/>
            </a:endParaRPr>
          </a:p>
          <a:p>
            <a:pPr marL="584200" indent="-572135">
              <a:lnSpc>
                <a:spcPct val="100000"/>
              </a:lnSpc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latin typeface="宋体"/>
                <a:cs typeface="宋体"/>
              </a:rPr>
              <a:t>需求工程过程的活动</a:t>
            </a:r>
            <a:endParaRPr sz="3200">
              <a:latin typeface="宋体"/>
              <a:cs typeface="宋体"/>
            </a:endParaRPr>
          </a:p>
          <a:p>
            <a:pPr marL="584200" indent="-572135">
              <a:lnSpc>
                <a:spcPct val="100000"/>
              </a:lnSpc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solidFill>
                  <a:srgbClr val="F73609"/>
                </a:solidFill>
                <a:latin typeface="宋体"/>
                <a:cs typeface="宋体"/>
              </a:rPr>
              <a:t>需求工程过程的并发和</a:t>
            </a:r>
            <a:r>
              <a:rPr sz="3200" spc="-15" dirty="0">
                <a:solidFill>
                  <a:srgbClr val="F73609"/>
                </a:solidFill>
                <a:latin typeface="宋体"/>
                <a:cs typeface="宋体"/>
              </a:rPr>
              <a:t>迭</a:t>
            </a:r>
            <a:r>
              <a:rPr sz="3200" dirty="0">
                <a:solidFill>
                  <a:srgbClr val="F73609"/>
                </a:solidFill>
                <a:latin typeface="宋体"/>
                <a:cs typeface="宋体"/>
              </a:rPr>
              <a:t>代性</a:t>
            </a:r>
            <a:endParaRPr sz="3200">
              <a:latin typeface="宋体"/>
              <a:cs typeface="宋体"/>
            </a:endParaRPr>
          </a:p>
          <a:p>
            <a:pPr marL="584200" indent="-572135">
              <a:lnSpc>
                <a:spcPct val="100000"/>
              </a:lnSpc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latin typeface="宋体"/>
                <a:cs typeface="宋体"/>
              </a:rPr>
              <a:t>实践方法的应用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240868"/>
            <a:ext cx="8413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需求工程过程与软件开发过程</a:t>
            </a:r>
            <a:r>
              <a:rPr spc="-20" dirty="0"/>
              <a:t>模</a:t>
            </a:r>
            <a:r>
              <a:rPr spc="5" dirty="0"/>
              <a:t>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8267" y="1653435"/>
            <a:ext cx="3585845" cy="221996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055"/>
              </a:spcBef>
              <a:buClr>
                <a:srgbClr val="00663B"/>
              </a:buClr>
              <a:buSzPct val="80000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4000" spc="-5" dirty="0">
                <a:latin typeface="宋体"/>
                <a:cs typeface="宋体"/>
              </a:rPr>
              <a:t>瀑布式模型；</a:t>
            </a:r>
            <a:endParaRPr sz="40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960"/>
              </a:spcBef>
              <a:buClr>
                <a:srgbClr val="00663B"/>
              </a:buClr>
              <a:buSzPct val="80000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4000" spc="-10" dirty="0">
                <a:latin typeface="宋体"/>
                <a:cs typeface="宋体"/>
              </a:rPr>
              <a:t>快速原型模型</a:t>
            </a:r>
            <a:endParaRPr sz="40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965"/>
              </a:spcBef>
              <a:buClr>
                <a:srgbClr val="00663B"/>
              </a:buClr>
              <a:buSzPct val="80000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4000" spc="-5" dirty="0">
                <a:latin typeface="宋体"/>
                <a:cs typeface="宋体"/>
              </a:rPr>
              <a:t>螺旋式模型</a:t>
            </a:r>
            <a:endParaRPr sz="4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3857" y="269239"/>
            <a:ext cx="37973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3.3.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/>
              <a:t>瀑布式模型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144" y="1051099"/>
            <a:ext cx="7437755" cy="298259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335"/>
              </a:spcBef>
            </a:pPr>
            <a:r>
              <a:rPr sz="3200" dirty="0">
                <a:latin typeface="宋体"/>
                <a:cs typeface="宋体"/>
              </a:rPr>
              <a:t>依</a:t>
            </a:r>
            <a:r>
              <a:rPr sz="3200" spc="-5" dirty="0">
                <a:latin typeface="宋体"/>
                <a:cs typeface="宋体"/>
              </a:rPr>
              <a:t>据</a:t>
            </a:r>
            <a:r>
              <a:rPr sz="3200" dirty="0">
                <a:latin typeface="宋体"/>
                <a:cs typeface="宋体"/>
              </a:rPr>
              <a:t>软件生命期而提出</a:t>
            </a:r>
            <a:r>
              <a:rPr sz="3200" spc="-15" dirty="0">
                <a:latin typeface="宋体"/>
                <a:cs typeface="宋体"/>
              </a:rPr>
              <a:t>的</a:t>
            </a:r>
            <a:r>
              <a:rPr sz="3200" dirty="0">
                <a:latin typeface="宋体"/>
                <a:cs typeface="宋体"/>
              </a:rPr>
              <a:t>软件</a:t>
            </a:r>
            <a:r>
              <a:rPr sz="3200" spc="-15" dirty="0">
                <a:latin typeface="宋体"/>
                <a:cs typeface="宋体"/>
              </a:rPr>
              <a:t>开</a:t>
            </a:r>
            <a:r>
              <a:rPr sz="3200" dirty="0">
                <a:latin typeface="宋体"/>
                <a:cs typeface="宋体"/>
              </a:rPr>
              <a:t>发模</a:t>
            </a:r>
            <a:r>
              <a:rPr sz="3200" spc="715" dirty="0">
                <a:latin typeface="宋体"/>
                <a:cs typeface="宋体"/>
              </a:rPr>
              <a:t>型</a:t>
            </a:r>
            <a:r>
              <a:rPr sz="3200" dirty="0">
                <a:latin typeface="宋体"/>
                <a:cs typeface="宋体"/>
              </a:rPr>
              <a:t>， 将软件的开发过程被分</a:t>
            </a:r>
            <a:r>
              <a:rPr sz="3200" spc="-15" dirty="0">
                <a:latin typeface="宋体"/>
                <a:cs typeface="宋体"/>
              </a:rPr>
              <a:t>为</a:t>
            </a:r>
            <a:r>
              <a:rPr sz="3200" dirty="0">
                <a:latin typeface="宋体"/>
                <a:cs typeface="宋体"/>
              </a:rPr>
              <a:t>六个</a:t>
            </a:r>
            <a:r>
              <a:rPr sz="3200" spc="-15" dirty="0">
                <a:latin typeface="宋体"/>
                <a:cs typeface="宋体"/>
              </a:rPr>
              <a:t>阶</a:t>
            </a:r>
            <a:r>
              <a:rPr sz="3200" dirty="0">
                <a:latin typeface="宋体"/>
                <a:cs typeface="宋体"/>
              </a:rPr>
              <a:t>段，</a:t>
            </a:r>
            <a:r>
              <a:rPr sz="3200" spc="-15" dirty="0">
                <a:latin typeface="宋体"/>
                <a:cs typeface="宋体"/>
              </a:rPr>
              <a:t>每</a:t>
            </a:r>
            <a:r>
              <a:rPr sz="3200" spc="5" dirty="0">
                <a:latin typeface="宋体"/>
                <a:cs typeface="宋体"/>
              </a:rPr>
              <a:t>个 </a:t>
            </a:r>
            <a:r>
              <a:rPr sz="3200" dirty="0">
                <a:latin typeface="宋体"/>
                <a:cs typeface="宋体"/>
              </a:rPr>
              <a:t>阶段都有明确的分工和</a:t>
            </a:r>
            <a:r>
              <a:rPr sz="3200" spc="-15" dirty="0">
                <a:latin typeface="宋体"/>
                <a:cs typeface="宋体"/>
              </a:rPr>
              <a:t>任</a:t>
            </a:r>
            <a:r>
              <a:rPr sz="3200" dirty="0">
                <a:latin typeface="宋体"/>
                <a:cs typeface="宋体"/>
              </a:rPr>
              <a:t>务，</a:t>
            </a:r>
            <a:r>
              <a:rPr sz="3200" spc="-15" dirty="0">
                <a:latin typeface="宋体"/>
                <a:cs typeface="宋体"/>
              </a:rPr>
              <a:t>并</a:t>
            </a:r>
            <a:r>
              <a:rPr sz="3200" dirty="0">
                <a:latin typeface="宋体"/>
                <a:cs typeface="宋体"/>
              </a:rPr>
              <a:t>产生</a:t>
            </a:r>
            <a:r>
              <a:rPr sz="3200" spc="-15" dirty="0">
                <a:latin typeface="宋体"/>
                <a:cs typeface="宋体"/>
              </a:rPr>
              <a:t>一</a:t>
            </a:r>
            <a:r>
              <a:rPr sz="3200" dirty="0">
                <a:latin typeface="宋体"/>
                <a:cs typeface="宋体"/>
              </a:rPr>
              <a:t>定 的书面结果。各阶段之</a:t>
            </a:r>
            <a:r>
              <a:rPr sz="3200" spc="-15" dirty="0">
                <a:latin typeface="宋体"/>
                <a:cs typeface="宋体"/>
              </a:rPr>
              <a:t>间</a:t>
            </a:r>
            <a:r>
              <a:rPr sz="3200" dirty="0">
                <a:latin typeface="宋体"/>
                <a:cs typeface="宋体"/>
              </a:rPr>
              <a:t>是紧</a:t>
            </a:r>
            <a:r>
              <a:rPr sz="3200" spc="-15" dirty="0">
                <a:latin typeface="宋体"/>
                <a:cs typeface="宋体"/>
              </a:rPr>
              <a:t>密</a:t>
            </a:r>
            <a:r>
              <a:rPr sz="3200" dirty="0">
                <a:latin typeface="宋体"/>
                <a:cs typeface="宋体"/>
              </a:rPr>
              <a:t>相关</a:t>
            </a:r>
            <a:r>
              <a:rPr sz="3200" spc="-15" dirty="0">
                <a:latin typeface="宋体"/>
                <a:cs typeface="宋体"/>
              </a:rPr>
              <a:t>的</a:t>
            </a:r>
            <a:r>
              <a:rPr sz="3200" dirty="0">
                <a:latin typeface="宋体"/>
                <a:cs typeface="宋体"/>
              </a:rPr>
              <a:t>，  后一阶段的工作是依据</a:t>
            </a:r>
            <a:r>
              <a:rPr sz="3200" spc="-15" dirty="0">
                <a:latin typeface="宋体"/>
                <a:cs typeface="宋体"/>
              </a:rPr>
              <a:t>前</a:t>
            </a:r>
            <a:r>
              <a:rPr sz="3200" dirty="0">
                <a:latin typeface="宋体"/>
                <a:cs typeface="宋体"/>
              </a:rPr>
              <a:t>一阶</a:t>
            </a:r>
            <a:r>
              <a:rPr sz="3200" spc="-15" dirty="0">
                <a:latin typeface="宋体"/>
                <a:cs typeface="宋体"/>
              </a:rPr>
              <a:t>段</a:t>
            </a:r>
            <a:r>
              <a:rPr sz="3200" dirty="0">
                <a:latin typeface="宋体"/>
                <a:cs typeface="宋体"/>
              </a:rPr>
              <a:t>的工</a:t>
            </a:r>
            <a:r>
              <a:rPr sz="3200" spc="-15" dirty="0">
                <a:latin typeface="宋体"/>
                <a:cs typeface="宋体"/>
              </a:rPr>
              <a:t>作</a:t>
            </a:r>
            <a:r>
              <a:rPr sz="3200" spc="5" dirty="0">
                <a:latin typeface="宋体"/>
                <a:cs typeface="宋体"/>
              </a:rPr>
              <a:t>结 </a:t>
            </a:r>
            <a:r>
              <a:rPr sz="3200" dirty="0">
                <a:latin typeface="宋体"/>
                <a:cs typeface="宋体"/>
              </a:rPr>
              <a:t>果而开展的。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2135" y="4976468"/>
            <a:ext cx="1192530" cy="397510"/>
          </a:xfrm>
          <a:custGeom>
            <a:avLst/>
            <a:gdLst/>
            <a:ahLst/>
            <a:cxnLst/>
            <a:rect l="l" t="t" r="r" b="b"/>
            <a:pathLst>
              <a:path w="1192530" h="397510">
                <a:moveTo>
                  <a:pt x="0" y="397152"/>
                </a:moveTo>
                <a:lnTo>
                  <a:pt x="1191904" y="397152"/>
                </a:lnTo>
                <a:lnTo>
                  <a:pt x="1191904" y="0"/>
                </a:lnTo>
                <a:lnTo>
                  <a:pt x="0" y="0"/>
                </a:lnTo>
                <a:lnTo>
                  <a:pt x="0" y="397152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2135" y="4976468"/>
            <a:ext cx="1192530" cy="397510"/>
          </a:xfrm>
          <a:custGeom>
            <a:avLst/>
            <a:gdLst/>
            <a:ahLst/>
            <a:cxnLst/>
            <a:rect l="l" t="t" r="r" b="b"/>
            <a:pathLst>
              <a:path w="1192530" h="397510">
                <a:moveTo>
                  <a:pt x="0" y="397152"/>
                </a:moveTo>
                <a:lnTo>
                  <a:pt x="1191904" y="397152"/>
                </a:lnTo>
                <a:lnTo>
                  <a:pt x="1191904" y="0"/>
                </a:lnTo>
                <a:lnTo>
                  <a:pt x="0" y="0"/>
                </a:lnTo>
                <a:lnTo>
                  <a:pt x="0" y="397152"/>
                </a:lnTo>
                <a:close/>
              </a:path>
            </a:pathLst>
          </a:custGeom>
          <a:ln w="3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2135" y="5030730"/>
            <a:ext cx="1192530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95"/>
              </a:spcBef>
            </a:pPr>
            <a:r>
              <a:rPr sz="1550" spc="-5" dirty="0">
                <a:latin typeface="宋体"/>
                <a:cs typeface="宋体"/>
              </a:rPr>
              <a:t>软件计划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02201" y="4976468"/>
            <a:ext cx="1589405" cy="397510"/>
          </a:xfrm>
          <a:custGeom>
            <a:avLst/>
            <a:gdLst/>
            <a:ahLst/>
            <a:cxnLst/>
            <a:rect l="l" t="t" r="r" b="b"/>
            <a:pathLst>
              <a:path w="1589404" h="397510">
                <a:moveTo>
                  <a:pt x="0" y="397152"/>
                </a:moveTo>
                <a:lnTo>
                  <a:pt x="1589271" y="397152"/>
                </a:lnTo>
                <a:lnTo>
                  <a:pt x="1589271" y="0"/>
                </a:lnTo>
                <a:lnTo>
                  <a:pt x="0" y="0"/>
                </a:lnTo>
                <a:lnTo>
                  <a:pt x="0" y="397152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02201" y="4976468"/>
            <a:ext cx="1589405" cy="397510"/>
          </a:xfrm>
          <a:custGeom>
            <a:avLst/>
            <a:gdLst/>
            <a:ahLst/>
            <a:cxnLst/>
            <a:rect l="l" t="t" r="r" b="b"/>
            <a:pathLst>
              <a:path w="1589404" h="397510">
                <a:moveTo>
                  <a:pt x="0" y="397152"/>
                </a:moveTo>
                <a:lnTo>
                  <a:pt x="1589271" y="397152"/>
                </a:lnTo>
                <a:lnTo>
                  <a:pt x="1589271" y="0"/>
                </a:lnTo>
                <a:lnTo>
                  <a:pt x="0" y="0"/>
                </a:lnTo>
                <a:lnTo>
                  <a:pt x="0" y="397152"/>
                </a:lnTo>
                <a:close/>
              </a:path>
            </a:pathLst>
          </a:custGeom>
          <a:ln w="3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02201" y="5030730"/>
            <a:ext cx="1589405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95"/>
              </a:spcBef>
            </a:pPr>
            <a:r>
              <a:rPr sz="1550" spc="-5" dirty="0">
                <a:latin typeface="宋体"/>
                <a:cs typeface="宋体"/>
              </a:rPr>
              <a:t>需求分析与定义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69549" y="4976468"/>
            <a:ext cx="993775" cy="397510"/>
          </a:xfrm>
          <a:custGeom>
            <a:avLst/>
            <a:gdLst/>
            <a:ahLst/>
            <a:cxnLst/>
            <a:rect l="l" t="t" r="r" b="b"/>
            <a:pathLst>
              <a:path w="993775" h="397510">
                <a:moveTo>
                  <a:pt x="0" y="397152"/>
                </a:moveTo>
                <a:lnTo>
                  <a:pt x="993255" y="397152"/>
                </a:lnTo>
                <a:lnTo>
                  <a:pt x="993255" y="0"/>
                </a:lnTo>
                <a:lnTo>
                  <a:pt x="0" y="0"/>
                </a:lnTo>
                <a:lnTo>
                  <a:pt x="0" y="397152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69549" y="4976468"/>
            <a:ext cx="993775" cy="397510"/>
          </a:xfrm>
          <a:prstGeom prst="rect">
            <a:avLst/>
          </a:prstGeom>
          <a:ln w="3362">
            <a:solidFill>
              <a:srgbClr val="000000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299720">
              <a:lnSpc>
                <a:spcPct val="100000"/>
              </a:lnSpc>
              <a:spcBef>
                <a:spcPts val="520"/>
              </a:spcBef>
            </a:pPr>
            <a:r>
              <a:rPr sz="1550" spc="-5" dirty="0">
                <a:latin typeface="宋体"/>
                <a:cs typeface="宋体"/>
              </a:rPr>
              <a:t>设计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21035" y="4976468"/>
            <a:ext cx="993775" cy="397510"/>
          </a:xfrm>
          <a:custGeom>
            <a:avLst/>
            <a:gdLst/>
            <a:ahLst/>
            <a:cxnLst/>
            <a:rect l="l" t="t" r="r" b="b"/>
            <a:pathLst>
              <a:path w="993775" h="397510">
                <a:moveTo>
                  <a:pt x="0" y="397152"/>
                </a:moveTo>
                <a:lnTo>
                  <a:pt x="993255" y="397152"/>
                </a:lnTo>
                <a:lnTo>
                  <a:pt x="993255" y="0"/>
                </a:lnTo>
                <a:lnTo>
                  <a:pt x="0" y="0"/>
                </a:lnTo>
                <a:lnTo>
                  <a:pt x="0" y="397152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21035" y="4976468"/>
            <a:ext cx="993775" cy="397510"/>
          </a:xfrm>
          <a:custGeom>
            <a:avLst/>
            <a:gdLst/>
            <a:ahLst/>
            <a:cxnLst/>
            <a:rect l="l" t="t" r="r" b="b"/>
            <a:pathLst>
              <a:path w="993775" h="397510">
                <a:moveTo>
                  <a:pt x="0" y="397152"/>
                </a:moveTo>
                <a:lnTo>
                  <a:pt x="993255" y="397152"/>
                </a:lnTo>
                <a:lnTo>
                  <a:pt x="993255" y="0"/>
                </a:lnTo>
                <a:lnTo>
                  <a:pt x="0" y="0"/>
                </a:lnTo>
                <a:lnTo>
                  <a:pt x="0" y="397152"/>
                </a:lnTo>
                <a:close/>
              </a:path>
            </a:pathLst>
          </a:custGeom>
          <a:ln w="3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72521" y="4976468"/>
            <a:ext cx="993775" cy="397510"/>
          </a:xfrm>
          <a:custGeom>
            <a:avLst/>
            <a:gdLst/>
            <a:ahLst/>
            <a:cxnLst/>
            <a:rect l="l" t="t" r="r" b="b"/>
            <a:pathLst>
              <a:path w="993775" h="397510">
                <a:moveTo>
                  <a:pt x="0" y="397152"/>
                </a:moveTo>
                <a:lnTo>
                  <a:pt x="993255" y="397152"/>
                </a:lnTo>
                <a:lnTo>
                  <a:pt x="993255" y="0"/>
                </a:lnTo>
                <a:lnTo>
                  <a:pt x="0" y="0"/>
                </a:lnTo>
                <a:lnTo>
                  <a:pt x="0" y="397152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543910" y="4976468"/>
            <a:ext cx="993775" cy="397510"/>
          </a:xfrm>
          <a:prstGeom prst="rect">
            <a:avLst/>
          </a:prstGeom>
          <a:solidFill>
            <a:srgbClr val="E8EDF7"/>
          </a:solidFill>
          <a:ln w="3362">
            <a:solidFill>
              <a:srgbClr val="000000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299720">
              <a:lnSpc>
                <a:spcPct val="100000"/>
              </a:lnSpc>
              <a:spcBef>
                <a:spcPts val="520"/>
              </a:spcBef>
            </a:pPr>
            <a:r>
              <a:rPr sz="1550" spc="-5" dirty="0">
                <a:latin typeface="宋体"/>
                <a:cs typeface="宋体"/>
              </a:rPr>
              <a:t>维护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24040" y="5175030"/>
            <a:ext cx="193040" cy="0"/>
          </a:xfrm>
          <a:custGeom>
            <a:avLst/>
            <a:gdLst/>
            <a:ahLst/>
            <a:cxnLst/>
            <a:rect l="l" t="t" r="r" b="b"/>
            <a:pathLst>
              <a:path w="193039">
                <a:moveTo>
                  <a:pt x="0" y="0"/>
                </a:moveTo>
                <a:lnTo>
                  <a:pt x="192943" y="0"/>
                </a:lnTo>
              </a:path>
            </a:pathLst>
          </a:custGeom>
          <a:ln w="19615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92273" y="5120108"/>
            <a:ext cx="110489" cy="109855"/>
          </a:xfrm>
          <a:custGeom>
            <a:avLst/>
            <a:gdLst/>
            <a:ahLst/>
            <a:cxnLst/>
            <a:rect l="l" t="t" r="r" b="b"/>
            <a:pathLst>
              <a:path w="110489" h="109854">
                <a:moveTo>
                  <a:pt x="0" y="0"/>
                </a:moveTo>
                <a:lnTo>
                  <a:pt x="9728" y="26890"/>
                </a:lnTo>
                <a:lnTo>
                  <a:pt x="12971" y="54927"/>
                </a:lnTo>
                <a:lnTo>
                  <a:pt x="9728" y="82962"/>
                </a:lnTo>
                <a:lnTo>
                  <a:pt x="0" y="109845"/>
                </a:lnTo>
                <a:lnTo>
                  <a:pt x="22791" y="87863"/>
                </a:lnTo>
                <a:lnTo>
                  <a:pt x="49302" y="71092"/>
                </a:lnTo>
                <a:lnTo>
                  <a:pt x="78644" y="59967"/>
                </a:lnTo>
                <a:lnTo>
                  <a:pt x="109927" y="54922"/>
                </a:lnTo>
                <a:lnTo>
                  <a:pt x="78644" y="49885"/>
                </a:lnTo>
                <a:lnTo>
                  <a:pt x="49302" y="38762"/>
                </a:lnTo>
                <a:lnTo>
                  <a:pt x="22791" y="21989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91332" y="5175030"/>
            <a:ext cx="193040" cy="0"/>
          </a:xfrm>
          <a:custGeom>
            <a:avLst/>
            <a:gdLst/>
            <a:ahLst/>
            <a:cxnLst/>
            <a:rect l="l" t="t" r="r" b="b"/>
            <a:pathLst>
              <a:path w="193039">
                <a:moveTo>
                  <a:pt x="0" y="0"/>
                </a:moveTo>
                <a:lnTo>
                  <a:pt x="192999" y="0"/>
                </a:lnTo>
              </a:path>
            </a:pathLst>
          </a:custGeom>
          <a:ln w="19615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59663" y="5120108"/>
            <a:ext cx="110489" cy="109855"/>
          </a:xfrm>
          <a:custGeom>
            <a:avLst/>
            <a:gdLst/>
            <a:ahLst/>
            <a:cxnLst/>
            <a:rect l="l" t="t" r="r" b="b"/>
            <a:pathLst>
              <a:path w="110489" h="109854">
                <a:moveTo>
                  <a:pt x="0" y="0"/>
                </a:moveTo>
                <a:lnTo>
                  <a:pt x="9697" y="26890"/>
                </a:lnTo>
                <a:lnTo>
                  <a:pt x="12929" y="54927"/>
                </a:lnTo>
                <a:lnTo>
                  <a:pt x="9697" y="82962"/>
                </a:lnTo>
                <a:lnTo>
                  <a:pt x="0" y="109845"/>
                </a:lnTo>
                <a:lnTo>
                  <a:pt x="22747" y="87863"/>
                </a:lnTo>
                <a:lnTo>
                  <a:pt x="49213" y="71092"/>
                </a:lnTo>
                <a:lnTo>
                  <a:pt x="78544" y="59967"/>
                </a:lnTo>
                <a:lnTo>
                  <a:pt x="109885" y="54922"/>
                </a:lnTo>
                <a:lnTo>
                  <a:pt x="78544" y="49885"/>
                </a:lnTo>
                <a:lnTo>
                  <a:pt x="49213" y="38762"/>
                </a:lnTo>
                <a:lnTo>
                  <a:pt x="22747" y="21989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62720" y="5175030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4">
                <a:moveTo>
                  <a:pt x="0" y="0"/>
                </a:moveTo>
                <a:lnTo>
                  <a:pt x="173097" y="0"/>
                </a:lnTo>
              </a:path>
            </a:pathLst>
          </a:custGeom>
          <a:ln w="19615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11150" y="5120108"/>
            <a:ext cx="110489" cy="109855"/>
          </a:xfrm>
          <a:custGeom>
            <a:avLst/>
            <a:gdLst/>
            <a:ahLst/>
            <a:cxnLst/>
            <a:rect l="l" t="t" r="r" b="b"/>
            <a:pathLst>
              <a:path w="110489" h="109854">
                <a:moveTo>
                  <a:pt x="0" y="0"/>
                </a:moveTo>
                <a:lnTo>
                  <a:pt x="9697" y="26890"/>
                </a:lnTo>
                <a:lnTo>
                  <a:pt x="12929" y="54927"/>
                </a:lnTo>
                <a:lnTo>
                  <a:pt x="9697" y="82962"/>
                </a:lnTo>
                <a:lnTo>
                  <a:pt x="0" y="109845"/>
                </a:lnTo>
                <a:lnTo>
                  <a:pt x="22767" y="87863"/>
                </a:lnTo>
                <a:lnTo>
                  <a:pt x="49266" y="71092"/>
                </a:lnTo>
                <a:lnTo>
                  <a:pt x="78603" y="59967"/>
                </a:lnTo>
                <a:lnTo>
                  <a:pt x="109885" y="54922"/>
                </a:lnTo>
                <a:lnTo>
                  <a:pt x="78603" y="49885"/>
                </a:lnTo>
                <a:lnTo>
                  <a:pt x="49266" y="38762"/>
                </a:lnTo>
                <a:lnTo>
                  <a:pt x="22767" y="21989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14207" y="5175030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4">
                <a:moveTo>
                  <a:pt x="0" y="0"/>
                </a:moveTo>
                <a:lnTo>
                  <a:pt x="173097" y="0"/>
                </a:lnTo>
              </a:path>
            </a:pathLst>
          </a:custGeom>
          <a:ln w="19615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62636" y="5120108"/>
            <a:ext cx="110489" cy="109855"/>
          </a:xfrm>
          <a:custGeom>
            <a:avLst/>
            <a:gdLst/>
            <a:ahLst/>
            <a:cxnLst/>
            <a:rect l="l" t="t" r="r" b="b"/>
            <a:pathLst>
              <a:path w="110489" h="109854">
                <a:moveTo>
                  <a:pt x="0" y="0"/>
                </a:moveTo>
                <a:lnTo>
                  <a:pt x="9697" y="26890"/>
                </a:lnTo>
                <a:lnTo>
                  <a:pt x="12929" y="54927"/>
                </a:lnTo>
                <a:lnTo>
                  <a:pt x="9697" y="82962"/>
                </a:lnTo>
                <a:lnTo>
                  <a:pt x="0" y="109845"/>
                </a:lnTo>
                <a:lnTo>
                  <a:pt x="22767" y="87863"/>
                </a:lnTo>
                <a:lnTo>
                  <a:pt x="49266" y="71092"/>
                </a:lnTo>
                <a:lnTo>
                  <a:pt x="78603" y="59967"/>
                </a:lnTo>
                <a:lnTo>
                  <a:pt x="109885" y="54922"/>
                </a:lnTo>
                <a:lnTo>
                  <a:pt x="78603" y="49885"/>
                </a:lnTo>
                <a:lnTo>
                  <a:pt x="49266" y="38762"/>
                </a:lnTo>
                <a:lnTo>
                  <a:pt x="22767" y="21989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34025" y="5120108"/>
            <a:ext cx="110489" cy="109855"/>
          </a:xfrm>
          <a:custGeom>
            <a:avLst/>
            <a:gdLst/>
            <a:ahLst/>
            <a:cxnLst/>
            <a:rect l="l" t="t" r="r" b="b"/>
            <a:pathLst>
              <a:path w="110490" h="109854">
                <a:moveTo>
                  <a:pt x="0" y="0"/>
                </a:moveTo>
                <a:lnTo>
                  <a:pt x="9697" y="26890"/>
                </a:lnTo>
                <a:lnTo>
                  <a:pt x="12929" y="54927"/>
                </a:lnTo>
                <a:lnTo>
                  <a:pt x="9697" y="82962"/>
                </a:lnTo>
                <a:lnTo>
                  <a:pt x="0" y="109845"/>
                </a:lnTo>
                <a:lnTo>
                  <a:pt x="22767" y="87863"/>
                </a:lnTo>
                <a:lnTo>
                  <a:pt x="49266" y="71092"/>
                </a:lnTo>
                <a:lnTo>
                  <a:pt x="78603" y="59967"/>
                </a:lnTo>
                <a:lnTo>
                  <a:pt x="109885" y="54922"/>
                </a:lnTo>
                <a:lnTo>
                  <a:pt x="78603" y="49885"/>
                </a:lnTo>
                <a:lnTo>
                  <a:pt x="49266" y="38762"/>
                </a:lnTo>
                <a:lnTo>
                  <a:pt x="22767" y="21989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96766" y="4433659"/>
            <a:ext cx="1357630" cy="542925"/>
          </a:xfrm>
          <a:custGeom>
            <a:avLst/>
            <a:gdLst/>
            <a:ahLst/>
            <a:cxnLst/>
            <a:rect l="l" t="t" r="r" b="b"/>
            <a:pathLst>
              <a:path w="1357629" h="542925">
                <a:moveTo>
                  <a:pt x="1357446" y="542795"/>
                </a:moveTo>
                <a:lnTo>
                  <a:pt x="1357446" y="0"/>
                </a:lnTo>
                <a:lnTo>
                  <a:pt x="0" y="0"/>
                </a:lnTo>
                <a:lnTo>
                  <a:pt x="0" y="459654"/>
                </a:lnTo>
              </a:path>
            </a:pathLst>
          </a:custGeom>
          <a:ln w="19616">
            <a:solidFill>
              <a:srgbClr val="4677B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641824" y="4866609"/>
            <a:ext cx="109885" cy="1098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396623" y="4866609"/>
            <a:ext cx="109885" cy="1098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96766" y="5373620"/>
            <a:ext cx="5344160" cy="556260"/>
          </a:xfrm>
          <a:custGeom>
            <a:avLst/>
            <a:gdLst/>
            <a:ahLst/>
            <a:cxnLst/>
            <a:rect l="l" t="t" r="r" b="b"/>
            <a:pathLst>
              <a:path w="5344159" h="556260">
                <a:moveTo>
                  <a:pt x="5343729" y="0"/>
                </a:moveTo>
                <a:lnTo>
                  <a:pt x="5343729" y="556021"/>
                </a:lnTo>
                <a:lnTo>
                  <a:pt x="0" y="556021"/>
                </a:lnTo>
                <a:lnTo>
                  <a:pt x="0" y="83140"/>
                </a:lnTo>
              </a:path>
            </a:pathLst>
          </a:custGeom>
          <a:ln w="19615">
            <a:solidFill>
              <a:srgbClr val="4677B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641824" y="5373620"/>
            <a:ext cx="109885" cy="1098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761118" y="5456747"/>
            <a:ext cx="6985" cy="441325"/>
          </a:xfrm>
          <a:custGeom>
            <a:avLst/>
            <a:gdLst/>
            <a:ahLst/>
            <a:cxnLst/>
            <a:rect l="l" t="t" r="r" b="b"/>
            <a:pathLst>
              <a:path w="6984" h="441325">
                <a:moveTo>
                  <a:pt x="6727" y="0"/>
                </a:moveTo>
                <a:lnTo>
                  <a:pt x="0" y="440781"/>
                </a:lnTo>
              </a:path>
            </a:pathLst>
          </a:custGeom>
          <a:ln w="19622">
            <a:solidFill>
              <a:srgbClr val="4677B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12483" y="5373620"/>
            <a:ext cx="109885" cy="1106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509632" y="5456747"/>
            <a:ext cx="6985" cy="441325"/>
          </a:xfrm>
          <a:custGeom>
            <a:avLst/>
            <a:gdLst/>
            <a:ahLst/>
            <a:cxnLst/>
            <a:rect l="l" t="t" r="r" b="b"/>
            <a:pathLst>
              <a:path w="6985" h="441325">
                <a:moveTo>
                  <a:pt x="6727" y="0"/>
                </a:moveTo>
                <a:lnTo>
                  <a:pt x="0" y="440781"/>
                </a:lnTo>
              </a:path>
            </a:pathLst>
          </a:custGeom>
          <a:ln w="19622">
            <a:solidFill>
              <a:srgbClr val="4677B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460996" y="5373620"/>
            <a:ext cx="109885" cy="11067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58145" y="5456747"/>
            <a:ext cx="6985" cy="441325"/>
          </a:xfrm>
          <a:custGeom>
            <a:avLst/>
            <a:gdLst/>
            <a:ahLst/>
            <a:cxnLst/>
            <a:rect l="l" t="t" r="r" b="b"/>
            <a:pathLst>
              <a:path w="6985" h="441325">
                <a:moveTo>
                  <a:pt x="6727" y="0"/>
                </a:moveTo>
                <a:lnTo>
                  <a:pt x="0" y="440781"/>
                </a:lnTo>
              </a:path>
            </a:pathLst>
          </a:custGeom>
          <a:ln w="19622">
            <a:solidFill>
              <a:srgbClr val="4677B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09510" y="5373620"/>
            <a:ext cx="109885" cy="11067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4441758" y="4423851"/>
          <a:ext cx="3007357" cy="9399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80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677BE"/>
                      </a:solidFill>
                      <a:prstDash val="solid"/>
                    </a:lnL>
                    <a:lnR w="28575">
                      <a:solidFill>
                        <a:srgbClr val="4677BE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677B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62">
                <a:tc rowSpan="2">
                  <a:txBody>
                    <a:bodyPr/>
                    <a:lstStyle/>
                    <a:p>
                      <a:pPr marL="86931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550" spc="-5" dirty="0">
                          <a:latin typeface="宋体"/>
                          <a:cs typeface="宋体"/>
                        </a:rPr>
                        <a:t>编码</a:t>
                      </a:r>
                      <a:endParaRPr sz="1550">
                        <a:latin typeface="宋体"/>
                        <a:cs typeface="宋体"/>
                      </a:endParaRPr>
                    </a:p>
                  </a:txBody>
                  <a:tcPr marL="0" marR="0" marT="6604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550" spc="-5" dirty="0">
                          <a:latin typeface="宋体"/>
                          <a:cs typeface="宋体"/>
                        </a:rPr>
                        <a:t>测试</a:t>
                      </a:r>
                      <a:endParaRPr sz="1550">
                        <a:latin typeface="宋体"/>
                        <a:cs typeface="宋体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4677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5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604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4677B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object 37"/>
          <p:cNvSpPr/>
          <p:nvPr/>
        </p:nvSpPr>
        <p:spPr>
          <a:xfrm>
            <a:off x="5314188" y="4413503"/>
            <a:ext cx="158496" cy="5669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438394" y="4385309"/>
            <a:ext cx="295910" cy="58419"/>
          </a:xfrm>
          <a:custGeom>
            <a:avLst/>
            <a:gdLst/>
            <a:ahLst/>
            <a:cxnLst/>
            <a:rect l="l" t="t" r="r" b="b"/>
            <a:pathLst>
              <a:path w="295910" h="58420">
                <a:moveTo>
                  <a:pt x="0" y="57912"/>
                </a:moveTo>
                <a:lnTo>
                  <a:pt x="295655" y="57912"/>
                </a:lnTo>
                <a:lnTo>
                  <a:pt x="295655" y="0"/>
                </a:lnTo>
                <a:lnTo>
                  <a:pt x="0" y="0"/>
                </a:lnTo>
                <a:lnTo>
                  <a:pt x="0" y="57912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95950" y="4443221"/>
            <a:ext cx="76200" cy="538480"/>
          </a:xfrm>
          <a:custGeom>
            <a:avLst/>
            <a:gdLst/>
            <a:ahLst/>
            <a:cxnLst/>
            <a:rect l="l" t="t" r="r" b="b"/>
            <a:pathLst>
              <a:path w="76200" h="538479">
                <a:moveTo>
                  <a:pt x="47625" y="0"/>
                </a:moveTo>
                <a:lnTo>
                  <a:pt x="28575" y="0"/>
                </a:lnTo>
                <a:lnTo>
                  <a:pt x="28575" y="152400"/>
                </a:lnTo>
                <a:lnTo>
                  <a:pt x="47625" y="152400"/>
                </a:lnTo>
                <a:lnTo>
                  <a:pt x="47625" y="0"/>
                </a:lnTo>
                <a:close/>
              </a:path>
              <a:path w="76200" h="538479">
                <a:moveTo>
                  <a:pt x="47625" y="209550"/>
                </a:moveTo>
                <a:lnTo>
                  <a:pt x="28575" y="209550"/>
                </a:lnTo>
                <a:lnTo>
                  <a:pt x="28575" y="361950"/>
                </a:lnTo>
                <a:lnTo>
                  <a:pt x="47625" y="361950"/>
                </a:lnTo>
                <a:lnTo>
                  <a:pt x="47625" y="209550"/>
                </a:lnTo>
                <a:close/>
              </a:path>
              <a:path w="76200" h="538479">
                <a:moveTo>
                  <a:pt x="28575" y="461898"/>
                </a:moveTo>
                <a:lnTo>
                  <a:pt x="0" y="461898"/>
                </a:lnTo>
                <a:lnTo>
                  <a:pt x="38100" y="538098"/>
                </a:lnTo>
                <a:lnTo>
                  <a:pt x="69850" y="474598"/>
                </a:lnTo>
                <a:lnTo>
                  <a:pt x="28575" y="474598"/>
                </a:lnTo>
                <a:lnTo>
                  <a:pt x="28575" y="461898"/>
                </a:lnTo>
                <a:close/>
              </a:path>
              <a:path w="76200" h="538479">
                <a:moveTo>
                  <a:pt x="47625" y="419100"/>
                </a:moveTo>
                <a:lnTo>
                  <a:pt x="28575" y="419100"/>
                </a:lnTo>
                <a:lnTo>
                  <a:pt x="28575" y="474598"/>
                </a:lnTo>
                <a:lnTo>
                  <a:pt x="47625" y="474598"/>
                </a:lnTo>
                <a:lnTo>
                  <a:pt x="47625" y="419100"/>
                </a:lnTo>
                <a:close/>
              </a:path>
              <a:path w="76200" h="538479">
                <a:moveTo>
                  <a:pt x="76200" y="461898"/>
                </a:moveTo>
                <a:lnTo>
                  <a:pt x="47625" y="461898"/>
                </a:lnTo>
                <a:lnTo>
                  <a:pt x="47625" y="474598"/>
                </a:lnTo>
                <a:lnTo>
                  <a:pt x="69850" y="474598"/>
                </a:lnTo>
                <a:lnTo>
                  <a:pt x="76200" y="461898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4861" y="371982"/>
            <a:ext cx="60375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3.3.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瀑布式开发过程模型</a:t>
            </a:r>
          </a:p>
        </p:txBody>
      </p:sp>
      <p:sp>
        <p:nvSpPr>
          <p:cNvPr id="3" name="object 3"/>
          <p:cNvSpPr/>
          <p:nvPr/>
        </p:nvSpPr>
        <p:spPr>
          <a:xfrm>
            <a:off x="210749" y="3287004"/>
            <a:ext cx="1657985" cy="1228725"/>
          </a:xfrm>
          <a:custGeom>
            <a:avLst/>
            <a:gdLst/>
            <a:ahLst/>
            <a:cxnLst/>
            <a:rect l="l" t="t" r="r" b="b"/>
            <a:pathLst>
              <a:path w="1657985" h="1228725">
                <a:moveTo>
                  <a:pt x="828778" y="329804"/>
                </a:moveTo>
                <a:lnTo>
                  <a:pt x="640914" y="130502"/>
                </a:lnTo>
                <a:lnTo>
                  <a:pt x="561108" y="359384"/>
                </a:lnTo>
                <a:lnTo>
                  <a:pt x="28393" y="130502"/>
                </a:lnTo>
                <a:lnTo>
                  <a:pt x="355069" y="433131"/>
                </a:lnTo>
                <a:lnTo>
                  <a:pt x="0" y="489887"/>
                </a:lnTo>
                <a:lnTo>
                  <a:pt x="285615" y="669571"/>
                </a:lnTo>
                <a:lnTo>
                  <a:pt x="10359" y="829466"/>
                </a:lnTo>
                <a:lnTo>
                  <a:pt x="434876" y="792516"/>
                </a:lnTo>
                <a:lnTo>
                  <a:pt x="365421" y="1001763"/>
                </a:lnTo>
                <a:lnTo>
                  <a:pt x="592050" y="888610"/>
                </a:lnTo>
                <a:lnTo>
                  <a:pt x="651129" y="1228257"/>
                </a:lnTo>
                <a:lnTo>
                  <a:pt x="808211" y="849255"/>
                </a:lnTo>
                <a:lnTo>
                  <a:pt x="1016551" y="1122320"/>
                </a:lnTo>
                <a:lnTo>
                  <a:pt x="1075882" y="822079"/>
                </a:lnTo>
                <a:lnTo>
                  <a:pt x="1392417" y="1028956"/>
                </a:lnTo>
                <a:lnTo>
                  <a:pt x="1292043" y="735931"/>
                </a:lnTo>
                <a:lnTo>
                  <a:pt x="1657557" y="755719"/>
                </a:lnTo>
                <a:lnTo>
                  <a:pt x="1351145" y="595653"/>
                </a:lnTo>
                <a:lnTo>
                  <a:pt x="1618954" y="462694"/>
                </a:lnTo>
                <a:lnTo>
                  <a:pt x="1281691" y="415952"/>
                </a:lnTo>
                <a:lnTo>
                  <a:pt x="1410454" y="253447"/>
                </a:lnTo>
                <a:lnTo>
                  <a:pt x="1086235" y="302799"/>
                </a:lnTo>
                <a:lnTo>
                  <a:pt x="1114394" y="0"/>
                </a:lnTo>
                <a:lnTo>
                  <a:pt x="828778" y="329804"/>
                </a:lnTo>
                <a:close/>
              </a:path>
            </a:pathLst>
          </a:custGeom>
          <a:ln w="143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93167" y="3287004"/>
            <a:ext cx="1657985" cy="1228725"/>
          </a:xfrm>
          <a:custGeom>
            <a:avLst/>
            <a:gdLst/>
            <a:ahLst/>
            <a:cxnLst/>
            <a:rect l="l" t="t" r="r" b="b"/>
            <a:pathLst>
              <a:path w="1657985" h="1228725">
                <a:moveTo>
                  <a:pt x="828778" y="329804"/>
                </a:moveTo>
                <a:lnTo>
                  <a:pt x="640914" y="130502"/>
                </a:lnTo>
                <a:lnTo>
                  <a:pt x="561108" y="359384"/>
                </a:lnTo>
                <a:lnTo>
                  <a:pt x="28393" y="130502"/>
                </a:lnTo>
                <a:lnTo>
                  <a:pt x="355069" y="433131"/>
                </a:lnTo>
                <a:lnTo>
                  <a:pt x="0" y="489887"/>
                </a:lnTo>
                <a:lnTo>
                  <a:pt x="285615" y="669571"/>
                </a:lnTo>
                <a:lnTo>
                  <a:pt x="10359" y="829466"/>
                </a:lnTo>
                <a:lnTo>
                  <a:pt x="434876" y="792516"/>
                </a:lnTo>
                <a:lnTo>
                  <a:pt x="365421" y="1001763"/>
                </a:lnTo>
                <a:lnTo>
                  <a:pt x="592050" y="888610"/>
                </a:lnTo>
                <a:lnTo>
                  <a:pt x="651129" y="1228257"/>
                </a:lnTo>
                <a:lnTo>
                  <a:pt x="808211" y="849255"/>
                </a:lnTo>
                <a:lnTo>
                  <a:pt x="1016551" y="1122320"/>
                </a:lnTo>
                <a:lnTo>
                  <a:pt x="1075882" y="822079"/>
                </a:lnTo>
                <a:lnTo>
                  <a:pt x="1392417" y="1028956"/>
                </a:lnTo>
                <a:lnTo>
                  <a:pt x="1292043" y="735931"/>
                </a:lnTo>
                <a:lnTo>
                  <a:pt x="1657557" y="755719"/>
                </a:lnTo>
                <a:lnTo>
                  <a:pt x="1351145" y="595653"/>
                </a:lnTo>
                <a:lnTo>
                  <a:pt x="1618954" y="462694"/>
                </a:lnTo>
                <a:lnTo>
                  <a:pt x="1281691" y="415952"/>
                </a:lnTo>
                <a:lnTo>
                  <a:pt x="1410454" y="253447"/>
                </a:lnTo>
                <a:lnTo>
                  <a:pt x="1086235" y="302799"/>
                </a:lnTo>
                <a:lnTo>
                  <a:pt x="1114394" y="0"/>
                </a:lnTo>
                <a:lnTo>
                  <a:pt x="828778" y="329804"/>
                </a:lnTo>
                <a:close/>
              </a:path>
            </a:pathLst>
          </a:custGeom>
          <a:ln w="143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48336" y="3287004"/>
            <a:ext cx="1657985" cy="1228725"/>
          </a:xfrm>
          <a:custGeom>
            <a:avLst/>
            <a:gdLst/>
            <a:ahLst/>
            <a:cxnLst/>
            <a:rect l="l" t="t" r="r" b="b"/>
            <a:pathLst>
              <a:path w="1657984" h="1228725">
                <a:moveTo>
                  <a:pt x="828778" y="329804"/>
                </a:moveTo>
                <a:lnTo>
                  <a:pt x="640914" y="130502"/>
                </a:lnTo>
                <a:lnTo>
                  <a:pt x="561108" y="359384"/>
                </a:lnTo>
                <a:lnTo>
                  <a:pt x="28393" y="130502"/>
                </a:lnTo>
                <a:lnTo>
                  <a:pt x="355069" y="433131"/>
                </a:lnTo>
                <a:lnTo>
                  <a:pt x="0" y="489887"/>
                </a:lnTo>
                <a:lnTo>
                  <a:pt x="285615" y="669571"/>
                </a:lnTo>
                <a:lnTo>
                  <a:pt x="10359" y="829466"/>
                </a:lnTo>
                <a:lnTo>
                  <a:pt x="434876" y="792516"/>
                </a:lnTo>
                <a:lnTo>
                  <a:pt x="365421" y="1001763"/>
                </a:lnTo>
                <a:lnTo>
                  <a:pt x="592050" y="888610"/>
                </a:lnTo>
                <a:lnTo>
                  <a:pt x="651129" y="1228257"/>
                </a:lnTo>
                <a:lnTo>
                  <a:pt x="808211" y="849255"/>
                </a:lnTo>
                <a:lnTo>
                  <a:pt x="1016551" y="1122320"/>
                </a:lnTo>
                <a:lnTo>
                  <a:pt x="1075882" y="822079"/>
                </a:lnTo>
                <a:lnTo>
                  <a:pt x="1392417" y="1028956"/>
                </a:lnTo>
                <a:lnTo>
                  <a:pt x="1292043" y="735931"/>
                </a:lnTo>
                <a:lnTo>
                  <a:pt x="1657557" y="755719"/>
                </a:lnTo>
                <a:lnTo>
                  <a:pt x="1351145" y="595653"/>
                </a:lnTo>
                <a:lnTo>
                  <a:pt x="1618954" y="462694"/>
                </a:lnTo>
                <a:lnTo>
                  <a:pt x="1281691" y="415952"/>
                </a:lnTo>
                <a:lnTo>
                  <a:pt x="1410454" y="253447"/>
                </a:lnTo>
                <a:lnTo>
                  <a:pt x="1086235" y="302799"/>
                </a:lnTo>
                <a:lnTo>
                  <a:pt x="1114394" y="0"/>
                </a:lnTo>
                <a:lnTo>
                  <a:pt x="828778" y="329804"/>
                </a:lnTo>
                <a:close/>
              </a:path>
            </a:pathLst>
          </a:custGeom>
          <a:ln w="143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67170" y="3287004"/>
            <a:ext cx="1657985" cy="1228725"/>
          </a:xfrm>
          <a:custGeom>
            <a:avLst/>
            <a:gdLst/>
            <a:ahLst/>
            <a:cxnLst/>
            <a:rect l="l" t="t" r="r" b="b"/>
            <a:pathLst>
              <a:path w="1657984" h="1228725">
                <a:moveTo>
                  <a:pt x="828778" y="329804"/>
                </a:moveTo>
                <a:lnTo>
                  <a:pt x="640914" y="130502"/>
                </a:lnTo>
                <a:lnTo>
                  <a:pt x="561108" y="359384"/>
                </a:lnTo>
                <a:lnTo>
                  <a:pt x="28393" y="130502"/>
                </a:lnTo>
                <a:lnTo>
                  <a:pt x="355069" y="433131"/>
                </a:lnTo>
                <a:lnTo>
                  <a:pt x="0" y="489887"/>
                </a:lnTo>
                <a:lnTo>
                  <a:pt x="285615" y="669571"/>
                </a:lnTo>
                <a:lnTo>
                  <a:pt x="10359" y="829466"/>
                </a:lnTo>
                <a:lnTo>
                  <a:pt x="434876" y="792516"/>
                </a:lnTo>
                <a:lnTo>
                  <a:pt x="365421" y="1001763"/>
                </a:lnTo>
                <a:lnTo>
                  <a:pt x="592050" y="888610"/>
                </a:lnTo>
                <a:lnTo>
                  <a:pt x="651129" y="1228257"/>
                </a:lnTo>
                <a:lnTo>
                  <a:pt x="808211" y="849255"/>
                </a:lnTo>
                <a:lnTo>
                  <a:pt x="1016551" y="1122320"/>
                </a:lnTo>
                <a:lnTo>
                  <a:pt x="1075882" y="822079"/>
                </a:lnTo>
                <a:lnTo>
                  <a:pt x="1392417" y="1028956"/>
                </a:lnTo>
                <a:lnTo>
                  <a:pt x="1292043" y="735931"/>
                </a:lnTo>
                <a:lnTo>
                  <a:pt x="1657557" y="755719"/>
                </a:lnTo>
                <a:lnTo>
                  <a:pt x="1351145" y="595653"/>
                </a:lnTo>
                <a:lnTo>
                  <a:pt x="1618954" y="462694"/>
                </a:lnTo>
                <a:lnTo>
                  <a:pt x="1281691" y="415952"/>
                </a:lnTo>
                <a:lnTo>
                  <a:pt x="1410454" y="253447"/>
                </a:lnTo>
                <a:lnTo>
                  <a:pt x="1086235" y="302799"/>
                </a:lnTo>
                <a:lnTo>
                  <a:pt x="1114394" y="0"/>
                </a:lnTo>
                <a:lnTo>
                  <a:pt x="828778" y="329804"/>
                </a:lnTo>
                <a:close/>
              </a:path>
            </a:pathLst>
          </a:custGeom>
          <a:ln w="143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96704" y="3745254"/>
            <a:ext cx="6673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10" dirty="0">
                <a:latin typeface="宋体"/>
                <a:cs typeface="宋体"/>
              </a:rPr>
              <a:t>需求获取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79089" y="3761419"/>
            <a:ext cx="6673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10" dirty="0">
                <a:latin typeface="宋体"/>
                <a:cs typeface="宋体"/>
              </a:rPr>
              <a:t>需求分析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89582" y="3745254"/>
            <a:ext cx="98806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10" dirty="0">
                <a:latin typeface="宋体"/>
                <a:cs typeface="宋体"/>
              </a:rPr>
              <a:t>需求规格说明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98484" y="3745254"/>
            <a:ext cx="6673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10" dirty="0">
                <a:latin typeface="宋体"/>
                <a:cs typeface="宋体"/>
              </a:rPr>
              <a:t>需求验证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4793" y="5189170"/>
            <a:ext cx="1228090" cy="635635"/>
          </a:xfrm>
          <a:prstGeom prst="rect">
            <a:avLst/>
          </a:prstGeom>
          <a:ln w="19214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292735" marR="285115">
              <a:lnSpc>
                <a:spcPct val="110600"/>
              </a:lnSpc>
              <a:spcBef>
                <a:spcPts val="675"/>
              </a:spcBef>
            </a:pPr>
            <a:r>
              <a:rPr sz="1250" spc="10" dirty="0">
                <a:latin typeface="宋体"/>
                <a:cs typeface="宋体"/>
              </a:rPr>
              <a:t>用户需求 领域特性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6356" y="4905618"/>
            <a:ext cx="1591945" cy="930275"/>
          </a:xfrm>
          <a:prstGeom prst="rect">
            <a:avLst/>
          </a:prstGeom>
          <a:ln w="19216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835"/>
              </a:spcBef>
            </a:pPr>
            <a:r>
              <a:rPr sz="1250" spc="10" dirty="0">
                <a:latin typeface="宋体"/>
                <a:cs typeface="宋体"/>
              </a:rPr>
              <a:t>成果文档：</a:t>
            </a:r>
            <a:endParaRPr sz="1250">
              <a:latin typeface="宋体"/>
              <a:cs typeface="宋体"/>
            </a:endParaRPr>
          </a:p>
          <a:p>
            <a:pPr marL="64135" marR="364490">
              <a:lnSpc>
                <a:spcPct val="110600"/>
              </a:lnSpc>
              <a:spcBef>
                <a:spcPts val="30"/>
              </a:spcBef>
            </a:pPr>
            <a:r>
              <a:rPr sz="1000" spc="5" dirty="0">
                <a:latin typeface="宋体"/>
                <a:cs typeface="宋体"/>
              </a:rPr>
              <a:t>项目前景和范围文档 </a:t>
            </a:r>
            <a:r>
              <a:rPr sz="1000" spc="10" dirty="0">
                <a:latin typeface="宋体"/>
                <a:cs typeface="宋体"/>
              </a:rPr>
              <a:t>用户需求文档</a:t>
            </a:r>
            <a:endParaRPr sz="1000">
              <a:latin typeface="宋体"/>
              <a:cs typeface="宋体"/>
            </a:endParaRPr>
          </a:p>
          <a:p>
            <a:pPr marL="64135">
              <a:lnSpc>
                <a:spcPct val="100000"/>
              </a:lnSpc>
              <a:spcBef>
                <a:spcPts val="130"/>
              </a:spcBef>
            </a:pPr>
            <a:r>
              <a:rPr sz="1000" spc="10" dirty="0">
                <a:latin typeface="宋体"/>
                <a:cs typeface="宋体"/>
              </a:rPr>
              <a:t>需求规格说明文档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45849" y="4490895"/>
            <a:ext cx="0" cy="698500"/>
          </a:xfrm>
          <a:custGeom>
            <a:avLst/>
            <a:gdLst/>
            <a:ahLst/>
            <a:cxnLst/>
            <a:rect l="l" t="t" r="r" b="b"/>
            <a:pathLst>
              <a:path h="698500">
                <a:moveTo>
                  <a:pt x="0" y="698272"/>
                </a:moveTo>
                <a:lnTo>
                  <a:pt x="0" y="0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86182" y="4327163"/>
            <a:ext cx="119380" cy="179070"/>
          </a:xfrm>
          <a:custGeom>
            <a:avLst/>
            <a:gdLst/>
            <a:ahLst/>
            <a:cxnLst/>
            <a:rect l="l" t="t" r="r" b="b"/>
            <a:pathLst>
              <a:path w="119380" h="179070">
                <a:moveTo>
                  <a:pt x="59667" y="0"/>
                </a:moveTo>
                <a:lnTo>
                  <a:pt x="0" y="178617"/>
                </a:lnTo>
                <a:lnTo>
                  <a:pt x="119334" y="178617"/>
                </a:lnTo>
                <a:lnTo>
                  <a:pt x="59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64298" y="3828058"/>
            <a:ext cx="336550" cy="0"/>
          </a:xfrm>
          <a:custGeom>
            <a:avLst/>
            <a:gdLst/>
            <a:ahLst/>
            <a:cxnLst/>
            <a:rect l="l" t="t" r="r" b="b"/>
            <a:pathLst>
              <a:path w="336550">
                <a:moveTo>
                  <a:pt x="0" y="0"/>
                </a:moveTo>
                <a:lnTo>
                  <a:pt x="336027" y="0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85409" y="3768518"/>
            <a:ext cx="179070" cy="119380"/>
          </a:xfrm>
          <a:custGeom>
            <a:avLst/>
            <a:gdLst/>
            <a:ahLst/>
            <a:cxnLst/>
            <a:rect l="l" t="t" r="r" b="b"/>
            <a:pathLst>
              <a:path w="179069" h="119379">
                <a:moveTo>
                  <a:pt x="0" y="0"/>
                </a:moveTo>
                <a:lnTo>
                  <a:pt x="0" y="119078"/>
                </a:lnTo>
                <a:lnTo>
                  <a:pt x="179001" y="59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92026" y="3828058"/>
            <a:ext cx="563880" cy="0"/>
          </a:xfrm>
          <a:custGeom>
            <a:avLst/>
            <a:gdLst/>
            <a:ahLst/>
            <a:cxnLst/>
            <a:rect l="l" t="t" r="r" b="b"/>
            <a:pathLst>
              <a:path w="563879">
                <a:moveTo>
                  <a:pt x="0" y="0"/>
                </a:moveTo>
                <a:lnTo>
                  <a:pt x="563468" y="0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40578" y="3768518"/>
            <a:ext cx="179070" cy="119380"/>
          </a:xfrm>
          <a:custGeom>
            <a:avLst/>
            <a:gdLst/>
            <a:ahLst/>
            <a:cxnLst/>
            <a:rect l="l" t="t" r="r" b="b"/>
            <a:pathLst>
              <a:path w="179070" h="119379">
                <a:moveTo>
                  <a:pt x="0" y="0"/>
                </a:moveTo>
                <a:lnTo>
                  <a:pt x="0" y="119078"/>
                </a:lnTo>
                <a:lnTo>
                  <a:pt x="179001" y="59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56412" y="3828058"/>
            <a:ext cx="518159" cy="0"/>
          </a:xfrm>
          <a:custGeom>
            <a:avLst/>
            <a:gdLst/>
            <a:ahLst/>
            <a:cxnLst/>
            <a:rect l="l" t="t" r="r" b="b"/>
            <a:pathLst>
              <a:path w="518159">
                <a:moveTo>
                  <a:pt x="0" y="0"/>
                </a:moveTo>
                <a:lnTo>
                  <a:pt x="517916" y="0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59411" y="3768518"/>
            <a:ext cx="179070" cy="119380"/>
          </a:xfrm>
          <a:custGeom>
            <a:avLst/>
            <a:gdLst/>
            <a:ahLst/>
            <a:cxnLst/>
            <a:rect l="l" t="t" r="r" b="b"/>
            <a:pathLst>
              <a:path w="179070" h="119379">
                <a:moveTo>
                  <a:pt x="0" y="0"/>
                </a:moveTo>
                <a:lnTo>
                  <a:pt x="0" y="119078"/>
                </a:lnTo>
                <a:lnTo>
                  <a:pt x="179001" y="59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54921" y="2739227"/>
            <a:ext cx="7002145" cy="0"/>
          </a:xfrm>
          <a:custGeom>
            <a:avLst/>
            <a:gdLst/>
            <a:ahLst/>
            <a:cxnLst/>
            <a:rect l="l" t="t" r="r" b="b"/>
            <a:pathLst>
              <a:path w="7002145">
                <a:moveTo>
                  <a:pt x="0" y="0"/>
                </a:moveTo>
                <a:lnTo>
                  <a:pt x="7001828" y="0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54921" y="2739227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5">
                <a:moveTo>
                  <a:pt x="0" y="0"/>
                </a:moveTo>
                <a:lnTo>
                  <a:pt x="0" y="426057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95254" y="3150399"/>
            <a:ext cx="119380" cy="179070"/>
          </a:xfrm>
          <a:custGeom>
            <a:avLst/>
            <a:gdLst/>
            <a:ahLst/>
            <a:cxnLst/>
            <a:rect l="l" t="t" r="r" b="b"/>
            <a:pathLst>
              <a:path w="119380" h="179070">
                <a:moveTo>
                  <a:pt x="119334" y="0"/>
                </a:moveTo>
                <a:lnTo>
                  <a:pt x="0" y="0"/>
                </a:lnTo>
                <a:lnTo>
                  <a:pt x="59667" y="178617"/>
                </a:lnTo>
                <a:lnTo>
                  <a:pt x="1193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28298" y="2739227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5">
                <a:moveTo>
                  <a:pt x="0" y="0"/>
                </a:moveTo>
                <a:lnTo>
                  <a:pt x="0" y="426057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168631" y="3150399"/>
            <a:ext cx="119380" cy="179070"/>
          </a:xfrm>
          <a:custGeom>
            <a:avLst/>
            <a:gdLst/>
            <a:ahLst/>
            <a:cxnLst/>
            <a:rect l="l" t="t" r="r" b="b"/>
            <a:pathLst>
              <a:path w="119379" h="179070">
                <a:moveTo>
                  <a:pt x="119334" y="0"/>
                </a:moveTo>
                <a:lnTo>
                  <a:pt x="0" y="0"/>
                </a:lnTo>
                <a:lnTo>
                  <a:pt x="59667" y="178617"/>
                </a:lnTo>
                <a:lnTo>
                  <a:pt x="1193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83468" y="2739227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5">
                <a:moveTo>
                  <a:pt x="0" y="0"/>
                </a:moveTo>
                <a:lnTo>
                  <a:pt x="0" y="426057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623800" y="3150399"/>
            <a:ext cx="119380" cy="179070"/>
          </a:xfrm>
          <a:custGeom>
            <a:avLst/>
            <a:gdLst/>
            <a:ahLst/>
            <a:cxnLst/>
            <a:rect l="l" t="t" r="r" b="b"/>
            <a:pathLst>
              <a:path w="119379" h="179070">
                <a:moveTo>
                  <a:pt x="119334" y="0"/>
                </a:moveTo>
                <a:lnTo>
                  <a:pt x="0" y="0"/>
                </a:lnTo>
                <a:lnTo>
                  <a:pt x="59667" y="178617"/>
                </a:lnTo>
                <a:lnTo>
                  <a:pt x="1193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956749" y="2739227"/>
            <a:ext cx="0" cy="589915"/>
          </a:xfrm>
          <a:custGeom>
            <a:avLst/>
            <a:gdLst/>
            <a:ahLst/>
            <a:cxnLst/>
            <a:rect l="l" t="t" r="r" b="b"/>
            <a:pathLst>
              <a:path h="589914">
                <a:moveTo>
                  <a:pt x="0" y="0"/>
                </a:moveTo>
                <a:lnTo>
                  <a:pt x="0" y="589790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606670" y="5553862"/>
            <a:ext cx="0" cy="19685"/>
          </a:xfrm>
          <a:custGeom>
            <a:avLst/>
            <a:gdLst/>
            <a:ahLst/>
            <a:cxnLst/>
            <a:rect l="l" t="t" r="r" b="b"/>
            <a:pathLst>
              <a:path h="19685">
                <a:moveTo>
                  <a:pt x="0" y="0"/>
                </a:moveTo>
                <a:lnTo>
                  <a:pt x="0" y="19206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97637" y="5563465"/>
            <a:ext cx="163195" cy="0"/>
          </a:xfrm>
          <a:custGeom>
            <a:avLst/>
            <a:gdLst/>
            <a:ahLst/>
            <a:cxnLst/>
            <a:rect l="l" t="t" r="r" b="b"/>
            <a:pathLst>
              <a:path w="163195">
                <a:moveTo>
                  <a:pt x="0" y="0"/>
                </a:moveTo>
                <a:lnTo>
                  <a:pt x="163121" y="0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96084" y="5503926"/>
            <a:ext cx="179070" cy="119380"/>
          </a:xfrm>
          <a:custGeom>
            <a:avLst/>
            <a:gdLst/>
            <a:ahLst/>
            <a:cxnLst/>
            <a:rect l="l" t="t" r="r" b="b"/>
            <a:pathLst>
              <a:path w="179070" h="119379">
                <a:moveTo>
                  <a:pt x="0" y="0"/>
                </a:moveTo>
                <a:lnTo>
                  <a:pt x="0" y="119078"/>
                </a:lnTo>
                <a:lnTo>
                  <a:pt x="179001" y="59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952871" y="5464850"/>
            <a:ext cx="66738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10" dirty="0">
                <a:latin typeface="宋体"/>
                <a:cs typeface="宋体"/>
              </a:rPr>
              <a:t>一致的需求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683468" y="4327163"/>
            <a:ext cx="381635" cy="782955"/>
          </a:xfrm>
          <a:custGeom>
            <a:avLst/>
            <a:gdLst/>
            <a:ahLst/>
            <a:cxnLst/>
            <a:rect l="l" t="t" r="r" b="b"/>
            <a:pathLst>
              <a:path w="381635" h="782954">
                <a:moveTo>
                  <a:pt x="0" y="0"/>
                </a:moveTo>
                <a:lnTo>
                  <a:pt x="0" y="782604"/>
                </a:lnTo>
                <a:lnTo>
                  <a:pt x="381419" y="782604"/>
                </a:lnTo>
              </a:path>
            </a:pathLst>
          </a:custGeom>
          <a:ln w="19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49971" y="5050227"/>
            <a:ext cx="179070" cy="119380"/>
          </a:xfrm>
          <a:custGeom>
            <a:avLst/>
            <a:gdLst/>
            <a:ahLst/>
            <a:cxnLst/>
            <a:rect l="l" t="t" r="r" b="b"/>
            <a:pathLst>
              <a:path w="179070" h="119379">
                <a:moveTo>
                  <a:pt x="0" y="0"/>
                </a:moveTo>
                <a:lnTo>
                  <a:pt x="0" y="119078"/>
                </a:lnTo>
                <a:lnTo>
                  <a:pt x="179001" y="59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797637" y="4627003"/>
            <a:ext cx="340995" cy="483234"/>
          </a:xfrm>
          <a:custGeom>
            <a:avLst/>
            <a:gdLst/>
            <a:ahLst/>
            <a:cxnLst/>
            <a:rect l="l" t="t" r="r" b="b"/>
            <a:pathLst>
              <a:path w="340995" h="483235">
                <a:moveTo>
                  <a:pt x="0" y="482763"/>
                </a:moveTo>
                <a:lnTo>
                  <a:pt x="341000" y="482763"/>
                </a:lnTo>
                <a:lnTo>
                  <a:pt x="341000" y="0"/>
                </a:lnTo>
              </a:path>
            </a:pathLst>
          </a:custGeom>
          <a:ln w="192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078970" y="4463270"/>
            <a:ext cx="119380" cy="179070"/>
          </a:xfrm>
          <a:custGeom>
            <a:avLst/>
            <a:gdLst/>
            <a:ahLst/>
            <a:cxnLst/>
            <a:rect l="l" t="t" r="r" b="b"/>
            <a:pathLst>
              <a:path w="119379" h="179070">
                <a:moveTo>
                  <a:pt x="59667" y="0"/>
                </a:moveTo>
                <a:lnTo>
                  <a:pt x="0" y="178617"/>
                </a:lnTo>
                <a:lnTo>
                  <a:pt x="119334" y="178617"/>
                </a:lnTo>
                <a:lnTo>
                  <a:pt x="59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86588" y="1641728"/>
            <a:ext cx="8263255" cy="7340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340"/>
              </a:spcBef>
            </a:pPr>
            <a:r>
              <a:rPr sz="2400" b="1" dirty="0">
                <a:latin typeface="宋体"/>
                <a:cs typeface="宋体"/>
              </a:rPr>
              <a:t>瀑布式模型</a:t>
            </a:r>
            <a:r>
              <a:rPr sz="2400" dirty="0">
                <a:latin typeface="宋体"/>
                <a:cs typeface="宋体"/>
              </a:rPr>
              <a:t>：各阶段之间是紧密相关的，后一阶段的工作是依 据前一阶段的工作结果而开展的。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3060" y="269239"/>
            <a:ext cx="43573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3.3.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/>
              <a:t>快速原型模型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8900" y="1366265"/>
            <a:ext cx="612584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宋体"/>
                <a:cs typeface="宋体"/>
              </a:rPr>
              <a:t>若干功能的可运行模型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ts val="7680"/>
              </a:lnSpc>
              <a:spcBef>
                <a:spcPts val="894"/>
              </a:spcBef>
            </a:pPr>
            <a:r>
              <a:rPr sz="3200" dirty="0">
                <a:latin typeface="宋体"/>
                <a:cs typeface="宋体"/>
              </a:rPr>
              <a:t>启发、揭示和不断完</a:t>
            </a:r>
            <a:r>
              <a:rPr sz="3200" spc="-15" dirty="0">
                <a:latin typeface="宋体"/>
                <a:cs typeface="宋体"/>
              </a:rPr>
              <a:t>善</a:t>
            </a:r>
            <a:r>
              <a:rPr sz="3200" dirty="0">
                <a:latin typeface="宋体"/>
                <a:cs typeface="宋体"/>
              </a:rPr>
              <a:t>用户</a:t>
            </a:r>
            <a:r>
              <a:rPr sz="3200" spc="-15" dirty="0">
                <a:latin typeface="宋体"/>
                <a:cs typeface="宋体"/>
              </a:rPr>
              <a:t>需</a:t>
            </a:r>
            <a:r>
              <a:rPr sz="3200" dirty="0">
                <a:latin typeface="宋体"/>
                <a:cs typeface="宋体"/>
              </a:rPr>
              <a:t>求， 满足用户的全部需求</a:t>
            </a:r>
            <a:r>
              <a:rPr sz="3200" spc="-15" dirty="0">
                <a:latin typeface="宋体"/>
                <a:cs typeface="宋体"/>
              </a:rPr>
              <a:t>为</a:t>
            </a:r>
            <a:r>
              <a:rPr sz="3200" dirty="0">
                <a:latin typeface="宋体"/>
                <a:cs typeface="宋体"/>
              </a:rPr>
              <a:t>止。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6772" y="4728956"/>
            <a:ext cx="1016635" cy="401955"/>
          </a:xfrm>
          <a:custGeom>
            <a:avLst/>
            <a:gdLst/>
            <a:ahLst/>
            <a:cxnLst/>
            <a:rect l="l" t="t" r="r" b="b"/>
            <a:pathLst>
              <a:path w="1016635" h="401954">
                <a:moveTo>
                  <a:pt x="0" y="401486"/>
                </a:moveTo>
                <a:lnTo>
                  <a:pt x="1016154" y="401486"/>
                </a:lnTo>
                <a:lnTo>
                  <a:pt x="1016154" y="0"/>
                </a:lnTo>
                <a:lnTo>
                  <a:pt x="0" y="0"/>
                </a:lnTo>
                <a:lnTo>
                  <a:pt x="0" y="401486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6772" y="4728956"/>
            <a:ext cx="1016635" cy="401955"/>
          </a:xfrm>
          <a:custGeom>
            <a:avLst/>
            <a:gdLst/>
            <a:ahLst/>
            <a:cxnLst/>
            <a:rect l="l" t="t" r="r" b="b"/>
            <a:pathLst>
              <a:path w="1016635" h="401954">
                <a:moveTo>
                  <a:pt x="0" y="401486"/>
                </a:moveTo>
                <a:lnTo>
                  <a:pt x="1016154" y="401486"/>
                </a:lnTo>
                <a:lnTo>
                  <a:pt x="1016154" y="0"/>
                </a:lnTo>
                <a:lnTo>
                  <a:pt x="0" y="0"/>
                </a:lnTo>
                <a:lnTo>
                  <a:pt x="0" y="401486"/>
                </a:lnTo>
                <a:close/>
              </a:path>
            </a:pathLst>
          </a:custGeom>
          <a:ln w="34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6772" y="4783955"/>
            <a:ext cx="101663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10"/>
              </a:spcBef>
            </a:pPr>
            <a:r>
              <a:rPr sz="1550" spc="30" dirty="0">
                <a:latin typeface="宋体"/>
                <a:cs typeface="宋体"/>
              </a:rPr>
              <a:t>收集需求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96154" y="4728956"/>
            <a:ext cx="1016635" cy="401955"/>
          </a:xfrm>
          <a:custGeom>
            <a:avLst/>
            <a:gdLst/>
            <a:ahLst/>
            <a:cxnLst/>
            <a:rect l="l" t="t" r="r" b="b"/>
            <a:pathLst>
              <a:path w="1016635" h="401954">
                <a:moveTo>
                  <a:pt x="0" y="401486"/>
                </a:moveTo>
                <a:lnTo>
                  <a:pt x="1016154" y="401486"/>
                </a:lnTo>
                <a:lnTo>
                  <a:pt x="1016154" y="0"/>
                </a:lnTo>
                <a:lnTo>
                  <a:pt x="0" y="0"/>
                </a:lnTo>
                <a:lnTo>
                  <a:pt x="0" y="401486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96154" y="4728956"/>
            <a:ext cx="1016635" cy="401955"/>
          </a:xfrm>
          <a:custGeom>
            <a:avLst/>
            <a:gdLst/>
            <a:ahLst/>
            <a:cxnLst/>
            <a:rect l="l" t="t" r="r" b="b"/>
            <a:pathLst>
              <a:path w="1016635" h="401954">
                <a:moveTo>
                  <a:pt x="0" y="401486"/>
                </a:moveTo>
                <a:lnTo>
                  <a:pt x="1016154" y="401486"/>
                </a:lnTo>
                <a:lnTo>
                  <a:pt x="1016154" y="0"/>
                </a:lnTo>
                <a:lnTo>
                  <a:pt x="0" y="0"/>
                </a:lnTo>
                <a:lnTo>
                  <a:pt x="0" y="401486"/>
                </a:lnTo>
                <a:close/>
              </a:path>
            </a:pathLst>
          </a:custGeom>
          <a:ln w="34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96154" y="4783955"/>
            <a:ext cx="101663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10"/>
              </a:spcBef>
            </a:pPr>
            <a:r>
              <a:rPr sz="1550" spc="30" dirty="0">
                <a:latin typeface="宋体"/>
                <a:cs typeface="宋体"/>
              </a:rPr>
              <a:t>快速设计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15494" y="4728956"/>
            <a:ext cx="1016635" cy="401955"/>
          </a:xfrm>
          <a:custGeom>
            <a:avLst/>
            <a:gdLst/>
            <a:ahLst/>
            <a:cxnLst/>
            <a:rect l="l" t="t" r="r" b="b"/>
            <a:pathLst>
              <a:path w="1016635" h="401954">
                <a:moveTo>
                  <a:pt x="0" y="401486"/>
                </a:moveTo>
                <a:lnTo>
                  <a:pt x="1016154" y="401486"/>
                </a:lnTo>
                <a:lnTo>
                  <a:pt x="1016154" y="0"/>
                </a:lnTo>
                <a:lnTo>
                  <a:pt x="0" y="0"/>
                </a:lnTo>
                <a:lnTo>
                  <a:pt x="0" y="401486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15494" y="4728956"/>
            <a:ext cx="1016635" cy="401955"/>
          </a:xfrm>
          <a:custGeom>
            <a:avLst/>
            <a:gdLst/>
            <a:ahLst/>
            <a:cxnLst/>
            <a:rect l="l" t="t" r="r" b="b"/>
            <a:pathLst>
              <a:path w="1016635" h="401954">
                <a:moveTo>
                  <a:pt x="0" y="401486"/>
                </a:moveTo>
                <a:lnTo>
                  <a:pt x="1016154" y="401486"/>
                </a:lnTo>
                <a:lnTo>
                  <a:pt x="1016154" y="0"/>
                </a:lnTo>
                <a:lnTo>
                  <a:pt x="0" y="0"/>
                </a:lnTo>
                <a:lnTo>
                  <a:pt x="0" y="401486"/>
                </a:lnTo>
                <a:close/>
              </a:path>
            </a:pathLst>
          </a:custGeom>
          <a:ln w="34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15494" y="4783955"/>
            <a:ext cx="101663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10"/>
              </a:spcBef>
            </a:pPr>
            <a:r>
              <a:rPr sz="1550" spc="30" dirty="0">
                <a:latin typeface="宋体"/>
                <a:cs typeface="宋体"/>
              </a:rPr>
              <a:t>建立原型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34890" y="4728956"/>
            <a:ext cx="1626235" cy="401955"/>
          </a:xfrm>
          <a:custGeom>
            <a:avLst/>
            <a:gdLst/>
            <a:ahLst/>
            <a:cxnLst/>
            <a:rect l="l" t="t" r="r" b="b"/>
            <a:pathLst>
              <a:path w="1626235" h="401954">
                <a:moveTo>
                  <a:pt x="0" y="401486"/>
                </a:moveTo>
                <a:lnTo>
                  <a:pt x="1625909" y="401486"/>
                </a:lnTo>
                <a:lnTo>
                  <a:pt x="1625909" y="0"/>
                </a:lnTo>
                <a:lnTo>
                  <a:pt x="0" y="0"/>
                </a:lnTo>
                <a:lnTo>
                  <a:pt x="0" y="401486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34890" y="4728956"/>
            <a:ext cx="1626235" cy="401955"/>
          </a:xfrm>
          <a:custGeom>
            <a:avLst/>
            <a:gdLst/>
            <a:ahLst/>
            <a:cxnLst/>
            <a:rect l="l" t="t" r="r" b="b"/>
            <a:pathLst>
              <a:path w="1626235" h="401954">
                <a:moveTo>
                  <a:pt x="0" y="401486"/>
                </a:moveTo>
                <a:lnTo>
                  <a:pt x="1625909" y="401486"/>
                </a:lnTo>
                <a:lnTo>
                  <a:pt x="1625909" y="0"/>
                </a:lnTo>
                <a:lnTo>
                  <a:pt x="0" y="0"/>
                </a:lnTo>
                <a:lnTo>
                  <a:pt x="0" y="401486"/>
                </a:lnTo>
                <a:close/>
              </a:path>
            </a:pathLst>
          </a:custGeom>
          <a:ln w="34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34890" y="4783955"/>
            <a:ext cx="162623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10"/>
              </a:spcBef>
            </a:pPr>
            <a:r>
              <a:rPr sz="1550" spc="30" dirty="0">
                <a:latin typeface="宋体"/>
                <a:cs typeface="宋体"/>
              </a:rPr>
              <a:t>评价并细化需求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63985" y="4728956"/>
            <a:ext cx="1219835" cy="401955"/>
          </a:xfrm>
          <a:custGeom>
            <a:avLst/>
            <a:gdLst/>
            <a:ahLst/>
            <a:cxnLst/>
            <a:rect l="l" t="t" r="r" b="b"/>
            <a:pathLst>
              <a:path w="1219834" h="401954">
                <a:moveTo>
                  <a:pt x="0" y="401486"/>
                </a:moveTo>
                <a:lnTo>
                  <a:pt x="1219382" y="401486"/>
                </a:lnTo>
                <a:lnTo>
                  <a:pt x="1219382" y="0"/>
                </a:lnTo>
                <a:lnTo>
                  <a:pt x="0" y="0"/>
                </a:lnTo>
                <a:lnTo>
                  <a:pt x="0" y="401486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963985" y="4728956"/>
            <a:ext cx="1219835" cy="401955"/>
          </a:xfrm>
          <a:custGeom>
            <a:avLst/>
            <a:gdLst/>
            <a:ahLst/>
            <a:cxnLst/>
            <a:rect l="l" t="t" r="r" b="b"/>
            <a:pathLst>
              <a:path w="1219834" h="401954">
                <a:moveTo>
                  <a:pt x="0" y="401486"/>
                </a:moveTo>
                <a:lnTo>
                  <a:pt x="1219382" y="401486"/>
                </a:lnTo>
                <a:lnTo>
                  <a:pt x="1219382" y="0"/>
                </a:lnTo>
                <a:lnTo>
                  <a:pt x="0" y="0"/>
                </a:lnTo>
                <a:lnTo>
                  <a:pt x="0" y="401486"/>
                </a:lnTo>
                <a:close/>
              </a:path>
            </a:pathLst>
          </a:custGeom>
          <a:ln w="34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63985" y="4783955"/>
            <a:ext cx="121983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10"/>
              </a:spcBef>
            </a:pPr>
            <a:r>
              <a:rPr sz="1550" spc="30" dirty="0">
                <a:latin typeface="宋体"/>
                <a:cs typeface="宋体"/>
              </a:rPr>
              <a:t>设计与实现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86566" y="4728956"/>
            <a:ext cx="610235" cy="401955"/>
          </a:xfrm>
          <a:custGeom>
            <a:avLst/>
            <a:gdLst/>
            <a:ahLst/>
            <a:cxnLst/>
            <a:rect l="l" t="t" r="r" b="b"/>
            <a:pathLst>
              <a:path w="610234" h="401954">
                <a:moveTo>
                  <a:pt x="0" y="401486"/>
                </a:moveTo>
                <a:lnTo>
                  <a:pt x="609698" y="401486"/>
                </a:lnTo>
                <a:lnTo>
                  <a:pt x="609698" y="0"/>
                </a:lnTo>
                <a:lnTo>
                  <a:pt x="0" y="0"/>
                </a:lnTo>
                <a:lnTo>
                  <a:pt x="0" y="401486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86566" y="4728956"/>
            <a:ext cx="610235" cy="401955"/>
          </a:xfrm>
          <a:custGeom>
            <a:avLst/>
            <a:gdLst/>
            <a:ahLst/>
            <a:cxnLst/>
            <a:rect l="l" t="t" r="r" b="b"/>
            <a:pathLst>
              <a:path w="610234" h="401954">
                <a:moveTo>
                  <a:pt x="0" y="401486"/>
                </a:moveTo>
                <a:lnTo>
                  <a:pt x="609698" y="401486"/>
                </a:lnTo>
                <a:lnTo>
                  <a:pt x="609698" y="0"/>
                </a:lnTo>
                <a:lnTo>
                  <a:pt x="0" y="0"/>
                </a:lnTo>
                <a:lnTo>
                  <a:pt x="0" y="401486"/>
                </a:lnTo>
                <a:close/>
              </a:path>
            </a:pathLst>
          </a:custGeom>
          <a:ln w="34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386566" y="4783955"/>
            <a:ext cx="61023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10"/>
              </a:spcBef>
            </a:pPr>
            <a:r>
              <a:rPr sz="1550" spc="30" dirty="0">
                <a:latin typeface="宋体"/>
                <a:cs typeface="宋体"/>
              </a:rPr>
              <a:t>测试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99593" y="4728956"/>
            <a:ext cx="610235" cy="401955"/>
          </a:xfrm>
          <a:prstGeom prst="rect">
            <a:avLst/>
          </a:prstGeom>
          <a:solidFill>
            <a:srgbClr val="E8EDF7"/>
          </a:solidFill>
          <a:ln w="3412">
            <a:solidFill>
              <a:srgbClr val="000000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545"/>
              </a:spcBef>
            </a:pPr>
            <a:r>
              <a:rPr sz="1550" spc="30" dirty="0">
                <a:latin typeface="宋体"/>
                <a:cs typeface="宋体"/>
              </a:rPr>
              <a:t>维护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92926" y="4929691"/>
            <a:ext cx="118745" cy="0"/>
          </a:xfrm>
          <a:custGeom>
            <a:avLst/>
            <a:gdLst/>
            <a:ahLst/>
            <a:cxnLst/>
            <a:rect l="l" t="t" r="r" b="b"/>
            <a:pathLst>
              <a:path w="118744">
                <a:moveTo>
                  <a:pt x="0" y="0"/>
                </a:moveTo>
                <a:lnTo>
                  <a:pt x="118139" y="0"/>
                </a:lnTo>
              </a:path>
            </a:pathLst>
          </a:custGeom>
          <a:ln w="19829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83736" y="4874169"/>
            <a:ext cx="113030" cy="111125"/>
          </a:xfrm>
          <a:custGeom>
            <a:avLst/>
            <a:gdLst/>
            <a:ahLst/>
            <a:cxnLst/>
            <a:rect l="l" t="t" r="r" b="b"/>
            <a:pathLst>
              <a:path w="113030" h="111125">
                <a:moveTo>
                  <a:pt x="0" y="0"/>
                </a:moveTo>
                <a:lnTo>
                  <a:pt x="9953" y="27184"/>
                </a:lnTo>
                <a:lnTo>
                  <a:pt x="13270" y="55527"/>
                </a:lnTo>
                <a:lnTo>
                  <a:pt x="9953" y="83868"/>
                </a:lnTo>
                <a:lnTo>
                  <a:pt x="0" y="111044"/>
                </a:lnTo>
                <a:lnTo>
                  <a:pt x="112418" y="55522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12309" y="4929691"/>
            <a:ext cx="118745" cy="0"/>
          </a:xfrm>
          <a:custGeom>
            <a:avLst/>
            <a:gdLst/>
            <a:ahLst/>
            <a:cxnLst/>
            <a:rect l="l" t="t" r="r" b="b"/>
            <a:pathLst>
              <a:path w="118744">
                <a:moveTo>
                  <a:pt x="0" y="0"/>
                </a:moveTo>
                <a:lnTo>
                  <a:pt x="118154" y="0"/>
                </a:lnTo>
              </a:path>
            </a:pathLst>
          </a:custGeom>
          <a:ln w="19829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03075" y="4874169"/>
            <a:ext cx="113030" cy="111125"/>
          </a:xfrm>
          <a:custGeom>
            <a:avLst/>
            <a:gdLst/>
            <a:ahLst/>
            <a:cxnLst/>
            <a:rect l="l" t="t" r="r" b="b"/>
            <a:pathLst>
              <a:path w="113030" h="111125">
                <a:moveTo>
                  <a:pt x="0" y="0"/>
                </a:moveTo>
                <a:lnTo>
                  <a:pt x="10001" y="27184"/>
                </a:lnTo>
                <a:lnTo>
                  <a:pt x="13335" y="55527"/>
                </a:lnTo>
                <a:lnTo>
                  <a:pt x="10001" y="83868"/>
                </a:lnTo>
                <a:lnTo>
                  <a:pt x="0" y="111044"/>
                </a:lnTo>
                <a:lnTo>
                  <a:pt x="112418" y="55522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931705" y="4929691"/>
            <a:ext cx="118745" cy="0"/>
          </a:xfrm>
          <a:custGeom>
            <a:avLst/>
            <a:gdLst/>
            <a:ahLst/>
            <a:cxnLst/>
            <a:rect l="l" t="t" r="r" b="b"/>
            <a:pathLst>
              <a:path w="118745">
                <a:moveTo>
                  <a:pt x="0" y="0"/>
                </a:moveTo>
                <a:lnTo>
                  <a:pt x="118154" y="0"/>
                </a:lnTo>
              </a:path>
            </a:pathLst>
          </a:custGeom>
          <a:ln w="19829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022471" y="4874169"/>
            <a:ext cx="113030" cy="111125"/>
          </a:xfrm>
          <a:custGeom>
            <a:avLst/>
            <a:gdLst/>
            <a:ahLst/>
            <a:cxnLst/>
            <a:rect l="l" t="t" r="r" b="b"/>
            <a:pathLst>
              <a:path w="113029" h="111125">
                <a:moveTo>
                  <a:pt x="0" y="0"/>
                </a:moveTo>
                <a:lnTo>
                  <a:pt x="10001" y="27184"/>
                </a:lnTo>
                <a:lnTo>
                  <a:pt x="13335" y="55527"/>
                </a:lnTo>
                <a:lnTo>
                  <a:pt x="10001" y="83868"/>
                </a:lnTo>
                <a:lnTo>
                  <a:pt x="0" y="111044"/>
                </a:lnTo>
                <a:lnTo>
                  <a:pt x="112418" y="55522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760800" y="4929691"/>
            <a:ext cx="118745" cy="0"/>
          </a:xfrm>
          <a:custGeom>
            <a:avLst/>
            <a:gdLst/>
            <a:ahLst/>
            <a:cxnLst/>
            <a:rect l="l" t="t" r="r" b="b"/>
            <a:pathLst>
              <a:path w="118745">
                <a:moveTo>
                  <a:pt x="0" y="0"/>
                </a:moveTo>
                <a:lnTo>
                  <a:pt x="118154" y="0"/>
                </a:lnTo>
              </a:path>
            </a:pathLst>
          </a:custGeom>
          <a:ln w="19829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851566" y="4874169"/>
            <a:ext cx="113030" cy="111125"/>
          </a:xfrm>
          <a:custGeom>
            <a:avLst/>
            <a:gdLst/>
            <a:ahLst/>
            <a:cxnLst/>
            <a:rect l="l" t="t" r="r" b="b"/>
            <a:pathLst>
              <a:path w="113029" h="111125">
                <a:moveTo>
                  <a:pt x="0" y="0"/>
                </a:moveTo>
                <a:lnTo>
                  <a:pt x="10001" y="27184"/>
                </a:lnTo>
                <a:lnTo>
                  <a:pt x="13335" y="55527"/>
                </a:lnTo>
                <a:lnTo>
                  <a:pt x="10001" y="83868"/>
                </a:lnTo>
                <a:lnTo>
                  <a:pt x="0" y="111044"/>
                </a:lnTo>
                <a:lnTo>
                  <a:pt x="112418" y="55522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183381" y="4929691"/>
            <a:ext cx="118745" cy="0"/>
          </a:xfrm>
          <a:custGeom>
            <a:avLst/>
            <a:gdLst/>
            <a:ahLst/>
            <a:cxnLst/>
            <a:rect l="l" t="t" r="r" b="b"/>
            <a:pathLst>
              <a:path w="118745">
                <a:moveTo>
                  <a:pt x="0" y="0"/>
                </a:moveTo>
                <a:lnTo>
                  <a:pt x="118154" y="0"/>
                </a:lnTo>
              </a:path>
            </a:pathLst>
          </a:custGeom>
          <a:ln w="19829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74148" y="4874169"/>
            <a:ext cx="113030" cy="111125"/>
          </a:xfrm>
          <a:custGeom>
            <a:avLst/>
            <a:gdLst/>
            <a:ahLst/>
            <a:cxnLst/>
            <a:rect l="l" t="t" r="r" b="b"/>
            <a:pathLst>
              <a:path w="113029" h="111125">
                <a:moveTo>
                  <a:pt x="0" y="0"/>
                </a:moveTo>
                <a:lnTo>
                  <a:pt x="10001" y="27184"/>
                </a:lnTo>
                <a:lnTo>
                  <a:pt x="13335" y="55527"/>
                </a:lnTo>
                <a:lnTo>
                  <a:pt x="10001" y="83868"/>
                </a:lnTo>
                <a:lnTo>
                  <a:pt x="0" y="111044"/>
                </a:lnTo>
                <a:lnTo>
                  <a:pt x="112418" y="55522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996264" y="4929691"/>
            <a:ext cx="118745" cy="0"/>
          </a:xfrm>
          <a:custGeom>
            <a:avLst/>
            <a:gdLst/>
            <a:ahLst/>
            <a:cxnLst/>
            <a:rect l="l" t="t" r="r" b="b"/>
            <a:pathLst>
              <a:path w="118745">
                <a:moveTo>
                  <a:pt x="0" y="0"/>
                </a:moveTo>
                <a:lnTo>
                  <a:pt x="118154" y="0"/>
                </a:lnTo>
              </a:path>
            </a:pathLst>
          </a:custGeom>
          <a:ln w="19829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087174" y="4874169"/>
            <a:ext cx="113030" cy="111125"/>
          </a:xfrm>
          <a:custGeom>
            <a:avLst/>
            <a:gdLst/>
            <a:ahLst/>
            <a:cxnLst/>
            <a:rect l="l" t="t" r="r" b="b"/>
            <a:pathLst>
              <a:path w="113029" h="111125">
                <a:moveTo>
                  <a:pt x="0" y="0"/>
                </a:moveTo>
                <a:lnTo>
                  <a:pt x="9920" y="27184"/>
                </a:lnTo>
                <a:lnTo>
                  <a:pt x="13227" y="55527"/>
                </a:lnTo>
                <a:lnTo>
                  <a:pt x="9920" y="83868"/>
                </a:lnTo>
                <a:lnTo>
                  <a:pt x="0" y="111044"/>
                </a:lnTo>
                <a:lnTo>
                  <a:pt x="112418" y="55522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84849" y="4407755"/>
            <a:ext cx="3963670" cy="321310"/>
          </a:xfrm>
          <a:custGeom>
            <a:avLst/>
            <a:gdLst/>
            <a:ahLst/>
            <a:cxnLst/>
            <a:rect l="l" t="t" r="r" b="b"/>
            <a:pathLst>
              <a:path w="3963670" h="321310">
                <a:moveTo>
                  <a:pt x="3963067" y="321192"/>
                </a:moveTo>
                <a:lnTo>
                  <a:pt x="3963067" y="0"/>
                </a:lnTo>
                <a:lnTo>
                  <a:pt x="0" y="0"/>
                </a:lnTo>
                <a:lnTo>
                  <a:pt x="0" y="237144"/>
                </a:lnTo>
              </a:path>
            </a:pathLst>
          </a:custGeom>
          <a:ln w="19830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28640" y="4617903"/>
            <a:ext cx="112418" cy="111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204275" y="4407755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144"/>
                </a:lnTo>
              </a:path>
            </a:pathLst>
          </a:custGeom>
          <a:ln w="20074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148065" y="4617903"/>
            <a:ext cx="113030" cy="111125"/>
          </a:xfrm>
          <a:custGeom>
            <a:avLst/>
            <a:gdLst/>
            <a:ahLst/>
            <a:cxnLst/>
            <a:rect l="l" t="t" r="r" b="b"/>
            <a:pathLst>
              <a:path w="113030" h="111125">
                <a:moveTo>
                  <a:pt x="0" y="0"/>
                </a:moveTo>
                <a:lnTo>
                  <a:pt x="56209" y="111044"/>
                </a:lnTo>
                <a:lnTo>
                  <a:pt x="105783" y="13108"/>
                </a:lnTo>
                <a:lnTo>
                  <a:pt x="56209" y="13108"/>
                </a:lnTo>
                <a:lnTo>
                  <a:pt x="27526" y="9831"/>
                </a:lnTo>
                <a:lnTo>
                  <a:pt x="0" y="0"/>
                </a:lnTo>
                <a:close/>
              </a:path>
              <a:path w="113030" h="111125">
                <a:moveTo>
                  <a:pt x="112418" y="0"/>
                </a:moveTo>
                <a:lnTo>
                  <a:pt x="84891" y="9831"/>
                </a:lnTo>
                <a:lnTo>
                  <a:pt x="56209" y="13108"/>
                </a:lnTo>
                <a:lnTo>
                  <a:pt x="105783" y="13108"/>
                </a:lnTo>
                <a:lnTo>
                  <a:pt x="112418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29761" y="1994154"/>
            <a:ext cx="533400" cy="381000"/>
          </a:xfrm>
          <a:custGeom>
            <a:avLst/>
            <a:gdLst/>
            <a:ahLst/>
            <a:cxnLst/>
            <a:rect l="l" t="t" r="r" b="b"/>
            <a:pathLst>
              <a:path w="533400" h="381000">
                <a:moveTo>
                  <a:pt x="533400" y="190500"/>
                </a:moveTo>
                <a:lnTo>
                  <a:pt x="0" y="190500"/>
                </a:lnTo>
                <a:lnTo>
                  <a:pt x="266700" y="381000"/>
                </a:lnTo>
                <a:lnTo>
                  <a:pt x="533400" y="190500"/>
                </a:lnTo>
                <a:close/>
              </a:path>
              <a:path w="533400" h="381000">
                <a:moveTo>
                  <a:pt x="400050" y="0"/>
                </a:moveTo>
                <a:lnTo>
                  <a:pt x="133350" y="0"/>
                </a:lnTo>
                <a:lnTo>
                  <a:pt x="133350" y="190500"/>
                </a:lnTo>
                <a:lnTo>
                  <a:pt x="400050" y="190500"/>
                </a:lnTo>
                <a:lnTo>
                  <a:pt x="400050" y="0"/>
                </a:lnTo>
                <a:close/>
              </a:path>
            </a:pathLst>
          </a:custGeom>
          <a:solidFill>
            <a:srgbClr val="0092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429761" y="1994154"/>
            <a:ext cx="533400" cy="381000"/>
          </a:xfrm>
          <a:custGeom>
            <a:avLst/>
            <a:gdLst/>
            <a:ahLst/>
            <a:cxnLst/>
            <a:rect l="l" t="t" r="r" b="b"/>
            <a:pathLst>
              <a:path w="533400" h="381000">
                <a:moveTo>
                  <a:pt x="0" y="190500"/>
                </a:moveTo>
                <a:lnTo>
                  <a:pt x="133350" y="190500"/>
                </a:lnTo>
                <a:lnTo>
                  <a:pt x="133350" y="0"/>
                </a:lnTo>
                <a:lnTo>
                  <a:pt x="400050" y="0"/>
                </a:lnTo>
                <a:lnTo>
                  <a:pt x="400050" y="190500"/>
                </a:lnTo>
                <a:lnTo>
                  <a:pt x="533400" y="190500"/>
                </a:lnTo>
                <a:lnTo>
                  <a:pt x="266700" y="381000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006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429761" y="2897885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533400" y="228600"/>
                </a:moveTo>
                <a:lnTo>
                  <a:pt x="0" y="228600"/>
                </a:lnTo>
                <a:lnTo>
                  <a:pt x="266700" y="457200"/>
                </a:lnTo>
                <a:lnTo>
                  <a:pt x="533400" y="228600"/>
                </a:lnTo>
                <a:close/>
              </a:path>
              <a:path w="533400" h="457200">
                <a:moveTo>
                  <a:pt x="400050" y="0"/>
                </a:moveTo>
                <a:lnTo>
                  <a:pt x="133350" y="0"/>
                </a:lnTo>
                <a:lnTo>
                  <a:pt x="133350" y="228600"/>
                </a:lnTo>
                <a:lnTo>
                  <a:pt x="400050" y="228600"/>
                </a:lnTo>
                <a:lnTo>
                  <a:pt x="400050" y="0"/>
                </a:lnTo>
                <a:close/>
              </a:path>
            </a:pathLst>
          </a:custGeom>
          <a:solidFill>
            <a:srgbClr val="0092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429761" y="2897885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228600"/>
                </a:moveTo>
                <a:lnTo>
                  <a:pt x="133350" y="228600"/>
                </a:lnTo>
                <a:lnTo>
                  <a:pt x="133350" y="0"/>
                </a:lnTo>
                <a:lnTo>
                  <a:pt x="400050" y="0"/>
                </a:lnTo>
                <a:lnTo>
                  <a:pt x="400050" y="228600"/>
                </a:lnTo>
                <a:lnTo>
                  <a:pt x="533400" y="228600"/>
                </a:lnTo>
                <a:lnTo>
                  <a:pt x="266700" y="457200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6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3752" y="0"/>
            <a:ext cx="5579745" cy="135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8585" algn="r">
              <a:lnSpc>
                <a:spcPts val="524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3.3.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/>
              <a:t>需求工程过程模型</a:t>
            </a:r>
          </a:p>
          <a:p>
            <a:pPr marR="5080" algn="r">
              <a:lnSpc>
                <a:spcPts val="5240"/>
              </a:lnSpc>
            </a:pPr>
            <a:r>
              <a:rPr spc="-5" dirty="0">
                <a:latin typeface="Calibri"/>
                <a:cs typeface="Calibri"/>
              </a:rPr>
              <a:t>-</a:t>
            </a:r>
            <a:r>
              <a:rPr sz="3600" dirty="0"/>
              <a:t>原型系统开发过程模型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0572" y="1902727"/>
            <a:ext cx="1016635" cy="402590"/>
          </a:xfrm>
          <a:custGeom>
            <a:avLst/>
            <a:gdLst/>
            <a:ahLst/>
            <a:cxnLst/>
            <a:rect l="l" t="t" r="r" b="b"/>
            <a:pathLst>
              <a:path w="1016635" h="402589">
                <a:moveTo>
                  <a:pt x="0" y="402169"/>
                </a:moveTo>
                <a:lnTo>
                  <a:pt x="1016154" y="402169"/>
                </a:lnTo>
                <a:lnTo>
                  <a:pt x="1016154" y="0"/>
                </a:lnTo>
                <a:lnTo>
                  <a:pt x="0" y="0"/>
                </a:lnTo>
                <a:lnTo>
                  <a:pt x="0" y="402169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0572" y="1902727"/>
            <a:ext cx="1016635" cy="402590"/>
          </a:xfrm>
          <a:custGeom>
            <a:avLst/>
            <a:gdLst/>
            <a:ahLst/>
            <a:cxnLst/>
            <a:rect l="l" t="t" r="r" b="b"/>
            <a:pathLst>
              <a:path w="1016635" h="402589">
                <a:moveTo>
                  <a:pt x="0" y="402169"/>
                </a:moveTo>
                <a:lnTo>
                  <a:pt x="1016154" y="402169"/>
                </a:lnTo>
                <a:lnTo>
                  <a:pt x="1016154" y="0"/>
                </a:lnTo>
                <a:lnTo>
                  <a:pt x="0" y="0"/>
                </a:lnTo>
                <a:lnTo>
                  <a:pt x="0" y="402169"/>
                </a:lnTo>
                <a:close/>
              </a:path>
            </a:pathLst>
          </a:custGeom>
          <a:ln w="34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0572" y="1957841"/>
            <a:ext cx="1016635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10"/>
              </a:spcBef>
            </a:pPr>
            <a:r>
              <a:rPr sz="1550" spc="30" dirty="0">
                <a:latin typeface="宋体"/>
                <a:cs typeface="宋体"/>
              </a:rPr>
              <a:t>收集需求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19954" y="1902727"/>
            <a:ext cx="1016635" cy="402590"/>
          </a:xfrm>
          <a:custGeom>
            <a:avLst/>
            <a:gdLst/>
            <a:ahLst/>
            <a:cxnLst/>
            <a:rect l="l" t="t" r="r" b="b"/>
            <a:pathLst>
              <a:path w="1016635" h="402589">
                <a:moveTo>
                  <a:pt x="0" y="402169"/>
                </a:moveTo>
                <a:lnTo>
                  <a:pt x="1016154" y="402169"/>
                </a:lnTo>
                <a:lnTo>
                  <a:pt x="1016154" y="0"/>
                </a:lnTo>
                <a:lnTo>
                  <a:pt x="0" y="0"/>
                </a:lnTo>
                <a:lnTo>
                  <a:pt x="0" y="402169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19954" y="1902727"/>
            <a:ext cx="1016635" cy="402590"/>
          </a:xfrm>
          <a:custGeom>
            <a:avLst/>
            <a:gdLst/>
            <a:ahLst/>
            <a:cxnLst/>
            <a:rect l="l" t="t" r="r" b="b"/>
            <a:pathLst>
              <a:path w="1016635" h="402589">
                <a:moveTo>
                  <a:pt x="0" y="402169"/>
                </a:moveTo>
                <a:lnTo>
                  <a:pt x="1016154" y="402169"/>
                </a:lnTo>
                <a:lnTo>
                  <a:pt x="1016154" y="0"/>
                </a:lnTo>
                <a:lnTo>
                  <a:pt x="0" y="0"/>
                </a:lnTo>
                <a:lnTo>
                  <a:pt x="0" y="402169"/>
                </a:lnTo>
                <a:close/>
              </a:path>
            </a:pathLst>
          </a:custGeom>
          <a:ln w="34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19954" y="1957841"/>
            <a:ext cx="1016635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10"/>
              </a:spcBef>
            </a:pPr>
            <a:r>
              <a:rPr sz="1550" spc="30" dirty="0">
                <a:latin typeface="宋体"/>
                <a:cs typeface="宋体"/>
              </a:rPr>
              <a:t>快速设计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39294" y="1902727"/>
            <a:ext cx="1016635" cy="402590"/>
          </a:xfrm>
          <a:custGeom>
            <a:avLst/>
            <a:gdLst/>
            <a:ahLst/>
            <a:cxnLst/>
            <a:rect l="l" t="t" r="r" b="b"/>
            <a:pathLst>
              <a:path w="1016635" h="402589">
                <a:moveTo>
                  <a:pt x="0" y="402169"/>
                </a:moveTo>
                <a:lnTo>
                  <a:pt x="1016154" y="402169"/>
                </a:lnTo>
                <a:lnTo>
                  <a:pt x="1016154" y="0"/>
                </a:lnTo>
                <a:lnTo>
                  <a:pt x="0" y="0"/>
                </a:lnTo>
                <a:lnTo>
                  <a:pt x="0" y="402169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39294" y="1902727"/>
            <a:ext cx="1016635" cy="402590"/>
          </a:xfrm>
          <a:custGeom>
            <a:avLst/>
            <a:gdLst/>
            <a:ahLst/>
            <a:cxnLst/>
            <a:rect l="l" t="t" r="r" b="b"/>
            <a:pathLst>
              <a:path w="1016635" h="402589">
                <a:moveTo>
                  <a:pt x="0" y="402169"/>
                </a:moveTo>
                <a:lnTo>
                  <a:pt x="1016154" y="402169"/>
                </a:lnTo>
                <a:lnTo>
                  <a:pt x="1016154" y="0"/>
                </a:lnTo>
                <a:lnTo>
                  <a:pt x="0" y="0"/>
                </a:lnTo>
                <a:lnTo>
                  <a:pt x="0" y="402169"/>
                </a:lnTo>
                <a:close/>
              </a:path>
            </a:pathLst>
          </a:custGeom>
          <a:ln w="34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839294" y="1957841"/>
            <a:ext cx="1016635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10"/>
              </a:spcBef>
            </a:pPr>
            <a:r>
              <a:rPr sz="1550" spc="30" dirty="0">
                <a:latin typeface="宋体"/>
                <a:cs typeface="宋体"/>
              </a:rPr>
              <a:t>建立原型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58690" y="1902727"/>
            <a:ext cx="1626235" cy="402590"/>
          </a:xfrm>
          <a:custGeom>
            <a:avLst/>
            <a:gdLst/>
            <a:ahLst/>
            <a:cxnLst/>
            <a:rect l="l" t="t" r="r" b="b"/>
            <a:pathLst>
              <a:path w="1626235" h="402589">
                <a:moveTo>
                  <a:pt x="0" y="402169"/>
                </a:moveTo>
                <a:lnTo>
                  <a:pt x="1625909" y="402169"/>
                </a:lnTo>
                <a:lnTo>
                  <a:pt x="1625909" y="0"/>
                </a:lnTo>
                <a:lnTo>
                  <a:pt x="0" y="0"/>
                </a:lnTo>
                <a:lnTo>
                  <a:pt x="0" y="402169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58690" y="1902727"/>
            <a:ext cx="1626235" cy="402590"/>
          </a:xfrm>
          <a:custGeom>
            <a:avLst/>
            <a:gdLst/>
            <a:ahLst/>
            <a:cxnLst/>
            <a:rect l="l" t="t" r="r" b="b"/>
            <a:pathLst>
              <a:path w="1626235" h="402589">
                <a:moveTo>
                  <a:pt x="0" y="402169"/>
                </a:moveTo>
                <a:lnTo>
                  <a:pt x="1625909" y="402169"/>
                </a:lnTo>
                <a:lnTo>
                  <a:pt x="1625909" y="0"/>
                </a:lnTo>
                <a:lnTo>
                  <a:pt x="0" y="0"/>
                </a:lnTo>
                <a:lnTo>
                  <a:pt x="0" y="402169"/>
                </a:lnTo>
                <a:close/>
              </a:path>
            </a:pathLst>
          </a:custGeom>
          <a:ln w="34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58690" y="1957841"/>
            <a:ext cx="1626235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10"/>
              </a:spcBef>
            </a:pPr>
            <a:r>
              <a:rPr sz="1550" spc="30" dirty="0">
                <a:latin typeface="宋体"/>
                <a:cs typeface="宋体"/>
              </a:rPr>
              <a:t>评价并细化需求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87785" y="1902727"/>
            <a:ext cx="1219835" cy="402590"/>
          </a:xfrm>
          <a:custGeom>
            <a:avLst/>
            <a:gdLst/>
            <a:ahLst/>
            <a:cxnLst/>
            <a:rect l="l" t="t" r="r" b="b"/>
            <a:pathLst>
              <a:path w="1219834" h="402589">
                <a:moveTo>
                  <a:pt x="0" y="402169"/>
                </a:moveTo>
                <a:lnTo>
                  <a:pt x="1219382" y="402169"/>
                </a:lnTo>
                <a:lnTo>
                  <a:pt x="1219382" y="0"/>
                </a:lnTo>
                <a:lnTo>
                  <a:pt x="0" y="0"/>
                </a:lnTo>
                <a:lnTo>
                  <a:pt x="0" y="402169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87785" y="1902727"/>
            <a:ext cx="1219835" cy="402590"/>
          </a:xfrm>
          <a:custGeom>
            <a:avLst/>
            <a:gdLst/>
            <a:ahLst/>
            <a:cxnLst/>
            <a:rect l="l" t="t" r="r" b="b"/>
            <a:pathLst>
              <a:path w="1219834" h="402589">
                <a:moveTo>
                  <a:pt x="0" y="402169"/>
                </a:moveTo>
                <a:lnTo>
                  <a:pt x="1219382" y="402169"/>
                </a:lnTo>
                <a:lnTo>
                  <a:pt x="1219382" y="0"/>
                </a:lnTo>
                <a:lnTo>
                  <a:pt x="0" y="0"/>
                </a:lnTo>
                <a:lnTo>
                  <a:pt x="0" y="402169"/>
                </a:lnTo>
                <a:close/>
              </a:path>
            </a:pathLst>
          </a:custGeom>
          <a:ln w="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887785" y="1957841"/>
            <a:ext cx="1219835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10"/>
              </a:spcBef>
            </a:pPr>
            <a:r>
              <a:rPr sz="1550" spc="30" dirty="0">
                <a:latin typeface="宋体"/>
                <a:cs typeface="宋体"/>
              </a:rPr>
              <a:t>设计与实现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310366" y="1902727"/>
            <a:ext cx="610235" cy="402590"/>
          </a:xfrm>
          <a:custGeom>
            <a:avLst/>
            <a:gdLst/>
            <a:ahLst/>
            <a:cxnLst/>
            <a:rect l="l" t="t" r="r" b="b"/>
            <a:pathLst>
              <a:path w="610234" h="402589">
                <a:moveTo>
                  <a:pt x="0" y="402169"/>
                </a:moveTo>
                <a:lnTo>
                  <a:pt x="609698" y="402169"/>
                </a:lnTo>
                <a:lnTo>
                  <a:pt x="609698" y="0"/>
                </a:lnTo>
                <a:lnTo>
                  <a:pt x="0" y="0"/>
                </a:lnTo>
                <a:lnTo>
                  <a:pt x="0" y="402169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10366" y="1902727"/>
            <a:ext cx="610235" cy="402590"/>
          </a:xfrm>
          <a:custGeom>
            <a:avLst/>
            <a:gdLst/>
            <a:ahLst/>
            <a:cxnLst/>
            <a:rect l="l" t="t" r="r" b="b"/>
            <a:pathLst>
              <a:path w="610234" h="402589">
                <a:moveTo>
                  <a:pt x="0" y="402169"/>
                </a:moveTo>
                <a:lnTo>
                  <a:pt x="609698" y="402169"/>
                </a:lnTo>
                <a:lnTo>
                  <a:pt x="609698" y="0"/>
                </a:lnTo>
                <a:lnTo>
                  <a:pt x="0" y="0"/>
                </a:lnTo>
                <a:lnTo>
                  <a:pt x="0" y="402169"/>
                </a:lnTo>
                <a:close/>
              </a:path>
            </a:pathLst>
          </a:custGeom>
          <a:ln w="34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310366" y="1957841"/>
            <a:ext cx="610235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10"/>
              </a:spcBef>
            </a:pPr>
            <a:r>
              <a:rPr sz="1550" spc="30" dirty="0">
                <a:latin typeface="宋体"/>
                <a:cs typeface="宋体"/>
              </a:rPr>
              <a:t>测试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23393" y="1902727"/>
            <a:ext cx="610235" cy="402590"/>
          </a:xfrm>
          <a:prstGeom prst="rect">
            <a:avLst/>
          </a:prstGeom>
          <a:solidFill>
            <a:srgbClr val="E8EDF7"/>
          </a:solidFill>
          <a:ln w="3416">
            <a:solidFill>
              <a:srgbClr val="000000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545"/>
              </a:spcBef>
            </a:pPr>
            <a:r>
              <a:rPr sz="1550" spc="30" dirty="0">
                <a:latin typeface="宋体"/>
                <a:cs typeface="宋体"/>
              </a:rPr>
              <a:t>维护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16726" y="2103803"/>
            <a:ext cx="118745" cy="0"/>
          </a:xfrm>
          <a:custGeom>
            <a:avLst/>
            <a:gdLst/>
            <a:ahLst/>
            <a:cxnLst/>
            <a:rect l="l" t="t" r="r" b="b"/>
            <a:pathLst>
              <a:path w="118744">
                <a:moveTo>
                  <a:pt x="0" y="0"/>
                </a:moveTo>
                <a:lnTo>
                  <a:pt x="118139" y="0"/>
                </a:lnTo>
              </a:path>
            </a:pathLst>
          </a:custGeom>
          <a:ln w="19863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07536" y="2048187"/>
            <a:ext cx="113030" cy="111760"/>
          </a:xfrm>
          <a:custGeom>
            <a:avLst/>
            <a:gdLst/>
            <a:ahLst/>
            <a:cxnLst/>
            <a:rect l="l" t="t" r="r" b="b"/>
            <a:pathLst>
              <a:path w="113030" h="111760">
                <a:moveTo>
                  <a:pt x="0" y="0"/>
                </a:moveTo>
                <a:lnTo>
                  <a:pt x="9953" y="27230"/>
                </a:lnTo>
                <a:lnTo>
                  <a:pt x="13270" y="55621"/>
                </a:lnTo>
                <a:lnTo>
                  <a:pt x="9953" y="84010"/>
                </a:lnTo>
                <a:lnTo>
                  <a:pt x="0" y="111232"/>
                </a:lnTo>
                <a:lnTo>
                  <a:pt x="112418" y="55616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36109" y="2103803"/>
            <a:ext cx="118745" cy="0"/>
          </a:xfrm>
          <a:custGeom>
            <a:avLst/>
            <a:gdLst/>
            <a:ahLst/>
            <a:cxnLst/>
            <a:rect l="l" t="t" r="r" b="b"/>
            <a:pathLst>
              <a:path w="118744">
                <a:moveTo>
                  <a:pt x="0" y="0"/>
                </a:moveTo>
                <a:lnTo>
                  <a:pt x="118154" y="0"/>
                </a:lnTo>
              </a:path>
            </a:pathLst>
          </a:custGeom>
          <a:ln w="19863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26875" y="2048187"/>
            <a:ext cx="113030" cy="111760"/>
          </a:xfrm>
          <a:custGeom>
            <a:avLst/>
            <a:gdLst/>
            <a:ahLst/>
            <a:cxnLst/>
            <a:rect l="l" t="t" r="r" b="b"/>
            <a:pathLst>
              <a:path w="113030" h="111760">
                <a:moveTo>
                  <a:pt x="0" y="0"/>
                </a:moveTo>
                <a:lnTo>
                  <a:pt x="10001" y="27230"/>
                </a:lnTo>
                <a:lnTo>
                  <a:pt x="13335" y="55621"/>
                </a:lnTo>
                <a:lnTo>
                  <a:pt x="10001" y="84010"/>
                </a:lnTo>
                <a:lnTo>
                  <a:pt x="0" y="111232"/>
                </a:lnTo>
                <a:lnTo>
                  <a:pt x="112418" y="55616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55505" y="2103803"/>
            <a:ext cx="118745" cy="0"/>
          </a:xfrm>
          <a:custGeom>
            <a:avLst/>
            <a:gdLst/>
            <a:ahLst/>
            <a:cxnLst/>
            <a:rect l="l" t="t" r="r" b="b"/>
            <a:pathLst>
              <a:path w="118745">
                <a:moveTo>
                  <a:pt x="0" y="0"/>
                </a:moveTo>
                <a:lnTo>
                  <a:pt x="118154" y="0"/>
                </a:lnTo>
              </a:path>
            </a:pathLst>
          </a:custGeom>
          <a:ln w="19863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946271" y="2048187"/>
            <a:ext cx="113030" cy="111760"/>
          </a:xfrm>
          <a:custGeom>
            <a:avLst/>
            <a:gdLst/>
            <a:ahLst/>
            <a:cxnLst/>
            <a:rect l="l" t="t" r="r" b="b"/>
            <a:pathLst>
              <a:path w="113029" h="111760">
                <a:moveTo>
                  <a:pt x="0" y="0"/>
                </a:moveTo>
                <a:lnTo>
                  <a:pt x="10001" y="27230"/>
                </a:lnTo>
                <a:lnTo>
                  <a:pt x="13335" y="55621"/>
                </a:lnTo>
                <a:lnTo>
                  <a:pt x="10001" y="84010"/>
                </a:lnTo>
                <a:lnTo>
                  <a:pt x="0" y="111232"/>
                </a:lnTo>
                <a:lnTo>
                  <a:pt x="112418" y="55616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84600" y="2103803"/>
            <a:ext cx="118745" cy="0"/>
          </a:xfrm>
          <a:custGeom>
            <a:avLst/>
            <a:gdLst/>
            <a:ahLst/>
            <a:cxnLst/>
            <a:rect l="l" t="t" r="r" b="b"/>
            <a:pathLst>
              <a:path w="118745">
                <a:moveTo>
                  <a:pt x="0" y="0"/>
                </a:moveTo>
                <a:lnTo>
                  <a:pt x="118154" y="0"/>
                </a:lnTo>
              </a:path>
            </a:pathLst>
          </a:custGeom>
          <a:ln w="19863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775366" y="2048187"/>
            <a:ext cx="113030" cy="111760"/>
          </a:xfrm>
          <a:custGeom>
            <a:avLst/>
            <a:gdLst/>
            <a:ahLst/>
            <a:cxnLst/>
            <a:rect l="l" t="t" r="r" b="b"/>
            <a:pathLst>
              <a:path w="113029" h="111760">
                <a:moveTo>
                  <a:pt x="0" y="0"/>
                </a:moveTo>
                <a:lnTo>
                  <a:pt x="10001" y="27230"/>
                </a:lnTo>
                <a:lnTo>
                  <a:pt x="13335" y="55621"/>
                </a:lnTo>
                <a:lnTo>
                  <a:pt x="10001" y="84010"/>
                </a:lnTo>
                <a:lnTo>
                  <a:pt x="0" y="111232"/>
                </a:lnTo>
                <a:lnTo>
                  <a:pt x="112418" y="55616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107181" y="2103803"/>
            <a:ext cx="118745" cy="0"/>
          </a:xfrm>
          <a:custGeom>
            <a:avLst/>
            <a:gdLst/>
            <a:ahLst/>
            <a:cxnLst/>
            <a:rect l="l" t="t" r="r" b="b"/>
            <a:pathLst>
              <a:path w="118745">
                <a:moveTo>
                  <a:pt x="0" y="0"/>
                </a:moveTo>
                <a:lnTo>
                  <a:pt x="118154" y="0"/>
                </a:lnTo>
              </a:path>
            </a:pathLst>
          </a:custGeom>
          <a:ln w="19863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197948" y="2048187"/>
            <a:ext cx="113030" cy="111760"/>
          </a:xfrm>
          <a:custGeom>
            <a:avLst/>
            <a:gdLst/>
            <a:ahLst/>
            <a:cxnLst/>
            <a:rect l="l" t="t" r="r" b="b"/>
            <a:pathLst>
              <a:path w="113029" h="111760">
                <a:moveTo>
                  <a:pt x="0" y="0"/>
                </a:moveTo>
                <a:lnTo>
                  <a:pt x="10001" y="27230"/>
                </a:lnTo>
                <a:lnTo>
                  <a:pt x="13335" y="55621"/>
                </a:lnTo>
                <a:lnTo>
                  <a:pt x="10001" y="84010"/>
                </a:lnTo>
                <a:lnTo>
                  <a:pt x="0" y="111232"/>
                </a:lnTo>
                <a:lnTo>
                  <a:pt x="112418" y="55616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920064" y="2103803"/>
            <a:ext cx="118745" cy="0"/>
          </a:xfrm>
          <a:custGeom>
            <a:avLst/>
            <a:gdLst/>
            <a:ahLst/>
            <a:cxnLst/>
            <a:rect l="l" t="t" r="r" b="b"/>
            <a:pathLst>
              <a:path w="118745">
                <a:moveTo>
                  <a:pt x="0" y="0"/>
                </a:moveTo>
                <a:lnTo>
                  <a:pt x="118154" y="0"/>
                </a:lnTo>
              </a:path>
            </a:pathLst>
          </a:custGeom>
          <a:ln w="19863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10974" y="2048187"/>
            <a:ext cx="113030" cy="111760"/>
          </a:xfrm>
          <a:custGeom>
            <a:avLst/>
            <a:gdLst/>
            <a:ahLst/>
            <a:cxnLst/>
            <a:rect l="l" t="t" r="r" b="b"/>
            <a:pathLst>
              <a:path w="113029" h="111760">
                <a:moveTo>
                  <a:pt x="0" y="0"/>
                </a:moveTo>
                <a:lnTo>
                  <a:pt x="9920" y="27230"/>
                </a:lnTo>
                <a:lnTo>
                  <a:pt x="13227" y="55621"/>
                </a:lnTo>
                <a:lnTo>
                  <a:pt x="9920" y="84010"/>
                </a:lnTo>
                <a:lnTo>
                  <a:pt x="0" y="111232"/>
                </a:lnTo>
                <a:lnTo>
                  <a:pt x="112418" y="55616"/>
                </a:lnTo>
                <a:lnTo>
                  <a:pt x="0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08649" y="1580980"/>
            <a:ext cx="3963670" cy="321945"/>
          </a:xfrm>
          <a:custGeom>
            <a:avLst/>
            <a:gdLst/>
            <a:ahLst/>
            <a:cxnLst/>
            <a:rect l="l" t="t" r="r" b="b"/>
            <a:pathLst>
              <a:path w="3963670" h="321944">
                <a:moveTo>
                  <a:pt x="3963067" y="321738"/>
                </a:moveTo>
                <a:lnTo>
                  <a:pt x="3963067" y="0"/>
                </a:lnTo>
                <a:lnTo>
                  <a:pt x="0" y="0"/>
                </a:lnTo>
                <a:lnTo>
                  <a:pt x="0" y="237547"/>
                </a:lnTo>
              </a:path>
            </a:pathLst>
          </a:custGeom>
          <a:ln w="19864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52440" y="1791486"/>
            <a:ext cx="112418" cy="111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128075" y="1580980"/>
            <a:ext cx="0" cy="238125"/>
          </a:xfrm>
          <a:custGeom>
            <a:avLst/>
            <a:gdLst/>
            <a:ahLst/>
            <a:cxnLst/>
            <a:rect l="l" t="t" r="r" b="b"/>
            <a:pathLst>
              <a:path h="238125">
                <a:moveTo>
                  <a:pt x="0" y="0"/>
                </a:moveTo>
                <a:lnTo>
                  <a:pt x="0" y="237547"/>
                </a:lnTo>
              </a:path>
            </a:pathLst>
          </a:custGeom>
          <a:ln w="20074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071865" y="1791486"/>
            <a:ext cx="113030" cy="111760"/>
          </a:xfrm>
          <a:custGeom>
            <a:avLst/>
            <a:gdLst/>
            <a:ahLst/>
            <a:cxnLst/>
            <a:rect l="l" t="t" r="r" b="b"/>
            <a:pathLst>
              <a:path w="113030" h="111760">
                <a:moveTo>
                  <a:pt x="0" y="0"/>
                </a:moveTo>
                <a:lnTo>
                  <a:pt x="56209" y="111232"/>
                </a:lnTo>
                <a:lnTo>
                  <a:pt x="105783" y="13130"/>
                </a:lnTo>
                <a:lnTo>
                  <a:pt x="56209" y="13130"/>
                </a:lnTo>
                <a:lnTo>
                  <a:pt x="27526" y="9848"/>
                </a:lnTo>
                <a:lnTo>
                  <a:pt x="0" y="0"/>
                </a:lnTo>
                <a:close/>
              </a:path>
              <a:path w="113030" h="111760">
                <a:moveTo>
                  <a:pt x="112418" y="0"/>
                </a:moveTo>
                <a:lnTo>
                  <a:pt x="84891" y="9848"/>
                </a:lnTo>
                <a:lnTo>
                  <a:pt x="56209" y="13130"/>
                </a:lnTo>
                <a:lnTo>
                  <a:pt x="105783" y="13130"/>
                </a:lnTo>
                <a:lnTo>
                  <a:pt x="112418" y="0"/>
                </a:lnTo>
                <a:close/>
              </a:path>
            </a:pathLst>
          </a:custGeom>
          <a:solidFill>
            <a:srgbClr val="467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165860" y="2657855"/>
            <a:ext cx="7200900" cy="3188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3857" y="51003"/>
            <a:ext cx="37973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3.3.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dirty="0"/>
              <a:t>螺旋式模型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640" y="1246378"/>
            <a:ext cx="1550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将</a:t>
            </a:r>
            <a:r>
              <a:rPr sz="2400" dirty="0">
                <a:solidFill>
                  <a:srgbClr val="009256"/>
                </a:solidFill>
                <a:latin typeface="宋体"/>
                <a:cs typeface="宋体"/>
              </a:rPr>
              <a:t>瀑布式模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640" y="1634693"/>
            <a:ext cx="1550670" cy="40271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99400"/>
              </a:lnSpc>
              <a:spcBef>
                <a:spcPts val="120"/>
              </a:spcBef>
            </a:pPr>
            <a:r>
              <a:rPr sz="2400" spc="-5" dirty="0">
                <a:solidFill>
                  <a:srgbClr val="009256"/>
                </a:solidFill>
                <a:latin typeface="宋体"/>
                <a:cs typeface="宋体"/>
              </a:rPr>
              <a:t>型与快速原 </a:t>
            </a:r>
            <a:r>
              <a:rPr sz="2400" dirty="0">
                <a:solidFill>
                  <a:srgbClr val="009256"/>
                </a:solidFill>
                <a:latin typeface="宋体"/>
                <a:cs typeface="宋体"/>
              </a:rPr>
              <a:t>型模型</a:t>
            </a:r>
            <a:r>
              <a:rPr sz="2400" dirty="0">
                <a:latin typeface="宋体"/>
                <a:cs typeface="宋体"/>
              </a:rPr>
              <a:t>结合 到一起，并 加上</a:t>
            </a:r>
            <a:r>
              <a:rPr sz="2400" dirty="0">
                <a:solidFill>
                  <a:srgbClr val="009256"/>
                </a:solidFill>
                <a:latin typeface="宋体"/>
                <a:cs typeface="宋体"/>
              </a:rPr>
              <a:t>风险分 </a:t>
            </a:r>
            <a:r>
              <a:rPr sz="2400" spc="-5" dirty="0">
                <a:solidFill>
                  <a:srgbClr val="009256"/>
                </a:solidFill>
                <a:latin typeface="宋体"/>
                <a:cs typeface="宋体"/>
              </a:rPr>
              <a:t>析</a:t>
            </a:r>
            <a:r>
              <a:rPr sz="2400" dirty="0">
                <a:latin typeface="宋体"/>
                <a:cs typeface="宋体"/>
              </a:rPr>
              <a:t>。理解这 种模型的一 个简便方法 是把它看作 在每个阶段 之前都增加 风险分析。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95982" y="3538080"/>
            <a:ext cx="3306445" cy="0"/>
          </a:xfrm>
          <a:custGeom>
            <a:avLst/>
            <a:gdLst/>
            <a:ahLst/>
            <a:cxnLst/>
            <a:rect l="l" t="t" r="r" b="b"/>
            <a:pathLst>
              <a:path w="3306445">
                <a:moveTo>
                  <a:pt x="0" y="0"/>
                </a:moveTo>
                <a:lnTo>
                  <a:pt x="3306093" y="0"/>
                </a:lnTo>
              </a:path>
            </a:pathLst>
          </a:custGeom>
          <a:ln w="164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02075" y="1154807"/>
            <a:ext cx="0" cy="4907280"/>
          </a:xfrm>
          <a:custGeom>
            <a:avLst/>
            <a:gdLst/>
            <a:ahLst/>
            <a:cxnLst/>
            <a:rect l="l" t="t" r="r" b="b"/>
            <a:pathLst>
              <a:path h="4907280">
                <a:moveTo>
                  <a:pt x="0" y="0"/>
                </a:moveTo>
                <a:lnTo>
                  <a:pt x="0" y="4906745"/>
                </a:lnTo>
              </a:path>
            </a:pathLst>
          </a:custGeom>
          <a:ln w="16465">
            <a:solidFill>
              <a:srgbClr val="000000"/>
            </a:solidFill>
            <a:prstDash val="lg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51032" y="1014703"/>
            <a:ext cx="102235" cy="153035"/>
          </a:xfrm>
          <a:custGeom>
            <a:avLst/>
            <a:gdLst/>
            <a:ahLst/>
            <a:cxnLst/>
            <a:rect l="l" t="t" r="r" b="b"/>
            <a:pathLst>
              <a:path w="102235" h="153034">
                <a:moveTo>
                  <a:pt x="51043" y="0"/>
                </a:moveTo>
                <a:lnTo>
                  <a:pt x="0" y="152840"/>
                </a:lnTo>
                <a:lnTo>
                  <a:pt x="102086" y="152840"/>
                </a:lnTo>
                <a:lnTo>
                  <a:pt x="51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48030" y="1756983"/>
            <a:ext cx="4949889" cy="3931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02075" y="3538080"/>
            <a:ext cx="3166110" cy="0"/>
          </a:xfrm>
          <a:custGeom>
            <a:avLst/>
            <a:gdLst/>
            <a:ahLst/>
            <a:cxnLst/>
            <a:rect l="l" t="t" r="r" b="b"/>
            <a:pathLst>
              <a:path w="3166109">
                <a:moveTo>
                  <a:pt x="3165655" y="0"/>
                </a:moveTo>
                <a:lnTo>
                  <a:pt x="0" y="0"/>
                </a:lnTo>
              </a:path>
            </a:pathLst>
          </a:custGeom>
          <a:ln w="164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654970" y="3487270"/>
            <a:ext cx="153670" cy="102235"/>
          </a:xfrm>
          <a:custGeom>
            <a:avLst/>
            <a:gdLst/>
            <a:ahLst/>
            <a:cxnLst/>
            <a:rect l="l" t="t" r="r" b="b"/>
            <a:pathLst>
              <a:path w="153670" h="102235">
                <a:moveTo>
                  <a:pt x="0" y="0"/>
                </a:moveTo>
                <a:lnTo>
                  <a:pt x="0" y="101756"/>
                </a:lnTo>
                <a:lnTo>
                  <a:pt x="153130" y="508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82591" y="2358770"/>
            <a:ext cx="2046605" cy="1179830"/>
          </a:xfrm>
          <a:custGeom>
            <a:avLst/>
            <a:gdLst/>
            <a:ahLst/>
            <a:cxnLst/>
            <a:rect l="l" t="t" r="r" b="b"/>
            <a:pathLst>
              <a:path w="2046604" h="1179829">
                <a:moveTo>
                  <a:pt x="0" y="1179310"/>
                </a:moveTo>
                <a:lnTo>
                  <a:pt x="2046403" y="0"/>
                </a:lnTo>
              </a:path>
            </a:pathLst>
          </a:custGeom>
          <a:ln w="1644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31302" y="3538080"/>
            <a:ext cx="2642235" cy="394970"/>
          </a:xfrm>
          <a:custGeom>
            <a:avLst/>
            <a:gdLst/>
            <a:ahLst/>
            <a:cxnLst/>
            <a:rect l="l" t="t" r="r" b="b"/>
            <a:pathLst>
              <a:path w="2642234" h="394970">
                <a:moveTo>
                  <a:pt x="0" y="0"/>
                </a:moveTo>
                <a:lnTo>
                  <a:pt x="2642048" y="394564"/>
                </a:lnTo>
              </a:path>
            </a:pathLst>
          </a:custGeom>
          <a:ln w="1643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64916" y="3489773"/>
            <a:ext cx="591820" cy="56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r">
              <a:lnSpc>
                <a:spcPct val="112599"/>
              </a:lnSpc>
              <a:spcBef>
                <a:spcPts val="95"/>
              </a:spcBef>
            </a:pPr>
            <a:r>
              <a:rPr sz="1050" spc="25" dirty="0">
                <a:latin typeface="宋体"/>
                <a:cs typeface="宋体"/>
              </a:rPr>
              <a:t>需求计划 与生命周 期计划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03948" y="3744095"/>
            <a:ext cx="57467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30" dirty="0">
                <a:latin typeface="宋体"/>
                <a:cs typeface="宋体"/>
              </a:rPr>
              <a:t>操作概念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55352" y="3329672"/>
            <a:ext cx="36893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30" dirty="0">
                <a:latin typeface="宋体"/>
                <a:cs typeface="宋体"/>
              </a:rPr>
              <a:t>原型</a:t>
            </a:r>
            <a:r>
              <a:rPr sz="1050" spc="1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46730" y="3024129"/>
            <a:ext cx="300355" cy="378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95"/>
              </a:spcBef>
            </a:pPr>
            <a:r>
              <a:rPr sz="1050" spc="25" dirty="0">
                <a:latin typeface="宋体"/>
                <a:cs typeface="宋体"/>
              </a:rPr>
              <a:t>风险 分析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55952" y="2750767"/>
            <a:ext cx="57467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30" dirty="0">
                <a:latin typeface="宋体"/>
                <a:cs typeface="宋体"/>
              </a:rPr>
              <a:t>风险分析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06367" y="2330593"/>
            <a:ext cx="57467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30" dirty="0">
                <a:latin typeface="宋体"/>
                <a:cs typeface="宋体"/>
              </a:rPr>
              <a:t>风险分析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48412" y="2016557"/>
            <a:ext cx="57467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30" dirty="0">
                <a:latin typeface="宋体"/>
                <a:cs typeface="宋体"/>
              </a:rPr>
              <a:t>风险分析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73088" y="3326111"/>
            <a:ext cx="36893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30" dirty="0">
                <a:latin typeface="宋体"/>
                <a:cs typeface="宋体"/>
              </a:rPr>
              <a:t>原型</a:t>
            </a:r>
            <a:r>
              <a:rPr sz="1050" spc="15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89589" y="3326111"/>
            <a:ext cx="36893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30" dirty="0">
                <a:latin typeface="宋体"/>
                <a:cs typeface="宋体"/>
              </a:rPr>
              <a:t>原型</a:t>
            </a:r>
            <a:r>
              <a:rPr sz="1050" spc="15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55704" y="3133418"/>
            <a:ext cx="574675" cy="386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 marR="5080" indent="-137795">
              <a:lnSpc>
                <a:spcPct val="112599"/>
              </a:lnSpc>
              <a:spcBef>
                <a:spcPts val="95"/>
              </a:spcBef>
            </a:pPr>
            <a:r>
              <a:rPr sz="1050" spc="25" dirty="0">
                <a:latin typeface="宋体"/>
                <a:cs typeface="宋体"/>
              </a:rPr>
              <a:t>可运行的 </a:t>
            </a:r>
            <a:r>
              <a:rPr sz="1050" spc="30" dirty="0">
                <a:latin typeface="宋体"/>
                <a:cs typeface="宋体"/>
              </a:rPr>
              <a:t>原型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20720" y="2512332"/>
            <a:ext cx="986155" cy="386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7160">
              <a:lnSpc>
                <a:spcPct val="112599"/>
              </a:lnSpc>
              <a:spcBef>
                <a:spcPts val="95"/>
              </a:spcBef>
            </a:pPr>
            <a:r>
              <a:rPr sz="1050" spc="30" dirty="0">
                <a:latin typeface="宋体"/>
                <a:cs typeface="宋体"/>
              </a:rPr>
              <a:t>评估方案，  识别并排除风险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20927" y="1829479"/>
            <a:ext cx="848994" cy="56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145">
              <a:lnSpc>
                <a:spcPct val="112700"/>
              </a:lnSpc>
              <a:spcBef>
                <a:spcPts val="95"/>
              </a:spcBef>
            </a:pPr>
            <a:r>
              <a:rPr sz="1050" spc="30" dirty="0">
                <a:latin typeface="宋体"/>
                <a:cs typeface="宋体"/>
              </a:rPr>
              <a:t>确定目标，  选定方案，  设定约束条件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59411" y="968448"/>
            <a:ext cx="57467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30" dirty="0">
                <a:latin typeface="宋体"/>
                <a:cs typeface="宋体"/>
              </a:rPr>
              <a:t>累计费用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288159" y="1383192"/>
            <a:ext cx="516890" cy="78105"/>
          </a:xfrm>
          <a:custGeom>
            <a:avLst/>
            <a:gdLst/>
            <a:ahLst/>
            <a:cxnLst/>
            <a:rect l="l" t="t" r="r" b="b"/>
            <a:pathLst>
              <a:path w="516889" h="78105">
                <a:moveTo>
                  <a:pt x="0" y="77981"/>
                </a:moveTo>
                <a:lnTo>
                  <a:pt x="24737" y="40350"/>
                </a:lnTo>
                <a:lnTo>
                  <a:pt x="78658" y="14870"/>
                </a:lnTo>
                <a:lnTo>
                  <a:pt x="158293" y="1800"/>
                </a:lnTo>
                <a:lnTo>
                  <a:pt x="206667" y="0"/>
                </a:lnTo>
                <a:lnTo>
                  <a:pt x="260167" y="1398"/>
                </a:lnTo>
                <a:lnTo>
                  <a:pt x="318359" y="6029"/>
                </a:lnTo>
                <a:lnTo>
                  <a:pt x="380809" y="13923"/>
                </a:lnTo>
                <a:lnTo>
                  <a:pt x="447082" y="25114"/>
                </a:lnTo>
                <a:lnTo>
                  <a:pt x="516746" y="39634"/>
                </a:lnTo>
              </a:path>
            </a:pathLst>
          </a:custGeom>
          <a:ln w="29583">
            <a:solidFill>
              <a:srgbClr val="4879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777874" y="1366949"/>
            <a:ext cx="172085" cy="105410"/>
          </a:xfrm>
          <a:custGeom>
            <a:avLst/>
            <a:gdLst/>
            <a:ahLst/>
            <a:cxnLst/>
            <a:rect l="l" t="t" r="r" b="b"/>
            <a:pathLst>
              <a:path w="172085" h="105409">
                <a:moveTo>
                  <a:pt x="27854" y="0"/>
                </a:moveTo>
                <a:lnTo>
                  <a:pt x="0" y="104906"/>
                </a:lnTo>
                <a:lnTo>
                  <a:pt x="171517" y="94224"/>
                </a:lnTo>
                <a:lnTo>
                  <a:pt x="27854" y="0"/>
                </a:lnTo>
                <a:close/>
              </a:path>
            </a:pathLst>
          </a:custGeom>
          <a:solidFill>
            <a:srgbClr val="4879C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29843" y="1324987"/>
            <a:ext cx="516890" cy="78105"/>
          </a:xfrm>
          <a:custGeom>
            <a:avLst/>
            <a:gdLst/>
            <a:ahLst/>
            <a:cxnLst/>
            <a:rect l="l" t="t" r="r" b="b"/>
            <a:pathLst>
              <a:path w="516889" h="78105">
                <a:moveTo>
                  <a:pt x="0" y="77981"/>
                </a:moveTo>
                <a:lnTo>
                  <a:pt x="24737" y="40350"/>
                </a:lnTo>
                <a:lnTo>
                  <a:pt x="78658" y="14870"/>
                </a:lnTo>
                <a:lnTo>
                  <a:pt x="158293" y="1800"/>
                </a:lnTo>
                <a:lnTo>
                  <a:pt x="206667" y="0"/>
                </a:lnTo>
                <a:lnTo>
                  <a:pt x="260167" y="1398"/>
                </a:lnTo>
                <a:lnTo>
                  <a:pt x="318359" y="6029"/>
                </a:lnTo>
                <a:lnTo>
                  <a:pt x="380809" y="13923"/>
                </a:lnTo>
                <a:lnTo>
                  <a:pt x="447082" y="25114"/>
                </a:lnTo>
                <a:lnTo>
                  <a:pt x="516746" y="39634"/>
                </a:lnTo>
              </a:path>
            </a:pathLst>
          </a:custGeom>
          <a:ln w="295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719559" y="1308744"/>
            <a:ext cx="172085" cy="104775"/>
          </a:xfrm>
          <a:custGeom>
            <a:avLst/>
            <a:gdLst/>
            <a:ahLst/>
            <a:cxnLst/>
            <a:rect l="l" t="t" r="r" b="b"/>
            <a:pathLst>
              <a:path w="172085" h="104775">
                <a:moveTo>
                  <a:pt x="27854" y="0"/>
                </a:moveTo>
                <a:lnTo>
                  <a:pt x="0" y="104769"/>
                </a:lnTo>
                <a:lnTo>
                  <a:pt x="171517" y="94224"/>
                </a:lnTo>
                <a:lnTo>
                  <a:pt x="278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147314" y="1356576"/>
            <a:ext cx="848994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30" dirty="0">
                <a:latin typeface="宋体"/>
                <a:cs typeface="宋体"/>
              </a:rPr>
              <a:t>各步骤的进度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67769" y="4132359"/>
            <a:ext cx="57467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30" dirty="0">
                <a:latin typeface="宋体"/>
                <a:cs typeface="宋体"/>
              </a:rPr>
              <a:t>开发计划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64842" y="4210149"/>
            <a:ext cx="57467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30" dirty="0">
                <a:latin typeface="宋体"/>
                <a:cs typeface="宋体"/>
              </a:rPr>
              <a:t>需求确认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02943" y="3716705"/>
            <a:ext cx="437515" cy="378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 marR="5080" indent="-137795">
              <a:lnSpc>
                <a:spcPct val="110200"/>
              </a:lnSpc>
              <a:spcBef>
                <a:spcPts val="95"/>
              </a:spcBef>
            </a:pPr>
            <a:r>
              <a:rPr sz="1050" spc="25" dirty="0">
                <a:latin typeface="宋体"/>
                <a:cs typeface="宋体"/>
              </a:rPr>
              <a:t>软件需 </a:t>
            </a:r>
            <a:r>
              <a:rPr sz="1050" spc="30" dirty="0">
                <a:latin typeface="宋体"/>
                <a:cs typeface="宋体"/>
              </a:rPr>
              <a:t>求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038516" y="3761899"/>
            <a:ext cx="300355" cy="53086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algn="just">
              <a:lnSpc>
                <a:spcPct val="106500"/>
              </a:lnSpc>
              <a:spcBef>
                <a:spcPts val="45"/>
              </a:spcBef>
            </a:pPr>
            <a:r>
              <a:rPr sz="1050" spc="25" dirty="0">
                <a:latin typeface="宋体"/>
                <a:cs typeface="宋体"/>
              </a:rPr>
              <a:t>软件 产品 设计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987674" y="4860919"/>
            <a:ext cx="3810" cy="721360"/>
          </a:xfrm>
          <a:custGeom>
            <a:avLst/>
            <a:gdLst/>
            <a:ahLst/>
            <a:cxnLst/>
            <a:rect l="l" t="t" r="r" b="b"/>
            <a:pathLst>
              <a:path w="3810" h="721360">
                <a:moveTo>
                  <a:pt x="3430" y="0"/>
                </a:moveTo>
                <a:lnTo>
                  <a:pt x="0" y="721172"/>
                </a:lnTo>
              </a:path>
            </a:pathLst>
          </a:custGeom>
          <a:ln w="1646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242492" y="4508673"/>
            <a:ext cx="13335" cy="625475"/>
          </a:xfrm>
          <a:custGeom>
            <a:avLst/>
            <a:gdLst/>
            <a:ahLst/>
            <a:cxnLst/>
            <a:rect l="l" t="t" r="r" b="b"/>
            <a:pathLst>
              <a:path w="13334" h="625475">
                <a:moveTo>
                  <a:pt x="13309" y="0"/>
                </a:moveTo>
                <a:lnTo>
                  <a:pt x="0" y="625057"/>
                </a:lnTo>
              </a:path>
            </a:pathLst>
          </a:custGeom>
          <a:ln w="1646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6101370" y="4497922"/>
          <a:ext cx="1824353" cy="9941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0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220"/>
                        </a:lnSpc>
                        <a:spcBef>
                          <a:spcPts val="150"/>
                        </a:spcBef>
                      </a:pPr>
                      <a:r>
                        <a:rPr sz="1050" dirty="0">
                          <a:latin typeface="宋体"/>
                          <a:cs typeface="宋体"/>
                        </a:rPr>
                        <a:t>单</a:t>
                      </a:r>
                      <a:endParaRPr sz="1050">
                        <a:latin typeface="宋体"/>
                        <a:cs typeface="宋体"/>
                      </a:endParaRPr>
                    </a:p>
                    <a:p>
                      <a:pPr marL="52705">
                        <a:lnSpc>
                          <a:spcPts val="1220"/>
                        </a:lnSpc>
                        <a:tabLst>
                          <a:tab pos="394970" algn="l"/>
                        </a:tabLst>
                      </a:pPr>
                      <a:r>
                        <a:rPr sz="1575" spc="44" baseline="-5291" dirty="0">
                          <a:latin typeface="宋体"/>
                          <a:cs typeface="宋体"/>
                        </a:rPr>
                        <a:t>元	</a:t>
                      </a:r>
                      <a:r>
                        <a:rPr sz="1050" spc="30" dirty="0">
                          <a:latin typeface="宋体"/>
                          <a:cs typeface="宋体"/>
                        </a:rPr>
                        <a:t>编码</a:t>
                      </a:r>
                      <a:endParaRPr sz="1050">
                        <a:latin typeface="宋体"/>
                        <a:cs typeface="宋体"/>
                      </a:endParaRPr>
                    </a:p>
                  </a:txBody>
                  <a:tcPr marL="0" marR="0" marT="1905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1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R="9525" algn="ctr">
                        <a:lnSpc>
                          <a:spcPct val="100000"/>
                        </a:lnSpc>
                      </a:pPr>
                      <a:r>
                        <a:rPr sz="1050" spc="30" dirty="0">
                          <a:latin typeface="宋体"/>
                          <a:cs typeface="宋体"/>
                        </a:rPr>
                        <a:t>验收</a:t>
                      </a:r>
                      <a:endParaRPr sz="1050">
                        <a:latin typeface="宋体"/>
                        <a:cs typeface="宋体"/>
                      </a:endParaRPr>
                    </a:p>
                  </a:txBody>
                  <a:tcPr marL="0" marR="0" marT="571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350" marR="100330">
                        <a:lnSpc>
                          <a:spcPct val="112599"/>
                        </a:lnSpc>
                        <a:spcBef>
                          <a:spcPts val="45"/>
                        </a:spcBef>
                      </a:pPr>
                      <a:r>
                        <a:rPr sz="1050" dirty="0">
                          <a:latin typeface="宋体"/>
                          <a:cs typeface="宋体"/>
                        </a:rPr>
                        <a:t>集成 测试</a:t>
                      </a:r>
                      <a:endParaRPr sz="1050">
                        <a:latin typeface="宋体"/>
                        <a:cs typeface="宋体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245"/>
                        </a:lnSpc>
                      </a:pPr>
                      <a:r>
                        <a:rPr sz="1050" dirty="0">
                          <a:latin typeface="宋体"/>
                          <a:cs typeface="宋体"/>
                        </a:rPr>
                        <a:t>测</a:t>
                      </a:r>
                      <a:endParaRPr sz="1050">
                        <a:latin typeface="宋体"/>
                        <a:cs typeface="宋体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dirty="0">
                          <a:latin typeface="宋体"/>
                          <a:cs typeface="宋体"/>
                        </a:rPr>
                        <a:t>试</a:t>
                      </a:r>
                      <a:endParaRPr sz="105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21"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30" dirty="0">
                          <a:latin typeface="宋体"/>
                          <a:cs typeface="宋体"/>
                        </a:rPr>
                        <a:t>测试</a:t>
                      </a:r>
                      <a:endParaRPr sz="1050">
                        <a:latin typeface="宋体"/>
                        <a:cs typeface="宋体"/>
                      </a:endParaRPr>
                    </a:p>
                  </a:txBody>
                  <a:tcPr marL="0" marR="0" marT="63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object 38"/>
          <p:cNvSpPr txBox="1"/>
          <p:nvPr/>
        </p:nvSpPr>
        <p:spPr>
          <a:xfrm>
            <a:off x="5634410" y="5117565"/>
            <a:ext cx="30035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30" dirty="0">
                <a:latin typeface="宋体"/>
                <a:cs typeface="宋体"/>
              </a:rPr>
              <a:t>实现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92859" y="3991572"/>
            <a:ext cx="300355" cy="386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700"/>
              </a:lnSpc>
              <a:spcBef>
                <a:spcPts val="95"/>
              </a:spcBef>
            </a:pPr>
            <a:r>
              <a:rPr sz="1050" spc="25" dirty="0">
                <a:latin typeface="宋体"/>
                <a:cs typeface="宋体"/>
              </a:rPr>
              <a:t>详细 设计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41166" y="4850546"/>
            <a:ext cx="848994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30" dirty="0">
                <a:latin typeface="宋体"/>
                <a:cs typeface="宋体"/>
              </a:rPr>
              <a:t>计划下一阶段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024534" y="5035682"/>
            <a:ext cx="711835" cy="386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599"/>
              </a:lnSpc>
              <a:spcBef>
                <a:spcPts val="95"/>
              </a:spcBef>
            </a:pPr>
            <a:r>
              <a:rPr sz="1050" spc="25" dirty="0">
                <a:latin typeface="宋体"/>
                <a:cs typeface="宋体"/>
              </a:rPr>
              <a:t>开发、验证 下一级产品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755333" y="3744095"/>
            <a:ext cx="30035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30" dirty="0">
                <a:latin typeface="宋体"/>
                <a:cs typeface="宋体"/>
              </a:rPr>
              <a:t>时间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679441" y="3277361"/>
            <a:ext cx="990600" cy="762000"/>
          </a:xfrm>
          <a:custGeom>
            <a:avLst/>
            <a:gdLst/>
            <a:ahLst/>
            <a:cxnLst/>
            <a:rect l="l" t="t" r="r" b="b"/>
            <a:pathLst>
              <a:path w="990600" h="762000">
                <a:moveTo>
                  <a:pt x="0" y="381000"/>
                </a:moveTo>
                <a:lnTo>
                  <a:pt x="2906" y="339482"/>
                </a:lnTo>
                <a:lnTo>
                  <a:pt x="11423" y="299260"/>
                </a:lnTo>
                <a:lnTo>
                  <a:pt x="25249" y="260567"/>
                </a:lnTo>
                <a:lnTo>
                  <a:pt x="44082" y="223634"/>
                </a:lnTo>
                <a:lnTo>
                  <a:pt x="67620" y="188693"/>
                </a:lnTo>
                <a:lnTo>
                  <a:pt x="95560" y="155978"/>
                </a:lnTo>
                <a:lnTo>
                  <a:pt x="127601" y="125720"/>
                </a:lnTo>
                <a:lnTo>
                  <a:pt x="163441" y="98151"/>
                </a:lnTo>
                <a:lnTo>
                  <a:pt x="202777" y="73505"/>
                </a:lnTo>
                <a:lnTo>
                  <a:pt x="245307" y="52013"/>
                </a:lnTo>
                <a:lnTo>
                  <a:pt x="290729" y="33908"/>
                </a:lnTo>
                <a:lnTo>
                  <a:pt x="338742" y="19421"/>
                </a:lnTo>
                <a:lnTo>
                  <a:pt x="389043" y="8786"/>
                </a:lnTo>
                <a:lnTo>
                  <a:pt x="441329" y="2235"/>
                </a:lnTo>
                <a:lnTo>
                  <a:pt x="495300" y="0"/>
                </a:lnTo>
                <a:lnTo>
                  <a:pt x="549270" y="2235"/>
                </a:lnTo>
                <a:lnTo>
                  <a:pt x="601556" y="8786"/>
                </a:lnTo>
                <a:lnTo>
                  <a:pt x="651857" y="19421"/>
                </a:lnTo>
                <a:lnTo>
                  <a:pt x="699870" y="33908"/>
                </a:lnTo>
                <a:lnTo>
                  <a:pt x="745292" y="52013"/>
                </a:lnTo>
                <a:lnTo>
                  <a:pt x="787822" y="73505"/>
                </a:lnTo>
                <a:lnTo>
                  <a:pt x="827158" y="98151"/>
                </a:lnTo>
                <a:lnTo>
                  <a:pt x="862998" y="125720"/>
                </a:lnTo>
                <a:lnTo>
                  <a:pt x="895039" y="155978"/>
                </a:lnTo>
                <a:lnTo>
                  <a:pt x="922979" y="188693"/>
                </a:lnTo>
                <a:lnTo>
                  <a:pt x="946517" y="223634"/>
                </a:lnTo>
                <a:lnTo>
                  <a:pt x="965350" y="260567"/>
                </a:lnTo>
                <a:lnTo>
                  <a:pt x="979176" y="299260"/>
                </a:lnTo>
                <a:lnTo>
                  <a:pt x="987693" y="339482"/>
                </a:lnTo>
                <a:lnTo>
                  <a:pt x="990600" y="381000"/>
                </a:lnTo>
                <a:lnTo>
                  <a:pt x="987693" y="422517"/>
                </a:lnTo>
                <a:lnTo>
                  <a:pt x="979176" y="462739"/>
                </a:lnTo>
                <a:lnTo>
                  <a:pt x="965350" y="501432"/>
                </a:lnTo>
                <a:lnTo>
                  <a:pt x="946517" y="538365"/>
                </a:lnTo>
                <a:lnTo>
                  <a:pt x="922979" y="573306"/>
                </a:lnTo>
                <a:lnTo>
                  <a:pt x="895039" y="606021"/>
                </a:lnTo>
                <a:lnTo>
                  <a:pt x="862998" y="636279"/>
                </a:lnTo>
                <a:lnTo>
                  <a:pt x="827158" y="663848"/>
                </a:lnTo>
                <a:lnTo>
                  <a:pt x="787822" y="688494"/>
                </a:lnTo>
                <a:lnTo>
                  <a:pt x="745292" y="709986"/>
                </a:lnTo>
                <a:lnTo>
                  <a:pt x="699870" y="728091"/>
                </a:lnTo>
                <a:lnTo>
                  <a:pt x="651857" y="742578"/>
                </a:lnTo>
                <a:lnTo>
                  <a:pt x="601556" y="753213"/>
                </a:lnTo>
                <a:lnTo>
                  <a:pt x="549270" y="759764"/>
                </a:lnTo>
                <a:lnTo>
                  <a:pt x="495300" y="762000"/>
                </a:lnTo>
                <a:lnTo>
                  <a:pt x="441329" y="759764"/>
                </a:lnTo>
                <a:lnTo>
                  <a:pt x="389043" y="753213"/>
                </a:lnTo>
                <a:lnTo>
                  <a:pt x="338742" y="742578"/>
                </a:lnTo>
                <a:lnTo>
                  <a:pt x="290729" y="728091"/>
                </a:lnTo>
                <a:lnTo>
                  <a:pt x="245307" y="709986"/>
                </a:lnTo>
                <a:lnTo>
                  <a:pt x="202777" y="688494"/>
                </a:lnTo>
                <a:lnTo>
                  <a:pt x="163441" y="663848"/>
                </a:lnTo>
                <a:lnTo>
                  <a:pt x="127601" y="636279"/>
                </a:lnTo>
                <a:lnTo>
                  <a:pt x="95560" y="606021"/>
                </a:lnTo>
                <a:lnTo>
                  <a:pt x="67620" y="573306"/>
                </a:lnTo>
                <a:lnTo>
                  <a:pt x="44082" y="538365"/>
                </a:lnTo>
                <a:lnTo>
                  <a:pt x="25249" y="501432"/>
                </a:lnTo>
                <a:lnTo>
                  <a:pt x="11423" y="462739"/>
                </a:lnTo>
                <a:lnTo>
                  <a:pt x="2906" y="422517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006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3060" y="0"/>
            <a:ext cx="4563110" cy="135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24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3.3.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/>
              <a:t>需求工程过程</a:t>
            </a:r>
          </a:p>
          <a:p>
            <a:pPr marL="721360">
              <a:lnSpc>
                <a:spcPts val="5240"/>
              </a:lnSpc>
            </a:pPr>
            <a:r>
              <a:rPr spc="-5" dirty="0">
                <a:latin typeface="Calibri"/>
                <a:cs typeface="Calibri"/>
              </a:rPr>
              <a:t>-</a:t>
            </a:r>
            <a:r>
              <a:rPr sz="3600" dirty="0"/>
              <a:t>螺旋开发过程模型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53511" y="1705355"/>
            <a:ext cx="5533644" cy="4099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5279" y="2833878"/>
            <a:ext cx="1854200" cy="1653539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algn="just">
              <a:lnSpc>
                <a:spcPct val="96700"/>
              </a:lnSpc>
              <a:spcBef>
                <a:spcPts val="170"/>
              </a:spcBef>
            </a:pPr>
            <a:r>
              <a:rPr sz="1800" dirty="0">
                <a:latin typeface="宋体"/>
                <a:cs typeface="宋体"/>
              </a:rPr>
              <a:t>适用于软件开发螺 旋模型的需求开发 过程模型。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00">
              <a:latin typeface="宋体"/>
              <a:cs typeface="宋体"/>
            </a:endParaRPr>
          </a:p>
          <a:p>
            <a:pPr marL="12700" marR="5080">
              <a:lnSpc>
                <a:spcPts val="2020"/>
              </a:lnSpc>
              <a:spcBef>
                <a:spcPts val="5"/>
              </a:spcBef>
            </a:pPr>
            <a:r>
              <a:rPr sz="1800" dirty="0">
                <a:latin typeface="宋体"/>
                <a:cs typeface="宋体"/>
              </a:rPr>
              <a:t>协商和建模属于需 求分析活动。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78813"/>
            <a:ext cx="5885815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4200" indent="-572135">
              <a:lnSpc>
                <a:spcPct val="100000"/>
              </a:lnSpc>
              <a:spcBef>
                <a:spcPts val="105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latin typeface="宋体"/>
                <a:cs typeface="宋体"/>
              </a:rPr>
              <a:t>需求工程过程</a:t>
            </a:r>
            <a:endParaRPr sz="3200">
              <a:latin typeface="宋体"/>
              <a:cs typeface="宋体"/>
            </a:endParaRPr>
          </a:p>
          <a:p>
            <a:pPr marL="584200" indent="-572135">
              <a:lnSpc>
                <a:spcPct val="100000"/>
              </a:lnSpc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latin typeface="宋体"/>
                <a:cs typeface="宋体"/>
              </a:rPr>
              <a:t>需求工程过程的活动</a:t>
            </a:r>
            <a:endParaRPr sz="3200">
              <a:latin typeface="宋体"/>
              <a:cs typeface="宋体"/>
            </a:endParaRPr>
          </a:p>
          <a:p>
            <a:pPr marL="584200" indent="-572135">
              <a:lnSpc>
                <a:spcPct val="100000"/>
              </a:lnSpc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latin typeface="宋体"/>
                <a:cs typeface="宋体"/>
              </a:rPr>
              <a:t>需求工程过程的并发和</a:t>
            </a:r>
            <a:r>
              <a:rPr sz="3200" spc="-15" dirty="0">
                <a:latin typeface="宋体"/>
                <a:cs typeface="宋体"/>
              </a:rPr>
              <a:t>迭</a:t>
            </a:r>
            <a:r>
              <a:rPr sz="3200" dirty="0">
                <a:latin typeface="宋体"/>
                <a:cs typeface="宋体"/>
              </a:rPr>
              <a:t>代性</a:t>
            </a:r>
            <a:endParaRPr sz="3200">
              <a:latin typeface="宋体"/>
              <a:cs typeface="宋体"/>
            </a:endParaRPr>
          </a:p>
          <a:p>
            <a:pPr marL="584200" indent="-572135">
              <a:lnSpc>
                <a:spcPct val="100000"/>
              </a:lnSpc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solidFill>
                  <a:srgbClr val="F73609"/>
                </a:solidFill>
                <a:latin typeface="宋体"/>
                <a:cs typeface="宋体"/>
              </a:rPr>
              <a:t>实践方法的应用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09359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23"/>
                </a:lnTo>
              </a:path>
            </a:pathLst>
          </a:custGeom>
          <a:ln w="12700">
            <a:solidFill>
              <a:srgbClr val="006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298450"/>
          <a:ext cx="7619365" cy="1600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8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7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7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有效实践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内容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技术、方法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498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需求获取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定义项目前景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定义项目前景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marR="151066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问题分析 明确问题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发现业务需求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定义问题解决方案和系统特性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控制项目范围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控制项目范围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marR="4438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定义问题解决方案的边界 定义系统边界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974850"/>
          <a:ext cx="7620633" cy="4087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8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906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5" dirty="0">
                          <a:latin typeface="微软雅黑"/>
                          <a:cs typeface="微软雅黑"/>
                        </a:rPr>
                        <a:t>需求获取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实现用户价值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70485" marR="1511300" algn="just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涉众识别 涉众描述 涉众分析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200" spc="-5" dirty="0">
                          <a:latin typeface="微软雅黑"/>
                          <a:cs typeface="微软雅黑"/>
                        </a:rPr>
                        <a:t>涉众识别方法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69215" marR="90106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涉众的描述特征 涉众的优先级评估 涉众的风险评估 涉众的共赢分析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1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促进用户参与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0485" marR="151130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涉众采样 用户参与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代表采样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69215" marR="105346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制定参与策略 使用用户替代源 用户参与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77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需求获取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识别并使用各种需求源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11976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涉众分析 硬数据采样 需求重用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9215" marR="15113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涉众分析的各种方法（如前述） 硬数据采样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有效的获取需求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建立有效交流机制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9215" marR="151130">
                        <a:lnSpc>
                          <a:spcPts val="144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建立合作关系，维护交流气氛 利用适当的交流途径、交流方式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1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正确使用需求获取方法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面谈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调查问卷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69215" marR="41275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群体会议面谈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头脑风暴原型 观察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文档分析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需求重用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需求剥离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7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收集和组织需求获取的结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果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建立收集和组织需求结果的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微软雅黑"/>
                          <a:cs typeface="微软雅黑"/>
                        </a:rPr>
                        <a:t>机制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9215" marR="1217930">
                        <a:lnSpc>
                          <a:spcPts val="144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面向目标的方法 基于场景的方法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69215">
                        <a:lnSpc>
                          <a:spcPts val="133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基于用例的方法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953" y="71755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微软雅黑"/>
                <a:cs typeface="微软雅黑"/>
              </a:rPr>
              <a:t>需求分析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17652" y="1441450"/>
          <a:ext cx="8362315" cy="1584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1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06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为需求建模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通过建模手段明确和理解需求信息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上下文图和系统用例图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69215" marR="2107565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ERD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和数据字典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、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和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PDD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微软雅黑"/>
                          <a:cs typeface="微软雅黑"/>
                        </a:rPr>
                        <a:t>状态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转移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图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矩阵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UML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（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分析部分）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使用多种手段从多角度建模相同的内容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marR="24282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多视点方法 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框架 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Zachman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框架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7652" y="3422650"/>
          <a:ext cx="8361679" cy="19208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4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850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在合适的层次上描述需求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需求细化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0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唯一的标识每一条需求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需求细化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2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划分需求的优先级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确定需求优先级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marR="2703830" algn="just">
                        <a:lnSpc>
                          <a:spcPct val="100400"/>
                        </a:lnSpc>
                        <a:spcBef>
                          <a:spcPts val="190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累计投票 区域划分 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Top-N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ts val="143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数据量化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6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分析系统的背景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前期需求阶段的建模与分析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marR="2094230">
                        <a:lnSpc>
                          <a:spcPts val="144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面向目标的方法 面向问题域的分析 领域分析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69215">
                        <a:lnSpc>
                          <a:spcPts val="1335"/>
                        </a:lnSpc>
                      </a:pPr>
                      <a:r>
                        <a:rPr sz="1200" spc="-5" dirty="0">
                          <a:latin typeface="微软雅黑"/>
                          <a:cs typeface="微软雅黑"/>
                        </a:rPr>
                        <a:t>企业建模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1122" y="155575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需求规格说明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9034" y="1189863"/>
          <a:ext cx="8743949" cy="46350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0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0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1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6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有效实践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内容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技术、方法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687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60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需求规格说明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600" spc="-10" dirty="0">
                          <a:latin typeface="微软雅黑"/>
                          <a:cs typeface="微软雅黑"/>
                        </a:rPr>
                        <a:t>使用模版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600" spc="-10" dirty="0">
                          <a:latin typeface="微软雅黑"/>
                          <a:cs typeface="微软雅黑"/>
                        </a:rPr>
                        <a:t>使用需求文档模版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600" spc="-10" dirty="0">
                          <a:latin typeface="微软雅黑"/>
                          <a:cs typeface="微软雅黑"/>
                        </a:rPr>
                        <a:t>[IEEE1998]的模版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06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2890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创建需求规格说明文 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档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marR="23749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创建正式的软件需求规 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格说明文档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marR="1251585" algn="just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文档的类型 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文档的内容 文档的使用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3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87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进行良好的写作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综合使用各种描述手段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60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marR="2381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形式化、半形式和非形 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式化描述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723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学习有效的写作实践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发挥创造性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以交流为目标组织内容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微软雅黑"/>
                          <a:cs typeface="微软雅黑"/>
                        </a:rPr>
                        <a:t>得当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不要重复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形式依赖内容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  <a:p>
                      <a:pPr marL="69215" marR="2381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使用术语表和数据字典 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避免干扰文本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避免歧义词汇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2229" y="129997"/>
            <a:ext cx="39408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需求验证与管理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91083" y="1348866"/>
          <a:ext cx="8143874" cy="4101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8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0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219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需求验证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验证需求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69215" marR="2438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使用有效方法进行需求 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的验证和确认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微软雅黑"/>
                          <a:cs typeface="微软雅黑"/>
                        </a:rPr>
                        <a:t>需求评审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  <a:p>
                      <a:pPr marL="69215" marR="105600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原型与模拟 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开发测试用例 用户手册编制 利用跟踪关系 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自动化分析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938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需求管理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600" spc="-10" dirty="0">
                          <a:latin typeface="微软雅黑"/>
                          <a:cs typeface="微软雅黑"/>
                        </a:rPr>
                        <a:t>建立和维护需求基线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600" spc="-10" dirty="0">
                          <a:latin typeface="微软雅黑"/>
                          <a:cs typeface="微软雅黑"/>
                        </a:rPr>
                        <a:t>建立和维护需求基线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marR="146113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配置管理 状态维护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进行变更控制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进行变更控制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变更控制过程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变更控制事项（策略）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96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6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建立需求跟踪信息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6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建立需求跟踪信息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marR="1885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低端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高端的需求跟踪使 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用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  <a:p>
                      <a:pPr marL="69215" marR="105600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需求跟踪矩阵 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需求依赖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1122" y="129997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需求管理实践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087374"/>
          <a:ext cx="8292465" cy="48514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4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4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实践方法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内容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402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过程管理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建立需求工程过程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建立需求过程过程框架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48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4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选择需求工程过程工作组件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49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5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维护和使用有效的实践方法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49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维护和使用有效的实践方法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49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持续改进需求工程过程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评价需求工程过程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4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持续改进需求工程过程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49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项目管理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制定需求开发计划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spc="-10" dirty="0">
                          <a:latin typeface="微软雅黑"/>
                          <a:cs typeface="微软雅黑"/>
                        </a:rPr>
                        <a:t>提供充足的资源支持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4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选择需求开发的生命周期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49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建立需求工程团队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组建团队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74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维持团队内部的交流氛围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49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管理需求风险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管理需求风险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本章小结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74015" marR="5080" indent="-343535">
              <a:lnSpc>
                <a:spcPts val="3600"/>
              </a:lnSpc>
              <a:spcBef>
                <a:spcPts val="42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74650" algn="l"/>
              </a:tabLst>
            </a:pPr>
            <a:r>
              <a:rPr dirty="0"/>
              <a:t>需求</a:t>
            </a:r>
            <a:r>
              <a:rPr spc="-15" dirty="0"/>
              <a:t>工</a:t>
            </a:r>
            <a:r>
              <a:rPr dirty="0"/>
              <a:t>程有</a:t>
            </a:r>
            <a:r>
              <a:rPr spc="-15" dirty="0"/>
              <a:t>着</a:t>
            </a:r>
            <a:r>
              <a:rPr dirty="0"/>
              <a:t>属于</a:t>
            </a:r>
            <a:r>
              <a:rPr spc="-15" dirty="0"/>
              <a:t>它</a:t>
            </a:r>
            <a:r>
              <a:rPr dirty="0"/>
              <a:t>自己</a:t>
            </a:r>
            <a:r>
              <a:rPr spc="-15" dirty="0"/>
              <a:t>的</a:t>
            </a:r>
            <a:r>
              <a:rPr dirty="0"/>
              <a:t>生命</a:t>
            </a:r>
            <a:r>
              <a:rPr spc="-15" dirty="0"/>
              <a:t>周</a:t>
            </a:r>
            <a:r>
              <a:rPr dirty="0"/>
              <a:t>期模</a:t>
            </a:r>
            <a:r>
              <a:rPr spc="-15" dirty="0"/>
              <a:t>型</a:t>
            </a:r>
            <a:r>
              <a:rPr dirty="0"/>
              <a:t>， 存在着针对需求开发的</a:t>
            </a:r>
            <a:r>
              <a:rPr spc="-15" dirty="0"/>
              <a:t>需</a:t>
            </a:r>
            <a:r>
              <a:rPr dirty="0"/>
              <a:t>求工</a:t>
            </a:r>
            <a:r>
              <a:rPr spc="-15" dirty="0"/>
              <a:t>程</a:t>
            </a:r>
            <a:r>
              <a:rPr dirty="0"/>
              <a:t>过程</a:t>
            </a:r>
          </a:p>
          <a:p>
            <a:pPr marL="374015" marR="5080" indent="-343535">
              <a:lnSpc>
                <a:spcPct val="96900"/>
              </a:lnSpc>
              <a:spcBef>
                <a:spcPts val="27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74650" algn="l"/>
              </a:tabLst>
            </a:pPr>
            <a:r>
              <a:rPr dirty="0"/>
              <a:t>需求工程过程拥有一些</a:t>
            </a:r>
            <a:r>
              <a:rPr spc="-15" dirty="0"/>
              <a:t>常</a:t>
            </a:r>
            <a:r>
              <a:rPr dirty="0"/>
              <a:t>见的</a:t>
            </a:r>
            <a:r>
              <a:rPr spc="-15" dirty="0"/>
              <a:t>需</a:t>
            </a:r>
            <a:r>
              <a:rPr dirty="0"/>
              <a:t>求工</a:t>
            </a:r>
            <a:r>
              <a:rPr spc="-15" dirty="0"/>
              <a:t>程</a:t>
            </a:r>
            <a:r>
              <a:rPr spc="5" dirty="0"/>
              <a:t>活 </a:t>
            </a:r>
            <a:r>
              <a:rPr dirty="0"/>
              <a:t>动</a:t>
            </a:r>
            <a:r>
              <a:rPr spc="-5" dirty="0"/>
              <a:t>：</a:t>
            </a:r>
            <a:r>
              <a:rPr spc="-15" dirty="0">
                <a:solidFill>
                  <a:srgbClr val="FF0000"/>
                </a:solidFill>
              </a:rPr>
              <a:t>需</a:t>
            </a:r>
            <a:r>
              <a:rPr dirty="0">
                <a:solidFill>
                  <a:srgbClr val="FF0000"/>
                </a:solidFill>
              </a:rPr>
              <a:t>求获</a:t>
            </a:r>
            <a:r>
              <a:rPr spc="-15" dirty="0">
                <a:solidFill>
                  <a:srgbClr val="FF0000"/>
                </a:solidFill>
              </a:rPr>
              <a:t>取</a:t>
            </a:r>
            <a:r>
              <a:rPr dirty="0">
                <a:solidFill>
                  <a:srgbClr val="FF0000"/>
                </a:solidFill>
              </a:rPr>
              <a:t>、需</a:t>
            </a:r>
            <a:r>
              <a:rPr spc="-15" dirty="0">
                <a:solidFill>
                  <a:srgbClr val="FF0000"/>
                </a:solidFill>
              </a:rPr>
              <a:t>求</a:t>
            </a:r>
            <a:r>
              <a:rPr dirty="0">
                <a:solidFill>
                  <a:srgbClr val="FF0000"/>
                </a:solidFill>
              </a:rPr>
              <a:t>分析</a:t>
            </a:r>
            <a:r>
              <a:rPr spc="-15" dirty="0">
                <a:solidFill>
                  <a:srgbClr val="FF0000"/>
                </a:solidFill>
              </a:rPr>
              <a:t>、</a:t>
            </a:r>
            <a:r>
              <a:rPr dirty="0">
                <a:solidFill>
                  <a:srgbClr val="FF0000"/>
                </a:solidFill>
              </a:rPr>
              <a:t>需求</a:t>
            </a:r>
            <a:r>
              <a:rPr spc="-15" dirty="0">
                <a:solidFill>
                  <a:srgbClr val="FF0000"/>
                </a:solidFill>
              </a:rPr>
              <a:t>规</a:t>
            </a:r>
            <a:r>
              <a:rPr dirty="0">
                <a:solidFill>
                  <a:srgbClr val="FF0000"/>
                </a:solidFill>
              </a:rPr>
              <a:t>格说</a:t>
            </a:r>
            <a:r>
              <a:rPr spc="-15" dirty="0">
                <a:solidFill>
                  <a:srgbClr val="FF0000"/>
                </a:solidFill>
              </a:rPr>
              <a:t>明</a:t>
            </a:r>
            <a:r>
              <a:rPr dirty="0">
                <a:solidFill>
                  <a:srgbClr val="FF0000"/>
                </a:solidFill>
              </a:rPr>
              <a:t>、 需求验证和需求管理</a:t>
            </a:r>
          </a:p>
          <a:p>
            <a:pPr marL="374015" marR="406400" indent="-343535">
              <a:lnSpc>
                <a:spcPts val="3600"/>
              </a:lnSpc>
              <a:spcBef>
                <a:spcPts val="56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74650" algn="l"/>
              </a:tabLst>
            </a:pPr>
            <a:r>
              <a:rPr dirty="0"/>
              <a:t>需求开发活动是互相交</a:t>
            </a:r>
            <a:r>
              <a:rPr spc="-15" dirty="0"/>
              <a:t>织</a:t>
            </a:r>
            <a:r>
              <a:rPr dirty="0"/>
              <a:t>、并</a:t>
            </a:r>
            <a:r>
              <a:rPr spc="-15" dirty="0"/>
              <a:t>发</a:t>
            </a:r>
            <a:r>
              <a:rPr dirty="0"/>
              <a:t>、迭</a:t>
            </a:r>
            <a:r>
              <a:rPr spc="-15" dirty="0"/>
              <a:t>代</a:t>
            </a:r>
            <a:r>
              <a:rPr dirty="0"/>
              <a:t>和 递增的</a:t>
            </a:r>
          </a:p>
          <a:p>
            <a:pPr marL="374015" marR="407034" indent="-343535">
              <a:lnSpc>
                <a:spcPts val="3600"/>
              </a:lnSpc>
              <a:spcBef>
                <a:spcPts val="484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74650" algn="l"/>
              </a:tabLst>
            </a:pPr>
            <a:r>
              <a:rPr dirty="0"/>
              <a:t>需求工程过程的成功执</a:t>
            </a:r>
            <a:r>
              <a:rPr spc="-15" dirty="0"/>
              <a:t>行</a:t>
            </a:r>
            <a:r>
              <a:rPr dirty="0"/>
              <a:t>需要</a:t>
            </a:r>
            <a:r>
              <a:rPr spc="-15" dirty="0"/>
              <a:t>应</a:t>
            </a:r>
            <a:r>
              <a:rPr dirty="0"/>
              <a:t>用很</a:t>
            </a:r>
            <a:r>
              <a:rPr spc="-15" dirty="0"/>
              <a:t>多</a:t>
            </a:r>
            <a:r>
              <a:rPr dirty="0"/>
              <a:t>的 </a:t>
            </a:r>
            <a:r>
              <a:rPr dirty="0">
                <a:solidFill>
                  <a:srgbClr val="FF0000"/>
                </a:solidFill>
              </a:rPr>
              <a:t>有效实践方法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444</Words>
  <Application>Microsoft Office PowerPoint</Application>
  <PresentationFormat>全屏显示(4:3)</PresentationFormat>
  <Paragraphs>298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宋体</vt:lpstr>
      <vt:lpstr>微软雅黑</vt:lpstr>
      <vt:lpstr>Calibri</vt:lpstr>
      <vt:lpstr>Times New Roman</vt:lpstr>
      <vt:lpstr>Wingdings</vt:lpstr>
      <vt:lpstr>Office Theme</vt:lpstr>
      <vt:lpstr>主要内容</vt:lpstr>
      <vt:lpstr>需求工程过程与软件开发过程模型</vt:lpstr>
      <vt:lpstr>3.3. 瀑布式模型</vt:lpstr>
      <vt:lpstr>3.3. 瀑布式开发过程模型</vt:lpstr>
      <vt:lpstr>3.3. 快速原型模型</vt:lpstr>
      <vt:lpstr>3.3. 需求工程过程模型 -原型系统开发过程模型</vt:lpstr>
      <vt:lpstr>3.3. 螺旋式模型</vt:lpstr>
      <vt:lpstr>3.3. 需求工程过程 -螺旋开发过程模型</vt:lpstr>
      <vt:lpstr>主要内容</vt:lpstr>
      <vt:lpstr>PowerPoint 演示文稿</vt:lpstr>
      <vt:lpstr>需求分析</vt:lpstr>
      <vt:lpstr>需求规格说明</vt:lpstr>
      <vt:lpstr>需求验证与管理</vt:lpstr>
      <vt:lpstr>需求管理实践</vt:lpstr>
      <vt:lpstr>本章小结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BigDataBench</dc:title>
  <dc:creator>wanling gao</dc:creator>
  <cp:lastModifiedBy>- Vel</cp:lastModifiedBy>
  <cp:revision>1</cp:revision>
  <dcterms:created xsi:type="dcterms:W3CDTF">2024-04-25T08:20:25Z</dcterms:created>
  <dcterms:modified xsi:type="dcterms:W3CDTF">2024-04-25T08:26:38Z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2024-04-25T00:00:00Z</vt:filetime>
  </property>
</Properties>
</file>
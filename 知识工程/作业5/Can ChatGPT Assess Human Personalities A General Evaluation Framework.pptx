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1824" r:id="rId2"/>
    <p:sldId id="2725" r:id="rId3"/>
    <p:sldId id="2727" r:id="rId4"/>
    <p:sldId id="2726" r:id="rId5"/>
    <p:sldId id="2728" r:id="rId6"/>
    <p:sldId id="272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875" autoAdjust="0"/>
  </p:normalViewPr>
  <p:slideViewPr>
    <p:cSldViewPr snapToGrid="0">
      <p:cViewPr varScale="1">
        <p:scale>
          <a:sx n="83" d="100"/>
          <a:sy n="83" d="100"/>
        </p:scale>
        <p:origin x="10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2E23AB-6F89-44EF-A462-AA56BAA8DF63}" type="datetimeFigureOut">
              <a:rPr lang="zh-CN" altLang="en-US" smtClean="0"/>
              <a:t>2024/6/7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30DAC-0EEC-4D26-8BDA-0DAEC3D2D44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4884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大家好，今天我将向大家介绍一篇论文，题为</a:t>
            </a:r>
            <a:r>
              <a:rPr lang="en-US" altLang="zh-CN" dirty="0"/>
              <a:t>《Can ChatGPT Assess Human Personalities? A General Evaluation Framework》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6543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LLM</a:t>
            </a:r>
            <a:r>
              <a:rPr lang="zh-CN" altLang="en-US" dirty="0"/>
              <a:t>如</a:t>
            </a:r>
            <a:r>
              <a:rPr lang="en-US" altLang="zh-CN" dirty="0"/>
              <a:t>ChatGPT</a:t>
            </a:r>
            <a:r>
              <a:rPr lang="zh-CN" altLang="en-US" dirty="0"/>
              <a:t>在许多应用中已经取得了令人印象深刻的成果，但其潜在的类人心理尚未被充分探索。本文的动机在于研究</a:t>
            </a:r>
            <a:r>
              <a:rPr lang="en-US" altLang="zh-CN" dirty="0"/>
              <a:t>LLM</a:t>
            </a:r>
            <a:r>
              <a:rPr lang="zh-CN" altLang="en-US" dirty="0"/>
              <a:t>能否评估人类个性，这不仅有助于验证</a:t>
            </a:r>
            <a:r>
              <a:rPr lang="en-US" altLang="zh-CN" dirty="0"/>
              <a:t>LLM</a:t>
            </a:r>
            <a:r>
              <a:rPr lang="zh-CN" altLang="en-US" dirty="0"/>
              <a:t>在心理分析方面的能力，还能帮助我们优化这些模型，使其生成更公平和可靠的内容。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65781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本文提出了一个由三部分组成的通用评估框架：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无偏提示设计，通过随机排列，生成更一致和公正的答案。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主体替换查询，将问题陈述中的主体替换为不同的目标主体，以实现灵活查询和评估。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正确性评估指令，将问题指令重新表述为正确性评估的方式，以便</a:t>
            </a:r>
            <a:r>
              <a:rPr lang="en-US" altLang="zh-CN" dirty="0"/>
              <a:t>LLM</a:t>
            </a:r>
            <a:r>
              <a:rPr lang="zh-CN" altLang="en-US" dirty="0"/>
              <a:t>生成更清晰的响应。</a:t>
            </a:r>
            <a:endParaRPr lang="en-US" altLang="zh-CN" dirty="0"/>
          </a:p>
          <a:p>
            <a:pPr>
              <a:buFont typeface="+mj-lt"/>
              <a:buNone/>
            </a:pPr>
            <a:r>
              <a:rPr lang="zh-CN" altLang="en-US" dirty="0"/>
              <a:t>这个评估框架的目标是</a:t>
            </a:r>
            <a:r>
              <a:rPr lang="en-US" altLang="zh-CN" sz="1200" b="1" dirty="0"/>
              <a:t>:</a:t>
            </a:r>
            <a:r>
              <a:rPr lang="zh-CN" altLang="en-US" sz="1200" dirty="0"/>
              <a:t> 提供一种灵活的方式让</a:t>
            </a:r>
            <a:r>
              <a:rPr lang="en-US" altLang="zh-CN" sz="1200" dirty="0"/>
              <a:t>LLM</a:t>
            </a:r>
            <a:r>
              <a:rPr lang="zh-CN" altLang="en-US" sz="1200" dirty="0"/>
              <a:t>评估不同人群的个性。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2901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本文的主要贡献包括：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首次探索了</a:t>
            </a:r>
            <a:r>
              <a:rPr lang="en-US" altLang="zh-CN" dirty="0"/>
              <a:t>LLM</a:t>
            </a:r>
            <a:r>
              <a:rPr lang="zh-CN" altLang="en-US" dirty="0"/>
              <a:t>评估人类个性的可能性，并提出了一个通用框架。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设计了无偏提示、主体替换查询和正确性评估指令，鼓励</a:t>
            </a:r>
            <a:r>
              <a:rPr lang="en-US" altLang="zh-CN" dirty="0"/>
              <a:t>LLM</a:t>
            </a:r>
            <a:r>
              <a:rPr lang="zh-CN" altLang="en-US" dirty="0"/>
              <a:t>进行可靠的个性评估。</a:t>
            </a:r>
          </a:p>
          <a:p>
            <a:pPr>
              <a:buFont typeface="+mj-lt"/>
              <a:buAutoNum type="arabicPeriod"/>
            </a:pPr>
            <a:r>
              <a:rPr lang="zh-CN" altLang="en-US" dirty="0"/>
              <a:t>提出了三个评估指标：一致性、稳健性和公平性，用于衡量</a:t>
            </a:r>
            <a:r>
              <a:rPr lang="en-US" altLang="zh-CN" dirty="0"/>
              <a:t>LLM</a:t>
            </a:r>
            <a:r>
              <a:rPr lang="zh-CN" altLang="en-US" dirty="0"/>
              <a:t>的评估结果。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6578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在实验中，评估了</a:t>
            </a:r>
            <a:r>
              <a:rPr lang="en-US" altLang="zh-CN" dirty="0"/>
              <a:t>ChatGPT</a:t>
            </a:r>
            <a:r>
              <a:rPr lang="zh-CN" altLang="en-US" dirty="0"/>
              <a:t>、</a:t>
            </a:r>
            <a:r>
              <a:rPr lang="en-US" altLang="zh-CN" dirty="0"/>
              <a:t>GPT-4</a:t>
            </a:r>
            <a:r>
              <a:rPr lang="zh-CN" altLang="en-US" dirty="0"/>
              <a:t>和</a:t>
            </a:r>
            <a:r>
              <a:rPr lang="en-US" altLang="zh-CN" dirty="0" err="1"/>
              <a:t>InstructGPT</a:t>
            </a:r>
            <a:r>
              <a:rPr lang="zh-CN" altLang="en-US" dirty="0"/>
              <a:t>。结果表明，</a:t>
            </a:r>
            <a:r>
              <a:rPr lang="en-US" altLang="zh-CN" dirty="0"/>
              <a:t>ChatGPT</a:t>
            </a:r>
            <a:r>
              <a:rPr lang="zh-CN" altLang="en-US" dirty="0"/>
              <a:t>和</a:t>
            </a:r>
            <a:r>
              <a:rPr lang="en-US" altLang="zh-CN" dirty="0"/>
              <a:t>GPT-4</a:t>
            </a:r>
            <a:r>
              <a:rPr lang="zh-CN" altLang="en-US" dirty="0"/>
              <a:t>在一致性和公平性方面表现更好，但它们对提示偏差更敏感。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4628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综上所述，</a:t>
            </a:r>
            <a:r>
              <a:rPr lang="en-US" altLang="zh-CN" dirty="0"/>
              <a:t>LLM</a:t>
            </a:r>
            <a:r>
              <a:rPr lang="zh-CN" altLang="en-US" dirty="0"/>
              <a:t>可以评估人类个性，这为未来</a:t>
            </a:r>
            <a:r>
              <a:rPr lang="en-US" altLang="zh-CN" dirty="0"/>
              <a:t>LLM</a:t>
            </a:r>
            <a:r>
              <a:rPr lang="zh-CN" altLang="en-US" dirty="0"/>
              <a:t>心理学、社会学和治理的探索提供了宝贵的见解。未来的工作将致力于优化评估框架，减少模型对提示偏差的敏感性。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D7A2CCA-E5D5-4859-8035-B358016F08F8}" type="slidenum">
              <a:rPr lang="zh-CN" altLang="en-US" smtClean="0"/>
              <a:pPr>
                <a:defRPr/>
              </a:pPr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3385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9143C-CED1-90E7-AF23-8CCF8BEF82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916B4C-F30F-4D9E-7A93-5F23563C4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4A0C26-5E62-A453-AE31-F9B1F302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CB56-6D7A-4C44-A83F-3979940EF972}" type="datetimeFigureOut">
              <a:rPr lang="zh-CN" altLang="en-US" smtClean="0"/>
              <a:t>2024/6/7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525D97-9EC6-8E7D-2C62-D3321FED7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14B52A3-3D10-3528-0A3B-37CAAB17E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1621-9AF9-4D3A-B86D-9A24A4A1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5071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B9A293-4F6B-DEBA-C7A6-CA2A233D2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2EDA5D5-8EF7-27E6-FDC0-7E295C9310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0D9C05-8FA9-E2D7-C4F3-3C059A177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CB56-6D7A-4C44-A83F-3979940EF972}" type="datetimeFigureOut">
              <a:rPr lang="zh-CN" altLang="en-US" smtClean="0"/>
              <a:t>2024/6/7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4B0A5E-148E-1CD8-F8AC-B64C0A4FF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38132B-FE3D-2D98-3EE1-38A7224B9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1621-9AF9-4D3A-B86D-9A24A4A1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780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F84E2-7D52-904A-CAAE-25C49A388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891427-9EF8-29A8-A265-A37D2A85A4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C212DC9-33E5-C783-BD20-DEF4704F7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CB56-6D7A-4C44-A83F-3979940EF972}" type="datetimeFigureOut">
              <a:rPr lang="zh-CN" altLang="en-US" smtClean="0"/>
              <a:t>2024/6/7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63681F-AED1-9677-CAE8-C32A9DCCE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4F2FD9-A35C-BC1D-62F8-3EABCA3B6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1621-9AF9-4D3A-B86D-9A24A4A1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686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873633-386A-8897-E5FD-269686E83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3190C95-FF85-F62B-1C5E-50D8BE689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ED84B1-CC01-E4FA-0F7E-42BF6B8EEB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6FDD1A0-9799-79A0-0985-7BD521BF7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CB56-6D7A-4C44-A83F-3979940EF972}" type="datetimeFigureOut">
              <a:rPr lang="zh-CN" altLang="en-US" smtClean="0"/>
              <a:t>2024/6/7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303C1B-291C-D784-8E1C-FC09EFA8E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2A90F5-8B2B-CEC2-9C1D-37B0154F8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1621-9AF9-4D3A-B86D-9A24A4A1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8490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4BC0DE-13D6-7891-BBC7-A0CB42E9F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05004E-0BF3-6D95-9DAC-E90F8E4506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52187B-E470-1E4A-2476-038B4D6901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D0C4C4-9882-163B-6154-AB8AF6AF71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5C4F9E5-8BCE-EDFC-FBA9-152732AE73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0A3AA3-DBE6-B19E-B2F5-81BD3605B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CB56-6D7A-4C44-A83F-3979940EF972}" type="datetimeFigureOut">
              <a:rPr lang="zh-CN" altLang="en-US" smtClean="0"/>
              <a:t>2024/6/7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A490748-1352-AD73-65B0-9BFDA9F53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08DDC12-B2E1-41CF-C758-4384AAFD6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1621-9AF9-4D3A-B86D-9A24A4A1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791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21A274-2BE2-8F44-7273-53027BD5E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0011FC-61D7-69A2-4D12-99E955C26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CB56-6D7A-4C44-A83F-3979940EF972}" type="datetimeFigureOut">
              <a:rPr lang="zh-CN" altLang="en-US" smtClean="0"/>
              <a:t>2024/6/7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B4E5F67-B1C0-2782-1B1A-CFB3B1104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CB587C-C4E4-D78A-F19B-CE0E25C67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1621-9AF9-4D3A-B86D-9A24A4A1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5870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DB7F31E-890B-3ADE-64C1-52613EC52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CB56-6D7A-4C44-A83F-3979940EF972}" type="datetimeFigureOut">
              <a:rPr lang="zh-CN" altLang="en-US" smtClean="0"/>
              <a:t>2024/6/7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D4D066D-64DE-B871-0696-4C654DE80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479F63-7AE5-9F33-E27C-2BA7E713C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1621-9AF9-4D3A-B86D-9A24A4A1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624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795F58-1787-8B18-2787-A44815118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F1368D-EBC8-EB03-7B01-A44273D0D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1CE9ED-9557-168E-C667-33E5EB9AF1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EAE4213-4913-A332-B594-BEBDEDCDF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CB56-6D7A-4C44-A83F-3979940EF972}" type="datetimeFigureOut">
              <a:rPr lang="zh-CN" altLang="en-US" smtClean="0"/>
              <a:t>2024/6/7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0A7C1D-26E2-88BE-F473-0C8B9096D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4BA8F0-8DE9-7A0D-36C5-7F0944FC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1621-9AF9-4D3A-B86D-9A24A4A1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9983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4EC860-D7DB-DC66-D679-6C87C3B33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4A00B80-A837-797A-6E86-52E1FC7F3B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F03E611-49D9-79ED-8E89-BBCE0EF781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1C63B6-6465-5B8A-DB68-5A0B6E82A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CB56-6D7A-4C44-A83F-3979940EF972}" type="datetimeFigureOut">
              <a:rPr lang="zh-CN" altLang="en-US" smtClean="0"/>
              <a:t>2024/6/7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B0880C-72EA-674A-46AD-BA97BE529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C94BE60-85EB-E267-9102-F6548F33E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1621-9AF9-4D3A-B86D-9A24A4A1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9677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F900D7-94C6-825A-4C20-202A6500D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0A8A73-68DB-2686-569C-44B5D25F2E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F8F1790-A828-EDCD-CBEF-FE7989AE8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CB56-6D7A-4C44-A83F-3979940EF972}" type="datetimeFigureOut">
              <a:rPr lang="zh-CN" altLang="en-US" smtClean="0"/>
              <a:t>2024/6/7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65E6BA-03B9-CD7B-6F5C-9435B2FCE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1A5D8F-C97C-025A-7785-7DAB519E3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1621-9AF9-4D3A-B86D-9A24A4A1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761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FFAC767-84A0-9E16-DC66-2F98BB3D04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B396FA2-30F8-6D61-FB7C-8F7CD0A52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10D235-D0FF-A064-F54C-0B49C8E22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9CB56-6D7A-4C44-A83F-3979940EF972}" type="datetimeFigureOut">
              <a:rPr lang="zh-CN" altLang="en-US" smtClean="0"/>
              <a:t>2024/6/7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5EF797-3107-7DEB-A373-BF59EAED7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C086AD-E127-7CB9-6927-F4FF0E24F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4C1621-9AF9-4D3A-B86D-9A24A4A1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99333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样式1-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25963"/>
          <a:stretch/>
        </p:blipFill>
        <p:spPr>
          <a:xfrm>
            <a:off x="7191376" y="133072"/>
            <a:ext cx="5028334" cy="653579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0" y="1484313"/>
            <a:ext cx="2930035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5" name="文本占位符 12">
            <a:extLst>
              <a:ext uri="{FF2B5EF4-FFF2-40B4-BE49-F238E27FC236}">
                <a16:creationId xmlns:a16="http://schemas.microsoft.com/office/drawing/2014/main" id="{F63B7C85-1073-4365-852C-DE0C04E61B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697615" y="4908366"/>
            <a:ext cx="7059690" cy="41033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2FF2961-8E0B-4CFB-9897-39262A918722}"/>
              </a:ext>
            </a:extLst>
          </p:cNvPr>
          <p:cNvSpPr/>
          <p:nvPr userDrawn="1"/>
        </p:nvSpPr>
        <p:spPr>
          <a:xfrm>
            <a:off x="11525250" y="1484311"/>
            <a:ext cx="666749" cy="43644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2927998" y="1484310"/>
            <a:ext cx="377842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2F5BB1-3479-4B75-8121-C76027E92312}"/>
              </a:ext>
            </a:extLst>
          </p:cNvPr>
          <p:cNvSpPr/>
          <p:nvPr userDrawn="1"/>
        </p:nvSpPr>
        <p:spPr>
          <a:xfrm>
            <a:off x="11121340" y="1484310"/>
            <a:ext cx="403257" cy="4364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269877-3713-4708-B674-1A813AB36FFC}"/>
              </a:ext>
            </a:extLst>
          </p:cNvPr>
          <p:cNvSpPr txBox="1"/>
          <p:nvPr userDrawn="1"/>
        </p:nvSpPr>
        <p:spPr>
          <a:xfrm rot="16200000">
            <a:off x="10462781" y="3524086"/>
            <a:ext cx="3170099" cy="2616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>
            <a:defPPr>
              <a:defRPr lang="zh-CN"/>
            </a:defPPr>
            <a:lvl1pPr algn="dist">
              <a:defRPr sz="1100" b="1">
                <a:solidFill>
                  <a:schemeClr val="bg1">
                    <a:alpha val="2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di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INSTITUTE OF TECHNOLOGY</a:t>
            </a: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738" y="515429"/>
            <a:ext cx="2295327" cy="504694"/>
          </a:xfrm>
          <a:prstGeom prst="rect">
            <a:avLst/>
          </a:prstGeom>
        </p:spPr>
      </p:pic>
      <p:cxnSp>
        <p:nvCxnSpPr>
          <p:cNvPr id="42" name="直接连接符 41"/>
          <p:cNvCxnSpPr/>
          <p:nvPr userDrawn="1"/>
        </p:nvCxnSpPr>
        <p:spPr>
          <a:xfrm>
            <a:off x="2927998" y="1355988"/>
            <a:ext cx="0" cy="458984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 userDrawn="1"/>
        </p:nvCxnSpPr>
        <p:spPr>
          <a:xfrm>
            <a:off x="11522544" y="1400593"/>
            <a:ext cx="0" cy="4545237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组合 68"/>
          <p:cNvGrpSpPr/>
          <p:nvPr userDrawn="1"/>
        </p:nvGrpSpPr>
        <p:grpSpPr>
          <a:xfrm>
            <a:off x="566553" y="2031917"/>
            <a:ext cx="1778298" cy="3243219"/>
            <a:chOff x="611818" y="2031917"/>
            <a:chExt cx="1709547" cy="3117834"/>
          </a:xfrm>
        </p:grpSpPr>
        <p:grpSp>
          <p:nvGrpSpPr>
            <p:cNvPr id="70" name="组合 69"/>
            <p:cNvGrpSpPr/>
            <p:nvPr/>
          </p:nvGrpSpPr>
          <p:grpSpPr>
            <a:xfrm>
              <a:off x="611818" y="2051403"/>
              <a:ext cx="567014" cy="3098348"/>
              <a:chOff x="11305242" y="2003776"/>
              <a:chExt cx="354194" cy="1935432"/>
            </a:xfrm>
            <a:solidFill>
              <a:schemeClr val="bg1">
                <a:alpha val="5000"/>
              </a:schemeClr>
            </a:solidFill>
          </p:grpSpPr>
          <p:sp>
            <p:nvSpPr>
              <p:cNvPr id="85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07751" y="3052538"/>
                <a:ext cx="345981" cy="390126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86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382341" y="3639427"/>
                <a:ext cx="199170" cy="299781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 pitchFamily="34" charset="0"/>
                  <a:ea typeface="微软雅黑" panose="020B0503020204020204" pitchFamily="34" charset="-122"/>
                  <a:cs typeface="+mn-cs"/>
                </a:endParaRPr>
              </a:p>
            </p:txBody>
          </p:sp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11305242" y="2003776"/>
                <a:ext cx="354194" cy="439406"/>
                <a:chOff x="5548313" y="2084388"/>
                <a:chExt cx="547688" cy="679451"/>
              </a:xfrm>
              <a:grpFill/>
            </p:grpSpPr>
            <p:sp>
              <p:nvSpPr>
                <p:cNvPr id="92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3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11380191" y="2640087"/>
                <a:ext cx="214274" cy="229664"/>
                <a:chOff x="3792874" y="3156423"/>
                <a:chExt cx="331330" cy="355128"/>
              </a:xfrm>
              <a:grpFill/>
            </p:grpSpPr>
            <p:sp>
              <p:nvSpPr>
                <p:cNvPr id="89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0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91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  <p:grpSp>
          <p:nvGrpSpPr>
            <p:cNvPr id="71" name="组合 70"/>
            <p:cNvGrpSpPr/>
            <p:nvPr userDrawn="1"/>
          </p:nvGrpSpPr>
          <p:grpSpPr>
            <a:xfrm>
              <a:off x="1752713" y="2031917"/>
              <a:ext cx="568652" cy="3091276"/>
              <a:chOff x="1752714" y="2031919"/>
              <a:chExt cx="568653" cy="3091274"/>
            </a:xfrm>
          </p:grpSpPr>
          <p:grpSp>
            <p:nvGrpSpPr>
              <p:cNvPr id="72" name="组合 71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1769227" y="3776579"/>
                <a:ext cx="501270" cy="527572"/>
                <a:chOff x="6113463" y="3541713"/>
                <a:chExt cx="484188" cy="50958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3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4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3" name="组合 72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1752714" y="2031919"/>
                <a:ext cx="568653" cy="718220"/>
                <a:chOff x="6108700" y="2066926"/>
                <a:chExt cx="549275" cy="693738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81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2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4" name="组合 73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1855433" y="3075554"/>
                <a:ext cx="381292" cy="328704"/>
                <a:chOff x="6186488" y="2930526"/>
                <a:chExt cx="368300" cy="317500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8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9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80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  <p:grpSp>
            <p:nvGrpSpPr>
              <p:cNvPr id="75" name="组合 74"/>
              <p:cNvGrpSpPr/>
              <p:nvPr/>
            </p:nvGrpSpPr>
            <p:grpSpPr>
              <a:xfrm>
                <a:off x="1804180" y="4681015"/>
                <a:ext cx="442058" cy="442178"/>
                <a:chOff x="11893476" y="1994536"/>
                <a:chExt cx="277932" cy="278006"/>
              </a:xfrm>
              <a:solidFill>
                <a:schemeClr val="bg1">
                  <a:alpha val="5000"/>
                </a:schemeClr>
              </a:solidFill>
            </p:grpSpPr>
            <p:sp>
              <p:nvSpPr>
                <p:cNvPr id="76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5308" cy="27343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  <p:sp>
              <p:nvSpPr>
                <p:cNvPr id="77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76" y="2009127"/>
                  <a:ext cx="105167" cy="263415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 pitchFamily="34" charset="0"/>
                    <a:ea typeface="微软雅黑" panose="020B0503020204020204" pitchFamily="34" charset="-122"/>
                    <a:cs typeface="+mn-cs"/>
                  </a:endParaRPr>
                </a:p>
              </p:txBody>
            </p:sp>
          </p:grpSp>
        </p:grpSp>
      </p:grpSp>
      <p:sp>
        <p:nvSpPr>
          <p:cNvPr id="44" name="文本占位符 12">
            <a:extLst>
              <a:ext uri="{FF2B5EF4-FFF2-40B4-BE49-F238E27FC236}">
                <a16:creationId xmlns:a16="http://schemas.microsoft.com/office/drawing/2014/main" id="{562B6659-3604-4A5D-84A6-6A47FE16986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97616" y="1658264"/>
            <a:ext cx="7059689" cy="2267551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5600" b="1">
                <a:solidFill>
                  <a:schemeClr val="tx1"/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en-US" altLang="zh-CN" dirty="0"/>
          </a:p>
          <a:p>
            <a:pPr lvl="0"/>
            <a:r>
              <a:rPr lang="zh-CN" altLang="en-US" dirty="0"/>
              <a:t>输入标题</a:t>
            </a:r>
          </a:p>
        </p:txBody>
      </p:sp>
    </p:spTree>
    <p:extLst>
      <p:ext uri="{BB962C8B-B14F-4D97-AF65-F5344CB8AC3E}">
        <p14:creationId xmlns:p14="http://schemas.microsoft.com/office/powerpoint/2010/main" val="1154588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样式1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直接连接符 1"/>
          <p:cNvCxnSpPr/>
          <p:nvPr userDrawn="1"/>
        </p:nvCxnSpPr>
        <p:spPr>
          <a:xfrm>
            <a:off x="1550089" y="863157"/>
            <a:ext cx="10318623" cy="0"/>
          </a:xfrm>
          <a:prstGeom prst="line">
            <a:avLst/>
          </a:prstGeom>
          <a:ln w="28575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矩形 23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11155416" y="6188075"/>
            <a:ext cx="713296" cy="6699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318632" y="0"/>
            <a:ext cx="1048735" cy="87312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sp>
        <p:nvSpPr>
          <p:cNvPr id="12" name="标题 11"/>
          <p:cNvSpPr>
            <a:spLocks noGrp="1"/>
          </p:cNvSpPr>
          <p:nvPr>
            <p:ph type="title"/>
          </p:nvPr>
        </p:nvSpPr>
        <p:spPr>
          <a:xfrm>
            <a:off x="1606550" y="34431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33366C-F485-4B9F-89F5-27A807162B12}"/>
              </a:ext>
            </a:extLst>
          </p:cNvPr>
          <p:cNvSpPr/>
          <p:nvPr userDrawn="1"/>
        </p:nvSpPr>
        <p:spPr>
          <a:xfrm>
            <a:off x="318631" y="6188075"/>
            <a:ext cx="10844339" cy="66992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rgbClr val="F2F2F2"/>
                </a:solidFill>
                <a:latin typeface="微软雅黑" panose="020B0503020204020204" pitchFamily="34" charset="-122"/>
              </a:rPr>
              <a:pPr algn="ctr" eaLnBrk="1" hangingPunct="1">
                <a:defRPr/>
              </a:pPr>
              <a:t>‹#›</a:t>
            </a:fld>
            <a:endParaRPr lang="zh-CN" altLang="en-US" sz="1600" dirty="0">
              <a:solidFill>
                <a:srgbClr val="F2F2F2"/>
              </a:solidFill>
              <a:latin typeface="微软雅黑" panose="020B0503020204020204" pitchFamily="34" charset="-122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0D966C-9DD4-4144-A316-29077EB905B4}"/>
              </a:ext>
            </a:extLst>
          </p:cNvPr>
          <p:cNvSpPr/>
          <p:nvPr userDrawn="1"/>
        </p:nvSpPr>
        <p:spPr>
          <a:xfrm>
            <a:off x="1378908" y="-1612"/>
            <a:ext cx="167082" cy="874737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dirty="0"/>
          </a:p>
        </p:txBody>
      </p:sp>
      <p:pic>
        <p:nvPicPr>
          <p:cNvPr id="57" name="图片 5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37818" y="347339"/>
            <a:ext cx="1969223" cy="43299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366474" y="-17822"/>
            <a:ext cx="0" cy="10794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 userDrawn="1"/>
        </p:nvCxnSpPr>
        <p:spPr>
          <a:xfrm>
            <a:off x="11155416" y="6119786"/>
            <a:ext cx="0" cy="76063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4" name="组合 83"/>
          <p:cNvGrpSpPr/>
          <p:nvPr userDrawn="1"/>
        </p:nvGrpSpPr>
        <p:grpSpPr>
          <a:xfrm>
            <a:off x="587288" y="6381747"/>
            <a:ext cx="2479573" cy="304965"/>
            <a:chOff x="671368" y="6061309"/>
            <a:chExt cx="2479573" cy="304965"/>
          </a:xfrm>
          <a:solidFill>
            <a:schemeClr val="bg1"/>
          </a:solidFill>
        </p:grpSpPr>
        <p:grpSp>
          <p:nvGrpSpPr>
            <p:cNvPr id="85" name="组合 84"/>
            <p:cNvGrpSpPr/>
            <p:nvPr userDrawn="1"/>
          </p:nvGrpSpPr>
          <p:grpSpPr>
            <a:xfrm>
              <a:off x="2098445" y="6064781"/>
              <a:ext cx="1052496" cy="298683"/>
              <a:chOff x="2373567" y="1096524"/>
              <a:chExt cx="2578404" cy="731714"/>
            </a:xfrm>
            <a:grpFill/>
          </p:grpSpPr>
          <p:sp>
            <p:nvSpPr>
              <p:cNvPr id="100" name="Freeform 5">
                <a:extLst>
                  <a:ext uri="{FF2B5EF4-FFF2-40B4-BE49-F238E27FC236}">
                    <a16:creationId xmlns:a16="http://schemas.microsoft.com/office/drawing/2014/main" id="{7EF8326A-A460-4F1F-A35E-22F6C0E027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7881" y="1143043"/>
                <a:ext cx="576140" cy="649652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01" name="Freeform 6">
                <a:extLst>
                  <a:ext uri="{FF2B5EF4-FFF2-40B4-BE49-F238E27FC236}">
                    <a16:creationId xmlns:a16="http://schemas.microsoft.com/office/drawing/2014/main" id="{CC1FA68D-3307-481A-8E89-D3CB2E869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0305" y="1241947"/>
                <a:ext cx="331666" cy="499206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grpSp>
            <p:nvGrpSpPr>
              <p:cNvPr id="102" name="组合 101">
                <a:extLst>
                  <a:ext uri="{FF2B5EF4-FFF2-40B4-BE49-F238E27FC236}">
                    <a16:creationId xmlns:a16="http://schemas.microsoft.com/office/drawing/2014/main" id="{C7A6E3E5-9A1F-4E06-9E71-F1D7E5C11C32}"/>
                  </a:ext>
                </a:extLst>
              </p:cNvPr>
              <p:cNvGrpSpPr/>
              <p:nvPr/>
            </p:nvGrpSpPr>
            <p:grpSpPr>
              <a:xfrm>
                <a:off x="2373567" y="1096524"/>
                <a:ext cx="589817" cy="731714"/>
                <a:chOff x="5548313" y="2084388"/>
                <a:chExt cx="547688" cy="679451"/>
              </a:xfrm>
              <a:grpFill/>
            </p:grpSpPr>
            <p:sp>
              <p:nvSpPr>
                <p:cNvPr id="107" name="Freeform 7">
                  <a:extLst>
                    <a:ext uri="{FF2B5EF4-FFF2-40B4-BE49-F238E27FC236}">
                      <a16:creationId xmlns:a16="http://schemas.microsoft.com/office/drawing/2014/main" id="{02368C72-9CA0-44B0-93EC-F396645A34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8" name="Freeform 8">
                  <a:extLst>
                    <a:ext uri="{FF2B5EF4-FFF2-40B4-BE49-F238E27FC236}">
                      <a16:creationId xmlns:a16="http://schemas.microsoft.com/office/drawing/2014/main" id="{68AB8704-3F31-41E0-B209-31D0A83BAA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3" name="组合 102">
                <a:extLst>
                  <a:ext uri="{FF2B5EF4-FFF2-40B4-BE49-F238E27FC236}">
                    <a16:creationId xmlns:a16="http://schemas.microsoft.com/office/drawing/2014/main" id="{B92E7EB9-3312-4310-B5FA-50F0FA6CFB99}"/>
                  </a:ext>
                </a:extLst>
              </p:cNvPr>
              <p:cNvGrpSpPr/>
              <p:nvPr/>
            </p:nvGrpSpPr>
            <p:grpSpPr>
              <a:xfrm>
                <a:off x="3194779" y="1296598"/>
                <a:ext cx="356817" cy="382445"/>
                <a:chOff x="3792874" y="3156423"/>
                <a:chExt cx="331330" cy="355128"/>
              </a:xfrm>
              <a:grpFill/>
            </p:grpSpPr>
            <p:sp>
              <p:nvSpPr>
                <p:cNvPr id="104" name="Freeform 15">
                  <a:extLst>
                    <a:ext uri="{FF2B5EF4-FFF2-40B4-BE49-F238E27FC236}">
                      <a16:creationId xmlns:a16="http://schemas.microsoft.com/office/drawing/2014/main" id="{4A24723D-38DD-4916-B1AF-76A9033174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792874" y="3235325"/>
                  <a:ext cx="152877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5" name="Freeform 16">
                  <a:extLst>
                    <a:ext uri="{FF2B5EF4-FFF2-40B4-BE49-F238E27FC236}">
                      <a16:creationId xmlns:a16="http://schemas.microsoft.com/office/drawing/2014/main" id="{FB4C6AFE-87EF-4FB7-829C-F7529116EE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957518" y="3164747"/>
                  <a:ext cx="166686" cy="346804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106" name="Freeform 17">
                  <a:extLst>
                    <a:ext uri="{FF2B5EF4-FFF2-40B4-BE49-F238E27FC236}">
                      <a16:creationId xmlns:a16="http://schemas.microsoft.com/office/drawing/2014/main" id="{7BBE01C1-D3BA-489E-BE5E-C63059DA7A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3879593" y="3156423"/>
                  <a:ext cx="109753" cy="63837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671368" y="6061309"/>
              <a:ext cx="1100339" cy="304965"/>
              <a:chOff x="2372715" y="161759"/>
              <a:chExt cx="2695608" cy="747103"/>
            </a:xfrm>
            <a:grpFill/>
          </p:grpSpPr>
          <p:grpSp>
            <p:nvGrpSpPr>
              <p:cNvPr id="87" name="组合 86">
                <a:extLst>
                  <a:ext uri="{FF2B5EF4-FFF2-40B4-BE49-F238E27FC236}">
                    <a16:creationId xmlns:a16="http://schemas.microsoft.com/office/drawing/2014/main" id="{4EB45816-40C4-4065-9181-C29D2BECD84E}"/>
                  </a:ext>
                </a:extLst>
              </p:cNvPr>
              <p:cNvGrpSpPr/>
              <p:nvPr/>
            </p:nvGrpSpPr>
            <p:grpSpPr>
              <a:xfrm>
                <a:off x="3804781" y="283376"/>
                <a:ext cx="521428" cy="548788"/>
                <a:chOff x="6113463" y="3541713"/>
                <a:chExt cx="484188" cy="509588"/>
              </a:xfrm>
              <a:grpFill/>
            </p:grpSpPr>
            <p:sp>
              <p:nvSpPr>
                <p:cNvPr id="98" name="Freeform 9">
                  <a:extLst>
                    <a:ext uri="{FF2B5EF4-FFF2-40B4-BE49-F238E27FC236}">
                      <a16:creationId xmlns:a16="http://schemas.microsoft.com/office/drawing/2014/main" id="{70888479-5294-457A-8111-462CE4F104F2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9" name="Freeform 10">
                  <a:extLst>
                    <a:ext uri="{FF2B5EF4-FFF2-40B4-BE49-F238E27FC236}">
                      <a16:creationId xmlns:a16="http://schemas.microsoft.com/office/drawing/2014/main" id="{3C581795-C09D-460E-9472-8181F266F0EF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8" name="组合 87">
                <a:extLst>
                  <a:ext uri="{FF2B5EF4-FFF2-40B4-BE49-F238E27FC236}">
                    <a16:creationId xmlns:a16="http://schemas.microsoft.com/office/drawing/2014/main" id="{C43281D5-D15F-4210-8FEF-5D0B83A54FD6}"/>
                  </a:ext>
                </a:extLst>
              </p:cNvPr>
              <p:cNvGrpSpPr/>
              <p:nvPr/>
            </p:nvGrpSpPr>
            <p:grpSpPr>
              <a:xfrm>
                <a:off x="2372715" y="161759"/>
                <a:ext cx="591521" cy="747103"/>
                <a:chOff x="6108700" y="2066926"/>
                <a:chExt cx="549275" cy="693738"/>
              </a:xfrm>
              <a:grpFill/>
            </p:grpSpPr>
            <p:sp>
              <p:nvSpPr>
                <p:cNvPr id="96" name="Freeform 13">
                  <a:extLst>
                    <a:ext uri="{FF2B5EF4-FFF2-40B4-BE49-F238E27FC236}">
                      <a16:creationId xmlns:a16="http://schemas.microsoft.com/office/drawing/2014/main" id="{0965091B-D712-42AC-844D-24578409DB9A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7" name="Freeform 14">
                  <a:extLst>
                    <a:ext uri="{FF2B5EF4-FFF2-40B4-BE49-F238E27FC236}">
                      <a16:creationId xmlns:a16="http://schemas.microsoft.com/office/drawing/2014/main" id="{EDF1A89C-87D3-4066-B020-1AF4B9A413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89" name="组合 88">
                <a:extLst>
                  <a:ext uri="{FF2B5EF4-FFF2-40B4-BE49-F238E27FC236}">
                    <a16:creationId xmlns:a16="http://schemas.microsoft.com/office/drawing/2014/main" id="{CD1C2EA2-DECB-4C4E-997D-8417E76BE944}"/>
                  </a:ext>
                </a:extLst>
              </p:cNvPr>
              <p:cNvGrpSpPr/>
              <p:nvPr/>
            </p:nvGrpSpPr>
            <p:grpSpPr>
              <a:xfrm>
                <a:off x="3173775" y="375308"/>
                <a:ext cx="396626" cy="341923"/>
                <a:chOff x="6186488" y="2930526"/>
                <a:chExt cx="368300" cy="317500"/>
              </a:xfrm>
              <a:grpFill/>
            </p:grpSpPr>
            <p:sp>
              <p:nvSpPr>
                <p:cNvPr id="93" name="Freeform 18">
                  <a:extLst>
                    <a:ext uri="{FF2B5EF4-FFF2-40B4-BE49-F238E27FC236}">
                      <a16:creationId xmlns:a16="http://schemas.microsoft.com/office/drawing/2014/main" id="{58E0037C-7932-4788-ADA9-47256329EEB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4" name="Freeform 19">
                  <a:extLst>
                    <a:ext uri="{FF2B5EF4-FFF2-40B4-BE49-F238E27FC236}">
                      <a16:creationId xmlns:a16="http://schemas.microsoft.com/office/drawing/2014/main" id="{B78F413E-1D51-491F-A6EC-02810949F8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5" name="Freeform 20">
                  <a:extLst>
                    <a:ext uri="{FF2B5EF4-FFF2-40B4-BE49-F238E27FC236}">
                      <a16:creationId xmlns:a16="http://schemas.microsoft.com/office/drawing/2014/main" id="{28D425C4-CE02-4413-BBE1-2E9FA0CC0E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90" name="组合 89"/>
              <p:cNvGrpSpPr/>
              <p:nvPr/>
            </p:nvGrpSpPr>
            <p:grpSpPr>
              <a:xfrm>
                <a:off x="4613362" y="313351"/>
                <a:ext cx="454961" cy="453362"/>
                <a:chOff x="11893465" y="1994536"/>
                <a:chExt cx="274986" cy="274018"/>
              </a:xfrm>
              <a:grpFill/>
            </p:grpSpPr>
            <p:sp>
              <p:nvSpPr>
                <p:cNvPr id="91" name="Freeform 11">
                  <a:extLst>
                    <a:ext uri="{FF2B5EF4-FFF2-40B4-BE49-F238E27FC236}">
                      <a16:creationId xmlns:a16="http://schemas.microsoft.com/office/drawing/2014/main" id="{9E7CBDC3-9BA0-4307-8967-3267E5966ED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11976100" y="1994536"/>
                  <a:ext cx="192351" cy="269291"/>
                </a:xfrm>
                <a:custGeom>
                  <a:avLst/>
                  <a:gdLst>
                    <a:gd name="T0" fmla="*/ 29 w 72"/>
                    <a:gd name="T1" fmla="*/ 49 h 102"/>
                    <a:gd name="T2" fmla="*/ 15 w 72"/>
                    <a:gd name="T3" fmla="*/ 43 h 102"/>
                    <a:gd name="T4" fmla="*/ 10 w 72"/>
                    <a:gd name="T5" fmla="*/ 21 h 102"/>
                    <a:gd name="T6" fmla="*/ 13 w 72"/>
                    <a:gd name="T7" fmla="*/ 15 h 102"/>
                    <a:gd name="T8" fmla="*/ 19 w 72"/>
                    <a:gd name="T9" fmla="*/ 18 h 102"/>
                    <a:gd name="T10" fmla="*/ 20 w 72"/>
                    <a:gd name="T11" fmla="*/ 26 h 102"/>
                    <a:gd name="T12" fmla="*/ 35 w 72"/>
                    <a:gd name="T13" fmla="*/ 22 h 102"/>
                    <a:gd name="T14" fmla="*/ 40 w 72"/>
                    <a:gd name="T15" fmla="*/ 16 h 102"/>
                    <a:gd name="T16" fmla="*/ 43 w 72"/>
                    <a:gd name="T17" fmla="*/ 14 h 102"/>
                    <a:gd name="T18" fmla="*/ 44 w 72"/>
                    <a:gd name="T19" fmla="*/ 19 h 102"/>
                    <a:gd name="T20" fmla="*/ 43 w 72"/>
                    <a:gd name="T21" fmla="*/ 28 h 102"/>
                    <a:gd name="T22" fmla="*/ 36 w 72"/>
                    <a:gd name="T23" fmla="*/ 40 h 102"/>
                    <a:gd name="T24" fmla="*/ 37 w 72"/>
                    <a:gd name="T25" fmla="*/ 42 h 102"/>
                    <a:gd name="T26" fmla="*/ 44 w 72"/>
                    <a:gd name="T27" fmla="*/ 38 h 102"/>
                    <a:gd name="T28" fmla="*/ 56 w 72"/>
                    <a:gd name="T29" fmla="*/ 20 h 102"/>
                    <a:gd name="T30" fmla="*/ 49 w 72"/>
                    <a:gd name="T31" fmla="*/ 9 h 102"/>
                    <a:gd name="T32" fmla="*/ 28 w 72"/>
                    <a:gd name="T33" fmla="*/ 14 h 102"/>
                    <a:gd name="T34" fmla="*/ 20 w 72"/>
                    <a:gd name="T35" fmla="*/ 13 h 102"/>
                    <a:gd name="T36" fmla="*/ 22 w 72"/>
                    <a:gd name="T37" fmla="*/ 6 h 102"/>
                    <a:gd name="T38" fmla="*/ 50 w 72"/>
                    <a:gd name="T39" fmla="*/ 1 h 102"/>
                    <a:gd name="T40" fmla="*/ 68 w 72"/>
                    <a:gd name="T41" fmla="*/ 12 h 102"/>
                    <a:gd name="T42" fmla="*/ 67 w 72"/>
                    <a:gd name="T43" fmla="*/ 24 h 102"/>
                    <a:gd name="T44" fmla="*/ 49 w 72"/>
                    <a:gd name="T45" fmla="*/ 48 h 102"/>
                    <a:gd name="T46" fmla="*/ 42 w 72"/>
                    <a:gd name="T47" fmla="*/ 49 h 102"/>
                    <a:gd name="T48" fmla="*/ 37 w 72"/>
                    <a:gd name="T49" fmla="*/ 47 h 102"/>
                    <a:gd name="T50" fmla="*/ 35 w 72"/>
                    <a:gd name="T51" fmla="*/ 52 h 102"/>
                    <a:gd name="T52" fmla="*/ 41 w 72"/>
                    <a:gd name="T53" fmla="*/ 58 h 102"/>
                    <a:gd name="T54" fmla="*/ 48 w 72"/>
                    <a:gd name="T55" fmla="*/ 57 h 102"/>
                    <a:gd name="T56" fmla="*/ 53 w 72"/>
                    <a:gd name="T57" fmla="*/ 59 h 102"/>
                    <a:gd name="T58" fmla="*/ 53 w 72"/>
                    <a:gd name="T59" fmla="*/ 66 h 102"/>
                    <a:gd name="T60" fmla="*/ 48 w 72"/>
                    <a:gd name="T61" fmla="*/ 70 h 102"/>
                    <a:gd name="T62" fmla="*/ 37 w 72"/>
                    <a:gd name="T63" fmla="*/ 81 h 102"/>
                    <a:gd name="T64" fmla="*/ 45 w 72"/>
                    <a:gd name="T65" fmla="*/ 81 h 102"/>
                    <a:gd name="T66" fmla="*/ 57 w 72"/>
                    <a:gd name="T67" fmla="*/ 89 h 102"/>
                    <a:gd name="T68" fmla="*/ 51 w 72"/>
                    <a:gd name="T69" fmla="*/ 98 h 102"/>
                    <a:gd name="T70" fmla="*/ 26 w 72"/>
                    <a:gd name="T71" fmla="*/ 101 h 102"/>
                    <a:gd name="T72" fmla="*/ 17 w 72"/>
                    <a:gd name="T73" fmla="*/ 96 h 102"/>
                    <a:gd name="T74" fmla="*/ 15 w 72"/>
                    <a:gd name="T75" fmla="*/ 94 h 102"/>
                    <a:gd name="T76" fmla="*/ 19 w 72"/>
                    <a:gd name="T77" fmla="*/ 77 h 102"/>
                    <a:gd name="T78" fmla="*/ 27 w 72"/>
                    <a:gd name="T79" fmla="*/ 70 h 102"/>
                    <a:gd name="T80" fmla="*/ 27 w 72"/>
                    <a:gd name="T81" fmla="*/ 69 h 102"/>
                    <a:gd name="T82" fmla="*/ 21 w 72"/>
                    <a:gd name="T83" fmla="*/ 71 h 102"/>
                    <a:gd name="T84" fmla="*/ 9 w 72"/>
                    <a:gd name="T85" fmla="*/ 76 h 102"/>
                    <a:gd name="T86" fmla="*/ 3 w 72"/>
                    <a:gd name="T87" fmla="*/ 75 h 102"/>
                    <a:gd name="T88" fmla="*/ 4 w 72"/>
                    <a:gd name="T89" fmla="*/ 69 h 102"/>
                    <a:gd name="T90" fmla="*/ 26 w 72"/>
                    <a:gd name="T91" fmla="*/ 60 h 102"/>
                    <a:gd name="T92" fmla="*/ 28 w 72"/>
                    <a:gd name="T93" fmla="*/ 57 h 102"/>
                    <a:gd name="T94" fmla="*/ 29 w 72"/>
                    <a:gd name="T95" fmla="*/ 49 h 102"/>
                    <a:gd name="T96" fmla="*/ 34 w 72"/>
                    <a:gd name="T97" fmla="*/ 29 h 102"/>
                    <a:gd name="T98" fmla="*/ 33 w 72"/>
                    <a:gd name="T99" fmla="*/ 28 h 102"/>
                    <a:gd name="T100" fmla="*/ 26 w 72"/>
                    <a:gd name="T101" fmla="*/ 32 h 102"/>
                    <a:gd name="T102" fmla="*/ 23 w 72"/>
                    <a:gd name="T103" fmla="*/ 36 h 102"/>
                    <a:gd name="T104" fmla="*/ 26 w 72"/>
                    <a:gd name="T105" fmla="*/ 42 h 102"/>
                    <a:gd name="T106" fmla="*/ 31 w 72"/>
                    <a:gd name="T107" fmla="*/ 40 h 102"/>
                    <a:gd name="T108" fmla="*/ 34 w 72"/>
                    <a:gd name="T109" fmla="*/ 29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</a:cxnLst>
                  <a:rect l="0" t="0" r="r" b="b"/>
                  <a:pathLst>
                    <a:path w="72" h="102">
                      <a:moveTo>
                        <a:pt x="29" y="49"/>
                      </a:moveTo>
                      <a:cubicBezTo>
                        <a:pt x="19" y="52"/>
                        <a:pt x="18" y="52"/>
                        <a:pt x="15" y="43"/>
                      </a:cubicBezTo>
                      <a:cubicBezTo>
                        <a:pt x="13" y="36"/>
                        <a:pt x="11" y="28"/>
                        <a:pt x="10" y="21"/>
                      </a:cubicBezTo>
                      <a:cubicBezTo>
                        <a:pt x="9" y="19"/>
                        <a:pt x="11" y="16"/>
                        <a:pt x="13" y="15"/>
                      </a:cubicBezTo>
                      <a:cubicBezTo>
                        <a:pt x="16" y="13"/>
                        <a:pt x="18" y="16"/>
                        <a:pt x="19" y="18"/>
                      </a:cubicBezTo>
                      <a:cubicBezTo>
                        <a:pt x="19" y="21"/>
                        <a:pt x="20" y="23"/>
                        <a:pt x="20" y="26"/>
                      </a:cubicBezTo>
                      <a:cubicBezTo>
                        <a:pt x="26" y="25"/>
                        <a:pt x="31" y="24"/>
                        <a:pt x="35" y="22"/>
                      </a:cubicBezTo>
                      <a:cubicBezTo>
                        <a:pt x="37" y="21"/>
                        <a:pt x="38" y="18"/>
                        <a:pt x="40" y="16"/>
                      </a:cubicBezTo>
                      <a:cubicBezTo>
                        <a:pt x="41" y="15"/>
                        <a:pt x="42" y="14"/>
                        <a:pt x="43" y="14"/>
                      </a:cubicBezTo>
                      <a:cubicBezTo>
                        <a:pt x="44" y="15"/>
                        <a:pt x="44" y="17"/>
                        <a:pt x="44" y="19"/>
                      </a:cubicBezTo>
                      <a:cubicBezTo>
                        <a:pt x="44" y="22"/>
                        <a:pt x="43" y="25"/>
                        <a:pt x="43" y="28"/>
                      </a:cubicBezTo>
                      <a:cubicBezTo>
                        <a:pt x="37" y="29"/>
                        <a:pt x="39" y="36"/>
                        <a:pt x="36" y="40"/>
                      </a:cubicBezTo>
                      <a:cubicBezTo>
                        <a:pt x="36" y="41"/>
                        <a:pt x="37" y="41"/>
                        <a:pt x="37" y="42"/>
                      </a:cubicBezTo>
                      <a:cubicBezTo>
                        <a:pt x="39" y="41"/>
                        <a:pt x="42" y="40"/>
                        <a:pt x="44" y="38"/>
                      </a:cubicBezTo>
                      <a:cubicBezTo>
                        <a:pt x="48" y="32"/>
                        <a:pt x="52" y="26"/>
                        <a:pt x="56" y="20"/>
                      </a:cubicBezTo>
                      <a:cubicBezTo>
                        <a:pt x="59" y="15"/>
                        <a:pt x="56" y="9"/>
                        <a:pt x="49" y="9"/>
                      </a:cubicBezTo>
                      <a:cubicBezTo>
                        <a:pt x="42" y="8"/>
                        <a:pt x="34" y="10"/>
                        <a:pt x="28" y="14"/>
                      </a:cubicBezTo>
                      <a:cubicBezTo>
                        <a:pt x="25" y="16"/>
                        <a:pt x="22" y="15"/>
                        <a:pt x="20" y="13"/>
                      </a:cubicBezTo>
                      <a:cubicBezTo>
                        <a:pt x="17" y="9"/>
                        <a:pt x="17" y="7"/>
                        <a:pt x="22" y="6"/>
                      </a:cubicBezTo>
                      <a:cubicBezTo>
                        <a:pt x="31" y="3"/>
                        <a:pt x="40" y="0"/>
                        <a:pt x="50" y="1"/>
                      </a:cubicBezTo>
                      <a:cubicBezTo>
                        <a:pt x="58" y="1"/>
                        <a:pt x="63" y="7"/>
                        <a:pt x="68" y="12"/>
                      </a:cubicBezTo>
                      <a:cubicBezTo>
                        <a:pt x="72" y="15"/>
                        <a:pt x="70" y="20"/>
                        <a:pt x="67" y="24"/>
                      </a:cubicBezTo>
                      <a:cubicBezTo>
                        <a:pt x="61" y="32"/>
                        <a:pt x="55" y="40"/>
                        <a:pt x="49" y="48"/>
                      </a:cubicBezTo>
                      <a:cubicBezTo>
                        <a:pt x="47" y="51"/>
                        <a:pt x="45" y="52"/>
                        <a:pt x="42" y="49"/>
                      </a:cubicBezTo>
                      <a:cubicBezTo>
                        <a:pt x="41" y="48"/>
                        <a:pt x="38" y="47"/>
                        <a:pt x="37" y="47"/>
                      </a:cubicBezTo>
                      <a:cubicBezTo>
                        <a:pt x="36" y="48"/>
                        <a:pt x="35" y="50"/>
                        <a:pt x="35" y="52"/>
                      </a:cubicBezTo>
                      <a:cubicBezTo>
                        <a:pt x="34" y="59"/>
                        <a:pt x="34" y="59"/>
                        <a:pt x="41" y="58"/>
                      </a:cubicBezTo>
                      <a:cubicBezTo>
                        <a:pt x="43" y="57"/>
                        <a:pt x="46" y="56"/>
                        <a:pt x="48" y="57"/>
                      </a:cubicBezTo>
                      <a:cubicBezTo>
                        <a:pt x="50" y="57"/>
                        <a:pt x="53" y="58"/>
                        <a:pt x="53" y="59"/>
                      </a:cubicBezTo>
                      <a:cubicBezTo>
                        <a:pt x="54" y="61"/>
                        <a:pt x="54" y="64"/>
                        <a:pt x="53" y="66"/>
                      </a:cubicBezTo>
                      <a:cubicBezTo>
                        <a:pt x="52" y="68"/>
                        <a:pt x="50" y="69"/>
                        <a:pt x="48" y="70"/>
                      </a:cubicBezTo>
                      <a:cubicBezTo>
                        <a:pt x="44" y="73"/>
                        <a:pt x="39" y="75"/>
                        <a:pt x="37" y="81"/>
                      </a:cubicBezTo>
                      <a:cubicBezTo>
                        <a:pt x="40" y="81"/>
                        <a:pt x="43" y="81"/>
                        <a:pt x="45" y="81"/>
                      </a:cubicBezTo>
                      <a:cubicBezTo>
                        <a:pt x="51" y="81"/>
                        <a:pt x="56" y="84"/>
                        <a:pt x="57" y="89"/>
                      </a:cubicBezTo>
                      <a:cubicBezTo>
                        <a:pt x="58" y="93"/>
                        <a:pt x="55" y="97"/>
                        <a:pt x="51" y="98"/>
                      </a:cubicBezTo>
                      <a:cubicBezTo>
                        <a:pt x="43" y="99"/>
                        <a:pt x="35" y="100"/>
                        <a:pt x="26" y="101"/>
                      </a:cubicBezTo>
                      <a:cubicBezTo>
                        <a:pt x="22" y="102"/>
                        <a:pt x="19" y="100"/>
                        <a:pt x="17" y="96"/>
                      </a:cubicBezTo>
                      <a:cubicBezTo>
                        <a:pt x="16" y="96"/>
                        <a:pt x="16" y="95"/>
                        <a:pt x="15" y="94"/>
                      </a:cubicBezTo>
                      <a:cubicBezTo>
                        <a:pt x="11" y="84"/>
                        <a:pt x="11" y="84"/>
                        <a:pt x="19" y="77"/>
                      </a:cubicBezTo>
                      <a:cubicBezTo>
                        <a:pt x="22" y="75"/>
                        <a:pt x="24" y="72"/>
                        <a:pt x="27" y="70"/>
                      </a:cubicBezTo>
                      <a:cubicBezTo>
                        <a:pt x="27" y="70"/>
                        <a:pt x="27" y="69"/>
                        <a:pt x="27" y="69"/>
                      </a:cubicBezTo>
                      <a:cubicBezTo>
                        <a:pt x="25" y="69"/>
                        <a:pt x="23" y="70"/>
                        <a:pt x="21" y="71"/>
                      </a:cubicBezTo>
                      <a:cubicBezTo>
                        <a:pt x="17" y="72"/>
                        <a:pt x="13" y="74"/>
                        <a:pt x="9" y="76"/>
                      </a:cubicBezTo>
                      <a:cubicBezTo>
                        <a:pt x="7" y="76"/>
                        <a:pt x="5" y="76"/>
                        <a:pt x="3" y="75"/>
                      </a:cubicBezTo>
                      <a:cubicBezTo>
                        <a:pt x="0" y="72"/>
                        <a:pt x="0" y="71"/>
                        <a:pt x="4" y="69"/>
                      </a:cubicBezTo>
                      <a:cubicBezTo>
                        <a:pt x="12" y="66"/>
                        <a:pt x="19" y="63"/>
                        <a:pt x="26" y="60"/>
                      </a:cubicBezTo>
                      <a:cubicBezTo>
                        <a:pt x="27" y="60"/>
                        <a:pt x="28" y="58"/>
                        <a:pt x="28" y="57"/>
                      </a:cubicBezTo>
                      <a:cubicBezTo>
                        <a:pt x="29" y="55"/>
                        <a:pt x="29" y="52"/>
                        <a:pt x="29" y="49"/>
                      </a:cubicBezTo>
                      <a:close/>
                      <a:moveTo>
                        <a:pt x="34" y="29"/>
                      </a:moveTo>
                      <a:cubicBezTo>
                        <a:pt x="34" y="29"/>
                        <a:pt x="34" y="29"/>
                        <a:pt x="33" y="28"/>
                      </a:cubicBezTo>
                      <a:cubicBezTo>
                        <a:pt x="31" y="29"/>
                        <a:pt x="28" y="30"/>
                        <a:pt x="26" y="32"/>
                      </a:cubicBezTo>
                      <a:cubicBezTo>
                        <a:pt x="24" y="32"/>
                        <a:pt x="22" y="34"/>
                        <a:pt x="23" y="36"/>
                      </a:cubicBezTo>
                      <a:cubicBezTo>
                        <a:pt x="23" y="38"/>
                        <a:pt x="25" y="40"/>
                        <a:pt x="26" y="42"/>
                      </a:cubicBezTo>
                      <a:cubicBezTo>
                        <a:pt x="27" y="42"/>
                        <a:pt x="30" y="41"/>
                        <a:pt x="31" y="40"/>
                      </a:cubicBezTo>
                      <a:cubicBezTo>
                        <a:pt x="32" y="37"/>
                        <a:pt x="33" y="33"/>
                        <a:pt x="34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92" name="Freeform 12">
                  <a:extLst>
                    <a:ext uri="{FF2B5EF4-FFF2-40B4-BE49-F238E27FC236}">
                      <a16:creationId xmlns:a16="http://schemas.microsoft.com/office/drawing/2014/main" id="{D88D9717-3185-4A77-8E18-2A8659D441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893465" y="2009127"/>
                  <a:ext cx="103574" cy="259427"/>
                </a:xfrm>
                <a:custGeom>
                  <a:avLst/>
                  <a:gdLst>
                    <a:gd name="T0" fmla="*/ 30 w 39"/>
                    <a:gd name="T1" fmla="*/ 44 h 98"/>
                    <a:gd name="T2" fmla="*/ 36 w 39"/>
                    <a:gd name="T3" fmla="*/ 34 h 98"/>
                    <a:gd name="T4" fmla="*/ 37 w 39"/>
                    <a:gd name="T5" fmla="*/ 51 h 98"/>
                    <a:gd name="T6" fmla="*/ 25 w 39"/>
                    <a:gd name="T7" fmla="*/ 82 h 98"/>
                    <a:gd name="T8" fmla="*/ 21 w 39"/>
                    <a:gd name="T9" fmla="*/ 98 h 98"/>
                    <a:gd name="T10" fmla="*/ 13 w 39"/>
                    <a:gd name="T11" fmla="*/ 96 h 98"/>
                    <a:gd name="T12" fmla="*/ 5 w 39"/>
                    <a:gd name="T13" fmla="*/ 83 h 98"/>
                    <a:gd name="T14" fmla="*/ 11 w 39"/>
                    <a:gd name="T15" fmla="*/ 62 h 98"/>
                    <a:gd name="T16" fmla="*/ 9 w 39"/>
                    <a:gd name="T17" fmla="*/ 43 h 98"/>
                    <a:gd name="T18" fmla="*/ 12 w 39"/>
                    <a:gd name="T19" fmla="*/ 38 h 98"/>
                    <a:gd name="T20" fmla="*/ 18 w 39"/>
                    <a:gd name="T21" fmla="*/ 33 h 98"/>
                    <a:gd name="T22" fmla="*/ 23 w 39"/>
                    <a:gd name="T23" fmla="*/ 12 h 98"/>
                    <a:gd name="T24" fmla="*/ 11 w 39"/>
                    <a:gd name="T25" fmla="*/ 16 h 98"/>
                    <a:gd name="T26" fmla="*/ 2 w 39"/>
                    <a:gd name="T27" fmla="*/ 16 h 98"/>
                    <a:gd name="T28" fmla="*/ 0 w 39"/>
                    <a:gd name="T29" fmla="*/ 12 h 98"/>
                    <a:gd name="T30" fmla="*/ 3 w 39"/>
                    <a:gd name="T31" fmla="*/ 10 h 98"/>
                    <a:gd name="T32" fmla="*/ 16 w 39"/>
                    <a:gd name="T33" fmla="*/ 7 h 98"/>
                    <a:gd name="T34" fmla="*/ 26 w 39"/>
                    <a:gd name="T35" fmla="*/ 2 h 98"/>
                    <a:gd name="T36" fmla="*/ 32 w 39"/>
                    <a:gd name="T37" fmla="*/ 1 h 98"/>
                    <a:gd name="T38" fmla="*/ 35 w 39"/>
                    <a:gd name="T39" fmla="*/ 9 h 98"/>
                    <a:gd name="T40" fmla="*/ 34 w 39"/>
                    <a:gd name="T41" fmla="*/ 11 h 98"/>
                    <a:gd name="T42" fmla="*/ 27 w 39"/>
                    <a:gd name="T43" fmla="*/ 38 h 98"/>
                    <a:gd name="T44" fmla="*/ 28 w 39"/>
                    <a:gd name="T45" fmla="*/ 44 h 98"/>
                    <a:gd name="T46" fmla="*/ 30 w 39"/>
                    <a:gd name="T47" fmla="*/ 44 h 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</a:cxnLst>
                  <a:rect l="0" t="0" r="r" b="b"/>
                  <a:pathLst>
                    <a:path w="39" h="98">
                      <a:moveTo>
                        <a:pt x="30" y="44"/>
                      </a:moveTo>
                      <a:cubicBezTo>
                        <a:pt x="32" y="41"/>
                        <a:pt x="34" y="38"/>
                        <a:pt x="36" y="34"/>
                      </a:cubicBezTo>
                      <a:cubicBezTo>
                        <a:pt x="37" y="40"/>
                        <a:pt x="39" y="45"/>
                        <a:pt x="37" y="51"/>
                      </a:cubicBezTo>
                      <a:cubicBezTo>
                        <a:pt x="33" y="61"/>
                        <a:pt x="29" y="72"/>
                        <a:pt x="25" y="82"/>
                      </a:cubicBezTo>
                      <a:cubicBezTo>
                        <a:pt x="23" y="87"/>
                        <a:pt x="23" y="92"/>
                        <a:pt x="21" y="98"/>
                      </a:cubicBezTo>
                      <a:cubicBezTo>
                        <a:pt x="18" y="97"/>
                        <a:pt x="15" y="97"/>
                        <a:pt x="13" y="96"/>
                      </a:cubicBezTo>
                      <a:cubicBezTo>
                        <a:pt x="7" y="94"/>
                        <a:pt x="3" y="89"/>
                        <a:pt x="5" y="83"/>
                      </a:cubicBezTo>
                      <a:cubicBezTo>
                        <a:pt x="7" y="76"/>
                        <a:pt x="9" y="69"/>
                        <a:pt x="11" y="62"/>
                      </a:cubicBezTo>
                      <a:cubicBezTo>
                        <a:pt x="13" y="56"/>
                        <a:pt x="14" y="49"/>
                        <a:pt x="9" y="43"/>
                      </a:cubicBezTo>
                      <a:cubicBezTo>
                        <a:pt x="7" y="39"/>
                        <a:pt x="9" y="38"/>
                        <a:pt x="12" y="38"/>
                      </a:cubicBezTo>
                      <a:cubicBezTo>
                        <a:pt x="17" y="39"/>
                        <a:pt x="17" y="37"/>
                        <a:pt x="18" y="33"/>
                      </a:cubicBezTo>
                      <a:cubicBezTo>
                        <a:pt x="19" y="26"/>
                        <a:pt x="21" y="20"/>
                        <a:pt x="23" y="12"/>
                      </a:cubicBezTo>
                      <a:cubicBezTo>
                        <a:pt x="19" y="13"/>
                        <a:pt x="15" y="15"/>
                        <a:pt x="11" y="16"/>
                      </a:cubicBezTo>
                      <a:cubicBezTo>
                        <a:pt x="8" y="17"/>
                        <a:pt x="5" y="16"/>
                        <a:pt x="2" y="16"/>
                      </a:cubicBezTo>
                      <a:cubicBezTo>
                        <a:pt x="1" y="15"/>
                        <a:pt x="0" y="13"/>
                        <a:pt x="0" y="12"/>
                      </a:cubicBezTo>
                      <a:cubicBezTo>
                        <a:pt x="1" y="11"/>
                        <a:pt x="2" y="10"/>
                        <a:pt x="3" y="10"/>
                      </a:cubicBezTo>
                      <a:cubicBezTo>
                        <a:pt x="7" y="8"/>
                        <a:pt x="12" y="8"/>
                        <a:pt x="16" y="7"/>
                      </a:cubicBezTo>
                      <a:cubicBezTo>
                        <a:pt x="19" y="5"/>
                        <a:pt x="22" y="3"/>
                        <a:pt x="26" y="2"/>
                      </a:cubicBezTo>
                      <a:cubicBezTo>
                        <a:pt x="28" y="1"/>
                        <a:pt x="32" y="0"/>
                        <a:pt x="32" y="1"/>
                      </a:cubicBezTo>
                      <a:cubicBezTo>
                        <a:pt x="34" y="3"/>
                        <a:pt x="35" y="6"/>
                        <a:pt x="35" y="9"/>
                      </a:cubicBezTo>
                      <a:cubicBezTo>
                        <a:pt x="36" y="9"/>
                        <a:pt x="35" y="10"/>
                        <a:pt x="34" y="11"/>
                      </a:cubicBezTo>
                      <a:cubicBezTo>
                        <a:pt x="27" y="19"/>
                        <a:pt x="28" y="29"/>
                        <a:pt x="27" y="38"/>
                      </a:cubicBezTo>
                      <a:cubicBezTo>
                        <a:pt x="27" y="40"/>
                        <a:pt x="28" y="42"/>
                        <a:pt x="28" y="44"/>
                      </a:cubicBezTo>
                      <a:cubicBezTo>
                        <a:pt x="29" y="44"/>
                        <a:pt x="29" y="44"/>
                        <a:pt x="30" y="4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zh-CN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818351175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3ECD6DE-D695-222C-153C-99644578D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A34BA5-DBD0-612D-F8F8-27FA7D28B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C8A4E2-F27A-A202-708D-5460F2C59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59CB56-6D7A-4C44-A83F-3979940EF972}" type="datetimeFigureOut">
              <a:rPr lang="zh-CN" altLang="en-US" smtClean="0"/>
              <a:t>2024/6/7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FC26DC-9570-7933-7B80-ED63EB18C9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FA8AFD-6DD1-4DA7-01CC-097F7A1935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4C1621-9AF9-4D3A-B86D-9A24A4A117A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55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2.m4a"/><Relationship Id="rId1" Type="http://schemas.microsoft.com/office/2007/relationships/media" Target="../media/media2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3.m4a"/><Relationship Id="rId1" Type="http://schemas.microsoft.com/office/2007/relationships/media" Target="../media/media3.m4a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4.m4a"/><Relationship Id="rId1" Type="http://schemas.microsoft.com/office/2007/relationships/media" Target="../media/media4.m4a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7.png"/><Relationship Id="rId2" Type="http://schemas.openxmlformats.org/officeDocument/2006/relationships/audio" Target="../media/media5.m4a"/><Relationship Id="rId1" Type="http://schemas.microsoft.com/office/2007/relationships/media" Target="../media/media5.m4a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6.m4a"/><Relationship Id="rId1" Type="http://schemas.microsoft.com/office/2007/relationships/media" Target="../media/media6.m4a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占位符 4">
            <a:extLst>
              <a:ext uri="{FF2B5EF4-FFF2-40B4-BE49-F238E27FC236}">
                <a16:creationId xmlns:a16="http://schemas.microsoft.com/office/drawing/2014/main" id="{ADC8450B-B7A8-4345-A581-E9097A65571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49208" y="4270263"/>
            <a:ext cx="7287114" cy="157852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俞乐楠 </a:t>
            </a:r>
            <a:r>
              <a:rPr lang="en-US" altLang="zh-CN" dirty="0"/>
              <a:t>1120221303</a:t>
            </a:r>
          </a:p>
          <a:p>
            <a:pPr>
              <a:lnSpc>
                <a:spcPct val="150000"/>
              </a:lnSpc>
            </a:pPr>
            <a:r>
              <a:rPr lang="zh-CN" altLang="en-US" dirty="0"/>
              <a:t>时　间：</a:t>
            </a:r>
            <a:fld id="{557380AF-A950-485A-9126-2F7168CD3CCC}" type="datetime1">
              <a:rPr lang="zh-CN" altLang="en-US" smtClean="0"/>
              <a:pPr>
                <a:lnSpc>
                  <a:spcPct val="150000"/>
                </a:lnSpc>
              </a:pPr>
              <a:t>2024/6/7</a:t>
            </a:fld>
            <a:endParaRPr lang="zh-CN" altLang="en-US" dirty="0"/>
          </a:p>
        </p:txBody>
      </p:sp>
      <p:sp>
        <p:nvSpPr>
          <p:cNvPr id="20" name="文本占位符 27">
            <a:extLst>
              <a:ext uri="{FF2B5EF4-FFF2-40B4-BE49-F238E27FC236}">
                <a16:creationId xmlns:a16="http://schemas.microsoft.com/office/drawing/2014/main" id="{CCDACD4C-1CA6-4E65-8D95-3D708C7F59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49208" y="1484311"/>
            <a:ext cx="7287114" cy="2386807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50000"/>
              </a:lnSpc>
            </a:pPr>
            <a:r>
              <a:rPr lang="en-US" altLang="zh-CN" sz="6000" b="1" dirty="0">
                <a:latin typeface="+mn-ea"/>
                <a:ea typeface="+mn-ea"/>
              </a:rPr>
              <a:t>Can ChatGPT Assess Human Personalities? A General Evaluation Framework</a:t>
            </a:r>
            <a:endParaRPr lang="zh-CN" altLang="en-US" sz="6000" b="1" dirty="0">
              <a:latin typeface="+mn-ea"/>
              <a:ea typeface="+mn-ea"/>
            </a:endParaRP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F02FAD8C-9DE1-4C82-A97E-3FC46FEADB6D}"/>
              </a:ext>
            </a:extLst>
          </p:cNvPr>
          <p:cNvCxnSpPr/>
          <p:nvPr/>
        </p:nvCxnSpPr>
        <p:spPr>
          <a:xfrm>
            <a:off x="3549208" y="4010868"/>
            <a:ext cx="7287114" cy="0"/>
          </a:xfrm>
          <a:prstGeom prst="line">
            <a:avLst/>
          </a:prstGeom>
          <a:ln w="28575" cmpd="sng">
            <a:solidFill>
              <a:schemeClr val="accent3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音频 3">
            <a:hlinkClick r:id="" action="ppaction://media"/>
            <a:extLst>
              <a:ext uri="{FF2B5EF4-FFF2-40B4-BE49-F238E27FC236}">
                <a16:creationId xmlns:a16="http://schemas.microsoft.com/office/drawing/2014/main" id="{194415BD-0A44-38E3-E9A9-F778E9101EA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97327235"/>
      </p:ext>
    </p:extLst>
  </p:cSld>
  <p:clrMapOvr>
    <a:masterClrMapping/>
  </p:clrMapOvr>
  <p:transition spd="med" advTm="9922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背景和动机</a:t>
            </a:r>
          </a:p>
        </p:txBody>
      </p:sp>
      <p:sp>
        <p:nvSpPr>
          <p:cNvPr id="12" name="半闭框 11">
            <a:extLst>
              <a:ext uri="{FF2B5EF4-FFF2-40B4-BE49-F238E27FC236}">
                <a16:creationId xmlns:a16="http://schemas.microsoft.com/office/drawing/2014/main" id="{0D90A06A-B605-4CDB-9B13-1BB6C4658928}"/>
              </a:ext>
            </a:extLst>
          </p:cNvPr>
          <p:cNvSpPr/>
          <p:nvPr/>
        </p:nvSpPr>
        <p:spPr>
          <a:xfrm>
            <a:off x="1058985" y="1459875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13" name="半闭框 12">
            <a:extLst>
              <a:ext uri="{FF2B5EF4-FFF2-40B4-BE49-F238E27FC236}">
                <a16:creationId xmlns:a16="http://schemas.microsoft.com/office/drawing/2014/main" id="{F77F212D-4F59-4957-9187-E73A42BE8E9D}"/>
              </a:ext>
            </a:extLst>
          </p:cNvPr>
          <p:cNvSpPr/>
          <p:nvPr/>
        </p:nvSpPr>
        <p:spPr>
          <a:xfrm flipH="1" flipV="1">
            <a:off x="10639669" y="5185859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37CFF9-A525-4EAF-B3FE-037F2439D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1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pic>
        <p:nvPicPr>
          <p:cNvPr id="3" name="音频 2">
            <a:hlinkClick r:id="" action="ppaction://media"/>
            <a:extLst>
              <a:ext uri="{FF2B5EF4-FFF2-40B4-BE49-F238E27FC236}">
                <a16:creationId xmlns:a16="http://schemas.microsoft.com/office/drawing/2014/main" id="{C3C8D5AC-402A-60A8-7673-FE1BB9106EA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14FD68BC-3860-5BCF-3E20-DA5FBE1C0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150" y="1223136"/>
            <a:ext cx="7976937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背景:</a:t>
            </a:r>
            <a:r>
              <a:rPr kumimoji="0" lang="zh-CN" altLang="zh-CN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LLMs如ChatGPT在许多应用中表现出色，但其潜在的类人心理尚未完全探索。</a:t>
            </a:r>
            <a:endParaRPr kumimoji="0" lang="en-US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动机:</a:t>
            </a:r>
            <a:r>
              <a:rPr kumimoji="0" lang="zh-CN" altLang="zh-CN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探索LLM评估人类个性的能力，可以揭示其对人类理解的潜力，并帮助我们优化这些模型以生成更公平和可靠的内容。 </a:t>
            </a:r>
          </a:p>
        </p:txBody>
      </p:sp>
    </p:spTree>
    <p:extLst>
      <p:ext uri="{BB962C8B-B14F-4D97-AF65-F5344CB8AC3E}">
        <p14:creationId xmlns:p14="http://schemas.microsoft.com/office/powerpoint/2010/main" val="370043850"/>
      </p:ext>
    </p:extLst>
  </p:cSld>
  <p:clrMapOvr>
    <a:masterClrMapping/>
  </p:clrMapOvr>
  <p:transition spd="med" advTm="21356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评估框架概述</a:t>
            </a:r>
            <a:endParaRPr lang="zh-CN" alt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12" name="半闭框 11">
            <a:extLst>
              <a:ext uri="{FF2B5EF4-FFF2-40B4-BE49-F238E27FC236}">
                <a16:creationId xmlns:a16="http://schemas.microsoft.com/office/drawing/2014/main" id="{0D90A06A-B605-4CDB-9B13-1BB6C4658928}"/>
              </a:ext>
            </a:extLst>
          </p:cNvPr>
          <p:cNvSpPr/>
          <p:nvPr/>
        </p:nvSpPr>
        <p:spPr>
          <a:xfrm>
            <a:off x="1058985" y="1459875"/>
            <a:ext cx="480646" cy="480646"/>
          </a:xfrm>
          <a:prstGeom prst="halfFrame">
            <a:avLst>
              <a:gd name="adj1" fmla="val 17948"/>
              <a:gd name="adj2" fmla="val 17949"/>
            </a:avLst>
          </a:prstGeom>
          <a:solidFill>
            <a:schemeClr val="accent4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37CFF9-A525-4EAF-B3FE-037F2439D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2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pic>
        <p:nvPicPr>
          <p:cNvPr id="3" name="音频 2">
            <a:hlinkClick r:id="" action="ppaction://media"/>
            <a:extLst>
              <a:ext uri="{FF2B5EF4-FFF2-40B4-BE49-F238E27FC236}">
                <a16:creationId xmlns:a16="http://schemas.microsoft.com/office/drawing/2014/main" id="{130894DD-CCE8-541A-0B82-869F7C22F9E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67F4B9A-B53F-83D8-0A7C-A91BE978BFB7}"/>
              </a:ext>
            </a:extLst>
          </p:cNvPr>
          <p:cNvSpPr txBox="1"/>
          <p:nvPr/>
        </p:nvSpPr>
        <p:spPr>
          <a:xfrm>
            <a:off x="1299307" y="1700198"/>
            <a:ext cx="38822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/>
              <a:t>框架组成</a:t>
            </a:r>
            <a:r>
              <a:rPr lang="en-US" altLang="zh-CN" sz="3600" b="1" dirty="0"/>
              <a:t>:</a:t>
            </a:r>
          </a:p>
          <a:p>
            <a:pPr>
              <a:buFont typeface="+mj-lt"/>
              <a:buAutoNum type="arabicPeriod"/>
            </a:pPr>
            <a:r>
              <a:rPr lang="zh-CN" altLang="en-US" sz="3600" dirty="0"/>
              <a:t>无偏提示设计</a:t>
            </a:r>
          </a:p>
          <a:p>
            <a:pPr>
              <a:buFont typeface="+mj-lt"/>
              <a:buAutoNum type="arabicPeriod"/>
            </a:pPr>
            <a:r>
              <a:rPr lang="zh-CN" altLang="en-US" sz="3600" dirty="0"/>
              <a:t>主体替换查询</a:t>
            </a:r>
          </a:p>
          <a:p>
            <a:pPr>
              <a:buFont typeface="+mj-lt"/>
              <a:buAutoNum type="arabicPeriod"/>
            </a:pPr>
            <a:r>
              <a:rPr lang="zh-CN" altLang="en-US" sz="3600" dirty="0"/>
              <a:t>正确性评估指令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9518FC3-AB5E-8682-0379-B6BC3E456B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2623" y="1226821"/>
            <a:ext cx="6200392" cy="349148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2AA5BD3-29B0-4234-01D5-536F0FB2C923}"/>
              </a:ext>
            </a:extLst>
          </p:cNvPr>
          <p:cNvSpPr txBox="1"/>
          <p:nvPr/>
        </p:nvSpPr>
        <p:spPr>
          <a:xfrm>
            <a:off x="1327149" y="4839462"/>
            <a:ext cx="73506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dirty="0"/>
              <a:t>目标</a:t>
            </a:r>
            <a:r>
              <a:rPr lang="en-US" altLang="zh-CN" sz="3600" b="1" dirty="0"/>
              <a:t>:</a:t>
            </a:r>
            <a:r>
              <a:rPr lang="zh-CN" altLang="en-US" sz="3600" dirty="0"/>
              <a:t> 提供一种灵活的方式让</a:t>
            </a:r>
            <a:r>
              <a:rPr lang="en-US" altLang="zh-CN" sz="3600" dirty="0"/>
              <a:t>LLM</a:t>
            </a:r>
            <a:r>
              <a:rPr lang="zh-CN" altLang="en-US" sz="3600" dirty="0"/>
              <a:t>评估不同人群的个性。</a:t>
            </a:r>
          </a:p>
        </p:txBody>
      </p:sp>
    </p:spTree>
    <p:extLst>
      <p:ext uri="{BB962C8B-B14F-4D97-AF65-F5344CB8AC3E}">
        <p14:creationId xmlns:p14="http://schemas.microsoft.com/office/powerpoint/2010/main" val="1017997716"/>
      </p:ext>
    </p:extLst>
  </p:cSld>
  <p:clrMapOvr>
    <a:masterClrMapping/>
  </p:clrMapOvr>
  <p:transition spd="med" advTm="31204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主要贡献</a:t>
            </a:r>
            <a:endParaRPr lang="zh-CN" alt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37CFF9-A525-4EAF-B3FE-037F2439D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3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pic>
        <p:nvPicPr>
          <p:cNvPr id="4" name="音频 3">
            <a:hlinkClick r:id="" action="ppaction://media"/>
            <a:extLst>
              <a:ext uri="{FF2B5EF4-FFF2-40B4-BE49-F238E27FC236}">
                <a16:creationId xmlns:a16="http://schemas.microsoft.com/office/drawing/2014/main" id="{FBCE9E01-AC6A-B149-91D1-D3DE77894F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63C2048-49FF-4B0F-AAC2-B46F9BDA44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5576" y="1536174"/>
            <a:ext cx="9305796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首次探索LLM评估人类个性的可能性，并提出了一个</a:t>
            </a:r>
            <a:r>
              <a:rPr kumimoji="0" lang="zh-CN" altLang="zh-CN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通用框架</a:t>
            </a:r>
            <a:r>
              <a:rPr kumimoji="0" lang="zh-CN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设计了</a:t>
            </a:r>
            <a:r>
              <a:rPr kumimoji="0" lang="zh-CN" altLang="zh-CN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无偏提示</a:t>
            </a:r>
            <a:r>
              <a:rPr kumimoji="0" lang="zh-CN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、主体替换查询和正确性评估指令以实现可靠的个性评估。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提出了</a:t>
            </a:r>
            <a:r>
              <a:rPr kumimoji="0" lang="zh-CN" altLang="zh-CN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一致性</a:t>
            </a:r>
            <a:r>
              <a:rPr kumimoji="0" lang="zh-CN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、</a:t>
            </a:r>
            <a:r>
              <a:rPr kumimoji="0" lang="zh-CN" altLang="zh-CN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稳健性</a:t>
            </a:r>
            <a:r>
              <a:rPr kumimoji="0" lang="zh-CN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和</a:t>
            </a:r>
            <a:r>
              <a:rPr kumimoji="0" lang="zh-CN" altLang="zh-CN" sz="4000" b="0" i="0" u="none" strike="noStrike" cap="none" normalizeH="0" baseline="0" dirty="0">
                <a:ln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公平性</a:t>
            </a:r>
            <a:r>
              <a:rPr kumimoji="0" lang="zh-CN" altLang="zh-CN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三个评估指标。 </a:t>
            </a:r>
          </a:p>
        </p:txBody>
      </p:sp>
    </p:spTree>
    <p:extLst>
      <p:ext uri="{BB962C8B-B14F-4D97-AF65-F5344CB8AC3E}">
        <p14:creationId xmlns:p14="http://schemas.microsoft.com/office/powerpoint/2010/main" val="4155233454"/>
      </p:ext>
    </p:extLst>
  </p:cSld>
  <p:clrMapOvr>
    <a:masterClrMapping/>
  </p:clrMapOvr>
  <p:transition spd="med" advTm="23208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实验结果</a:t>
            </a:r>
            <a:endParaRPr lang="zh-CN" alt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37CFF9-A525-4EAF-B3FE-037F2439D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4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pic>
        <p:nvPicPr>
          <p:cNvPr id="3" name="音频 2">
            <a:hlinkClick r:id="" action="ppaction://media"/>
            <a:extLst>
              <a:ext uri="{FF2B5EF4-FFF2-40B4-BE49-F238E27FC236}">
                <a16:creationId xmlns:a16="http://schemas.microsoft.com/office/drawing/2014/main" id="{8407E5DA-965E-305F-BDB1-48163EDA633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D449CED-2AA6-A54D-C038-FF2289888B1A}"/>
              </a:ext>
            </a:extLst>
          </p:cNvPr>
          <p:cNvSpPr txBox="1"/>
          <p:nvPr/>
        </p:nvSpPr>
        <p:spPr>
          <a:xfrm>
            <a:off x="1327150" y="881223"/>
            <a:ext cx="7896039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2800" b="1" dirty="0"/>
              <a:t>模型</a:t>
            </a:r>
            <a:r>
              <a:rPr lang="en-US" altLang="zh-CN" sz="2800" b="1" dirty="0"/>
              <a:t>:</a:t>
            </a:r>
            <a:r>
              <a:rPr lang="zh-CN" altLang="en-US" sz="2800" dirty="0"/>
              <a:t> </a:t>
            </a:r>
            <a:r>
              <a:rPr lang="en-US" altLang="zh-CN" sz="2800" dirty="0"/>
              <a:t>ChatGPT</a:t>
            </a:r>
            <a:r>
              <a:rPr lang="zh-CN" altLang="en-US" sz="2800" dirty="0"/>
              <a:t>、</a:t>
            </a:r>
            <a:r>
              <a:rPr lang="en-US" altLang="zh-CN" sz="2800" dirty="0"/>
              <a:t>GPT-4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InstructGPT</a:t>
            </a:r>
            <a:endParaRPr lang="en-US" altLang="zh-CN" sz="2800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>
              <a:buFont typeface="Arial" panose="020B0604020202020204" pitchFamily="34" charset="0"/>
              <a:buChar char="•"/>
            </a:pPr>
            <a:endParaRPr lang="en-US" altLang="zh-C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2800" b="1" dirty="0"/>
              <a:t>结果</a:t>
            </a:r>
            <a:r>
              <a:rPr lang="en-US" altLang="zh-CN" sz="2800" b="1" dirty="0"/>
              <a:t>:</a:t>
            </a:r>
            <a:r>
              <a:rPr lang="zh-CN" altLang="en-US" sz="2800" dirty="0"/>
              <a:t> </a:t>
            </a:r>
            <a:r>
              <a:rPr lang="en-US" altLang="zh-CN" sz="2800" dirty="0"/>
              <a:t>ChatGPT</a:t>
            </a:r>
            <a:r>
              <a:rPr lang="zh-CN" altLang="en-US" sz="2800" dirty="0"/>
              <a:t>和</a:t>
            </a:r>
            <a:r>
              <a:rPr lang="en-US" altLang="zh-CN" sz="2800" dirty="0"/>
              <a:t>GPT-4</a:t>
            </a:r>
            <a:r>
              <a:rPr lang="zh-CN" altLang="en-US" sz="2800" dirty="0"/>
              <a:t>在一致性和公平性方面表现更好，但对提示偏差更敏感。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8E3B28A-27D5-9F1C-D999-E14B2ADC50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353" y="1799997"/>
            <a:ext cx="7011060" cy="277200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A5F2AF0-D4A6-24CB-E3B1-115FF3F4F6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9671" y="1111057"/>
            <a:ext cx="4576152" cy="283136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DAE33034-472C-9C53-03AD-8F1210488C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8413" y="3676828"/>
            <a:ext cx="4115374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181960"/>
      </p:ext>
    </p:extLst>
  </p:cSld>
  <p:clrMapOvr>
    <a:masterClrMapping/>
  </p:clrMapOvr>
  <p:transition spd="med" advTm="12876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/>
              <a:t>结论与未来工作</a:t>
            </a:r>
            <a:endParaRPr lang="zh-CN" altLang="en-US" b="1" i="0" dirty="0">
              <a:solidFill>
                <a:srgbClr val="0D0D0D"/>
              </a:solidFill>
              <a:effectLst/>
              <a:highlight>
                <a:srgbClr val="FFFFFF"/>
              </a:highlight>
              <a:latin typeface="Söhne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037CFF9-A525-4EAF-B3FE-037F2439DF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352" y="235111"/>
            <a:ext cx="969798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286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pitchFamily="34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 sz="3600" b="1" dirty="0">
                <a:solidFill>
                  <a:schemeClr val="bg1"/>
                </a:solidFill>
              </a:rPr>
              <a:t>5</a:t>
            </a:r>
            <a:endParaRPr lang="zh-CN" altLang="en-US" sz="3600" b="1" dirty="0">
              <a:solidFill>
                <a:schemeClr val="bg1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DCBCDD8-02ED-9A58-44F6-6D71219A50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2251" y="898847"/>
            <a:ext cx="9036423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结论: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LLM可以评估人类个性，提供了探索LLM心理学、社会学和治理的宝贵见解。</a:t>
            </a: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CN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CN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zh-CN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未来工作:</a:t>
            </a:r>
            <a:r>
              <a:rPr kumimoji="0" lang="zh-CN" altLang="zh-CN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优化LLM评估框架，减少对提示偏差的敏感性。 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2A4EFD9-4944-947E-70FA-466CAE624E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70" y="1888897"/>
            <a:ext cx="7194213" cy="3282877"/>
          </a:xfrm>
          <a:prstGeom prst="rect">
            <a:avLst/>
          </a:prstGeom>
        </p:spPr>
      </p:pic>
      <p:pic>
        <p:nvPicPr>
          <p:cNvPr id="2" name="音频 1">
            <a:hlinkClick r:id="" action="ppaction://media"/>
            <a:extLst>
              <a:ext uri="{FF2B5EF4-FFF2-40B4-BE49-F238E27FC236}">
                <a16:creationId xmlns:a16="http://schemas.microsoft.com/office/drawing/2014/main" id="{20B7E390-43DA-A169-0684-0F373C2C596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 l="-203125" t="-203125" r="-203125" b="-203125"/>
          <a:stretch>
            <a:fillRect/>
          </a:stretch>
        </p:blipFill>
        <p:spPr>
          <a:xfrm>
            <a:off x="10052304" y="4718304"/>
            <a:ext cx="2057400" cy="20574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093955653"/>
      </p:ext>
    </p:extLst>
  </p:cSld>
  <p:clrMapOvr>
    <a:masterClrMapping/>
  </p:clrMapOvr>
  <p:transition spd="med" advTm="14760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572</Words>
  <Application>Microsoft Office PowerPoint</Application>
  <PresentationFormat>宽屏</PresentationFormat>
  <Paragraphs>64</Paragraphs>
  <Slides>6</Slides>
  <Notes>6</Notes>
  <HiddenSlides>0</HiddenSlides>
  <MMClips>6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3" baseType="lpstr">
      <vt:lpstr>Söhne</vt:lpstr>
      <vt:lpstr>等线</vt:lpstr>
      <vt:lpstr>等线 Light</vt:lpstr>
      <vt:lpstr>微软雅黑</vt:lpstr>
      <vt:lpstr>Arial</vt:lpstr>
      <vt:lpstr>Century Gothic</vt:lpstr>
      <vt:lpstr>Office 主题​​</vt:lpstr>
      <vt:lpstr>PowerPoint 演示文稿</vt:lpstr>
      <vt:lpstr>背景和动机</vt:lpstr>
      <vt:lpstr>评估框架概述</vt:lpstr>
      <vt:lpstr>主要贡献</vt:lpstr>
      <vt:lpstr>实验结果</vt:lpstr>
      <vt:lpstr>结论与未来工作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- Vel</dc:creator>
  <cp:lastModifiedBy>- Vel</cp:lastModifiedBy>
  <cp:revision>5</cp:revision>
  <dcterms:created xsi:type="dcterms:W3CDTF">2024-05-22T13:42:40Z</dcterms:created>
  <dcterms:modified xsi:type="dcterms:W3CDTF">2024-06-07T08:34:26Z</dcterms:modified>
</cp:coreProperties>
</file>
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4"/>
  </p:notesMasterIdLst>
  <p:sldIdLst>
    <p:sldId id="376" r:id="rId3"/>
    <p:sldId id="409" r:id="rId4"/>
    <p:sldId id="408" r:id="rId5"/>
    <p:sldId id="416" r:id="rId6"/>
    <p:sldId id="417" r:id="rId7"/>
    <p:sldId id="410" r:id="rId8"/>
    <p:sldId id="411" r:id="rId9"/>
    <p:sldId id="414" r:id="rId10"/>
    <p:sldId id="413" r:id="rId11"/>
    <p:sldId id="418" r:id="rId12"/>
    <p:sldId id="419" r:id="rId13"/>
    <p:sldId id="412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38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94A"/>
    <a:srgbClr val="C198BD"/>
    <a:srgbClr val="DCE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3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387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735B7-5648-4A75-A427-D81F5556BFC9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99CF7-4FD5-4885-BF0D-D361C1452F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9D45E-8A3F-4CB3-859D-D3EC489D1D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9D45E-8A3F-4CB3-859D-D3EC489D1D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9D45E-8A3F-4CB3-859D-D3EC489D1D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9D45E-8A3F-4CB3-859D-D3EC489D1D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9D45E-8A3F-4CB3-859D-D3EC489D1D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100364" y="6460334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9D45E-8A3F-4CB3-859D-D3EC489D1D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91962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此</a:t>
            </a:r>
            <a:r>
              <a:rPr lang="en-US" altLang="zh-CN" dirty="0"/>
              <a:t>ppt</a:t>
            </a:r>
            <a:r>
              <a:rPr lang="zh-CN" altLang="en-US" dirty="0"/>
              <a:t>参考</a:t>
            </a:r>
            <a:r>
              <a:rPr lang="en-US" altLang="zh-CN" dirty="0"/>
              <a:t>2020</a:t>
            </a:r>
            <a:r>
              <a:rPr lang="zh-CN" altLang="en-US" dirty="0"/>
              <a:t>级张益宁同学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9D45E-8A3F-4CB3-859D-D3EC489D1D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9D45E-8A3F-4CB3-859D-D3EC489D1D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9D45E-8A3F-4CB3-859D-D3EC489D1D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DE7026-8B76-401B-BDEF-072B3C3DE891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9D45E-8A3F-4CB3-859D-D3EC489D1D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8E285-922F-90EA-02DA-058555297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01E279-FE6A-EE3E-7779-607C04D2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E27C60-9918-E195-CC70-D9B4E92F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52FE31-C451-696C-80D5-66897C16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DFA98F-80AD-B816-0544-5BF52044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070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5C58C-493D-FC6F-0D21-2EAB585A8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50F5A6-9B00-7AC0-2CC3-25E129A10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9659D1-3D7E-40BD-3585-0395CF42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2030BC-02F6-7DD7-4E3C-D16BB400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700A50-28CD-B9CB-1D7B-12BE29D7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350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0207C-16DC-254D-ACF8-B34B61F1D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2C8630-420B-49B5-DC9A-462FAC9E5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9039AC-4369-BF14-A687-BBA39723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9602B1-D789-4A4D-2724-92D1AB22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1ED8D4-3268-0A8B-87BF-69A41A64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990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87C1B-69ED-378F-7E0C-4F2B3033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255A45-6443-B650-D384-B1214046A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995940-F9C2-CAB0-41E1-CD48C8F17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A6F0AE-F81C-F949-4842-0E2EBAE5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4E30E2-46AA-3012-4785-D62F4612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72364B-1C3F-AE16-3475-21E8971B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455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B2942-670E-5CC9-753E-99AEA4CE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5401D4-66F6-38D5-2CAE-8B2738250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08D6A1-3540-E09D-7842-655DD19D1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B51B19-B14C-6CF9-C7DC-0602D6CFF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A9C0AD-A50C-35B5-B6C0-883D32776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E655FC-B536-DA94-8192-F0CCB3DF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5D0534-8116-30FD-6246-26173A17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D397EF-4273-0CCE-A014-2A03DBAC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619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B284C-88D6-04DC-9D1C-042A57CE3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B22054-91DC-447A-D55B-037CAA92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7293CF-AF86-301E-845E-C0F81602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6A62D2-555F-E47C-AA63-61A03378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3741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F68A53-4D8E-1393-A64F-49EC188A9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78B479-FBF4-5749-1F97-09834DAE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936780-7C41-12AA-756A-D9486B7D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192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9E76E-3C03-924D-5324-FCBB443D6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13D324-EAC9-54AA-E6EC-7F34DD266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5155D6-2C2D-8AE5-A960-61CB4071D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ADE4E5-AE1E-3784-8872-F8916DFC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D4D413-BDBF-BDB1-7CF4-3EC59E8F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CF5D74-8CBA-6480-9181-2630E206A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7237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BD894-AF3C-44A9-976A-5F8FA318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29A517-C0B5-B2DC-6F65-F7E433AF9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ACB097-5CD3-6D31-E143-4BAAD12C6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B78E2A-9881-97A7-CEFC-81CD93F6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6E5768-B2AD-8018-2C75-DF0B86CA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50D6C4-1413-B168-4944-0445E9BB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855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ECE5A-3F13-B3E4-5E8C-A8CD56CF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EA1B4D-AFB6-142A-4BC1-1B8271AD7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74B9FF-B17B-C4F5-F265-71885FFDB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F2132-0459-CF3B-391C-3A7B531A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0F1D5-1A04-009A-EA7D-A9B30E31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2830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6583BA-3050-ABA3-227C-07CDDD0DA8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B7D544-F259-CB82-7EA7-8024880DD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0670BE-F099-220C-1761-BC32C22C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8A20C-BE09-C9ED-8297-267F38C4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54FA68-AD4F-4778-FB13-F6B5B3F1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96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BD0D96-E8AD-04E0-8E87-859F71AF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6F1DAF-2E01-1AA7-56F5-7B8F648B6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6DE234-3F44-0DE6-799F-EBC5ED290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DE720-80CA-4A12-AA89-F547F2C2652E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2AE45-0A29-72F6-047F-959B3AEA3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F47E0F-CE21-D8BC-FA84-C975E3AEA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F85A2-2805-4C42-823E-706BB79D47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3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-53895"/>
            <a:ext cx="12192000" cy="6965790"/>
            <a:chOff x="0" y="-53895"/>
            <a:chExt cx="12192000" cy="696579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53895"/>
              <a:ext cx="12192000" cy="6965790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1756611" y="3429000"/>
              <a:ext cx="4339389" cy="1371600"/>
            </a:xfrm>
            <a:prstGeom prst="rect">
              <a:avLst/>
            </a:prstGeom>
            <a:solidFill>
              <a:srgbClr val="DCE4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52401" y="4191000"/>
              <a:ext cx="4339389" cy="1371600"/>
            </a:xfrm>
            <a:prstGeom prst="rect">
              <a:avLst/>
            </a:prstGeom>
            <a:solidFill>
              <a:srgbClr val="DCE4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Rectangle 17"/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Rectangle 18"/>
          <p:cNvSpPr/>
          <p:nvPr/>
        </p:nvSpPr>
        <p:spPr>
          <a:xfrm>
            <a:off x="1871187" y="4654899"/>
            <a:ext cx="3716299" cy="326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i="1" dirty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“</a:t>
            </a:r>
            <a:r>
              <a:rPr lang="id-ID" sz="1400" i="1" dirty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Ut wisi enim ad minim veniam</a:t>
            </a:r>
            <a:endParaRPr lang="en-US" sz="1400" i="1" dirty="0">
              <a:solidFill>
                <a:schemeClr val="accent3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Rectangle 20"/>
          <p:cNvSpPr/>
          <p:nvPr/>
        </p:nvSpPr>
        <p:spPr>
          <a:xfrm>
            <a:off x="1871187" y="1240010"/>
            <a:ext cx="46309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0" dirty="0">
                <a:solidFill>
                  <a:srgbClr val="0A194A"/>
                </a:solidFill>
                <a:latin typeface="造字工房尚雅（非商用）常规体" pitchFamily="2" charset="-122"/>
                <a:ea typeface="造字工房尚雅（非商用）常规体" pitchFamily="2" charset="-122"/>
                <a:cs typeface="Segoe UI" panose="020B0502040204020203" pitchFamily="34" charset="0"/>
              </a:rPr>
              <a:t>Python</a:t>
            </a:r>
            <a:r>
              <a:rPr lang="zh-CN" altLang="en-US" sz="8000" dirty="0">
                <a:solidFill>
                  <a:srgbClr val="0A194A"/>
                </a:solidFill>
                <a:latin typeface="造字工房尚雅（非商用）常规体" pitchFamily="2" charset="-122"/>
                <a:ea typeface="造字工房尚雅（非商用）常规体" pitchFamily="2" charset="-122"/>
                <a:cs typeface="Segoe UI" panose="020B0502040204020203" pitchFamily="34" charset="0"/>
              </a:rPr>
              <a:t>基本语法</a:t>
            </a:r>
            <a:endParaRPr lang="en-US" sz="8000" dirty="0">
              <a:solidFill>
                <a:srgbClr val="0A194A"/>
              </a:solidFill>
              <a:latin typeface="造字工房尚雅（非商用）常规体" pitchFamily="2" charset="-122"/>
              <a:ea typeface="造字工房尚雅（非商用）常规体" pitchFamily="2" charset="-122"/>
              <a:cs typeface="Segoe UI" panose="020B0502040204020203" pitchFamily="34" charset="0"/>
            </a:endParaRPr>
          </a:p>
        </p:txBody>
      </p:sp>
      <p:sp>
        <p:nvSpPr>
          <p:cNvPr id="9" name="Rectangle 21"/>
          <p:cNvSpPr/>
          <p:nvPr/>
        </p:nvSpPr>
        <p:spPr>
          <a:xfrm>
            <a:off x="1871188" y="915713"/>
            <a:ext cx="21141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Montserrat Light" panose="00000400000000000000" pitchFamily="50" charset="0"/>
                <a:cs typeface="Segoe UI" panose="020B0502040204020203" pitchFamily="34" charset="0"/>
              </a:rPr>
              <a:t>Creative Business</a:t>
            </a:r>
          </a:p>
        </p:txBody>
      </p:sp>
      <p:sp>
        <p:nvSpPr>
          <p:cNvPr id="10" name="Rectangle: Rounded Corners 45"/>
          <p:cNvSpPr/>
          <p:nvPr/>
        </p:nvSpPr>
        <p:spPr>
          <a:xfrm>
            <a:off x="1970247" y="5209529"/>
            <a:ext cx="1676400" cy="40499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63500" dir="5400000" algn="t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gradFill>
                  <a:gsLst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PART   TWO</a:t>
            </a:r>
            <a:endParaRPr lang="id-ID" sz="1100" dirty="0"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0" scaled="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4" name="矩形 3"/>
          <p:cNvSpPr/>
          <p:nvPr/>
        </p:nvSpPr>
        <p:spPr>
          <a:xfrm>
            <a:off x="1106874" y="998704"/>
            <a:ext cx="94494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行和缩进 </a:t>
            </a:r>
            <a:endParaRPr lang="en-US" altLang="zh-CN" sz="2400" dirty="0"/>
          </a:p>
          <a:p>
            <a:r>
              <a:rPr lang="en-US" altLang="zh-CN" sz="2400" dirty="0"/>
              <a:t>Python </a:t>
            </a:r>
            <a:r>
              <a:rPr lang="zh-CN" altLang="en-US" sz="2400" dirty="0"/>
              <a:t>的代码块不使用大括号 </a:t>
            </a:r>
            <a:r>
              <a:rPr lang="en-US" altLang="zh-CN" sz="2400" dirty="0"/>
              <a:t>{ } </a:t>
            </a:r>
            <a:r>
              <a:rPr lang="zh-CN" altLang="en-US" sz="2400" dirty="0"/>
              <a:t>来控制类，函数以及其他逻辑判断，而是用缩进来写模块。 </a:t>
            </a:r>
            <a:endParaRPr lang="en-US" altLang="zh-CN" sz="2400" dirty="0"/>
          </a:p>
          <a:p>
            <a:r>
              <a:rPr lang="zh-CN" altLang="en-US" sz="2400" dirty="0"/>
              <a:t>缩进的空白数量是可变的，但是所有代码块语句必须包含相同的缩进空白数量，这个必须严格执行。 </a:t>
            </a:r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852" y="3413746"/>
            <a:ext cx="6385490" cy="3251970"/>
          </a:xfrm>
          <a:prstGeom prst="rect">
            <a:avLst/>
          </a:prstGeom>
        </p:spPr>
      </p:pic>
      <p:sp>
        <p:nvSpPr>
          <p:cNvPr id="3" name="Rectangle 17">
            <a:extLst>
              <a:ext uri="{FF2B5EF4-FFF2-40B4-BE49-F238E27FC236}">
                <a16:creationId xmlns:a16="http://schemas.microsoft.com/office/drawing/2014/main" id="{776E21D8-9551-C3ED-F675-EE01BC4389DA}"/>
              </a:ext>
            </a:extLst>
          </p:cNvPr>
          <p:cNvSpPr/>
          <p:nvPr/>
        </p:nvSpPr>
        <p:spPr>
          <a:xfrm>
            <a:off x="8187028" y="645752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4" name="矩形 3"/>
          <p:cNvSpPr/>
          <p:nvPr/>
        </p:nvSpPr>
        <p:spPr>
          <a:xfrm>
            <a:off x="1183990" y="989276"/>
            <a:ext cx="944944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Python </a:t>
            </a:r>
            <a:r>
              <a:rPr lang="zh-CN" altLang="en-US" sz="2400" dirty="0"/>
              <a:t>从</a:t>
            </a:r>
            <a:r>
              <a:rPr lang="en-US" altLang="zh-CN" sz="2400" dirty="0"/>
              <a:t>0</a:t>
            </a:r>
            <a:r>
              <a:rPr lang="zh-CN" altLang="en-US" sz="2400" dirty="0"/>
              <a:t>计数 </a:t>
            </a:r>
            <a:endParaRPr lang="en-US" altLang="zh-CN" sz="2400" dirty="0"/>
          </a:p>
          <a:p>
            <a:r>
              <a:rPr lang="en-US" altLang="zh-CN" sz="2400" dirty="0"/>
              <a:t>#range(3) </a:t>
            </a:r>
          </a:p>
          <a:p>
            <a:r>
              <a:rPr lang="zh-CN" altLang="en-US" sz="2400" dirty="0"/>
              <a:t>和</a:t>
            </a:r>
            <a:r>
              <a:rPr lang="en-US" altLang="zh-CN" sz="2400" dirty="0"/>
              <a:t>C</a:t>
            </a:r>
            <a:r>
              <a:rPr lang="zh-CN" altLang="en-US" sz="2400" dirty="0"/>
              <a:t>语言是一致的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Python </a:t>
            </a:r>
            <a:r>
              <a:rPr lang="zh-CN" altLang="en-US" sz="2400" dirty="0"/>
              <a:t>引号 </a:t>
            </a:r>
            <a:endParaRPr lang="en-US" altLang="zh-CN" sz="2400" dirty="0"/>
          </a:p>
          <a:p>
            <a:r>
              <a:rPr lang="en-US" altLang="zh-CN" sz="2400" dirty="0"/>
              <a:t>Python </a:t>
            </a:r>
            <a:r>
              <a:rPr lang="zh-CN" altLang="en-US" sz="2400" dirty="0"/>
              <a:t>可以使用引号</a:t>
            </a:r>
            <a:r>
              <a:rPr lang="en-US" altLang="zh-CN" sz="2400" dirty="0"/>
              <a:t>( ' )</a:t>
            </a:r>
            <a:r>
              <a:rPr lang="zh-CN" altLang="en-US" sz="2400" dirty="0"/>
              <a:t>、双引号</a:t>
            </a:r>
            <a:r>
              <a:rPr lang="en-US" altLang="zh-CN" sz="2400" dirty="0"/>
              <a:t>( " )</a:t>
            </a:r>
            <a:r>
              <a:rPr lang="zh-CN" altLang="en-US" sz="2400" dirty="0"/>
              <a:t>、三引号</a:t>
            </a:r>
            <a:r>
              <a:rPr lang="en-US" altLang="zh-CN" sz="2400" dirty="0"/>
              <a:t>( ''' </a:t>
            </a:r>
            <a:r>
              <a:rPr lang="zh-CN" altLang="en-US" sz="2400" dirty="0"/>
              <a:t>或 </a:t>
            </a:r>
            <a:r>
              <a:rPr lang="en-US" altLang="zh-CN" sz="2400" dirty="0"/>
              <a:t>""" ) </a:t>
            </a:r>
            <a:r>
              <a:rPr lang="zh-CN" altLang="en-US" sz="2400" dirty="0"/>
              <a:t>来表示字符串，引号的开始与结束必须是相同类型的。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其中三引号可以由多行组成，编写多行文本的快捷语法，常用于文档字符串，在文件的特定地点，被当做注释。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Python</a:t>
            </a:r>
            <a:r>
              <a:rPr lang="zh-CN" altLang="en-US" sz="2400" dirty="0"/>
              <a:t>注释 </a:t>
            </a:r>
            <a:endParaRPr lang="en-US" altLang="zh-CN" sz="2400" dirty="0"/>
          </a:p>
          <a:p>
            <a:r>
              <a:rPr lang="en-US" altLang="zh-CN" sz="2400" dirty="0"/>
              <a:t>python</a:t>
            </a:r>
            <a:r>
              <a:rPr lang="zh-CN" altLang="en-US" sz="2400" dirty="0"/>
              <a:t>中单行注释采用 </a:t>
            </a:r>
            <a:r>
              <a:rPr lang="en-US" altLang="zh-CN" sz="2400" dirty="0"/>
              <a:t># </a:t>
            </a:r>
            <a:r>
              <a:rPr lang="zh-CN" altLang="en-US" sz="2400" dirty="0"/>
              <a:t>开头</a:t>
            </a:r>
            <a:endParaRPr lang="en-US" altLang="zh-CN" sz="2400" dirty="0"/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C95D4687-97C2-81E0-992E-FFA2A38A3CBB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44450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930" y="2122179"/>
            <a:ext cx="4499380" cy="293437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239" y="2122179"/>
            <a:ext cx="4036560" cy="293437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35930" y="1107612"/>
            <a:ext cx="25378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Python </a:t>
            </a:r>
            <a:r>
              <a:rPr lang="zh-CN" altLang="en-US" sz="2800" dirty="0"/>
              <a:t>的输出 </a:t>
            </a:r>
            <a:endParaRPr lang="en-US" altLang="zh-CN" sz="2800" dirty="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0C7B3B55-4CC0-4876-2A55-10863358F245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44450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8" name="矩形 7"/>
          <p:cNvSpPr/>
          <p:nvPr/>
        </p:nvSpPr>
        <p:spPr>
          <a:xfrm>
            <a:off x="1135930" y="1107612"/>
            <a:ext cx="25378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Python </a:t>
            </a:r>
            <a:r>
              <a:rPr lang="zh-CN" altLang="en-US" sz="2800" dirty="0"/>
              <a:t>的输入 </a:t>
            </a:r>
            <a:endParaRPr lang="en-US" altLang="zh-CN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46" y="1807903"/>
            <a:ext cx="4387954" cy="135940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046" y="3787630"/>
            <a:ext cx="3582497" cy="1670490"/>
          </a:xfrm>
          <a:prstGeom prst="rect">
            <a:avLst/>
          </a:prstGeom>
        </p:spPr>
      </p:pic>
      <p:sp>
        <p:nvSpPr>
          <p:cNvPr id="3" name="Rectangle 17">
            <a:extLst>
              <a:ext uri="{FF2B5EF4-FFF2-40B4-BE49-F238E27FC236}">
                <a16:creationId xmlns:a16="http://schemas.microsoft.com/office/drawing/2014/main" id="{BADD76D9-7232-4BD3-0C26-82A069DC63BF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4" name="矩形 3"/>
          <p:cNvSpPr/>
          <p:nvPr/>
        </p:nvSpPr>
        <p:spPr>
          <a:xfrm>
            <a:off x="1183990" y="989276"/>
            <a:ext cx="944944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变量赋值 </a:t>
            </a:r>
            <a:endParaRPr lang="en-US" altLang="zh-CN" sz="2400" dirty="0"/>
          </a:p>
          <a:p>
            <a:r>
              <a:rPr lang="en-US" altLang="zh-CN" sz="2400" dirty="0"/>
              <a:t>Python </a:t>
            </a:r>
            <a:r>
              <a:rPr lang="zh-CN" altLang="en-US" sz="2400" dirty="0"/>
              <a:t>中的变量赋值不需要类型声明。 </a:t>
            </a:r>
            <a:endParaRPr lang="en-US" altLang="zh-CN" sz="2400" dirty="0"/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每个变量在内存中创建，都包括变量的标识，名称和数据这些信息。 </a:t>
            </a:r>
            <a:r>
              <a:rPr lang="en-US" altLang="zh-CN" sz="2400" dirty="0"/>
              <a:t>• </a:t>
            </a:r>
            <a:r>
              <a:rPr lang="zh-CN" altLang="en-US" sz="2400" dirty="0"/>
              <a:t>每个变量在使用前都必须赋值，变量赋值以后该变量才会被创建。</a:t>
            </a:r>
            <a:endParaRPr lang="en-US" altLang="zh-CN" sz="2400" dirty="0"/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用等号（</a:t>
            </a:r>
            <a:r>
              <a:rPr lang="en-US" altLang="zh-CN" sz="2400" dirty="0"/>
              <a:t>=</a:t>
            </a:r>
            <a:r>
              <a:rPr lang="zh-CN" altLang="en-US" sz="2400" dirty="0"/>
              <a:t>）来给变量赋值，左边是一个变量名，右边是存储在变量中的值。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例如：</a:t>
            </a:r>
            <a:endParaRPr lang="en-US" altLang="zh-CN" sz="2400" dirty="0"/>
          </a:p>
          <a:p>
            <a:r>
              <a:rPr lang="en-US" altLang="zh-CN" sz="2400" dirty="0"/>
              <a:t>• counter = 100              # </a:t>
            </a:r>
            <a:r>
              <a:rPr lang="zh-CN" altLang="en-US" sz="2400" dirty="0"/>
              <a:t>整型</a:t>
            </a:r>
            <a:endParaRPr lang="en-US" altLang="zh-CN" sz="2400" dirty="0"/>
          </a:p>
          <a:p>
            <a:r>
              <a:rPr lang="en-US" altLang="zh-CN" sz="2400" dirty="0"/>
              <a:t>• miles = 1000.0             # </a:t>
            </a:r>
            <a:r>
              <a:rPr lang="zh-CN" altLang="en-US" sz="2400" dirty="0"/>
              <a:t>浮点型 </a:t>
            </a:r>
            <a:endParaRPr lang="en-US" altLang="zh-CN" sz="2400" dirty="0"/>
          </a:p>
          <a:p>
            <a:r>
              <a:rPr lang="en-US" altLang="zh-CN" sz="2400" dirty="0"/>
              <a:t>• name = "John"             # </a:t>
            </a:r>
            <a:r>
              <a:rPr lang="zh-CN" altLang="en-US" sz="2400" dirty="0"/>
              <a:t>字符串</a:t>
            </a:r>
            <a:endParaRPr lang="en-US" altLang="zh-CN" sz="2400" dirty="0"/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D604FECE-3E6D-0218-C29F-D84BEEE60954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4" name="矩形 3"/>
          <p:cNvSpPr/>
          <p:nvPr/>
        </p:nvSpPr>
        <p:spPr>
          <a:xfrm>
            <a:off x="1183990" y="989276"/>
            <a:ext cx="94494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列表（</a:t>
            </a:r>
            <a:r>
              <a:rPr lang="en-US" altLang="zh-CN" sz="2400" dirty="0"/>
              <a:t>list</a:t>
            </a:r>
            <a:r>
              <a:rPr lang="zh-CN" altLang="en-US" sz="2400" dirty="0"/>
              <a:t>）是</a:t>
            </a:r>
            <a:r>
              <a:rPr lang="en-US" altLang="zh-CN" sz="2400" dirty="0"/>
              <a:t>Python</a:t>
            </a:r>
            <a:r>
              <a:rPr lang="zh-CN" altLang="en-US" sz="2400" dirty="0"/>
              <a:t>中最基本的数据结构。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序列中的每个元素都分配一个数字 </a:t>
            </a:r>
            <a:r>
              <a:rPr lang="en-US" altLang="zh-CN" sz="2400" dirty="0"/>
              <a:t>- </a:t>
            </a:r>
            <a:r>
              <a:rPr lang="zh-CN" altLang="en-US" sz="2400" dirty="0"/>
              <a:t>它的位置，或索引，第一个索引是 </a:t>
            </a:r>
            <a:r>
              <a:rPr lang="en-US" altLang="zh-CN" sz="2400" dirty="0"/>
              <a:t>0</a:t>
            </a:r>
            <a:r>
              <a:rPr lang="zh-CN" altLang="en-US" sz="2400" dirty="0"/>
              <a:t>，第二个索引是</a:t>
            </a:r>
            <a:r>
              <a:rPr lang="en-US" altLang="zh-CN" sz="2400" dirty="0"/>
              <a:t>1</a:t>
            </a:r>
            <a:r>
              <a:rPr lang="zh-CN" altLang="en-US" sz="2400" dirty="0"/>
              <a:t>，依此类推。 </a:t>
            </a: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990" y="5056318"/>
            <a:ext cx="5365810" cy="13373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173" y="2664567"/>
            <a:ext cx="6494958" cy="2058262"/>
          </a:xfrm>
          <a:prstGeom prst="rect">
            <a:avLst/>
          </a:prstGeom>
        </p:spPr>
      </p:pic>
      <p:sp>
        <p:nvSpPr>
          <p:cNvPr id="7" name="Rectangle 17">
            <a:extLst>
              <a:ext uri="{FF2B5EF4-FFF2-40B4-BE49-F238E27FC236}">
                <a16:creationId xmlns:a16="http://schemas.microsoft.com/office/drawing/2014/main" id="{373F3EA8-35C0-DEF5-E38F-F5D18CC37844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4" name="矩形 3"/>
          <p:cNvSpPr/>
          <p:nvPr/>
        </p:nvSpPr>
        <p:spPr>
          <a:xfrm>
            <a:off x="1183990" y="989276"/>
            <a:ext cx="944944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列表可以定义</a:t>
            </a:r>
            <a:endParaRPr lang="en-US" altLang="zh-CN" sz="2400" dirty="0"/>
          </a:p>
          <a:p>
            <a:r>
              <a:rPr lang="en-US" altLang="zh-CN" sz="2400" dirty="0"/>
              <a:t>list1 = []</a:t>
            </a:r>
          </a:p>
          <a:p>
            <a:endParaRPr lang="en-US" altLang="zh-CN" sz="2400" dirty="0"/>
          </a:p>
          <a:p>
            <a:r>
              <a:rPr lang="zh-CN" altLang="en-US" sz="2400" dirty="0"/>
              <a:t>初始化一个空的列表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但是不允许</a:t>
            </a:r>
            <a:r>
              <a:rPr lang="en-US" altLang="zh-CN" sz="2400" dirty="0"/>
              <a:t>list1 = list2 = []</a:t>
            </a:r>
          </a:p>
          <a:p>
            <a:r>
              <a:rPr lang="zh-CN" altLang="en-US" sz="2400" dirty="0"/>
              <a:t>（这个属于是浅拷贝，修改</a:t>
            </a:r>
            <a:r>
              <a:rPr lang="en-US" altLang="zh-CN" sz="2400" dirty="0"/>
              <a:t>list1</a:t>
            </a:r>
            <a:r>
              <a:rPr lang="zh-CN" altLang="en-US" sz="2400" dirty="0"/>
              <a:t>会改动</a:t>
            </a:r>
            <a:r>
              <a:rPr lang="en-US" altLang="zh-CN" sz="2400" dirty="0"/>
              <a:t>list2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5337F2DE-4EB5-7238-42C3-FE59FA1B2F10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4" name="矩形 3"/>
          <p:cNvSpPr/>
          <p:nvPr/>
        </p:nvSpPr>
        <p:spPr>
          <a:xfrm>
            <a:off x="1183990" y="989276"/>
            <a:ext cx="944944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Python</a:t>
            </a:r>
            <a:r>
              <a:rPr lang="zh-CN" altLang="en-US" sz="2400" dirty="0"/>
              <a:t>的元组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Python</a:t>
            </a:r>
            <a:r>
              <a:rPr lang="zh-CN" altLang="en-US" sz="2400" dirty="0"/>
              <a:t>的元组与列表类似，不同之处在于元组的元素不能修改。</a:t>
            </a:r>
            <a:endParaRPr lang="en-US" altLang="zh-CN" sz="2400" dirty="0"/>
          </a:p>
          <a:p>
            <a:r>
              <a:rPr lang="zh-CN" altLang="en-US" sz="2400" dirty="0"/>
              <a:t>元组使用小括号，列表使用方括号。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元组创建很简单，只需要在括号中添加元素，并使用逗号隔开即可。 </a:t>
            </a:r>
            <a:r>
              <a:rPr lang="en-US" altLang="zh-CN" sz="2400" dirty="0"/>
              <a:t>tup1 = ( 'physics', 'chemistry', 1997, 2000)</a:t>
            </a:r>
          </a:p>
          <a:p>
            <a:r>
              <a:rPr lang="en-US" altLang="zh-CN" sz="2400" dirty="0"/>
              <a:t>tup2 = (1, 2, 3, 4, 5 ) </a:t>
            </a:r>
          </a:p>
          <a:p>
            <a:r>
              <a:rPr lang="en-US" altLang="zh-CN" sz="2400" dirty="0"/>
              <a:t>tup3 = "a", "b", "c", "d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55184B93-8F25-B828-D64D-48F5C1353FD0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44450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89" y="2170992"/>
            <a:ext cx="7678726" cy="155259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35930" y="1107612"/>
            <a:ext cx="25378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Python </a:t>
            </a:r>
            <a:r>
              <a:rPr lang="zh-CN" altLang="en-US" sz="2800" dirty="0"/>
              <a:t>的条件 </a:t>
            </a:r>
            <a:endParaRPr lang="en-US" altLang="zh-CN" sz="2800" dirty="0"/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47A364C3-48D4-0B60-2F3B-DF9E704B3A62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44450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8" name="矩形 7"/>
          <p:cNvSpPr/>
          <p:nvPr/>
        </p:nvSpPr>
        <p:spPr>
          <a:xfrm>
            <a:off x="1135930" y="1107612"/>
            <a:ext cx="25378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Python </a:t>
            </a:r>
            <a:r>
              <a:rPr lang="zh-CN" altLang="en-US" sz="2800" dirty="0"/>
              <a:t>的循环 </a:t>
            </a:r>
            <a:endParaRPr lang="en-US" altLang="zh-CN" sz="2800" dirty="0"/>
          </a:p>
        </p:txBody>
      </p:sp>
      <p:sp>
        <p:nvSpPr>
          <p:cNvPr id="3" name="矩形 2"/>
          <p:cNvSpPr/>
          <p:nvPr/>
        </p:nvSpPr>
        <p:spPr>
          <a:xfrm>
            <a:off x="1135930" y="2050649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/>
              <a:t>Python for</a:t>
            </a:r>
            <a:r>
              <a:rPr lang="zh-CN" altLang="en-US" sz="2000" dirty="0"/>
              <a:t>循环可以遍历任何序列的项目，如一个列表或者一个字符串。 </a:t>
            </a:r>
            <a:endParaRPr lang="en-US" altLang="zh-CN" sz="2000" dirty="0"/>
          </a:p>
          <a:p>
            <a:endParaRPr lang="en-US" altLang="zh-CN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230" y="2050649"/>
            <a:ext cx="3096620" cy="40474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930" y="3066312"/>
            <a:ext cx="5680510" cy="2226950"/>
          </a:xfrm>
          <a:prstGeom prst="rect">
            <a:avLst/>
          </a:prstGeom>
        </p:spPr>
      </p:pic>
      <p:sp>
        <p:nvSpPr>
          <p:cNvPr id="4" name="Rectangle 17">
            <a:extLst>
              <a:ext uri="{FF2B5EF4-FFF2-40B4-BE49-F238E27FC236}">
                <a16:creationId xmlns:a16="http://schemas.microsoft.com/office/drawing/2014/main" id="{E568D18A-8362-CDE2-E821-45E1997FDD6A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990" y="1996356"/>
            <a:ext cx="6431778" cy="155249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990" y="4085395"/>
            <a:ext cx="3485759" cy="17908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83990" y="1093621"/>
            <a:ext cx="22060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Python </a:t>
            </a:r>
            <a:r>
              <a:rPr lang="zh-CN" altLang="en-US" sz="2400" dirty="0"/>
              <a:t>的循环 </a:t>
            </a:r>
            <a:endParaRPr lang="en-US" altLang="zh-CN" sz="2400" dirty="0"/>
          </a:p>
        </p:txBody>
      </p:sp>
      <p:sp>
        <p:nvSpPr>
          <p:cNvPr id="8" name="矩形 7"/>
          <p:cNvSpPr/>
          <p:nvPr/>
        </p:nvSpPr>
        <p:spPr>
          <a:xfrm>
            <a:off x="5131324" y="406587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以上实例我们使用了内置函数 </a:t>
            </a:r>
            <a:r>
              <a:rPr lang="en-US" altLang="zh-CN" dirty="0" err="1"/>
              <a:t>len</a:t>
            </a:r>
            <a:r>
              <a:rPr lang="en-US" altLang="zh-CN" dirty="0"/>
              <a:t>() </a:t>
            </a:r>
            <a:r>
              <a:rPr lang="zh-CN" altLang="en-US" dirty="0"/>
              <a:t>和 </a:t>
            </a:r>
            <a:r>
              <a:rPr lang="en-US" altLang="zh-CN" dirty="0"/>
              <a:t>range(),</a:t>
            </a:r>
            <a:r>
              <a:rPr lang="zh-CN" altLang="en-US" dirty="0"/>
              <a:t>函数 </a:t>
            </a:r>
            <a:r>
              <a:rPr lang="en-US" altLang="zh-CN" dirty="0" err="1"/>
              <a:t>len</a:t>
            </a:r>
            <a:r>
              <a:rPr lang="en-US" altLang="zh-CN" dirty="0"/>
              <a:t>() </a:t>
            </a:r>
            <a:r>
              <a:rPr lang="zh-CN" altLang="en-US" dirty="0"/>
              <a:t>返回列表的长度，即元素的个数。 </a:t>
            </a:r>
            <a:r>
              <a:rPr lang="en-US" altLang="zh-CN" dirty="0"/>
              <a:t>range</a:t>
            </a:r>
            <a:r>
              <a:rPr lang="zh-CN" altLang="en-US" dirty="0"/>
              <a:t>返 回一个序列的数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BA8E3969-CB81-A542-FF6D-81EB647ABD63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4" name="矩形 3"/>
          <p:cNvSpPr/>
          <p:nvPr/>
        </p:nvSpPr>
        <p:spPr>
          <a:xfrm>
            <a:off x="1172065" y="1194377"/>
            <a:ext cx="892404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Python</a:t>
            </a:r>
            <a:r>
              <a:rPr lang="zh-CN" altLang="en-US" sz="2400" dirty="0"/>
              <a:t>的字典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字典是另一种可变容器模型，且可存储任意类型对象。 </a:t>
            </a:r>
            <a:endParaRPr lang="en-US" altLang="zh-CN" sz="2400" dirty="0"/>
          </a:p>
          <a:p>
            <a:r>
              <a:rPr lang="zh-CN" altLang="en-US" sz="2400" dirty="0"/>
              <a:t>字典的每个键值 </a:t>
            </a:r>
            <a:r>
              <a:rPr lang="en-US" altLang="zh-CN" sz="2400" dirty="0"/>
              <a:t>key=&gt;value </a:t>
            </a:r>
            <a:r>
              <a:rPr lang="zh-CN" altLang="en-US" sz="2400" dirty="0"/>
              <a:t>对用冒号分割，每个键值对之间用逗号分割，整个字典包括在花括号 </a:t>
            </a:r>
            <a:r>
              <a:rPr lang="en-US" altLang="zh-CN" sz="2400" dirty="0"/>
              <a:t>{} </a:t>
            </a:r>
            <a:r>
              <a:rPr lang="zh-CN" altLang="en-US" sz="2400" dirty="0"/>
              <a:t>中 </a:t>
            </a:r>
            <a:r>
              <a:rPr lang="en-US" altLang="zh-CN" sz="2400" dirty="0"/>
              <a:t>,</a:t>
            </a:r>
            <a:r>
              <a:rPr lang="zh-CN" altLang="en-US" sz="2400" dirty="0"/>
              <a:t>格式如下所示： 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 d = {key1 : value1, key2 : value2 } </a:t>
            </a:r>
          </a:p>
          <a:p>
            <a:endParaRPr lang="en-US" altLang="zh-CN" sz="2400" dirty="0"/>
          </a:p>
          <a:p>
            <a:r>
              <a:rPr lang="zh-CN" altLang="en-US" sz="2400" dirty="0"/>
              <a:t>键一般是唯一的，如果重复最后的一个键值对会替换前面的，值不需要唯一。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A90F421A-4FB8-5FED-F7D8-C5834136EB4A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550" y="1050601"/>
            <a:ext cx="8237544" cy="2295915"/>
          </a:xfrm>
          <a:prstGeom prst="rect">
            <a:avLst/>
          </a:prstGeom>
        </p:spPr>
      </p:pic>
      <p:sp>
        <p:nvSpPr>
          <p:cNvPr id="4" name="Rectangle 17">
            <a:extLst>
              <a:ext uri="{FF2B5EF4-FFF2-40B4-BE49-F238E27FC236}">
                <a16:creationId xmlns:a16="http://schemas.microsoft.com/office/drawing/2014/main" id="{FA8A7C71-804D-B3AD-58BB-7E1A8DFAA741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3" name="矩形 2"/>
          <p:cNvSpPr/>
          <p:nvPr/>
        </p:nvSpPr>
        <p:spPr>
          <a:xfrm>
            <a:off x="1200345" y="1030499"/>
            <a:ext cx="944251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Python </a:t>
            </a:r>
            <a:r>
              <a:rPr lang="zh-CN" altLang="en-US" sz="2400" dirty="0"/>
              <a:t>函数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定义一个函数</a:t>
            </a:r>
            <a:endParaRPr lang="en-US" altLang="zh-CN" sz="2400" dirty="0"/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你可以定义一个由自己想要功能的函数，以下是简单的规则：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函数代码块以 </a:t>
            </a:r>
            <a:r>
              <a:rPr lang="en-US" altLang="zh-CN" sz="2400" dirty="0"/>
              <a:t>def </a:t>
            </a:r>
            <a:r>
              <a:rPr lang="zh-CN" altLang="en-US" sz="2400" dirty="0"/>
              <a:t>关键词开头，后接函数标识符名称和圆括号</a:t>
            </a:r>
            <a:r>
              <a:rPr lang="en-US" altLang="zh-CN" sz="2400" dirty="0"/>
              <a:t>()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任何传入参数和自变量必须放在圆括号中间。圆括号之间可以用于定义参数。 </a:t>
            </a:r>
            <a:endParaRPr lang="en-US" altLang="zh-CN" sz="2400" dirty="0"/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函数内容以冒号起始，并且缩进。 </a:t>
            </a:r>
            <a:endParaRPr lang="en-US" altLang="zh-CN" sz="2400" dirty="0"/>
          </a:p>
          <a:p>
            <a:r>
              <a:rPr lang="en-US" altLang="zh-CN" sz="2400" dirty="0"/>
              <a:t>• return [</a:t>
            </a:r>
            <a:r>
              <a:rPr lang="zh-CN" altLang="en-US" sz="2400" dirty="0"/>
              <a:t>表达式</a:t>
            </a:r>
            <a:r>
              <a:rPr lang="en-US" altLang="zh-CN" sz="2400" dirty="0"/>
              <a:t>] </a:t>
            </a:r>
            <a:r>
              <a:rPr lang="zh-CN" altLang="en-US" sz="2400" dirty="0"/>
              <a:t>结束函数，选择性地返回一个值给调用方。不带表达式的</a:t>
            </a:r>
            <a:r>
              <a:rPr lang="en-US" altLang="zh-CN" sz="2400" dirty="0"/>
              <a:t>return</a:t>
            </a:r>
            <a:r>
              <a:rPr lang="zh-CN" altLang="en-US" sz="2400" dirty="0"/>
              <a:t>相当于返回 </a:t>
            </a:r>
            <a:r>
              <a:rPr lang="en-US" altLang="zh-CN" sz="2400" dirty="0"/>
              <a:t>None</a:t>
            </a:r>
            <a:r>
              <a:rPr lang="zh-CN" altLang="en-US" sz="2400" dirty="0"/>
              <a:t>。 </a:t>
            </a:r>
            <a:endParaRPr lang="en-US" altLang="zh-CN" sz="2400" dirty="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8BA8D07C-E2E9-865A-EB84-51FFADD0EEBD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662" y="1213469"/>
            <a:ext cx="6097702" cy="221553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247479" y="3849113"/>
            <a:ext cx="94425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编写函数时一定要注意局部变量的问题</a:t>
            </a:r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B04AC79C-22E8-C8A4-5A70-1DD61D4BAB7B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099" y="2079424"/>
            <a:ext cx="8113801" cy="316466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567992" y="133304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/>
              <a:t>文件</a:t>
            </a:r>
            <a:r>
              <a:rPr lang="en-US" altLang="zh-CN" sz="2400" dirty="0"/>
              <a:t>I/O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1F11331-033A-7E3C-9FE8-167A1EA05A2A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224" y="707886"/>
            <a:ext cx="7590676" cy="6032205"/>
          </a:xfrm>
          <a:prstGeom prst="rect">
            <a:avLst/>
          </a:prstGeom>
        </p:spPr>
      </p:pic>
      <p:sp>
        <p:nvSpPr>
          <p:cNvPr id="3" name="Rectangle 17">
            <a:extLst>
              <a:ext uri="{FF2B5EF4-FFF2-40B4-BE49-F238E27FC236}">
                <a16:creationId xmlns:a16="http://schemas.microsoft.com/office/drawing/2014/main" id="{F44F4A2C-5FA8-625B-7517-18632E6F6684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5" name="矩形 4"/>
          <p:cNvSpPr/>
          <p:nvPr/>
        </p:nvSpPr>
        <p:spPr>
          <a:xfrm>
            <a:off x="1238053" y="1018905"/>
            <a:ext cx="874334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write()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write()</a:t>
            </a:r>
            <a:r>
              <a:rPr lang="zh-CN" altLang="en-US" sz="2400" dirty="0"/>
              <a:t>方法可将任何字符串写入一个打开的文件。需要重点注意的是，</a:t>
            </a:r>
            <a:r>
              <a:rPr lang="en-US" altLang="zh-CN" sz="2400" dirty="0"/>
              <a:t>Python</a:t>
            </a:r>
            <a:r>
              <a:rPr lang="zh-CN" altLang="en-US" sz="2400" dirty="0"/>
              <a:t>字符串可以是二进制数据，而不是仅仅是文字。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write()</a:t>
            </a:r>
            <a:r>
              <a:rPr lang="zh-CN" altLang="en-US" sz="2400" dirty="0"/>
              <a:t>方法不会在字符串的结尾添加换行符</a:t>
            </a:r>
            <a:r>
              <a:rPr lang="en-US" altLang="zh-CN" sz="2400" dirty="0"/>
              <a:t>('\n’)</a:t>
            </a:r>
            <a:r>
              <a:rPr lang="zh-CN" altLang="en-US" sz="2400" dirty="0"/>
              <a:t>： 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上述方法会创建</a:t>
            </a:r>
            <a:r>
              <a:rPr lang="en-US" altLang="zh-CN" sz="2400" dirty="0"/>
              <a:t>foo.txt</a:t>
            </a:r>
            <a:r>
              <a:rPr lang="zh-CN" altLang="en-US" sz="2400" dirty="0"/>
              <a:t>文件，并将收到的内容写入该文件，并最终关闭文件。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802" y="3429000"/>
            <a:ext cx="8331938" cy="1395926"/>
          </a:xfrm>
          <a:prstGeom prst="rect">
            <a:avLst/>
          </a:prstGeom>
        </p:spPr>
      </p:pic>
      <p:sp>
        <p:nvSpPr>
          <p:cNvPr id="3" name="Rectangle 17">
            <a:extLst>
              <a:ext uri="{FF2B5EF4-FFF2-40B4-BE49-F238E27FC236}">
                <a16:creationId xmlns:a16="http://schemas.microsoft.com/office/drawing/2014/main" id="{9D9BF77D-137D-AC1A-3FB6-AA01E6AE24C8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3805" t="-317" r="52708" b="56947"/>
          <a:stretch>
            <a:fillRect/>
          </a:stretch>
        </p:blipFill>
        <p:spPr>
          <a:xfrm>
            <a:off x="0" y="-38489"/>
            <a:ext cx="12192000" cy="6946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010" y="0"/>
            <a:ext cx="4613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/>
              <a:t>Python</a:t>
            </a:r>
            <a:r>
              <a:rPr lang="zh-CN" altLang="en-US" sz="4000" dirty="0"/>
              <a:t>基础概念</a:t>
            </a:r>
            <a:endParaRPr lang="en-US" altLang="zh-CN" sz="4000" dirty="0"/>
          </a:p>
        </p:txBody>
      </p:sp>
      <p:sp>
        <p:nvSpPr>
          <p:cNvPr id="4" name="矩形 3"/>
          <p:cNvSpPr/>
          <p:nvPr/>
        </p:nvSpPr>
        <p:spPr>
          <a:xfrm>
            <a:off x="1567991" y="1333049"/>
            <a:ext cx="79513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read()</a:t>
            </a:r>
          </a:p>
          <a:p>
            <a:endParaRPr lang="en-US" altLang="zh-CN" sz="2400" dirty="0"/>
          </a:p>
          <a:p>
            <a:r>
              <a:rPr lang="en-US" altLang="zh-CN" sz="2400" dirty="0"/>
              <a:t>read</a:t>
            </a:r>
            <a:r>
              <a:rPr lang="zh-CN" altLang="en-US" sz="2400" dirty="0"/>
              <a:t>（）方法从一个打开的文件中读取一个字符串。需要重点注意的是，</a:t>
            </a:r>
            <a:r>
              <a:rPr lang="en-US" altLang="zh-CN" sz="2400" dirty="0"/>
              <a:t>Python</a:t>
            </a:r>
            <a:r>
              <a:rPr lang="zh-CN" altLang="en-US" sz="2400" dirty="0"/>
              <a:t>字符串可以是二进制数据， 而不是仅仅是文字。 </a:t>
            </a:r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976" y="3641374"/>
            <a:ext cx="6685502" cy="1862258"/>
          </a:xfrm>
          <a:prstGeom prst="rect">
            <a:avLst/>
          </a:prstGeom>
        </p:spPr>
      </p:pic>
      <p:sp>
        <p:nvSpPr>
          <p:cNvPr id="3" name="Rectangle 17">
            <a:extLst>
              <a:ext uri="{FF2B5EF4-FFF2-40B4-BE49-F238E27FC236}">
                <a16:creationId xmlns:a16="http://schemas.microsoft.com/office/drawing/2014/main" id="{F55ABD43-1B20-D20C-CD5D-F584E8790672}"/>
              </a:ext>
            </a:extLst>
          </p:cNvPr>
          <p:cNvSpPr/>
          <p:nvPr/>
        </p:nvSpPr>
        <p:spPr>
          <a:xfrm>
            <a:off x="7483876" y="6358239"/>
            <a:ext cx="4004972" cy="504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此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ppt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参考</a:t>
            </a:r>
            <a:r>
              <a:rPr lang="en-US" altLang="zh-CN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</a:t>
            </a:r>
            <a:r>
              <a:rPr lang="zh-CN" altLang="en-US" sz="2400" b="1" dirty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级张益宁同学</a:t>
            </a:r>
            <a:endParaRPr lang="en-US" sz="2400" dirty="0">
              <a:solidFill>
                <a:schemeClr val="accent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621" y="0"/>
              <a:ext cx="11186758" cy="685800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0" y="3525253"/>
              <a:ext cx="1239253" cy="3332747"/>
            </a:xfrm>
            <a:prstGeom prst="rect">
              <a:avLst/>
            </a:prstGeom>
            <a:solidFill>
              <a:srgbClr val="DCE4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689379" y="0"/>
              <a:ext cx="502621" cy="6858000"/>
            </a:xfrm>
            <a:prstGeom prst="rect">
              <a:avLst/>
            </a:prstGeom>
            <a:solidFill>
              <a:srgbClr val="DCE4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_库_文本框 7"/>
          <p:cNvSpPr txBox="1"/>
          <p:nvPr>
            <p:custDataLst>
              <p:tags r:id="rId1"/>
            </p:custDataLst>
          </p:nvPr>
        </p:nvSpPr>
        <p:spPr>
          <a:xfrm>
            <a:off x="4025144" y="2828835"/>
            <a:ext cx="4141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Broadway" panose="04040905080B02020502" pitchFamily="82" charset="0"/>
              </a:rPr>
              <a:t>THANKS</a:t>
            </a:r>
            <a:endParaRPr lang="zh-CN" altLang="en-US" sz="7200" b="1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第一PPT，www.1ppt.com">
  <a:themeElements>
    <a:clrScheme name="紫罗兰色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998</Words>
  <Application>Microsoft Office PowerPoint</Application>
  <PresentationFormat>宽屏</PresentationFormat>
  <Paragraphs>126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等线</vt:lpstr>
      <vt:lpstr>等线 Light</vt:lpstr>
      <vt:lpstr>造字工房尚雅（非商用）常规体</vt:lpstr>
      <vt:lpstr>Arial</vt:lpstr>
      <vt:lpstr>Broadway</vt:lpstr>
      <vt:lpstr>Calibri</vt:lpstr>
      <vt:lpstr>Montserrat Light</vt:lpstr>
      <vt:lpstr>Segoe UI</vt:lpstr>
      <vt:lpstr>Segoe UI Light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第一PPT，www.1ppt.com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虚拟现实</dc:title>
  <dc:creator>第一PPT</dc:creator>
  <cp:keywords>www.1ppt.com</cp:keywords>
  <dc:description>www.1ppt.com</dc:description>
  <cp:lastModifiedBy>兆熙 张</cp:lastModifiedBy>
  <cp:revision>3</cp:revision>
  <dcterms:created xsi:type="dcterms:W3CDTF">2023-02-27T14:45:00Z</dcterms:created>
  <dcterms:modified xsi:type="dcterms:W3CDTF">2024-03-07T11:14:11Z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
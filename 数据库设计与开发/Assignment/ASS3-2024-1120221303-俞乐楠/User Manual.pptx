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Default Extension="jpg" ContentType="image/jpg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x="7772400" cy="100584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9100" y="666750"/>
            <a:ext cx="6934200" cy="436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jp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jp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Relationship Id="rId4" Type="http://schemas.openxmlformats.org/officeDocument/2006/relationships/image" Target="../media/image28.jp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Relationship Id="rId3" Type="http://schemas.openxmlformats.org/officeDocument/2006/relationships/image" Target="../media/image29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jpg"/><Relationship Id="rId3" Type="http://schemas.openxmlformats.org/officeDocument/2006/relationships/image" Target="../media/image31.jpg"/><Relationship Id="rId4" Type="http://schemas.openxmlformats.org/officeDocument/2006/relationships/image" Target="../media/image32.jp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jpg"/><Relationship Id="rId3" Type="http://schemas.openxmlformats.org/officeDocument/2006/relationships/image" Target="../media/image20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jpg"/><Relationship Id="rId3" Type="http://schemas.openxmlformats.org/officeDocument/2006/relationships/image" Target="../media/image35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6.png"/><Relationship Id="rId3" Type="http://schemas.openxmlformats.org/officeDocument/2006/relationships/image" Target="../media/image37.jp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jp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2.jpg"/><Relationship Id="rId3" Type="http://schemas.openxmlformats.org/officeDocument/2006/relationships/image" Target="../media/image43.pn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6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9.jp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mailto:1120221303@bit.edu.cn" TargetMode="Externa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9100" y="666750"/>
            <a:ext cx="2425700" cy="436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产品使用说明书</a:t>
            </a:r>
          </a:p>
        </p:txBody>
      </p:sp>
      <p:sp>
        <p:nvSpPr>
          <p:cNvPr id="3" name="object 3"/>
          <p:cNvSpPr/>
          <p:nvPr/>
        </p:nvSpPr>
        <p:spPr>
          <a:xfrm>
            <a:off x="584200" y="21367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4"/>
                </a:lnTo>
                <a:lnTo>
                  <a:pt x="47625" y="2697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89000" y="23844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47625" y="26970"/>
                </a:lnTo>
                <a:lnTo>
                  <a:pt x="47020" y="30007"/>
                </a:lnTo>
                <a:lnTo>
                  <a:pt x="45812" y="32924"/>
                </a:lnTo>
                <a:lnTo>
                  <a:pt x="44603" y="35842"/>
                </a:lnTo>
                <a:lnTo>
                  <a:pt x="32925" y="45812"/>
                </a:lnTo>
                <a:lnTo>
                  <a:pt x="30007" y="47020"/>
                </a:lnTo>
                <a:lnTo>
                  <a:pt x="26970" y="47625"/>
                </a:lnTo>
                <a:lnTo>
                  <a:pt x="23812" y="47625"/>
                </a:lnTo>
                <a:lnTo>
                  <a:pt x="20654" y="47625"/>
                </a:lnTo>
                <a:lnTo>
                  <a:pt x="17617" y="47020"/>
                </a:lnTo>
                <a:lnTo>
                  <a:pt x="14699" y="45812"/>
                </a:lnTo>
                <a:lnTo>
                  <a:pt x="11782" y="44603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6974" y="6974"/>
                </a:lnTo>
                <a:lnTo>
                  <a:pt x="9207" y="4741"/>
                </a:lnTo>
                <a:lnTo>
                  <a:pt x="11782" y="3020"/>
                </a:lnTo>
                <a:lnTo>
                  <a:pt x="14699" y="1812"/>
                </a:lnTo>
                <a:lnTo>
                  <a:pt x="17617" y="604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30007" y="604"/>
                </a:lnTo>
                <a:lnTo>
                  <a:pt x="32925" y="1812"/>
                </a:lnTo>
                <a:lnTo>
                  <a:pt x="35842" y="3020"/>
                </a:lnTo>
                <a:lnTo>
                  <a:pt x="38417" y="4741"/>
                </a:lnTo>
                <a:lnTo>
                  <a:pt x="40650" y="6974"/>
                </a:lnTo>
                <a:lnTo>
                  <a:pt x="42883" y="9206"/>
                </a:lnTo>
                <a:lnTo>
                  <a:pt x="44603" y="11782"/>
                </a:lnTo>
                <a:lnTo>
                  <a:pt x="45812" y="14699"/>
                </a:lnTo>
                <a:lnTo>
                  <a:pt x="47020" y="17616"/>
                </a:lnTo>
                <a:lnTo>
                  <a:pt x="47625" y="20654"/>
                </a:lnTo>
                <a:lnTo>
                  <a:pt x="47625" y="23812"/>
                </a:lnTo>
                <a:close/>
              </a:path>
            </a:pathLst>
          </a:custGeom>
          <a:ln w="9525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89000" y="262255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47625" y="26970"/>
                </a:lnTo>
                <a:lnTo>
                  <a:pt x="47020" y="30007"/>
                </a:lnTo>
                <a:lnTo>
                  <a:pt x="45812" y="32924"/>
                </a:lnTo>
                <a:lnTo>
                  <a:pt x="44603" y="35842"/>
                </a:lnTo>
                <a:lnTo>
                  <a:pt x="32925" y="45812"/>
                </a:lnTo>
                <a:lnTo>
                  <a:pt x="30007" y="47020"/>
                </a:lnTo>
                <a:lnTo>
                  <a:pt x="26970" y="47624"/>
                </a:lnTo>
                <a:lnTo>
                  <a:pt x="23812" y="47625"/>
                </a:lnTo>
                <a:lnTo>
                  <a:pt x="20654" y="47624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6974" y="6974"/>
                </a:lnTo>
                <a:lnTo>
                  <a:pt x="9207" y="4741"/>
                </a:lnTo>
                <a:lnTo>
                  <a:pt x="11782" y="3020"/>
                </a:lnTo>
                <a:lnTo>
                  <a:pt x="14699" y="1812"/>
                </a:lnTo>
                <a:lnTo>
                  <a:pt x="17617" y="604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40650" y="6974"/>
                </a:lnTo>
                <a:lnTo>
                  <a:pt x="42883" y="9207"/>
                </a:lnTo>
                <a:lnTo>
                  <a:pt x="44603" y="11782"/>
                </a:lnTo>
                <a:lnTo>
                  <a:pt x="45812" y="14699"/>
                </a:lnTo>
                <a:lnTo>
                  <a:pt x="47020" y="17616"/>
                </a:lnTo>
                <a:lnTo>
                  <a:pt x="47625" y="20654"/>
                </a:lnTo>
                <a:lnTo>
                  <a:pt x="47625" y="23812"/>
                </a:lnTo>
                <a:close/>
              </a:path>
            </a:pathLst>
          </a:custGeom>
          <a:ln w="9525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89000" y="28702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47625" y="26970"/>
                </a:lnTo>
                <a:lnTo>
                  <a:pt x="47020" y="30007"/>
                </a:lnTo>
                <a:lnTo>
                  <a:pt x="45812" y="32924"/>
                </a:lnTo>
                <a:lnTo>
                  <a:pt x="44603" y="35842"/>
                </a:lnTo>
                <a:lnTo>
                  <a:pt x="32925" y="45812"/>
                </a:lnTo>
                <a:lnTo>
                  <a:pt x="30007" y="47020"/>
                </a:lnTo>
                <a:lnTo>
                  <a:pt x="26970" y="47625"/>
                </a:lnTo>
                <a:lnTo>
                  <a:pt x="23812" y="47625"/>
                </a:lnTo>
                <a:lnTo>
                  <a:pt x="20654" y="47625"/>
                </a:lnTo>
                <a:lnTo>
                  <a:pt x="17617" y="47020"/>
                </a:lnTo>
                <a:lnTo>
                  <a:pt x="14699" y="45812"/>
                </a:lnTo>
                <a:lnTo>
                  <a:pt x="11782" y="44603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604" y="17616"/>
                </a:lnTo>
                <a:lnTo>
                  <a:pt x="1812" y="14699"/>
                </a:lnTo>
                <a:lnTo>
                  <a:pt x="3021" y="11782"/>
                </a:lnTo>
                <a:lnTo>
                  <a:pt x="4741" y="9207"/>
                </a:lnTo>
                <a:lnTo>
                  <a:pt x="6974" y="6974"/>
                </a:lnTo>
                <a:lnTo>
                  <a:pt x="9207" y="4741"/>
                </a:lnTo>
                <a:lnTo>
                  <a:pt x="11782" y="3020"/>
                </a:lnTo>
                <a:lnTo>
                  <a:pt x="14699" y="1812"/>
                </a:lnTo>
                <a:lnTo>
                  <a:pt x="17617" y="604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40650" y="6974"/>
                </a:lnTo>
                <a:lnTo>
                  <a:pt x="42883" y="9207"/>
                </a:lnTo>
                <a:lnTo>
                  <a:pt x="44603" y="11782"/>
                </a:lnTo>
                <a:lnTo>
                  <a:pt x="45812" y="14699"/>
                </a:lnTo>
                <a:lnTo>
                  <a:pt x="47020" y="17616"/>
                </a:lnTo>
                <a:lnTo>
                  <a:pt x="47625" y="20654"/>
                </a:lnTo>
                <a:lnTo>
                  <a:pt x="47625" y="23812"/>
                </a:lnTo>
                <a:close/>
              </a:path>
            </a:pathLst>
          </a:custGeom>
          <a:ln w="9525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89000" y="31083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32925" y="45812"/>
                </a:lnTo>
                <a:lnTo>
                  <a:pt x="30007" y="47020"/>
                </a:lnTo>
                <a:lnTo>
                  <a:pt x="26970" y="47625"/>
                </a:lnTo>
                <a:lnTo>
                  <a:pt x="23812" y="47625"/>
                </a:lnTo>
                <a:lnTo>
                  <a:pt x="20654" y="47625"/>
                </a:lnTo>
                <a:lnTo>
                  <a:pt x="17617" y="47020"/>
                </a:lnTo>
                <a:lnTo>
                  <a:pt x="14699" y="45812"/>
                </a:lnTo>
                <a:lnTo>
                  <a:pt x="11782" y="44603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604" y="17616"/>
                </a:lnTo>
                <a:lnTo>
                  <a:pt x="1812" y="14699"/>
                </a:lnTo>
                <a:lnTo>
                  <a:pt x="3021" y="11781"/>
                </a:lnTo>
                <a:lnTo>
                  <a:pt x="4741" y="9206"/>
                </a:lnTo>
                <a:lnTo>
                  <a:pt x="6974" y="6974"/>
                </a:lnTo>
                <a:lnTo>
                  <a:pt x="9207" y="4741"/>
                </a:lnTo>
                <a:lnTo>
                  <a:pt x="11782" y="3020"/>
                </a:lnTo>
                <a:lnTo>
                  <a:pt x="14699" y="1812"/>
                </a:lnTo>
                <a:lnTo>
                  <a:pt x="17617" y="604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40650" y="6974"/>
                </a:lnTo>
                <a:lnTo>
                  <a:pt x="42883" y="9206"/>
                </a:lnTo>
                <a:lnTo>
                  <a:pt x="44603" y="11781"/>
                </a:lnTo>
                <a:lnTo>
                  <a:pt x="45812" y="14699"/>
                </a:lnTo>
                <a:lnTo>
                  <a:pt x="47020" y="17616"/>
                </a:lnTo>
                <a:lnTo>
                  <a:pt x="47625" y="20654"/>
                </a:lnTo>
                <a:lnTo>
                  <a:pt x="47625" y="23812"/>
                </a:lnTo>
                <a:close/>
              </a:path>
            </a:pathLst>
          </a:custGeom>
          <a:ln w="9525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89000" y="33559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32925" y="45811"/>
                </a:lnTo>
                <a:lnTo>
                  <a:pt x="30007" y="47020"/>
                </a:lnTo>
                <a:lnTo>
                  <a:pt x="26970" y="47624"/>
                </a:lnTo>
                <a:lnTo>
                  <a:pt x="23812" y="47625"/>
                </a:lnTo>
                <a:lnTo>
                  <a:pt x="20654" y="47624"/>
                </a:lnTo>
                <a:lnTo>
                  <a:pt x="17617" y="47020"/>
                </a:lnTo>
                <a:lnTo>
                  <a:pt x="14699" y="45811"/>
                </a:lnTo>
                <a:lnTo>
                  <a:pt x="11782" y="44603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604" y="17616"/>
                </a:lnTo>
                <a:lnTo>
                  <a:pt x="1812" y="14699"/>
                </a:lnTo>
                <a:lnTo>
                  <a:pt x="3021" y="11782"/>
                </a:lnTo>
                <a:lnTo>
                  <a:pt x="4741" y="9206"/>
                </a:lnTo>
                <a:lnTo>
                  <a:pt x="6974" y="6974"/>
                </a:lnTo>
                <a:lnTo>
                  <a:pt x="9207" y="4741"/>
                </a:lnTo>
                <a:lnTo>
                  <a:pt x="11782" y="3020"/>
                </a:lnTo>
                <a:lnTo>
                  <a:pt x="14699" y="1812"/>
                </a:lnTo>
                <a:lnTo>
                  <a:pt x="17617" y="604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40650" y="6974"/>
                </a:lnTo>
                <a:lnTo>
                  <a:pt x="42883" y="9206"/>
                </a:lnTo>
                <a:lnTo>
                  <a:pt x="44603" y="11782"/>
                </a:lnTo>
                <a:lnTo>
                  <a:pt x="45812" y="14699"/>
                </a:lnTo>
                <a:lnTo>
                  <a:pt x="47020" y="17616"/>
                </a:lnTo>
                <a:lnTo>
                  <a:pt x="47625" y="20654"/>
                </a:lnTo>
                <a:lnTo>
                  <a:pt x="47625" y="23812"/>
                </a:lnTo>
                <a:close/>
              </a:path>
            </a:pathLst>
          </a:custGeom>
          <a:ln w="9525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93800" y="36036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498600" y="384175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498600" y="40894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803400" y="43275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803400" y="45751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803400" y="48228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803400" y="506095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498600" y="53086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498600" y="5546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498600" y="57943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193800" y="60325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498600" y="628015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498600" y="65278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803400" y="67659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803400" y="70135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803400" y="72517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803400" y="749935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498600" y="77470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803400" y="79851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803400" y="82327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803400" y="84709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498600" y="871855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498600" y="89662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193800" y="92043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498600" y="94519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419100" y="1447800"/>
            <a:ext cx="4513580" cy="8114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latin typeface="微软雅黑"/>
                <a:cs typeface="微软雅黑"/>
              </a:rPr>
              <a:t>目录</a:t>
            </a:r>
            <a:endParaRPr sz="2100">
              <a:latin typeface="微软雅黑"/>
              <a:cs typeface="微软雅黑"/>
            </a:endParaRPr>
          </a:p>
          <a:p>
            <a:pPr marL="622300" marR="3121025" indent="-304800">
              <a:lnSpc>
                <a:spcPct val="135400"/>
              </a:lnSpc>
              <a:spcBef>
                <a:spcPts val="1620"/>
              </a:spcBef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产品使用说明书 目录</a:t>
            </a:r>
            <a:endParaRPr sz="1200">
              <a:latin typeface="微软雅黑"/>
              <a:cs typeface="微软雅黑"/>
            </a:endParaRPr>
          </a:p>
          <a:p>
            <a:pPr marL="622300">
              <a:lnSpc>
                <a:spcPct val="100000"/>
              </a:lnSpc>
              <a:spcBef>
                <a:spcPts val="434"/>
              </a:spcBef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简介</a:t>
            </a:r>
            <a:endParaRPr sz="1200">
              <a:latin typeface="微软雅黑"/>
              <a:cs typeface="微软雅黑"/>
            </a:endParaRPr>
          </a:p>
          <a:p>
            <a:pPr marL="622300" marR="3121025">
              <a:lnSpc>
                <a:spcPct val="132800"/>
              </a:lnSpc>
              <a:spcBef>
                <a:spcPts val="35"/>
              </a:spcBef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系统要求 启动和登录 主要功能</a:t>
            </a:r>
            <a:endParaRPr sz="1200">
              <a:latin typeface="微软雅黑"/>
              <a:cs typeface="微软雅黑"/>
            </a:endParaRPr>
          </a:p>
          <a:p>
            <a:pPr marL="927100">
              <a:lnSpc>
                <a:spcPct val="100000"/>
              </a:lnSpc>
              <a:spcBef>
                <a:spcPts val="509"/>
              </a:spcBef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注册用户</a:t>
            </a:r>
            <a:endParaRPr sz="1200">
              <a:latin typeface="微软雅黑"/>
              <a:cs typeface="微软雅黑"/>
            </a:endParaRPr>
          </a:p>
          <a:p>
            <a:pPr marL="1231900">
              <a:lnSpc>
                <a:spcPct val="100000"/>
              </a:lnSpc>
              <a:spcBef>
                <a:spcPts val="434"/>
              </a:spcBef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详细步骤</a:t>
            </a:r>
            <a:endParaRPr sz="1200">
              <a:latin typeface="微软雅黑"/>
              <a:cs typeface="微软雅黑"/>
            </a:endParaRPr>
          </a:p>
          <a:p>
            <a:pPr marL="1231900">
              <a:lnSpc>
                <a:spcPct val="100000"/>
              </a:lnSpc>
              <a:spcBef>
                <a:spcPts val="509"/>
              </a:spcBef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用户注册界面的功能与详细描述</a:t>
            </a:r>
            <a:endParaRPr sz="1200">
              <a:latin typeface="微软雅黑"/>
              <a:cs typeface="微软雅黑"/>
            </a:endParaRPr>
          </a:p>
          <a:p>
            <a:pPr marL="1705610" indent="-169545">
              <a:lnSpc>
                <a:spcPct val="100000"/>
              </a:lnSpc>
              <a:spcBef>
                <a:spcPts val="434"/>
              </a:spcBef>
              <a:buFont typeface="Arial"/>
              <a:buAutoNum type="arabicPeriod"/>
              <a:tabLst>
                <a:tab pos="1706245" algn="l"/>
              </a:tabLst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在登录界面选择</a:t>
            </a:r>
            <a:r>
              <a:rPr dirty="0" sz="1200">
                <a:solidFill>
                  <a:srgbClr val="0087CC"/>
                </a:solidFill>
                <a:latin typeface="Arial"/>
                <a:cs typeface="Arial"/>
              </a:rPr>
              <a:t>“Register”</a:t>
            </a: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按钮</a:t>
            </a:r>
            <a:endParaRPr sz="1200">
              <a:latin typeface="微软雅黑"/>
              <a:cs typeface="微软雅黑"/>
            </a:endParaRPr>
          </a:p>
          <a:p>
            <a:pPr marL="1705610" indent="-169545">
              <a:lnSpc>
                <a:spcPct val="100000"/>
              </a:lnSpc>
              <a:spcBef>
                <a:spcPts val="509"/>
              </a:spcBef>
              <a:buFont typeface="Arial"/>
              <a:buAutoNum type="arabicPeriod"/>
              <a:tabLst>
                <a:tab pos="1706245" algn="l"/>
              </a:tabLst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选择用户类型（</a:t>
            </a:r>
            <a:r>
              <a:rPr dirty="0" sz="1200">
                <a:solidFill>
                  <a:srgbClr val="0087CC"/>
                </a:solidFill>
                <a:latin typeface="Arial"/>
                <a:cs typeface="Arial"/>
              </a:rPr>
              <a:t>Consumer</a:t>
            </a:r>
            <a:r>
              <a:rPr dirty="0" sz="1200" spc="-45">
                <a:solidFill>
                  <a:srgbClr val="0087CC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或</a:t>
            </a:r>
            <a:r>
              <a:rPr dirty="0" sz="1200" spc="-70">
                <a:solidFill>
                  <a:srgbClr val="0087CC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0087CC"/>
                </a:solidFill>
                <a:latin typeface="Arial"/>
                <a:cs typeface="Arial"/>
              </a:rPr>
              <a:t>Merchant</a:t>
            </a: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）</a:t>
            </a:r>
            <a:endParaRPr sz="1200">
              <a:latin typeface="微软雅黑"/>
              <a:cs typeface="微软雅黑"/>
            </a:endParaRPr>
          </a:p>
          <a:p>
            <a:pPr marL="1705610" indent="-169545">
              <a:lnSpc>
                <a:spcPct val="100000"/>
              </a:lnSpc>
              <a:spcBef>
                <a:spcPts val="509"/>
              </a:spcBef>
              <a:buFont typeface="Arial"/>
              <a:buAutoNum type="arabicPeriod"/>
              <a:tabLst>
                <a:tab pos="1706245" algn="l"/>
              </a:tabLst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输入用户</a:t>
            </a:r>
            <a:r>
              <a:rPr dirty="0" sz="1200" spc="-30">
                <a:solidFill>
                  <a:srgbClr val="0087CC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0087CC"/>
                </a:solidFill>
                <a:latin typeface="Arial"/>
                <a:cs typeface="Arial"/>
              </a:rPr>
              <a:t>ID</a:t>
            </a:r>
            <a:r>
              <a:rPr dirty="0" sz="1200" spc="-5">
                <a:solidFill>
                  <a:srgbClr val="0087CC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和密码进行注册</a:t>
            </a:r>
            <a:endParaRPr sz="1200">
              <a:latin typeface="微软雅黑"/>
              <a:cs typeface="微软雅黑"/>
            </a:endParaRPr>
          </a:p>
          <a:p>
            <a:pPr marL="1231900" marR="1427480" indent="304800">
              <a:lnSpc>
                <a:spcPts val="1950"/>
              </a:lnSpc>
              <a:spcBef>
                <a:spcPts val="75"/>
              </a:spcBef>
              <a:buFont typeface="Arial"/>
              <a:buAutoNum type="arabicPeriod"/>
              <a:tabLst>
                <a:tab pos="1706245" algn="l"/>
              </a:tabLst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处理注册错误的反馈 注册流程的用户体验</a:t>
            </a:r>
            <a:endParaRPr sz="1200">
              <a:latin typeface="微软雅黑"/>
              <a:cs typeface="微软雅黑"/>
            </a:endParaRPr>
          </a:p>
          <a:p>
            <a:pPr marL="1231900">
              <a:lnSpc>
                <a:spcPct val="100000"/>
              </a:lnSpc>
              <a:spcBef>
                <a:spcPts val="285"/>
              </a:spcBef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示例注册流程图</a:t>
            </a:r>
            <a:endParaRPr sz="1200">
              <a:latin typeface="微软雅黑"/>
              <a:cs typeface="微软雅黑"/>
            </a:endParaRPr>
          </a:p>
          <a:p>
            <a:pPr algn="r" marL="927100" marR="2359025" indent="304800">
              <a:lnSpc>
                <a:spcPct val="132800"/>
              </a:lnSpc>
              <a:spcBef>
                <a:spcPts val="40"/>
              </a:spcBef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注册功能总结 用户登录功能介绍 登录详细步骤</a:t>
            </a:r>
            <a:endParaRPr sz="1200">
              <a:latin typeface="微软雅黑"/>
              <a:cs typeface="微软雅黑"/>
            </a:endParaRPr>
          </a:p>
          <a:p>
            <a:pPr marL="1231900">
              <a:lnSpc>
                <a:spcPct val="100000"/>
              </a:lnSpc>
              <a:spcBef>
                <a:spcPts val="509"/>
              </a:spcBef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用户登录界面的功能与详细描述</a:t>
            </a:r>
            <a:endParaRPr sz="1200">
              <a:latin typeface="微软雅黑"/>
              <a:cs typeface="微软雅黑"/>
            </a:endParaRPr>
          </a:p>
          <a:p>
            <a:pPr marL="1705610" indent="-169545">
              <a:lnSpc>
                <a:spcPct val="100000"/>
              </a:lnSpc>
              <a:spcBef>
                <a:spcPts val="434"/>
              </a:spcBef>
              <a:buFont typeface="Arial"/>
              <a:buAutoNum type="arabicPeriod"/>
              <a:tabLst>
                <a:tab pos="1706245" algn="l"/>
              </a:tabLst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在登录界面选择用户类型</a:t>
            </a:r>
            <a:endParaRPr sz="1200">
              <a:latin typeface="微软雅黑"/>
              <a:cs typeface="微软雅黑"/>
            </a:endParaRPr>
          </a:p>
          <a:p>
            <a:pPr marL="1705610" indent="-169545">
              <a:lnSpc>
                <a:spcPct val="100000"/>
              </a:lnSpc>
              <a:spcBef>
                <a:spcPts val="509"/>
              </a:spcBef>
              <a:buFont typeface="Arial"/>
              <a:buAutoNum type="arabicPeriod"/>
              <a:tabLst>
                <a:tab pos="1706245" algn="l"/>
              </a:tabLst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输入用户</a:t>
            </a:r>
            <a:r>
              <a:rPr dirty="0" sz="1200" spc="-30">
                <a:solidFill>
                  <a:srgbClr val="0087CC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0087CC"/>
                </a:solidFill>
                <a:latin typeface="Arial"/>
                <a:cs typeface="Arial"/>
              </a:rPr>
              <a:t>ID</a:t>
            </a:r>
            <a:r>
              <a:rPr dirty="0" sz="1200" spc="-5">
                <a:solidFill>
                  <a:srgbClr val="0087CC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和密码进行登录</a:t>
            </a:r>
            <a:endParaRPr sz="1200">
              <a:latin typeface="微软雅黑"/>
              <a:cs typeface="微软雅黑"/>
            </a:endParaRPr>
          </a:p>
          <a:p>
            <a:pPr marL="1705610" indent="-169545">
              <a:lnSpc>
                <a:spcPct val="100000"/>
              </a:lnSpc>
              <a:spcBef>
                <a:spcPts val="434"/>
              </a:spcBef>
              <a:buFont typeface="Arial"/>
              <a:buAutoNum type="arabicPeriod"/>
              <a:tabLst>
                <a:tab pos="1706245" algn="l"/>
              </a:tabLst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点击</a:t>
            </a:r>
            <a:r>
              <a:rPr dirty="0" sz="1200">
                <a:solidFill>
                  <a:srgbClr val="0087CC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登录</a:t>
            </a:r>
            <a:r>
              <a:rPr dirty="0" sz="1200">
                <a:solidFill>
                  <a:srgbClr val="0087CC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按钮</a:t>
            </a:r>
            <a:endParaRPr sz="1200">
              <a:latin typeface="微软雅黑"/>
              <a:cs typeface="微软雅黑"/>
            </a:endParaRPr>
          </a:p>
          <a:p>
            <a:pPr marL="1231900" marR="665480" indent="304800">
              <a:lnSpc>
                <a:spcPct val="135400"/>
              </a:lnSpc>
              <a:buFont typeface="Arial"/>
              <a:buAutoNum type="arabicPeriod"/>
              <a:tabLst>
                <a:tab pos="1706245" algn="l"/>
              </a:tabLst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登录成功后进入对应的用户界面 错误反馈示例</a:t>
            </a:r>
            <a:endParaRPr sz="1200">
              <a:latin typeface="微软雅黑"/>
              <a:cs typeface="微软雅黑"/>
            </a:endParaRPr>
          </a:p>
          <a:p>
            <a:pPr marL="1664335" indent="-128270">
              <a:lnSpc>
                <a:spcPct val="100000"/>
              </a:lnSpc>
              <a:spcBef>
                <a:spcPts val="434"/>
              </a:spcBef>
              <a:buSzPct val="91666"/>
              <a:buFont typeface="Arial"/>
              <a:buAutoNum type="arabicPeriod"/>
              <a:tabLst>
                <a:tab pos="1664970" algn="l"/>
              </a:tabLst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用户类型选择错误</a:t>
            </a:r>
            <a:endParaRPr sz="1200">
              <a:latin typeface="微软雅黑"/>
              <a:cs typeface="微软雅黑"/>
            </a:endParaRPr>
          </a:p>
          <a:p>
            <a:pPr marL="1664335" indent="-128270">
              <a:lnSpc>
                <a:spcPct val="100000"/>
              </a:lnSpc>
              <a:spcBef>
                <a:spcPts val="509"/>
              </a:spcBef>
              <a:buSzPct val="91666"/>
              <a:buFont typeface="Arial"/>
              <a:buAutoNum type="arabicPeriod"/>
              <a:tabLst>
                <a:tab pos="1664970" algn="l"/>
              </a:tabLst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用户或者密码错误</a:t>
            </a:r>
            <a:endParaRPr sz="1200">
              <a:latin typeface="微软雅黑"/>
              <a:cs typeface="微软雅黑"/>
            </a:endParaRPr>
          </a:p>
          <a:p>
            <a:pPr marL="1231900" marR="2054225" indent="304800">
              <a:lnSpc>
                <a:spcPts val="1950"/>
              </a:lnSpc>
              <a:spcBef>
                <a:spcPts val="75"/>
              </a:spcBef>
              <a:buSzPct val="91666"/>
              <a:buFont typeface="Arial"/>
              <a:buAutoNum type="arabicPeriod"/>
              <a:tabLst>
                <a:tab pos="1664970" algn="l"/>
              </a:tabLst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有项目空着 示例登录流程图 用户登录功能总结</a:t>
            </a:r>
            <a:endParaRPr sz="1200">
              <a:latin typeface="微软雅黑"/>
              <a:cs typeface="微软雅黑"/>
            </a:endParaRPr>
          </a:p>
          <a:p>
            <a:pPr marL="927100">
              <a:lnSpc>
                <a:spcPct val="100000"/>
              </a:lnSpc>
              <a:spcBef>
                <a:spcPts val="285"/>
              </a:spcBef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消费者功能</a:t>
            </a:r>
            <a:endParaRPr sz="1200">
              <a:latin typeface="微软雅黑"/>
              <a:cs typeface="微软雅黑"/>
            </a:endParaRPr>
          </a:p>
          <a:p>
            <a:pPr marL="1231900">
              <a:lnSpc>
                <a:spcPct val="100000"/>
              </a:lnSpc>
              <a:spcBef>
                <a:spcPts val="509"/>
              </a:spcBef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欢迎用户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98600" y="4603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498600" y="7080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803400" y="94615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03400" y="11938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108200" y="14319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108200" y="16795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803400" y="19272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803400" y="216535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803400" y="24130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498600" y="26511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803400" y="28987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803400" y="31464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108200" y="338455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108200" y="36322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803400" y="38703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803400" y="41179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803400" y="43656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498600" y="460375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803400" y="48514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803400" y="50895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108200" y="53371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108200" y="55753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803400" y="582295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803400" y="60706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498600" y="6308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803400" y="65563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803400" y="67945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108200" y="704215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108200" y="72898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108200" y="75279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803400" y="77755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803400" y="80137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803400" y="826135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498600" y="85090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803400" y="87471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803400" y="89947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108200" y="92329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108200" y="948055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1638300" y="297179"/>
            <a:ext cx="3065145" cy="9293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434590">
              <a:lnSpc>
                <a:spcPct val="135400"/>
              </a:lnSpc>
              <a:spcBef>
                <a:spcPts val="100"/>
              </a:spcBef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查看产品 添加地址</a:t>
            </a:r>
            <a:endParaRPr sz="1200">
              <a:latin typeface="微软雅黑"/>
              <a:cs typeface="微软雅黑"/>
            </a:endParaRPr>
          </a:p>
          <a:p>
            <a:pPr marL="317500">
              <a:lnSpc>
                <a:spcPct val="100000"/>
              </a:lnSpc>
              <a:spcBef>
                <a:spcPts val="434"/>
              </a:spcBef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添加地址详细步骤</a:t>
            </a:r>
            <a:endParaRPr sz="1200">
              <a:latin typeface="微软雅黑"/>
              <a:cs typeface="微软雅黑"/>
            </a:endParaRPr>
          </a:p>
          <a:p>
            <a:pPr marL="317500">
              <a:lnSpc>
                <a:spcPct val="100000"/>
              </a:lnSpc>
              <a:spcBef>
                <a:spcPts val="509"/>
              </a:spcBef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添加地址界面的功能与详细描述</a:t>
            </a:r>
            <a:endParaRPr sz="1200">
              <a:latin typeface="微软雅黑"/>
              <a:cs typeface="微软雅黑"/>
            </a:endParaRPr>
          </a:p>
          <a:p>
            <a:pPr marL="791210" indent="-169545">
              <a:lnSpc>
                <a:spcPct val="100000"/>
              </a:lnSpc>
              <a:spcBef>
                <a:spcPts val="434"/>
              </a:spcBef>
              <a:buFont typeface="Arial"/>
              <a:buAutoNum type="arabicPeriod"/>
              <a:tabLst>
                <a:tab pos="791845" algn="l"/>
              </a:tabLst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输入地址</a:t>
            </a:r>
            <a:r>
              <a:rPr dirty="0" sz="1200" spc="-35">
                <a:solidFill>
                  <a:srgbClr val="0087CC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0087CC"/>
                </a:solidFill>
                <a:latin typeface="Arial"/>
                <a:cs typeface="Arial"/>
              </a:rPr>
              <a:t>ID</a:t>
            </a:r>
            <a:r>
              <a:rPr dirty="0" sz="1200" spc="-5">
                <a:solidFill>
                  <a:srgbClr val="0087CC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和详细地址</a:t>
            </a:r>
            <a:endParaRPr sz="1200">
              <a:latin typeface="微软雅黑"/>
              <a:cs typeface="微软雅黑"/>
            </a:endParaRPr>
          </a:p>
          <a:p>
            <a:pPr marL="317500" marR="944880" indent="304800">
              <a:lnSpc>
                <a:spcPct val="135400"/>
              </a:lnSpc>
              <a:buFont typeface="Arial"/>
              <a:buAutoNum type="arabicPeriod"/>
              <a:tabLst>
                <a:tab pos="791845" algn="l"/>
              </a:tabLst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点击</a:t>
            </a:r>
            <a:r>
              <a:rPr dirty="0" sz="1200">
                <a:solidFill>
                  <a:srgbClr val="0087CC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添加地址</a:t>
            </a:r>
            <a:r>
              <a:rPr dirty="0" sz="1200">
                <a:solidFill>
                  <a:srgbClr val="0087CC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按钮 添加地址合法性检测</a:t>
            </a:r>
            <a:endParaRPr sz="1200">
              <a:latin typeface="微软雅黑"/>
              <a:cs typeface="微软雅黑"/>
            </a:endParaRPr>
          </a:p>
          <a:p>
            <a:pPr marL="317500" marR="1367790">
              <a:lnSpc>
                <a:spcPts val="1950"/>
              </a:lnSpc>
              <a:spcBef>
                <a:spcPts val="75"/>
              </a:spcBef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示例添加地址流程图 添加地址功能总结</a:t>
            </a:r>
            <a:endParaRPr sz="1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购买产品</a:t>
            </a:r>
            <a:endParaRPr sz="1200">
              <a:latin typeface="微软雅黑"/>
              <a:cs typeface="微软雅黑"/>
            </a:endParaRPr>
          </a:p>
          <a:p>
            <a:pPr marL="317500">
              <a:lnSpc>
                <a:spcPct val="100000"/>
              </a:lnSpc>
              <a:spcBef>
                <a:spcPts val="509"/>
              </a:spcBef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购买产品详细步骤</a:t>
            </a:r>
            <a:endParaRPr sz="1200">
              <a:latin typeface="微软雅黑"/>
              <a:cs typeface="微软雅黑"/>
            </a:endParaRPr>
          </a:p>
          <a:p>
            <a:pPr marL="317500">
              <a:lnSpc>
                <a:spcPct val="100000"/>
              </a:lnSpc>
              <a:spcBef>
                <a:spcPts val="509"/>
              </a:spcBef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购买产品界面的功能与详细描述</a:t>
            </a:r>
            <a:endParaRPr sz="1200">
              <a:latin typeface="微软雅黑"/>
              <a:cs typeface="微软雅黑"/>
            </a:endParaRPr>
          </a:p>
          <a:p>
            <a:pPr marL="791210" indent="-169545">
              <a:lnSpc>
                <a:spcPct val="100000"/>
              </a:lnSpc>
              <a:spcBef>
                <a:spcPts val="434"/>
              </a:spcBef>
              <a:buFont typeface="Arial"/>
              <a:buAutoNum type="arabicPeriod"/>
              <a:tabLst>
                <a:tab pos="791845" algn="l"/>
              </a:tabLst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输入订单</a:t>
            </a:r>
            <a:r>
              <a:rPr dirty="0" sz="1200" spc="-55">
                <a:solidFill>
                  <a:srgbClr val="0087CC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0087CC"/>
                </a:solidFill>
                <a:latin typeface="Arial"/>
                <a:cs typeface="Arial"/>
              </a:rPr>
              <a:t>ID</a:t>
            </a: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、产品</a:t>
            </a:r>
            <a:r>
              <a:rPr dirty="0" sz="1200" spc="-55">
                <a:solidFill>
                  <a:srgbClr val="0087CC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0087CC"/>
                </a:solidFill>
                <a:latin typeface="Arial"/>
                <a:cs typeface="Arial"/>
              </a:rPr>
              <a:t>ID</a:t>
            </a:r>
            <a:r>
              <a:rPr dirty="0" sz="1200" spc="-30">
                <a:solidFill>
                  <a:srgbClr val="0087CC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和购买数量</a:t>
            </a:r>
            <a:endParaRPr sz="1200">
              <a:latin typeface="微软雅黑"/>
              <a:cs typeface="微软雅黑"/>
            </a:endParaRPr>
          </a:p>
          <a:p>
            <a:pPr marL="317500" marR="944880" indent="304800">
              <a:lnSpc>
                <a:spcPct val="130200"/>
              </a:lnSpc>
              <a:spcBef>
                <a:spcPts val="75"/>
              </a:spcBef>
              <a:buFont typeface="Arial"/>
              <a:buAutoNum type="arabicPeriod"/>
              <a:tabLst>
                <a:tab pos="791845" algn="l"/>
              </a:tabLst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点击</a:t>
            </a:r>
            <a:r>
              <a:rPr dirty="0" sz="1200">
                <a:solidFill>
                  <a:srgbClr val="0087CC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购买产品</a:t>
            </a:r>
            <a:r>
              <a:rPr dirty="0" sz="1200">
                <a:solidFill>
                  <a:srgbClr val="0087CC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按钮 合法性检测</a:t>
            </a:r>
            <a:endParaRPr sz="1200">
              <a:latin typeface="微软雅黑"/>
              <a:cs typeface="微软雅黑"/>
            </a:endParaRPr>
          </a:p>
          <a:p>
            <a:pPr marL="317500" marR="1367790">
              <a:lnSpc>
                <a:spcPct val="135400"/>
              </a:lnSpc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示例购买产品流程图 购买产品功能总结</a:t>
            </a:r>
            <a:endParaRPr sz="1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查询订单</a:t>
            </a:r>
            <a:endParaRPr sz="1200">
              <a:latin typeface="微软雅黑"/>
              <a:cs typeface="微软雅黑"/>
            </a:endParaRPr>
          </a:p>
          <a:p>
            <a:pPr marL="317500">
              <a:lnSpc>
                <a:spcPct val="100000"/>
              </a:lnSpc>
              <a:spcBef>
                <a:spcPts val="509"/>
              </a:spcBef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查询订单详细步骤</a:t>
            </a:r>
            <a:endParaRPr sz="1200">
              <a:latin typeface="微软雅黑"/>
              <a:cs typeface="微软雅黑"/>
            </a:endParaRPr>
          </a:p>
          <a:p>
            <a:pPr marL="317500">
              <a:lnSpc>
                <a:spcPct val="100000"/>
              </a:lnSpc>
              <a:spcBef>
                <a:spcPts val="434"/>
              </a:spcBef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查询订单界面的功能与详细描述</a:t>
            </a:r>
            <a:endParaRPr sz="1200">
              <a:latin typeface="微软雅黑"/>
              <a:cs typeface="微软雅黑"/>
            </a:endParaRPr>
          </a:p>
          <a:p>
            <a:pPr marL="791210" indent="-169545">
              <a:lnSpc>
                <a:spcPct val="100000"/>
              </a:lnSpc>
              <a:spcBef>
                <a:spcPts val="509"/>
              </a:spcBef>
              <a:buFont typeface="Arial"/>
              <a:buAutoNum type="arabicPeriod"/>
              <a:tabLst>
                <a:tab pos="791845" algn="l"/>
              </a:tabLst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点击</a:t>
            </a:r>
            <a:r>
              <a:rPr dirty="0" sz="1200">
                <a:solidFill>
                  <a:srgbClr val="0087CC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查询订单</a:t>
            </a:r>
            <a:r>
              <a:rPr dirty="0" sz="1200">
                <a:solidFill>
                  <a:srgbClr val="0087CC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按钮</a:t>
            </a:r>
            <a:endParaRPr sz="1200">
              <a:latin typeface="微软雅黑"/>
              <a:cs typeface="微软雅黑"/>
            </a:endParaRPr>
          </a:p>
          <a:p>
            <a:pPr marL="317500" marR="894080" indent="304800">
              <a:lnSpc>
                <a:spcPts val="1950"/>
              </a:lnSpc>
              <a:spcBef>
                <a:spcPts val="75"/>
              </a:spcBef>
              <a:buFont typeface="Arial"/>
              <a:buAutoNum type="arabicPeriod"/>
              <a:tabLst>
                <a:tab pos="791845" algn="l"/>
              </a:tabLst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查看用户的所有订单 示例查询订单流程图</a:t>
            </a:r>
            <a:endParaRPr sz="1200">
              <a:latin typeface="微软雅黑"/>
              <a:cs typeface="微软雅黑"/>
            </a:endParaRPr>
          </a:p>
          <a:p>
            <a:pPr marL="12700" marR="1520190" indent="304800">
              <a:lnSpc>
                <a:spcPts val="1880"/>
              </a:lnSpc>
              <a:spcBef>
                <a:spcPts val="55"/>
              </a:spcBef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查询订单功能总结 支付订单</a:t>
            </a:r>
            <a:endParaRPr sz="1200">
              <a:latin typeface="微软雅黑"/>
              <a:cs typeface="微软雅黑"/>
            </a:endParaRPr>
          </a:p>
          <a:p>
            <a:pPr marL="317500">
              <a:lnSpc>
                <a:spcPct val="100000"/>
              </a:lnSpc>
              <a:spcBef>
                <a:spcPts val="370"/>
              </a:spcBef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支付订单详细步骤</a:t>
            </a:r>
            <a:endParaRPr sz="1200">
              <a:latin typeface="微软雅黑"/>
              <a:cs typeface="微软雅黑"/>
            </a:endParaRPr>
          </a:p>
          <a:p>
            <a:pPr marL="317500">
              <a:lnSpc>
                <a:spcPct val="100000"/>
              </a:lnSpc>
              <a:spcBef>
                <a:spcPts val="434"/>
              </a:spcBef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支付订单界面的功能与详细描述</a:t>
            </a:r>
            <a:endParaRPr sz="1200">
              <a:latin typeface="微软雅黑"/>
              <a:cs typeface="微软雅黑"/>
            </a:endParaRPr>
          </a:p>
          <a:p>
            <a:pPr marL="791210" indent="-169545">
              <a:lnSpc>
                <a:spcPct val="100000"/>
              </a:lnSpc>
              <a:spcBef>
                <a:spcPts val="509"/>
              </a:spcBef>
              <a:buFont typeface="Arial"/>
              <a:buAutoNum type="arabicPeriod"/>
              <a:tabLst>
                <a:tab pos="791845" algn="l"/>
              </a:tabLst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输入支付</a:t>
            </a:r>
            <a:r>
              <a:rPr dirty="0" sz="1200" spc="-55">
                <a:solidFill>
                  <a:srgbClr val="0087CC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0087CC"/>
                </a:solidFill>
                <a:latin typeface="Arial"/>
                <a:cs typeface="Arial"/>
              </a:rPr>
              <a:t>ID</a:t>
            </a: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、订单</a:t>
            </a:r>
            <a:r>
              <a:rPr dirty="0" sz="1200" spc="-55">
                <a:solidFill>
                  <a:srgbClr val="0087CC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0087CC"/>
                </a:solidFill>
                <a:latin typeface="Arial"/>
                <a:cs typeface="Arial"/>
              </a:rPr>
              <a:t>ID</a:t>
            </a:r>
            <a:r>
              <a:rPr dirty="0" sz="1200" spc="-30">
                <a:solidFill>
                  <a:srgbClr val="0087CC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和支付方式</a:t>
            </a:r>
            <a:endParaRPr sz="1200">
              <a:latin typeface="微软雅黑"/>
              <a:cs typeface="微软雅黑"/>
            </a:endParaRPr>
          </a:p>
          <a:p>
            <a:pPr marL="791210" indent="-169545">
              <a:lnSpc>
                <a:spcPct val="100000"/>
              </a:lnSpc>
              <a:spcBef>
                <a:spcPts val="509"/>
              </a:spcBef>
              <a:buFont typeface="Arial"/>
              <a:buAutoNum type="arabicPeriod"/>
              <a:tabLst>
                <a:tab pos="791845" algn="l"/>
              </a:tabLst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点击</a:t>
            </a:r>
            <a:r>
              <a:rPr dirty="0" sz="1200">
                <a:solidFill>
                  <a:srgbClr val="0087CC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支付</a:t>
            </a:r>
            <a:r>
              <a:rPr dirty="0" sz="1200">
                <a:solidFill>
                  <a:srgbClr val="0087CC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按钮</a:t>
            </a:r>
            <a:endParaRPr sz="1200">
              <a:latin typeface="微软雅黑"/>
              <a:cs typeface="微软雅黑"/>
            </a:endParaRPr>
          </a:p>
          <a:p>
            <a:pPr marL="317500" marR="589280" indent="304800">
              <a:lnSpc>
                <a:spcPts val="1950"/>
              </a:lnSpc>
              <a:spcBef>
                <a:spcPts val="75"/>
              </a:spcBef>
              <a:buFont typeface="Arial"/>
              <a:buAutoNum type="arabicPeriod"/>
              <a:tabLst>
                <a:tab pos="791845" algn="l"/>
              </a:tabLst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完成支付并更新订单状态 非法输入处理</a:t>
            </a:r>
            <a:endParaRPr sz="1200">
              <a:latin typeface="微软雅黑"/>
              <a:cs typeface="微软雅黑"/>
            </a:endParaRPr>
          </a:p>
          <a:p>
            <a:pPr marL="317500">
              <a:lnSpc>
                <a:spcPct val="100000"/>
              </a:lnSpc>
              <a:spcBef>
                <a:spcPts val="285"/>
              </a:spcBef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示例支付订单流程图</a:t>
            </a:r>
            <a:endParaRPr sz="1200">
              <a:latin typeface="微软雅黑"/>
              <a:cs typeface="微软雅黑"/>
            </a:endParaRPr>
          </a:p>
          <a:p>
            <a:pPr marL="12700" marR="1520190" indent="304800">
              <a:lnSpc>
                <a:spcPct val="135400"/>
              </a:lnSpc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支付订单功能总结 确认收货</a:t>
            </a:r>
            <a:endParaRPr sz="1200">
              <a:latin typeface="微软雅黑"/>
              <a:cs typeface="微软雅黑"/>
            </a:endParaRPr>
          </a:p>
          <a:p>
            <a:pPr marL="317500">
              <a:lnSpc>
                <a:spcPct val="100000"/>
              </a:lnSpc>
              <a:spcBef>
                <a:spcPts val="434"/>
              </a:spcBef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确认收货详细步骤</a:t>
            </a:r>
            <a:endParaRPr sz="1200">
              <a:latin typeface="微软雅黑"/>
              <a:cs typeface="微软雅黑"/>
            </a:endParaRPr>
          </a:p>
          <a:p>
            <a:pPr marL="317500">
              <a:lnSpc>
                <a:spcPct val="100000"/>
              </a:lnSpc>
              <a:spcBef>
                <a:spcPts val="509"/>
              </a:spcBef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确认收货界面的功能与详细描述</a:t>
            </a:r>
            <a:endParaRPr sz="1200">
              <a:latin typeface="微软雅黑"/>
              <a:cs typeface="微软雅黑"/>
            </a:endParaRPr>
          </a:p>
          <a:p>
            <a:pPr marL="791210" indent="-169545">
              <a:lnSpc>
                <a:spcPct val="100000"/>
              </a:lnSpc>
              <a:spcBef>
                <a:spcPts val="434"/>
              </a:spcBef>
              <a:buFont typeface="Arial"/>
              <a:buAutoNum type="arabicPeriod"/>
              <a:tabLst>
                <a:tab pos="791845" algn="l"/>
              </a:tabLst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输入订单</a:t>
            </a:r>
            <a:r>
              <a:rPr dirty="0" sz="1200" spc="-125">
                <a:solidFill>
                  <a:srgbClr val="0087CC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0087CC"/>
                </a:solidFill>
                <a:latin typeface="Arial"/>
                <a:cs typeface="Arial"/>
              </a:rPr>
              <a:t>ID</a:t>
            </a:r>
            <a:endParaRPr sz="1200">
              <a:latin typeface="Arial"/>
              <a:cs typeface="Arial"/>
            </a:endParaRPr>
          </a:p>
          <a:p>
            <a:pPr marL="791210" indent="-169545">
              <a:lnSpc>
                <a:spcPct val="100000"/>
              </a:lnSpc>
              <a:spcBef>
                <a:spcPts val="509"/>
              </a:spcBef>
              <a:buFont typeface="Arial"/>
              <a:buAutoNum type="arabicPeriod"/>
              <a:tabLst>
                <a:tab pos="791845" algn="l"/>
              </a:tabLst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点击</a:t>
            </a:r>
            <a:r>
              <a:rPr dirty="0" sz="1200">
                <a:solidFill>
                  <a:srgbClr val="0087CC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确认收货</a:t>
            </a:r>
            <a:r>
              <a:rPr dirty="0" sz="1200">
                <a:solidFill>
                  <a:srgbClr val="0087CC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按钮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03400" y="4603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803400" y="7080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803400" y="9461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93800" y="11937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498600" y="14319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803400" y="16795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803400" y="19272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108200" y="21653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108200" y="24129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803400" y="26511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803400" y="28987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498600" y="31464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803400" y="33845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803400" y="36321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108200" y="38703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108200" y="41179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803400" y="43656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803400" y="46037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803400" y="48513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498600" y="50895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803400" y="53371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803400" y="55752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108200" y="58229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108200" y="60705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803400" y="63087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803400" y="65563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498600" y="67944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803400" y="70421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803400" y="72897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2108200" y="75279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108200" y="77755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108200" y="80136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803400" y="82613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803400" y="85089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803400" y="87471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889000" y="899477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32925" y="45806"/>
                </a:lnTo>
                <a:lnTo>
                  <a:pt x="30007" y="47015"/>
                </a:lnTo>
                <a:lnTo>
                  <a:pt x="26970" y="47623"/>
                </a:lnTo>
                <a:lnTo>
                  <a:pt x="23812" y="47625"/>
                </a:lnTo>
                <a:lnTo>
                  <a:pt x="20654" y="47623"/>
                </a:lnTo>
                <a:lnTo>
                  <a:pt x="17617" y="47015"/>
                </a:lnTo>
                <a:lnTo>
                  <a:pt x="14699" y="45806"/>
                </a:lnTo>
                <a:lnTo>
                  <a:pt x="11782" y="44599"/>
                </a:lnTo>
                <a:lnTo>
                  <a:pt x="0" y="26968"/>
                </a:lnTo>
                <a:lnTo>
                  <a:pt x="0" y="23812"/>
                </a:lnTo>
                <a:lnTo>
                  <a:pt x="0" y="20652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47625" y="20652"/>
                </a:lnTo>
                <a:lnTo>
                  <a:pt x="47625" y="23812"/>
                </a:lnTo>
                <a:close/>
              </a:path>
            </a:pathLst>
          </a:custGeom>
          <a:ln w="9525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193800" y="92328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193800" y="94805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1028700" y="297179"/>
            <a:ext cx="3895090" cy="92932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just" marL="927100" marR="1588135">
              <a:lnSpc>
                <a:spcPct val="132800"/>
              </a:lnSpc>
              <a:spcBef>
                <a:spcPts val="135"/>
              </a:spcBef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订单</a:t>
            </a:r>
            <a:r>
              <a:rPr dirty="0" sz="1200">
                <a:solidFill>
                  <a:srgbClr val="0087CC"/>
                </a:solidFill>
                <a:latin typeface="Arial"/>
                <a:cs typeface="Arial"/>
              </a:rPr>
              <a:t>ID</a:t>
            </a: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非法输入处理 示例确认收货流程图 确认收货功能总结</a:t>
            </a:r>
            <a:endParaRPr sz="1200">
              <a:latin typeface="微软雅黑"/>
              <a:cs typeface="微软雅黑"/>
            </a:endParaRPr>
          </a:p>
          <a:p>
            <a:pPr marL="317500">
              <a:lnSpc>
                <a:spcPct val="100000"/>
              </a:lnSpc>
              <a:spcBef>
                <a:spcPts val="509"/>
              </a:spcBef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商家功能</a:t>
            </a:r>
            <a:endParaRPr sz="1200">
              <a:latin typeface="微软雅黑"/>
              <a:cs typeface="微软雅黑"/>
            </a:endParaRPr>
          </a:p>
          <a:p>
            <a:pPr marL="622300">
              <a:lnSpc>
                <a:spcPct val="100000"/>
              </a:lnSpc>
              <a:spcBef>
                <a:spcPts val="434"/>
              </a:spcBef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查看商品</a:t>
            </a:r>
            <a:endParaRPr sz="1200">
              <a:latin typeface="微软雅黑"/>
              <a:cs typeface="微软雅黑"/>
            </a:endParaRPr>
          </a:p>
          <a:p>
            <a:pPr marL="927100">
              <a:lnSpc>
                <a:spcPct val="100000"/>
              </a:lnSpc>
              <a:spcBef>
                <a:spcPts val="509"/>
              </a:spcBef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查看商品详细步骤</a:t>
            </a:r>
            <a:endParaRPr sz="1200">
              <a:latin typeface="微软雅黑"/>
              <a:cs typeface="微软雅黑"/>
            </a:endParaRPr>
          </a:p>
          <a:p>
            <a:pPr marL="927100">
              <a:lnSpc>
                <a:spcPct val="100000"/>
              </a:lnSpc>
              <a:spcBef>
                <a:spcPts val="509"/>
              </a:spcBef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查看商品界面的功能与详细描述</a:t>
            </a:r>
            <a:endParaRPr sz="1200">
              <a:latin typeface="微软雅黑"/>
              <a:cs typeface="微软雅黑"/>
            </a:endParaRPr>
          </a:p>
          <a:p>
            <a:pPr marL="1400810" indent="-169545">
              <a:lnSpc>
                <a:spcPct val="100000"/>
              </a:lnSpc>
              <a:spcBef>
                <a:spcPts val="434"/>
              </a:spcBef>
              <a:buFont typeface="Arial"/>
              <a:buAutoNum type="arabicPeriod"/>
              <a:tabLst>
                <a:tab pos="1401445" algn="l"/>
              </a:tabLst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登录成功后，点击</a:t>
            </a:r>
            <a:r>
              <a:rPr dirty="0" sz="1200">
                <a:solidFill>
                  <a:srgbClr val="0087CC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查看产品</a:t>
            </a:r>
            <a:r>
              <a:rPr dirty="0" sz="1200">
                <a:solidFill>
                  <a:srgbClr val="0087CC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按钮</a:t>
            </a:r>
            <a:endParaRPr sz="1200">
              <a:latin typeface="微软雅黑"/>
              <a:cs typeface="微软雅黑"/>
            </a:endParaRPr>
          </a:p>
          <a:p>
            <a:pPr marL="927100" marR="656590" indent="304800">
              <a:lnSpc>
                <a:spcPct val="130200"/>
              </a:lnSpc>
              <a:spcBef>
                <a:spcPts val="75"/>
              </a:spcBef>
              <a:buFont typeface="Arial"/>
              <a:buAutoNum type="arabicPeriod"/>
              <a:tabLst>
                <a:tab pos="1401445" algn="l"/>
              </a:tabLst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查询并显示商家相关的产品 示例查看商品流程图</a:t>
            </a:r>
            <a:endParaRPr sz="1200">
              <a:latin typeface="微软雅黑"/>
              <a:cs typeface="微软雅黑"/>
            </a:endParaRPr>
          </a:p>
          <a:p>
            <a:pPr marL="622300" marR="1740535" indent="304800">
              <a:lnSpc>
                <a:spcPct val="135400"/>
              </a:lnSpc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查看商品功能总结 添加产品</a:t>
            </a:r>
            <a:endParaRPr sz="1200">
              <a:latin typeface="微软雅黑"/>
              <a:cs typeface="微软雅黑"/>
            </a:endParaRPr>
          </a:p>
          <a:p>
            <a:pPr marL="927100">
              <a:lnSpc>
                <a:spcPct val="100000"/>
              </a:lnSpc>
              <a:spcBef>
                <a:spcPts val="434"/>
              </a:spcBef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添加产品详细步骤</a:t>
            </a:r>
            <a:endParaRPr sz="1200">
              <a:latin typeface="微软雅黑"/>
              <a:cs typeface="微软雅黑"/>
            </a:endParaRPr>
          </a:p>
          <a:p>
            <a:pPr marL="927100">
              <a:lnSpc>
                <a:spcPct val="100000"/>
              </a:lnSpc>
              <a:spcBef>
                <a:spcPts val="509"/>
              </a:spcBef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添加产品界面的功能与详细描述</a:t>
            </a:r>
            <a:endParaRPr sz="1200">
              <a:latin typeface="微软雅黑"/>
              <a:cs typeface="微软雅黑"/>
            </a:endParaRPr>
          </a:p>
          <a:p>
            <a:pPr marL="1400810" indent="-169545">
              <a:lnSpc>
                <a:spcPct val="100000"/>
              </a:lnSpc>
              <a:spcBef>
                <a:spcPts val="434"/>
              </a:spcBef>
              <a:buFont typeface="Arial"/>
              <a:buAutoNum type="arabicPeriod"/>
              <a:tabLst>
                <a:tab pos="1401445" algn="l"/>
              </a:tabLst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输入产品</a:t>
            </a:r>
            <a:r>
              <a:rPr dirty="0" sz="1200" spc="-100">
                <a:solidFill>
                  <a:srgbClr val="0087CC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0087CC"/>
                </a:solidFill>
                <a:latin typeface="Arial"/>
                <a:cs typeface="Arial"/>
              </a:rPr>
              <a:t>ID</a:t>
            </a: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、产品名称、价格和库存</a:t>
            </a:r>
            <a:endParaRPr sz="1200">
              <a:latin typeface="微软雅黑"/>
              <a:cs typeface="微软雅黑"/>
            </a:endParaRPr>
          </a:p>
          <a:p>
            <a:pPr marL="927100" marR="1164590" indent="304800">
              <a:lnSpc>
                <a:spcPct val="135400"/>
              </a:lnSpc>
              <a:buFont typeface="Arial"/>
              <a:buAutoNum type="arabicPeriod"/>
              <a:tabLst>
                <a:tab pos="1401445" algn="l"/>
              </a:tabLst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点击</a:t>
            </a:r>
            <a:r>
              <a:rPr dirty="0" sz="1200">
                <a:solidFill>
                  <a:srgbClr val="0087CC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添加产品</a:t>
            </a:r>
            <a:r>
              <a:rPr dirty="0" sz="1200">
                <a:solidFill>
                  <a:srgbClr val="0087CC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按钮 添加产品合法性检测</a:t>
            </a:r>
            <a:endParaRPr sz="1200">
              <a:latin typeface="微软雅黑"/>
              <a:cs typeface="微软雅黑"/>
            </a:endParaRPr>
          </a:p>
          <a:p>
            <a:pPr marL="927100" marR="1588135">
              <a:lnSpc>
                <a:spcPts val="1950"/>
              </a:lnSpc>
              <a:spcBef>
                <a:spcPts val="75"/>
              </a:spcBef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示例添加产品流程图 添加产品功能总结</a:t>
            </a:r>
            <a:endParaRPr sz="1200">
              <a:latin typeface="微软雅黑"/>
              <a:cs typeface="微软雅黑"/>
            </a:endParaRPr>
          </a:p>
          <a:p>
            <a:pPr marL="622300">
              <a:lnSpc>
                <a:spcPct val="100000"/>
              </a:lnSpc>
              <a:spcBef>
                <a:spcPts val="285"/>
              </a:spcBef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查询商单</a:t>
            </a:r>
            <a:endParaRPr sz="1200">
              <a:latin typeface="微软雅黑"/>
              <a:cs typeface="微软雅黑"/>
            </a:endParaRPr>
          </a:p>
          <a:p>
            <a:pPr marL="927100">
              <a:lnSpc>
                <a:spcPct val="100000"/>
              </a:lnSpc>
              <a:spcBef>
                <a:spcPts val="509"/>
              </a:spcBef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查询商单详细步骤</a:t>
            </a:r>
            <a:endParaRPr sz="1200">
              <a:latin typeface="微软雅黑"/>
              <a:cs typeface="微软雅黑"/>
            </a:endParaRPr>
          </a:p>
          <a:p>
            <a:pPr marL="927100">
              <a:lnSpc>
                <a:spcPct val="100000"/>
              </a:lnSpc>
              <a:spcBef>
                <a:spcPts val="434"/>
              </a:spcBef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查询商单界面的功能与详细描述</a:t>
            </a:r>
            <a:endParaRPr sz="1200">
              <a:latin typeface="微软雅黑"/>
              <a:cs typeface="微软雅黑"/>
            </a:endParaRPr>
          </a:p>
          <a:p>
            <a:pPr marL="1400810" indent="-169545">
              <a:lnSpc>
                <a:spcPct val="100000"/>
              </a:lnSpc>
              <a:spcBef>
                <a:spcPts val="509"/>
              </a:spcBef>
              <a:buFont typeface="Arial"/>
              <a:buAutoNum type="arabicPeriod"/>
              <a:tabLst>
                <a:tab pos="1401445" algn="l"/>
              </a:tabLst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点击查询订单按钮</a:t>
            </a:r>
            <a:endParaRPr sz="1200">
              <a:latin typeface="微软雅黑"/>
              <a:cs typeface="微软雅黑"/>
            </a:endParaRPr>
          </a:p>
          <a:p>
            <a:pPr marL="927100" marR="808990" indent="304800">
              <a:lnSpc>
                <a:spcPct val="130200"/>
              </a:lnSpc>
              <a:spcBef>
                <a:spcPts val="75"/>
              </a:spcBef>
              <a:buFont typeface="Arial"/>
              <a:buAutoNum type="arabicPeriod"/>
              <a:tabLst>
                <a:tab pos="1401445" algn="l"/>
              </a:tabLst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查询并显示商家所有订单 示例查询商单流程图</a:t>
            </a:r>
            <a:endParaRPr sz="1200">
              <a:latin typeface="微软雅黑"/>
              <a:cs typeface="微软雅黑"/>
            </a:endParaRPr>
          </a:p>
          <a:p>
            <a:pPr marL="622300" marR="1740535" indent="304800">
              <a:lnSpc>
                <a:spcPct val="130200"/>
              </a:lnSpc>
              <a:spcBef>
                <a:spcPts val="75"/>
              </a:spcBef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查询商单功能总结 订单发货</a:t>
            </a:r>
            <a:endParaRPr sz="1200">
              <a:latin typeface="微软雅黑"/>
              <a:cs typeface="微软雅黑"/>
            </a:endParaRPr>
          </a:p>
          <a:p>
            <a:pPr marL="927100">
              <a:lnSpc>
                <a:spcPct val="100000"/>
              </a:lnSpc>
              <a:spcBef>
                <a:spcPts val="509"/>
              </a:spcBef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订单发货详细步骤</a:t>
            </a:r>
            <a:endParaRPr sz="1200">
              <a:latin typeface="微软雅黑"/>
              <a:cs typeface="微软雅黑"/>
            </a:endParaRPr>
          </a:p>
          <a:p>
            <a:pPr marL="927100">
              <a:lnSpc>
                <a:spcPct val="100000"/>
              </a:lnSpc>
              <a:spcBef>
                <a:spcPts val="509"/>
              </a:spcBef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订单发货界面的功能与详细描述</a:t>
            </a:r>
            <a:endParaRPr sz="1200">
              <a:latin typeface="微软雅黑"/>
              <a:cs typeface="微软雅黑"/>
            </a:endParaRPr>
          </a:p>
          <a:p>
            <a:pPr marL="1400810" indent="-169545">
              <a:lnSpc>
                <a:spcPct val="100000"/>
              </a:lnSpc>
              <a:spcBef>
                <a:spcPts val="434"/>
              </a:spcBef>
              <a:buFont typeface="Arial"/>
              <a:buAutoNum type="arabicPeriod"/>
              <a:tabLst>
                <a:tab pos="1401445" algn="l"/>
              </a:tabLst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输入订单</a:t>
            </a:r>
            <a:r>
              <a:rPr dirty="0" sz="1200">
                <a:solidFill>
                  <a:srgbClr val="0087CC"/>
                </a:solidFill>
                <a:latin typeface="Arial"/>
                <a:cs typeface="Arial"/>
              </a:rPr>
              <a:t>ID</a:t>
            </a:r>
            <a:endParaRPr sz="1200">
              <a:latin typeface="Arial"/>
              <a:cs typeface="Arial"/>
            </a:endParaRPr>
          </a:p>
          <a:p>
            <a:pPr marL="1400810" indent="-169545">
              <a:lnSpc>
                <a:spcPct val="100000"/>
              </a:lnSpc>
              <a:spcBef>
                <a:spcPts val="509"/>
              </a:spcBef>
              <a:buFont typeface="Arial"/>
              <a:buAutoNum type="arabicPeriod"/>
              <a:tabLst>
                <a:tab pos="1401445" algn="l"/>
              </a:tabLst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点击</a:t>
            </a:r>
            <a:r>
              <a:rPr dirty="0" sz="1200">
                <a:solidFill>
                  <a:srgbClr val="0087CC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发货</a:t>
            </a:r>
            <a:r>
              <a:rPr dirty="0" sz="1200">
                <a:solidFill>
                  <a:srgbClr val="0087CC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按钮</a:t>
            </a:r>
            <a:endParaRPr sz="1200">
              <a:latin typeface="微软雅黑"/>
              <a:cs typeface="微软雅黑"/>
            </a:endParaRPr>
          </a:p>
          <a:p>
            <a:pPr marL="927100" marR="859790" indent="304800">
              <a:lnSpc>
                <a:spcPts val="1950"/>
              </a:lnSpc>
              <a:spcBef>
                <a:spcPts val="75"/>
              </a:spcBef>
              <a:buFont typeface="Arial"/>
              <a:buAutoNum type="arabicPeriod"/>
              <a:tabLst>
                <a:tab pos="1401445" algn="l"/>
              </a:tabLst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更新订单状态为</a:t>
            </a:r>
            <a:r>
              <a:rPr dirty="0" sz="1200">
                <a:solidFill>
                  <a:srgbClr val="0087CC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已发货</a:t>
            </a:r>
            <a:r>
              <a:rPr dirty="0" sz="1200">
                <a:solidFill>
                  <a:srgbClr val="0087CC"/>
                </a:solidFill>
                <a:latin typeface="Arial"/>
                <a:cs typeface="Arial"/>
              </a:rPr>
              <a:t>” </a:t>
            </a: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订单发货合法性检测</a:t>
            </a:r>
            <a:endParaRPr sz="1200">
              <a:latin typeface="微软雅黑"/>
              <a:cs typeface="微软雅黑"/>
            </a:endParaRPr>
          </a:p>
          <a:p>
            <a:pPr marL="927100" marR="1588135">
              <a:lnSpc>
                <a:spcPts val="1880"/>
              </a:lnSpc>
              <a:spcBef>
                <a:spcPts val="60"/>
              </a:spcBef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示例订单发货流程图 订单发货功能总结</a:t>
            </a:r>
            <a:endParaRPr sz="1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故障排除</a:t>
            </a:r>
            <a:endParaRPr sz="1200">
              <a:latin typeface="微软雅黑"/>
              <a:cs typeface="微软雅黑"/>
            </a:endParaRPr>
          </a:p>
          <a:p>
            <a:pPr marL="486409" indent="-169545">
              <a:lnSpc>
                <a:spcPct val="100000"/>
              </a:lnSpc>
              <a:spcBef>
                <a:spcPts val="434"/>
              </a:spcBef>
              <a:buClr>
                <a:srgbClr val="0087CC"/>
              </a:buClr>
              <a:buFont typeface="Arial"/>
              <a:buAutoNum type="arabicPeriod"/>
              <a:tabLst>
                <a:tab pos="487045" algn="l"/>
              </a:tabLst>
            </a:pPr>
            <a:r>
              <a:rPr dirty="0" sz="1200" b="1">
                <a:latin typeface="微软雅黑"/>
                <a:cs typeface="微软雅黑"/>
              </a:rPr>
              <a:t>登录问题</a:t>
            </a:r>
            <a:endParaRPr sz="1200">
              <a:latin typeface="微软雅黑"/>
              <a:cs typeface="微软雅黑"/>
            </a:endParaRPr>
          </a:p>
          <a:p>
            <a:pPr marL="486409" indent="-169545">
              <a:lnSpc>
                <a:spcPct val="100000"/>
              </a:lnSpc>
              <a:spcBef>
                <a:spcPts val="509"/>
              </a:spcBef>
              <a:buClr>
                <a:srgbClr val="0087CC"/>
              </a:buClr>
              <a:buFont typeface="Arial"/>
              <a:buAutoNum type="arabicPeriod"/>
              <a:tabLst>
                <a:tab pos="487045" algn="l"/>
              </a:tabLst>
            </a:pPr>
            <a:r>
              <a:rPr dirty="0" sz="1200" b="1">
                <a:latin typeface="微软雅黑"/>
                <a:cs typeface="微软雅黑"/>
              </a:rPr>
              <a:t>注册问题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800" y="4603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193800" y="7080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93800" y="94615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93800" y="11938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93800" y="14319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93800" y="16795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93800" y="19272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93800" y="216535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89000" y="24129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23812" y="47625"/>
                </a:lnTo>
                <a:lnTo>
                  <a:pt x="20654" y="47623"/>
                </a:lnTo>
                <a:lnTo>
                  <a:pt x="0" y="26968"/>
                </a:lnTo>
                <a:lnTo>
                  <a:pt x="0" y="23812"/>
                </a:lnTo>
                <a:lnTo>
                  <a:pt x="0" y="20652"/>
                </a:lnTo>
                <a:lnTo>
                  <a:pt x="604" y="17615"/>
                </a:lnTo>
                <a:lnTo>
                  <a:pt x="1812" y="14698"/>
                </a:lnTo>
                <a:lnTo>
                  <a:pt x="3021" y="11780"/>
                </a:lnTo>
                <a:lnTo>
                  <a:pt x="4741" y="9204"/>
                </a:lnTo>
                <a:lnTo>
                  <a:pt x="6974" y="6971"/>
                </a:lnTo>
                <a:lnTo>
                  <a:pt x="9207" y="4736"/>
                </a:lnTo>
                <a:lnTo>
                  <a:pt x="11782" y="3016"/>
                </a:lnTo>
                <a:lnTo>
                  <a:pt x="14699" y="1808"/>
                </a:lnTo>
                <a:lnTo>
                  <a:pt x="17617" y="601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40650" y="6971"/>
                </a:lnTo>
                <a:lnTo>
                  <a:pt x="42883" y="9204"/>
                </a:lnTo>
                <a:lnTo>
                  <a:pt x="44603" y="11780"/>
                </a:lnTo>
                <a:lnTo>
                  <a:pt x="45812" y="14698"/>
                </a:lnTo>
                <a:lnTo>
                  <a:pt x="47020" y="17615"/>
                </a:lnTo>
                <a:lnTo>
                  <a:pt x="47625" y="20652"/>
                </a:lnTo>
                <a:lnTo>
                  <a:pt x="47625" y="23812"/>
                </a:lnTo>
                <a:close/>
              </a:path>
            </a:pathLst>
          </a:custGeom>
          <a:ln w="9525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193800" y="26511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193800" y="28987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193800" y="31464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193800" y="338455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193800" y="36322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193800" y="38703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193800" y="41179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193800" y="43656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193800" y="460375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193800" y="48514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0"/>
                </a:moveTo>
                <a:lnTo>
                  <a:pt x="47625" y="0"/>
                </a:lnTo>
                <a:lnTo>
                  <a:pt x="47625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89000" y="50895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47625" y="26968"/>
                </a:lnTo>
                <a:lnTo>
                  <a:pt x="47020" y="30004"/>
                </a:lnTo>
                <a:lnTo>
                  <a:pt x="45812" y="32921"/>
                </a:lnTo>
                <a:lnTo>
                  <a:pt x="44603" y="35839"/>
                </a:lnTo>
                <a:lnTo>
                  <a:pt x="32925" y="45808"/>
                </a:lnTo>
                <a:lnTo>
                  <a:pt x="30007" y="47018"/>
                </a:lnTo>
                <a:lnTo>
                  <a:pt x="26970" y="47623"/>
                </a:lnTo>
                <a:lnTo>
                  <a:pt x="23812" y="47625"/>
                </a:lnTo>
                <a:lnTo>
                  <a:pt x="20654" y="47623"/>
                </a:lnTo>
                <a:lnTo>
                  <a:pt x="17617" y="47018"/>
                </a:lnTo>
                <a:lnTo>
                  <a:pt x="14699" y="45808"/>
                </a:lnTo>
                <a:lnTo>
                  <a:pt x="11782" y="44601"/>
                </a:lnTo>
                <a:lnTo>
                  <a:pt x="1812" y="32921"/>
                </a:lnTo>
                <a:lnTo>
                  <a:pt x="604" y="30004"/>
                </a:lnTo>
                <a:lnTo>
                  <a:pt x="0" y="26968"/>
                </a:lnTo>
                <a:lnTo>
                  <a:pt x="0" y="23812"/>
                </a:lnTo>
                <a:lnTo>
                  <a:pt x="0" y="20652"/>
                </a:lnTo>
                <a:lnTo>
                  <a:pt x="6974" y="6971"/>
                </a:lnTo>
                <a:lnTo>
                  <a:pt x="9207" y="4739"/>
                </a:lnTo>
                <a:lnTo>
                  <a:pt x="11782" y="3018"/>
                </a:lnTo>
                <a:lnTo>
                  <a:pt x="14699" y="1808"/>
                </a:lnTo>
                <a:lnTo>
                  <a:pt x="17617" y="601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40650" y="6971"/>
                </a:lnTo>
                <a:lnTo>
                  <a:pt x="42883" y="9202"/>
                </a:lnTo>
                <a:lnTo>
                  <a:pt x="44603" y="11775"/>
                </a:lnTo>
                <a:lnTo>
                  <a:pt x="45812" y="14694"/>
                </a:lnTo>
                <a:lnTo>
                  <a:pt x="47020" y="17612"/>
                </a:lnTo>
                <a:lnTo>
                  <a:pt x="47625" y="20652"/>
                </a:lnTo>
                <a:lnTo>
                  <a:pt x="47625" y="23812"/>
                </a:lnTo>
                <a:close/>
              </a:path>
            </a:pathLst>
          </a:custGeom>
          <a:ln w="9525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84200" y="704215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5"/>
                </a:lnTo>
                <a:lnTo>
                  <a:pt x="0" y="26968"/>
                </a:lnTo>
                <a:lnTo>
                  <a:pt x="0" y="2065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2"/>
                </a:lnTo>
                <a:lnTo>
                  <a:pt x="47625" y="26968"/>
                </a:lnTo>
                <a:lnTo>
                  <a:pt x="26970" y="47623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84200" y="72802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5"/>
                </a:lnTo>
                <a:lnTo>
                  <a:pt x="0" y="26968"/>
                </a:lnTo>
                <a:lnTo>
                  <a:pt x="0" y="2065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2"/>
                </a:lnTo>
                <a:lnTo>
                  <a:pt x="47625" y="26968"/>
                </a:lnTo>
                <a:lnTo>
                  <a:pt x="26970" y="47623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84200" y="75279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8"/>
                </a:lnTo>
                <a:lnTo>
                  <a:pt x="0" y="26968"/>
                </a:lnTo>
                <a:lnTo>
                  <a:pt x="0" y="2065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2"/>
                </a:lnTo>
                <a:lnTo>
                  <a:pt x="47625" y="26968"/>
                </a:lnTo>
                <a:lnTo>
                  <a:pt x="26970" y="47623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84200" y="776605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5"/>
                </a:lnTo>
                <a:lnTo>
                  <a:pt x="0" y="26968"/>
                </a:lnTo>
                <a:lnTo>
                  <a:pt x="0" y="2065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2"/>
                </a:lnTo>
                <a:lnTo>
                  <a:pt x="47625" y="26968"/>
                </a:lnTo>
                <a:lnTo>
                  <a:pt x="26970" y="47623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84200" y="80137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5"/>
                </a:lnTo>
                <a:lnTo>
                  <a:pt x="0" y="26968"/>
                </a:lnTo>
                <a:lnTo>
                  <a:pt x="0" y="2065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2"/>
                </a:lnTo>
                <a:lnTo>
                  <a:pt x="47625" y="26968"/>
                </a:lnTo>
                <a:lnTo>
                  <a:pt x="26970" y="47623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419100" y="297179"/>
            <a:ext cx="6883400" cy="8464550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1096010" indent="-169545">
              <a:lnSpc>
                <a:spcPct val="100000"/>
              </a:lnSpc>
              <a:spcBef>
                <a:spcPts val="610"/>
              </a:spcBef>
              <a:buClr>
                <a:srgbClr val="0087CC"/>
              </a:buClr>
              <a:buFont typeface="Arial"/>
              <a:buAutoNum type="arabicPeriod" startAt="3"/>
              <a:tabLst>
                <a:tab pos="1096645" algn="l"/>
              </a:tabLst>
            </a:pPr>
            <a:r>
              <a:rPr dirty="0" sz="1200" b="1">
                <a:latin typeface="微软雅黑"/>
                <a:cs typeface="微软雅黑"/>
              </a:rPr>
              <a:t>购买产品问题</a:t>
            </a:r>
            <a:endParaRPr sz="1200">
              <a:latin typeface="微软雅黑"/>
              <a:cs typeface="微软雅黑"/>
            </a:endParaRPr>
          </a:p>
          <a:p>
            <a:pPr marL="1096010" indent="-169545">
              <a:lnSpc>
                <a:spcPct val="100000"/>
              </a:lnSpc>
              <a:spcBef>
                <a:spcPts val="509"/>
              </a:spcBef>
              <a:buClr>
                <a:srgbClr val="0087CC"/>
              </a:buClr>
              <a:buFont typeface="Arial"/>
              <a:buAutoNum type="arabicPeriod" startAt="3"/>
              <a:tabLst>
                <a:tab pos="1096645" algn="l"/>
              </a:tabLst>
            </a:pPr>
            <a:r>
              <a:rPr dirty="0" sz="1200" b="1">
                <a:latin typeface="微软雅黑"/>
                <a:cs typeface="微软雅黑"/>
              </a:rPr>
              <a:t>查询订单问题</a:t>
            </a:r>
            <a:endParaRPr sz="1200">
              <a:latin typeface="微软雅黑"/>
              <a:cs typeface="微软雅黑"/>
            </a:endParaRPr>
          </a:p>
          <a:p>
            <a:pPr marL="1096010" indent="-169545">
              <a:lnSpc>
                <a:spcPct val="100000"/>
              </a:lnSpc>
              <a:spcBef>
                <a:spcPts val="434"/>
              </a:spcBef>
              <a:buClr>
                <a:srgbClr val="0087CC"/>
              </a:buClr>
              <a:buFont typeface="Arial"/>
              <a:buAutoNum type="arabicPeriod" startAt="3"/>
              <a:tabLst>
                <a:tab pos="1096645" algn="l"/>
              </a:tabLst>
            </a:pPr>
            <a:r>
              <a:rPr dirty="0" sz="1200" b="1">
                <a:latin typeface="微软雅黑"/>
                <a:cs typeface="微软雅黑"/>
              </a:rPr>
              <a:t>地址管理问题</a:t>
            </a:r>
            <a:endParaRPr sz="1200">
              <a:latin typeface="微软雅黑"/>
              <a:cs typeface="微软雅黑"/>
            </a:endParaRPr>
          </a:p>
          <a:p>
            <a:pPr marL="1096010" indent="-169545">
              <a:lnSpc>
                <a:spcPct val="100000"/>
              </a:lnSpc>
              <a:spcBef>
                <a:spcPts val="509"/>
              </a:spcBef>
              <a:buClr>
                <a:srgbClr val="0087CC"/>
              </a:buClr>
              <a:buFont typeface="Arial"/>
              <a:buAutoNum type="arabicPeriod" startAt="3"/>
              <a:tabLst>
                <a:tab pos="1096645" algn="l"/>
              </a:tabLst>
            </a:pPr>
            <a:r>
              <a:rPr dirty="0" sz="1200" b="1">
                <a:latin typeface="微软雅黑"/>
                <a:cs typeface="微软雅黑"/>
              </a:rPr>
              <a:t>支付订单问题</a:t>
            </a:r>
            <a:endParaRPr sz="1200">
              <a:latin typeface="微软雅黑"/>
              <a:cs typeface="微软雅黑"/>
            </a:endParaRPr>
          </a:p>
          <a:p>
            <a:pPr marL="1096010" indent="-169545">
              <a:lnSpc>
                <a:spcPct val="100000"/>
              </a:lnSpc>
              <a:spcBef>
                <a:spcPts val="434"/>
              </a:spcBef>
              <a:buClr>
                <a:srgbClr val="0087CC"/>
              </a:buClr>
              <a:buFont typeface="Arial"/>
              <a:buAutoNum type="arabicPeriod" startAt="3"/>
              <a:tabLst>
                <a:tab pos="1096645" algn="l"/>
              </a:tabLst>
            </a:pPr>
            <a:r>
              <a:rPr dirty="0" sz="1200" b="1">
                <a:latin typeface="微软雅黑"/>
                <a:cs typeface="微软雅黑"/>
              </a:rPr>
              <a:t>确认收货问题</a:t>
            </a:r>
            <a:endParaRPr sz="1200">
              <a:latin typeface="微软雅黑"/>
              <a:cs typeface="微软雅黑"/>
            </a:endParaRPr>
          </a:p>
          <a:p>
            <a:pPr marL="1096010" indent="-169545">
              <a:lnSpc>
                <a:spcPct val="100000"/>
              </a:lnSpc>
              <a:spcBef>
                <a:spcPts val="509"/>
              </a:spcBef>
              <a:buClr>
                <a:srgbClr val="0087CC"/>
              </a:buClr>
              <a:buFont typeface="Arial"/>
              <a:buAutoNum type="arabicPeriod" startAt="3"/>
              <a:tabLst>
                <a:tab pos="1096645" algn="l"/>
              </a:tabLst>
            </a:pPr>
            <a:r>
              <a:rPr dirty="0" sz="1200" b="1">
                <a:latin typeface="微软雅黑"/>
                <a:cs typeface="微软雅黑"/>
              </a:rPr>
              <a:t>添加产品问题</a:t>
            </a:r>
            <a:endParaRPr sz="1200">
              <a:latin typeface="微软雅黑"/>
              <a:cs typeface="微软雅黑"/>
            </a:endParaRPr>
          </a:p>
          <a:p>
            <a:pPr marL="1096010" indent="-169545">
              <a:lnSpc>
                <a:spcPct val="100000"/>
              </a:lnSpc>
              <a:spcBef>
                <a:spcPts val="509"/>
              </a:spcBef>
              <a:buClr>
                <a:srgbClr val="0087CC"/>
              </a:buClr>
              <a:buFont typeface="Arial"/>
              <a:buAutoNum type="arabicPeriod" startAt="3"/>
              <a:tabLst>
                <a:tab pos="1096645" algn="l"/>
              </a:tabLst>
            </a:pPr>
            <a:r>
              <a:rPr dirty="0" sz="1200" b="1">
                <a:latin typeface="微软雅黑"/>
                <a:cs typeface="微软雅黑"/>
              </a:rPr>
              <a:t>查询商单问题</a:t>
            </a:r>
            <a:endParaRPr sz="1200">
              <a:latin typeface="微软雅黑"/>
              <a:cs typeface="微软雅黑"/>
            </a:endParaRPr>
          </a:p>
          <a:p>
            <a:pPr marL="1181100" indent="-254635">
              <a:lnSpc>
                <a:spcPct val="100000"/>
              </a:lnSpc>
              <a:spcBef>
                <a:spcPts val="434"/>
              </a:spcBef>
              <a:buClr>
                <a:srgbClr val="0087CC"/>
              </a:buClr>
              <a:buFont typeface="Arial"/>
              <a:buAutoNum type="arabicPeriod" startAt="3"/>
              <a:tabLst>
                <a:tab pos="1181735" algn="l"/>
              </a:tabLst>
            </a:pPr>
            <a:r>
              <a:rPr dirty="0" sz="1200" b="1">
                <a:latin typeface="微软雅黑"/>
                <a:cs typeface="微软雅黑"/>
              </a:rPr>
              <a:t>订单发货问题</a:t>
            </a:r>
            <a:endParaRPr sz="1200">
              <a:latin typeface="微软雅黑"/>
              <a:cs typeface="微软雅黑"/>
            </a:endParaRPr>
          </a:p>
          <a:p>
            <a:pPr marL="622300">
              <a:lnSpc>
                <a:spcPct val="100000"/>
              </a:lnSpc>
              <a:spcBef>
                <a:spcPts val="509"/>
              </a:spcBef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常见问题</a:t>
            </a:r>
            <a:endParaRPr sz="1200">
              <a:latin typeface="微软雅黑"/>
              <a:cs typeface="微软雅黑"/>
            </a:endParaRPr>
          </a:p>
          <a:p>
            <a:pPr marL="1096010" indent="-169545">
              <a:lnSpc>
                <a:spcPct val="100000"/>
              </a:lnSpc>
              <a:spcBef>
                <a:spcPts val="434"/>
              </a:spcBef>
              <a:buClr>
                <a:srgbClr val="0087CC"/>
              </a:buClr>
              <a:buFont typeface="Arial"/>
              <a:buAutoNum type="arabicPeriod"/>
              <a:tabLst>
                <a:tab pos="1096645" algn="l"/>
              </a:tabLst>
            </a:pPr>
            <a:r>
              <a:rPr dirty="0" sz="1200" b="1">
                <a:latin typeface="微软雅黑"/>
                <a:cs typeface="微软雅黑"/>
              </a:rPr>
              <a:t>登录问题</a:t>
            </a:r>
            <a:endParaRPr sz="1200">
              <a:latin typeface="微软雅黑"/>
              <a:cs typeface="微软雅黑"/>
            </a:endParaRPr>
          </a:p>
          <a:p>
            <a:pPr marL="1096010" indent="-169545">
              <a:lnSpc>
                <a:spcPct val="100000"/>
              </a:lnSpc>
              <a:spcBef>
                <a:spcPts val="509"/>
              </a:spcBef>
              <a:buClr>
                <a:srgbClr val="0087CC"/>
              </a:buClr>
              <a:buFont typeface="Arial"/>
              <a:buAutoNum type="arabicPeriod"/>
              <a:tabLst>
                <a:tab pos="1096645" algn="l"/>
              </a:tabLst>
            </a:pPr>
            <a:r>
              <a:rPr dirty="0" sz="1200" b="1">
                <a:latin typeface="微软雅黑"/>
                <a:cs typeface="微软雅黑"/>
              </a:rPr>
              <a:t>注册问题</a:t>
            </a:r>
            <a:endParaRPr sz="1200">
              <a:latin typeface="微软雅黑"/>
              <a:cs typeface="微软雅黑"/>
            </a:endParaRPr>
          </a:p>
          <a:p>
            <a:pPr marL="1096010" indent="-169545">
              <a:lnSpc>
                <a:spcPct val="100000"/>
              </a:lnSpc>
              <a:spcBef>
                <a:spcPts val="509"/>
              </a:spcBef>
              <a:buClr>
                <a:srgbClr val="0087CC"/>
              </a:buClr>
              <a:buFont typeface="Arial"/>
              <a:buAutoNum type="arabicPeriod"/>
              <a:tabLst>
                <a:tab pos="1096645" algn="l"/>
              </a:tabLst>
            </a:pPr>
            <a:r>
              <a:rPr dirty="0" sz="1200" b="1">
                <a:latin typeface="微软雅黑"/>
                <a:cs typeface="微软雅黑"/>
              </a:rPr>
              <a:t>购买产品问题</a:t>
            </a:r>
            <a:endParaRPr sz="1200">
              <a:latin typeface="微软雅黑"/>
              <a:cs typeface="微软雅黑"/>
            </a:endParaRPr>
          </a:p>
          <a:p>
            <a:pPr marL="1096010" indent="-169545">
              <a:lnSpc>
                <a:spcPct val="100000"/>
              </a:lnSpc>
              <a:spcBef>
                <a:spcPts val="434"/>
              </a:spcBef>
              <a:buClr>
                <a:srgbClr val="0087CC"/>
              </a:buClr>
              <a:buFont typeface="Arial"/>
              <a:buAutoNum type="arabicPeriod"/>
              <a:tabLst>
                <a:tab pos="1096645" algn="l"/>
              </a:tabLst>
            </a:pPr>
            <a:r>
              <a:rPr dirty="0" sz="1200" b="1">
                <a:latin typeface="微软雅黑"/>
                <a:cs typeface="微软雅黑"/>
              </a:rPr>
              <a:t>查询订单问题</a:t>
            </a:r>
            <a:endParaRPr sz="1200">
              <a:latin typeface="微软雅黑"/>
              <a:cs typeface="微软雅黑"/>
            </a:endParaRPr>
          </a:p>
          <a:p>
            <a:pPr marL="1096010" indent="-169545">
              <a:lnSpc>
                <a:spcPct val="100000"/>
              </a:lnSpc>
              <a:spcBef>
                <a:spcPts val="509"/>
              </a:spcBef>
              <a:buClr>
                <a:srgbClr val="0087CC"/>
              </a:buClr>
              <a:buFont typeface="Arial"/>
              <a:buAutoNum type="arabicPeriod"/>
              <a:tabLst>
                <a:tab pos="1096645" algn="l"/>
              </a:tabLst>
            </a:pPr>
            <a:r>
              <a:rPr dirty="0" sz="1200" b="1">
                <a:latin typeface="微软雅黑"/>
                <a:cs typeface="微软雅黑"/>
              </a:rPr>
              <a:t>地址管理问题</a:t>
            </a:r>
            <a:endParaRPr sz="1200">
              <a:latin typeface="微软雅黑"/>
              <a:cs typeface="微软雅黑"/>
            </a:endParaRPr>
          </a:p>
          <a:p>
            <a:pPr marL="1096010" indent="-169545">
              <a:lnSpc>
                <a:spcPct val="100000"/>
              </a:lnSpc>
              <a:spcBef>
                <a:spcPts val="434"/>
              </a:spcBef>
              <a:buClr>
                <a:srgbClr val="0087CC"/>
              </a:buClr>
              <a:buFont typeface="Arial"/>
              <a:buAutoNum type="arabicPeriod"/>
              <a:tabLst>
                <a:tab pos="1096645" algn="l"/>
              </a:tabLst>
            </a:pPr>
            <a:r>
              <a:rPr dirty="0" sz="1200" b="1">
                <a:latin typeface="微软雅黑"/>
                <a:cs typeface="微软雅黑"/>
              </a:rPr>
              <a:t>支付订单问题</a:t>
            </a:r>
            <a:endParaRPr sz="1200">
              <a:latin typeface="微软雅黑"/>
              <a:cs typeface="微软雅黑"/>
            </a:endParaRPr>
          </a:p>
          <a:p>
            <a:pPr marL="1096010" indent="-169545">
              <a:lnSpc>
                <a:spcPct val="100000"/>
              </a:lnSpc>
              <a:spcBef>
                <a:spcPts val="509"/>
              </a:spcBef>
              <a:buClr>
                <a:srgbClr val="0087CC"/>
              </a:buClr>
              <a:buFont typeface="Arial"/>
              <a:buAutoNum type="arabicPeriod"/>
              <a:tabLst>
                <a:tab pos="1096645" algn="l"/>
              </a:tabLst>
            </a:pPr>
            <a:r>
              <a:rPr dirty="0" sz="1200" b="1">
                <a:latin typeface="微软雅黑"/>
                <a:cs typeface="微软雅黑"/>
              </a:rPr>
              <a:t>确认收货问题</a:t>
            </a:r>
            <a:endParaRPr sz="1200">
              <a:latin typeface="微软雅黑"/>
              <a:cs typeface="微软雅黑"/>
            </a:endParaRPr>
          </a:p>
          <a:p>
            <a:pPr marL="1096010" indent="-169545">
              <a:lnSpc>
                <a:spcPct val="100000"/>
              </a:lnSpc>
              <a:spcBef>
                <a:spcPts val="509"/>
              </a:spcBef>
              <a:buClr>
                <a:srgbClr val="0087CC"/>
              </a:buClr>
              <a:buFont typeface="Arial"/>
              <a:buAutoNum type="arabicPeriod"/>
              <a:tabLst>
                <a:tab pos="1096645" algn="l"/>
              </a:tabLst>
            </a:pPr>
            <a:r>
              <a:rPr dirty="0" sz="1200" b="1">
                <a:latin typeface="微软雅黑"/>
                <a:cs typeface="微软雅黑"/>
              </a:rPr>
              <a:t>添加产品问题</a:t>
            </a:r>
            <a:endParaRPr sz="1200">
              <a:latin typeface="微软雅黑"/>
              <a:cs typeface="微软雅黑"/>
            </a:endParaRPr>
          </a:p>
          <a:p>
            <a:pPr marL="1096010" indent="-169545">
              <a:lnSpc>
                <a:spcPct val="100000"/>
              </a:lnSpc>
              <a:spcBef>
                <a:spcPts val="434"/>
              </a:spcBef>
              <a:buClr>
                <a:srgbClr val="0087CC"/>
              </a:buClr>
              <a:buFont typeface="Arial"/>
              <a:buAutoNum type="arabicPeriod"/>
              <a:tabLst>
                <a:tab pos="1096645" algn="l"/>
              </a:tabLst>
            </a:pPr>
            <a:r>
              <a:rPr dirty="0" sz="1200" b="1">
                <a:latin typeface="微软雅黑"/>
                <a:cs typeface="微软雅黑"/>
              </a:rPr>
              <a:t>查询商单问题</a:t>
            </a:r>
            <a:endParaRPr sz="1200">
              <a:latin typeface="微软雅黑"/>
              <a:cs typeface="微软雅黑"/>
            </a:endParaRPr>
          </a:p>
          <a:p>
            <a:pPr marL="1181100" indent="-254635">
              <a:lnSpc>
                <a:spcPct val="100000"/>
              </a:lnSpc>
              <a:spcBef>
                <a:spcPts val="509"/>
              </a:spcBef>
              <a:buClr>
                <a:srgbClr val="0087CC"/>
              </a:buClr>
              <a:buFont typeface="Arial"/>
              <a:buAutoNum type="arabicPeriod"/>
              <a:tabLst>
                <a:tab pos="1181735" algn="l"/>
              </a:tabLst>
            </a:pPr>
            <a:r>
              <a:rPr dirty="0" sz="1200" b="1">
                <a:latin typeface="微软雅黑"/>
                <a:cs typeface="微软雅黑"/>
              </a:rPr>
              <a:t>订单发货问题</a:t>
            </a:r>
            <a:endParaRPr sz="1200">
              <a:latin typeface="微软雅黑"/>
              <a:cs typeface="微软雅黑"/>
            </a:endParaRPr>
          </a:p>
          <a:p>
            <a:pPr marL="622300">
              <a:lnSpc>
                <a:spcPct val="100000"/>
              </a:lnSpc>
              <a:spcBef>
                <a:spcPts val="434"/>
              </a:spcBef>
            </a:pPr>
            <a:r>
              <a:rPr dirty="0" sz="1200">
                <a:solidFill>
                  <a:srgbClr val="0087CC"/>
                </a:solidFill>
                <a:latin typeface="微软雅黑"/>
                <a:cs typeface="微软雅黑"/>
              </a:rPr>
              <a:t>联系支持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2100" b="1">
                <a:latin typeface="微软雅黑"/>
                <a:cs typeface="微软雅黑"/>
              </a:rPr>
              <a:t>简介</a:t>
            </a:r>
            <a:endParaRPr sz="2100">
              <a:latin typeface="微软雅黑"/>
              <a:cs typeface="微软雅黑"/>
            </a:endParaRPr>
          </a:p>
          <a:p>
            <a:pPr algn="just" marL="12700" marR="5080">
              <a:lnSpc>
                <a:spcPct val="132800"/>
              </a:lnSpc>
              <a:spcBef>
                <a:spcPts val="1655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本软件是一款为消费者和商家提供交易平台的综合解决方案。用户可以通过该平台进行注册、登录，并 访问不同的功能模块。消费者可以查看和购买产品，管理订单并确认收货。商家可以添加和管理产品， 处理订单发货等操作。平台的主要功能包括：</a:t>
            </a:r>
            <a:endParaRPr sz="1200">
              <a:latin typeface="微软雅黑"/>
              <a:cs typeface="微软雅黑"/>
            </a:endParaRPr>
          </a:p>
          <a:p>
            <a:pPr marL="317500" marR="1071880">
              <a:lnSpc>
                <a:spcPct val="130200"/>
              </a:lnSpc>
              <a:spcBef>
                <a:spcPts val="1275"/>
              </a:spcBef>
            </a:pPr>
            <a:r>
              <a:rPr dirty="0" sz="1200" b="1">
                <a:latin typeface="微软雅黑"/>
                <a:cs typeface="微软雅黑"/>
              </a:rPr>
              <a:t>注册和登录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：用户可以注册成为消费者或商家，并通过登录访问相应的功能模块。 </a:t>
            </a:r>
            <a:r>
              <a:rPr dirty="0" sz="1200" b="1">
                <a:latin typeface="微软雅黑"/>
                <a:cs typeface="微软雅黑"/>
              </a:rPr>
              <a:t>产品查看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：消费者可以浏览商家提供的各类产品，并选择购买。</a:t>
            </a:r>
            <a:endParaRPr sz="1200">
              <a:latin typeface="微软雅黑"/>
              <a:cs typeface="微软雅黑"/>
            </a:endParaRPr>
          </a:p>
          <a:p>
            <a:pPr marL="317500" marR="309880">
              <a:lnSpc>
                <a:spcPct val="130200"/>
              </a:lnSpc>
              <a:spcBef>
                <a:spcPts val="75"/>
              </a:spcBef>
            </a:pPr>
            <a:r>
              <a:rPr dirty="0" sz="1200" b="1">
                <a:latin typeface="微软雅黑"/>
                <a:cs typeface="微软雅黑"/>
              </a:rPr>
              <a:t>订单管理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：消费者可以查看和管理自己的订单状态，商家可以查看所有订单并进行发货操作。 </a:t>
            </a:r>
            <a:r>
              <a:rPr dirty="0" sz="1200" b="1">
                <a:latin typeface="微软雅黑"/>
                <a:cs typeface="微软雅黑"/>
              </a:rPr>
              <a:t>支付功能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：消费者可以通过平台完成订单支付，支付成功后订单状态将更新为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待发货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。</a:t>
            </a:r>
            <a:endParaRPr sz="1200">
              <a:latin typeface="微软雅黑"/>
              <a:cs typeface="微软雅黑"/>
            </a:endParaRPr>
          </a:p>
          <a:p>
            <a:pPr marL="317500">
              <a:lnSpc>
                <a:spcPct val="100000"/>
              </a:lnSpc>
              <a:spcBef>
                <a:spcPts val="509"/>
              </a:spcBef>
            </a:pPr>
            <a:r>
              <a:rPr dirty="0" sz="1200" b="1">
                <a:latin typeface="微软雅黑"/>
                <a:cs typeface="微软雅黑"/>
              </a:rPr>
              <a:t>地址管理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：消费者可以添加和管理自己的收货地址，确保订单的准确送达。</a:t>
            </a:r>
            <a:endParaRPr sz="1200">
              <a:latin typeface="微软雅黑"/>
              <a:cs typeface="微软雅黑"/>
            </a:endParaRPr>
          </a:p>
          <a:p>
            <a:pPr marL="12700" marR="5080">
              <a:lnSpc>
                <a:spcPct val="130200"/>
              </a:lnSpc>
              <a:spcBef>
                <a:spcPts val="1275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本软件通过简洁直观的用户界面和完善的功能设计，致力于提升消费者和商家的交易体验，促进双方的 高效互动和交易。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4200" y="14128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8"/>
                </a:lnTo>
                <a:lnTo>
                  <a:pt x="0" y="26968"/>
                </a:lnTo>
                <a:lnTo>
                  <a:pt x="0" y="2065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2"/>
                </a:lnTo>
                <a:lnTo>
                  <a:pt x="47625" y="26968"/>
                </a:lnTo>
                <a:lnTo>
                  <a:pt x="26970" y="47623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4200" y="16510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5"/>
                </a:lnTo>
                <a:lnTo>
                  <a:pt x="0" y="26968"/>
                </a:lnTo>
                <a:lnTo>
                  <a:pt x="0" y="2065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2"/>
                </a:lnTo>
                <a:lnTo>
                  <a:pt x="47625" y="26968"/>
                </a:lnTo>
                <a:lnTo>
                  <a:pt x="26970" y="47623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4200" y="189865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8"/>
                </a:lnTo>
                <a:lnTo>
                  <a:pt x="0" y="26968"/>
                </a:lnTo>
                <a:lnTo>
                  <a:pt x="0" y="2065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2"/>
                </a:lnTo>
                <a:lnTo>
                  <a:pt x="47625" y="26968"/>
                </a:lnTo>
                <a:lnTo>
                  <a:pt x="26970" y="47623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4200" y="213677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5"/>
                </a:lnTo>
                <a:lnTo>
                  <a:pt x="0" y="26966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4"/>
                </a:lnTo>
                <a:lnTo>
                  <a:pt x="47625" y="26966"/>
                </a:lnTo>
                <a:lnTo>
                  <a:pt x="26970" y="4762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4200" y="90805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5"/>
                </a:lnTo>
                <a:lnTo>
                  <a:pt x="0" y="26970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70"/>
                </a:lnTo>
                <a:lnTo>
                  <a:pt x="26970" y="4762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19100" y="323850"/>
            <a:ext cx="6849745" cy="8866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latin typeface="微软雅黑"/>
                <a:cs typeface="微软雅黑"/>
              </a:rPr>
              <a:t>系统要求</a:t>
            </a:r>
            <a:endParaRPr sz="21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130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为了保证本软件的正常运行和最佳性能，请确保您的系统满足以下要求：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00">
              <a:latin typeface="微软雅黑"/>
              <a:cs typeface="微软雅黑"/>
            </a:endParaRPr>
          </a:p>
          <a:p>
            <a:pPr marL="317500">
              <a:lnSpc>
                <a:spcPct val="100000"/>
              </a:lnSpc>
            </a:pPr>
            <a:r>
              <a:rPr dirty="0" sz="1200" b="1">
                <a:latin typeface="微软雅黑"/>
                <a:cs typeface="微软雅黑"/>
              </a:rPr>
              <a:t>操作系统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：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Windows</a:t>
            </a: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XP</a:t>
            </a:r>
            <a:r>
              <a:rPr dirty="0" sz="1200" spc="-2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或更高版本</a:t>
            </a:r>
            <a:endParaRPr sz="1200">
              <a:latin typeface="微软雅黑"/>
              <a:cs typeface="微软雅黑"/>
            </a:endParaRPr>
          </a:p>
          <a:p>
            <a:pPr marL="317500">
              <a:lnSpc>
                <a:spcPct val="100000"/>
              </a:lnSpc>
              <a:spcBef>
                <a:spcPts val="434"/>
              </a:spcBef>
            </a:pPr>
            <a:r>
              <a:rPr dirty="0" sz="1200" b="1">
                <a:latin typeface="微软雅黑"/>
                <a:cs typeface="微软雅黑"/>
              </a:rPr>
              <a:t>内存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：至少</a:t>
            </a:r>
            <a:r>
              <a:rPr dirty="0" sz="1200" spc="-30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2 GB</a:t>
            </a:r>
            <a:endParaRPr sz="1200">
              <a:latin typeface="Arial"/>
              <a:cs typeface="Arial"/>
            </a:endParaRPr>
          </a:p>
          <a:p>
            <a:pPr marL="317500">
              <a:lnSpc>
                <a:spcPct val="100000"/>
              </a:lnSpc>
              <a:spcBef>
                <a:spcPts val="509"/>
              </a:spcBef>
            </a:pPr>
            <a:r>
              <a:rPr dirty="0" sz="1200" b="1">
                <a:latin typeface="微软雅黑"/>
                <a:cs typeface="微软雅黑"/>
              </a:rPr>
              <a:t>硬盘空间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：至少</a:t>
            </a:r>
            <a:r>
              <a:rPr dirty="0" sz="1200" spc="-30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200 MB</a:t>
            </a:r>
            <a:endParaRPr sz="1200">
              <a:latin typeface="Arial"/>
              <a:cs typeface="Arial"/>
            </a:endParaRPr>
          </a:p>
          <a:p>
            <a:pPr marL="317500">
              <a:lnSpc>
                <a:spcPct val="100000"/>
              </a:lnSpc>
              <a:spcBef>
                <a:spcPts val="434"/>
              </a:spcBef>
            </a:pPr>
            <a:r>
              <a:rPr dirty="0" sz="1200" b="1">
                <a:latin typeface="微软雅黑"/>
                <a:cs typeface="微软雅黑"/>
              </a:rPr>
              <a:t>其他软件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：需要安装</a:t>
            </a:r>
            <a:r>
              <a:rPr dirty="0" sz="1200" spc="-30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ADO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数据库组件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确保您的系统符合上述要求，可以有效提升软件的运行效率和用户体验。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2100" b="1">
                <a:latin typeface="微软雅黑"/>
                <a:cs typeface="微软雅黑"/>
              </a:rPr>
              <a:t>启动和登录</a:t>
            </a:r>
            <a:endParaRPr sz="21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2130"/>
              </a:spcBef>
              <a:buClr>
                <a:srgbClr val="333333"/>
              </a:buClr>
              <a:buFont typeface="Arial"/>
              <a:buAutoNum type="arabicPeriod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启动软件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：双击软件图标或通过开始菜单启动程序。</a:t>
            </a:r>
            <a:endParaRPr sz="12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434"/>
              </a:spcBef>
              <a:buClr>
                <a:srgbClr val="333333"/>
              </a:buClr>
              <a:buFont typeface="Arial"/>
              <a:buAutoNum type="arabicPeriod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选择用户类型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：在登录界面选择用户类型（消费者或商家）。</a:t>
            </a:r>
            <a:endParaRPr sz="12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509"/>
              </a:spcBef>
              <a:buClr>
                <a:srgbClr val="333333"/>
              </a:buClr>
              <a:buFont typeface="Arial"/>
              <a:buAutoNum type="arabicPeriod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输入用户</a:t>
            </a:r>
            <a:r>
              <a:rPr dirty="0" sz="1200" spc="-50" b="1">
                <a:latin typeface="微软雅黑"/>
                <a:cs typeface="微软雅黑"/>
              </a:rPr>
              <a:t> </a:t>
            </a:r>
            <a:r>
              <a:rPr dirty="0" sz="1200" b="1">
                <a:latin typeface="Arial"/>
                <a:cs typeface="Arial"/>
              </a:rPr>
              <a:t>ID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微软雅黑"/>
                <a:cs typeface="微软雅黑"/>
              </a:rPr>
              <a:t>和密码进行登录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：在相应的输入框中输入您的用户</a:t>
            </a:r>
            <a:r>
              <a:rPr dirty="0" sz="1200" spc="-45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 spc="-2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和密码，然后点击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登录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按钮。</a:t>
            </a:r>
            <a:endParaRPr sz="1200">
              <a:latin typeface="微软雅黑"/>
              <a:cs typeface="微软雅黑"/>
            </a:endParaRPr>
          </a:p>
          <a:p>
            <a:pPr marL="317500" marR="21590" indent="-169545">
              <a:lnSpc>
                <a:spcPts val="1950"/>
              </a:lnSpc>
              <a:spcBef>
                <a:spcPts val="75"/>
              </a:spcBef>
              <a:buClr>
                <a:srgbClr val="333333"/>
              </a:buClr>
              <a:buFont typeface="Arial"/>
              <a:buAutoNum type="arabicPeriod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初次使用请先注册账号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：如果您是第一次使用本软件，请先点击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注册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按钮，选择用户类型并填写 注册信息完成账号注册。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2100" b="1">
                <a:latin typeface="微软雅黑"/>
                <a:cs typeface="微软雅黑"/>
              </a:rPr>
              <a:t>主要功能</a:t>
            </a:r>
            <a:endParaRPr sz="21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355"/>
              </a:spcBef>
            </a:pPr>
            <a:r>
              <a:rPr dirty="0" sz="1800" b="1">
                <a:latin typeface="微软雅黑"/>
                <a:cs typeface="微软雅黑"/>
              </a:rPr>
              <a:t>注册用户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在你的应用程序中，用户可以通过注册界面创建新的用户账户。注册过程包括选择用户类型</a:t>
            </a:r>
            <a:endParaRPr sz="1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（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Consumer</a:t>
            </a: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或</a:t>
            </a:r>
            <a:r>
              <a:rPr dirty="0" sz="1200" spc="-30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Merchant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）、输入用户</a:t>
            </a:r>
            <a:r>
              <a:rPr dirty="0" sz="1200" spc="-25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和密码，并处理各种可能的错误反馈。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500" b="1">
                <a:latin typeface="微软雅黑"/>
                <a:cs typeface="微软雅黑"/>
              </a:rPr>
              <a:t>详细步骤</a:t>
            </a:r>
            <a:endParaRPr sz="15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1425"/>
              </a:spcBef>
              <a:buClr>
                <a:srgbClr val="333333"/>
              </a:buClr>
              <a:buFont typeface="Arial"/>
              <a:buAutoNum type="arabicPeriod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在登录界面选择</a:t>
            </a:r>
            <a:r>
              <a:rPr dirty="0" sz="1200" b="1">
                <a:latin typeface="Arial"/>
                <a:cs typeface="Arial"/>
              </a:rPr>
              <a:t>“Register”</a:t>
            </a:r>
            <a:r>
              <a:rPr dirty="0" sz="1200" b="1">
                <a:latin typeface="微软雅黑"/>
                <a:cs typeface="微软雅黑"/>
              </a:rPr>
              <a:t>按钮</a:t>
            </a:r>
            <a:endParaRPr sz="12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509"/>
              </a:spcBef>
              <a:buClr>
                <a:srgbClr val="333333"/>
              </a:buClr>
              <a:buFont typeface="Arial"/>
              <a:buAutoNum type="arabicPeriod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选择用户类型（</a:t>
            </a:r>
            <a:r>
              <a:rPr dirty="0" sz="1200" b="1">
                <a:latin typeface="Arial"/>
                <a:cs typeface="Arial"/>
              </a:rPr>
              <a:t>Consumer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微软雅黑"/>
                <a:cs typeface="微软雅黑"/>
              </a:rPr>
              <a:t>或</a:t>
            </a:r>
            <a:r>
              <a:rPr dirty="0" sz="1200" spc="-25" b="1">
                <a:latin typeface="微软雅黑"/>
                <a:cs typeface="微软雅黑"/>
              </a:rPr>
              <a:t> </a:t>
            </a:r>
            <a:r>
              <a:rPr dirty="0" sz="1200" b="1">
                <a:latin typeface="Arial"/>
                <a:cs typeface="Arial"/>
              </a:rPr>
              <a:t>Merchant</a:t>
            </a:r>
            <a:r>
              <a:rPr dirty="0" sz="1200" b="1">
                <a:latin typeface="微软雅黑"/>
                <a:cs typeface="微软雅黑"/>
              </a:rPr>
              <a:t>）</a:t>
            </a:r>
            <a:endParaRPr sz="12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509"/>
              </a:spcBef>
              <a:buClr>
                <a:srgbClr val="333333"/>
              </a:buClr>
              <a:buFont typeface="Arial"/>
              <a:buAutoNum type="arabicPeriod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输入用户</a:t>
            </a:r>
            <a:r>
              <a:rPr dirty="0" sz="1200" spc="-30" b="1">
                <a:latin typeface="微软雅黑"/>
                <a:cs typeface="微软雅黑"/>
              </a:rPr>
              <a:t> </a:t>
            </a:r>
            <a:r>
              <a:rPr dirty="0" sz="1200" b="1">
                <a:latin typeface="Arial"/>
                <a:cs typeface="Arial"/>
              </a:rPr>
              <a:t>ID </a:t>
            </a:r>
            <a:r>
              <a:rPr dirty="0" sz="1200" b="1">
                <a:latin typeface="微软雅黑"/>
                <a:cs typeface="微软雅黑"/>
              </a:rPr>
              <a:t>和密码进行注册</a:t>
            </a:r>
            <a:endParaRPr sz="12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434"/>
              </a:spcBef>
              <a:buClr>
                <a:srgbClr val="333333"/>
              </a:buClr>
              <a:buFont typeface="Arial"/>
              <a:buAutoNum type="arabicPeriod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处理注册错误的反馈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1500" b="1">
                <a:latin typeface="微软雅黑"/>
                <a:cs typeface="微软雅黑"/>
              </a:rPr>
              <a:t>用户注册界面的功能与详细描述</a:t>
            </a:r>
            <a:endParaRPr sz="15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200" b="1">
                <a:latin typeface="Arial"/>
                <a:cs typeface="Arial"/>
              </a:rPr>
              <a:t>1.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微软雅黑"/>
                <a:cs typeface="微软雅黑"/>
              </a:rPr>
              <a:t>在登录界面选择</a:t>
            </a:r>
            <a:r>
              <a:rPr dirty="0" sz="1200" b="1">
                <a:latin typeface="Arial"/>
                <a:cs typeface="Arial"/>
              </a:rPr>
              <a:t>“Register”</a:t>
            </a:r>
            <a:r>
              <a:rPr dirty="0" sz="1200" b="1">
                <a:latin typeface="微软雅黑"/>
                <a:cs typeface="微软雅黑"/>
              </a:rPr>
              <a:t>按钮</a:t>
            </a:r>
            <a:endParaRPr sz="1200">
              <a:latin typeface="微软雅黑"/>
              <a:cs typeface="微软雅黑"/>
            </a:endParaRPr>
          </a:p>
          <a:p>
            <a:pPr marL="317500">
              <a:lnSpc>
                <a:spcPct val="100000"/>
              </a:lnSpc>
              <a:spcBef>
                <a:spcPts val="1410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用户在登录界面点击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“Register”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按钮来开始注册流程。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4200" y="79375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20"/>
                </a:lnTo>
                <a:lnTo>
                  <a:pt x="0" y="26970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70"/>
                </a:lnTo>
                <a:lnTo>
                  <a:pt x="26970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4200" y="104140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5"/>
                </a:lnTo>
                <a:lnTo>
                  <a:pt x="0" y="26966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4"/>
                </a:lnTo>
                <a:lnTo>
                  <a:pt x="47625" y="26966"/>
                </a:lnTo>
                <a:lnTo>
                  <a:pt x="26970" y="4762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4200" y="177482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5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4"/>
                </a:lnTo>
                <a:lnTo>
                  <a:pt x="47625" y="26970"/>
                </a:lnTo>
                <a:lnTo>
                  <a:pt x="26970" y="4762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4200" y="201295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5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66"/>
                </a:lnTo>
                <a:lnTo>
                  <a:pt x="26970" y="4762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89000" y="22605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47625" y="26970"/>
                </a:lnTo>
                <a:lnTo>
                  <a:pt x="47020" y="30007"/>
                </a:lnTo>
                <a:lnTo>
                  <a:pt x="45812" y="32923"/>
                </a:lnTo>
                <a:lnTo>
                  <a:pt x="44603" y="35839"/>
                </a:lnTo>
                <a:lnTo>
                  <a:pt x="32925" y="45806"/>
                </a:lnTo>
                <a:lnTo>
                  <a:pt x="30007" y="47020"/>
                </a:lnTo>
                <a:lnTo>
                  <a:pt x="26970" y="47625"/>
                </a:lnTo>
                <a:lnTo>
                  <a:pt x="23812" y="47625"/>
                </a:lnTo>
                <a:lnTo>
                  <a:pt x="20654" y="47625"/>
                </a:lnTo>
                <a:lnTo>
                  <a:pt x="17617" y="47020"/>
                </a:lnTo>
                <a:lnTo>
                  <a:pt x="14699" y="45806"/>
                </a:lnTo>
                <a:lnTo>
                  <a:pt x="11782" y="44601"/>
                </a:lnTo>
                <a:lnTo>
                  <a:pt x="1812" y="32923"/>
                </a:lnTo>
                <a:lnTo>
                  <a:pt x="604" y="30007"/>
                </a:lnTo>
                <a:lnTo>
                  <a:pt x="0" y="26970"/>
                </a:lnTo>
                <a:lnTo>
                  <a:pt x="0" y="23812"/>
                </a:lnTo>
                <a:lnTo>
                  <a:pt x="0" y="20650"/>
                </a:lnTo>
                <a:lnTo>
                  <a:pt x="604" y="17607"/>
                </a:lnTo>
                <a:lnTo>
                  <a:pt x="1812" y="14692"/>
                </a:lnTo>
                <a:lnTo>
                  <a:pt x="3021" y="11775"/>
                </a:lnTo>
                <a:lnTo>
                  <a:pt x="4741" y="9204"/>
                </a:lnTo>
                <a:lnTo>
                  <a:pt x="6974" y="6971"/>
                </a:lnTo>
                <a:lnTo>
                  <a:pt x="9207" y="4734"/>
                </a:lnTo>
                <a:lnTo>
                  <a:pt x="11782" y="3013"/>
                </a:lnTo>
                <a:lnTo>
                  <a:pt x="14699" y="1808"/>
                </a:lnTo>
                <a:lnTo>
                  <a:pt x="17617" y="604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40650" y="6971"/>
                </a:lnTo>
                <a:lnTo>
                  <a:pt x="42883" y="9204"/>
                </a:lnTo>
                <a:lnTo>
                  <a:pt x="44603" y="11775"/>
                </a:lnTo>
                <a:lnTo>
                  <a:pt x="45812" y="14692"/>
                </a:lnTo>
                <a:lnTo>
                  <a:pt x="47020" y="17607"/>
                </a:lnTo>
                <a:lnTo>
                  <a:pt x="47625" y="20650"/>
                </a:lnTo>
                <a:lnTo>
                  <a:pt x="47625" y="23812"/>
                </a:lnTo>
                <a:close/>
              </a:path>
            </a:pathLst>
          </a:custGeom>
          <a:ln w="9525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89000" y="24987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47625" y="26970"/>
                </a:lnTo>
                <a:lnTo>
                  <a:pt x="47020" y="30002"/>
                </a:lnTo>
                <a:lnTo>
                  <a:pt x="45812" y="32919"/>
                </a:lnTo>
                <a:lnTo>
                  <a:pt x="44603" y="35839"/>
                </a:lnTo>
                <a:lnTo>
                  <a:pt x="23812" y="47625"/>
                </a:lnTo>
                <a:lnTo>
                  <a:pt x="20654" y="47620"/>
                </a:lnTo>
                <a:lnTo>
                  <a:pt x="1812" y="32919"/>
                </a:lnTo>
                <a:lnTo>
                  <a:pt x="604" y="30002"/>
                </a:lnTo>
                <a:lnTo>
                  <a:pt x="0" y="26970"/>
                </a:lnTo>
                <a:lnTo>
                  <a:pt x="0" y="23812"/>
                </a:lnTo>
                <a:lnTo>
                  <a:pt x="0" y="20654"/>
                </a:lnTo>
                <a:lnTo>
                  <a:pt x="6974" y="6971"/>
                </a:lnTo>
                <a:lnTo>
                  <a:pt x="9207" y="4734"/>
                </a:lnTo>
                <a:lnTo>
                  <a:pt x="11782" y="3013"/>
                </a:lnTo>
                <a:lnTo>
                  <a:pt x="14699" y="1808"/>
                </a:lnTo>
                <a:lnTo>
                  <a:pt x="17617" y="604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40650" y="6971"/>
                </a:lnTo>
                <a:lnTo>
                  <a:pt x="42883" y="9199"/>
                </a:lnTo>
                <a:lnTo>
                  <a:pt x="44603" y="11775"/>
                </a:lnTo>
                <a:lnTo>
                  <a:pt x="45812" y="14692"/>
                </a:lnTo>
                <a:lnTo>
                  <a:pt x="47020" y="17612"/>
                </a:lnTo>
                <a:lnTo>
                  <a:pt x="47625" y="20654"/>
                </a:lnTo>
                <a:lnTo>
                  <a:pt x="47625" y="23812"/>
                </a:lnTo>
                <a:close/>
              </a:path>
            </a:pathLst>
          </a:custGeom>
          <a:ln w="9525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84200" y="323215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5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4"/>
                </a:lnTo>
                <a:lnTo>
                  <a:pt x="47625" y="26970"/>
                </a:lnTo>
                <a:lnTo>
                  <a:pt x="26970" y="4762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89000" y="34798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47625" y="26970"/>
                </a:lnTo>
                <a:lnTo>
                  <a:pt x="47020" y="30007"/>
                </a:lnTo>
                <a:lnTo>
                  <a:pt x="45812" y="32923"/>
                </a:lnTo>
                <a:lnTo>
                  <a:pt x="44603" y="35839"/>
                </a:lnTo>
                <a:lnTo>
                  <a:pt x="23812" y="47625"/>
                </a:lnTo>
                <a:lnTo>
                  <a:pt x="20654" y="47620"/>
                </a:lnTo>
                <a:lnTo>
                  <a:pt x="1812" y="32923"/>
                </a:lnTo>
                <a:lnTo>
                  <a:pt x="604" y="30007"/>
                </a:lnTo>
                <a:lnTo>
                  <a:pt x="0" y="26970"/>
                </a:lnTo>
                <a:lnTo>
                  <a:pt x="0" y="23812"/>
                </a:lnTo>
                <a:lnTo>
                  <a:pt x="0" y="20650"/>
                </a:lnTo>
                <a:lnTo>
                  <a:pt x="604" y="17612"/>
                </a:lnTo>
                <a:lnTo>
                  <a:pt x="1812" y="14697"/>
                </a:lnTo>
                <a:lnTo>
                  <a:pt x="3021" y="11775"/>
                </a:lnTo>
                <a:lnTo>
                  <a:pt x="4741" y="9199"/>
                </a:lnTo>
                <a:lnTo>
                  <a:pt x="6974" y="6971"/>
                </a:lnTo>
                <a:lnTo>
                  <a:pt x="9207" y="4739"/>
                </a:lnTo>
                <a:lnTo>
                  <a:pt x="11782" y="3018"/>
                </a:lnTo>
                <a:lnTo>
                  <a:pt x="14699" y="1808"/>
                </a:lnTo>
                <a:lnTo>
                  <a:pt x="17617" y="604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40650" y="6971"/>
                </a:lnTo>
                <a:lnTo>
                  <a:pt x="42883" y="9199"/>
                </a:lnTo>
                <a:lnTo>
                  <a:pt x="44603" y="11775"/>
                </a:lnTo>
                <a:lnTo>
                  <a:pt x="45812" y="14697"/>
                </a:lnTo>
                <a:lnTo>
                  <a:pt x="47020" y="17612"/>
                </a:lnTo>
                <a:lnTo>
                  <a:pt x="47625" y="20650"/>
                </a:lnTo>
                <a:lnTo>
                  <a:pt x="47625" y="23812"/>
                </a:lnTo>
                <a:close/>
              </a:path>
            </a:pathLst>
          </a:custGeom>
          <a:ln w="9525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19100" y="333375"/>
            <a:ext cx="6731000" cy="3256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indent="-169545">
              <a:lnSpc>
                <a:spcPct val="100000"/>
              </a:lnSpc>
              <a:spcBef>
                <a:spcPts val="100"/>
              </a:spcBef>
              <a:buFont typeface="Arial"/>
              <a:buAutoNum type="arabicPeriod" startAt="2"/>
              <a:tabLst>
                <a:tab pos="182245" algn="l"/>
              </a:tabLst>
            </a:pPr>
            <a:r>
              <a:rPr dirty="0" sz="1200" b="1">
                <a:latin typeface="微软雅黑"/>
                <a:cs typeface="微软雅黑"/>
              </a:rPr>
              <a:t>选择用户类型（</a:t>
            </a:r>
            <a:r>
              <a:rPr dirty="0" sz="1200" b="1">
                <a:latin typeface="Arial"/>
                <a:cs typeface="Arial"/>
              </a:rPr>
              <a:t>Consumer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微软雅黑"/>
                <a:cs typeface="微软雅黑"/>
              </a:rPr>
              <a:t>或</a:t>
            </a:r>
            <a:r>
              <a:rPr dirty="0" sz="1200" spc="-25" b="1">
                <a:latin typeface="微软雅黑"/>
                <a:cs typeface="微软雅黑"/>
              </a:rPr>
              <a:t> </a:t>
            </a:r>
            <a:r>
              <a:rPr dirty="0" sz="1200" b="1">
                <a:latin typeface="Arial"/>
                <a:cs typeface="Arial"/>
              </a:rPr>
              <a:t>Merchant</a:t>
            </a:r>
            <a:r>
              <a:rPr dirty="0" sz="1200" b="1">
                <a:latin typeface="微软雅黑"/>
                <a:cs typeface="微软雅黑"/>
              </a:rPr>
              <a:t>）</a:t>
            </a:r>
            <a:endParaRPr sz="1200">
              <a:latin typeface="微软雅黑"/>
              <a:cs typeface="微软雅黑"/>
            </a:endParaRPr>
          </a:p>
          <a:p>
            <a:pPr marL="317500">
              <a:lnSpc>
                <a:spcPct val="100000"/>
              </a:lnSpc>
              <a:spcBef>
                <a:spcPts val="1410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在注册表单中，用户可以选择他们的用户类型。</a:t>
            </a:r>
            <a:endParaRPr sz="1200">
              <a:latin typeface="微软雅黑"/>
              <a:cs typeface="微软雅黑"/>
            </a:endParaRPr>
          </a:p>
          <a:p>
            <a:pPr marL="317500">
              <a:lnSpc>
                <a:spcPct val="100000"/>
              </a:lnSpc>
              <a:spcBef>
                <a:spcPts val="509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用户类型选择框通常是一个下拉菜单，用户可以选择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“Consumer”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或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“Merchant”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。</a:t>
            </a:r>
            <a:endParaRPr sz="1200">
              <a:latin typeface="微软雅黑"/>
              <a:cs typeface="微软雅黑"/>
            </a:endParaRPr>
          </a:p>
          <a:p>
            <a:pPr marL="181610" indent="-169545">
              <a:lnSpc>
                <a:spcPct val="100000"/>
              </a:lnSpc>
              <a:spcBef>
                <a:spcPts val="1410"/>
              </a:spcBef>
              <a:buFont typeface="Arial"/>
              <a:buAutoNum type="arabicPeriod" startAt="3"/>
              <a:tabLst>
                <a:tab pos="182245" algn="l"/>
              </a:tabLst>
            </a:pPr>
            <a:r>
              <a:rPr dirty="0" sz="1200" b="1">
                <a:latin typeface="微软雅黑"/>
                <a:cs typeface="微软雅黑"/>
              </a:rPr>
              <a:t>输入用户</a:t>
            </a:r>
            <a:r>
              <a:rPr dirty="0" sz="1200" spc="-30" b="1">
                <a:latin typeface="微软雅黑"/>
                <a:cs typeface="微软雅黑"/>
              </a:rPr>
              <a:t> </a:t>
            </a:r>
            <a:r>
              <a:rPr dirty="0" sz="1200" b="1">
                <a:latin typeface="Arial"/>
                <a:cs typeface="Arial"/>
              </a:rPr>
              <a:t>ID </a:t>
            </a:r>
            <a:r>
              <a:rPr dirty="0" sz="1200" b="1">
                <a:latin typeface="微软雅黑"/>
                <a:cs typeface="微软雅黑"/>
              </a:rPr>
              <a:t>和密码进行注册</a:t>
            </a:r>
            <a:endParaRPr sz="1200">
              <a:latin typeface="微软雅黑"/>
              <a:cs typeface="微软雅黑"/>
            </a:endParaRPr>
          </a:p>
          <a:p>
            <a:pPr marL="317500" marR="2967990">
              <a:lnSpc>
                <a:spcPct val="130200"/>
              </a:lnSpc>
              <a:spcBef>
                <a:spcPts val="1050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用户需要在注册表单中输入他们的用户</a:t>
            </a:r>
            <a:r>
              <a:rPr dirty="0" sz="1200" spc="-75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 spc="-5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和密码。 用户</a:t>
            </a:r>
            <a:r>
              <a:rPr dirty="0" sz="1200" spc="-75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 spc="-5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和密码需要满足一定的格式和要求，例如：</a:t>
            </a:r>
            <a:endParaRPr sz="1200">
              <a:latin typeface="微软雅黑"/>
              <a:cs typeface="微软雅黑"/>
            </a:endParaRPr>
          </a:p>
          <a:p>
            <a:pPr marL="622300">
              <a:lnSpc>
                <a:spcPct val="100000"/>
              </a:lnSpc>
              <a:spcBef>
                <a:spcPts val="509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用户</a:t>
            </a:r>
            <a:r>
              <a:rPr dirty="0" sz="1200" spc="-30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不能为空，并且应该是唯一的。</a:t>
            </a:r>
            <a:endParaRPr sz="1200">
              <a:latin typeface="微软雅黑"/>
              <a:cs typeface="微软雅黑"/>
            </a:endParaRPr>
          </a:p>
          <a:p>
            <a:pPr marL="622300">
              <a:lnSpc>
                <a:spcPct val="100000"/>
              </a:lnSpc>
              <a:spcBef>
                <a:spcPts val="434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密码不能为空，并且应该满足一定的复杂度要求，例如包含大小写字母、数字和特殊字符。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800">
              <a:latin typeface="微软雅黑"/>
              <a:cs typeface="微软雅黑"/>
            </a:endParaRPr>
          </a:p>
          <a:p>
            <a:pPr marL="181610" indent="-169545">
              <a:lnSpc>
                <a:spcPct val="100000"/>
              </a:lnSpc>
              <a:buFont typeface="Arial"/>
              <a:buAutoNum type="arabicPeriod" startAt="4"/>
              <a:tabLst>
                <a:tab pos="182245" algn="l"/>
              </a:tabLst>
            </a:pPr>
            <a:r>
              <a:rPr dirty="0" sz="1200" b="1">
                <a:latin typeface="微软雅黑"/>
                <a:cs typeface="微软雅黑"/>
              </a:rPr>
              <a:t>处理注册错误的反馈</a:t>
            </a:r>
            <a:endParaRPr sz="1200">
              <a:latin typeface="微软雅黑"/>
              <a:cs typeface="微软雅黑"/>
            </a:endParaRPr>
          </a:p>
          <a:p>
            <a:pPr marL="622300" marR="5080" indent="-304800">
              <a:lnSpc>
                <a:spcPct val="135400"/>
              </a:lnSpc>
              <a:spcBef>
                <a:spcPts val="900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如果用户输入无效，系统会显示相应的错误信息，并提示用户修改输入。常见的错误反馈包括： 用户</a:t>
            </a:r>
            <a:r>
              <a:rPr dirty="0" sz="1200" spc="-30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或密码为空：显示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“UserID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和密码不能为空。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41400" y="3613153"/>
            <a:ext cx="6305550" cy="49625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89000" y="868045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32925" y="45806"/>
                </a:lnTo>
                <a:lnTo>
                  <a:pt x="30007" y="47015"/>
                </a:lnTo>
                <a:lnTo>
                  <a:pt x="26970" y="47620"/>
                </a:lnTo>
                <a:lnTo>
                  <a:pt x="23812" y="47625"/>
                </a:lnTo>
                <a:lnTo>
                  <a:pt x="20654" y="47620"/>
                </a:lnTo>
                <a:lnTo>
                  <a:pt x="17617" y="47015"/>
                </a:lnTo>
                <a:lnTo>
                  <a:pt x="14699" y="45806"/>
                </a:lnTo>
                <a:lnTo>
                  <a:pt x="11782" y="44601"/>
                </a:lnTo>
                <a:lnTo>
                  <a:pt x="0" y="26966"/>
                </a:lnTo>
                <a:lnTo>
                  <a:pt x="0" y="23812"/>
                </a:lnTo>
                <a:lnTo>
                  <a:pt x="0" y="20654"/>
                </a:lnTo>
                <a:lnTo>
                  <a:pt x="604" y="17612"/>
                </a:lnTo>
                <a:lnTo>
                  <a:pt x="1812" y="14692"/>
                </a:lnTo>
                <a:lnTo>
                  <a:pt x="3021" y="11770"/>
                </a:lnTo>
                <a:lnTo>
                  <a:pt x="4741" y="9194"/>
                </a:lnTo>
                <a:lnTo>
                  <a:pt x="6974" y="6966"/>
                </a:lnTo>
                <a:lnTo>
                  <a:pt x="9207" y="4734"/>
                </a:lnTo>
                <a:lnTo>
                  <a:pt x="11782" y="3013"/>
                </a:lnTo>
                <a:lnTo>
                  <a:pt x="14699" y="1804"/>
                </a:lnTo>
                <a:lnTo>
                  <a:pt x="17617" y="600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40650" y="6966"/>
                </a:lnTo>
                <a:lnTo>
                  <a:pt x="42883" y="9194"/>
                </a:lnTo>
                <a:lnTo>
                  <a:pt x="44603" y="11770"/>
                </a:lnTo>
                <a:lnTo>
                  <a:pt x="45812" y="14692"/>
                </a:lnTo>
                <a:lnTo>
                  <a:pt x="47020" y="17612"/>
                </a:lnTo>
                <a:lnTo>
                  <a:pt x="47625" y="20654"/>
                </a:lnTo>
                <a:lnTo>
                  <a:pt x="47625" y="23812"/>
                </a:lnTo>
                <a:close/>
              </a:path>
            </a:pathLst>
          </a:custGeom>
          <a:ln w="9525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028700" y="8582025"/>
            <a:ext cx="44875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用户</a:t>
            </a:r>
            <a:r>
              <a:rPr dirty="0" sz="1200" spc="-45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 spc="-2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已存在：显示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该</a:t>
            </a:r>
            <a:r>
              <a:rPr dirty="0" sz="1200" spc="-45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UserID</a:t>
            </a:r>
            <a:r>
              <a:rPr dirty="0" sz="1200" spc="-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已被注册，请选择其他</a:t>
            </a:r>
            <a:r>
              <a:rPr dirty="0" sz="1200" spc="-45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UserID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。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41400" y="355600"/>
            <a:ext cx="6305550" cy="4952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4200" y="598487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5"/>
                </a:lnTo>
                <a:lnTo>
                  <a:pt x="0" y="26966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4"/>
                </a:lnTo>
                <a:lnTo>
                  <a:pt x="47625" y="26966"/>
                </a:lnTo>
                <a:lnTo>
                  <a:pt x="26970" y="4762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19100" y="5476870"/>
            <a:ext cx="6680200" cy="865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latin typeface="微软雅黑"/>
                <a:cs typeface="微软雅黑"/>
              </a:rPr>
              <a:t>注册流程的用户体验</a:t>
            </a:r>
            <a:endParaRPr sz="1500">
              <a:latin typeface="微软雅黑"/>
              <a:cs typeface="微软雅黑"/>
            </a:endParaRPr>
          </a:p>
          <a:p>
            <a:pPr marL="317500" marR="5080">
              <a:lnSpc>
                <a:spcPct val="135400"/>
              </a:lnSpc>
              <a:spcBef>
                <a:spcPts val="915"/>
              </a:spcBef>
            </a:pPr>
            <a:r>
              <a:rPr dirty="0" sz="1200" b="1">
                <a:latin typeface="微软雅黑"/>
                <a:cs typeface="微软雅黑"/>
              </a:rPr>
              <a:t>注册成功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：当用户成功注册后，系统会显示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注册成功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消息，并引导用户返回登录界面或直接登 录。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600" y="355600"/>
            <a:ext cx="6505575" cy="51149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4200" y="557529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66"/>
                </a:lnTo>
                <a:lnTo>
                  <a:pt x="26970" y="4762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89000" y="663257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66"/>
                </a:lnTo>
                <a:lnTo>
                  <a:pt x="26970" y="4762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89000" y="688022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0"/>
                </a:lnTo>
                <a:lnTo>
                  <a:pt x="0" y="26961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61"/>
                </a:lnTo>
                <a:lnTo>
                  <a:pt x="26970" y="4762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89000" y="711834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5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66"/>
                </a:lnTo>
                <a:lnTo>
                  <a:pt x="26970" y="4762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89000" y="761364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0"/>
                </a:lnTo>
                <a:lnTo>
                  <a:pt x="0" y="26961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61"/>
                </a:lnTo>
                <a:lnTo>
                  <a:pt x="26970" y="4762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89000" y="785177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5"/>
                </a:lnTo>
                <a:lnTo>
                  <a:pt x="0" y="26966"/>
                </a:lnTo>
                <a:lnTo>
                  <a:pt x="0" y="20645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45"/>
                </a:lnTo>
                <a:lnTo>
                  <a:pt x="47625" y="26966"/>
                </a:lnTo>
                <a:lnTo>
                  <a:pt x="26970" y="4762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89000" y="809942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0"/>
                </a:lnTo>
                <a:lnTo>
                  <a:pt x="0" y="26970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70"/>
                </a:lnTo>
                <a:lnTo>
                  <a:pt x="26970" y="4762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89000" y="858519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5"/>
                </a:lnTo>
                <a:lnTo>
                  <a:pt x="0" y="26966"/>
                </a:lnTo>
                <a:lnTo>
                  <a:pt x="0" y="20645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45"/>
                </a:lnTo>
                <a:lnTo>
                  <a:pt x="47625" y="26966"/>
                </a:lnTo>
                <a:lnTo>
                  <a:pt x="26970" y="4762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89000" y="883284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5"/>
                </a:lnTo>
                <a:lnTo>
                  <a:pt x="0" y="26970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70"/>
                </a:lnTo>
                <a:lnTo>
                  <a:pt x="26970" y="4762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19100" y="5476871"/>
            <a:ext cx="6273800" cy="34658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75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微软雅黑"/>
                <a:cs typeface="微软雅黑"/>
              </a:rPr>
              <a:t>注册失败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：当用户注册失败时，系统会显示具体的错误信息，提示用户需要修改的内容。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1500" b="1">
                <a:latin typeface="微软雅黑"/>
                <a:cs typeface="微软雅黑"/>
              </a:rPr>
              <a:t>示例注册流程图</a:t>
            </a:r>
            <a:endParaRPr sz="15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1425"/>
              </a:spcBef>
              <a:buClr>
                <a:srgbClr val="333333"/>
              </a:buClr>
              <a:buFont typeface="Arial"/>
              <a:buAutoNum type="arabicPeriod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注册界面</a:t>
            </a:r>
            <a:endParaRPr sz="1200">
              <a:latin typeface="微软雅黑"/>
              <a:cs typeface="微软雅黑"/>
            </a:endParaRPr>
          </a:p>
          <a:p>
            <a:pPr marL="622300" marR="2544445">
              <a:lnSpc>
                <a:spcPts val="1950"/>
              </a:lnSpc>
              <a:spcBef>
                <a:spcPts val="75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用户选择用户类型（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Consumer</a:t>
            </a:r>
            <a:r>
              <a:rPr dirty="0" sz="1200" spc="-5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或</a:t>
            </a:r>
            <a:r>
              <a:rPr dirty="0" sz="1200" spc="-75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Merchant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）  用户输入用户</a:t>
            </a:r>
            <a:r>
              <a:rPr dirty="0" sz="1200" spc="-30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和密码</a:t>
            </a:r>
            <a:endParaRPr sz="1200">
              <a:latin typeface="微软雅黑"/>
              <a:cs typeface="微软雅黑"/>
            </a:endParaRPr>
          </a:p>
          <a:p>
            <a:pPr marL="622300">
              <a:lnSpc>
                <a:spcPct val="100000"/>
              </a:lnSpc>
              <a:spcBef>
                <a:spcPts val="285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用户点击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“Register”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</a:t>
            </a:r>
            <a:endParaRPr sz="12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509"/>
              </a:spcBef>
              <a:buClr>
                <a:srgbClr val="333333"/>
              </a:buClr>
              <a:buFont typeface="Arial"/>
              <a:buAutoNum type="arabicPeriod" startAt="2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验证输入</a:t>
            </a:r>
            <a:endParaRPr sz="1200">
              <a:latin typeface="微软雅黑"/>
              <a:cs typeface="微软雅黑"/>
            </a:endParaRPr>
          </a:p>
          <a:p>
            <a:pPr marL="622300" marR="3662679">
              <a:lnSpc>
                <a:spcPct val="130200"/>
              </a:lnSpc>
              <a:spcBef>
                <a:spcPts val="80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系统检查用户输入的合法性 如果输入无效，显示错误信息</a:t>
            </a:r>
            <a:endParaRPr sz="1200">
              <a:latin typeface="微软雅黑"/>
              <a:cs typeface="微软雅黑"/>
            </a:endParaRPr>
          </a:p>
          <a:p>
            <a:pPr marL="622300">
              <a:lnSpc>
                <a:spcPct val="100000"/>
              </a:lnSpc>
              <a:spcBef>
                <a:spcPts val="509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如果输入有效，将用户信息保存到数据库</a:t>
            </a:r>
            <a:endParaRPr sz="12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434"/>
              </a:spcBef>
              <a:buClr>
                <a:srgbClr val="333333"/>
              </a:buClr>
              <a:buFont typeface="Arial"/>
              <a:buAutoNum type="arabicPeriod" startAt="3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反馈用户</a:t>
            </a:r>
            <a:endParaRPr sz="1200">
              <a:latin typeface="微软雅黑"/>
              <a:cs typeface="微软雅黑"/>
            </a:endParaRPr>
          </a:p>
          <a:p>
            <a:pPr marL="622300">
              <a:lnSpc>
                <a:spcPct val="100000"/>
              </a:lnSpc>
              <a:spcBef>
                <a:spcPts val="509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注册成功：显示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注册成功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消息</a:t>
            </a:r>
            <a:endParaRPr sz="1200">
              <a:latin typeface="微软雅黑"/>
              <a:cs typeface="微软雅黑"/>
            </a:endParaRPr>
          </a:p>
          <a:p>
            <a:pPr marL="622300">
              <a:lnSpc>
                <a:spcPct val="100000"/>
              </a:lnSpc>
              <a:spcBef>
                <a:spcPts val="509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注册失败：显示具体的错误信息，提示用户修改输入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4200" y="492759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4200" y="516572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4200" y="589914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4200" y="614679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4200" y="687069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4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40"/>
                </a:lnTo>
                <a:lnTo>
                  <a:pt x="47625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84200" y="711834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20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66"/>
                </a:lnTo>
                <a:lnTo>
                  <a:pt x="26970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84200" y="785177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20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66"/>
                </a:lnTo>
                <a:lnTo>
                  <a:pt x="26970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84200" y="808989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19100" y="333371"/>
            <a:ext cx="6917690" cy="90189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latin typeface="微软雅黑"/>
                <a:cs typeface="微软雅黑"/>
              </a:rPr>
              <a:t>注册功能总结</a:t>
            </a:r>
            <a:endParaRPr sz="1500">
              <a:latin typeface="微软雅黑"/>
              <a:cs typeface="微软雅黑"/>
            </a:endParaRPr>
          </a:p>
          <a:p>
            <a:pPr marL="12700" marR="38735">
              <a:lnSpc>
                <a:spcPct val="135400"/>
              </a:lnSpc>
              <a:spcBef>
                <a:spcPts val="915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注册功能是用户首次使用应用程序时的第一步，通过详细的输入验证和错误反馈，确保用户注册流程顺 畅，同时提高系统的安全性和用户体验。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latin typeface="微软雅黑"/>
                <a:cs typeface="微软雅黑"/>
              </a:rPr>
              <a:t>用户登录功能介绍</a:t>
            </a:r>
            <a:endParaRPr sz="1800">
              <a:latin typeface="微软雅黑"/>
              <a:cs typeface="微软雅黑"/>
            </a:endParaRPr>
          </a:p>
          <a:p>
            <a:pPr marL="12700" marR="5080">
              <a:lnSpc>
                <a:spcPct val="135400"/>
              </a:lnSpc>
              <a:spcBef>
                <a:spcPts val="1005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在你的应用程序中，用户可以通过登录界面选择用户类型，输入用户</a:t>
            </a:r>
            <a:r>
              <a:rPr dirty="0" sz="1200" spc="-75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 spc="-5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和密码，然后点击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登录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按钮进 行登录。登录成功后，用户将被导航到对应的用户界面。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1500" b="1">
                <a:latin typeface="微软雅黑"/>
                <a:cs typeface="微软雅黑"/>
              </a:rPr>
              <a:t>登录详细步骤</a:t>
            </a:r>
            <a:endParaRPr sz="15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1425"/>
              </a:spcBef>
              <a:buClr>
                <a:srgbClr val="333333"/>
              </a:buClr>
              <a:buFont typeface="Arial"/>
              <a:buAutoNum type="arabicPeriod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在登录界面选择用户类型</a:t>
            </a:r>
            <a:endParaRPr sz="12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509"/>
              </a:spcBef>
              <a:buClr>
                <a:srgbClr val="333333"/>
              </a:buClr>
              <a:buFont typeface="Arial"/>
              <a:buAutoNum type="arabicPeriod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输入用户</a:t>
            </a:r>
            <a:r>
              <a:rPr dirty="0" sz="1200" spc="-30" b="1">
                <a:latin typeface="微软雅黑"/>
                <a:cs typeface="微软雅黑"/>
              </a:rPr>
              <a:t> </a:t>
            </a:r>
            <a:r>
              <a:rPr dirty="0" sz="1200" b="1">
                <a:latin typeface="Arial"/>
                <a:cs typeface="Arial"/>
              </a:rPr>
              <a:t>ID </a:t>
            </a:r>
            <a:r>
              <a:rPr dirty="0" sz="1200" b="1">
                <a:latin typeface="微软雅黑"/>
                <a:cs typeface="微软雅黑"/>
              </a:rPr>
              <a:t>和密码进行登录</a:t>
            </a:r>
            <a:endParaRPr sz="12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434"/>
              </a:spcBef>
              <a:buClr>
                <a:srgbClr val="333333"/>
              </a:buClr>
              <a:buFont typeface="Arial"/>
              <a:buAutoNum type="arabicPeriod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点击</a:t>
            </a:r>
            <a:r>
              <a:rPr dirty="0" sz="1200" b="1">
                <a:latin typeface="Arial"/>
                <a:cs typeface="Arial"/>
              </a:rPr>
              <a:t>“</a:t>
            </a:r>
            <a:r>
              <a:rPr dirty="0" sz="1200" b="1">
                <a:latin typeface="微软雅黑"/>
                <a:cs typeface="微软雅黑"/>
              </a:rPr>
              <a:t>登录</a:t>
            </a:r>
            <a:r>
              <a:rPr dirty="0" sz="1200" b="1">
                <a:latin typeface="Arial"/>
                <a:cs typeface="Arial"/>
              </a:rPr>
              <a:t>”</a:t>
            </a:r>
            <a:r>
              <a:rPr dirty="0" sz="1200" b="1">
                <a:latin typeface="微软雅黑"/>
                <a:cs typeface="微软雅黑"/>
              </a:rPr>
              <a:t>按钮</a:t>
            </a:r>
            <a:endParaRPr sz="12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509"/>
              </a:spcBef>
              <a:buClr>
                <a:srgbClr val="333333"/>
              </a:buClr>
              <a:buFont typeface="Arial"/>
              <a:buAutoNum type="arabicPeriod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登录成功后进入对应的用户界面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9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1500" b="1">
                <a:latin typeface="微软雅黑"/>
                <a:cs typeface="微软雅黑"/>
              </a:rPr>
              <a:t>用户登录界面的功能与详细描述</a:t>
            </a:r>
            <a:endParaRPr sz="1500">
              <a:latin typeface="微软雅黑"/>
              <a:cs typeface="微软雅黑"/>
            </a:endParaRPr>
          </a:p>
          <a:p>
            <a:pPr marL="181610" indent="-169545">
              <a:lnSpc>
                <a:spcPct val="100000"/>
              </a:lnSpc>
              <a:spcBef>
                <a:spcPts val="1200"/>
              </a:spcBef>
              <a:buFont typeface="Arial"/>
              <a:buAutoNum type="arabicPeriod"/>
              <a:tabLst>
                <a:tab pos="182245" algn="l"/>
              </a:tabLst>
            </a:pPr>
            <a:r>
              <a:rPr dirty="0" sz="1200" b="1">
                <a:latin typeface="微软雅黑"/>
                <a:cs typeface="微软雅黑"/>
              </a:rPr>
              <a:t>在登录界面选择用户类型</a:t>
            </a:r>
            <a:endParaRPr sz="1200">
              <a:latin typeface="微软雅黑"/>
              <a:cs typeface="微软雅黑"/>
            </a:endParaRPr>
          </a:p>
          <a:p>
            <a:pPr marL="317500" marR="3086735">
              <a:lnSpc>
                <a:spcPct val="130200"/>
              </a:lnSpc>
              <a:spcBef>
                <a:spcPts val="975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用户在登录界面通过下拉菜单选择他们的用户类型。 用户类型通常包括</a:t>
            </a:r>
            <a:r>
              <a:rPr dirty="0" sz="1200" spc="-35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Consumer</a:t>
            </a: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和</a:t>
            </a:r>
            <a:r>
              <a:rPr dirty="0" sz="1200" spc="-30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Merchant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800">
              <a:latin typeface="微软雅黑"/>
              <a:cs typeface="微软雅黑"/>
            </a:endParaRPr>
          </a:p>
          <a:p>
            <a:pPr marL="181610" indent="-169545">
              <a:lnSpc>
                <a:spcPct val="100000"/>
              </a:lnSpc>
              <a:buFont typeface="Arial"/>
              <a:buAutoNum type="arabicPeriod" startAt="2"/>
              <a:tabLst>
                <a:tab pos="182245" algn="l"/>
              </a:tabLst>
            </a:pPr>
            <a:r>
              <a:rPr dirty="0" sz="1200" b="1">
                <a:latin typeface="微软雅黑"/>
                <a:cs typeface="微软雅黑"/>
              </a:rPr>
              <a:t>输入用户</a:t>
            </a:r>
            <a:r>
              <a:rPr dirty="0" sz="1200" spc="-30" b="1">
                <a:latin typeface="微软雅黑"/>
                <a:cs typeface="微软雅黑"/>
              </a:rPr>
              <a:t> </a:t>
            </a:r>
            <a:r>
              <a:rPr dirty="0" sz="1200" b="1">
                <a:latin typeface="Arial"/>
                <a:cs typeface="Arial"/>
              </a:rPr>
              <a:t>ID </a:t>
            </a:r>
            <a:r>
              <a:rPr dirty="0" sz="1200" b="1">
                <a:latin typeface="微软雅黑"/>
                <a:cs typeface="微软雅黑"/>
              </a:rPr>
              <a:t>和密码进行登录</a:t>
            </a:r>
            <a:endParaRPr sz="1200">
              <a:latin typeface="微软雅黑"/>
              <a:cs typeface="微软雅黑"/>
            </a:endParaRPr>
          </a:p>
          <a:p>
            <a:pPr marL="317500">
              <a:lnSpc>
                <a:spcPct val="100000"/>
              </a:lnSpc>
              <a:spcBef>
                <a:spcPts val="1410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用户需要在登录界面输入他们的用户</a:t>
            </a:r>
            <a:r>
              <a:rPr dirty="0" sz="1200" spc="-30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和密码。</a:t>
            </a:r>
            <a:endParaRPr sz="1200">
              <a:latin typeface="微软雅黑"/>
              <a:cs typeface="微软雅黑"/>
            </a:endParaRPr>
          </a:p>
          <a:p>
            <a:pPr marL="317500">
              <a:lnSpc>
                <a:spcPct val="100000"/>
              </a:lnSpc>
              <a:spcBef>
                <a:spcPts val="509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用户</a:t>
            </a:r>
            <a:r>
              <a:rPr dirty="0" sz="1200" spc="-30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和密码必须与其账户信息匹配，否则登录将失败。</a:t>
            </a:r>
            <a:endParaRPr sz="1200">
              <a:latin typeface="微软雅黑"/>
              <a:cs typeface="微软雅黑"/>
            </a:endParaRPr>
          </a:p>
          <a:p>
            <a:pPr marL="181610" indent="-169545">
              <a:lnSpc>
                <a:spcPct val="100000"/>
              </a:lnSpc>
              <a:spcBef>
                <a:spcPts val="1410"/>
              </a:spcBef>
              <a:buFont typeface="Arial"/>
              <a:buAutoNum type="arabicPeriod" startAt="3"/>
              <a:tabLst>
                <a:tab pos="182245" algn="l"/>
              </a:tabLst>
            </a:pPr>
            <a:r>
              <a:rPr dirty="0" sz="1200" b="1">
                <a:latin typeface="微软雅黑"/>
                <a:cs typeface="微软雅黑"/>
              </a:rPr>
              <a:t>点击</a:t>
            </a:r>
            <a:r>
              <a:rPr dirty="0" sz="1200" b="1">
                <a:latin typeface="Arial"/>
                <a:cs typeface="Arial"/>
              </a:rPr>
              <a:t>“</a:t>
            </a:r>
            <a:r>
              <a:rPr dirty="0" sz="1200" b="1">
                <a:latin typeface="微软雅黑"/>
                <a:cs typeface="微软雅黑"/>
              </a:rPr>
              <a:t>登录</a:t>
            </a:r>
            <a:r>
              <a:rPr dirty="0" sz="1200" b="1">
                <a:latin typeface="Arial"/>
                <a:cs typeface="Arial"/>
              </a:rPr>
              <a:t>”</a:t>
            </a:r>
            <a:r>
              <a:rPr dirty="0" sz="1200" b="1">
                <a:latin typeface="微软雅黑"/>
                <a:cs typeface="微软雅黑"/>
              </a:rPr>
              <a:t>按钮</a:t>
            </a:r>
            <a:endParaRPr sz="1200">
              <a:latin typeface="微软雅黑"/>
              <a:cs typeface="微软雅黑"/>
            </a:endParaRPr>
          </a:p>
          <a:p>
            <a:pPr marL="317500" marR="2291080">
              <a:lnSpc>
                <a:spcPct val="135400"/>
              </a:lnSpc>
              <a:spcBef>
                <a:spcPts val="900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用户输入完用户</a:t>
            </a:r>
            <a:r>
              <a:rPr dirty="0" sz="1200" spc="-75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 spc="-5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和密码后，点击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登录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按钮以提交登录请求。 系统会验证用户提供的凭据并决定是否允许用户登录。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800">
              <a:latin typeface="微软雅黑"/>
              <a:cs typeface="微软雅黑"/>
            </a:endParaRPr>
          </a:p>
          <a:p>
            <a:pPr marL="181610" indent="-169545">
              <a:lnSpc>
                <a:spcPct val="100000"/>
              </a:lnSpc>
              <a:buFont typeface="Arial"/>
              <a:buAutoNum type="arabicPeriod" startAt="4"/>
              <a:tabLst>
                <a:tab pos="182245" algn="l"/>
              </a:tabLst>
            </a:pPr>
            <a:r>
              <a:rPr dirty="0" sz="1200" b="1">
                <a:latin typeface="微软雅黑"/>
                <a:cs typeface="微软雅黑"/>
              </a:rPr>
              <a:t>登录成功后进入对应的用户界面</a:t>
            </a:r>
            <a:endParaRPr sz="1200">
              <a:latin typeface="微软雅黑"/>
              <a:cs typeface="微软雅黑"/>
            </a:endParaRPr>
          </a:p>
          <a:p>
            <a:pPr marL="317500">
              <a:lnSpc>
                <a:spcPct val="100000"/>
              </a:lnSpc>
              <a:spcBef>
                <a:spcPts val="1410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如果用户提供的凭据是有效的，系统会登录用户并将其导航到相应的用户界面。</a:t>
            </a:r>
            <a:endParaRPr sz="1200">
              <a:latin typeface="微软雅黑"/>
              <a:cs typeface="微软雅黑"/>
            </a:endParaRPr>
          </a:p>
          <a:p>
            <a:pPr marL="317500">
              <a:lnSpc>
                <a:spcPct val="100000"/>
              </a:lnSpc>
              <a:spcBef>
                <a:spcPts val="434"/>
              </a:spcBef>
            </a:pP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Consumer</a:t>
            </a: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用户将被导航到</a:t>
            </a:r>
            <a:r>
              <a:rPr dirty="0" sz="1200" spc="-30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Consumer</a:t>
            </a: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界面，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Merchant</a:t>
            </a: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用户将被导航到</a:t>
            </a:r>
            <a:r>
              <a:rPr dirty="0" sz="1200" spc="-30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Merchant</a:t>
            </a: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界面。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9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1500" b="1">
                <a:latin typeface="微软雅黑"/>
                <a:cs typeface="微软雅黑"/>
              </a:rPr>
              <a:t>错误反馈示例</a:t>
            </a:r>
            <a:endParaRPr sz="15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200" b="1">
                <a:latin typeface="Arial"/>
                <a:cs typeface="Arial"/>
              </a:rPr>
              <a:t>1.</a:t>
            </a:r>
            <a:r>
              <a:rPr dirty="0" sz="1200" b="1">
                <a:latin typeface="微软雅黑"/>
                <a:cs typeface="微软雅黑"/>
              </a:rPr>
              <a:t>用户类型选择错误</a:t>
            </a:r>
            <a:endParaRPr sz="1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当用户选择错了用户类型时，会反馈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“invalid</a:t>
            </a: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user type”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9" y="355597"/>
            <a:ext cx="5441950" cy="0"/>
          </a:xfrm>
          <a:custGeom>
            <a:avLst/>
            <a:gdLst/>
            <a:ahLst/>
            <a:cxnLst/>
            <a:rect l="l" t="t" r="r" b="b"/>
            <a:pathLst>
              <a:path w="5441950" h="0">
                <a:moveTo>
                  <a:pt x="0" y="0"/>
                </a:moveTo>
                <a:lnTo>
                  <a:pt x="5441887" y="0"/>
                </a:lnTo>
              </a:path>
            </a:pathLst>
          </a:custGeom>
          <a:ln w="3175">
            <a:solidFill>
              <a:srgbClr val="9C9C9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846158" y="1449536"/>
            <a:ext cx="2089150" cy="0"/>
          </a:xfrm>
          <a:custGeom>
            <a:avLst/>
            <a:gdLst/>
            <a:ahLst/>
            <a:cxnLst/>
            <a:rect l="l" t="t" r="r" b="b"/>
            <a:pathLst>
              <a:path w="2089150" h="0">
                <a:moveTo>
                  <a:pt x="0" y="0"/>
                </a:moveTo>
                <a:lnTo>
                  <a:pt x="2088611" y="0"/>
                </a:lnTo>
              </a:path>
            </a:pathLst>
          </a:custGeom>
          <a:ln w="287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800639" y="1996505"/>
            <a:ext cx="1954530" cy="0"/>
          </a:xfrm>
          <a:custGeom>
            <a:avLst/>
            <a:gdLst/>
            <a:ahLst/>
            <a:cxnLst/>
            <a:rect l="l" t="t" r="r" b="b"/>
            <a:pathLst>
              <a:path w="1954529" h="0">
                <a:moveTo>
                  <a:pt x="0" y="0"/>
                </a:moveTo>
                <a:lnTo>
                  <a:pt x="1954480" y="0"/>
                </a:lnTo>
              </a:path>
            </a:pathLst>
          </a:custGeom>
          <a:ln w="95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846158" y="2255596"/>
            <a:ext cx="1993264" cy="0"/>
          </a:xfrm>
          <a:custGeom>
            <a:avLst/>
            <a:gdLst/>
            <a:ahLst/>
            <a:cxnLst/>
            <a:rect l="l" t="t" r="r" b="b"/>
            <a:pathLst>
              <a:path w="1993264" h="0">
                <a:moveTo>
                  <a:pt x="0" y="0"/>
                </a:moveTo>
                <a:lnTo>
                  <a:pt x="1992803" y="0"/>
                </a:lnTo>
              </a:path>
            </a:pathLst>
          </a:custGeom>
          <a:ln w="287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846158" y="3061655"/>
            <a:ext cx="1993264" cy="0"/>
          </a:xfrm>
          <a:custGeom>
            <a:avLst/>
            <a:gdLst/>
            <a:ahLst/>
            <a:cxnLst/>
            <a:rect l="l" t="t" r="r" b="b"/>
            <a:pathLst>
              <a:path w="1993264" h="0">
                <a:moveTo>
                  <a:pt x="0" y="0"/>
                </a:moveTo>
                <a:lnTo>
                  <a:pt x="1992803" y="0"/>
                </a:lnTo>
              </a:path>
            </a:pathLst>
          </a:custGeom>
          <a:ln w="287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800639" y="3829332"/>
            <a:ext cx="1974214" cy="0"/>
          </a:xfrm>
          <a:custGeom>
            <a:avLst/>
            <a:gdLst/>
            <a:ahLst/>
            <a:cxnLst/>
            <a:rect l="l" t="t" r="r" b="b"/>
            <a:pathLst>
              <a:path w="1974215" h="0">
                <a:moveTo>
                  <a:pt x="0" y="0"/>
                </a:moveTo>
                <a:lnTo>
                  <a:pt x="1973642" y="0"/>
                </a:lnTo>
              </a:path>
            </a:pathLst>
          </a:custGeom>
          <a:ln w="95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156341" y="4088422"/>
            <a:ext cx="1111885" cy="0"/>
          </a:xfrm>
          <a:custGeom>
            <a:avLst/>
            <a:gdLst/>
            <a:ahLst/>
            <a:cxnLst/>
            <a:rect l="l" t="t" r="r" b="b"/>
            <a:pathLst>
              <a:path w="1111885" h="0">
                <a:moveTo>
                  <a:pt x="0" y="0"/>
                </a:moveTo>
                <a:lnTo>
                  <a:pt x="1111371" y="0"/>
                </a:lnTo>
              </a:path>
            </a:pathLst>
          </a:custGeom>
          <a:ln w="19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225792" y="4539432"/>
            <a:ext cx="1188085" cy="0"/>
          </a:xfrm>
          <a:custGeom>
            <a:avLst/>
            <a:gdLst/>
            <a:ahLst/>
            <a:cxnLst/>
            <a:rect l="l" t="t" r="r" b="b"/>
            <a:pathLst>
              <a:path w="1188085" h="0">
                <a:moveTo>
                  <a:pt x="0" y="0"/>
                </a:moveTo>
                <a:lnTo>
                  <a:pt x="1188017" y="0"/>
                </a:lnTo>
              </a:path>
            </a:pathLst>
          </a:custGeom>
          <a:ln w="1919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58096" y="352494"/>
            <a:ext cx="783590" cy="3251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950" spc="10">
                <a:solidFill>
                  <a:srgbClr val="546433"/>
                </a:solidFill>
                <a:latin typeface="宋体"/>
                <a:cs typeface="宋体"/>
              </a:rPr>
              <a:t>岁</a:t>
            </a:r>
            <a:r>
              <a:rPr dirty="0" sz="1950" spc="-625">
                <a:solidFill>
                  <a:srgbClr val="546433"/>
                </a:solidFill>
                <a:latin typeface="宋体"/>
                <a:cs typeface="宋体"/>
              </a:rPr>
              <a:t> </a:t>
            </a:r>
            <a:r>
              <a:rPr dirty="0" sz="1400" spc="25">
                <a:solidFill>
                  <a:srgbClr val="9C9C9E"/>
                </a:solidFill>
                <a:latin typeface="Arial"/>
                <a:cs typeface="Arial"/>
              </a:rPr>
              <a:t>Login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21862" y="406869"/>
            <a:ext cx="242570" cy="2711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00" spc="105">
                <a:solidFill>
                  <a:srgbClr val="9C9C9E"/>
                </a:solidFill>
                <a:latin typeface="宋体"/>
                <a:cs typeface="宋体"/>
              </a:rPr>
              <a:t>口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39809" y="406869"/>
            <a:ext cx="182245" cy="2711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00" spc="75">
                <a:solidFill>
                  <a:srgbClr val="9C9C9E"/>
                </a:solidFill>
                <a:latin typeface="Times New Roman"/>
                <a:cs typeface="Times New Roman"/>
              </a:rPr>
              <a:t>X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81861" y="1324883"/>
            <a:ext cx="212725" cy="2870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700" spc="-605">
                <a:solidFill>
                  <a:srgbClr val="7E7E7E"/>
                </a:solidFill>
                <a:latin typeface="宋体"/>
                <a:cs typeface="宋体"/>
              </a:rPr>
              <a:t>．</a:t>
            </a:r>
            <a:r>
              <a:rPr dirty="0" sz="1500" spc="-375">
                <a:solidFill>
                  <a:srgbClr val="525254"/>
                </a:solidFill>
                <a:latin typeface="Times New Roman"/>
                <a:cs typeface="Times New Roman"/>
              </a:rPr>
              <a:t>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00287" y="1350473"/>
            <a:ext cx="188595" cy="4171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550" spc="-1270">
                <a:solidFill>
                  <a:srgbClr val="676267"/>
                </a:solidFill>
                <a:latin typeface="宋体"/>
                <a:cs typeface="宋体"/>
              </a:rPr>
              <a:t>习</a:t>
            </a:r>
            <a:endParaRPr sz="255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73827" y="2207711"/>
            <a:ext cx="495300" cy="2406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00" spc="-105">
                <a:solidFill>
                  <a:srgbClr val="525254"/>
                </a:solidFill>
                <a:latin typeface="Arial"/>
                <a:cs typeface="Arial"/>
              </a:rPr>
              <a:t>UserlD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33800" y="2221858"/>
            <a:ext cx="114935" cy="205104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45000"/>
              </a:lnSpc>
            </a:pPr>
            <a:r>
              <a:rPr dirty="0" sz="1400">
                <a:solidFill>
                  <a:srgbClr val="525254"/>
                </a:solidFill>
                <a:latin typeface="宋体"/>
                <a:cs typeface="宋体"/>
              </a:rPr>
              <a:t>1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60394" y="2044579"/>
            <a:ext cx="718820" cy="2406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00" spc="35">
                <a:solidFill>
                  <a:srgbClr val="1F3148"/>
                </a:solidFill>
                <a:latin typeface="Arial"/>
                <a:cs typeface="Arial"/>
              </a:rPr>
              <a:t>P</a:t>
            </a:r>
            <a:r>
              <a:rPr dirty="0" sz="1400" spc="35">
                <a:solidFill>
                  <a:srgbClr val="181A2B"/>
                </a:solidFill>
                <a:latin typeface="Arial"/>
                <a:cs typeface="Arial"/>
              </a:rPr>
              <a:t>r</a:t>
            </a:r>
            <a:r>
              <a:rPr dirty="0" sz="1400" spc="35">
                <a:solidFill>
                  <a:srgbClr val="362436"/>
                </a:solidFill>
                <a:latin typeface="Arial"/>
                <a:cs typeface="Arial"/>
              </a:rPr>
              <a:t>o</a:t>
            </a:r>
            <a:r>
              <a:rPr dirty="0" sz="1400" spc="35">
                <a:solidFill>
                  <a:srgbClr val="181A2B"/>
                </a:solidFill>
                <a:latin typeface="Arial"/>
                <a:cs typeface="Arial"/>
              </a:rPr>
              <a:t>je</a:t>
            </a:r>
            <a:r>
              <a:rPr dirty="0" sz="1400" spc="35">
                <a:solidFill>
                  <a:srgbClr val="362436"/>
                </a:solidFill>
                <a:latin typeface="Arial"/>
                <a:cs typeface="Arial"/>
              </a:rPr>
              <a:t>ct</a:t>
            </a:r>
            <a:r>
              <a:rPr dirty="0" sz="1400" spc="35">
                <a:solidFill>
                  <a:srgbClr val="181A2B"/>
                </a:solidFill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15258" y="2038182"/>
            <a:ext cx="187960" cy="2711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00" spc="120">
                <a:solidFill>
                  <a:srgbClr val="030505"/>
                </a:solidFill>
                <a:latin typeface="Times New Roman"/>
                <a:cs typeface="Times New Roman"/>
              </a:rPr>
              <a:t>X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10824" y="2610740"/>
            <a:ext cx="1473200" cy="2406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00" spc="25">
                <a:solidFill>
                  <a:srgbClr val="676267"/>
                </a:solidFill>
                <a:latin typeface="Arial"/>
                <a:cs typeface="Arial"/>
              </a:rPr>
              <a:t>Inva</a:t>
            </a:r>
            <a:r>
              <a:rPr dirty="0" sz="1400" spc="25">
                <a:solidFill>
                  <a:srgbClr val="894F7E"/>
                </a:solidFill>
                <a:latin typeface="Arial"/>
                <a:cs typeface="Arial"/>
              </a:rPr>
              <a:t>l</a:t>
            </a:r>
            <a:r>
              <a:rPr dirty="0" sz="1400" spc="25">
                <a:solidFill>
                  <a:srgbClr val="675485"/>
                </a:solidFill>
                <a:latin typeface="Arial"/>
                <a:cs typeface="Arial"/>
              </a:rPr>
              <a:t>i</a:t>
            </a:r>
            <a:r>
              <a:rPr dirty="0" sz="1400" spc="25">
                <a:solidFill>
                  <a:srgbClr val="525254"/>
                </a:solidFill>
                <a:latin typeface="Arial"/>
                <a:cs typeface="Arial"/>
              </a:rPr>
              <a:t>d</a:t>
            </a:r>
            <a:r>
              <a:rPr dirty="0" sz="1400" spc="80">
                <a:solidFill>
                  <a:srgbClr val="525254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76267"/>
                </a:solidFill>
                <a:latin typeface="Arial"/>
                <a:cs typeface="Arial"/>
              </a:rPr>
              <a:t>UserType.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74185" y="3013771"/>
            <a:ext cx="692150" cy="2406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00" spc="-120">
                <a:solidFill>
                  <a:srgbClr val="525254"/>
                </a:solidFill>
                <a:latin typeface="Arial"/>
                <a:cs typeface="Arial"/>
              </a:rPr>
              <a:t>Password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11230" y="3068147"/>
            <a:ext cx="350520" cy="2559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0" spc="-300">
                <a:solidFill>
                  <a:srgbClr val="7E7E7E"/>
                </a:solidFill>
                <a:latin typeface="Times New Roman"/>
                <a:cs typeface="Times New Roman"/>
              </a:rPr>
              <a:t>1</a:t>
            </a:r>
            <a:r>
              <a:rPr dirty="0" sz="1500" spc="-50">
                <a:solidFill>
                  <a:srgbClr val="525254"/>
                </a:solidFill>
                <a:latin typeface="Times New Roman"/>
                <a:cs typeface="Times New Roman"/>
              </a:rPr>
              <a:t>123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106449" y="2937003"/>
            <a:ext cx="637540" cy="8166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150" spc="-335">
                <a:solidFill>
                  <a:srgbClr val="7E7E7E"/>
                </a:solidFill>
                <a:latin typeface="宋体"/>
                <a:cs typeface="宋体"/>
              </a:rPr>
              <a:t>二</a:t>
            </a:r>
            <a:endParaRPr sz="5150">
              <a:latin typeface="宋体"/>
              <a:cs typeface="宋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32978" y="3752658"/>
            <a:ext cx="891540" cy="7931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684530" algn="l"/>
              </a:tabLst>
            </a:pPr>
            <a:r>
              <a:rPr dirty="0" sz="1400" spc="-65">
                <a:solidFill>
                  <a:srgbClr val="525254"/>
                </a:solidFill>
                <a:latin typeface="Arial"/>
                <a:cs typeface="Arial"/>
              </a:rPr>
              <a:t>Logi</a:t>
            </a:r>
            <a:r>
              <a:rPr dirty="0" sz="1400" spc="-70">
                <a:solidFill>
                  <a:srgbClr val="525254"/>
                </a:solidFill>
                <a:latin typeface="Arial"/>
                <a:cs typeface="Arial"/>
              </a:rPr>
              <a:t>n</a:t>
            </a:r>
            <a:r>
              <a:rPr dirty="0" sz="1400">
                <a:solidFill>
                  <a:srgbClr val="525254"/>
                </a:solidFill>
                <a:latin typeface="Arial"/>
                <a:cs typeface="Arial"/>
              </a:rPr>
              <a:t>	</a:t>
            </a:r>
            <a:r>
              <a:rPr dirty="0" sz="5000" spc="130">
                <a:solidFill>
                  <a:srgbClr val="7E7E7E"/>
                </a:solidFill>
                <a:latin typeface="Arial"/>
                <a:cs typeface="Arial"/>
              </a:rPr>
              <a:t>I</a:t>
            </a:r>
            <a:endParaRPr sz="5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15128" y="4174881"/>
            <a:ext cx="584835" cy="2406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400" spc="-110">
                <a:solidFill>
                  <a:srgbClr val="525254"/>
                </a:solidFill>
                <a:latin typeface="Arial"/>
                <a:cs typeface="Arial"/>
              </a:rPr>
              <a:t>Register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9100" y="333372"/>
            <a:ext cx="13722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2.</a:t>
            </a:r>
            <a:r>
              <a:rPr dirty="0" sz="1200" b="1">
                <a:latin typeface="微软雅黑"/>
                <a:cs typeface="微软雅黑"/>
              </a:rPr>
              <a:t>用户或者密码错误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31800" y="688972"/>
            <a:ext cx="6505575" cy="51149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9100" y="333373"/>
            <a:ext cx="9150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Arial"/>
                <a:cs typeface="Arial"/>
              </a:rPr>
              <a:t>3.</a:t>
            </a:r>
            <a:r>
              <a:rPr dirty="0" sz="1200" b="1">
                <a:latin typeface="微软雅黑"/>
                <a:cs typeface="微软雅黑"/>
              </a:rPr>
              <a:t>有项目空着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31800" y="688979"/>
            <a:ext cx="6505575" cy="51149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89000" y="67278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89000" y="69659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4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40"/>
                </a:lnTo>
                <a:lnTo>
                  <a:pt x="47625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89000" y="72135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89000" y="76993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4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40"/>
                </a:lnTo>
                <a:lnTo>
                  <a:pt x="47625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89000" y="794702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6"/>
                </a:lnTo>
                <a:lnTo>
                  <a:pt x="0" y="2064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40"/>
                </a:lnTo>
                <a:lnTo>
                  <a:pt x="47625" y="26956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89000" y="84327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02"/>
                </a:lnTo>
                <a:lnTo>
                  <a:pt x="0" y="26956"/>
                </a:lnTo>
                <a:lnTo>
                  <a:pt x="0" y="2064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40"/>
                </a:lnTo>
                <a:lnTo>
                  <a:pt x="47625" y="2695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89000" y="86804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02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19100" y="5972173"/>
            <a:ext cx="4140200" cy="28181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latin typeface="微软雅黑"/>
                <a:cs typeface="微软雅黑"/>
              </a:rPr>
              <a:t>示例登录流程图</a:t>
            </a:r>
            <a:endParaRPr sz="15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1425"/>
              </a:spcBef>
              <a:buClr>
                <a:srgbClr val="333333"/>
              </a:buClr>
              <a:buFont typeface="Arial"/>
              <a:buAutoNum type="arabicPeriod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登录界面</a:t>
            </a:r>
            <a:endParaRPr sz="1200">
              <a:latin typeface="微软雅黑"/>
              <a:cs typeface="微软雅黑"/>
            </a:endParaRPr>
          </a:p>
          <a:p>
            <a:pPr marL="622300" marR="410845">
              <a:lnSpc>
                <a:spcPct val="130200"/>
              </a:lnSpc>
              <a:spcBef>
                <a:spcPts val="75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用户选择用户类型（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Consumer</a:t>
            </a:r>
            <a:r>
              <a:rPr dirty="0" sz="1200" spc="-5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或</a:t>
            </a:r>
            <a:r>
              <a:rPr dirty="0" sz="1200" spc="-75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Merchant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）  用户输入用户</a:t>
            </a:r>
            <a:r>
              <a:rPr dirty="0" sz="1200" spc="-30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和密码</a:t>
            </a:r>
            <a:endParaRPr sz="1200">
              <a:latin typeface="微软雅黑"/>
              <a:cs typeface="微软雅黑"/>
            </a:endParaRPr>
          </a:p>
          <a:p>
            <a:pPr marL="622300">
              <a:lnSpc>
                <a:spcPct val="100000"/>
              </a:lnSpc>
              <a:spcBef>
                <a:spcPts val="509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用户点击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登录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</a:t>
            </a:r>
            <a:endParaRPr sz="12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509"/>
              </a:spcBef>
              <a:buClr>
                <a:srgbClr val="333333"/>
              </a:buClr>
              <a:buFont typeface="Arial"/>
              <a:buAutoNum type="arabicPeriod" startAt="2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验证输入</a:t>
            </a:r>
            <a:endParaRPr sz="1200">
              <a:latin typeface="微软雅黑"/>
              <a:cs typeface="微软雅黑"/>
            </a:endParaRPr>
          </a:p>
          <a:p>
            <a:pPr marL="622300">
              <a:lnSpc>
                <a:spcPct val="100000"/>
              </a:lnSpc>
              <a:spcBef>
                <a:spcPts val="434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系统检查用户输入的凭据是否有效</a:t>
            </a:r>
            <a:endParaRPr sz="1200">
              <a:latin typeface="微软雅黑"/>
              <a:cs typeface="微软雅黑"/>
            </a:endParaRPr>
          </a:p>
          <a:p>
            <a:pPr marL="622300">
              <a:lnSpc>
                <a:spcPct val="100000"/>
              </a:lnSpc>
              <a:spcBef>
                <a:spcPts val="509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如果凭据有效，系统允许用户登录；否则，登录失败</a:t>
            </a:r>
            <a:endParaRPr sz="12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434"/>
              </a:spcBef>
              <a:buClr>
                <a:srgbClr val="333333"/>
              </a:buClr>
              <a:buFont typeface="Arial"/>
              <a:buAutoNum type="arabicPeriod" startAt="3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导航用户</a:t>
            </a:r>
            <a:endParaRPr sz="1200">
              <a:latin typeface="微软雅黑"/>
              <a:cs typeface="微软雅黑"/>
            </a:endParaRPr>
          </a:p>
          <a:p>
            <a:pPr marL="622300" marR="462280">
              <a:lnSpc>
                <a:spcPct val="135400"/>
              </a:lnSpc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登录成功：系统导航用户到相应的用户界面 登录失败：系统显示错误消息并要求用户重试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1800" y="355604"/>
            <a:ext cx="6505575" cy="51149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19100" y="5638799"/>
            <a:ext cx="6883400" cy="24276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latin typeface="微软雅黑"/>
                <a:cs typeface="微软雅黑"/>
              </a:rPr>
              <a:t>用户登录功能总结</a:t>
            </a:r>
            <a:endParaRPr sz="1500">
              <a:latin typeface="微软雅黑"/>
              <a:cs typeface="微软雅黑"/>
            </a:endParaRPr>
          </a:p>
          <a:p>
            <a:pPr marL="12700" marR="5080">
              <a:lnSpc>
                <a:spcPct val="135400"/>
              </a:lnSpc>
              <a:spcBef>
                <a:spcPts val="915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用户登录功能是用户进入应用程序的门户，通过详细的输入验证和导航用户到正确的界面，确保用户能 够顺利地访问其所需的功能，并提高系统的安全性和用户体验。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latin typeface="微软雅黑"/>
                <a:cs typeface="微软雅黑"/>
              </a:rPr>
              <a:t>消费者功能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dirty="0" sz="1500" b="1">
                <a:latin typeface="微软雅黑"/>
                <a:cs typeface="微软雅黑"/>
              </a:rPr>
              <a:t>欢迎用户</a:t>
            </a:r>
            <a:endParaRPr sz="15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当登陆成功进入消费者界面后，首页上会有大字欢迎消费者，而且包括了消费者的名称。当消费者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为</a:t>
            </a:r>
            <a:endParaRPr sz="1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1200" b="1">
                <a:latin typeface="Arial"/>
                <a:cs typeface="Arial"/>
              </a:rPr>
              <a:t>123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的时候，会显示</a:t>
            </a:r>
            <a:r>
              <a:rPr dirty="0" sz="1200" b="1">
                <a:latin typeface="Arial"/>
                <a:cs typeface="Arial"/>
              </a:rPr>
              <a:t>Hello</a:t>
            </a:r>
            <a:r>
              <a:rPr dirty="0" sz="1200" b="1">
                <a:latin typeface="微软雅黑"/>
                <a:cs typeface="微软雅黑"/>
              </a:rPr>
              <a:t>，</a:t>
            </a:r>
            <a:r>
              <a:rPr dirty="0" sz="1200" b="1">
                <a:latin typeface="Arial"/>
                <a:cs typeface="Arial"/>
              </a:rPr>
              <a:t>consumer123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。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1800" y="384178"/>
            <a:ext cx="4495800" cy="14763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4200" y="25368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4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40"/>
                </a:lnTo>
                <a:lnTo>
                  <a:pt x="47625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19100" y="2028825"/>
            <a:ext cx="2717800" cy="617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latin typeface="微软雅黑"/>
                <a:cs typeface="微软雅黑"/>
              </a:rPr>
              <a:t>查看产品</a:t>
            </a:r>
            <a:endParaRPr sz="1500">
              <a:latin typeface="微软雅黑"/>
              <a:cs typeface="微软雅黑"/>
            </a:endParaRPr>
          </a:p>
          <a:p>
            <a:pPr marL="317500">
              <a:lnSpc>
                <a:spcPct val="100000"/>
              </a:lnSpc>
              <a:spcBef>
                <a:spcPts val="1425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登录成功后，点击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查看产品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按钮。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31800" y="2832103"/>
            <a:ext cx="4581525" cy="5524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4200" y="364172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4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40"/>
                </a:lnTo>
                <a:lnTo>
                  <a:pt x="47625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23900" y="3543299"/>
            <a:ext cx="2921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查询并显示所有产品及其对应的商家信息。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31800" y="3927478"/>
            <a:ext cx="6915150" cy="47053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19100" y="8801100"/>
            <a:ext cx="6816090" cy="855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latin typeface="微软雅黑"/>
                <a:cs typeface="微软雅黑"/>
              </a:rPr>
              <a:t>添加地址</a:t>
            </a:r>
            <a:endParaRPr sz="1500">
              <a:latin typeface="微软雅黑"/>
              <a:cs typeface="微软雅黑"/>
            </a:endParaRPr>
          </a:p>
          <a:p>
            <a:pPr marL="12700" marR="5080">
              <a:lnSpc>
                <a:spcPct val="130200"/>
              </a:lnSpc>
              <a:spcBef>
                <a:spcPts val="990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在你的应用程序中，用户可以添加新的地址信息。添加地址的过程包括输入地址</a:t>
            </a:r>
            <a:r>
              <a:rPr dirty="0" sz="1200" spc="-75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 spc="-5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和详细地址，然后 点击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添加地址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按钮将新地址保存到数据库中。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9100" y="333375"/>
            <a:ext cx="2159000" cy="1427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微软雅黑"/>
                <a:cs typeface="微软雅黑"/>
              </a:rPr>
              <a:t>添加地址详细步骤</a:t>
            </a:r>
            <a:endParaRPr sz="12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1410"/>
              </a:spcBef>
              <a:buClr>
                <a:srgbClr val="333333"/>
              </a:buClr>
              <a:buFont typeface="Arial"/>
              <a:buAutoNum type="arabicPeriod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输入地址</a:t>
            </a:r>
            <a:r>
              <a:rPr dirty="0" sz="1200" spc="-40" b="1">
                <a:latin typeface="微软雅黑"/>
                <a:cs typeface="微软雅黑"/>
              </a:rPr>
              <a:t> </a:t>
            </a:r>
            <a:r>
              <a:rPr dirty="0" sz="1200" b="1">
                <a:latin typeface="Arial"/>
                <a:cs typeface="Arial"/>
              </a:rPr>
              <a:t>ID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微软雅黑"/>
                <a:cs typeface="微软雅黑"/>
              </a:rPr>
              <a:t>和详细地址</a:t>
            </a:r>
            <a:endParaRPr sz="12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509"/>
              </a:spcBef>
              <a:buClr>
                <a:srgbClr val="333333"/>
              </a:buClr>
              <a:buFont typeface="Arial"/>
              <a:buAutoNum type="arabicPeriod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点击</a:t>
            </a:r>
            <a:r>
              <a:rPr dirty="0" sz="1200" b="1">
                <a:latin typeface="Arial"/>
                <a:cs typeface="Arial"/>
              </a:rPr>
              <a:t>“</a:t>
            </a:r>
            <a:r>
              <a:rPr dirty="0" sz="1200" b="1">
                <a:latin typeface="微软雅黑"/>
                <a:cs typeface="微软雅黑"/>
              </a:rPr>
              <a:t>添加地址</a:t>
            </a:r>
            <a:r>
              <a:rPr dirty="0" sz="1200" b="1">
                <a:latin typeface="Arial"/>
                <a:cs typeface="Arial"/>
              </a:rPr>
              <a:t>”</a:t>
            </a:r>
            <a:r>
              <a:rPr dirty="0" sz="1200" b="1">
                <a:latin typeface="微软雅黑"/>
                <a:cs typeface="微软雅黑"/>
              </a:rPr>
              <a:t>按钮</a:t>
            </a:r>
            <a:endParaRPr sz="12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434"/>
              </a:spcBef>
              <a:buClr>
                <a:srgbClr val="333333"/>
              </a:buClr>
              <a:buFont typeface="Arial"/>
              <a:buAutoNum type="arabicPeriod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将新地址添加到数据库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微软雅黑"/>
                <a:cs typeface="微软雅黑"/>
              </a:rPr>
              <a:t>添加地址界面的功能与详细描述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31800" y="1908178"/>
            <a:ext cx="4810125" cy="14192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4200" y="391795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02"/>
                </a:lnTo>
                <a:lnTo>
                  <a:pt x="0" y="26966"/>
                </a:lnTo>
                <a:lnTo>
                  <a:pt x="0" y="2064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40"/>
                </a:lnTo>
                <a:lnTo>
                  <a:pt x="47625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4200" y="416560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56"/>
                </a:lnTo>
                <a:lnTo>
                  <a:pt x="0" y="2064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40"/>
                </a:lnTo>
                <a:lnTo>
                  <a:pt x="47625" y="2695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4200" y="441325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5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5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84200" y="513715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5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5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84200" y="538480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02"/>
                </a:lnTo>
                <a:lnTo>
                  <a:pt x="0" y="26966"/>
                </a:lnTo>
                <a:lnTo>
                  <a:pt x="0" y="2064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40"/>
                </a:lnTo>
                <a:lnTo>
                  <a:pt x="47625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84200" y="611822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19100" y="3457575"/>
            <a:ext cx="6273800" cy="2770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indent="-169545">
              <a:lnSpc>
                <a:spcPct val="100000"/>
              </a:lnSpc>
              <a:spcBef>
                <a:spcPts val="100"/>
              </a:spcBef>
              <a:buFont typeface="Arial"/>
              <a:buAutoNum type="arabicPeriod"/>
              <a:tabLst>
                <a:tab pos="182245" algn="l"/>
              </a:tabLst>
            </a:pPr>
            <a:r>
              <a:rPr dirty="0" sz="1200" b="1">
                <a:latin typeface="微软雅黑"/>
                <a:cs typeface="微软雅黑"/>
              </a:rPr>
              <a:t>输入地址</a:t>
            </a:r>
            <a:r>
              <a:rPr dirty="0" sz="1200" spc="-30" b="1">
                <a:latin typeface="微软雅黑"/>
                <a:cs typeface="微软雅黑"/>
              </a:rPr>
              <a:t> </a:t>
            </a:r>
            <a:r>
              <a:rPr dirty="0" sz="1200" b="1">
                <a:latin typeface="Arial"/>
                <a:cs typeface="Arial"/>
              </a:rPr>
              <a:t>ID </a:t>
            </a:r>
            <a:r>
              <a:rPr dirty="0" sz="1200" b="1">
                <a:latin typeface="微软雅黑"/>
                <a:cs typeface="微软雅黑"/>
              </a:rPr>
              <a:t>和详细地址</a:t>
            </a:r>
            <a:endParaRPr sz="1200">
              <a:latin typeface="微软雅黑"/>
              <a:cs typeface="微软雅黑"/>
            </a:endParaRPr>
          </a:p>
          <a:p>
            <a:pPr marL="317500">
              <a:lnSpc>
                <a:spcPct val="100000"/>
              </a:lnSpc>
              <a:spcBef>
                <a:spcPts val="1410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用户在添加地址界面输入新地址的地址</a:t>
            </a:r>
            <a:r>
              <a:rPr dirty="0" sz="1200" spc="-30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和详细地址。</a:t>
            </a:r>
            <a:endParaRPr sz="1200">
              <a:latin typeface="微软雅黑"/>
              <a:cs typeface="微软雅黑"/>
            </a:endParaRPr>
          </a:p>
          <a:p>
            <a:pPr marL="317500" marR="1748789">
              <a:lnSpc>
                <a:spcPct val="135400"/>
              </a:lnSpc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地址</a:t>
            </a:r>
            <a:r>
              <a:rPr dirty="0" sz="1200" spc="-75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 spc="-5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通常是一个唯一的标识符，用于在数据库中标识地址。 详细地址包括用户的具体位置信息，如街道名称、门牌号等。</a:t>
            </a:r>
            <a:endParaRPr sz="1200">
              <a:latin typeface="微软雅黑"/>
              <a:cs typeface="微软雅黑"/>
            </a:endParaRPr>
          </a:p>
          <a:p>
            <a:pPr marL="181610" indent="-169545">
              <a:lnSpc>
                <a:spcPct val="100000"/>
              </a:lnSpc>
              <a:spcBef>
                <a:spcPts val="1410"/>
              </a:spcBef>
              <a:buFont typeface="Arial"/>
              <a:buAutoNum type="arabicPeriod" startAt="2"/>
              <a:tabLst>
                <a:tab pos="182245" algn="l"/>
              </a:tabLst>
            </a:pPr>
            <a:r>
              <a:rPr dirty="0" sz="1200" b="1">
                <a:latin typeface="微软雅黑"/>
                <a:cs typeface="微软雅黑"/>
              </a:rPr>
              <a:t>点击</a:t>
            </a:r>
            <a:r>
              <a:rPr dirty="0" sz="1200" b="1">
                <a:latin typeface="Arial"/>
                <a:cs typeface="Arial"/>
              </a:rPr>
              <a:t>“</a:t>
            </a:r>
            <a:r>
              <a:rPr dirty="0" sz="1200" b="1">
                <a:latin typeface="微软雅黑"/>
                <a:cs typeface="微软雅黑"/>
              </a:rPr>
              <a:t>添加地址</a:t>
            </a:r>
            <a:r>
              <a:rPr dirty="0" sz="1200" b="1">
                <a:latin typeface="Arial"/>
                <a:cs typeface="Arial"/>
              </a:rPr>
              <a:t>”</a:t>
            </a:r>
            <a:r>
              <a:rPr dirty="0" sz="1200" b="1">
                <a:latin typeface="微软雅黑"/>
                <a:cs typeface="微软雅黑"/>
              </a:rPr>
              <a:t>按钮</a:t>
            </a:r>
            <a:endParaRPr sz="1200">
              <a:latin typeface="微软雅黑"/>
              <a:cs typeface="微软雅黑"/>
            </a:endParaRPr>
          </a:p>
          <a:p>
            <a:pPr marL="317500">
              <a:lnSpc>
                <a:spcPct val="100000"/>
              </a:lnSpc>
              <a:spcBef>
                <a:spcPts val="1410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用户在输入完地址信息后，点击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添加地址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按钮以提交新地址的添加请求。</a:t>
            </a:r>
            <a:endParaRPr sz="1200">
              <a:latin typeface="微软雅黑"/>
              <a:cs typeface="微软雅黑"/>
            </a:endParaRPr>
          </a:p>
          <a:p>
            <a:pPr marL="317500">
              <a:lnSpc>
                <a:spcPct val="100000"/>
              </a:lnSpc>
              <a:spcBef>
                <a:spcPts val="509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系统会将用户输入的地址信息保存到数据库中，并反馈给用户添加地址是否成功的消息。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微软雅黑"/>
                <a:cs typeface="微软雅黑"/>
              </a:rPr>
              <a:t>添加地址合法性检测</a:t>
            </a:r>
            <a:endParaRPr sz="1200">
              <a:latin typeface="微软雅黑"/>
              <a:cs typeface="微软雅黑"/>
            </a:endParaRPr>
          </a:p>
          <a:p>
            <a:pPr lvl="1" marL="622300" indent="-118745">
              <a:lnSpc>
                <a:spcPct val="100000"/>
              </a:lnSpc>
              <a:spcBef>
                <a:spcPts val="1410"/>
              </a:spcBef>
              <a:buFont typeface="Arial"/>
              <a:buAutoNum type="romanLcPeriod"/>
              <a:tabLst>
                <a:tab pos="622300" algn="l"/>
              </a:tabLst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当地址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已经存在时，会返回</a:t>
            </a:r>
            <a:r>
              <a:rPr dirty="0" sz="1200" b="1">
                <a:latin typeface="Arial"/>
                <a:cs typeface="Arial"/>
              </a:rPr>
              <a:t>Address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ID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Already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Exists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。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1800" y="355603"/>
            <a:ext cx="6915150" cy="47053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4200" y="531812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56"/>
                </a:lnTo>
                <a:lnTo>
                  <a:pt x="0" y="2064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40"/>
                </a:lnTo>
                <a:lnTo>
                  <a:pt x="47625" y="2695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76300" y="5219700"/>
            <a:ext cx="33305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ii.</a:t>
            </a:r>
            <a:r>
              <a:rPr dirty="0" sz="1200" spc="-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当地址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非法时，会返回</a:t>
            </a:r>
            <a:r>
              <a:rPr dirty="0" sz="1200" b="1">
                <a:latin typeface="Arial"/>
                <a:cs typeface="Arial"/>
              </a:rPr>
              <a:t>Invalid</a:t>
            </a:r>
            <a:r>
              <a:rPr dirty="0" sz="1200" spc="-7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Address</a:t>
            </a:r>
            <a:r>
              <a:rPr dirty="0" sz="1200" spc="-3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。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1800" y="355603"/>
            <a:ext cx="6915150" cy="47053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89000" y="588962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66"/>
                </a:lnTo>
                <a:lnTo>
                  <a:pt x="0" y="2064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40"/>
                </a:lnTo>
                <a:lnTo>
                  <a:pt x="47625" y="2696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89000" y="613727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56"/>
                </a:lnTo>
                <a:lnTo>
                  <a:pt x="0" y="2064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40"/>
                </a:lnTo>
                <a:lnTo>
                  <a:pt x="47625" y="2695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89000" y="662305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15"/>
                </a:moveTo>
                <a:lnTo>
                  <a:pt x="20654" y="47615"/>
                </a:lnTo>
                <a:lnTo>
                  <a:pt x="17617" y="47010"/>
                </a:lnTo>
                <a:lnTo>
                  <a:pt x="0" y="2695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56"/>
                </a:lnTo>
                <a:lnTo>
                  <a:pt x="26970" y="4761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89000" y="687070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56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89000" y="735647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6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56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19100" y="5191126"/>
            <a:ext cx="4135754" cy="22752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微软雅黑"/>
                <a:cs typeface="微软雅黑"/>
              </a:rPr>
              <a:t>示例添加地址流程图</a:t>
            </a:r>
            <a:endParaRPr sz="12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1410"/>
              </a:spcBef>
              <a:buClr>
                <a:srgbClr val="333333"/>
              </a:buClr>
              <a:buFont typeface="Arial"/>
              <a:buAutoNum type="arabicPeriod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添加地址界面</a:t>
            </a:r>
            <a:endParaRPr sz="1200">
              <a:latin typeface="微软雅黑"/>
              <a:cs typeface="微软雅黑"/>
            </a:endParaRPr>
          </a:p>
          <a:p>
            <a:pPr marL="622300" marR="1591310">
              <a:lnSpc>
                <a:spcPts val="1950"/>
              </a:lnSpc>
              <a:spcBef>
                <a:spcPts val="75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用户输入地址</a:t>
            </a:r>
            <a:r>
              <a:rPr dirty="0" sz="1200" spc="-75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 spc="-5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和详细地址 用户点击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添加地址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</a:t>
            </a:r>
            <a:endParaRPr sz="12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360"/>
              </a:spcBef>
              <a:buClr>
                <a:srgbClr val="333333"/>
              </a:buClr>
              <a:buFont typeface="Arial"/>
              <a:buAutoNum type="arabicPeriod" startAt="2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保存地址到数据库</a:t>
            </a:r>
            <a:endParaRPr sz="1200">
              <a:latin typeface="微软雅黑"/>
              <a:cs typeface="微软雅黑"/>
            </a:endParaRPr>
          </a:p>
          <a:p>
            <a:pPr marL="622300" marR="609600">
              <a:lnSpc>
                <a:spcPts val="1950"/>
              </a:lnSpc>
              <a:spcBef>
                <a:spcPts val="75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系统将用户输入的地址信息保存到数据库中 系统显示添加地址成功或失败的消息给用户</a:t>
            </a:r>
            <a:endParaRPr sz="12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285"/>
              </a:spcBef>
              <a:buClr>
                <a:srgbClr val="333333"/>
              </a:buClr>
              <a:buFont typeface="Arial"/>
              <a:buAutoNum type="arabicPeriod" startAt="3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添加地址成功</a:t>
            </a:r>
            <a:endParaRPr sz="1200">
              <a:latin typeface="微软雅黑"/>
              <a:cs typeface="微软雅黑"/>
            </a:endParaRPr>
          </a:p>
          <a:p>
            <a:pPr marL="622300">
              <a:lnSpc>
                <a:spcPct val="100000"/>
              </a:lnSpc>
              <a:spcBef>
                <a:spcPts val="509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添加地址成功后，会显示</a:t>
            </a:r>
            <a:r>
              <a:rPr dirty="0" sz="1200" b="1">
                <a:latin typeface="Arial"/>
                <a:cs typeface="Arial"/>
              </a:rPr>
              <a:t>Add</a:t>
            </a:r>
            <a:r>
              <a:rPr dirty="0" sz="1200" spc="-8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Adress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Successfully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1800" y="355603"/>
            <a:ext cx="6915150" cy="47053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19100" y="5191127"/>
            <a:ext cx="6883400" cy="1875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微软雅黑"/>
                <a:cs typeface="微软雅黑"/>
              </a:rPr>
              <a:t>添加地址功能总结</a:t>
            </a:r>
            <a:endParaRPr sz="1200">
              <a:latin typeface="微软雅黑"/>
              <a:cs typeface="微软雅黑"/>
            </a:endParaRPr>
          </a:p>
          <a:p>
            <a:pPr marL="12700" marR="5080">
              <a:lnSpc>
                <a:spcPct val="130200"/>
              </a:lnSpc>
              <a:spcBef>
                <a:spcPts val="975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添加地址功能为用户提供了方便快捷地添加新地址的方式，通过详细的输入验证和反馈用户地址添加结 果，确保用户能够顺利地管理其地址信息。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500" b="1">
                <a:latin typeface="微软雅黑"/>
                <a:cs typeface="微软雅黑"/>
              </a:rPr>
              <a:t>购买产品</a:t>
            </a:r>
            <a:endParaRPr sz="1500">
              <a:latin typeface="微软雅黑"/>
              <a:cs typeface="微软雅黑"/>
            </a:endParaRPr>
          </a:p>
          <a:p>
            <a:pPr marL="12700" marR="29845">
              <a:lnSpc>
                <a:spcPct val="135400"/>
              </a:lnSpc>
              <a:spcBef>
                <a:spcPts val="915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在你的应用程序中，用户可以购买产品并生成订单。购买产品的过程包括输入订单</a:t>
            </a:r>
            <a:r>
              <a:rPr dirty="0" sz="1200" spc="-60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、产品</a:t>
            </a:r>
            <a:r>
              <a:rPr dirty="0" sz="1200" spc="-55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 spc="-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和购买 数量，然后点击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购买产品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按钮生成订单。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9100" y="333377"/>
            <a:ext cx="1244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微软雅黑"/>
                <a:cs typeface="微软雅黑"/>
              </a:rPr>
              <a:t>购买产品详细步骤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31800" y="688978"/>
            <a:ext cx="4791075" cy="213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54384" y="2916557"/>
            <a:ext cx="2455545" cy="520700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181610" indent="-169545">
              <a:lnSpc>
                <a:spcPct val="100000"/>
              </a:lnSpc>
              <a:spcBef>
                <a:spcPts val="610"/>
              </a:spcBef>
              <a:buClr>
                <a:srgbClr val="333333"/>
              </a:buClr>
              <a:buFont typeface="Arial"/>
              <a:buAutoNum type="arabicPeriod"/>
              <a:tabLst>
                <a:tab pos="182245" algn="l"/>
              </a:tabLst>
            </a:pPr>
            <a:r>
              <a:rPr dirty="0" sz="1200" b="1">
                <a:latin typeface="微软雅黑"/>
                <a:cs typeface="微软雅黑"/>
              </a:rPr>
              <a:t>输入订单</a:t>
            </a:r>
            <a:r>
              <a:rPr dirty="0" sz="1200" spc="-60" b="1">
                <a:latin typeface="微软雅黑"/>
                <a:cs typeface="微软雅黑"/>
              </a:rPr>
              <a:t> </a:t>
            </a:r>
            <a:r>
              <a:rPr dirty="0" sz="1200" b="1">
                <a:latin typeface="Arial"/>
                <a:cs typeface="Arial"/>
              </a:rPr>
              <a:t>ID</a:t>
            </a:r>
            <a:r>
              <a:rPr dirty="0" sz="1200" b="1">
                <a:latin typeface="微软雅黑"/>
                <a:cs typeface="微软雅黑"/>
              </a:rPr>
              <a:t>、产品</a:t>
            </a:r>
            <a:r>
              <a:rPr dirty="0" sz="1200" spc="-55" b="1">
                <a:latin typeface="微软雅黑"/>
                <a:cs typeface="微软雅黑"/>
              </a:rPr>
              <a:t> </a:t>
            </a:r>
            <a:r>
              <a:rPr dirty="0" sz="1200" b="1">
                <a:latin typeface="Arial"/>
                <a:cs typeface="Arial"/>
              </a:rPr>
              <a:t>ID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微软雅黑"/>
                <a:cs typeface="微软雅黑"/>
              </a:rPr>
              <a:t>和购买数量</a:t>
            </a:r>
            <a:endParaRPr sz="1200">
              <a:latin typeface="微软雅黑"/>
              <a:cs typeface="微软雅黑"/>
            </a:endParaRPr>
          </a:p>
          <a:p>
            <a:pPr marL="181610" indent="-169545">
              <a:lnSpc>
                <a:spcPct val="100000"/>
              </a:lnSpc>
              <a:spcBef>
                <a:spcPts val="509"/>
              </a:spcBef>
              <a:buClr>
                <a:srgbClr val="333333"/>
              </a:buClr>
              <a:buFont typeface="Arial"/>
              <a:buAutoNum type="arabicPeriod"/>
              <a:tabLst>
                <a:tab pos="182245" algn="l"/>
              </a:tabLst>
            </a:pPr>
            <a:r>
              <a:rPr dirty="0" sz="1200" b="1">
                <a:latin typeface="微软雅黑"/>
                <a:cs typeface="微软雅黑"/>
              </a:rPr>
              <a:t>选择地址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36600" y="3460753"/>
            <a:ext cx="2257425" cy="1066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4200" y="594677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84200" y="619442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84200" y="643255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84200" y="668020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84200" y="741362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84200" y="765175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19100" y="4469132"/>
            <a:ext cx="5969000" cy="4025900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317500" indent="-169545">
              <a:lnSpc>
                <a:spcPct val="100000"/>
              </a:lnSpc>
              <a:spcBef>
                <a:spcPts val="610"/>
              </a:spcBef>
              <a:buClr>
                <a:srgbClr val="333333"/>
              </a:buClr>
              <a:buFont typeface="Arial"/>
              <a:buAutoNum type="arabicPeriod" startAt="3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点击</a:t>
            </a:r>
            <a:r>
              <a:rPr dirty="0" sz="1200" b="1">
                <a:latin typeface="Arial"/>
                <a:cs typeface="Arial"/>
              </a:rPr>
              <a:t>“</a:t>
            </a:r>
            <a:r>
              <a:rPr dirty="0" sz="1200" b="1">
                <a:latin typeface="微软雅黑"/>
                <a:cs typeface="微软雅黑"/>
              </a:rPr>
              <a:t>购买产品</a:t>
            </a:r>
            <a:r>
              <a:rPr dirty="0" sz="1200" b="1">
                <a:latin typeface="Arial"/>
                <a:cs typeface="Arial"/>
              </a:rPr>
              <a:t>”</a:t>
            </a:r>
            <a:r>
              <a:rPr dirty="0" sz="1200" b="1">
                <a:latin typeface="微软雅黑"/>
                <a:cs typeface="微软雅黑"/>
              </a:rPr>
              <a:t>按钮</a:t>
            </a:r>
            <a:endParaRPr sz="12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509"/>
              </a:spcBef>
              <a:buClr>
                <a:srgbClr val="333333"/>
              </a:buClr>
              <a:buFont typeface="Arial"/>
              <a:buAutoNum type="arabicPeriod" startAt="3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生成订单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微软雅黑"/>
                <a:cs typeface="微软雅黑"/>
              </a:rPr>
              <a:t>购买产品界面的功能与详细描述</a:t>
            </a:r>
            <a:endParaRPr sz="1200">
              <a:latin typeface="微软雅黑"/>
              <a:cs typeface="微软雅黑"/>
            </a:endParaRPr>
          </a:p>
          <a:p>
            <a:pPr marL="181610" indent="-169545">
              <a:lnSpc>
                <a:spcPct val="100000"/>
              </a:lnSpc>
              <a:spcBef>
                <a:spcPts val="1185"/>
              </a:spcBef>
              <a:buFont typeface="Arial"/>
              <a:buAutoNum type="arabicPeriod"/>
              <a:tabLst>
                <a:tab pos="182245" algn="l"/>
              </a:tabLst>
            </a:pPr>
            <a:r>
              <a:rPr dirty="0" sz="1200" b="1">
                <a:latin typeface="微软雅黑"/>
                <a:cs typeface="微软雅黑"/>
              </a:rPr>
              <a:t>输入订单</a:t>
            </a:r>
            <a:r>
              <a:rPr dirty="0" sz="1200" spc="-30" b="1">
                <a:latin typeface="微软雅黑"/>
                <a:cs typeface="微软雅黑"/>
              </a:rPr>
              <a:t> </a:t>
            </a:r>
            <a:r>
              <a:rPr dirty="0" sz="1200" b="1">
                <a:latin typeface="Arial"/>
                <a:cs typeface="Arial"/>
              </a:rPr>
              <a:t>ID</a:t>
            </a:r>
            <a:r>
              <a:rPr dirty="0" sz="1200" b="1">
                <a:latin typeface="微软雅黑"/>
                <a:cs typeface="微软雅黑"/>
              </a:rPr>
              <a:t>、产品</a:t>
            </a:r>
            <a:r>
              <a:rPr dirty="0" sz="1200" spc="-25" b="1">
                <a:latin typeface="微软雅黑"/>
                <a:cs typeface="微软雅黑"/>
              </a:rPr>
              <a:t> </a:t>
            </a:r>
            <a:r>
              <a:rPr dirty="0" sz="1200" b="1">
                <a:latin typeface="Arial"/>
                <a:cs typeface="Arial"/>
              </a:rPr>
              <a:t>ID </a:t>
            </a:r>
            <a:r>
              <a:rPr dirty="0" sz="1200" b="1">
                <a:latin typeface="微软雅黑"/>
                <a:cs typeface="微软雅黑"/>
              </a:rPr>
              <a:t>和购买数量</a:t>
            </a:r>
            <a:endParaRPr sz="1200">
              <a:latin typeface="微软雅黑"/>
              <a:cs typeface="微软雅黑"/>
            </a:endParaRPr>
          </a:p>
          <a:p>
            <a:pPr marL="317500">
              <a:lnSpc>
                <a:spcPct val="100000"/>
              </a:lnSpc>
              <a:spcBef>
                <a:spcPts val="1410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用户在购买产品界面输入订单</a:t>
            </a:r>
            <a:r>
              <a:rPr dirty="0" sz="1200" spc="-30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、产品</a:t>
            </a:r>
            <a:r>
              <a:rPr dirty="0" sz="1200" spc="-25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和购买数量。</a:t>
            </a:r>
            <a:endParaRPr sz="1200">
              <a:latin typeface="微软雅黑"/>
              <a:cs typeface="微软雅黑"/>
            </a:endParaRPr>
          </a:p>
          <a:p>
            <a:pPr marL="317500" marR="1443990">
              <a:lnSpc>
                <a:spcPct val="130200"/>
              </a:lnSpc>
              <a:spcBef>
                <a:spcPts val="75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订单</a:t>
            </a:r>
            <a:r>
              <a:rPr dirty="0" sz="1200" spc="-75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 spc="-5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通常是一个唯一的标识符，用于在数据库中标识订单。 产品</a:t>
            </a:r>
            <a:r>
              <a:rPr dirty="0" sz="1200" spc="-30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是用户想要购买的产品的唯一标识符。</a:t>
            </a:r>
            <a:endParaRPr sz="1200">
              <a:latin typeface="微软雅黑"/>
              <a:cs typeface="微软雅黑"/>
            </a:endParaRPr>
          </a:p>
          <a:p>
            <a:pPr marL="317500">
              <a:lnSpc>
                <a:spcPct val="100000"/>
              </a:lnSpc>
              <a:spcBef>
                <a:spcPts val="509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购买数量表示用户想要购买的产品数量。</a:t>
            </a:r>
            <a:endParaRPr sz="1200">
              <a:latin typeface="微软雅黑"/>
              <a:cs typeface="微软雅黑"/>
            </a:endParaRPr>
          </a:p>
          <a:p>
            <a:pPr marL="181610" indent="-169545">
              <a:lnSpc>
                <a:spcPct val="100000"/>
              </a:lnSpc>
              <a:spcBef>
                <a:spcPts val="1410"/>
              </a:spcBef>
              <a:buFont typeface="Arial"/>
              <a:buAutoNum type="arabicPeriod" startAt="2"/>
              <a:tabLst>
                <a:tab pos="182245" algn="l"/>
              </a:tabLst>
            </a:pPr>
            <a:r>
              <a:rPr dirty="0" sz="1200" b="1">
                <a:latin typeface="微软雅黑"/>
                <a:cs typeface="微软雅黑"/>
              </a:rPr>
              <a:t>点击</a:t>
            </a:r>
            <a:r>
              <a:rPr dirty="0" sz="1200" b="1">
                <a:latin typeface="Arial"/>
                <a:cs typeface="Arial"/>
              </a:rPr>
              <a:t>“</a:t>
            </a:r>
            <a:r>
              <a:rPr dirty="0" sz="1200" b="1">
                <a:latin typeface="微软雅黑"/>
                <a:cs typeface="微软雅黑"/>
              </a:rPr>
              <a:t>购买产品</a:t>
            </a:r>
            <a:r>
              <a:rPr dirty="0" sz="1200" b="1">
                <a:latin typeface="Arial"/>
                <a:cs typeface="Arial"/>
              </a:rPr>
              <a:t>”</a:t>
            </a:r>
            <a:r>
              <a:rPr dirty="0" sz="1200" b="1">
                <a:latin typeface="微软雅黑"/>
                <a:cs typeface="微软雅黑"/>
              </a:rPr>
              <a:t>按钮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AutoNum type="arabicPeriod" startAt="2"/>
            </a:pPr>
            <a:endParaRPr sz="800">
              <a:latin typeface="微软雅黑"/>
              <a:cs typeface="微软雅黑"/>
            </a:endParaRPr>
          </a:p>
          <a:p>
            <a:pPr marL="317500">
              <a:lnSpc>
                <a:spcPct val="100000"/>
              </a:lnSpc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用户在输入完订单信息后，点击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购买产品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按钮以提交购买请求。</a:t>
            </a:r>
            <a:endParaRPr sz="1200">
              <a:latin typeface="微软雅黑"/>
              <a:cs typeface="微软雅黑"/>
            </a:endParaRPr>
          </a:p>
          <a:p>
            <a:pPr marL="317500">
              <a:lnSpc>
                <a:spcPct val="100000"/>
              </a:lnSpc>
              <a:spcBef>
                <a:spcPts val="434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系统会根据用户提供的订单信息生成订单，并反馈给用户订单生成是否成功的消息。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微软雅黑"/>
                <a:cs typeface="微软雅黑"/>
              </a:rPr>
              <a:t>合法性检测</a:t>
            </a:r>
            <a:endParaRPr sz="1200">
              <a:latin typeface="微软雅黑"/>
              <a:cs typeface="微软雅黑"/>
            </a:endParaRPr>
          </a:p>
          <a:p>
            <a:pPr lvl="1" marL="317500" indent="-169545">
              <a:lnSpc>
                <a:spcPct val="100000"/>
              </a:lnSpc>
              <a:spcBef>
                <a:spcPts val="1410"/>
              </a:spcBef>
              <a:buFont typeface="Arial"/>
              <a:buAutoNum type="arabicPeriod"/>
              <a:tabLst>
                <a:tab pos="317500" algn="l"/>
              </a:tabLst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当产品不存在的时候，会返回</a:t>
            </a:r>
            <a:r>
              <a:rPr dirty="0" sz="1200" b="1">
                <a:latin typeface="微软雅黑"/>
                <a:cs typeface="微软雅黑"/>
              </a:rPr>
              <a:t>未找到产品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。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600" y="355603"/>
            <a:ext cx="6368281" cy="21335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54384" y="2495553"/>
            <a:ext cx="24809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2.</a:t>
            </a:r>
            <a:r>
              <a:rPr dirty="0" sz="1200" spc="-8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当输入不合法时，会返回</a:t>
            </a:r>
            <a:r>
              <a:rPr dirty="0" sz="1200" b="1">
                <a:latin typeface="微软雅黑"/>
                <a:cs typeface="微软雅黑"/>
              </a:rPr>
              <a:t>输入无效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36600" y="2727328"/>
            <a:ext cx="6550187" cy="17525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54384" y="4486278"/>
            <a:ext cx="24809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3.</a:t>
            </a:r>
            <a:r>
              <a:rPr dirty="0" sz="1200" spc="-8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当订单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存在时，会返回</a:t>
            </a:r>
            <a:r>
              <a:rPr dirty="0" sz="1200" b="1">
                <a:latin typeface="Arial"/>
                <a:cs typeface="Arial"/>
              </a:rPr>
              <a:t>ID</a:t>
            </a:r>
            <a:r>
              <a:rPr dirty="0" sz="1200" b="1">
                <a:latin typeface="微软雅黑"/>
                <a:cs typeface="微软雅黑"/>
              </a:rPr>
              <a:t>已存在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36600" y="4718053"/>
            <a:ext cx="6487652" cy="16859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89000" y="724217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89000" y="748982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89000" y="797560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15"/>
                </a:ln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55"/>
                </a:lnTo>
                <a:lnTo>
                  <a:pt x="26970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89000" y="821372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89000" y="870902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15"/>
                </a:lnTo>
                <a:lnTo>
                  <a:pt x="0" y="26955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55"/>
                </a:lnTo>
                <a:lnTo>
                  <a:pt x="26970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19100" y="6534153"/>
            <a:ext cx="3683000" cy="2284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微软雅黑"/>
                <a:cs typeface="微软雅黑"/>
              </a:rPr>
              <a:t>示例购买产品流程图</a:t>
            </a:r>
            <a:endParaRPr sz="12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1410"/>
              </a:spcBef>
              <a:buClr>
                <a:srgbClr val="333333"/>
              </a:buClr>
              <a:buFont typeface="Arial"/>
              <a:buAutoNum type="arabicPeriod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购买产品界面</a:t>
            </a:r>
            <a:endParaRPr sz="1200">
              <a:latin typeface="微软雅黑"/>
              <a:cs typeface="微软雅黑"/>
            </a:endParaRPr>
          </a:p>
          <a:p>
            <a:pPr marL="622300" marR="487045">
              <a:lnSpc>
                <a:spcPct val="135400"/>
              </a:lnSpc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用户输入订单</a:t>
            </a:r>
            <a:r>
              <a:rPr dirty="0" sz="1200" spc="-60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、产品</a:t>
            </a:r>
            <a:r>
              <a:rPr dirty="0" sz="1200" spc="-55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 spc="-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和购买数量 用户点击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购买产品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</a:t>
            </a:r>
            <a:endParaRPr sz="12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434"/>
              </a:spcBef>
              <a:buClr>
                <a:srgbClr val="333333"/>
              </a:buClr>
              <a:buFont typeface="Arial"/>
              <a:buAutoNum type="arabicPeriod" startAt="2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生成订单</a:t>
            </a:r>
            <a:endParaRPr sz="1200">
              <a:latin typeface="微软雅黑"/>
              <a:cs typeface="微软雅黑"/>
            </a:endParaRPr>
          </a:p>
          <a:p>
            <a:pPr marL="622300">
              <a:lnSpc>
                <a:spcPct val="100000"/>
              </a:lnSpc>
              <a:spcBef>
                <a:spcPts val="509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系统根据用户输入的订单信息生成订单</a:t>
            </a:r>
            <a:endParaRPr sz="1200">
              <a:latin typeface="微软雅黑"/>
              <a:cs typeface="微软雅黑"/>
            </a:endParaRPr>
          </a:p>
          <a:p>
            <a:pPr marL="622300">
              <a:lnSpc>
                <a:spcPct val="100000"/>
              </a:lnSpc>
              <a:spcBef>
                <a:spcPts val="434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系统显示订单生成成功或失败的消息给用户</a:t>
            </a:r>
            <a:endParaRPr sz="12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509"/>
              </a:spcBef>
              <a:buClr>
                <a:srgbClr val="333333"/>
              </a:buClr>
              <a:buFont typeface="Arial"/>
              <a:buAutoNum type="arabicPeriod" startAt="3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订单下达</a:t>
            </a:r>
            <a:endParaRPr sz="1200">
              <a:latin typeface="微软雅黑"/>
              <a:cs typeface="微软雅黑"/>
            </a:endParaRPr>
          </a:p>
          <a:p>
            <a:pPr marL="622300">
              <a:lnSpc>
                <a:spcPct val="100000"/>
              </a:lnSpc>
              <a:spcBef>
                <a:spcPts val="509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当订单成功下达的时候，会返回</a:t>
            </a:r>
            <a:r>
              <a:rPr dirty="0" sz="1200" b="1">
                <a:latin typeface="微软雅黑"/>
                <a:cs typeface="微软雅黑"/>
              </a:rPr>
              <a:t>订单成功下达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1800" y="355603"/>
            <a:ext cx="6600825" cy="21812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19100" y="2695578"/>
            <a:ext cx="2768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此时查询订单状态，订单状态为</a:t>
            </a:r>
            <a:r>
              <a:rPr dirty="0" sz="1200" b="1">
                <a:latin typeface="微软雅黑"/>
                <a:cs typeface="微软雅黑"/>
              </a:rPr>
              <a:t>待支付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。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1800" y="3089278"/>
            <a:ext cx="5648325" cy="18573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19100" y="5076828"/>
            <a:ext cx="6883400" cy="2237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微软雅黑"/>
                <a:cs typeface="微软雅黑"/>
              </a:rPr>
              <a:t>购买产品功能总结</a:t>
            </a:r>
            <a:endParaRPr sz="1200">
              <a:latin typeface="微软雅黑"/>
              <a:cs typeface="微软雅黑"/>
            </a:endParaRPr>
          </a:p>
          <a:p>
            <a:pPr marL="12700" marR="5080">
              <a:lnSpc>
                <a:spcPct val="130200"/>
              </a:lnSpc>
              <a:spcBef>
                <a:spcPts val="975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购买产品功能为用户提供了方便快捷地购买产品并生成订单的方式，通过详细的输入验证和反馈用户订 单生成结果，确保用户能够顺利地完成购买流程。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500" b="1">
                <a:latin typeface="微软雅黑"/>
                <a:cs typeface="微软雅黑"/>
              </a:rPr>
              <a:t>查询订单</a:t>
            </a:r>
            <a:endParaRPr sz="1500">
              <a:latin typeface="微软雅黑"/>
              <a:cs typeface="微软雅黑"/>
            </a:endParaRPr>
          </a:p>
          <a:p>
            <a:pPr marL="12700" marR="55880">
              <a:lnSpc>
                <a:spcPct val="135400"/>
              </a:lnSpc>
              <a:spcBef>
                <a:spcPts val="915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在你的应用程序中，用户可以查询他们的所有订单。查询订单的过程包括点击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查询订单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按钮，然后系 统显示用户的所有订单。</a:t>
            </a:r>
            <a:endParaRPr sz="1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200" b="1">
                <a:latin typeface="微软雅黑"/>
                <a:cs typeface="微软雅黑"/>
              </a:rPr>
              <a:t>查询订单详细步骤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31800" y="7461253"/>
            <a:ext cx="4810125" cy="4000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84200" y="943293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19100" y="7955284"/>
            <a:ext cx="4546600" cy="1587500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317500" indent="-169545">
              <a:lnSpc>
                <a:spcPct val="100000"/>
              </a:lnSpc>
              <a:spcBef>
                <a:spcPts val="610"/>
              </a:spcBef>
              <a:buClr>
                <a:srgbClr val="333333"/>
              </a:buClr>
              <a:buFont typeface="Arial"/>
              <a:buAutoNum type="arabicPeriod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点击</a:t>
            </a:r>
            <a:r>
              <a:rPr dirty="0" sz="1200" b="1">
                <a:latin typeface="Arial"/>
                <a:cs typeface="Arial"/>
              </a:rPr>
              <a:t>“</a:t>
            </a:r>
            <a:r>
              <a:rPr dirty="0" sz="1200" b="1">
                <a:latin typeface="微软雅黑"/>
                <a:cs typeface="微软雅黑"/>
              </a:rPr>
              <a:t>查询订单</a:t>
            </a:r>
            <a:r>
              <a:rPr dirty="0" sz="1200" b="1">
                <a:latin typeface="Arial"/>
                <a:cs typeface="Arial"/>
              </a:rPr>
              <a:t>”</a:t>
            </a:r>
            <a:r>
              <a:rPr dirty="0" sz="1200" b="1">
                <a:latin typeface="微软雅黑"/>
                <a:cs typeface="微软雅黑"/>
              </a:rPr>
              <a:t>按钮</a:t>
            </a:r>
            <a:endParaRPr sz="12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509"/>
              </a:spcBef>
              <a:buClr>
                <a:srgbClr val="333333"/>
              </a:buClr>
              <a:buFont typeface="Arial"/>
              <a:buAutoNum type="arabicPeriod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查看用户的所有订单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微软雅黑"/>
                <a:cs typeface="微软雅黑"/>
              </a:rPr>
              <a:t>查询订单界面的功能与详细描述</a:t>
            </a:r>
            <a:endParaRPr sz="1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z="1200" b="1">
                <a:latin typeface="Arial"/>
                <a:cs typeface="Arial"/>
              </a:rPr>
              <a:t>1.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微软雅黑"/>
                <a:cs typeface="微软雅黑"/>
              </a:rPr>
              <a:t>点击</a:t>
            </a:r>
            <a:r>
              <a:rPr dirty="0" sz="1200" b="1">
                <a:latin typeface="Arial"/>
                <a:cs typeface="Arial"/>
              </a:rPr>
              <a:t>“</a:t>
            </a:r>
            <a:r>
              <a:rPr dirty="0" sz="1200" b="1">
                <a:latin typeface="微软雅黑"/>
                <a:cs typeface="微软雅黑"/>
              </a:rPr>
              <a:t>查询订单</a:t>
            </a:r>
            <a:r>
              <a:rPr dirty="0" sz="1200" b="1">
                <a:latin typeface="Arial"/>
                <a:cs typeface="Arial"/>
              </a:rPr>
              <a:t>”</a:t>
            </a:r>
            <a:r>
              <a:rPr dirty="0" sz="1200" b="1">
                <a:latin typeface="微软雅黑"/>
                <a:cs typeface="微软雅黑"/>
              </a:rPr>
              <a:t>按钮</a:t>
            </a:r>
            <a:endParaRPr sz="1200">
              <a:latin typeface="微软雅黑"/>
              <a:cs typeface="微软雅黑"/>
            </a:endParaRPr>
          </a:p>
          <a:p>
            <a:pPr marL="317500">
              <a:lnSpc>
                <a:spcPct val="100000"/>
              </a:lnSpc>
              <a:spcBef>
                <a:spcPts val="1410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用户在查询订单界面点击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查询订单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按钮以请求查看所有订单。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4200" y="46038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4200" y="119380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4200" y="143193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89000" y="241300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89000" y="289878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89000" y="338455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19100" y="361954"/>
            <a:ext cx="6054090" cy="3132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75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系统会接收用户的请求并从数据库中获取用户的所有订单信息。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800">
              <a:latin typeface="微软雅黑"/>
              <a:cs typeface="微软雅黑"/>
            </a:endParaRPr>
          </a:p>
          <a:p>
            <a:pPr marL="181610" indent="-169545">
              <a:lnSpc>
                <a:spcPct val="100000"/>
              </a:lnSpc>
              <a:buFont typeface="Arial"/>
              <a:buAutoNum type="arabicPeriod" startAt="2"/>
              <a:tabLst>
                <a:tab pos="182245" algn="l"/>
              </a:tabLst>
            </a:pPr>
            <a:r>
              <a:rPr dirty="0" sz="1200" b="1">
                <a:latin typeface="微软雅黑"/>
                <a:cs typeface="微软雅黑"/>
              </a:rPr>
              <a:t>查看用户的所有订单</a:t>
            </a:r>
            <a:endParaRPr sz="1200">
              <a:latin typeface="微软雅黑"/>
              <a:cs typeface="微软雅黑"/>
            </a:endParaRPr>
          </a:p>
          <a:p>
            <a:pPr marL="317500">
              <a:lnSpc>
                <a:spcPct val="100000"/>
              </a:lnSpc>
              <a:spcBef>
                <a:spcPts val="1410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系统从数据库中获取用户的所有订单信息后，显示在用户界面上。</a:t>
            </a:r>
            <a:endParaRPr sz="1200">
              <a:latin typeface="微软雅黑"/>
              <a:cs typeface="微软雅黑"/>
            </a:endParaRPr>
          </a:p>
          <a:p>
            <a:pPr marL="317500">
              <a:lnSpc>
                <a:spcPct val="100000"/>
              </a:lnSpc>
              <a:spcBef>
                <a:spcPts val="434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用户可以浏览所有订单的详细信息，包括订单</a:t>
            </a:r>
            <a:r>
              <a:rPr dirty="0" sz="1200" spc="-70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、产品</a:t>
            </a:r>
            <a:r>
              <a:rPr dirty="0" sz="1200" spc="-70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、购买数量、订单状态等。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微软雅黑"/>
                <a:cs typeface="微软雅黑"/>
              </a:rPr>
              <a:t>示例查询订单流程图</a:t>
            </a:r>
            <a:endParaRPr sz="1200">
              <a:latin typeface="微软雅黑"/>
              <a:cs typeface="微软雅黑"/>
            </a:endParaRPr>
          </a:p>
          <a:p>
            <a:pPr lvl="1" marL="317500" indent="-169545">
              <a:lnSpc>
                <a:spcPct val="100000"/>
              </a:lnSpc>
              <a:spcBef>
                <a:spcPts val="1410"/>
              </a:spcBef>
              <a:buClr>
                <a:srgbClr val="333333"/>
              </a:buClr>
              <a:buFont typeface="Arial"/>
              <a:buAutoNum type="arabicPeriod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查询订单界面</a:t>
            </a:r>
            <a:endParaRPr sz="1200">
              <a:latin typeface="微软雅黑"/>
              <a:cs typeface="微软雅黑"/>
            </a:endParaRPr>
          </a:p>
          <a:p>
            <a:pPr marL="622300">
              <a:lnSpc>
                <a:spcPct val="100000"/>
              </a:lnSpc>
              <a:spcBef>
                <a:spcPts val="509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用户点击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查询订单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</a:t>
            </a:r>
            <a:endParaRPr sz="1200">
              <a:latin typeface="微软雅黑"/>
              <a:cs typeface="微软雅黑"/>
            </a:endParaRPr>
          </a:p>
          <a:p>
            <a:pPr lvl="1" marL="317500" indent="-169545">
              <a:lnSpc>
                <a:spcPct val="100000"/>
              </a:lnSpc>
              <a:spcBef>
                <a:spcPts val="434"/>
              </a:spcBef>
              <a:buClr>
                <a:srgbClr val="333333"/>
              </a:buClr>
              <a:buFont typeface="Arial"/>
              <a:buAutoNum type="arabicPeriod" startAt="2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获取订单信息</a:t>
            </a:r>
            <a:endParaRPr sz="1200">
              <a:latin typeface="微软雅黑"/>
              <a:cs typeface="微软雅黑"/>
            </a:endParaRPr>
          </a:p>
          <a:p>
            <a:pPr marL="622300">
              <a:lnSpc>
                <a:spcPct val="100000"/>
              </a:lnSpc>
              <a:spcBef>
                <a:spcPts val="509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系统从数据库中获取用户的所有订单信息</a:t>
            </a:r>
            <a:endParaRPr sz="1200">
              <a:latin typeface="微软雅黑"/>
              <a:cs typeface="微软雅黑"/>
            </a:endParaRPr>
          </a:p>
          <a:p>
            <a:pPr lvl="1" marL="317500" indent="-169545">
              <a:lnSpc>
                <a:spcPct val="100000"/>
              </a:lnSpc>
              <a:spcBef>
                <a:spcPts val="509"/>
              </a:spcBef>
              <a:buClr>
                <a:srgbClr val="333333"/>
              </a:buClr>
              <a:buFont typeface="Arial"/>
              <a:buAutoNum type="arabicPeriod" startAt="3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显示订单信息</a:t>
            </a:r>
            <a:endParaRPr sz="1200">
              <a:latin typeface="微软雅黑"/>
              <a:cs typeface="微软雅黑"/>
            </a:endParaRPr>
          </a:p>
          <a:p>
            <a:pPr marL="622300">
              <a:lnSpc>
                <a:spcPct val="100000"/>
              </a:lnSpc>
              <a:spcBef>
                <a:spcPts val="434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系统显示用户的所有订单信息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31800" y="3679828"/>
            <a:ext cx="5553075" cy="16192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19100" y="5429254"/>
            <a:ext cx="6773545" cy="2237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微软雅黑"/>
                <a:cs typeface="微软雅黑"/>
              </a:rPr>
              <a:t>查询订单功能总结</a:t>
            </a:r>
            <a:endParaRPr sz="1200">
              <a:latin typeface="微软雅黑"/>
              <a:cs typeface="微软雅黑"/>
            </a:endParaRPr>
          </a:p>
          <a:p>
            <a:pPr marL="12700" marR="46990">
              <a:lnSpc>
                <a:spcPct val="135400"/>
              </a:lnSpc>
              <a:spcBef>
                <a:spcPts val="900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查询订单功能为用户提供了方便快捷地查看其所有订单的方式，通过简单的操作步骤和详细的信息展 示，确保用户能够轻松地管理和查看其订单信息。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1500" b="1">
                <a:latin typeface="微软雅黑"/>
                <a:cs typeface="微软雅黑"/>
              </a:rPr>
              <a:t>支付订单</a:t>
            </a:r>
            <a:endParaRPr sz="1500">
              <a:latin typeface="微软雅黑"/>
              <a:cs typeface="微软雅黑"/>
            </a:endParaRPr>
          </a:p>
          <a:p>
            <a:pPr marL="12700" marR="5080">
              <a:lnSpc>
                <a:spcPct val="135400"/>
              </a:lnSpc>
              <a:spcBef>
                <a:spcPts val="915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在你的应用程序中，用户可以通过输入支付信息来支付订单。支付订单的过程包括输入支付</a:t>
            </a:r>
            <a:r>
              <a:rPr dirty="0" sz="1200" spc="-125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、订单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和支付方式，然后点击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支付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按钮完成支付，并更新订单状态为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待发货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。</a:t>
            </a:r>
            <a:endParaRPr sz="1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200" b="1">
                <a:latin typeface="微软雅黑"/>
                <a:cs typeface="微软雅黑"/>
              </a:rPr>
              <a:t>支付订单详细步骤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31800" y="7813690"/>
            <a:ext cx="4724400" cy="16859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4200" y="201293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4200" y="226058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15"/>
                </a:lnTo>
                <a:lnTo>
                  <a:pt x="0" y="26955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55"/>
                </a:lnTo>
                <a:lnTo>
                  <a:pt x="26970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4200" y="249870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4200" y="274635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19100" y="297160"/>
            <a:ext cx="4834890" cy="2559050"/>
          </a:xfrm>
          <a:prstGeom prst="rect">
            <a:avLst/>
          </a:prstGeom>
        </p:spPr>
        <p:txBody>
          <a:bodyPr wrap="square" lIns="0" tIns="77470" rIns="0" bIns="0" rtlCol="0" vert="horz">
            <a:spAutoFit/>
          </a:bodyPr>
          <a:lstStyle/>
          <a:p>
            <a:pPr marL="317500" indent="-169545">
              <a:lnSpc>
                <a:spcPct val="100000"/>
              </a:lnSpc>
              <a:spcBef>
                <a:spcPts val="610"/>
              </a:spcBef>
              <a:buClr>
                <a:srgbClr val="333333"/>
              </a:buClr>
              <a:buFont typeface="Arial"/>
              <a:buAutoNum type="arabicPeriod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输入支付</a:t>
            </a:r>
            <a:r>
              <a:rPr dirty="0" sz="1200" spc="-30" b="1">
                <a:latin typeface="微软雅黑"/>
                <a:cs typeface="微软雅黑"/>
              </a:rPr>
              <a:t> </a:t>
            </a:r>
            <a:r>
              <a:rPr dirty="0" sz="1200" b="1">
                <a:latin typeface="Arial"/>
                <a:cs typeface="Arial"/>
              </a:rPr>
              <a:t>ID</a:t>
            </a:r>
            <a:r>
              <a:rPr dirty="0" sz="1200" b="1">
                <a:latin typeface="微软雅黑"/>
                <a:cs typeface="微软雅黑"/>
              </a:rPr>
              <a:t>、订单</a:t>
            </a:r>
            <a:r>
              <a:rPr dirty="0" sz="1200" spc="-25" b="1">
                <a:latin typeface="微软雅黑"/>
                <a:cs typeface="微软雅黑"/>
              </a:rPr>
              <a:t> </a:t>
            </a:r>
            <a:r>
              <a:rPr dirty="0" sz="1200" b="1">
                <a:latin typeface="Arial"/>
                <a:cs typeface="Arial"/>
              </a:rPr>
              <a:t>ID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微软雅黑"/>
                <a:cs typeface="微软雅黑"/>
              </a:rPr>
              <a:t>和支付方式</a:t>
            </a:r>
            <a:endParaRPr sz="12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509"/>
              </a:spcBef>
              <a:buClr>
                <a:srgbClr val="333333"/>
              </a:buClr>
              <a:buFont typeface="Arial"/>
              <a:buAutoNum type="arabicPeriod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点击</a:t>
            </a:r>
            <a:r>
              <a:rPr dirty="0" sz="1200" b="1">
                <a:latin typeface="Arial"/>
                <a:cs typeface="Arial"/>
              </a:rPr>
              <a:t>“</a:t>
            </a:r>
            <a:r>
              <a:rPr dirty="0" sz="1200" b="1">
                <a:latin typeface="微软雅黑"/>
                <a:cs typeface="微软雅黑"/>
              </a:rPr>
              <a:t>支付</a:t>
            </a:r>
            <a:r>
              <a:rPr dirty="0" sz="1200" b="1">
                <a:latin typeface="Arial"/>
                <a:cs typeface="Arial"/>
              </a:rPr>
              <a:t>”</a:t>
            </a:r>
            <a:r>
              <a:rPr dirty="0" sz="1200" b="1">
                <a:latin typeface="微软雅黑"/>
                <a:cs typeface="微软雅黑"/>
              </a:rPr>
              <a:t>按钮</a:t>
            </a:r>
            <a:endParaRPr sz="12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434"/>
              </a:spcBef>
              <a:buClr>
                <a:srgbClr val="333333"/>
              </a:buClr>
              <a:buFont typeface="Arial"/>
              <a:buAutoNum type="arabicPeriod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完成支付并更新订单状态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微软雅黑"/>
                <a:cs typeface="微软雅黑"/>
              </a:rPr>
              <a:t>支付订单界面的功能与详细描述</a:t>
            </a:r>
            <a:endParaRPr sz="1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dirty="0" sz="1200" b="1">
                <a:latin typeface="Arial"/>
                <a:cs typeface="Arial"/>
              </a:rPr>
              <a:t>1.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微软雅黑"/>
                <a:cs typeface="微软雅黑"/>
              </a:rPr>
              <a:t>输入支付</a:t>
            </a:r>
            <a:r>
              <a:rPr dirty="0" sz="1200" spc="-25" b="1">
                <a:latin typeface="微软雅黑"/>
                <a:cs typeface="微软雅黑"/>
              </a:rPr>
              <a:t> </a:t>
            </a:r>
            <a:r>
              <a:rPr dirty="0" sz="1200" b="1">
                <a:latin typeface="Arial"/>
                <a:cs typeface="Arial"/>
              </a:rPr>
              <a:t>ID</a:t>
            </a:r>
            <a:r>
              <a:rPr dirty="0" sz="1200" b="1">
                <a:latin typeface="微软雅黑"/>
                <a:cs typeface="微软雅黑"/>
              </a:rPr>
              <a:t>、订单</a:t>
            </a:r>
            <a:r>
              <a:rPr dirty="0" sz="1200" spc="-25" b="1">
                <a:latin typeface="微软雅黑"/>
                <a:cs typeface="微软雅黑"/>
              </a:rPr>
              <a:t> </a:t>
            </a:r>
            <a:r>
              <a:rPr dirty="0" sz="1200" b="1">
                <a:latin typeface="Arial"/>
                <a:cs typeface="Arial"/>
              </a:rPr>
              <a:t>ID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微软雅黑"/>
                <a:cs typeface="微软雅黑"/>
              </a:rPr>
              <a:t>和支付方式</a:t>
            </a:r>
            <a:endParaRPr sz="1200">
              <a:latin typeface="微软雅黑"/>
              <a:cs typeface="微软雅黑"/>
            </a:endParaRPr>
          </a:p>
          <a:p>
            <a:pPr marL="317500">
              <a:lnSpc>
                <a:spcPct val="100000"/>
              </a:lnSpc>
              <a:spcBef>
                <a:spcPts val="1410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用户在支付订单界面输入支付</a:t>
            </a:r>
            <a:r>
              <a:rPr dirty="0" sz="1200" spc="-30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、订单</a:t>
            </a:r>
            <a:r>
              <a:rPr dirty="0" sz="1200" spc="-30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和支付方式。</a:t>
            </a:r>
            <a:endParaRPr sz="1200">
              <a:latin typeface="微软雅黑"/>
              <a:cs typeface="微软雅黑"/>
            </a:endParaRPr>
          </a:p>
          <a:p>
            <a:pPr marL="317500" marR="5080">
              <a:lnSpc>
                <a:spcPct val="130200"/>
              </a:lnSpc>
              <a:spcBef>
                <a:spcPts val="75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支付</a:t>
            </a:r>
            <a:r>
              <a:rPr dirty="0" sz="1200" spc="-75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 spc="-5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通常是一个唯一的标识符，用于在数据库中标识支付记录。 订单</a:t>
            </a:r>
            <a:r>
              <a:rPr dirty="0" sz="1200" spc="-30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是用户想要支付的订单的唯一标识符。</a:t>
            </a:r>
            <a:endParaRPr sz="1200">
              <a:latin typeface="微软雅黑"/>
              <a:cs typeface="微软雅黑"/>
            </a:endParaRPr>
          </a:p>
          <a:p>
            <a:pPr marL="317500">
              <a:lnSpc>
                <a:spcPct val="100000"/>
              </a:lnSpc>
              <a:spcBef>
                <a:spcPts val="509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支付方式可以是多种选项，如信用卡、借记卡、在线支付等。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31800" y="3041641"/>
            <a:ext cx="4695825" cy="12096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84200" y="484185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84200" y="507998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84200" y="581340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84200" y="606105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84200" y="678495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19100" y="4381480"/>
            <a:ext cx="4394200" cy="25133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indent="-169545">
              <a:lnSpc>
                <a:spcPct val="100000"/>
              </a:lnSpc>
              <a:spcBef>
                <a:spcPts val="100"/>
              </a:spcBef>
              <a:buFont typeface="Arial"/>
              <a:buAutoNum type="arabicPeriod" startAt="2"/>
              <a:tabLst>
                <a:tab pos="182245" algn="l"/>
              </a:tabLst>
            </a:pPr>
            <a:r>
              <a:rPr dirty="0" sz="1200" b="1">
                <a:latin typeface="微软雅黑"/>
                <a:cs typeface="微软雅黑"/>
              </a:rPr>
              <a:t>点击</a:t>
            </a:r>
            <a:r>
              <a:rPr dirty="0" sz="1200" b="1">
                <a:latin typeface="Arial"/>
                <a:cs typeface="Arial"/>
              </a:rPr>
              <a:t>“</a:t>
            </a:r>
            <a:r>
              <a:rPr dirty="0" sz="1200" b="1">
                <a:latin typeface="微软雅黑"/>
                <a:cs typeface="微软雅黑"/>
              </a:rPr>
              <a:t>支付</a:t>
            </a:r>
            <a:r>
              <a:rPr dirty="0" sz="1200" b="1">
                <a:latin typeface="Arial"/>
                <a:cs typeface="Arial"/>
              </a:rPr>
              <a:t>”</a:t>
            </a:r>
            <a:r>
              <a:rPr dirty="0" sz="1200" b="1">
                <a:latin typeface="微软雅黑"/>
                <a:cs typeface="微软雅黑"/>
              </a:rPr>
              <a:t>按钮</a:t>
            </a:r>
            <a:endParaRPr sz="1200">
              <a:latin typeface="微软雅黑"/>
              <a:cs typeface="微软雅黑"/>
            </a:endParaRPr>
          </a:p>
          <a:p>
            <a:pPr marL="317500" marR="5080">
              <a:lnSpc>
                <a:spcPct val="130200"/>
              </a:lnSpc>
              <a:spcBef>
                <a:spcPts val="975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用户在输入完支付信息后，点击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支付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按钮以提交支付请求。 系统会处理支付请求，并验证支付信息的有效性。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800">
              <a:latin typeface="微软雅黑"/>
              <a:cs typeface="微软雅黑"/>
            </a:endParaRPr>
          </a:p>
          <a:p>
            <a:pPr marL="181610" indent="-169545">
              <a:lnSpc>
                <a:spcPct val="100000"/>
              </a:lnSpc>
              <a:buFont typeface="Arial"/>
              <a:buAutoNum type="arabicPeriod" startAt="3"/>
              <a:tabLst>
                <a:tab pos="182245" algn="l"/>
              </a:tabLst>
            </a:pPr>
            <a:r>
              <a:rPr dirty="0" sz="1200" b="1">
                <a:latin typeface="微软雅黑"/>
                <a:cs typeface="微软雅黑"/>
              </a:rPr>
              <a:t>完成支付并更新订单状态</a:t>
            </a:r>
            <a:endParaRPr sz="1200">
              <a:latin typeface="微软雅黑"/>
              <a:cs typeface="微软雅黑"/>
            </a:endParaRPr>
          </a:p>
          <a:p>
            <a:pPr marL="317500" marR="614680">
              <a:lnSpc>
                <a:spcPct val="135400"/>
              </a:lnSpc>
              <a:spcBef>
                <a:spcPts val="900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如果支付成功，系统会将订单状态更新为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待发货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。 系统会显示支付成功的消息给用户。</a:t>
            </a:r>
            <a:endParaRPr sz="1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200" b="1">
                <a:latin typeface="微软雅黑"/>
                <a:cs typeface="微软雅黑"/>
              </a:rPr>
              <a:t>非法输入处理</a:t>
            </a:r>
            <a:endParaRPr sz="1200">
              <a:latin typeface="微软雅黑"/>
              <a:cs typeface="微软雅黑"/>
            </a:endParaRPr>
          </a:p>
          <a:p>
            <a:pPr lvl="1" marL="622300" indent="-118745">
              <a:lnSpc>
                <a:spcPct val="100000"/>
              </a:lnSpc>
              <a:spcBef>
                <a:spcPts val="1410"/>
              </a:spcBef>
              <a:buFont typeface="Arial"/>
              <a:buAutoNum type="romanLcPeriod"/>
              <a:tabLst>
                <a:tab pos="622300" algn="l"/>
              </a:tabLst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当输入订单空或者无效的时候，会返回</a:t>
            </a:r>
            <a:r>
              <a:rPr dirty="0" sz="1200" b="1">
                <a:latin typeface="微软雅黑"/>
                <a:cs typeface="微软雅黑"/>
              </a:rPr>
              <a:t>订单无效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。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31800" y="7080241"/>
            <a:ext cx="6822499" cy="16478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84200" y="898523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876300" y="8886805"/>
            <a:ext cx="398017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ii.</a:t>
            </a:r>
            <a:r>
              <a:rPr dirty="0" sz="1200" spc="-8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当输入的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PaymentID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重复的时候，会返回</a:t>
            </a:r>
            <a:r>
              <a:rPr dirty="0" sz="1200" b="1">
                <a:latin typeface="微软雅黑"/>
                <a:cs typeface="微软雅黑"/>
              </a:rPr>
              <a:t>支付</a:t>
            </a:r>
            <a:r>
              <a:rPr dirty="0" sz="1200" b="1">
                <a:latin typeface="Arial"/>
                <a:cs typeface="Arial"/>
              </a:rPr>
              <a:t>ID</a:t>
            </a:r>
            <a:r>
              <a:rPr dirty="0" sz="1200" b="1">
                <a:latin typeface="微软雅黑"/>
                <a:cs typeface="微软雅黑"/>
              </a:rPr>
              <a:t>已存在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。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1800" y="355600"/>
            <a:ext cx="6915150" cy="16382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4200" y="225105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42367" y="2152631"/>
            <a:ext cx="38696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iii.</a:t>
            </a:r>
            <a:r>
              <a:rPr dirty="0" sz="1200" spc="-8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当订单状态不可支付时，会返回</a:t>
            </a:r>
            <a:r>
              <a:rPr dirty="0" sz="1200" b="1">
                <a:latin typeface="微软雅黑"/>
                <a:cs typeface="微软雅黑"/>
              </a:rPr>
              <a:t>该订单状态不可支付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。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31800" y="2536816"/>
            <a:ext cx="6743700" cy="19145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89000" y="528953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89000" y="553718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89000" y="602295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89000" y="650873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89000" y="675638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19100" y="4581506"/>
            <a:ext cx="3784600" cy="2284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微软雅黑"/>
                <a:cs typeface="微软雅黑"/>
              </a:rPr>
              <a:t>示例支付订单流程图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8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buClr>
                <a:srgbClr val="333333"/>
              </a:buClr>
              <a:buFont typeface="Arial"/>
              <a:buAutoNum type="arabicPeriod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支付订单界面</a:t>
            </a:r>
            <a:endParaRPr sz="1200">
              <a:latin typeface="微软雅黑"/>
              <a:cs typeface="微软雅黑"/>
            </a:endParaRPr>
          </a:p>
          <a:p>
            <a:pPr marL="622300" marR="588645">
              <a:lnSpc>
                <a:spcPts val="1950"/>
              </a:lnSpc>
              <a:spcBef>
                <a:spcPts val="75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用户输入支付</a:t>
            </a:r>
            <a:r>
              <a:rPr dirty="0" sz="1200" spc="-60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、订单</a:t>
            </a:r>
            <a:r>
              <a:rPr dirty="0" sz="1200" spc="-55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 spc="-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和支付方式 用户点击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支付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</a:t>
            </a:r>
            <a:endParaRPr sz="12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285"/>
              </a:spcBef>
              <a:buClr>
                <a:srgbClr val="333333"/>
              </a:buClr>
              <a:buFont typeface="Arial"/>
              <a:buAutoNum type="arabicPeriod" startAt="2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处理支付请求</a:t>
            </a:r>
            <a:endParaRPr sz="1200">
              <a:latin typeface="微软雅黑"/>
              <a:cs typeface="微软雅黑"/>
            </a:endParaRPr>
          </a:p>
          <a:p>
            <a:pPr marL="622300">
              <a:lnSpc>
                <a:spcPct val="100000"/>
              </a:lnSpc>
              <a:spcBef>
                <a:spcPts val="509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系统处理支付请求并验证支付信息</a:t>
            </a:r>
            <a:endParaRPr sz="12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434"/>
              </a:spcBef>
              <a:buClr>
                <a:srgbClr val="333333"/>
              </a:buClr>
              <a:buFont typeface="Arial"/>
              <a:buAutoNum type="arabicPeriod" startAt="3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更新订单状态</a:t>
            </a:r>
            <a:endParaRPr sz="1200">
              <a:latin typeface="微软雅黑"/>
              <a:cs typeface="微软雅黑"/>
            </a:endParaRPr>
          </a:p>
          <a:p>
            <a:pPr marL="622300" marR="5080">
              <a:lnSpc>
                <a:spcPct val="135400"/>
              </a:lnSpc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如果支付成功，系统将订单状态更新为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待发货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系统显示支付成功或失败的消息给用户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31800" y="7042142"/>
            <a:ext cx="6717574" cy="20669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19100" y="9267806"/>
            <a:ext cx="2768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此时查询订单状态，订单状态为</a:t>
            </a:r>
            <a:r>
              <a:rPr dirty="0" sz="1200" b="1">
                <a:latin typeface="微软雅黑"/>
                <a:cs typeface="微软雅黑"/>
              </a:rPr>
              <a:t>待发货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。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1800" y="355600"/>
            <a:ext cx="5648325" cy="18573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19100" y="2343132"/>
            <a:ext cx="6883400" cy="34658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微软雅黑"/>
                <a:cs typeface="微软雅黑"/>
              </a:rPr>
              <a:t>支付订单功能总结</a:t>
            </a:r>
            <a:endParaRPr sz="1200">
              <a:latin typeface="微软雅黑"/>
              <a:cs typeface="微软雅黑"/>
            </a:endParaRPr>
          </a:p>
          <a:p>
            <a:pPr marL="12700" marR="5080">
              <a:lnSpc>
                <a:spcPct val="135400"/>
              </a:lnSpc>
              <a:spcBef>
                <a:spcPts val="900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支付订单功能为用户提供了方便快捷地完成订单支付的方式，通过详细的输入验证和订单状态更新，确 保用户能够顺利地完成支付流程，并实时了解订单状态。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1500" b="1">
                <a:latin typeface="微软雅黑"/>
                <a:cs typeface="微软雅黑"/>
              </a:rPr>
              <a:t>确认收货</a:t>
            </a:r>
            <a:endParaRPr sz="1500">
              <a:latin typeface="微软雅黑"/>
              <a:cs typeface="微软雅黑"/>
            </a:endParaRPr>
          </a:p>
          <a:p>
            <a:pPr marL="12700" marR="13335">
              <a:lnSpc>
                <a:spcPct val="135400"/>
              </a:lnSpc>
              <a:spcBef>
                <a:spcPts val="915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在你的应用程序中，用户可以确认收货并更新订单状态为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已收货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。确认收货的过程包括输入订单</a:t>
            </a:r>
            <a:r>
              <a:rPr dirty="0" sz="1200" spc="-125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，  然后点击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确认收货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按钮将订单状态更新为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已收货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微软雅黑"/>
                <a:cs typeface="微软雅黑"/>
              </a:rPr>
              <a:t>确认收货详细步骤</a:t>
            </a:r>
            <a:endParaRPr sz="12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1410"/>
              </a:spcBef>
              <a:buClr>
                <a:srgbClr val="333333"/>
              </a:buClr>
              <a:buFont typeface="Arial"/>
              <a:buAutoNum type="arabicPeriod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输入订单</a:t>
            </a:r>
            <a:r>
              <a:rPr dirty="0" sz="1200" spc="-30" b="1">
                <a:latin typeface="微软雅黑"/>
                <a:cs typeface="微软雅黑"/>
              </a:rPr>
              <a:t> </a:t>
            </a:r>
            <a:r>
              <a:rPr dirty="0" sz="1200" b="1">
                <a:latin typeface="Arial"/>
                <a:cs typeface="Arial"/>
              </a:rPr>
              <a:t>ID</a:t>
            </a:r>
            <a:endParaRPr sz="1200">
              <a:latin typeface="Arial"/>
              <a:cs typeface="Arial"/>
            </a:endParaRPr>
          </a:p>
          <a:p>
            <a:pPr marL="317500" indent="-169545">
              <a:lnSpc>
                <a:spcPct val="100000"/>
              </a:lnSpc>
              <a:spcBef>
                <a:spcPts val="434"/>
              </a:spcBef>
              <a:buClr>
                <a:srgbClr val="333333"/>
              </a:buClr>
              <a:buFont typeface="Arial"/>
              <a:buAutoNum type="arabicPeriod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点击</a:t>
            </a:r>
            <a:r>
              <a:rPr dirty="0" sz="1200" b="1">
                <a:latin typeface="Arial"/>
                <a:cs typeface="Arial"/>
              </a:rPr>
              <a:t>“</a:t>
            </a:r>
            <a:r>
              <a:rPr dirty="0" sz="1200" b="1">
                <a:latin typeface="微软雅黑"/>
                <a:cs typeface="微软雅黑"/>
              </a:rPr>
              <a:t>确认收货</a:t>
            </a:r>
            <a:r>
              <a:rPr dirty="0" sz="1200" b="1">
                <a:latin typeface="Arial"/>
                <a:cs typeface="Arial"/>
              </a:rPr>
              <a:t>”</a:t>
            </a:r>
            <a:r>
              <a:rPr dirty="0" sz="1200" b="1">
                <a:latin typeface="微软雅黑"/>
                <a:cs typeface="微软雅黑"/>
              </a:rPr>
              <a:t>按钮</a:t>
            </a:r>
            <a:endParaRPr sz="12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509"/>
              </a:spcBef>
              <a:buClr>
                <a:srgbClr val="333333"/>
              </a:buClr>
              <a:buFont typeface="Arial"/>
              <a:buAutoNum type="arabicPeriod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更新订单状态为</a:t>
            </a:r>
            <a:r>
              <a:rPr dirty="0" sz="1200" b="1">
                <a:latin typeface="Arial"/>
                <a:cs typeface="Arial"/>
              </a:rPr>
              <a:t>“</a:t>
            </a:r>
            <a:r>
              <a:rPr dirty="0" sz="1200" b="1">
                <a:latin typeface="微软雅黑"/>
                <a:cs typeface="微软雅黑"/>
              </a:rPr>
              <a:t>已收货</a:t>
            </a:r>
            <a:r>
              <a:rPr dirty="0" sz="1200" b="1">
                <a:latin typeface="Arial"/>
                <a:cs typeface="Arial"/>
              </a:rPr>
              <a:t>”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b="1">
                <a:latin typeface="微软雅黑"/>
                <a:cs typeface="微软雅黑"/>
              </a:rPr>
              <a:t>确认收货界面的功能与详细描述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1800" y="5956291"/>
            <a:ext cx="4562475" cy="11525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4200" y="769935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4200" y="843278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84200" y="867090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84200" y="940433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19100" y="7238982"/>
            <a:ext cx="4936490" cy="22752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indent="-169545">
              <a:lnSpc>
                <a:spcPct val="100000"/>
              </a:lnSpc>
              <a:spcBef>
                <a:spcPts val="100"/>
              </a:spcBef>
              <a:buFont typeface="Arial"/>
              <a:buAutoNum type="arabicPeriod"/>
              <a:tabLst>
                <a:tab pos="182245" algn="l"/>
              </a:tabLst>
            </a:pPr>
            <a:r>
              <a:rPr dirty="0" sz="1200" b="1">
                <a:latin typeface="微软雅黑"/>
                <a:cs typeface="微软雅黑"/>
              </a:rPr>
              <a:t>输入订单</a:t>
            </a:r>
            <a:r>
              <a:rPr dirty="0" sz="1200" spc="-30" b="1">
                <a:latin typeface="微软雅黑"/>
                <a:cs typeface="微软雅黑"/>
              </a:rPr>
              <a:t> </a:t>
            </a:r>
            <a:r>
              <a:rPr dirty="0" sz="1200" b="1">
                <a:latin typeface="Arial"/>
                <a:cs typeface="Arial"/>
              </a:rPr>
              <a:t>ID</a:t>
            </a:r>
            <a:endParaRPr sz="1200">
              <a:latin typeface="Arial"/>
              <a:cs typeface="Arial"/>
            </a:endParaRPr>
          </a:p>
          <a:p>
            <a:pPr marL="317500">
              <a:lnSpc>
                <a:spcPct val="100000"/>
              </a:lnSpc>
              <a:spcBef>
                <a:spcPts val="1410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用户在确认收货界面输入待确认收货的订单</a:t>
            </a:r>
            <a:r>
              <a:rPr dirty="0" sz="1200" spc="-30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800">
              <a:latin typeface="微软雅黑"/>
              <a:cs typeface="微软雅黑"/>
            </a:endParaRPr>
          </a:p>
          <a:p>
            <a:pPr marL="181610" indent="-169545">
              <a:lnSpc>
                <a:spcPct val="100000"/>
              </a:lnSpc>
              <a:buFont typeface="Arial"/>
              <a:buAutoNum type="arabicPeriod" startAt="2"/>
              <a:tabLst>
                <a:tab pos="182245" algn="l"/>
              </a:tabLst>
            </a:pPr>
            <a:r>
              <a:rPr dirty="0" sz="1200" b="1">
                <a:latin typeface="微软雅黑"/>
                <a:cs typeface="微软雅黑"/>
              </a:rPr>
              <a:t>点击</a:t>
            </a:r>
            <a:r>
              <a:rPr dirty="0" sz="1200" b="1">
                <a:latin typeface="Arial"/>
                <a:cs typeface="Arial"/>
              </a:rPr>
              <a:t>“</a:t>
            </a:r>
            <a:r>
              <a:rPr dirty="0" sz="1200" b="1">
                <a:latin typeface="微软雅黑"/>
                <a:cs typeface="微软雅黑"/>
              </a:rPr>
              <a:t>确认收货</a:t>
            </a:r>
            <a:r>
              <a:rPr dirty="0" sz="1200" b="1">
                <a:latin typeface="Arial"/>
                <a:cs typeface="Arial"/>
              </a:rPr>
              <a:t>”</a:t>
            </a:r>
            <a:r>
              <a:rPr dirty="0" sz="1200" b="1">
                <a:latin typeface="微软雅黑"/>
                <a:cs typeface="微软雅黑"/>
              </a:rPr>
              <a:t>按钮</a:t>
            </a:r>
            <a:endParaRPr sz="1200">
              <a:latin typeface="微软雅黑"/>
              <a:cs typeface="微软雅黑"/>
            </a:endParaRPr>
          </a:p>
          <a:p>
            <a:pPr marL="317500" marR="5080">
              <a:lnSpc>
                <a:spcPct val="130200"/>
              </a:lnSpc>
              <a:spcBef>
                <a:spcPts val="975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用户在输入完订单</a:t>
            </a:r>
            <a:r>
              <a:rPr dirty="0" sz="1200" spc="-75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 spc="-5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后，点击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确认收货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按钮以提交确认收货请求。 系统会将订单状态更新为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已收货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微软雅黑"/>
                <a:cs typeface="微软雅黑"/>
              </a:rPr>
              <a:t>订单</a:t>
            </a:r>
            <a:r>
              <a:rPr dirty="0" sz="1200" b="1">
                <a:latin typeface="Arial"/>
                <a:cs typeface="Arial"/>
              </a:rPr>
              <a:t>ID</a:t>
            </a:r>
            <a:r>
              <a:rPr dirty="0" sz="1200" b="1">
                <a:latin typeface="微软雅黑"/>
                <a:cs typeface="微软雅黑"/>
              </a:rPr>
              <a:t>非法输入处理</a:t>
            </a:r>
            <a:endParaRPr sz="1200">
              <a:latin typeface="微软雅黑"/>
              <a:cs typeface="微软雅黑"/>
            </a:endParaRPr>
          </a:p>
          <a:p>
            <a:pPr lvl="1" marL="622300" indent="-118745">
              <a:lnSpc>
                <a:spcPct val="100000"/>
              </a:lnSpc>
              <a:spcBef>
                <a:spcPts val="1410"/>
              </a:spcBef>
              <a:buFont typeface="Arial"/>
              <a:buAutoNum type="romanLcPeriod"/>
              <a:tabLst>
                <a:tab pos="622300" algn="l"/>
              </a:tabLst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当输入订单空或者无效的时候，会返回</a:t>
            </a:r>
            <a:r>
              <a:rPr dirty="0" sz="1200" b="1">
                <a:latin typeface="Arial"/>
                <a:cs typeface="Arial"/>
              </a:rPr>
              <a:t>Invalid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Order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。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1800" y="355600"/>
            <a:ext cx="6553200" cy="18668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4200" y="247965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76300" y="2381232"/>
            <a:ext cx="398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ii.</a:t>
            </a:r>
            <a:r>
              <a:rPr dirty="0" sz="1200" spc="-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当输入的订单不存在的时候，会返回</a:t>
            </a:r>
            <a:r>
              <a:rPr dirty="0" sz="1200" b="1">
                <a:latin typeface="Arial"/>
                <a:cs typeface="Arial"/>
              </a:rPr>
              <a:t>Order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Not</a:t>
            </a:r>
            <a:r>
              <a:rPr dirty="0" sz="1200" spc="-3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Found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。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31800" y="2774941"/>
            <a:ext cx="6543675" cy="1828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4200" y="486090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36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36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2367" y="4762482"/>
            <a:ext cx="62928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iii.</a:t>
            </a:r>
            <a:r>
              <a:rPr dirty="0" sz="1200" spc="-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当订单状态不可收货时，会返回</a:t>
            </a:r>
            <a:r>
              <a:rPr dirty="0" sz="1200" b="1">
                <a:latin typeface="Arial"/>
                <a:cs typeface="Arial"/>
              </a:rPr>
              <a:t>Only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orders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with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status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"Delivered"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can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received.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。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31800" y="5146666"/>
            <a:ext cx="6915150" cy="147637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89000" y="746123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89000" y="769935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89000" y="818513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31"/>
                </a:lnTo>
                <a:lnTo>
                  <a:pt x="604" y="17583"/>
                </a:lnTo>
                <a:lnTo>
                  <a:pt x="3021" y="11734"/>
                </a:lnTo>
                <a:lnTo>
                  <a:pt x="4741" y="9153"/>
                </a:lnTo>
                <a:lnTo>
                  <a:pt x="6974" y="6943"/>
                </a:lnTo>
                <a:lnTo>
                  <a:pt x="9207" y="4686"/>
                </a:lnTo>
                <a:lnTo>
                  <a:pt x="11782" y="2981"/>
                </a:lnTo>
                <a:lnTo>
                  <a:pt x="17617" y="600"/>
                </a:lnTo>
                <a:lnTo>
                  <a:pt x="20654" y="0"/>
                </a:lnTo>
                <a:lnTo>
                  <a:pt x="26970" y="0"/>
                </a:lnTo>
                <a:lnTo>
                  <a:pt x="30007" y="600"/>
                </a:lnTo>
                <a:lnTo>
                  <a:pt x="35842" y="2981"/>
                </a:lnTo>
                <a:lnTo>
                  <a:pt x="38417" y="4686"/>
                </a:lnTo>
                <a:lnTo>
                  <a:pt x="40650" y="6943"/>
                </a:lnTo>
                <a:lnTo>
                  <a:pt x="42883" y="9153"/>
                </a:lnTo>
                <a:lnTo>
                  <a:pt x="44603" y="11734"/>
                </a:lnTo>
                <a:lnTo>
                  <a:pt x="47020" y="17583"/>
                </a:lnTo>
                <a:lnTo>
                  <a:pt x="47625" y="20631"/>
                </a:lnTo>
                <a:lnTo>
                  <a:pt x="47625" y="26955"/>
                </a:lnTo>
                <a:lnTo>
                  <a:pt x="26970" y="4760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19100" y="6753207"/>
            <a:ext cx="2717800" cy="1541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微软雅黑"/>
                <a:cs typeface="微软雅黑"/>
              </a:rPr>
              <a:t>示例确认收货流程图</a:t>
            </a:r>
            <a:endParaRPr sz="12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1410"/>
              </a:spcBef>
              <a:buClr>
                <a:srgbClr val="333333"/>
              </a:buClr>
              <a:buFont typeface="Arial"/>
              <a:buAutoNum type="arabicPeriod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确认收货界面</a:t>
            </a:r>
            <a:endParaRPr sz="1200">
              <a:latin typeface="微软雅黑"/>
              <a:cs typeface="微软雅黑"/>
            </a:endParaRPr>
          </a:p>
          <a:p>
            <a:pPr marL="622300">
              <a:lnSpc>
                <a:spcPct val="100000"/>
              </a:lnSpc>
              <a:spcBef>
                <a:spcPts val="509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用户输入订单</a:t>
            </a:r>
            <a:r>
              <a:rPr dirty="0" sz="1200" spc="-30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endParaRPr sz="1200">
              <a:latin typeface="Arial"/>
              <a:cs typeface="Arial"/>
            </a:endParaRPr>
          </a:p>
          <a:p>
            <a:pPr marL="622300">
              <a:lnSpc>
                <a:spcPct val="100000"/>
              </a:lnSpc>
              <a:spcBef>
                <a:spcPts val="434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用户点击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确认收货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</a:t>
            </a:r>
            <a:endParaRPr sz="12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509"/>
              </a:spcBef>
              <a:buClr>
                <a:srgbClr val="333333"/>
              </a:buClr>
              <a:buFont typeface="Arial"/>
              <a:buAutoNum type="arabicPeriod" startAt="2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更新订单状态</a:t>
            </a:r>
            <a:endParaRPr sz="1200">
              <a:latin typeface="微软雅黑"/>
              <a:cs typeface="微软雅黑"/>
            </a:endParaRPr>
          </a:p>
          <a:p>
            <a:pPr marL="622300">
              <a:lnSpc>
                <a:spcPct val="100000"/>
              </a:lnSpc>
              <a:spcBef>
                <a:spcPts val="434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系统将订单状态更新为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已收货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1800" y="355600"/>
            <a:ext cx="4791075" cy="29051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19100" y="3419457"/>
            <a:ext cx="2768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此时查询订单状态，订单状态为</a:t>
            </a:r>
            <a:r>
              <a:rPr dirty="0" sz="1200" b="1">
                <a:latin typeface="微软雅黑"/>
                <a:cs typeface="微软雅黑"/>
              </a:rPr>
              <a:t>已收货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。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1800" y="3813166"/>
            <a:ext cx="5648325" cy="18573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19100" y="5800708"/>
            <a:ext cx="6832600" cy="33515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微软雅黑"/>
                <a:cs typeface="微软雅黑"/>
              </a:rPr>
              <a:t>确认收货功能总结</a:t>
            </a:r>
            <a:endParaRPr sz="1200">
              <a:latin typeface="微软雅黑"/>
              <a:cs typeface="微软雅黑"/>
            </a:endParaRPr>
          </a:p>
          <a:p>
            <a:pPr marL="12700" marR="106045">
              <a:lnSpc>
                <a:spcPct val="130200"/>
              </a:lnSpc>
              <a:spcBef>
                <a:spcPts val="975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确认收货功能为用户提供了确认收到商品并更新订单状态的方式，通过简单的输入操作和订单状态更 新，确保用户能够方便地完成确认收货的流程，并及时更新订单状态。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0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b="1">
                <a:latin typeface="微软雅黑"/>
                <a:cs typeface="微软雅黑"/>
              </a:rPr>
              <a:t>商家功能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dirty="0" sz="1500" b="1">
                <a:latin typeface="微软雅黑"/>
                <a:cs typeface="微软雅黑"/>
              </a:rPr>
              <a:t>查看商品</a:t>
            </a:r>
            <a:endParaRPr sz="1500">
              <a:latin typeface="微软雅黑"/>
              <a:cs typeface="微软雅黑"/>
            </a:endParaRPr>
          </a:p>
          <a:p>
            <a:pPr marL="12700" marR="5080">
              <a:lnSpc>
                <a:spcPct val="130200"/>
              </a:lnSpc>
              <a:spcBef>
                <a:spcPts val="990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在你的应用程序中，用户可以通过点击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查看产品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按钮来浏览商家相关的产品。查看商品的过程包括登 录成功后，点击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查看产品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按钮，然后系统会查询并显示商家相关的产品信息。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微软雅黑"/>
                <a:cs typeface="微软雅黑"/>
              </a:rPr>
              <a:t>查看商品详细步骤</a:t>
            </a:r>
            <a:endParaRPr sz="12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1410"/>
              </a:spcBef>
              <a:buClr>
                <a:srgbClr val="333333"/>
              </a:buClr>
              <a:buFont typeface="Arial"/>
              <a:buAutoNum type="arabicPeriod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登录成功后，点击</a:t>
            </a:r>
            <a:r>
              <a:rPr dirty="0" sz="1200" b="1">
                <a:latin typeface="Arial"/>
                <a:cs typeface="Arial"/>
              </a:rPr>
              <a:t>“</a:t>
            </a:r>
            <a:r>
              <a:rPr dirty="0" sz="1200" b="1">
                <a:latin typeface="微软雅黑"/>
                <a:cs typeface="微软雅黑"/>
              </a:rPr>
              <a:t>查看产品</a:t>
            </a:r>
            <a:r>
              <a:rPr dirty="0" sz="1200" b="1">
                <a:latin typeface="Arial"/>
                <a:cs typeface="Arial"/>
              </a:rPr>
              <a:t>”</a:t>
            </a:r>
            <a:r>
              <a:rPr dirty="0" sz="1200" b="1">
                <a:latin typeface="微软雅黑"/>
                <a:cs typeface="微软雅黑"/>
              </a:rPr>
              <a:t>按钮</a:t>
            </a:r>
            <a:endParaRPr sz="12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509"/>
              </a:spcBef>
              <a:buClr>
                <a:srgbClr val="333333"/>
              </a:buClr>
              <a:buFont typeface="Arial"/>
              <a:buAutoNum type="arabicPeriod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查询并显示商家相关的产品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9100" y="333358"/>
            <a:ext cx="2159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微软雅黑"/>
                <a:cs typeface="微软雅黑"/>
              </a:rPr>
              <a:t>查看商品界面的功能与详细描述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31800" y="688966"/>
            <a:ext cx="4619625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4200" y="177481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4200" y="202246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4200" y="275588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84200" y="299401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89000" y="397508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89000" y="446086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89000" y="494663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19100" y="1314433"/>
            <a:ext cx="5613400" cy="37420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indent="-169545">
              <a:lnSpc>
                <a:spcPct val="100000"/>
              </a:lnSpc>
              <a:spcBef>
                <a:spcPts val="100"/>
              </a:spcBef>
              <a:buFont typeface="Arial"/>
              <a:buAutoNum type="arabicPeriod"/>
              <a:tabLst>
                <a:tab pos="182245" algn="l"/>
              </a:tabLst>
            </a:pPr>
            <a:r>
              <a:rPr dirty="0" sz="1200" b="1">
                <a:latin typeface="微软雅黑"/>
                <a:cs typeface="微软雅黑"/>
              </a:rPr>
              <a:t>登录成功后，点击</a:t>
            </a:r>
            <a:r>
              <a:rPr dirty="0" sz="1200" b="1">
                <a:latin typeface="Arial"/>
                <a:cs typeface="Arial"/>
              </a:rPr>
              <a:t>“</a:t>
            </a:r>
            <a:r>
              <a:rPr dirty="0" sz="1200" b="1">
                <a:latin typeface="微软雅黑"/>
                <a:cs typeface="微软雅黑"/>
              </a:rPr>
              <a:t>查看产品</a:t>
            </a:r>
            <a:r>
              <a:rPr dirty="0" sz="1200" b="1">
                <a:latin typeface="Arial"/>
                <a:cs typeface="Arial"/>
              </a:rPr>
              <a:t>”</a:t>
            </a:r>
            <a:r>
              <a:rPr dirty="0" sz="1200" b="1">
                <a:latin typeface="微软雅黑"/>
                <a:cs typeface="微软雅黑"/>
              </a:rPr>
              <a:t>按钮</a:t>
            </a:r>
            <a:endParaRPr sz="1200">
              <a:latin typeface="微软雅黑"/>
              <a:cs typeface="微软雅黑"/>
            </a:endParaRPr>
          </a:p>
          <a:p>
            <a:pPr marL="317500" marR="5080">
              <a:lnSpc>
                <a:spcPct val="135400"/>
              </a:lnSpc>
              <a:spcBef>
                <a:spcPts val="900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用户在登录成功后，可以点击界面上的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查看产品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按钮以浏览商家相关的产品。 系统会接收用户的请求并进行相应的查询。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800">
              <a:latin typeface="微软雅黑"/>
              <a:cs typeface="微软雅黑"/>
            </a:endParaRPr>
          </a:p>
          <a:p>
            <a:pPr marL="181610" indent="-169545">
              <a:lnSpc>
                <a:spcPct val="100000"/>
              </a:lnSpc>
              <a:buFont typeface="Arial"/>
              <a:buAutoNum type="arabicPeriod" startAt="2"/>
              <a:tabLst>
                <a:tab pos="182245" algn="l"/>
              </a:tabLst>
            </a:pPr>
            <a:r>
              <a:rPr dirty="0" sz="1200" b="1">
                <a:latin typeface="微软雅黑"/>
                <a:cs typeface="微软雅黑"/>
              </a:rPr>
              <a:t>查询并显示商家相关的产品</a:t>
            </a:r>
            <a:endParaRPr sz="1200">
              <a:latin typeface="微软雅黑"/>
              <a:cs typeface="微软雅黑"/>
            </a:endParaRPr>
          </a:p>
          <a:p>
            <a:pPr marL="317500" marR="715645">
              <a:lnSpc>
                <a:spcPct val="130200"/>
              </a:lnSpc>
              <a:spcBef>
                <a:spcPts val="975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系统会从数据库中查询商家相关的产品信息，并在界面上显示出来。 用户可以浏览所有产品的详细信息，如产品名称、价格、描述等。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微软雅黑"/>
                <a:cs typeface="微软雅黑"/>
              </a:rPr>
              <a:t>示例查看商品流程图</a:t>
            </a:r>
            <a:endParaRPr sz="1200">
              <a:latin typeface="微软雅黑"/>
              <a:cs typeface="微软雅黑"/>
            </a:endParaRPr>
          </a:p>
          <a:p>
            <a:pPr lvl="1" marL="317500" indent="-169545">
              <a:lnSpc>
                <a:spcPct val="100000"/>
              </a:lnSpc>
              <a:spcBef>
                <a:spcPts val="1410"/>
              </a:spcBef>
              <a:buClr>
                <a:srgbClr val="333333"/>
              </a:buClr>
              <a:buFont typeface="Arial"/>
              <a:buAutoNum type="arabicPeriod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查看商品界面</a:t>
            </a:r>
            <a:endParaRPr sz="1200">
              <a:latin typeface="微软雅黑"/>
              <a:cs typeface="微软雅黑"/>
            </a:endParaRPr>
          </a:p>
          <a:p>
            <a:pPr marL="622300">
              <a:lnSpc>
                <a:spcPct val="100000"/>
              </a:lnSpc>
              <a:spcBef>
                <a:spcPts val="509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用户登录成功后，点击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查看产品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</a:t>
            </a:r>
            <a:endParaRPr sz="1200">
              <a:latin typeface="微软雅黑"/>
              <a:cs typeface="微软雅黑"/>
            </a:endParaRPr>
          </a:p>
          <a:p>
            <a:pPr lvl="1" marL="317500" indent="-169545">
              <a:lnSpc>
                <a:spcPct val="100000"/>
              </a:lnSpc>
              <a:spcBef>
                <a:spcPts val="434"/>
              </a:spcBef>
              <a:buClr>
                <a:srgbClr val="333333"/>
              </a:buClr>
              <a:buFont typeface="Arial"/>
              <a:buAutoNum type="arabicPeriod" startAt="2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查询商品信息</a:t>
            </a:r>
            <a:endParaRPr sz="1200">
              <a:latin typeface="微软雅黑"/>
              <a:cs typeface="微软雅黑"/>
            </a:endParaRPr>
          </a:p>
          <a:p>
            <a:pPr marL="622300">
              <a:lnSpc>
                <a:spcPct val="100000"/>
              </a:lnSpc>
              <a:spcBef>
                <a:spcPts val="509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系统从数据库中获取商家相关的产品信息</a:t>
            </a:r>
            <a:endParaRPr sz="1200">
              <a:latin typeface="微软雅黑"/>
              <a:cs typeface="微软雅黑"/>
            </a:endParaRPr>
          </a:p>
          <a:p>
            <a:pPr lvl="1" marL="317500" indent="-169545">
              <a:lnSpc>
                <a:spcPct val="100000"/>
              </a:lnSpc>
              <a:spcBef>
                <a:spcPts val="509"/>
              </a:spcBef>
              <a:buClr>
                <a:srgbClr val="333333"/>
              </a:buClr>
              <a:buFont typeface="Arial"/>
              <a:buAutoNum type="arabicPeriod" startAt="3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显示商品信息</a:t>
            </a:r>
            <a:endParaRPr sz="1200">
              <a:latin typeface="微软雅黑"/>
              <a:cs typeface="微软雅黑"/>
            </a:endParaRPr>
          </a:p>
          <a:p>
            <a:pPr marL="622300">
              <a:lnSpc>
                <a:spcPct val="100000"/>
              </a:lnSpc>
              <a:spcBef>
                <a:spcPts val="434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系统显示商家相关的产品信息给用户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31800" y="5241916"/>
            <a:ext cx="6248400" cy="12382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19100" y="6610333"/>
            <a:ext cx="6883400" cy="28467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微软雅黑"/>
                <a:cs typeface="微软雅黑"/>
              </a:rPr>
              <a:t>查看商品功能总结</a:t>
            </a:r>
            <a:endParaRPr sz="1200">
              <a:latin typeface="微软雅黑"/>
              <a:cs typeface="微软雅黑"/>
            </a:endParaRPr>
          </a:p>
          <a:p>
            <a:pPr marL="12700" marR="5080">
              <a:lnSpc>
                <a:spcPct val="130200"/>
              </a:lnSpc>
              <a:spcBef>
                <a:spcPts val="975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查看商品功能为用户提供了方便快捷地浏览商家相关产品的方式，通过简单的操作步骤和详细的信息展 示，确保用户能够轻松地了解商家提供的产品信息。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500" b="1">
                <a:latin typeface="微软雅黑"/>
                <a:cs typeface="微软雅黑"/>
              </a:rPr>
              <a:t>添加产品</a:t>
            </a:r>
            <a:endParaRPr sz="1500">
              <a:latin typeface="微软雅黑"/>
              <a:cs typeface="微软雅黑"/>
            </a:endParaRPr>
          </a:p>
          <a:p>
            <a:pPr marL="12700" marR="5080">
              <a:lnSpc>
                <a:spcPct val="135400"/>
              </a:lnSpc>
              <a:spcBef>
                <a:spcPts val="915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在你的应用程序中，商家可以通过添加产品界面将新产品添加到数据库中。添加产品的过程包括输入产 品</a:t>
            </a:r>
            <a:r>
              <a:rPr dirty="0" sz="1200" spc="-30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、产品名称、价格和库存，然后点击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添加产品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按钮提交信息。</a:t>
            </a:r>
            <a:endParaRPr sz="1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200" b="1">
                <a:latin typeface="微软雅黑"/>
                <a:cs typeface="微软雅黑"/>
              </a:rPr>
              <a:t>添加产品详细步骤</a:t>
            </a:r>
            <a:endParaRPr sz="12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1410"/>
              </a:spcBef>
              <a:buClr>
                <a:srgbClr val="333333"/>
              </a:buClr>
              <a:buFont typeface="Arial"/>
              <a:buAutoNum type="arabicPeriod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输入产品</a:t>
            </a:r>
            <a:r>
              <a:rPr dirty="0" sz="1200" spc="-30" b="1">
                <a:latin typeface="微软雅黑"/>
                <a:cs typeface="微软雅黑"/>
              </a:rPr>
              <a:t> </a:t>
            </a:r>
            <a:r>
              <a:rPr dirty="0" sz="1200" b="1">
                <a:latin typeface="Arial"/>
                <a:cs typeface="Arial"/>
              </a:rPr>
              <a:t>ID</a:t>
            </a:r>
            <a:r>
              <a:rPr dirty="0" sz="1200" b="1">
                <a:latin typeface="微软雅黑"/>
                <a:cs typeface="微软雅黑"/>
              </a:rPr>
              <a:t>、产品名称、价格和库存</a:t>
            </a:r>
            <a:endParaRPr sz="12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509"/>
              </a:spcBef>
              <a:buClr>
                <a:srgbClr val="333333"/>
              </a:buClr>
              <a:buFont typeface="Arial"/>
              <a:buAutoNum type="arabicPeriod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点击</a:t>
            </a:r>
            <a:r>
              <a:rPr dirty="0" sz="1200" b="1">
                <a:latin typeface="Arial"/>
                <a:cs typeface="Arial"/>
              </a:rPr>
              <a:t>“</a:t>
            </a:r>
            <a:r>
              <a:rPr dirty="0" sz="1200" b="1">
                <a:latin typeface="微软雅黑"/>
                <a:cs typeface="微软雅黑"/>
              </a:rPr>
              <a:t>添加产品</a:t>
            </a:r>
            <a:r>
              <a:rPr dirty="0" sz="1200" b="1">
                <a:latin typeface="Arial"/>
                <a:cs typeface="Arial"/>
              </a:rPr>
              <a:t>”</a:t>
            </a:r>
            <a:r>
              <a:rPr dirty="0" sz="1200" b="1">
                <a:latin typeface="微软雅黑"/>
                <a:cs typeface="微软雅黑"/>
              </a:rPr>
              <a:t>按钮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9100" y="361934"/>
            <a:ext cx="2159000" cy="579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7955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3.</a:t>
            </a:r>
            <a:r>
              <a:rPr dirty="0" sz="1200" spc="-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 b="1">
                <a:latin typeface="微软雅黑"/>
                <a:cs typeface="微软雅黑"/>
              </a:rPr>
              <a:t>将新产品添加到数据库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微软雅黑"/>
                <a:cs typeface="微软雅黑"/>
              </a:rPr>
              <a:t>添加产品界面的功能与详细描述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31800" y="1089016"/>
            <a:ext cx="4591050" cy="213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4200" y="381316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89000" y="406080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47625" y="26955"/>
                </a:lnTo>
                <a:lnTo>
                  <a:pt x="47020" y="29984"/>
                </a:lnTo>
                <a:lnTo>
                  <a:pt x="45812" y="32908"/>
                </a:lnTo>
                <a:lnTo>
                  <a:pt x="44603" y="35833"/>
                </a:lnTo>
                <a:lnTo>
                  <a:pt x="32925" y="45786"/>
                </a:lnTo>
                <a:lnTo>
                  <a:pt x="30007" y="46996"/>
                </a:lnTo>
                <a:lnTo>
                  <a:pt x="26970" y="47605"/>
                </a:lnTo>
                <a:lnTo>
                  <a:pt x="23812" y="47625"/>
                </a:lnTo>
                <a:lnTo>
                  <a:pt x="20654" y="47605"/>
                </a:lnTo>
                <a:lnTo>
                  <a:pt x="17617" y="46996"/>
                </a:lnTo>
                <a:lnTo>
                  <a:pt x="14699" y="45786"/>
                </a:lnTo>
                <a:lnTo>
                  <a:pt x="11782" y="44577"/>
                </a:lnTo>
                <a:lnTo>
                  <a:pt x="0" y="26955"/>
                </a:lnTo>
                <a:lnTo>
                  <a:pt x="0" y="23812"/>
                </a:lnTo>
                <a:lnTo>
                  <a:pt x="0" y="20631"/>
                </a:lnTo>
                <a:lnTo>
                  <a:pt x="604" y="17602"/>
                </a:lnTo>
                <a:lnTo>
                  <a:pt x="1812" y="14678"/>
                </a:lnTo>
                <a:lnTo>
                  <a:pt x="3021" y="11734"/>
                </a:lnTo>
                <a:lnTo>
                  <a:pt x="4741" y="9172"/>
                </a:lnTo>
                <a:lnTo>
                  <a:pt x="6974" y="6953"/>
                </a:lnTo>
                <a:lnTo>
                  <a:pt x="9207" y="4705"/>
                </a:lnTo>
                <a:lnTo>
                  <a:pt x="11782" y="2990"/>
                </a:lnTo>
                <a:lnTo>
                  <a:pt x="14699" y="1790"/>
                </a:lnTo>
                <a:lnTo>
                  <a:pt x="17617" y="600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30007" y="600"/>
                </a:lnTo>
                <a:lnTo>
                  <a:pt x="32925" y="1800"/>
                </a:lnTo>
                <a:lnTo>
                  <a:pt x="35842" y="2990"/>
                </a:lnTo>
                <a:lnTo>
                  <a:pt x="38417" y="4705"/>
                </a:lnTo>
                <a:lnTo>
                  <a:pt x="40650" y="6953"/>
                </a:lnTo>
                <a:lnTo>
                  <a:pt x="42883" y="9172"/>
                </a:lnTo>
                <a:lnTo>
                  <a:pt x="44603" y="11734"/>
                </a:lnTo>
                <a:lnTo>
                  <a:pt x="45812" y="14658"/>
                </a:lnTo>
                <a:lnTo>
                  <a:pt x="47020" y="17583"/>
                </a:lnTo>
                <a:lnTo>
                  <a:pt x="47625" y="20631"/>
                </a:lnTo>
                <a:lnTo>
                  <a:pt x="47625" y="23812"/>
                </a:lnTo>
                <a:close/>
              </a:path>
            </a:pathLst>
          </a:custGeom>
          <a:ln w="9525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89000" y="429892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23812" y="47625"/>
                </a:lnTo>
                <a:lnTo>
                  <a:pt x="20654" y="47605"/>
                </a:lnTo>
                <a:lnTo>
                  <a:pt x="17617" y="46977"/>
                </a:lnTo>
                <a:lnTo>
                  <a:pt x="14699" y="45767"/>
                </a:lnTo>
                <a:lnTo>
                  <a:pt x="11782" y="44557"/>
                </a:lnTo>
                <a:lnTo>
                  <a:pt x="1812" y="32870"/>
                </a:lnTo>
                <a:lnTo>
                  <a:pt x="604" y="29965"/>
                </a:lnTo>
                <a:lnTo>
                  <a:pt x="0" y="26955"/>
                </a:lnTo>
                <a:lnTo>
                  <a:pt x="0" y="23812"/>
                </a:lnTo>
                <a:lnTo>
                  <a:pt x="0" y="20631"/>
                </a:lnTo>
                <a:lnTo>
                  <a:pt x="604" y="17583"/>
                </a:lnTo>
                <a:lnTo>
                  <a:pt x="1812" y="14678"/>
                </a:lnTo>
                <a:lnTo>
                  <a:pt x="3021" y="11753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45812" y="14678"/>
                </a:lnTo>
                <a:lnTo>
                  <a:pt x="47020" y="17583"/>
                </a:lnTo>
                <a:lnTo>
                  <a:pt x="47625" y="20631"/>
                </a:lnTo>
                <a:lnTo>
                  <a:pt x="47625" y="23812"/>
                </a:lnTo>
                <a:close/>
              </a:path>
            </a:pathLst>
          </a:custGeom>
          <a:ln w="9525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89000" y="454657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47625" y="26955"/>
                </a:lnTo>
                <a:lnTo>
                  <a:pt x="47020" y="29984"/>
                </a:lnTo>
                <a:lnTo>
                  <a:pt x="45812" y="32889"/>
                </a:lnTo>
                <a:lnTo>
                  <a:pt x="44603" y="35813"/>
                </a:lnTo>
                <a:lnTo>
                  <a:pt x="32925" y="45786"/>
                </a:lnTo>
                <a:lnTo>
                  <a:pt x="30007" y="46996"/>
                </a:lnTo>
                <a:lnTo>
                  <a:pt x="26970" y="47605"/>
                </a:lnTo>
                <a:lnTo>
                  <a:pt x="23812" y="47625"/>
                </a:lnTo>
                <a:lnTo>
                  <a:pt x="20654" y="47605"/>
                </a:lnTo>
                <a:lnTo>
                  <a:pt x="17617" y="46996"/>
                </a:lnTo>
                <a:lnTo>
                  <a:pt x="14699" y="45786"/>
                </a:lnTo>
                <a:lnTo>
                  <a:pt x="11782" y="44577"/>
                </a:lnTo>
                <a:lnTo>
                  <a:pt x="1812" y="32889"/>
                </a:lnTo>
                <a:lnTo>
                  <a:pt x="604" y="29984"/>
                </a:lnTo>
                <a:lnTo>
                  <a:pt x="0" y="26955"/>
                </a:lnTo>
                <a:lnTo>
                  <a:pt x="0" y="23812"/>
                </a:lnTo>
                <a:lnTo>
                  <a:pt x="0" y="20631"/>
                </a:lnTo>
                <a:lnTo>
                  <a:pt x="6974" y="6953"/>
                </a:lnTo>
                <a:lnTo>
                  <a:pt x="9207" y="4724"/>
                </a:lnTo>
                <a:lnTo>
                  <a:pt x="11782" y="3009"/>
                </a:lnTo>
                <a:lnTo>
                  <a:pt x="14699" y="1800"/>
                </a:lnTo>
                <a:lnTo>
                  <a:pt x="17617" y="600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40650" y="6953"/>
                </a:lnTo>
                <a:lnTo>
                  <a:pt x="42883" y="9172"/>
                </a:lnTo>
                <a:lnTo>
                  <a:pt x="44603" y="11753"/>
                </a:lnTo>
                <a:lnTo>
                  <a:pt x="45812" y="14678"/>
                </a:lnTo>
                <a:lnTo>
                  <a:pt x="47020" y="17602"/>
                </a:lnTo>
                <a:lnTo>
                  <a:pt x="47625" y="20631"/>
                </a:lnTo>
                <a:lnTo>
                  <a:pt x="47625" y="23812"/>
                </a:lnTo>
                <a:close/>
              </a:path>
            </a:pathLst>
          </a:custGeom>
          <a:ln w="9525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89000" y="478470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47625" y="23812"/>
                </a:moveTo>
                <a:lnTo>
                  <a:pt x="47625" y="26955"/>
                </a:lnTo>
                <a:lnTo>
                  <a:pt x="47020" y="29965"/>
                </a:lnTo>
                <a:lnTo>
                  <a:pt x="45812" y="32889"/>
                </a:lnTo>
                <a:lnTo>
                  <a:pt x="44603" y="35813"/>
                </a:lnTo>
                <a:lnTo>
                  <a:pt x="23812" y="47625"/>
                </a:lnTo>
                <a:lnTo>
                  <a:pt x="20654" y="47605"/>
                </a:lnTo>
                <a:lnTo>
                  <a:pt x="17617" y="46977"/>
                </a:lnTo>
                <a:lnTo>
                  <a:pt x="14699" y="45767"/>
                </a:lnTo>
                <a:lnTo>
                  <a:pt x="11782" y="44557"/>
                </a:lnTo>
                <a:lnTo>
                  <a:pt x="0" y="26955"/>
                </a:lnTo>
                <a:lnTo>
                  <a:pt x="0" y="23812"/>
                </a:lnTo>
                <a:lnTo>
                  <a:pt x="0" y="20631"/>
                </a:lnTo>
                <a:lnTo>
                  <a:pt x="6974" y="6953"/>
                </a:lnTo>
                <a:lnTo>
                  <a:pt x="9207" y="4724"/>
                </a:lnTo>
                <a:lnTo>
                  <a:pt x="11782" y="2990"/>
                </a:lnTo>
                <a:lnTo>
                  <a:pt x="14699" y="1790"/>
                </a:lnTo>
                <a:lnTo>
                  <a:pt x="17617" y="600"/>
                </a:lnTo>
                <a:lnTo>
                  <a:pt x="20654" y="0"/>
                </a:lnTo>
                <a:lnTo>
                  <a:pt x="23812" y="0"/>
                </a:lnTo>
                <a:lnTo>
                  <a:pt x="26970" y="0"/>
                </a:lnTo>
                <a:lnTo>
                  <a:pt x="40650" y="6953"/>
                </a:lnTo>
                <a:lnTo>
                  <a:pt x="42883" y="9172"/>
                </a:lnTo>
                <a:lnTo>
                  <a:pt x="44603" y="11734"/>
                </a:lnTo>
                <a:lnTo>
                  <a:pt x="45812" y="14658"/>
                </a:lnTo>
                <a:lnTo>
                  <a:pt x="47020" y="17583"/>
                </a:lnTo>
                <a:lnTo>
                  <a:pt x="47625" y="20631"/>
                </a:lnTo>
                <a:lnTo>
                  <a:pt x="47625" y="23812"/>
                </a:lnTo>
                <a:close/>
              </a:path>
            </a:pathLst>
          </a:custGeom>
          <a:ln w="9525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84200" y="551813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84200" y="576578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84200" y="649921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36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36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19100" y="3352784"/>
            <a:ext cx="5613400" cy="3256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indent="-169545">
              <a:lnSpc>
                <a:spcPct val="100000"/>
              </a:lnSpc>
              <a:spcBef>
                <a:spcPts val="100"/>
              </a:spcBef>
              <a:buFont typeface="Arial"/>
              <a:buAutoNum type="arabicPeriod"/>
              <a:tabLst>
                <a:tab pos="182245" algn="l"/>
              </a:tabLst>
            </a:pPr>
            <a:r>
              <a:rPr dirty="0" sz="1200" b="1">
                <a:latin typeface="微软雅黑"/>
                <a:cs typeface="微软雅黑"/>
              </a:rPr>
              <a:t>输入产品</a:t>
            </a:r>
            <a:r>
              <a:rPr dirty="0" sz="1200" spc="-30" b="1">
                <a:latin typeface="微软雅黑"/>
                <a:cs typeface="微软雅黑"/>
              </a:rPr>
              <a:t> </a:t>
            </a:r>
            <a:r>
              <a:rPr dirty="0" sz="1200" b="1">
                <a:latin typeface="Arial"/>
                <a:cs typeface="Arial"/>
              </a:rPr>
              <a:t>ID</a:t>
            </a:r>
            <a:r>
              <a:rPr dirty="0" sz="1200" b="1">
                <a:latin typeface="微软雅黑"/>
                <a:cs typeface="微软雅黑"/>
              </a:rPr>
              <a:t>、产品名称、价格和库存</a:t>
            </a:r>
            <a:endParaRPr sz="1200">
              <a:latin typeface="微软雅黑"/>
              <a:cs typeface="微软雅黑"/>
            </a:endParaRPr>
          </a:p>
          <a:p>
            <a:pPr marL="622300" marR="2239645" indent="-304800">
              <a:lnSpc>
                <a:spcPct val="132800"/>
              </a:lnSpc>
              <a:spcBef>
                <a:spcPts val="935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商家在添加产品界面输入新产品的相关信息。 产品</a:t>
            </a:r>
            <a:r>
              <a:rPr dirty="0" sz="1200" spc="-55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：唯一标识一个产品的标识符。 产品名称：产品的名称。</a:t>
            </a:r>
            <a:endParaRPr sz="1200">
              <a:latin typeface="微软雅黑"/>
              <a:cs typeface="微软雅黑"/>
            </a:endParaRPr>
          </a:p>
          <a:p>
            <a:pPr marL="622300">
              <a:lnSpc>
                <a:spcPct val="100000"/>
              </a:lnSpc>
              <a:spcBef>
                <a:spcPts val="509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价格：产品的价格。</a:t>
            </a:r>
            <a:endParaRPr sz="1200">
              <a:latin typeface="微软雅黑"/>
              <a:cs typeface="微软雅黑"/>
            </a:endParaRPr>
          </a:p>
          <a:p>
            <a:pPr marL="622300">
              <a:lnSpc>
                <a:spcPct val="100000"/>
              </a:lnSpc>
              <a:spcBef>
                <a:spcPts val="434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库存：产品的库存数量。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800">
              <a:latin typeface="微软雅黑"/>
              <a:cs typeface="微软雅黑"/>
            </a:endParaRPr>
          </a:p>
          <a:p>
            <a:pPr marL="181610" indent="-169545">
              <a:lnSpc>
                <a:spcPct val="100000"/>
              </a:lnSpc>
              <a:buFont typeface="Arial"/>
              <a:buAutoNum type="arabicPeriod" startAt="2"/>
              <a:tabLst>
                <a:tab pos="182245" algn="l"/>
              </a:tabLst>
            </a:pPr>
            <a:r>
              <a:rPr dirty="0" sz="1200" b="1">
                <a:latin typeface="微软雅黑"/>
                <a:cs typeface="微软雅黑"/>
              </a:rPr>
              <a:t>点击</a:t>
            </a:r>
            <a:r>
              <a:rPr dirty="0" sz="1200" b="1">
                <a:latin typeface="Arial"/>
                <a:cs typeface="Arial"/>
              </a:rPr>
              <a:t>“</a:t>
            </a:r>
            <a:r>
              <a:rPr dirty="0" sz="1200" b="1">
                <a:latin typeface="微软雅黑"/>
                <a:cs typeface="微软雅黑"/>
              </a:rPr>
              <a:t>添加产品</a:t>
            </a:r>
            <a:r>
              <a:rPr dirty="0" sz="1200" b="1">
                <a:latin typeface="Arial"/>
                <a:cs typeface="Arial"/>
              </a:rPr>
              <a:t>”</a:t>
            </a:r>
            <a:r>
              <a:rPr dirty="0" sz="1200" b="1">
                <a:latin typeface="微软雅黑"/>
                <a:cs typeface="微软雅黑"/>
              </a:rPr>
              <a:t>按钮</a:t>
            </a:r>
            <a:endParaRPr sz="1200">
              <a:latin typeface="微软雅黑"/>
              <a:cs typeface="微软雅黑"/>
            </a:endParaRPr>
          </a:p>
          <a:p>
            <a:pPr marL="317500" marR="5080">
              <a:lnSpc>
                <a:spcPct val="135400"/>
              </a:lnSpc>
              <a:spcBef>
                <a:spcPts val="900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商家在输入完所有产品信息后，点击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添加产品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按钮以提交新产品的添加请求。 系统会验证输入的合法性，并将新产品信息保存到数据库中。</a:t>
            </a:r>
            <a:endParaRPr sz="1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200" b="1">
                <a:latin typeface="微软雅黑"/>
                <a:cs typeface="微软雅黑"/>
              </a:rPr>
              <a:t>添加产品合法性检测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800">
              <a:latin typeface="微软雅黑"/>
              <a:cs typeface="微软雅黑"/>
            </a:endParaRPr>
          </a:p>
          <a:p>
            <a:pPr lvl="1" marL="622300" indent="-118745">
              <a:lnSpc>
                <a:spcPct val="100000"/>
              </a:lnSpc>
              <a:buFont typeface="Arial"/>
              <a:buAutoNum type="romanLcPeriod"/>
              <a:tabLst>
                <a:tab pos="622300" algn="l"/>
              </a:tabLst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当有一部分为空的时候，会显示</a:t>
            </a:r>
            <a:r>
              <a:rPr dirty="0" sz="1200" b="1">
                <a:latin typeface="Arial"/>
                <a:cs typeface="Arial"/>
              </a:rPr>
              <a:t>cannot</a:t>
            </a:r>
            <a:r>
              <a:rPr dirty="0" sz="1200" spc="-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be empty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31800" y="6784966"/>
            <a:ext cx="6789267" cy="1905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1800" y="355600"/>
            <a:ext cx="6906858" cy="18764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4200" y="248918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36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36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76300" y="2390759"/>
            <a:ext cx="36925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ii.</a:t>
            </a:r>
            <a:r>
              <a:rPr dirty="0" sz="1200" spc="-4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当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price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的输入为非法的时候，会显示</a:t>
            </a:r>
            <a:r>
              <a:rPr dirty="0" sz="1200" b="1">
                <a:latin typeface="Arial"/>
                <a:cs typeface="Arial"/>
              </a:rPr>
              <a:t>Invalid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Price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。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31800" y="2774941"/>
            <a:ext cx="6915150" cy="16763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4200" y="470851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2367" y="4610084"/>
            <a:ext cx="38195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iii.</a:t>
            </a:r>
            <a:r>
              <a:rPr dirty="0" sz="1200" spc="-4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当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Stock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的输入为非法的时候，会显示</a:t>
            </a:r>
            <a:r>
              <a:rPr dirty="0" sz="1200" b="1">
                <a:latin typeface="Arial"/>
                <a:cs typeface="Arial"/>
              </a:rPr>
              <a:t>Invalid</a:t>
            </a:r>
            <a:r>
              <a:rPr dirty="0" sz="1200" spc="-4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Stock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。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31800" y="5003791"/>
            <a:ext cx="6802403" cy="16192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84200" y="688021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45194" y="6781784"/>
            <a:ext cx="64865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0">
                <a:solidFill>
                  <a:srgbClr val="333333"/>
                </a:solidFill>
                <a:latin typeface="Arial"/>
                <a:cs typeface="Arial"/>
              </a:rPr>
              <a:t>iv.</a:t>
            </a:r>
            <a:r>
              <a:rPr dirty="0" sz="1200" spc="-2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当输入的产品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已经存在时，系统会返回相应的错误信息，例如</a:t>
            </a:r>
            <a:r>
              <a:rPr dirty="0" sz="1200" spc="-50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 b="1">
                <a:latin typeface="Arial"/>
                <a:cs typeface="Arial"/>
              </a:rPr>
              <a:t>ProductID</a:t>
            </a:r>
            <a:r>
              <a:rPr dirty="0" sz="1200" spc="-6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Already</a:t>
            </a:r>
            <a:r>
              <a:rPr dirty="0" sz="1200" spc="-2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Exists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。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31800" y="7175491"/>
            <a:ext cx="6734080" cy="19145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9000" y="104138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36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36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89000" y="127951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89000" y="177481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89000" y="201293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89000" y="249871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89000" y="274636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19100" y="333360"/>
            <a:ext cx="4597400" cy="29229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微软雅黑"/>
                <a:cs typeface="微软雅黑"/>
              </a:rPr>
              <a:t>示例添加产品流程图</a:t>
            </a:r>
            <a:endParaRPr sz="12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1410"/>
              </a:spcBef>
              <a:buClr>
                <a:srgbClr val="333333"/>
              </a:buClr>
              <a:buFont typeface="Arial"/>
              <a:buAutoNum type="arabicPeriod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添加产品界面</a:t>
            </a:r>
            <a:endParaRPr sz="1200">
              <a:latin typeface="微软雅黑"/>
              <a:cs typeface="微软雅黑"/>
            </a:endParaRPr>
          </a:p>
          <a:p>
            <a:pPr marL="622300" marR="1181735">
              <a:lnSpc>
                <a:spcPct val="130200"/>
              </a:lnSpc>
              <a:spcBef>
                <a:spcPts val="75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商家输入产品</a:t>
            </a:r>
            <a:r>
              <a:rPr dirty="0" sz="1200" spc="-125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、产品名称、价格和库存 商家点击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添加产品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</a:t>
            </a:r>
            <a:endParaRPr sz="12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509"/>
              </a:spcBef>
              <a:buClr>
                <a:srgbClr val="333333"/>
              </a:buClr>
              <a:buFont typeface="Arial"/>
              <a:buAutoNum type="arabicPeriod" startAt="2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保存产品到数据库</a:t>
            </a:r>
            <a:endParaRPr sz="1200">
              <a:latin typeface="微软雅黑"/>
              <a:cs typeface="微软雅黑"/>
            </a:endParaRPr>
          </a:p>
          <a:p>
            <a:pPr marL="622300">
              <a:lnSpc>
                <a:spcPct val="100000"/>
              </a:lnSpc>
              <a:spcBef>
                <a:spcPts val="509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系统验证输入信息的合法性</a:t>
            </a:r>
            <a:endParaRPr sz="1200">
              <a:latin typeface="微软雅黑"/>
              <a:cs typeface="微软雅黑"/>
            </a:endParaRPr>
          </a:p>
          <a:p>
            <a:pPr marL="622300">
              <a:lnSpc>
                <a:spcPct val="100000"/>
              </a:lnSpc>
              <a:spcBef>
                <a:spcPts val="434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系统将新产品信息保存到数据库中</a:t>
            </a:r>
            <a:endParaRPr sz="12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509"/>
              </a:spcBef>
              <a:buClr>
                <a:srgbClr val="333333"/>
              </a:buClr>
              <a:buFont typeface="Arial"/>
              <a:buAutoNum type="arabicPeriod" startAt="3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反馈商家</a:t>
            </a:r>
            <a:endParaRPr sz="1200">
              <a:latin typeface="微软雅黑"/>
              <a:cs typeface="微软雅黑"/>
            </a:endParaRPr>
          </a:p>
          <a:p>
            <a:pPr marL="622300">
              <a:lnSpc>
                <a:spcPct val="100000"/>
              </a:lnSpc>
              <a:spcBef>
                <a:spcPts val="434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添加成功：显示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添加产品成功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消息</a:t>
            </a:r>
            <a:endParaRPr sz="1200">
              <a:latin typeface="微软雅黑"/>
              <a:cs typeface="微软雅黑"/>
            </a:endParaRPr>
          </a:p>
          <a:p>
            <a:pPr marL="622300">
              <a:lnSpc>
                <a:spcPct val="100000"/>
              </a:lnSpc>
              <a:spcBef>
                <a:spcPts val="509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添加失败：显示具体的错误信息，提示商家需要修改的内容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当成功添加新产品的时候，就会反馈</a:t>
            </a:r>
            <a:r>
              <a:rPr dirty="0" sz="1200" b="1">
                <a:latin typeface="Arial"/>
                <a:cs typeface="Arial"/>
              </a:rPr>
              <a:t>Product</a:t>
            </a:r>
            <a:r>
              <a:rPr dirty="0" sz="1200" spc="-9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Added</a:t>
            </a:r>
            <a:r>
              <a:rPr dirty="0" sz="1200" spc="-5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Successfully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31800" y="3432166"/>
            <a:ext cx="6915150" cy="20478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19100" y="5638785"/>
            <a:ext cx="4445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与此同时，右侧显示部分同时也会显示包括新的商品的商品清单。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31800" y="6032491"/>
            <a:ext cx="6019800" cy="14668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19100" y="7629510"/>
            <a:ext cx="6883400" cy="1875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微软雅黑"/>
                <a:cs typeface="微软雅黑"/>
              </a:rPr>
              <a:t>添加产品功能总结</a:t>
            </a:r>
            <a:endParaRPr sz="1200">
              <a:latin typeface="微软雅黑"/>
              <a:cs typeface="微软雅黑"/>
            </a:endParaRPr>
          </a:p>
          <a:p>
            <a:pPr marL="12700" marR="5080">
              <a:lnSpc>
                <a:spcPct val="135400"/>
              </a:lnSpc>
              <a:spcBef>
                <a:spcPts val="900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添加产品功能为商家提供了方便快捷地添加新产品的方式，通过详细的输入验证和反馈商家添加结果， 确保商家能够顺利地管理其产品信息，并提高系统的安全性和用户体验。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1500" b="1">
                <a:latin typeface="微软雅黑"/>
                <a:cs typeface="微软雅黑"/>
              </a:rPr>
              <a:t>查询商单</a:t>
            </a:r>
            <a:endParaRPr sz="1500">
              <a:latin typeface="微软雅黑"/>
              <a:cs typeface="微软雅黑"/>
            </a:endParaRPr>
          </a:p>
          <a:p>
            <a:pPr marL="12700" marR="5080">
              <a:lnSpc>
                <a:spcPct val="135400"/>
              </a:lnSpc>
              <a:spcBef>
                <a:spcPts val="915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在你的应用程序中，商家可以通过点击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查询订单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按钮来查看所有订单。查询商单的过程包括点击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查询 订单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按钮，系统查询商家所有的订单，并在界面上显示订单信息。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9100" y="333361"/>
            <a:ext cx="2159000" cy="1179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微软雅黑"/>
                <a:cs typeface="微软雅黑"/>
              </a:rPr>
              <a:t>查询商单详细步骤</a:t>
            </a:r>
            <a:endParaRPr sz="12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1410"/>
              </a:spcBef>
              <a:buClr>
                <a:srgbClr val="333333"/>
              </a:buClr>
              <a:buFont typeface="Arial"/>
              <a:buAutoNum type="arabicPeriod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点击</a:t>
            </a:r>
            <a:r>
              <a:rPr dirty="0" sz="1200" b="1">
                <a:latin typeface="Arial"/>
                <a:cs typeface="Arial"/>
              </a:rPr>
              <a:t>“</a:t>
            </a:r>
            <a:r>
              <a:rPr dirty="0" sz="1200" b="1">
                <a:latin typeface="微软雅黑"/>
                <a:cs typeface="微软雅黑"/>
              </a:rPr>
              <a:t>查询订单</a:t>
            </a:r>
            <a:r>
              <a:rPr dirty="0" sz="1200" b="1">
                <a:latin typeface="Arial"/>
                <a:cs typeface="Arial"/>
              </a:rPr>
              <a:t>”</a:t>
            </a:r>
            <a:r>
              <a:rPr dirty="0" sz="1200" b="1">
                <a:latin typeface="微软雅黑"/>
                <a:cs typeface="微软雅黑"/>
              </a:rPr>
              <a:t>按钮</a:t>
            </a:r>
            <a:endParaRPr sz="12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509"/>
              </a:spcBef>
              <a:buClr>
                <a:srgbClr val="333333"/>
              </a:buClr>
              <a:buFont typeface="Arial"/>
              <a:buAutoNum type="arabicPeriod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查询并显示商家所有订单</a:t>
            </a:r>
            <a:endParaRPr sz="1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200" b="1">
                <a:latin typeface="微软雅黑"/>
                <a:cs typeface="微软雅黑"/>
              </a:rPr>
              <a:t>查询商单界面的功能与详细描述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31800" y="1670041"/>
            <a:ext cx="4648200" cy="4476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4200" y="270826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4200" y="294638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4200" y="367981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84200" y="392746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19100" y="2247886"/>
            <a:ext cx="6163945" cy="1789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indent="-169545">
              <a:lnSpc>
                <a:spcPct val="100000"/>
              </a:lnSpc>
              <a:spcBef>
                <a:spcPts val="100"/>
              </a:spcBef>
              <a:buFont typeface="Arial"/>
              <a:buAutoNum type="arabicPeriod"/>
              <a:tabLst>
                <a:tab pos="182245" algn="l"/>
              </a:tabLst>
            </a:pPr>
            <a:r>
              <a:rPr dirty="0" sz="1200" b="1">
                <a:latin typeface="微软雅黑"/>
                <a:cs typeface="微软雅黑"/>
              </a:rPr>
              <a:t>点击查询订单按钮</a:t>
            </a:r>
            <a:endParaRPr sz="1200">
              <a:latin typeface="微软雅黑"/>
              <a:cs typeface="微软雅黑"/>
            </a:endParaRPr>
          </a:p>
          <a:p>
            <a:pPr marL="317500" marR="2383790">
              <a:lnSpc>
                <a:spcPct val="130200"/>
              </a:lnSpc>
              <a:spcBef>
                <a:spcPts val="975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商家在界面上点击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查询订单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按钮以查看所有订单。 系统接收到请求后，开始查询订单信息。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800">
              <a:latin typeface="微软雅黑"/>
              <a:cs typeface="微软雅黑"/>
            </a:endParaRPr>
          </a:p>
          <a:p>
            <a:pPr marL="181610" indent="-169545">
              <a:lnSpc>
                <a:spcPct val="100000"/>
              </a:lnSpc>
              <a:buFont typeface="Arial"/>
              <a:buAutoNum type="arabicPeriod" startAt="2"/>
              <a:tabLst>
                <a:tab pos="182245" algn="l"/>
              </a:tabLst>
            </a:pPr>
            <a:r>
              <a:rPr dirty="0" sz="1200" b="1">
                <a:latin typeface="微软雅黑"/>
                <a:cs typeface="微软雅黑"/>
              </a:rPr>
              <a:t>查询并显示商家所有订单</a:t>
            </a:r>
            <a:endParaRPr sz="1200">
              <a:latin typeface="微软雅黑"/>
              <a:cs typeface="微软雅黑"/>
            </a:endParaRPr>
          </a:p>
          <a:p>
            <a:pPr marL="317500">
              <a:lnSpc>
                <a:spcPct val="100000"/>
              </a:lnSpc>
              <a:spcBef>
                <a:spcPts val="1410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系统从数据库中查询该商家所有的订单信息。</a:t>
            </a:r>
            <a:endParaRPr sz="1200">
              <a:latin typeface="微软雅黑"/>
              <a:cs typeface="微软雅黑"/>
            </a:endParaRPr>
          </a:p>
          <a:p>
            <a:pPr marL="317500">
              <a:lnSpc>
                <a:spcPct val="100000"/>
              </a:lnSpc>
              <a:spcBef>
                <a:spcPts val="509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查询结果会显示在界面上，包括订单</a:t>
            </a:r>
            <a:r>
              <a:rPr dirty="0" sz="1200" spc="-105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、订单状态、产品信息、购买数量等详细信息。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31800" y="4213216"/>
            <a:ext cx="6905625" cy="24098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89000" y="746123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89000" y="794701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36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36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89000" y="843278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36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36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19100" y="6753211"/>
            <a:ext cx="6883400" cy="2770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微软雅黑"/>
                <a:cs typeface="微软雅黑"/>
              </a:rPr>
              <a:t>示例查询商单流程图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8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buClr>
                <a:srgbClr val="333333"/>
              </a:buClr>
              <a:buFont typeface="Arial"/>
              <a:buAutoNum type="arabicPeriod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查询订单界面</a:t>
            </a:r>
            <a:endParaRPr sz="1200">
              <a:latin typeface="微软雅黑"/>
              <a:cs typeface="微软雅黑"/>
            </a:endParaRPr>
          </a:p>
          <a:p>
            <a:pPr marL="622300">
              <a:lnSpc>
                <a:spcPct val="100000"/>
              </a:lnSpc>
              <a:spcBef>
                <a:spcPts val="434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商家点击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查询订单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</a:t>
            </a:r>
            <a:endParaRPr sz="12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509"/>
              </a:spcBef>
              <a:buClr>
                <a:srgbClr val="333333"/>
              </a:buClr>
              <a:buFont typeface="Arial"/>
              <a:buAutoNum type="arabicPeriod" startAt="2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获取订单信息</a:t>
            </a:r>
            <a:endParaRPr sz="1200">
              <a:latin typeface="微软雅黑"/>
              <a:cs typeface="微软雅黑"/>
            </a:endParaRPr>
          </a:p>
          <a:p>
            <a:pPr marL="622300">
              <a:lnSpc>
                <a:spcPct val="100000"/>
              </a:lnSpc>
              <a:spcBef>
                <a:spcPts val="434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系统从数据库中查询商家的所有订单信息</a:t>
            </a:r>
            <a:endParaRPr sz="12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509"/>
              </a:spcBef>
              <a:buClr>
                <a:srgbClr val="333333"/>
              </a:buClr>
              <a:buFont typeface="Arial"/>
              <a:buAutoNum type="arabicPeriod" startAt="3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显示订单信息</a:t>
            </a:r>
            <a:endParaRPr sz="1200">
              <a:latin typeface="微软雅黑"/>
              <a:cs typeface="微软雅黑"/>
            </a:endParaRPr>
          </a:p>
          <a:p>
            <a:pPr marL="622300">
              <a:lnSpc>
                <a:spcPct val="100000"/>
              </a:lnSpc>
              <a:spcBef>
                <a:spcPts val="434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系统显示订单信息给商家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微软雅黑"/>
                <a:cs typeface="微软雅黑"/>
              </a:rPr>
              <a:t>查询商单功能总结</a:t>
            </a:r>
            <a:endParaRPr sz="1200">
              <a:latin typeface="微软雅黑"/>
              <a:cs typeface="微软雅黑"/>
            </a:endParaRPr>
          </a:p>
          <a:p>
            <a:pPr marL="12700" marR="5080">
              <a:lnSpc>
                <a:spcPct val="135400"/>
              </a:lnSpc>
              <a:spcBef>
                <a:spcPts val="900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查询商单功能为商家提供了便捷地查看所有订单信息的方式，通过简单的操作步骤和详细的信息展示， 确保商家能够轻松地管理和查看所有订单。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9100" y="333361"/>
            <a:ext cx="6824345" cy="2446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latin typeface="微软雅黑"/>
                <a:cs typeface="微软雅黑"/>
              </a:rPr>
              <a:t>订单发货</a:t>
            </a:r>
            <a:endParaRPr sz="1500">
              <a:latin typeface="微软雅黑"/>
              <a:cs typeface="微软雅黑"/>
            </a:endParaRPr>
          </a:p>
          <a:p>
            <a:pPr marL="12700" marR="5080">
              <a:lnSpc>
                <a:spcPct val="135400"/>
              </a:lnSpc>
              <a:spcBef>
                <a:spcPts val="915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在你的应用程序中，商家可以通过订单发货界面更新订单的状态。发货过程包括输入订单</a:t>
            </a:r>
            <a:r>
              <a:rPr dirty="0" sz="1200" spc="-125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，点击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发 货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按钮，然后系统将订单状态更新为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已发货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。</a:t>
            </a:r>
            <a:endParaRPr sz="1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200" b="1">
                <a:latin typeface="微软雅黑"/>
                <a:cs typeface="微软雅黑"/>
              </a:rPr>
              <a:t>订单发货详细步骤</a:t>
            </a:r>
            <a:endParaRPr sz="12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1410"/>
              </a:spcBef>
              <a:buClr>
                <a:srgbClr val="333333"/>
              </a:buClr>
              <a:buFont typeface="Arial"/>
              <a:buAutoNum type="arabicPeriod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输入订单</a:t>
            </a:r>
            <a:r>
              <a:rPr dirty="0" sz="1200" spc="-30" b="1">
                <a:latin typeface="微软雅黑"/>
                <a:cs typeface="微软雅黑"/>
              </a:rPr>
              <a:t> </a:t>
            </a:r>
            <a:r>
              <a:rPr dirty="0" sz="1200" b="1">
                <a:latin typeface="Arial"/>
                <a:cs typeface="Arial"/>
              </a:rPr>
              <a:t>ID</a:t>
            </a:r>
            <a:endParaRPr sz="1200">
              <a:latin typeface="Arial"/>
              <a:cs typeface="Arial"/>
            </a:endParaRPr>
          </a:p>
          <a:p>
            <a:pPr marL="317500" indent="-169545">
              <a:lnSpc>
                <a:spcPct val="100000"/>
              </a:lnSpc>
              <a:spcBef>
                <a:spcPts val="509"/>
              </a:spcBef>
              <a:buClr>
                <a:srgbClr val="333333"/>
              </a:buClr>
              <a:buFont typeface="Arial"/>
              <a:buAutoNum type="arabicPeriod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点击</a:t>
            </a:r>
            <a:r>
              <a:rPr dirty="0" sz="1200" b="1">
                <a:latin typeface="Arial"/>
                <a:cs typeface="Arial"/>
              </a:rPr>
              <a:t>“</a:t>
            </a:r>
            <a:r>
              <a:rPr dirty="0" sz="1200" b="1">
                <a:latin typeface="微软雅黑"/>
                <a:cs typeface="微软雅黑"/>
              </a:rPr>
              <a:t>发货</a:t>
            </a:r>
            <a:r>
              <a:rPr dirty="0" sz="1200" b="1">
                <a:latin typeface="Arial"/>
                <a:cs typeface="Arial"/>
              </a:rPr>
              <a:t>”</a:t>
            </a:r>
            <a:r>
              <a:rPr dirty="0" sz="1200" b="1">
                <a:latin typeface="微软雅黑"/>
                <a:cs typeface="微软雅黑"/>
              </a:rPr>
              <a:t>按钮</a:t>
            </a:r>
            <a:endParaRPr sz="12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509"/>
              </a:spcBef>
              <a:buClr>
                <a:srgbClr val="333333"/>
              </a:buClr>
              <a:buFont typeface="Arial"/>
              <a:buAutoNum type="arabicPeriod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更新订单状态为</a:t>
            </a:r>
            <a:r>
              <a:rPr dirty="0" sz="1200" b="1">
                <a:latin typeface="Arial"/>
                <a:cs typeface="Arial"/>
              </a:rPr>
              <a:t>“</a:t>
            </a:r>
            <a:r>
              <a:rPr dirty="0" sz="1200" b="1">
                <a:latin typeface="微软雅黑"/>
                <a:cs typeface="微软雅黑"/>
              </a:rPr>
              <a:t>已发货</a:t>
            </a:r>
            <a:r>
              <a:rPr dirty="0" sz="1200" b="1">
                <a:latin typeface="Arial"/>
                <a:cs typeface="Arial"/>
              </a:rPr>
              <a:t>”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200" b="1">
                <a:latin typeface="微软雅黑"/>
                <a:cs typeface="微软雅黑"/>
              </a:rPr>
              <a:t>订单发货界面的功能与详细描述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31800" y="2927341"/>
            <a:ext cx="4695825" cy="13430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4200" y="487043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36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36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4200" y="510856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4200" y="584198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84200" y="608963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36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36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84200" y="681353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31"/>
                </a:lnTo>
                <a:lnTo>
                  <a:pt x="604" y="17583"/>
                </a:lnTo>
                <a:lnTo>
                  <a:pt x="3021" y="11734"/>
                </a:lnTo>
                <a:lnTo>
                  <a:pt x="4741" y="9153"/>
                </a:lnTo>
                <a:lnTo>
                  <a:pt x="6974" y="6943"/>
                </a:lnTo>
                <a:lnTo>
                  <a:pt x="9207" y="4686"/>
                </a:lnTo>
                <a:lnTo>
                  <a:pt x="11782" y="2981"/>
                </a:lnTo>
                <a:lnTo>
                  <a:pt x="17617" y="600"/>
                </a:lnTo>
                <a:lnTo>
                  <a:pt x="20654" y="0"/>
                </a:lnTo>
                <a:lnTo>
                  <a:pt x="26970" y="0"/>
                </a:lnTo>
                <a:lnTo>
                  <a:pt x="30007" y="600"/>
                </a:lnTo>
                <a:lnTo>
                  <a:pt x="35842" y="2981"/>
                </a:lnTo>
                <a:lnTo>
                  <a:pt x="38417" y="4686"/>
                </a:lnTo>
                <a:lnTo>
                  <a:pt x="40650" y="6943"/>
                </a:lnTo>
                <a:lnTo>
                  <a:pt x="42883" y="9153"/>
                </a:lnTo>
                <a:lnTo>
                  <a:pt x="44603" y="11734"/>
                </a:lnTo>
                <a:lnTo>
                  <a:pt x="47020" y="17583"/>
                </a:lnTo>
                <a:lnTo>
                  <a:pt x="47625" y="20631"/>
                </a:lnTo>
                <a:lnTo>
                  <a:pt x="47625" y="26955"/>
                </a:lnTo>
                <a:lnTo>
                  <a:pt x="26970" y="4760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84200" y="706118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36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36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84200" y="779461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55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5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19100" y="4400536"/>
            <a:ext cx="4377690" cy="35039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indent="-169545">
              <a:lnSpc>
                <a:spcPct val="100000"/>
              </a:lnSpc>
              <a:spcBef>
                <a:spcPts val="100"/>
              </a:spcBef>
              <a:buFont typeface="Arial"/>
              <a:buAutoNum type="arabicPeriod"/>
              <a:tabLst>
                <a:tab pos="182245" algn="l"/>
              </a:tabLst>
            </a:pPr>
            <a:r>
              <a:rPr dirty="0" sz="1200" b="1">
                <a:latin typeface="微软雅黑"/>
                <a:cs typeface="微软雅黑"/>
              </a:rPr>
              <a:t>输入订单</a:t>
            </a:r>
            <a:r>
              <a:rPr dirty="0" sz="1200" b="1">
                <a:latin typeface="Arial"/>
                <a:cs typeface="Arial"/>
              </a:rPr>
              <a:t>ID</a:t>
            </a:r>
            <a:endParaRPr sz="1200">
              <a:latin typeface="Arial"/>
              <a:cs typeface="Arial"/>
            </a:endParaRPr>
          </a:p>
          <a:p>
            <a:pPr marL="317500" marR="962025">
              <a:lnSpc>
                <a:spcPct val="130200"/>
              </a:lnSpc>
              <a:spcBef>
                <a:spcPts val="1050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商家在订单发货界面输入需要发货的订单</a:t>
            </a:r>
            <a:r>
              <a:rPr dirty="0" sz="1200" spc="-125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。 订单</a:t>
            </a:r>
            <a:r>
              <a:rPr dirty="0" sz="1200" spc="-35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 spc="-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是唯一标识一个订单的标识符。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800">
              <a:latin typeface="微软雅黑"/>
              <a:cs typeface="微软雅黑"/>
            </a:endParaRPr>
          </a:p>
          <a:p>
            <a:pPr marL="181610" indent="-169545">
              <a:lnSpc>
                <a:spcPct val="100000"/>
              </a:lnSpc>
              <a:buFont typeface="Arial"/>
              <a:buAutoNum type="arabicPeriod" startAt="2"/>
              <a:tabLst>
                <a:tab pos="182245" algn="l"/>
              </a:tabLst>
            </a:pPr>
            <a:r>
              <a:rPr dirty="0" sz="1200" b="1">
                <a:latin typeface="微软雅黑"/>
                <a:cs typeface="微软雅黑"/>
              </a:rPr>
              <a:t>点击</a:t>
            </a:r>
            <a:r>
              <a:rPr dirty="0" sz="1200" b="1">
                <a:latin typeface="Arial"/>
                <a:cs typeface="Arial"/>
              </a:rPr>
              <a:t>“</a:t>
            </a:r>
            <a:r>
              <a:rPr dirty="0" sz="1200" b="1">
                <a:latin typeface="微软雅黑"/>
                <a:cs typeface="微软雅黑"/>
              </a:rPr>
              <a:t>发货</a:t>
            </a:r>
            <a:r>
              <a:rPr dirty="0" sz="1200" b="1">
                <a:latin typeface="Arial"/>
                <a:cs typeface="Arial"/>
              </a:rPr>
              <a:t>”</a:t>
            </a:r>
            <a:r>
              <a:rPr dirty="0" sz="1200" b="1">
                <a:latin typeface="微软雅黑"/>
                <a:cs typeface="微软雅黑"/>
              </a:rPr>
              <a:t>按钮</a:t>
            </a:r>
            <a:endParaRPr sz="1200">
              <a:latin typeface="微软雅黑"/>
              <a:cs typeface="微软雅黑"/>
            </a:endParaRPr>
          </a:p>
          <a:p>
            <a:pPr marL="317500" marR="47625">
              <a:lnSpc>
                <a:spcPct val="135400"/>
              </a:lnSpc>
              <a:spcBef>
                <a:spcPts val="900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商家在输入订单</a:t>
            </a:r>
            <a:r>
              <a:rPr dirty="0" sz="1200" spc="-70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 spc="-4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后，点击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发货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按钮提交订单发货请求。 系统会验证输入的订单</a:t>
            </a:r>
            <a:r>
              <a:rPr dirty="0" sz="1200" spc="-125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，并检查订单状态是否允许发货。</a:t>
            </a:r>
            <a:endParaRPr sz="1200">
              <a:latin typeface="微软雅黑"/>
              <a:cs typeface="微软雅黑"/>
            </a:endParaRPr>
          </a:p>
          <a:p>
            <a:pPr marL="181610" indent="-169545">
              <a:lnSpc>
                <a:spcPct val="100000"/>
              </a:lnSpc>
              <a:spcBef>
                <a:spcPts val="1410"/>
              </a:spcBef>
              <a:buFont typeface="Arial"/>
              <a:buAutoNum type="arabicPeriod" startAt="3"/>
              <a:tabLst>
                <a:tab pos="182245" algn="l"/>
              </a:tabLst>
            </a:pPr>
            <a:r>
              <a:rPr dirty="0" sz="1200" b="1">
                <a:latin typeface="微软雅黑"/>
                <a:cs typeface="微软雅黑"/>
              </a:rPr>
              <a:t>更新订单状态为</a:t>
            </a:r>
            <a:r>
              <a:rPr dirty="0" sz="1200" b="1">
                <a:latin typeface="Arial"/>
                <a:cs typeface="Arial"/>
              </a:rPr>
              <a:t>“</a:t>
            </a:r>
            <a:r>
              <a:rPr dirty="0" sz="1200" b="1">
                <a:latin typeface="微软雅黑"/>
                <a:cs typeface="微软雅黑"/>
              </a:rPr>
              <a:t>已发货</a:t>
            </a:r>
            <a:r>
              <a:rPr dirty="0" sz="1200" b="1">
                <a:latin typeface="Arial"/>
                <a:cs typeface="Arial"/>
              </a:rPr>
              <a:t>”</a:t>
            </a:r>
            <a:endParaRPr sz="1200">
              <a:latin typeface="Arial"/>
              <a:cs typeface="Arial"/>
            </a:endParaRPr>
          </a:p>
          <a:p>
            <a:pPr marL="317500" marR="1003935">
              <a:lnSpc>
                <a:spcPct val="135400"/>
              </a:lnSpc>
              <a:spcBef>
                <a:spcPts val="900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系统将符合条件的订单状态更新为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已发货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。 系统会显示订单状态更新成功或失败的消息。</a:t>
            </a:r>
            <a:endParaRPr sz="1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200" b="1">
                <a:latin typeface="微软雅黑"/>
                <a:cs typeface="微软雅黑"/>
              </a:rPr>
              <a:t>订单发货合法性检测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800">
              <a:latin typeface="微软雅黑"/>
              <a:cs typeface="微软雅黑"/>
            </a:endParaRPr>
          </a:p>
          <a:p>
            <a:pPr lvl="1" marL="622300" indent="-118745">
              <a:lnSpc>
                <a:spcPct val="100000"/>
              </a:lnSpc>
              <a:buFont typeface="Arial"/>
              <a:buAutoNum type="romanLcPeriod"/>
              <a:tabLst>
                <a:tab pos="622300" algn="l"/>
              </a:tabLst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当订单</a:t>
            </a:r>
            <a:r>
              <a:rPr dirty="0" sz="1200" spc="-45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 spc="-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非法时，系统会返回</a:t>
            </a:r>
            <a:r>
              <a:rPr dirty="0" sz="1200" spc="-40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 b="1">
                <a:latin typeface="Arial"/>
                <a:cs typeface="Arial"/>
              </a:rPr>
              <a:t>Invalid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Order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ID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错误。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41400" y="355600"/>
            <a:ext cx="4648200" cy="31432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4200" y="360361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36"/>
                </a:lnTo>
                <a:lnTo>
                  <a:pt x="0" y="20631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31"/>
                </a:lnTo>
                <a:lnTo>
                  <a:pt x="47625" y="26936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76300" y="3505187"/>
            <a:ext cx="43522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ii.</a:t>
            </a:r>
            <a:r>
              <a:rPr dirty="0" sz="1200" spc="-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当订单</a:t>
            </a:r>
            <a:r>
              <a:rPr dirty="0" sz="1200" spc="-35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 spc="-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不存在时，系统会返回</a:t>
            </a:r>
            <a:r>
              <a:rPr dirty="0" sz="1200" spc="-35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 b="1">
                <a:latin typeface="Arial"/>
                <a:cs typeface="Arial"/>
              </a:rPr>
              <a:t>Order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ID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Not</a:t>
            </a:r>
            <a:r>
              <a:rPr dirty="0" sz="1200" spc="-10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Found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错误。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31800" y="3898891"/>
            <a:ext cx="4676775" cy="33242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4200" y="771841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3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36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19100" y="7229462"/>
            <a:ext cx="5631180" cy="598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!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00">
              <a:latin typeface="Arial"/>
              <a:cs typeface="Arial"/>
            </a:endParaRPr>
          </a:p>
          <a:p>
            <a:pPr marL="435609">
              <a:lnSpc>
                <a:spcPct val="100000"/>
              </a:lnSpc>
            </a:pP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iii.</a:t>
            </a:r>
            <a:r>
              <a:rPr dirty="0" sz="1200" spc="-2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当订单状态不允许发货时，系统会返回</a:t>
            </a:r>
            <a:r>
              <a:rPr dirty="0" sz="1200" spc="-40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 b="1">
                <a:latin typeface="Arial"/>
                <a:cs typeface="Arial"/>
              </a:rPr>
              <a:t>Order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Cannot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Be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 b="1">
                <a:latin typeface="Arial"/>
                <a:cs typeface="Arial"/>
              </a:rPr>
              <a:t>Shipped</a:t>
            </a:r>
            <a:r>
              <a:rPr dirty="0" sz="1200" spc="-15" b="1"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错误。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1800" y="355600"/>
            <a:ext cx="5819775" cy="3095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89000" y="428941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20654" y="47586"/>
                </a:lnTo>
                <a:lnTo>
                  <a:pt x="17617" y="46996"/>
                </a:lnTo>
                <a:lnTo>
                  <a:pt x="14699" y="45767"/>
                </a:lnTo>
                <a:lnTo>
                  <a:pt x="11782" y="44577"/>
                </a:lnTo>
                <a:lnTo>
                  <a:pt x="0" y="26974"/>
                </a:lnTo>
                <a:lnTo>
                  <a:pt x="0" y="20650"/>
                </a:lnTo>
                <a:lnTo>
                  <a:pt x="604" y="17602"/>
                </a:lnTo>
                <a:lnTo>
                  <a:pt x="3021" y="11715"/>
                </a:lnTo>
                <a:lnTo>
                  <a:pt x="4741" y="9153"/>
                </a:lnTo>
                <a:lnTo>
                  <a:pt x="6974" y="6953"/>
                </a:lnTo>
                <a:lnTo>
                  <a:pt x="9207" y="4686"/>
                </a:lnTo>
                <a:lnTo>
                  <a:pt x="11782" y="2981"/>
                </a:lnTo>
                <a:lnTo>
                  <a:pt x="17617" y="600"/>
                </a:lnTo>
                <a:lnTo>
                  <a:pt x="20654" y="0"/>
                </a:lnTo>
                <a:lnTo>
                  <a:pt x="26970" y="0"/>
                </a:lnTo>
                <a:lnTo>
                  <a:pt x="30007" y="600"/>
                </a:lnTo>
                <a:lnTo>
                  <a:pt x="35842" y="2981"/>
                </a:lnTo>
                <a:lnTo>
                  <a:pt x="38417" y="4686"/>
                </a:lnTo>
                <a:lnTo>
                  <a:pt x="40650" y="6953"/>
                </a:lnTo>
                <a:lnTo>
                  <a:pt x="42883" y="9153"/>
                </a:lnTo>
                <a:lnTo>
                  <a:pt x="44603" y="11715"/>
                </a:lnTo>
                <a:lnTo>
                  <a:pt x="47020" y="17602"/>
                </a:lnTo>
                <a:lnTo>
                  <a:pt x="47625" y="20650"/>
                </a:lnTo>
                <a:lnTo>
                  <a:pt x="47625" y="26974"/>
                </a:lnTo>
                <a:lnTo>
                  <a:pt x="32925" y="45767"/>
                </a:lnTo>
                <a:lnTo>
                  <a:pt x="30007" y="46996"/>
                </a:lnTo>
                <a:lnTo>
                  <a:pt x="26970" y="47586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89000" y="452754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3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36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89000" y="502284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12"/>
                </a:lnTo>
                <a:lnTo>
                  <a:pt x="47625" y="26936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89000" y="526096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74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74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89000" y="574674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74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74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89000" y="624204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3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36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89000" y="648016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20654" y="47586"/>
                </a:lnTo>
                <a:lnTo>
                  <a:pt x="17617" y="46996"/>
                </a:lnTo>
                <a:lnTo>
                  <a:pt x="14699" y="45767"/>
                </a:lnTo>
                <a:lnTo>
                  <a:pt x="11782" y="44577"/>
                </a:lnTo>
                <a:lnTo>
                  <a:pt x="0" y="26974"/>
                </a:lnTo>
                <a:lnTo>
                  <a:pt x="0" y="20650"/>
                </a:lnTo>
                <a:lnTo>
                  <a:pt x="604" y="17602"/>
                </a:lnTo>
                <a:lnTo>
                  <a:pt x="3021" y="11715"/>
                </a:lnTo>
                <a:lnTo>
                  <a:pt x="4741" y="9153"/>
                </a:lnTo>
                <a:lnTo>
                  <a:pt x="6974" y="6953"/>
                </a:lnTo>
                <a:lnTo>
                  <a:pt x="9207" y="4686"/>
                </a:lnTo>
                <a:lnTo>
                  <a:pt x="11782" y="2981"/>
                </a:lnTo>
                <a:lnTo>
                  <a:pt x="17617" y="600"/>
                </a:lnTo>
                <a:lnTo>
                  <a:pt x="20654" y="0"/>
                </a:lnTo>
                <a:lnTo>
                  <a:pt x="26970" y="0"/>
                </a:lnTo>
                <a:lnTo>
                  <a:pt x="30007" y="600"/>
                </a:lnTo>
                <a:lnTo>
                  <a:pt x="35842" y="2981"/>
                </a:lnTo>
                <a:lnTo>
                  <a:pt x="38417" y="4686"/>
                </a:lnTo>
                <a:lnTo>
                  <a:pt x="40650" y="6953"/>
                </a:lnTo>
                <a:lnTo>
                  <a:pt x="42883" y="9153"/>
                </a:lnTo>
                <a:lnTo>
                  <a:pt x="44603" y="11715"/>
                </a:lnTo>
                <a:lnTo>
                  <a:pt x="47020" y="17602"/>
                </a:lnTo>
                <a:lnTo>
                  <a:pt x="47625" y="20650"/>
                </a:lnTo>
                <a:lnTo>
                  <a:pt x="47625" y="26974"/>
                </a:lnTo>
                <a:lnTo>
                  <a:pt x="32925" y="45767"/>
                </a:lnTo>
                <a:lnTo>
                  <a:pt x="30007" y="46996"/>
                </a:lnTo>
                <a:lnTo>
                  <a:pt x="26970" y="47586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19100" y="3581387"/>
            <a:ext cx="4597400" cy="3008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微软雅黑"/>
                <a:cs typeface="微软雅黑"/>
              </a:rPr>
              <a:t>示例订单发货流程图</a:t>
            </a:r>
            <a:endParaRPr sz="12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1410"/>
              </a:spcBef>
              <a:buClr>
                <a:srgbClr val="333333"/>
              </a:buClr>
              <a:buFont typeface="Arial"/>
              <a:buAutoNum type="arabicPeriod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订单发货界面</a:t>
            </a:r>
            <a:endParaRPr sz="1200">
              <a:latin typeface="微软雅黑"/>
              <a:cs typeface="微软雅黑"/>
            </a:endParaRPr>
          </a:p>
          <a:p>
            <a:pPr marL="622300">
              <a:lnSpc>
                <a:spcPct val="100000"/>
              </a:lnSpc>
              <a:spcBef>
                <a:spcPts val="509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商家输入订单</a:t>
            </a:r>
            <a:r>
              <a:rPr dirty="0" sz="1200" spc="-30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endParaRPr sz="1200">
              <a:latin typeface="Arial"/>
              <a:cs typeface="Arial"/>
            </a:endParaRPr>
          </a:p>
          <a:p>
            <a:pPr marL="622300">
              <a:lnSpc>
                <a:spcPct val="100000"/>
              </a:lnSpc>
              <a:spcBef>
                <a:spcPts val="434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商家点击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发货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</a:t>
            </a:r>
            <a:endParaRPr sz="12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509"/>
              </a:spcBef>
              <a:buClr>
                <a:srgbClr val="333333"/>
              </a:buClr>
              <a:buFont typeface="Arial"/>
              <a:buAutoNum type="arabicPeriod" startAt="2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验证订单信息</a:t>
            </a:r>
            <a:endParaRPr sz="1200">
              <a:latin typeface="微软雅黑"/>
              <a:cs typeface="微软雅黑"/>
            </a:endParaRPr>
          </a:p>
          <a:p>
            <a:pPr marL="622300">
              <a:lnSpc>
                <a:spcPct val="100000"/>
              </a:lnSpc>
              <a:spcBef>
                <a:spcPts val="509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系统检查订单</a:t>
            </a:r>
            <a:r>
              <a:rPr dirty="0" sz="1200" spc="-30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是否存在</a:t>
            </a:r>
            <a:endParaRPr sz="1200">
              <a:latin typeface="微软雅黑"/>
              <a:cs typeface="微软雅黑"/>
            </a:endParaRPr>
          </a:p>
          <a:p>
            <a:pPr marL="622300">
              <a:lnSpc>
                <a:spcPct val="100000"/>
              </a:lnSpc>
              <a:spcBef>
                <a:spcPts val="434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系统检查订单状态是否允许发货</a:t>
            </a:r>
            <a:endParaRPr sz="1200">
              <a:latin typeface="微软雅黑"/>
              <a:cs typeface="微软雅黑"/>
            </a:endParaRPr>
          </a:p>
          <a:p>
            <a:pPr marL="317500" indent="-169545">
              <a:lnSpc>
                <a:spcPct val="100000"/>
              </a:lnSpc>
              <a:spcBef>
                <a:spcPts val="509"/>
              </a:spcBef>
              <a:buClr>
                <a:srgbClr val="333333"/>
              </a:buClr>
              <a:buFont typeface="Arial"/>
              <a:buAutoNum type="arabicPeriod" startAt="3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更新订单状态</a:t>
            </a:r>
            <a:endParaRPr sz="1200">
              <a:latin typeface="微软雅黑"/>
              <a:cs typeface="微软雅黑"/>
            </a:endParaRPr>
          </a:p>
          <a:p>
            <a:pPr marL="622300">
              <a:lnSpc>
                <a:spcPct val="100000"/>
              </a:lnSpc>
              <a:spcBef>
                <a:spcPts val="434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系统将订单状态更新为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已发货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endParaRPr sz="1200">
              <a:latin typeface="Arial"/>
              <a:cs typeface="Arial"/>
            </a:endParaRPr>
          </a:p>
          <a:p>
            <a:pPr marL="317500" indent="-169545">
              <a:lnSpc>
                <a:spcPct val="100000"/>
              </a:lnSpc>
              <a:spcBef>
                <a:spcPts val="509"/>
              </a:spcBef>
              <a:buClr>
                <a:srgbClr val="333333"/>
              </a:buClr>
              <a:buFont typeface="Arial"/>
              <a:buAutoNum type="arabicPeriod" startAt="4"/>
              <a:tabLst>
                <a:tab pos="317500" algn="l"/>
              </a:tabLst>
            </a:pPr>
            <a:r>
              <a:rPr dirty="0" sz="1200" b="1">
                <a:latin typeface="微软雅黑"/>
                <a:cs typeface="微软雅黑"/>
              </a:rPr>
              <a:t>反馈商家</a:t>
            </a:r>
            <a:endParaRPr sz="1200">
              <a:latin typeface="微软雅黑"/>
              <a:cs typeface="微软雅黑"/>
            </a:endParaRPr>
          </a:p>
          <a:p>
            <a:pPr marL="622300">
              <a:lnSpc>
                <a:spcPct val="100000"/>
              </a:lnSpc>
              <a:spcBef>
                <a:spcPts val="509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发货成功：显示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订单已发货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消息</a:t>
            </a:r>
            <a:endParaRPr sz="1200">
              <a:latin typeface="微软雅黑"/>
              <a:cs typeface="微软雅黑"/>
            </a:endParaRPr>
          </a:p>
          <a:p>
            <a:pPr marL="622300">
              <a:lnSpc>
                <a:spcPct val="100000"/>
              </a:lnSpc>
              <a:spcBef>
                <a:spcPts val="434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发货失败：显示具体的错误信息，提示商家需要修改的内容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1800" y="355600"/>
            <a:ext cx="6727529" cy="30765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19100" y="3590913"/>
            <a:ext cx="38354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成功发货后，查询订单就能显示订单状态被标记为已发货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1800" y="3975091"/>
            <a:ext cx="6915150" cy="24574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4200" y="883284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3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36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4200" y="908049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20654" y="47586"/>
                </a:lnTo>
                <a:lnTo>
                  <a:pt x="17617" y="46996"/>
                </a:lnTo>
                <a:lnTo>
                  <a:pt x="14699" y="45767"/>
                </a:lnTo>
                <a:lnTo>
                  <a:pt x="11782" y="44577"/>
                </a:lnTo>
                <a:lnTo>
                  <a:pt x="0" y="26974"/>
                </a:lnTo>
                <a:lnTo>
                  <a:pt x="0" y="20612"/>
                </a:lnTo>
                <a:lnTo>
                  <a:pt x="604" y="17564"/>
                </a:lnTo>
                <a:lnTo>
                  <a:pt x="3021" y="11715"/>
                </a:lnTo>
                <a:lnTo>
                  <a:pt x="4741" y="9153"/>
                </a:lnTo>
                <a:lnTo>
                  <a:pt x="6974" y="6953"/>
                </a:lnTo>
                <a:lnTo>
                  <a:pt x="9207" y="4686"/>
                </a:lnTo>
                <a:lnTo>
                  <a:pt x="11782" y="2981"/>
                </a:lnTo>
                <a:lnTo>
                  <a:pt x="14699" y="1752"/>
                </a:lnTo>
                <a:lnTo>
                  <a:pt x="17617" y="600"/>
                </a:lnTo>
                <a:lnTo>
                  <a:pt x="20654" y="0"/>
                </a:lnTo>
                <a:lnTo>
                  <a:pt x="26970" y="0"/>
                </a:lnTo>
                <a:lnTo>
                  <a:pt x="30007" y="600"/>
                </a:lnTo>
                <a:lnTo>
                  <a:pt x="35842" y="2981"/>
                </a:lnTo>
                <a:lnTo>
                  <a:pt x="38417" y="4686"/>
                </a:lnTo>
                <a:lnTo>
                  <a:pt x="40650" y="6953"/>
                </a:lnTo>
                <a:lnTo>
                  <a:pt x="42883" y="9153"/>
                </a:lnTo>
                <a:lnTo>
                  <a:pt x="44603" y="11715"/>
                </a:lnTo>
                <a:lnTo>
                  <a:pt x="47020" y="17564"/>
                </a:lnTo>
                <a:lnTo>
                  <a:pt x="47625" y="20612"/>
                </a:lnTo>
                <a:lnTo>
                  <a:pt x="47625" y="26974"/>
                </a:lnTo>
                <a:lnTo>
                  <a:pt x="32925" y="45767"/>
                </a:lnTo>
                <a:lnTo>
                  <a:pt x="30007" y="46996"/>
                </a:lnTo>
                <a:lnTo>
                  <a:pt x="26970" y="47586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84200" y="931861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6996"/>
                </a:lnTo>
                <a:lnTo>
                  <a:pt x="14699" y="45767"/>
                </a:lnTo>
                <a:lnTo>
                  <a:pt x="11782" y="44577"/>
                </a:lnTo>
                <a:lnTo>
                  <a:pt x="0" y="2693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36"/>
                </a:lnTo>
                <a:lnTo>
                  <a:pt x="32925" y="45767"/>
                </a:lnTo>
                <a:lnTo>
                  <a:pt x="30007" y="46996"/>
                </a:lnTo>
                <a:lnTo>
                  <a:pt x="26970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84200" y="956626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74"/>
                </a:lnTo>
                <a:lnTo>
                  <a:pt x="0" y="20650"/>
                </a:lnTo>
                <a:lnTo>
                  <a:pt x="619" y="17564"/>
                </a:lnTo>
                <a:lnTo>
                  <a:pt x="3021" y="11715"/>
                </a:lnTo>
                <a:lnTo>
                  <a:pt x="4741" y="9153"/>
                </a:lnTo>
                <a:lnTo>
                  <a:pt x="6974" y="6953"/>
                </a:lnTo>
                <a:lnTo>
                  <a:pt x="9207" y="4686"/>
                </a:lnTo>
                <a:lnTo>
                  <a:pt x="11782" y="2981"/>
                </a:lnTo>
                <a:lnTo>
                  <a:pt x="17617" y="600"/>
                </a:lnTo>
                <a:lnTo>
                  <a:pt x="20654" y="0"/>
                </a:lnTo>
                <a:lnTo>
                  <a:pt x="26970" y="0"/>
                </a:lnTo>
                <a:lnTo>
                  <a:pt x="30007" y="600"/>
                </a:lnTo>
                <a:lnTo>
                  <a:pt x="35842" y="2981"/>
                </a:lnTo>
                <a:lnTo>
                  <a:pt x="38417" y="4686"/>
                </a:lnTo>
                <a:lnTo>
                  <a:pt x="40650" y="6953"/>
                </a:lnTo>
                <a:lnTo>
                  <a:pt x="42883" y="9153"/>
                </a:lnTo>
                <a:lnTo>
                  <a:pt x="44603" y="11715"/>
                </a:lnTo>
                <a:lnTo>
                  <a:pt x="47028" y="17602"/>
                </a:lnTo>
                <a:lnTo>
                  <a:pt x="47625" y="20650"/>
                </a:lnTo>
                <a:lnTo>
                  <a:pt x="47625" y="26974"/>
                </a:lnTo>
                <a:lnTo>
                  <a:pt x="26970" y="47586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19100" y="6562713"/>
            <a:ext cx="6883400" cy="3113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微软雅黑"/>
                <a:cs typeface="微软雅黑"/>
              </a:rPr>
              <a:t>订单发货功能总结</a:t>
            </a:r>
            <a:endParaRPr sz="1200">
              <a:latin typeface="微软雅黑"/>
              <a:cs typeface="微软雅黑"/>
            </a:endParaRPr>
          </a:p>
          <a:p>
            <a:pPr marL="12700" marR="5080">
              <a:lnSpc>
                <a:spcPct val="135400"/>
              </a:lnSpc>
              <a:spcBef>
                <a:spcPts val="900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订单发货功能为商家提供了便捷地更新订单状态的方式，通过详细的输入验证和反馈商家订单状态更新 结果，确保商家能够顺利地管理和更新订单信息。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2100" b="1">
                <a:latin typeface="微软雅黑"/>
                <a:cs typeface="微软雅黑"/>
              </a:rPr>
              <a:t>故障排除</a:t>
            </a:r>
            <a:endParaRPr sz="21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b="1">
                <a:latin typeface="Arial"/>
                <a:cs typeface="Arial"/>
              </a:rPr>
              <a:t>1.</a:t>
            </a:r>
            <a:r>
              <a:rPr dirty="0" sz="1800" spc="-100" b="1">
                <a:latin typeface="Arial"/>
                <a:cs typeface="Arial"/>
              </a:rPr>
              <a:t> </a:t>
            </a:r>
            <a:r>
              <a:rPr dirty="0" sz="1800" b="1">
                <a:latin typeface="微软雅黑"/>
                <a:cs typeface="微软雅黑"/>
              </a:rPr>
              <a:t>登录问题</a:t>
            </a:r>
            <a:endParaRPr sz="1800">
              <a:latin typeface="微软雅黑"/>
              <a:cs typeface="微软雅黑"/>
            </a:endParaRPr>
          </a:p>
          <a:p>
            <a:pPr marL="317500" marR="2748280">
              <a:lnSpc>
                <a:spcPct val="135400"/>
              </a:lnSpc>
              <a:spcBef>
                <a:spcPts val="930"/>
              </a:spcBef>
            </a:pPr>
            <a:r>
              <a:rPr dirty="0" sz="1200" b="1">
                <a:latin typeface="微软雅黑"/>
                <a:cs typeface="微软雅黑"/>
              </a:rPr>
              <a:t>检查用户名和密码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：确保输入的用户名和密码正确无误。 </a:t>
            </a:r>
            <a:r>
              <a:rPr dirty="0" sz="1200" b="1">
                <a:latin typeface="微软雅黑"/>
                <a:cs typeface="微软雅黑"/>
              </a:rPr>
              <a:t>网络连接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：确认您的设备已连接到互联网。</a:t>
            </a:r>
            <a:endParaRPr sz="1200">
              <a:latin typeface="微软雅黑"/>
              <a:cs typeface="微软雅黑"/>
            </a:endParaRPr>
          </a:p>
          <a:p>
            <a:pPr marL="317500" marR="2900680">
              <a:lnSpc>
                <a:spcPts val="1950"/>
              </a:lnSpc>
              <a:spcBef>
                <a:spcPts val="75"/>
              </a:spcBef>
            </a:pPr>
            <a:r>
              <a:rPr dirty="0" sz="1200" b="1">
                <a:latin typeface="微软雅黑"/>
                <a:cs typeface="微软雅黑"/>
              </a:rPr>
              <a:t>浏览器设置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：尝试使用其他浏览器或清理浏览器缓存。 </a:t>
            </a:r>
            <a:r>
              <a:rPr dirty="0" sz="1200" b="1">
                <a:latin typeface="微软雅黑"/>
                <a:cs typeface="微软雅黑"/>
              </a:rPr>
              <a:t>软件更新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：确保您的应用程序是最新的版本。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4200" y="88899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3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36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4200" y="112711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12"/>
                </a:lnTo>
                <a:lnTo>
                  <a:pt x="47625" y="26936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4200" y="137476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6996"/>
                </a:lnTo>
                <a:lnTo>
                  <a:pt x="14699" y="45767"/>
                </a:lnTo>
                <a:lnTo>
                  <a:pt x="11782" y="44577"/>
                </a:lnTo>
                <a:lnTo>
                  <a:pt x="0" y="2693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36"/>
                </a:lnTo>
                <a:lnTo>
                  <a:pt x="32925" y="45767"/>
                </a:lnTo>
                <a:lnTo>
                  <a:pt x="30007" y="46996"/>
                </a:lnTo>
                <a:lnTo>
                  <a:pt x="26970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4200" y="227011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6996"/>
                </a:lnTo>
                <a:lnTo>
                  <a:pt x="14699" y="45767"/>
                </a:lnTo>
                <a:lnTo>
                  <a:pt x="11782" y="44577"/>
                </a:lnTo>
                <a:lnTo>
                  <a:pt x="0" y="2693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36"/>
                </a:lnTo>
                <a:lnTo>
                  <a:pt x="32925" y="45767"/>
                </a:lnTo>
                <a:lnTo>
                  <a:pt x="30007" y="46996"/>
                </a:lnTo>
                <a:lnTo>
                  <a:pt x="26970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4200" y="251776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74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74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84200" y="276541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1812" y="32851"/>
                </a:lnTo>
                <a:lnTo>
                  <a:pt x="604" y="29984"/>
                </a:lnTo>
                <a:lnTo>
                  <a:pt x="0" y="26974"/>
                </a:lnTo>
                <a:lnTo>
                  <a:pt x="0" y="20650"/>
                </a:lnTo>
                <a:lnTo>
                  <a:pt x="604" y="17602"/>
                </a:lnTo>
                <a:lnTo>
                  <a:pt x="3021" y="11753"/>
                </a:lnTo>
                <a:lnTo>
                  <a:pt x="4741" y="9153"/>
                </a:lnTo>
                <a:lnTo>
                  <a:pt x="6974" y="6953"/>
                </a:lnTo>
                <a:lnTo>
                  <a:pt x="9207" y="4686"/>
                </a:lnTo>
                <a:lnTo>
                  <a:pt x="11782" y="2981"/>
                </a:lnTo>
                <a:lnTo>
                  <a:pt x="17617" y="600"/>
                </a:lnTo>
                <a:lnTo>
                  <a:pt x="20654" y="0"/>
                </a:lnTo>
                <a:lnTo>
                  <a:pt x="26970" y="0"/>
                </a:lnTo>
                <a:lnTo>
                  <a:pt x="30007" y="600"/>
                </a:lnTo>
                <a:lnTo>
                  <a:pt x="35842" y="2981"/>
                </a:lnTo>
                <a:lnTo>
                  <a:pt x="38417" y="4686"/>
                </a:lnTo>
                <a:lnTo>
                  <a:pt x="40650" y="6953"/>
                </a:lnTo>
                <a:lnTo>
                  <a:pt x="42883" y="9153"/>
                </a:lnTo>
                <a:lnTo>
                  <a:pt x="44603" y="11753"/>
                </a:lnTo>
                <a:lnTo>
                  <a:pt x="47020" y="17602"/>
                </a:lnTo>
                <a:lnTo>
                  <a:pt x="47625" y="20650"/>
                </a:lnTo>
                <a:lnTo>
                  <a:pt x="47625" y="26974"/>
                </a:lnTo>
                <a:lnTo>
                  <a:pt x="47020" y="29984"/>
                </a:lnTo>
                <a:lnTo>
                  <a:pt x="45812" y="32851"/>
                </a:lnTo>
                <a:lnTo>
                  <a:pt x="44603" y="35794"/>
                </a:lnTo>
                <a:lnTo>
                  <a:pt x="26970" y="47586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84200" y="366076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1812" y="32851"/>
                </a:lnTo>
                <a:lnTo>
                  <a:pt x="604" y="29984"/>
                </a:lnTo>
                <a:lnTo>
                  <a:pt x="0" y="26974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12"/>
                </a:lnTo>
                <a:lnTo>
                  <a:pt x="47625" y="26974"/>
                </a:lnTo>
                <a:lnTo>
                  <a:pt x="47020" y="29984"/>
                </a:lnTo>
                <a:lnTo>
                  <a:pt x="45812" y="32851"/>
                </a:lnTo>
                <a:lnTo>
                  <a:pt x="44603" y="35794"/>
                </a:lnTo>
                <a:lnTo>
                  <a:pt x="26970" y="47586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84200" y="390841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34"/>
                </a:ln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12"/>
                </a:lnTo>
                <a:lnTo>
                  <a:pt x="47625" y="26936"/>
                </a:lnTo>
                <a:lnTo>
                  <a:pt x="26970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84200" y="480376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20654" y="47586"/>
                </a:lnTo>
                <a:lnTo>
                  <a:pt x="17617" y="46996"/>
                </a:lnTo>
                <a:lnTo>
                  <a:pt x="14699" y="45767"/>
                </a:lnTo>
                <a:lnTo>
                  <a:pt x="11782" y="44577"/>
                </a:lnTo>
                <a:lnTo>
                  <a:pt x="0" y="2693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36"/>
                </a:lnTo>
                <a:lnTo>
                  <a:pt x="32925" y="45767"/>
                </a:lnTo>
                <a:lnTo>
                  <a:pt x="30007" y="46996"/>
                </a:lnTo>
                <a:lnTo>
                  <a:pt x="26970" y="47586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84200" y="505141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3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36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84200" y="594676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74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12"/>
                </a:lnTo>
                <a:lnTo>
                  <a:pt x="47625" y="26974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84200" y="619441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6996"/>
                </a:lnTo>
                <a:lnTo>
                  <a:pt x="14699" y="45767"/>
                </a:lnTo>
                <a:lnTo>
                  <a:pt x="11782" y="44577"/>
                </a:lnTo>
                <a:lnTo>
                  <a:pt x="0" y="26974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74"/>
                </a:lnTo>
                <a:lnTo>
                  <a:pt x="32925" y="45767"/>
                </a:lnTo>
                <a:lnTo>
                  <a:pt x="30007" y="46996"/>
                </a:lnTo>
                <a:lnTo>
                  <a:pt x="26970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84200" y="708976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3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36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84200" y="733741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20654" y="47586"/>
                </a:lnTo>
                <a:lnTo>
                  <a:pt x="17617" y="46996"/>
                </a:lnTo>
                <a:lnTo>
                  <a:pt x="14699" y="45767"/>
                </a:lnTo>
                <a:lnTo>
                  <a:pt x="11782" y="44577"/>
                </a:lnTo>
                <a:lnTo>
                  <a:pt x="0" y="26974"/>
                </a:lnTo>
                <a:lnTo>
                  <a:pt x="0" y="20650"/>
                </a:lnTo>
                <a:lnTo>
                  <a:pt x="604" y="17602"/>
                </a:lnTo>
                <a:lnTo>
                  <a:pt x="3021" y="11715"/>
                </a:lnTo>
                <a:lnTo>
                  <a:pt x="4741" y="9115"/>
                </a:lnTo>
                <a:lnTo>
                  <a:pt x="6974" y="6924"/>
                </a:lnTo>
                <a:lnTo>
                  <a:pt x="9207" y="4686"/>
                </a:lnTo>
                <a:lnTo>
                  <a:pt x="11782" y="2981"/>
                </a:lnTo>
                <a:lnTo>
                  <a:pt x="17617" y="600"/>
                </a:lnTo>
                <a:lnTo>
                  <a:pt x="20654" y="0"/>
                </a:lnTo>
                <a:lnTo>
                  <a:pt x="26970" y="0"/>
                </a:lnTo>
                <a:lnTo>
                  <a:pt x="30007" y="600"/>
                </a:lnTo>
                <a:lnTo>
                  <a:pt x="35842" y="2981"/>
                </a:lnTo>
                <a:lnTo>
                  <a:pt x="38417" y="4686"/>
                </a:lnTo>
                <a:lnTo>
                  <a:pt x="40650" y="6924"/>
                </a:lnTo>
                <a:lnTo>
                  <a:pt x="42883" y="9115"/>
                </a:lnTo>
                <a:lnTo>
                  <a:pt x="44603" y="11715"/>
                </a:lnTo>
                <a:lnTo>
                  <a:pt x="47020" y="17602"/>
                </a:lnTo>
                <a:lnTo>
                  <a:pt x="47625" y="20650"/>
                </a:lnTo>
                <a:lnTo>
                  <a:pt x="47625" y="26974"/>
                </a:lnTo>
                <a:lnTo>
                  <a:pt x="32925" y="45767"/>
                </a:lnTo>
                <a:lnTo>
                  <a:pt x="30007" y="46996"/>
                </a:lnTo>
                <a:lnTo>
                  <a:pt x="26970" y="47586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84200" y="823276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74"/>
                </a:lnTo>
                <a:lnTo>
                  <a:pt x="0" y="20650"/>
                </a:lnTo>
                <a:lnTo>
                  <a:pt x="604" y="17564"/>
                </a:lnTo>
                <a:lnTo>
                  <a:pt x="3021" y="11715"/>
                </a:lnTo>
                <a:lnTo>
                  <a:pt x="4741" y="9153"/>
                </a:lnTo>
                <a:lnTo>
                  <a:pt x="6974" y="6953"/>
                </a:lnTo>
                <a:lnTo>
                  <a:pt x="9207" y="4686"/>
                </a:lnTo>
                <a:lnTo>
                  <a:pt x="11782" y="2981"/>
                </a:lnTo>
                <a:lnTo>
                  <a:pt x="17617" y="600"/>
                </a:lnTo>
                <a:lnTo>
                  <a:pt x="20654" y="0"/>
                </a:lnTo>
                <a:lnTo>
                  <a:pt x="26970" y="0"/>
                </a:lnTo>
                <a:lnTo>
                  <a:pt x="30007" y="600"/>
                </a:lnTo>
                <a:lnTo>
                  <a:pt x="35842" y="2981"/>
                </a:lnTo>
                <a:lnTo>
                  <a:pt x="38417" y="4686"/>
                </a:lnTo>
                <a:lnTo>
                  <a:pt x="40650" y="6953"/>
                </a:lnTo>
                <a:lnTo>
                  <a:pt x="42883" y="9153"/>
                </a:lnTo>
                <a:lnTo>
                  <a:pt x="44603" y="11715"/>
                </a:lnTo>
                <a:lnTo>
                  <a:pt x="47020" y="17564"/>
                </a:lnTo>
                <a:lnTo>
                  <a:pt x="47625" y="20650"/>
                </a:lnTo>
                <a:lnTo>
                  <a:pt x="47625" y="26974"/>
                </a:lnTo>
                <a:lnTo>
                  <a:pt x="26970" y="47586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84200" y="8470891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36"/>
                </a:lnTo>
                <a:lnTo>
                  <a:pt x="0" y="2061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12"/>
                </a:lnTo>
                <a:lnTo>
                  <a:pt x="47625" y="26936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84200" y="937576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74"/>
                </a:lnTo>
                <a:lnTo>
                  <a:pt x="0" y="20612"/>
                </a:lnTo>
                <a:lnTo>
                  <a:pt x="604" y="17564"/>
                </a:lnTo>
                <a:lnTo>
                  <a:pt x="3021" y="11715"/>
                </a:lnTo>
                <a:lnTo>
                  <a:pt x="4741" y="9153"/>
                </a:lnTo>
                <a:lnTo>
                  <a:pt x="6974" y="6953"/>
                </a:lnTo>
                <a:lnTo>
                  <a:pt x="9207" y="4686"/>
                </a:lnTo>
                <a:lnTo>
                  <a:pt x="11782" y="2981"/>
                </a:lnTo>
                <a:lnTo>
                  <a:pt x="14699" y="1752"/>
                </a:lnTo>
                <a:lnTo>
                  <a:pt x="17617" y="600"/>
                </a:lnTo>
                <a:lnTo>
                  <a:pt x="20654" y="0"/>
                </a:lnTo>
                <a:lnTo>
                  <a:pt x="26970" y="0"/>
                </a:lnTo>
                <a:lnTo>
                  <a:pt x="40650" y="6953"/>
                </a:lnTo>
                <a:lnTo>
                  <a:pt x="42883" y="9153"/>
                </a:lnTo>
                <a:lnTo>
                  <a:pt x="44603" y="11715"/>
                </a:lnTo>
                <a:lnTo>
                  <a:pt x="47020" y="17564"/>
                </a:lnTo>
                <a:lnTo>
                  <a:pt x="47625" y="20612"/>
                </a:lnTo>
                <a:lnTo>
                  <a:pt x="47625" y="26974"/>
                </a:lnTo>
                <a:lnTo>
                  <a:pt x="26970" y="47586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19100" y="323839"/>
            <a:ext cx="5258435" cy="9161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6700" indent="-254635">
              <a:lnSpc>
                <a:spcPct val="100000"/>
              </a:lnSpc>
              <a:spcBef>
                <a:spcPts val="100"/>
              </a:spcBef>
              <a:buFont typeface="Arial"/>
              <a:buAutoNum type="arabicPeriod" startAt="2"/>
              <a:tabLst>
                <a:tab pos="267335" algn="l"/>
              </a:tabLst>
            </a:pPr>
            <a:r>
              <a:rPr dirty="0" sz="1800" b="1">
                <a:latin typeface="微软雅黑"/>
                <a:cs typeface="微软雅黑"/>
              </a:rPr>
              <a:t>注册问题</a:t>
            </a:r>
            <a:endParaRPr sz="1800">
              <a:latin typeface="微软雅黑"/>
              <a:cs typeface="微软雅黑"/>
            </a:endParaRPr>
          </a:p>
          <a:p>
            <a:pPr marL="317500" marR="1275080">
              <a:lnSpc>
                <a:spcPct val="130200"/>
              </a:lnSpc>
              <a:spcBef>
                <a:spcPts val="1080"/>
              </a:spcBef>
            </a:pPr>
            <a:r>
              <a:rPr dirty="0" sz="1200" b="1">
                <a:latin typeface="微软雅黑"/>
                <a:cs typeface="微软雅黑"/>
              </a:rPr>
              <a:t>输入验证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：确认所有必填字段都已填写，且格式正确。 </a:t>
            </a:r>
            <a:r>
              <a:rPr dirty="0" sz="1200" b="1">
                <a:latin typeface="微软雅黑"/>
                <a:cs typeface="微软雅黑"/>
              </a:rPr>
              <a:t>唯一性检查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：确保用户名和密码是唯一的。</a:t>
            </a:r>
            <a:endParaRPr sz="1200">
              <a:latin typeface="微软雅黑"/>
              <a:cs typeface="微软雅黑"/>
            </a:endParaRPr>
          </a:p>
          <a:p>
            <a:pPr marL="317500">
              <a:lnSpc>
                <a:spcPct val="100000"/>
              </a:lnSpc>
              <a:spcBef>
                <a:spcPts val="509"/>
              </a:spcBef>
            </a:pPr>
            <a:r>
              <a:rPr dirty="0" sz="1200" b="1">
                <a:latin typeface="微软雅黑"/>
                <a:cs typeface="微软雅黑"/>
              </a:rPr>
              <a:t>用户类型选择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：确认选择了正确的用户类型（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Consumer</a:t>
            </a:r>
            <a:r>
              <a:rPr dirty="0" sz="1200" spc="-4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或</a:t>
            </a:r>
            <a:r>
              <a:rPr dirty="0" sz="1200" spc="-70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Merchant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）。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050">
              <a:latin typeface="微软雅黑"/>
              <a:cs typeface="微软雅黑"/>
            </a:endParaRPr>
          </a:p>
          <a:p>
            <a:pPr marL="266700" indent="-254635">
              <a:lnSpc>
                <a:spcPct val="100000"/>
              </a:lnSpc>
              <a:spcBef>
                <a:spcPts val="5"/>
              </a:spcBef>
              <a:buFont typeface="Arial"/>
              <a:buAutoNum type="arabicPeriod" startAt="3"/>
              <a:tabLst>
                <a:tab pos="267335" algn="l"/>
              </a:tabLst>
            </a:pPr>
            <a:r>
              <a:rPr dirty="0" sz="1800" b="1">
                <a:latin typeface="微软雅黑"/>
                <a:cs typeface="微软雅黑"/>
              </a:rPr>
              <a:t>购买产品问题</a:t>
            </a:r>
            <a:endParaRPr sz="1800">
              <a:latin typeface="微软雅黑"/>
              <a:cs typeface="微软雅黑"/>
            </a:endParaRPr>
          </a:p>
          <a:p>
            <a:pPr marL="317500" marR="2037080">
              <a:lnSpc>
                <a:spcPct val="135400"/>
              </a:lnSpc>
              <a:spcBef>
                <a:spcPts val="930"/>
              </a:spcBef>
            </a:pPr>
            <a:r>
              <a:rPr dirty="0" sz="1200" b="1">
                <a:latin typeface="微软雅黑"/>
                <a:cs typeface="微软雅黑"/>
              </a:rPr>
              <a:t>产品信息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：确认产品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和订单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是正确的。 </a:t>
            </a:r>
            <a:r>
              <a:rPr dirty="0" sz="1200" b="1">
                <a:latin typeface="微软雅黑"/>
                <a:cs typeface="微软雅黑"/>
              </a:rPr>
              <a:t>购买数量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：确认购买数量输入正确。</a:t>
            </a:r>
            <a:endParaRPr sz="1200">
              <a:latin typeface="微软雅黑"/>
              <a:cs typeface="微软雅黑"/>
            </a:endParaRPr>
          </a:p>
          <a:p>
            <a:pPr marL="317500">
              <a:lnSpc>
                <a:spcPct val="100000"/>
              </a:lnSpc>
              <a:spcBef>
                <a:spcPts val="509"/>
              </a:spcBef>
            </a:pPr>
            <a:r>
              <a:rPr dirty="0" sz="1200" b="1">
                <a:latin typeface="微软雅黑"/>
                <a:cs typeface="微软雅黑"/>
              </a:rPr>
              <a:t>支付信息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：确认支付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和支付方式正确无误。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000">
              <a:latin typeface="微软雅黑"/>
              <a:cs typeface="微软雅黑"/>
            </a:endParaRPr>
          </a:p>
          <a:p>
            <a:pPr marL="266700" indent="-254635">
              <a:lnSpc>
                <a:spcPct val="100000"/>
              </a:lnSpc>
              <a:buFont typeface="Arial"/>
              <a:buAutoNum type="arabicPeriod" startAt="4"/>
              <a:tabLst>
                <a:tab pos="267335" algn="l"/>
              </a:tabLst>
            </a:pPr>
            <a:r>
              <a:rPr dirty="0" sz="1800" b="1">
                <a:latin typeface="微软雅黑"/>
                <a:cs typeface="微软雅黑"/>
              </a:rPr>
              <a:t>查询订单问题</a:t>
            </a:r>
            <a:endParaRPr sz="1800">
              <a:latin typeface="微软雅黑"/>
              <a:cs typeface="微软雅黑"/>
            </a:endParaRPr>
          </a:p>
          <a:p>
            <a:pPr marL="317500" marR="2240915">
              <a:lnSpc>
                <a:spcPct val="135400"/>
              </a:lnSpc>
              <a:spcBef>
                <a:spcPts val="1005"/>
              </a:spcBef>
            </a:pPr>
            <a:r>
              <a:rPr dirty="0" sz="1200" b="1">
                <a:latin typeface="微软雅黑"/>
                <a:cs typeface="微软雅黑"/>
              </a:rPr>
              <a:t>查询按钮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：确认已点击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查询订单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按钮。 </a:t>
            </a:r>
            <a:r>
              <a:rPr dirty="0" sz="1200" b="1">
                <a:latin typeface="微软雅黑"/>
                <a:cs typeface="微软雅黑"/>
              </a:rPr>
              <a:t>订单信息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：确认订单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输入正确。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1050">
              <a:latin typeface="微软雅黑"/>
              <a:cs typeface="微软雅黑"/>
            </a:endParaRPr>
          </a:p>
          <a:p>
            <a:pPr marL="266700" indent="-254635">
              <a:lnSpc>
                <a:spcPct val="100000"/>
              </a:lnSpc>
              <a:buFont typeface="Arial"/>
              <a:buAutoNum type="arabicPeriod" startAt="5"/>
              <a:tabLst>
                <a:tab pos="267335" algn="l"/>
              </a:tabLst>
            </a:pPr>
            <a:r>
              <a:rPr dirty="0" sz="1800" b="1">
                <a:latin typeface="微软雅黑"/>
                <a:cs typeface="微软雅黑"/>
              </a:rPr>
              <a:t>地址管理问题</a:t>
            </a:r>
            <a:endParaRPr sz="1800">
              <a:latin typeface="微软雅黑"/>
              <a:cs typeface="微软雅黑"/>
            </a:endParaRPr>
          </a:p>
          <a:p>
            <a:pPr marL="317500" marR="1884680">
              <a:lnSpc>
                <a:spcPct val="135400"/>
              </a:lnSpc>
              <a:spcBef>
                <a:spcPts val="1005"/>
              </a:spcBef>
            </a:pPr>
            <a:r>
              <a:rPr dirty="0" sz="1200" b="1">
                <a:latin typeface="微软雅黑"/>
                <a:cs typeface="微软雅黑"/>
              </a:rPr>
              <a:t>地址信息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：确认地址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和详细地址输入正确。 </a:t>
            </a:r>
            <a:r>
              <a:rPr dirty="0" sz="1200" b="1">
                <a:latin typeface="微软雅黑"/>
                <a:cs typeface="微软雅黑"/>
              </a:rPr>
              <a:t>添加地址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：确认已点击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添加地址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1050">
              <a:latin typeface="微软雅黑"/>
              <a:cs typeface="微软雅黑"/>
            </a:endParaRPr>
          </a:p>
          <a:p>
            <a:pPr marL="266700" indent="-254635">
              <a:lnSpc>
                <a:spcPct val="100000"/>
              </a:lnSpc>
              <a:buFont typeface="Arial"/>
              <a:buAutoNum type="arabicPeriod" startAt="6"/>
              <a:tabLst>
                <a:tab pos="267335" algn="l"/>
              </a:tabLst>
            </a:pPr>
            <a:r>
              <a:rPr dirty="0" sz="1800" b="1">
                <a:latin typeface="微软雅黑"/>
                <a:cs typeface="微软雅黑"/>
              </a:rPr>
              <a:t>支付订单问题</a:t>
            </a:r>
            <a:endParaRPr sz="1800">
              <a:latin typeface="微软雅黑"/>
              <a:cs typeface="微软雅黑"/>
            </a:endParaRPr>
          </a:p>
          <a:p>
            <a:pPr marL="317500" marR="1275080">
              <a:lnSpc>
                <a:spcPct val="135400"/>
              </a:lnSpc>
              <a:spcBef>
                <a:spcPts val="1005"/>
              </a:spcBef>
            </a:pPr>
            <a:r>
              <a:rPr dirty="0" sz="1200" b="1">
                <a:latin typeface="微软雅黑"/>
                <a:cs typeface="微软雅黑"/>
              </a:rPr>
              <a:t>支付信息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：确认支付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、订单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和支付方式输入正确。 </a:t>
            </a:r>
            <a:r>
              <a:rPr dirty="0" sz="1200" b="1">
                <a:latin typeface="微软雅黑"/>
                <a:cs typeface="微软雅黑"/>
              </a:rPr>
              <a:t>支付按钮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：确认已点击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支付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1050">
              <a:latin typeface="微软雅黑"/>
              <a:cs typeface="微软雅黑"/>
            </a:endParaRPr>
          </a:p>
          <a:p>
            <a:pPr marL="266700" indent="-254635">
              <a:lnSpc>
                <a:spcPct val="100000"/>
              </a:lnSpc>
              <a:buFont typeface="Arial"/>
              <a:buAutoNum type="arabicPeriod" startAt="7"/>
              <a:tabLst>
                <a:tab pos="267335" algn="l"/>
              </a:tabLst>
            </a:pPr>
            <a:r>
              <a:rPr dirty="0" sz="1800" b="1">
                <a:latin typeface="微软雅黑"/>
                <a:cs typeface="微软雅黑"/>
              </a:rPr>
              <a:t>确认收货问题</a:t>
            </a:r>
            <a:endParaRPr sz="1800">
              <a:latin typeface="微软雅黑"/>
              <a:cs typeface="微软雅黑"/>
            </a:endParaRPr>
          </a:p>
          <a:p>
            <a:pPr marL="317500">
              <a:lnSpc>
                <a:spcPct val="100000"/>
              </a:lnSpc>
              <a:spcBef>
                <a:spcPts val="1515"/>
              </a:spcBef>
            </a:pPr>
            <a:r>
              <a:rPr dirty="0" sz="1200" b="1">
                <a:latin typeface="微软雅黑"/>
                <a:cs typeface="微软雅黑"/>
              </a:rPr>
              <a:t>订单信息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：确认订单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输入正确。</a:t>
            </a:r>
            <a:endParaRPr sz="1200">
              <a:latin typeface="微软雅黑"/>
              <a:cs typeface="微软雅黑"/>
            </a:endParaRPr>
          </a:p>
          <a:p>
            <a:pPr marL="317500">
              <a:lnSpc>
                <a:spcPct val="100000"/>
              </a:lnSpc>
              <a:spcBef>
                <a:spcPts val="509"/>
              </a:spcBef>
            </a:pPr>
            <a:r>
              <a:rPr dirty="0" sz="1200" b="1">
                <a:latin typeface="微软雅黑"/>
                <a:cs typeface="微软雅黑"/>
              </a:rPr>
              <a:t>确认收货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：确认已点击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确认收货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1050">
              <a:latin typeface="微软雅黑"/>
              <a:cs typeface="微软雅黑"/>
            </a:endParaRPr>
          </a:p>
          <a:p>
            <a:pPr marL="266700" indent="-254635">
              <a:lnSpc>
                <a:spcPct val="100000"/>
              </a:lnSpc>
              <a:buFont typeface="Arial"/>
              <a:buAutoNum type="arabicPeriod" startAt="8"/>
              <a:tabLst>
                <a:tab pos="267335" algn="l"/>
              </a:tabLst>
            </a:pPr>
            <a:r>
              <a:rPr dirty="0" sz="1800" b="1">
                <a:latin typeface="微软雅黑"/>
                <a:cs typeface="微软雅黑"/>
              </a:rPr>
              <a:t>添加产品问题</a:t>
            </a:r>
            <a:endParaRPr sz="1800">
              <a:latin typeface="微软雅黑"/>
              <a:cs typeface="微软雅黑"/>
            </a:endParaRPr>
          </a:p>
          <a:p>
            <a:pPr marL="317500" marR="1275080">
              <a:lnSpc>
                <a:spcPct val="130200"/>
              </a:lnSpc>
              <a:spcBef>
                <a:spcPts val="1080"/>
              </a:spcBef>
            </a:pPr>
            <a:r>
              <a:rPr dirty="0" sz="1200" b="1">
                <a:latin typeface="微软雅黑"/>
                <a:cs typeface="微软雅黑"/>
              </a:rPr>
              <a:t>产品信息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：确认产品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、名称、价格和库存输入正确。 </a:t>
            </a:r>
            <a:r>
              <a:rPr dirty="0" sz="1200" b="1">
                <a:latin typeface="微软雅黑"/>
                <a:cs typeface="微软雅黑"/>
              </a:rPr>
              <a:t>添加按钮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：确认已点击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添加产品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050">
              <a:latin typeface="微软雅黑"/>
              <a:cs typeface="微软雅黑"/>
            </a:endParaRPr>
          </a:p>
          <a:p>
            <a:pPr marL="266700" indent="-254635">
              <a:lnSpc>
                <a:spcPct val="100000"/>
              </a:lnSpc>
              <a:buFont typeface="Arial"/>
              <a:buAutoNum type="arabicPeriod" startAt="9"/>
              <a:tabLst>
                <a:tab pos="267335" algn="l"/>
              </a:tabLst>
            </a:pPr>
            <a:r>
              <a:rPr dirty="0" sz="1800" b="1">
                <a:latin typeface="微软雅黑"/>
                <a:cs typeface="微软雅黑"/>
              </a:rPr>
              <a:t>查询商单问题</a:t>
            </a:r>
            <a:endParaRPr sz="1800">
              <a:latin typeface="微软雅黑"/>
              <a:cs typeface="微软雅黑"/>
            </a:endParaRPr>
          </a:p>
          <a:p>
            <a:pPr marL="317500">
              <a:lnSpc>
                <a:spcPct val="100000"/>
              </a:lnSpc>
              <a:spcBef>
                <a:spcPts val="1515"/>
              </a:spcBef>
            </a:pPr>
            <a:r>
              <a:rPr dirty="0" sz="1200" b="1">
                <a:latin typeface="微软雅黑"/>
                <a:cs typeface="微软雅黑"/>
              </a:rPr>
              <a:t>查询按钮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：确认已点击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查询订单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按钮。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4200" y="46036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34"/>
                </a:lnTo>
                <a:lnTo>
                  <a:pt x="1812" y="32851"/>
                </a:lnTo>
                <a:lnTo>
                  <a:pt x="604" y="29984"/>
                </a:lnTo>
                <a:lnTo>
                  <a:pt x="0" y="26974"/>
                </a:lnTo>
                <a:lnTo>
                  <a:pt x="0" y="20612"/>
                </a:lnTo>
                <a:lnTo>
                  <a:pt x="604" y="17564"/>
                </a:lnTo>
                <a:lnTo>
                  <a:pt x="3021" y="11715"/>
                </a:lnTo>
                <a:lnTo>
                  <a:pt x="4741" y="9153"/>
                </a:lnTo>
                <a:lnTo>
                  <a:pt x="6974" y="6953"/>
                </a:lnTo>
                <a:lnTo>
                  <a:pt x="9207" y="4686"/>
                </a:lnTo>
                <a:lnTo>
                  <a:pt x="11782" y="2981"/>
                </a:lnTo>
                <a:lnTo>
                  <a:pt x="17617" y="600"/>
                </a:lnTo>
                <a:lnTo>
                  <a:pt x="20654" y="0"/>
                </a:lnTo>
                <a:lnTo>
                  <a:pt x="26970" y="0"/>
                </a:lnTo>
                <a:lnTo>
                  <a:pt x="30007" y="600"/>
                </a:lnTo>
                <a:lnTo>
                  <a:pt x="35842" y="2981"/>
                </a:lnTo>
                <a:lnTo>
                  <a:pt x="38417" y="4686"/>
                </a:lnTo>
                <a:lnTo>
                  <a:pt x="40650" y="6953"/>
                </a:lnTo>
                <a:lnTo>
                  <a:pt x="42883" y="9153"/>
                </a:lnTo>
                <a:lnTo>
                  <a:pt x="44603" y="11715"/>
                </a:lnTo>
                <a:lnTo>
                  <a:pt x="47020" y="17564"/>
                </a:lnTo>
                <a:lnTo>
                  <a:pt x="47625" y="20612"/>
                </a:lnTo>
                <a:lnTo>
                  <a:pt x="47625" y="26974"/>
                </a:lnTo>
                <a:lnTo>
                  <a:pt x="47020" y="29984"/>
                </a:lnTo>
                <a:lnTo>
                  <a:pt x="45812" y="32851"/>
                </a:lnTo>
                <a:lnTo>
                  <a:pt x="44603" y="35794"/>
                </a:lnTo>
                <a:lnTo>
                  <a:pt x="42883" y="38395"/>
                </a:lnTo>
                <a:lnTo>
                  <a:pt x="38417" y="42862"/>
                </a:lnTo>
                <a:lnTo>
                  <a:pt x="35842" y="44577"/>
                </a:lnTo>
                <a:lnTo>
                  <a:pt x="30007" y="47034"/>
                </a:lnTo>
                <a:lnTo>
                  <a:pt x="26970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23900" y="361939"/>
            <a:ext cx="23114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微软雅黑"/>
                <a:cs typeface="微软雅黑"/>
              </a:rPr>
              <a:t>订单信息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：确认订单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输入正确。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9100" y="800089"/>
            <a:ext cx="6883400" cy="1732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3700" indent="-381635">
              <a:lnSpc>
                <a:spcPct val="100000"/>
              </a:lnSpc>
              <a:spcBef>
                <a:spcPts val="100"/>
              </a:spcBef>
              <a:buFont typeface="Arial"/>
              <a:buAutoNum type="arabicPeriod" startAt="10"/>
              <a:tabLst>
                <a:tab pos="394335" algn="l"/>
              </a:tabLst>
            </a:pPr>
            <a:r>
              <a:rPr dirty="0" sz="1800" b="1">
                <a:latin typeface="微软雅黑"/>
                <a:cs typeface="微软雅黑"/>
              </a:rPr>
              <a:t>订单发货问题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AutoNum type="arabicPeriod" startAt="10"/>
            </a:pPr>
            <a:endParaRPr sz="1200">
              <a:latin typeface="微软雅黑"/>
              <a:cs typeface="微软雅黑"/>
            </a:endParaRPr>
          </a:p>
          <a:p>
            <a:pPr lvl="1" marL="301625" indent="-168275">
              <a:lnSpc>
                <a:spcPct val="100000"/>
              </a:lnSpc>
              <a:buChar char="-"/>
              <a:tabLst>
                <a:tab pos="302260" algn="l"/>
              </a:tabLst>
            </a:pPr>
            <a:r>
              <a:rPr dirty="0" sz="1200">
                <a:solidFill>
                  <a:srgbClr val="333333"/>
                </a:solidFill>
                <a:latin typeface="Consolas"/>
                <a:cs typeface="Consolas"/>
              </a:rPr>
              <a:t>**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订单信息</a:t>
            </a:r>
            <a:r>
              <a:rPr dirty="0" sz="1200">
                <a:solidFill>
                  <a:srgbClr val="333333"/>
                </a:solidFill>
                <a:latin typeface="Consolas"/>
                <a:cs typeface="Consolas"/>
              </a:rPr>
              <a:t>**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：确认订单</a:t>
            </a:r>
            <a:r>
              <a:rPr dirty="0" sz="1200">
                <a:solidFill>
                  <a:srgbClr val="333333"/>
                </a:solidFill>
                <a:latin typeface="Consolas"/>
                <a:cs typeface="Consolas"/>
              </a:rPr>
              <a:t>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输入正确。</a:t>
            </a:r>
            <a:endParaRPr sz="1200">
              <a:latin typeface="微软雅黑"/>
              <a:cs typeface="微软雅黑"/>
            </a:endParaRPr>
          </a:p>
          <a:p>
            <a:pPr lvl="1" marL="301625" indent="-168275">
              <a:lnSpc>
                <a:spcPct val="100000"/>
              </a:lnSpc>
              <a:spcBef>
                <a:spcPts val="285"/>
              </a:spcBef>
              <a:buChar char="-"/>
              <a:tabLst>
                <a:tab pos="302260" algn="l"/>
              </a:tabLst>
            </a:pPr>
            <a:r>
              <a:rPr dirty="0" sz="1200">
                <a:solidFill>
                  <a:srgbClr val="333333"/>
                </a:solidFill>
                <a:latin typeface="Consolas"/>
                <a:cs typeface="Consolas"/>
              </a:rPr>
              <a:t>**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发货按钮</a:t>
            </a:r>
            <a:r>
              <a:rPr dirty="0" sz="1200">
                <a:solidFill>
                  <a:srgbClr val="333333"/>
                </a:solidFill>
                <a:latin typeface="Consolas"/>
                <a:cs typeface="Consolas"/>
              </a:rPr>
              <a:t>**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：确认已点击</a:t>
            </a:r>
            <a:r>
              <a:rPr dirty="0" sz="1200">
                <a:solidFill>
                  <a:srgbClr val="333333"/>
                </a:solidFill>
                <a:latin typeface="Consolas"/>
                <a:cs typeface="Consolas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发货</a:t>
            </a:r>
            <a:r>
              <a:rPr dirty="0" sz="1200">
                <a:solidFill>
                  <a:srgbClr val="333333"/>
                </a:solidFill>
                <a:latin typeface="Consolas"/>
                <a:cs typeface="Consolas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100">
              <a:latin typeface="微软雅黑"/>
              <a:cs typeface="微软雅黑"/>
            </a:endParaRPr>
          </a:p>
          <a:p>
            <a:pPr marL="12700" marR="5080">
              <a:lnSpc>
                <a:spcPct val="130200"/>
              </a:lnSpc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以上是一些常见的故障排除步骤，如果遇到其他问题，可以参考用户手册中的相关章节，或联系我们的 技术支持团队。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9100" y="2800339"/>
            <a:ext cx="1194435" cy="9283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latin typeface="微软雅黑"/>
                <a:cs typeface="微软雅黑"/>
              </a:rPr>
              <a:t>常见问题</a:t>
            </a:r>
            <a:endParaRPr sz="21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430"/>
              </a:spcBef>
            </a:pPr>
            <a:r>
              <a:rPr dirty="0" sz="1800" b="1">
                <a:latin typeface="Arial"/>
                <a:cs typeface="Arial"/>
              </a:rPr>
              <a:t>1.</a:t>
            </a:r>
            <a:r>
              <a:rPr dirty="0" sz="1800" spc="-100" b="1">
                <a:latin typeface="Arial"/>
                <a:cs typeface="Arial"/>
              </a:rPr>
              <a:t> </a:t>
            </a:r>
            <a:r>
              <a:rPr dirty="0" sz="1800" b="1">
                <a:latin typeface="微软雅黑"/>
                <a:cs typeface="微软雅黑"/>
              </a:rPr>
              <a:t>登录问题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9100" y="3973819"/>
            <a:ext cx="5511800" cy="4378325"/>
          </a:xfrm>
          <a:prstGeom prst="rect">
            <a:avLst/>
          </a:prstGeom>
        </p:spPr>
        <p:txBody>
          <a:bodyPr wrap="square" lIns="0" tIns="39369" rIns="0" bIns="0" rtlCol="0" vert="horz">
            <a:spAutoFit/>
          </a:bodyPr>
          <a:lstStyle/>
          <a:p>
            <a:pPr marL="301625" indent="-168275">
              <a:lnSpc>
                <a:spcPct val="100000"/>
              </a:lnSpc>
              <a:spcBef>
                <a:spcPts val="309"/>
              </a:spcBef>
              <a:buFont typeface="Consolas"/>
              <a:buChar char="-"/>
              <a:tabLst>
                <a:tab pos="302260" algn="l"/>
              </a:tabLst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为什么我无法登录？</a:t>
            </a:r>
            <a:endParaRPr sz="1200">
              <a:latin typeface="微软雅黑"/>
              <a:cs typeface="微软雅黑"/>
            </a:endParaRPr>
          </a:p>
          <a:p>
            <a:pPr lvl="1" marL="469265" indent="-168275">
              <a:lnSpc>
                <a:spcPct val="100000"/>
              </a:lnSpc>
              <a:spcBef>
                <a:spcPts val="209"/>
              </a:spcBef>
              <a:buFont typeface="Consolas"/>
              <a:buChar char="-"/>
              <a:tabLst>
                <a:tab pos="469900" algn="l"/>
              </a:tabLst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请检查您的用户名和密码是否正确无误，并确保它们符合规定的格式要求。</a:t>
            </a:r>
            <a:endParaRPr sz="1200">
              <a:latin typeface="微软雅黑"/>
              <a:cs typeface="微软雅黑"/>
            </a:endParaRPr>
          </a:p>
          <a:p>
            <a:pPr lvl="1" marL="469265" indent="-168275">
              <a:lnSpc>
                <a:spcPct val="100000"/>
              </a:lnSpc>
              <a:spcBef>
                <a:spcPts val="209"/>
              </a:spcBef>
              <a:buFont typeface="Consolas"/>
              <a:buChar char="-"/>
              <a:tabLst>
                <a:tab pos="469900" algn="l"/>
              </a:tabLst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确认您的网络连接稳定，没有断开。</a:t>
            </a:r>
            <a:endParaRPr sz="1200">
              <a:latin typeface="微软雅黑"/>
              <a:cs typeface="微软雅黑"/>
            </a:endParaRPr>
          </a:p>
          <a:p>
            <a:pPr lvl="1" marL="469265" indent="-168275">
              <a:lnSpc>
                <a:spcPct val="100000"/>
              </a:lnSpc>
              <a:spcBef>
                <a:spcPts val="284"/>
              </a:spcBef>
              <a:buFont typeface="Consolas"/>
              <a:buChar char="-"/>
              <a:tabLst>
                <a:tab pos="469900" algn="l"/>
              </a:tabLst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尝试清除浏览器缓存或使用其他浏览器登录。</a:t>
            </a:r>
            <a:endParaRPr sz="1200">
              <a:latin typeface="微软雅黑"/>
              <a:cs typeface="微软雅黑"/>
            </a:endParaRPr>
          </a:p>
          <a:p>
            <a:pPr lvl="1" marL="469265" indent="-168275">
              <a:lnSpc>
                <a:spcPct val="100000"/>
              </a:lnSpc>
              <a:spcBef>
                <a:spcPts val="209"/>
              </a:spcBef>
              <a:buFont typeface="Consolas"/>
              <a:buChar char="-"/>
              <a:tabLst>
                <a:tab pos="469900" algn="l"/>
              </a:tabLst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检查您的账户是否被禁用或锁定。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5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latin typeface="Arial"/>
                <a:cs typeface="Arial"/>
              </a:rPr>
              <a:t>2.</a:t>
            </a:r>
            <a:r>
              <a:rPr dirty="0" sz="1800" spc="-5" b="1">
                <a:latin typeface="Arial"/>
                <a:cs typeface="Arial"/>
              </a:rPr>
              <a:t> </a:t>
            </a:r>
            <a:r>
              <a:rPr dirty="0" sz="1800" b="1">
                <a:latin typeface="微软雅黑"/>
                <a:cs typeface="微软雅黑"/>
              </a:rPr>
              <a:t>注册问题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50">
              <a:latin typeface="微软雅黑"/>
              <a:cs typeface="微软雅黑"/>
            </a:endParaRPr>
          </a:p>
          <a:p>
            <a:pPr marL="301625" indent="-168275">
              <a:lnSpc>
                <a:spcPct val="100000"/>
              </a:lnSpc>
              <a:buFont typeface="Consolas"/>
              <a:buChar char="-"/>
              <a:tabLst>
                <a:tab pos="302260" algn="l"/>
              </a:tabLst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我无法注册新账户？</a:t>
            </a:r>
            <a:endParaRPr sz="1200">
              <a:latin typeface="微软雅黑"/>
              <a:cs typeface="微软雅黑"/>
            </a:endParaRPr>
          </a:p>
          <a:p>
            <a:pPr lvl="1" marL="469265" indent="-168275">
              <a:lnSpc>
                <a:spcPct val="100000"/>
              </a:lnSpc>
              <a:spcBef>
                <a:spcPts val="210"/>
              </a:spcBef>
              <a:buFont typeface="Consolas"/>
              <a:buChar char="-"/>
              <a:tabLst>
                <a:tab pos="469900" algn="l"/>
              </a:tabLst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请确认所有必填字段都已填写，并且输入的格式正确。</a:t>
            </a:r>
            <a:endParaRPr sz="1200">
              <a:latin typeface="微软雅黑"/>
              <a:cs typeface="微软雅黑"/>
            </a:endParaRPr>
          </a:p>
          <a:p>
            <a:pPr lvl="1" marL="469265" indent="-168275">
              <a:lnSpc>
                <a:spcPct val="100000"/>
              </a:lnSpc>
              <a:spcBef>
                <a:spcPts val="285"/>
              </a:spcBef>
              <a:buFont typeface="Consolas"/>
              <a:buChar char="-"/>
              <a:tabLst>
                <a:tab pos="469900" algn="l"/>
              </a:tabLst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用户名和密码必须唯一，并且符合复杂度要求。</a:t>
            </a:r>
            <a:endParaRPr sz="1200">
              <a:latin typeface="微软雅黑"/>
              <a:cs typeface="微软雅黑"/>
            </a:endParaRPr>
          </a:p>
          <a:p>
            <a:pPr lvl="1" marL="469265" indent="-168275">
              <a:lnSpc>
                <a:spcPct val="100000"/>
              </a:lnSpc>
              <a:spcBef>
                <a:spcPts val="210"/>
              </a:spcBef>
              <a:buFont typeface="Consolas"/>
              <a:buChar char="-"/>
              <a:tabLst>
                <a:tab pos="469900" algn="l"/>
              </a:tabLst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选择正确的用户类型（</a:t>
            </a:r>
            <a:r>
              <a:rPr dirty="0" sz="1200">
                <a:solidFill>
                  <a:srgbClr val="333333"/>
                </a:solidFill>
                <a:latin typeface="Consolas"/>
                <a:cs typeface="Consolas"/>
              </a:rPr>
              <a:t>Consumer</a:t>
            </a:r>
            <a:r>
              <a:rPr dirty="0" sz="1200" spc="-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或</a:t>
            </a:r>
            <a:r>
              <a:rPr dirty="0" sz="1200" spc="295">
                <a:solidFill>
                  <a:srgbClr val="333333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333333"/>
                </a:solidFill>
                <a:latin typeface="Consolas"/>
                <a:cs typeface="Consolas"/>
              </a:rPr>
              <a:t>Merchant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）。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5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latin typeface="Arial"/>
                <a:cs typeface="Arial"/>
              </a:rPr>
              <a:t>3.</a:t>
            </a:r>
            <a:r>
              <a:rPr dirty="0" sz="1800" spc="-5" b="1">
                <a:latin typeface="Arial"/>
                <a:cs typeface="Arial"/>
              </a:rPr>
              <a:t> </a:t>
            </a:r>
            <a:r>
              <a:rPr dirty="0" sz="1800" b="1">
                <a:latin typeface="微软雅黑"/>
                <a:cs typeface="微软雅黑"/>
              </a:rPr>
              <a:t>购买产品问题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50">
              <a:latin typeface="微软雅黑"/>
              <a:cs typeface="微软雅黑"/>
            </a:endParaRPr>
          </a:p>
          <a:p>
            <a:pPr marL="301625" indent="-168275">
              <a:lnSpc>
                <a:spcPct val="100000"/>
              </a:lnSpc>
              <a:buFont typeface="Consolas"/>
              <a:buChar char="-"/>
              <a:tabLst>
                <a:tab pos="302260" algn="l"/>
              </a:tabLst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为什么我的订单没有成功？</a:t>
            </a:r>
            <a:endParaRPr sz="1200">
              <a:latin typeface="微软雅黑"/>
              <a:cs typeface="微软雅黑"/>
            </a:endParaRPr>
          </a:p>
          <a:p>
            <a:pPr lvl="1" marL="469265" indent="-168275">
              <a:lnSpc>
                <a:spcPct val="100000"/>
              </a:lnSpc>
              <a:spcBef>
                <a:spcPts val="210"/>
              </a:spcBef>
              <a:buFont typeface="Consolas"/>
              <a:buChar char="-"/>
              <a:tabLst>
                <a:tab pos="469900" algn="l"/>
              </a:tabLst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请确认产品</a:t>
            </a:r>
            <a:r>
              <a:rPr dirty="0" sz="1200">
                <a:solidFill>
                  <a:srgbClr val="333333"/>
                </a:solidFill>
                <a:latin typeface="Consolas"/>
                <a:cs typeface="Consolas"/>
              </a:rPr>
              <a:t>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和订单</a:t>
            </a:r>
            <a:r>
              <a:rPr dirty="0" sz="1200">
                <a:solidFill>
                  <a:srgbClr val="333333"/>
                </a:solidFill>
                <a:latin typeface="Consolas"/>
                <a:cs typeface="Consolas"/>
              </a:rPr>
              <a:t>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输入正确，购买数量符合要求。</a:t>
            </a:r>
            <a:endParaRPr sz="1200">
              <a:latin typeface="微软雅黑"/>
              <a:cs typeface="微软雅黑"/>
            </a:endParaRPr>
          </a:p>
          <a:p>
            <a:pPr lvl="1" marL="469265" indent="-168275">
              <a:lnSpc>
                <a:spcPct val="100000"/>
              </a:lnSpc>
              <a:spcBef>
                <a:spcPts val="285"/>
              </a:spcBef>
              <a:buFont typeface="Consolas"/>
              <a:buChar char="-"/>
              <a:tabLst>
                <a:tab pos="469900" algn="l"/>
              </a:tabLst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支付信息必须准确无误，包括支付</a:t>
            </a:r>
            <a:r>
              <a:rPr dirty="0" sz="1200">
                <a:solidFill>
                  <a:srgbClr val="333333"/>
                </a:solidFill>
                <a:latin typeface="Consolas"/>
                <a:cs typeface="Consolas"/>
              </a:rPr>
              <a:t>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和支付方式。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9100" y="323839"/>
            <a:ext cx="4643120" cy="8466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4.</a:t>
            </a:r>
            <a:r>
              <a:rPr dirty="0" sz="1800" spc="-5" b="1">
                <a:latin typeface="Arial"/>
                <a:cs typeface="Arial"/>
              </a:rPr>
              <a:t> </a:t>
            </a:r>
            <a:r>
              <a:rPr dirty="0" sz="1800" b="1">
                <a:latin typeface="微软雅黑"/>
                <a:cs typeface="微软雅黑"/>
              </a:rPr>
              <a:t>查询订单问题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50">
              <a:latin typeface="微软雅黑"/>
              <a:cs typeface="微软雅黑"/>
            </a:endParaRPr>
          </a:p>
          <a:p>
            <a:pPr marL="133985">
              <a:lnSpc>
                <a:spcPct val="100000"/>
              </a:lnSpc>
            </a:pPr>
            <a:r>
              <a:rPr dirty="0" sz="1200">
                <a:solidFill>
                  <a:srgbClr val="333333"/>
                </a:solidFill>
                <a:latin typeface="Consolas"/>
                <a:cs typeface="Consolas"/>
              </a:rPr>
              <a:t>-</a:t>
            </a:r>
            <a:r>
              <a:rPr dirty="0" sz="1200" spc="-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我无法查询我的订单？</a:t>
            </a:r>
            <a:endParaRPr sz="1200">
              <a:latin typeface="微软雅黑"/>
              <a:cs typeface="微软雅黑"/>
            </a:endParaRPr>
          </a:p>
          <a:p>
            <a:pPr marL="301625">
              <a:lnSpc>
                <a:spcPct val="100000"/>
              </a:lnSpc>
              <a:spcBef>
                <a:spcPts val="210"/>
              </a:spcBef>
            </a:pPr>
            <a:r>
              <a:rPr dirty="0" sz="1200">
                <a:solidFill>
                  <a:srgbClr val="333333"/>
                </a:solidFill>
                <a:latin typeface="Consolas"/>
                <a:cs typeface="Consolas"/>
              </a:rPr>
              <a:t>-</a:t>
            </a:r>
            <a:r>
              <a:rPr dirty="0" sz="1200" spc="-3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请确认已点击</a:t>
            </a:r>
            <a:r>
              <a:rPr dirty="0" sz="1200">
                <a:solidFill>
                  <a:srgbClr val="333333"/>
                </a:solidFill>
                <a:latin typeface="Consolas"/>
                <a:cs typeface="Consolas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查询订单</a:t>
            </a:r>
            <a:r>
              <a:rPr dirty="0" sz="1200">
                <a:solidFill>
                  <a:srgbClr val="333333"/>
                </a:solidFill>
                <a:latin typeface="Consolas"/>
                <a:cs typeface="Consolas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按钮，并且输入了正确的订单</a:t>
            </a:r>
            <a:r>
              <a:rPr dirty="0" sz="1200">
                <a:solidFill>
                  <a:srgbClr val="333333"/>
                </a:solidFill>
                <a:latin typeface="Consolas"/>
                <a:cs typeface="Consolas"/>
              </a:rPr>
              <a:t>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500">
              <a:latin typeface="微软雅黑"/>
              <a:cs typeface="微软雅黑"/>
            </a:endParaRPr>
          </a:p>
          <a:p>
            <a:pPr marL="266700" indent="-254635">
              <a:lnSpc>
                <a:spcPct val="100000"/>
              </a:lnSpc>
              <a:buFont typeface="Arial"/>
              <a:buAutoNum type="arabicPeriod" startAt="5"/>
              <a:tabLst>
                <a:tab pos="267335" algn="l"/>
              </a:tabLst>
            </a:pPr>
            <a:r>
              <a:rPr dirty="0" sz="1800" b="1">
                <a:latin typeface="微软雅黑"/>
                <a:cs typeface="微软雅黑"/>
              </a:rPr>
              <a:t>地址管理问题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AutoNum type="arabicPeriod" startAt="5"/>
            </a:pPr>
            <a:endParaRPr sz="1250">
              <a:latin typeface="微软雅黑"/>
              <a:cs typeface="微软雅黑"/>
            </a:endParaRPr>
          </a:p>
          <a:p>
            <a:pPr lvl="1" marL="636905" indent="-168275">
              <a:lnSpc>
                <a:spcPct val="100000"/>
              </a:lnSpc>
              <a:buFont typeface="Consolas"/>
              <a:buChar char="-"/>
              <a:tabLst>
                <a:tab pos="637540" algn="l"/>
              </a:tabLst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我无法添加新的地址？</a:t>
            </a:r>
            <a:endParaRPr sz="1200">
              <a:latin typeface="微软雅黑"/>
              <a:cs typeface="微软雅黑"/>
            </a:endParaRPr>
          </a:p>
          <a:p>
            <a:pPr lvl="1" marL="636905" indent="-168275">
              <a:lnSpc>
                <a:spcPct val="100000"/>
              </a:lnSpc>
              <a:spcBef>
                <a:spcPts val="210"/>
              </a:spcBef>
              <a:buFont typeface="Consolas"/>
              <a:buChar char="-"/>
              <a:tabLst>
                <a:tab pos="637540" algn="l"/>
              </a:tabLst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请确认地址</a:t>
            </a:r>
            <a:r>
              <a:rPr dirty="0" sz="1200">
                <a:solidFill>
                  <a:srgbClr val="333333"/>
                </a:solidFill>
                <a:latin typeface="Consolas"/>
                <a:cs typeface="Consolas"/>
              </a:rPr>
              <a:t>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和详细地址输入正确，并且地址</a:t>
            </a:r>
            <a:r>
              <a:rPr dirty="0" sz="1200">
                <a:solidFill>
                  <a:srgbClr val="333333"/>
                </a:solidFill>
                <a:latin typeface="Consolas"/>
                <a:cs typeface="Consolas"/>
              </a:rPr>
              <a:t>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是唯一的。</a:t>
            </a:r>
            <a:endParaRPr sz="1200">
              <a:latin typeface="微软雅黑"/>
              <a:cs typeface="微软雅黑"/>
            </a:endParaRPr>
          </a:p>
          <a:p>
            <a:pPr lvl="1" marL="636905" indent="-168275">
              <a:lnSpc>
                <a:spcPct val="100000"/>
              </a:lnSpc>
              <a:spcBef>
                <a:spcPts val="285"/>
              </a:spcBef>
              <a:buFont typeface="Consolas"/>
              <a:buChar char="-"/>
              <a:tabLst>
                <a:tab pos="637540" algn="l"/>
              </a:tabLst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尝试添加地址，并确保已点击</a:t>
            </a:r>
            <a:r>
              <a:rPr dirty="0" sz="1200">
                <a:solidFill>
                  <a:srgbClr val="333333"/>
                </a:solidFill>
                <a:latin typeface="Consolas"/>
                <a:cs typeface="Consolas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添加地址</a:t>
            </a:r>
            <a:r>
              <a:rPr dirty="0" sz="1200">
                <a:solidFill>
                  <a:srgbClr val="333333"/>
                </a:solidFill>
                <a:latin typeface="Consolas"/>
                <a:cs typeface="Consolas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按钮。</a:t>
            </a:r>
            <a:endParaRPr sz="1200">
              <a:latin typeface="微软雅黑"/>
              <a:cs typeface="微软雅黑"/>
            </a:endParaRPr>
          </a:p>
          <a:p>
            <a:pPr lvl="1">
              <a:lnSpc>
                <a:spcPct val="100000"/>
              </a:lnSpc>
              <a:spcBef>
                <a:spcPts val="70"/>
              </a:spcBef>
              <a:buClr>
                <a:srgbClr val="333333"/>
              </a:buClr>
              <a:buFont typeface="Consolas"/>
              <a:buChar char="-"/>
            </a:pPr>
            <a:endParaRPr sz="1500">
              <a:latin typeface="微软雅黑"/>
              <a:cs typeface="微软雅黑"/>
            </a:endParaRPr>
          </a:p>
          <a:p>
            <a:pPr marL="266700" indent="-254635">
              <a:lnSpc>
                <a:spcPct val="100000"/>
              </a:lnSpc>
              <a:buFont typeface="Arial"/>
              <a:buAutoNum type="arabicPeriod" startAt="5"/>
              <a:tabLst>
                <a:tab pos="267335" algn="l"/>
              </a:tabLst>
            </a:pPr>
            <a:r>
              <a:rPr dirty="0" sz="1800" b="1">
                <a:latin typeface="微软雅黑"/>
                <a:cs typeface="微软雅黑"/>
              </a:rPr>
              <a:t>支付订单问题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微软雅黑"/>
              <a:cs typeface="微软雅黑"/>
            </a:endParaRPr>
          </a:p>
          <a:p>
            <a:pPr marL="301625" indent="-168275">
              <a:lnSpc>
                <a:spcPct val="100000"/>
              </a:lnSpc>
              <a:buFont typeface="Consolas"/>
              <a:buChar char="-"/>
              <a:tabLst>
                <a:tab pos="302260" algn="l"/>
              </a:tabLst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我的支付失败了？</a:t>
            </a:r>
            <a:endParaRPr sz="1200">
              <a:latin typeface="微软雅黑"/>
              <a:cs typeface="微软雅黑"/>
            </a:endParaRPr>
          </a:p>
          <a:p>
            <a:pPr lvl="1" marL="469265" indent="-168275">
              <a:lnSpc>
                <a:spcPct val="100000"/>
              </a:lnSpc>
              <a:spcBef>
                <a:spcPts val="285"/>
              </a:spcBef>
              <a:buFont typeface="Consolas"/>
              <a:buChar char="-"/>
              <a:tabLst>
                <a:tab pos="469900" algn="l"/>
              </a:tabLst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请确认支付</a:t>
            </a:r>
            <a:r>
              <a:rPr dirty="0" sz="1200">
                <a:solidFill>
                  <a:srgbClr val="333333"/>
                </a:solidFill>
                <a:latin typeface="Consolas"/>
                <a:cs typeface="Consolas"/>
              </a:rPr>
              <a:t>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、订单</a:t>
            </a:r>
            <a:r>
              <a:rPr dirty="0" sz="1200">
                <a:solidFill>
                  <a:srgbClr val="333333"/>
                </a:solidFill>
                <a:latin typeface="Consolas"/>
                <a:cs typeface="Consolas"/>
              </a:rPr>
              <a:t>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和支付方式输入正确。</a:t>
            </a:r>
            <a:endParaRPr sz="1200">
              <a:latin typeface="微软雅黑"/>
              <a:cs typeface="微软雅黑"/>
            </a:endParaRPr>
          </a:p>
          <a:p>
            <a:pPr lvl="1" marL="469265" indent="-168275">
              <a:lnSpc>
                <a:spcPct val="100000"/>
              </a:lnSpc>
              <a:spcBef>
                <a:spcPts val="210"/>
              </a:spcBef>
              <a:buFont typeface="Consolas"/>
              <a:buChar char="-"/>
              <a:tabLst>
                <a:tab pos="469900" algn="l"/>
              </a:tabLst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尝试重新输入支付信息，并确保已点击</a:t>
            </a:r>
            <a:r>
              <a:rPr dirty="0" sz="1200">
                <a:solidFill>
                  <a:srgbClr val="333333"/>
                </a:solidFill>
                <a:latin typeface="Consolas"/>
                <a:cs typeface="Consolas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支付</a:t>
            </a:r>
            <a:r>
              <a:rPr dirty="0" sz="1200">
                <a:solidFill>
                  <a:srgbClr val="333333"/>
                </a:solidFill>
                <a:latin typeface="Consolas"/>
                <a:cs typeface="Consolas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5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latin typeface="Arial"/>
                <a:cs typeface="Arial"/>
              </a:rPr>
              <a:t>7.</a:t>
            </a:r>
            <a:r>
              <a:rPr dirty="0" sz="1800" spc="-5" b="1">
                <a:latin typeface="Arial"/>
                <a:cs typeface="Arial"/>
              </a:rPr>
              <a:t> </a:t>
            </a:r>
            <a:r>
              <a:rPr dirty="0" sz="1800" b="1">
                <a:latin typeface="微软雅黑"/>
                <a:cs typeface="微软雅黑"/>
              </a:rPr>
              <a:t>确认收货问题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50">
              <a:latin typeface="微软雅黑"/>
              <a:cs typeface="微软雅黑"/>
            </a:endParaRPr>
          </a:p>
          <a:p>
            <a:pPr marL="301625" indent="-168275">
              <a:lnSpc>
                <a:spcPct val="100000"/>
              </a:lnSpc>
              <a:buFont typeface="Consolas"/>
              <a:buChar char="-"/>
              <a:tabLst>
                <a:tab pos="302260" algn="l"/>
              </a:tabLst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我无法确认收货？</a:t>
            </a:r>
            <a:endParaRPr sz="1200">
              <a:latin typeface="微软雅黑"/>
              <a:cs typeface="微软雅黑"/>
            </a:endParaRPr>
          </a:p>
          <a:p>
            <a:pPr lvl="1" marL="469265" indent="-168275">
              <a:lnSpc>
                <a:spcPct val="100000"/>
              </a:lnSpc>
              <a:spcBef>
                <a:spcPts val="210"/>
              </a:spcBef>
              <a:buFont typeface="Consolas"/>
              <a:buChar char="-"/>
              <a:tabLst>
                <a:tab pos="469900" algn="l"/>
              </a:tabLst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请确认订单</a:t>
            </a:r>
            <a:r>
              <a:rPr dirty="0" sz="1200">
                <a:solidFill>
                  <a:srgbClr val="333333"/>
                </a:solidFill>
                <a:latin typeface="Consolas"/>
                <a:cs typeface="Consolas"/>
              </a:rPr>
              <a:t>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输入正确。</a:t>
            </a:r>
            <a:endParaRPr sz="1200">
              <a:latin typeface="微软雅黑"/>
              <a:cs typeface="微软雅黑"/>
            </a:endParaRPr>
          </a:p>
          <a:p>
            <a:pPr lvl="1" marL="469265" indent="-168275">
              <a:lnSpc>
                <a:spcPct val="100000"/>
              </a:lnSpc>
              <a:spcBef>
                <a:spcPts val="285"/>
              </a:spcBef>
              <a:buFont typeface="Consolas"/>
              <a:buChar char="-"/>
              <a:tabLst>
                <a:tab pos="469900" algn="l"/>
              </a:tabLst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尝试重新输入订单</a:t>
            </a:r>
            <a:r>
              <a:rPr dirty="0" sz="1200">
                <a:solidFill>
                  <a:srgbClr val="333333"/>
                </a:solidFill>
                <a:latin typeface="Consolas"/>
                <a:cs typeface="Consolas"/>
              </a:rPr>
              <a:t>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，并确保已点击</a:t>
            </a:r>
            <a:r>
              <a:rPr dirty="0" sz="1200">
                <a:solidFill>
                  <a:srgbClr val="333333"/>
                </a:solidFill>
                <a:latin typeface="Consolas"/>
                <a:cs typeface="Consolas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确认收货</a:t>
            </a:r>
            <a:r>
              <a:rPr dirty="0" sz="1200">
                <a:solidFill>
                  <a:srgbClr val="333333"/>
                </a:solidFill>
                <a:latin typeface="Consolas"/>
                <a:cs typeface="Consolas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5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latin typeface="Arial"/>
                <a:cs typeface="Arial"/>
              </a:rPr>
              <a:t>8.</a:t>
            </a:r>
            <a:r>
              <a:rPr dirty="0" sz="1800" spc="-5" b="1">
                <a:latin typeface="Arial"/>
                <a:cs typeface="Arial"/>
              </a:rPr>
              <a:t> </a:t>
            </a:r>
            <a:r>
              <a:rPr dirty="0" sz="1800" b="1">
                <a:latin typeface="微软雅黑"/>
                <a:cs typeface="微软雅黑"/>
              </a:rPr>
              <a:t>添加产品问题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微软雅黑"/>
              <a:cs typeface="微软雅黑"/>
            </a:endParaRPr>
          </a:p>
          <a:p>
            <a:pPr marL="301625" indent="-168275">
              <a:lnSpc>
                <a:spcPct val="100000"/>
              </a:lnSpc>
              <a:spcBef>
                <a:spcPts val="5"/>
              </a:spcBef>
              <a:buFont typeface="Consolas"/>
              <a:buChar char="-"/>
              <a:tabLst>
                <a:tab pos="302260" algn="l"/>
              </a:tabLst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我无法添加新产品？</a:t>
            </a:r>
            <a:endParaRPr sz="1200">
              <a:latin typeface="微软雅黑"/>
              <a:cs typeface="微软雅黑"/>
            </a:endParaRPr>
          </a:p>
          <a:p>
            <a:pPr lvl="1" marL="469265" indent="-168275">
              <a:lnSpc>
                <a:spcPct val="100000"/>
              </a:lnSpc>
              <a:spcBef>
                <a:spcPts val="284"/>
              </a:spcBef>
              <a:buFont typeface="Consolas"/>
              <a:buChar char="-"/>
              <a:tabLst>
                <a:tab pos="469900" algn="l"/>
              </a:tabLst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请确认产品</a:t>
            </a:r>
            <a:r>
              <a:rPr dirty="0" sz="1200">
                <a:solidFill>
                  <a:srgbClr val="333333"/>
                </a:solidFill>
                <a:latin typeface="Consolas"/>
                <a:cs typeface="Consolas"/>
              </a:rPr>
              <a:t>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、名称、价格和库存输入正确。</a:t>
            </a:r>
            <a:endParaRPr sz="1200">
              <a:latin typeface="微软雅黑"/>
              <a:cs typeface="微软雅黑"/>
            </a:endParaRPr>
          </a:p>
          <a:p>
            <a:pPr lvl="1" marL="469265" indent="-168275">
              <a:lnSpc>
                <a:spcPct val="100000"/>
              </a:lnSpc>
              <a:spcBef>
                <a:spcPts val="209"/>
              </a:spcBef>
              <a:buFont typeface="Consolas"/>
              <a:buChar char="-"/>
              <a:tabLst>
                <a:tab pos="469900" algn="l"/>
              </a:tabLst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尝试添加产品，并确保已点击</a:t>
            </a:r>
            <a:r>
              <a:rPr dirty="0" sz="1200">
                <a:solidFill>
                  <a:srgbClr val="333333"/>
                </a:solidFill>
                <a:latin typeface="Consolas"/>
                <a:cs typeface="Consolas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添加产品</a:t>
            </a:r>
            <a:r>
              <a:rPr dirty="0" sz="1200">
                <a:solidFill>
                  <a:srgbClr val="333333"/>
                </a:solidFill>
                <a:latin typeface="Consolas"/>
                <a:cs typeface="Consolas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5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b="1">
                <a:latin typeface="Arial"/>
                <a:cs typeface="Arial"/>
              </a:rPr>
              <a:t>9.</a:t>
            </a:r>
            <a:r>
              <a:rPr dirty="0" sz="1800" spc="-5" b="1">
                <a:latin typeface="Arial"/>
                <a:cs typeface="Arial"/>
              </a:rPr>
              <a:t> </a:t>
            </a:r>
            <a:r>
              <a:rPr dirty="0" sz="1800" b="1">
                <a:latin typeface="微软雅黑"/>
                <a:cs typeface="微软雅黑"/>
              </a:rPr>
              <a:t>查询商单问题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50">
              <a:latin typeface="微软雅黑"/>
              <a:cs typeface="微软雅黑"/>
            </a:endParaRPr>
          </a:p>
          <a:p>
            <a:pPr marL="133985">
              <a:lnSpc>
                <a:spcPct val="100000"/>
              </a:lnSpc>
            </a:pPr>
            <a:r>
              <a:rPr dirty="0" sz="1200">
                <a:solidFill>
                  <a:srgbClr val="333333"/>
                </a:solidFill>
                <a:latin typeface="Consolas"/>
                <a:cs typeface="Consolas"/>
              </a:rPr>
              <a:t>-</a:t>
            </a:r>
            <a:r>
              <a:rPr dirty="0" sz="1200" spc="-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我无法查询我的商单？</a:t>
            </a:r>
            <a:endParaRPr sz="1200">
              <a:latin typeface="微软雅黑"/>
              <a:cs typeface="微软雅黑"/>
            </a:endParaRPr>
          </a:p>
          <a:p>
            <a:pPr marL="301625">
              <a:lnSpc>
                <a:spcPct val="100000"/>
              </a:lnSpc>
              <a:spcBef>
                <a:spcPts val="210"/>
              </a:spcBef>
            </a:pPr>
            <a:r>
              <a:rPr dirty="0" sz="1200">
                <a:solidFill>
                  <a:srgbClr val="333333"/>
                </a:solidFill>
                <a:latin typeface="Consolas"/>
                <a:cs typeface="Consolas"/>
              </a:rPr>
              <a:t>-</a:t>
            </a:r>
            <a:r>
              <a:rPr dirty="0" sz="1200" spc="-35">
                <a:solidFill>
                  <a:srgbClr val="333333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请确认已点击</a:t>
            </a:r>
            <a:r>
              <a:rPr dirty="0" sz="1200">
                <a:solidFill>
                  <a:srgbClr val="333333"/>
                </a:solidFill>
                <a:latin typeface="Consolas"/>
                <a:cs typeface="Consolas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查询订单</a:t>
            </a:r>
            <a:r>
              <a:rPr dirty="0" sz="1200">
                <a:solidFill>
                  <a:srgbClr val="333333"/>
                </a:solidFill>
                <a:latin typeface="Consolas"/>
                <a:cs typeface="Consolas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按钮，并且输入了正确的订单</a:t>
            </a:r>
            <a:r>
              <a:rPr dirty="0" sz="1200">
                <a:solidFill>
                  <a:srgbClr val="333333"/>
                </a:solidFill>
                <a:latin typeface="Consolas"/>
                <a:cs typeface="Consolas"/>
              </a:rPr>
              <a:t>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。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4200" y="362266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20654" y="47586"/>
                </a:lnTo>
                <a:lnTo>
                  <a:pt x="17617" y="46958"/>
                </a:lnTo>
                <a:lnTo>
                  <a:pt x="14699" y="45729"/>
                </a:lnTo>
                <a:lnTo>
                  <a:pt x="11782" y="44538"/>
                </a:lnTo>
                <a:lnTo>
                  <a:pt x="0" y="26936"/>
                </a:lnTo>
                <a:lnTo>
                  <a:pt x="0" y="20650"/>
                </a:lnTo>
                <a:lnTo>
                  <a:pt x="604" y="17602"/>
                </a:lnTo>
                <a:lnTo>
                  <a:pt x="3021" y="11715"/>
                </a:lnTo>
                <a:lnTo>
                  <a:pt x="4741" y="9153"/>
                </a:lnTo>
                <a:lnTo>
                  <a:pt x="6974" y="6953"/>
                </a:lnTo>
                <a:lnTo>
                  <a:pt x="9207" y="4686"/>
                </a:lnTo>
                <a:lnTo>
                  <a:pt x="11782" y="2981"/>
                </a:lnTo>
                <a:lnTo>
                  <a:pt x="14699" y="1752"/>
                </a:lnTo>
                <a:lnTo>
                  <a:pt x="17617" y="600"/>
                </a:lnTo>
                <a:lnTo>
                  <a:pt x="20654" y="0"/>
                </a:lnTo>
                <a:lnTo>
                  <a:pt x="26970" y="0"/>
                </a:lnTo>
                <a:lnTo>
                  <a:pt x="40650" y="6953"/>
                </a:lnTo>
                <a:lnTo>
                  <a:pt x="42883" y="9153"/>
                </a:lnTo>
                <a:lnTo>
                  <a:pt x="44603" y="11715"/>
                </a:lnTo>
                <a:lnTo>
                  <a:pt x="47020" y="17602"/>
                </a:lnTo>
                <a:lnTo>
                  <a:pt x="47625" y="20650"/>
                </a:lnTo>
                <a:lnTo>
                  <a:pt x="47625" y="26936"/>
                </a:lnTo>
                <a:lnTo>
                  <a:pt x="32925" y="45729"/>
                </a:lnTo>
                <a:lnTo>
                  <a:pt x="30007" y="46958"/>
                </a:lnTo>
                <a:lnTo>
                  <a:pt x="26970" y="47586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4200" y="387031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74"/>
                </a:lnTo>
                <a:lnTo>
                  <a:pt x="0" y="20612"/>
                </a:lnTo>
                <a:lnTo>
                  <a:pt x="604" y="17564"/>
                </a:lnTo>
                <a:lnTo>
                  <a:pt x="3021" y="11687"/>
                </a:lnTo>
                <a:lnTo>
                  <a:pt x="4741" y="9115"/>
                </a:lnTo>
                <a:lnTo>
                  <a:pt x="6974" y="6924"/>
                </a:lnTo>
                <a:lnTo>
                  <a:pt x="9207" y="4686"/>
                </a:lnTo>
                <a:lnTo>
                  <a:pt x="11782" y="2981"/>
                </a:lnTo>
                <a:lnTo>
                  <a:pt x="17617" y="600"/>
                </a:lnTo>
                <a:lnTo>
                  <a:pt x="20654" y="0"/>
                </a:lnTo>
                <a:lnTo>
                  <a:pt x="26970" y="0"/>
                </a:lnTo>
                <a:lnTo>
                  <a:pt x="30007" y="600"/>
                </a:lnTo>
                <a:lnTo>
                  <a:pt x="35842" y="2981"/>
                </a:lnTo>
                <a:lnTo>
                  <a:pt x="38417" y="4686"/>
                </a:lnTo>
                <a:lnTo>
                  <a:pt x="40650" y="6924"/>
                </a:lnTo>
                <a:lnTo>
                  <a:pt x="42883" y="9115"/>
                </a:lnTo>
                <a:lnTo>
                  <a:pt x="44603" y="11687"/>
                </a:lnTo>
                <a:lnTo>
                  <a:pt x="47020" y="17564"/>
                </a:lnTo>
                <a:lnTo>
                  <a:pt x="47625" y="20612"/>
                </a:lnTo>
                <a:lnTo>
                  <a:pt x="47625" y="26974"/>
                </a:lnTo>
                <a:lnTo>
                  <a:pt x="26970" y="47586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4200" y="411796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3812" y="47625"/>
                </a:moveTo>
                <a:lnTo>
                  <a:pt x="0" y="26936"/>
                </a:lnTo>
                <a:lnTo>
                  <a:pt x="0" y="20650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0"/>
                </a:lnTo>
                <a:lnTo>
                  <a:pt x="47625" y="26936"/>
                </a:lnTo>
                <a:lnTo>
                  <a:pt x="23812" y="47625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19100" y="323840"/>
            <a:ext cx="6883400" cy="39039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3700" indent="-381635">
              <a:lnSpc>
                <a:spcPct val="100000"/>
              </a:lnSpc>
              <a:spcBef>
                <a:spcPts val="100"/>
              </a:spcBef>
              <a:buFont typeface="Arial"/>
              <a:buAutoNum type="arabicPeriod" startAt="10"/>
              <a:tabLst>
                <a:tab pos="394335" algn="l"/>
              </a:tabLst>
            </a:pPr>
            <a:r>
              <a:rPr dirty="0" sz="1800" b="1">
                <a:latin typeface="微软雅黑"/>
                <a:cs typeface="微软雅黑"/>
              </a:rPr>
              <a:t>订单发货问题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AutoNum type="arabicPeriod" startAt="10"/>
            </a:pPr>
            <a:endParaRPr sz="1250">
              <a:latin typeface="微软雅黑"/>
              <a:cs typeface="微软雅黑"/>
            </a:endParaRPr>
          </a:p>
          <a:p>
            <a:pPr lvl="1" marL="301625" indent="-168275">
              <a:lnSpc>
                <a:spcPct val="100000"/>
              </a:lnSpc>
              <a:buFont typeface="Consolas"/>
              <a:buChar char="-"/>
              <a:tabLst>
                <a:tab pos="302260" algn="l"/>
              </a:tabLst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我的订单没有发货？</a:t>
            </a:r>
            <a:endParaRPr sz="1200">
              <a:latin typeface="微软雅黑"/>
              <a:cs typeface="微软雅黑"/>
            </a:endParaRPr>
          </a:p>
          <a:p>
            <a:pPr lvl="2" marL="469265" indent="-168275">
              <a:lnSpc>
                <a:spcPct val="100000"/>
              </a:lnSpc>
              <a:spcBef>
                <a:spcPts val="210"/>
              </a:spcBef>
              <a:buFont typeface="Consolas"/>
              <a:buChar char="-"/>
              <a:tabLst>
                <a:tab pos="469900" algn="l"/>
              </a:tabLst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请确认订单</a:t>
            </a:r>
            <a:r>
              <a:rPr dirty="0" sz="1200">
                <a:solidFill>
                  <a:srgbClr val="333333"/>
                </a:solidFill>
                <a:latin typeface="Consolas"/>
                <a:cs typeface="Consolas"/>
              </a:rPr>
              <a:t>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输入正确。</a:t>
            </a:r>
            <a:endParaRPr sz="1200">
              <a:latin typeface="微软雅黑"/>
              <a:cs typeface="微软雅黑"/>
            </a:endParaRPr>
          </a:p>
          <a:p>
            <a:pPr lvl="2" marL="469265" indent="-168275">
              <a:lnSpc>
                <a:spcPct val="100000"/>
              </a:lnSpc>
              <a:spcBef>
                <a:spcPts val="210"/>
              </a:spcBef>
              <a:buFont typeface="Consolas"/>
              <a:buChar char="-"/>
              <a:tabLst>
                <a:tab pos="469900" algn="l"/>
              </a:tabLst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尝试重新输入订单</a:t>
            </a:r>
            <a:r>
              <a:rPr dirty="0" sz="1200">
                <a:solidFill>
                  <a:srgbClr val="333333"/>
                </a:solidFill>
                <a:latin typeface="Consolas"/>
                <a:cs typeface="Consolas"/>
              </a:rPr>
              <a:t>ID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，并确保已点击</a:t>
            </a:r>
            <a:r>
              <a:rPr dirty="0" sz="1200">
                <a:solidFill>
                  <a:srgbClr val="333333"/>
                </a:solidFill>
                <a:latin typeface="Consolas"/>
                <a:cs typeface="Consolas"/>
              </a:rPr>
              <a:t>“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发货</a:t>
            </a:r>
            <a:r>
              <a:rPr dirty="0" sz="1200">
                <a:solidFill>
                  <a:srgbClr val="333333"/>
                </a:solidFill>
                <a:latin typeface="Consolas"/>
                <a:cs typeface="Consolas"/>
              </a:rPr>
              <a:t>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按钮。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150">
              <a:latin typeface="微软雅黑"/>
              <a:cs typeface="微软雅黑"/>
            </a:endParaRPr>
          </a:p>
          <a:p>
            <a:pPr marL="12700" marR="5080">
              <a:lnSpc>
                <a:spcPct val="130200"/>
              </a:lnSpc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以上是一些常见的用户问题，如果遇到其他问题，可以参考用户手册中的相关章节，或联系我们的技术 支持团队。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2100" b="1">
                <a:latin typeface="微软雅黑"/>
                <a:cs typeface="微软雅黑"/>
              </a:rPr>
              <a:t>联系支持</a:t>
            </a:r>
            <a:endParaRPr sz="21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130"/>
              </a:spcBef>
            </a:pP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如果您在使用本软件过程中遇到任何问题或需要帮助，请通过以下方式联系我们的支持团队：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850">
              <a:latin typeface="微软雅黑"/>
              <a:cs typeface="微软雅黑"/>
            </a:endParaRPr>
          </a:p>
          <a:p>
            <a:pPr marL="317500">
              <a:lnSpc>
                <a:spcPct val="100000"/>
              </a:lnSpc>
            </a:pPr>
            <a:r>
              <a:rPr dirty="0" sz="1200" b="1">
                <a:latin typeface="微软雅黑"/>
                <a:cs typeface="微软雅黑"/>
              </a:rPr>
              <a:t>电话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：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198-8355-7844</a:t>
            </a:r>
            <a:endParaRPr sz="1200">
              <a:latin typeface="Arial"/>
              <a:cs typeface="Arial"/>
            </a:endParaRPr>
          </a:p>
          <a:p>
            <a:pPr marL="317500">
              <a:lnSpc>
                <a:spcPct val="100000"/>
              </a:lnSpc>
              <a:spcBef>
                <a:spcPts val="509"/>
              </a:spcBef>
            </a:pPr>
            <a:r>
              <a:rPr dirty="0" sz="1200" b="1">
                <a:latin typeface="微软雅黑"/>
                <a:cs typeface="微软雅黑"/>
              </a:rPr>
              <a:t>邮箱</a:t>
            </a:r>
            <a:r>
              <a:rPr dirty="0" sz="1200" spc="-5">
                <a:solidFill>
                  <a:srgbClr val="333333"/>
                </a:solidFill>
                <a:latin typeface="微软雅黑"/>
                <a:cs typeface="微软雅黑"/>
              </a:rPr>
              <a:t>：</a:t>
            </a:r>
            <a:r>
              <a:rPr dirty="0" sz="1200" spc="-5">
                <a:solidFill>
                  <a:srgbClr val="0087CC"/>
                </a:solidFill>
                <a:latin typeface="Arial"/>
                <a:cs typeface="Arial"/>
                <a:hlinkClick r:id="rId2"/>
              </a:rPr>
              <a:t>1120221303@bit.edu.cn</a:t>
            </a:r>
            <a:endParaRPr sz="1200">
              <a:latin typeface="Arial"/>
              <a:cs typeface="Arial"/>
            </a:endParaRPr>
          </a:p>
          <a:p>
            <a:pPr marL="317500">
              <a:lnSpc>
                <a:spcPct val="100000"/>
              </a:lnSpc>
              <a:spcBef>
                <a:spcPts val="509"/>
              </a:spcBef>
            </a:pPr>
            <a:r>
              <a:rPr dirty="0" sz="1200" b="1">
                <a:latin typeface="微软雅黑"/>
                <a:cs typeface="微软雅黑"/>
              </a:rPr>
              <a:t>工作时间</a:t>
            </a:r>
            <a:r>
              <a:rPr dirty="0" sz="1200">
                <a:solidFill>
                  <a:srgbClr val="333333"/>
                </a:solidFill>
                <a:latin typeface="微软雅黑"/>
                <a:cs typeface="微软雅黑"/>
              </a:rPr>
              <a:t>：周一至周五，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9:00</a:t>
            </a:r>
            <a:r>
              <a:rPr dirty="0" sz="120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333333"/>
                </a:solidFill>
                <a:latin typeface="Arial"/>
                <a:cs typeface="Arial"/>
              </a:rPr>
              <a:t>- 18:00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87C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Manual</dc:title>
  <dcterms:created xsi:type="dcterms:W3CDTF">2024-06-12T01:30:13Z</dcterms:created>
  <dcterms:modified xsi:type="dcterms:W3CDTF">2024-06-12T01:30:13Z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2024-06-12T00:00:00Z</vt:filetime>
  </property>
  <property fmtid="{D5CDD505-2E9C-101B-9397-08002B2CF9AE}" pid="3" name="Creator">
    <vt:lpwstr>Chromium</vt:lpwstr>
  </property>
  <property fmtid="{D5CDD505-2E9C-101B-9397-08002B2CF9AE}" pid="4" name="LastSaved">
    <vt:filetime>2024-06-12T00:00:00Z</vt:filetime>
  </property>
</Properties>
</file>
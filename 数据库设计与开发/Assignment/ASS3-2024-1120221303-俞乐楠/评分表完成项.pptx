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3100" y="654817"/>
            <a:ext cx="6426200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9.xml"/><Relationship Id="rId11" Type="http://schemas.openxmlformats.org/officeDocument/2006/relationships/slide" Target="slide10.xml"/><Relationship Id="rId12" Type="http://schemas.openxmlformats.org/officeDocument/2006/relationships/slide" Target="slide12.xml"/><Relationship Id="rId13" Type="http://schemas.openxmlformats.org/officeDocument/2006/relationships/slide" Target="slide13.xml"/><Relationship Id="rId14" Type="http://schemas.openxmlformats.org/officeDocument/2006/relationships/hyperlink" Target="http://www.princexml.com/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image" Target="../media/image1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54817"/>
            <a:ext cx="2775585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实</a:t>
            </a:r>
            <a:r>
              <a:rPr dirty="0" spc="50"/>
              <a:t>现</a:t>
            </a:r>
            <a:r>
              <a:rPr dirty="0" spc="-70">
                <a:latin typeface="MS Gothic"/>
                <a:cs typeface="MS Gothic"/>
              </a:rPr>
              <a:t>的</a:t>
            </a:r>
            <a:r>
              <a:rPr dirty="0" spc="50"/>
              <a:t>评</a:t>
            </a:r>
            <a:r>
              <a:rPr dirty="0" spc="-70">
                <a:latin typeface="MS Gothic"/>
                <a:cs typeface="MS Gothic"/>
              </a:rPr>
              <a:t>分</a:t>
            </a:r>
            <a:r>
              <a:rPr dirty="0"/>
              <a:t>项</a:t>
            </a:r>
            <a:r>
              <a:rPr dirty="0" spc="50"/>
              <a:t>说</a:t>
            </a:r>
            <a:r>
              <a:rPr dirty="0" spc="-15">
                <a:latin typeface="MS Gothic"/>
                <a:cs typeface="MS Gothic"/>
              </a:rPr>
              <a:t>明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8433" y="1439929"/>
            <a:ext cx="6328410" cy="7868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55" b="1">
                <a:latin typeface="MS Gothic"/>
                <a:cs typeface="MS Gothic"/>
              </a:rPr>
              <a:t>目</a:t>
            </a:r>
            <a:r>
              <a:rPr dirty="0" sz="2100" b="1">
                <a:latin typeface="微软雅黑"/>
                <a:cs typeface="微软雅黑"/>
              </a:rPr>
              <a:t>录</a:t>
            </a:r>
            <a:endParaRPr sz="2100">
              <a:latin typeface="微软雅黑"/>
              <a:cs typeface="微软雅黑"/>
            </a:endParaRPr>
          </a:p>
          <a:p>
            <a:pPr marL="819785" indent="-155575">
              <a:lnSpc>
                <a:spcPct val="100000"/>
              </a:lnSpc>
              <a:spcBef>
                <a:spcPts val="2115"/>
              </a:spcBef>
              <a:buClr>
                <a:srgbClr val="333333"/>
              </a:buClr>
              <a:buFont typeface="Arial"/>
              <a:buChar char="•"/>
              <a:tabLst>
                <a:tab pos="820419" algn="l"/>
              </a:tabLst>
            </a:pP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2" action="ppaction://hlinksldjump"/>
              </a:rPr>
              <a:t>实现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2" action="ppaction://hlinksldjump"/>
              </a:rPr>
              <a:t>的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2" action="ppaction://hlinksldjump"/>
              </a:rPr>
              <a:t>评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2" action="ppaction://hlinksldjump"/>
              </a:rPr>
              <a:t>分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2" action="ppaction://hlinksldjump"/>
              </a:rPr>
              <a:t>项说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2" action="ppaction://hlinksldjump"/>
              </a:rPr>
              <a:t>明</a:t>
            </a:r>
            <a:endParaRPr sz="1200">
              <a:latin typeface="MS Gothic"/>
              <a:cs typeface="MS Gothic"/>
            </a:endParaRPr>
          </a:p>
          <a:p>
            <a:pPr lvl="1" marL="16325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◦"/>
              <a:tabLst>
                <a:tab pos="1633220" algn="l"/>
              </a:tabLst>
            </a:pP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2" action="ppaction://hlinksldjump"/>
              </a:rPr>
              <a:t>目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2" action="ppaction://hlinksldjump"/>
              </a:rPr>
              <a:t>录</a:t>
            </a:r>
            <a:endParaRPr sz="1200">
              <a:latin typeface="微软雅黑"/>
              <a:cs typeface="微软雅黑"/>
            </a:endParaRPr>
          </a:p>
          <a:p>
            <a:pPr lvl="1" marL="16325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◦"/>
              <a:tabLst>
                <a:tab pos="1633220" algn="l"/>
              </a:tabLst>
            </a:pP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该项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目完成了全部的任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务</a:t>
            </a:r>
            <a:endParaRPr sz="1200">
              <a:latin typeface="微软雅黑"/>
              <a:cs typeface="微软雅黑"/>
            </a:endParaRPr>
          </a:p>
          <a:p>
            <a:pPr lvl="2" marL="2445385" marR="5080" indent="-156210">
              <a:lnSpc>
                <a:spcPct val="133300"/>
              </a:lnSpc>
              <a:buClr>
                <a:srgbClr val="333333"/>
              </a:buClr>
              <a:buChar char="▪"/>
              <a:tabLst>
                <a:tab pos="2446020" algn="l"/>
              </a:tabLst>
            </a:pP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1.</a:t>
            </a:r>
            <a:r>
              <a:rPr dirty="0" sz="1200" spc="-75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使用</a:t>
            </a: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Gauss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数据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库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，至少六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张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表，含</a:t>
            </a: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ER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图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，范式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证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明，  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提交数据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库语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句与数据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库备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份</a:t>
            </a:r>
            <a:endParaRPr sz="1200">
              <a:latin typeface="MS Gothic"/>
              <a:cs typeface="MS Gothic"/>
            </a:endParaRPr>
          </a:p>
          <a:p>
            <a:pPr lvl="3" marL="32581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3258820" algn="l"/>
              </a:tabLst>
            </a:pP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4" action="ppaction://hlinksldjump"/>
              </a:rPr>
              <a:t>1. Consumers</a:t>
            </a:r>
            <a:r>
              <a:rPr dirty="0" sz="1200">
                <a:solidFill>
                  <a:srgbClr val="0088CC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4" action="ppaction://hlinksldjump"/>
              </a:rPr>
              <a:t>表</a:t>
            </a:r>
            <a:endParaRPr sz="1200">
              <a:latin typeface="MS Gothic"/>
              <a:cs typeface="MS Gothic"/>
            </a:endParaRPr>
          </a:p>
          <a:p>
            <a:pPr lvl="3" marL="32581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3258820" algn="l"/>
              </a:tabLst>
            </a:pP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5" action="ppaction://hlinksldjump"/>
              </a:rPr>
              <a:t>2. </a:t>
            </a:r>
            <a:r>
              <a:rPr dirty="0" sz="1200">
                <a:solidFill>
                  <a:srgbClr val="0088CC"/>
                </a:solidFill>
                <a:latin typeface="Arial"/>
                <a:cs typeface="Arial"/>
                <a:hlinkClick r:id="rId5" action="ppaction://hlinksldjump"/>
              </a:rPr>
              <a:t>Merchants</a:t>
            </a: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5" action="ppaction://hlinksldjump"/>
              </a:rPr>
              <a:t>表</a:t>
            </a:r>
            <a:endParaRPr sz="1200">
              <a:latin typeface="MS Gothic"/>
              <a:cs typeface="MS Gothic"/>
            </a:endParaRPr>
          </a:p>
          <a:p>
            <a:pPr lvl="3" marL="32581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3258820" algn="l"/>
              </a:tabLst>
            </a:pP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5" action="ppaction://hlinksldjump"/>
              </a:rPr>
              <a:t>3. Products</a:t>
            </a:r>
            <a:r>
              <a:rPr dirty="0" sz="1200" spc="10">
                <a:solidFill>
                  <a:srgbClr val="0088CC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5" action="ppaction://hlinksldjump"/>
              </a:rPr>
              <a:t>表</a:t>
            </a:r>
            <a:endParaRPr sz="1200">
              <a:latin typeface="MS Gothic"/>
              <a:cs typeface="MS Gothic"/>
            </a:endParaRPr>
          </a:p>
          <a:p>
            <a:pPr lvl="3" marL="32581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3258820" algn="l"/>
              </a:tabLst>
            </a:pP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6" action="ppaction://hlinksldjump"/>
              </a:rPr>
              <a:t>4. Orders</a:t>
            </a:r>
            <a:r>
              <a:rPr dirty="0" sz="1200" spc="5">
                <a:solidFill>
                  <a:srgbClr val="0088CC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6" action="ppaction://hlinksldjump"/>
              </a:rPr>
              <a:t>表</a:t>
            </a:r>
            <a:endParaRPr sz="1200">
              <a:latin typeface="MS Gothic"/>
              <a:cs typeface="MS Gothic"/>
            </a:endParaRPr>
          </a:p>
          <a:p>
            <a:pPr lvl="3" marL="32581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3258820" algn="l"/>
              </a:tabLst>
            </a:pP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6" action="ppaction://hlinksldjump"/>
              </a:rPr>
              <a:t>5. Addresses</a:t>
            </a:r>
            <a:r>
              <a:rPr dirty="0" sz="1200" spc="15">
                <a:solidFill>
                  <a:srgbClr val="0088CC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6" action="ppaction://hlinksldjump"/>
              </a:rPr>
              <a:t>表</a:t>
            </a:r>
            <a:endParaRPr sz="1200">
              <a:latin typeface="MS Gothic"/>
              <a:cs typeface="MS Gothic"/>
            </a:endParaRPr>
          </a:p>
          <a:p>
            <a:pPr lvl="3" marL="32581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3258820" algn="l"/>
              </a:tabLst>
            </a:pP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7" action="ppaction://hlinksldjump"/>
              </a:rPr>
              <a:t>6. Payments</a:t>
            </a:r>
            <a:r>
              <a:rPr dirty="0" sz="1200" spc="10">
                <a:solidFill>
                  <a:srgbClr val="0088CC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7" action="ppaction://hlinksldjump"/>
              </a:rPr>
              <a:t>表</a:t>
            </a:r>
            <a:endParaRPr sz="1200">
              <a:latin typeface="MS Gothic"/>
              <a:cs typeface="MS Gothic"/>
            </a:endParaRPr>
          </a:p>
          <a:p>
            <a:pPr lvl="3" marL="32581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3258820" algn="l"/>
              </a:tabLst>
            </a:pP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7" action="ppaction://hlinksldjump"/>
              </a:rPr>
              <a:t>BCNF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7" action="ppaction://hlinksldjump"/>
              </a:rPr>
              <a:t>证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7" action="ppaction://hlinksldjump"/>
              </a:rPr>
              <a:t>明</a:t>
            </a:r>
            <a:endParaRPr sz="1200">
              <a:latin typeface="MS Gothic"/>
              <a:cs typeface="MS Gothic"/>
            </a:endParaRPr>
          </a:p>
          <a:p>
            <a:pPr lvl="2" marL="2445385" marR="47625" indent="-156210">
              <a:lnSpc>
                <a:spcPct val="133300"/>
              </a:lnSpc>
              <a:buClr>
                <a:srgbClr val="333333"/>
              </a:buClr>
              <a:buChar char="▪"/>
              <a:tabLst>
                <a:tab pos="2446020" algn="l"/>
              </a:tabLst>
            </a:pPr>
            <a:r>
              <a:rPr dirty="0" sz="1200" spc="-5">
                <a:solidFill>
                  <a:srgbClr val="0088CC"/>
                </a:solidFill>
                <a:latin typeface="Arial"/>
                <a:cs typeface="Arial"/>
              </a:rPr>
              <a:t>2.</a:t>
            </a:r>
            <a:r>
              <a:rPr dirty="0" sz="1200" spc="-90">
                <a:solidFill>
                  <a:srgbClr val="0088CC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</a:rPr>
              <a:t>实现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</a:rPr>
              <a:t>表的增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</a:rPr>
              <a:t>删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</a:rPr>
              <a:t>改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</a:rPr>
              <a:t>查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</a:rPr>
              <a:t>，提交了功能需求和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</a:rPr>
              <a:t>设计说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</a:rPr>
              <a:t>明，提交 了使用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</a:rPr>
              <a:t>说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</a:rPr>
              <a:t>明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</a:rPr>
              <a:t>书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</a:rPr>
              <a:t>、源代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</a:rPr>
              <a:t>码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</a:rPr>
              <a:t>和可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</a:rPr>
              <a:t>执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</a:rPr>
              <a:t>行文件</a:t>
            </a:r>
            <a:endParaRPr sz="1200">
              <a:latin typeface="MS Gothic"/>
              <a:cs typeface="MS Gothic"/>
            </a:endParaRPr>
          </a:p>
          <a:p>
            <a:pPr lvl="2" marL="24453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2446020" algn="l"/>
              </a:tabLst>
            </a:pP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7" action="ppaction://hlinksldjump"/>
              </a:rPr>
              <a:t>3. 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7" action="ppaction://hlinksldjump"/>
              </a:rPr>
              <a:t>有界面表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7" action="ppaction://hlinksldjump"/>
              </a:rPr>
              <a:t>级联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7" action="ppaction://hlinksldjump"/>
              </a:rPr>
              <a:t>操作</a:t>
            </a:r>
            <a:endParaRPr sz="1200">
              <a:latin typeface="MS Gothic"/>
              <a:cs typeface="MS Gothic"/>
            </a:endParaRPr>
          </a:p>
          <a:p>
            <a:pPr lvl="3" marL="32581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3258820" algn="l"/>
              </a:tabLst>
            </a:pP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7" action="ppaction://hlinksldjump"/>
              </a:rPr>
              <a:t>表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7" action="ppaction://hlinksldjump"/>
              </a:rPr>
              <a:t>级联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7" action="ppaction://hlinksldjump"/>
              </a:rPr>
              <a:t>操作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7" action="ppaction://hlinksldjump"/>
              </a:rPr>
              <a:t>证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7" action="ppaction://hlinksldjump"/>
              </a:rPr>
              <a:t>明</a:t>
            </a:r>
            <a:endParaRPr sz="1200">
              <a:latin typeface="MS Gothic"/>
              <a:cs typeface="MS Gothic"/>
            </a:endParaRPr>
          </a:p>
          <a:p>
            <a:pPr lvl="3" marL="32581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3258820" algn="l"/>
              </a:tabLst>
            </a:pP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8" action="ppaction://hlinksldjump"/>
              </a:rPr>
              <a:t>1. 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8" action="ppaction://hlinksldjump"/>
              </a:rPr>
              <a:t>删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8" action="ppaction://hlinksldjump"/>
              </a:rPr>
              <a:t>除商家及其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8" action="ppaction://hlinksldjump"/>
              </a:rPr>
              <a:t>产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8" action="ppaction://hlinksldjump"/>
              </a:rPr>
              <a:t>品</a:t>
            </a:r>
            <a:endParaRPr sz="1200">
              <a:latin typeface="MS Gothic"/>
              <a:cs typeface="MS Gothic"/>
            </a:endParaRPr>
          </a:p>
          <a:p>
            <a:pPr lvl="3" marL="32581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3258820" algn="l"/>
              </a:tabLst>
            </a:pP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8" action="ppaction://hlinksldjump"/>
              </a:rPr>
              <a:t>2.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8" action="ppaction://hlinksldjump"/>
              </a:rPr>
              <a:t>删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8" action="ppaction://hlinksldjump"/>
              </a:rPr>
              <a:t>除消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8" action="ppaction://hlinksldjump"/>
              </a:rPr>
              <a:t>费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8" action="ppaction://hlinksldjump"/>
              </a:rPr>
              <a:t>者及其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8" action="ppaction://hlinksldjump"/>
              </a:rPr>
              <a:t>订单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8" action="ppaction://hlinksldjump"/>
              </a:rPr>
              <a:t>和地址</a:t>
            </a:r>
            <a:endParaRPr sz="1200">
              <a:latin typeface="MS Gothic"/>
              <a:cs typeface="MS Gothic"/>
            </a:endParaRPr>
          </a:p>
          <a:p>
            <a:pPr lvl="3" marL="32581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3258820" algn="l"/>
              </a:tabLst>
            </a:pP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8" action="ppaction://hlinksldjump"/>
              </a:rPr>
              <a:t>3.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8" action="ppaction://hlinksldjump"/>
              </a:rPr>
              <a:t>删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8" action="ppaction://hlinksldjump"/>
              </a:rPr>
              <a:t>除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8" action="ppaction://hlinksldjump"/>
              </a:rPr>
              <a:t>订单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8" action="ppaction://hlinksldjump"/>
              </a:rPr>
              <a:t>及其付款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8" action="ppaction://hlinksldjump"/>
              </a:rPr>
              <a:t>记录</a:t>
            </a:r>
            <a:endParaRPr sz="1200">
              <a:latin typeface="微软雅黑"/>
              <a:cs typeface="微软雅黑"/>
            </a:endParaRPr>
          </a:p>
          <a:p>
            <a:pPr lvl="2" marL="24453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2446020" algn="l"/>
              </a:tabLst>
            </a:pP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9" action="ppaction://hlinksldjump"/>
              </a:rPr>
              <a:t>4.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9" action="ppaction://hlinksldjump"/>
              </a:rPr>
              <a:t>有多个用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9" action="ppaction://hlinksldjump"/>
              </a:rPr>
              <a:t>户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9" action="ppaction://hlinksldjump"/>
              </a:rPr>
              <a:t>及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9" action="ppaction://hlinksldjump"/>
              </a:rPr>
              <a:t>链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9" action="ppaction://hlinksldjump"/>
              </a:rPr>
              <a:t>接</a:t>
            </a:r>
            <a:endParaRPr sz="1200">
              <a:latin typeface="MS Gothic"/>
              <a:cs typeface="MS Gothic"/>
            </a:endParaRPr>
          </a:p>
          <a:p>
            <a:pPr lvl="2" marL="24453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2446020" algn="l"/>
              </a:tabLst>
            </a:pP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10" action="ppaction://hlinksldjump"/>
              </a:rPr>
              <a:t>5. 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10" action="ppaction://hlinksldjump"/>
              </a:rPr>
              <a:t>应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0" action="ppaction://hlinksldjump"/>
              </a:rPr>
              <a:t>用用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10" action="ppaction://hlinksldjump"/>
              </a:rPr>
              <a:t>户权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0" action="ppaction://hlinksldjump"/>
              </a:rPr>
              <a:t>限管理</a:t>
            </a:r>
            <a:endParaRPr sz="1200">
              <a:latin typeface="MS Gothic"/>
              <a:cs typeface="MS Gothic"/>
            </a:endParaRPr>
          </a:p>
          <a:p>
            <a:pPr lvl="3" marL="32581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3258820" algn="l"/>
              </a:tabLst>
            </a:pP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0" action="ppaction://hlinksldjump"/>
              </a:rPr>
              <a:t>消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10" action="ppaction://hlinksldjump"/>
              </a:rPr>
              <a:t>费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0" action="ppaction://hlinksldjump"/>
              </a:rPr>
              <a:t>者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10" action="ppaction://hlinksldjump"/>
              </a:rPr>
              <a:t>权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0" action="ppaction://hlinksldjump"/>
              </a:rPr>
              <a:t>限</a:t>
            </a:r>
            <a:endParaRPr sz="1200">
              <a:latin typeface="MS Gothic"/>
              <a:cs typeface="MS Gothic"/>
            </a:endParaRPr>
          </a:p>
          <a:p>
            <a:pPr lvl="3" marL="32581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3258820" algn="l"/>
              </a:tabLst>
            </a:pP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0" action="ppaction://hlinksldjump"/>
              </a:rPr>
              <a:t>商家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10" action="ppaction://hlinksldjump"/>
              </a:rPr>
              <a:t>权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0" action="ppaction://hlinksldjump"/>
              </a:rPr>
              <a:t>限</a:t>
            </a:r>
            <a:endParaRPr sz="1200">
              <a:latin typeface="MS Gothic"/>
              <a:cs typeface="MS Gothic"/>
            </a:endParaRPr>
          </a:p>
          <a:p>
            <a:pPr lvl="3" marL="32581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3258820" algn="l"/>
              </a:tabLst>
            </a:pP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11" action="ppaction://hlinksldjump"/>
              </a:rPr>
              <a:t>实现权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1" action="ppaction://hlinksldjump"/>
              </a:rPr>
              <a:t>限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11" action="ppaction://hlinksldjump"/>
              </a:rPr>
              <a:t>检查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1" action="ppaction://hlinksldjump"/>
              </a:rPr>
              <a:t>的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11" action="ppaction://hlinksldjump"/>
              </a:rPr>
              <a:t>逻辑</a:t>
            </a:r>
            <a:endParaRPr sz="1200">
              <a:latin typeface="微软雅黑"/>
              <a:cs typeface="微软雅黑"/>
            </a:endParaRPr>
          </a:p>
          <a:p>
            <a:pPr lvl="2" marL="24453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2446020" algn="l"/>
              </a:tabLst>
            </a:pP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12" action="ppaction://hlinksldjump"/>
              </a:rPr>
              <a:t>6. 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12" action="ppaction://hlinksldjump"/>
              </a:rPr>
              <a:t>视图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2" action="ppaction://hlinksldjump"/>
              </a:rPr>
              <a:t>和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12" action="ppaction://hlinksldjump"/>
              </a:rPr>
              <a:t>动态</a:t>
            </a:r>
            <a:r>
              <a:rPr dirty="0" sz="1200" spc="-25">
                <a:solidFill>
                  <a:srgbClr val="0088CC"/>
                </a:solidFill>
                <a:latin typeface="微软雅黑"/>
                <a:cs typeface="微软雅黑"/>
                <a:hlinkClick r:id="rId12" action="ppaction://hlinksldjump"/>
              </a:rPr>
              <a:t> </a:t>
            </a: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12" action="ppaction://hlinksldjump"/>
              </a:rPr>
              <a:t>SQL</a:t>
            </a:r>
            <a:endParaRPr sz="1200">
              <a:latin typeface="Arial"/>
              <a:cs typeface="Arial"/>
            </a:endParaRPr>
          </a:p>
          <a:p>
            <a:pPr lvl="3" marL="32581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3258820" algn="l"/>
              </a:tabLst>
            </a:pP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12" action="ppaction://hlinksldjump"/>
              </a:rPr>
              <a:t>视图</a:t>
            </a:r>
            <a:endParaRPr sz="1200">
              <a:latin typeface="微软雅黑"/>
              <a:cs typeface="微软雅黑"/>
            </a:endParaRPr>
          </a:p>
          <a:p>
            <a:pPr lvl="3" marL="32581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3258820" algn="l"/>
              </a:tabLst>
            </a:pP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13" action="ppaction://hlinksldjump"/>
              </a:rPr>
              <a:t>动态</a:t>
            </a: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13" action="ppaction://hlinksldjump"/>
              </a:rPr>
              <a:t>SQL</a:t>
            </a:r>
            <a:endParaRPr sz="1200">
              <a:latin typeface="Arial"/>
              <a:cs typeface="Arial"/>
            </a:endParaRPr>
          </a:p>
          <a:p>
            <a:pPr lvl="3" marL="32581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3258820" algn="l"/>
              </a:tabLst>
            </a:pP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13" action="ppaction://hlinksldjump"/>
              </a:rPr>
              <a:t>视图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3" action="ppaction://hlinksldjump"/>
              </a:rPr>
              <a:t>和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13" action="ppaction://hlinksldjump"/>
              </a:rPr>
              <a:t>动态</a:t>
            </a:r>
            <a:r>
              <a:rPr dirty="0" sz="1200" spc="-30">
                <a:solidFill>
                  <a:srgbClr val="0088CC"/>
                </a:solidFill>
                <a:latin typeface="微软雅黑"/>
                <a:cs typeface="微软雅黑"/>
                <a:hlinkClick r:id="rId13" action="ppaction://hlinksldjump"/>
              </a:rPr>
              <a:t> </a:t>
            </a: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13" action="ppaction://hlinksldjump"/>
              </a:rPr>
              <a:t>SQL</a:t>
            </a:r>
            <a:r>
              <a:rPr dirty="0" sz="1200">
                <a:solidFill>
                  <a:srgbClr val="0088CC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3" action="ppaction://hlinksldjump"/>
              </a:rPr>
              <a:t>的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13" action="ppaction://hlinksldjump"/>
              </a:rPr>
              <a:t>结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3" action="ppaction://hlinksldjump"/>
              </a:rPr>
              <a:t>合</a:t>
            </a:r>
            <a:endParaRPr sz="1200">
              <a:latin typeface="MS Gothic"/>
              <a:cs typeface="MS Gothic"/>
            </a:endParaRPr>
          </a:p>
          <a:p>
            <a:pPr lvl="2" marL="24453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2446020" algn="l"/>
              </a:tabLst>
            </a:pP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13" action="ppaction://hlinksldjump"/>
              </a:rPr>
              <a:t>7.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3" action="ppaction://hlinksldjump"/>
              </a:rPr>
              <a:t>存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13" action="ppaction://hlinksldjump"/>
              </a:rPr>
              <a:t>储过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3" action="ppaction://hlinksldjump"/>
              </a:rPr>
              <a:t>程</a:t>
            </a:r>
            <a:r>
              <a:rPr dirty="0" sz="1200">
                <a:solidFill>
                  <a:srgbClr val="0088CC"/>
                </a:solidFill>
                <a:latin typeface="Arial"/>
                <a:cs typeface="Arial"/>
                <a:hlinkClick r:id="rId13" action="ppaction://hlinksldjump"/>
              </a:rPr>
              <a:t>-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3" action="ppaction://hlinksldjump"/>
              </a:rPr>
              <a:t>函数</a:t>
            </a:r>
            <a:r>
              <a:rPr dirty="0" sz="1200">
                <a:solidFill>
                  <a:srgbClr val="0088CC"/>
                </a:solidFill>
                <a:latin typeface="Arial"/>
                <a:cs typeface="Arial"/>
                <a:hlinkClick r:id="rId13" action="ppaction://hlinksldjump"/>
              </a:rPr>
              <a:t>-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3" action="ppaction://hlinksldjump"/>
              </a:rPr>
              <a:t>触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13" action="ppaction://hlinksldjump"/>
              </a:rPr>
              <a:t>发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3" action="ppaction://hlinksldjump"/>
              </a:rPr>
              <a:t>器</a:t>
            </a:r>
            <a:endParaRPr sz="1200">
              <a:latin typeface="MS Gothic"/>
              <a:cs typeface="MS Gothic"/>
            </a:endParaRPr>
          </a:p>
          <a:p>
            <a:pPr lvl="3" marL="325818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3258820" algn="l"/>
              </a:tabLst>
            </a:pP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13" action="ppaction://hlinksldjump"/>
              </a:rPr>
              <a:t>储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3" action="ppaction://hlinksldjump"/>
              </a:rPr>
              <a:t>存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13" action="ppaction://hlinksldjump"/>
              </a:rPr>
              <a:t>过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13" action="ppaction://hlinksldjump"/>
              </a:rPr>
              <a:t>程</a:t>
            </a:r>
            <a:endParaRPr sz="1200">
              <a:latin typeface="MS Gothic"/>
              <a:cs typeface="MS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81400" y="1270000"/>
            <a:ext cx="3175000" cy="1524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  <a:hlinkClick r:id="rId14"/>
              </a:rPr>
              <a:t>www.princexml.com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>
                <a:latin typeface="Arial"/>
                <a:cs typeface="Arial"/>
              </a:rPr>
              <a:t>--------------------------------------------</a:t>
            </a:r>
            <a:endParaRPr sz="1000">
              <a:latin typeface="Arial"/>
              <a:cs typeface="Arial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Arial"/>
                <a:cs typeface="Arial"/>
              </a:rPr>
              <a:t>This document was created with Prince, a great way of  </a:t>
            </a:r>
            <a:r>
              <a:rPr dirty="0" sz="1000" spc="-360">
                <a:latin typeface="Arial"/>
                <a:cs typeface="Arial"/>
              </a:rPr>
              <a:t>getting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web content onto paper.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34494"/>
            <a:ext cx="6375400" cy="284099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r" marL="156210" marR="2025650" indent="-156210">
              <a:lnSpc>
                <a:spcPct val="100000"/>
              </a:lnSpc>
              <a:spcBef>
                <a:spcPts val="580"/>
              </a:spcBef>
              <a:buClr>
                <a:srgbClr val="333333"/>
              </a:buClr>
              <a:buFont typeface="Arial"/>
              <a:buChar char="▪"/>
              <a:tabLst>
                <a:tab pos="156210" algn="l"/>
              </a:tabLst>
            </a:pP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2" action="ppaction://hlinksldjump"/>
              </a:rPr>
              <a:t>触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2" action="ppaction://hlinksldjump"/>
              </a:rPr>
              <a:t>发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2" action="ppaction://hlinksldjump"/>
              </a:rPr>
              <a:t>器</a:t>
            </a:r>
            <a:r>
              <a:rPr dirty="0" sz="1200" spc="-370">
                <a:solidFill>
                  <a:srgbClr val="0088CC"/>
                </a:solidFill>
                <a:latin typeface="MS Gothic"/>
                <a:cs typeface="MS Gothic"/>
                <a:hlinkClick r:id="rId2" action="ppaction://hlinksldjump"/>
              </a:rPr>
              <a:t> </a:t>
            </a: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2" action="ppaction://hlinksldjump"/>
              </a:rPr>
              <a:t>(Trigger)</a:t>
            </a:r>
            <a:endParaRPr sz="1200">
              <a:latin typeface="Arial"/>
              <a:cs typeface="Arial"/>
            </a:endParaRPr>
          </a:p>
          <a:p>
            <a:pPr lvl="1" marL="4076700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▪"/>
              <a:tabLst>
                <a:tab pos="4076700" algn="l"/>
              </a:tabLst>
            </a:pP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示例：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创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建一个触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发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器在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订单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插入</a:t>
            </a:r>
            <a:endParaRPr sz="1200">
              <a:latin typeface="MS Gothic"/>
              <a:cs typeface="MS Gothic"/>
            </a:endParaRPr>
          </a:p>
          <a:p>
            <a:pPr marL="4076700">
              <a:lnSpc>
                <a:spcPct val="100000"/>
              </a:lnSpc>
              <a:spcBef>
                <a:spcPts val="480"/>
              </a:spcBef>
            </a:pP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时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自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动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更新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产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品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库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存</a:t>
            </a:r>
            <a:endParaRPr sz="1200">
              <a:latin typeface="MS Gothic"/>
              <a:cs typeface="MS Gothic"/>
            </a:endParaRPr>
          </a:p>
          <a:p>
            <a:pPr algn="r" marL="156210" marR="2011045" indent="-15621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Char char="▪"/>
              <a:tabLst>
                <a:tab pos="156210" algn="l"/>
              </a:tabLst>
            </a:pP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8</a:t>
            </a:r>
            <a:r>
              <a:rPr dirty="0" sz="1200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.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待用</a:t>
            </a:r>
            <a:r>
              <a:rPr dirty="0" sz="1200" spc="-5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delph</a:t>
            </a:r>
            <a:r>
              <a:rPr dirty="0" sz="1200">
                <a:solidFill>
                  <a:srgbClr val="0088CC"/>
                </a:solidFill>
                <a:latin typeface="Arial"/>
                <a:cs typeface="Arial"/>
                <a:hlinkClick r:id="rId3" action="ppaction://hlinksldjump"/>
              </a:rPr>
              <a:t>i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中至少五个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  <a:hlinkClick r:id="rId3" action="ppaction://hlinksldjump"/>
              </a:rPr>
              <a:t>组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  <a:hlinkClick r:id="rId3" action="ppaction://hlinksldjump"/>
              </a:rPr>
              <a:t>件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5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100" b="1">
                <a:latin typeface="微软雅黑"/>
                <a:cs typeface="微软雅黑"/>
              </a:rPr>
              <a:t>该</a:t>
            </a:r>
            <a:r>
              <a:rPr dirty="0" sz="2100" spc="40" b="1">
                <a:latin typeface="微软雅黑"/>
                <a:cs typeface="微软雅黑"/>
              </a:rPr>
              <a:t>项</a:t>
            </a:r>
            <a:r>
              <a:rPr dirty="0" sz="2100" spc="-10" b="1">
                <a:latin typeface="MS Gothic"/>
                <a:cs typeface="MS Gothic"/>
              </a:rPr>
              <a:t>目完成了全部的</a:t>
            </a:r>
            <a:r>
              <a:rPr dirty="0" sz="2100" spc="-55" b="1">
                <a:latin typeface="MS Gothic"/>
                <a:cs typeface="MS Gothic"/>
              </a:rPr>
              <a:t>任</a:t>
            </a:r>
            <a:r>
              <a:rPr dirty="0" sz="2100" b="1">
                <a:latin typeface="微软雅黑"/>
                <a:cs typeface="微软雅黑"/>
              </a:rPr>
              <a:t>务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微软雅黑"/>
              <a:cs typeface="微软雅黑"/>
            </a:endParaRPr>
          </a:p>
          <a:p>
            <a:pPr marL="17145" marR="50165" indent="-5080">
              <a:lnSpc>
                <a:spcPct val="100000"/>
              </a:lnSpc>
              <a:spcBef>
                <a:spcPts val="5"/>
              </a:spcBef>
            </a:pPr>
            <a:r>
              <a:rPr dirty="0" sz="1800" spc="-5" b="1">
                <a:latin typeface="Arial"/>
                <a:cs typeface="Arial"/>
              </a:rPr>
              <a:t>1.</a:t>
            </a:r>
            <a:r>
              <a:rPr dirty="0" sz="1800" spc="20" b="1">
                <a:latin typeface="Arial"/>
                <a:cs typeface="Arial"/>
              </a:rPr>
              <a:t> </a:t>
            </a:r>
            <a:r>
              <a:rPr dirty="0" sz="1800" spc="-10" b="1">
                <a:latin typeface="MS Gothic"/>
                <a:cs typeface="MS Gothic"/>
              </a:rPr>
              <a:t>使</a:t>
            </a:r>
            <a:r>
              <a:rPr dirty="0" sz="1800" spc="-50" b="1">
                <a:latin typeface="MS Gothic"/>
                <a:cs typeface="MS Gothic"/>
              </a:rPr>
              <a:t>用</a:t>
            </a:r>
            <a:r>
              <a:rPr dirty="0" sz="1800" b="1">
                <a:latin typeface="Arial"/>
                <a:cs typeface="Arial"/>
              </a:rPr>
              <a:t>Gauss</a:t>
            </a:r>
            <a:r>
              <a:rPr dirty="0" sz="1800" spc="-10" b="1">
                <a:latin typeface="MS Gothic"/>
                <a:cs typeface="MS Gothic"/>
              </a:rPr>
              <a:t>数</a:t>
            </a:r>
            <a:r>
              <a:rPr dirty="0" sz="1800" spc="-50" b="1">
                <a:latin typeface="MS Gothic"/>
                <a:cs typeface="MS Gothic"/>
              </a:rPr>
              <a:t>据</a:t>
            </a:r>
            <a:r>
              <a:rPr dirty="0" sz="1800" spc="35" b="1">
                <a:latin typeface="微软雅黑"/>
                <a:cs typeface="微软雅黑"/>
              </a:rPr>
              <a:t>库</a:t>
            </a:r>
            <a:r>
              <a:rPr dirty="0" sz="1800" spc="-10" b="1">
                <a:latin typeface="MS Gothic"/>
                <a:cs typeface="MS Gothic"/>
              </a:rPr>
              <a:t>，至少</a:t>
            </a:r>
            <a:r>
              <a:rPr dirty="0" sz="1800" spc="-50" b="1">
                <a:latin typeface="MS Gothic"/>
                <a:cs typeface="MS Gothic"/>
              </a:rPr>
              <a:t>六</a:t>
            </a:r>
            <a:r>
              <a:rPr dirty="0" sz="1800" spc="35" b="1">
                <a:latin typeface="微软雅黑"/>
                <a:cs typeface="微软雅黑"/>
              </a:rPr>
              <a:t>张</a:t>
            </a:r>
            <a:r>
              <a:rPr dirty="0" sz="1800" spc="-10" b="1">
                <a:latin typeface="MS Gothic"/>
                <a:cs typeface="MS Gothic"/>
              </a:rPr>
              <a:t>表，</a:t>
            </a:r>
            <a:r>
              <a:rPr dirty="0" sz="1800" spc="-50" b="1">
                <a:latin typeface="MS Gothic"/>
                <a:cs typeface="MS Gothic"/>
              </a:rPr>
              <a:t>含</a:t>
            </a:r>
            <a:r>
              <a:rPr dirty="0" sz="1800" spc="-5" b="1">
                <a:latin typeface="Arial"/>
                <a:cs typeface="Arial"/>
              </a:rPr>
              <a:t>ER</a:t>
            </a:r>
            <a:r>
              <a:rPr dirty="0" sz="1800" spc="35" b="1">
                <a:latin typeface="微软雅黑"/>
                <a:cs typeface="微软雅黑"/>
              </a:rPr>
              <a:t>图</a:t>
            </a:r>
            <a:r>
              <a:rPr dirty="0" sz="1800" spc="-10" b="1">
                <a:latin typeface="MS Gothic"/>
                <a:cs typeface="MS Gothic"/>
              </a:rPr>
              <a:t>，范</a:t>
            </a:r>
            <a:r>
              <a:rPr dirty="0" sz="1800" spc="-50" b="1">
                <a:latin typeface="MS Gothic"/>
                <a:cs typeface="MS Gothic"/>
              </a:rPr>
              <a:t>式</a:t>
            </a:r>
            <a:r>
              <a:rPr dirty="0" sz="1800" spc="35" b="1">
                <a:latin typeface="微软雅黑"/>
                <a:cs typeface="微软雅黑"/>
              </a:rPr>
              <a:t>证</a:t>
            </a:r>
            <a:r>
              <a:rPr dirty="0" sz="1800" spc="-10" b="1">
                <a:latin typeface="MS Gothic"/>
                <a:cs typeface="MS Gothic"/>
              </a:rPr>
              <a:t>明，提交 数</a:t>
            </a:r>
            <a:r>
              <a:rPr dirty="0" sz="1800" spc="-50" b="1">
                <a:latin typeface="MS Gothic"/>
                <a:cs typeface="MS Gothic"/>
              </a:rPr>
              <a:t>据</a:t>
            </a:r>
            <a:r>
              <a:rPr dirty="0" sz="1800" b="1">
                <a:latin typeface="微软雅黑"/>
                <a:cs typeface="微软雅黑"/>
              </a:rPr>
              <a:t>库</a:t>
            </a:r>
            <a:r>
              <a:rPr dirty="0" sz="1800" spc="35" b="1">
                <a:latin typeface="微软雅黑"/>
                <a:cs typeface="微软雅黑"/>
              </a:rPr>
              <a:t>语</a:t>
            </a:r>
            <a:r>
              <a:rPr dirty="0" sz="1800" spc="-10" b="1">
                <a:latin typeface="MS Gothic"/>
                <a:cs typeface="MS Gothic"/>
              </a:rPr>
              <a:t>句与数</a:t>
            </a:r>
            <a:r>
              <a:rPr dirty="0" sz="1800" spc="-50" b="1">
                <a:latin typeface="MS Gothic"/>
                <a:cs typeface="MS Gothic"/>
              </a:rPr>
              <a:t>据</a:t>
            </a:r>
            <a:r>
              <a:rPr dirty="0" sz="1800" b="1">
                <a:latin typeface="微软雅黑"/>
                <a:cs typeface="微软雅黑"/>
              </a:rPr>
              <a:t>库</a:t>
            </a:r>
            <a:r>
              <a:rPr dirty="0" sz="1800" spc="35" b="1">
                <a:latin typeface="微软雅黑"/>
                <a:cs typeface="微软雅黑"/>
              </a:rPr>
              <a:t>备</a:t>
            </a:r>
            <a:r>
              <a:rPr dirty="0" sz="1800" spc="-10" b="1">
                <a:latin typeface="MS Gothic"/>
                <a:cs typeface="MS Gothic"/>
              </a:rPr>
              <a:t>份</a:t>
            </a:r>
            <a:endParaRPr sz="18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使用了至少六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张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表</a:t>
            </a:r>
            <a:endParaRPr sz="1200">
              <a:latin typeface="MS Gothic"/>
              <a:cs typeface="MS Goth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90575" y="3653790"/>
            <a:ext cx="1504950" cy="17621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73100" y="5587494"/>
            <a:ext cx="389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E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R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图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6792110"/>
            <a:ext cx="6400800" cy="1097280"/>
          </a:xfrm>
          <a:custGeom>
            <a:avLst/>
            <a:gdLst/>
            <a:ahLst/>
            <a:cxnLst/>
            <a:rect l="l" t="t" r="r" b="b"/>
            <a:pathLst>
              <a:path w="6400800" h="1097279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068705"/>
                </a:lnTo>
                <a:lnTo>
                  <a:pt x="2246" y="1079824"/>
                </a:lnTo>
                <a:lnTo>
                  <a:pt x="8372" y="1088907"/>
                </a:lnTo>
                <a:lnTo>
                  <a:pt x="17455" y="1095033"/>
                </a:lnTo>
                <a:lnTo>
                  <a:pt x="28575" y="1097280"/>
                </a:lnTo>
                <a:lnTo>
                  <a:pt x="6372225" y="1097280"/>
                </a:lnTo>
                <a:lnTo>
                  <a:pt x="6383344" y="1095033"/>
                </a:lnTo>
                <a:lnTo>
                  <a:pt x="6392427" y="1088907"/>
                </a:lnTo>
                <a:lnTo>
                  <a:pt x="6398553" y="1079824"/>
                </a:lnTo>
                <a:lnTo>
                  <a:pt x="6400800" y="106870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5800" y="685800"/>
            <a:ext cx="6400800" cy="47423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38574" y="8338268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09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774269" y="181356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1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624633" y="8585219"/>
            <a:ext cx="660400" cy="181610"/>
          </a:xfrm>
          <a:custGeom>
            <a:avLst/>
            <a:gdLst/>
            <a:ahLst/>
            <a:cxnLst/>
            <a:rect l="l" t="t" r="r" b="b"/>
            <a:pathLst>
              <a:path w="660400" h="181609">
                <a:moveTo>
                  <a:pt x="6318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631825" y="181356"/>
                </a:lnTo>
                <a:lnTo>
                  <a:pt x="642944" y="179109"/>
                </a:lnTo>
                <a:lnTo>
                  <a:pt x="652027" y="172983"/>
                </a:lnTo>
                <a:lnTo>
                  <a:pt x="658153" y="163900"/>
                </a:lnTo>
                <a:lnTo>
                  <a:pt x="660400" y="152781"/>
                </a:lnTo>
                <a:lnTo>
                  <a:pt x="660400" y="28575"/>
                </a:lnTo>
                <a:lnTo>
                  <a:pt x="658153" y="17455"/>
                </a:lnTo>
                <a:lnTo>
                  <a:pt x="652027" y="8372"/>
                </a:lnTo>
                <a:lnTo>
                  <a:pt x="642944" y="2246"/>
                </a:lnTo>
                <a:lnTo>
                  <a:pt x="631825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79317" y="8585219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09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774269" y="181356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1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73100" y="5590183"/>
            <a:ext cx="5950585" cy="3160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范式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证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明在</a:t>
            </a:r>
            <a:r>
              <a:rPr dirty="0" sz="1200" spc="-5">
                <a:solidFill>
                  <a:srgbClr val="0088CC"/>
                </a:solidFill>
                <a:latin typeface="Arial"/>
                <a:cs typeface="Arial"/>
              </a:rPr>
              <a:t>Design</a:t>
            </a:r>
            <a:r>
              <a:rPr dirty="0" sz="1200" spc="-10">
                <a:solidFill>
                  <a:srgbClr val="0088CC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0088CC"/>
                </a:solidFill>
                <a:latin typeface="Arial"/>
                <a:cs typeface="Arial"/>
              </a:rPr>
              <a:t>documents.pdf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中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以下是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对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数据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库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表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进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行第三范式</a:t>
            </a:r>
            <a:r>
              <a:rPr dirty="0" sz="1200" spc="-5">
                <a:solidFill>
                  <a:srgbClr val="333333"/>
                </a:solidFill>
                <a:latin typeface="MS Gothic"/>
                <a:cs typeface="MS Gothic"/>
              </a:rPr>
              <a:t>（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3NF</a:t>
            </a:r>
            <a:r>
              <a:rPr dirty="0" sz="1200" spc="-5">
                <a:solidFill>
                  <a:srgbClr val="333333"/>
                </a:solidFill>
                <a:latin typeface="MS Gothic"/>
                <a:cs typeface="MS Gothic"/>
              </a:rPr>
              <a:t>）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和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BCNF</a:t>
            </a:r>
            <a:r>
              <a:rPr dirty="0" sz="1200" spc="-5">
                <a:solidFill>
                  <a:srgbClr val="333333"/>
                </a:solidFill>
                <a:latin typeface="MS Gothic"/>
                <a:cs typeface="MS Gothic"/>
              </a:rPr>
              <a:t>（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Boyce-Codd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范式）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规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范化的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证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明。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MS Gothic"/>
              <a:cs typeface="MS Gothic"/>
            </a:endParaRPr>
          </a:p>
          <a:p>
            <a:pPr marL="224154" indent="-212090">
              <a:lnSpc>
                <a:spcPct val="100000"/>
              </a:lnSpc>
              <a:buFont typeface="Arial"/>
              <a:buAutoNum type="arabicPeriod"/>
              <a:tabLst>
                <a:tab pos="224790" algn="l"/>
              </a:tabLst>
            </a:pPr>
            <a:r>
              <a:rPr dirty="0" sz="1500" spc="-5" b="1">
                <a:latin typeface="Arial"/>
                <a:cs typeface="Arial"/>
              </a:rPr>
              <a:t>Consumer</a:t>
            </a:r>
            <a:r>
              <a:rPr dirty="0" sz="1500" spc="-5" b="1">
                <a:latin typeface="Arial"/>
                <a:cs typeface="Arial"/>
              </a:rPr>
              <a:t>s</a:t>
            </a:r>
            <a:r>
              <a:rPr dirty="0" sz="1500" spc="30" b="1">
                <a:latin typeface="Arial"/>
                <a:cs typeface="Arial"/>
              </a:rPr>
              <a:t> </a:t>
            </a:r>
            <a:r>
              <a:rPr dirty="0" sz="1500" spc="-10" b="1">
                <a:latin typeface="MS Gothic"/>
                <a:cs typeface="MS Gothic"/>
              </a:rPr>
              <a:t>表</a:t>
            </a:r>
            <a:endParaRPr sz="15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AutoNum type="arabicPeriod"/>
            </a:pPr>
            <a:endParaRPr sz="1450">
              <a:latin typeface="MS Gothic"/>
              <a:cs typeface="MS Gothic"/>
            </a:endParaRPr>
          </a:p>
          <a:p>
            <a:pPr marL="419100" marR="3458210" indent="-285115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dirty="0" sz="1000" spc="5">
                <a:latin typeface="Consolas"/>
                <a:cs typeface="Consolas"/>
              </a:rPr>
              <a:t>Consumers 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(  </a:t>
            </a:r>
            <a:r>
              <a:rPr dirty="0" sz="1000" spc="5">
                <a:latin typeface="Consolas"/>
                <a:cs typeface="Consolas"/>
              </a:rPr>
              <a:t>ConsumerID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INT PRIMARY KEY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dirty="0" sz="1000" spc="5">
                <a:latin typeface="Consolas"/>
                <a:cs typeface="Consolas"/>
              </a:rPr>
              <a:t>Password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50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dirty="0" sz="1000" spc="-2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Consolas"/>
              <a:cs typeface="Consolas"/>
            </a:endParaRPr>
          </a:p>
          <a:p>
            <a:pPr lvl="1" marL="828040" indent="-158750">
              <a:lnSpc>
                <a:spcPct val="100000"/>
              </a:lnSpc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dirty="0" sz="1200" spc="-5" b="1">
                <a:latin typeface="MS Gothic"/>
                <a:cs typeface="MS Gothic"/>
              </a:rPr>
              <a:t>第一范式</a:t>
            </a:r>
            <a:r>
              <a:rPr dirty="0" sz="1200" spc="-305" b="1">
                <a:latin typeface="MS Gothic"/>
                <a:cs typeface="MS Gothic"/>
              </a:rPr>
              <a:t> </a:t>
            </a:r>
            <a:r>
              <a:rPr dirty="0" sz="1200" b="1">
                <a:latin typeface="Arial"/>
                <a:cs typeface="Arial"/>
              </a:rPr>
              <a:t>(1NF)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所有列的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值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都是原子的，没有重复的列。</a:t>
            </a:r>
            <a:endParaRPr sz="1200">
              <a:latin typeface="MS Gothic"/>
              <a:cs typeface="MS Gothic"/>
            </a:endParaRPr>
          </a:p>
          <a:p>
            <a:pPr lvl="1" marL="828040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dirty="0" sz="1200" spc="-5" b="1">
                <a:latin typeface="MS Gothic"/>
                <a:cs typeface="MS Gothic"/>
              </a:rPr>
              <a:t>第二范式</a:t>
            </a:r>
            <a:r>
              <a:rPr dirty="0" sz="1200" spc="-310" b="1">
                <a:latin typeface="MS Gothic"/>
                <a:cs typeface="MS Gothic"/>
              </a:rPr>
              <a:t> </a:t>
            </a:r>
            <a:r>
              <a:rPr dirty="0" sz="1200" b="1">
                <a:latin typeface="Arial"/>
                <a:cs typeface="Arial"/>
              </a:rPr>
              <a:t>(2NF)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dirty="0" sz="12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只有一个候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选键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，即</a:t>
            </a:r>
            <a:r>
              <a:rPr dirty="0" sz="1200" spc="7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000" spc="5">
                <a:latin typeface="Consolas"/>
                <a:cs typeface="Consolas"/>
              </a:rPr>
              <a:t>ConsumerID</a:t>
            </a:r>
            <a:r>
              <a:rPr dirty="0" sz="1000" spc="-20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，所以不存在部分依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lvl="1" marL="828040" indent="-158750">
              <a:lnSpc>
                <a:spcPct val="100000"/>
              </a:lnSpc>
              <a:spcBef>
                <a:spcPts val="505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dirty="0" sz="1200" spc="-5" b="1">
                <a:latin typeface="MS Gothic"/>
                <a:cs typeface="MS Gothic"/>
              </a:rPr>
              <a:t>第三范式</a:t>
            </a:r>
            <a:r>
              <a:rPr dirty="0" sz="1200" spc="-310" b="1">
                <a:latin typeface="MS Gothic"/>
                <a:cs typeface="MS Gothic"/>
              </a:rPr>
              <a:t> </a:t>
            </a:r>
            <a:r>
              <a:rPr dirty="0" sz="1200" b="1">
                <a:latin typeface="Arial"/>
                <a:cs typeface="Arial"/>
              </a:rPr>
              <a:t>(3NF)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dirty="0" sz="120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spc="5">
                <a:latin typeface="Consolas"/>
                <a:cs typeface="Consolas"/>
              </a:rPr>
              <a:t>Password</a:t>
            </a:r>
            <a:r>
              <a:rPr dirty="0" sz="1000" spc="12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仅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于</a:t>
            </a:r>
            <a:r>
              <a:rPr dirty="0" sz="1200" spc="75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000" spc="5">
                <a:latin typeface="Consolas"/>
                <a:cs typeface="Consolas"/>
              </a:rPr>
              <a:t>ConsumerID</a:t>
            </a:r>
            <a:r>
              <a:rPr dirty="0" sz="1000" spc="-20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（主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），没有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066800"/>
            <a:ext cx="6400800" cy="1310640"/>
          </a:xfrm>
          <a:custGeom>
            <a:avLst/>
            <a:gdLst/>
            <a:ahLst/>
            <a:cxnLst/>
            <a:rect l="l" t="t" r="r" b="b"/>
            <a:pathLst>
              <a:path w="6400800" h="1310639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282065"/>
                </a:lnTo>
                <a:lnTo>
                  <a:pt x="2246" y="1293184"/>
                </a:lnTo>
                <a:lnTo>
                  <a:pt x="8372" y="1302267"/>
                </a:lnTo>
                <a:lnTo>
                  <a:pt x="17455" y="1308393"/>
                </a:lnTo>
                <a:lnTo>
                  <a:pt x="28575" y="1310640"/>
                </a:lnTo>
                <a:lnTo>
                  <a:pt x="6372225" y="1310640"/>
                </a:lnTo>
                <a:lnTo>
                  <a:pt x="6383344" y="1308393"/>
                </a:lnTo>
                <a:lnTo>
                  <a:pt x="6392427" y="1302267"/>
                </a:lnTo>
                <a:lnTo>
                  <a:pt x="6398553" y="1293184"/>
                </a:lnTo>
                <a:lnTo>
                  <a:pt x="6400800" y="128206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5800" y="3839079"/>
            <a:ext cx="6400800" cy="2164080"/>
          </a:xfrm>
          <a:custGeom>
            <a:avLst/>
            <a:gdLst/>
            <a:ahLst/>
            <a:cxnLst/>
            <a:rect l="l" t="t" r="r" b="b"/>
            <a:pathLst>
              <a:path w="6400800" h="2164079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2135505"/>
                </a:lnTo>
                <a:lnTo>
                  <a:pt x="2246" y="2146624"/>
                </a:lnTo>
                <a:lnTo>
                  <a:pt x="8372" y="2155707"/>
                </a:lnTo>
                <a:lnTo>
                  <a:pt x="17455" y="2161833"/>
                </a:lnTo>
                <a:lnTo>
                  <a:pt x="28575" y="2164080"/>
                </a:lnTo>
                <a:lnTo>
                  <a:pt x="6372225" y="2164080"/>
                </a:lnTo>
                <a:lnTo>
                  <a:pt x="6383344" y="2161833"/>
                </a:lnTo>
                <a:lnTo>
                  <a:pt x="6392427" y="2155707"/>
                </a:lnTo>
                <a:lnTo>
                  <a:pt x="6398553" y="2146624"/>
                </a:lnTo>
                <a:lnTo>
                  <a:pt x="6400800" y="213550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73100" y="662942"/>
            <a:ext cx="2497455" cy="1348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 b="1">
                <a:latin typeface="Arial"/>
                <a:cs typeface="Arial"/>
              </a:rPr>
              <a:t>2. </a:t>
            </a:r>
            <a:r>
              <a:rPr dirty="0" sz="1500" b="1">
                <a:latin typeface="Arial"/>
                <a:cs typeface="Arial"/>
              </a:rPr>
              <a:t>Merchants</a:t>
            </a:r>
            <a:r>
              <a:rPr dirty="0" sz="1500" spc="20" b="1">
                <a:latin typeface="Arial"/>
                <a:cs typeface="Arial"/>
              </a:rPr>
              <a:t> </a:t>
            </a:r>
            <a:r>
              <a:rPr dirty="0" sz="1500" spc="-10" b="1">
                <a:latin typeface="MS Gothic"/>
                <a:cs typeface="MS Gothic"/>
              </a:rPr>
              <a:t>表</a:t>
            </a:r>
            <a:endParaRPr sz="15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MS Gothic"/>
              <a:cs typeface="MS Gothic"/>
            </a:endParaRPr>
          </a:p>
          <a:p>
            <a:pPr marL="419100" marR="5080" indent="-285115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dirty="0" sz="1000" spc="5">
                <a:latin typeface="Consolas"/>
                <a:cs typeface="Consolas"/>
              </a:rPr>
              <a:t>Merchants 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(  </a:t>
            </a:r>
            <a:r>
              <a:rPr dirty="0" sz="1000" spc="5">
                <a:latin typeface="Consolas"/>
                <a:cs typeface="Consolas"/>
              </a:rPr>
              <a:t>MerchantID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INT PRIMARY KEY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dirty="0" sz="1000" spc="5">
                <a:latin typeface="Consolas"/>
                <a:cs typeface="Consolas"/>
              </a:rPr>
              <a:t>Password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50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dirty="0" sz="1000" spc="-2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38574" y="2826320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10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74269" y="181355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0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24633" y="3073269"/>
            <a:ext cx="660400" cy="181610"/>
          </a:xfrm>
          <a:custGeom>
            <a:avLst/>
            <a:gdLst/>
            <a:ahLst/>
            <a:cxnLst/>
            <a:rect l="l" t="t" r="r" b="b"/>
            <a:pathLst>
              <a:path w="660400" h="181610">
                <a:moveTo>
                  <a:pt x="6318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631825" y="181355"/>
                </a:lnTo>
                <a:lnTo>
                  <a:pt x="642944" y="179109"/>
                </a:lnTo>
                <a:lnTo>
                  <a:pt x="652027" y="172983"/>
                </a:lnTo>
                <a:lnTo>
                  <a:pt x="658153" y="163900"/>
                </a:lnTo>
                <a:lnTo>
                  <a:pt x="660400" y="152780"/>
                </a:lnTo>
                <a:lnTo>
                  <a:pt x="660400" y="28575"/>
                </a:lnTo>
                <a:lnTo>
                  <a:pt x="658153" y="17455"/>
                </a:lnTo>
                <a:lnTo>
                  <a:pt x="652027" y="8372"/>
                </a:lnTo>
                <a:lnTo>
                  <a:pt x="642944" y="2246"/>
                </a:lnTo>
                <a:lnTo>
                  <a:pt x="631825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79317" y="3073269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10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74269" y="181355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0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73100" y="2478534"/>
            <a:ext cx="5950585" cy="315849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828040" indent="-158750">
              <a:lnSpc>
                <a:spcPct val="100000"/>
              </a:lnSpc>
              <a:spcBef>
                <a:spcPts val="5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dirty="0" sz="1200" spc="-5" b="1">
                <a:latin typeface="MS Gothic"/>
                <a:cs typeface="MS Gothic"/>
              </a:rPr>
              <a:t>第一范式</a:t>
            </a:r>
            <a:r>
              <a:rPr dirty="0" sz="1200" spc="-305" b="1">
                <a:latin typeface="MS Gothic"/>
                <a:cs typeface="MS Gothic"/>
              </a:rPr>
              <a:t> </a:t>
            </a:r>
            <a:r>
              <a:rPr dirty="0" sz="1200" b="1">
                <a:latin typeface="Arial"/>
                <a:cs typeface="Arial"/>
              </a:rPr>
              <a:t>(1NF)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所有列的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值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都是原子的，没有重复的列。</a:t>
            </a:r>
            <a:endParaRPr sz="1200">
              <a:latin typeface="MS Gothic"/>
              <a:cs typeface="MS Gothic"/>
            </a:endParaRPr>
          </a:p>
          <a:p>
            <a:pPr marL="828040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dirty="0" sz="1200" spc="-5" b="1">
                <a:latin typeface="MS Gothic"/>
                <a:cs typeface="MS Gothic"/>
              </a:rPr>
              <a:t>第二范式</a:t>
            </a:r>
            <a:r>
              <a:rPr dirty="0" sz="1200" spc="-310" b="1">
                <a:latin typeface="MS Gothic"/>
                <a:cs typeface="MS Gothic"/>
              </a:rPr>
              <a:t> </a:t>
            </a:r>
            <a:r>
              <a:rPr dirty="0" sz="1200" b="1">
                <a:latin typeface="Arial"/>
                <a:cs typeface="Arial"/>
              </a:rPr>
              <a:t>(2NF)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dirty="0" sz="12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只有一个候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选键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，即</a:t>
            </a:r>
            <a:r>
              <a:rPr dirty="0" sz="1200" spc="7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000" spc="5">
                <a:latin typeface="Consolas"/>
                <a:cs typeface="Consolas"/>
              </a:rPr>
              <a:t>MerchantID</a:t>
            </a:r>
            <a:r>
              <a:rPr dirty="0" sz="1000" spc="-20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，所以不存在部分依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8040" indent="-158750">
              <a:lnSpc>
                <a:spcPct val="100000"/>
              </a:lnSpc>
              <a:spcBef>
                <a:spcPts val="505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dirty="0" sz="1200" spc="-5" b="1">
                <a:latin typeface="MS Gothic"/>
                <a:cs typeface="MS Gothic"/>
              </a:rPr>
              <a:t>第三范式</a:t>
            </a:r>
            <a:r>
              <a:rPr dirty="0" sz="1200" spc="-310" b="1">
                <a:latin typeface="MS Gothic"/>
                <a:cs typeface="MS Gothic"/>
              </a:rPr>
              <a:t> </a:t>
            </a:r>
            <a:r>
              <a:rPr dirty="0" sz="1200" b="1">
                <a:latin typeface="Arial"/>
                <a:cs typeface="Arial"/>
              </a:rPr>
              <a:t>(3NF)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dirty="0" sz="120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spc="5">
                <a:latin typeface="Consolas"/>
                <a:cs typeface="Consolas"/>
              </a:rPr>
              <a:t>Password</a:t>
            </a:r>
            <a:r>
              <a:rPr dirty="0" sz="1000" spc="12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仅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于</a:t>
            </a:r>
            <a:r>
              <a:rPr dirty="0" sz="1200" spc="75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000" spc="5">
                <a:latin typeface="Consolas"/>
                <a:cs typeface="Consolas"/>
              </a:rPr>
              <a:t>MerchantID</a:t>
            </a:r>
            <a:r>
              <a:rPr dirty="0" sz="1000" spc="-20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（主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），没有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</a:pPr>
            <a:r>
              <a:rPr dirty="0" sz="1500" spc="-5" b="1">
                <a:latin typeface="Arial"/>
                <a:cs typeface="Arial"/>
              </a:rPr>
              <a:t>3. Products</a:t>
            </a:r>
            <a:r>
              <a:rPr dirty="0" sz="1500" spc="45" b="1">
                <a:latin typeface="Arial"/>
                <a:cs typeface="Arial"/>
              </a:rPr>
              <a:t> </a:t>
            </a:r>
            <a:r>
              <a:rPr dirty="0" sz="1500" spc="-10" b="1">
                <a:latin typeface="MS Gothic"/>
                <a:cs typeface="MS Gothic"/>
              </a:rPr>
              <a:t>表</a:t>
            </a:r>
            <a:endParaRPr sz="15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MS Gothic"/>
              <a:cs typeface="MS Gothic"/>
            </a:endParaRPr>
          </a:p>
          <a:p>
            <a:pPr marL="419100" marR="3671570" indent="-285115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dirty="0" sz="1000" spc="5">
                <a:latin typeface="Consolas"/>
                <a:cs typeface="Consolas"/>
              </a:rPr>
              <a:t>Products 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(  </a:t>
            </a:r>
            <a:r>
              <a:rPr dirty="0" sz="1000" spc="5">
                <a:latin typeface="Consolas"/>
                <a:cs typeface="Consolas"/>
              </a:rPr>
              <a:t>ProductID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INT PRIMARY</a:t>
            </a:r>
            <a:r>
              <a:rPr dirty="0" sz="1000" spc="-2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KEY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 marR="3101340">
              <a:lnSpc>
                <a:spcPct val="140000"/>
              </a:lnSpc>
            </a:pPr>
            <a:r>
              <a:rPr dirty="0" sz="1000" spc="5">
                <a:latin typeface="Consolas"/>
                <a:cs typeface="Consolas"/>
              </a:rPr>
              <a:t>ProductName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100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NOT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dirty="0" sz="1000" spc="5">
                <a:latin typeface="Consolas"/>
                <a:cs typeface="Consolas"/>
              </a:rPr>
              <a:t>Price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DECIMAL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10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NOT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dirty="0" sz="1000" spc="5">
                <a:latin typeface="Consolas"/>
                <a:cs typeface="Consolas"/>
              </a:rPr>
              <a:t>Stock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INT NOT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latin typeface="Consolas"/>
                <a:cs typeface="Consolas"/>
              </a:rPr>
              <a:t>MerchantID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INT NOT</a:t>
            </a:r>
            <a:r>
              <a:rPr dirty="0" sz="1000" spc="2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FOREIGN KEY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MerchantID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REFERENCES </a:t>
            </a:r>
            <a:r>
              <a:rPr dirty="0" sz="1000" spc="5">
                <a:latin typeface="Consolas"/>
                <a:cs typeface="Consolas"/>
              </a:rPr>
              <a:t>Merchants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MerchantID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ON DELETE</a:t>
            </a:r>
            <a:r>
              <a:rPr dirty="0" sz="1000" spc="8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CASCADE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24633" y="6452039"/>
            <a:ext cx="732155" cy="181610"/>
          </a:xfrm>
          <a:custGeom>
            <a:avLst/>
            <a:gdLst/>
            <a:ahLst/>
            <a:cxnLst/>
            <a:rect l="l" t="t" r="r" b="b"/>
            <a:pathLst>
              <a:path w="732154" h="181609">
                <a:moveTo>
                  <a:pt x="703046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03046" y="181355"/>
                </a:lnTo>
                <a:lnTo>
                  <a:pt x="714165" y="179109"/>
                </a:lnTo>
                <a:lnTo>
                  <a:pt x="723249" y="172983"/>
                </a:lnTo>
                <a:lnTo>
                  <a:pt x="729374" y="163900"/>
                </a:lnTo>
                <a:lnTo>
                  <a:pt x="731621" y="152780"/>
                </a:lnTo>
                <a:lnTo>
                  <a:pt x="731621" y="28575"/>
                </a:lnTo>
                <a:lnTo>
                  <a:pt x="729374" y="17455"/>
                </a:lnTo>
                <a:lnTo>
                  <a:pt x="723249" y="8372"/>
                </a:lnTo>
                <a:lnTo>
                  <a:pt x="714165" y="2246"/>
                </a:lnTo>
                <a:lnTo>
                  <a:pt x="703046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015689" y="6452039"/>
            <a:ext cx="874394" cy="181610"/>
          </a:xfrm>
          <a:custGeom>
            <a:avLst/>
            <a:gdLst/>
            <a:ahLst/>
            <a:cxnLst/>
            <a:rect l="l" t="t" r="r" b="b"/>
            <a:pathLst>
              <a:path w="874395" h="181609">
                <a:moveTo>
                  <a:pt x="845491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845491" y="181355"/>
                </a:lnTo>
                <a:lnTo>
                  <a:pt x="856610" y="179109"/>
                </a:lnTo>
                <a:lnTo>
                  <a:pt x="865693" y="172983"/>
                </a:lnTo>
                <a:lnTo>
                  <a:pt x="871819" y="163900"/>
                </a:lnTo>
                <a:lnTo>
                  <a:pt x="874066" y="152780"/>
                </a:lnTo>
                <a:lnTo>
                  <a:pt x="874066" y="28575"/>
                </a:lnTo>
                <a:lnTo>
                  <a:pt x="871819" y="17455"/>
                </a:lnTo>
                <a:lnTo>
                  <a:pt x="865693" y="8372"/>
                </a:lnTo>
                <a:lnTo>
                  <a:pt x="856610" y="2246"/>
                </a:lnTo>
                <a:lnTo>
                  <a:pt x="845491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74439" y="6452039"/>
            <a:ext cx="447040" cy="181610"/>
          </a:xfrm>
          <a:custGeom>
            <a:avLst/>
            <a:gdLst/>
            <a:ahLst/>
            <a:cxnLst/>
            <a:rect l="l" t="t" r="r" b="b"/>
            <a:pathLst>
              <a:path w="447039" h="181609">
                <a:moveTo>
                  <a:pt x="418160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418160" y="181355"/>
                </a:lnTo>
                <a:lnTo>
                  <a:pt x="429279" y="179109"/>
                </a:lnTo>
                <a:lnTo>
                  <a:pt x="438362" y="172983"/>
                </a:lnTo>
                <a:lnTo>
                  <a:pt x="444488" y="163900"/>
                </a:lnTo>
                <a:lnTo>
                  <a:pt x="446735" y="152780"/>
                </a:lnTo>
                <a:lnTo>
                  <a:pt x="446735" y="28575"/>
                </a:lnTo>
                <a:lnTo>
                  <a:pt x="444488" y="17455"/>
                </a:lnTo>
                <a:lnTo>
                  <a:pt x="438362" y="8372"/>
                </a:lnTo>
                <a:lnTo>
                  <a:pt x="429279" y="2246"/>
                </a:lnTo>
                <a:lnTo>
                  <a:pt x="41816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505857" y="6452039"/>
            <a:ext cx="447040" cy="181610"/>
          </a:xfrm>
          <a:custGeom>
            <a:avLst/>
            <a:gdLst/>
            <a:ahLst/>
            <a:cxnLst/>
            <a:rect l="l" t="t" r="r" b="b"/>
            <a:pathLst>
              <a:path w="447040" h="181609">
                <a:moveTo>
                  <a:pt x="418161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418161" y="181355"/>
                </a:lnTo>
                <a:lnTo>
                  <a:pt x="429280" y="179109"/>
                </a:lnTo>
                <a:lnTo>
                  <a:pt x="438363" y="172983"/>
                </a:lnTo>
                <a:lnTo>
                  <a:pt x="444489" y="163900"/>
                </a:lnTo>
                <a:lnTo>
                  <a:pt x="446736" y="152780"/>
                </a:lnTo>
                <a:lnTo>
                  <a:pt x="446736" y="28575"/>
                </a:lnTo>
                <a:lnTo>
                  <a:pt x="444489" y="17455"/>
                </a:lnTo>
                <a:lnTo>
                  <a:pt x="438363" y="8372"/>
                </a:lnTo>
                <a:lnTo>
                  <a:pt x="429280" y="2246"/>
                </a:lnTo>
                <a:lnTo>
                  <a:pt x="418161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98600" y="6698989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09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774269" y="181356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1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330944" y="6104253"/>
            <a:ext cx="5676900" cy="100711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70180" indent="-158115">
              <a:lnSpc>
                <a:spcPct val="100000"/>
              </a:lnSpc>
              <a:spcBef>
                <a:spcPts val="580"/>
              </a:spcBef>
              <a:buClr>
                <a:srgbClr val="333333"/>
              </a:buClr>
              <a:buFont typeface="Arial"/>
              <a:buChar char="•"/>
              <a:tabLst>
                <a:tab pos="170815" algn="l"/>
              </a:tabLst>
            </a:pPr>
            <a:r>
              <a:rPr dirty="0" sz="1200" spc="-5" b="1">
                <a:latin typeface="MS Gothic"/>
                <a:cs typeface="MS Gothic"/>
              </a:rPr>
              <a:t>第一范式</a:t>
            </a:r>
            <a:r>
              <a:rPr dirty="0" sz="1200" spc="-305" b="1">
                <a:latin typeface="MS Gothic"/>
                <a:cs typeface="MS Gothic"/>
              </a:rPr>
              <a:t> </a:t>
            </a:r>
            <a:r>
              <a:rPr dirty="0" sz="1200" b="1">
                <a:latin typeface="Arial"/>
                <a:cs typeface="Arial"/>
              </a:rPr>
              <a:t>(1NF)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: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所有列的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值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都是原子的，没有重复的列。</a:t>
            </a:r>
            <a:endParaRPr sz="1200">
              <a:latin typeface="MS Gothic"/>
              <a:cs typeface="MS Gothic"/>
            </a:endParaRPr>
          </a:p>
          <a:p>
            <a:pPr marL="170180" indent="-158115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170815" algn="l"/>
              </a:tabLst>
            </a:pPr>
            <a:r>
              <a:rPr dirty="0" sz="1200" spc="-5" b="1">
                <a:latin typeface="MS Gothic"/>
                <a:cs typeface="MS Gothic"/>
              </a:rPr>
              <a:t>第二范式</a:t>
            </a:r>
            <a:r>
              <a:rPr dirty="0" sz="1200" spc="-305" b="1">
                <a:latin typeface="MS Gothic"/>
                <a:cs typeface="MS Gothic"/>
              </a:rPr>
              <a:t> </a:t>
            </a:r>
            <a:r>
              <a:rPr dirty="0" sz="1200" b="1">
                <a:latin typeface="Arial"/>
                <a:cs typeface="Arial"/>
              </a:rPr>
              <a:t>(2NF)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dirty="0" sz="120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spc="5">
                <a:latin typeface="Consolas"/>
                <a:cs typeface="Consolas"/>
              </a:rPr>
              <a:t>ProductID</a:t>
            </a:r>
            <a:r>
              <a:rPr dirty="0" sz="1000" spc="13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是主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，所有非主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列</a:t>
            </a:r>
            <a:r>
              <a:rPr dirty="0" sz="1200" spc="-27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(</a:t>
            </a:r>
            <a:r>
              <a:rPr dirty="0" sz="120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spc="5">
                <a:latin typeface="Consolas"/>
                <a:cs typeface="Consolas"/>
              </a:rPr>
              <a:t>ProductName</a:t>
            </a:r>
            <a:r>
              <a:rPr dirty="0" sz="1000" spc="-19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dirty="0" sz="120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spc="5">
                <a:latin typeface="Consolas"/>
                <a:cs typeface="Consolas"/>
              </a:rPr>
              <a:t>Price</a:t>
            </a:r>
            <a:r>
              <a:rPr dirty="0" sz="1000" spc="-19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dirty="0" sz="120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spc="5">
                <a:latin typeface="Consolas"/>
                <a:cs typeface="Consolas"/>
              </a:rPr>
              <a:t>Stock</a:t>
            </a:r>
            <a:r>
              <a:rPr dirty="0" sz="1000" spc="-19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212725">
              <a:lnSpc>
                <a:spcPct val="100000"/>
              </a:lnSpc>
              <a:spcBef>
                <a:spcPts val="505"/>
              </a:spcBef>
            </a:pPr>
            <a:r>
              <a:rPr dirty="0" sz="1000" spc="5">
                <a:latin typeface="Consolas"/>
                <a:cs typeface="Consolas"/>
              </a:rPr>
              <a:t>MerchantID</a:t>
            </a:r>
            <a:r>
              <a:rPr dirty="0" sz="1000" spc="-19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)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完全依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170180" indent="-158115">
              <a:lnSpc>
                <a:spcPct val="100000"/>
              </a:lnSpc>
              <a:spcBef>
                <a:spcPts val="500"/>
              </a:spcBef>
              <a:buClr>
                <a:srgbClr val="333333"/>
              </a:buClr>
              <a:buFont typeface="Arial"/>
              <a:buChar char="•"/>
              <a:tabLst>
                <a:tab pos="170815" algn="l"/>
              </a:tabLst>
            </a:pPr>
            <a:r>
              <a:rPr dirty="0" sz="1200" spc="-5" b="1">
                <a:latin typeface="MS Gothic"/>
                <a:cs typeface="MS Gothic"/>
              </a:rPr>
              <a:t>第三范式</a:t>
            </a:r>
            <a:r>
              <a:rPr dirty="0" sz="1200" spc="-305" b="1">
                <a:latin typeface="MS Gothic"/>
                <a:cs typeface="MS Gothic"/>
              </a:rPr>
              <a:t> </a:t>
            </a:r>
            <a:r>
              <a:rPr dirty="0" sz="1200" b="1">
                <a:latin typeface="Arial"/>
                <a:cs typeface="Arial"/>
              </a:rPr>
              <a:t>(3NF)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所有非主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列直接依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，没有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066800"/>
            <a:ext cx="6400800" cy="2590800"/>
          </a:xfrm>
          <a:custGeom>
            <a:avLst/>
            <a:gdLst/>
            <a:ahLst/>
            <a:cxnLst/>
            <a:rect l="l" t="t" r="r" b="b"/>
            <a:pathLst>
              <a:path w="6400800" h="259080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2562225"/>
                </a:lnTo>
                <a:lnTo>
                  <a:pt x="2246" y="2573344"/>
                </a:lnTo>
                <a:lnTo>
                  <a:pt x="8372" y="2582427"/>
                </a:lnTo>
                <a:lnTo>
                  <a:pt x="17455" y="2588553"/>
                </a:lnTo>
                <a:lnTo>
                  <a:pt x="28575" y="2590800"/>
                </a:lnTo>
                <a:lnTo>
                  <a:pt x="6372225" y="2590800"/>
                </a:lnTo>
                <a:lnTo>
                  <a:pt x="6383344" y="2588553"/>
                </a:lnTo>
                <a:lnTo>
                  <a:pt x="6392427" y="2582427"/>
                </a:lnTo>
                <a:lnTo>
                  <a:pt x="6398553" y="2573344"/>
                </a:lnTo>
                <a:lnTo>
                  <a:pt x="6400800" y="256222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5800" y="5363079"/>
            <a:ext cx="6400800" cy="1524000"/>
          </a:xfrm>
          <a:custGeom>
            <a:avLst/>
            <a:gdLst/>
            <a:ahLst/>
            <a:cxnLst/>
            <a:rect l="l" t="t" r="r" b="b"/>
            <a:pathLst>
              <a:path w="6400800" h="152400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495425"/>
                </a:lnTo>
                <a:lnTo>
                  <a:pt x="2246" y="1506544"/>
                </a:lnTo>
                <a:lnTo>
                  <a:pt x="8372" y="1515627"/>
                </a:lnTo>
                <a:lnTo>
                  <a:pt x="17455" y="1521753"/>
                </a:lnTo>
                <a:lnTo>
                  <a:pt x="28575" y="1524000"/>
                </a:lnTo>
                <a:lnTo>
                  <a:pt x="6372225" y="1524000"/>
                </a:lnTo>
                <a:lnTo>
                  <a:pt x="6383344" y="1521753"/>
                </a:lnTo>
                <a:lnTo>
                  <a:pt x="6392427" y="1515627"/>
                </a:lnTo>
                <a:lnTo>
                  <a:pt x="6398553" y="1506544"/>
                </a:lnTo>
                <a:lnTo>
                  <a:pt x="6400800" y="149542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73100" y="662942"/>
            <a:ext cx="5845175" cy="2628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 b="1">
                <a:latin typeface="Arial"/>
                <a:cs typeface="Arial"/>
              </a:rPr>
              <a:t>4. Orders</a:t>
            </a:r>
            <a:r>
              <a:rPr dirty="0" sz="1500" spc="35" b="1">
                <a:latin typeface="Arial"/>
                <a:cs typeface="Arial"/>
              </a:rPr>
              <a:t> </a:t>
            </a:r>
            <a:r>
              <a:rPr dirty="0" sz="1500" spc="-10" b="1">
                <a:latin typeface="MS Gothic"/>
                <a:cs typeface="MS Gothic"/>
              </a:rPr>
              <a:t>表</a:t>
            </a:r>
            <a:endParaRPr sz="15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MS Gothic"/>
              <a:cs typeface="MS Gothic"/>
            </a:endParaRPr>
          </a:p>
          <a:p>
            <a:pPr marL="419100" marR="3708400" indent="-285115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dirty="0" sz="1000" spc="5">
                <a:latin typeface="Consolas"/>
                <a:cs typeface="Consolas"/>
              </a:rPr>
              <a:t>Orders 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(  </a:t>
            </a:r>
            <a:r>
              <a:rPr dirty="0" sz="1000" spc="5">
                <a:latin typeface="Consolas"/>
                <a:cs typeface="Consolas"/>
              </a:rPr>
              <a:t>OrderID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INT PRIMARY</a:t>
            </a:r>
            <a:r>
              <a:rPr dirty="0" sz="1000" spc="-2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KEY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 marR="3708400">
              <a:lnSpc>
                <a:spcPct val="140000"/>
              </a:lnSpc>
            </a:pPr>
            <a:r>
              <a:rPr dirty="0" sz="1000" spc="5">
                <a:latin typeface="Consolas"/>
                <a:cs typeface="Consolas"/>
              </a:rPr>
              <a:t>ConsumerID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INT NOT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dirty="0" sz="1000" spc="5">
                <a:latin typeface="Consolas"/>
                <a:cs typeface="Consolas"/>
              </a:rPr>
              <a:t>ProductID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INT NOT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dirty="0" sz="1000" spc="5">
                <a:latin typeface="Consolas"/>
                <a:cs typeface="Consolas"/>
              </a:rPr>
              <a:t>Quantity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INT NOT</a:t>
            </a:r>
            <a:r>
              <a:rPr dirty="0" sz="1000" spc="-1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 marR="2853690">
              <a:lnSpc>
                <a:spcPct val="140000"/>
              </a:lnSpc>
            </a:pPr>
            <a:r>
              <a:rPr dirty="0" sz="1000" spc="5">
                <a:latin typeface="Consolas"/>
                <a:cs typeface="Consolas"/>
              </a:rPr>
              <a:t>TotalAmount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DECIMAL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10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NOT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Status VARCHAR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20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dirty="0" sz="1000" spc="1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 marR="5080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FOREIGN KEY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ConsumerID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REFERENCES </a:t>
            </a:r>
            <a:r>
              <a:rPr dirty="0" sz="1000" spc="5">
                <a:latin typeface="Consolas"/>
                <a:cs typeface="Consolas"/>
              </a:rPr>
              <a:t>Consumers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ConsumerID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ON DELETE CASCADE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FOREIGN KEY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ProductID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REFERENCES </a:t>
            </a:r>
            <a:r>
              <a:rPr dirty="0" sz="1000" spc="5">
                <a:latin typeface="Consolas"/>
                <a:cs typeface="Consolas"/>
              </a:rPr>
              <a:t>Products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ProductID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ON DELETE</a:t>
            </a:r>
            <a:r>
              <a:rPr dirty="0" sz="1000" spc="7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CASCADE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24633" y="4106480"/>
            <a:ext cx="589280" cy="181610"/>
          </a:xfrm>
          <a:custGeom>
            <a:avLst/>
            <a:gdLst/>
            <a:ahLst/>
            <a:cxnLst/>
            <a:rect l="l" t="t" r="r" b="b"/>
            <a:pathLst>
              <a:path w="589280" h="181610">
                <a:moveTo>
                  <a:pt x="560603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560603" y="181356"/>
                </a:lnTo>
                <a:lnTo>
                  <a:pt x="571722" y="179109"/>
                </a:lnTo>
                <a:lnTo>
                  <a:pt x="580805" y="172983"/>
                </a:lnTo>
                <a:lnTo>
                  <a:pt x="586931" y="163900"/>
                </a:lnTo>
                <a:lnTo>
                  <a:pt x="589178" y="152781"/>
                </a:lnTo>
                <a:lnTo>
                  <a:pt x="589178" y="28575"/>
                </a:lnTo>
                <a:lnTo>
                  <a:pt x="586931" y="17455"/>
                </a:lnTo>
                <a:lnTo>
                  <a:pt x="580805" y="8372"/>
                </a:lnTo>
                <a:lnTo>
                  <a:pt x="571722" y="2246"/>
                </a:lnTo>
                <a:lnTo>
                  <a:pt x="560603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73246" y="4106480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10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774269" y="181356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1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60774" y="4106480"/>
            <a:ext cx="732155" cy="181610"/>
          </a:xfrm>
          <a:custGeom>
            <a:avLst/>
            <a:gdLst/>
            <a:ahLst/>
            <a:cxnLst/>
            <a:rect l="l" t="t" r="r" b="b"/>
            <a:pathLst>
              <a:path w="732154" h="181610">
                <a:moveTo>
                  <a:pt x="703046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703046" y="181356"/>
                </a:lnTo>
                <a:lnTo>
                  <a:pt x="714165" y="179109"/>
                </a:lnTo>
                <a:lnTo>
                  <a:pt x="723249" y="172983"/>
                </a:lnTo>
                <a:lnTo>
                  <a:pt x="729374" y="163900"/>
                </a:lnTo>
                <a:lnTo>
                  <a:pt x="731621" y="152781"/>
                </a:lnTo>
                <a:lnTo>
                  <a:pt x="731621" y="28575"/>
                </a:lnTo>
                <a:lnTo>
                  <a:pt x="729374" y="17455"/>
                </a:lnTo>
                <a:lnTo>
                  <a:pt x="723249" y="8372"/>
                </a:lnTo>
                <a:lnTo>
                  <a:pt x="714165" y="2246"/>
                </a:lnTo>
                <a:lnTo>
                  <a:pt x="703046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98600" y="4353429"/>
            <a:ext cx="660400" cy="181610"/>
          </a:xfrm>
          <a:custGeom>
            <a:avLst/>
            <a:gdLst/>
            <a:ahLst/>
            <a:cxnLst/>
            <a:rect l="l" t="t" r="r" b="b"/>
            <a:pathLst>
              <a:path w="660400" h="181610">
                <a:moveTo>
                  <a:pt x="631826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631826" y="181356"/>
                </a:lnTo>
                <a:lnTo>
                  <a:pt x="642945" y="179109"/>
                </a:lnTo>
                <a:lnTo>
                  <a:pt x="652028" y="172983"/>
                </a:lnTo>
                <a:lnTo>
                  <a:pt x="658154" y="163900"/>
                </a:lnTo>
                <a:lnTo>
                  <a:pt x="660401" y="152781"/>
                </a:lnTo>
                <a:lnTo>
                  <a:pt x="660401" y="28575"/>
                </a:lnTo>
                <a:lnTo>
                  <a:pt x="658154" y="17455"/>
                </a:lnTo>
                <a:lnTo>
                  <a:pt x="652028" y="8372"/>
                </a:lnTo>
                <a:lnTo>
                  <a:pt x="642945" y="2246"/>
                </a:lnTo>
                <a:lnTo>
                  <a:pt x="631826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43683" y="4353429"/>
            <a:ext cx="874394" cy="181610"/>
          </a:xfrm>
          <a:custGeom>
            <a:avLst/>
            <a:gdLst/>
            <a:ahLst/>
            <a:cxnLst/>
            <a:rect l="l" t="t" r="r" b="b"/>
            <a:pathLst>
              <a:path w="874394" h="181610">
                <a:moveTo>
                  <a:pt x="845491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845491" y="181356"/>
                </a:lnTo>
                <a:lnTo>
                  <a:pt x="856610" y="179109"/>
                </a:lnTo>
                <a:lnTo>
                  <a:pt x="865693" y="172983"/>
                </a:lnTo>
                <a:lnTo>
                  <a:pt x="871819" y="163900"/>
                </a:lnTo>
                <a:lnTo>
                  <a:pt x="874066" y="152781"/>
                </a:lnTo>
                <a:lnTo>
                  <a:pt x="874066" y="28575"/>
                </a:lnTo>
                <a:lnTo>
                  <a:pt x="871819" y="17455"/>
                </a:lnTo>
                <a:lnTo>
                  <a:pt x="865693" y="8372"/>
                </a:lnTo>
                <a:lnTo>
                  <a:pt x="856610" y="2246"/>
                </a:lnTo>
                <a:lnTo>
                  <a:pt x="845491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02433" y="4353429"/>
            <a:ext cx="518159" cy="181610"/>
          </a:xfrm>
          <a:custGeom>
            <a:avLst/>
            <a:gdLst/>
            <a:ahLst/>
            <a:cxnLst/>
            <a:rect l="l" t="t" r="r" b="b"/>
            <a:pathLst>
              <a:path w="518160" h="181610">
                <a:moveTo>
                  <a:pt x="489383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489383" y="181356"/>
                </a:lnTo>
                <a:lnTo>
                  <a:pt x="500502" y="179109"/>
                </a:lnTo>
                <a:lnTo>
                  <a:pt x="509585" y="172983"/>
                </a:lnTo>
                <a:lnTo>
                  <a:pt x="515711" y="163900"/>
                </a:lnTo>
                <a:lnTo>
                  <a:pt x="517958" y="152781"/>
                </a:lnTo>
                <a:lnTo>
                  <a:pt x="517958" y="28575"/>
                </a:lnTo>
                <a:lnTo>
                  <a:pt x="515711" y="17455"/>
                </a:lnTo>
                <a:lnTo>
                  <a:pt x="509585" y="8372"/>
                </a:lnTo>
                <a:lnTo>
                  <a:pt x="500502" y="2246"/>
                </a:lnTo>
                <a:lnTo>
                  <a:pt x="489383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24633" y="7335959"/>
            <a:ext cx="732155" cy="181610"/>
          </a:xfrm>
          <a:custGeom>
            <a:avLst/>
            <a:gdLst/>
            <a:ahLst/>
            <a:cxnLst/>
            <a:rect l="l" t="t" r="r" b="b"/>
            <a:pathLst>
              <a:path w="732154" h="181609">
                <a:moveTo>
                  <a:pt x="703046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703046" y="181356"/>
                </a:lnTo>
                <a:lnTo>
                  <a:pt x="714165" y="179109"/>
                </a:lnTo>
                <a:lnTo>
                  <a:pt x="723249" y="172983"/>
                </a:lnTo>
                <a:lnTo>
                  <a:pt x="729374" y="163900"/>
                </a:lnTo>
                <a:lnTo>
                  <a:pt x="731621" y="152781"/>
                </a:lnTo>
                <a:lnTo>
                  <a:pt x="731621" y="28575"/>
                </a:lnTo>
                <a:lnTo>
                  <a:pt x="729374" y="17455"/>
                </a:lnTo>
                <a:lnTo>
                  <a:pt x="723249" y="8372"/>
                </a:lnTo>
                <a:lnTo>
                  <a:pt x="714165" y="2246"/>
                </a:lnTo>
                <a:lnTo>
                  <a:pt x="703046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15689" y="7335959"/>
            <a:ext cx="803275" cy="181610"/>
          </a:xfrm>
          <a:custGeom>
            <a:avLst/>
            <a:gdLst/>
            <a:ahLst/>
            <a:cxnLst/>
            <a:rect l="l" t="t" r="r" b="b"/>
            <a:pathLst>
              <a:path w="803275" h="181609">
                <a:moveTo>
                  <a:pt x="774269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774269" y="181356"/>
                </a:lnTo>
                <a:lnTo>
                  <a:pt x="785388" y="179109"/>
                </a:lnTo>
                <a:lnTo>
                  <a:pt x="794471" y="172983"/>
                </a:lnTo>
                <a:lnTo>
                  <a:pt x="800597" y="163900"/>
                </a:lnTo>
                <a:lnTo>
                  <a:pt x="802844" y="152781"/>
                </a:lnTo>
                <a:lnTo>
                  <a:pt x="802844" y="28575"/>
                </a:lnTo>
                <a:lnTo>
                  <a:pt x="800597" y="17455"/>
                </a:lnTo>
                <a:lnTo>
                  <a:pt x="794471" y="8372"/>
                </a:lnTo>
                <a:lnTo>
                  <a:pt x="785388" y="2246"/>
                </a:lnTo>
                <a:lnTo>
                  <a:pt x="774269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03217" y="7335959"/>
            <a:ext cx="589280" cy="181610"/>
          </a:xfrm>
          <a:custGeom>
            <a:avLst/>
            <a:gdLst/>
            <a:ahLst/>
            <a:cxnLst/>
            <a:rect l="l" t="t" r="r" b="b"/>
            <a:pathLst>
              <a:path w="589279" h="181609">
                <a:moveTo>
                  <a:pt x="560603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560603" y="181356"/>
                </a:lnTo>
                <a:lnTo>
                  <a:pt x="571722" y="179109"/>
                </a:lnTo>
                <a:lnTo>
                  <a:pt x="580805" y="172983"/>
                </a:lnTo>
                <a:lnTo>
                  <a:pt x="586931" y="163900"/>
                </a:lnTo>
                <a:lnTo>
                  <a:pt x="589178" y="152781"/>
                </a:lnTo>
                <a:lnTo>
                  <a:pt x="589178" y="28575"/>
                </a:lnTo>
                <a:lnTo>
                  <a:pt x="586931" y="17455"/>
                </a:lnTo>
                <a:lnTo>
                  <a:pt x="580805" y="8372"/>
                </a:lnTo>
                <a:lnTo>
                  <a:pt x="571722" y="2246"/>
                </a:lnTo>
                <a:lnTo>
                  <a:pt x="560603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73100" y="3758694"/>
            <a:ext cx="6382385" cy="423354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828040" indent="-158750">
              <a:lnSpc>
                <a:spcPct val="100000"/>
              </a:lnSpc>
              <a:spcBef>
                <a:spcPts val="5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dirty="0" sz="1200" spc="-5" b="1">
                <a:latin typeface="MS Gothic"/>
                <a:cs typeface="MS Gothic"/>
              </a:rPr>
              <a:t>第一范式</a:t>
            </a:r>
            <a:r>
              <a:rPr dirty="0" sz="1200" spc="-305" b="1">
                <a:latin typeface="MS Gothic"/>
                <a:cs typeface="MS Gothic"/>
              </a:rPr>
              <a:t> </a:t>
            </a:r>
            <a:r>
              <a:rPr dirty="0" sz="1200" b="1">
                <a:latin typeface="Arial"/>
                <a:cs typeface="Arial"/>
              </a:rPr>
              <a:t>(1NF)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: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所有列的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值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都是原子的，没有重复的列。</a:t>
            </a:r>
            <a:endParaRPr sz="1200">
              <a:latin typeface="MS Gothic"/>
              <a:cs typeface="MS Gothic"/>
            </a:endParaRPr>
          </a:p>
          <a:p>
            <a:pPr marL="828040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dirty="0" sz="1200" spc="-5" b="1">
                <a:latin typeface="MS Gothic"/>
                <a:cs typeface="MS Gothic"/>
              </a:rPr>
              <a:t>第二范式</a:t>
            </a:r>
            <a:r>
              <a:rPr dirty="0" sz="1200" spc="-305" b="1">
                <a:latin typeface="MS Gothic"/>
                <a:cs typeface="MS Gothic"/>
              </a:rPr>
              <a:t> </a:t>
            </a:r>
            <a:r>
              <a:rPr dirty="0" sz="1200" b="1">
                <a:latin typeface="Arial"/>
                <a:cs typeface="Arial"/>
              </a:rPr>
              <a:t>(2NF)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dirty="0" sz="120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spc="5">
                <a:latin typeface="Consolas"/>
                <a:cs typeface="Consolas"/>
              </a:rPr>
              <a:t>OrderID</a:t>
            </a:r>
            <a:r>
              <a:rPr dirty="0" sz="1000" spc="14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是主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，所有非主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列</a:t>
            </a:r>
            <a:r>
              <a:rPr dirty="0" sz="1200" spc="-27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(</a:t>
            </a:r>
            <a:r>
              <a:rPr dirty="0" sz="120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spc="5">
                <a:latin typeface="Consolas"/>
                <a:cs typeface="Consolas"/>
              </a:rPr>
              <a:t>ConsumerID</a:t>
            </a:r>
            <a:r>
              <a:rPr dirty="0" sz="1000" spc="-19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dirty="0" sz="120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spc="5">
                <a:latin typeface="Consolas"/>
                <a:cs typeface="Consolas"/>
              </a:rPr>
              <a:t>ProductID</a:t>
            </a:r>
            <a:r>
              <a:rPr dirty="0" sz="1000" spc="-19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870585">
              <a:lnSpc>
                <a:spcPct val="100000"/>
              </a:lnSpc>
              <a:spcBef>
                <a:spcPts val="505"/>
              </a:spcBef>
            </a:pPr>
            <a:r>
              <a:rPr dirty="0" sz="1000" spc="5">
                <a:latin typeface="Consolas"/>
                <a:cs typeface="Consolas"/>
              </a:rPr>
              <a:t>Quantity</a:t>
            </a:r>
            <a:r>
              <a:rPr dirty="0" sz="1000" spc="-19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dirty="0" sz="1200" spc="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spc="5">
                <a:latin typeface="Consolas"/>
                <a:cs typeface="Consolas"/>
              </a:rPr>
              <a:t>TotalAmount</a:t>
            </a:r>
            <a:r>
              <a:rPr dirty="0" sz="1000" spc="-18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dirty="0" sz="120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spc="5">
                <a:latin typeface="Consolas"/>
                <a:cs typeface="Consolas"/>
              </a:rPr>
              <a:t>Status</a:t>
            </a:r>
            <a:r>
              <a:rPr dirty="0" sz="1000" spc="-19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)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完全依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8040" indent="-158750">
              <a:lnSpc>
                <a:spcPct val="100000"/>
              </a:lnSpc>
              <a:spcBef>
                <a:spcPts val="50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dirty="0" sz="1200" spc="-5" b="1">
                <a:latin typeface="MS Gothic"/>
                <a:cs typeface="MS Gothic"/>
              </a:rPr>
              <a:t>第三范式</a:t>
            </a:r>
            <a:r>
              <a:rPr dirty="0" sz="1200" spc="-305" b="1">
                <a:latin typeface="MS Gothic"/>
                <a:cs typeface="MS Gothic"/>
              </a:rPr>
              <a:t> </a:t>
            </a:r>
            <a:r>
              <a:rPr dirty="0" sz="1200" b="1">
                <a:latin typeface="Arial"/>
                <a:cs typeface="Arial"/>
              </a:rPr>
              <a:t>(3NF)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所有非主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列直接依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，没有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300">
              <a:latin typeface="MS Gothic"/>
              <a:cs typeface="MS Gothic"/>
            </a:endParaRPr>
          </a:p>
          <a:p>
            <a:pPr marL="224154" indent="-212090">
              <a:lnSpc>
                <a:spcPct val="100000"/>
              </a:lnSpc>
              <a:buFont typeface="Arial"/>
              <a:buAutoNum type="arabicPeriod" startAt="5"/>
              <a:tabLst>
                <a:tab pos="224790" algn="l"/>
              </a:tabLst>
            </a:pPr>
            <a:r>
              <a:rPr dirty="0" sz="1500" spc="-5" b="1">
                <a:latin typeface="Arial"/>
                <a:cs typeface="Arial"/>
              </a:rPr>
              <a:t>Addresse</a:t>
            </a:r>
            <a:r>
              <a:rPr dirty="0" sz="1500" spc="-5" b="1">
                <a:latin typeface="Arial"/>
                <a:cs typeface="Arial"/>
              </a:rPr>
              <a:t>s</a:t>
            </a:r>
            <a:r>
              <a:rPr dirty="0" sz="1500" spc="30" b="1">
                <a:latin typeface="Arial"/>
                <a:cs typeface="Arial"/>
              </a:rPr>
              <a:t> </a:t>
            </a:r>
            <a:r>
              <a:rPr dirty="0" sz="1500" spc="-10" b="1">
                <a:latin typeface="MS Gothic"/>
                <a:cs typeface="MS Gothic"/>
              </a:rPr>
              <a:t>表</a:t>
            </a:r>
            <a:endParaRPr sz="15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AutoNum type="arabicPeriod" startAt="5"/>
            </a:pPr>
            <a:endParaRPr sz="1450">
              <a:latin typeface="MS Gothic"/>
              <a:cs typeface="MS Gothic"/>
            </a:endParaRPr>
          </a:p>
          <a:p>
            <a:pPr marL="419100" marR="4103370" indent="-285115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dirty="0" sz="1000" spc="5">
                <a:latin typeface="Consolas"/>
                <a:cs typeface="Consolas"/>
              </a:rPr>
              <a:t>Addresses 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(  </a:t>
            </a:r>
            <a:r>
              <a:rPr dirty="0" sz="1000" spc="5">
                <a:latin typeface="Consolas"/>
                <a:cs typeface="Consolas"/>
              </a:rPr>
              <a:t>AddressID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INT PRIMARY</a:t>
            </a:r>
            <a:r>
              <a:rPr dirty="0" sz="1000" spc="-2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KEY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 marR="3818254">
              <a:lnSpc>
                <a:spcPct val="140000"/>
              </a:lnSpc>
            </a:pPr>
            <a:r>
              <a:rPr dirty="0" sz="1000" spc="5">
                <a:latin typeface="Consolas"/>
                <a:cs typeface="Consolas"/>
              </a:rPr>
              <a:t>ConsumerID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INT NOT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dirty="0" sz="1000" spc="5">
                <a:latin typeface="Consolas"/>
                <a:cs typeface="Consolas"/>
              </a:rPr>
              <a:t>Address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255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dirty="0" sz="1000" spc="-1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FOREIGN KEY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ConsumerID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REFERENCES </a:t>
            </a:r>
            <a:r>
              <a:rPr dirty="0" sz="1000" spc="5">
                <a:latin typeface="Consolas"/>
                <a:cs typeface="Consolas"/>
              </a:rPr>
              <a:t>Consumers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ConsumerID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ON DELETE</a:t>
            </a:r>
            <a:r>
              <a:rPr dirty="0" sz="1000" spc="7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CASCADE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Consolas"/>
              <a:cs typeface="Consolas"/>
            </a:endParaRPr>
          </a:p>
          <a:p>
            <a:pPr lvl="1" marL="828040" indent="-158750">
              <a:lnSpc>
                <a:spcPct val="100000"/>
              </a:lnSpc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dirty="0" sz="1200" spc="-5" b="1">
                <a:latin typeface="MS Gothic"/>
                <a:cs typeface="MS Gothic"/>
              </a:rPr>
              <a:t>第一范式</a:t>
            </a:r>
            <a:r>
              <a:rPr dirty="0" sz="1200" spc="-305" b="1">
                <a:latin typeface="MS Gothic"/>
                <a:cs typeface="MS Gothic"/>
              </a:rPr>
              <a:t> </a:t>
            </a:r>
            <a:r>
              <a:rPr dirty="0" sz="1200" b="1">
                <a:latin typeface="Arial"/>
                <a:cs typeface="Arial"/>
              </a:rPr>
              <a:t>(1NF)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: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所有列的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值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都是原子的，没有重复的列。</a:t>
            </a:r>
            <a:endParaRPr sz="1200">
              <a:latin typeface="MS Gothic"/>
              <a:cs typeface="MS Gothic"/>
            </a:endParaRPr>
          </a:p>
          <a:p>
            <a:pPr lvl="1" marL="828040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dirty="0" sz="1200" spc="-5" b="1">
                <a:latin typeface="MS Gothic"/>
                <a:cs typeface="MS Gothic"/>
              </a:rPr>
              <a:t>第二范式</a:t>
            </a:r>
            <a:r>
              <a:rPr dirty="0" sz="1200" spc="-305" b="1">
                <a:latin typeface="MS Gothic"/>
                <a:cs typeface="MS Gothic"/>
              </a:rPr>
              <a:t> </a:t>
            </a:r>
            <a:r>
              <a:rPr dirty="0" sz="1200" b="1">
                <a:latin typeface="Arial"/>
                <a:cs typeface="Arial"/>
              </a:rPr>
              <a:t>(2NF)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dirty="0" sz="1200" spc="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spc="5">
                <a:latin typeface="Consolas"/>
                <a:cs typeface="Consolas"/>
              </a:rPr>
              <a:t>AddressID</a:t>
            </a:r>
            <a:r>
              <a:rPr dirty="0" sz="1000" spc="13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是主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，所有非主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列</a:t>
            </a:r>
            <a:r>
              <a:rPr dirty="0" sz="1200" spc="-275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(</a:t>
            </a:r>
            <a:r>
              <a:rPr dirty="0" sz="120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spc="5">
                <a:latin typeface="Consolas"/>
                <a:cs typeface="Consolas"/>
              </a:rPr>
              <a:t>ConsumerID</a:t>
            </a:r>
            <a:r>
              <a:rPr dirty="0" sz="1000" spc="-19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dirty="0" sz="1200" spc="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spc="5">
                <a:latin typeface="Consolas"/>
                <a:cs typeface="Consolas"/>
              </a:rPr>
              <a:t>Address</a:t>
            </a:r>
            <a:r>
              <a:rPr dirty="0" sz="1000" spc="-19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)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完全依</a:t>
            </a:r>
            <a:endParaRPr sz="1200">
              <a:latin typeface="MS Gothic"/>
              <a:cs typeface="MS Gothic"/>
            </a:endParaRPr>
          </a:p>
          <a:p>
            <a:pPr marL="825500">
              <a:lnSpc>
                <a:spcPct val="100000"/>
              </a:lnSpc>
              <a:spcBef>
                <a:spcPts val="50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lvl="1" marL="828040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dirty="0" sz="1200" spc="-5" b="1">
                <a:latin typeface="MS Gothic"/>
                <a:cs typeface="MS Gothic"/>
              </a:rPr>
              <a:t>第三范式</a:t>
            </a:r>
            <a:r>
              <a:rPr dirty="0" sz="1200" spc="-305" b="1">
                <a:latin typeface="MS Gothic"/>
                <a:cs typeface="MS Gothic"/>
              </a:rPr>
              <a:t> </a:t>
            </a:r>
            <a:r>
              <a:rPr dirty="0" sz="1200" b="1">
                <a:latin typeface="Arial"/>
                <a:cs typeface="Arial"/>
              </a:rPr>
              <a:t>(3NF)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所有非主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列直接依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，没有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066800"/>
            <a:ext cx="6400800" cy="1737360"/>
          </a:xfrm>
          <a:custGeom>
            <a:avLst/>
            <a:gdLst/>
            <a:ahLst/>
            <a:cxnLst/>
            <a:rect l="l" t="t" r="r" b="b"/>
            <a:pathLst>
              <a:path w="6400800" h="173736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708784"/>
                </a:lnTo>
                <a:lnTo>
                  <a:pt x="2246" y="1719904"/>
                </a:lnTo>
                <a:lnTo>
                  <a:pt x="8372" y="1728987"/>
                </a:lnTo>
                <a:lnTo>
                  <a:pt x="17455" y="1735113"/>
                </a:lnTo>
                <a:lnTo>
                  <a:pt x="28575" y="1737359"/>
                </a:lnTo>
                <a:lnTo>
                  <a:pt x="6372225" y="1737359"/>
                </a:lnTo>
                <a:lnTo>
                  <a:pt x="6383344" y="1735113"/>
                </a:lnTo>
                <a:lnTo>
                  <a:pt x="6392427" y="1728987"/>
                </a:lnTo>
                <a:lnTo>
                  <a:pt x="6398553" y="1719904"/>
                </a:lnTo>
                <a:lnTo>
                  <a:pt x="6400800" y="1708784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624633" y="3253040"/>
            <a:ext cx="732155" cy="181610"/>
          </a:xfrm>
          <a:custGeom>
            <a:avLst/>
            <a:gdLst/>
            <a:ahLst/>
            <a:cxnLst/>
            <a:rect l="l" t="t" r="r" b="b"/>
            <a:pathLst>
              <a:path w="732154" h="181610">
                <a:moveTo>
                  <a:pt x="703046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03046" y="181355"/>
                </a:lnTo>
                <a:lnTo>
                  <a:pt x="714165" y="179109"/>
                </a:lnTo>
                <a:lnTo>
                  <a:pt x="723249" y="172983"/>
                </a:lnTo>
                <a:lnTo>
                  <a:pt x="729374" y="163900"/>
                </a:lnTo>
                <a:lnTo>
                  <a:pt x="731621" y="152780"/>
                </a:lnTo>
                <a:lnTo>
                  <a:pt x="731621" y="28575"/>
                </a:lnTo>
                <a:lnTo>
                  <a:pt x="729374" y="17455"/>
                </a:lnTo>
                <a:lnTo>
                  <a:pt x="723249" y="8372"/>
                </a:lnTo>
                <a:lnTo>
                  <a:pt x="714165" y="2246"/>
                </a:lnTo>
                <a:lnTo>
                  <a:pt x="703046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015689" y="3253040"/>
            <a:ext cx="589280" cy="181610"/>
          </a:xfrm>
          <a:custGeom>
            <a:avLst/>
            <a:gdLst/>
            <a:ahLst/>
            <a:cxnLst/>
            <a:rect l="l" t="t" r="r" b="b"/>
            <a:pathLst>
              <a:path w="589279" h="181610">
                <a:moveTo>
                  <a:pt x="560604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560604" y="181355"/>
                </a:lnTo>
                <a:lnTo>
                  <a:pt x="571723" y="179109"/>
                </a:lnTo>
                <a:lnTo>
                  <a:pt x="580807" y="172983"/>
                </a:lnTo>
                <a:lnTo>
                  <a:pt x="586932" y="163900"/>
                </a:lnTo>
                <a:lnTo>
                  <a:pt x="589179" y="152780"/>
                </a:lnTo>
                <a:lnTo>
                  <a:pt x="589179" y="28575"/>
                </a:lnTo>
                <a:lnTo>
                  <a:pt x="586932" y="17455"/>
                </a:lnTo>
                <a:lnTo>
                  <a:pt x="580807" y="8372"/>
                </a:lnTo>
                <a:lnTo>
                  <a:pt x="571723" y="2246"/>
                </a:lnTo>
                <a:lnTo>
                  <a:pt x="560604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89553" y="3253040"/>
            <a:ext cx="518159" cy="181610"/>
          </a:xfrm>
          <a:custGeom>
            <a:avLst/>
            <a:gdLst/>
            <a:ahLst/>
            <a:cxnLst/>
            <a:rect l="l" t="t" r="r" b="b"/>
            <a:pathLst>
              <a:path w="518160" h="181610">
                <a:moveTo>
                  <a:pt x="489381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489381" y="181355"/>
                </a:lnTo>
                <a:lnTo>
                  <a:pt x="500501" y="179109"/>
                </a:lnTo>
                <a:lnTo>
                  <a:pt x="509584" y="172983"/>
                </a:lnTo>
                <a:lnTo>
                  <a:pt x="515710" y="163900"/>
                </a:lnTo>
                <a:lnTo>
                  <a:pt x="517956" y="152780"/>
                </a:lnTo>
                <a:lnTo>
                  <a:pt x="517956" y="28575"/>
                </a:lnTo>
                <a:lnTo>
                  <a:pt x="515710" y="17455"/>
                </a:lnTo>
                <a:lnTo>
                  <a:pt x="509584" y="8372"/>
                </a:lnTo>
                <a:lnTo>
                  <a:pt x="500501" y="2246"/>
                </a:lnTo>
                <a:lnTo>
                  <a:pt x="489381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98600" y="3499989"/>
            <a:ext cx="1016635" cy="181610"/>
          </a:xfrm>
          <a:custGeom>
            <a:avLst/>
            <a:gdLst/>
            <a:ahLst/>
            <a:cxnLst/>
            <a:rect l="l" t="t" r="r" b="b"/>
            <a:pathLst>
              <a:path w="1016635" h="181610">
                <a:moveTo>
                  <a:pt x="987934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1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6"/>
                </a:lnTo>
                <a:lnTo>
                  <a:pt x="987934" y="181356"/>
                </a:lnTo>
                <a:lnTo>
                  <a:pt x="999053" y="179109"/>
                </a:lnTo>
                <a:lnTo>
                  <a:pt x="1008136" y="172983"/>
                </a:lnTo>
                <a:lnTo>
                  <a:pt x="1014262" y="163900"/>
                </a:lnTo>
                <a:lnTo>
                  <a:pt x="1016509" y="152781"/>
                </a:lnTo>
                <a:lnTo>
                  <a:pt x="1016509" y="28575"/>
                </a:lnTo>
                <a:lnTo>
                  <a:pt x="1014262" y="17455"/>
                </a:lnTo>
                <a:lnTo>
                  <a:pt x="1008136" y="8372"/>
                </a:lnTo>
                <a:lnTo>
                  <a:pt x="999053" y="2246"/>
                </a:lnTo>
                <a:lnTo>
                  <a:pt x="987934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73100" y="662942"/>
            <a:ext cx="6228080" cy="8568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4154" indent="-212090">
              <a:lnSpc>
                <a:spcPct val="100000"/>
              </a:lnSpc>
              <a:spcBef>
                <a:spcPts val="100"/>
              </a:spcBef>
              <a:buFont typeface="Arial"/>
              <a:buAutoNum type="arabicPeriod" startAt="6"/>
              <a:tabLst>
                <a:tab pos="224790" algn="l"/>
              </a:tabLst>
            </a:pPr>
            <a:r>
              <a:rPr dirty="0" sz="1500" spc="-5" b="1">
                <a:latin typeface="Arial"/>
                <a:cs typeface="Arial"/>
              </a:rPr>
              <a:t>Payment</a:t>
            </a:r>
            <a:r>
              <a:rPr dirty="0" sz="1500" spc="-5" b="1">
                <a:latin typeface="Arial"/>
                <a:cs typeface="Arial"/>
              </a:rPr>
              <a:t>s</a:t>
            </a:r>
            <a:r>
              <a:rPr dirty="0" sz="1500" spc="45" b="1">
                <a:latin typeface="Arial"/>
                <a:cs typeface="Arial"/>
              </a:rPr>
              <a:t> </a:t>
            </a:r>
            <a:r>
              <a:rPr dirty="0" sz="1500" spc="-10" b="1">
                <a:latin typeface="MS Gothic"/>
                <a:cs typeface="MS Gothic"/>
              </a:rPr>
              <a:t>表</a:t>
            </a:r>
            <a:endParaRPr sz="15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AutoNum type="arabicPeriod" startAt="6"/>
            </a:pPr>
            <a:endParaRPr sz="1450">
              <a:latin typeface="MS Gothic"/>
              <a:cs typeface="MS Gothic"/>
            </a:endParaRPr>
          </a:p>
          <a:p>
            <a:pPr marL="419100" marR="3948429" indent="-285115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dirty="0" sz="1000" spc="5">
                <a:latin typeface="Consolas"/>
                <a:cs typeface="Consolas"/>
              </a:rPr>
              <a:t>Payments 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(  </a:t>
            </a:r>
            <a:r>
              <a:rPr dirty="0" sz="1000" spc="5">
                <a:latin typeface="Consolas"/>
                <a:cs typeface="Consolas"/>
              </a:rPr>
              <a:t>PaymentID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INT PRIMARY KEY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dirty="0" sz="1000" spc="5">
                <a:latin typeface="Consolas"/>
                <a:cs typeface="Consolas"/>
              </a:rPr>
              <a:t>OrderID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INT NOT</a:t>
            </a:r>
            <a:r>
              <a:rPr dirty="0" sz="100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latin typeface="Consolas"/>
                <a:cs typeface="Consolas"/>
              </a:rPr>
              <a:t>Amount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DECIMAL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10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dirty="0" sz="1000" spc="2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latin typeface="Consolas"/>
                <a:cs typeface="Consolas"/>
              </a:rPr>
              <a:t>PaymentMethod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50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dirty="0" sz="1000" spc="2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FOREIGN KEY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OrderID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REFERENCES </a:t>
            </a:r>
            <a:r>
              <a:rPr dirty="0" sz="1000" spc="5">
                <a:latin typeface="Consolas"/>
                <a:cs typeface="Consolas"/>
              </a:rPr>
              <a:t>Orders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OrderID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ON DELETE</a:t>
            </a:r>
            <a:r>
              <a:rPr dirty="0" sz="1000" spc="6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CASCADE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Consolas"/>
              <a:cs typeface="Consolas"/>
            </a:endParaRPr>
          </a:p>
          <a:p>
            <a:pPr lvl="1" marL="828040" indent="-158750">
              <a:lnSpc>
                <a:spcPct val="100000"/>
              </a:lnSpc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dirty="0" sz="1200" spc="-5" b="1">
                <a:latin typeface="MS Gothic"/>
                <a:cs typeface="MS Gothic"/>
              </a:rPr>
              <a:t>第一范式</a:t>
            </a:r>
            <a:r>
              <a:rPr dirty="0" sz="1200" spc="-305" b="1">
                <a:latin typeface="MS Gothic"/>
                <a:cs typeface="MS Gothic"/>
              </a:rPr>
              <a:t> </a:t>
            </a:r>
            <a:r>
              <a:rPr dirty="0" sz="1200" b="1">
                <a:latin typeface="Arial"/>
                <a:cs typeface="Arial"/>
              </a:rPr>
              <a:t>(1NF)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: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所有列的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值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都是原子的，没有重复的列。</a:t>
            </a:r>
            <a:endParaRPr sz="1200">
              <a:latin typeface="MS Gothic"/>
              <a:cs typeface="MS Gothic"/>
            </a:endParaRPr>
          </a:p>
          <a:p>
            <a:pPr lvl="1" marL="828040" indent="-158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dirty="0" sz="1200" spc="-5" b="1">
                <a:latin typeface="MS Gothic"/>
                <a:cs typeface="MS Gothic"/>
              </a:rPr>
              <a:t>第二范式</a:t>
            </a:r>
            <a:r>
              <a:rPr dirty="0" sz="1200" spc="-305" b="1">
                <a:latin typeface="MS Gothic"/>
                <a:cs typeface="MS Gothic"/>
              </a:rPr>
              <a:t> </a:t>
            </a:r>
            <a:r>
              <a:rPr dirty="0" sz="1200" b="1">
                <a:latin typeface="Arial"/>
                <a:cs typeface="Arial"/>
              </a:rPr>
              <a:t>(2NF)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dirty="0" sz="120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spc="5">
                <a:latin typeface="Consolas"/>
                <a:cs typeface="Consolas"/>
              </a:rPr>
              <a:t>PaymentID</a:t>
            </a:r>
            <a:r>
              <a:rPr dirty="0" sz="1000" spc="14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是主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，所有非主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列</a:t>
            </a:r>
            <a:r>
              <a:rPr dirty="0" sz="1200" spc="-27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(</a:t>
            </a:r>
            <a:r>
              <a:rPr dirty="0" sz="120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spc="5">
                <a:latin typeface="Consolas"/>
                <a:cs typeface="Consolas"/>
              </a:rPr>
              <a:t>OrderID</a:t>
            </a:r>
            <a:r>
              <a:rPr dirty="0" sz="1000" spc="-19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,</a:t>
            </a:r>
            <a:r>
              <a:rPr dirty="0" sz="120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spc="5">
                <a:latin typeface="Consolas"/>
                <a:cs typeface="Consolas"/>
              </a:rPr>
              <a:t>Amount</a:t>
            </a:r>
            <a:r>
              <a:rPr dirty="0" sz="1000" spc="-19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,</a:t>
            </a:r>
            <a:endParaRPr sz="1200">
              <a:latin typeface="Arial"/>
              <a:cs typeface="Arial"/>
            </a:endParaRPr>
          </a:p>
          <a:p>
            <a:pPr marL="870585">
              <a:lnSpc>
                <a:spcPct val="100000"/>
              </a:lnSpc>
              <a:spcBef>
                <a:spcPts val="505"/>
              </a:spcBef>
            </a:pPr>
            <a:r>
              <a:rPr dirty="0" sz="1000" spc="5">
                <a:latin typeface="Consolas"/>
                <a:cs typeface="Consolas"/>
              </a:rPr>
              <a:t>PaymentMethod</a:t>
            </a:r>
            <a:r>
              <a:rPr dirty="0" sz="1000" spc="-19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)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完全依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lvl="1" marL="828040" indent="-158750">
              <a:lnSpc>
                <a:spcPct val="100000"/>
              </a:lnSpc>
              <a:spcBef>
                <a:spcPts val="505"/>
              </a:spcBef>
              <a:buClr>
                <a:srgbClr val="333333"/>
              </a:buClr>
              <a:buFont typeface="Arial"/>
              <a:buChar char="•"/>
              <a:tabLst>
                <a:tab pos="828675" algn="l"/>
              </a:tabLst>
            </a:pPr>
            <a:r>
              <a:rPr dirty="0" sz="1200" spc="-5" b="1">
                <a:latin typeface="MS Gothic"/>
                <a:cs typeface="MS Gothic"/>
              </a:rPr>
              <a:t>第三范式</a:t>
            </a:r>
            <a:r>
              <a:rPr dirty="0" sz="1200" spc="-305" b="1">
                <a:latin typeface="MS Gothic"/>
                <a:cs typeface="MS Gothic"/>
              </a:rPr>
              <a:t> </a:t>
            </a:r>
            <a:r>
              <a:rPr dirty="0" sz="1200" b="1">
                <a:latin typeface="Arial"/>
                <a:cs typeface="Arial"/>
              </a:rPr>
              <a:t>(3NF)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: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所有非主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列直接依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，没有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Clr>
                <a:srgbClr val="333333"/>
              </a:buClr>
              <a:buFont typeface="Arial"/>
              <a:buChar char="•"/>
            </a:pPr>
            <a:endParaRPr sz="13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</a:pPr>
            <a:r>
              <a:rPr dirty="0" sz="1500" spc="-5" b="1">
                <a:latin typeface="Arial"/>
                <a:cs typeface="Arial"/>
              </a:rPr>
              <a:t>BCNF</a:t>
            </a:r>
            <a:r>
              <a:rPr dirty="0" sz="1500" spc="30" b="1">
                <a:latin typeface="微软雅黑"/>
                <a:cs typeface="微软雅黑"/>
              </a:rPr>
              <a:t>证</a:t>
            </a:r>
            <a:r>
              <a:rPr dirty="0" sz="1500" spc="-10" b="1">
                <a:latin typeface="MS Gothic"/>
                <a:cs typeface="MS Gothic"/>
              </a:rPr>
              <a:t>明</a:t>
            </a:r>
            <a:endParaRPr sz="15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所有表都符合以下条件：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MS Gothic"/>
              <a:cs typeface="MS Gothic"/>
            </a:endParaRPr>
          </a:p>
          <a:p>
            <a:pPr lvl="1" marL="825500" indent="-155575">
              <a:lnSpc>
                <a:spcPct val="100000"/>
              </a:lnSpc>
              <a:buFont typeface="Arial"/>
              <a:buChar char="•"/>
              <a:tabLst>
                <a:tab pos="825500" algn="l"/>
              </a:tabLst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每个表中的所有属性都是原子的，没有重复的列，符合第一范式</a:t>
            </a:r>
            <a:r>
              <a:rPr dirty="0" sz="1200" spc="-28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(1NF)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lvl="1" marL="825500" indent="-15557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825500" algn="l"/>
              </a:tabLst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每个表的非主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属性完全依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，符合第二范式</a:t>
            </a:r>
            <a:r>
              <a:rPr dirty="0" sz="1200" spc="-275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(2NF)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lvl="1" marL="825500" indent="-15557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825500" algn="l"/>
              </a:tabLst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每个表的非主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属性没有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传递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，直接依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赖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于主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，符合第三范式</a:t>
            </a:r>
            <a:r>
              <a:rPr dirty="0" sz="1200" spc="-285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(3NF)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此外，由于所有表的候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选键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都只有一个，因此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这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些表也符合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BCNF</a:t>
            </a:r>
            <a:r>
              <a:rPr dirty="0" sz="1200" spc="-5">
                <a:solidFill>
                  <a:srgbClr val="333333"/>
                </a:solidFill>
                <a:latin typeface="MS Gothic"/>
                <a:cs typeface="MS Gothic"/>
              </a:rPr>
              <a:t>（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Boyce-Codd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范式）。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MS Gothic"/>
              <a:cs typeface="MS Gothic"/>
            </a:endParaRPr>
          </a:p>
          <a:p>
            <a:pPr marL="17145" marR="5080" indent="-5080">
              <a:lnSpc>
                <a:spcPct val="100000"/>
              </a:lnSpc>
              <a:buFont typeface="Arial"/>
              <a:buAutoNum type="arabicPeriod" startAt="2"/>
              <a:tabLst>
                <a:tab pos="267335" algn="l"/>
              </a:tabLst>
            </a:pPr>
            <a:r>
              <a:rPr dirty="0" sz="1800" b="1">
                <a:latin typeface="微软雅黑"/>
                <a:cs typeface="微软雅黑"/>
              </a:rPr>
              <a:t>实</a:t>
            </a:r>
            <a:r>
              <a:rPr dirty="0" sz="1800" spc="35" b="1">
                <a:latin typeface="微软雅黑"/>
                <a:cs typeface="微软雅黑"/>
              </a:rPr>
              <a:t>现</a:t>
            </a:r>
            <a:r>
              <a:rPr dirty="0" sz="1800" spc="-10" b="1">
                <a:latin typeface="MS Gothic"/>
                <a:cs typeface="MS Gothic"/>
              </a:rPr>
              <a:t>表的</a:t>
            </a:r>
            <a:r>
              <a:rPr dirty="0" sz="1800" spc="-50" b="1">
                <a:latin typeface="MS Gothic"/>
                <a:cs typeface="MS Gothic"/>
              </a:rPr>
              <a:t>增</a:t>
            </a:r>
            <a:r>
              <a:rPr dirty="0" sz="1800" spc="35" b="1">
                <a:latin typeface="微软雅黑"/>
                <a:cs typeface="微软雅黑"/>
              </a:rPr>
              <a:t>删</a:t>
            </a:r>
            <a:r>
              <a:rPr dirty="0" sz="1800" spc="-50" b="1">
                <a:latin typeface="MS Gothic"/>
                <a:cs typeface="MS Gothic"/>
              </a:rPr>
              <a:t>改</a:t>
            </a:r>
            <a:r>
              <a:rPr dirty="0" sz="1800" spc="35" b="1">
                <a:latin typeface="微软雅黑"/>
                <a:cs typeface="微软雅黑"/>
              </a:rPr>
              <a:t>查</a:t>
            </a:r>
            <a:r>
              <a:rPr dirty="0" sz="1800" spc="-10" b="1">
                <a:latin typeface="MS Gothic"/>
                <a:cs typeface="MS Gothic"/>
              </a:rPr>
              <a:t>，提交了功能需求</a:t>
            </a:r>
            <a:r>
              <a:rPr dirty="0" sz="1800" spc="-50" b="1">
                <a:latin typeface="MS Gothic"/>
                <a:cs typeface="MS Gothic"/>
              </a:rPr>
              <a:t>和</a:t>
            </a:r>
            <a:r>
              <a:rPr dirty="0" sz="1800" b="1">
                <a:latin typeface="微软雅黑"/>
                <a:cs typeface="微软雅黑"/>
              </a:rPr>
              <a:t>设计</a:t>
            </a:r>
            <a:r>
              <a:rPr dirty="0" sz="1800" spc="35" b="1">
                <a:latin typeface="微软雅黑"/>
                <a:cs typeface="微软雅黑"/>
              </a:rPr>
              <a:t>说</a:t>
            </a:r>
            <a:r>
              <a:rPr dirty="0" sz="1800" spc="-10" b="1">
                <a:latin typeface="MS Gothic"/>
                <a:cs typeface="MS Gothic"/>
              </a:rPr>
              <a:t>明，提交了使 </a:t>
            </a:r>
            <a:r>
              <a:rPr dirty="0" sz="1800" spc="-50" b="1">
                <a:latin typeface="MS Gothic"/>
                <a:cs typeface="MS Gothic"/>
              </a:rPr>
              <a:t>用</a:t>
            </a:r>
            <a:r>
              <a:rPr dirty="0" sz="1800" spc="35" b="1">
                <a:latin typeface="微软雅黑"/>
                <a:cs typeface="微软雅黑"/>
              </a:rPr>
              <a:t>说</a:t>
            </a:r>
            <a:r>
              <a:rPr dirty="0" sz="1800" spc="-50" b="1">
                <a:latin typeface="MS Gothic"/>
                <a:cs typeface="MS Gothic"/>
              </a:rPr>
              <a:t>明</a:t>
            </a:r>
            <a:r>
              <a:rPr dirty="0" sz="1800" spc="35" b="1">
                <a:latin typeface="微软雅黑"/>
                <a:cs typeface="微软雅黑"/>
              </a:rPr>
              <a:t>书</a:t>
            </a:r>
            <a:r>
              <a:rPr dirty="0" sz="1800" spc="-10" b="1">
                <a:latin typeface="MS Gothic"/>
                <a:cs typeface="MS Gothic"/>
              </a:rPr>
              <a:t>、源</a:t>
            </a:r>
            <a:r>
              <a:rPr dirty="0" sz="1800" spc="-50" b="1">
                <a:latin typeface="MS Gothic"/>
                <a:cs typeface="MS Gothic"/>
              </a:rPr>
              <a:t>代</a:t>
            </a:r>
            <a:r>
              <a:rPr dirty="0" sz="1800" spc="35" b="1">
                <a:latin typeface="微软雅黑"/>
                <a:cs typeface="微软雅黑"/>
              </a:rPr>
              <a:t>码</a:t>
            </a:r>
            <a:r>
              <a:rPr dirty="0" sz="1800" spc="-10" b="1">
                <a:latin typeface="MS Gothic"/>
                <a:cs typeface="MS Gothic"/>
              </a:rPr>
              <a:t>和</a:t>
            </a:r>
            <a:r>
              <a:rPr dirty="0" sz="1800" spc="-50" b="1">
                <a:latin typeface="MS Gothic"/>
                <a:cs typeface="MS Gothic"/>
              </a:rPr>
              <a:t>可</a:t>
            </a:r>
            <a:r>
              <a:rPr dirty="0" sz="1800" spc="35" b="1">
                <a:latin typeface="微软雅黑"/>
                <a:cs typeface="微软雅黑"/>
              </a:rPr>
              <a:t>执</a:t>
            </a:r>
            <a:r>
              <a:rPr dirty="0" sz="1800" spc="-10" b="1">
                <a:latin typeface="MS Gothic"/>
                <a:cs typeface="MS Gothic"/>
              </a:rPr>
              <a:t>行文件</a:t>
            </a:r>
            <a:endParaRPr sz="18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dirty="0" sz="1200">
                <a:solidFill>
                  <a:srgbClr val="0088CC"/>
                </a:solidFill>
                <a:latin typeface="MS Gothic"/>
                <a:cs typeface="MS Gothic"/>
              </a:rPr>
              <a:t>功能需求与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</a:rPr>
              <a:t>设计说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</a:rPr>
              <a:t>明</a:t>
            </a:r>
            <a:r>
              <a:rPr dirty="0" sz="1200" spc="-5">
                <a:solidFill>
                  <a:srgbClr val="0088CC"/>
                </a:solidFill>
                <a:latin typeface="Arial"/>
                <a:cs typeface="Arial"/>
              </a:rPr>
              <a:t>Design</a:t>
            </a:r>
            <a:r>
              <a:rPr dirty="0" sz="1200" spc="-10">
                <a:solidFill>
                  <a:srgbClr val="0088CC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0088CC"/>
                </a:solidFill>
                <a:latin typeface="Arial"/>
                <a:cs typeface="Arial"/>
              </a:rPr>
              <a:t>documents.pdf</a:t>
            </a:r>
            <a:endParaRPr sz="1200">
              <a:latin typeface="Arial"/>
              <a:cs typeface="Arial"/>
            </a:endParaRPr>
          </a:p>
          <a:p>
            <a:pPr marL="12700" marR="4369435">
              <a:lnSpc>
                <a:spcPct val="133300"/>
              </a:lnSpc>
            </a:pPr>
            <a:r>
              <a:rPr dirty="0" sz="1200">
                <a:solidFill>
                  <a:srgbClr val="0088CC"/>
                </a:solidFill>
                <a:latin typeface="MS Gothic"/>
                <a:cs typeface="MS Gothic"/>
              </a:rPr>
              <a:t>使用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</a:rPr>
              <a:t>说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</a:rPr>
              <a:t>明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</a:rPr>
              <a:t>书</a:t>
            </a:r>
            <a:r>
              <a:rPr dirty="0" sz="1200" spc="-5">
                <a:solidFill>
                  <a:srgbClr val="0088CC"/>
                </a:solidFill>
                <a:latin typeface="Arial"/>
                <a:cs typeface="Arial"/>
              </a:rPr>
              <a:t>UserManual.pdf 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</a:rPr>
              <a:t>源代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</a:rPr>
              <a:t>码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200">
                <a:solidFill>
                  <a:srgbClr val="0088CC"/>
                </a:solidFill>
                <a:latin typeface="MS Gothic"/>
                <a:cs typeface="MS Gothic"/>
              </a:rPr>
              <a:t>可</a:t>
            </a:r>
            <a:r>
              <a:rPr dirty="0" sz="1200">
                <a:solidFill>
                  <a:srgbClr val="0088CC"/>
                </a:solidFill>
                <a:latin typeface="微软雅黑"/>
                <a:cs typeface="微软雅黑"/>
              </a:rPr>
              <a:t>执</a:t>
            </a:r>
            <a:r>
              <a:rPr dirty="0" sz="1200">
                <a:solidFill>
                  <a:srgbClr val="0088CC"/>
                </a:solidFill>
                <a:latin typeface="MS Gothic"/>
                <a:cs typeface="MS Gothic"/>
              </a:rPr>
              <a:t>行文件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MS Gothic"/>
              <a:cs typeface="MS Gothic"/>
            </a:endParaRPr>
          </a:p>
          <a:p>
            <a:pPr marL="271145" indent="-259079">
              <a:lnSpc>
                <a:spcPct val="100000"/>
              </a:lnSpc>
              <a:buFont typeface="Arial"/>
              <a:buAutoNum type="arabicPeriod" startAt="3"/>
              <a:tabLst>
                <a:tab pos="271780" algn="l"/>
              </a:tabLst>
            </a:pPr>
            <a:r>
              <a:rPr dirty="0" sz="1800" spc="-10" b="1">
                <a:latin typeface="MS Gothic"/>
                <a:cs typeface="MS Gothic"/>
              </a:rPr>
              <a:t>有</a:t>
            </a:r>
            <a:r>
              <a:rPr dirty="0" sz="1800" spc="-10" b="1">
                <a:latin typeface="MS Gothic"/>
                <a:cs typeface="MS Gothic"/>
              </a:rPr>
              <a:t>界面</a:t>
            </a:r>
            <a:r>
              <a:rPr dirty="0" sz="1800" spc="-50" b="1">
                <a:latin typeface="MS Gothic"/>
                <a:cs typeface="MS Gothic"/>
              </a:rPr>
              <a:t>表</a:t>
            </a:r>
            <a:r>
              <a:rPr dirty="0" sz="1800" b="1">
                <a:latin typeface="微软雅黑"/>
                <a:cs typeface="微软雅黑"/>
              </a:rPr>
              <a:t>级</a:t>
            </a:r>
            <a:r>
              <a:rPr dirty="0" sz="1800" spc="35" b="1">
                <a:latin typeface="微软雅黑"/>
                <a:cs typeface="微软雅黑"/>
              </a:rPr>
              <a:t>联</a:t>
            </a:r>
            <a:r>
              <a:rPr dirty="0" sz="1800" spc="-10" b="1">
                <a:latin typeface="MS Gothic"/>
                <a:cs typeface="MS Gothic"/>
              </a:rPr>
              <a:t>操作</a:t>
            </a:r>
            <a:endParaRPr sz="1800">
              <a:latin typeface="MS Gothic"/>
              <a:cs typeface="MS Gothic"/>
            </a:endParaRPr>
          </a:p>
          <a:p>
            <a:pPr marL="15875">
              <a:lnSpc>
                <a:spcPct val="100000"/>
              </a:lnSpc>
              <a:spcBef>
                <a:spcPts val="1515"/>
              </a:spcBef>
            </a:pPr>
            <a:r>
              <a:rPr dirty="0" sz="1500" spc="-40" b="1">
                <a:latin typeface="MS Gothic"/>
                <a:cs typeface="MS Gothic"/>
              </a:rPr>
              <a:t>表</a:t>
            </a:r>
            <a:r>
              <a:rPr dirty="0" sz="1500" b="1">
                <a:latin typeface="微软雅黑"/>
                <a:cs typeface="微软雅黑"/>
              </a:rPr>
              <a:t>级</a:t>
            </a:r>
            <a:r>
              <a:rPr dirty="0" sz="1500" spc="30" b="1">
                <a:latin typeface="微软雅黑"/>
                <a:cs typeface="微软雅黑"/>
              </a:rPr>
              <a:t>联</a:t>
            </a:r>
            <a:r>
              <a:rPr dirty="0" sz="1500" spc="-10" b="1">
                <a:latin typeface="MS Gothic"/>
                <a:cs typeface="MS Gothic"/>
              </a:rPr>
              <a:t>操</a:t>
            </a:r>
            <a:r>
              <a:rPr dirty="0" sz="1500" spc="-40" b="1">
                <a:latin typeface="MS Gothic"/>
                <a:cs typeface="MS Gothic"/>
              </a:rPr>
              <a:t>作</a:t>
            </a:r>
            <a:r>
              <a:rPr dirty="0" sz="1500" spc="30" b="1">
                <a:latin typeface="微软雅黑"/>
                <a:cs typeface="微软雅黑"/>
              </a:rPr>
              <a:t>证</a:t>
            </a:r>
            <a:r>
              <a:rPr dirty="0" sz="1500" spc="-10" b="1">
                <a:latin typeface="MS Gothic"/>
                <a:cs typeface="MS Gothic"/>
              </a:rPr>
              <a:t>明</a:t>
            </a:r>
            <a:endParaRPr sz="15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为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了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证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明数据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库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表具有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级联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操作，我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们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展示了以下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场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景：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466150"/>
            <a:ext cx="6400800" cy="2164080"/>
          </a:xfrm>
          <a:custGeom>
            <a:avLst/>
            <a:gdLst/>
            <a:ahLst/>
            <a:cxnLst/>
            <a:rect l="l" t="t" r="r" b="b"/>
            <a:pathLst>
              <a:path w="6400800" h="2164079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2135505"/>
                </a:lnTo>
                <a:lnTo>
                  <a:pt x="2246" y="2146624"/>
                </a:lnTo>
                <a:lnTo>
                  <a:pt x="8372" y="2155707"/>
                </a:lnTo>
                <a:lnTo>
                  <a:pt x="17455" y="2161833"/>
                </a:lnTo>
                <a:lnTo>
                  <a:pt x="28575" y="2164080"/>
                </a:lnTo>
                <a:lnTo>
                  <a:pt x="6372225" y="2164080"/>
                </a:lnTo>
                <a:lnTo>
                  <a:pt x="6383344" y="2161833"/>
                </a:lnTo>
                <a:lnTo>
                  <a:pt x="6392427" y="2155707"/>
                </a:lnTo>
                <a:lnTo>
                  <a:pt x="6398553" y="2146624"/>
                </a:lnTo>
                <a:lnTo>
                  <a:pt x="6400800" y="213550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85800" y="4597970"/>
            <a:ext cx="6400800" cy="2804160"/>
          </a:xfrm>
          <a:custGeom>
            <a:avLst/>
            <a:gdLst/>
            <a:ahLst/>
            <a:cxnLst/>
            <a:rect l="l" t="t" r="r" b="b"/>
            <a:pathLst>
              <a:path w="6400800" h="2804159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2775585"/>
                </a:lnTo>
                <a:lnTo>
                  <a:pt x="2246" y="2786704"/>
                </a:lnTo>
                <a:lnTo>
                  <a:pt x="8372" y="2795787"/>
                </a:lnTo>
                <a:lnTo>
                  <a:pt x="17455" y="2801913"/>
                </a:lnTo>
                <a:lnTo>
                  <a:pt x="28575" y="2804160"/>
                </a:lnTo>
                <a:lnTo>
                  <a:pt x="6372225" y="2804160"/>
                </a:lnTo>
                <a:lnTo>
                  <a:pt x="6383344" y="2801913"/>
                </a:lnTo>
                <a:lnTo>
                  <a:pt x="6392427" y="2795787"/>
                </a:lnTo>
                <a:lnTo>
                  <a:pt x="6398553" y="2786704"/>
                </a:lnTo>
                <a:lnTo>
                  <a:pt x="6400800" y="277558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85341" y="1119440"/>
            <a:ext cx="732155" cy="181610"/>
          </a:xfrm>
          <a:custGeom>
            <a:avLst/>
            <a:gdLst/>
            <a:ahLst/>
            <a:cxnLst/>
            <a:rect l="l" t="t" r="r" b="b"/>
            <a:pathLst>
              <a:path w="732155" h="181609">
                <a:moveTo>
                  <a:pt x="703047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703047" y="181355"/>
                </a:lnTo>
                <a:lnTo>
                  <a:pt x="714167" y="179109"/>
                </a:lnTo>
                <a:lnTo>
                  <a:pt x="723250" y="172983"/>
                </a:lnTo>
                <a:lnTo>
                  <a:pt x="729376" y="163900"/>
                </a:lnTo>
                <a:lnTo>
                  <a:pt x="731622" y="152780"/>
                </a:lnTo>
                <a:lnTo>
                  <a:pt x="731622" y="28575"/>
                </a:lnTo>
                <a:lnTo>
                  <a:pt x="729376" y="17455"/>
                </a:lnTo>
                <a:lnTo>
                  <a:pt x="723250" y="8372"/>
                </a:lnTo>
                <a:lnTo>
                  <a:pt x="714167" y="2246"/>
                </a:lnTo>
                <a:lnTo>
                  <a:pt x="703047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25646" y="1119440"/>
            <a:ext cx="660400" cy="181610"/>
          </a:xfrm>
          <a:custGeom>
            <a:avLst/>
            <a:gdLst/>
            <a:ahLst/>
            <a:cxnLst/>
            <a:rect l="l" t="t" r="r" b="b"/>
            <a:pathLst>
              <a:path w="660400" h="181609">
                <a:moveTo>
                  <a:pt x="631826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52780"/>
                </a:lnTo>
                <a:lnTo>
                  <a:pt x="2246" y="163900"/>
                </a:lnTo>
                <a:lnTo>
                  <a:pt x="8372" y="172983"/>
                </a:lnTo>
                <a:lnTo>
                  <a:pt x="17455" y="179109"/>
                </a:lnTo>
                <a:lnTo>
                  <a:pt x="28575" y="181355"/>
                </a:lnTo>
                <a:lnTo>
                  <a:pt x="631826" y="181355"/>
                </a:lnTo>
                <a:lnTo>
                  <a:pt x="642945" y="179109"/>
                </a:lnTo>
                <a:lnTo>
                  <a:pt x="652028" y="172983"/>
                </a:lnTo>
                <a:lnTo>
                  <a:pt x="658154" y="163900"/>
                </a:lnTo>
                <a:lnTo>
                  <a:pt x="660401" y="152780"/>
                </a:lnTo>
                <a:lnTo>
                  <a:pt x="660401" y="28575"/>
                </a:lnTo>
                <a:lnTo>
                  <a:pt x="658154" y="17455"/>
                </a:lnTo>
                <a:lnTo>
                  <a:pt x="652028" y="8372"/>
                </a:lnTo>
                <a:lnTo>
                  <a:pt x="642945" y="2246"/>
                </a:lnTo>
                <a:lnTo>
                  <a:pt x="631826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73100" y="662942"/>
            <a:ext cx="7127240" cy="6372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4154" indent="-212090">
              <a:lnSpc>
                <a:spcPct val="100000"/>
              </a:lnSpc>
              <a:spcBef>
                <a:spcPts val="100"/>
              </a:spcBef>
              <a:buFont typeface="Arial"/>
              <a:buAutoNum type="arabicPeriod"/>
              <a:tabLst>
                <a:tab pos="224790" algn="l"/>
              </a:tabLst>
            </a:pPr>
            <a:r>
              <a:rPr dirty="0" sz="1500" spc="30" b="1">
                <a:latin typeface="微软雅黑"/>
                <a:cs typeface="微软雅黑"/>
              </a:rPr>
              <a:t>删</a:t>
            </a:r>
            <a:r>
              <a:rPr dirty="0" sz="1500" spc="-10" b="1">
                <a:latin typeface="MS Gothic"/>
                <a:cs typeface="MS Gothic"/>
              </a:rPr>
              <a:t>除商家及</a:t>
            </a:r>
            <a:r>
              <a:rPr dirty="0" sz="1500" spc="-40" b="1">
                <a:latin typeface="MS Gothic"/>
                <a:cs typeface="MS Gothic"/>
              </a:rPr>
              <a:t>其</a:t>
            </a:r>
            <a:r>
              <a:rPr dirty="0" sz="1500" spc="30" b="1">
                <a:latin typeface="微软雅黑"/>
                <a:cs typeface="微软雅黑"/>
              </a:rPr>
              <a:t>产</a:t>
            </a:r>
            <a:r>
              <a:rPr dirty="0" sz="1500" spc="-10" b="1">
                <a:latin typeface="MS Gothic"/>
                <a:cs typeface="MS Gothic"/>
              </a:rPr>
              <a:t>品</a:t>
            </a:r>
            <a:endParaRPr sz="15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当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删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除</a:t>
            </a:r>
            <a:r>
              <a:rPr dirty="0" sz="1200" spc="85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000" spc="5">
                <a:latin typeface="Consolas"/>
                <a:cs typeface="Consolas"/>
              </a:rPr>
              <a:t>Merchants</a:t>
            </a:r>
            <a:r>
              <a:rPr dirty="0" sz="1000" spc="14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表中的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记录时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，相关的</a:t>
            </a:r>
            <a:r>
              <a:rPr dirty="0" sz="1200" spc="9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000" spc="5">
                <a:latin typeface="Consolas"/>
                <a:cs typeface="Consolas"/>
              </a:rPr>
              <a:t>Products</a:t>
            </a:r>
            <a:r>
              <a:rPr dirty="0" sz="1000" spc="14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表中的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记录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也会被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删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除。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MS Gothic"/>
              <a:cs typeface="MS Gothic"/>
            </a:endParaRPr>
          </a:p>
          <a:p>
            <a:pPr marL="134620">
              <a:lnSpc>
                <a:spcPct val="100000"/>
              </a:lnSpc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插入示例数据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dirty="0" sz="1000" spc="5">
                <a:latin typeface="Consolas"/>
                <a:cs typeface="Consolas"/>
              </a:rPr>
              <a:t>Merchants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MerchantID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Password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6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'merchantpass'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dirty="0" sz="1000" spc="5">
                <a:latin typeface="Consolas"/>
                <a:cs typeface="Consolas"/>
              </a:rPr>
              <a:t>Products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ProductID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ProductName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Price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Stock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MerchantID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'Product </a:t>
            </a:r>
            <a:r>
              <a:rPr dirty="0" sz="1000" spc="10">
                <a:solidFill>
                  <a:srgbClr val="183691"/>
                </a:solidFill>
                <a:latin typeface="Consolas"/>
                <a:cs typeface="Consolas"/>
              </a:rPr>
              <a:t>A'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15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10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删除商家记录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DELETE FROM </a:t>
            </a:r>
            <a:r>
              <a:rPr dirty="0" sz="1000" spc="5">
                <a:latin typeface="Consolas"/>
                <a:cs typeface="Consolas"/>
              </a:rPr>
              <a:t>Merchants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WHERE </a:t>
            </a:r>
            <a:r>
              <a:rPr dirty="0" sz="1000" spc="5">
                <a:latin typeface="Consolas"/>
                <a:cs typeface="Consolas"/>
              </a:rPr>
              <a:t>MerchantID 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级联删除后的结果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SELECT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 *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FROM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Products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结果为空，因为相关的产品记录已被删除</a:t>
            </a:r>
            <a:endParaRPr sz="1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微软雅黑"/>
              <a:cs typeface="微软雅黑"/>
            </a:endParaRPr>
          </a:p>
          <a:p>
            <a:pPr marL="172085" indent="-160020">
              <a:lnSpc>
                <a:spcPct val="100000"/>
              </a:lnSpc>
              <a:spcBef>
                <a:spcPts val="5"/>
              </a:spcBef>
              <a:buFont typeface="Arial"/>
              <a:buAutoNum type="arabicPeriod" startAt="2"/>
              <a:tabLst>
                <a:tab pos="172720" algn="l"/>
              </a:tabLst>
            </a:pPr>
            <a:r>
              <a:rPr dirty="0" sz="1500" spc="30" b="1">
                <a:latin typeface="微软雅黑"/>
                <a:cs typeface="微软雅黑"/>
              </a:rPr>
              <a:t>删</a:t>
            </a:r>
            <a:r>
              <a:rPr dirty="0" sz="1500" spc="-10" b="1">
                <a:latin typeface="MS Gothic"/>
                <a:cs typeface="MS Gothic"/>
              </a:rPr>
              <a:t>除</a:t>
            </a:r>
            <a:r>
              <a:rPr dirty="0" sz="1500" spc="-40" b="1">
                <a:latin typeface="MS Gothic"/>
                <a:cs typeface="MS Gothic"/>
              </a:rPr>
              <a:t>消</a:t>
            </a:r>
            <a:r>
              <a:rPr dirty="0" sz="1500" spc="30" b="1">
                <a:latin typeface="微软雅黑"/>
                <a:cs typeface="微软雅黑"/>
              </a:rPr>
              <a:t>费</a:t>
            </a:r>
            <a:r>
              <a:rPr dirty="0" sz="1500" spc="-10" b="1">
                <a:latin typeface="MS Gothic"/>
                <a:cs typeface="MS Gothic"/>
              </a:rPr>
              <a:t>者及</a:t>
            </a:r>
            <a:r>
              <a:rPr dirty="0" sz="1500" spc="-40" b="1">
                <a:latin typeface="MS Gothic"/>
                <a:cs typeface="MS Gothic"/>
              </a:rPr>
              <a:t>其</a:t>
            </a:r>
            <a:r>
              <a:rPr dirty="0" sz="1500" b="1">
                <a:latin typeface="微软雅黑"/>
                <a:cs typeface="微软雅黑"/>
              </a:rPr>
              <a:t>订</a:t>
            </a:r>
            <a:r>
              <a:rPr dirty="0" sz="1500" spc="30" b="1">
                <a:latin typeface="微软雅黑"/>
                <a:cs typeface="微软雅黑"/>
              </a:rPr>
              <a:t>单</a:t>
            </a:r>
            <a:r>
              <a:rPr dirty="0" sz="1500" spc="-10" b="1">
                <a:latin typeface="MS Gothic"/>
                <a:cs typeface="MS Gothic"/>
              </a:rPr>
              <a:t>和地址</a:t>
            </a:r>
            <a:endParaRPr sz="15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当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删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除</a:t>
            </a:r>
            <a:r>
              <a:rPr dirty="0" sz="1200" spc="-275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Consumers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表中的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记录时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，相关的</a:t>
            </a:r>
            <a:r>
              <a:rPr dirty="0" sz="1200" spc="-27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Orders</a:t>
            </a:r>
            <a:r>
              <a:rPr dirty="0" sz="120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和</a:t>
            </a:r>
            <a:r>
              <a:rPr dirty="0" sz="1200" spc="-27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Addresses</a:t>
            </a:r>
            <a:r>
              <a:rPr dirty="0" sz="120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表中的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记录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也会被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删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除。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MS Gothic"/>
              <a:cs typeface="MS Gothic"/>
            </a:endParaRPr>
          </a:p>
          <a:p>
            <a:pPr marL="134620">
              <a:lnSpc>
                <a:spcPct val="100000"/>
              </a:lnSpc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插入示例数据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dirty="0" sz="1000" spc="5">
                <a:latin typeface="Consolas"/>
                <a:cs typeface="Consolas"/>
              </a:rPr>
              <a:t>Consumers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ConsumerID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Password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6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'consumerpass'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  <a:p>
            <a:pPr marL="134620" marR="5080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dirty="0" sz="1000" spc="5">
                <a:latin typeface="Consolas"/>
                <a:cs typeface="Consolas"/>
              </a:rPr>
              <a:t>Orders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OrderID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ConsumerID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ProductID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Quantity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TotalAmount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Status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1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dirty="0" sz="1000" spc="5">
                <a:latin typeface="Consolas"/>
                <a:cs typeface="Consolas"/>
              </a:rPr>
              <a:t>Addresses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AddressID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ConsumerID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Address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'123 Main</a:t>
            </a:r>
            <a:r>
              <a:rPr dirty="0" sz="1000" spc="75">
                <a:solidFill>
                  <a:srgbClr val="183691"/>
                </a:solidFill>
                <a:latin typeface="Consolas"/>
                <a:cs typeface="Consolas"/>
              </a:rPr>
              <a:t> </a:t>
            </a:r>
            <a:r>
              <a:rPr dirty="0" sz="1000" spc="10">
                <a:solidFill>
                  <a:srgbClr val="183691"/>
                </a:solidFill>
                <a:latin typeface="Consolas"/>
                <a:cs typeface="Consolas"/>
              </a:rPr>
              <a:t>St'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删除消费者记录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DELETE FROM </a:t>
            </a:r>
            <a:r>
              <a:rPr dirty="0" sz="1000" spc="5">
                <a:latin typeface="Consolas"/>
                <a:cs typeface="Consolas"/>
              </a:rPr>
              <a:t>Consumers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WHERE </a:t>
            </a:r>
            <a:r>
              <a:rPr dirty="0" sz="1000" spc="5">
                <a:latin typeface="Consolas"/>
                <a:cs typeface="Consolas"/>
              </a:rPr>
              <a:t>ConsumerID 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级联删除后的结果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  <a:tabLst>
                <a:tab pos="1843405" algn="l"/>
              </a:tabLst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SELECT 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*</a:t>
            </a:r>
            <a:r>
              <a:rPr dirty="0" sz="1000" spc="3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FROM</a:t>
            </a:r>
            <a:r>
              <a:rPr dirty="0" sz="1000" spc="1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Orders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	</a:t>
            </a: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</a:t>
            </a:r>
            <a:r>
              <a:rPr dirty="0" sz="1000" spc="10">
                <a:solidFill>
                  <a:srgbClr val="969896"/>
                </a:solidFill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结果为空，因为相关的订单记录已被删除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SELECT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 *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FROM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Addresses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结果为空，因为相关的地址记录已被删除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3100" y="7569772"/>
            <a:ext cx="4996180" cy="622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" b="1">
                <a:latin typeface="Arial"/>
                <a:cs typeface="Arial"/>
              </a:rPr>
              <a:t>3.</a:t>
            </a:r>
            <a:r>
              <a:rPr dirty="0" sz="1500" spc="30" b="1">
                <a:latin typeface="微软雅黑"/>
                <a:cs typeface="微软雅黑"/>
              </a:rPr>
              <a:t>删</a:t>
            </a:r>
            <a:r>
              <a:rPr dirty="0" sz="1500" spc="-40" b="1">
                <a:latin typeface="MS Gothic"/>
                <a:cs typeface="MS Gothic"/>
              </a:rPr>
              <a:t>除</a:t>
            </a:r>
            <a:r>
              <a:rPr dirty="0" sz="1500" b="1">
                <a:latin typeface="微软雅黑"/>
                <a:cs typeface="微软雅黑"/>
              </a:rPr>
              <a:t>订</a:t>
            </a:r>
            <a:r>
              <a:rPr dirty="0" sz="1500" spc="30" b="1">
                <a:latin typeface="微软雅黑"/>
                <a:cs typeface="微软雅黑"/>
              </a:rPr>
              <a:t>单</a:t>
            </a:r>
            <a:r>
              <a:rPr dirty="0" sz="1500" spc="-10" b="1">
                <a:latin typeface="MS Gothic"/>
                <a:cs typeface="MS Gothic"/>
              </a:rPr>
              <a:t>及其付</a:t>
            </a:r>
            <a:r>
              <a:rPr dirty="0" sz="1500" spc="-40" b="1">
                <a:latin typeface="MS Gothic"/>
                <a:cs typeface="MS Gothic"/>
              </a:rPr>
              <a:t>款</a:t>
            </a:r>
            <a:r>
              <a:rPr dirty="0" sz="1500" b="1">
                <a:latin typeface="微软雅黑"/>
                <a:cs typeface="微软雅黑"/>
              </a:rPr>
              <a:t>记录</a:t>
            </a: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当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删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除</a:t>
            </a:r>
            <a:r>
              <a:rPr dirty="0" sz="1200" spc="-29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Orders</a:t>
            </a:r>
            <a:r>
              <a:rPr dirty="0" sz="12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表中的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记录时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，相关的</a:t>
            </a:r>
            <a:r>
              <a:rPr dirty="0" sz="1200" spc="-290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Payments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表中的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记录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也会被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删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除。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685800"/>
            <a:ext cx="6400800" cy="2590800"/>
          </a:xfrm>
          <a:custGeom>
            <a:avLst/>
            <a:gdLst/>
            <a:ahLst/>
            <a:cxnLst/>
            <a:rect l="l" t="t" r="r" b="b"/>
            <a:pathLst>
              <a:path w="6400800" h="259080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2562225"/>
                </a:lnTo>
                <a:lnTo>
                  <a:pt x="2246" y="2573344"/>
                </a:lnTo>
                <a:lnTo>
                  <a:pt x="8372" y="2582427"/>
                </a:lnTo>
                <a:lnTo>
                  <a:pt x="17455" y="2588553"/>
                </a:lnTo>
                <a:lnTo>
                  <a:pt x="28575" y="2590800"/>
                </a:lnTo>
                <a:lnTo>
                  <a:pt x="6372225" y="2590800"/>
                </a:lnTo>
                <a:lnTo>
                  <a:pt x="6383344" y="2588553"/>
                </a:lnTo>
                <a:lnTo>
                  <a:pt x="6392427" y="2582427"/>
                </a:lnTo>
                <a:lnTo>
                  <a:pt x="6398553" y="2573344"/>
                </a:lnTo>
                <a:lnTo>
                  <a:pt x="6400800" y="256222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95019" y="751231"/>
            <a:ext cx="7005320" cy="1945639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插入示例数据</a:t>
            </a:r>
            <a:endParaRPr sz="1000">
              <a:latin typeface="微软雅黑"/>
              <a:cs typeface="微软雅黑"/>
            </a:endParaRPr>
          </a:p>
          <a:p>
            <a:pPr marL="12700" marR="5080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dirty="0" sz="1000" spc="5">
                <a:latin typeface="Consolas"/>
                <a:cs typeface="Consolas"/>
              </a:rPr>
              <a:t>Orders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OrderID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ConsumerID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ProductID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Quantity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TotalAmount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Status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1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dirty="0" sz="1000" spc="5">
                <a:latin typeface="Consolas"/>
                <a:cs typeface="Consolas"/>
              </a:rPr>
              <a:t>Payments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PaymentID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OrderID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Amount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PaymentMethod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100.00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'Credit</a:t>
            </a:r>
            <a:r>
              <a:rPr dirty="0" sz="1000" spc="135">
                <a:solidFill>
                  <a:srgbClr val="183691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Car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删除订单记录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DELETE FROM </a:t>
            </a:r>
            <a:r>
              <a:rPr dirty="0" sz="1000" spc="5">
                <a:latin typeface="Consolas"/>
                <a:cs typeface="Consolas"/>
              </a:rPr>
              <a:t>Orders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WHERE </a:t>
            </a:r>
            <a:r>
              <a:rPr dirty="0" sz="1000" spc="5">
                <a:latin typeface="Consolas"/>
                <a:cs typeface="Consolas"/>
              </a:rPr>
              <a:t>OrderID 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=</a:t>
            </a:r>
            <a:r>
              <a:rPr dirty="0" sz="1000" spc="4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级联删除后的结果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SELECT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 *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FROM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Payments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结果为空，因为相关的付款记录已被删除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3377694"/>
            <a:ext cx="642620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通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过这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些操作，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证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明了数据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库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表具有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级联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操作（表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级联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）的能力。当父表的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记录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被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删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除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时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，相关 的子表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记录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会自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动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被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删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除，保持数据的一致性和完整性。</a:t>
            </a:r>
            <a:endParaRPr sz="1200">
              <a:latin typeface="MS Gothic"/>
              <a:cs typeface="MS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4120390"/>
            <a:ext cx="2049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4</a:t>
            </a:r>
            <a:r>
              <a:rPr dirty="0" sz="1800" spc="35" b="1">
                <a:latin typeface="Arial"/>
                <a:cs typeface="Arial"/>
              </a:rPr>
              <a:t>.</a:t>
            </a:r>
            <a:r>
              <a:rPr dirty="0" sz="1800" spc="-10" b="1">
                <a:latin typeface="MS Gothic"/>
                <a:cs typeface="MS Gothic"/>
              </a:rPr>
              <a:t>有多个</a:t>
            </a:r>
            <a:r>
              <a:rPr dirty="0" sz="1800" spc="-50" b="1">
                <a:latin typeface="MS Gothic"/>
                <a:cs typeface="MS Gothic"/>
              </a:rPr>
              <a:t>用</a:t>
            </a:r>
            <a:r>
              <a:rPr dirty="0" sz="1800" spc="35" b="1">
                <a:latin typeface="微软雅黑"/>
                <a:cs typeface="微软雅黑"/>
              </a:rPr>
              <a:t>户</a:t>
            </a:r>
            <a:r>
              <a:rPr dirty="0" sz="1800" spc="-50" b="1">
                <a:latin typeface="MS Gothic"/>
                <a:cs typeface="MS Gothic"/>
              </a:rPr>
              <a:t>及</a:t>
            </a:r>
            <a:r>
              <a:rPr dirty="0" sz="1800" spc="35" b="1">
                <a:latin typeface="微软雅黑"/>
                <a:cs typeface="微软雅黑"/>
              </a:rPr>
              <a:t>链</a:t>
            </a:r>
            <a:r>
              <a:rPr dirty="0" sz="1800" spc="-10" b="1">
                <a:latin typeface="MS Gothic"/>
                <a:cs typeface="MS Gothic"/>
              </a:rPr>
              <a:t>接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5800" y="4572000"/>
            <a:ext cx="6400800" cy="46422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929639"/>
            <a:ext cx="3714750" cy="1104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95325" y="2278379"/>
            <a:ext cx="3638550" cy="10858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73100" y="3567940"/>
            <a:ext cx="4445635" cy="5683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Font typeface="Arial"/>
              <a:buAutoNum type="arabicPeriod" startAt="5"/>
              <a:tabLst>
                <a:tab pos="267335" algn="l"/>
              </a:tabLst>
            </a:pPr>
            <a:r>
              <a:rPr dirty="0" sz="1800" spc="35" b="1">
                <a:latin typeface="微软雅黑"/>
                <a:cs typeface="微软雅黑"/>
              </a:rPr>
              <a:t>应</a:t>
            </a:r>
            <a:r>
              <a:rPr dirty="0" sz="1800" spc="-10" b="1">
                <a:latin typeface="MS Gothic"/>
                <a:cs typeface="MS Gothic"/>
              </a:rPr>
              <a:t>用</a:t>
            </a:r>
            <a:r>
              <a:rPr dirty="0" sz="1800" spc="-50" b="1">
                <a:latin typeface="MS Gothic"/>
                <a:cs typeface="MS Gothic"/>
              </a:rPr>
              <a:t>用</a:t>
            </a:r>
            <a:r>
              <a:rPr dirty="0" sz="1800" b="1">
                <a:latin typeface="微软雅黑"/>
                <a:cs typeface="微软雅黑"/>
              </a:rPr>
              <a:t>户</a:t>
            </a:r>
            <a:r>
              <a:rPr dirty="0" sz="1800" spc="35" b="1">
                <a:latin typeface="微软雅黑"/>
                <a:cs typeface="微软雅黑"/>
              </a:rPr>
              <a:t>权</a:t>
            </a:r>
            <a:r>
              <a:rPr dirty="0" sz="1800" spc="-10" b="1">
                <a:latin typeface="MS Gothic"/>
                <a:cs typeface="MS Gothic"/>
              </a:rPr>
              <a:t>限管理</a:t>
            </a:r>
            <a:endParaRPr sz="18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为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了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实现应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用的用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户权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限管理，我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们设计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了以下两个角色：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MS Gothic"/>
              <a:cs typeface="MS Gothic"/>
            </a:endParaRPr>
          </a:p>
          <a:p>
            <a:pPr lvl="1" marL="825500" indent="-155575">
              <a:lnSpc>
                <a:spcPct val="100000"/>
              </a:lnSpc>
              <a:buFont typeface="Arial"/>
              <a:buChar char="•"/>
              <a:tabLst>
                <a:tab pos="825500" algn="l"/>
              </a:tabLst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消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费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者</a:t>
            </a:r>
            <a:r>
              <a:rPr dirty="0" sz="1200" spc="-275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(Consumer)</a:t>
            </a:r>
            <a:endParaRPr sz="1200">
              <a:latin typeface="Arial"/>
              <a:cs typeface="Arial"/>
            </a:endParaRPr>
          </a:p>
          <a:p>
            <a:pPr lvl="1" marL="825500" indent="-15557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825500" algn="l"/>
              </a:tabLst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商家</a:t>
            </a:r>
            <a:r>
              <a:rPr dirty="0" sz="1200" spc="-275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(Merchant)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每个角色有不同的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权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限和功能：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MS Gothic"/>
              <a:cs typeface="MS Gothic"/>
            </a:endParaRPr>
          </a:p>
          <a:p>
            <a:pPr marL="15875">
              <a:lnSpc>
                <a:spcPct val="100000"/>
              </a:lnSpc>
            </a:pPr>
            <a:r>
              <a:rPr dirty="0" sz="1500" spc="-40" b="1">
                <a:latin typeface="MS Gothic"/>
                <a:cs typeface="MS Gothic"/>
              </a:rPr>
              <a:t>消</a:t>
            </a:r>
            <a:r>
              <a:rPr dirty="0" sz="1500" spc="30" b="1">
                <a:latin typeface="微软雅黑"/>
                <a:cs typeface="微软雅黑"/>
              </a:rPr>
              <a:t>费</a:t>
            </a:r>
            <a:r>
              <a:rPr dirty="0" sz="1500" spc="-40" b="1">
                <a:latin typeface="MS Gothic"/>
                <a:cs typeface="MS Gothic"/>
              </a:rPr>
              <a:t>者</a:t>
            </a:r>
            <a:r>
              <a:rPr dirty="0" sz="1500" spc="30" b="1">
                <a:latin typeface="微软雅黑"/>
                <a:cs typeface="微软雅黑"/>
              </a:rPr>
              <a:t>权</a:t>
            </a:r>
            <a:r>
              <a:rPr dirty="0" sz="1500" spc="-10" b="1">
                <a:latin typeface="MS Gothic"/>
                <a:cs typeface="MS Gothic"/>
              </a:rPr>
              <a:t>限</a:t>
            </a:r>
            <a:endParaRPr sz="1500">
              <a:latin typeface="MS Gothic"/>
              <a:cs typeface="MS Gothic"/>
            </a:endParaRPr>
          </a:p>
          <a:p>
            <a:pPr marL="825500" indent="-229235">
              <a:lnSpc>
                <a:spcPct val="100000"/>
              </a:lnSpc>
              <a:spcBef>
                <a:spcPts val="1455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看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产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品</a:t>
            </a:r>
            <a:endParaRPr sz="1200">
              <a:latin typeface="MS Gothic"/>
              <a:cs typeface="MS Gothic"/>
            </a:endParaRPr>
          </a:p>
          <a:p>
            <a:pPr marL="825500" indent="-229235">
              <a:lnSpc>
                <a:spcPct val="100000"/>
              </a:lnSpc>
              <a:spcBef>
                <a:spcPts val="480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添加地址</a:t>
            </a:r>
            <a:endParaRPr sz="1200">
              <a:latin typeface="MS Gothic"/>
              <a:cs typeface="MS Gothic"/>
            </a:endParaRPr>
          </a:p>
          <a:p>
            <a:pPr marL="825500" indent="-229235">
              <a:lnSpc>
                <a:spcPct val="100000"/>
              </a:lnSpc>
              <a:spcBef>
                <a:spcPts val="480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购买产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品</a:t>
            </a:r>
            <a:endParaRPr sz="1200">
              <a:latin typeface="MS Gothic"/>
              <a:cs typeface="MS Gothic"/>
            </a:endParaRPr>
          </a:p>
          <a:p>
            <a:pPr marL="825500" indent="-229235">
              <a:lnSpc>
                <a:spcPct val="100000"/>
              </a:lnSpc>
              <a:spcBef>
                <a:spcPts val="480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看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订单</a:t>
            </a:r>
            <a:endParaRPr sz="1200">
              <a:latin typeface="微软雅黑"/>
              <a:cs typeface="微软雅黑"/>
            </a:endParaRPr>
          </a:p>
          <a:p>
            <a:pPr marL="825500" indent="-229235">
              <a:lnSpc>
                <a:spcPct val="100000"/>
              </a:lnSpc>
              <a:spcBef>
                <a:spcPts val="480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支付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订单</a:t>
            </a:r>
            <a:endParaRPr sz="1200">
              <a:latin typeface="微软雅黑"/>
              <a:cs typeface="微软雅黑"/>
            </a:endParaRPr>
          </a:p>
          <a:p>
            <a:pPr marL="825500" indent="-229235">
              <a:lnSpc>
                <a:spcPct val="100000"/>
              </a:lnSpc>
              <a:spcBef>
                <a:spcPts val="480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接收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订单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00">
              <a:latin typeface="微软雅黑"/>
              <a:cs typeface="微软雅黑"/>
            </a:endParaRPr>
          </a:p>
          <a:p>
            <a:pPr marL="15875">
              <a:lnSpc>
                <a:spcPct val="100000"/>
              </a:lnSpc>
            </a:pPr>
            <a:r>
              <a:rPr dirty="0" sz="1500" spc="-10" b="1">
                <a:latin typeface="MS Gothic"/>
                <a:cs typeface="MS Gothic"/>
              </a:rPr>
              <a:t>商</a:t>
            </a:r>
            <a:r>
              <a:rPr dirty="0" sz="1500" spc="-40" b="1">
                <a:latin typeface="MS Gothic"/>
                <a:cs typeface="MS Gothic"/>
              </a:rPr>
              <a:t>家</a:t>
            </a:r>
            <a:r>
              <a:rPr dirty="0" sz="1500" spc="30" b="1">
                <a:latin typeface="微软雅黑"/>
                <a:cs typeface="微软雅黑"/>
              </a:rPr>
              <a:t>权</a:t>
            </a:r>
            <a:r>
              <a:rPr dirty="0" sz="1500" spc="-10" b="1">
                <a:latin typeface="MS Gothic"/>
                <a:cs typeface="MS Gothic"/>
              </a:rPr>
              <a:t>限</a:t>
            </a:r>
            <a:endParaRPr sz="1500">
              <a:latin typeface="MS Gothic"/>
              <a:cs typeface="MS Gothic"/>
            </a:endParaRPr>
          </a:p>
          <a:p>
            <a:pPr marL="825500" indent="-229235">
              <a:lnSpc>
                <a:spcPct val="100000"/>
              </a:lnSpc>
              <a:spcBef>
                <a:spcPts val="1460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看自己的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产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品</a:t>
            </a:r>
            <a:endParaRPr sz="1200">
              <a:latin typeface="MS Gothic"/>
              <a:cs typeface="MS Gothic"/>
            </a:endParaRPr>
          </a:p>
          <a:p>
            <a:pPr marL="825500" indent="-229235">
              <a:lnSpc>
                <a:spcPct val="100000"/>
              </a:lnSpc>
              <a:spcBef>
                <a:spcPts val="480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添加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产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品</a:t>
            </a:r>
            <a:endParaRPr sz="1200">
              <a:latin typeface="MS Gothic"/>
              <a:cs typeface="MS Gothic"/>
            </a:endParaRPr>
          </a:p>
          <a:p>
            <a:pPr marL="825500" indent="-229235">
              <a:lnSpc>
                <a:spcPct val="100000"/>
              </a:lnSpc>
              <a:spcBef>
                <a:spcPts val="480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看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订单</a:t>
            </a:r>
            <a:endParaRPr sz="1200">
              <a:latin typeface="微软雅黑"/>
              <a:cs typeface="微软雅黑"/>
            </a:endParaRPr>
          </a:p>
          <a:p>
            <a:pPr marL="825500" indent="-229235">
              <a:lnSpc>
                <a:spcPct val="100000"/>
              </a:lnSpc>
              <a:spcBef>
                <a:spcPts val="480"/>
              </a:spcBef>
              <a:buFont typeface="Arial"/>
              <a:buAutoNum type="arabicPeriod"/>
              <a:tabLst>
                <a:tab pos="8255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发货订单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通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过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以下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SQ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L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示例，我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们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展示了如何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为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不同角色的用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户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分配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权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限：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685800"/>
            <a:ext cx="6400800" cy="5791200"/>
          </a:xfrm>
          <a:custGeom>
            <a:avLst/>
            <a:gdLst/>
            <a:ahLst/>
            <a:cxnLst/>
            <a:rect l="l" t="t" r="r" b="b"/>
            <a:pathLst>
              <a:path w="6400800" h="579120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5762625"/>
                </a:lnTo>
                <a:lnTo>
                  <a:pt x="2246" y="5773744"/>
                </a:lnTo>
                <a:lnTo>
                  <a:pt x="8372" y="5782827"/>
                </a:lnTo>
                <a:lnTo>
                  <a:pt x="17455" y="5788953"/>
                </a:lnTo>
                <a:lnTo>
                  <a:pt x="28575" y="5791200"/>
                </a:lnTo>
                <a:lnTo>
                  <a:pt x="6372225" y="5791200"/>
                </a:lnTo>
                <a:lnTo>
                  <a:pt x="6383344" y="5788953"/>
                </a:lnTo>
                <a:lnTo>
                  <a:pt x="6392427" y="5782827"/>
                </a:lnTo>
                <a:lnTo>
                  <a:pt x="6398553" y="5773744"/>
                </a:lnTo>
                <a:lnTo>
                  <a:pt x="6400800" y="576262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73100" y="751231"/>
            <a:ext cx="7126605" cy="6515734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34620">
              <a:lnSpc>
                <a:spcPct val="100000"/>
              </a:lnSpc>
              <a:spcBef>
                <a:spcPts val="575"/>
              </a:spcBef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示例用户表结构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CREATE TABLE </a:t>
            </a:r>
            <a:r>
              <a:rPr dirty="0" sz="1000" spc="5">
                <a:latin typeface="Consolas"/>
                <a:cs typeface="Consolas"/>
              </a:rPr>
              <a:t>Users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endParaRPr sz="1000">
              <a:latin typeface="Consolas"/>
              <a:cs typeface="Consolas"/>
            </a:endParaRPr>
          </a:p>
          <a:p>
            <a:pPr marL="419100" marR="4561840">
              <a:lnSpc>
                <a:spcPct val="140000"/>
              </a:lnSpc>
            </a:pPr>
            <a:r>
              <a:rPr dirty="0" sz="1000" spc="5">
                <a:latin typeface="Consolas"/>
                <a:cs typeface="Consolas"/>
              </a:rPr>
              <a:t>UserID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INT PRIMARY KEY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dirty="0" sz="1000" spc="5">
                <a:latin typeface="Consolas"/>
                <a:cs typeface="Consolas"/>
              </a:rPr>
              <a:t>Username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50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NOT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dirty="0" sz="1000" spc="5">
                <a:latin typeface="Consolas"/>
                <a:cs typeface="Consolas"/>
              </a:rPr>
              <a:t>Password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50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NOT</a:t>
            </a:r>
            <a:r>
              <a:rPr dirty="0" sz="1000" spc="-1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NULL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latin typeface="Consolas"/>
                <a:cs typeface="Consolas"/>
              </a:rPr>
              <a:t>Role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10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NOT 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NULL </a:t>
            </a: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角 色 </a:t>
            </a:r>
            <a:r>
              <a:rPr dirty="0" sz="1000" spc="5">
                <a:solidFill>
                  <a:srgbClr val="969896"/>
                </a:solidFill>
                <a:latin typeface="微软雅黑"/>
                <a:cs typeface="微软雅黑"/>
              </a:rPr>
              <a:t>：</a:t>
            </a: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'Consumer'</a:t>
            </a:r>
            <a:r>
              <a:rPr dirty="0" sz="1000" spc="-345">
                <a:solidFill>
                  <a:srgbClr val="969896"/>
                </a:solidFill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或 </a:t>
            </a: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'Merchant'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插入示例用户</a:t>
            </a:r>
            <a:endParaRPr sz="1000">
              <a:latin typeface="微软雅黑"/>
              <a:cs typeface="微软雅黑"/>
            </a:endParaRPr>
          </a:p>
          <a:p>
            <a:pPr marL="134620" marR="5080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dirty="0" sz="1000" spc="5">
                <a:latin typeface="Consolas"/>
                <a:cs typeface="Consolas"/>
              </a:rPr>
              <a:t>Users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UserID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Username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Password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Role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1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'consumer1'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'password1'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'Consume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dirty="0" sz="1000" spc="5">
                <a:latin typeface="Consolas"/>
                <a:cs typeface="Consolas"/>
              </a:rPr>
              <a:t>Users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UserID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Username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Password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Role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'merchant1'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'password1'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15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'Merchan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根据角色分配权限的存储过程</a:t>
            </a:r>
            <a:endParaRPr sz="1000">
              <a:latin typeface="微软雅黑"/>
              <a:cs typeface="微软雅黑"/>
            </a:endParaRPr>
          </a:p>
          <a:p>
            <a:pPr marL="134620" marR="4134485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CREATE PROCEDURE </a:t>
            </a:r>
            <a:r>
              <a:rPr dirty="0" sz="1000" spc="5">
                <a:latin typeface="Consolas"/>
                <a:cs typeface="Consolas"/>
              </a:rPr>
              <a:t>AssignRolePermissions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()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BEGIN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为消费者分配权限</a:t>
            </a:r>
            <a:endParaRPr sz="1000">
              <a:latin typeface="微软雅黑"/>
              <a:cs typeface="微软雅黑"/>
            </a:endParaRPr>
          </a:p>
          <a:p>
            <a:pPr marL="419100" marR="3208655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dirty="0" sz="1000" spc="5">
                <a:latin typeface="Consolas"/>
                <a:cs typeface="Consolas"/>
              </a:rPr>
              <a:t>ConsumerPermissions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ConsumerID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SELECT </a:t>
            </a:r>
            <a:r>
              <a:rPr dirty="0" sz="1000" spc="5">
                <a:latin typeface="Consolas"/>
                <a:cs typeface="Consolas"/>
              </a:rPr>
              <a:t>UserID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FROM </a:t>
            </a:r>
            <a:r>
              <a:rPr dirty="0" sz="1000" spc="5">
                <a:latin typeface="Consolas"/>
                <a:cs typeface="Consolas"/>
              </a:rPr>
              <a:t>Users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WHERE </a:t>
            </a:r>
            <a:r>
              <a:rPr dirty="0" sz="1000" spc="5">
                <a:latin typeface="Consolas"/>
                <a:cs typeface="Consolas"/>
              </a:rPr>
              <a:t>Role 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'Consumer'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为商家分配权限</a:t>
            </a:r>
            <a:endParaRPr sz="1000">
              <a:latin typeface="微软雅黑"/>
              <a:cs typeface="微软雅黑"/>
            </a:endParaRPr>
          </a:p>
          <a:p>
            <a:pPr marL="419100" marR="3208655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dirty="0" sz="1000" spc="5">
                <a:latin typeface="Consolas"/>
                <a:cs typeface="Consolas"/>
              </a:rPr>
              <a:t>MerchantPermissions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MerchantID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SELECT </a:t>
            </a:r>
            <a:r>
              <a:rPr dirty="0" sz="1000" spc="5">
                <a:latin typeface="Consolas"/>
                <a:cs typeface="Consolas"/>
              </a:rPr>
              <a:t>UserID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FROM </a:t>
            </a:r>
            <a:r>
              <a:rPr dirty="0" sz="1000" spc="5">
                <a:latin typeface="Consolas"/>
                <a:cs typeface="Consolas"/>
              </a:rPr>
              <a:t>Users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WHERE </a:t>
            </a:r>
            <a:r>
              <a:rPr dirty="0" sz="1000" spc="5">
                <a:latin typeface="Consolas"/>
                <a:cs typeface="Consolas"/>
              </a:rPr>
              <a:t>Role 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'Merchant'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END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调用存储过程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CALL </a:t>
            </a:r>
            <a:r>
              <a:rPr dirty="0" sz="1000" spc="5">
                <a:latin typeface="Consolas"/>
                <a:cs typeface="Consolas"/>
              </a:rPr>
              <a:t>AssignRolePermissions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latin typeface="微软雅黑"/>
                <a:cs typeface="微软雅黑"/>
              </a:rPr>
              <a:t>实现</a:t>
            </a:r>
            <a:r>
              <a:rPr dirty="0" sz="1500" spc="30" b="1">
                <a:latin typeface="微软雅黑"/>
                <a:cs typeface="微软雅黑"/>
              </a:rPr>
              <a:t>权</a:t>
            </a:r>
            <a:r>
              <a:rPr dirty="0" sz="1500" spc="-40" b="1">
                <a:latin typeface="MS Gothic"/>
                <a:cs typeface="MS Gothic"/>
              </a:rPr>
              <a:t>限</a:t>
            </a:r>
            <a:r>
              <a:rPr dirty="0" sz="1500" b="1">
                <a:latin typeface="微软雅黑"/>
                <a:cs typeface="微软雅黑"/>
              </a:rPr>
              <a:t>检</a:t>
            </a:r>
            <a:r>
              <a:rPr dirty="0" sz="1500" spc="30" b="1">
                <a:latin typeface="微软雅黑"/>
                <a:cs typeface="微软雅黑"/>
              </a:rPr>
              <a:t>查</a:t>
            </a:r>
            <a:r>
              <a:rPr dirty="0" sz="1500" spc="-40" b="1">
                <a:latin typeface="MS Gothic"/>
                <a:cs typeface="MS Gothic"/>
              </a:rPr>
              <a:t>的</a:t>
            </a:r>
            <a:r>
              <a:rPr dirty="0" sz="1500" b="1">
                <a:latin typeface="微软雅黑"/>
                <a:cs typeface="微软雅黑"/>
              </a:rPr>
              <a:t>逻辑</a:t>
            </a: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在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应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用程序中，可以通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过检查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用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户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的角色来决定是否授予特定操作的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权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限。例如：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685800"/>
            <a:ext cx="6400800" cy="7284720"/>
          </a:xfrm>
          <a:custGeom>
            <a:avLst/>
            <a:gdLst/>
            <a:ahLst/>
            <a:cxnLst/>
            <a:rect l="l" t="t" r="r" b="b"/>
            <a:pathLst>
              <a:path w="6400800" h="728472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7256145"/>
                </a:lnTo>
                <a:lnTo>
                  <a:pt x="2246" y="7267264"/>
                </a:lnTo>
                <a:lnTo>
                  <a:pt x="8372" y="7276347"/>
                </a:lnTo>
                <a:lnTo>
                  <a:pt x="17455" y="7282473"/>
                </a:lnTo>
                <a:lnTo>
                  <a:pt x="28575" y="7284720"/>
                </a:lnTo>
                <a:lnTo>
                  <a:pt x="6372225" y="7284720"/>
                </a:lnTo>
                <a:lnTo>
                  <a:pt x="6383344" y="7282473"/>
                </a:lnTo>
                <a:lnTo>
                  <a:pt x="6392427" y="7276347"/>
                </a:lnTo>
                <a:lnTo>
                  <a:pt x="6398553" y="7267264"/>
                </a:lnTo>
                <a:lnTo>
                  <a:pt x="6400800" y="725614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73100" y="751231"/>
            <a:ext cx="6426200" cy="78339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4620" marR="1583055">
              <a:lnSpc>
                <a:spcPct val="140000"/>
              </a:lnSpc>
              <a:spcBef>
                <a:spcPts val="95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procedure </a:t>
            </a:r>
            <a:r>
              <a:rPr dirty="0" sz="1000" spc="5">
                <a:latin typeface="Consolas"/>
                <a:cs typeface="Consolas"/>
              </a:rPr>
              <a:t>TConsumerMenuForm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CheckUserPermissions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UserID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 spc="5">
                <a:latin typeface="Consolas"/>
                <a:cs typeface="Consolas"/>
              </a:rPr>
              <a:t>Integer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);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var</a:t>
            </a:r>
            <a:endParaRPr sz="1000">
              <a:latin typeface="Consolas"/>
              <a:cs typeface="Consolas"/>
            </a:endParaRPr>
          </a:p>
          <a:p>
            <a:pPr marL="134620" marR="4930140" indent="142240">
              <a:lnSpc>
                <a:spcPct val="140000"/>
              </a:lnSpc>
            </a:pPr>
            <a:r>
              <a:rPr dirty="0" sz="1000" spc="5">
                <a:latin typeface="Consolas"/>
                <a:cs typeface="Consolas"/>
              </a:rPr>
              <a:t>UserRole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string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begin</a:t>
            </a:r>
            <a:endParaRPr sz="1000">
              <a:latin typeface="Consolas"/>
              <a:cs typeface="Consolas"/>
            </a:endParaRPr>
          </a:p>
          <a:p>
            <a:pPr marL="27686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//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查询用户角色</a:t>
            </a:r>
            <a:endParaRPr sz="1000">
              <a:latin typeface="微软雅黑"/>
              <a:cs typeface="微软雅黑"/>
            </a:endParaRPr>
          </a:p>
          <a:p>
            <a:pPr marL="27686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latin typeface="Consolas"/>
                <a:cs typeface="Consolas"/>
              </a:rPr>
              <a:t>ADOQuery1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Close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 marL="276860" marR="229870">
              <a:lnSpc>
                <a:spcPct val="140000"/>
              </a:lnSpc>
            </a:pPr>
            <a:r>
              <a:rPr dirty="0" sz="1000" spc="5">
                <a:latin typeface="Consolas"/>
                <a:cs typeface="Consolas"/>
              </a:rPr>
              <a:t>ADOQuery1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SQL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Text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:= </a:t>
            </a:r>
            <a:r>
              <a:rPr dirty="0" sz="1000" spc="5">
                <a:latin typeface="Consolas"/>
                <a:cs typeface="Consolas"/>
              </a:rPr>
              <a:t>Format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'SELECT Role FROM Users WHERE UserID </a:t>
            </a:r>
            <a:r>
              <a:rPr dirty="0" sz="1000" spc="10">
                <a:solidFill>
                  <a:srgbClr val="183691"/>
                </a:solidFill>
                <a:latin typeface="Consolas"/>
                <a:cs typeface="Consolas"/>
              </a:rPr>
              <a:t>= </a:t>
            </a:r>
            <a:r>
              <a:rPr dirty="0" sz="1000" spc="15">
                <a:solidFill>
                  <a:srgbClr val="183691"/>
                </a:solidFill>
                <a:latin typeface="Consolas"/>
                <a:cs typeface="Consolas"/>
              </a:rPr>
              <a:t>%d'</a:t>
            </a:r>
            <a:r>
              <a:rPr dirty="0" sz="1000" spc="1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dirty="0" sz="1000" spc="5">
                <a:latin typeface="Consolas"/>
                <a:cs typeface="Consolas"/>
              </a:rPr>
              <a:t>UserID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]);  </a:t>
            </a:r>
            <a:r>
              <a:rPr dirty="0" sz="1000" spc="5">
                <a:latin typeface="Consolas"/>
                <a:cs typeface="Consolas"/>
              </a:rPr>
              <a:t>ADOQuery1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Open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onsolas"/>
              <a:cs typeface="Consolas"/>
            </a:endParaRPr>
          </a:p>
          <a:p>
            <a:pPr marL="276860" marR="4076065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if not </a:t>
            </a:r>
            <a:r>
              <a:rPr dirty="0" sz="1000" spc="5">
                <a:latin typeface="Consolas"/>
                <a:cs typeface="Consolas"/>
              </a:rPr>
              <a:t>ADOQuery1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IsEmpty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then  begin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latin typeface="Consolas"/>
                <a:cs typeface="Consolas"/>
              </a:rPr>
              <a:t>UserRole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:=</a:t>
            </a:r>
            <a:r>
              <a:rPr dirty="0" sz="1000" spc="2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ADOQuery1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FieldByName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'Role'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).</a:t>
            </a:r>
            <a:r>
              <a:rPr dirty="0" sz="1000" spc="5">
                <a:latin typeface="Consolas"/>
                <a:cs typeface="Consolas"/>
              </a:rPr>
              <a:t>AsString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onsolas"/>
              <a:cs typeface="Consolas"/>
            </a:endParaRPr>
          </a:p>
          <a:p>
            <a:pPr marL="419100" marR="3933825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if </a:t>
            </a:r>
            <a:r>
              <a:rPr dirty="0" sz="1000" spc="5">
                <a:latin typeface="Consolas"/>
                <a:cs typeface="Consolas"/>
              </a:rPr>
              <a:t>UserRole 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=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'Consumer'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then  begin</a:t>
            </a:r>
            <a:endParaRPr sz="1000">
              <a:latin typeface="Consolas"/>
              <a:cs typeface="Consolas"/>
            </a:endParaRPr>
          </a:p>
          <a:p>
            <a:pPr marL="56134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//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显示消费者菜单</a:t>
            </a:r>
            <a:endParaRPr sz="1000">
              <a:latin typeface="微软雅黑"/>
              <a:cs typeface="微软雅黑"/>
            </a:endParaRPr>
          </a:p>
          <a:p>
            <a:pPr marL="419100" marR="4289425" indent="142240">
              <a:lnSpc>
                <a:spcPct val="140000"/>
              </a:lnSpc>
            </a:pPr>
            <a:r>
              <a:rPr dirty="0" sz="1000" spc="5">
                <a:latin typeface="Consolas"/>
                <a:cs typeface="Consolas"/>
              </a:rPr>
              <a:t>ConsumerMenuForm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Show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end</a:t>
            </a:r>
            <a:endParaRPr sz="1000">
              <a:latin typeface="Consolas"/>
              <a:cs typeface="Consolas"/>
            </a:endParaRPr>
          </a:p>
          <a:p>
            <a:pPr marL="419100" marR="3577590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else if </a:t>
            </a:r>
            <a:r>
              <a:rPr dirty="0" sz="1000" spc="5">
                <a:latin typeface="Consolas"/>
                <a:cs typeface="Consolas"/>
              </a:rPr>
              <a:t>UserRole 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=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'Merchant'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then  begin</a:t>
            </a:r>
            <a:endParaRPr sz="1000">
              <a:latin typeface="Consolas"/>
              <a:cs typeface="Consolas"/>
            </a:endParaRPr>
          </a:p>
          <a:p>
            <a:pPr marL="56134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//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显示商家菜单</a:t>
            </a:r>
            <a:endParaRPr sz="1000">
              <a:latin typeface="微软雅黑"/>
              <a:cs typeface="微软雅黑"/>
            </a:endParaRPr>
          </a:p>
          <a:p>
            <a:pPr marL="419100" marR="4289425" indent="142240">
              <a:lnSpc>
                <a:spcPct val="140000"/>
              </a:lnSpc>
            </a:pPr>
            <a:r>
              <a:rPr dirty="0" sz="1000" spc="5">
                <a:latin typeface="Consolas"/>
                <a:cs typeface="Consolas"/>
              </a:rPr>
              <a:t>MerchantMenuForm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Show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end</a:t>
            </a:r>
            <a:endParaRPr sz="1000">
              <a:latin typeface="Consolas"/>
              <a:cs typeface="Consolas"/>
            </a:endParaRPr>
          </a:p>
          <a:p>
            <a:pPr marL="419100" marR="5643245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else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begin</a:t>
            </a:r>
            <a:endParaRPr sz="1000">
              <a:latin typeface="Consolas"/>
              <a:cs typeface="Consolas"/>
            </a:endParaRPr>
          </a:p>
          <a:p>
            <a:pPr marL="419100" marR="3790950" indent="142240">
              <a:lnSpc>
                <a:spcPct val="140000"/>
              </a:lnSpc>
            </a:pPr>
            <a:r>
              <a:rPr dirty="0" sz="1000" spc="5">
                <a:latin typeface="Consolas"/>
                <a:cs typeface="Consolas"/>
              </a:rPr>
              <a:t>ShowMessage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'Unknown role.'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);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end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 marL="276860" marR="5785485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end  else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begin</a:t>
            </a:r>
            <a:endParaRPr sz="1000">
              <a:latin typeface="Consolas"/>
              <a:cs typeface="Consolas"/>
            </a:endParaRPr>
          </a:p>
          <a:p>
            <a:pPr marL="276860" marR="3790950" indent="142240">
              <a:lnSpc>
                <a:spcPct val="140000"/>
              </a:lnSpc>
            </a:pPr>
            <a:r>
              <a:rPr dirty="0" sz="1000" spc="5">
                <a:latin typeface="Consolas"/>
                <a:cs typeface="Consolas"/>
              </a:rPr>
              <a:t>ShowMessage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'User not found.'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);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end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end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Consolas"/>
              <a:cs typeface="Consolas"/>
            </a:endParaRPr>
          </a:p>
          <a:p>
            <a:pPr marL="12700" marR="5080">
              <a:lnSpc>
                <a:spcPct val="133300"/>
              </a:lnSpc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通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过这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种方式，我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们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确保了不同角色的用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户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只能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访问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和操作其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权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限范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围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内的功能，从而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实现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了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应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用用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户权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限管理。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2415539"/>
            <a:ext cx="6400800" cy="6431280"/>
          </a:xfrm>
          <a:custGeom>
            <a:avLst/>
            <a:gdLst/>
            <a:ahLst/>
            <a:cxnLst/>
            <a:rect l="l" t="t" r="r" b="b"/>
            <a:pathLst>
              <a:path w="6400800" h="643128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6402705"/>
                </a:lnTo>
                <a:lnTo>
                  <a:pt x="2246" y="6413824"/>
                </a:lnTo>
                <a:lnTo>
                  <a:pt x="8372" y="6422907"/>
                </a:lnTo>
                <a:lnTo>
                  <a:pt x="17455" y="6429033"/>
                </a:lnTo>
                <a:lnTo>
                  <a:pt x="28575" y="6431280"/>
                </a:lnTo>
                <a:lnTo>
                  <a:pt x="6372225" y="6431280"/>
                </a:lnTo>
                <a:lnTo>
                  <a:pt x="6383344" y="6429033"/>
                </a:lnTo>
                <a:lnTo>
                  <a:pt x="6392427" y="6422907"/>
                </a:lnTo>
                <a:lnTo>
                  <a:pt x="6398553" y="6413824"/>
                </a:lnTo>
                <a:lnTo>
                  <a:pt x="6400800" y="640270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73100" y="660910"/>
            <a:ext cx="6426200" cy="7820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6. </a:t>
            </a:r>
            <a:r>
              <a:rPr dirty="0" sz="1800" b="1">
                <a:latin typeface="微软雅黑"/>
                <a:cs typeface="微软雅黑"/>
              </a:rPr>
              <a:t>视</a:t>
            </a:r>
            <a:r>
              <a:rPr dirty="0" sz="1800" spc="35" b="1">
                <a:latin typeface="微软雅黑"/>
                <a:cs typeface="微软雅黑"/>
              </a:rPr>
              <a:t>图</a:t>
            </a:r>
            <a:r>
              <a:rPr dirty="0" sz="1800" spc="-50" b="1">
                <a:latin typeface="MS Gothic"/>
                <a:cs typeface="MS Gothic"/>
              </a:rPr>
              <a:t>和</a:t>
            </a:r>
            <a:r>
              <a:rPr dirty="0" sz="1800" b="1">
                <a:latin typeface="微软雅黑"/>
                <a:cs typeface="微软雅黑"/>
              </a:rPr>
              <a:t>动态</a:t>
            </a:r>
            <a:r>
              <a:rPr dirty="0" sz="1800" spc="-40" b="1">
                <a:latin typeface="微软雅黑"/>
                <a:cs typeface="微软雅黑"/>
              </a:rPr>
              <a:t> </a:t>
            </a:r>
            <a:r>
              <a:rPr dirty="0" sz="1800" spc="-5" b="1">
                <a:latin typeface="Arial"/>
                <a:cs typeface="Arial"/>
              </a:rPr>
              <a:t>SQL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1500" b="1">
                <a:latin typeface="微软雅黑"/>
                <a:cs typeface="微软雅黑"/>
              </a:rPr>
              <a:t>视图</a:t>
            </a:r>
            <a:endParaRPr sz="1500">
              <a:latin typeface="微软雅黑"/>
              <a:cs typeface="微软雅黑"/>
            </a:endParaRPr>
          </a:p>
          <a:p>
            <a:pPr algn="just" marL="12700" marR="5080">
              <a:lnSpc>
                <a:spcPct val="133300"/>
              </a:lnSpc>
              <a:spcBef>
                <a:spcPts val="9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为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了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简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化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并提高安全性，我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们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可以使用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视图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视图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可以将复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杂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封装起来，用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户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可以像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访问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表一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样访问视图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，从而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实现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数据的抽象和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隐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藏。以下是两个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视图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的示例，一个用于消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费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者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看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产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品信息，另一个用于商家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看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订单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信息。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00">
              <a:latin typeface="MS Gothic"/>
              <a:cs typeface="MS Gothic"/>
            </a:endParaRPr>
          </a:p>
          <a:p>
            <a:pPr marL="134620">
              <a:lnSpc>
                <a:spcPct val="100000"/>
              </a:lnSpc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消费者查看产品信息视图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如果视图已经存在，则删除它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DROP VIEW IF EXISTS</a:t>
            </a:r>
            <a:r>
              <a:rPr dirty="0" sz="1000" spc="2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ConsumerOrdersView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创建消费者查看订单的视图</a:t>
            </a:r>
            <a:endParaRPr sz="1000">
              <a:latin typeface="微软雅黑"/>
              <a:cs typeface="微软雅黑"/>
            </a:endParaRPr>
          </a:p>
          <a:p>
            <a:pPr marL="134620" marR="3933825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CREATE VIEW </a:t>
            </a:r>
            <a:r>
              <a:rPr dirty="0" sz="1000" spc="5">
                <a:latin typeface="Consolas"/>
                <a:cs typeface="Consolas"/>
              </a:rPr>
              <a:t>ConsumerOrdersView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AS  SELECT</a:t>
            </a:r>
            <a:endParaRPr sz="1000">
              <a:latin typeface="Consolas"/>
              <a:cs typeface="Consolas"/>
            </a:endParaRPr>
          </a:p>
          <a:p>
            <a:pPr marL="419100" marR="5073015">
              <a:lnSpc>
                <a:spcPct val="140000"/>
              </a:lnSpc>
            </a:pPr>
            <a:r>
              <a:rPr dirty="0" sz="1000" spc="5">
                <a:latin typeface="Consolas"/>
                <a:cs typeface="Consolas"/>
              </a:rPr>
              <a:t>o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OrderID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 </a:t>
            </a:r>
            <a:r>
              <a:rPr dirty="0" sz="1000" spc="10">
                <a:latin typeface="Consolas"/>
                <a:cs typeface="Consolas"/>
              </a:rPr>
              <a:t>o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ConsumerI</a:t>
            </a:r>
            <a:r>
              <a:rPr dirty="0" sz="1000" spc="15">
                <a:latin typeface="Consolas"/>
                <a:cs typeface="Consolas"/>
              </a:rPr>
              <a:t>D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 marR="3790950">
              <a:lnSpc>
                <a:spcPct val="140000"/>
              </a:lnSpc>
            </a:pPr>
            <a:r>
              <a:rPr dirty="0" sz="1000" spc="5">
                <a:latin typeface="Consolas"/>
                <a:cs typeface="Consolas"/>
              </a:rPr>
              <a:t>c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Password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AS </a:t>
            </a:r>
            <a:r>
              <a:rPr dirty="0" sz="1000" spc="5">
                <a:latin typeface="Consolas"/>
                <a:cs typeface="Consolas"/>
              </a:rPr>
              <a:t>ConsumerPassword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 o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ProductID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 marR="5001895">
              <a:lnSpc>
                <a:spcPct val="140000"/>
              </a:lnSpc>
            </a:pPr>
            <a:r>
              <a:rPr dirty="0" sz="1000" spc="10">
                <a:latin typeface="Consolas"/>
                <a:cs typeface="Consolas"/>
              </a:rPr>
              <a:t>p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ProductNam</a:t>
            </a:r>
            <a:r>
              <a:rPr dirty="0" sz="1000" spc="15">
                <a:latin typeface="Consolas"/>
                <a:cs typeface="Consolas"/>
              </a:rPr>
              <a:t>e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dirty="0" sz="1000" spc="5">
                <a:latin typeface="Consolas"/>
                <a:cs typeface="Consolas"/>
              </a:rPr>
              <a:t>o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Quantity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 </a:t>
            </a:r>
            <a:r>
              <a:rPr dirty="0" sz="1000" spc="10">
                <a:latin typeface="Consolas"/>
                <a:cs typeface="Consolas"/>
              </a:rPr>
              <a:t>o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TotalAmoun</a:t>
            </a:r>
            <a:r>
              <a:rPr dirty="0" sz="1000" spc="15">
                <a:latin typeface="Consolas"/>
                <a:cs typeface="Consolas"/>
              </a:rPr>
              <a:t>t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,  </a:t>
            </a:r>
            <a:r>
              <a:rPr dirty="0" sz="1000" spc="5">
                <a:latin typeface="Consolas"/>
                <a:cs typeface="Consolas"/>
              </a:rPr>
              <a:t>o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Status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 p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MerchantID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latin typeface="Consolas"/>
                <a:cs typeface="Consolas"/>
              </a:rPr>
              <a:t>m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Password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AS</a:t>
            </a:r>
            <a:r>
              <a:rPr dirty="0" sz="1000" spc="1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MerchantPassword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FROM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latin typeface="Consolas"/>
                <a:cs typeface="Consolas"/>
              </a:rPr>
              <a:t>Orders</a:t>
            </a:r>
            <a:r>
              <a:rPr dirty="0" sz="1000">
                <a:latin typeface="Consolas"/>
                <a:cs typeface="Consolas"/>
              </a:rPr>
              <a:t> </a:t>
            </a:r>
            <a:r>
              <a:rPr dirty="0" sz="1000" spc="10">
                <a:latin typeface="Consolas"/>
                <a:cs typeface="Consolas"/>
              </a:rPr>
              <a:t>o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JOIN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latin typeface="Consolas"/>
                <a:cs typeface="Consolas"/>
              </a:rPr>
              <a:t>Consumers </a:t>
            </a:r>
            <a:r>
              <a:rPr dirty="0" sz="1000" spc="10">
                <a:latin typeface="Consolas"/>
                <a:cs typeface="Consolas"/>
              </a:rPr>
              <a:t>c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ON </a:t>
            </a:r>
            <a:r>
              <a:rPr dirty="0" sz="1000" spc="5">
                <a:latin typeface="Consolas"/>
                <a:cs typeface="Consolas"/>
              </a:rPr>
              <a:t>o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ConsumerID 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c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ConsumerID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JOIN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latin typeface="Consolas"/>
                <a:cs typeface="Consolas"/>
              </a:rPr>
              <a:t>Products </a:t>
            </a:r>
            <a:r>
              <a:rPr dirty="0" sz="1000" spc="10">
                <a:latin typeface="Consolas"/>
                <a:cs typeface="Consolas"/>
              </a:rPr>
              <a:t>p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ON </a:t>
            </a:r>
            <a:r>
              <a:rPr dirty="0" sz="1000" spc="5">
                <a:latin typeface="Consolas"/>
                <a:cs typeface="Consolas"/>
              </a:rPr>
              <a:t>o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ProductID 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p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ProductID</a:t>
            </a:r>
            <a:endParaRPr sz="10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JOIN</a:t>
            </a:r>
            <a:endParaRPr sz="1000">
              <a:latin typeface="Consolas"/>
              <a:cs typeface="Consolas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latin typeface="Consolas"/>
                <a:cs typeface="Consolas"/>
              </a:rPr>
              <a:t>Merchants </a:t>
            </a:r>
            <a:r>
              <a:rPr dirty="0" sz="1000" spc="10">
                <a:latin typeface="Consolas"/>
                <a:cs typeface="Consolas"/>
              </a:rPr>
              <a:t>m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ON </a:t>
            </a:r>
            <a:r>
              <a:rPr dirty="0" sz="1000" spc="5">
                <a:latin typeface="Consolas"/>
                <a:cs typeface="Consolas"/>
              </a:rPr>
              <a:t>p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MerchantID 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=</a:t>
            </a:r>
            <a:r>
              <a:rPr dirty="0" sz="1000" spc="3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m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MerchantID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Consolas"/>
              <a:cs typeface="Consolas"/>
            </a:endParaRPr>
          </a:p>
          <a:p>
            <a:pPr marL="134620">
              <a:lnSpc>
                <a:spcPct val="100000"/>
              </a:lnSpc>
              <a:spcBef>
                <a:spcPts val="5"/>
              </a:spcBef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查询视图以验证其内容</a:t>
            </a:r>
            <a:endParaRPr sz="1000">
              <a:latin typeface="微软雅黑"/>
              <a:cs typeface="微软雅黑"/>
            </a:endParaRPr>
          </a:p>
          <a:p>
            <a:pPr marL="13462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SELECT 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*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FROM</a:t>
            </a:r>
            <a:r>
              <a:rPr dirty="0" sz="1000" spc="1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ConsumerOrdersView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706879"/>
            <a:ext cx="6400800" cy="1524000"/>
          </a:xfrm>
          <a:custGeom>
            <a:avLst/>
            <a:gdLst/>
            <a:ahLst/>
            <a:cxnLst/>
            <a:rect l="l" t="t" r="r" b="b"/>
            <a:pathLst>
              <a:path w="6400800" h="152400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1495425"/>
                </a:lnTo>
                <a:lnTo>
                  <a:pt x="2246" y="1506544"/>
                </a:lnTo>
                <a:lnTo>
                  <a:pt x="8372" y="1515627"/>
                </a:lnTo>
                <a:lnTo>
                  <a:pt x="17455" y="1521753"/>
                </a:lnTo>
                <a:lnTo>
                  <a:pt x="28575" y="1524000"/>
                </a:lnTo>
                <a:lnTo>
                  <a:pt x="6372225" y="1524000"/>
                </a:lnTo>
                <a:lnTo>
                  <a:pt x="6383344" y="1521753"/>
                </a:lnTo>
                <a:lnTo>
                  <a:pt x="6392427" y="1515627"/>
                </a:lnTo>
                <a:lnTo>
                  <a:pt x="6398553" y="1506544"/>
                </a:lnTo>
                <a:lnTo>
                  <a:pt x="6400800" y="149542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73100" y="662942"/>
            <a:ext cx="7120890" cy="5803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latin typeface="微软雅黑"/>
                <a:cs typeface="微软雅黑"/>
              </a:rPr>
              <a:t>动态</a:t>
            </a:r>
            <a:r>
              <a:rPr dirty="0" sz="1500" spc="-5" b="1">
                <a:latin typeface="Arial"/>
                <a:cs typeface="Arial"/>
              </a:rPr>
              <a:t>SQL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动态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SQL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是指在程序运行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时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生成和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执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行的</a:t>
            </a:r>
            <a:r>
              <a:rPr dirty="0" sz="1200" spc="-275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SQL</a:t>
            </a:r>
            <a:r>
              <a:rPr dirty="0" sz="120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语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句，适用于需要根据不同条件生成不同</a:t>
            </a:r>
            <a:r>
              <a:rPr dirty="0" sz="1200" spc="-275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SQL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场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景。以下示例展示了如何使用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动态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SQL</a:t>
            </a:r>
            <a:r>
              <a:rPr dirty="0" sz="120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查询产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品信息。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MS Gothic"/>
              <a:cs typeface="MS Gothic"/>
            </a:endParaRPr>
          </a:p>
          <a:p>
            <a:pPr marL="419100">
              <a:lnSpc>
                <a:spcPct val="100000"/>
              </a:lnSpc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//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检查</a:t>
            </a: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ID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是否已存在</a:t>
            </a:r>
            <a:endParaRPr sz="1000">
              <a:latin typeface="微软雅黑"/>
              <a:cs typeface="微软雅黑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if </a:t>
            </a:r>
            <a:r>
              <a:rPr dirty="0" sz="1000" spc="5">
                <a:latin typeface="Consolas"/>
                <a:cs typeface="Consolas"/>
              </a:rPr>
              <a:t>UserType 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=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'Consumer'</a:t>
            </a:r>
            <a:r>
              <a:rPr dirty="0" sz="1000" spc="25">
                <a:solidFill>
                  <a:srgbClr val="183691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then</a:t>
            </a:r>
            <a:endParaRPr sz="1000">
              <a:latin typeface="Consolas"/>
              <a:cs typeface="Consolas"/>
            </a:endParaRPr>
          </a:p>
          <a:p>
            <a:pPr marL="419100" marR="5080" indent="142240">
              <a:lnSpc>
                <a:spcPct val="140000"/>
              </a:lnSpc>
            </a:pPr>
            <a:r>
              <a:rPr dirty="0" sz="1000" spc="5">
                <a:latin typeface="Consolas"/>
                <a:cs typeface="Consolas"/>
              </a:rPr>
              <a:t>Query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SQL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Text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:= </a:t>
            </a:r>
            <a:r>
              <a:rPr dirty="0" sz="1000" spc="5">
                <a:latin typeface="Consolas"/>
                <a:cs typeface="Consolas"/>
              </a:rPr>
              <a:t>Format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'SELECT COUNT(*) AS UserCount FROM Consumers WHERE ConsumerID </a:t>
            </a:r>
            <a:r>
              <a:rPr dirty="0" sz="1000" spc="10">
                <a:solidFill>
                  <a:srgbClr val="183691"/>
                </a:solidFill>
                <a:latin typeface="Consolas"/>
                <a:cs typeface="Consolas"/>
              </a:rPr>
              <a:t>=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%s'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else if </a:t>
            </a:r>
            <a:r>
              <a:rPr dirty="0" sz="1000" spc="5">
                <a:latin typeface="Consolas"/>
                <a:cs typeface="Consolas"/>
              </a:rPr>
              <a:t>UserType 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=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'Merchant'</a:t>
            </a:r>
            <a:r>
              <a:rPr dirty="0" sz="1000" spc="30">
                <a:solidFill>
                  <a:srgbClr val="183691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then</a:t>
            </a:r>
            <a:endParaRPr sz="1000">
              <a:latin typeface="Consolas"/>
              <a:cs typeface="Consolas"/>
            </a:endParaRPr>
          </a:p>
          <a:p>
            <a:pPr marL="419100" marR="5080" indent="142240">
              <a:lnSpc>
                <a:spcPct val="140000"/>
              </a:lnSpc>
            </a:pPr>
            <a:r>
              <a:rPr dirty="0" sz="1000" spc="5">
                <a:latin typeface="Consolas"/>
                <a:cs typeface="Consolas"/>
              </a:rPr>
              <a:t>Query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SQL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Text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:= </a:t>
            </a:r>
            <a:r>
              <a:rPr dirty="0" sz="1000" spc="5">
                <a:latin typeface="Consolas"/>
                <a:cs typeface="Consolas"/>
              </a:rPr>
              <a:t>Format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'SELECT COUNT(*) AS UserCount FROM Merchants WHERE MerchantID </a:t>
            </a:r>
            <a:r>
              <a:rPr dirty="0" sz="1000" spc="10">
                <a:solidFill>
                  <a:srgbClr val="183691"/>
                </a:solidFill>
                <a:latin typeface="Consolas"/>
                <a:cs typeface="Consolas"/>
              </a:rPr>
              <a:t>=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%s'  </a:t>
            </a:r>
            <a:r>
              <a:rPr dirty="0" sz="1000" spc="5">
                <a:latin typeface="Consolas"/>
                <a:cs typeface="Consolas"/>
              </a:rPr>
              <a:t>Query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Open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Consolas"/>
              <a:cs typeface="Consolas"/>
            </a:endParaRPr>
          </a:p>
          <a:p>
            <a:pPr marL="12700" marR="809625">
              <a:lnSpc>
                <a:spcPct val="133300"/>
              </a:lnSpc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例如上文中我的代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码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就使用了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动态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sql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。通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过这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种方式，可以根据用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户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的不同需求灵活地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数 据。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3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latin typeface="微软雅黑"/>
                <a:cs typeface="微软雅黑"/>
              </a:rPr>
              <a:t>视</a:t>
            </a:r>
            <a:r>
              <a:rPr dirty="0" sz="1500" spc="30" b="1">
                <a:latin typeface="微软雅黑"/>
                <a:cs typeface="微软雅黑"/>
              </a:rPr>
              <a:t>图</a:t>
            </a:r>
            <a:r>
              <a:rPr dirty="0" sz="1500" spc="-40" b="1">
                <a:latin typeface="MS Gothic"/>
                <a:cs typeface="MS Gothic"/>
              </a:rPr>
              <a:t>和</a:t>
            </a:r>
            <a:r>
              <a:rPr dirty="0" sz="1500" b="1">
                <a:latin typeface="微软雅黑"/>
                <a:cs typeface="微软雅黑"/>
              </a:rPr>
              <a:t>动态</a:t>
            </a:r>
            <a:r>
              <a:rPr dirty="0" sz="1500" spc="-40" b="1">
                <a:latin typeface="微软雅黑"/>
                <a:cs typeface="微软雅黑"/>
              </a:rPr>
              <a:t> </a:t>
            </a:r>
            <a:r>
              <a:rPr dirty="0" sz="1500" spc="-5" b="1">
                <a:latin typeface="Arial"/>
                <a:cs typeface="Arial"/>
              </a:rPr>
              <a:t>SQL</a:t>
            </a:r>
            <a:r>
              <a:rPr dirty="0" sz="1500" spc="35" b="1">
                <a:latin typeface="Arial"/>
                <a:cs typeface="Arial"/>
              </a:rPr>
              <a:t> </a:t>
            </a:r>
            <a:r>
              <a:rPr dirty="0" sz="1500" spc="-40" b="1">
                <a:latin typeface="MS Gothic"/>
                <a:cs typeface="MS Gothic"/>
              </a:rPr>
              <a:t>的</a:t>
            </a:r>
            <a:r>
              <a:rPr dirty="0" sz="1500" spc="30" b="1">
                <a:latin typeface="微软雅黑"/>
                <a:cs typeface="微软雅黑"/>
              </a:rPr>
              <a:t>结</a:t>
            </a:r>
            <a:r>
              <a:rPr dirty="0" sz="1500" spc="-10" b="1">
                <a:latin typeface="MS Gothic"/>
                <a:cs typeface="MS Gothic"/>
              </a:rPr>
              <a:t>合</a:t>
            </a:r>
            <a:endParaRPr sz="1500">
              <a:latin typeface="MS Gothic"/>
              <a:cs typeface="MS Gothic"/>
            </a:endParaRPr>
          </a:p>
          <a:p>
            <a:pPr algn="just" marL="12700" marR="808990">
              <a:lnSpc>
                <a:spcPct val="133300"/>
              </a:lnSpc>
              <a:spcBef>
                <a:spcPts val="9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结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合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视图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和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动态</a:t>
            </a:r>
            <a:r>
              <a:rPr dirty="0" sz="1200" spc="-11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SQL</a:t>
            </a:r>
            <a:r>
              <a:rPr dirty="0" sz="1200" spc="-5">
                <a:solidFill>
                  <a:srgbClr val="333333"/>
                </a:solidFill>
                <a:latin typeface="MS Gothic"/>
                <a:cs typeface="MS Gothic"/>
              </a:rPr>
              <a:t>，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可以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进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一步提高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的灵活性和安全性。例如，可以在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视图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的基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础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上使 用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动态</a:t>
            </a:r>
            <a:r>
              <a:rPr dirty="0" sz="1200" spc="-4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SQL</a:t>
            </a:r>
            <a:r>
              <a:rPr dirty="0" sz="12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来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特定条件的数据。通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过这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种方式，可以充分利用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视图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和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动态</a:t>
            </a:r>
            <a:r>
              <a:rPr dirty="0" sz="1200" spc="-4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SQL</a:t>
            </a:r>
            <a:r>
              <a:rPr dirty="0" sz="12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优势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， 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实现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灵活、高效、安全的数据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15" b="1">
                <a:latin typeface="Arial"/>
                <a:cs typeface="Arial"/>
              </a:rPr>
              <a:t>7.</a:t>
            </a:r>
            <a:r>
              <a:rPr dirty="0" sz="1800" spc="-50" b="1">
                <a:latin typeface="MS Gothic"/>
                <a:cs typeface="MS Gothic"/>
              </a:rPr>
              <a:t>存</a:t>
            </a:r>
            <a:r>
              <a:rPr dirty="0" sz="1800" b="1">
                <a:latin typeface="微软雅黑"/>
                <a:cs typeface="微软雅黑"/>
              </a:rPr>
              <a:t>储</a:t>
            </a:r>
            <a:r>
              <a:rPr dirty="0" sz="1800" spc="35" b="1">
                <a:latin typeface="微软雅黑"/>
                <a:cs typeface="微软雅黑"/>
              </a:rPr>
              <a:t>过</a:t>
            </a:r>
            <a:r>
              <a:rPr dirty="0" sz="1800" spc="-50" b="1">
                <a:latin typeface="MS Gothic"/>
                <a:cs typeface="MS Gothic"/>
              </a:rPr>
              <a:t>程</a:t>
            </a:r>
            <a:r>
              <a:rPr dirty="0" sz="1800" spc="35" b="1">
                <a:latin typeface="Arial"/>
                <a:cs typeface="Arial"/>
              </a:rPr>
              <a:t>-</a:t>
            </a:r>
            <a:r>
              <a:rPr dirty="0" sz="1800" spc="-10" b="1">
                <a:latin typeface="MS Gothic"/>
                <a:cs typeface="MS Gothic"/>
              </a:rPr>
              <a:t>函</a:t>
            </a:r>
            <a:r>
              <a:rPr dirty="0" sz="1800" spc="-50" b="1">
                <a:latin typeface="MS Gothic"/>
                <a:cs typeface="MS Gothic"/>
              </a:rPr>
              <a:t>数</a:t>
            </a:r>
            <a:r>
              <a:rPr dirty="0" sz="1800" spc="35" b="1">
                <a:latin typeface="Arial"/>
                <a:cs typeface="Arial"/>
              </a:rPr>
              <a:t>-</a:t>
            </a:r>
            <a:r>
              <a:rPr dirty="0" sz="1800" spc="-50" b="1">
                <a:latin typeface="MS Gothic"/>
                <a:cs typeface="MS Gothic"/>
              </a:rPr>
              <a:t>触</a:t>
            </a:r>
            <a:r>
              <a:rPr dirty="0" sz="1800" spc="35" b="1">
                <a:latin typeface="微软雅黑"/>
                <a:cs typeface="微软雅黑"/>
              </a:rPr>
              <a:t>发</a:t>
            </a:r>
            <a:r>
              <a:rPr dirty="0" sz="1800" spc="-10" b="1">
                <a:latin typeface="MS Gothic"/>
                <a:cs typeface="MS Gothic"/>
              </a:rPr>
              <a:t>器</a:t>
            </a:r>
            <a:endParaRPr sz="18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1500" spc="30" b="1">
                <a:latin typeface="微软雅黑"/>
                <a:cs typeface="微软雅黑"/>
              </a:rPr>
              <a:t>储</a:t>
            </a:r>
            <a:r>
              <a:rPr dirty="0" sz="1500" spc="-40" b="1">
                <a:latin typeface="MS Gothic"/>
                <a:cs typeface="MS Gothic"/>
              </a:rPr>
              <a:t>存</a:t>
            </a:r>
            <a:r>
              <a:rPr dirty="0" sz="1500" spc="30" b="1">
                <a:latin typeface="微软雅黑"/>
                <a:cs typeface="微软雅黑"/>
              </a:rPr>
              <a:t>过</a:t>
            </a:r>
            <a:r>
              <a:rPr dirty="0" sz="1500" spc="-10" b="1">
                <a:latin typeface="MS Gothic"/>
                <a:cs typeface="MS Gothic"/>
              </a:rPr>
              <a:t>程</a:t>
            </a:r>
            <a:endParaRPr sz="15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下面的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语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句中使用了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储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存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过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程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685800"/>
            <a:ext cx="6400800" cy="4724400"/>
          </a:xfrm>
          <a:custGeom>
            <a:avLst/>
            <a:gdLst/>
            <a:ahLst/>
            <a:cxnLst/>
            <a:rect l="l" t="t" r="r" b="b"/>
            <a:pathLst>
              <a:path w="6400800" h="472440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4695825"/>
                </a:lnTo>
                <a:lnTo>
                  <a:pt x="2246" y="4706944"/>
                </a:lnTo>
                <a:lnTo>
                  <a:pt x="8372" y="4716027"/>
                </a:lnTo>
                <a:lnTo>
                  <a:pt x="17455" y="4722153"/>
                </a:lnTo>
                <a:lnTo>
                  <a:pt x="28575" y="4724400"/>
                </a:lnTo>
                <a:lnTo>
                  <a:pt x="6372225" y="4724400"/>
                </a:lnTo>
                <a:lnTo>
                  <a:pt x="6383344" y="4722153"/>
                </a:lnTo>
                <a:lnTo>
                  <a:pt x="6392427" y="4716027"/>
                </a:lnTo>
                <a:lnTo>
                  <a:pt x="6398553" y="4706944"/>
                </a:lnTo>
                <a:lnTo>
                  <a:pt x="6400800" y="469582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95019" y="751231"/>
            <a:ext cx="5354955" cy="429260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如果存储过程</a:t>
            </a:r>
            <a:r>
              <a:rPr dirty="0" sz="1000" spc="260">
                <a:solidFill>
                  <a:srgbClr val="969896"/>
                </a:solidFill>
                <a:latin typeface="微软雅黑"/>
                <a:cs typeface="微软雅黑"/>
              </a:rPr>
              <a:t> </a:t>
            </a: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AddProduct</a:t>
            </a:r>
            <a:r>
              <a:rPr dirty="0" sz="1000" spc="20">
                <a:solidFill>
                  <a:srgbClr val="969896"/>
                </a:solidFill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已存在，则将其删除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DROP PROCEDURE IF EXISTS</a:t>
            </a:r>
            <a:r>
              <a:rPr dirty="0" sz="1000" spc="3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AddProduct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创建新的存储过程</a:t>
            </a:r>
            <a:r>
              <a:rPr dirty="0" sz="1000" spc="260">
                <a:solidFill>
                  <a:srgbClr val="969896"/>
                </a:solidFill>
                <a:latin typeface="微软雅黑"/>
                <a:cs typeface="微软雅黑"/>
              </a:rPr>
              <a:t> </a:t>
            </a: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AddProduct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CREATE OR REPLACE PROCEDURE</a:t>
            </a:r>
            <a:r>
              <a:rPr dirty="0" sz="1000" spc="3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AddProduct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 </a:t>
            </a:r>
            <a:r>
              <a:rPr dirty="0" sz="1000" spc="5">
                <a:latin typeface="Consolas"/>
                <a:cs typeface="Consolas"/>
              </a:rPr>
              <a:t>p_ProductID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INT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297180" marR="2912110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 </a:t>
            </a:r>
            <a:r>
              <a:rPr dirty="0" sz="1000" spc="5">
                <a:latin typeface="Consolas"/>
                <a:cs typeface="Consolas"/>
              </a:rPr>
              <a:t>p_ProductName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VARCHAR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100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),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 </a:t>
            </a:r>
            <a:r>
              <a:rPr dirty="0" sz="1000" spc="5">
                <a:latin typeface="Consolas"/>
                <a:cs typeface="Consolas"/>
              </a:rPr>
              <a:t>p_Price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DECIMAL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solidFill>
                  <a:srgbClr val="0086B3"/>
                </a:solidFill>
                <a:latin typeface="Consolas"/>
                <a:cs typeface="Consolas"/>
              </a:rPr>
              <a:t>10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10">
                <a:solidFill>
                  <a:srgbClr val="0086B3"/>
                </a:solidFill>
                <a:latin typeface="Consolas"/>
                <a:cs typeface="Consolas"/>
              </a:rPr>
              <a:t>2</a:t>
            </a: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),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 </a:t>
            </a:r>
            <a:r>
              <a:rPr dirty="0" sz="1000" spc="5">
                <a:latin typeface="Consolas"/>
                <a:cs typeface="Consolas"/>
              </a:rPr>
              <a:t>p_Stock</a:t>
            </a:r>
            <a:r>
              <a:rPr dirty="0" sz="1000" spc="15"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INT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 </a:t>
            </a:r>
            <a:r>
              <a:rPr dirty="0" sz="1000" spc="5">
                <a:latin typeface="Consolas"/>
                <a:cs typeface="Consolas"/>
              </a:rPr>
              <a:t>p_MerchantID</a:t>
            </a:r>
            <a:r>
              <a:rPr dirty="0" sz="1000" spc="20"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INT</a:t>
            </a:r>
            <a:endParaRPr sz="1000">
              <a:latin typeface="Consolas"/>
              <a:cs typeface="Consolas"/>
            </a:endParaRPr>
          </a:p>
          <a:p>
            <a:pPr marL="12700" marR="5191760">
              <a:lnSpc>
                <a:spcPct val="140000"/>
              </a:lnSpc>
            </a:pPr>
            <a:r>
              <a:rPr dirty="0" sz="1000" spc="10">
                <a:solidFill>
                  <a:srgbClr val="333333"/>
                </a:solidFill>
                <a:latin typeface="Consolas"/>
                <a:cs typeface="Consolas"/>
              </a:rPr>
              <a:t>)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AS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BEGIN</a:t>
            </a:r>
            <a:endParaRPr sz="10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插入新产品到</a:t>
            </a:r>
            <a:r>
              <a:rPr dirty="0" sz="1000" spc="260">
                <a:solidFill>
                  <a:srgbClr val="969896"/>
                </a:solidFill>
                <a:latin typeface="微软雅黑"/>
                <a:cs typeface="微软雅黑"/>
              </a:rPr>
              <a:t> </a:t>
            </a: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Products</a:t>
            </a:r>
            <a:r>
              <a:rPr dirty="0" sz="1000" spc="20">
                <a:solidFill>
                  <a:srgbClr val="969896"/>
                </a:solidFill>
                <a:latin typeface="Consolas"/>
                <a:cs typeface="Consolas"/>
              </a:rPr>
              <a:t>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表中</a:t>
            </a:r>
            <a:endParaRPr sz="1000">
              <a:latin typeface="微软雅黑"/>
              <a:cs typeface="微软雅黑"/>
            </a:endParaRPr>
          </a:p>
          <a:p>
            <a:pPr marL="297180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INSERT INTO </a:t>
            </a:r>
            <a:r>
              <a:rPr dirty="0" sz="1000" spc="5">
                <a:latin typeface="Consolas"/>
                <a:cs typeface="Consolas"/>
              </a:rPr>
              <a:t>Products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ProductID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ProductName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Price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Stock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MerchantID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VALUES 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dirty="0" sz="1000" spc="5">
                <a:latin typeface="Consolas"/>
                <a:cs typeface="Consolas"/>
              </a:rPr>
              <a:t>p_ProductID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p_ProductName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p_Price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p_Stock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</a:t>
            </a:r>
            <a:r>
              <a:rPr dirty="0" sz="1000" spc="60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p_MerchantID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);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输出一条消息，指示插入成功</a:t>
            </a:r>
            <a:endParaRPr sz="1000">
              <a:latin typeface="微软雅黑"/>
              <a:cs typeface="微软雅黑"/>
            </a:endParaRPr>
          </a:p>
          <a:p>
            <a:pPr marL="12700" marR="134620" indent="284480">
              <a:lnSpc>
                <a:spcPct val="140000"/>
              </a:lnSpc>
            </a:pPr>
            <a:r>
              <a:rPr dirty="0" sz="1000" spc="5">
                <a:latin typeface="Consolas"/>
                <a:cs typeface="Consolas"/>
              </a:rPr>
              <a:t>RAISE NOTICE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'Product </a:t>
            </a:r>
            <a:r>
              <a:rPr dirty="0" sz="1000" spc="10">
                <a:solidFill>
                  <a:srgbClr val="183691"/>
                </a:solidFill>
                <a:latin typeface="Consolas"/>
                <a:cs typeface="Consolas"/>
              </a:rPr>
              <a:t>% </a:t>
            </a:r>
            <a:r>
              <a:rPr dirty="0" sz="1000" spc="5">
                <a:solidFill>
                  <a:srgbClr val="183691"/>
                </a:solidFill>
                <a:latin typeface="Consolas"/>
                <a:cs typeface="Consolas"/>
              </a:rPr>
              <a:t>has been added successfully.'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dirty="0" sz="1000" spc="5">
                <a:latin typeface="Consolas"/>
                <a:cs typeface="Consolas"/>
              </a:rPr>
              <a:t>p_ProductName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END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5572254"/>
            <a:ext cx="1854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可以看出我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创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建了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储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存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过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程</a:t>
            </a:r>
            <a:endParaRPr sz="1200">
              <a:latin typeface="MS Gothic"/>
              <a:cs typeface="MS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20869" y="5958840"/>
            <a:ext cx="6250722" cy="2063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73100" y="8190045"/>
            <a:ext cx="6401435" cy="866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dirty="0" sz="1500" spc="-40" b="1">
                <a:latin typeface="MS Gothic"/>
                <a:cs typeface="MS Gothic"/>
              </a:rPr>
              <a:t>触</a:t>
            </a:r>
            <a:r>
              <a:rPr dirty="0" sz="1500" spc="30" b="1">
                <a:latin typeface="微软雅黑"/>
                <a:cs typeface="微软雅黑"/>
              </a:rPr>
              <a:t>发</a:t>
            </a:r>
            <a:r>
              <a:rPr dirty="0" sz="1500" spc="-10" b="1">
                <a:latin typeface="MS Gothic"/>
                <a:cs typeface="MS Gothic"/>
              </a:rPr>
              <a:t>器</a:t>
            </a:r>
            <a:r>
              <a:rPr dirty="0" sz="1500" spc="-380" b="1">
                <a:latin typeface="MS Gothic"/>
                <a:cs typeface="MS Gothic"/>
              </a:rPr>
              <a:t> </a:t>
            </a:r>
            <a:r>
              <a:rPr dirty="0" sz="1500" spc="-15" b="1">
                <a:latin typeface="Arial"/>
                <a:cs typeface="Arial"/>
              </a:rPr>
              <a:t>(Trigger)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33300"/>
              </a:lnSpc>
              <a:spcBef>
                <a:spcPts val="9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执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行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这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些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SQL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命令后，每当向</a:t>
            </a:r>
            <a:r>
              <a:rPr dirty="0" sz="1200" spc="-295">
                <a:solidFill>
                  <a:srgbClr val="333333"/>
                </a:solidFill>
                <a:latin typeface="MS Gothic"/>
                <a:cs typeface="MS Gothic"/>
              </a:rPr>
              <a:t> 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Orders</a:t>
            </a:r>
            <a:r>
              <a:rPr dirty="0" sz="12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表插入新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记录时</a:t>
            </a:r>
            <a:r>
              <a:rPr dirty="0" sz="1200" spc="-5">
                <a:solidFill>
                  <a:srgbClr val="333333"/>
                </a:solidFill>
                <a:latin typeface="MS Gothic"/>
                <a:cs typeface="MS Gothic"/>
              </a:rPr>
              <a:t>，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Products</a:t>
            </a:r>
            <a:r>
              <a:rPr dirty="0" sz="12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表中的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库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存将自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动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减少相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应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数 量。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021080"/>
            <a:ext cx="6400800" cy="3870960"/>
          </a:xfrm>
          <a:custGeom>
            <a:avLst/>
            <a:gdLst/>
            <a:ahLst/>
            <a:cxnLst/>
            <a:rect l="l" t="t" r="r" b="b"/>
            <a:pathLst>
              <a:path w="6400800" h="3870960">
                <a:moveTo>
                  <a:pt x="6372225" y="0"/>
                </a:moveTo>
                <a:lnTo>
                  <a:pt x="28575" y="0"/>
                </a:lnTo>
                <a:lnTo>
                  <a:pt x="17455" y="2246"/>
                </a:lnTo>
                <a:lnTo>
                  <a:pt x="8372" y="8372"/>
                </a:lnTo>
                <a:lnTo>
                  <a:pt x="2246" y="17455"/>
                </a:lnTo>
                <a:lnTo>
                  <a:pt x="0" y="28575"/>
                </a:lnTo>
                <a:lnTo>
                  <a:pt x="0" y="3842385"/>
                </a:lnTo>
                <a:lnTo>
                  <a:pt x="2246" y="3853504"/>
                </a:lnTo>
                <a:lnTo>
                  <a:pt x="8372" y="3862587"/>
                </a:lnTo>
                <a:lnTo>
                  <a:pt x="17455" y="3868713"/>
                </a:lnTo>
                <a:lnTo>
                  <a:pt x="28575" y="3870960"/>
                </a:lnTo>
                <a:lnTo>
                  <a:pt x="6372225" y="3870960"/>
                </a:lnTo>
                <a:lnTo>
                  <a:pt x="6383344" y="3868713"/>
                </a:lnTo>
                <a:lnTo>
                  <a:pt x="6392427" y="3862587"/>
                </a:lnTo>
                <a:lnTo>
                  <a:pt x="6398553" y="3853504"/>
                </a:lnTo>
                <a:lnTo>
                  <a:pt x="6400800" y="3842385"/>
                </a:lnTo>
                <a:lnTo>
                  <a:pt x="6400800" y="28575"/>
                </a:lnTo>
                <a:lnTo>
                  <a:pt x="6398553" y="17455"/>
                </a:lnTo>
                <a:lnTo>
                  <a:pt x="6392427" y="8372"/>
                </a:lnTo>
                <a:lnTo>
                  <a:pt x="6383344" y="2246"/>
                </a:lnTo>
                <a:lnTo>
                  <a:pt x="6372225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76148" y="664974"/>
            <a:ext cx="3683000" cy="3860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MS Gothic"/>
                <a:cs typeface="MS Gothic"/>
              </a:rPr>
              <a:t>示例</a:t>
            </a:r>
            <a:r>
              <a:rPr dirty="0" sz="1200" spc="-30" b="1">
                <a:latin typeface="MS Gothic"/>
                <a:cs typeface="MS Gothic"/>
              </a:rPr>
              <a:t>：</a:t>
            </a:r>
            <a:r>
              <a:rPr dirty="0" sz="1200" spc="20" b="1">
                <a:latin typeface="微软雅黑"/>
                <a:cs typeface="微软雅黑"/>
              </a:rPr>
              <a:t>创</a:t>
            </a:r>
            <a:r>
              <a:rPr dirty="0" sz="1200" spc="-5" b="1">
                <a:latin typeface="MS Gothic"/>
                <a:cs typeface="MS Gothic"/>
              </a:rPr>
              <a:t>建一个</a:t>
            </a:r>
            <a:r>
              <a:rPr dirty="0" sz="1200" spc="-30" b="1">
                <a:latin typeface="MS Gothic"/>
                <a:cs typeface="MS Gothic"/>
              </a:rPr>
              <a:t>触</a:t>
            </a:r>
            <a:r>
              <a:rPr dirty="0" sz="1200" spc="20" b="1">
                <a:latin typeface="微软雅黑"/>
                <a:cs typeface="微软雅黑"/>
              </a:rPr>
              <a:t>发</a:t>
            </a:r>
            <a:r>
              <a:rPr dirty="0" sz="1200" spc="-5" b="1">
                <a:latin typeface="MS Gothic"/>
                <a:cs typeface="MS Gothic"/>
              </a:rPr>
              <a:t>器</a:t>
            </a:r>
            <a:r>
              <a:rPr dirty="0" sz="1200" spc="-30" b="1">
                <a:latin typeface="MS Gothic"/>
                <a:cs typeface="MS Gothic"/>
              </a:rPr>
              <a:t>在</a:t>
            </a:r>
            <a:r>
              <a:rPr dirty="0" sz="1200" b="1">
                <a:latin typeface="微软雅黑"/>
                <a:cs typeface="微软雅黑"/>
              </a:rPr>
              <a:t>订</a:t>
            </a:r>
            <a:r>
              <a:rPr dirty="0" sz="1200" spc="20" b="1">
                <a:latin typeface="微软雅黑"/>
                <a:cs typeface="微软雅黑"/>
              </a:rPr>
              <a:t>单</a:t>
            </a:r>
            <a:r>
              <a:rPr dirty="0" sz="1200" spc="-5" b="1">
                <a:latin typeface="MS Gothic"/>
                <a:cs typeface="MS Gothic"/>
              </a:rPr>
              <a:t>插</a:t>
            </a:r>
            <a:r>
              <a:rPr dirty="0" sz="1200" spc="-30" b="1">
                <a:latin typeface="MS Gothic"/>
                <a:cs typeface="MS Gothic"/>
              </a:rPr>
              <a:t>入</a:t>
            </a:r>
            <a:r>
              <a:rPr dirty="0" sz="1200" spc="20" b="1">
                <a:latin typeface="微软雅黑"/>
                <a:cs typeface="微软雅黑"/>
              </a:rPr>
              <a:t>时</a:t>
            </a:r>
            <a:r>
              <a:rPr dirty="0" sz="1200" spc="-30" b="1">
                <a:latin typeface="MS Gothic"/>
                <a:cs typeface="MS Gothic"/>
              </a:rPr>
              <a:t>自</a:t>
            </a:r>
            <a:r>
              <a:rPr dirty="0" sz="1200" spc="20" b="1">
                <a:latin typeface="微软雅黑"/>
                <a:cs typeface="微软雅黑"/>
              </a:rPr>
              <a:t>动</a:t>
            </a:r>
            <a:r>
              <a:rPr dirty="0" sz="1200" spc="-5" b="1">
                <a:latin typeface="MS Gothic"/>
                <a:cs typeface="MS Gothic"/>
              </a:rPr>
              <a:t>更</a:t>
            </a:r>
            <a:r>
              <a:rPr dirty="0" sz="1200" spc="-30" b="1">
                <a:latin typeface="MS Gothic"/>
                <a:cs typeface="MS Gothic"/>
              </a:rPr>
              <a:t>新</a:t>
            </a:r>
            <a:r>
              <a:rPr dirty="0" sz="1200" spc="20" b="1">
                <a:latin typeface="微软雅黑"/>
                <a:cs typeface="微软雅黑"/>
              </a:rPr>
              <a:t>产</a:t>
            </a:r>
            <a:r>
              <a:rPr dirty="0" sz="1200" spc="-30" b="1">
                <a:latin typeface="MS Gothic"/>
                <a:cs typeface="MS Gothic"/>
              </a:rPr>
              <a:t>品</a:t>
            </a:r>
            <a:r>
              <a:rPr dirty="0" sz="1200" spc="20" b="1">
                <a:latin typeface="微软雅黑"/>
                <a:cs typeface="微软雅黑"/>
              </a:rPr>
              <a:t>库</a:t>
            </a:r>
            <a:r>
              <a:rPr dirty="0" sz="1200" spc="-5" b="1">
                <a:latin typeface="MS Gothic"/>
                <a:cs typeface="MS Gothic"/>
              </a:rPr>
              <a:t>存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MS Gothic"/>
              <a:cs typeface="MS Gothic"/>
            </a:endParaRPr>
          </a:p>
          <a:p>
            <a:pPr marL="131445">
              <a:lnSpc>
                <a:spcPct val="100000"/>
              </a:lnSpc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删除已有的触发器函数</a:t>
            </a:r>
            <a:endParaRPr sz="1000">
              <a:latin typeface="微软雅黑"/>
              <a:cs typeface="微软雅黑"/>
            </a:endParaRPr>
          </a:p>
          <a:p>
            <a:pPr marL="131445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DROP FUNCTION IF EXISTS</a:t>
            </a:r>
            <a:r>
              <a:rPr dirty="0" sz="1000" spc="2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UpdateProductStock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Consolas"/>
              <a:cs typeface="Consolas"/>
            </a:endParaRPr>
          </a:p>
          <a:p>
            <a:pPr marL="131445">
              <a:lnSpc>
                <a:spcPct val="100000"/>
              </a:lnSpc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创建新的触发器函数</a:t>
            </a:r>
            <a:endParaRPr sz="1000">
              <a:latin typeface="微软雅黑"/>
              <a:cs typeface="微软雅黑"/>
            </a:endParaRPr>
          </a:p>
          <a:p>
            <a:pPr marL="131445" marR="196215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CREATE OR REPLACE FUNCTION </a:t>
            </a:r>
            <a:r>
              <a:rPr dirty="0" sz="1000" spc="5">
                <a:latin typeface="Consolas"/>
                <a:cs typeface="Consolas"/>
              </a:rPr>
              <a:t>UpdateProductStock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()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RETURNS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TRIGGER</a:t>
            </a:r>
            <a:endParaRPr sz="1000">
              <a:latin typeface="Consolas"/>
              <a:cs typeface="Consolas"/>
            </a:endParaRPr>
          </a:p>
          <a:p>
            <a:pPr marL="131445" marR="3187700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AS</a:t>
            </a:r>
            <a:r>
              <a:rPr dirty="0" sz="1000" spc="-8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$$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BEGIN</a:t>
            </a:r>
            <a:endParaRPr sz="1000">
              <a:latin typeface="Consolas"/>
              <a:cs typeface="Consolas"/>
            </a:endParaRPr>
          </a:p>
          <a:p>
            <a:pPr marL="415925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969896"/>
                </a:solidFill>
                <a:latin typeface="Consolas"/>
                <a:cs typeface="Consolas"/>
              </a:rPr>
              <a:t>-- </a:t>
            </a:r>
            <a:r>
              <a:rPr dirty="0" sz="1000" spc="20">
                <a:solidFill>
                  <a:srgbClr val="969896"/>
                </a:solidFill>
                <a:latin typeface="微软雅黑"/>
                <a:cs typeface="微软雅黑"/>
              </a:rPr>
              <a:t>减少产品库存</a:t>
            </a:r>
            <a:endParaRPr sz="1000">
              <a:latin typeface="微软雅黑"/>
              <a:cs typeface="微软雅黑"/>
            </a:endParaRPr>
          </a:p>
          <a:p>
            <a:pPr marL="415925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UPDATE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Products</a:t>
            </a:r>
            <a:endParaRPr sz="1000">
              <a:latin typeface="Consolas"/>
              <a:cs typeface="Consolas"/>
            </a:endParaRPr>
          </a:p>
          <a:p>
            <a:pPr marL="415925" marR="979805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SET </a:t>
            </a:r>
            <a:r>
              <a:rPr dirty="0" sz="1000" spc="5">
                <a:latin typeface="Consolas"/>
                <a:cs typeface="Consolas"/>
              </a:rPr>
              <a:t>Stock 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= </a:t>
            </a:r>
            <a:r>
              <a:rPr dirty="0" sz="1000" spc="5">
                <a:latin typeface="Consolas"/>
                <a:cs typeface="Consolas"/>
              </a:rPr>
              <a:t>Stock 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- </a:t>
            </a:r>
            <a:r>
              <a:rPr dirty="0" sz="1000" spc="5">
                <a:latin typeface="Consolas"/>
                <a:cs typeface="Consolas"/>
              </a:rPr>
              <a:t>NEW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Quantity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WHERE </a:t>
            </a:r>
            <a:r>
              <a:rPr dirty="0" sz="1000" spc="5">
                <a:latin typeface="Consolas"/>
                <a:cs typeface="Consolas"/>
              </a:rPr>
              <a:t>ProductID </a:t>
            </a:r>
            <a:r>
              <a:rPr dirty="0" sz="1000" spc="10">
                <a:solidFill>
                  <a:srgbClr val="A71D5D"/>
                </a:solidFill>
                <a:latin typeface="Consolas"/>
                <a:cs typeface="Consolas"/>
              </a:rPr>
              <a:t>=</a:t>
            </a:r>
            <a:r>
              <a:rPr dirty="0" sz="1000" spc="-10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NEW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dirty="0" sz="1000" spc="5">
                <a:latin typeface="Consolas"/>
                <a:cs typeface="Consolas"/>
              </a:rPr>
              <a:t>ProductID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onsolas"/>
              <a:cs typeface="Consolas"/>
            </a:endParaRPr>
          </a:p>
          <a:p>
            <a:pPr marL="131445" marR="2475230" indent="284480">
              <a:lnSpc>
                <a:spcPct val="140000"/>
              </a:lnSpc>
            </a:pP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RETURN</a:t>
            </a:r>
            <a:r>
              <a:rPr dirty="0" sz="1000" spc="-5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NEW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 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END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  <a:p>
            <a:pPr marL="131445">
              <a:lnSpc>
                <a:spcPct val="100000"/>
              </a:lnSpc>
              <a:spcBef>
                <a:spcPts val="480"/>
              </a:spcBef>
            </a:pPr>
            <a:r>
              <a:rPr dirty="0" sz="1000" spc="5">
                <a:latin typeface="Consolas"/>
                <a:cs typeface="Consolas"/>
              </a:rPr>
              <a:t>$$ </a:t>
            </a:r>
            <a:r>
              <a:rPr dirty="0" sz="1000" spc="5">
                <a:solidFill>
                  <a:srgbClr val="A71D5D"/>
                </a:solidFill>
                <a:latin typeface="Consolas"/>
                <a:cs typeface="Consolas"/>
              </a:rPr>
              <a:t>LANGUAGE</a:t>
            </a:r>
            <a:r>
              <a:rPr dirty="0" sz="1000" spc="15">
                <a:solidFill>
                  <a:srgbClr val="A71D5D"/>
                </a:solidFill>
                <a:latin typeface="Consolas"/>
                <a:cs typeface="Consolas"/>
              </a:rPr>
              <a:t> </a:t>
            </a:r>
            <a:r>
              <a:rPr dirty="0" sz="1000" spc="5">
                <a:latin typeface="Consolas"/>
                <a:cs typeface="Consolas"/>
              </a:rPr>
              <a:t>plpgsql</a:t>
            </a:r>
            <a:r>
              <a:rPr dirty="0" sz="1000" spc="5">
                <a:solidFill>
                  <a:srgbClr val="333333"/>
                </a:solidFill>
                <a:latin typeface="Consolas"/>
                <a:cs typeface="Consolas"/>
              </a:rPr>
              <a:t>;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5054094"/>
            <a:ext cx="2311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可以看到我成功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创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建使用了触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发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器</a:t>
            </a:r>
            <a:endParaRPr sz="1200">
              <a:latin typeface="MS Gothic"/>
              <a:cs typeface="MS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2970" y="5440679"/>
            <a:ext cx="6363629" cy="21782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73100" y="7780939"/>
            <a:ext cx="3850640" cy="1503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不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过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也可以在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delphi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中手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动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更改。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MS Gothic"/>
              <a:cs typeface="MS Gothic"/>
            </a:endParaRPr>
          </a:p>
          <a:p>
            <a:pPr marL="207645" indent="-195580">
              <a:lnSpc>
                <a:spcPct val="100000"/>
              </a:lnSpc>
              <a:buSzPct val="94444"/>
              <a:buFont typeface="Arial"/>
              <a:buAutoNum type="arabicPeriod" startAt="8"/>
              <a:tabLst>
                <a:tab pos="208279" algn="l"/>
              </a:tabLst>
            </a:pPr>
            <a:r>
              <a:rPr dirty="0" sz="1800" spc="-10" b="1">
                <a:latin typeface="MS Gothic"/>
                <a:cs typeface="MS Gothic"/>
              </a:rPr>
              <a:t>待</a:t>
            </a:r>
            <a:r>
              <a:rPr dirty="0" sz="1800" spc="-50" b="1">
                <a:latin typeface="MS Gothic"/>
                <a:cs typeface="MS Gothic"/>
              </a:rPr>
              <a:t>用</a:t>
            </a:r>
            <a:r>
              <a:rPr dirty="0" sz="1800" b="1">
                <a:latin typeface="Arial"/>
                <a:cs typeface="Arial"/>
              </a:rPr>
              <a:t>delphi</a:t>
            </a:r>
            <a:r>
              <a:rPr dirty="0" sz="1800" spc="-10" b="1">
                <a:latin typeface="MS Gothic"/>
                <a:cs typeface="MS Gothic"/>
              </a:rPr>
              <a:t>中至少五</a:t>
            </a:r>
            <a:r>
              <a:rPr dirty="0" sz="1800" spc="-50" b="1">
                <a:latin typeface="MS Gothic"/>
                <a:cs typeface="MS Gothic"/>
              </a:rPr>
              <a:t>个</a:t>
            </a:r>
            <a:r>
              <a:rPr dirty="0" sz="1800" spc="35" b="1">
                <a:latin typeface="微软雅黑"/>
                <a:cs typeface="微软雅黑"/>
              </a:rPr>
              <a:t>组</a:t>
            </a:r>
            <a:r>
              <a:rPr dirty="0" sz="1800" spc="-10" b="1">
                <a:latin typeface="MS Gothic"/>
                <a:cs typeface="MS Gothic"/>
              </a:rPr>
              <a:t>件</a:t>
            </a:r>
            <a:endParaRPr sz="18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我主要使用了以下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组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件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MS Gothic"/>
              <a:cs typeface="MS Gothic"/>
            </a:endParaRPr>
          </a:p>
          <a:p>
            <a:pPr lvl="1" marL="825500" indent="-155575">
              <a:lnSpc>
                <a:spcPct val="100000"/>
              </a:lnSpc>
              <a:buChar char="•"/>
              <a:tabLst>
                <a:tab pos="825500" algn="l"/>
              </a:tabLst>
            </a:pPr>
            <a:r>
              <a:rPr dirty="0" sz="1200" spc="-10">
                <a:solidFill>
                  <a:srgbClr val="333333"/>
                </a:solidFill>
                <a:latin typeface="Arial"/>
                <a:cs typeface="Arial"/>
              </a:rPr>
              <a:t>TADOConnection</a:t>
            </a:r>
            <a:r>
              <a:rPr dirty="0" sz="1200" spc="-10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用于与数据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库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建立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连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接。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634494"/>
            <a:ext cx="4713605" cy="237236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825500" indent="-155575">
              <a:lnSpc>
                <a:spcPct val="100000"/>
              </a:lnSpc>
              <a:spcBef>
                <a:spcPts val="580"/>
              </a:spcBef>
              <a:buChar char="•"/>
              <a:tabLst>
                <a:tab pos="825500" algn="l"/>
              </a:tabLst>
            </a:pPr>
            <a:r>
              <a:rPr dirty="0" sz="1200" spc="-15">
                <a:solidFill>
                  <a:srgbClr val="333333"/>
                </a:solidFill>
                <a:latin typeface="Arial"/>
                <a:cs typeface="Arial"/>
              </a:rPr>
              <a:t>TADOQuery</a:t>
            </a:r>
            <a:r>
              <a:rPr dirty="0" sz="1200" spc="-15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用于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执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行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SQL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查询语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句，并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获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取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查询结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果。</a:t>
            </a:r>
            <a:endParaRPr sz="1200">
              <a:latin typeface="MS Gothic"/>
              <a:cs typeface="MS Gothic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TDataSource</a:t>
            </a:r>
            <a:r>
              <a:rPr dirty="0" sz="1200" spc="-5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数据源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组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件，用于提供数据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给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数据控件。</a:t>
            </a:r>
            <a:endParaRPr sz="1200">
              <a:latin typeface="MS Gothic"/>
              <a:cs typeface="MS Gothic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TDBGrid</a:t>
            </a:r>
            <a:r>
              <a:rPr dirty="0" sz="1200" spc="-5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数据表格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组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件，用于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显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示数据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库查询结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果。</a:t>
            </a:r>
            <a:endParaRPr sz="1200">
              <a:latin typeface="MS Gothic"/>
              <a:cs typeface="MS Gothic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TDBNavigator</a:t>
            </a:r>
            <a:r>
              <a:rPr dirty="0" sz="1200" spc="-5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数据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导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航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栏组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件，用于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浏览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数据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记录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TEdit</a:t>
            </a:r>
            <a:r>
              <a:rPr dirty="0" sz="1200" spc="-5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文本框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组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件，用于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输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入文本信息。</a:t>
            </a:r>
            <a:endParaRPr sz="1200">
              <a:latin typeface="MS Gothic"/>
              <a:cs typeface="MS Gothic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TLabel</a:t>
            </a:r>
            <a:r>
              <a:rPr dirty="0" sz="1200" spc="-5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标签组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件，用于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显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示静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态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文本信息。</a:t>
            </a:r>
            <a:endParaRPr sz="1200">
              <a:latin typeface="MS Gothic"/>
              <a:cs typeface="MS Gothic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TButton</a:t>
            </a:r>
            <a:r>
              <a:rPr dirty="0" sz="1200" spc="-5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按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钮组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件，用于触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发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事件。</a:t>
            </a:r>
            <a:endParaRPr sz="1200">
              <a:latin typeface="MS Gothic"/>
              <a:cs typeface="MS Gothic"/>
            </a:endParaRPr>
          </a:p>
          <a:p>
            <a:pPr marL="825500" indent="-155575">
              <a:lnSpc>
                <a:spcPct val="100000"/>
              </a:lnSpc>
              <a:spcBef>
                <a:spcPts val="480"/>
              </a:spcBef>
              <a:buChar char="•"/>
              <a:tabLst>
                <a:tab pos="825500" algn="l"/>
              </a:tabLst>
            </a:pP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TComboBox</a:t>
            </a:r>
            <a:r>
              <a:rPr dirty="0" sz="1200" spc="-5">
                <a:solidFill>
                  <a:srgbClr val="333333"/>
                </a:solidFill>
                <a:latin typeface="MS Gothic"/>
                <a:cs typeface="MS Gothic"/>
              </a:rPr>
              <a:t>：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下拉框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组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件，用于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选择项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。</a:t>
            </a:r>
            <a:endParaRPr sz="12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通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过对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象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层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次列表，可以看到我用了十余种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组</a:t>
            </a:r>
            <a:r>
              <a:rPr dirty="0" sz="1200">
                <a:solidFill>
                  <a:srgbClr val="333333"/>
                </a:solidFill>
                <a:latin typeface="MS Gothic"/>
                <a:cs typeface="MS Gothic"/>
              </a:rPr>
              <a:t>件</a:t>
            </a:r>
            <a:endParaRPr sz="120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685800"/>
            <a:ext cx="6000750" cy="937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685800"/>
            <a:ext cx="6000750" cy="937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685800"/>
            <a:ext cx="6000750" cy="937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评分表完成项</dc:title>
  <dcterms:created xsi:type="dcterms:W3CDTF">2024-06-12T01:34:15Z</dcterms:created>
  <dcterms:modified xsi:type="dcterms:W3CDTF">2024-06-12T01:34:15Z</dcterms:modified>
</cp:coreProperties>
</file>
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68" y="8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56640" y="228092"/>
            <a:ext cx="10878718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A1A1A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A1A1A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A1A1A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5023103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5023104" cy="6857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A1A1A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A1A1A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790176" y="251459"/>
            <a:ext cx="1969007" cy="4343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121920"/>
            <a:ext cx="550545" cy="699770"/>
          </a:xfrm>
          <a:custGeom>
            <a:avLst/>
            <a:gdLst/>
            <a:ahLst/>
            <a:cxnLst/>
            <a:rect l="l" t="t" r="r" b="b"/>
            <a:pathLst>
              <a:path w="550544" h="699769">
                <a:moveTo>
                  <a:pt x="550164" y="0"/>
                </a:moveTo>
                <a:lnTo>
                  <a:pt x="0" y="0"/>
                </a:lnTo>
                <a:lnTo>
                  <a:pt x="0" y="699515"/>
                </a:lnTo>
                <a:lnTo>
                  <a:pt x="312432" y="699515"/>
                </a:lnTo>
                <a:lnTo>
                  <a:pt x="550164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418337" y="380238"/>
            <a:ext cx="96520" cy="220979"/>
          </a:xfrm>
          <a:custGeom>
            <a:avLst/>
            <a:gdLst/>
            <a:ahLst/>
            <a:cxnLst/>
            <a:rect l="l" t="t" r="r" b="b"/>
            <a:pathLst>
              <a:path w="96520" h="220979">
                <a:moveTo>
                  <a:pt x="96012" y="0"/>
                </a:moveTo>
                <a:lnTo>
                  <a:pt x="75044" y="0"/>
                </a:lnTo>
                <a:lnTo>
                  <a:pt x="0" y="220979"/>
                </a:lnTo>
                <a:lnTo>
                  <a:pt x="20967" y="220979"/>
                </a:lnTo>
                <a:lnTo>
                  <a:pt x="96012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18337" y="380238"/>
            <a:ext cx="96520" cy="220979"/>
          </a:xfrm>
          <a:custGeom>
            <a:avLst/>
            <a:gdLst/>
            <a:ahLst/>
            <a:cxnLst/>
            <a:rect l="l" t="t" r="r" b="b"/>
            <a:pathLst>
              <a:path w="96520" h="220979">
                <a:moveTo>
                  <a:pt x="75044" y="0"/>
                </a:moveTo>
                <a:lnTo>
                  <a:pt x="96012" y="0"/>
                </a:lnTo>
                <a:lnTo>
                  <a:pt x="20967" y="220979"/>
                </a:lnTo>
                <a:lnTo>
                  <a:pt x="0" y="220979"/>
                </a:lnTo>
                <a:lnTo>
                  <a:pt x="75044" y="0"/>
                </a:lnTo>
                <a:close/>
              </a:path>
            </a:pathLst>
          </a:custGeom>
          <a:ln w="38100">
            <a:solidFill>
              <a:srgbClr val="A03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443483" y="821436"/>
            <a:ext cx="11306175" cy="0"/>
          </a:xfrm>
          <a:custGeom>
            <a:avLst/>
            <a:gdLst/>
            <a:ahLst/>
            <a:cxnLst/>
            <a:rect l="l" t="t" r="r" b="b"/>
            <a:pathLst>
              <a:path w="11306175">
                <a:moveTo>
                  <a:pt x="0" y="0"/>
                </a:moveTo>
                <a:lnTo>
                  <a:pt x="11306175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12169140" y="336804"/>
            <a:ext cx="0" cy="265430"/>
          </a:xfrm>
          <a:custGeom>
            <a:avLst/>
            <a:gdLst/>
            <a:ahLst/>
            <a:cxnLst/>
            <a:rect l="l" t="t" r="r" b="b"/>
            <a:pathLst>
              <a:path h="265430">
                <a:moveTo>
                  <a:pt x="0" y="0"/>
                </a:moveTo>
                <a:lnTo>
                  <a:pt x="0" y="265175"/>
                </a:lnTo>
              </a:path>
            </a:pathLst>
          </a:custGeom>
          <a:ln w="45720">
            <a:solidFill>
              <a:srgbClr val="A03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443483" y="6263640"/>
            <a:ext cx="11306175" cy="0"/>
          </a:xfrm>
          <a:custGeom>
            <a:avLst/>
            <a:gdLst/>
            <a:ahLst/>
            <a:cxnLst/>
            <a:rect l="l" t="t" r="r" b="b"/>
            <a:pathLst>
              <a:path w="11306175">
                <a:moveTo>
                  <a:pt x="0" y="0"/>
                </a:moveTo>
                <a:lnTo>
                  <a:pt x="11306175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2595372" y="6404864"/>
            <a:ext cx="236220" cy="264160"/>
          </a:xfrm>
          <a:custGeom>
            <a:avLst/>
            <a:gdLst/>
            <a:ahLst/>
            <a:cxnLst/>
            <a:rect l="l" t="t" r="r" b="b"/>
            <a:pathLst>
              <a:path w="236219" h="264159">
                <a:moveTo>
                  <a:pt x="168147" y="229870"/>
                </a:moveTo>
                <a:lnTo>
                  <a:pt x="168147" y="234950"/>
                </a:lnTo>
                <a:lnTo>
                  <a:pt x="170052" y="236220"/>
                </a:lnTo>
                <a:lnTo>
                  <a:pt x="174676" y="242570"/>
                </a:lnTo>
                <a:lnTo>
                  <a:pt x="179990" y="248920"/>
                </a:lnTo>
                <a:lnTo>
                  <a:pt x="186019" y="255270"/>
                </a:lnTo>
                <a:lnTo>
                  <a:pt x="192785" y="261620"/>
                </a:lnTo>
                <a:lnTo>
                  <a:pt x="196595" y="262890"/>
                </a:lnTo>
                <a:lnTo>
                  <a:pt x="202183" y="262890"/>
                </a:lnTo>
                <a:lnTo>
                  <a:pt x="207898" y="264160"/>
                </a:lnTo>
                <a:lnTo>
                  <a:pt x="207898" y="261620"/>
                </a:lnTo>
                <a:lnTo>
                  <a:pt x="211708" y="255270"/>
                </a:lnTo>
                <a:lnTo>
                  <a:pt x="211624" y="248920"/>
                </a:lnTo>
                <a:lnTo>
                  <a:pt x="211204" y="242570"/>
                </a:lnTo>
                <a:lnTo>
                  <a:pt x="188975" y="242570"/>
                </a:lnTo>
                <a:lnTo>
                  <a:pt x="181355" y="236220"/>
                </a:lnTo>
                <a:lnTo>
                  <a:pt x="173862" y="233680"/>
                </a:lnTo>
                <a:lnTo>
                  <a:pt x="168147" y="229870"/>
                </a:lnTo>
                <a:close/>
              </a:path>
              <a:path w="236219" h="264159">
                <a:moveTo>
                  <a:pt x="92844" y="198120"/>
                </a:moveTo>
                <a:lnTo>
                  <a:pt x="69976" y="198120"/>
                </a:lnTo>
                <a:lnTo>
                  <a:pt x="71754" y="199390"/>
                </a:lnTo>
                <a:lnTo>
                  <a:pt x="73659" y="199390"/>
                </a:lnTo>
                <a:lnTo>
                  <a:pt x="74136" y="215900"/>
                </a:lnTo>
                <a:lnTo>
                  <a:pt x="73659" y="224790"/>
                </a:lnTo>
                <a:lnTo>
                  <a:pt x="71754" y="233680"/>
                </a:lnTo>
                <a:lnTo>
                  <a:pt x="69976" y="242570"/>
                </a:lnTo>
                <a:lnTo>
                  <a:pt x="75564" y="246380"/>
                </a:lnTo>
                <a:lnTo>
                  <a:pt x="81279" y="250190"/>
                </a:lnTo>
                <a:lnTo>
                  <a:pt x="85089" y="254000"/>
                </a:lnTo>
                <a:lnTo>
                  <a:pt x="90677" y="254000"/>
                </a:lnTo>
                <a:lnTo>
                  <a:pt x="96392" y="255270"/>
                </a:lnTo>
                <a:lnTo>
                  <a:pt x="96392" y="238760"/>
                </a:lnTo>
                <a:lnTo>
                  <a:pt x="94994" y="226060"/>
                </a:lnTo>
                <a:lnTo>
                  <a:pt x="93773" y="213360"/>
                </a:lnTo>
                <a:lnTo>
                  <a:pt x="92996" y="201930"/>
                </a:lnTo>
                <a:lnTo>
                  <a:pt x="92877" y="199390"/>
                </a:lnTo>
                <a:lnTo>
                  <a:pt x="92844" y="198120"/>
                </a:lnTo>
                <a:close/>
              </a:path>
              <a:path w="236219" h="264159">
                <a:moveTo>
                  <a:pt x="204088" y="160020"/>
                </a:moveTo>
                <a:lnTo>
                  <a:pt x="183276" y="160020"/>
                </a:lnTo>
                <a:lnTo>
                  <a:pt x="187608" y="163830"/>
                </a:lnTo>
                <a:lnTo>
                  <a:pt x="190880" y="171450"/>
                </a:lnTo>
                <a:lnTo>
                  <a:pt x="190880" y="240030"/>
                </a:lnTo>
                <a:lnTo>
                  <a:pt x="188975" y="240030"/>
                </a:lnTo>
                <a:lnTo>
                  <a:pt x="188975" y="242570"/>
                </a:lnTo>
                <a:lnTo>
                  <a:pt x="211204" y="242570"/>
                </a:lnTo>
                <a:lnTo>
                  <a:pt x="205994" y="163830"/>
                </a:lnTo>
                <a:lnTo>
                  <a:pt x="204088" y="160020"/>
                </a:lnTo>
                <a:close/>
              </a:path>
              <a:path w="236219" h="264159">
                <a:moveTo>
                  <a:pt x="133641" y="151130"/>
                </a:moveTo>
                <a:lnTo>
                  <a:pt x="49148" y="151130"/>
                </a:lnTo>
                <a:lnTo>
                  <a:pt x="32130" y="201930"/>
                </a:lnTo>
                <a:lnTo>
                  <a:pt x="30372" y="208280"/>
                </a:lnTo>
                <a:lnTo>
                  <a:pt x="30924" y="214630"/>
                </a:lnTo>
                <a:lnTo>
                  <a:pt x="33952" y="219710"/>
                </a:lnTo>
                <a:lnTo>
                  <a:pt x="39623" y="223520"/>
                </a:lnTo>
                <a:lnTo>
                  <a:pt x="45587" y="224790"/>
                </a:lnTo>
                <a:lnTo>
                  <a:pt x="51704" y="223520"/>
                </a:lnTo>
                <a:lnTo>
                  <a:pt x="57465" y="219710"/>
                </a:lnTo>
                <a:lnTo>
                  <a:pt x="62356" y="212090"/>
                </a:lnTo>
                <a:lnTo>
                  <a:pt x="64261" y="207010"/>
                </a:lnTo>
                <a:lnTo>
                  <a:pt x="68071" y="203200"/>
                </a:lnTo>
                <a:lnTo>
                  <a:pt x="69976" y="198120"/>
                </a:lnTo>
                <a:lnTo>
                  <a:pt x="92844" y="198120"/>
                </a:lnTo>
                <a:lnTo>
                  <a:pt x="92681" y="191770"/>
                </a:lnTo>
                <a:lnTo>
                  <a:pt x="92582" y="180340"/>
                </a:lnTo>
                <a:lnTo>
                  <a:pt x="100202" y="166370"/>
                </a:lnTo>
                <a:lnTo>
                  <a:pt x="102107" y="163830"/>
                </a:lnTo>
                <a:lnTo>
                  <a:pt x="107695" y="163830"/>
                </a:lnTo>
                <a:lnTo>
                  <a:pt x="111505" y="162560"/>
                </a:lnTo>
                <a:lnTo>
                  <a:pt x="113410" y="162560"/>
                </a:lnTo>
                <a:lnTo>
                  <a:pt x="120759" y="157480"/>
                </a:lnTo>
                <a:lnTo>
                  <a:pt x="133641" y="151130"/>
                </a:lnTo>
                <a:close/>
              </a:path>
              <a:path w="236219" h="264159">
                <a:moveTo>
                  <a:pt x="198955" y="132080"/>
                </a:moveTo>
                <a:lnTo>
                  <a:pt x="166242" y="132080"/>
                </a:lnTo>
                <a:lnTo>
                  <a:pt x="157049" y="148590"/>
                </a:lnTo>
                <a:lnTo>
                  <a:pt x="149272" y="166370"/>
                </a:lnTo>
                <a:lnTo>
                  <a:pt x="142900" y="182880"/>
                </a:lnTo>
                <a:lnTo>
                  <a:pt x="137921" y="201930"/>
                </a:lnTo>
                <a:lnTo>
                  <a:pt x="137622" y="209550"/>
                </a:lnTo>
                <a:lnTo>
                  <a:pt x="139811" y="215900"/>
                </a:lnTo>
                <a:lnTo>
                  <a:pt x="144833" y="219710"/>
                </a:lnTo>
                <a:lnTo>
                  <a:pt x="153034" y="223520"/>
                </a:lnTo>
                <a:lnTo>
                  <a:pt x="154939" y="215900"/>
                </a:lnTo>
                <a:lnTo>
                  <a:pt x="154939" y="208280"/>
                </a:lnTo>
                <a:lnTo>
                  <a:pt x="156844" y="201930"/>
                </a:lnTo>
                <a:lnTo>
                  <a:pt x="181972" y="201930"/>
                </a:lnTo>
                <a:lnTo>
                  <a:pt x="179577" y="198120"/>
                </a:lnTo>
                <a:lnTo>
                  <a:pt x="170052" y="191770"/>
                </a:lnTo>
                <a:lnTo>
                  <a:pt x="158750" y="187960"/>
                </a:lnTo>
                <a:lnTo>
                  <a:pt x="158750" y="186690"/>
                </a:lnTo>
                <a:lnTo>
                  <a:pt x="166242" y="179070"/>
                </a:lnTo>
                <a:lnTo>
                  <a:pt x="183260" y="179070"/>
                </a:lnTo>
                <a:lnTo>
                  <a:pt x="183260" y="172720"/>
                </a:lnTo>
                <a:lnTo>
                  <a:pt x="173862" y="172720"/>
                </a:lnTo>
                <a:lnTo>
                  <a:pt x="170052" y="167640"/>
                </a:lnTo>
                <a:lnTo>
                  <a:pt x="177540" y="161290"/>
                </a:lnTo>
                <a:lnTo>
                  <a:pt x="183276" y="160020"/>
                </a:lnTo>
                <a:lnTo>
                  <a:pt x="204088" y="160020"/>
                </a:lnTo>
                <a:lnTo>
                  <a:pt x="200278" y="154940"/>
                </a:lnTo>
                <a:lnTo>
                  <a:pt x="196595" y="152400"/>
                </a:lnTo>
                <a:lnTo>
                  <a:pt x="192785" y="148590"/>
                </a:lnTo>
                <a:lnTo>
                  <a:pt x="185165" y="148590"/>
                </a:lnTo>
                <a:lnTo>
                  <a:pt x="179577" y="147320"/>
                </a:lnTo>
                <a:lnTo>
                  <a:pt x="185306" y="140970"/>
                </a:lnTo>
                <a:lnTo>
                  <a:pt x="191595" y="135890"/>
                </a:lnTo>
                <a:lnTo>
                  <a:pt x="198955" y="132080"/>
                </a:lnTo>
                <a:close/>
              </a:path>
              <a:path w="236219" h="264159">
                <a:moveTo>
                  <a:pt x="181972" y="201930"/>
                </a:moveTo>
                <a:lnTo>
                  <a:pt x="156844" y="201930"/>
                </a:lnTo>
                <a:lnTo>
                  <a:pt x="160654" y="204470"/>
                </a:lnTo>
                <a:lnTo>
                  <a:pt x="162559" y="204470"/>
                </a:lnTo>
                <a:lnTo>
                  <a:pt x="168147" y="208280"/>
                </a:lnTo>
                <a:lnTo>
                  <a:pt x="173862" y="214630"/>
                </a:lnTo>
                <a:lnTo>
                  <a:pt x="181355" y="208280"/>
                </a:lnTo>
                <a:lnTo>
                  <a:pt x="185165" y="207010"/>
                </a:lnTo>
                <a:lnTo>
                  <a:pt x="181972" y="201930"/>
                </a:lnTo>
                <a:close/>
              </a:path>
              <a:path w="236219" h="264159">
                <a:moveTo>
                  <a:pt x="183260" y="179070"/>
                </a:moveTo>
                <a:lnTo>
                  <a:pt x="166242" y="179070"/>
                </a:lnTo>
                <a:lnTo>
                  <a:pt x="177672" y="182880"/>
                </a:lnTo>
                <a:lnTo>
                  <a:pt x="183260" y="184150"/>
                </a:lnTo>
                <a:lnTo>
                  <a:pt x="183260" y="179070"/>
                </a:lnTo>
                <a:close/>
              </a:path>
              <a:path w="236219" h="264159">
                <a:moveTo>
                  <a:pt x="95202" y="59690"/>
                </a:moveTo>
                <a:lnTo>
                  <a:pt x="71754" y="59690"/>
                </a:lnTo>
                <a:lnTo>
                  <a:pt x="71743" y="64770"/>
                </a:lnTo>
                <a:lnTo>
                  <a:pt x="71616" y="74930"/>
                </a:lnTo>
                <a:lnTo>
                  <a:pt x="71532" y="78740"/>
                </a:lnTo>
                <a:lnTo>
                  <a:pt x="71004" y="87630"/>
                </a:lnTo>
                <a:lnTo>
                  <a:pt x="69976" y="96520"/>
                </a:lnTo>
                <a:lnTo>
                  <a:pt x="69976" y="100330"/>
                </a:lnTo>
                <a:lnTo>
                  <a:pt x="64261" y="104140"/>
                </a:lnTo>
                <a:lnTo>
                  <a:pt x="51171" y="113030"/>
                </a:lnTo>
                <a:lnTo>
                  <a:pt x="37544" y="120650"/>
                </a:lnTo>
                <a:lnTo>
                  <a:pt x="0" y="140970"/>
                </a:lnTo>
                <a:lnTo>
                  <a:pt x="0" y="147320"/>
                </a:lnTo>
                <a:lnTo>
                  <a:pt x="9397" y="151130"/>
                </a:lnTo>
                <a:lnTo>
                  <a:pt x="19377" y="156210"/>
                </a:lnTo>
                <a:lnTo>
                  <a:pt x="29321" y="160020"/>
                </a:lnTo>
                <a:lnTo>
                  <a:pt x="39241" y="158750"/>
                </a:lnTo>
                <a:lnTo>
                  <a:pt x="49148" y="151130"/>
                </a:lnTo>
                <a:lnTo>
                  <a:pt x="133641" y="151130"/>
                </a:lnTo>
                <a:lnTo>
                  <a:pt x="136217" y="149860"/>
                </a:lnTo>
                <a:lnTo>
                  <a:pt x="143636" y="144780"/>
                </a:lnTo>
                <a:lnTo>
                  <a:pt x="154939" y="139700"/>
                </a:lnTo>
                <a:lnTo>
                  <a:pt x="166242" y="132080"/>
                </a:lnTo>
                <a:lnTo>
                  <a:pt x="215391" y="132080"/>
                </a:lnTo>
                <a:lnTo>
                  <a:pt x="223011" y="128270"/>
                </a:lnTo>
                <a:lnTo>
                  <a:pt x="122808" y="128270"/>
                </a:lnTo>
                <a:lnTo>
                  <a:pt x="120268" y="123190"/>
                </a:lnTo>
                <a:lnTo>
                  <a:pt x="98297" y="123190"/>
                </a:lnTo>
                <a:lnTo>
                  <a:pt x="92344" y="107950"/>
                </a:lnTo>
                <a:lnTo>
                  <a:pt x="90677" y="93980"/>
                </a:lnTo>
                <a:lnTo>
                  <a:pt x="91868" y="78740"/>
                </a:lnTo>
                <a:lnTo>
                  <a:pt x="94487" y="63500"/>
                </a:lnTo>
                <a:lnTo>
                  <a:pt x="95202" y="59690"/>
                </a:lnTo>
                <a:close/>
              </a:path>
              <a:path w="236219" h="264159">
                <a:moveTo>
                  <a:pt x="180715" y="64770"/>
                </a:moveTo>
                <a:lnTo>
                  <a:pt x="156844" y="64770"/>
                </a:lnTo>
                <a:lnTo>
                  <a:pt x="154939" y="74930"/>
                </a:lnTo>
                <a:lnTo>
                  <a:pt x="153034" y="81280"/>
                </a:lnTo>
                <a:lnTo>
                  <a:pt x="153034" y="87630"/>
                </a:lnTo>
                <a:lnTo>
                  <a:pt x="136016" y="87630"/>
                </a:lnTo>
                <a:lnTo>
                  <a:pt x="134111" y="92710"/>
                </a:lnTo>
                <a:lnTo>
                  <a:pt x="134111" y="95250"/>
                </a:lnTo>
                <a:lnTo>
                  <a:pt x="139826" y="99060"/>
                </a:lnTo>
                <a:lnTo>
                  <a:pt x="141731" y="102870"/>
                </a:lnTo>
                <a:lnTo>
                  <a:pt x="141731" y="104140"/>
                </a:lnTo>
                <a:lnTo>
                  <a:pt x="143636" y="107950"/>
                </a:lnTo>
                <a:lnTo>
                  <a:pt x="122808" y="128270"/>
                </a:lnTo>
                <a:lnTo>
                  <a:pt x="223011" y="128270"/>
                </a:lnTo>
                <a:lnTo>
                  <a:pt x="230504" y="124460"/>
                </a:lnTo>
                <a:lnTo>
                  <a:pt x="236219" y="123190"/>
                </a:lnTo>
                <a:lnTo>
                  <a:pt x="236219" y="116840"/>
                </a:lnTo>
                <a:lnTo>
                  <a:pt x="232409" y="113030"/>
                </a:lnTo>
                <a:lnTo>
                  <a:pt x="226442" y="109220"/>
                </a:lnTo>
                <a:lnTo>
                  <a:pt x="179577" y="109220"/>
                </a:lnTo>
                <a:lnTo>
                  <a:pt x="171957" y="96520"/>
                </a:lnTo>
                <a:lnTo>
                  <a:pt x="170052" y="91440"/>
                </a:lnTo>
                <a:lnTo>
                  <a:pt x="169838" y="87630"/>
                </a:lnTo>
                <a:lnTo>
                  <a:pt x="147446" y="87630"/>
                </a:lnTo>
                <a:lnTo>
                  <a:pt x="141731" y="85090"/>
                </a:lnTo>
                <a:lnTo>
                  <a:pt x="169694" y="85090"/>
                </a:lnTo>
                <a:lnTo>
                  <a:pt x="169336" y="78740"/>
                </a:lnTo>
                <a:lnTo>
                  <a:pt x="172894" y="69850"/>
                </a:lnTo>
                <a:lnTo>
                  <a:pt x="180715" y="64770"/>
                </a:lnTo>
                <a:close/>
              </a:path>
              <a:path w="236219" h="264159">
                <a:moveTo>
                  <a:pt x="109600" y="107950"/>
                </a:moveTo>
                <a:lnTo>
                  <a:pt x="105790" y="115570"/>
                </a:lnTo>
                <a:lnTo>
                  <a:pt x="102107" y="119380"/>
                </a:lnTo>
                <a:lnTo>
                  <a:pt x="98297" y="123190"/>
                </a:lnTo>
                <a:lnTo>
                  <a:pt x="120268" y="123190"/>
                </a:lnTo>
                <a:lnTo>
                  <a:pt x="118998" y="120650"/>
                </a:lnTo>
                <a:lnTo>
                  <a:pt x="115315" y="115570"/>
                </a:lnTo>
                <a:lnTo>
                  <a:pt x="109600" y="107950"/>
                </a:lnTo>
                <a:close/>
              </a:path>
              <a:path w="236219" h="264159">
                <a:moveTo>
                  <a:pt x="213032" y="105410"/>
                </a:moveTo>
                <a:lnTo>
                  <a:pt x="192071" y="109220"/>
                </a:lnTo>
                <a:lnTo>
                  <a:pt x="226442" y="109220"/>
                </a:lnTo>
                <a:lnTo>
                  <a:pt x="219916" y="106680"/>
                </a:lnTo>
                <a:lnTo>
                  <a:pt x="213032" y="105410"/>
                </a:lnTo>
                <a:close/>
              </a:path>
              <a:path w="236219" h="264159">
                <a:moveTo>
                  <a:pt x="51053" y="35560"/>
                </a:moveTo>
                <a:lnTo>
                  <a:pt x="49148" y="36830"/>
                </a:lnTo>
                <a:lnTo>
                  <a:pt x="38865" y="41910"/>
                </a:lnTo>
                <a:lnTo>
                  <a:pt x="30702" y="48260"/>
                </a:lnTo>
                <a:lnTo>
                  <a:pt x="24681" y="57150"/>
                </a:lnTo>
                <a:lnTo>
                  <a:pt x="20827" y="67310"/>
                </a:lnTo>
                <a:lnTo>
                  <a:pt x="18922" y="72390"/>
                </a:lnTo>
                <a:lnTo>
                  <a:pt x="18922" y="77470"/>
                </a:lnTo>
                <a:lnTo>
                  <a:pt x="17017" y="81280"/>
                </a:lnTo>
                <a:lnTo>
                  <a:pt x="15557" y="88900"/>
                </a:lnTo>
                <a:lnTo>
                  <a:pt x="16763" y="93980"/>
                </a:lnTo>
                <a:lnTo>
                  <a:pt x="20446" y="99060"/>
                </a:lnTo>
                <a:lnTo>
                  <a:pt x="26415" y="102870"/>
                </a:lnTo>
                <a:lnTo>
                  <a:pt x="32130" y="104140"/>
                </a:lnTo>
                <a:lnTo>
                  <a:pt x="37845" y="104140"/>
                </a:lnTo>
                <a:lnTo>
                  <a:pt x="43433" y="106680"/>
                </a:lnTo>
                <a:lnTo>
                  <a:pt x="41528" y="104140"/>
                </a:lnTo>
                <a:lnTo>
                  <a:pt x="41528" y="102870"/>
                </a:lnTo>
                <a:lnTo>
                  <a:pt x="48652" y="92710"/>
                </a:lnTo>
                <a:lnTo>
                  <a:pt x="55752" y="81280"/>
                </a:lnTo>
                <a:lnTo>
                  <a:pt x="62853" y="71120"/>
                </a:lnTo>
                <a:lnTo>
                  <a:pt x="69185" y="60960"/>
                </a:lnTo>
                <a:lnTo>
                  <a:pt x="52958" y="60960"/>
                </a:lnTo>
                <a:lnTo>
                  <a:pt x="54863" y="57150"/>
                </a:lnTo>
                <a:lnTo>
                  <a:pt x="54863" y="52070"/>
                </a:lnTo>
                <a:lnTo>
                  <a:pt x="58546" y="49530"/>
                </a:lnTo>
                <a:lnTo>
                  <a:pt x="60451" y="45720"/>
                </a:lnTo>
                <a:lnTo>
                  <a:pt x="64261" y="43180"/>
                </a:lnTo>
                <a:lnTo>
                  <a:pt x="60451" y="40640"/>
                </a:lnTo>
                <a:lnTo>
                  <a:pt x="56641" y="36830"/>
                </a:lnTo>
                <a:lnTo>
                  <a:pt x="51053" y="35560"/>
                </a:lnTo>
                <a:close/>
              </a:path>
              <a:path w="236219" h="264159">
                <a:moveTo>
                  <a:pt x="185165" y="0"/>
                </a:moveTo>
                <a:lnTo>
                  <a:pt x="177672" y="0"/>
                </a:lnTo>
                <a:lnTo>
                  <a:pt x="175767" y="3810"/>
                </a:lnTo>
                <a:lnTo>
                  <a:pt x="173862" y="5080"/>
                </a:lnTo>
                <a:lnTo>
                  <a:pt x="170052" y="11430"/>
                </a:lnTo>
                <a:lnTo>
                  <a:pt x="170052" y="13970"/>
                </a:lnTo>
                <a:lnTo>
                  <a:pt x="167512" y="22860"/>
                </a:lnTo>
                <a:lnTo>
                  <a:pt x="163194" y="41910"/>
                </a:lnTo>
                <a:lnTo>
                  <a:pt x="160654" y="49530"/>
                </a:lnTo>
                <a:lnTo>
                  <a:pt x="158750" y="52070"/>
                </a:lnTo>
                <a:lnTo>
                  <a:pt x="156844" y="55880"/>
                </a:lnTo>
                <a:lnTo>
                  <a:pt x="153034" y="55880"/>
                </a:lnTo>
                <a:lnTo>
                  <a:pt x="136064" y="63500"/>
                </a:lnTo>
                <a:lnTo>
                  <a:pt x="118998" y="68580"/>
                </a:lnTo>
                <a:lnTo>
                  <a:pt x="115315" y="71120"/>
                </a:lnTo>
                <a:lnTo>
                  <a:pt x="107695" y="74930"/>
                </a:lnTo>
                <a:lnTo>
                  <a:pt x="113410" y="81280"/>
                </a:lnTo>
                <a:lnTo>
                  <a:pt x="115315" y="81280"/>
                </a:lnTo>
                <a:lnTo>
                  <a:pt x="122808" y="77470"/>
                </a:lnTo>
                <a:lnTo>
                  <a:pt x="139112" y="72390"/>
                </a:lnTo>
                <a:lnTo>
                  <a:pt x="147544" y="68580"/>
                </a:lnTo>
                <a:lnTo>
                  <a:pt x="156844" y="64770"/>
                </a:lnTo>
                <a:lnTo>
                  <a:pt x="180715" y="64770"/>
                </a:lnTo>
                <a:lnTo>
                  <a:pt x="192785" y="63500"/>
                </a:lnTo>
                <a:lnTo>
                  <a:pt x="204723" y="63500"/>
                </a:lnTo>
                <a:lnTo>
                  <a:pt x="209803" y="55880"/>
                </a:lnTo>
                <a:lnTo>
                  <a:pt x="203905" y="53340"/>
                </a:lnTo>
                <a:lnTo>
                  <a:pt x="182639" y="53340"/>
                </a:lnTo>
                <a:lnTo>
                  <a:pt x="173862" y="52070"/>
                </a:lnTo>
                <a:lnTo>
                  <a:pt x="175944" y="40640"/>
                </a:lnTo>
                <a:lnTo>
                  <a:pt x="177657" y="29210"/>
                </a:lnTo>
                <a:lnTo>
                  <a:pt x="180774" y="19050"/>
                </a:lnTo>
                <a:lnTo>
                  <a:pt x="187070" y="8890"/>
                </a:lnTo>
                <a:lnTo>
                  <a:pt x="187070" y="7620"/>
                </a:lnTo>
                <a:lnTo>
                  <a:pt x="185165" y="1270"/>
                </a:lnTo>
                <a:lnTo>
                  <a:pt x="185165" y="0"/>
                </a:lnTo>
                <a:close/>
              </a:path>
              <a:path w="236219" h="264159">
                <a:moveTo>
                  <a:pt x="204723" y="63500"/>
                </a:moveTo>
                <a:lnTo>
                  <a:pt x="194690" y="63500"/>
                </a:lnTo>
                <a:lnTo>
                  <a:pt x="194690" y="64770"/>
                </a:lnTo>
                <a:lnTo>
                  <a:pt x="202183" y="67310"/>
                </a:lnTo>
                <a:lnTo>
                  <a:pt x="204723" y="63500"/>
                </a:lnTo>
                <a:close/>
              </a:path>
              <a:path w="236219" h="264159">
                <a:moveTo>
                  <a:pt x="130428" y="52070"/>
                </a:moveTo>
                <a:lnTo>
                  <a:pt x="100202" y="52070"/>
                </a:lnTo>
                <a:lnTo>
                  <a:pt x="107695" y="55880"/>
                </a:lnTo>
                <a:lnTo>
                  <a:pt x="113410" y="57150"/>
                </a:lnTo>
                <a:lnTo>
                  <a:pt x="117220" y="59690"/>
                </a:lnTo>
                <a:lnTo>
                  <a:pt x="120903" y="60960"/>
                </a:lnTo>
                <a:lnTo>
                  <a:pt x="128523" y="63500"/>
                </a:lnTo>
                <a:lnTo>
                  <a:pt x="134111" y="59690"/>
                </a:lnTo>
                <a:lnTo>
                  <a:pt x="130428" y="52070"/>
                </a:lnTo>
                <a:close/>
              </a:path>
              <a:path w="236219" h="264159">
                <a:moveTo>
                  <a:pt x="92582" y="5080"/>
                </a:moveTo>
                <a:lnTo>
                  <a:pt x="90677" y="5080"/>
                </a:lnTo>
                <a:lnTo>
                  <a:pt x="85089" y="8890"/>
                </a:lnTo>
                <a:lnTo>
                  <a:pt x="83184" y="11430"/>
                </a:lnTo>
                <a:lnTo>
                  <a:pt x="81279" y="16510"/>
                </a:lnTo>
                <a:lnTo>
                  <a:pt x="77469" y="24130"/>
                </a:lnTo>
                <a:lnTo>
                  <a:pt x="77469" y="29210"/>
                </a:lnTo>
                <a:lnTo>
                  <a:pt x="75497" y="40640"/>
                </a:lnTo>
                <a:lnTo>
                  <a:pt x="70167" y="48260"/>
                </a:lnTo>
                <a:lnTo>
                  <a:pt x="62360" y="55880"/>
                </a:lnTo>
                <a:lnTo>
                  <a:pt x="52958" y="60960"/>
                </a:lnTo>
                <a:lnTo>
                  <a:pt x="69185" y="60960"/>
                </a:lnTo>
                <a:lnTo>
                  <a:pt x="69976" y="59690"/>
                </a:lnTo>
                <a:lnTo>
                  <a:pt x="95202" y="59690"/>
                </a:lnTo>
                <a:lnTo>
                  <a:pt x="96392" y="53340"/>
                </a:lnTo>
                <a:lnTo>
                  <a:pt x="100202" y="52070"/>
                </a:lnTo>
                <a:lnTo>
                  <a:pt x="130428" y="52070"/>
                </a:lnTo>
                <a:lnTo>
                  <a:pt x="128523" y="45720"/>
                </a:lnTo>
                <a:lnTo>
                  <a:pt x="122808" y="40640"/>
                </a:lnTo>
                <a:lnTo>
                  <a:pt x="117220" y="36830"/>
                </a:lnTo>
                <a:lnTo>
                  <a:pt x="113410" y="35560"/>
                </a:lnTo>
                <a:lnTo>
                  <a:pt x="111505" y="33020"/>
                </a:lnTo>
                <a:lnTo>
                  <a:pt x="111505" y="27940"/>
                </a:lnTo>
                <a:lnTo>
                  <a:pt x="109888" y="19050"/>
                </a:lnTo>
                <a:lnTo>
                  <a:pt x="105616" y="12700"/>
                </a:lnTo>
                <a:lnTo>
                  <a:pt x="99558" y="7620"/>
                </a:lnTo>
                <a:lnTo>
                  <a:pt x="92582" y="5080"/>
                </a:lnTo>
                <a:close/>
              </a:path>
              <a:path w="236219" h="264159">
                <a:moveTo>
                  <a:pt x="200955" y="52070"/>
                </a:moveTo>
                <a:lnTo>
                  <a:pt x="191785" y="52070"/>
                </a:lnTo>
                <a:lnTo>
                  <a:pt x="182639" y="53340"/>
                </a:lnTo>
                <a:lnTo>
                  <a:pt x="203905" y="53340"/>
                </a:lnTo>
                <a:lnTo>
                  <a:pt x="200955" y="52070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2932176" y="6451010"/>
            <a:ext cx="129803" cy="19667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2014727" y="6385559"/>
            <a:ext cx="236775" cy="2973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2351482" y="6466332"/>
            <a:ext cx="140781" cy="1569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1171955" y="6431279"/>
            <a:ext cx="210026" cy="22402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586740" y="6380988"/>
            <a:ext cx="242570" cy="289560"/>
          </a:xfrm>
          <a:custGeom>
            <a:avLst/>
            <a:gdLst/>
            <a:ahLst/>
            <a:cxnLst/>
            <a:rect l="l" t="t" r="r" b="b"/>
            <a:pathLst>
              <a:path w="242569" h="289559">
                <a:moveTo>
                  <a:pt x="61577" y="222250"/>
                </a:moveTo>
                <a:lnTo>
                  <a:pt x="37858" y="222250"/>
                </a:lnTo>
                <a:lnTo>
                  <a:pt x="35315" y="233680"/>
                </a:lnTo>
                <a:lnTo>
                  <a:pt x="33127" y="245110"/>
                </a:lnTo>
                <a:lnTo>
                  <a:pt x="30939" y="255270"/>
                </a:lnTo>
                <a:lnTo>
                  <a:pt x="28397" y="265430"/>
                </a:lnTo>
                <a:lnTo>
                  <a:pt x="28456" y="275590"/>
                </a:lnTo>
                <a:lnTo>
                  <a:pt x="31710" y="283210"/>
                </a:lnTo>
                <a:lnTo>
                  <a:pt x="38514" y="288290"/>
                </a:lnTo>
                <a:lnTo>
                  <a:pt x="49225" y="289560"/>
                </a:lnTo>
                <a:lnTo>
                  <a:pt x="49225" y="287020"/>
                </a:lnTo>
                <a:lnTo>
                  <a:pt x="51117" y="284480"/>
                </a:lnTo>
                <a:lnTo>
                  <a:pt x="54281" y="262890"/>
                </a:lnTo>
                <a:lnTo>
                  <a:pt x="57977" y="242570"/>
                </a:lnTo>
                <a:lnTo>
                  <a:pt x="61577" y="222250"/>
                </a:lnTo>
                <a:close/>
              </a:path>
              <a:path w="242569" h="289559">
                <a:moveTo>
                  <a:pt x="109804" y="228600"/>
                </a:moveTo>
                <a:lnTo>
                  <a:pt x="100329" y="228600"/>
                </a:lnTo>
                <a:lnTo>
                  <a:pt x="100329" y="240030"/>
                </a:lnTo>
                <a:lnTo>
                  <a:pt x="104114" y="242570"/>
                </a:lnTo>
                <a:lnTo>
                  <a:pt x="109503" y="247650"/>
                </a:lnTo>
                <a:lnTo>
                  <a:pt x="119561" y="255270"/>
                </a:lnTo>
                <a:lnTo>
                  <a:pt x="124942" y="260350"/>
                </a:lnTo>
                <a:lnTo>
                  <a:pt x="141539" y="270510"/>
                </a:lnTo>
                <a:lnTo>
                  <a:pt x="159732" y="278130"/>
                </a:lnTo>
                <a:lnTo>
                  <a:pt x="198780" y="288290"/>
                </a:lnTo>
                <a:lnTo>
                  <a:pt x="210134" y="288290"/>
                </a:lnTo>
                <a:lnTo>
                  <a:pt x="210134" y="287020"/>
                </a:lnTo>
                <a:lnTo>
                  <a:pt x="212026" y="283210"/>
                </a:lnTo>
                <a:lnTo>
                  <a:pt x="212026" y="275590"/>
                </a:lnTo>
                <a:lnTo>
                  <a:pt x="210134" y="271780"/>
                </a:lnTo>
                <a:lnTo>
                  <a:pt x="204832" y="264160"/>
                </a:lnTo>
                <a:lnTo>
                  <a:pt x="174167" y="264160"/>
                </a:lnTo>
                <a:lnTo>
                  <a:pt x="157807" y="261620"/>
                </a:lnTo>
                <a:lnTo>
                  <a:pt x="142690" y="255270"/>
                </a:lnTo>
                <a:lnTo>
                  <a:pt x="128640" y="246380"/>
                </a:lnTo>
                <a:lnTo>
                  <a:pt x="115481" y="236220"/>
                </a:lnTo>
                <a:lnTo>
                  <a:pt x="113588" y="232410"/>
                </a:lnTo>
                <a:lnTo>
                  <a:pt x="109804" y="228600"/>
                </a:lnTo>
                <a:close/>
              </a:path>
              <a:path w="242569" h="289559">
                <a:moveTo>
                  <a:pt x="161332" y="203200"/>
                </a:moveTo>
                <a:lnTo>
                  <a:pt x="134404" y="203200"/>
                </a:lnTo>
                <a:lnTo>
                  <a:pt x="134334" y="212090"/>
                </a:lnTo>
                <a:lnTo>
                  <a:pt x="134019" y="223520"/>
                </a:lnTo>
                <a:lnTo>
                  <a:pt x="137007" y="232410"/>
                </a:lnTo>
                <a:lnTo>
                  <a:pt x="145319" y="237490"/>
                </a:lnTo>
                <a:lnTo>
                  <a:pt x="160908" y="240030"/>
                </a:lnTo>
                <a:lnTo>
                  <a:pt x="162801" y="240030"/>
                </a:lnTo>
                <a:lnTo>
                  <a:pt x="166585" y="241300"/>
                </a:lnTo>
                <a:lnTo>
                  <a:pt x="177952" y="264160"/>
                </a:lnTo>
                <a:lnTo>
                  <a:pt x="204832" y="264160"/>
                </a:lnTo>
                <a:lnTo>
                  <a:pt x="203065" y="261620"/>
                </a:lnTo>
                <a:lnTo>
                  <a:pt x="196172" y="251460"/>
                </a:lnTo>
                <a:lnTo>
                  <a:pt x="189633" y="241300"/>
                </a:lnTo>
                <a:lnTo>
                  <a:pt x="183629" y="232410"/>
                </a:lnTo>
                <a:lnTo>
                  <a:pt x="193624" y="228600"/>
                </a:lnTo>
                <a:lnTo>
                  <a:pt x="203977" y="226060"/>
                </a:lnTo>
                <a:lnTo>
                  <a:pt x="238531" y="226060"/>
                </a:lnTo>
                <a:lnTo>
                  <a:pt x="242315" y="220980"/>
                </a:lnTo>
                <a:lnTo>
                  <a:pt x="155232" y="220980"/>
                </a:lnTo>
                <a:lnTo>
                  <a:pt x="155794" y="212090"/>
                </a:lnTo>
                <a:lnTo>
                  <a:pt x="159727" y="204470"/>
                </a:lnTo>
                <a:lnTo>
                  <a:pt x="161332" y="203200"/>
                </a:lnTo>
                <a:close/>
              </a:path>
              <a:path w="242569" h="289559">
                <a:moveTo>
                  <a:pt x="238531" y="226060"/>
                </a:moveTo>
                <a:lnTo>
                  <a:pt x="215040" y="226060"/>
                </a:lnTo>
                <a:lnTo>
                  <a:pt x="227164" y="229870"/>
                </a:lnTo>
                <a:lnTo>
                  <a:pt x="230962" y="232410"/>
                </a:lnTo>
                <a:lnTo>
                  <a:pt x="236639" y="232410"/>
                </a:lnTo>
                <a:lnTo>
                  <a:pt x="238531" y="226060"/>
                </a:lnTo>
                <a:close/>
              </a:path>
              <a:path w="242569" h="289559">
                <a:moveTo>
                  <a:pt x="89211" y="24130"/>
                </a:moveTo>
                <a:lnTo>
                  <a:pt x="81963" y="24130"/>
                </a:lnTo>
                <a:lnTo>
                  <a:pt x="73825" y="26670"/>
                </a:lnTo>
                <a:lnTo>
                  <a:pt x="43535" y="57150"/>
                </a:lnTo>
                <a:lnTo>
                  <a:pt x="36914" y="77470"/>
                </a:lnTo>
                <a:lnTo>
                  <a:pt x="39815" y="86360"/>
                </a:lnTo>
                <a:lnTo>
                  <a:pt x="47332" y="96520"/>
                </a:lnTo>
                <a:lnTo>
                  <a:pt x="47332" y="100330"/>
                </a:lnTo>
                <a:lnTo>
                  <a:pt x="51117" y="101600"/>
                </a:lnTo>
                <a:lnTo>
                  <a:pt x="49225" y="104140"/>
                </a:lnTo>
                <a:lnTo>
                  <a:pt x="46349" y="113030"/>
                </a:lnTo>
                <a:lnTo>
                  <a:pt x="28247" y="149860"/>
                </a:lnTo>
                <a:lnTo>
                  <a:pt x="19638" y="162560"/>
                </a:lnTo>
                <a:lnTo>
                  <a:pt x="10675" y="176530"/>
                </a:lnTo>
                <a:lnTo>
                  <a:pt x="1892" y="189230"/>
                </a:lnTo>
                <a:lnTo>
                  <a:pt x="1892" y="190500"/>
                </a:lnTo>
                <a:lnTo>
                  <a:pt x="0" y="193040"/>
                </a:lnTo>
                <a:lnTo>
                  <a:pt x="0" y="194310"/>
                </a:lnTo>
                <a:lnTo>
                  <a:pt x="1005" y="201930"/>
                </a:lnTo>
                <a:lnTo>
                  <a:pt x="25557" y="228600"/>
                </a:lnTo>
                <a:lnTo>
                  <a:pt x="31353" y="227330"/>
                </a:lnTo>
                <a:lnTo>
                  <a:pt x="37858" y="222250"/>
                </a:lnTo>
                <a:lnTo>
                  <a:pt x="61577" y="222250"/>
                </a:lnTo>
                <a:lnTo>
                  <a:pt x="62027" y="219710"/>
                </a:lnTo>
                <a:lnTo>
                  <a:pt x="66255" y="198120"/>
                </a:lnTo>
                <a:lnTo>
                  <a:pt x="66255" y="194310"/>
                </a:lnTo>
                <a:lnTo>
                  <a:pt x="64363" y="189230"/>
                </a:lnTo>
                <a:lnTo>
                  <a:pt x="64363" y="185420"/>
                </a:lnTo>
                <a:lnTo>
                  <a:pt x="62471" y="181610"/>
                </a:lnTo>
                <a:lnTo>
                  <a:pt x="62471" y="177800"/>
                </a:lnTo>
                <a:lnTo>
                  <a:pt x="64363" y="175260"/>
                </a:lnTo>
                <a:lnTo>
                  <a:pt x="81406" y="147320"/>
                </a:lnTo>
                <a:lnTo>
                  <a:pt x="126834" y="147320"/>
                </a:lnTo>
                <a:lnTo>
                  <a:pt x="128727" y="144780"/>
                </a:lnTo>
                <a:lnTo>
                  <a:pt x="130619" y="144780"/>
                </a:lnTo>
                <a:lnTo>
                  <a:pt x="132514" y="143510"/>
                </a:lnTo>
                <a:lnTo>
                  <a:pt x="102222" y="143510"/>
                </a:lnTo>
                <a:lnTo>
                  <a:pt x="90868" y="138430"/>
                </a:lnTo>
                <a:lnTo>
                  <a:pt x="96574" y="124460"/>
                </a:lnTo>
                <a:lnTo>
                  <a:pt x="96781" y="114300"/>
                </a:lnTo>
                <a:lnTo>
                  <a:pt x="91666" y="102870"/>
                </a:lnTo>
                <a:lnTo>
                  <a:pt x="81406" y="91440"/>
                </a:lnTo>
                <a:lnTo>
                  <a:pt x="79514" y="88900"/>
                </a:lnTo>
                <a:lnTo>
                  <a:pt x="77622" y="85090"/>
                </a:lnTo>
                <a:lnTo>
                  <a:pt x="73825" y="83820"/>
                </a:lnTo>
                <a:lnTo>
                  <a:pt x="68148" y="80010"/>
                </a:lnTo>
                <a:lnTo>
                  <a:pt x="68148" y="73660"/>
                </a:lnTo>
                <a:lnTo>
                  <a:pt x="70040" y="68580"/>
                </a:lnTo>
                <a:lnTo>
                  <a:pt x="106006" y="41910"/>
                </a:lnTo>
                <a:lnTo>
                  <a:pt x="106006" y="38100"/>
                </a:lnTo>
                <a:lnTo>
                  <a:pt x="100329" y="30480"/>
                </a:lnTo>
                <a:lnTo>
                  <a:pt x="95392" y="26670"/>
                </a:lnTo>
                <a:lnTo>
                  <a:pt x="89211" y="24130"/>
                </a:lnTo>
                <a:close/>
              </a:path>
              <a:path w="242569" h="289559">
                <a:moveTo>
                  <a:pt x="215811" y="205740"/>
                </a:moveTo>
                <a:lnTo>
                  <a:pt x="201936" y="205740"/>
                </a:lnTo>
                <a:lnTo>
                  <a:pt x="188596" y="208280"/>
                </a:lnTo>
                <a:lnTo>
                  <a:pt x="175611" y="212090"/>
                </a:lnTo>
                <a:lnTo>
                  <a:pt x="162801" y="218440"/>
                </a:lnTo>
                <a:lnTo>
                  <a:pt x="160908" y="220980"/>
                </a:lnTo>
                <a:lnTo>
                  <a:pt x="242315" y="220980"/>
                </a:lnTo>
                <a:lnTo>
                  <a:pt x="242315" y="214630"/>
                </a:lnTo>
                <a:lnTo>
                  <a:pt x="234746" y="210820"/>
                </a:lnTo>
                <a:lnTo>
                  <a:pt x="223380" y="207010"/>
                </a:lnTo>
                <a:lnTo>
                  <a:pt x="215811" y="205740"/>
                </a:lnTo>
                <a:close/>
              </a:path>
              <a:path w="242569" h="289559">
                <a:moveTo>
                  <a:pt x="90868" y="181610"/>
                </a:moveTo>
                <a:lnTo>
                  <a:pt x="71932" y="181610"/>
                </a:lnTo>
                <a:lnTo>
                  <a:pt x="71932" y="182880"/>
                </a:lnTo>
                <a:lnTo>
                  <a:pt x="71119" y="189230"/>
                </a:lnTo>
                <a:lnTo>
                  <a:pt x="83299" y="217170"/>
                </a:lnTo>
                <a:lnTo>
                  <a:pt x="98437" y="213360"/>
                </a:lnTo>
                <a:lnTo>
                  <a:pt x="104114" y="210820"/>
                </a:lnTo>
                <a:lnTo>
                  <a:pt x="111696" y="209550"/>
                </a:lnTo>
                <a:lnTo>
                  <a:pt x="123050" y="205740"/>
                </a:lnTo>
                <a:lnTo>
                  <a:pt x="128727" y="205740"/>
                </a:lnTo>
                <a:lnTo>
                  <a:pt x="134404" y="203200"/>
                </a:lnTo>
                <a:lnTo>
                  <a:pt x="161332" y="203200"/>
                </a:lnTo>
                <a:lnTo>
                  <a:pt x="166147" y="199390"/>
                </a:lnTo>
                <a:lnTo>
                  <a:pt x="174167" y="195580"/>
                </a:lnTo>
                <a:lnTo>
                  <a:pt x="181736" y="195580"/>
                </a:lnTo>
                <a:lnTo>
                  <a:pt x="189306" y="194310"/>
                </a:lnTo>
                <a:lnTo>
                  <a:pt x="202564" y="194310"/>
                </a:lnTo>
                <a:lnTo>
                  <a:pt x="208241" y="193040"/>
                </a:lnTo>
                <a:lnTo>
                  <a:pt x="210764" y="182880"/>
                </a:lnTo>
                <a:lnTo>
                  <a:pt x="96545" y="182880"/>
                </a:lnTo>
                <a:lnTo>
                  <a:pt x="90868" y="181610"/>
                </a:lnTo>
                <a:close/>
              </a:path>
              <a:path w="242569" h="289559">
                <a:moveTo>
                  <a:pt x="126834" y="147320"/>
                </a:moveTo>
                <a:lnTo>
                  <a:pt x="81406" y="147320"/>
                </a:lnTo>
                <a:lnTo>
                  <a:pt x="85369" y="156210"/>
                </a:lnTo>
                <a:lnTo>
                  <a:pt x="88976" y="163830"/>
                </a:lnTo>
                <a:lnTo>
                  <a:pt x="92583" y="173990"/>
                </a:lnTo>
                <a:lnTo>
                  <a:pt x="96545" y="182880"/>
                </a:lnTo>
                <a:lnTo>
                  <a:pt x="210764" y="182880"/>
                </a:lnTo>
                <a:lnTo>
                  <a:pt x="211711" y="179070"/>
                </a:lnTo>
                <a:lnTo>
                  <a:pt x="113588" y="179070"/>
                </a:lnTo>
                <a:lnTo>
                  <a:pt x="109804" y="177800"/>
                </a:lnTo>
                <a:lnTo>
                  <a:pt x="106006" y="166370"/>
                </a:lnTo>
                <a:lnTo>
                  <a:pt x="102222" y="160020"/>
                </a:lnTo>
                <a:lnTo>
                  <a:pt x="104114" y="158750"/>
                </a:lnTo>
                <a:lnTo>
                  <a:pt x="119265" y="152400"/>
                </a:lnTo>
                <a:lnTo>
                  <a:pt x="126834" y="152400"/>
                </a:lnTo>
                <a:lnTo>
                  <a:pt x="126834" y="147320"/>
                </a:lnTo>
                <a:close/>
              </a:path>
              <a:path w="242569" h="289559">
                <a:moveTo>
                  <a:pt x="126834" y="152400"/>
                </a:moveTo>
                <a:lnTo>
                  <a:pt x="119265" y="152400"/>
                </a:lnTo>
                <a:lnTo>
                  <a:pt x="119265" y="160020"/>
                </a:lnTo>
                <a:lnTo>
                  <a:pt x="123050" y="175260"/>
                </a:lnTo>
                <a:lnTo>
                  <a:pt x="113588" y="179070"/>
                </a:lnTo>
                <a:lnTo>
                  <a:pt x="211711" y="179070"/>
                </a:lnTo>
                <a:lnTo>
                  <a:pt x="212026" y="177800"/>
                </a:lnTo>
                <a:lnTo>
                  <a:pt x="209755" y="173990"/>
                </a:lnTo>
                <a:lnTo>
                  <a:pt x="128727" y="173990"/>
                </a:lnTo>
                <a:lnTo>
                  <a:pt x="128727" y="166370"/>
                </a:lnTo>
                <a:lnTo>
                  <a:pt x="126834" y="158750"/>
                </a:lnTo>
                <a:lnTo>
                  <a:pt x="126834" y="152400"/>
                </a:lnTo>
                <a:close/>
              </a:path>
              <a:path w="242569" h="289559">
                <a:moveTo>
                  <a:pt x="153339" y="138430"/>
                </a:moveTo>
                <a:lnTo>
                  <a:pt x="143878" y="138430"/>
                </a:lnTo>
                <a:lnTo>
                  <a:pt x="143907" y="151130"/>
                </a:lnTo>
                <a:lnTo>
                  <a:pt x="141274" y="162560"/>
                </a:lnTo>
                <a:lnTo>
                  <a:pt x="136155" y="170180"/>
                </a:lnTo>
                <a:lnTo>
                  <a:pt x="128727" y="173990"/>
                </a:lnTo>
                <a:lnTo>
                  <a:pt x="209755" y="173990"/>
                </a:lnTo>
                <a:lnTo>
                  <a:pt x="208241" y="171450"/>
                </a:lnTo>
                <a:lnTo>
                  <a:pt x="205718" y="170180"/>
                </a:lnTo>
                <a:lnTo>
                  <a:pt x="151447" y="170180"/>
                </a:lnTo>
                <a:lnTo>
                  <a:pt x="151447" y="167640"/>
                </a:lnTo>
                <a:lnTo>
                  <a:pt x="149555" y="167640"/>
                </a:lnTo>
                <a:lnTo>
                  <a:pt x="153339" y="156210"/>
                </a:lnTo>
                <a:lnTo>
                  <a:pt x="153339" y="138430"/>
                </a:lnTo>
                <a:close/>
              </a:path>
              <a:path w="242569" h="289559">
                <a:moveTo>
                  <a:pt x="208241" y="134620"/>
                </a:moveTo>
                <a:lnTo>
                  <a:pt x="179844" y="134620"/>
                </a:lnTo>
                <a:lnTo>
                  <a:pt x="183629" y="138430"/>
                </a:lnTo>
                <a:lnTo>
                  <a:pt x="179844" y="143510"/>
                </a:lnTo>
                <a:lnTo>
                  <a:pt x="153339" y="170180"/>
                </a:lnTo>
                <a:lnTo>
                  <a:pt x="205718" y="170180"/>
                </a:lnTo>
                <a:lnTo>
                  <a:pt x="200672" y="167640"/>
                </a:lnTo>
                <a:lnTo>
                  <a:pt x="198780" y="166370"/>
                </a:lnTo>
                <a:lnTo>
                  <a:pt x="194983" y="166370"/>
                </a:lnTo>
                <a:lnTo>
                  <a:pt x="191198" y="163830"/>
                </a:lnTo>
                <a:lnTo>
                  <a:pt x="194983" y="160020"/>
                </a:lnTo>
                <a:lnTo>
                  <a:pt x="196875" y="160020"/>
                </a:lnTo>
                <a:lnTo>
                  <a:pt x="202914" y="157480"/>
                </a:lnTo>
                <a:lnTo>
                  <a:pt x="206821" y="152400"/>
                </a:lnTo>
                <a:lnTo>
                  <a:pt x="208596" y="146050"/>
                </a:lnTo>
                <a:lnTo>
                  <a:pt x="208241" y="139700"/>
                </a:lnTo>
                <a:lnTo>
                  <a:pt x="208241" y="134620"/>
                </a:lnTo>
                <a:close/>
              </a:path>
              <a:path w="242569" h="289559">
                <a:moveTo>
                  <a:pt x="194983" y="83820"/>
                </a:moveTo>
                <a:lnTo>
                  <a:pt x="121157" y="83820"/>
                </a:lnTo>
                <a:lnTo>
                  <a:pt x="114355" y="85090"/>
                </a:lnTo>
                <a:lnTo>
                  <a:pt x="101455" y="86360"/>
                </a:lnTo>
                <a:lnTo>
                  <a:pt x="94653" y="87630"/>
                </a:lnTo>
                <a:lnTo>
                  <a:pt x="92760" y="87630"/>
                </a:lnTo>
                <a:lnTo>
                  <a:pt x="92760" y="88900"/>
                </a:lnTo>
                <a:lnTo>
                  <a:pt x="96545" y="92710"/>
                </a:lnTo>
                <a:lnTo>
                  <a:pt x="102222" y="96520"/>
                </a:lnTo>
                <a:lnTo>
                  <a:pt x="106006" y="97790"/>
                </a:lnTo>
                <a:lnTo>
                  <a:pt x="111696" y="100330"/>
                </a:lnTo>
                <a:lnTo>
                  <a:pt x="124942" y="100330"/>
                </a:lnTo>
                <a:lnTo>
                  <a:pt x="121926" y="107950"/>
                </a:lnTo>
                <a:lnTo>
                  <a:pt x="117846" y="115570"/>
                </a:lnTo>
                <a:lnTo>
                  <a:pt x="115895" y="123190"/>
                </a:lnTo>
                <a:lnTo>
                  <a:pt x="119265" y="132080"/>
                </a:lnTo>
                <a:lnTo>
                  <a:pt x="102222" y="143510"/>
                </a:lnTo>
                <a:lnTo>
                  <a:pt x="132514" y="143510"/>
                </a:lnTo>
                <a:lnTo>
                  <a:pt x="138201" y="139700"/>
                </a:lnTo>
                <a:lnTo>
                  <a:pt x="143878" y="138430"/>
                </a:lnTo>
                <a:lnTo>
                  <a:pt x="153339" y="138430"/>
                </a:lnTo>
                <a:lnTo>
                  <a:pt x="153339" y="134620"/>
                </a:lnTo>
                <a:lnTo>
                  <a:pt x="208241" y="134620"/>
                </a:lnTo>
                <a:lnTo>
                  <a:pt x="208241" y="130810"/>
                </a:lnTo>
                <a:lnTo>
                  <a:pt x="200672" y="127000"/>
                </a:lnTo>
                <a:lnTo>
                  <a:pt x="193090" y="124460"/>
                </a:lnTo>
                <a:lnTo>
                  <a:pt x="188349" y="123190"/>
                </a:lnTo>
                <a:lnTo>
                  <a:pt x="134404" y="123190"/>
                </a:lnTo>
                <a:lnTo>
                  <a:pt x="138201" y="115570"/>
                </a:lnTo>
                <a:lnTo>
                  <a:pt x="140093" y="109220"/>
                </a:lnTo>
                <a:lnTo>
                  <a:pt x="143878" y="101600"/>
                </a:lnTo>
                <a:lnTo>
                  <a:pt x="145770" y="96520"/>
                </a:lnTo>
                <a:lnTo>
                  <a:pt x="147662" y="95250"/>
                </a:lnTo>
                <a:lnTo>
                  <a:pt x="155232" y="95250"/>
                </a:lnTo>
                <a:lnTo>
                  <a:pt x="194983" y="83820"/>
                </a:lnTo>
                <a:close/>
              </a:path>
              <a:path w="242569" h="289559">
                <a:moveTo>
                  <a:pt x="164461" y="119380"/>
                </a:moveTo>
                <a:lnTo>
                  <a:pt x="149699" y="120650"/>
                </a:lnTo>
                <a:lnTo>
                  <a:pt x="134404" y="123190"/>
                </a:lnTo>
                <a:lnTo>
                  <a:pt x="188349" y="123190"/>
                </a:lnTo>
                <a:lnTo>
                  <a:pt x="178866" y="120650"/>
                </a:lnTo>
                <a:lnTo>
                  <a:pt x="164461" y="119380"/>
                </a:lnTo>
                <a:close/>
              </a:path>
              <a:path w="242569" h="289559">
                <a:moveTo>
                  <a:pt x="159016" y="0"/>
                </a:moveTo>
                <a:lnTo>
                  <a:pt x="159016" y="6350"/>
                </a:lnTo>
                <a:lnTo>
                  <a:pt x="134404" y="72390"/>
                </a:lnTo>
                <a:lnTo>
                  <a:pt x="132511" y="80010"/>
                </a:lnTo>
                <a:lnTo>
                  <a:pt x="128727" y="83820"/>
                </a:lnTo>
                <a:lnTo>
                  <a:pt x="198780" y="83820"/>
                </a:lnTo>
                <a:lnTo>
                  <a:pt x="200672" y="80010"/>
                </a:lnTo>
                <a:lnTo>
                  <a:pt x="200672" y="77470"/>
                </a:lnTo>
                <a:lnTo>
                  <a:pt x="151447" y="77470"/>
                </a:lnTo>
                <a:lnTo>
                  <a:pt x="154966" y="62230"/>
                </a:lnTo>
                <a:lnTo>
                  <a:pt x="158308" y="46990"/>
                </a:lnTo>
                <a:lnTo>
                  <a:pt x="163427" y="33020"/>
                </a:lnTo>
                <a:lnTo>
                  <a:pt x="172275" y="21590"/>
                </a:lnTo>
                <a:lnTo>
                  <a:pt x="177952" y="17780"/>
                </a:lnTo>
                <a:lnTo>
                  <a:pt x="174167" y="7620"/>
                </a:lnTo>
                <a:lnTo>
                  <a:pt x="159016" y="0"/>
                </a:lnTo>
                <a:close/>
              </a:path>
              <a:path w="242569" h="289559">
                <a:moveTo>
                  <a:pt x="191198" y="66040"/>
                </a:moveTo>
                <a:lnTo>
                  <a:pt x="185521" y="66040"/>
                </a:lnTo>
                <a:lnTo>
                  <a:pt x="181736" y="68580"/>
                </a:lnTo>
                <a:lnTo>
                  <a:pt x="174343" y="69850"/>
                </a:lnTo>
                <a:lnTo>
                  <a:pt x="158841" y="74930"/>
                </a:lnTo>
                <a:lnTo>
                  <a:pt x="151447" y="77470"/>
                </a:lnTo>
                <a:lnTo>
                  <a:pt x="200672" y="77470"/>
                </a:lnTo>
                <a:lnTo>
                  <a:pt x="200672" y="73660"/>
                </a:lnTo>
                <a:lnTo>
                  <a:pt x="196875" y="69850"/>
                </a:lnTo>
                <a:lnTo>
                  <a:pt x="193090" y="68580"/>
                </a:lnTo>
                <a:lnTo>
                  <a:pt x="191198" y="66040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653795" y="6606540"/>
            <a:ext cx="29209" cy="81280"/>
          </a:xfrm>
          <a:custGeom>
            <a:avLst/>
            <a:gdLst/>
            <a:ahLst/>
            <a:cxnLst/>
            <a:rect l="l" t="t" r="r" b="b"/>
            <a:pathLst>
              <a:path w="29209" h="81279">
                <a:moveTo>
                  <a:pt x="17145" y="0"/>
                </a:moveTo>
                <a:lnTo>
                  <a:pt x="12858" y="16877"/>
                </a:lnTo>
                <a:lnTo>
                  <a:pt x="8572" y="33578"/>
                </a:lnTo>
                <a:lnTo>
                  <a:pt x="4263" y="50012"/>
                </a:lnTo>
                <a:lnTo>
                  <a:pt x="120" y="65304"/>
                </a:lnTo>
                <a:lnTo>
                  <a:pt x="0" y="69494"/>
                </a:lnTo>
                <a:lnTo>
                  <a:pt x="3810" y="73253"/>
                </a:lnTo>
                <a:lnTo>
                  <a:pt x="11430" y="77012"/>
                </a:lnTo>
                <a:lnTo>
                  <a:pt x="17145" y="80771"/>
                </a:lnTo>
                <a:lnTo>
                  <a:pt x="19734" y="65304"/>
                </a:lnTo>
                <a:lnTo>
                  <a:pt x="22161" y="49927"/>
                </a:lnTo>
                <a:lnTo>
                  <a:pt x="24913" y="35073"/>
                </a:lnTo>
                <a:lnTo>
                  <a:pt x="28575" y="20662"/>
                </a:lnTo>
                <a:lnTo>
                  <a:pt x="29200" y="14262"/>
                </a:lnTo>
                <a:lnTo>
                  <a:pt x="27860" y="8921"/>
                </a:lnTo>
                <a:lnTo>
                  <a:pt x="24020" y="4285"/>
                </a:lnTo>
                <a:lnTo>
                  <a:pt x="17145" y="0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916469" y="6469379"/>
            <a:ext cx="157604" cy="13868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1502663" y="6445138"/>
            <a:ext cx="181038" cy="18426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7004" y="3122498"/>
            <a:ext cx="10857991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6640" y="2529078"/>
            <a:ext cx="10878718" cy="19392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2530" y="6370531"/>
            <a:ext cx="314325" cy="293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A1A1A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hyperlink" Target="https://www.huaweicloud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hyperlink" Target="http://www.huaweicloud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49.png"/><Relationship Id="rId4" Type="http://schemas.openxmlformats.org/officeDocument/2006/relationships/image" Target="../media/image3.png"/><Relationship Id="rId9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78.png"/><Relationship Id="rId4" Type="http://schemas.openxmlformats.org/officeDocument/2006/relationships/image" Target="../media/image3.png"/><Relationship Id="rId9" Type="http://schemas.openxmlformats.org/officeDocument/2006/relationships/image" Target="../media/image7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480" y="0"/>
            <a:ext cx="7981188" cy="6857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2504" y="0"/>
            <a:ext cx="7536180" cy="6857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8976" y="0"/>
            <a:ext cx="7538084" cy="6858000"/>
          </a:xfrm>
          <a:custGeom>
            <a:avLst/>
            <a:gdLst/>
            <a:ahLst/>
            <a:cxnLst/>
            <a:rect l="l" t="t" r="r" b="b"/>
            <a:pathLst>
              <a:path w="7538084" h="6858000">
                <a:moveTo>
                  <a:pt x="6352540" y="0"/>
                </a:moveTo>
                <a:lnTo>
                  <a:pt x="0" y="0"/>
                </a:lnTo>
                <a:lnTo>
                  <a:pt x="0" y="6857999"/>
                </a:lnTo>
                <a:lnTo>
                  <a:pt x="6352540" y="6857999"/>
                </a:lnTo>
                <a:lnTo>
                  <a:pt x="6433058" y="6755582"/>
                </a:lnTo>
                <a:lnTo>
                  <a:pt x="6462204" y="6716253"/>
                </a:lnTo>
                <a:lnTo>
                  <a:pt x="6491012" y="6676660"/>
                </a:lnTo>
                <a:lnTo>
                  <a:pt x="6519479" y="6636805"/>
                </a:lnTo>
                <a:lnTo>
                  <a:pt x="6547602" y="6596690"/>
                </a:lnTo>
                <a:lnTo>
                  <a:pt x="6575381" y="6556317"/>
                </a:lnTo>
                <a:lnTo>
                  <a:pt x="6602811" y="6515688"/>
                </a:lnTo>
                <a:lnTo>
                  <a:pt x="6629892" y="6474805"/>
                </a:lnTo>
                <a:lnTo>
                  <a:pt x="6656622" y="6433671"/>
                </a:lnTo>
                <a:lnTo>
                  <a:pt x="6682997" y="6392288"/>
                </a:lnTo>
                <a:lnTo>
                  <a:pt x="6709016" y="6350657"/>
                </a:lnTo>
                <a:lnTo>
                  <a:pt x="6734677" y="6308782"/>
                </a:lnTo>
                <a:lnTo>
                  <a:pt x="6759978" y="6266663"/>
                </a:lnTo>
                <a:lnTo>
                  <a:pt x="6784916" y="6224304"/>
                </a:lnTo>
                <a:lnTo>
                  <a:pt x="6809490" y="6181706"/>
                </a:lnTo>
                <a:lnTo>
                  <a:pt x="6833696" y="6138871"/>
                </a:lnTo>
                <a:lnTo>
                  <a:pt x="6857534" y="6095802"/>
                </a:lnTo>
                <a:lnTo>
                  <a:pt x="6881001" y="6052502"/>
                </a:lnTo>
                <a:lnTo>
                  <a:pt x="6904094" y="6008971"/>
                </a:lnTo>
                <a:lnTo>
                  <a:pt x="6926812" y="5965212"/>
                </a:lnTo>
                <a:lnTo>
                  <a:pt x="6949153" y="5921227"/>
                </a:lnTo>
                <a:lnTo>
                  <a:pt x="6971113" y="5877019"/>
                </a:lnTo>
                <a:lnTo>
                  <a:pt x="6992692" y="5832589"/>
                </a:lnTo>
                <a:lnTo>
                  <a:pt x="7013888" y="5787941"/>
                </a:lnTo>
                <a:lnTo>
                  <a:pt x="7034697" y="5743074"/>
                </a:lnTo>
                <a:lnTo>
                  <a:pt x="7055117" y="5697993"/>
                </a:lnTo>
                <a:lnTo>
                  <a:pt x="7075148" y="5652700"/>
                </a:lnTo>
                <a:lnTo>
                  <a:pt x="7094785" y="5607195"/>
                </a:lnTo>
                <a:lnTo>
                  <a:pt x="7114029" y="5561482"/>
                </a:lnTo>
                <a:lnTo>
                  <a:pt x="7132875" y="5515562"/>
                </a:lnTo>
                <a:lnTo>
                  <a:pt x="7151322" y="5469439"/>
                </a:lnTo>
                <a:lnTo>
                  <a:pt x="7169369" y="5423113"/>
                </a:lnTo>
                <a:lnTo>
                  <a:pt x="7187012" y="5376587"/>
                </a:lnTo>
                <a:lnTo>
                  <a:pt x="7204249" y="5329863"/>
                </a:lnTo>
                <a:lnTo>
                  <a:pt x="7221080" y="5282944"/>
                </a:lnTo>
                <a:lnTo>
                  <a:pt x="7237500" y="5235831"/>
                </a:lnTo>
                <a:lnTo>
                  <a:pt x="7253509" y="5188527"/>
                </a:lnTo>
                <a:lnTo>
                  <a:pt x="7269103" y="5141033"/>
                </a:lnTo>
                <a:lnTo>
                  <a:pt x="7284282" y="5093353"/>
                </a:lnTo>
                <a:lnTo>
                  <a:pt x="7299042" y="5045487"/>
                </a:lnTo>
                <a:lnTo>
                  <a:pt x="7313382" y="4997439"/>
                </a:lnTo>
                <a:lnTo>
                  <a:pt x="7327299" y="4949210"/>
                </a:lnTo>
                <a:lnTo>
                  <a:pt x="7340792" y="4900803"/>
                </a:lnTo>
                <a:lnTo>
                  <a:pt x="7353858" y="4852219"/>
                </a:lnTo>
                <a:lnTo>
                  <a:pt x="7366495" y="4803461"/>
                </a:lnTo>
                <a:lnTo>
                  <a:pt x="7378700" y="4754531"/>
                </a:lnTo>
                <a:lnTo>
                  <a:pt x="7390473" y="4705431"/>
                </a:lnTo>
                <a:lnTo>
                  <a:pt x="7401810" y="4656164"/>
                </a:lnTo>
                <a:lnTo>
                  <a:pt x="7412709" y="4606731"/>
                </a:lnTo>
                <a:lnTo>
                  <a:pt x="7423169" y="4557134"/>
                </a:lnTo>
                <a:lnTo>
                  <a:pt x="7433187" y="4507376"/>
                </a:lnTo>
                <a:lnTo>
                  <a:pt x="7442761" y="4457459"/>
                </a:lnTo>
                <a:lnTo>
                  <a:pt x="7451889" y="4407385"/>
                </a:lnTo>
                <a:lnTo>
                  <a:pt x="7460569" y="4357156"/>
                </a:lnTo>
                <a:lnTo>
                  <a:pt x="7468798" y="4306774"/>
                </a:lnTo>
                <a:lnTo>
                  <a:pt x="7476575" y="4256242"/>
                </a:lnTo>
                <a:lnTo>
                  <a:pt x="7483896" y="4205561"/>
                </a:lnTo>
                <a:lnTo>
                  <a:pt x="7490762" y="4154734"/>
                </a:lnTo>
                <a:lnTo>
                  <a:pt x="7497168" y="4103763"/>
                </a:lnTo>
                <a:lnTo>
                  <a:pt x="7503113" y="4052650"/>
                </a:lnTo>
                <a:lnTo>
                  <a:pt x="7508594" y="4001397"/>
                </a:lnTo>
                <a:lnTo>
                  <a:pt x="7513611" y="3950006"/>
                </a:lnTo>
                <a:lnTo>
                  <a:pt x="7518159" y="3898480"/>
                </a:lnTo>
                <a:lnTo>
                  <a:pt x="7522238" y="3846820"/>
                </a:lnTo>
                <a:lnTo>
                  <a:pt x="7525845" y="3795030"/>
                </a:lnTo>
                <a:lnTo>
                  <a:pt x="7528979" y="3743110"/>
                </a:lnTo>
                <a:lnTo>
                  <a:pt x="7531636" y="3691063"/>
                </a:lnTo>
                <a:lnTo>
                  <a:pt x="7533814" y="3638891"/>
                </a:lnTo>
                <a:lnTo>
                  <a:pt x="7535513" y="3586597"/>
                </a:lnTo>
                <a:lnTo>
                  <a:pt x="7536728" y="3534182"/>
                </a:lnTo>
                <a:lnTo>
                  <a:pt x="7537459" y="3481649"/>
                </a:lnTo>
                <a:lnTo>
                  <a:pt x="7537704" y="3429000"/>
                </a:lnTo>
                <a:lnTo>
                  <a:pt x="7537459" y="3376350"/>
                </a:lnTo>
                <a:lnTo>
                  <a:pt x="7536728" y="3323817"/>
                </a:lnTo>
                <a:lnTo>
                  <a:pt x="7535513" y="3271402"/>
                </a:lnTo>
                <a:lnTo>
                  <a:pt x="7533814" y="3219108"/>
                </a:lnTo>
                <a:lnTo>
                  <a:pt x="7531636" y="3166937"/>
                </a:lnTo>
                <a:lnTo>
                  <a:pt x="7528979" y="3114890"/>
                </a:lnTo>
                <a:lnTo>
                  <a:pt x="7525845" y="3062971"/>
                </a:lnTo>
                <a:lnTo>
                  <a:pt x="7522238" y="3011180"/>
                </a:lnTo>
                <a:lnTo>
                  <a:pt x="7518159" y="2959521"/>
                </a:lnTo>
                <a:lnTo>
                  <a:pt x="7513611" y="2907995"/>
                </a:lnTo>
                <a:lnTo>
                  <a:pt x="7508594" y="2856605"/>
                </a:lnTo>
                <a:lnTo>
                  <a:pt x="7503113" y="2805353"/>
                </a:lnTo>
                <a:lnTo>
                  <a:pt x="7497168" y="2754240"/>
                </a:lnTo>
                <a:lnTo>
                  <a:pt x="7490762" y="2703269"/>
                </a:lnTo>
                <a:lnTo>
                  <a:pt x="7483896" y="2652443"/>
                </a:lnTo>
                <a:lnTo>
                  <a:pt x="7476575" y="2601763"/>
                </a:lnTo>
                <a:lnTo>
                  <a:pt x="7468798" y="2551231"/>
                </a:lnTo>
                <a:lnTo>
                  <a:pt x="7460569" y="2500850"/>
                </a:lnTo>
                <a:lnTo>
                  <a:pt x="7451889" y="2450621"/>
                </a:lnTo>
                <a:lnTo>
                  <a:pt x="7442761" y="2400548"/>
                </a:lnTo>
                <a:lnTo>
                  <a:pt x="7433187" y="2350631"/>
                </a:lnTo>
                <a:lnTo>
                  <a:pt x="7423169" y="2300873"/>
                </a:lnTo>
                <a:lnTo>
                  <a:pt x="7412709" y="2251277"/>
                </a:lnTo>
                <a:lnTo>
                  <a:pt x="7401810" y="2201845"/>
                </a:lnTo>
                <a:lnTo>
                  <a:pt x="7390473" y="2152577"/>
                </a:lnTo>
                <a:lnTo>
                  <a:pt x="7378700" y="2103478"/>
                </a:lnTo>
                <a:lnTo>
                  <a:pt x="7366495" y="2054548"/>
                </a:lnTo>
                <a:lnTo>
                  <a:pt x="7353858" y="2005791"/>
                </a:lnTo>
                <a:lnTo>
                  <a:pt x="7340792" y="1957207"/>
                </a:lnTo>
                <a:lnTo>
                  <a:pt x="7327299" y="1908800"/>
                </a:lnTo>
                <a:lnTo>
                  <a:pt x="7313382" y="1860572"/>
                </a:lnTo>
                <a:lnTo>
                  <a:pt x="7299042" y="1812524"/>
                </a:lnTo>
                <a:lnTo>
                  <a:pt x="7284282" y="1764658"/>
                </a:lnTo>
                <a:lnTo>
                  <a:pt x="7269103" y="1716978"/>
                </a:lnTo>
                <a:lnTo>
                  <a:pt x="7253509" y="1669484"/>
                </a:lnTo>
                <a:lnTo>
                  <a:pt x="7237500" y="1622180"/>
                </a:lnTo>
                <a:lnTo>
                  <a:pt x="7221080" y="1575067"/>
                </a:lnTo>
                <a:lnTo>
                  <a:pt x="7204249" y="1528148"/>
                </a:lnTo>
                <a:lnTo>
                  <a:pt x="7187012" y="1481424"/>
                </a:lnTo>
                <a:lnTo>
                  <a:pt x="7169369" y="1434897"/>
                </a:lnTo>
                <a:lnTo>
                  <a:pt x="7151322" y="1388571"/>
                </a:lnTo>
                <a:lnTo>
                  <a:pt x="7132875" y="1342447"/>
                </a:lnTo>
                <a:lnTo>
                  <a:pt x="7114029" y="1296527"/>
                </a:lnTo>
                <a:lnTo>
                  <a:pt x="7094785" y="1250813"/>
                </a:lnTo>
                <a:lnTo>
                  <a:pt x="7075148" y="1205308"/>
                </a:lnTo>
                <a:lnTo>
                  <a:pt x="7055117" y="1160013"/>
                </a:lnTo>
                <a:lnTo>
                  <a:pt x="7034697" y="1114931"/>
                </a:lnTo>
                <a:lnTo>
                  <a:pt x="7013888" y="1070064"/>
                </a:lnTo>
                <a:lnTo>
                  <a:pt x="6992692" y="1025414"/>
                </a:lnTo>
                <a:lnTo>
                  <a:pt x="6971113" y="980983"/>
                </a:lnTo>
                <a:lnTo>
                  <a:pt x="6949153" y="936773"/>
                </a:lnTo>
                <a:lnTo>
                  <a:pt x="6926812" y="892787"/>
                </a:lnTo>
                <a:lnTo>
                  <a:pt x="6904094" y="849027"/>
                </a:lnTo>
                <a:lnTo>
                  <a:pt x="6881001" y="805494"/>
                </a:lnTo>
                <a:lnTo>
                  <a:pt x="6857534" y="762191"/>
                </a:lnTo>
                <a:lnTo>
                  <a:pt x="6833696" y="719120"/>
                </a:lnTo>
                <a:lnTo>
                  <a:pt x="6809490" y="676284"/>
                </a:lnTo>
                <a:lnTo>
                  <a:pt x="6784916" y="633684"/>
                </a:lnTo>
                <a:lnTo>
                  <a:pt x="6759978" y="591322"/>
                </a:lnTo>
                <a:lnTo>
                  <a:pt x="6734677" y="549201"/>
                </a:lnTo>
                <a:lnTo>
                  <a:pt x="6709016" y="507322"/>
                </a:lnTo>
                <a:lnTo>
                  <a:pt x="6682997" y="465689"/>
                </a:lnTo>
                <a:lnTo>
                  <a:pt x="6656622" y="424302"/>
                </a:lnTo>
                <a:lnTo>
                  <a:pt x="6629892" y="383165"/>
                </a:lnTo>
                <a:lnTo>
                  <a:pt x="6602811" y="342279"/>
                </a:lnTo>
                <a:lnTo>
                  <a:pt x="6575381" y="301646"/>
                </a:lnTo>
                <a:lnTo>
                  <a:pt x="6547602" y="261270"/>
                </a:lnTo>
                <a:lnTo>
                  <a:pt x="6519479" y="221151"/>
                </a:lnTo>
                <a:lnTo>
                  <a:pt x="6491012" y="181291"/>
                </a:lnTo>
                <a:lnTo>
                  <a:pt x="6462204" y="141694"/>
                </a:lnTo>
                <a:lnTo>
                  <a:pt x="6433058" y="102361"/>
                </a:lnTo>
                <a:lnTo>
                  <a:pt x="635254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7681722" cy="68579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7536180" cy="6858000"/>
          </a:xfrm>
          <a:custGeom>
            <a:avLst/>
            <a:gdLst/>
            <a:ahLst/>
            <a:cxnLst/>
            <a:rect l="l" t="t" r="r" b="b"/>
            <a:pathLst>
              <a:path w="7536180" h="6858000">
                <a:moveTo>
                  <a:pt x="6351270" y="0"/>
                </a:moveTo>
                <a:lnTo>
                  <a:pt x="0" y="0"/>
                </a:lnTo>
                <a:lnTo>
                  <a:pt x="0" y="6857999"/>
                </a:lnTo>
                <a:lnTo>
                  <a:pt x="6351270" y="6857999"/>
                </a:lnTo>
                <a:lnTo>
                  <a:pt x="6431661" y="6755582"/>
                </a:lnTo>
                <a:lnTo>
                  <a:pt x="6460802" y="6716253"/>
                </a:lnTo>
                <a:lnTo>
                  <a:pt x="6489605" y="6676660"/>
                </a:lnTo>
                <a:lnTo>
                  <a:pt x="6518066" y="6636805"/>
                </a:lnTo>
                <a:lnTo>
                  <a:pt x="6546185" y="6596690"/>
                </a:lnTo>
                <a:lnTo>
                  <a:pt x="6573959" y="6556317"/>
                </a:lnTo>
                <a:lnTo>
                  <a:pt x="6601385" y="6515688"/>
                </a:lnTo>
                <a:lnTo>
                  <a:pt x="6628461" y="6474805"/>
                </a:lnTo>
                <a:lnTo>
                  <a:pt x="6655186" y="6433671"/>
                </a:lnTo>
                <a:lnTo>
                  <a:pt x="6681558" y="6392288"/>
                </a:lnTo>
                <a:lnTo>
                  <a:pt x="6707573" y="6350657"/>
                </a:lnTo>
                <a:lnTo>
                  <a:pt x="6733230" y="6308782"/>
                </a:lnTo>
                <a:lnTo>
                  <a:pt x="6758527" y="6266663"/>
                </a:lnTo>
                <a:lnTo>
                  <a:pt x="6783461" y="6224304"/>
                </a:lnTo>
                <a:lnTo>
                  <a:pt x="6808031" y="6181706"/>
                </a:lnTo>
                <a:lnTo>
                  <a:pt x="6832235" y="6138871"/>
                </a:lnTo>
                <a:lnTo>
                  <a:pt x="6856069" y="6095802"/>
                </a:lnTo>
                <a:lnTo>
                  <a:pt x="6879532" y="6052502"/>
                </a:lnTo>
                <a:lnTo>
                  <a:pt x="6902623" y="6008971"/>
                </a:lnTo>
                <a:lnTo>
                  <a:pt x="6925338" y="5965212"/>
                </a:lnTo>
                <a:lnTo>
                  <a:pt x="6947676" y="5921227"/>
                </a:lnTo>
                <a:lnTo>
                  <a:pt x="6969634" y="5877019"/>
                </a:lnTo>
                <a:lnTo>
                  <a:pt x="6991210" y="5832589"/>
                </a:lnTo>
                <a:lnTo>
                  <a:pt x="7012403" y="5787941"/>
                </a:lnTo>
                <a:lnTo>
                  <a:pt x="7033209" y="5743074"/>
                </a:lnTo>
                <a:lnTo>
                  <a:pt x="7053628" y="5697993"/>
                </a:lnTo>
                <a:lnTo>
                  <a:pt x="7073656" y="5652700"/>
                </a:lnTo>
                <a:lnTo>
                  <a:pt x="7093292" y="5607195"/>
                </a:lnTo>
                <a:lnTo>
                  <a:pt x="7112533" y="5561482"/>
                </a:lnTo>
                <a:lnTo>
                  <a:pt x="7131377" y="5515562"/>
                </a:lnTo>
                <a:lnTo>
                  <a:pt x="7149823" y="5469439"/>
                </a:lnTo>
                <a:lnTo>
                  <a:pt x="7167867" y="5423113"/>
                </a:lnTo>
                <a:lnTo>
                  <a:pt x="7185509" y="5376587"/>
                </a:lnTo>
                <a:lnTo>
                  <a:pt x="7202745" y="5329863"/>
                </a:lnTo>
                <a:lnTo>
                  <a:pt x="7219573" y="5282944"/>
                </a:lnTo>
                <a:lnTo>
                  <a:pt x="7235993" y="5235831"/>
                </a:lnTo>
                <a:lnTo>
                  <a:pt x="7252000" y="5188527"/>
                </a:lnTo>
                <a:lnTo>
                  <a:pt x="7267593" y="5141033"/>
                </a:lnTo>
                <a:lnTo>
                  <a:pt x="7282771" y="5093353"/>
                </a:lnTo>
                <a:lnTo>
                  <a:pt x="7297530" y="5045487"/>
                </a:lnTo>
                <a:lnTo>
                  <a:pt x="7311869" y="4997439"/>
                </a:lnTo>
                <a:lnTo>
                  <a:pt x="7325785" y="4949210"/>
                </a:lnTo>
                <a:lnTo>
                  <a:pt x="7339277" y="4900803"/>
                </a:lnTo>
                <a:lnTo>
                  <a:pt x="7352342" y="4852219"/>
                </a:lnTo>
                <a:lnTo>
                  <a:pt x="7364978" y="4803461"/>
                </a:lnTo>
                <a:lnTo>
                  <a:pt x="7377183" y="4754531"/>
                </a:lnTo>
                <a:lnTo>
                  <a:pt x="7388954" y="4705431"/>
                </a:lnTo>
                <a:lnTo>
                  <a:pt x="7400291" y="4656164"/>
                </a:lnTo>
                <a:lnTo>
                  <a:pt x="7411190" y="4606731"/>
                </a:lnTo>
                <a:lnTo>
                  <a:pt x="7421649" y="4557134"/>
                </a:lnTo>
                <a:lnTo>
                  <a:pt x="7431667" y="4507376"/>
                </a:lnTo>
                <a:lnTo>
                  <a:pt x="7441240" y="4457459"/>
                </a:lnTo>
                <a:lnTo>
                  <a:pt x="7450368" y="4407385"/>
                </a:lnTo>
                <a:lnTo>
                  <a:pt x="7459047" y="4357156"/>
                </a:lnTo>
                <a:lnTo>
                  <a:pt x="7467276" y="4306774"/>
                </a:lnTo>
                <a:lnTo>
                  <a:pt x="7475052" y="4256242"/>
                </a:lnTo>
                <a:lnTo>
                  <a:pt x="7482374" y="4205561"/>
                </a:lnTo>
                <a:lnTo>
                  <a:pt x="7489239" y="4154734"/>
                </a:lnTo>
                <a:lnTo>
                  <a:pt x="7495644" y="4103763"/>
                </a:lnTo>
                <a:lnTo>
                  <a:pt x="7501589" y="4052650"/>
                </a:lnTo>
                <a:lnTo>
                  <a:pt x="7507071" y="4001397"/>
                </a:lnTo>
                <a:lnTo>
                  <a:pt x="7512087" y="3950006"/>
                </a:lnTo>
                <a:lnTo>
                  <a:pt x="7516636" y="3898480"/>
                </a:lnTo>
                <a:lnTo>
                  <a:pt x="7520714" y="3846820"/>
                </a:lnTo>
                <a:lnTo>
                  <a:pt x="7524322" y="3795030"/>
                </a:lnTo>
                <a:lnTo>
                  <a:pt x="7527455" y="3743110"/>
                </a:lnTo>
                <a:lnTo>
                  <a:pt x="7530112" y="3691063"/>
                </a:lnTo>
                <a:lnTo>
                  <a:pt x="7532290" y="3638891"/>
                </a:lnTo>
                <a:lnTo>
                  <a:pt x="7533989" y="3586597"/>
                </a:lnTo>
                <a:lnTo>
                  <a:pt x="7535204" y="3534182"/>
                </a:lnTo>
                <a:lnTo>
                  <a:pt x="7535935" y="3481649"/>
                </a:lnTo>
                <a:lnTo>
                  <a:pt x="7536180" y="3429000"/>
                </a:lnTo>
                <a:lnTo>
                  <a:pt x="7535935" y="3376350"/>
                </a:lnTo>
                <a:lnTo>
                  <a:pt x="7535204" y="3323817"/>
                </a:lnTo>
                <a:lnTo>
                  <a:pt x="7533989" y="3271402"/>
                </a:lnTo>
                <a:lnTo>
                  <a:pt x="7532290" y="3219108"/>
                </a:lnTo>
                <a:lnTo>
                  <a:pt x="7530112" y="3166937"/>
                </a:lnTo>
                <a:lnTo>
                  <a:pt x="7527455" y="3114890"/>
                </a:lnTo>
                <a:lnTo>
                  <a:pt x="7524322" y="3062971"/>
                </a:lnTo>
                <a:lnTo>
                  <a:pt x="7520714" y="3011180"/>
                </a:lnTo>
                <a:lnTo>
                  <a:pt x="7516636" y="2959521"/>
                </a:lnTo>
                <a:lnTo>
                  <a:pt x="7512087" y="2907995"/>
                </a:lnTo>
                <a:lnTo>
                  <a:pt x="7507071" y="2856605"/>
                </a:lnTo>
                <a:lnTo>
                  <a:pt x="7501589" y="2805353"/>
                </a:lnTo>
                <a:lnTo>
                  <a:pt x="7495644" y="2754240"/>
                </a:lnTo>
                <a:lnTo>
                  <a:pt x="7489239" y="2703269"/>
                </a:lnTo>
                <a:lnTo>
                  <a:pt x="7482374" y="2652443"/>
                </a:lnTo>
                <a:lnTo>
                  <a:pt x="7475052" y="2601763"/>
                </a:lnTo>
                <a:lnTo>
                  <a:pt x="7467276" y="2551231"/>
                </a:lnTo>
                <a:lnTo>
                  <a:pt x="7459047" y="2500850"/>
                </a:lnTo>
                <a:lnTo>
                  <a:pt x="7450368" y="2450621"/>
                </a:lnTo>
                <a:lnTo>
                  <a:pt x="7441240" y="2400548"/>
                </a:lnTo>
                <a:lnTo>
                  <a:pt x="7431667" y="2350631"/>
                </a:lnTo>
                <a:lnTo>
                  <a:pt x="7421649" y="2300873"/>
                </a:lnTo>
                <a:lnTo>
                  <a:pt x="7411190" y="2251277"/>
                </a:lnTo>
                <a:lnTo>
                  <a:pt x="7400291" y="2201845"/>
                </a:lnTo>
                <a:lnTo>
                  <a:pt x="7388954" y="2152577"/>
                </a:lnTo>
                <a:lnTo>
                  <a:pt x="7377183" y="2103478"/>
                </a:lnTo>
                <a:lnTo>
                  <a:pt x="7364978" y="2054548"/>
                </a:lnTo>
                <a:lnTo>
                  <a:pt x="7352342" y="2005791"/>
                </a:lnTo>
                <a:lnTo>
                  <a:pt x="7339277" y="1957207"/>
                </a:lnTo>
                <a:lnTo>
                  <a:pt x="7325785" y="1908800"/>
                </a:lnTo>
                <a:lnTo>
                  <a:pt x="7311869" y="1860572"/>
                </a:lnTo>
                <a:lnTo>
                  <a:pt x="7297530" y="1812524"/>
                </a:lnTo>
                <a:lnTo>
                  <a:pt x="7282771" y="1764658"/>
                </a:lnTo>
                <a:lnTo>
                  <a:pt x="7267593" y="1716978"/>
                </a:lnTo>
                <a:lnTo>
                  <a:pt x="7252000" y="1669484"/>
                </a:lnTo>
                <a:lnTo>
                  <a:pt x="7235993" y="1622180"/>
                </a:lnTo>
                <a:lnTo>
                  <a:pt x="7219573" y="1575067"/>
                </a:lnTo>
                <a:lnTo>
                  <a:pt x="7202745" y="1528148"/>
                </a:lnTo>
                <a:lnTo>
                  <a:pt x="7185509" y="1481424"/>
                </a:lnTo>
                <a:lnTo>
                  <a:pt x="7167867" y="1434897"/>
                </a:lnTo>
                <a:lnTo>
                  <a:pt x="7149823" y="1388571"/>
                </a:lnTo>
                <a:lnTo>
                  <a:pt x="7131377" y="1342447"/>
                </a:lnTo>
                <a:lnTo>
                  <a:pt x="7112533" y="1296527"/>
                </a:lnTo>
                <a:lnTo>
                  <a:pt x="7093292" y="1250813"/>
                </a:lnTo>
                <a:lnTo>
                  <a:pt x="7073656" y="1205308"/>
                </a:lnTo>
                <a:lnTo>
                  <a:pt x="7053628" y="1160013"/>
                </a:lnTo>
                <a:lnTo>
                  <a:pt x="7033209" y="1114931"/>
                </a:lnTo>
                <a:lnTo>
                  <a:pt x="7012403" y="1070064"/>
                </a:lnTo>
                <a:lnTo>
                  <a:pt x="6991210" y="1025414"/>
                </a:lnTo>
                <a:lnTo>
                  <a:pt x="6969634" y="980983"/>
                </a:lnTo>
                <a:lnTo>
                  <a:pt x="6947676" y="936773"/>
                </a:lnTo>
                <a:lnTo>
                  <a:pt x="6925338" y="892787"/>
                </a:lnTo>
                <a:lnTo>
                  <a:pt x="6902623" y="849027"/>
                </a:lnTo>
                <a:lnTo>
                  <a:pt x="6879532" y="805494"/>
                </a:lnTo>
                <a:lnTo>
                  <a:pt x="6856069" y="762191"/>
                </a:lnTo>
                <a:lnTo>
                  <a:pt x="6832235" y="719120"/>
                </a:lnTo>
                <a:lnTo>
                  <a:pt x="6808031" y="676284"/>
                </a:lnTo>
                <a:lnTo>
                  <a:pt x="6783461" y="633684"/>
                </a:lnTo>
                <a:lnTo>
                  <a:pt x="6758527" y="591322"/>
                </a:lnTo>
                <a:lnTo>
                  <a:pt x="6733230" y="549201"/>
                </a:lnTo>
                <a:lnTo>
                  <a:pt x="6707573" y="507322"/>
                </a:lnTo>
                <a:lnTo>
                  <a:pt x="6681558" y="465689"/>
                </a:lnTo>
                <a:lnTo>
                  <a:pt x="6655186" y="424302"/>
                </a:lnTo>
                <a:lnTo>
                  <a:pt x="6628461" y="383165"/>
                </a:lnTo>
                <a:lnTo>
                  <a:pt x="6601385" y="342279"/>
                </a:lnTo>
                <a:lnTo>
                  <a:pt x="6573959" y="301646"/>
                </a:lnTo>
                <a:lnTo>
                  <a:pt x="6546185" y="261270"/>
                </a:lnTo>
                <a:lnTo>
                  <a:pt x="6518066" y="221151"/>
                </a:lnTo>
                <a:lnTo>
                  <a:pt x="6489605" y="181291"/>
                </a:lnTo>
                <a:lnTo>
                  <a:pt x="6460802" y="141694"/>
                </a:lnTo>
                <a:lnTo>
                  <a:pt x="6431661" y="102361"/>
                </a:lnTo>
                <a:lnTo>
                  <a:pt x="63512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0654" y="3830573"/>
            <a:ext cx="6489700" cy="193675"/>
          </a:xfrm>
          <a:custGeom>
            <a:avLst/>
            <a:gdLst/>
            <a:ahLst/>
            <a:cxnLst/>
            <a:rect l="l" t="t" r="r" b="b"/>
            <a:pathLst>
              <a:path w="6489700" h="193675">
                <a:moveTo>
                  <a:pt x="6489192" y="0"/>
                </a:moveTo>
                <a:lnTo>
                  <a:pt x="517156" y="0"/>
                </a:lnTo>
                <a:lnTo>
                  <a:pt x="234975" y="193548"/>
                </a:lnTo>
                <a:lnTo>
                  <a:pt x="234828" y="144946"/>
                </a:lnTo>
                <a:lnTo>
                  <a:pt x="233775" y="96774"/>
                </a:lnTo>
                <a:lnTo>
                  <a:pt x="232721" y="48601"/>
                </a:lnTo>
                <a:lnTo>
                  <a:pt x="232575" y="0"/>
                </a:lnTo>
                <a:lnTo>
                  <a:pt x="0" y="0"/>
                </a:lnTo>
              </a:path>
            </a:pathLst>
          </a:custGeom>
          <a:ln w="28955">
            <a:solidFill>
              <a:srgbClr val="006C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41705" y="537159"/>
            <a:ext cx="10896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A1A1A1"/>
                </a:solidFill>
                <a:latin typeface="MS Gothic"/>
                <a:cs typeface="MS Gothic"/>
              </a:rPr>
              <a:t>◁ </a:t>
            </a:r>
            <a:r>
              <a:rPr sz="2400" spc="60" dirty="0">
                <a:solidFill>
                  <a:srgbClr val="A1A1A1"/>
                </a:solidFill>
              </a:rPr>
              <a:t>BIT</a:t>
            </a:r>
            <a:r>
              <a:rPr sz="2400" spc="-170" dirty="0">
                <a:solidFill>
                  <a:srgbClr val="A1A1A1"/>
                </a:solidFill>
              </a:rPr>
              <a:t> </a:t>
            </a:r>
            <a:r>
              <a:rPr sz="2400" spc="-10" dirty="0">
                <a:solidFill>
                  <a:srgbClr val="A1A1A1"/>
                </a:solidFill>
                <a:latin typeface="MS Gothic"/>
                <a:cs typeface="MS Gothic"/>
              </a:rPr>
              <a:t>▷</a:t>
            </a:r>
            <a:endParaRPr sz="2400">
              <a:latin typeface="MS Gothic"/>
              <a:cs typeface="MS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50935" y="0"/>
            <a:ext cx="3941064" cy="681380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250935" y="2197607"/>
            <a:ext cx="3243072" cy="246278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79192" y="6084823"/>
            <a:ext cx="236220" cy="264160"/>
          </a:xfrm>
          <a:custGeom>
            <a:avLst/>
            <a:gdLst/>
            <a:ahLst/>
            <a:cxnLst/>
            <a:rect l="l" t="t" r="r" b="b"/>
            <a:pathLst>
              <a:path w="236219" h="264160">
                <a:moveTo>
                  <a:pt x="168147" y="229869"/>
                </a:moveTo>
                <a:lnTo>
                  <a:pt x="168147" y="234950"/>
                </a:lnTo>
                <a:lnTo>
                  <a:pt x="170052" y="236219"/>
                </a:lnTo>
                <a:lnTo>
                  <a:pt x="174676" y="242569"/>
                </a:lnTo>
                <a:lnTo>
                  <a:pt x="179990" y="248919"/>
                </a:lnTo>
                <a:lnTo>
                  <a:pt x="186019" y="255269"/>
                </a:lnTo>
                <a:lnTo>
                  <a:pt x="192785" y="261619"/>
                </a:lnTo>
                <a:lnTo>
                  <a:pt x="196595" y="262889"/>
                </a:lnTo>
                <a:lnTo>
                  <a:pt x="202183" y="262889"/>
                </a:lnTo>
                <a:lnTo>
                  <a:pt x="207899" y="264159"/>
                </a:lnTo>
                <a:lnTo>
                  <a:pt x="207899" y="261619"/>
                </a:lnTo>
                <a:lnTo>
                  <a:pt x="211708" y="255269"/>
                </a:lnTo>
                <a:lnTo>
                  <a:pt x="211624" y="248919"/>
                </a:lnTo>
                <a:lnTo>
                  <a:pt x="211204" y="242569"/>
                </a:lnTo>
                <a:lnTo>
                  <a:pt x="188975" y="242569"/>
                </a:lnTo>
                <a:lnTo>
                  <a:pt x="181356" y="236219"/>
                </a:lnTo>
                <a:lnTo>
                  <a:pt x="173862" y="232409"/>
                </a:lnTo>
                <a:lnTo>
                  <a:pt x="168147" y="229869"/>
                </a:lnTo>
                <a:close/>
              </a:path>
              <a:path w="236219" h="264160">
                <a:moveTo>
                  <a:pt x="92844" y="198119"/>
                </a:moveTo>
                <a:lnTo>
                  <a:pt x="69976" y="198119"/>
                </a:lnTo>
                <a:lnTo>
                  <a:pt x="71755" y="199389"/>
                </a:lnTo>
                <a:lnTo>
                  <a:pt x="73659" y="199389"/>
                </a:lnTo>
                <a:lnTo>
                  <a:pt x="74136" y="215900"/>
                </a:lnTo>
                <a:lnTo>
                  <a:pt x="73659" y="224789"/>
                </a:lnTo>
                <a:lnTo>
                  <a:pt x="71755" y="232409"/>
                </a:lnTo>
                <a:lnTo>
                  <a:pt x="69976" y="242569"/>
                </a:lnTo>
                <a:lnTo>
                  <a:pt x="75564" y="246379"/>
                </a:lnTo>
                <a:lnTo>
                  <a:pt x="81280" y="250189"/>
                </a:lnTo>
                <a:lnTo>
                  <a:pt x="85089" y="254000"/>
                </a:lnTo>
                <a:lnTo>
                  <a:pt x="90677" y="254000"/>
                </a:lnTo>
                <a:lnTo>
                  <a:pt x="96393" y="255269"/>
                </a:lnTo>
                <a:lnTo>
                  <a:pt x="96393" y="238759"/>
                </a:lnTo>
                <a:lnTo>
                  <a:pt x="94994" y="226059"/>
                </a:lnTo>
                <a:lnTo>
                  <a:pt x="93773" y="213359"/>
                </a:lnTo>
                <a:lnTo>
                  <a:pt x="92996" y="201929"/>
                </a:lnTo>
                <a:lnTo>
                  <a:pt x="92877" y="199389"/>
                </a:lnTo>
                <a:lnTo>
                  <a:pt x="92844" y="198119"/>
                </a:lnTo>
                <a:close/>
              </a:path>
              <a:path w="236219" h="264160">
                <a:moveTo>
                  <a:pt x="204088" y="160019"/>
                </a:moveTo>
                <a:lnTo>
                  <a:pt x="183276" y="160019"/>
                </a:lnTo>
                <a:lnTo>
                  <a:pt x="187608" y="163829"/>
                </a:lnTo>
                <a:lnTo>
                  <a:pt x="190881" y="171450"/>
                </a:lnTo>
                <a:lnTo>
                  <a:pt x="190881" y="240029"/>
                </a:lnTo>
                <a:lnTo>
                  <a:pt x="188975" y="240029"/>
                </a:lnTo>
                <a:lnTo>
                  <a:pt x="188975" y="242569"/>
                </a:lnTo>
                <a:lnTo>
                  <a:pt x="211204" y="242569"/>
                </a:lnTo>
                <a:lnTo>
                  <a:pt x="205994" y="163829"/>
                </a:lnTo>
                <a:lnTo>
                  <a:pt x="204088" y="160019"/>
                </a:lnTo>
                <a:close/>
              </a:path>
              <a:path w="236219" h="264160">
                <a:moveTo>
                  <a:pt x="133641" y="151129"/>
                </a:moveTo>
                <a:lnTo>
                  <a:pt x="49149" y="151129"/>
                </a:lnTo>
                <a:lnTo>
                  <a:pt x="32131" y="201929"/>
                </a:lnTo>
                <a:lnTo>
                  <a:pt x="30372" y="208279"/>
                </a:lnTo>
                <a:lnTo>
                  <a:pt x="30924" y="214629"/>
                </a:lnTo>
                <a:lnTo>
                  <a:pt x="33952" y="219709"/>
                </a:lnTo>
                <a:lnTo>
                  <a:pt x="39624" y="223519"/>
                </a:lnTo>
                <a:lnTo>
                  <a:pt x="45587" y="224789"/>
                </a:lnTo>
                <a:lnTo>
                  <a:pt x="51704" y="223519"/>
                </a:lnTo>
                <a:lnTo>
                  <a:pt x="57465" y="219709"/>
                </a:lnTo>
                <a:lnTo>
                  <a:pt x="62356" y="212089"/>
                </a:lnTo>
                <a:lnTo>
                  <a:pt x="64262" y="207009"/>
                </a:lnTo>
                <a:lnTo>
                  <a:pt x="68071" y="203200"/>
                </a:lnTo>
                <a:lnTo>
                  <a:pt x="69976" y="198119"/>
                </a:lnTo>
                <a:lnTo>
                  <a:pt x="92844" y="198119"/>
                </a:lnTo>
                <a:lnTo>
                  <a:pt x="92681" y="191769"/>
                </a:lnTo>
                <a:lnTo>
                  <a:pt x="92582" y="180339"/>
                </a:lnTo>
                <a:lnTo>
                  <a:pt x="100202" y="166369"/>
                </a:lnTo>
                <a:lnTo>
                  <a:pt x="102107" y="163829"/>
                </a:lnTo>
                <a:lnTo>
                  <a:pt x="107695" y="163829"/>
                </a:lnTo>
                <a:lnTo>
                  <a:pt x="111506" y="162559"/>
                </a:lnTo>
                <a:lnTo>
                  <a:pt x="113410" y="162559"/>
                </a:lnTo>
                <a:lnTo>
                  <a:pt x="120759" y="157479"/>
                </a:lnTo>
                <a:lnTo>
                  <a:pt x="133641" y="151129"/>
                </a:lnTo>
                <a:close/>
              </a:path>
              <a:path w="236219" h="264160">
                <a:moveTo>
                  <a:pt x="198955" y="132079"/>
                </a:moveTo>
                <a:lnTo>
                  <a:pt x="166243" y="132079"/>
                </a:lnTo>
                <a:lnTo>
                  <a:pt x="157049" y="148589"/>
                </a:lnTo>
                <a:lnTo>
                  <a:pt x="149272" y="166369"/>
                </a:lnTo>
                <a:lnTo>
                  <a:pt x="142900" y="182879"/>
                </a:lnTo>
                <a:lnTo>
                  <a:pt x="137921" y="201929"/>
                </a:lnTo>
                <a:lnTo>
                  <a:pt x="137622" y="209550"/>
                </a:lnTo>
                <a:lnTo>
                  <a:pt x="139811" y="215900"/>
                </a:lnTo>
                <a:lnTo>
                  <a:pt x="144833" y="219709"/>
                </a:lnTo>
                <a:lnTo>
                  <a:pt x="153034" y="223519"/>
                </a:lnTo>
                <a:lnTo>
                  <a:pt x="154939" y="215900"/>
                </a:lnTo>
                <a:lnTo>
                  <a:pt x="154939" y="208279"/>
                </a:lnTo>
                <a:lnTo>
                  <a:pt x="156844" y="201929"/>
                </a:lnTo>
                <a:lnTo>
                  <a:pt x="181972" y="201929"/>
                </a:lnTo>
                <a:lnTo>
                  <a:pt x="179577" y="198119"/>
                </a:lnTo>
                <a:lnTo>
                  <a:pt x="170052" y="191769"/>
                </a:lnTo>
                <a:lnTo>
                  <a:pt x="158750" y="187959"/>
                </a:lnTo>
                <a:lnTo>
                  <a:pt x="158750" y="186689"/>
                </a:lnTo>
                <a:lnTo>
                  <a:pt x="166243" y="179069"/>
                </a:lnTo>
                <a:lnTo>
                  <a:pt x="183260" y="179069"/>
                </a:lnTo>
                <a:lnTo>
                  <a:pt x="183260" y="172719"/>
                </a:lnTo>
                <a:lnTo>
                  <a:pt x="173862" y="172719"/>
                </a:lnTo>
                <a:lnTo>
                  <a:pt x="170052" y="167639"/>
                </a:lnTo>
                <a:lnTo>
                  <a:pt x="177540" y="161289"/>
                </a:lnTo>
                <a:lnTo>
                  <a:pt x="183276" y="160019"/>
                </a:lnTo>
                <a:lnTo>
                  <a:pt x="204088" y="160019"/>
                </a:lnTo>
                <a:lnTo>
                  <a:pt x="200278" y="154939"/>
                </a:lnTo>
                <a:lnTo>
                  <a:pt x="196595" y="152400"/>
                </a:lnTo>
                <a:lnTo>
                  <a:pt x="192785" y="148589"/>
                </a:lnTo>
                <a:lnTo>
                  <a:pt x="185165" y="148589"/>
                </a:lnTo>
                <a:lnTo>
                  <a:pt x="179577" y="147319"/>
                </a:lnTo>
                <a:lnTo>
                  <a:pt x="185306" y="140969"/>
                </a:lnTo>
                <a:lnTo>
                  <a:pt x="191595" y="135889"/>
                </a:lnTo>
                <a:lnTo>
                  <a:pt x="198955" y="132079"/>
                </a:lnTo>
                <a:close/>
              </a:path>
              <a:path w="236219" h="264160">
                <a:moveTo>
                  <a:pt x="181972" y="201929"/>
                </a:moveTo>
                <a:lnTo>
                  <a:pt x="156844" y="201929"/>
                </a:lnTo>
                <a:lnTo>
                  <a:pt x="160655" y="204469"/>
                </a:lnTo>
                <a:lnTo>
                  <a:pt x="162559" y="204469"/>
                </a:lnTo>
                <a:lnTo>
                  <a:pt x="168147" y="208279"/>
                </a:lnTo>
                <a:lnTo>
                  <a:pt x="173862" y="214629"/>
                </a:lnTo>
                <a:lnTo>
                  <a:pt x="181356" y="208279"/>
                </a:lnTo>
                <a:lnTo>
                  <a:pt x="185165" y="207009"/>
                </a:lnTo>
                <a:lnTo>
                  <a:pt x="181972" y="201929"/>
                </a:lnTo>
                <a:close/>
              </a:path>
              <a:path w="236219" h="264160">
                <a:moveTo>
                  <a:pt x="183260" y="179069"/>
                </a:moveTo>
                <a:lnTo>
                  <a:pt x="166243" y="179069"/>
                </a:lnTo>
                <a:lnTo>
                  <a:pt x="177672" y="182879"/>
                </a:lnTo>
                <a:lnTo>
                  <a:pt x="183260" y="184150"/>
                </a:lnTo>
                <a:lnTo>
                  <a:pt x="183260" y="179069"/>
                </a:lnTo>
                <a:close/>
              </a:path>
              <a:path w="236219" h="264160">
                <a:moveTo>
                  <a:pt x="95202" y="59689"/>
                </a:moveTo>
                <a:lnTo>
                  <a:pt x="71755" y="59689"/>
                </a:lnTo>
                <a:lnTo>
                  <a:pt x="71743" y="64769"/>
                </a:lnTo>
                <a:lnTo>
                  <a:pt x="71616" y="74929"/>
                </a:lnTo>
                <a:lnTo>
                  <a:pt x="71532" y="78739"/>
                </a:lnTo>
                <a:lnTo>
                  <a:pt x="71004" y="87629"/>
                </a:lnTo>
                <a:lnTo>
                  <a:pt x="69976" y="96519"/>
                </a:lnTo>
                <a:lnTo>
                  <a:pt x="69976" y="100329"/>
                </a:lnTo>
                <a:lnTo>
                  <a:pt x="64262" y="104139"/>
                </a:lnTo>
                <a:lnTo>
                  <a:pt x="51171" y="113029"/>
                </a:lnTo>
                <a:lnTo>
                  <a:pt x="37544" y="120650"/>
                </a:lnTo>
                <a:lnTo>
                  <a:pt x="0" y="140969"/>
                </a:lnTo>
                <a:lnTo>
                  <a:pt x="0" y="147319"/>
                </a:lnTo>
                <a:lnTo>
                  <a:pt x="9397" y="151129"/>
                </a:lnTo>
                <a:lnTo>
                  <a:pt x="19377" y="156209"/>
                </a:lnTo>
                <a:lnTo>
                  <a:pt x="29321" y="160019"/>
                </a:lnTo>
                <a:lnTo>
                  <a:pt x="39241" y="158750"/>
                </a:lnTo>
                <a:lnTo>
                  <a:pt x="49149" y="151129"/>
                </a:lnTo>
                <a:lnTo>
                  <a:pt x="133641" y="151129"/>
                </a:lnTo>
                <a:lnTo>
                  <a:pt x="136217" y="149859"/>
                </a:lnTo>
                <a:lnTo>
                  <a:pt x="143637" y="144779"/>
                </a:lnTo>
                <a:lnTo>
                  <a:pt x="154940" y="139700"/>
                </a:lnTo>
                <a:lnTo>
                  <a:pt x="166243" y="132079"/>
                </a:lnTo>
                <a:lnTo>
                  <a:pt x="215391" y="132079"/>
                </a:lnTo>
                <a:lnTo>
                  <a:pt x="223012" y="128269"/>
                </a:lnTo>
                <a:lnTo>
                  <a:pt x="122808" y="128269"/>
                </a:lnTo>
                <a:lnTo>
                  <a:pt x="120268" y="123189"/>
                </a:lnTo>
                <a:lnTo>
                  <a:pt x="98297" y="123189"/>
                </a:lnTo>
                <a:lnTo>
                  <a:pt x="92344" y="107950"/>
                </a:lnTo>
                <a:lnTo>
                  <a:pt x="90677" y="93979"/>
                </a:lnTo>
                <a:lnTo>
                  <a:pt x="91868" y="78739"/>
                </a:lnTo>
                <a:lnTo>
                  <a:pt x="94487" y="63500"/>
                </a:lnTo>
                <a:lnTo>
                  <a:pt x="95202" y="59689"/>
                </a:lnTo>
                <a:close/>
              </a:path>
              <a:path w="236219" h="264160">
                <a:moveTo>
                  <a:pt x="180715" y="64769"/>
                </a:moveTo>
                <a:lnTo>
                  <a:pt x="156844" y="64769"/>
                </a:lnTo>
                <a:lnTo>
                  <a:pt x="154939" y="74929"/>
                </a:lnTo>
                <a:lnTo>
                  <a:pt x="153034" y="81279"/>
                </a:lnTo>
                <a:lnTo>
                  <a:pt x="153034" y="87629"/>
                </a:lnTo>
                <a:lnTo>
                  <a:pt x="136016" y="87629"/>
                </a:lnTo>
                <a:lnTo>
                  <a:pt x="134112" y="92709"/>
                </a:lnTo>
                <a:lnTo>
                  <a:pt x="134112" y="95250"/>
                </a:lnTo>
                <a:lnTo>
                  <a:pt x="139826" y="99059"/>
                </a:lnTo>
                <a:lnTo>
                  <a:pt x="141731" y="102869"/>
                </a:lnTo>
                <a:lnTo>
                  <a:pt x="141731" y="104139"/>
                </a:lnTo>
                <a:lnTo>
                  <a:pt x="143637" y="107950"/>
                </a:lnTo>
                <a:lnTo>
                  <a:pt x="122808" y="128269"/>
                </a:lnTo>
                <a:lnTo>
                  <a:pt x="223012" y="128269"/>
                </a:lnTo>
                <a:lnTo>
                  <a:pt x="230505" y="124459"/>
                </a:lnTo>
                <a:lnTo>
                  <a:pt x="236219" y="123189"/>
                </a:lnTo>
                <a:lnTo>
                  <a:pt x="236219" y="116839"/>
                </a:lnTo>
                <a:lnTo>
                  <a:pt x="232409" y="113029"/>
                </a:lnTo>
                <a:lnTo>
                  <a:pt x="226442" y="109219"/>
                </a:lnTo>
                <a:lnTo>
                  <a:pt x="179577" y="109219"/>
                </a:lnTo>
                <a:lnTo>
                  <a:pt x="171957" y="96519"/>
                </a:lnTo>
                <a:lnTo>
                  <a:pt x="170052" y="91439"/>
                </a:lnTo>
                <a:lnTo>
                  <a:pt x="169838" y="87629"/>
                </a:lnTo>
                <a:lnTo>
                  <a:pt x="147446" y="87629"/>
                </a:lnTo>
                <a:lnTo>
                  <a:pt x="141731" y="85089"/>
                </a:lnTo>
                <a:lnTo>
                  <a:pt x="169694" y="85089"/>
                </a:lnTo>
                <a:lnTo>
                  <a:pt x="169336" y="78739"/>
                </a:lnTo>
                <a:lnTo>
                  <a:pt x="172894" y="69850"/>
                </a:lnTo>
                <a:lnTo>
                  <a:pt x="180715" y="64769"/>
                </a:lnTo>
                <a:close/>
              </a:path>
              <a:path w="236219" h="264160">
                <a:moveTo>
                  <a:pt x="109600" y="107950"/>
                </a:moveTo>
                <a:lnTo>
                  <a:pt x="105790" y="115569"/>
                </a:lnTo>
                <a:lnTo>
                  <a:pt x="102107" y="119379"/>
                </a:lnTo>
                <a:lnTo>
                  <a:pt x="98297" y="123189"/>
                </a:lnTo>
                <a:lnTo>
                  <a:pt x="120268" y="123189"/>
                </a:lnTo>
                <a:lnTo>
                  <a:pt x="118999" y="120650"/>
                </a:lnTo>
                <a:lnTo>
                  <a:pt x="115315" y="115569"/>
                </a:lnTo>
                <a:lnTo>
                  <a:pt x="109600" y="107950"/>
                </a:lnTo>
                <a:close/>
              </a:path>
              <a:path w="236219" h="264160">
                <a:moveTo>
                  <a:pt x="213032" y="105409"/>
                </a:moveTo>
                <a:lnTo>
                  <a:pt x="192071" y="109219"/>
                </a:lnTo>
                <a:lnTo>
                  <a:pt x="226442" y="109219"/>
                </a:lnTo>
                <a:lnTo>
                  <a:pt x="219916" y="106679"/>
                </a:lnTo>
                <a:lnTo>
                  <a:pt x="213032" y="105409"/>
                </a:lnTo>
                <a:close/>
              </a:path>
              <a:path w="236219" h="264160">
                <a:moveTo>
                  <a:pt x="51053" y="35559"/>
                </a:moveTo>
                <a:lnTo>
                  <a:pt x="49149" y="36829"/>
                </a:lnTo>
                <a:lnTo>
                  <a:pt x="38865" y="41909"/>
                </a:lnTo>
                <a:lnTo>
                  <a:pt x="30702" y="48259"/>
                </a:lnTo>
                <a:lnTo>
                  <a:pt x="24681" y="57150"/>
                </a:lnTo>
                <a:lnTo>
                  <a:pt x="20827" y="67309"/>
                </a:lnTo>
                <a:lnTo>
                  <a:pt x="18922" y="72389"/>
                </a:lnTo>
                <a:lnTo>
                  <a:pt x="18922" y="77469"/>
                </a:lnTo>
                <a:lnTo>
                  <a:pt x="17018" y="81279"/>
                </a:lnTo>
                <a:lnTo>
                  <a:pt x="15557" y="88900"/>
                </a:lnTo>
                <a:lnTo>
                  <a:pt x="16763" y="93979"/>
                </a:lnTo>
                <a:lnTo>
                  <a:pt x="20446" y="99059"/>
                </a:lnTo>
                <a:lnTo>
                  <a:pt x="26415" y="102869"/>
                </a:lnTo>
                <a:lnTo>
                  <a:pt x="32131" y="104139"/>
                </a:lnTo>
                <a:lnTo>
                  <a:pt x="37845" y="104139"/>
                </a:lnTo>
                <a:lnTo>
                  <a:pt x="43433" y="106679"/>
                </a:lnTo>
                <a:lnTo>
                  <a:pt x="41528" y="104139"/>
                </a:lnTo>
                <a:lnTo>
                  <a:pt x="41528" y="102869"/>
                </a:lnTo>
                <a:lnTo>
                  <a:pt x="48652" y="92709"/>
                </a:lnTo>
                <a:lnTo>
                  <a:pt x="55752" y="81279"/>
                </a:lnTo>
                <a:lnTo>
                  <a:pt x="62853" y="71119"/>
                </a:lnTo>
                <a:lnTo>
                  <a:pt x="69185" y="60959"/>
                </a:lnTo>
                <a:lnTo>
                  <a:pt x="52958" y="60959"/>
                </a:lnTo>
                <a:lnTo>
                  <a:pt x="54863" y="57150"/>
                </a:lnTo>
                <a:lnTo>
                  <a:pt x="54863" y="52069"/>
                </a:lnTo>
                <a:lnTo>
                  <a:pt x="58546" y="49529"/>
                </a:lnTo>
                <a:lnTo>
                  <a:pt x="60451" y="45719"/>
                </a:lnTo>
                <a:lnTo>
                  <a:pt x="64262" y="43179"/>
                </a:lnTo>
                <a:lnTo>
                  <a:pt x="60451" y="40639"/>
                </a:lnTo>
                <a:lnTo>
                  <a:pt x="56641" y="36829"/>
                </a:lnTo>
                <a:lnTo>
                  <a:pt x="51053" y="35559"/>
                </a:lnTo>
                <a:close/>
              </a:path>
              <a:path w="236219" h="264160">
                <a:moveTo>
                  <a:pt x="185165" y="0"/>
                </a:moveTo>
                <a:lnTo>
                  <a:pt x="177672" y="0"/>
                </a:lnTo>
                <a:lnTo>
                  <a:pt x="175768" y="3809"/>
                </a:lnTo>
                <a:lnTo>
                  <a:pt x="173862" y="5079"/>
                </a:lnTo>
                <a:lnTo>
                  <a:pt x="170052" y="11429"/>
                </a:lnTo>
                <a:lnTo>
                  <a:pt x="170052" y="13969"/>
                </a:lnTo>
                <a:lnTo>
                  <a:pt x="167512" y="22859"/>
                </a:lnTo>
                <a:lnTo>
                  <a:pt x="163194" y="41909"/>
                </a:lnTo>
                <a:lnTo>
                  <a:pt x="160655" y="49529"/>
                </a:lnTo>
                <a:lnTo>
                  <a:pt x="158750" y="52069"/>
                </a:lnTo>
                <a:lnTo>
                  <a:pt x="156844" y="55879"/>
                </a:lnTo>
                <a:lnTo>
                  <a:pt x="153034" y="55879"/>
                </a:lnTo>
                <a:lnTo>
                  <a:pt x="136064" y="63500"/>
                </a:lnTo>
                <a:lnTo>
                  <a:pt x="118999" y="68579"/>
                </a:lnTo>
                <a:lnTo>
                  <a:pt x="115315" y="71119"/>
                </a:lnTo>
                <a:lnTo>
                  <a:pt x="107695" y="74929"/>
                </a:lnTo>
                <a:lnTo>
                  <a:pt x="113410" y="81279"/>
                </a:lnTo>
                <a:lnTo>
                  <a:pt x="115315" y="81279"/>
                </a:lnTo>
                <a:lnTo>
                  <a:pt x="122808" y="77469"/>
                </a:lnTo>
                <a:lnTo>
                  <a:pt x="139112" y="72389"/>
                </a:lnTo>
                <a:lnTo>
                  <a:pt x="147544" y="68579"/>
                </a:lnTo>
                <a:lnTo>
                  <a:pt x="156844" y="64769"/>
                </a:lnTo>
                <a:lnTo>
                  <a:pt x="180715" y="64769"/>
                </a:lnTo>
                <a:lnTo>
                  <a:pt x="192785" y="63500"/>
                </a:lnTo>
                <a:lnTo>
                  <a:pt x="204723" y="63500"/>
                </a:lnTo>
                <a:lnTo>
                  <a:pt x="209803" y="55879"/>
                </a:lnTo>
                <a:lnTo>
                  <a:pt x="203905" y="53339"/>
                </a:lnTo>
                <a:lnTo>
                  <a:pt x="182639" y="53339"/>
                </a:lnTo>
                <a:lnTo>
                  <a:pt x="173862" y="52069"/>
                </a:lnTo>
                <a:lnTo>
                  <a:pt x="175944" y="40639"/>
                </a:lnTo>
                <a:lnTo>
                  <a:pt x="177657" y="29209"/>
                </a:lnTo>
                <a:lnTo>
                  <a:pt x="180774" y="19050"/>
                </a:lnTo>
                <a:lnTo>
                  <a:pt x="187070" y="8889"/>
                </a:lnTo>
                <a:lnTo>
                  <a:pt x="187070" y="7619"/>
                </a:lnTo>
                <a:lnTo>
                  <a:pt x="185165" y="1269"/>
                </a:lnTo>
                <a:lnTo>
                  <a:pt x="185165" y="0"/>
                </a:lnTo>
                <a:close/>
              </a:path>
              <a:path w="236219" h="264160">
                <a:moveTo>
                  <a:pt x="204723" y="63500"/>
                </a:moveTo>
                <a:lnTo>
                  <a:pt x="194690" y="63500"/>
                </a:lnTo>
                <a:lnTo>
                  <a:pt x="194690" y="64769"/>
                </a:lnTo>
                <a:lnTo>
                  <a:pt x="202183" y="67309"/>
                </a:lnTo>
                <a:lnTo>
                  <a:pt x="204723" y="63500"/>
                </a:lnTo>
                <a:close/>
              </a:path>
              <a:path w="236219" h="264160">
                <a:moveTo>
                  <a:pt x="130428" y="52069"/>
                </a:moveTo>
                <a:lnTo>
                  <a:pt x="100202" y="52069"/>
                </a:lnTo>
                <a:lnTo>
                  <a:pt x="107695" y="55879"/>
                </a:lnTo>
                <a:lnTo>
                  <a:pt x="113410" y="57150"/>
                </a:lnTo>
                <a:lnTo>
                  <a:pt x="117220" y="59689"/>
                </a:lnTo>
                <a:lnTo>
                  <a:pt x="120903" y="60959"/>
                </a:lnTo>
                <a:lnTo>
                  <a:pt x="128524" y="63500"/>
                </a:lnTo>
                <a:lnTo>
                  <a:pt x="134112" y="59689"/>
                </a:lnTo>
                <a:lnTo>
                  <a:pt x="130428" y="52069"/>
                </a:lnTo>
                <a:close/>
              </a:path>
              <a:path w="236219" h="264160">
                <a:moveTo>
                  <a:pt x="92582" y="5079"/>
                </a:moveTo>
                <a:lnTo>
                  <a:pt x="90677" y="5079"/>
                </a:lnTo>
                <a:lnTo>
                  <a:pt x="85089" y="8889"/>
                </a:lnTo>
                <a:lnTo>
                  <a:pt x="83184" y="11429"/>
                </a:lnTo>
                <a:lnTo>
                  <a:pt x="81280" y="16509"/>
                </a:lnTo>
                <a:lnTo>
                  <a:pt x="77469" y="24129"/>
                </a:lnTo>
                <a:lnTo>
                  <a:pt x="77469" y="29209"/>
                </a:lnTo>
                <a:lnTo>
                  <a:pt x="75497" y="40639"/>
                </a:lnTo>
                <a:lnTo>
                  <a:pt x="70167" y="48259"/>
                </a:lnTo>
                <a:lnTo>
                  <a:pt x="62360" y="55879"/>
                </a:lnTo>
                <a:lnTo>
                  <a:pt x="52958" y="60959"/>
                </a:lnTo>
                <a:lnTo>
                  <a:pt x="69185" y="60959"/>
                </a:lnTo>
                <a:lnTo>
                  <a:pt x="69976" y="59689"/>
                </a:lnTo>
                <a:lnTo>
                  <a:pt x="95202" y="59689"/>
                </a:lnTo>
                <a:lnTo>
                  <a:pt x="96393" y="53339"/>
                </a:lnTo>
                <a:lnTo>
                  <a:pt x="100202" y="52069"/>
                </a:lnTo>
                <a:lnTo>
                  <a:pt x="130428" y="52069"/>
                </a:lnTo>
                <a:lnTo>
                  <a:pt x="128524" y="45719"/>
                </a:lnTo>
                <a:lnTo>
                  <a:pt x="122808" y="40639"/>
                </a:lnTo>
                <a:lnTo>
                  <a:pt x="117220" y="36829"/>
                </a:lnTo>
                <a:lnTo>
                  <a:pt x="113410" y="35559"/>
                </a:lnTo>
                <a:lnTo>
                  <a:pt x="111506" y="33019"/>
                </a:lnTo>
                <a:lnTo>
                  <a:pt x="111506" y="27939"/>
                </a:lnTo>
                <a:lnTo>
                  <a:pt x="109888" y="19050"/>
                </a:lnTo>
                <a:lnTo>
                  <a:pt x="105616" y="12700"/>
                </a:lnTo>
                <a:lnTo>
                  <a:pt x="99558" y="7619"/>
                </a:lnTo>
                <a:lnTo>
                  <a:pt x="92582" y="5079"/>
                </a:lnTo>
                <a:close/>
              </a:path>
              <a:path w="236219" h="264160">
                <a:moveTo>
                  <a:pt x="200955" y="52069"/>
                </a:moveTo>
                <a:lnTo>
                  <a:pt x="191785" y="52069"/>
                </a:lnTo>
                <a:lnTo>
                  <a:pt x="182639" y="53339"/>
                </a:lnTo>
                <a:lnTo>
                  <a:pt x="203905" y="53339"/>
                </a:lnTo>
                <a:lnTo>
                  <a:pt x="200955" y="52069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15995" y="6132494"/>
            <a:ext cx="131252" cy="19667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98548" y="6065520"/>
            <a:ext cx="236775" cy="2973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35302" y="6146291"/>
            <a:ext cx="140781" cy="1569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55775" y="6111240"/>
            <a:ext cx="210058" cy="22402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72083" y="6061964"/>
            <a:ext cx="241300" cy="287020"/>
          </a:xfrm>
          <a:custGeom>
            <a:avLst/>
            <a:gdLst/>
            <a:ahLst/>
            <a:cxnLst/>
            <a:rect l="l" t="t" r="r" b="b"/>
            <a:pathLst>
              <a:path w="241300" h="287020">
                <a:moveTo>
                  <a:pt x="61400" y="219710"/>
                </a:moveTo>
                <a:lnTo>
                  <a:pt x="37617" y="219710"/>
                </a:lnTo>
                <a:lnTo>
                  <a:pt x="35091" y="231140"/>
                </a:lnTo>
                <a:lnTo>
                  <a:pt x="32918" y="242570"/>
                </a:lnTo>
                <a:lnTo>
                  <a:pt x="30745" y="252730"/>
                </a:lnTo>
                <a:lnTo>
                  <a:pt x="28219" y="262890"/>
                </a:lnTo>
                <a:lnTo>
                  <a:pt x="28278" y="273050"/>
                </a:lnTo>
                <a:lnTo>
                  <a:pt x="31510" y="280670"/>
                </a:lnTo>
                <a:lnTo>
                  <a:pt x="38268" y="285750"/>
                </a:lnTo>
                <a:lnTo>
                  <a:pt x="48907" y="287020"/>
                </a:lnTo>
                <a:lnTo>
                  <a:pt x="48907" y="284480"/>
                </a:lnTo>
                <a:lnTo>
                  <a:pt x="50787" y="281940"/>
                </a:lnTo>
                <a:lnTo>
                  <a:pt x="53937" y="260350"/>
                </a:lnTo>
                <a:lnTo>
                  <a:pt x="57611" y="240030"/>
                </a:lnTo>
                <a:lnTo>
                  <a:pt x="61400" y="219710"/>
                </a:lnTo>
                <a:close/>
              </a:path>
              <a:path w="241300" h="287020">
                <a:moveTo>
                  <a:pt x="109105" y="226060"/>
                </a:moveTo>
                <a:lnTo>
                  <a:pt x="99707" y="226060"/>
                </a:lnTo>
                <a:lnTo>
                  <a:pt x="99707" y="237490"/>
                </a:lnTo>
                <a:lnTo>
                  <a:pt x="103466" y="241300"/>
                </a:lnTo>
                <a:lnTo>
                  <a:pt x="108813" y="245110"/>
                </a:lnTo>
                <a:lnTo>
                  <a:pt x="118808" y="254000"/>
                </a:lnTo>
                <a:lnTo>
                  <a:pt x="124155" y="257810"/>
                </a:lnTo>
                <a:lnTo>
                  <a:pt x="140648" y="267970"/>
                </a:lnTo>
                <a:lnTo>
                  <a:pt x="158724" y="275590"/>
                </a:lnTo>
                <a:lnTo>
                  <a:pt x="197523" y="285750"/>
                </a:lnTo>
                <a:lnTo>
                  <a:pt x="208813" y="285750"/>
                </a:lnTo>
                <a:lnTo>
                  <a:pt x="208813" y="284480"/>
                </a:lnTo>
                <a:lnTo>
                  <a:pt x="210693" y="280670"/>
                </a:lnTo>
                <a:lnTo>
                  <a:pt x="210693" y="273050"/>
                </a:lnTo>
                <a:lnTo>
                  <a:pt x="208813" y="269240"/>
                </a:lnTo>
                <a:lnTo>
                  <a:pt x="203543" y="261620"/>
                </a:lnTo>
                <a:lnTo>
                  <a:pt x="173075" y="261620"/>
                </a:lnTo>
                <a:lnTo>
                  <a:pt x="156817" y="259080"/>
                </a:lnTo>
                <a:lnTo>
                  <a:pt x="141797" y="252730"/>
                </a:lnTo>
                <a:lnTo>
                  <a:pt x="127836" y="245110"/>
                </a:lnTo>
                <a:lnTo>
                  <a:pt x="114757" y="233680"/>
                </a:lnTo>
                <a:lnTo>
                  <a:pt x="112864" y="229870"/>
                </a:lnTo>
                <a:lnTo>
                  <a:pt x="109105" y="226060"/>
                </a:lnTo>
                <a:close/>
              </a:path>
              <a:path w="241300" h="287020">
                <a:moveTo>
                  <a:pt x="160002" y="201930"/>
                </a:moveTo>
                <a:lnTo>
                  <a:pt x="133565" y="201930"/>
                </a:lnTo>
                <a:lnTo>
                  <a:pt x="133470" y="210820"/>
                </a:lnTo>
                <a:lnTo>
                  <a:pt x="133184" y="222250"/>
                </a:lnTo>
                <a:lnTo>
                  <a:pt x="136153" y="231140"/>
                </a:lnTo>
                <a:lnTo>
                  <a:pt x="144413" y="234950"/>
                </a:lnTo>
                <a:lnTo>
                  <a:pt x="159905" y="237490"/>
                </a:lnTo>
                <a:lnTo>
                  <a:pt x="161785" y="237490"/>
                </a:lnTo>
                <a:lnTo>
                  <a:pt x="165544" y="238760"/>
                </a:lnTo>
                <a:lnTo>
                  <a:pt x="176834" y="261620"/>
                </a:lnTo>
                <a:lnTo>
                  <a:pt x="203543" y="261620"/>
                </a:lnTo>
                <a:lnTo>
                  <a:pt x="201786" y="259080"/>
                </a:lnTo>
                <a:lnTo>
                  <a:pt x="194938" y="248920"/>
                </a:lnTo>
                <a:lnTo>
                  <a:pt x="188442" y="240030"/>
                </a:lnTo>
                <a:lnTo>
                  <a:pt x="182473" y="229870"/>
                </a:lnTo>
                <a:lnTo>
                  <a:pt x="192409" y="226060"/>
                </a:lnTo>
                <a:lnTo>
                  <a:pt x="202698" y="223520"/>
                </a:lnTo>
                <a:lnTo>
                  <a:pt x="237032" y="223520"/>
                </a:lnTo>
                <a:lnTo>
                  <a:pt x="240791" y="218440"/>
                </a:lnTo>
                <a:lnTo>
                  <a:pt x="154254" y="218440"/>
                </a:lnTo>
                <a:lnTo>
                  <a:pt x="154814" y="209550"/>
                </a:lnTo>
                <a:lnTo>
                  <a:pt x="158726" y="203200"/>
                </a:lnTo>
                <a:lnTo>
                  <a:pt x="160002" y="201930"/>
                </a:lnTo>
                <a:close/>
              </a:path>
              <a:path w="241300" h="287020">
                <a:moveTo>
                  <a:pt x="237032" y="223520"/>
                </a:moveTo>
                <a:lnTo>
                  <a:pt x="213691" y="223520"/>
                </a:lnTo>
                <a:lnTo>
                  <a:pt x="225742" y="227330"/>
                </a:lnTo>
                <a:lnTo>
                  <a:pt x="229501" y="229870"/>
                </a:lnTo>
                <a:lnTo>
                  <a:pt x="235153" y="229870"/>
                </a:lnTo>
                <a:lnTo>
                  <a:pt x="237032" y="223520"/>
                </a:lnTo>
                <a:close/>
              </a:path>
              <a:path w="241300" h="287020">
                <a:moveTo>
                  <a:pt x="88652" y="22860"/>
                </a:moveTo>
                <a:lnTo>
                  <a:pt x="81451" y="22860"/>
                </a:lnTo>
                <a:lnTo>
                  <a:pt x="73367" y="25400"/>
                </a:lnTo>
                <a:lnTo>
                  <a:pt x="43268" y="55880"/>
                </a:lnTo>
                <a:lnTo>
                  <a:pt x="36680" y="76200"/>
                </a:lnTo>
                <a:lnTo>
                  <a:pt x="39561" y="85090"/>
                </a:lnTo>
                <a:lnTo>
                  <a:pt x="47028" y="95250"/>
                </a:lnTo>
                <a:lnTo>
                  <a:pt x="47028" y="99060"/>
                </a:lnTo>
                <a:lnTo>
                  <a:pt x="50787" y="100330"/>
                </a:lnTo>
                <a:lnTo>
                  <a:pt x="48907" y="102870"/>
                </a:lnTo>
                <a:lnTo>
                  <a:pt x="46058" y="110490"/>
                </a:lnTo>
                <a:lnTo>
                  <a:pt x="28070" y="148590"/>
                </a:lnTo>
                <a:lnTo>
                  <a:pt x="10611" y="173990"/>
                </a:lnTo>
                <a:lnTo>
                  <a:pt x="1879" y="186690"/>
                </a:lnTo>
                <a:lnTo>
                  <a:pt x="1879" y="187960"/>
                </a:lnTo>
                <a:lnTo>
                  <a:pt x="0" y="190500"/>
                </a:lnTo>
                <a:lnTo>
                  <a:pt x="0" y="191770"/>
                </a:lnTo>
                <a:lnTo>
                  <a:pt x="19633" y="224790"/>
                </a:lnTo>
                <a:lnTo>
                  <a:pt x="25393" y="226060"/>
                </a:lnTo>
                <a:lnTo>
                  <a:pt x="31154" y="224790"/>
                </a:lnTo>
                <a:lnTo>
                  <a:pt x="37617" y="219710"/>
                </a:lnTo>
                <a:lnTo>
                  <a:pt x="61400" y="219710"/>
                </a:lnTo>
                <a:lnTo>
                  <a:pt x="65836" y="195580"/>
                </a:lnTo>
                <a:lnTo>
                  <a:pt x="65836" y="191770"/>
                </a:lnTo>
                <a:lnTo>
                  <a:pt x="63957" y="186690"/>
                </a:lnTo>
                <a:lnTo>
                  <a:pt x="63957" y="182880"/>
                </a:lnTo>
                <a:lnTo>
                  <a:pt x="62077" y="179070"/>
                </a:lnTo>
                <a:lnTo>
                  <a:pt x="62077" y="175260"/>
                </a:lnTo>
                <a:lnTo>
                  <a:pt x="63957" y="173990"/>
                </a:lnTo>
                <a:lnTo>
                  <a:pt x="80886" y="146050"/>
                </a:lnTo>
                <a:lnTo>
                  <a:pt x="126034" y="146050"/>
                </a:lnTo>
                <a:lnTo>
                  <a:pt x="127914" y="143510"/>
                </a:lnTo>
                <a:lnTo>
                  <a:pt x="129806" y="143510"/>
                </a:lnTo>
                <a:lnTo>
                  <a:pt x="131059" y="142240"/>
                </a:lnTo>
                <a:lnTo>
                  <a:pt x="101587" y="142240"/>
                </a:lnTo>
                <a:lnTo>
                  <a:pt x="90297" y="135890"/>
                </a:lnTo>
                <a:lnTo>
                  <a:pt x="95970" y="123190"/>
                </a:lnTo>
                <a:lnTo>
                  <a:pt x="96173" y="111760"/>
                </a:lnTo>
                <a:lnTo>
                  <a:pt x="91086" y="101600"/>
                </a:lnTo>
                <a:lnTo>
                  <a:pt x="80886" y="88900"/>
                </a:lnTo>
                <a:lnTo>
                  <a:pt x="79006" y="87630"/>
                </a:lnTo>
                <a:lnTo>
                  <a:pt x="77127" y="83820"/>
                </a:lnTo>
                <a:lnTo>
                  <a:pt x="73367" y="81280"/>
                </a:lnTo>
                <a:lnTo>
                  <a:pt x="67716" y="78740"/>
                </a:lnTo>
                <a:lnTo>
                  <a:pt x="67716" y="72390"/>
                </a:lnTo>
                <a:lnTo>
                  <a:pt x="95935" y="44450"/>
                </a:lnTo>
                <a:lnTo>
                  <a:pt x="105346" y="40640"/>
                </a:lnTo>
                <a:lnTo>
                  <a:pt x="105346" y="36830"/>
                </a:lnTo>
                <a:lnTo>
                  <a:pt x="99707" y="29210"/>
                </a:lnTo>
                <a:lnTo>
                  <a:pt x="94795" y="25400"/>
                </a:lnTo>
                <a:lnTo>
                  <a:pt x="88652" y="22860"/>
                </a:lnTo>
                <a:close/>
              </a:path>
              <a:path w="241300" h="287020">
                <a:moveTo>
                  <a:pt x="214452" y="203200"/>
                </a:moveTo>
                <a:lnTo>
                  <a:pt x="174511" y="210820"/>
                </a:lnTo>
                <a:lnTo>
                  <a:pt x="159905" y="218440"/>
                </a:lnTo>
                <a:lnTo>
                  <a:pt x="240791" y="218440"/>
                </a:lnTo>
                <a:lnTo>
                  <a:pt x="240791" y="213360"/>
                </a:lnTo>
                <a:lnTo>
                  <a:pt x="233273" y="209550"/>
                </a:lnTo>
                <a:lnTo>
                  <a:pt x="214452" y="203200"/>
                </a:lnTo>
                <a:close/>
              </a:path>
              <a:path w="241300" h="287020">
                <a:moveTo>
                  <a:pt x="90297" y="179070"/>
                </a:moveTo>
                <a:lnTo>
                  <a:pt x="71488" y="179070"/>
                </a:lnTo>
                <a:lnTo>
                  <a:pt x="71488" y="181610"/>
                </a:lnTo>
                <a:lnTo>
                  <a:pt x="70712" y="186690"/>
                </a:lnTo>
                <a:lnTo>
                  <a:pt x="82765" y="214630"/>
                </a:lnTo>
                <a:lnTo>
                  <a:pt x="97815" y="210820"/>
                </a:lnTo>
                <a:lnTo>
                  <a:pt x="103466" y="209550"/>
                </a:lnTo>
                <a:lnTo>
                  <a:pt x="122275" y="203200"/>
                </a:lnTo>
                <a:lnTo>
                  <a:pt x="127914" y="203200"/>
                </a:lnTo>
                <a:lnTo>
                  <a:pt x="133565" y="201930"/>
                </a:lnTo>
                <a:lnTo>
                  <a:pt x="160002" y="201930"/>
                </a:lnTo>
                <a:lnTo>
                  <a:pt x="165107" y="196850"/>
                </a:lnTo>
                <a:lnTo>
                  <a:pt x="173075" y="194310"/>
                </a:lnTo>
                <a:lnTo>
                  <a:pt x="180594" y="194310"/>
                </a:lnTo>
                <a:lnTo>
                  <a:pt x="188125" y="191770"/>
                </a:lnTo>
                <a:lnTo>
                  <a:pt x="201282" y="191770"/>
                </a:lnTo>
                <a:lnTo>
                  <a:pt x="206933" y="190500"/>
                </a:lnTo>
                <a:lnTo>
                  <a:pt x="209126" y="181610"/>
                </a:lnTo>
                <a:lnTo>
                  <a:pt x="95935" y="181610"/>
                </a:lnTo>
                <a:lnTo>
                  <a:pt x="90297" y="179070"/>
                </a:lnTo>
                <a:close/>
              </a:path>
              <a:path w="241300" h="287020">
                <a:moveTo>
                  <a:pt x="126034" y="146050"/>
                </a:moveTo>
                <a:lnTo>
                  <a:pt x="80886" y="146050"/>
                </a:lnTo>
                <a:lnTo>
                  <a:pt x="84829" y="153670"/>
                </a:lnTo>
                <a:lnTo>
                  <a:pt x="92000" y="171450"/>
                </a:lnTo>
                <a:lnTo>
                  <a:pt x="95935" y="181610"/>
                </a:lnTo>
                <a:lnTo>
                  <a:pt x="209126" y="181610"/>
                </a:lnTo>
                <a:lnTo>
                  <a:pt x="210066" y="177800"/>
                </a:lnTo>
                <a:lnTo>
                  <a:pt x="112864" y="177800"/>
                </a:lnTo>
                <a:lnTo>
                  <a:pt x="109105" y="175260"/>
                </a:lnTo>
                <a:lnTo>
                  <a:pt x="105346" y="163830"/>
                </a:lnTo>
                <a:lnTo>
                  <a:pt x="101587" y="158750"/>
                </a:lnTo>
                <a:lnTo>
                  <a:pt x="103466" y="156210"/>
                </a:lnTo>
                <a:lnTo>
                  <a:pt x="118516" y="151130"/>
                </a:lnTo>
                <a:lnTo>
                  <a:pt x="126034" y="151130"/>
                </a:lnTo>
                <a:lnTo>
                  <a:pt x="126034" y="146050"/>
                </a:lnTo>
                <a:close/>
              </a:path>
              <a:path w="241300" h="287020">
                <a:moveTo>
                  <a:pt x="126034" y="151130"/>
                </a:moveTo>
                <a:lnTo>
                  <a:pt x="118516" y="151130"/>
                </a:lnTo>
                <a:lnTo>
                  <a:pt x="118516" y="158750"/>
                </a:lnTo>
                <a:lnTo>
                  <a:pt x="122275" y="173990"/>
                </a:lnTo>
                <a:lnTo>
                  <a:pt x="112864" y="177800"/>
                </a:lnTo>
                <a:lnTo>
                  <a:pt x="210066" y="177800"/>
                </a:lnTo>
                <a:lnTo>
                  <a:pt x="210693" y="175260"/>
                </a:lnTo>
                <a:lnTo>
                  <a:pt x="207873" y="171450"/>
                </a:lnTo>
                <a:lnTo>
                  <a:pt x="127914" y="171450"/>
                </a:lnTo>
                <a:lnTo>
                  <a:pt x="127914" y="163830"/>
                </a:lnTo>
                <a:lnTo>
                  <a:pt x="126034" y="156210"/>
                </a:lnTo>
                <a:lnTo>
                  <a:pt x="126034" y="151130"/>
                </a:lnTo>
                <a:close/>
              </a:path>
              <a:path w="241300" h="287020">
                <a:moveTo>
                  <a:pt x="152374" y="135890"/>
                </a:moveTo>
                <a:lnTo>
                  <a:pt x="142976" y="135890"/>
                </a:lnTo>
                <a:lnTo>
                  <a:pt x="143003" y="149860"/>
                </a:lnTo>
                <a:lnTo>
                  <a:pt x="140384" y="160020"/>
                </a:lnTo>
                <a:lnTo>
                  <a:pt x="135295" y="167640"/>
                </a:lnTo>
                <a:lnTo>
                  <a:pt x="127914" y="171450"/>
                </a:lnTo>
                <a:lnTo>
                  <a:pt x="207873" y="171450"/>
                </a:lnTo>
                <a:lnTo>
                  <a:pt x="206933" y="170180"/>
                </a:lnTo>
                <a:lnTo>
                  <a:pt x="201913" y="167640"/>
                </a:lnTo>
                <a:lnTo>
                  <a:pt x="150494" y="167640"/>
                </a:lnTo>
                <a:lnTo>
                  <a:pt x="150494" y="166370"/>
                </a:lnTo>
                <a:lnTo>
                  <a:pt x="148615" y="166370"/>
                </a:lnTo>
                <a:lnTo>
                  <a:pt x="152374" y="154940"/>
                </a:lnTo>
                <a:lnTo>
                  <a:pt x="152374" y="135890"/>
                </a:lnTo>
                <a:close/>
              </a:path>
              <a:path w="241300" h="287020">
                <a:moveTo>
                  <a:pt x="206933" y="132080"/>
                </a:moveTo>
                <a:lnTo>
                  <a:pt x="178714" y="132080"/>
                </a:lnTo>
                <a:lnTo>
                  <a:pt x="182473" y="135890"/>
                </a:lnTo>
                <a:lnTo>
                  <a:pt x="178714" y="142240"/>
                </a:lnTo>
                <a:lnTo>
                  <a:pt x="152374" y="167640"/>
                </a:lnTo>
                <a:lnTo>
                  <a:pt x="201913" y="167640"/>
                </a:lnTo>
                <a:lnTo>
                  <a:pt x="199402" y="166370"/>
                </a:lnTo>
                <a:lnTo>
                  <a:pt x="197523" y="163830"/>
                </a:lnTo>
                <a:lnTo>
                  <a:pt x="193763" y="163830"/>
                </a:lnTo>
                <a:lnTo>
                  <a:pt x="190004" y="162560"/>
                </a:lnTo>
                <a:lnTo>
                  <a:pt x="193763" y="158750"/>
                </a:lnTo>
                <a:lnTo>
                  <a:pt x="195643" y="158750"/>
                </a:lnTo>
                <a:lnTo>
                  <a:pt x="201642" y="154940"/>
                </a:lnTo>
                <a:lnTo>
                  <a:pt x="205522" y="149860"/>
                </a:lnTo>
                <a:lnTo>
                  <a:pt x="207286" y="144780"/>
                </a:lnTo>
                <a:lnTo>
                  <a:pt x="207004" y="139700"/>
                </a:lnTo>
                <a:lnTo>
                  <a:pt x="206933" y="132080"/>
                </a:lnTo>
                <a:close/>
              </a:path>
              <a:path w="241300" h="287020">
                <a:moveTo>
                  <a:pt x="193763" y="81280"/>
                </a:moveTo>
                <a:lnTo>
                  <a:pt x="120395" y="81280"/>
                </a:lnTo>
                <a:lnTo>
                  <a:pt x="113633" y="82550"/>
                </a:lnTo>
                <a:lnTo>
                  <a:pt x="100818" y="85090"/>
                </a:lnTo>
                <a:lnTo>
                  <a:pt x="92176" y="85090"/>
                </a:lnTo>
                <a:lnTo>
                  <a:pt x="92176" y="87630"/>
                </a:lnTo>
                <a:lnTo>
                  <a:pt x="95935" y="91440"/>
                </a:lnTo>
                <a:lnTo>
                  <a:pt x="101587" y="95250"/>
                </a:lnTo>
                <a:lnTo>
                  <a:pt x="105346" y="96520"/>
                </a:lnTo>
                <a:lnTo>
                  <a:pt x="110985" y="99060"/>
                </a:lnTo>
                <a:lnTo>
                  <a:pt x="124155" y="99060"/>
                </a:lnTo>
                <a:lnTo>
                  <a:pt x="121157" y="106680"/>
                </a:lnTo>
                <a:lnTo>
                  <a:pt x="117101" y="114300"/>
                </a:lnTo>
                <a:lnTo>
                  <a:pt x="115163" y="121920"/>
                </a:lnTo>
                <a:lnTo>
                  <a:pt x="118516" y="130810"/>
                </a:lnTo>
                <a:lnTo>
                  <a:pt x="101587" y="142240"/>
                </a:lnTo>
                <a:lnTo>
                  <a:pt x="131059" y="142240"/>
                </a:lnTo>
                <a:lnTo>
                  <a:pt x="133565" y="139700"/>
                </a:lnTo>
                <a:lnTo>
                  <a:pt x="137325" y="138430"/>
                </a:lnTo>
                <a:lnTo>
                  <a:pt x="142976" y="135890"/>
                </a:lnTo>
                <a:lnTo>
                  <a:pt x="152374" y="135890"/>
                </a:lnTo>
                <a:lnTo>
                  <a:pt x="152374" y="132080"/>
                </a:lnTo>
                <a:lnTo>
                  <a:pt x="206933" y="132080"/>
                </a:lnTo>
                <a:lnTo>
                  <a:pt x="206933" y="128270"/>
                </a:lnTo>
                <a:lnTo>
                  <a:pt x="199402" y="124460"/>
                </a:lnTo>
                <a:lnTo>
                  <a:pt x="191884" y="123190"/>
                </a:lnTo>
                <a:lnTo>
                  <a:pt x="182459" y="120650"/>
                </a:lnTo>
                <a:lnTo>
                  <a:pt x="133565" y="120650"/>
                </a:lnTo>
                <a:lnTo>
                  <a:pt x="137325" y="114300"/>
                </a:lnTo>
                <a:lnTo>
                  <a:pt x="139204" y="107950"/>
                </a:lnTo>
                <a:lnTo>
                  <a:pt x="142976" y="100330"/>
                </a:lnTo>
                <a:lnTo>
                  <a:pt x="144856" y="95250"/>
                </a:lnTo>
                <a:lnTo>
                  <a:pt x="146735" y="92710"/>
                </a:lnTo>
                <a:lnTo>
                  <a:pt x="154254" y="92710"/>
                </a:lnTo>
                <a:lnTo>
                  <a:pt x="193763" y="81280"/>
                </a:lnTo>
                <a:close/>
              </a:path>
              <a:path w="241300" h="287020">
                <a:moveTo>
                  <a:pt x="163429" y="118110"/>
                </a:moveTo>
                <a:lnTo>
                  <a:pt x="133565" y="120650"/>
                </a:lnTo>
                <a:lnTo>
                  <a:pt x="182459" y="120650"/>
                </a:lnTo>
                <a:lnTo>
                  <a:pt x="177746" y="119380"/>
                </a:lnTo>
                <a:lnTo>
                  <a:pt x="163429" y="118110"/>
                </a:lnTo>
                <a:close/>
              </a:path>
              <a:path w="241300" h="287020">
                <a:moveTo>
                  <a:pt x="158013" y="0"/>
                </a:moveTo>
                <a:lnTo>
                  <a:pt x="158013" y="5080"/>
                </a:lnTo>
                <a:lnTo>
                  <a:pt x="156133" y="11430"/>
                </a:lnTo>
                <a:lnTo>
                  <a:pt x="150493" y="25400"/>
                </a:lnTo>
                <a:lnTo>
                  <a:pt x="133565" y="71120"/>
                </a:lnTo>
                <a:lnTo>
                  <a:pt x="131686" y="78740"/>
                </a:lnTo>
                <a:lnTo>
                  <a:pt x="127914" y="81280"/>
                </a:lnTo>
                <a:lnTo>
                  <a:pt x="197523" y="81280"/>
                </a:lnTo>
                <a:lnTo>
                  <a:pt x="199402" y="78740"/>
                </a:lnTo>
                <a:lnTo>
                  <a:pt x="199402" y="76200"/>
                </a:lnTo>
                <a:lnTo>
                  <a:pt x="150494" y="76200"/>
                </a:lnTo>
                <a:lnTo>
                  <a:pt x="153990" y="60960"/>
                </a:lnTo>
                <a:lnTo>
                  <a:pt x="157310" y="45720"/>
                </a:lnTo>
                <a:lnTo>
                  <a:pt x="162394" y="31750"/>
                </a:lnTo>
                <a:lnTo>
                  <a:pt x="171183" y="20320"/>
                </a:lnTo>
                <a:lnTo>
                  <a:pt x="176834" y="16510"/>
                </a:lnTo>
                <a:lnTo>
                  <a:pt x="173075" y="7620"/>
                </a:lnTo>
                <a:lnTo>
                  <a:pt x="158013" y="0"/>
                </a:lnTo>
                <a:close/>
              </a:path>
              <a:path w="241300" h="287020">
                <a:moveTo>
                  <a:pt x="190004" y="64770"/>
                </a:moveTo>
                <a:lnTo>
                  <a:pt x="184353" y="64770"/>
                </a:lnTo>
                <a:lnTo>
                  <a:pt x="180594" y="67310"/>
                </a:lnTo>
                <a:lnTo>
                  <a:pt x="173244" y="68580"/>
                </a:lnTo>
                <a:lnTo>
                  <a:pt x="157844" y="73660"/>
                </a:lnTo>
                <a:lnTo>
                  <a:pt x="150494" y="76200"/>
                </a:lnTo>
                <a:lnTo>
                  <a:pt x="199402" y="76200"/>
                </a:lnTo>
                <a:lnTo>
                  <a:pt x="199402" y="72390"/>
                </a:lnTo>
                <a:lnTo>
                  <a:pt x="195643" y="68580"/>
                </a:lnTo>
                <a:lnTo>
                  <a:pt x="191884" y="67310"/>
                </a:lnTo>
                <a:lnTo>
                  <a:pt x="190004" y="64770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7616" y="6286500"/>
            <a:ext cx="30480" cy="79375"/>
          </a:xfrm>
          <a:custGeom>
            <a:avLst/>
            <a:gdLst/>
            <a:ahLst/>
            <a:cxnLst/>
            <a:rect l="l" t="t" r="r" b="b"/>
            <a:pathLst>
              <a:path w="30479" h="79375">
                <a:moveTo>
                  <a:pt x="17145" y="0"/>
                </a:moveTo>
                <a:lnTo>
                  <a:pt x="12858" y="16556"/>
                </a:lnTo>
                <a:lnTo>
                  <a:pt x="8572" y="32942"/>
                </a:lnTo>
                <a:lnTo>
                  <a:pt x="4262" y="49068"/>
                </a:lnTo>
                <a:lnTo>
                  <a:pt x="118" y="64072"/>
                </a:lnTo>
                <a:lnTo>
                  <a:pt x="0" y="68186"/>
                </a:lnTo>
                <a:lnTo>
                  <a:pt x="3810" y="71881"/>
                </a:lnTo>
                <a:lnTo>
                  <a:pt x="11429" y="75565"/>
                </a:lnTo>
                <a:lnTo>
                  <a:pt x="17145" y="79248"/>
                </a:lnTo>
                <a:lnTo>
                  <a:pt x="19734" y="64072"/>
                </a:lnTo>
                <a:lnTo>
                  <a:pt x="22161" y="48982"/>
                </a:lnTo>
                <a:lnTo>
                  <a:pt x="24913" y="34408"/>
                </a:lnTo>
                <a:lnTo>
                  <a:pt x="28575" y="20269"/>
                </a:lnTo>
                <a:lnTo>
                  <a:pt x="30479" y="11061"/>
                </a:lnTo>
                <a:lnTo>
                  <a:pt x="28575" y="5524"/>
                </a:lnTo>
                <a:lnTo>
                  <a:pt x="17145" y="0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00289" y="6147815"/>
            <a:ext cx="157604" cy="14020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86483" y="6125098"/>
            <a:ext cx="182499" cy="18273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58774" y="2914015"/>
            <a:ext cx="5189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95" dirty="0">
                <a:latin typeface="微软雅黑"/>
                <a:cs typeface="微软雅黑"/>
              </a:rPr>
              <a:t>高斯数据库技术实验指导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8774" y="4174363"/>
            <a:ext cx="15811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95" dirty="0">
                <a:solidFill>
                  <a:srgbClr val="252525"/>
                </a:solidFill>
                <a:latin typeface="微软雅黑"/>
                <a:cs typeface="微软雅黑"/>
              </a:rPr>
              <a:t>时间</a:t>
            </a:r>
            <a:r>
              <a:rPr sz="1400" spc="85" dirty="0">
                <a:solidFill>
                  <a:srgbClr val="252525"/>
                </a:solidFill>
                <a:latin typeface="微软雅黑"/>
                <a:cs typeface="微软雅黑"/>
              </a:rPr>
              <a:t>：2024/4/17</a:t>
            </a:r>
            <a:endParaRPr sz="1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023103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5023104" cy="6857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34813" y="924432"/>
            <a:ext cx="584835" cy="128206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815"/>
              </a:spcBef>
            </a:pPr>
            <a:r>
              <a:rPr sz="4400" b="1" dirty="0">
                <a:solidFill>
                  <a:srgbClr val="006C39"/>
                </a:solidFill>
                <a:latin typeface="微软雅黑"/>
                <a:cs typeface="微软雅黑"/>
              </a:rPr>
              <a:t>目 录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4989" y="2253233"/>
            <a:ext cx="763905" cy="3742054"/>
          </a:xfrm>
          <a:prstGeom prst="rect">
            <a:avLst/>
          </a:prstGeom>
        </p:spPr>
        <p:txBody>
          <a:bodyPr vert="vert" wrap="square" lIns="0" tIns="457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4400" b="1" dirty="0">
                <a:solidFill>
                  <a:srgbClr val="006C39"/>
                </a:solidFill>
                <a:latin typeface="微软雅黑"/>
                <a:cs typeface="微软雅黑"/>
              </a:rPr>
              <a:t>|</a:t>
            </a:r>
            <a:r>
              <a:rPr sz="4400" b="1" spc="315" dirty="0">
                <a:solidFill>
                  <a:srgbClr val="006C39"/>
                </a:solidFill>
                <a:latin typeface="微软雅黑"/>
                <a:cs typeface="微软雅黑"/>
              </a:rPr>
              <a:t> </a:t>
            </a:r>
            <a:r>
              <a:rPr sz="4400" b="1" spc="165" dirty="0">
                <a:latin typeface="微软雅黑"/>
                <a:cs typeface="微软雅黑"/>
              </a:rPr>
              <a:t>CONTENTS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84466" y="1114424"/>
            <a:ext cx="35229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微软雅黑"/>
                <a:cs typeface="微软雅黑"/>
              </a:rPr>
              <a:t>购买弹性云服务器ECS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10528" y="1045463"/>
            <a:ext cx="620395" cy="622300"/>
          </a:xfrm>
          <a:custGeom>
            <a:avLst/>
            <a:gdLst/>
            <a:ahLst/>
            <a:cxnLst/>
            <a:rect l="l" t="t" r="r" b="b"/>
            <a:pathLst>
              <a:path w="620395" h="622300">
                <a:moveTo>
                  <a:pt x="310133" y="0"/>
                </a:moveTo>
                <a:lnTo>
                  <a:pt x="264295" y="3370"/>
                </a:lnTo>
                <a:lnTo>
                  <a:pt x="220548" y="13162"/>
                </a:lnTo>
                <a:lnTo>
                  <a:pt x="179371" y="28895"/>
                </a:lnTo>
                <a:lnTo>
                  <a:pt x="141244" y="50087"/>
                </a:lnTo>
                <a:lnTo>
                  <a:pt x="106646" y="76257"/>
                </a:lnTo>
                <a:lnTo>
                  <a:pt x="76056" y="106925"/>
                </a:lnTo>
                <a:lnTo>
                  <a:pt x="49954" y="141609"/>
                </a:lnTo>
                <a:lnTo>
                  <a:pt x="28818" y="179829"/>
                </a:lnTo>
                <a:lnTo>
                  <a:pt x="13127" y="221104"/>
                </a:lnTo>
                <a:lnTo>
                  <a:pt x="3361" y="264953"/>
                </a:lnTo>
                <a:lnTo>
                  <a:pt x="0" y="310896"/>
                </a:lnTo>
                <a:lnTo>
                  <a:pt x="3361" y="356838"/>
                </a:lnTo>
                <a:lnTo>
                  <a:pt x="13127" y="400687"/>
                </a:lnTo>
                <a:lnTo>
                  <a:pt x="28818" y="441962"/>
                </a:lnTo>
                <a:lnTo>
                  <a:pt x="49954" y="480182"/>
                </a:lnTo>
                <a:lnTo>
                  <a:pt x="76056" y="514866"/>
                </a:lnTo>
                <a:lnTo>
                  <a:pt x="106646" y="545534"/>
                </a:lnTo>
                <a:lnTo>
                  <a:pt x="141244" y="571704"/>
                </a:lnTo>
                <a:lnTo>
                  <a:pt x="179371" y="592896"/>
                </a:lnTo>
                <a:lnTo>
                  <a:pt x="220548" y="608629"/>
                </a:lnTo>
                <a:lnTo>
                  <a:pt x="264295" y="618421"/>
                </a:lnTo>
                <a:lnTo>
                  <a:pt x="310133" y="621791"/>
                </a:lnTo>
                <a:lnTo>
                  <a:pt x="355972" y="618421"/>
                </a:lnTo>
                <a:lnTo>
                  <a:pt x="399719" y="608629"/>
                </a:lnTo>
                <a:lnTo>
                  <a:pt x="440896" y="592896"/>
                </a:lnTo>
                <a:lnTo>
                  <a:pt x="479023" y="571704"/>
                </a:lnTo>
                <a:lnTo>
                  <a:pt x="513621" y="545534"/>
                </a:lnTo>
                <a:lnTo>
                  <a:pt x="544211" y="514866"/>
                </a:lnTo>
                <a:lnTo>
                  <a:pt x="570313" y="480182"/>
                </a:lnTo>
                <a:lnTo>
                  <a:pt x="591449" y="441962"/>
                </a:lnTo>
                <a:lnTo>
                  <a:pt x="607140" y="400687"/>
                </a:lnTo>
                <a:lnTo>
                  <a:pt x="616906" y="356838"/>
                </a:lnTo>
                <a:lnTo>
                  <a:pt x="620268" y="310896"/>
                </a:lnTo>
                <a:lnTo>
                  <a:pt x="616906" y="264953"/>
                </a:lnTo>
                <a:lnTo>
                  <a:pt x="607140" y="221104"/>
                </a:lnTo>
                <a:lnTo>
                  <a:pt x="591449" y="179829"/>
                </a:lnTo>
                <a:lnTo>
                  <a:pt x="570313" y="141609"/>
                </a:lnTo>
                <a:lnTo>
                  <a:pt x="544211" y="106925"/>
                </a:lnTo>
                <a:lnTo>
                  <a:pt x="513621" y="76257"/>
                </a:lnTo>
                <a:lnTo>
                  <a:pt x="479023" y="50087"/>
                </a:lnTo>
                <a:lnTo>
                  <a:pt x="440896" y="28895"/>
                </a:lnTo>
                <a:lnTo>
                  <a:pt x="399719" y="13162"/>
                </a:lnTo>
                <a:lnTo>
                  <a:pt x="355972" y="3370"/>
                </a:lnTo>
                <a:lnTo>
                  <a:pt x="310133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94678" y="1092453"/>
            <a:ext cx="2533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84466" y="2151379"/>
            <a:ext cx="3766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微软雅黑"/>
                <a:cs typeface="微软雅黑"/>
              </a:rPr>
              <a:t>安装</a:t>
            </a:r>
            <a:r>
              <a:rPr sz="2800" b="1" spc="-10" dirty="0">
                <a:latin typeface="微软雅黑"/>
                <a:cs typeface="微软雅黑"/>
              </a:rPr>
              <a:t>openGauss</a:t>
            </a:r>
            <a:r>
              <a:rPr sz="2800" b="1" spc="-5" dirty="0">
                <a:latin typeface="微软雅黑"/>
                <a:cs typeface="微软雅黑"/>
              </a:rPr>
              <a:t>数据库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10528" y="2083307"/>
            <a:ext cx="620395" cy="620395"/>
          </a:xfrm>
          <a:custGeom>
            <a:avLst/>
            <a:gdLst/>
            <a:ahLst/>
            <a:cxnLst/>
            <a:rect l="l" t="t" r="r" b="b"/>
            <a:pathLst>
              <a:path w="620395" h="620394">
                <a:moveTo>
                  <a:pt x="310133" y="0"/>
                </a:moveTo>
                <a:lnTo>
                  <a:pt x="264295" y="3361"/>
                </a:lnTo>
                <a:lnTo>
                  <a:pt x="220548" y="13127"/>
                </a:lnTo>
                <a:lnTo>
                  <a:pt x="179371" y="28818"/>
                </a:lnTo>
                <a:lnTo>
                  <a:pt x="141244" y="49954"/>
                </a:lnTo>
                <a:lnTo>
                  <a:pt x="106646" y="76056"/>
                </a:lnTo>
                <a:lnTo>
                  <a:pt x="76056" y="106646"/>
                </a:lnTo>
                <a:lnTo>
                  <a:pt x="49954" y="141244"/>
                </a:lnTo>
                <a:lnTo>
                  <a:pt x="28818" y="179371"/>
                </a:lnTo>
                <a:lnTo>
                  <a:pt x="13127" y="220548"/>
                </a:lnTo>
                <a:lnTo>
                  <a:pt x="3361" y="264295"/>
                </a:lnTo>
                <a:lnTo>
                  <a:pt x="0" y="310133"/>
                </a:lnTo>
                <a:lnTo>
                  <a:pt x="3361" y="355972"/>
                </a:lnTo>
                <a:lnTo>
                  <a:pt x="13127" y="399719"/>
                </a:lnTo>
                <a:lnTo>
                  <a:pt x="28818" y="440896"/>
                </a:lnTo>
                <a:lnTo>
                  <a:pt x="49954" y="479023"/>
                </a:lnTo>
                <a:lnTo>
                  <a:pt x="76056" y="513621"/>
                </a:lnTo>
                <a:lnTo>
                  <a:pt x="106646" y="544211"/>
                </a:lnTo>
                <a:lnTo>
                  <a:pt x="141244" y="570313"/>
                </a:lnTo>
                <a:lnTo>
                  <a:pt x="179371" y="591449"/>
                </a:lnTo>
                <a:lnTo>
                  <a:pt x="220548" y="607140"/>
                </a:lnTo>
                <a:lnTo>
                  <a:pt x="264295" y="616906"/>
                </a:lnTo>
                <a:lnTo>
                  <a:pt x="310133" y="620267"/>
                </a:lnTo>
                <a:lnTo>
                  <a:pt x="355972" y="616906"/>
                </a:lnTo>
                <a:lnTo>
                  <a:pt x="399719" y="607140"/>
                </a:lnTo>
                <a:lnTo>
                  <a:pt x="440896" y="591449"/>
                </a:lnTo>
                <a:lnTo>
                  <a:pt x="479023" y="570313"/>
                </a:lnTo>
                <a:lnTo>
                  <a:pt x="513621" y="544211"/>
                </a:lnTo>
                <a:lnTo>
                  <a:pt x="544211" y="513621"/>
                </a:lnTo>
                <a:lnTo>
                  <a:pt x="570313" y="479023"/>
                </a:lnTo>
                <a:lnTo>
                  <a:pt x="591449" y="440896"/>
                </a:lnTo>
                <a:lnTo>
                  <a:pt x="607140" y="399719"/>
                </a:lnTo>
                <a:lnTo>
                  <a:pt x="616906" y="355972"/>
                </a:lnTo>
                <a:lnTo>
                  <a:pt x="620268" y="310133"/>
                </a:lnTo>
                <a:lnTo>
                  <a:pt x="616906" y="264295"/>
                </a:lnTo>
                <a:lnTo>
                  <a:pt x="607140" y="220548"/>
                </a:lnTo>
                <a:lnTo>
                  <a:pt x="591449" y="179371"/>
                </a:lnTo>
                <a:lnTo>
                  <a:pt x="570313" y="141244"/>
                </a:lnTo>
                <a:lnTo>
                  <a:pt x="544211" y="106646"/>
                </a:lnTo>
                <a:lnTo>
                  <a:pt x="513621" y="76056"/>
                </a:lnTo>
                <a:lnTo>
                  <a:pt x="479023" y="49954"/>
                </a:lnTo>
                <a:lnTo>
                  <a:pt x="440896" y="28818"/>
                </a:lnTo>
                <a:lnTo>
                  <a:pt x="399719" y="13127"/>
                </a:lnTo>
                <a:lnTo>
                  <a:pt x="355972" y="3361"/>
                </a:lnTo>
                <a:lnTo>
                  <a:pt x="310133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94678" y="2129104"/>
            <a:ext cx="2540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84466" y="3187395"/>
            <a:ext cx="2813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微软雅黑"/>
                <a:cs typeface="微软雅黑"/>
              </a:rPr>
              <a:t>使用工具连</a:t>
            </a:r>
            <a:r>
              <a:rPr sz="2800" b="1" spc="-5" dirty="0">
                <a:latin typeface="微软雅黑"/>
                <a:cs typeface="微软雅黑"/>
              </a:rPr>
              <a:t>接ECS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10528" y="3119627"/>
            <a:ext cx="620395" cy="620395"/>
          </a:xfrm>
          <a:custGeom>
            <a:avLst/>
            <a:gdLst/>
            <a:ahLst/>
            <a:cxnLst/>
            <a:rect l="l" t="t" r="r" b="b"/>
            <a:pathLst>
              <a:path w="620395" h="620395">
                <a:moveTo>
                  <a:pt x="310133" y="0"/>
                </a:moveTo>
                <a:lnTo>
                  <a:pt x="264295" y="3361"/>
                </a:lnTo>
                <a:lnTo>
                  <a:pt x="220548" y="13127"/>
                </a:lnTo>
                <a:lnTo>
                  <a:pt x="179371" y="28818"/>
                </a:lnTo>
                <a:lnTo>
                  <a:pt x="141244" y="49954"/>
                </a:lnTo>
                <a:lnTo>
                  <a:pt x="106646" y="76056"/>
                </a:lnTo>
                <a:lnTo>
                  <a:pt x="76056" y="106646"/>
                </a:lnTo>
                <a:lnTo>
                  <a:pt x="49954" y="141244"/>
                </a:lnTo>
                <a:lnTo>
                  <a:pt x="28818" y="179371"/>
                </a:lnTo>
                <a:lnTo>
                  <a:pt x="13127" y="220548"/>
                </a:lnTo>
                <a:lnTo>
                  <a:pt x="3361" y="264295"/>
                </a:lnTo>
                <a:lnTo>
                  <a:pt x="0" y="310134"/>
                </a:lnTo>
                <a:lnTo>
                  <a:pt x="3361" y="355972"/>
                </a:lnTo>
                <a:lnTo>
                  <a:pt x="13127" y="399719"/>
                </a:lnTo>
                <a:lnTo>
                  <a:pt x="28818" y="440896"/>
                </a:lnTo>
                <a:lnTo>
                  <a:pt x="49954" y="479023"/>
                </a:lnTo>
                <a:lnTo>
                  <a:pt x="76056" y="513621"/>
                </a:lnTo>
                <a:lnTo>
                  <a:pt x="106646" y="544211"/>
                </a:lnTo>
                <a:lnTo>
                  <a:pt x="141244" y="570313"/>
                </a:lnTo>
                <a:lnTo>
                  <a:pt x="179371" y="591449"/>
                </a:lnTo>
                <a:lnTo>
                  <a:pt x="220548" y="607140"/>
                </a:lnTo>
                <a:lnTo>
                  <a:pt x="264295" y="616906"/>
                </a:lnTo>
                <a:lnTo>
                  <a:pt x="310133" y="620268"/>
                </a:lnTo>
                <a:lnTo>
                  <a:pt x="355972" y="616906"/>
                </a:lnTo>
                <a:lnTo>
                  <a:pt x="399719" y="607140"/>
                </a:lnTo>
                <a:lnTo>
                  <a:pt x="440896" y="591449"/>
                </a:lnTo>
                <a:lnTo>
                  <a:pt x="479023" y="570313"/>
                </a:lnTo>
                <a:lnTo>
                  <a:pt x="513621" y="544211"/>
                </a:lnTo>
                <a:lnTo>
                  <a:pt x="544211" y="513621"/>
                </a:lnTo>
                <a:lnTo>
                  <a:pt x="570313" y="479023"/>
                </a:lnTo>
                <a:lnTo>
                  <a:pt x="591449" y="440896"/>
                </a:lnTo>
                <a:lnTo>
                  <a:pt x="607140" y="399719"/>
                </a:lnTo>
                <a:lnTo>
                  <a:pt x="616906" y="355972"/>
                </a:lnTo>
                <a:lnTo>
                  <a:pt x="620268" y="310134"/>
                </a:lnTo>
                <a:lnTo>
                  <a:pt x="616906" y="264295"/>
                </a:lnTo>
                <a:lnTo>
                  <a:pt x="607140" y="220548"/>
                </a:lnTo>
                <a:lnTo>
                  <a:pt x="591449" y="179371"/>
                </a:lnTo>
                <a:lnTo>
                  <a:pt x="570313" y="141244"/>
                </a:lnTo>
                <a:lnTo>
                  <a:pt x="544211" y="106646"/>
                </a:lnTo>
                <a:lnTo>
                  <a:pt x="513621" y="76056"/>
                </a:lnTo>
                <a:lnTo>
                  <a:pt x="479023" y="49954"/>
                </a:lnTo>
                <a:lnTo>
                  <a:pt x="440896" y="28818"/>
                </a:lnTo>
                <a:lnTo>
                  <a:pt x="399719" y="13127"/>
                </a:lnTo>
                <a:lnTo>
                  <a:pt x="355972" y="3361"/>
                </a:lnTo>
                <a:lnTo>
                  <a:pt x="310133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694678" y="3166110"/>
            <a:ext cx="2533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84466" y="4224273"/>
            <a:ext cx="3209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微软雅黑"/>
                <a:cs typeface="微软雅黑"/>
              </a:rPr>
              <a:t>使用简单的SQ</a:t>
            </a:r>
            <a:r>
              <a:rPr sz="2800" b="1" spc="-15" dirty="0">
                <a:latin typeface="微软雅黑"/>
                <a:cs typeface="微软雅黑"/>
              </a:rPr>
              <a:t>L</a:t>
            </a:r>
            <a:r>
              <a:rPr sz="2800" b="1" spc="-5" dirty="0">
                <a:latin typeface="微软雅黑"/>
                <a:cs typeface="微软雅黑"/>
              </a:rPr>
              <a:t>语句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10528" y="4154423"/>
            <a:ext cx="620395" cy="622300"/>
          </a:xfrm>
          <a:custGeom>
            <a:avLst/>
            <a:gdLst/>
            <a:ahLst/>
            <a:cxnLst/>
            <a:rect l="l" t="t" r="r" b="b"/>
            <a:pathLst>
              <a:path w="620395" h="622300">
                <a:moveTo>
                  <a:pt x="310133" y="0"/>
                </a:moveTo>
                <a:lnTo>
                  <a:pt x="264295" y="3370"/>
                </a:lnTo>
                <a:lnTo>
                  <a:pt x="220548" y="13162"/>
                </a:lnTo>
                <a:lnTo>
                  <a:pt x="179371" y="28895"/>
                </a:lnTo>
                <a:lnTo>
                  <a:pt x="141244" y="50087"/>
                </a:lnTo>
                <a:lnTo>
                  <a:pt x="106646" y="76257"/>
                </a:lnTo>
                <a:lnTo>
                  <a:pt x="76056" y="106925"/>
                </a:lnTo>
                <a:lnTo>
                  <a:pt x="49954" y="141609"/>
                </a:lnTo>
                <a:lnTo>
                  <a:pt x="28818" y="179829"/>
                </a:lnTo>
                <a:lnTo>
                  <a:pt x="13127" y="221104"/>
                </a:lnTo>
                <a:lnTo>
                  <a:pt x="3361" y="264953"/>
                </a:lnTo>
                <a:lnTo>
                  <a:pt x="0" y="310895"/>
                </a:lnTo>
                <a:lnTo>
                  <a:pt x="3361" y="356838"/>
                </a:lnTo>
                <a:lnTo>
                  <a:pt x="13127" y="400687"/>
                </a:lnTo>
                <a:lnTo>
                  <a:pt x="28818" y="441962"/>
                </a:lnTo>
                <a:lnTo>
                  <a:pt x="49954" y="480182"/>
                </a:lnTo>
                <a:lnTo>
                  <a:pt x="76056" y="514866"/>
                </a:lnTo>
                <a:lnTo>
                  <a:pt x="106646" y="545534"/>
                </a:lnTo>
                <a:lnTo>
                  <a:pt x="141244" y="571704"/>
                </a:lnTo>
                <a:lnTo>
                  <a:pt x="179371" y="592896"/>
                </a:lnTo>
                <a:lnTo>
                  <a:pt x="220548" y="608629"/>
                </a:lnTo>
                <a:lnTo>
                  <a:pt x="264295" y="618421"/>
                </a:lnTo>
                <a:lnTo>
                  <a:pt x="310133" y="621792"/>
                </a:lnTo>
                <a:lnTo>
                  <a:pt x="355972" y="618421"/>
                </a:lnTo>
                <a:lnTo>
                  <a:pt x="399719" y="608629"/>
                </a:lnTo>
                <a:lnTo>
                  <a:pt x="440896" y="592896"/>
                </a:lnTo>
                <a:lnTo>
                  <a:pt x="479023" y="571704"/>
                </a:lnTo>
                <a:lnTo>
                  <a:pt x="513621" y="545534"/>
                </a:lnTo>
                <a:lnTo>
                  <a:pt x="544211" y="514866"/>
                </a:lnTo>
                <a:lnTo>
                  <a:pt x="570313" y="480182"/>
                </a:lnTo>
                <a:lnTo>
                  <a:pt x="591449" y="441962"/>
                </a:lnTo>
                <a:lnTo>
                  <a:pt x="607140" y="400687"/>
                </a:lnTo>
                <a:lnTo>
                  <a:pt x="616906" y="356838"/>
                </a:lnTo>
                <a:lnTo>
                  <a:pt x="620268" y="310895"/>
                </a:lnTo>
                <a:lnTo>
                  <a:pt x="616906" y="264953"/>
                </a:lnTo>
                <a:lnTo>
                  <a:pt x="607140" y="221104"/>
                </a:lnTo>
                <a:lnTo>
                  <a:pt x="591449" y="179829"/>
                </a:lnTo>
                <a:lnTo>
                  <a:pt x="570313" y="141609"/>
                </a:lnTo>
                <a:lnTo>
                  <a:pt x="544211" y="106925"/>
                </a:lnTo>
                <a:lnTo>
                  <a:pt x="513621" y="76257"/>
                </a:lnTo>
                <a:lnTo>
                  <a:pt x="479023" y="50087"/>
                </a:lnTo>
                <a:lnTo>
                  <a:pt x="440896" y="28895"/>
                </a:lnTo>
                <a:lnTo>
                  <a:pt x="399719" y="13162"/>
                </a:lnTo>
                <a:lnTo>
                  <a:pt x="355972" y="3370"/>
                </a:lnTo>
                <a:lnTo>
                  <a:pt x="310133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694678" y="4202429"/>
            <a:ext cx="2533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84466" y="5260644"/>
            <a:ext cx="32632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微软雅黑"/>
                <a:cs typeface="微软雅黑"/>
              </a:rPr>
              <a:t>创建并使用</a:t>
            </a:r>
            <a:r>
              <a:rPr sz="2800" b="1" spc="-10" dirty="0">
                <a:latin typeface="微软雅黑"/>
                <a:cs typeface="微软雅黑"/>
              </a:rPr>
              <a:t>IA</a:t>
            </a:r>
            <a:r>
              <a:rPr sz="2800" b="1" spc="-5" dirty="0">
                <a:latin typeface="微软雅黑"/>
                <a:cs typeface="微软雅黑"/>
              </a:rPr>
              <a:t>M帐号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10528" y="5190744"/>
            <a:ext cx="620395" cy="622300"/>
          </a:xfrm>
          <a:custGeom>
            <a:avLst/>
            <a:gdLst/>
            <a:ahLst/>
            <a:cxnLst/>
            <a:rect l="l" t="t" r="r" b="b"/>
            <a:pathLst>
              <a:path w="620395" h="622300">
                <a:moveTo>
                  <a:pt x="310133" y="0"/>
                </a:moveTo>
                <a:lnTo>
                  <a:pt x="264295" y="3370"/>
                </a:lnTo>
                <a:lnTo>
                  <a:pt x="220548" y="13162"/>
                </a:lnTo>
                <a:lnTo>
                  <a:pt x="179371" y="28895"/>
                </a:lnTo>
                <a:lnTo>
                  <a:pt x="141244" y="50087"/>
                </a:lnTo>
                <a:lnTo>
                  <a:pt x="106646" y="76257"/>
                </a:lnTo>
                <a:lnTo>
                  <a:pt x="76056" y="106925"/>
                </a:lnTo>
                <a:lnTo>
                  <a:pt x="49954" y="141609"/>
                </a:lnTo>
                <a:lnTo>
                  <a:pt x="28818" y="179829"/>
                </a:lnTo>
                <a:lnTo>
                  <a:pt x="13127" y="221104"/>
                </a:lnTo>
                <a:lnTo>
                  <a:pt x="3361" y="264953"/>
                </a:lnTo>
                <a:lnTo>
                  <a:pt x="0" y="310895"/>
                </a:lnTo>
                <a:lnTo>
                  <a:pt x="3361" y="356838"/>
                </a:lnTo>
                <a:lnTo>
                  <a:pt x="13127" y="400687"/>
                </a:lnTo>
                <a:lnTo>
                  <a:pt x="28818" y="441962"/>
                </a:lnTo>
                <a:lnTo>
                  <a:pt x="49954" y="480182"/>
                </a:lnTo>
                <a:lnTo>
                  <a:pt x="76056" y="514866"/>
                </a:lnTo>
                <a:lnTo>
                  <a:pt x="106646" y="545534"/>
                </a:lnTo>
                <a:lnTo>
                  <a:pt x="141244" y="571704"/>
                </a:lnTo>
                <a:lnTo>
                  <a:pt x="179371" y="592896"/>
                </a:lnTo>
                <a:lnTo>
                  <a:pt x="220548" y="608629"/>
                </a:lnTo>
                <a:lnTo>
                  <a:pt x="264295" y="618421"/>
                </a:lnTo>
                <a:lnTo>
                  <a:pt x="310133" y="621791"/>
                </a:lnTo>
                <a:lnTo>
                  <a:pt x="355972" y="618421"/>
                </a:lnTo>
                <a:lnTo>
                  <a:pt x="399719" y="608629"/>
                </a:lnTo>
                <a:lnTo>
                  <a:pt x="440896" y="592896"/>
                </a:lnTo>
                <a:lnTo>
                  <a:pt x="479023" y="571704"/>
                </a:lnTo>
                <a:lnTo>
                  <a:pt x="513621" y="545534"/>
                </a:lnTo>
                <a:lnTo>
                  <a:pt x="544211" y="514866"/>
                </a:lnTo>
                <a:lnTo>
                  <a:pt x="570313" y="480182"/>
                </a:lnTo>
                <a:lnTo>
                  <a:pt x="591449" y="441962"/>
                </a:lnTo>
                <a:lnTo>
                  <a:pt x="607140" y="400687"/>
                </a:lnTo>
                <a:lnTo>
                  <a:pt x="616906" y="356838"/>
                </a:lnTo>
                <a:lnTo>
                  <a:pt x="620268" y="310895"/>
                </a:lnTo>
                <a:lnTo>
                  <a:pt x="616906" y="264953"/>
                </a:lnTo>
                <a:lnTo>
                  <a:pt x="607140" y="221104"/>
                </a:lnTo>
                <a:lnTo>
                  <a:pt x="591449" y="179829"/>
                </a:lnTo>
                <a:lnTo>
                  <a:pt x="570313" y="141609"/>
                </a:lnTo>
                <a:lnTo>
                  <a:pt x="544211" y="106925"/>
                </a:lnTo>
                <a:lnTo>
                  <a:pt x="513621" y="76257"/>
                </a:lnTo>
                <a:lnTo>
                  <a:pt x="479023" y="50087"/>
                </a:lnTo>
                <a:lnTo>
                  <a:pt x="440896" y="28895"/>
                </a:lnTo>
                <a:lnTo>
                  <a:pt x="399719" y="13162"/>
                </a:lnTo>
                <a:lnTo>
                  <a:pt x="355972" y="3370"/>
                </a:lnTo>
                <a:lnTo>
                  <a:pt x="310133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694678" y="5238394"/>
            <a:ext cx="2540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Century Gothic"/>
                <a:cs typeface="Century Gothic"/>
              </a:rPr>
              <a:t>5</a:t>
            </a:r>
            <a:endParaRPr sz="3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33438" y="3122498"/>
            <a:ext cx="45288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购买弹性云服务器</a:t>
            </a:r>
            <a:r>
              <a:rPr dirty="0"/>
              <a:t>ECS</a:t>
            </a:r>
          </a:p>
        </p:txBody>
      </p:sp>
      <p:sp>
        <p:nvSpPr>
          <p:cNvPr id="3" name="object 3"/>
          <p:cNvSpPr/>
          <p:nvPr/>
        </p:nvSpPr>
        <p:spPr>
          <a:xfrm>
            <a:off x="5891784" y="3000755"/>
            <a:ext cx="858519" cy="856615"/>
          </a:xfrm>
          <a:custGeom>
            <a:avLst/>
            <a:gdLst/>
            <a:ahLst/>
            <a:cxnLst/>
            <a:rect l="l" t="t" r="r" b="b"/>
            <a:pathLst>
              <a:path w="858520" h="856614">
                <a:moveTo>
                  <a:pt x="429005" y="0"/>
                </a:moveTo>
                <a:lnTo>
                  <a:pt x="382252" y="2513"/>
                </a:lnTo>
                <a:lnTo>
                  <a:pt x="336959" y="9879"/>
                </a:lnTo>
                <a:lnTo>
                  <a:pt x="293388" y="21835"/>
                </a:lnTo>
                <a:lnTo>
                  <a:pt x="251800" y="38122"/>
                </a:lnTo>
                <a:lnTo>
                  <a:pt x="212456" y="58476"/>
                </a:lnTo>
                <a:lnTo>
                  <a:pt x="175619" y="82637"/>
                </a:lnTo>
                <a:lnTo>
                  <a:pt x="141550" y="110343"/>
                </a:lnTo>
                <a:lnTo>
                  <a:pt x="110509" y="141333"/>
                </a:lnTo>
                <a:lnTo>
                  <a:pt x="82759" y="175345"/>
                </a:lnTo>
                <a:lnTo>
                  <a:pt x="58561" y="212118"/>
                </a:lnTo>
                <a:lnTo>
                  <a:pt x="38176" y="251390"/>
                </a:lnTo>
                <a:lnTo>
                  <a:pt x="21866" y="292900"/>
                </a:lnTo>
                <a:lnTo>
                  <a:pt x="9892" y="336387"/>
                </a:lnTo>
                <a:lnTo>
                  <a:pt x="2516" y="381588"/>
                </a:lnTo>
                <a:lnTo>
                  <a:pt x="0" y="428244"/>
                </a:lnTo>
                <a:lnTo>
                  <a:pt x="2516" y="474899"/>
                </a:lnTo>
                <a:lnTo>
                  <a:pt x="9892" y="520100"/>
                </a:lnTo>
                <a:lnTo>
                  <a:pt x="21866" y="563587"/>
                </a:lnTo>
                <a:lnTo>
                  <a:pt x="38176" y="605097"/>
                </a:lnTo>
                <a:lnTo>
                  <a:pt x="58561" y="644369"/>
                </a:lnTo>
                <a:lnTo>
                  <a:pt x="82759" y="681142"/>
                </a:lnTo>
                <a:lnTo>
                  <a:pt x="110509" y="715154"/>
                </a:lnTo>
                <a:lnTo>
                  <a:pt x="141550" y="746144"/>
                </a:lnTo>
                <a:lnTo>
                  <a:pt x="175619" y="773850"/>
                </a:lnTo>
                <a:lnTo>
                  <a:pt x="212456" y="798011"/>
                </a:lnTo>
                <a:lnTo>
                  <a:pt x="251800" y="818365"/>
                </a:lnTo>
                <a:lnTo>
                  <a:pt x="293388" y="834652"/>
                </a:lnTo>
                <a:lnTo>
                  <a:pt x="336959" y="846608"/>
                </a:lnTo>
                <a:lnTo>
                  <a:pt x="382252" y="853974"/>
                </a:lnTo>
                <a:lnTo>
                  <a:pt x="429005" y="856488"/>
                </a:lnTo>
                <a:lnTo>
                  <a:pt x="475759" y="853974"/>
                </a:lnTo>
                <a:lnTo>
                  <a:pt x="521052" y="846608"/>
                </a:lnTo>
                <a:lnTo>
                  <a:pt x="564623" y="834652"/>
                </a:lnTo>
                <a:lnTo>
                  <a:pt x="606211" y="818365"/>
                </a:lnTo>
                <a:lnTo>
                  <a:pt x="645555" y="798011"/>
                </a:lnTo>
                <a:lnTo>
                  <a:pt x="682392" y="773850"/>
                </a:lnTo>
                <a:lnTo>
                  <a:pt x="716461" y="746144"/>
                </a:lnTo>
                <a:lnTo>
                  <a:pt x="747502" y="715154"/>
                </a:lnTo>
                <a:lnTo>
                  <a:pt x="775252" y="681142"/>
                </a:lnTo>
                <a:lnTo>
                  <a:pt x="799450" y="644369"/>
                </a:lnTo>
                <a:lnTo>
                  <a:pt x="819835" y="605097"/>
                </a:lnTo>
                <a:lnTo>
                  <a:pt x="836145" y="563587"/>
                </a:lnTo>
                <a:lnTo>
                  <a:pt x="848119" y="520100"/>
                </a:lnTo>
                <a:lnTo>
                  <a:pt x="855495" y="474899"/>
                </a:lnTo>
                <a:lnTo>
                  <a:pt x="858012" y="428244"/>
                </a:lnTo>
                <a:lnTo>
                  <a:pt x="855495" y="381588"/>
                </a:lnTo>
                <a:lnTo>
                  <a:pt x="848119" y="336387"/>
                </a:lnTo>
                <a:lnTo>
                  <a:pt x="836145" y="292900"/>
                </a:lnTo>
                <a:lnTo>
                  <a:pt x="819835" y="251390"/>
                </a:lnTo>
                <a:lnTo>
                  <a:pt x="799450" y="212118"/>
                </a:lnTo>
                <a:lnTo>
                  <a:pt x="775252" y="175345"/>
                </a:lnTo>
                <a:lnTo>
                  <a:pt x="747502" y="141333"/>
                </a:lnTo>
                <a:lnTo>
                  <a:pt x="716461" y="110343"/>
                </a:lnTo>
                <a:lnTo>
                  <a:pt x="682392" y="82637"/>
                </a:lnTo>
                <a:lnTo>
                  <a:pt x="645555" y="58476"/>
                </a:lnTo>
                <a:lnTo>
                  <a:pt x="606211" y="38122"/>
                </a:lnTo>
                <a:lnTo>
                  <a:pt x="564623" y="21835"/>
                </a:lnTo>
                <a:lnTo>
                  <a:pt x="521052" y="9879"/>
                </a:lnTo>
                <a:lnTo>
                  <a:pt x="475759" y="2513"/>
                </a:lnTo>
                <a:lnTo>
                  <a:pt x="429005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66230" y="3103244"/>
            <a:ext cx="3098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4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5229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购买弹性云服务器ECS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75259" y="1037971"/>
            <a:ext cx="8717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进入华为云官网</a:t>
            </a:r>
            <a:r>
              <a:rPr sz="2400" spc="-15" dirty="0">
                <a:latin typeface="微软雅黑"/>
                <a:cs typeface="微软雅黑"/>
              </a:rPr>
              <a:t> </a:t>
            </a:r>
            <a:r>
              <a:rPr sz="2400" u="heavy" spc="-10" dirty="0">
                <a:solidFill>
                  <a:srgbClr val="ED7A08"/>
                </a:solidFill>
                <a:uFill>
                  <a:solidFill>
                    <a:srgbClr val="ED7A08"/>
                  </a:solidFill>
                </a:uFill>
                <a:latin typeface="微软雅黑"/>
                <a:cs typeface="微软雅黑"/>
                <a:hlinkClick r:id="rId2"/>
              </a:rPr>
              <a:t>https://www.huaweicloud.com/</a:t>
            </a:r>
            <a:r>
              <a:rPr sz="2400" spc="25" dirty="0">
                <a:solidFill>
                  <a:srgbClr val="ED7A08"/>
                </a:solidFill>
                <a:latin typeface="微软雅黑"/>
                <a:cs typeface="微软雅黑"/>
                <a:hlinkClick r:id="rId2"/>
              </a:rPr>
              <a:t> </a:t>
            </a:r>
            <a:r>
              <a:rPr sz="2400" dirty="0">
                <a:latin typeface="微软雅黑"/>
                <a:cs typeface="微软雅黑"/>
              </a:rPr>
              <a:t>，单击登录。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1766316"/>
            <a:ext cx="11367516" cy="42153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023" y="1761744"/>
            <a:ext cx="11376660" cy="4224655"/>
          </a:xfrm>
          <a:custGeom>
            <a:avLst/>
            <a:gdLst/>
            <a:ahLst/>
            <a:cxnLst/>
            <a:rect l="l" t="t" r="r" b="b"/>
            <a:pathLst>
              <a:path w="11376660" h="4224655">
                <a:moveTo>
                  <a:pt x="0" y="4224528"/>
                </a:moveTo>
                <a:lnTo>
                  <a:pt x="11376660" y="4224528"/>
                </a:lnTo>
                <a:lnTo>
                  <a:pt x="11376660" y="0"/>
                </a:lnTo>
                <a:lnTo>
                  <a:pt x="0" y="0"/>
                </a:lnTo>
                <a:lnTo>
                  <a:pt x="0" y="4224528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5229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购买弹性云服务器ECS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925829"/>
            <a:ext cx="73406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输入账号名和密码，单击登录。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微软雅黑"/>
                <a:cs typeface="微软雅黑"/>
              </a:rPr>
              <a:t>如果还没有注册，单击注册，按步骤注册后进行登录。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6740" y="2081228"/>
            <a:ext cx="3761232" cy="39653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2168" y="1906523"/>
            <a:ext cx="3770629" cy="4243070"/>
          </a:xfrm>
          <a:custGeom>
            <a:avLst/>
            <a:gdLst/>
            <a:ahLst/>
            <a:cxnLst/>
            <a:rect l="l" t="t" r="r" b="b"/>
            <a:pathLst>
              <a:path w="3770629" h="4243070">
                <a:moveTo>
                  <a:pt x="0" y="4242816"/>
                </a:moveTo>
                <a:lnTo>
                  <a:pt x="3770376" y="4242816"/>
                </a:lnTo>
                <a:lnTo>
                  <a:pt x="3770376" y="0"/>
                </a:lnTo>
                <a:lnTo>
                  <a:pt x="0" y="0"/>
                </a:lnTo>
                <a:lnTo>
                  <a:pt x="0" y="4242816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78423" y="2003486"/>
            <a:ext cx="4727447" cy="40869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73852" y="1906523"/>
            <a:ext cx="4737100" cy="4243070"/>
          </a:xfrm>
          <a:custGeom>
            <a:avLst/>
            <a:gdLst/>
            <a:ahLst/>
            <a:cxnLst/>
            <a:rect l="l" t="t" r="r" b="b"/>
            <a:pathLst>
              <a:path w="4737100" h="4243070">
                <a:moveTo>
                  <a:pt x="0" y="4242816"/>
                </a:moveTo>
                <a:lnTo>
                  <a:pt x="4736592" y="4242816"/>
                </a:lnTo>
                <a:lnTo>
                  <a:pt x="4736592" y="0"/>
                </a:lnTo>
                <a:lnTo>
                  <a:pt x="0" y="0"/>
                </a:lnTo>
                <a:lnTo>
                  <a:pt x="0" y="4242816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5229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购买弹性云服务器ECS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1090929"/>
            <a:ext cx="109702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在华为云主页</a:t>
            </a:r>
            <a:r>
              <a:rPr sz="2400" spc="-10" dirty="0">
                <a:latin typeface="微软雅黑"/>
                <a:cs typeface="微软雅黑"/>
              </a:rPr>
              <a:t>（https:/</a:t>
            </a:r>
            <a:r>
              <a:rPr sz="2400" spc="-10" dirty="0">
                <a:latin typeface="微软雅黑"/>
                <a:cs typeface="微软雅黑"/>
                <a:hlinkClick r:id="rId2"/>
              </a:rPr>
              <a:t>/ww</a:t>
            </a:r>
            <a:r>
              <a:rPr sz="2400" spc="-10" dirty="0">
                <a:latin typeface="微软雅黑"/>
                <a:cs typeface="微软雅黑"/>
              </a:rPr>
              <a:t>w</a:t>
            </a:r>
            <a:r>
              <a:rPr sz="2400" spc="-10" dirty="0">
                <a:latin typeface="微软雅黑"/>
                <a:cs typeface="微软雅黑"/>
                <a:hlinkClick r:id="rId2"/>
              </a:rPr>
              <a:t>.huaweicloud.com/</a:t>
            </a:r>
            <a:r>
              <a:rPr sz="2400" spc="-10" dirty="0">
                <a:latin typeface="微软雅黑"/>
                <a:cs typeface="微软雅黑"/>
              </a:rPr>
              <a:t>）</a:t>
            </a:r>
            <a:r>
              <a:rPr sz="2400" dirty="0">
                <a:latin typeface="微软雅黑"/>
                <a:cs typeface="微软雅黑"/>
              </a:rPr>
              <a:t>点击产品，选择＂计算＂，再 </a:t>
            </a:r>
            <a:r>
              <a:rPr sz="2400" spc="-5" dirty="0">
                <a:latin typeface="微软雅黑"/>
                <a:cs typeface="微软雅黑"/>
              </a:rPr>
              <a:t>选择＂弹性云服务</a:t>
            </a:r>
            <a:r>
              <a:rPr sz="2400" dirty="0">
                <a:latin typeface="微软雅黑"/>
                <a:cs typeface="微软雅黑"/>
              </a:rPr>
              <a:t>器</a:t>
            </a:r>
            <a:r>
              <a:rPr sz="2400" spc="-5" dirty="0">
                <a:latin typeface="微软雅黑"/>
                <a:cs typeface="微软雅黑"/>
              </a:rPr>
              <a:t>ECS＂。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7991" y="2033016"/>
            <a:ext cx="7156704" cy="38938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419" y="1921764"/>
            <a:ext cx="7165975" cy="4010025"/>
          </a:xfrm>
          <a:custGeom>
            <a:avLst/>
            <a:gdLst/>
            <a:ahLst/>
            <a:cxnLst/>
            <a:rect l="l" t="t" r="r" b="b"/>
            <a:pathLst>
              <a:path w="7165975" h="4010025">
                <a:moveTo>
                  <a:pt x="0" y="4009644"/>
                </a:moveTo>
                <a:lnTo>
                  <a:pt x="7165848" y="4009644"/>
                </a:lnTo>
                <a:lnTo>
                  <a:pt x="7165848" y="0"/>
                </a:lnTo>
                <a:lnTo>
                  <a:pt x="0" y="0"/>
                </a:lnTo>
                <a:lnTo>
                  <a:pt x="0" y="4009644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5229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购买弹性云服务器ECS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1090929"/>
            <a:ext cx="4537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进入弹性云服务器EC</a:t>
            </a:r>
            <a:r>
              <a:rPr sz="2400" spc="-5" dirty="0">
                <a:latin typeface="微软雅黑"/>
                <a:cs typeface="微软雅黑"/>
              </a:rPr>
              <a:t>S</a:t>
            </a:r>
            <a:r>
              <a:rPr sz="2400" dirty="0">
                <a:latin typeface="微软雅黑"/>
                <a:cs typeface="微软雅黑"/>
              </a:rPr>
              <a:t>购买界面。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1766316"/>
            <a:ext cx="7741920" cy="4021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5229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购买弹性云服务器ECS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861136"/>
            <a:ext cx="27070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/>
                <a:cs typeface="微软雅黑"/>
              </a:rPr>
              <a:t>进行ECS基础配置。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1301496"/>
            <a:ext cx="10895076" cy="4895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023" y="1296924"/>
            <a:ext cx="10904220" cy="4904740"/>
          </a:xfrm>
          <a:custGeom>
            <a:avLst/>
            <a:gdLst/>
            <a:ahLst/>
            <a:cxnLst/>
            <a:rect l="l" t="t" r="r" b="b"/>
            <a:pathLst>
              <a:path w="10904220" h="4904740">
                <a:moveTo>
                  <a:pt x="0" y="4904232"/>
                </a:moveTo>
                <a:lnTo>
                  <a:pt x="10904220" y="4904232"/>
                </a:lnTo>
                <a:lnTo>
                  <a:pt x="10904220" y="0"/>
                </a:lnTo>
                <a:lnTo>
                  <a:pt x="0" y="0"/>
                </a:lnTo>
                <a:lnTo>
                  <a:pt x="0" y="4904232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5229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购买弹性云服务器ECS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861136"/>
            <a:ext cx="78886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/>
                <a:cs typeface="微软雅黑"/>
              </a:rPr>
              <a:t>进行ECS基础配置。完成后，单击“下一步：网络配置”。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2563" y="1557573"/>
            <a:ext cx="10165080" cy="40932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640" y="228092"/>
            <a:ext cx="35229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微软雅黑"/>
                <a:cs typeface="微软雅黑"/>
              </a:rPr>
              <a:t>购买弹性云服务器ECS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6640" y="933958"/>
            <a:ext cx="11243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进</a:t>
            </a:r>
            <a:r>
              <a:rPr sz="2400" spc="-5" dirty="0">
                <a:latin typeface="微软雅黑"/>
                <a:cs typeface="微软雅黑"/>
              </a:rPr>
              <a:t>行</a:t>
            </a:r>
            <a:r>
              <a:rPr sz="2400" dirty="0">
                <a:latin typeface="微软雅黑"/>
                <a:cs typeface="微软雅黑"/>
              </a:rPr>
              <a:t>EC</a:t>
            </a:r>
            <a:r>
              <a:rPr sz="2400" spc="-5" dirty="0">
                <a:latin typeface="微软雅黑"/>
                <a:cs typeface="微软雅黑"/>
              </a:rPr>
              <a:t>S</a:t>
            </a:r>
            <a:r>
              <a:rPr sz="2400" dirty="0">
                <a:latin typeface="微软雅黑"/>
                <a:cs typeface="微软雅黑"/>
              </a:rPr>
              <a:t>网络配置。安全组选择“</a:t>
            </a:r>
            <a:r>
              <a:rPr sz="2400" spc="-5" dirty="0">
                <a:solidFill>
                  <a:srgbClr val="242B39"/>
                </a:solidFill>
                <a:latin typeface="Arial"/>
                <a:cs typeface="Arial"/>
              </a:rPr>
              <a:t>defau</a:t>
            </a:r>
            <a:r>
              <a:rPr sz="2400" dirty="0">
                <a:solidFill>
                  <a:srgbClr val="242B39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srgbClr val="242B39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srgbClr val="242B39"/>
                </a:solidFill>
                <a:latin typeface="微软雅黑"/>
                <a:cs typeface="微软雅黑"/>
              </a:rPr>
              <a:t>”。</a:t>
            </a:r>
            <a:r>
              <a:rPr sz="2400" dirty="0">
                <a:latin typeface="微软雅黑"/>
                <a:cs typeface="微软雅黑"/>
              </a:rPr>
              <a:t>完成后，单击“下一步：高级配置”。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1418844"/>
            <a:ext cx="10716768" cy="19164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023" y="1414272"/>
            <a:ext cx="10726420" cy="2178050"/>
          </a:xfrm>
          <a:custGeom>
            <a:avLst/>
            <a:gdLst/>
            <a:ahLst/>
            <a:cxnLst/>
            <a:rect l="l" t="t" r="r" b="b"/>
            <a:pathLst>
              <a:path w="10726420" h="2178050">
                <a:moveTo>
                  <a:pt x="0" y="2177795"/>
                </a:moveTo>
                <a:lnTo>
                  <a:pt x="10725912" y="2177795"/>
                </a:lnTo>
                <a:lnTo>
                  <a:pt x="10725912" y="0"/>
                </a:lnTo>
                <a:lnTo>
                  <a:pt x="0" y="0"/>
                </a:lnTo>
                <a:lnTo>
                  <a:pt x="0" y="2177795"/>
                </a:lnTo>
                <a:close/>
              </a:path>
            </a:pathLst>
          </a:custGeom>
          <a:ln w="9143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2671" y="3652594"/>
            <a:ext cx="7592157" cy="25300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3023" y="3611879"/>
            <a:ext cx="7905115" cy="2654935"/>
          </a:xfrm>
          <a:custGeom>
            <a:avLst/>
            <a:gdLst/>
            <a:ahLst/>
            <a:cxnLst/>
            <a:rect l="l" t="t" r="r" b="b"/>
            <a:pathLst>
              <a:path w="7905115" h="2654935">
                <a:moveTo>
                  <a:pt x="0" y="2654808"/>
                </a:moveTo>
                <a:lnTo>
                  <a:pt x="7904988" y="2654808"/>
                </a:lnTo>
                <a:lnTo>
                  <a:pt x="7904988" y="0"/>
                </a:lnTo>
                <a:lnTo>
                  <a:pt x="0" y="0"/>
                </a:lnTo>
                <a:lnTo>
                  <a:pt x="0" y="2654808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5229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购买弹性云服务器ECS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861136"/>
            <a:ext cx="8258809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/>
                <a:cs typeface="微软雅黑"/>
              </a:rPr>
              <a:t>记住用户名</a:t>
            </a:r>
            <a:r>
              <a:rPr sz="2400" dirty="0">
                <a:latin typeface="微软雅黑"/>
                <a:cs typeface="微软雅黑"/>
              </a:rPr>
              <a:t>为</a:t>
            </a:r>
            <a:r>
              <a:rPr sz="2400" spc="-15" dirty="0">
                <a:latin typeface="微软雅黑"/>
                <a:cs typeface="微软雅黑"/>
              </a:rPr>
              <a:t>root，</a:t>
            </a:r>
            <a:r>
              <a:rPr sz="2400" spc="-5" dirty="0">
                <a:latin typeface="微软雅黑"/>
                <a:cs typeface="微软雅黑"/>
              </a:rPr>
              <a:t>输入自定义密码和确认密码，其余默认，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微软雅黑"/>
                <a:cs typeface="微软雅黑"/>
              </a:rPr>
              <a:t>单击“下一步：确认配置＂。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1671827"/>
            <a:ext cx="6173724" cy="44663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023" y="1667255"/>
            <a:ext cx="6182995" cy="4532630"/>
          </a:xfrm>
          <a:custGeom>
            <a:avLst/>
            <a:gdLst/>
            <a:ahLst/>
            <a:cxnLst/>
            <a:rect l="l" t="t" r="r" b="b"/>
            <a:pathLst>
              <a:path w="6182995" h="4532630">
                <a:moveTo>
                  <a:pt x="0" y="4532376"/>
                </a:moveTo>
                <a:lnTo>
                  <a:pt x="6182867" y="4532376"/>
                </a:lnTo>
                <a:lnTo>
                  <a:pt x="6182867" y="0"/>
                </a:lnTo>
                <a:lnTo>
                  <a:pt x="0" y="0"/>
                </a:lnTo>
                <a:lnTo>
                  <a:pt x="0" y="4532376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640" y="228092"/>
            <a:ext cx="35229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微软雅黑"/>
                <a:cs typeface="微软雅黑"/>
              </a:rPr>
              <a:t>购买弹性云服务器ECS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6640" y="861136"/>
            <a:ext cx="94742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/>
                <a:cs typeface="微软雅黑"/>
              </a:rPr>
              <a:t>确认设置信息，尤其是配置费用，然后勾选协议，单击“立即购买”。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1330082"/>
            <a:ext cx="7953756" cy="48811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023" y="1296924"/>
            <a:ext cx="7962900" cy="4933315"/>
          </a:xfrm>
          <a:custGeom>
            <a:avLst/>
            <a:gdLst/>
            <a:ahLst/>
            <a:cxnLst/>
            <a:rect l="l" t="t" r="r" b="b"/>
            <a:pathLst>
              <a:path w="7962900" h="4933315">
                <a:moveTo>
                  <a:pt x="0" y="4933188"/>
                </a:moveTo>
                <a:lnTo>
                  <a:pt x="7962900" y="4933188"/>
                </a:lnTo>
                <a:lnTo>
                  <a:pt x="7962900" y="0"/>
                </a:lnTo>
                <a:lnTo>
                  <a:pt x="0" y="0"/>
                </a:lnTo>
                <a:lnTo>
                  <a:pt x="0" y="4933188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62464" y="3150107"/>
            <a:ext cx="2241434" cy="15011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14816" y="2665476"/>
            <a:ext cx="2967355" cy="2196465"/>
          </a:xfrm>
          <a:custGeom>
            <a:avLst/>
            <a:gdLst/>
            <a:ahLst/>
            <a:cxnLst/>
            <a:rect l="l" t="t" r="r" b="b"/>
            <a:pathLst>
              <a:path w="2967354" h="2196465">
                <a:moveTo>
                  <a:pt x="0" y="2196084"/>
                </a:moveTo>
                <a:lnTo>
                  <a:pt x="2967228" y="2196084"/>
                </a:lnTo>
                <a:lnTo>
                  <a:pt x="2967228" y="0"/>
                </a:lnTo>
                <a:lnTo>
                  <a:pt x="0" y="0"/>
                </a:lnTo>
                <a:lnTo>
                  <a:pt x="0" y="2196084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04631" y="3532632"/>
            <a:ext cx="853440" cy="462280"/>
          </a:xfrm>
          <a:custGeom>
            <a:avLst/>
            <a:gdLst/>
            <a:ahLst/>
            <a:cxnLst/>
            <a:rect l="l" t="t" r="r" b="b"/>
            <a:pathLst>
              <a:path w="853440" h="462279">
                <a:moveTo>
                  <a:pt x="622553" y="0"/>
                </a:moveTo>
                <a:lnTo>
                  <a:pt x="622553" y="115442"/>
                </a:lnTo>
                <a:lnTo>
                  <a:pt x="0" y="115442"/>
                </a:lnTo>
                <a:lnTo>
                  <a:pt x="0" y="346328"/>
                </a:lnTo>
                <a:lnTo>
                  <a:pt x="622553" y="346328"/>
                </a:lnTo>
                <a:lnTo>
                  <a:pt x="622553" y="461771"/>
                </a:lnTo>
                <a:lnTo>
                  <a:pt x="853440" y="230885"/>
                </a:lnTo>
                <a:lnTo>
                  <a:pt x="622553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04631" y="3532632"/>
            <a:ext cx="853440" cy="462280"/>
          </a:xfrm>
          <a:custGeom>
            <a:avLst/>
            <a:gdLst/>
            <a:ahLst/>
            <a:cxnLst/>
            <a:rect l="l" t="t" r="r" b="b"/>
            <a:pathLst>
              <a:path w="853440" h="462279">
                <a:moveTo>
                  <a:pt x="0" y="115442"/>
                </a:moveTo>
                <a:lnTo>
                  <a:pt x="622553" y="115442"/>
                </a:lnTo>
                <a:lnTo>
                  <a:pt x="622553" y="0"/>
                </a:lnTo>
                <a:lnTo>
                  <a:pt x="853440" y="230885"/>
                </a:lnTo>
                <a:lnTo>
                  <a:pt x="622553" y="461771"/>
                </a:lnTo>
                <a:lnTo>
                  <a:pt x="622553" y="346328"/>
                </a:lnTo>
                <a:lnTo>
                  <a:pt x="0" y="346328"/>
                </a:lnTo>
                <a:lnTo>
                  <a:pt x="0" y="115442"/>
                </a:lnTo>
                <a:close/>
              </a:path>
            </a:pathLst>
          </a:custGeom>
          <a:ln w="12192">
            <a:solidFill>
              <a:srgbClr val="004D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020300" y="4242815"/>
            <a:ext cx="1508760" cy="518159"/>
          </a:xfrm>
          <a:custGeom>
            <a:avLst/>
            <a:gdLst/>
            <a:ahLst/>
            <a:cxnLst/>
            <a:rect l="l" t="t" r="r" b="b"/>
            <a:pathLst>
              <a:path w="1508759" h="518160">
                <a:moveTo>
                  <a:pt x="0" y="518160"/>
                </a:moveTo>
                <a:lnTo>
                  <a:pt x="1508759" y="518160"/>
                </a:lnTo>
                <a:lnTo>
                  <a:pt x="1508759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5229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购买弹性云服务器ECS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75259" y="1316558"/>
            <a:ext cx="85598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/>
                <a:cs typeface="微软雅黑"/>
              </a:rPr>
              <a:t>查看云服务器列表。状态列显示“运行中”，则表示购买成功。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2544" y="2385060"/>
            <a:ext cx="11346180" cy="2026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2251" y="2319527"/>
            <a:ext cx="11546205" cy="2219325"/>
          </a:xfrm>
          <a:custGeom>
            <a:avLst/>
            <a:gdLst/>
            <a:ahLst/>
            <a:cxnLst/>
            <a:rect l="l" t="t" r="r" b="b"/>
            <a:pathLst>
              <a:path w="11546205" h="2219325">
                <a:moveTo>
                  <a:pt x="0" y="2218944"/>
                </a:moveTo>
                <a:lnTo>
                  <a:pt x="11545824" y="2218944"/>
                </a:lnTo>
                <a:lnTo>
                  <a:pt x="11545824" y="0"/>
                </a:lnTo>
                <a:lnTo>
                  <a:pt x="0" y="0"/>
                </a:lnTo>
                <a:lnTo>
                  <a:pt x="0" y="2218944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33438" y="3122498"/>
            <a:ext cx="48412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安装openGauss</a:t>
            </a:r>
            <a:r>
              <a:rPr dirty="0"/>
              <a:t>数据库</a:t>
            </a:r>
          </a:p>
        </p:txBody>
      </p:sp>
      <p:sp>
        <p:nvSpPr>
          <p:cNvPr id="3" name="object 3"/>
          <p:cNvSpPr/>
          <p:nvPr/>
        </p:nvSpPr>
        <p:spPr>
          <a:xfrm>
            <a:off x="5891784" y="3000755"/>
            <a:ext cx="858519" cy="856615"/>
          </a:xfrm>
          <a:custGeom>
            <a:avLst/>
            <a:gdLst/>
            <a:ahLst/>
            <a:cxnLst/>
            <a:rect l="l" t="t" r="r" b="b"/>
            <a:pathLst>
              <a:path w="858520" h="856614">
                <a:moveTo>
                  <a:pt x="429005" y="0"/>
                </a:moveTo>
                <a:lnTo>
                  <a:pt x="382252" y="2513"/>
                </a:lnTo>
                <a:lnTo>
                  <a:pt x="336959" y="9879"/>
                </a:lnTo>
                <a:lnTo>
                  <a:pt x="293388" y="21835"/>
                </a:lnTo>
                <a:lnTo>
                  <a:pt x="251800" y="38122"/>
                </a:lnTo>
                <a:lnTo>
                  <a:pt x="212456" y="58476"/>
                </a:lnTo>
                <a:lnTo>
                  <a:pt x="175619" y="82637"/>
                </a:lnTo>
                <a:lnTo>
                  <a:pt x="141550" y="110343"/>
                </a:lnTo>
                <a:lnTo>
                  <a:pt x="110509" y="141333"/>
                </a:lnTo>
                <a:lnTo>
                  <a:pt x="82759" y="175345"/>
                </a:lnTo>
                <a:lnTo>
                  <a:pt x="58561" y="212118"/>
                </a:lnTo>
                <a:lnTo>
                  <a:pt x="38176" y="251390"/>
                </a:lnTo>
                <a:lnTo>
                  <a:pt x="21866" y="292900"/>
                </a:lnTo>
                <a:lnTo>
                  <a:pt x="9892" y="336387"/>
                </a:lnTo>
                <a:lnTo>
                  <a:pt x="2516" y="381588"/>
                </a:lnTo>
                <a:lnTo>
                  <a:pt x="0" y="428244"/>
                </a:lnTo>
                <a:lnTo>
                  <a:pt x="2516" y="474899"/>
                </a:lnTo>
                <a:lnTo>
                  <a:pt x="9892" y="520100"/>
                </a:lnTo>
                <a:lnTo>
                  <a:pt x="21866" y="563587"/>
                </a:lnTo>
                <a:lnTo>
                  <a:pt x="38176" y="605097"/>
                </a:lnTo>
                <a:lnTo>
                  <a:pt x="58561" y="644369"/>
                </a:lnTo>
                <a:lnTo>
                  <a:pt x="82759" y="681142"/>
                </a:lnTo>
                <a:lnTo>
                  <a:pt x="110509" y="715154"/>
                </a:lnTo>
                <a:lnTo>
                  <a:pt x="141550" y="746144"/>
                </a:lnTo>
                <a:lnTo>
                  <a:pt x="175619" y="773850"/>
                </a:lnTo>
                <a:lnTo>
                  <a:pt x="212456" y="798011"/>
                </a:lnTo>
                <a:lnTo>
                  <a:pt x="251800" y="818365"/>
                </a:lnTo>
                <a:lnTo>
                  <a:pt x="293388" y="834652"/>
                </a:lnTo>
                <a:lnTo>
                  <a:pt x="336959" y="846608"/>
                </a:lnTo>
                <a:lnTo>
                  <a:pt x="382252" y="853974"/>
                </a:lnTo>
                <a:lnTo>
                  <a:pt x="429005" y="856488"/>
                </a:lnTo>
                <a:lnTo>
                  <a:pt x="475759" y="853974"/>
                </a:lnTo>
                <a:lnTo>
                  <a:pt x="521052" y="846608"/>
                </a:lnTo>
                <a:lnTo>
                  <a:pt x="564623" y="834652"/>
                </a:lnTo>
                <a:lnTo>
                  <a:pt x="606211" y="818365"/>
                </a:lnTo>
                <a:lnTo>
                  <a:pt x="645555" y="798011"/>
                </a:lnTo>
                <a:lnTo>
                  <a:pt x="682392" y="773850"/>
                </a:lnTo>
                <a:lnTo>
                  <a:pt x="716461" y="746144"/>
                </a:lnTo>
                <a:lnTo>
                  <a:pt x="747502" y="715154"/>
                </a:lnTo>
                <a:lnTo>
                  <a:pt x="775252" y="681142"/>
                </a:lnTo>
                <a:lnTo>
                  <a:pt x="799450" y="644369"/>
                </a:lnTo>
                <a:lnTo>
                  <a:pt x="819835" y="605097"/>
                </a:lnTo>
                <a:lnTo>
                  <a:pt x="836145" y="563587"/>
                </a:lnTo>
                <a:lnTo>
                  <a:pt x="848119" y="520100"/>
                </a:lnTo>
                <a:lnTo>
                  <a:pt x="855495" y="474899"/>
                </a:lnTo>
                <a:lnTo>
                  <a:pt x="858012" y="428244"/>
                </a:lnTo>
                <a:lnTo>
                  <a:pt x="855495" y="381588"/>
                </a:lnTo>
                <a:lnTo>
                  <a:pt x="848119" y="336387"/>
                </a:lnTo>
                <a:lnTo>
                  <a:pt x="836145" y="292900"/>
                </a:lnTo>
                <a:lnTo>
                  <a:pt x="819835" y="251390"/>
                </a:lnTo>
                <a:lnTo>
                  <a:pt x="799450" y="212118"/>
                </a:lnTo>
                <a:lnTo>
                  <a:pt x="775252" y="175345"/>
                </a:lnTo>
                <a:lnTo>
                  <a:pt x="747502" y="141333"/>
                </a:lnTo>
                <a:lnTo>
                  <a:pt x="716461" y="110343"/>
                </a:lnTo>
                <a:lnTo>
                  <a:pt x="682392" y="82637"/>
                </a:lnTo>
                <a:lnTo>
                  <a:pt x="645555" y="58476"/>
                </a:lnTo>
                <a:lnTo>
                  <a:pt x="606211" y="38122"/>
                </a:lnTo>
                <a:lnTo>
                  <a:pt x="564623" y="21835"/>
                </a:lnTo>
                <a:lnTo>
                  <a:pt x="521052" y="9879"/>
                </a:lnTo>
                <a:lnTo>
                  <a:pt x="475759" y="2513"/>
                </a:lnTo>
                <a:lnTo>
                  <a:pt x="429005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66230" y="3103244"/>
            <a:ext cx="3098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4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640" y="228092"/>
            <a:ext cx="54267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微软雅黑"/>
                <a:cs typeface="微软雅黑"/>
              </a:rPr>
              <a:t>使用</a:t>
            </a:r>
            <a:r>
              <a:rPr sz="2800" b="1" spc="-10" dirty="0">
                <a:latin typeface="微软雅黑"/>
                <a:cs typeface="微软雅黑"/>
              </a:rPr>
              <a:t>“CloudShell</a:t>
            </a:r>
            <a:r>
              <a:rPr sz="2800" b="1" spc="-5" dirty="0">
                <a:latin typeface="微软雅黑"/>
                <a:cs typeface="微软雅黑"/>
              </a:rPr>
              <a:t>登录”连</a:t>
            </a:r>
            <a:r>
              <a:rPr sz="2800" b="1" spc="-15" dirty="0">
                <a:latin typeface="微软雅黑"/>
                <a:cs typeface="微软雅黑"/>
              </a:rPr>
              <a:t>接</a:t>
            </a:r>
            <a:r>
              <a:rPr sz="2800" b="1" spc="-5" dirty="0">
                <a:latin typeface="微软雅黑"/>
                <a:cs typeface="微软雅黑"/>
              </a:rPr>
              <a:t>ECS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6640" y="964184"/>
            <a:ext cx="11241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对购买好的EC</a:t>
            </a:r>
            <a:r>
              <a:rPr sz="2400" spc="-5" dirty="0">
                <a:latin typeface="微软雅黑"/>
                <a:cs typeface="微软雅黑"/>
              </a:rPr>
              <a:t>S</a:t>
            </a:r>
            <a:r>
              <a:rPr sz="2400" dirty="0">
                <a:latin typeface="微软雅黑"/>
                <a:cs typeface="微软雅黑"/>
              </a:rPr>
              <a:t>服务器，点击“更多”、“开机”，开机之后，点击“远程登录”。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8564" y="1773935"/>
            <a:ext cx="11347684" cy="1447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023" y="1769364"/>
            <a:ext cx="11501755" cy="1457325"/>
          </a:xfrm>
          <a:custGeom>
            <a:avLst/>
            <a:gdLst/>
            <a:ahLst/>
            <a:cxnLst/>
            <a:rect l="l" t="t" r="r" b="b"/>
            <a:pathLst>
              <a:path w="11501755" h="1457325">
                <a:moveTo>
                  <a:pt x="0" y="1456943"/>
                </a:moveTo>
                <a:lnTo>
                  <a:pt x="11501628" y="1456943"/>
                </a:lnTo>
                <a:lnTo>
                  <a:pt x="11501628" y="0"/>
                </a:lnTo>
                <a:lnTo>
                  <a:pt x="0" y="0"/>
                </a:lnTo>
                <a:lnTo>
                  <a:pt x="0" y="1456943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7595" y="3590544"/>
            <a:ext cx="6958583" cy="2324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54267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使用</a:t>
            </a:r>
            <a:r>
              <a:rPr sz="2800" spc="-10" dirty="0"/>
              <a:t>“CloudShell</a:t>
            </a:r>
            <a:r>
              <a:rPr sz="2800" spc="-5" dirty="0"/>
              <a:t>登录”连</a:t>
            </a:r>
            <a:r>
              <a:rPr sz="2800" spc="-15" dirty="0"/>
              <a:t>接</a:t>
            </a:r>
            <a:r>
              <a:rPr sz="2800" spc="-5" dirty="0"/>
              <a:t>ECS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1023873"/>
            <a:ext cx="7070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点击“远程登录”之后，点击</a:t>
            </a:r>
            <a:r>
              <a:rPr sz="2400" spc="-5" dirty="0">
                <a:latin typeface="微软雅黑"/>
                <a:cs typeface="微软雅黑"/>
              </a:rPr>
              <a:t>“CloudShell</a:t>
            </a:r>
            <a:r>
              <a:rPr sz="2400" dirty="0">
                <a:latin typeface="微软雅黑"/>
                <a:cs typeface="微软雅黑"/>
              </a:rPr>
              <a:t>登录”。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4302" y="1699260"/>
            <a:ext cx="5899350" cy="3642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54267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使用</a:t>
            </a:r>
            <a:r>
              <a:rPr sz="2800" spc="-10" dirty="0"/>
              <a:t>“CloudShell</a:t>
            </a:r>
            <a:r>
              <a:rPr sz="2800" spc="-5" dirty="0"/>
              <a:t>登录”连</a:t>
            </a:r>
            <a:r>
              <a:rPr sz="2800" spc="-15" dirty="0"/>
              <a:t>接</a:t>
            </a:r>
            <a:r>
              <a:rPr sz="2800" spc="-5" dirty="0"/>
              <a:t>ECS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964184"/>
            <a:ext cx="8868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等加载完成后，输入</a:t>
            </a:r>
            <a:r>
              <a:rPr sz="2400" spc="-45" dirty="0">
                <a:latin typeface="微软雅黑"/>
                <a:cs typeface="微软雅黑"/>
              </a:rPr>
              <a:t>r</a:t>
            </a:r>
            <a:r>
              <a:rPr sz="2400" dirty="0">
                <a:latin typeface="微软雅黑"/>
                <a:cs typeface="微软雅黑"/>
              </a:rPr>
              <a:t>oot用户密码后点击＂连接＂按钮即可登录。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1405127"/>
            <a:ext cx="8304276" cy="47960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2866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修改操作系统配置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1100709"/>
            <a:ext cx="8956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/>
                <a:cs typeface="微软雅黑"/>
              </a:rPr>
              <a:t>设置字符集参数</a:t>
            </a:r>
            <a:r>
              <a:rPr sz="2400" b="1" spc="-95" dirty="0">
                <a:latin typeface="微软雅黑"/>
                <a:cs typeface="微软雅黑"/>
              </a:rPr>
              <a:t> </a:t>
            </a:r>
            <a:r>
              <a:rPr sz="2400" b="1" dirty="0">
                <a:latin typeface="微软雅黑"/>
                <a:cs typeface="微软雅黑"/>
              </a:rPr>
              <a:t>：</a:t>
            </a:r>
            <a:r>
              <a:rPr sz="2400" dirty="0">
                <a:latin typeface="微软雅黑"/>
                <a:cs typeface="微软雅黑"/>
              </a:rPr>
              <a:t>将各数据库节点的字符集设置为相同的字符</a:t>
            </a:r>
            <a:r>
              <a:rPr sz="2400" spc="5" dirty="0">
                <a:latin typeface="微软雅黑"/>
                <a:cs typeface="微软雅黑"/>
              </a:rPr>
              <a:t>集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1227" y="1891283"/>
            <a:ext cx="6993635" cy="1882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0272" y="4146042"/>
            <a:ext cx="423481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/>
                <a:cs typeface="微软雅黑"/>
              </a:rPr>
              <a:t>#</a:t>
            </a:r>
            <a:r>
              <a:rPr sz="2400" b="1" spc="-25" dirty="0">
                <a:latin typeface="微软雅黑"/>
                <a:cs typeface="微软雅黑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微软雅黑"/>
                <a:cs typeface="微软雅黑"/>
              </a:rPr>
              <a:t>cat&gt;&gt;/etc/profile&lt;&lt;EOF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spc="5" dirty="0">
                <a:latin typeface="微软雅黑"/>
                <a:cs typeface="微软雅黑"/>
              </a:rPr>
              <a:t>&gt;</a:t>
            </a:r>
            <a:r>
              <a:rPr sz="2400" spc="5" dirty="0">
                <a:solidFill>
                  <a:srgbClr val="C00000"/>
                </a:solidFill>
                <a:latin typeface="微软雅黑"/>
                <a:cs typeface="微软雅黑"/>
              </a:rPr>
              <a:t>export</a:t>
            </a:r>
            <a:r>
              <a:rPr sz="2400" spc="-2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LANG=en_US.UTF-8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微软雅黑"/>
                <a:cs typeface="微软雅黑"/>
              </a:rPr>
              <a:t>&gt;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EOF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微软雅黑"/>
                <a:cs typeface="微软雅黑"/>
              </a:rPr>
              <a:t># </a:t>
            </a:r>
            <a:r>
              <a:rPr sz="2400" spc="-10" dirty="0">
                <a:solidFill>
                  <a:srgbClr val="C00000"/>
                </a:solidFill>
                <a:latin typeface="微软雅黑"/>
                <a:cs typeface="微软雅黑"/>
              </a:rPr>
              <a:t>source</a:t>
            </a:r>
            <a:r>
              <a:rPr sz="2400" spc="-2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微软雅黑"/>
                <a:cs typeface="微软雅黑"/>
              </a:rPr>
              <a:t>/etc/profile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2866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修改操作系统配置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3724655" y="1676400"/>
            <a:ext cx="8141208" cy="19400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6640" y="1033398"/>
            <a:ext cx="4714240" cy="4998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/>
                <a:cs typeface="微软雅黑"/>
              </a:rPr>
              <a:t>修</a:t>
            </a:r>
            <a:r>
              <a:rPr sz="2400" b="1" spc="-5" dirty="0">
                <a:latin typeface="微软雅黑"/>
                <a:cs typeface="微软雅黑"/>
              </a:rPr>
              <a:t>改</a:t>
            </a:r>
            <a:r>
              <a:rPr sz="2400" b="1" dirty="0">
                <a:latin typeface="微软雅黑"/>
                <a:cs typeface="微软雅黑"/>
              </a:rPr>
              <a:t>python版本并安装</a:t>
            </a:r>
            <a:r>
              <a:rPr sz="2400" b="1" spc="-10" dirty="0">
                <a:latin typeface="微软雅黑"/>
                <a:cs typeface="微软雅黑"/>
              </a:rPr>
              <a:t>libaio</a:t>
            </a:r>
            <a:r>
              <a:rPr sz="2400" b="1" dirty="0">
                <a:latin typeface="微软雅黑"/>
                <a:cs typeface="微软雅黑"/>
              </a:rPr>
              <a:t>包：</a:t>
            </a:r>
            <a:endParaRPr sz="2400">
              <a:latin typeface="微软雅黑"/>
              <a:cs typeface="微软雅黑"/>
            </a:endParaRPr>
          </a:p>
          <a:p>
            <a:pPr marL="12700" marR="2054860">
              <a:lnSpc>
                <a:spcPct val="100000"/>
              </a:lnSpc>
              <a:spcBef>
                <a:spcPts val="2600"/>
              </a:spcBef>
            </a:pPr>
            <a:r>
              <a:rPr sz="2400" spc="-5" dirty="0">
                <a:latin typeface="微软雅黑"/>
                <a:cs typeface="微软雅黑"/>
              </a:rPr>
              <a:t>1.</a:t>
            </a:r>
            <a:r>
              <a:rPr sz="2400" dirty="0">
                <a:latin typeface="微软雅黑"/>
                <a:cs typeface="微软雅黑"/>
              </a:rPr>
              <a:t>进入</a:t>
            </a:r>
            <a:r>
              <a:rPr sz="2400" spc="-5" dirty="0">
                <a:latin typeface="微软雅黑"/>
                <a:cs typeface="微软雅黑"/>
              </a:rPr>
              <a:t>/</a:t>
            </a:r>
            <a:r>
              <a:rPr sz="2400" spc="-10" dirty="0">
                <a:latin typeface="微软雅黑"/>
                <a:cs typeface="微软雅黑"/>
              </a:rPr>
              <a:t>u</a:t>
            </a:r>
            <a:r>
              <a:rPr sz="2400" dirty="0">
                <a:latin typeface="微软雅黑"/>
                <a:cs typeface="微软雅黑"/>
              </a:rPr>
              <a:t>sr/bi</a:t>
            </a:r>
            <a:r>
              <a:rPr sz="2400" spc="-10" dirty="0">
                <a:latin typeface="微软雅黑"/>
                <a:cs typeface="微软雅黑"/>
              </a:rPr>
              <a:t>n</a:t>
            </a:r>
            <a:r>
              <a:rPr sz="2400" dirty="0">
                <a:latin typeface="微软雅黑"/>
                <a:cs typeface="微软雅黑"/>
              </a:rPr>
              <a:t>目录  </a:t>
            </a:r>
            <a:r>
              <a:rPr sz="2400" spc="-5" dirty="0">
                <a:latin typeface="微软雅黑"/>
                <a:cs typeface="微软雅黑"/>
              </a:rPr>
              <a:t>2.</a:t>
            </a:r>
            <a:r>
              <a:rPr sz="2400" dirty="0">
                <a:latin typeface="微软雅黑"/>
                <a:cs typeface="微软雅黑"/>
              </a:rPr>
              <a:t>备份python文件</a:t>
            </a:r>
            <a:endParaRPr sz="2400">
              <a:latin typeface="微软雅黑"/>
              <a:cs typeface="微软雅黑"/>
            </a:endParaRPr>
          </a:p>
          <a:p>
            <a:pPr marL="12700" marR="1707514">
              <a:lnSpc>
                <a:spcPct val="100000"/>
              </a:lnSpc>
            </a:pPr>
            <a:r>
              <a:rPr sz="2400" spc="-5" dirty="0">
                <a:latin typeface="微软雅黑"/>
                <a:cs typeface="微软雅黑"/>
              </a:rPr>
              <a:t>3.</a:t>
            </a:r>
            <a:r>
              <a:rPr sz="2400" dirty="0">
                <a:latin typeface="微软雅黑"/>
                <a:cs typeface="微软雅黑"/>
              </a:rPr>
              <a:t>建立P</a:t>
            </a:r>
            <a:r>
              <a:rPr sz="2400" spc="5" dirty="0">
                <a:latin typeface="微软雅黑"/>
                <a:cs typeface="微软雅黑"/>
              </a:rPr>
              <a:t>y</a:t>
            </a:r>
            <a:r>
              <a:rPr sz="2400" dirty="0">
                <a:latin typeface="微软雅黑"/>
                <a:cs typeface="微软雅黑"/>
              </a:rPr>
              <a:t>thon</a:t>
            </a:r>
            <a:r>
              <a:rPr sz="2400" spc="-10" dirty="0">
                <a:latin typeface="微软雅黑"/>
                <a:cs typeface="微软雅黑"/>
              </a:rPr>
              <a:t>3</a:t>
            </a:r>
            <a:r>
              <a:rPr sz="2400" dirty="0">
                <a:latin typeface="微软雅黑"/>
                <a:cs typeface="微软雅黑"/>
              </a:rPr>
              <a:t>软连接  </a:t>
            </a:r>
            <a:r>
              <a:rPr sz="2400" spc="-5" dirty="0">
                <a:latin typeface="微软雅黑"/>
                <a:cs typeface="微软雅黑"/>
              </a:rPr>
              <a:t>4.验</a:t>
            </a:r>
            <a:r>
              <a:rPr sz="2400" dirty="0">
                <a:latin typeface="微软雅黑"/>
                <a:cs typeface="微软雅黑"/>
              </a:rPr>
              <a:t>证</a:t>
            </a:r>
            <a:r>
              <a:rPr sz="2400" spc="-5" dirty="0">
                <a:latin typeface="微软雅黑"/>
                <a:cs typeface="微软雅黑"/>
              </a:rPr>
              <a:t>Python版本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微软雅黑"/>
                <a:cs typeface="微软雅黑"/>
              </a:rPr>
              <a:t>5.</a:t>
            </a:r>
            <a:r>
              <a:rPr sz="2400" dirty="0">
                <a:latin typeface="微软雅黑"/>
                <a:cs typeface="微软雅黑"/>
              </a:rPr>
              <a:t>下载安装</a:t>
            </a:r>
            <a:r>
              <a:rPr sz="2400" spc="-10" dirty="0">
                <a:latin typeface="微软雅黑"/>
                <a:cs typeface="微软雅黑"/>
              </a:rPr>
              <a:t>libaio</a:t>
            </a:r>
            <a:r>
              <a:rPr sz="2400" dirty="0">
                <a:latin typeface="微软雅黑"/>
                <a:cs typeface="微软雅黑"/>
              </a:rPr>
              <a:t>包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470"/>
              </a:spcBef>
            </a:pPr>
            <a:r>
              <a:rPr sz="2400" b="1" dirty="0">
                <a:latin typeface="微软雅黑"/>
                <a:cs typeface="微软雅黑"/>
              </a:rPr>
              <a:t>#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cd</a:t>
            </a:r>
            <a:r>
              <a:rPr sz="2400" spc="-2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/usr/bin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微软雅黑"/>
                <a:cs typeface="微软雅黑"/>
              </a:rPr>
              <a:t>#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mv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python</a:t>
            </a:r>
            <a:r>
              <a:rPr sz="2400" spc="-1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python.bak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微软雅黑"/>
                <a:cs typeface="微软雅黑"/>
              </a:rPr>
              <a:t>#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ln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-s python3</a:t>
            </a:r>
            <a:r>
              <a:rPr sz="2400" spc="-6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/usr/bin/python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微软雅黑"/>
                <a:cs typeface="微软雅黑"/>
              </a:rPr>
              <a:t>#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python</a:t>
            </a:r>
            <a:r>
              <a:rPr sz="2400" spc="-1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-V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ts val="2395"/>
              </a:lnSpc>
              <a:spcBef>
                <a:spcPts val="15"/>
              </a:spcBef>
            </a:pPr>
            <a:r>
              <a:rPr sz="2000" dirty="0">
                <a:latin typeface="微软雅黑"/>
                <a:cs typeface="微软雅黑"/>
              </a:rPr>
              <a:t>（这里应该输</a:t>
            </a:r>
            <a:r>
              <a:rPr sz="2000" spc="5" dirty="0">
                <a:latin typeface="微软雅黑"/>
                <a:cs typeface="微软雅黑"/>
              </a:rPr>
              <a:t>出</a:t>
            </a:r>
            <a:r>
              <a:rPr sz="2000" dirty="0">
                <a:latin typeface="微软雅黑"/>
                <a:cs typeface="微软雅黑"/>
              </a:rPr>
              <a:t>3.7.x）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ts val="2875"/>
              </a:lnSpc>
            </a:pPr>
            <a:r>
              <a:rPr sz="2400" b="1" dirty="0">
                <a:latin typeface="微软雅黑"/>
                <a:cs typeface="微软雅黑"/>
              </a:rPr>
              <a:t>#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yum install </a:t>
            </a:r>
            <a:r>
              <a:rPr sz="2400" spc="-10" dirty="0">
                <a:solidFill>
                  <a:srgbClr val="C00000"/>
                </a:solidFill>
                <a:latin typeface="微软雅黑"/>
                <a:cs typeface="微软雅黑"/>
              </a:rPr>
              <a:t>libaio*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-y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2866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下载数据库安装包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662940" y="1315211"/>
            <a:ext cx="10546080" cy="350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2940" y="2129027"/>
            <a:ext cx="10474452" cy="3794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2577" y="4843654"/>
            <a:ext cx="10105390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# </a:t>
            </a:r>
            <a:r>
              <a:rPr sz="1800" spc="-5" dirty="0">
                <a:solidFill>
                  <a:srgbClr val="C00000"/>
                </a:solidFill>
                <a:latin typeface="微软雅黑"/>
                <a:cs typeface="微软雅黑"/>
              </a:rPr>
              <a:t>mkdir </a:t>
            </a:r>
            <a:r>
              <a:rPr sz="1800" dirty="0">
                <a:solidFill>
                  <a:srgbClr val="C00000"/>
                </a:solidFill>
                <a:latin typeface="微软雅黑"/>
                <a:cs typeface="微软雅黑"/>
              </a:rPr>
              <a:t>-p</a:t>
            </a:r>
            <a:r>
              <a:rPr sz="1800" spc="-2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微软雅黑"/>
                <a:cs typeface="微软雅黑"/>
              </a:rPr>
              <a:t>/opt/software/openGauss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微软雅黑"/>
                <a:cs typeface="微软雅黑"/>
              </a:rPr>
              <a:t># </a:t>
            </a:r>
            <a:r>
              <a:rPr sz="1800" spc="-5" dirty="0" err="1">
                <a:solidFill>
                  <a:srgbClr val="C00000"/>
                </a:solidFill>
                <a:latin typeface="微软雅黑"/>
                <a:cs typeface="微软雅黑"/>
              </a:rPr>
              <a:t>chmod</a:t>
            </a:r>
            <a:r>
              <a:rPr sz="1800" spc="-5" dirty="0">
                <a:solidFill>
                  <a:srgbClr val="C00000"/>
                </a:solidFill>
                <a:latin typeface="微软雅黑"/>
                <a:cs typeface="微软雅黑"/>
              </a:rPr>
              <a:t> 755 </a:t>
            </a:r>
            <a:r>
              <a:rPr sz="1800" dirty="0">
                <a:solidFill>
                  <a:srgbClr val="C00000"/>
                </a:solidFill>
                <a:latin typeface="微软雅黑"/>
                <a:cs typeface="微软雅黑"/>
              </a:rPr>
              <a:t>-R</a:t>
            </a:r>
            <a:r>
              <a:rPr sz="1800" spc="-5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微软雅黑"/>
                <a:cs typeface="微软雅黑"/>
              </a:rPr>
              <a:t>/opt/software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微软雅黑"/>
                <a:cs typeface="微软雅黑"/>
              </a:rPr>
              <a:t># </a:t>
            </a:r>
            <a:r>
              <a:rPr sz="1800" spc="-5" dirty="0">
                <a:solidFill>
                  <a:srgbClr val="C00000"/>
                </a:solidFill>
                <a:latin typeface="微软雅黑"/>
                <a:cs typeface="微软雅黑"/>
              </a:rPr>
              <a:t>cd</a:t>
            </a:r>
            <a:r>
              <a:rPr sz="1800" spc="-5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微软雅黑"/>
                <a:cs typeface="微软雅黑"/>
              </a:rPr>
              <a:t>/opt/software/</a:t>
            </a:r>
            <a:r>
              <a:rPr sz="1800" spc="-5" dirty="0" err="1">
                <a:solidFill>
                  <a:srgbClr val="C00000"/>
                </a:solidFill>
                <a:latin typeface="微软雅黑"/>
                <a:cs typeface="微软雅黑"/>
              </a:rPr>
              <a:t>openGauss</a:t>
            </a:r>
            <a:endParaRPr sz="1800" dirty="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tabLst>
                <a:tab pos="905510" algn="l"/>
              </a:tabLst>
            </a:pPr>
            <a:r>
              <a:rPr sz="1800" b="1" dirty="0">
                <a:latin typeface="微软雅黑"/>
                <a:cs typeface="微软雅黑"/>
              </a:rPr>
              <a:t>#</a:t>
            </a:r>
            <a:r>
              <a:rPr sz="1800" b="1" spc="5" dirty="0"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微软雅黑"/>
                <a:cs typeface="微软雅黑"/>
              </a:rPr>
              <a:t>wget	https://opengauss.obs.cn-south-1.myhuaweicloud.com/2.0.0/arm/openGauss-2.0.0</a:t>
            </a:r>
            <a:r>
              <a:rPr lang="en-US" altLang="zh-CN" sz="1800" spc="-5" dirty="0">
                <a:solidFill>
                  <a:srgbClr val="C00000"/>
                </a:solidFill>
                <a:latin typeface="微软雅黑"/>
                <a:cs typeface="微软雅黑"/>
              </a:rPr>
              <a:t>-</a:t>
            </a:r>
            <a:r>
              <a:rPr lang="zh-CN" altLang="en-US" sz="1800" spc="-5" dirty="0">
                <a:solidFill>
                  <a:srgbClr val="C00000"/>
                </a:solidFill>
                <a:latin typeface="微软雅黑"/>
                <a:cs typeface="微软雅黑"/>
              </a:rPr>
              <a:t>  </a:t>
            </a:r>
            <a:r>
              <a:rPr sz="1800" spc="-20" dirty="0">
                <a:solidFill>
                  <a:srgbClr val="C00000"/>
                </a:solidFill>
                <a:latin typeface="微软雅黑"/>
                <a:cs typeface="微软雅黑"/>
              </a:rPr>
              <a:t>openEuler-64bit-all.tar.gz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2940" y="2994660"/>
            <a:ext cx="10546080" cy="4312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6640" y="874267"/>
            <a:ext cx="10788650" cy="298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以</a:t>
            </a:r>
            <a:r>
              <a:rPr sz="2400" spc="-15" dirty="0">
                <a:latin typeface="微软雅黑"/>
                <a:cs typeface="微软雅黑"/>
              </a:rPr>
              <a:t>root</a:t>
            </a:r>
            <a:r>
              <a:rPr sz="2400" dirty="0">
                <a:latin typeface="微软雅黑"/>
                <a:cs typeface="微软雅黑"/>
              </a:rPr>
              <a:t>用户登录待安装openGauss的主机，并创建存放安装包的目录。</a:t>
            </a:r>
            <a:endParaRPr sz="2400">
              <a:latin typeface="微软雅黑"/>
              <a:cs typeface="微软雅黑"/>
            </a:endParaRPr>
          </a:p>
          <a:p>
            <a:pPr marL="12700" marR="5080" indent="49530">
              <a:lnSpc>
                <a:spcPts val="6850"/>
              </a:lnSpc>
              <a:spcBef>
                <a:spcPts val="409"/>
              </a:spcBef>
            </a:pPr>
            <a:r>
              <a:rPr sz="2400" dirty="0">
                <a:latin typeface="微软雅黑"/>
                <a:cs typeface="微软雅黑"/>
              </a:rPr>
              <a:t>openGauss安装用户</a:t>
            </a:r>
            <a:r>
              <a:rPr sz="2400" spc="-5" dirty="0">
                <a:latin typeface="微软雅黑"/>
                <a:cs typeface="微软雅黑"/>
              </a:rPr>
              <a:t>omm</a:t>
            </a:r>
            <a:r>
              <a:rPr sz="2400" dirty="0">
                <a:latin typeface="微软雅黑"/>
                <a:cs typeface="微软雅黑"/>
              </a:rPr>
              <a:t>须具</a:t>
            </a:r>
            <a:r>
              <a:rPr sz="2400" spc="10" dirty="0">
                <a:latin typeface="微软雅黑"/>
                <a:cs typeface="微软雅黑"/>
              </a:rPr>
              <a:t>有</a:t>
            </a:r>
            <a:r>
              <a:rPr sz="2400" spc="-5" dirty="0">
                <a:latin typeface="微软雅黑"/>
                <a:cs typeface="微软雅黑"/>
              </a:rPr>
              <a:t>/opt/software/openGauss</a:t>
            </a:r>
            <a:r>
              <a:rPr sz="2400" spc="-15" dirty="0">
                <a:latin typeface="微软雅黑"/>
                <a:cs typeface="微软雅黑"/>
              </a:rPr>
              <a:t>目</a:t>
            </a:r>
            <a:r>
              <a:rPr sz="2400" dirty="0">
                <a:latin typeface="微软雅黑"/>
                <a:cs typeface="微软雅黑"/>
              </a:rPr>
              <a:t>录的读写权限。 切换到安装目录。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使</a:t>
            </a:r>
            <a:r>
              <a:rPr sz="2400" spc="-5" dirty="0">
                <a:latin typeface="微软雅黑"/>
                <a:cs typeface="微软雅黑"/>
              </a:rPr>
              <a:t>用wget</a:t>
            </a:r>
            <a:r>
              <a:rPr sz="2400" dirty="0">
                <a:latin typeface="微软雅黑"/>
                <a:cs typeface="微软雅黑"/>
              </a:rPr>
              <a:t>下载数据库安装包到安装目录：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2940" y="3909059"/>
            <a:ext cx="8839200" cy="7741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29641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创</a:t>
            </a:r>
            <a:r>
              <a:rPr sz="2800" spc="-10" dirty="0"/>
              <a:t>建X</a:t>
            </a:r>
            <a:r>
              <a:rPr sz="2800" dirty="0"/>
              <a:t>M</a:t>
            </a:r>
            <a:r>
              <a:rPr sz="2800" spc="-10" dirty="0"/>
              <a:t>L</a:t>
            </a:r>
            <a:r>
              <a:rPr sz="2800" spc="-5" dirty="0"/>
              <a:t>配置文件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1008329"/>
            <a:ext cx="10798810" cy="2707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/>
                <a:cs typeface="微软雅黑"/>
              </a:rPr>
              <a:t>XML</a:t>
            </a:r>
            <a:r>
              <a:rPr sz="2400" dirty="0">
                <a:latin typeface="微软雅黑"/>
                <a:cs typeface="微软雅黑"/>
              </a:rPr>
              <a:t>文件包含部</a:t>
            </a:r>
            <a:r>
              <a:rPr sz="2400" spc="-15" dirty="0">
                <a:latin typeface="微软雅黑"/>
                <a:cs typeface="微软雅黑"/>
              </a:rPr>
              <a:t>署</a:t>
            </a:r>
            <a:r>
              <a:rPr sz="2400" spc="-5" dirty="0">
                <a:latin typeface="微软雅黑"/>
                <a:cs typeface="微软雅黑"/>
              </a:rPr>
              <a:t>openGauss的服务器信息、安装路径</a:t>
            </a:r>
            <a:r>
              <a:rPr sz="2400" dirty="0">
                <a:latin typeface="微软雅黑"/>
                <a:cs typeface="微软雅黑"/>
              </a:rPr>
              <a:t>、</a:t>
            </a:r>
            <a:r>
              <a:rPr sz="2400" spc="-5" dirty="0">
                <a:latin typeface="微软雅黑"/>
                <a:cs typeface="微软雅黑"/>
              </a:rPr>
              <a:t>IP地址以及端口号等，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微软雅黑"/>
                <a:cs typeface="微软雅黑"/>
              </a:rPr>
              <a:t>用于告知openGauss如何部署。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微软雅黑"/>
                <a:cs typeface="微软雅黑"/>
              </a:rPr>
              <a:t>这里以单节点配置的方案为例，说明如何创</a:t>
            </a:r>
            <a:r>
              <a:rPr sz="2400" b="1" spc="5" dirty="0">
                <a:latin typeface="微软雅黑"/>
                <a:cs typeface="微软雅黑"/>
              </a:rPr>
              <a:t>建</a:t>
            </a:r>
            <a:r>
              <a:rPr sz="2400" b="1" spc="-5" dirty="0">
                <a:latin typeface="微软雅黑"/>
                <a:cs typeface="微软雅黑"/>
              </a:rPr>
              <a:t>XML</a:t>
            </a:r>
            <a:r>
              <a:rPr sz="2400" b="1" dirty="0">
                <a:latin typeface="微软雅黑"/>
                <a:cs typeface="微软雅黑"/>
              </a:rPr>
              <a:t>配置文件。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微软雅黑"/>
                <a:cs typeface="微软雅黑"/>
              </a:rPr>
              <a:t>以</a:t>
            </a:r>
            <a:r>
              <a:rPr sz="2400" spc="-15" dirty="0">
                <a:latin typeface="微软雅黑"/>
                <a:cs typeface="微软雅黑"/>
              </a:rPr>
              <a:t>root</a:t>
            </a:r>
            <a:r>
              <a:rPr sz="2400" spc="-5" dirty="0">
                <a:latin typeface="微软雅黑"/>
                <a:cs typeface="微软雅黑"/>
              </a:rPr>
              <a:t>用户登录待安装openGauss的主机，切换到存放安装包的目</a:t>
            </a:r>
            <a:r>
              <a:rPr sz="2400" dirty="0">
                <a:latin typeface="微软雅黑"/>
                <a:cs typeface="微软雅黑"/>
              </a:rPr>
              <a:t>录。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微软雅黑"/>
                <a:cs typeface="微软雅黑"/>
              </a:rPr>
              <a:t>创</a:t>
            </a:r>
            <a:r>
              <a:rPr sz="2400" spc="-5" dirty="0">
                <a:latin typeface="微软雅黑"/>
                <a:cs typeface="微软雅黑"/>
              </a:rPr>
              <a:t>建</a:t>
            </a:r>
            <a:r>
              <a:rPr sz="2400" dirty="0">
                <a:latin typeface="微软雅黑"/>
                <a:cs typeface="微软雅黑"/>
              </a:rPr>
              <a:t>XML配置文件，用于数据库安装。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4146803"/>
            <a:ext cx="1067562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56640" y="5193029"/>
            <a:ext cx="45021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/>
                <a:cs typeface="微软雅黑"/>
              </a:rPr>
              <a:t>#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cd</a:t>
            </a:r>
            <a:r>
              <a:rPr sz="2400" spc="-9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/opt/software/openGauss</a:t>
            </a:r>
            <a:endParaRPr sz="2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微软雅黑"/>
                <a:cs typeface="微软雅黑"/>
              </a:rPr>
              <a:t>#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vi</a:t>
            </a:r>
            <a:r>
              <a:rPr sz="2400" spc="-2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微软雅黑"/>
                <a:cs typeface="微软雅黑"/>
              </a:rPr>
              <a:t>clusterconfig.xml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29641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创</a:t>
            </a:r>
            <a:r>
              <a:rPr sz="2800" spc="-10" dirty="0"/>
              <a:t>建X</a:t>
            </a:r>
            <a:r>
              <a:rPr sz="2800" dirty="0"/>
              <a:t>M</a:t>
            </a:r>
            <a:r>
              <a:rPr sz="2800" spc="-10" dirty="0"/>
              <a:t>L</a:t>
            </a:r>
            <a:r>
              <a:rPr sz="2800" spc="-5" dirty="0"/>
              <a:t>配置文件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973582"/>
            <a:ext cx="10794365" cy="1352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输入</a:t>
            </a:r>
            <a:r>
              <a:rPr sz="2400" spc="-5" dirty="0">
                <a:latin typeface="微软雅黑"/>
                <a:cs typeface="微软雅黑"/>
              </a:rPr>
              <a:t>“i”</a:t>
            </a:r>
            <a:r>
              <a:rPr sz="2400" dirty="0">
                <a:latin typeface="微软雅黑"/>
                <a:cs typeface="微软雅黑"/>
              </a:rPr>
              <a:t>进入</a:t>
            </a:r>
            <a:r>
              <a:rPr sz="2400" spc="-15" dirty="0">
                <a:latin typeface="微软雅黑"/>
                <a:cs typeface="微软雅黑"/>
              </a:rPr>
              <a:t>INSERT</a:t>
            </a:r>
            <a:r>
              <a:rPr sz="2400" dirty="0">
                <a:latin typeface="微软雅黑"/>
                <a:cs typeface="微软雅黑"/>
              </a:rPr>
              <a:t>模式，添加文本（</a:t>
            </a:r>
            <a:r>
              <a:rPr sz="2400" spc="-15" dirty="0">
                <a:latin typeface="微软雅黑"/>
                <a:cs typeface="微软雅黑"/>
              </a:rPr>
              <a:t>共</a:t>
            </a:r>
            <a:r>
              <a:rPr sz="2400" spc="-5" dirty="0">
                <a:latin typeface="微软雅黑"/>
                <a:cs typeface="微软雅黑"/>
              </a:rPr>
              <a:t>29</a:t>
            </a:r>
            <a:r>
              <a:rPr sz="2400" dirty="0">
                <a:latin typeface="微软雅黑"/>
                <a:cs typeface="微软雅黑"/>
              </a:rPr>
              <a:t>行）如下。</a:t>
            </a: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微软雅黑"/>
                <a:cs typeface="微软雅黑"/>
              </a:rPr>
              <a:t>之后点击“Esc”退出</a:t>
            </a:r>
            <a:r>
              <a:rPr sz="2400" spc="-15" dirty="0">
                <a:latin typeface="微软雅黑"/>
                <a:cs typeface="微软雅黑"/>
              </a:rPr>
              <a:t>INSERT</a:t>
            </a:r>
            <a:r>
              <a:rPr sz="2400" spc="-5" dirty="0">
                <a:latin typeface="微软雅黑"/>
                <a:cs typeface="微软雅黑"/>
              </a:rPr>
              <a:t>模式，然后输入“:wq!”后回车。</a:t>
            </a:r>
            <a:endParaRPr sz="2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400" b="1" dirty="0">
                <a:latin typeface="微软雅黑"/>
                <a:cs typeface="微软雅黑"/>
              </a:rPr>
              <a:t>这里的</a:t>
            </a:r>
            <a:r>
              <a:rPr sz="2400" b="1" spc="-5" dirty="0">
                <a:latin typeface="微软雅黑"/>
                <a:cs typeface="微软雅黑"/>
              </a:rPr>
              <a:t>nodeNames</a:t>
            </a:r>
            <a:r>
              <a:rPr sz="2400" b="1" dirty="0">
                <a:latin typeface="微软雅黑"/>
                <a:cs typeface="微软雅黑"/>
              </a:rPr>
              <a:t>、</a:t>
            </a:r>
            <a:r>
              <a:rPr sz="2400" b="1" spc="-10" dirty="0">
                <a:latin typeface="微软雅黑"/>
                <a:cs typeface="微软雅黑"/>
              </a:rPr>
              <a:t>backIp1s</a:t>
            </a:r>
            <a:r>
              <a:rPr sz="2400" b="1" dirty="0">
                <a:latin typeface="微软雅黑"/>
                <a:cs typeface="微软雅黑"/>
              </a:rPr>
              <a:t>改为自己的</a:t>
            </a:r>
            <a:r>
              <a:rPr sz="2400" b="1" spc="-5" dirty="0">
                <a:latin typeface="微软雅黑"/>
                <a:cs typeface="微软雅黑"/>
              </a:rPr>
              <a:t>ECS</a:t>
            </a:r>
            <a:r>
              <a:rPr sz="2400" b="1" dirty="0">
                <a:latin typeface="微软雅黑"/>
                <a:cs typeface="微软雅黑"/>
              </a:rPr>
              <a:t>服务器的主机名和私有</a:t>
            </a:r>
            <a:r>
              <a:rPr sz="2400" b="1" spc="-5" dirty="0">
                <a:latin typeface="微软雅黑"/>
                <a:cs typeface="微软雅黑"/>
              </a:rPr>
              <a:t>IP</a:t>
            </a:r>
            <a:r>
              <a:rPr sz="2400" b="1" dirty="0">
                <a:latin typeface="微软雅黑"/>
                <a:cs typeface="微软雅黑"/>
              </a:rPr>
              <a:t>地址。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3296" y="2532820"/>
            <a:ext cx="10462260" cy="3767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872734" y="3676650"/>
            <a:ext cx="1000125" cy="236220"/>
          </a:xfrm>
          <a:custGeom>
            <a:avLst/>
            <a:gdLst/>
            <a:ahLst/>
            <a:cxnLst/>
            <a:rect l="l" t="t" r="r" b="b"/>
            <a:pathLst>
              <a:path w="1000125" h="236220">
                <a:moveTo>
                  <a:pt x="0" y="236219"/>
                </a:moveTo>
                <a:lnTo>
                  <a:pt x="999743" y="236219"/>
                </a:lnTo>
                <a:lnTo>
                  <a:pt x="999743" y="0"/>
                </a:lnTo>
                <a:lnTo>
                  <a:pt x="0" y="0"/>
                </a:lnTo>
                <a:lnTo>
                  <a:pt x="0" y="236219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94426" y="3949446"/>
            <a:ext cx="1696720" cy="234950"/>
          </a:xfrm>
          <a:custGeom>
            <a:avLst/>
            <a:gdLst/>
            <a:ahLst/>
            <a:cxnLst/>
            <a:rect l="l" t="t" r="r" b="b"/>
            <a:pathLst>
              <a:path w="1696720" h="234950">
                <a:moveTo>
                  <a:pt x="0" y="234695"/>
                </a:moveTo>
                <a:lnTo>
                  <a:pt x="1696212" y="234695"/>
                </a:lnTo>
                <a:lnTo>
                  <a:pt x="1696212" y="0"/>
                </a:lnTo>
                <a:lnTo>
                  <a:pt x="0" y="0"/>
                </a:lnTo>
                <a:lnTo>
                  <a:pt x="0" y="234695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90176" y="251459"/>
            <a:ext cx="1969007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21920"/>
            <a:ext cx="550545" cy="699770"/>
          </a:xfrm>
          <a:custGeom>
            <a:avLst/>
            <a:gdLst/>
            <a:ahLst/>
            <a:cxnLst/>
            <a:rect l="l" t="t" r="r" b="b"/>
            <a:pathLst>
              <a:path w="550544" h="699769">
                <a:moveTo>
                  <a:pt x="550164" y="0"/>
                </a:moveTo>
                <a:lnTo>
                  <a:pt x="0" y="0"/>
                </a:lnTo>
                <a:lnTo>
                  <a:pt x="0" y="699515"/>
                </a:lnTo>
                <a:lnTo>
                  <a:pt x="312432" y="699515"/>
                </a:lnTo>
                <a:lnTo>
                  <a:pt x="550164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8337" y="380238"/>
            <a:ext cx="96520" cy="220979"/>
          </a:xfrm>
          <a:custGeom>
            <a:avLst/>
            <a:gdLst/>
            <a:ahLst/>
            <a:cxnLst/>
            <a:rect l="l" t="t" r="r" b="b"/>
            <a:pathLst>
              <a:path w="96520" h="220979">
                <a:moveTo>
                  <a:pt x="96012" y="0"/>
                </a:moveTo>
                <a:lnTo>
                  <a:pt x="75044" y="0"/>
                </a:lnTo>
                <a:lnTo>
                  <a:pt x="0" y="220979"/>
                </a:lnTo>
                <a:lnTo>
                  <a:pt x="20967" y="220979"/>
                </a:lnTo>
                <a:lnTo>
                  <a:pt x="96012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8337" y="380238"/>
            <a:ext cx="96520" cy="220979"/>
          </a:xfrm>
          <a:custGeom>
            <a:avLst/>
            <a:gdLst/>
            <a:ahLst/>
            <a:cxnLst/>
            <a:rect l="l" t="t" r="r" b="b"/>
            <a:pathLst>
              <a:path w="96520" h="220979">
                <a:moveTo>
                  <a:pt x="75044" y="0"/>
                </a:moveTo>
                <a:lnTo>
                  <a:pt x="96012" y="0"/>
                </a:lnTo>
                <a:lnTo>
                  <a:pt x="20967" y="220979"/>
                </a:lnTo>
                <a:lnTo>
                  <a:pt x="0" y="220979"/>
                </a:lnTo>
                <a:lnTo>
                  <a:pt x="75044" y="0"/>
                </a:lnTo>
                <a:close/>
              </a:path>
            </a:pathLst>
          </a:custGeom>
          <a:ln w="38100">
            <a:solidFill>
              <a:srgbClr val="A03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3483" y="821436"/>
            <a:ext cx="11306175" cy="0"/>
          </a:xfrm>
          <a:custGeom>
            <a:avLst/>
            <a:gdLst/>
            <a:ahLst/>
            <a:cxnLst/>
            <a:rect l="l" t="t" r="r" b="b"/>
            <a:pathLst>
              <a:path w="11306175">
                <a:moveTo>
                  <a:pt x="0" y="0"/>
                </a:moveTo>
                <a:lnTo>
                  <a:pt x="11306175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69140" y="336804"/>
            <a:ext cx="0" cy="265430"/>
          </a:xfrm>
          <a:custGeom>
            <a:avLst/>
            <a:gdLst/>
            <a:ahLst/>
            <a:cxnLst/>
            <a:rect l="l" t="t" r="r" b="b"/>
            <a:pathLst>
              <a:path h="265430">
                <a:moveTo>
                  <a:pt x="0" y="0"/>
                </a:moveTo>
                <a:lnTo>
                  <a:pt x="0" y="265175"/>
                </a:lnTo>
              </a:path>
            </a:pathLst>
          </a:custGeom>
          <a:ln w="45720">
            <a:solidFill>
              <a:srgbClr val="A03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3483" y="6263640"/>
            <a:ext cx="11306175" cy="0"/>
          </a:xfrm>
          <a:custGeom>
            <a:avLst/>
            <a:gdLst/>
            <a:ahLst/>
            <a:cxnLst/>
            <a:rect l="l" t="t" r="r" b="b"/>
            <a:pathLst>
              <a:path w="11306175">
                <a:moveTo>
                  <a:pt x="0" y="0"/>
                </a:moveTo>
                <a:lnTo>
                  <a:pt x="11306175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95372" y="6404864"/>
            <a:ext cx="236220" cy="264160"/>
          </a:xfrm>
          <a:custGeom>
            <a:avLst/>
            <a:gdLst/>
            <a:ahLst/>
            <a:cxnLst/>
            <a:rect l="l" t="t" r="r" b="b"/>
            <a:pathLst>
              <a:path w="236219" h="264159">
                <a:moveTo>
                  <a:pt x="168147" y="229870"/>
                </a:moveTo>
                <a:lnTo>
                  <a:pt x="168147" y="234950"/>
                </a:lnTo>
                <a:lnTo>
                  <a:pt x="170052" y="236220"/>
                </a:lnTo>
                <a:lnTo>
                  <a:pt x="174676" y="242570"/>
                </a:lnTo>
                <a:lnTo>
                  <a:pt x="179990" y="248920"/>
                </a:lnTo>
                <a:lnTo>
                  <a:pt x="186019" y="255270"/>
                </a:lnTo>
                <a:lnTo>
                  <a:pt x="192785" y="261620"/>
                </a:lnTo>
                <a:lnTo>
                  <a:pt x="196595" y="262890"/>
                </a:lnTo>
                <a:lnTo>
                  <a:pt x="202183" y="262890"/>
                </a:lnTo>
                <a:lnTo>
                  <a:pt x="207898" y="264160"/>
                </a:lnTo>
                <a:lnTo>
                  <a:pt x="207898" y="261620"/>
                </a:lnTo>
                <a:lnTo>
                  <a:pt x="211708" y="255270"/>
                </a:lnTo>
                <a:lnTo>
                  <a:pt x="211624" y="248920"/>
                </a:lnTo>
                <a:lnTo>
                  <a:pt x="211204" y="242570"/>
                </a:lnTo>
                <a:lnTo>
                  <a:pt x="188975" y="242570"/>
                </a:lnTo>
                <a:lnTo>
                  <a:pt x="181355" y="236220"/>
                </a:lnTo>
                <a:lnTo>
                  <a:pt x="173862" y="233680"/>
                </a:lnTo>
                <a:lnTo>
                  <a:pt x="168147" y="229870"/>
                </a:lnTo>
                <a:close/>
              </a:path>
              <a:path w="236219" h="264159">
                <a:moveTo>
                  <a:pt x="92844" y="198120"/>
                </a:moveTo>
                <a:lnTo>
                  <a:pt x="69976" y="198120"/>
                </a:lnTo>
                <a:lnTo>
                  <a:pt x="71754" y="199390"/>
                </a:lnTo>
                <a:lnTo>
                  <a:pt x="73659" y="199390"/>
                </a:lnTo>
                <a:lnTo>
                  <a:pt x="74136" y="215900"/>
                </a:lnTo>
                <a:lnTo>
                  <a:pt x="73659" y="224790"/>
                </a:lnTo>
                <a:lnTo>
                  <a:pt x="71754" y="233680"/>
                </a:lnTo>
                <a:lnTo>
                  <a:pt x="69976" y="242570"/>
                </a:lnTo>
                <a:lnTo>
                  <a:pt x="75564" y="246380"/>
                </a:lnTo>
                <a:lnTo>
                  <a:pt x="81279" y="250190"/>
                </a:lnTo>
                <a:lnTo>
                  <a:pt x="85089" y="254000"/>
                </a:lnTo>
                <a:lnTo>
                  <a:pt x="90677" y="254000"/>
                </a:lnTo>
                <a:lnTo>
                  <a:pt x="96392" y="255270"/>
                </a:lnTo>
                <a:lnTo>
                  <a:pt x="96392" y="238760"/>
                </a:lnTo>
                <a:lnTo>
                  <a:pt x="94994" y="226060"/>
                </a:lnTo>
                <a:lnTo>
                  <a:pt x="93773" y="213360"/>
                </a:lnTo>
                <a:lnTo>
                  <a:pt x="92996" y="201930"/>
                </a:lnTo>
                <a:lnTo>
                  <a:pt x="92877" y="199390"/>
                </a:lnTo>
                <a:lnTo>
                  <a:pt x="92844" y="198120"/>
                </a:lnTo>
                <a:close/>
              </a:path>
              <a:path w="236219" h="264159">
                <a:moveTo>
                  <a:pt x="204088" y="160020"/>
                </a:moveTo>
                <a:lnTo>
                  <a:pt x="183276" y="160020"/>
                </a:lnTo>
                <a:lnTo>
                  <a:pt x="187608" y="163830"/>
                </a:lnTo>
                <a:lnTo>
                  <a:pt x="190880" y="171450"/>
                </a:lnTo>
                <a:lnTo>
                  <a:pt x="190880" y="240030"/>
                </a:lnTo>
                <a:lnTo>
                  <a:pt x="188975" y="240030"/>
                </a:lnTo>
                <a:lnTo>
                  <a:pt x="188975" y="242570"/>
                </a:lnTo>
                <a:lnTo>
                  <a:pt x="211204" y="242570"/>
                </a:lnTo>
                <a:lnTo>
                  <a:pt x="205994" y="163830"/>
                </a:lnTo>
                <a:lnTo>
                  <a:pt x="204088" y="160020"/>
                </a:lnTo>
                <a:close/>
              </a:path>
              <a:path w="236219" h="264159">
                <a:moveTo>
                  <a:pt x="133641" y="151130"/>
                </a:moveTo>
                <a:lnTo>
                  <a:pt x="49148" y="151130"/>
                </a:lnTo>
                <a:lnTo>
                  <a:pt x="32130" y="201930"/>
                </a:lnTo>
                <a:lnTo>
                  <a:pt x="30372" y="208280"/>
                </a:lnTo>
                <a:lnTo>
                  <a:pt x="30924" y="214630"/>
                </a:lnTo>
                <a:lnTo>
                  <a:pt x="33952" y="219710"/>
                </a:lnTo>
                <a:lnTo>
                  <a:pt x="39623" y="223520"/>
                </a:lnTo>
                <a:lnTo>
                  <a:pt x="45587" y="224790"/>
                </a:lnTo>
                <a:lnTo>
                  <a:pt x="51704" y="223520"/>
                </a:lnTo>
                <a:lnTo>
                  <a:pt x="57465" y="219710"/>
                </a:lnTo>
                <a:lnTo>
                  <a:pt x="62356" y="212090"/>
                </a:lnTo>
                <a:lnTo>
                  <a:pt x="64261" y="207010"/>
                </a:lnTo>
                <a:lnTo>
                  <a:pt x="68071" y="203200"/>
                </a:lnTo>
                <a:lnTo>
                  <a:pt x="69976" y="198120"/>
                </a:lnTo>
                <a:lnTo>
                  <a:pt x="92844" y="198120"/>
                </a:lnTo>
                <a:lnTo>
                  <a:pt x="92681" y="191770"/>
                </a:lnTo>
                <a:lnTo>
                  <a:pt x="92582" y="180340"/>
                </a:lnTo>
                <a:lnTo>
                  <a:pt x="100202" y="166370"/>
                </a:lnTo>
                <a:lnTo>
                  <a:pt x="102107" y="163830"/>
                </a:lnTo>
                <a:lnTo>
                  <a:pt x="107695" y="163830"/>
                </a:lnTo>
                <a:lnTo>
                  <a:pt x="111505" y="162560"/>
                </a:lnTo>
                <a:lnTo>
                  <a:pt x="113410" y="162560"/>
                </a:lnTo>
                <a:lnTo>
                  <a:pt x="120759" y="157480"/>
                </a:lnTo>
                <a:lnTo>
                  <a:pt x="133641" y="151130"/>
                </a:lnTo>
                <a:close/>
              </a:path>
              <a:path w="236219" h="264159">
                <a:moveTo>
                  <a:pt x="198955" y="132080"/>
                </a:moveTo>
                <a:lnTo>
                  <a:pt x="166242" y="132080"/>
                </a:lnTo>
                <a:lnTo>
                  <a:pt x="157049" y="148590"/>
                </a:lnTo>
                <a:lnTo>
                  <a:pt x="149272" y="166370"/>
                </a:lnTo>
                <a:lnTo>
                  <a:pt x="142900" y="182880"/>
                </a:lnTo>
                <a:lnTo>
                  <a:pt x="137921" y="201930"/>
                </a:lnTo>
                <a:lnTo>
                  <a:pt x="137622" y="209550"/>
                </a:lnTo>
                <a:lnTo>
                  <a:pt x="139811" y="215900"/>
                </a:lnTo>
                <a:lnTo>
                  <a:pt x="144833" y="219710"/>
                </a:lnTo>
                <a:lnTo>
                  <a:pt x="153034" y="223520"/>
                </a:lnTo>
                <a:lnTo>
                  <a:pt x="154939" y="215900"/>
                </a:lnTo>
                <a:lnTo>
                  <a:pt x="154939" y="208280"/>
                </a:lnTo>
                <a:lnTo>
                  <a:pt x="156844" y="201930"/>
                </a:lnTo>
                <a:lnTo>
                  <a:pt x="181972" y="201930"/>
                </a:lnTo>
                <a:lnTo>
                  <a:pt x="179577" y="198120"/>
                </a:lnTo>
                <a:lnTo>
                  <a:pt x="170052" y="191770"/>
                </a:lnTo>
                <a:lnTo>
                  <a:pt x="158750" y="187960"/>
                </a:lnTo>
                <a:lnTo>
                  <a:pt x="158750" y="186690"/>
                </a:lnTo>
                <a:lnTo>
                  <a:pt x="166242" y="179070"/>
                </a:lnTo>
                <a:lnTo>
                  <a:pt x="183260" y="179070"/>
                </a:lnTo>
                <a:lnTo>
                  <a:pt x="183260" y="172720"/>
                </a:lnTo>
                <a:lnTo>
                  <a:pt x="173862" y="172720"/>
                </a:lnTo>
                <a:lnTo>
                  <a:pt x="170052" y="167640"/>
                </a:lnTo>
                <a:lnTo>
                  <a:pt x="177540" y="161290"/>
                </a:lnTo>
                <a:lnTo>
                  <a:pt x="183276" y="160020"/>
                </a:lnTo>
                <a:lnTo>
                  <a:pt x="204088" y="160020"/>
                </a:lnTo>
                <a:lnTo>
                  <a:pt x="200278" y="154940"/>
                </a:lnTo>
                <a:lnTo>
                  <a:pt x="196595" y="152400"/>
                </a:lnTo>
                <a:lnTo>
                  <a:pt x="192785" y="148590"/>
                </a:lnTo>
                <a:lnTo>
                  <a:pt x="185165" y="148590"/>
                </a:lnTo>
                <a:lnTo>
                  <a:pt x="179577" y="147320"/>
                </a:lnTo>
                <a:lnTo>
                  <a:pt x="185306" y="140970"/>
                </a:lnTo>
                <a:lnTo>
                  <a:pt x="191595" y="135890"/>
                </a:lnTo>
                <a:lnTo>
                  <a:pt x="198955" y="132080"/>
                </a:lnTo>
                <a:close/>
              </a:path>
              <a:path w="236219" h="264159">
                <a:moveTo>
                  <a:pt x="181972" y="201930"/>
                </a:moveTo>
                <a:lnTo>
                  <a:pt x="156844" y="201930"/>
                </a:lnTo>
                <a:lnTo>
                  <a:pt x="160654" y="204470"/>
                </a:lnTo>
                <a:lnTo>
                  <a:pt x="162559" y="204470"/>
                </a:lnTo>
                <a:lnTo>
                  <a:pt x="168147" y="208280"/>
                </a:lnTo>
                <a:lnTo>
                  <a:pt x="173862" y="214630"/>
                </a:lnTo>
                <a:lnTo>
                  <a:pt x="181355" y="208280"/>
                </a:lnTo>
                <a:lnTo>
                  <a:pt x="185165" y="207010"/>
                </a:lnTo>
                <a:lnTo>
                  <a:pt x="181972" y="201930"/>
                </a:lnTo>
                <a:close/>
              </a:path>
              <a:path w="236219" h="264159">
                <a:moveTo>
                  <a:pt x="183260" y="179070"/>
                </a:moveTo>
                <a:lnTo>
                  <a:pt x="166242" y="179070"/>
                </a:lnTo>
                <a:lnTo>
                  <a:pt x="177672" y="182880"/>
                </a:lnTo>
                <a:lnTo>
                  <a:pt x="183260" y="184150"/>
                </a:lnTo>
                <a:lnTo>
                  <a:pt x="183260" y="179070"/>
                </a:lnTo>
                <a:close/>
              </a:path>
              <a:path w="236219" h="264159">
                <a:moveTo>
                  <a:pt x="95202" y="59690"/>
                </a:moveTo>
                <a:lnTo>
                  <a:pt x="71754" y="59690"/>
                </a:lnTo>
                <a:lnTo>
                  <a:pt x="71743" y="64770"/>
                </a:lnTo>
                <a:lnTo>
                  <a:pt x="71616" y="74930"/>
                </a:lnTo>
                <a:lnTo>
                  <a:pt x="71532" y="78740"/>
                </a:lnTo>
                <a:lnTo>
                  <a:pt x="71004" y="87630"/>
                </a:lnTo>
                <a:lnTo>
                  <a:pt x="69976" y="96520"/>
                </a:lnTo>
                <a:lnTo>
                  <a:pt x="69976" y="100330"/>
                </a:lnTo>
                <a:lnTo>
                  <a:pt x="64261" y="104140"/>
                </a:lnTo>
                <a:lnTo>
                  <a:pt x="51171" y="113030"/>
                </a:lnTo>
                <a:lnTo>
                  <a:pt x="37544" y="120650"/>
                </a:lnTo>
                <a:lnTo>
                  <a:pt x="0" y="140970"/>
                </a:lnTo>
                <a:lnTo>
                  <a:pt x="0" y="147320"/>
                </a:lnTo>
                <a:lnTo>
                  <a:pt x="9397" y="151130"/>
                </a:lnTo>
                <a:lnTo>
                  <a:pt x="19377" y="156210"/>
                </a:lnTo>
                <a:lnTo>
                  <a:pt x="29321" y="160020"/>
                </a:lnTo>
                <a:lnTo>
                  <a:pt x="39241" y="158750"/>
                </a:lnTo>
                <a:lnTo>
                  <a:pt x="49148" y="151130"/>
                </a:lnTo>
                <a:lnTo>
                  <a:pt x="133641" y="151130"/>
                </a:lnTo>
                <a:lnTo>
                  <a:pt x="136217" y="149860"/>
                </a:lnTo>
                <a:lnTo>
                  <a:pt x="143636" y="144780"/>
                </a:lnTo>
                <a:lnTo>
                  <a:pt x="154939" y="139700"/>
                </a:lnTo>
                <a:lnTo>
                  <a:pt x="166242" y="132080"/>
                </a:lnTo>
                <a:lnTo>
                  <a:pt x="215391" y="132080"/>
                </a:lnTo>
                <a:lnTo>
                  <a:pt x="223011" y="128270"/>
                </a:lnTo>
                <a:lnTo>
                  <a:pt x="122808" y="128270"/>
                </a:lnTo>
                <a:lnTo>
                  <a:pt x="120268" y="123190"/>
                </a:lnTo>
                <a:lnTo>
                  <a:pt x="98297" y="123190"/>
                </a:lnTo>
                <a:lnTo>
                  <a:pt x="92344" y="107950"/>
                </a:lnTo>
                <a:lnTo>
                  <a:pt x="90677" y="93980"/>
                </a:lnTo>
                <a:lnTo>
                  <a:pt x="91868" y="78740"/>
                </a:lnTo>
                <a:lnTo>
                  <a:pt x="94487" y="63500"/>
                </a:lnTo>
                <a:lnTo>
                  <a:pt x="95202" y="59690"/>
                </a:lnTo>
                <a:close/>
              </a:path>
              <a:path w="236219" h="264159">
                <a:moveTo>
                  <a:pt x="180715" y="64770"/>
                </a:moveTo>
                <a:lnTo>
                  <a:pt x="156844" y="64770"/>
                </a:lnTo>
                <a:lnTo>
                  <a:pt x="154939" y="74930"/>
                </a:lnTo>
                <a:lnTo>
                  <a:pt x="153034" y="81280"/>
                </a:lnTo>
                <a:lnTo>
                  <a:pt x="153034" y="87630"/>
                </a:lnTo>
                <a:lnTo>
                  <a:pt x="136016" y="87630"/>
                </a:lnTo>
                <a:lnTo>
                  <a:pt x="134111" y="92710"/>
                </a:lnTo>
                <a:lnTo>
                  <a:pt x="134111" y="95250"/>
                </a:lnTo>
                <a:lnTo>
                  <a:pt x="139826" y="99060"/>
                </a:lnTo>
                <a:lnTo>
                  <a:pt x="141731" y="102870"/>
                </a:lnTo>
                <a:lnTo>
                  <a:pt x="141731" y="104140"/>
                </a:lnTo>
                <a:lnTo>
                  <a:pt x="143636" y="107950"/>
                </a:lnTo>
                <a:lnTo>
                  <a:pt x="122808" y="128270"/>
                </a:lnTo>
                <a:lnTo>
                  <a:pt x="223011" y="128270"/>
                </a:lnTo>
                <a:lnTo>
                  <a:pt x="230504" y="124460"/>
                </a:lnTo>
                <a:lnTo>
                  <a:pt x="236219" y="123190"/>
                </a:lnTo>
                <a:lnTo>
                  <a:pt x="236219" y="116840"/>
                </a:lnTo>
                <a:lnTo>
                  <a:pt x="232409" y="113030"/>
                </a:lnTo>
                <a:lnTo>
                  <a:pt x="226442" y="109220"/>
                </a:lnTo>
                <a:lnTo>
                  <a:pt x="179577" y="109220"/>
                </a:lnTo>
                <a:lnTo>
                  <a:pt x="171957" y="96520"/>
                </a:lnTo>
                <a:lnTo>
                  <a:pt x="170052" y="91440"/>
                </a:lnTo>
                <a:lnTo>
                  <a:pt x="169838" y="87630"/>
                </a:lnTo>
                <a:lnTo>
                  <a:pt x="147446" y="87630"/>
                </a:lnTo>
                <a:lnTo>
                  <a:pt x="141731" y="85090"/>
                </a:lnTo>
                <a:lnTo>
                  <a:pt x="169694" y="85090"/>
                </a:lnTo>
                <a:lnTo>
                  <a:pt x="169336" y="78740"/>
                </a:lnTo>
                <a:lnTo>
                  <a:pt x="172894" y="69850"/>
                </a:lnTo>
                <a:lnTo>
                  <a:pt x="180715" y="64770"/>
                </a:lnTo>
                <a:close/>
              </a:path>
              <a:path w="236219" h="264159">
                <a:moveTo>
                  <a:pt x="109600" y="107950"/>
                </a:moveTo>
                <a:lnTo>
                  <a:pt x="105790" y="115570"/>
                </a:lnTo>
                <a:lnTo>
                  <a:pt x="102107" y="119380"/>
                </a:lnTo>
                <a:lnTo>
                  <a:pt x="98297" y="123190"/>
                </a:lnTo>
                <a:lnTo>
                  <a:pt x="120268" y="123190"/>
                </a:lnTo>
                <a:lnTo>
                  <a:pt x="118998" y="120650"/>
                </a:lnTo>
                <a:lnTo>
                  <a:pt x="115315" y="115570"/>
                </a:lnTo>
                <a:lnTo>
                  <a:pt x="109600" y="107950"/>
                </a:lnTo>
                <a:close/>
              </a:path>
              <a:path w="236219" h="264159">
                <a:moveTo>
                  <a:pt x="213032" y="105410"/>
                </a:moveTo>
                <a:lnTo>
                  <a:pt x="192071" y="109220"/>
                </a:lnTo>
                <a:lnTo>
                  <a:pt x="226442" y="109220"/>
                </a:lnTo>
                <a:lnTo>
                  <a:pt x="219916" y="106680"/>
                </a:lnTo>
                <a:lnTo>
                  <a:pt x="213032" y="105410"/>
                </a:lnTo>
                <a:close/>
              </a:path>
              <a:path w="236219" h="264159">
                <a:moveTo>
                  <a:pt x="51053" y="35560"/>
                </a:moveTo>
                <a:lnTo>
                  <a:pt x="49148" y="36830"/>
                </a:lnTo>
                <a:lnTo>
                  <a:pt x="38865" y="41910"/>
                </a:lnTo>
                <a:lnTo>
                  <a:pt x="30702" y="48260"/>
                </a:lnTo>
                <a:lnTo>
                  <a:pt x="24681" y="57150"/>
                </a:lnTo>
                <a:lnTo>
                  <a:pt x="20827" y="67310"/>
                </a:lnTo>
                <a:lnTo>
                  <a:pt x="18922" y="72390"/>
                </a:lnTo>
                <a:lnTo>
                  <a:pt x="18922" y="77470"/>
                </a:lnTo>
                <a:lnTo>
                  <a:pt x="17017" y="81280"/>
                </a:lnTo>
                <a:lnTo>
                  <a:pt x="15557" y="88900"/>
                </a:lnTo>
                <a:lnTo>
                  <a:pt x="16763" y="93980"/>
                </a:lnTo>
                <a:lnTo>
                  <a:pt x="20446" y="99060"/>
                </a:lnTo>
                <a:lnTo>
                  <a:pt x="26415" y="102870"/>
                </a:lnTo>
                <a:lnTo>
                  <a:pt x="32130" y="104140"/>
                </a:lnTo>
                <a:lnTo>
                  <a:pt x="37845" y="104140"/>
                </a:lnTo>
                <a:lnTo>
                  <a:pt x="43433" y="106680"/>
                </a:lnTo>
                <a:lnTo>
                  <a:pt x="41528" y="104140"/>
                </a:lnTo>
                <a:lnTo>
                  <a:pt x="41528" y="102870"/>
                </a:lnTo>
                <a:lnTo>
                  <a:pt x="48652" y="92710"/>
                </a:lnTo>
                <a:lnTo>
                  <a:pt x="55752" y="81280"/>
                </a:lnTo>
                <a:lnTo>
                  <a:pt x="62853" y="71120"/>
                </a:lnTo>
                <a:lnTo>
                  <a:pt x="69185" y="60960"/>
                </a:lnTo>
                <a:lnTo>
                  <a:pt x="52958" y="60960"/>
                </a:lnTo>
                <a:lnTo>
                  <a:pt x="54863" y="57150"/>
                </a:lnTo>
                <a:lnTo>
                  <a:pt x="54863" y="52070"/>
                </a:lnTo>
                <a:lnTo>
                  <a:pt x="58546" y="49530"/>
                </a:lnTo>
                <a:lnTo>
                  <a:pt x="60451" y="45720"/>
                </a:lnTo>
                <a:lnTo>
                  <a:pt x="64261" y="43180"/>
                </a:lnTo>
                <a:lnTo>
                  <a:pt x="60451" y="40640"/>
                </a:lnTo>
                <a:lnTo>
                  <a:pt x="56641" y="36830"/>
                </a:lnTo>
                <a:lnTo>
                  <a:pt x="51053" y="35560"/>
                </a:lnTo>
                <a:close/>
              </a:path>
              <a:path w="236219" h="264159">
                <a:moveTo>
                  <a:pt x="185165" y="0"/>
                </a:moveTo>
                <a:lnTo>
                  <a:pt x="177672" y="0"/>
                </a:lnTo>
                <a:lnTo>
                  <a:pt x="175767" y="3810"/>
                </a:lnTo>
                <a:lnTo>
                  <a:pt x="173862" y="5080"/>
                </a:lnTo>
                <a:lnTo>
                  <a:pt x="170052" y="11430"/>
                </a:lnTo>
                <a:lnTo>
                  <a:pt x="170052" y="13970"/>
                </a:lnTo>
                <a:lnTo>
                  <a:pt x="167512" y="22860"/>
                </a:lnTo>
                <a:lnTo>
                  <a:pt x="163194" y="41910"/>
                </a:lnTo>
                <a:lnTo>
                  <a:pt x="160654" y="49530"/>
                </a:lnTo>
                <a:lnTo>
                  <a:pt x="158750" y="52070"/>
                </a:lnTo>
                <a:lnTo>
                  <a:pt x="156844" y="55880"/>
                </a:lnTo>
                <a:lnTo>
                  <a:pt x="153034" y="55880"/>
                </a:lnTo>
                <a:lnTo>
                  <a:pt x="136064" y="63500"/>
                </a:lnTo>
                <a:lnTo>
                  <a:pt x="118998" y="68580"/>
                </a:lnTo>
                <a:lnTo>
                  <a:pt x="115315" y="71120"/>
                </a:lnTo>
                <a:lnTo>
                  <a:pt x="107695" y="74930"/>
                </a:lnTo>
                <a:lnTo>
                  <a:pt x="113410" y="81280"/>
                </a:lnTo>
                <a:lnTo>
                  <a:pt x="115315" y="81280"/>
                </a:lnTo>
                <a:lnTo>
                  <a:pt x="122808" y="77470"/>
                </a:lnTo>
                <a:lnTo>
                  <a:pt x="139112" y="72390"/>
                </a:lnTo>
                <a:lnTo>
                  <a:pt x="147544" y="68580"/>
                </a:lnTo>
                <a:lnTo>
                  <a:pt x="156844" y="64770"/>
                </a:lnTo>
                <a:lnTo>
                  <a:pt x="180715" y="64770"/>
                </a:lnTo>
                <a:lnTo>
                  <a:pt x="192785" y="63500"/>
                </a:lnTo>
                <a:lnTo>
                  <a:pt x="204723" y="63500"/>
                </a:lnTo>
                <a:lnTo>
                  <a:pt x="209803" y="55880"/>
                </a:lnTo>
                <a:lnTo>
                  <a:pt x="203905" y="53340"/>
                </a:lnTo>
                <a:lnTo>
                  <a:pt x="182639" y="53340"/>
                </a:lnTo>
                <a:lnTo>
                  <a:pt x="173862" y="52070"/>
                </a:lnTo>
                <a:lnTo>
                  <a:pt x="175944" y="40640"/>
                </a:lnTo>
                <a:lnTo>
                  <a:pt x="177657" y="29210"/>
                </a:lnTo>
                <a:lnTo>
                  <a:pt x="180774" y="19050"/>
                </a:lnTo>
                <a:lnTo>
                  <a:pt x="187070" y="8890"/>
                </a:lnTo>
                <a:lnTo>
                  <a:pt x="187070" y="7620"/>
                </a:lnTo>
                <a:lnTo>
                  <a:pt x="185165" y="1270"/>
                </a:lnTo>
                <a:lnTo>
                  <a:pt x="185165" y="0"/>
                </a:lnTo>
                <a:close/>
              </a:path>
              <a:path w="236219" h="264159">
                <a:moveTo>
                  <a:pt x="204723" y="63500"/>
                </a:moveTo>
                <a:lnTo>
                  <a:pt x="194690" y="63500"/>
                </a:lnTo>
                <a:lnTo>
                  <a:pt x="194690" y="64770"/>
                </a:lnTo>
                <a:lnTo>
                  <a:pt x="202183" y="67310"/>
                </a:lnTo>
                <a:lnTo>
                  <a:pt x="204723" y="63500"/>
                </a:lnTo>
                <a:close/>
              </a:path>
              <a:path w="236219" h="264159">
                <a:moveTo>
                  <a:pt x="130428" y="52070"/>
                </a:moveTo>
                <a:lnTo>
                  <a:pt x="100202" y="52070"/>
                </a:lnTo>
                <a:lnTo>
                  <a:pt x="107695" y="55880"/>
                </a:lnTo>
                <a:lnTo>
                  <a:pt x="113410" y="57150"/>
                </a:lnTo>
                <a:lnTo>
                  <a:pt x="117220" y="59690"/>
                </a:lnTo>
                <a:lnTo>
                  <a:pt x="120903" y="60960"/>
                </a:lnTo>
                <a:lnTo>
                  <a:pt x="128523" y="63500"/>
                </a:lnTo>
                <a:lnTo>
                  <a:pt x="134111" y="59690"/>
                </a:lnTo>
                <a:lnTo>
                  <a:pt x="130428" y="52070"/>
                </a:lnTo>
                <a:close/>
              </a:path>
              <a:path w="236219" h="264159">
                <a:moveTo>
                  <a:pt x="92582" y="5080"/>
                </a:moveTo>
                <a:lnTo>
                  <a:pt x="90677" y="5080"/>
                </a:lnTo>
                <a:lnTo>
                  <a:pt x="85089" y="8890"/>
                </a:lnTo>
                <a:lnTo>
                  <a:pt x="83184" y="11430"/>
                </a:lnTo>
                <a:lnTo>
                  <a:pt x="81279" y="16510"/>
                </a:lnTo>
                <a:lnTo>
                  <a:pt x="77469" y="24130"/>
                </a:lnTo>
                <a:lnTo>
                  <a:pt x="77469" y="29210"/>
                </a:lnTo>
                <a:lnTo>
                  <a:pt x="75497" y="40640"/>
                </a:lnTo>
                <a:lnTo>
                  <a:pt x="70167" y="48260"/>
                </a:lnTo>
                <a:lnTo>
                  <a:pt x="62360" y="55880"/>
                </a:lnTo>
                <a:lnTo>
                  <a:pt x="52958" y="60960"/>
                </a:lnTo>
                <a:lnTo>
                  <a:pt x="69185" y="60960"/>
                </a:lnTo>
                <a:lnTo>
                  <a:pt x="69976" y="59690"/>
                </a:lnTo>
                <a:lnTo>
                  <a:pt x="95202" y="59690"/>
                </a:lnTo>
                <a:lnTo>
                  <a:pt x="96392" y="53340"/>
                </a:lnTo>
                <a:lnTo>
                  <a:pt x="100202" y="52070"/>
                </a:lnTo>
                <a:lnTo>
                  <a:pt x="130428" y="52070"/>
                </a:lnTo>
                <a:lnTo>
                  <a:pt x="128523" y="45720"/>
                </a:lnTo>
                <a:lnTo>
                  <a:pt x="122808" y="40640"/>
                </a:lnTo>
                <a:lnTo>
                  <a:pt x="117220" y="36830"/>
                </a:lnTo>
                <a:lnTo>
                  <a:pt x="113410" y="35560"/>
                </a:lnTo>
                <a:lnTo>
                  <a:pt x="111505" y="33020"/>
                </a:lnTo>
                <a:lnTo>
                  <a:pt x="111505" y="27940"/>
                </a:lnTo>
                <a:lnTo>
                  <a:pt x="109888" y="19050"/>
                </a:lnTo>
                <a:lnTo>
                  <a:pt x="105616" y="12700"/>
                </a:lnTo>
                <a:lnTo>
                  <a:pt x="99558" y="7620"/>
                </a:lnTo>
                <a:lnTo>
                  <a:pt x="92582" y="5080"/>
                </a:lnTo>
                <a:close/>
              </a:path>
              <a:path w="236219" h="264159">
                <a:moveTo>
                  <a:pt x="200955" y="52070"/>
                </a:moveTo>
                <a:lnTo>
                  <a:pt x="191785" y="52070"/>
                </a:lnTo>
                <a:lnTo>
                  <a:pt x="182639" y="53340"/>
                </a:lnTo>
                <a:lnTo>
                  <a:pt x="203905" y="53340"/>
                </a:lnTo>
                <a:lnTo>
                  <a:pt x="200955" y="52070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32176" y="6451010"/>
            <a:ext cx="129803" cy="1966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14727" y="6385559"/>
            <a:ext cx="236775" cy="2973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51482" y="6466332"/>
            <a:ext cx="140781" cy="1569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71955" y="6431279"/>
            <a:ext cx="210026" cy="2240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6740" y="6380988"/>
            <a:ext cx="242570" cy="289560"/>
          </a:xfrm>
          <a:custGeom>
            <a:avLst/>
            <a:gdLst/>
            <a:ahLst/>
            <a:cxnLst/>
            <a:rect l="l" t="t" r="r" b="b"/>
            <a:pathLst>
              <a:path w="242569" h="289559">
                <a:moveTo>
                  <a:pt x="61577" y="222250"/>
                </a:moveTo>
                <a:lnTo>
                  <a:pt x="37858" y="222250"/>
                </a:lnTo>
                <a:lnTo>
                  <a:pt x="35315" y="233680"/>
                </a:lnTo>
                <a:lnTo>
                  <a:pt x="33127" y="245110"/>
                </a:lnTo>
                <a:lnTo>
                  <a:pt x="30939" y="255270"/>
                </a:lnTo>
                <a:lnTo>
                  <a:pt x="28397" y="265430"/>
                </a:lnTo>
                <a:lnTo>
                  <a:pt x="28456" y="275590"/>
                </a:lnTo>
                <a:lnTo>
                  <a:pt x="31710" y="283210"/>
                </a:lnTo>
                <a:lnTo>
                  <a:pt x="38514" y="288290"/>
                </a:lnTo>
                <a:lnTo>
                  <a:pt x="49225" y="289560"/>
                </a:lnTo>
                <a:lnTo>
                  <a:pt x="49225" y="287020"/>
                </a:lnTo>
                <a:lnTo>
                  <a:pt x="51117" y="284480"/>
                </a:lnTo>
                <a:lnTo>
                  <a:pt x="54281" y="262890"/>
                </a:lnTo>
                <a:lnTo>
                  <a:pt x="57977" y="242570"/>
                </a:lnTo>
                <a:lnTo>
                  <a:pt x="61577" y="222250"/>
                </a:lnTo>
                <a:close/>
              </a:path>
              <a:path w="242569" h="289559">
                <a:moveTo>
                  <a:pt x="109804" y="228600"/>
                </a:moveTo>
                <a:lnTo>
                  <a:pt x="100329" y="228600"/>
                </a:lnTo>
                <a:lnTo>
                  <a:pt x="100329" y="240030"/>
                </a:lnTo>
                <a:lnTo>
                  <a:pt x="104114" y="242570"/>
                </a:lnTo>
                <a:lnTo>
                  <a:pt x="109503" y="247650"/>
                </a:lnTo>
                <a:lnTo>
                  <a:pt x="119561" y="255270"/>
                </a:lnTo>
                <a:lnTo>
                  <a:pt x="124942" y="260350"/>
                </a:lnTo>
                <a:lnTo>
                  <a:pt x="141539" y="270510"/>
                </a:lnTo>
                <a:lnTo>
                  <a:pt x="159732" y="278130"/>
                </a:lnTo>
                <a:lnTo>
                  <a:pt x="198780" y="288290"/>
                </a:lnTo>
                <a:lnTo>
                  <a:pt x="210134" y="288290"/>
                </a:lnTo>
                <a:lnTo>
                  <a:pt x="210134" y="287020"/>
                </a:lnTo>
                <a:lnTo>
                  <a:pt x="212026" y="283210"/>
                </a:lnTo>
                <a:lnTo>
                  <a:pt x="212026" y="275590"/>
                </a:lnTo>
                <a:lnTo>
                  <a:pt x="210134" y="271780"/>
                </a:lnTo>
                <a:lnTo>
                  <a:pt x="204832" y="264160"/>
                </a:lnTo>
                <a:lnTo>
                  <a:pt x="174167" y="264160"/>
                </a:lnTo>
                <a:lnTo>
                  <a:pt x="157807" y="261620"/>
                </a:lnTo>
                <a:lnTo>
                  <a:pt x="142690" y="255270"/>
                </a:lnTo>
                <a:lnTo>
                  <a:pt x="128640" y="246380"/>
                </a:lnTo>
                <a:lnTo>
                  <a:pt x="115481" y="236220"/>
                </a:lnTo>
                <a:lnTo>
                  <a:pt x="113588" y="232410"/>
                </a:lnTo>
                <a:lnTo>
                  <a:pt x="109804" y="228600"/>
                </a:lnTo>
                <a:close/>
              </a:path>
              <a:path w="242569" h="289559">
                <a:moveTo>
                  <a:pt x="161332" y="203200"/>
                </a:moveTo>
                <a:lnTo>
                  <a:pt x="134404" y="203200"/>
                </a:lnTo>
                <a:lnTo>
                  <a:pt x="134334" y="212090"/>
                </a:lnTo>
                <a:lnTo>
                  <a:pt x="134019" y="223520"/>
                </a:lnTo>
                <a:lnTo>
                  <a:pt x="137007" y="232410"/>
                </a:lnTo>
                <a:lnTo>
                  <a:pt x="145319" y="237490"/>
                </a:lnTo>
                <a:lnTo>
                  <a:pt x="160908" y="240030"/>
                </a:lnTo>
                <a:lnTo>
                  <a:pt x="162801" y="240030"/>
                </a:lnTo>
                <a:lnTo>
                  <a:pt x="166585" y="241300"/>
                </a:lnTo>
                <a:lnTo>
                  <a:pt x="177952" y="264160"/>
                </a:lnTo>
                <a:lnTo>
                  <a:pt x="204832" y="264160"/>
                </a:lnTo>
                <a:lnTo>
                  <a:pt x="203065" y="261620"/>
                </a:lnTo>
                <a:lnTo>
                  <a:pt x="196172" y="251460"/>
                </a:lnTo>
                <a:lnTo>
                  <a:pt x="189633" y="241300"/>
                </a:lnTo>
                <a:lnTo>
                  <a:pt x="183629" y="232410"/>
                </a:lnTo>
                <a:lnTo>
                  <a:pt x="193624" y="228600"/>
                </a:lnTo>
                <a:lnTo>
                  <a:pt x="203977" y="226060"/>
                </a:lnTo>
                <a:lnTo>
                  <a:pt x="238531" y="226060"/>
                </a:lnTo>
                <a:lnTo>
                  <a:pt x="242315" y="220980"/>
                </a:lnTo>
                <a:lnTo>
                  <a:pt x="155232" y="220980"/>
                </a:lnTo>
                <a:lnTo>
                  <a:pt x="155794" y="212090"/>
                </a:lnTo>
                <a:lnTo>
                  <a:pt x="159727" y="204470"/>
                </a:lnTo>
                <a:lnTo>
                  <a:pt x="161332" y="203200"/>
                </a:lnTo>
                <a:close/>
              </a:path>
              <a:path w="242569" h="289559">
                <a:moveTo>
                  <a:pt x="238531" y="226060"/>
                </a:moveTo>
                <a:lnTo>
                  <a:pt x="215040" y="226060"/>
                </a:lnTo>
                <a:lnTo>
                  <a:pt x="227164" y="229870"/>
                </a:lnTo>
                <a:lnTo>
                  <a:pt x="230962" y="232410"/>
                </a:lnTo>
                <a:lnTo>
                  <a:pt x="236639" y="232410"/>
                </a:lnTo>
                <a:lnTo>
                  <a:pt x="238531" y="226060"/>
                </a:lnTo>
                <a:close/>
              </a:path>
              <a:path w="242569" h="289559">
                <a:moveTo>
                  <a:pt x="89211" y="24130"/>
                </a:moveTo>
                <a:lnTo>
                  <a:pt x="81963" y="24130"/>
                </a:lnTo>
                <a:lnTo>
                  <a:pt x="73825" y="26670"/>
                </a:lnTo>
                <a:lnTo>
                  <a:pt x="43535" y="57150"/>
                </a:lnTo>
                <a:lnTo>
                  <a:pt x="36914" y="77470"/>
                </a:lnTo>
                <a:lnTo>
                  <a:pt x="39815" y="86360"/>
                </a:lnTo>
                <a:lnTo>
                  <a:pt x="47332" y="96520"/>
                </a:lnTo>
                <a:lnTo>
                  <a:pt x="47332" y="100330"/>
                </a:lnTo>
                <a:lnTo>
                  <a:pt x="51117" y="101600"/>
                </a:lnTo>
                <a:lnTo>
                  <a:pt x="49225" y="104140"/>
                </a:lnTo>
                <a:lnTo>
                  <a:pt x="46349" y="113030"/>
                </a:lnTo>
                <a:lnTo>
                  <a:pt x="28247" y="149860"/>
                </a:lnTo>
                <a:lnTo>
                  <a:pt x="19638" y="162560"/>
                </a:lnTo>
                <a:lnTo>
                  <a:pt x="10675" y="176530"/>
                </a:lnTo>
                <a:lnTo>
                  <a:pt x="1892" y="189230"/>
                </a:lnTo>
                <a:lnTo>
                  <a:pt x="1892" y="190500"/>
                </a:lnTo>
                <a:lnTo>
                  <a:pt x="0" y="193040"/>
                </a:lnTo>
                <a:lnTo>
                  <a:pt x="0" y="194310"/>
                </a:lnTo>
                <a:lnTo>
                  <a:pt x="1005" y="201930"/>
                </a:lnTo>
                <a:lnTo>
                  <a:pt x="25557" y="228600"/>
                </a:lnTo>
                <a:lnTo>
                  <a:pt x="31353" y="227330"/>
                </a:lnTo>
                <a:lnTo>
                  <a:pt x="37858" y="222250"/>
                </a:lnTo>
                <a:lnTo>
                  <a:pt x="61577" y="222250"/>
                </a:lnTo>
                <a:lnTo>
                  <a:pt x="62027" y="219710"/>
                </a:lnTo>
                <a:lnTo>
                  <a:pt x="66255" y="198120"/>
                </a:lnTo>
                <a:lnTo>
                  <a:pt x="66255" y="194310"/>
                </a:lnTo>
                <a:lnTo>
                  <a:pt x="64363" y="189230"/>
                </a:lnTo>
                <a:lnTo>
                  <a:pt x="64363" y="185420"/>
                </a:lnTo>
                <a:lnTo>
                  <a:pt x="62471" y="181610"/>
                </a:lnTo>
                <a:lnTo>
                  <a:pt x="62471" y="177800"/>
                </a:lnTo>
                <a:lnTo>
                  <a:pt x="64363" y="175260"/>
                </a:lnTo>
                <a:lnTo>
                  <a:pt x="81406" y="147320"/>
                </a:lnTo>
                <a:lnTo>
                  <a:pt x="126834" y="147320"/>
                </a:lnTo>
                <a:lnTo>
                  <a:pt x="128727" y="144780"/>
                </a:lnTo>
                <a:lnTo>
                  <a:pt x="130619" y="144780"/>
                </a:lnTo>
                <a:lnTo>
                  <a:pt x="132514" y="143510"/>
                </a:lnTo>
                <a:lnTo>
                  <a:pt x="102222" y="143510"/>
                </a:lnTo>
                <a:lnTo>
                  <a:pt x="90868" y="138430"/>
                </a:lnTo>
                <a:lnTo>
                  <a:pt x="96574" y="124460"/>
                </a:lnTo>
                <a:lnTo>
                  <a:pt x="96781" y="114300"/>
                </a:lnTo>
                <a:lnTo>
                  <a:pt x="91666" y="102870"/>
                </a:lnTo>
                <a:lnTo>
                  <a:pt x="81406" y="91440"/>
                </a:lnTo>
                <a:lnTo>
                  <a:pt x="79514" y="88900"/>
                </a:lnTo>
                <a:lnTo>
                  <a:pt x="77622" y="85090"/>
                </a:lnTo>
                <a:lnTo>
                  <a:pt x="73825" y="83820"/>
                </a:lnTo>
                <a:lnTo>
                  <a:pt x="68148" y="80010"/>
                </a:lnTo>
                <a:lnTo>
                  <a:pt x="68148" y="73660"/>
                </a:lnTo>
                <a:lnTo>
                  <a:pt x="70040" y="68580"/>
                </a:lnTo>
                <a:lnTo>
                  <a:pt x="106006" y="41910"/>
                </a:lnTo>
                <a:lnTo>
                  <a:pt x="106006" y="38100"/>
                </a:lnTo>
                <a:lnTo>
                  <a:pt x="100329" y="30480"/>
                </a:lnTo>
                <a:lnTo>
                  <a:pt x="95392" y="26670"/>
                </a:lnTo>
                <a:lnTo>
                  <a:pt x="89211" y="24130"/>
                </a:lnTo>
                <a:close/>
              </a:path>
              <a:path w="242569" h="289559">
                <a:moveTo>
                  <a:pt x="215811" y="205740"/>
                </a:moveTo>
                <a:lnTo>
                  <a:pt x="201936" y="205740"/>
                </a:lnTo>
                <a:lnTo>
                  <a:pt x="188596" y="208280"/>
                </a:lnTo>
                <a:lnTo>
                  <a:pt x="175611" y="212090"/>
                </a:lnTo>
                <a:lnTo>
                  <a:pt x="162801" y="218440"/>
                </a:lnTo>
                <a:lnTo>
                  <a:pt x="160908" y="220980"/>
                </a:lnTo>
                <a:lnTo>
                  <a:pt x="242315" y="220980"/>
                </a:lnTo>
                <a:lnTo>
                  <a:pt x="242315" y="214630"/>
                </a:lnTo>
                <a:lnTo>
                  <a:pt x="234746" y="210820"/>
                </a:lnTo>
                <a:lnTo>
                  <a:pt x="223380" y="207010"/>
                </a:lnTo>
                <a:lnTo>
                  <a:pt x="215811" y="205740"/>
                </a:lnTo>
                <a:close/>
              </a:path>
              <a:path w="242569" h="289559">
                <a:moveTo>
                  <a:pt x="90868" y="181610"/>
                </a:moveTo>
                <a:lnTo>
                  <a:pt x="71932" y="181610"/>
                </a:lnTo>
                <a:lnTo>
                  <a:pt x="71932" y="182880"/>
                </a:lnTo>
                <a:lnTo>
                  <a:pt x="71119" y="189230"/>
                </a:lnTo>
                <a:lnTo>
                  <a:pt x="83299" y="217170"/>
                </a:lnTo>
                <a:lnTo>
                  <a:pt x="98437" y="213360"/>
                </a:lnTo>
                <a:lnTo>
                  <a:pt x="104114" y="210820"/>
                </a:lnTo>
                <a:lnTo>
                  <a:pt x="111696" y="209550"/>
                </a:lnTo>
                <a:lnTo>
                  <a:pt x="123050" y="205740"/>
                </a:lnTo>
                <a:lnTo>
                  <a:pt x="128727" y="205740"/>
                </a:lnTo>
                <a:lnTo>
                  <a:pt x="134404" y="203200"/>
                </a:lnTo>
                <a:lnTo>
                  <a:pt x="161332" y="203200"/>
                </a:lnTo>
                <a:lnTo>
                  <a:pt x="166147" y="199390"/>
                </a:lnTo>
                <a:lnTo>
                  <a:pt x="174167" y="195580"/>
                </a:lnTo>
                <a:lnTo>
                  <a:pt x="181736" y="195580"/>
                </a:lnTo>
                <a:lnTo>
                  <a:pt x="189306" y="194310"/>
                </a:lnTo>
                <a:lnTo>
                  <a:pt x="202564" y="194310"/>
                </a:lnTo>
                <a:lnTo>
                  <a:pt x="208241" y="193040"/>
                </a:lnTo>
                <a:lnTo>
                  <a:pt x="210764" y="182880"/>
                </a:lnTo>
                <a:lnTo>
                  <a:pt x="96545" y="182880"/>
                </a:lnTo>
                <a:lnTo>
                  <a:pt x="90868" y="181610"/>
                </a:lnTo>
                <a:close/>
              </a:path>
              <a:path w="242569" h="289559">
                <a:moveTo>
                  <a:pt x="126834" y="147320"/>
                </a:moveTo>
                <a:lnTo>
                  <a:pt x="81406" y="147320"/>
                </a:lnTo>
                <a:lnTo>
                  <a:pt x="85369" y="156210"/>
                </a:lnTo>
                <a:lnTo>
                  <a:pt x="88976" y="163830"/>
                </a:lnTo>
                <a:lnTo>
                  <a:pt x="92583" y="173990"/>
                </a:lnTo>
                <a:lnTo>
                  <a:pt x="96545" y="182880"/>
                </a:lnTo>
                <a:lnTo>
                  <a:pt x="210764" y="182880"/>
                </a:lnTo>
                <a:lnTo>
                  <a:pt x="211711" y="179070"/>
                </a:lnTo>
                <a:lnTo>
                  <a:pt x="113588" y="179070"/>
                </a:lnTo>
                <a:lnTo>
                  <a:pt x="109804" y="177800"/>
                </a:lnTo>
                <a:lnTo>
                  <a:pt x="106006" y="166370"/>
                </a:lnTo>
                <a:lnTo>
                  <a:pt x="102222" y="160020"/>
                </a:lnTo>
                <a:lnTo>
                  <a:pt x="104114" y="158750"/>
                </a:lnTo>
                <a:lnTo>
                  <a:pt x="119265" y="152400"/>
                </a:lnTo>
                <a:lnTo>
                  <a:pt x="126834" y="152400"/>
                </a:lnTo>
                <a:lnTo>
                  <a:pt x="126834" y="147320"/>
                </a:lnTo>
                <a:close/>
              </a:path>
              <a:path w="242569" h="289559">
                <a:moveTo>
                  <a:pt x="126834" y="152400"/>
                </a:moveTo>
                <a:lnTo>
                  <a:pt x="119265" y="152400"/>
                </a:lnTo>
                <a:lnTo>
                  <a:pt x="119265" y="160020"/>
                </a:lnTo>
                <a:lnTo>
                  <a:pt x="123050" y="175260"/>
                </a:lnTo>
                <a:lnTo>
                  <a:pt x="113588" y="179070"/>
                </a:lnTo>
                <a:lnTo>
                  <a:pt x="211711" y="179070"/>
                </a:lnTo>
                <a:lnTo>
                  <a:pt x="212026" y="177800"/>
                </a:lnTo>
                <a:lnTo>
                  <a:pt x="209755" y="173990"/>
                </a:lnTo>
                <a:lnTo>
                  <a:pt x="128727" y="173990"/>
                </a:lnTo>
                <a:lnTo>
                  <a:pt x="128727" y="166370"/>
                </a:lnTo>
                <a:lnTo>
                  <a:pt x="126834" y="158750"/>
                </a:lnTo>
                <a:lnTo>
                  <a:pt x="126834" y="152400"/>
                </a:lnTo>
                <a:close/>
              </a:path>
              <a:path w="242569" h="289559">
                <a:moveTo>
                  <a:pt x="153339" y="138430"/>
                </a:moveTo>
                <a:lnTo>
                  <a:pt x="143878" y="138430"/>
                </a:lnTo>
                <a:lnTo>
                  <a:pt x="143907" y="151130"/>
                </a:lnTo>
                <a:lnTo>
                  <a:pt x="141274" y="162560"/>
                </a:lnTo>
                <a:lnTo>
                  <a:pt x="136155" y="170180"/>
                </a:lnTo>
                <a:lnTo>
                  <a:pt x="128727" y="173990"/>
                </a:lnTo>
                <a:lnTo>
                  <a:pt x="209755" y="173990"/>
                </a:lnTo>
                <a:lnTo>
                  <a:pt x="208241" y="171450"/>
                </a:lnTo>
                <a:lnTo>
                  <a:pt x="205718" y="170180"/>
                </a:lnTo>
                <a:lnTo>
                  <a:pt x="151447" y="170180"/>
                </a:lnTo>
                <a:lnTo>
                  <a:pt x="151447" y="167640"/>
                </a:lnTo>
                <a:lnTo>
                  <a:pt x="149555" y="167640"/>
                </a:lnTo>
                <a:lnTo>
                  <a:pt x="153339" y="156210"/>
                </a:lnTo>
                <a:lnTo>
                  <a:pt x="153339" y="138430"/>
                </a:lnTo>
                <a:close/>
              </a:path>
              <a:path w="242569" h="289559">
                <a:moveTo>
                  <a:pt x="208241" y="134620"/>
                </a:moveTo>
                <a:lnTo>
                  <a:pt x="179844" y="134620"/>
                </a:lnTo>
                <a:lnTo>
                  <a:pt x="183629" y="138430"/>
                </a:lnTo>
                <a:lnTo>
                  <a:pt x="179844" y="143510"/>
                </a:lnTo>
                <a:lnTo>
                  <a:pt x="153339" y="170180"/>
                </a:lnTo>
                <a:lnTo>
                  <a:pt x="205718" y="170180"/>
                </a:lnTo>
                <a:lnTo>
                  <a:pt x="200672" y="167640"/>
                </a:lnTo>
                <a:lnTo>
                  <a:pt x="198780" y="166370"/>
                </a:lnTo>
                <a:lnTo>
                  <a:pt x="194983" y="166370"/>
                </a:lnTo>
                <a:lnTo>
                  <a:pt x="191198" y="163830"/>
                </a:lnTo>
                <a:lnTo>
                  <a:pt x="194983" y="160020"/>
                </a:lnTo>
                <a:lnTo>
                  <a:pt x="196875" y="160020"/>
                </a:lnTo>
                <a:lnTo>
                  <a:pt x="202914" y="157480"/>
                </a:lnTo>
                <a:lnTo>
                  <a:pt x="206821" y="152400"/>
                </a:lnTo>
                <a:lnTo>
                  <a:pt x="208596" y="146050"/>
                </a:lnTo>
                <a:lnTo>
                  <a:pt x="208241" y="139700"/>
                </a:lnTo>
                <a:lnTo>
                  <a:pt x="208241" y="134620"/>
                </a:lnTo>
                <a:close/>
              </a:path>
              <a:path w="242569" h="289559">
                <a:moveTo>
                  <a:pt x="194983" y="83820"/>
                </a:moveTo>
                <a:lnTo>
                  <a:pt x="121157" y="83820"/>
                </a:lnTo>
                <a:lnTo>
                  <a:pt x="114355" y="85090"/>
                </a:lnTo>
                <a:lnTo>
                  <a:pt x="101455" y="86360"/>
                </a:lnTo>
                <a:lnTo>
                  <a:pt x="94653" y="87630"/>
                </a:lnTo>
                <a:lnTo>
                  <a:pt x="92760" y="87630"/>
                </a:lnTo>
                <a:lnTo>
                  <a:pt x="92760" y="88900"/>
                </a:lnTo>
                <a:lnTo>
                  <a:pt x="96545" y="92710"/>
                </a:lnTo>
                <a:lnTo>
                  <a:pt x="102222" y="96520"/>
                </a:lnTo>
                <a:lnTo>
                  <a:pt x="106006" y="97790"/>
                </a:lnTo>
                <a:lnTo>
                  <a:pt x="111696" y="100330"/>
                </a:lnTo>
                <a:lnTo>
                  <a:pt x="124942" y="100330"/>
                </a:lnTo>
                <a:lnTo>
                  <a:pt x="121926" y="107950"/>
                </a:lnTo>
                <a:lnTo>
                  <a:pt x="117846" y="115570"/>
                </a:lnTo>
                <a:lnTo>
                  <a:pt x="115895" y="123190"/>
                </a:lnTo>
                <a:lnTo>
                  <a:pt x="119265" y="132080"/>
                </a:lnTo>
                <a:lnTo>
                  <a:pt x="102222" y="143510"/>
                </a:lnTo>
                <a:lnTo>
                  <a:pt x="132514" y="143510"/>
                </a:lnTo>
                <a:lnTo>
                  <a:pt x="138201" y="139700"/>
                </a:lnTo>
                <a:lnTo>
                  <a:pt x="143878" y="138430"/>
                </a:lnTo>
                <a:lnTo>
                  <a:pt x="153339" y="138430"/>
                </a:lnTo>
                <a:lnTo>
                  <a:pt x="153339" y="134620"/>
                </a:lnTo>
                <a:lnTo>
                  <a:pt x="208241" y="134620"/>
                </a:lnTo>
                <a:lnTo>
                  <a:pt x="208241" y="130810"/>
                </a:lnTo>
                <a:lnTo>
                  <a:pt x="200672" y="127000"/>
                </a:lnTo>
                <a:lnTo>
                  <a:pt x="193090" y="124460"/>
                </a:lnTo>
                <a:lnTo>
                  <a:pt x="188349" y="123190"/>
                </a:lnTo>
                <a:lnTo>
                  <a:pt x="134404" y="123190"/>
                </a:lnTo>
                <a:lnTo>
                  <a:pt x="138201" y="115570"/>
                </a:lnTo>
                <a:lnTo>
                  <a:pt x="140093" y="109220"/>
                </a:lnTo>
                <a:lnTo>
                  <a:pt x="143878" y="101600"/>
                </a:lnTo>
                <a:lnTo>
                  <a:pt x="145770" y="96520"/>
                </a:lnTo>
                <a:lnTo>
                  <a:pt x="147662" y="95250"/>
                </a:lnTo>
                <a:lnTo>
                  <a:pt x="155232" y="95250"/>
                </a:lnTo>
                <a:lnTo>
                  <a:pt x="194983" y="83820"/>
                </a:lnTo>
                <a:close/>
              </a:path>
              <a:path w="242569" h="289559">
                <a:moveTo>
                  <a:pt x="164461" y="119380"/>
                </a:moveTo>
                <a:lnTo>
                  <a:pt x="149699" y="120650"/>
                </a:lnTo>
                <a:lnTo>
                  <a:pt x="134404" y="123190"/>
                </a:lnTo>
                <a:lnTo>
                  <a:pt x="188349" y="123190"/>
                </a:lnTo>
                <a:lnTo>
                  <a:pt x="178866" y="120650"/>
                </a:lnTo>
                <a:lnTo>
                  <a:pt x="164461" y="119380"/>
                </a:lnTo>
                <a:close/>
              </a:path>
              <a:path w="242569" h="289559">
                <a:moveTo>
                  <a:pt x="159016" y="0"/>
                </a:moveTo>
                <a:lnTo>
                  <a:pt x="159016" y="6350"/>
                </a:lnTo>
                <a:lnTo>
                  <a:pt x="134404" y="72390"/>
                </a:lnTo>
                <a:lnTo>
                  <a:pt x="132511" y="80010"/>
                </a:lnTo>
                <a:lnTo>
                  <a:pt x="128727" y="83820"/>
                </a:lnTo>
                <a:lnTo>
                  <a:pt x="198780" y="83820"/>
                </a:lnTo>
                <a:lnTo>
                  <a:pt x="200672" y="80010"/>
                </a:lnTo>
                <a:lnTo>
                  <a:pt x="200672" y="77470"/>
                </a:lnTo>
                <a:lnTo>
                  <a:pt x="151447" y="77470"/>
                </a:lnTo>
                <a:lnTo>
                  <a:pt x="154966" y="62230"/>
                </a:lnTo>
                <a:lnTo>
                  <a:pt x="158308" y="46990"/>
                </a:lnTo>
                <a:lnTo>
                  <a:pt x="163427" y="33020"/>
                </a:lnTo>
                <a:lnTo>
                  <a:pt x="172275" y="21590"/>
                </a:lnTo>
                <a:lnTo>
                  <a:pt x="177952" y="17780"/>
                </a:lnTo>
                <a:lnTo>
                  <a:pt x="174167" y="7620"/>
                </a:lnTo>
                <a:lnTo>
                  <a:pt x="159016" y="0"/>
                </a:lnTo>
                <a:close/>
              </a:path>
              <a:path w="242569" h="289559">
                <a:moveTo>
                  <a:pt x="191198" y="66040"/>
                </a:moveTo>
                <a:lnTo>
                  <a:pt x="185521" y="66040"/>
                </a:lnTo>
                <a:lnTo>
                  <a:pt x="181736" y="68580"/>
                </a:lnTo>
                <a:lnTo>
                  <a:pt x="174343" y="69850"/>
                </a:lnTo>
                <a:lnTo>
                  <a:pt x="158841" y="74930"/>
                </a:lnTo>
                <a:lnTo>
                  <a:pt x="151447" y="77470"/>
                </a:lnTo>
                <a:lnTo>
                  <a:pt x="200672" y="77470"/>
                </a:lnTo>
                <a:lnTo>
                  <a:pt x="200672" y="73660"/>
                </a:lnTo>
                <a:lnTo>
                  <a:pt x="196875" y="69850"/>
                </a:lnTo>
                <a:lnTo>
                  <a:pt x="193090" y="68580"/>
                </a:lnTo>
                <a:lnTo>
                  <a:pt x="191198" y="66040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3795" y="6606540"/>
            <a:ext cx="29209" cy="81280"/>
          </a:xfrm>
          <a:custGeom>
            <a:avLst/>
            <a:gdLst/>
            <a:ahLst/>
            <a:cxnLst/>
            <a:rect l="l" t="t" r="r" b="b"/>
            <a:pathLst>
              <a:path w="29209" h="81279">
                <a:moveTo>
                  <a:pt x="17145" y="0"/>
                </a:moveTo>
                <a:lnTo>
                  <a:pt x="12858" y="16877"/>
                </a:lnTo>
                <a:lnTo>
                  <a:pt x="8572" y="33578"/>
                </a:lnTo>
                <a:lnTo>
                  <a:pt x="4263" y="50012"/>
                </a:lnTo>
                <a:lnTo>
                  <a:pt x="120" y="65304"/>
                </a:lnTo>
                <a:lnTo>
                  <a:pt x="0" y="69494"/>
                </a:lnTo>
                <a:lnTo>
                  <a:pt x="3810" y="73253"/>
                </a:lnTo>
                <a:lnTo>
                  <a:pt x="11430" y="77012"/>
                </a:lnTo>
                <a:lnTo>
                  <a:pt x="17145" y="80771"/>
                </a:lnTo>
                <a:lnTo>
                  <a:pt x="19734" y="65304"/>
                </a:lnTo>
                <a:lnTo>
                  <a:pt x="22161" y="49927"/>
                </a:lnTo>
                <a:lnTo>
                  <a:pt x="24913" y="35073"/>
                </a:lnTo>
                <a:lnTo>
                  <a:pt x="28575" y="20662"/>
                </a:lnTo>
                <a:lnTo>
                  <a:pt x="29200" y="14262"/>
                </a:lnTo>
                <a:lnTo>
                  <a:pt x="27860" y="8921"/>
                </a:lnTo>
                <a:lnTo>
                  <a:pt x="24020" y="4285"/>
                </a:lnTo>
                <a:lnTo>
                  <a:pt x="17145" y="0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6469" y="6469379"/>
            <a:ext cx="157604" cy="13868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02663" y="6445138"/>
            <a:ext cx="181038" cy="18426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29641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创</a:t>
            </a:r>
            <a:r>
              <a:rPr sz="2800" spc="-10" dirty="0"/>
              <a:t>建X</a:t>
            </a:r>
            <a:r>
              <a:rPr sz="2800" dirty="0"/>
              <a:t>M</a:t>
            </a:r>
            <a:r>
              <a:rPr sz="2800" spc="-10" dirty="0"/>
              <a:t>L</a:t>
            </a:r>
            <a:r>
              <a:rPr sz="2800" spc="-5" dirty="0"/>
              <a:t>配置文件</a:t>
            </a:r>
            <a:endParaRPr sz="2800"/>
          </a:p>
        </p:txBody>
      </p:sp>
      <p:sp>
        <p:nvSpPr>
          <p:cNvPr id="19" name="object 19"/>
          <p:cNvSpPr/>
          <p:nvPr/>
        </p:nvSpPr>
        <p:spPr>
          <a:xfrm>
            <a:off x="730023" y="1267967"/>
            <a:ext cx="7499426" cy="42854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29641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创</a:t>
            </a:r>
            <a:r>
              <a:rPr sz="2800" spc="-10" dirty="0"/>
              <a:t>建X</a:t>
            </a:r>
            <a:r>
              <a:rPr sz="2800" dirty="0"/>
              <a:t>M</a:t>
            </a:r>
            <a:r>
              <a:rPr sz="2800" spc="-10" dirty="0"/>
              <a:t>L</a:t>
            </a:r>
            <a:r>
              <a:rPr sz="2800" spc="-5" dirty="0"/>
              <a:t>配置文件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26440" y="808734"/>
            <a:ext cx="3449954" cy="529145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&lt;?xml </a:t>
            </a:r>
            <a:r>
              <a:rPr sz="900" b="1" spc="-30" dirty="0">
                <a:solidFill>
                  <a:srgbClr val="C00000"/>
                </a:solidFill>
                <a:latin typeface="Calibri"/>
                <a:cs typeface="Calibri"/>
              </a:rPr>
              <a:t>version="1.0"</a:t>
            </a:r>
            <a:r>
              <a:rPr sz="9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encoding="UTF-8"?&gt;</a:t>
            </a:r>
            <a:endParaRPr sz="900" dirty="0">
              <a:latin typeface="Calibri"/>
              <a:cs typeface="Calibri"/>
            </a:endParaRPr>
          </a:p>
          <a:p>
            <a:pPr marR="3046730" algn="ctr">
              <a:lnSpc>
                <a:spcPct val="100000"/>
              </a:lnSpc>
              <a:spcBef>
                <a:spcPts val="409"/>
              </a:spcBef>
            </a:pPr>
            <a:r>
              <a:rPr sz="900" b="1" spc="-30" dirty="0">
                <a:solidFill>
                  <a:srgbClr val="C00000"/>
                </a:solidFill>
                <a:latin typeface="Calibri"/>
                <a:cs typeface="Calibri"/>
              </a:rPr>
              <a:t>&lt;</a:t>
            </a:r>
            <a:r>
              <a:rPr sz="900" b="1" spc="-4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900" b="1" spc="-4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900" b="1" spc="-3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900" b="1" dirty="0">
                <a:solidFill>
                  <a:srgbClr val="C00000"/>
                </a:solidFill>
                <a:latin typeface="Calibri"/>
                <a:cs typeface="Calibri"/>
              </a:rPr>
              <a:t>&gt;</a:t>
            </a:r>
            <a:endParaRPr sz="900" dirty="0">
              <a:latin typeface="Calibri"/>
              <a:cs typeface="Calibri"/>
            </a:endParaRPr>
          </a:p>
          <a:p>
            <a:pPr marL="104139">
              <a:lnSpc>
                <a:spcPct val="100000"/>
              </a:lnSpc>
              <a:spcBef>
                <a:spcPts val="400"/>
              </a:spcBef>
            </a:pPr>
            <a:r>
              <a:rPr sz="900" b="1" spc="-30" dirty="0">
                <a:solidFill>
                  <a:srgbClr val="C00000"/>
                </a:solidFill>
                <a:latin typeface="Calibri"/>
                <a:cs typeface="Calibri"/>
              </a:rPr>
              <a:t>&lt;CLUSTER&gt;</a:t>
            </a:r>
            <a:endParaRPr sz="900" dirty="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395"/>
              </a:spcBef>
            </a:pPr>
            <a:r>
              <a:rPr sz="900" b="1" spc="-35" dirty="0">
                <a:solidFill>
                  <a:srgbClr val="C00000"/>
                </a:solidFill>
                <a:latin typeface="Calibri"/>
                <a:cs typeface="Calibri"/>
              </a:rPr>
              <a:t>&lt;PARAM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name="clusterName" value="dbCluster"</a:t>
            </a:r>
            <a:r>
              <a:rPr sz="900" b="1" spc="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900" b="1" spc="-15" dirty="0">
                <a:solidFill>
                  <a:srgbClr val="C00000"/>
                </a:solidFill>
                <a:latin typeface="Calibri"/>
                <a:cs typeface="Calibri"/>
              </a:rPr>
              <a:t>/&gt;</a:t>
            </a:r>
            <a:endParaRPr sz="900" dirty="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405"/>
              </a:spcBef>
            </a:pPr>
            <a:r>
              <a:rPr sz="900" b="1" spc="-35" dirty="0">
                <a:solidFill>
                  <a:srgbClr val="C00000"/>
                </a:solidFill>
                <a:latin typeface="Calibri"/>
                <a:cs typeface="Calibri"/>
              </a:rPr>
              <a:t>&lt;PARAM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name="nodeNames" value="ecs-a4d3"</a:t>
            </a:r>
            <a:r>
              <a:rPr sz="900" b="1" spc="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900" b="1" spc="-15" dirty="0">
                <a:solidFill>
                  <a:srgbClr val="C00000"/>
                </a:solidFill>
                <a:latin typeface="Calibri"/>
                <a:cs typeface="Calibri"/>
              </a:rPr>
              <a:t>/&gt;</a:t>
            </a:r>
            <a:endParaRPr sz="900" dirty="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400"/>
              </a:spcBef>
            </a:pPr>
            <a:r>
              <a:rPr sz="900" b="1" spc="-35" dirty="0">
                <a:solidFill>
                  <a:srgbClr val="C00000"/>
                </a:solidFill>
                <a:latin typeface="Calibri"/>
                <a:cs typeface="Calibri"/>
              </a:rPr>
              <a:t>&lt;PARAM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name="backIp1s"</a:t>
            </a:r>
            <a:r>
              <a:rPr sz="9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value="192.168.0.58"/&gt;</a:t>
            </a:r>
            <a:endParaRPr sz="900" dirty="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395"/>
              </a:spcBef>
            </a:pPr>
            <a:r>
              <a:rPr sz="900" b="1" spc="-35" dirty="0">
                <a:solidFill>
                  <a:srgbClr val="C00000"/>
                </a:solidFill>
                <a:latin typeface="Calibri"/>
                <a:cs typeface="Calibri"/>
              </a:rPr>
              <a:t>&lt;PARAM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name="gaussdbAppPath" value="/opt/gaussdb/app"</a:t>
            </a:r>
            <a:r>
              <a:rPr sz="900" b="1" spc="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900" b="1" spc="-15" dirty="0">
                <a:solidFill>
                  <a:srgbClr val="C00000"/>
                </a:solidFill>
                <a:latin typeface="Calibri"/>
                <a:cs typeface="Calibri"/>
              </a:rPr>
              <a:t>/&gt;</a:t>
            </a:r>
            <a:endParaRPr sz="900" dirty="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405"/>
              </a:spcBef>
            </a:pPr>
            <a:r>
              <a:rPr sz="900" b="1" spc="-35" dirty="0">
                <a:solidFill>
                  <a:srgbClr val="C00000"/>
                </a:solidFill>
                <a:latin typeface="Calibri"/>
                <a:cs typeface="Calibri"/>
              </a:rPr>
              <a:t>&lt;PARAM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name="gaussdbLogPath" value="/var/log/gaussdb"</a:t>
            </a:r>
            <a:r>
              <a:rPr sz="900" b="1" spc="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900" b="1" spc="-15" dirty="0">
                <a:solidFill>
                  <a:srgbClr val="C00000"/>
                </a:solidFill>
                <a:latin typeface="Calibri"/>
                <a:cs typeface="Calibri"/>
              </a:rPr>
              <a:t>/&gt;</a:t>
            </a:r>
            <a:endParaRPr sz="900" dirty="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400"/>
              </a:spcBef>
            </a:pPr>
            <a:r>
              <a:rPr sz="900" b="1" spc="-35" dirty="0">
                <a:solidFill>
                  <a:srgbClr val="C00000"/>
                </a:solidFill>
                <a:latin typeface="Calibri"/>
                <a:cs typeface="Calibri"/>
              </a:rPr>
              <a:t>&lt;PARAM </a:t>
            </a:r>
            <a:r>
              <a:rPr sz="900" b="1" spc="-30" dirty="0">
                <a:solidFill>
                  <a:srgbClr val="C00000"/>
                </a:solidFill>
                <a:latin typeface="Calibri"/>
                <a:cs typeface="Calibri"/>
              </a:rPr>
              <a:t>name="gaussdbToolPath"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value="/opt/huawei/wisequery"</a:t>
            </a:r>
            <a:r>
              <a:rPr sz="900" b="1" spc="1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900" b="1" spc="-15" dirty="0">
                <a:solidFill>
                  <a:srgbClr val="C00000"/>
                </a:solidFill>
                <a:latin typeface="Calibri"/>
                <a:cs typeface="Calibri"/>
              </a:rPr>
              <a:t>/&gt;</a:t>
            </a:r>
            <a:endParaRPr sz="900" dirty="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395"/>
              </a:spcBef>
            </a:pPr>
            <a:r>
              <a:rPr sz="900" b="1" spc="-35" dirty="0">
                <a:solidFill>
                  <a:srgbClr val="C00000"/>
                </a:solidFill>
                <a:latin typeface="Calibri"/>
                <a:cs typeface="Calibri"/>
              </a:rPr>
              <a:t>&lt;PARAM </a:t>
            </a:r>
            <a:r>
              <a:rPr sz="900" b="1" spc="-30" dirty="0">
                <a:solidFill>
                  <a:srgbClr val="C00000"/>
                </a:solidFill>
                <a:latin typeface="Calibri"/>
                <a:cs typeface="Calibri"/>
              </a:rPr>
              <a:t>name="corePath"</a:t>
            </a:r>
            <a:r>
              <a:rPr sz="900" b="1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value="/opt/opengauss/corefile"/&gt;</a:t>
            </a:r>
            <a:endParaRPr sz="900" dirty="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409"/>
              </a:spcBef>
            </a:pPr>
            <a:r>
              <a:rPr sz="900" b="1" spc="-35" dirty="0">
                <a:solidFill>
                  <a:srgbClr val="C00000"/>
                </a:solidFill>
                <a:latin typeface="Calibri"/>
                <a:cs typeface="Calibri"/>
              </a:rPr>
              <a:t>&lt;PARAM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name="clusterType"</a:t>
            </a:r>
            <a:r>
              <a:rPr sz="900" b="1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value="single-inst"/&gt;</a:t>
            </a:r>
            <a:endParaRPr sz="900" dirty="0">
              <a:latin typeface="Calibri"/>
              <a:cs typeface="Calibri"/>
            </a:endParaRPr>
          </a:p>
          <a:p>
            <a:pPr marL="104139">
              <a:lnSpc>
                <a:spcPct val="100000"/>
              </a:lnSpc>
              <a:spcBef>
                <a:spcPts val="395"/>
              </a:spcBef>
            </a:pPr>
            <a:r>
              <a:rPr sz="900" b="1" spc="-30" dirty="0">
                <a:solidFill>
                  <a:srgbClr val="C00000"/>
                </a:solidFill>
                <a:latin typeface="Calibri"/>
                <a:cs typeface="Calibri"/>
              </a:rPr>
              <a:t>&lt;/CLUSTER&gt;</a:t>
            </a:r>
            <a:endParaRPr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 dirty="0">
              <a:latin typeface="Calibri"/>
              <a:cs typeface="Calibri"/>
            </a:endParaRPr>
          </a:p>
          <a:p>
            <a:pPr marL="104139">
              <a:lnSpc>
                <a:spcPct val="100000"/>
              </a:lnSpc>
              <a:spcBef>
                <a:spcPts val="785"/>
              </a:spcBef>
            </a:pPr>
            <a:r>
              <a:rPr sz="900" b="1" spc="-30" dirty="0">
                <a:solidFill>
                  <a:srgbClr val="C00000"/>
                </a:solidFill>
                <a:latin typeface="Calibri"/>
                <a:cs typeface="Calibri"/>
              </a:rPr>
              <a:t>&lt;DEVICELIST&gt;</a:t>
            </a:r>
            <a:endParaRPr sz="900" dirty="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395"/>
              </a:spcBef>
            </a:pP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&lt;DEVICE sn="1000001"&gt;</a:t>
            </a:r>
            <a:endParaRPr sz="900" dirty="0">
              <a:latin typeface="Calibri"/>
              <a:cs typeface="Calibri"/>
            </a:endParaRPr>
          </a:p>
          <a:p>
            <a:pPr marL="286385">
              <a:lnSpc>
                <a:spcPct val="100000"/>
              </a:lnSpc>
              <a:spcBef>
                <a:spcPts val="400"/>
              </a:spcBef>
            </a:pPr>
            <a:r>
              <a:rPr sz="900" b="1" spc="-35" dirty="0">
                <a:solidFill>
                  <a:srgbClr val="C00000"/>
                </a:solidFill>
                <a:latin typeface="Calibri"/>
                <a:cs typeface="Calibri"/>
              </a:rPr>
              <a:t>&lt;PARAM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name="name"</a:t>
            </a:r>
            <a:r>
              <a:rPr sz="900" b="1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value="ecs-a4d3"/&gt;</a:t>
            </a:r>
            <a:endParaRPr sz="900" dirty="0">
              <a:latin typeface="Calibri"/>
              <a:cs typeface="Calibri"/>
            </a:endParaRPr>
          </a:p>
          <a:p>
            <a:pPr marL="286385">
              <a:lnSpc>
                <a:spcPct val="100000"/>
              </a:lnSpc>
              <a:spcBef>
                <a:spcPts val="409"/>
              </a:spcBef>
            </a:pPr>
            <a:r>
              <a:rPr sz="900" b="1" spc="-35" dirty="0">
                <a:solidFill>
                  <a:srgbClr val="C00000"/>
                </a:solidFill>
                <a:latin typeface="Calibri"/>
                <a:cs typeface="Calibri"/>
              </a:rPr>
              <a:t>&lt;PARAM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name="azName"</a:t>
            </a:r>
            <a:r>
              <a:rPr sz="900" b="1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value="AZ1"/&gt;</a:t>
            </a:r>
            <a:endParaRPr sz="900" dirty="0">
              <a:latin typeface="Calibri"/>
              <a:cs typeface="Calibri"/>
            </a:endParaRPr>
          </a:p>
          <a:p>
            <a:pPr marL="286385">
              <a:lnSpc>
                <a:spcPct val="100000"/>
              </a:lnSpc>
              <a:spcBef>
                <a:spcPts val="395"/>
              </a:spcBef>
            </a:pPr>
            <a:r>
              <a:rPr sz="900" b="1" spc="-35" dirty="0">
                <a:solidFill>
                  <a:srgbClr val="C00000"/>
                </a:solidFill>
                <a:latin typeface="Calibri"/>
                <a:cs typeface="Calibri"/>
              </a:rPr>
              <a:t>&lt;PARAM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name="azPriority"</a:t>
            </a:r>
            <a:r>
              <a:rPr sz="900" b="1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value="1"/&gt;</a:t>
            </a:r>
            <a:endParaRPr sz="900" dirty="0">
              <a:latin typeface="Calibri"/>
              <a:cs typeface="Calibri"/>
            </a:endParaRPr>
          </a:p>
          <a:p>
            <a:pPr marL="286385">
              <a:lnSpc>
                <a:spcPct val="100000"/>
              </a:lnSpc>
              <a:spcBef>
                <a:spcPts val="395"/>
              </a:spcBef>
            </a:pPr>
            <a:r>
              <a:rPr sz="900" b="1" spc="-35" dirty="0">
                <a:solidFill>
                  <a:srgbClr val="C00000"/>
                </a:solidFill>
                <a:latin typeface="Calibri"/>
                <a:cs typeface="Calibri"/>
              </a:rPr>
              <a:t>&lt;PARAM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name="backIp1"</a:t>
            </a:r>
            <a:r>
              <a:rPr sz="900" b="1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value="192.168.0.58"/&gt;</a:t>
            </a:r>
            <a:endParaRPr sz="900" dirty="0">
              <a:latin typeface="Calibri"/>
              <a:cs typeface="Calibri"/>
            </a:endParaRPr>
          </a:p>
          <a:p>
            <a:pPr marL="286385">
              <a:lnSpc>
                <a:spcPct val="100000"/>
              </a:lnSpc>
              <a:spcBef>
                <a:spcPts val="409"/>
              </a:spcBef>
            </a:pPr>
            <a:r>
              <a:rPr sz="900" b="1" spc="-35" dirty="0">
                <a:solidFill>
                  <a:srgbClr val="C00000"/>
                </a:solidFill>
                <a:latin typeface="Calibri"/>
                <a:cs typeface="Calibri"/>
              </a:rPr>
              <a:t>&lt;PARAM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name="sshIp1"</a:t>
            </a:r>
            <a:r>
              <a:rPr sz="900" b="1" spc="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900" b="1" spc="-30" dirty="0">
                <a:solidFill>
                  <a:srgbClr val="C00000"/>
                </a:solidFill>
                <a:latin typeface="Calibri"/>
                <a:cs typeface="Calibri"/>
              </a:rPr>
              <a:t>value="192.168.0.58"/&gt;</a:t>
            </a:r>
            <a:endParaRPr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 dirty="0">
              <a:latin typeface="Calibri"/>
              <a:cs typeface="Calibri"/>
            </a:endParaRPr>
          </a:p>
          <a:p>
            <a:pPr marL="370840">
              <a:lnSpc>
                <a:spcPct val="100000"/>
              </a:lnSpc>
              <a:spcBef>
                <a:spcPts val="770"/>
              </a:spcBef>
            </a:pP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&lt;!--dbnode--&gt;</a:t>
            </a:r>
            <a:endParaRPr sz="900" dirty="0">
              <a:latin typeface="Calibri"/>
              <a:cs typeface="Calibri"/>
            </a:endParaRPr>
          </a:p>
          <a:p>
            <a:pPr marL="370840">
              <a:lnSpc>
                <a:spcPct val="100000"/>
              </a:lnSpc>
              <a:spcBef>
                <a:spcPts val="409"/>
              </a:spcBef>
            </a:pPr>
            <a:r>
              <a:rPr sz="900" b="1" spc="-35" dirty="0">
                <a:solidFill>
                  <a:srgbClr val="C00000"/>
                </a:solidFill>
                <a:latin typeface="Calibri"/>
                <a:cs typeface="Calibri"/>
              </a:rPr>
              <a:t>&lt;PARAM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name="dataNum"</a:t>
            </a:r>
            <a:r>
              <a:rPr sz="900" b="1" spc="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value="1"/&gt;</a:t>
            </a:r>
            <a:endParaRPr sz="900" dirty="0">
              <a:latin typeface="Calibri"/>
              <a:cs typeface="Calibri"/>
            </a:endParaRPr>
          </a:p>
          <a:p>
            <a:pPr marL="370840">
              <a:lnSpc>
                <a:spcPct val="100000"/>
              </a:lnSpc>
              <a:spcBef>
                <a:spcPts val="395"/>
              </a:spcBef>
            </a:pPr>
            <a:r>
              <a:rPr sz="900" b="1" spc="-35" dirty="0">
                <a:solidFill>
                  <a:srgbClr val="C00000"/>
                </a:solidFill>
                <a:latin typeface="Calibri"/>
                <a:cs typeface="Calibri"/>
              </a:rPr>
              <a:t>&lt;PARAM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name="dataPortBase"</a:t>
            </a:r>
            <a:r>
              <a:rPr sz="900" b="1" spc="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value="26000"/&gt;</a:t>
            </a:r>
            <a:endParaRPr sz="900" dirty="0">
              <a:latin typeface="Calibri"/>
              <a:cs typeface="Calibri"/>
            </a:endParaRPr>
          </a:p>
          <a:p>
            <a:pPr marL="370840">
              <a:lnSpc>
                <a:spcPct val="100000"/>
              </a:lnSpc>
              <a:spcBef>
                <a:spcPts val="400"/>
              </a:spcBef>
            </a:pPr>
            <a:r>
              <a:rPr sz="900" b="1" spc="-35" dirty="0">
                <a:solidFill>
                  <a:srgbClr val="C00000"/>
                </a:solidFill>
                <a:latin typeface="Calibri"/>
                <a:cs typeface="Calibri"/>
              </a:rPr>
              <a:t>&lt;PARAM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name="dataNode1"</a:t>
            </a:r>
            <a:r>
              <a:rPr sz="900" b="1" spc="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value="/gaussdb/data/db1"/&gt;</a:t>
            </a:r>
            <a:endParaRPr sz="900" dirty="0">
              <a:latin typeface="Calibri"/>
              <a:cs typeface="Calibri"/>
            </a:endParaRPr>
          </a:p>
          <a:p>
            <a:pPr marR="2569845" algn="ctr">
              <a:lnSpc>
                <a:spcPct val="100000"/>
              </a:lnSpc>
              <a:spcBef>
                <a:spcPts val="405"/>
              </a:spcBef>
            </a:pP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&lt;/DEVICE&gt;</a:t>
            </a:r>
            <a:endParaRPr sz="900" dirty="0">
              <a:latin typeface="Calibri"/>
              <a:cs typeface="Calibri"/>
            </a:endParaRPr>
          </a:p>
          <a:p>
            <a:pPr marR="2577465" algn="ctr">
              <a:lnSpc>
                <a:spcPct val="100000"/>
              </a:lnSpc>
              <a:spcBef>
                <a:spcPts val="400"/>
              </a:spcBef>
            </a:pPr>
            <a:r>
              <a:rPr sz="900" b="1" spc="-30" dirty="0">
                <a:solidFill>
                  <a:srgbClr val="C00000"/>
                </a:solidFill>
                <a:latin typeface="Calibri"/>
                <a:cs typeface="Calibri"/>
              </a:rPr>
              <a:t>&lt;/DEVICELIST&gt;</a:t>
            </a:r>
            <a:endParaRPr sz="900" dirty="0">
              <a:latin typeface="Calibri"/>
              <a:cs typeface="Calibri"/>
            </a:endParaRPr>
          </a:p>
          <a:p>
            <a:pPr marR="3001010" algn="ctr">
              <a:lnSpc>
                <a:spcPct val="100000"/>
              </a:lnSpc>
              <a:spcBef>
                <a:spcPts val="395"/>
              </a:spcBef>
            </a:pPr>
            <a:r>
              <a:rPr sz="900" b="1" spc="-30" dirty="0">
                <a:solidFill>
                  <a:srgbClr val="C00000"/>
                </a:solidFill>
                <a:latin typeface="Calibri"/>
                <a:cs typeface="Calibri"/>
              </a:rPr>
              <a:t>&lt;/</a:t>
            </a:r>
            <a:r>
              <a:rPr sz="900" b="1" spc="-4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900" b="1" spc="-4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900" b="1" spc="-3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900" b="1" dirty="0">
                <a:solidFill>
                  <a:srgbClr val="C00000"/>
                </a:solidFill>
                <a:latin typeface="Calibri"/>
                <a:cs typeface="Calibri"/>
              </a:rPr>
              <a:t>&gt;</a:t>
            </a:r>
            <a:endParaRPr sz="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90176" y="251459"/>
            <a:ext cx="1969007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21920"/>
            <a:ext cx="550545" cy="699770"/>
          </a:xfrm>
          <a:custGeom>
            <a:avLst/>
            <a:gdLst/>
            <a:ahLst/>
            <a:cxnLst/>
            <a:rect l="l" t="t" r="r" b="b"/>
            <a:pathLst>
              <a:path w="550544" h="699769">
                <a:moveTo>
                  <a:pt x="550164" y="0"/>
                </a:moveTo>
                <a:lnTo>
                  <a:pt x="0" y="0"/>
                </a:lnTo>
                <a:lnTo>
                  <a:pt x="0" y="699515"/>
                </a:lnTo>
                <a:lnTo>
                  <a:pt x="312432" y="699515"/>
                </a:lnTo>
                <a:lnTo>
                  <a:pt x="550164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8337" y="380238"/>
            <a:ext cx="96520" cy="220979"/>
          </a:xfrm>
          <a:custGeom>
            <a:avLst/>
            <a:gdLst/>
            <a:ahLst/>
            <a:cxnLst/>
            <a:rect l="l" t="t" r="r" b="b"/>
            <a:pathLst>
              <a:path w="96520" h="220979">
                <a:moveTo>
                  <a:pt x="96012" y="0"/>
                </a:moveTo>
                <a:lnTo>
                  <a:pt x="75044" y="0"/>
                </a:lnTo>
                <a:lnTo>
                  <a:pt x="0" y="220979"/>
                </a:lnTo>
                <a:lnTo>
                  <a:pt x="20967" y="220979"/>
                </a:lnTo>
                <a:lnTo>
                  <a:pt x="96012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8337" y="380238"/>
            <a:ext cx="96520" cy="220979"/>
          </a:xfrm>
          <a:custGeom>
            <a:avLst/>
            <a:gdLst/>
            <a:ahLst/>
            <a:cxnLst/>
            <a:rect l="l" t="t" r="r" b="b"/>
            <a:pathLst>
              <a:path w="96520" h="220979">
                <a:moveTo>
                  <a:pt x="75044" y="0"/>
                </a:moveTo>
                <a:lnTo>
                  <a:pt x="96012" y="0"/>
                </a:lnTo>
                <a:lnTo>
                  <a:pt x="20967" y="220979"/>
                </a:lnTo>
                <a:lnTo>
                  <a:pt x="0" y="220979"/>
                </a:lnTo>
                <a:lnTo>
                  <a:pt x="75044" y="0"/>
                </a:lnTo>
                <a:close/>
              </a:path>
            </a:pathLst>
          </a:custGeom>
          <a:ln w="38100">
            <a:solidFill>
              <a:srgbClr val="A03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3483" y="821436"/>
            <a:ext cx="11306175" cy="0"/>
          </a:xfrm>
          <a:custGeom>
            <a:avLst/>
            <a:gdLst/>
            <a:ahLst/>
            <a:cxnLst/>
            <a:rect l="l" t="t" r="r" b="b"/>
            <a:pathLst>
              <a:path w="11306175">
                <a:moveTo>
                  <a:pt x="0" y="0"/>
                </a:moveTo>
                <a:lnTo>
                  <a:pt x="11306175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69140" y="336804"/>
            <a:ext cx="0" cy="265430"/>
          </a:xfrm>
          <a:custGeom>
            <a:avLst/>
            <a:gdLst/>
            <a:ahLst/>
            <a:cxnLst/>
            <a:rect l="l" t="t" r="r" b="b"/>
            <a:pathLst>
              <a:path h="265430">
                <a:moveTo>
                  <a:pt x="0" y="0"/>
                </a:moveTo>
                <a:lnTo>
                  <a:pt x="0" y="265175"/>
                </a:lnTo>
              </a:path>
            </a:pathLst>
          </a:custGeom>
          <a:ln w="45720">
            <a:solidFill>
              <a:srgbClr val="A03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95372" y="6404864"/>
            <a:ext cx="236220" cy="264160"/>
          </a:xfrm>
          <a:custGeom>
            <a:avLst/>
            <a:gdLst/>
            <a:ahLst/>
            <a:cxnLst/>
            <a:rect l="l" t="t" r="r" b="b"/>
            <a:pathLst>
              <a:path w="236219" h="264159">
                <a:moveTo>
                  <a:pt x="168147" y="229870"/>
                </a:moveTo>
                <a:lnTo>
                  <a:pt x="168147" y="234950"/>
                </a:lnTo>
                <a:lnTo>
                  <a:pt x="170052" y="236220"/>
                </a:lnTo>
                <a:lnTo>
                  <a:pt x="174676" y="242570"/>
                </a:lnTo>
                <a:lnTo>
                  <a:pt x="179990" y="248920"/>
                </a:lnTo>
                <a:lnTo>
                  <a:pt x="186019" y="255270"/>
                </a:lnTo>
                <a:lnTo>
                  <a:pt x="192785" y="261620"/>
                </a:lnTo>
                <a:lnTo>
                  <a:pt x="196595" y="262890"/>
                </a:lnTo>
                <a:lnTo>
                  <a:pt x="202183" y="262890"/>
                </a:lnTo>
                <a:lnTo>
                  <a:pt x="207898" y="264160"/>
                </a:lnTo>
                <a:lnTo>
                  <a:pt x="207898" y="261620"/>
                </a:lnTo>
                <a:lnTo>
                  <a:pt x="211708" y="255270"/>
                </a:lnTo>
                <a:lnTo>
                  <a:pt x="211624" y="248920"/>
                </a:lnTo>
                <a:lnTo>
                  <a:pt x="211204" y="242570"/>
                </a:lnTo>
                <a:lnTo>
                  <a:pt x="188975" y="242570"/>
                </a:lnTo>
                <a:lnTo>
                  <a:pt x="181355" y="236220"/>
                </a:lnTo>
                <a:lnTo>
                  <a:pt x="173862" y="233680"/>
                </a:lnTo>
                <a:lnTo>
                  <a:pt x="168147" y="229870"/>
                </a:lnTo>
                <a:close/>
              </a:path>
              <a:path w="236219" h="264159">
                <a:moveTo>
                  <a:pt x="92844" y="198120"/>
                </a:moveTo>
                <a:lnTo>
                  <a:pt x="69976" y="198120"/>
                </a:lnTo>
                <a:lnTo>
                  <a:pt x="71754" y="199390"/>
                </a:lnTo>
                <a:lnTo>
                  <a:pt x="73659" y="199390"/>
                </a:lnTo>
                <a:lnTo>
                  <a:pt x="74136" y="215900"/>
                </a:lnTo>
                <a:lnTo>
                  <a:pt x="73659" y="224790"/>
                </a:lnTo>
                <a:lnTo>
                  <a:pt x="71754" y="233680"/>
                </a:lnTo>
                <a:lnTo>
                  <a:pt x="69976" y="242570"/>
                </a:lnTo>
                <a:lnTo>
                  <a:pt x="75564" y="246380"/>
                </a:lnTo>
                <a:lnTo>
                  <a:pt x="81279" y="250190"/>
                </a:lnTo>
                <a:lnTo>
                  <a:pt x="85089" y="254000"/>
                </a:lnTo>
                <a:lnTo>
                  <a:pt x="90677" y="254000"/>
                </a:lnTo>
                <a:lnTo>
                  <a:pt x="96392" y="255270"/>
                </a:lnTo>
                <a:lnTo>
                  <a:pt x="96392" y="238760"/>
                </a:lnTo>
                <a:lnTo>
                  <a:pt x="94994" y="226060"/>
                </a:lnTo>
                <a:lnTo>
                  <a:pt x="93773" y="213360"/>
                </a:lnTo>
                <a:lnTo>
                  <a:pt x="92996" y="201930"/>
                </a:lnTo>
                <a:lnTo>
                  <a:pt x="92877" y="199390"/>
                </a:lnTo>
                <a:lnTo>
                  <a:pt x="92844" y="198120"/>
                </a:lnTo>
                <a:close/>
              </a:path>
              <a:path w="236219" h="264159">
                <a:moveTo>
                  <a:pt x="204088" y="160020"/>
                </a:moveTo>
                <a:lnTo>
                  <a:pt x="183276" y="160020"/>
                </a:lnTo>
                <a:lnTo>
                  <a:pt x="187608" y="163830"/>
                </a:lnTo>
                <a:lnTo>
                  <a:pt x="190880" y="171450"/>
                </a:lnTo>
                <a:lnTo>
                  <a:pt x="190880" y="240030"/>
                </a:lnTo>
                <a:lnTo>
                  <a:pt x="188975" y="240030"/>
                </a:lnTo>
                <a:lnTo>
                  <a:pt x="188975" y="242570"/>
                </a:lnTo>
                <a:lnTo>
                  <a:pt x="211204" y="242570"/>
                </a:lnTo>
                <a:lnTo>
                  <a:pt x="205994" y="163830"/>
                </a:lnTo>
                <a:lnTo>
                  <a:pt x="204088" y="160020"/>
                </a:lnTo>
                <a:close/>
              </a:path>
              <a:path w="236219" h="264159">
                <a:moveTo>
                  <a:pt x="133641" y="151130"/>
                </a:moveTo>
                <a:lnTo>
                  <a:pt x="49148" y="151130"/>
                </a:lnTo>
                <a:lnTo>
                  <a:pt x="32130" y="201930"/>
                </a:lnTo>
                <a:lnTo>
                  <a:pt x="30372" y="208280"/>
                </a:lnTo>
                <a:lnTo>
                  <a:pt x="30924" y="214630"/>
                </a:lnTo>
                <a:lnTo>
                  <a:pt x="33952" y="219710"/>
                </a:lnTo>
                <a:lnTo>
                  <a:pt x="39623" y="223520"/>
                </a:lnTo>
                <a:lnTo>
                  <a:pt x="45587" y="224790"/>
                </a:lnTo>
                <a:lnTo>
                  <a:pt x="51704" y="223520"/>
                </a:lnTo>
                <a:lnTo>
                  <a:pt x="57465" y="219710"/>
                </a:lnTo>
                <a:lnTo>
                  <a:pt x="62356" y="212090"/>
                </a:lnTo>
                <a:lnTo>
                  <a:pt x="64261" y="207010"/>
                </a:lnTo>
                <a:lnTo>
                  <a:pt x="68071" y="203200"/>
                </a:lnTo>
                <a:lnTo>
                  <a:pt x="69976" y="198120"/>
                </a:lnTo>
                <a:lnTo>
                  <a:pt x="92844" y="198120"/>
                </a:lnTo>
                <a:lnTo>
                  <a:pt x="92681" y="191770"/>
                </a:lnTo>
                <a:lnTo>
                  <a:pt x="92582" y="180340"/>
                </a:lnTo>
                <a:lnTo>
                  <a:pt x="100202" y="166370"/>
                </a:lnTo>
                <a:lnTo>
                  <a:pt x="102107" y="163830"/>
                </a:lnTo>
                <a:lnTo>
                  <a:pt x="107695" y="163830"/>
                </a:lnTo>
                <a:lnTo>
                  <a:pt x="111505" y="162560"/>
                </a:lnTo>
                <a:lnTo>
                  <a:pt x="113410" y="162560"/>
                </a:lnTo>
                <a:lnTo>
                  <a:pt x="120759" y="157480"/>
                </a:lnTo>
                <a:lnTo>
                  <a:pt x="133641" y="151130"/>
                </a:lnTo>
                <a:close/>
              </a:path>
              <a:path w="236219" h="264159">
                <a:moveTo>
                  <a:pt x="198955" y="132080"/>
                </a:moveTo>
                <a:lnTo>
                  <a:pt x="166242" y="132080"/>
                </a:lnTo>
                <a:lnTo>
                  <a:pt x="157049" y="148590"/>
                </a:lnTo>
                <a:lnTo>
                  <a:pt x="149272" y="166370"/>
                </a:lnTo>
                <a:lnTo>
                  <a:pt x="142900" y="182880"/>
                </a:lnTo>
                <a:lnTo>
                  <a:pt x="137921" y="201930"/>
                </a:lnTo>
                <a:lnTo>
                  <a:pt x="137622" y="209550"/>
                </a:lnTo>
                <a:lnTo>
                  <a:pt x="139811" y="215900"/>
                </a:lnTo>
                <a:lnTo>
                  <a:pt x="144833" y="219710"/>
                </a:lnTo>
                <a:lnTo>
                  <a:pt x="153034" y="223520"/>
                </a:lnTo>
                <a:lnTo>
                  <a:pt x="154939" y="215900"/>
                </a:lnTo>
                <a:lnTo>
                  <a:pt x="154939" y="208280"/>
                </a:lnTo>
                <a:lnTo>
                  <a:pt x="156844" y="201930"/>
                </a:lnTo>
                <a:lnTo>
                  <a:pt x="181972" y="201930"/>
                </a:lnTo>
                <a:lnTo>
                  <a:pt x="179577" y="198120"/>
                </a:lnTo>
                <a:lnTo>
                  <a:pt x="170052" y="191770"/>
                </a:lnTo>
                <a:lnTo>
                  <a:pt x="158750" y="187960"/>
                </a:lnTo>
                <a:lnTo>
                  <a:pt x="158750" y="186690"/>
                </a:lnTo>
                <a:lnTo>
                  <a:pt x="166242" y="179070"/>
                </a:lnTo>
                <a:lnTo>
                  <a:pt x="183260" y="179070"/>
                </a:lnTo>
                <a:lnTo>
                  <a:pt x="183260" y="172720"/>
                </a:lnTo>
                <a:lnTo>
                  <a:pt x="173862" y="172720"/>
                </a:lnTo>
                <a:lnTo>
                  <a:pt x="170052" y="167640"/>
                </a:lnTo>
                <a:lnTo>
                  <a:pt x="177540" y="161290"/>
                </a:lnTo>
                <a:lnTo>
                  <a:pt x="183276" y="160020"/>
                </a:lnTo>
                <a:lnTo>
                  <a:pt x="204088" y="160020"/>
                </a:lnTo>
                <a:lnTo>
                  <a:pt x="200278" y="154940"/>
                </a:lnTo>
                <a:lnTo>
                  <a:pt x="196595" y="152400"/>
                </a:lnTo>
                <a:lnTo>
                  <a:pt x="192785" y="148590"/>
                </a:lnTo>
                <a:lnTo>
                  <a:pt x="185165" y="148590"/>
                </a:lnTo>
                <a:lnTo>
                  <a:pt x="179577" y="147320"/>
                </a:lnTo>
                <a:lnTo>
                  <a:pt x="185306" y="140970"/>
                </a:lnTo>
                <a:lnTo>
                  <a:pt x="191595" y="135890"/>
                </a:lnTo>
                <a:lnTo>
                  <a:pt x="198955" y="132080"/>
                </a:lnTo>
                <a:close/>
              </a:path>
              <a:path w="236219" h="264159">
                <a:moveTo>
                  <a:pt x="181972" y="201930"/>
                </a:moveTo>
                <a:lnTo>
                  <a:pt x="156844" y="201930"/>
                </a:lnTo>
                <a:lnTo>
                  <a:pt x="160654" y="204470"/>
                </a:lnTo>
                <a:lnTo>
                  <a:pt x="162559" y="204470"/>
                </a:lnTo>
                <a:lnTo>
                  <a:pt x="168147" y="208280"/>
                </a:lnTo>
                <a:lnTo>
                  <a:pt x="173862" y="214630"/>
                </a:lnTo>
                <a:lnTo>
                  <a:pt x="181355" y="208280"/>
                </a:lnTo>
                <a:lnTo>
                  <a:pt x="185165" y="207010"/>
                </a:lnTo>
                <a:lnTo>
                  <a:pt x="181972" y="201930"/>
                </a:lnTo>
                <a:close/>
              </a:path>
              <a:path w="236219" h="264159">
                <a:moveTo>
                  <a:pt x="183260" y="179070"/>
                </a:moveTo>
                <a:lnTo>
                  <a:pt x="166242" y="179070"/>
                </a:lnTo>
                <a:lnTo>
                  <a:pt x="177672" y="182880"/>
                </a:lnTo>
                <a:lnTo>
                  <a:pt x="183260" y="184150"/>
                </a:lnTo>
                <a:lnTo>
                  <a:pt x="183260" y="179070"/>
                </a:lnTo>
                <a:close/>
              </a:path>
              <a:path w="236219" h="264159">
                <a:moveTo>
                  <a:pt x="95202" y="59690"/>
                </a:moveTo>
                <a:lnTo>
                  <a:pt x="71754" y="59690"/>
                </a:lnTo>
                <a:lnTo>
                  <a:pt x="71743" y="64770"/>
                </a:lnTo>
                <a:lnTo>
                  <a:pt x="71616" y="74930"/>
                </a:lnTo>
                <a:lnTo>
                  <a:pt x="71532" y="78740"/>
                </a:lnTo>
                <a:lnTo>
                  <a:pt x="71004" y="87630"/>
                </a:lnTo>
                <a:lnTo>
                  <a:pt x="69976" y="96520"/>
                </a:lnTo>
                <a:lnTo>
                  <a:pt x="69976" y="100330"/>
                </a:lnTo>
                <a:lnTo>
                  <a:pt x="64261" y="104140"/>
                </a:lnTo>
                <a:lnTo>
                  <a:pt x="51171" y="113030"/>
                </a:lnTo>
                <a:lnTo>
                  <a:pt x="37544" y="120650"/>
                </a:lnTo>
                <a:lnTo>
                  <a:pt x="0" y="140970"/>
                </a:lnTo>
                <a:lnTo>
                  <a:pt x="0" y="147320"/>
                </a:lnTo>
                <a:lnTo>
                  <a:pt x="9397" y="151130"/>
                </a:lnTo>
                <a:lnTo>
                  <a:pt x="19377" y="156210"/>
                </a:lnTo>
                <a:lnTo>
                  <a:pt x="29321" y="160020"/>
                </a:lnTo>
                <a:lnTo>
                  <a:pt x="39241" y="158750"/>
                </a:lnTo>
                <a:lnTo>
                  <a:pt x="49148" y="151130"/>
                </a:lnTo>
                <a:lnTo>
                  <a:pt x="133641" y="151130"/>
                </a:lnTo>
                <a:lnTo>
                  <a:pt x="136217" y="149860"/>
                </a:lnTo>
                <a:lnTo>
                  <a:pt x="143636" y="144780"/>
                </a:lnTo>
                <a:lnTo>
                  <a:pt x="154939" y="139700"/>
                </a:lnTo>
                <a:lnTo>
                  <a:pt x="166242" y="132080"/>
                </a:lnTo>
                <a:lnTo>
                  <a:pt x="215391" y="132080"/>
                </a:lnTo>
                <a:lnTo>
                  <a:pt x="223011" y="128270"/>
                </a:lnTo>
                <a:lnTo>
                  <a:pt x="122808" y="128270"/>
                </a:lnTo>
                <a:lnTo>
                  <a:pt x="120268" y="123190"/>
                </a:lnTo>
                <a:lnTo>
                  <a:pt x="98297" y="123190"/>
                </a:lnTo>
                <a:lnTo>
                  <a:pt x="92344" y="107950"/>
                </a:lnTo>
                <a:lnTo>
                  <a:pt x="90677" y="93980"/>
                </a:lnTo>
                <a:lnTo>
                  <a:pt x="91868" y="78740"/>
                </a:lnTo>
                <a:lnTo>
                  <a:pt x="94487" y="63500"/>
                </a:lnTo>
                <a:lnTo>
                  <a:pt x="95202" y="59690"/>
                </a:lnTo>
                <a:close/>
              </a:path>
              <a:path w="236219" h="264159">
                <a:moveTo>
                  <a:pt x="180715" y="64770"/>
                </a:moveTo>
                <a:lnTo>
                  <a:pt x="156844" y="64770"/>
                </a:lnTo>
                <a:lnTo>
                  <a:pt x="154939" y="74930"/>
                </a:lnTo>
                <a:lnTo>
                  <a:pt x="153034" y="81280"/>
                </a:lnTo>
                <a:lnTo>
                  <a:pt x="153034" y="87630"/>
                </a:lnTo>
                <a:lnTo>
                  <a:pt x="136016" y="87630"/>
                </a:lnTo>
                <a:lnTo>
                  <a:pt x="134111" y="92710"/>
                </a:lnTo>
                <a:lnTo>
                  <a:pt x="134111" y="95250"/>
                </a:lnTo>
                <a:lnTo>
                  <a:pt x="139826" y="99060"/>
                </a:lnTo>
                <a:lnTo>
                  <a:pt x="141731" y="102870"/>
                </a:lnTo>
                <a:lnTo>
                  <a:pt x="141731" y="104140"/>
                </a:lnTo>
                <a:lnTo>
                  <a:pt x="143636" y="107950"/>
                </a:lnTo>
                <a:lnTo>
                  <a:pt x="122808" y="128270"/>
                </a:lnTo>
                <a:lnTo>
                  <a:pt x="223011" y="128270"/>
                </a:lnTo>
                <a:lnTo>
                  <a:pt x="230504" y="124460"/>
                </a:lnTo>
                <a:lnTo>
                  <a:pt x="236219" y="123190"/>
                </a:lnTo>
                <a:lnTo>
                  <a:pt x="236219" y="116840"/>
                </a:lnTo>
                <a:lnTo>
                  <a:pt x="232409" y="113030"/>
                </a:lnTo>
                <a:lnTo>
                  <a:pt x="226442" y="109220"/>
                </a:lnTo>
                <a:lnTo>
                  <a:pt x="179577" y="109220"/>
                </a:lnTo>
                <a:lnTo>
                  <a:pt x="171957" y="96520"/>
                </a:lnTo>
                <a:lnTo>
                  <a:pt x="170052" y="91440"/>
                </a:lnTo>
                <a:lnTo>
                  <a:pt x="169838" y="87630"/>
                </a:lnTo>
                <a:lnTo>
                  <a:pt x="147446" y="87630"/>
                </a:lnTo>
                <a:lnTo>
                  <a:pt x="141731" y="85090"/>
                </a:lnTo>
                <a:lnTo>
                  <a:pt x="169694" y="85090"/>
                </a:lnTo>
                <a:lnTo>
                  <a:pt x="169336" y="78740"/>
                </a:lnTo>
                <a:lnTo>
                  <a:pt x="172894" y="69850"/>
                </a:lnTo>
                <a:lnTo>
                  <a:pt x="180715" y="64770"/>
                </a:lnTo>
                <a:close/>
              </a:path>
              <a:path w="236219" h="264159">
                <a:moveTo>
                  <a:pt x="109600" y="107950"/>
                </a:moveTo>
                <a:lnTo>
                  <a:pt x="105790" y="115570"/>
                </a:lnTo>
                <a:lnTo>
                  <a:pt x="102107" y="119380"/>
                </a:lnTo>
                <a:lnTo>
                  <a:pt x="98297" y="123190"/>
                </a:lnTo>
                <a:lnTo>
                  <a:pt x="120268" y="123190"/>
                </a:lnTo>
                <a:lnTo>
                  <a:pt x="118998" y="120650"/>
                </a:lnTo>
                <a:lnTo>
                  <a:pt x="115315" y="115570"/>
                </a:lnTo>
                <a:lnTo>
                  <a:pt x="109600" y="107950"/>
                </a:lnTo>
                <a:close/>
              </a:path>
              <a:path w="236219" h="264159">
                <a:moveTo>
                  <a:pt x="213032" y="105410"/>
                </a:moveTo>
                <a:lnTo>
                  <a:pt x="192071" y="109220"/>
                </a:lnTo>
                <a:lnTo>
                  <a:pt x="226442" y="109220"/>
                </a:lnTo>
                <a:lnTo>
                  <a:pt x="219916" y="106680"/>
                </a:lnTo>
                <a:lnTo>
                  <a:pt x="213032" y="105410"/>
                </a:lnTo>
                <a:close/>
              </a:path>
              <a:path w="236219" h="264159">
                <a:moveTo>
                  <a:pt x="51053" y="35560"/>
                </a:moveTo>
                <a:lnTo>
                  <a:pt x="49148" y="36830"/>
                </a:lnTo>
                <a:lnTo>
                  <a:pt x="38865" y="41910"/>
                </a:lnTo>
                <a:lnTo>
                  <a:pt x="30702" y="48260"/>
                </a:lnTo>
                <a:lnTo>
                  <a:pt x="24681" y="57150"/>
                </a:lnTo>
                <a:lnTo>
                  <a:pt x="20827" y="67310"/>
                </a:lnTo>
                <a:lnTo>
                  <a:pt x="18922" y="72390"/>
                </a:lnTo>
                <a:lnTo>
                  <a:pt x="18922" y="77470"/>
                </a:lnTo>
                <a:lnTo>
                  <a:pt x="17017" y="81280"/>
                </a:lnTo>
                <a:lnTo>
                  <a:pt x="15557" y="88900"/>
                </a:lnTo>
                <a:lnTo>
                  <a:pt x="16763" y="93980"/>
                </a:lnTo>
                <a:lnTo>
                  <a:pt x="20446" y="99060"/>
                </a:lnTo>
                <a:lnTo>
                  <a:pt x="26415" y="102870"/>
                </a:lnTo>
                <a:lnTo>
                  <a:pt x="32130" y="104140"/>
                </a:lnTo>
                <a:lnTo>
                  <a:pt x="37845" y="104140"/>
                </a:lnTo>
                <a:lnTo>
                  <a:pt x="43433" y="106680"/>
                </a:lnTo>
                <a:lnTo>
                  <a:pt x="41528" y="104140"/>
                </a:lnTo>
                <a:lnTo>
                  <a:pt x="41528" y="102870"/>
                </a:lnTo>
                <a:lnTo>
                  <a:pt x="48652" y="92710"/>
                </a:lnTo>
                <a:lnTo>
                  <a:pt x="55752" y="81280"/>
                </a:lnTo>
                <a:lnTo>
                  <a:pt x="62853" y="71120"/>
                </a:lnTo>
                <a:lnTo>
                  <a:pt x="69185" y="60960"/>
                </a:lnTo>
                <a:lnTo>
                  <a:pt x="52958" y="60960"/>
                </a:lnTo>
                <a:lnTo>
                  <a:pt x="54863" y="57150"/>
                </a:lnTo>
                <a:lnTo>
                  <a:pt x="54863" y="52070"/>
                </a:lnTo>
                <a:lnTo>
                  <a:pt x="58546" y="49530"/>
                </a:lnTo>
                <a:lnTo>
                  <a:pt x="60451" y="45720"/>
                </a:lnTo>
                <a:lnTo>
                  <a:pt x="64261" y="43180"/>
                </a:lnTo>
                <a:lnTo>
                  <a:pt x="60451" y="40640"/>
                </a:lnTo>
                <a:lnTo>
                  <a:pt x="56641" y="36830"/>
                </a:lnTo>
                <a:lnTo>
                  <a:pt x="51053" y="35560"/>
                </a:lnTo>
                <a:close/>
              </a:path>
              <a:path w="236219" h="264159">
                <a:moveTo>
                  <a:pt x="185165" y="0"/>
                </a:moveTo>
                <a:lnTo>
                  <a:pt x="177672" y="0"/>
                </a:lnTo>
                <a:lnTo>
                  <a:pt x="175767" y="3810"/>
                </a:lnTo>
                <a:lnTo>
                  <a:pt x="173862" y="5080"/>
                </a:lnTo>
                <a:lnTo>
                  <a:pt x="170052" y="11430"/>
                </a:lnTo>
                <a:lnTo>
                  <a:pt x="170052" y="13970"/>
                </a:lnTo>
                <a:lnTo>
                  <a:pt x="167512" y="22860"/>
                </a:lnTo>
                <a:lnTo>
                  <a:pt x="163194" y="41910"/>
                </a:lnTo>
                <a:lnTo>
                  <a:pt x="160654" y="49530"/>
                </a:lnTo>
                <a:lnTo>
                  <a:pt x="158750" y="52070"/>
                </a:lnTo>
                <a:lnTo>
                  <a:pt x="156844" y="55880"/>
                </a:lnTo>
                <a:lnTo>
                  <a:pt x="153034" y="55880"/>
                </a:lnTo>
                <a:lnTo>
                  <a:pt x="136064" y="63500"/>
                </a:lnTo>
                <a:lnTo>
                  <a:pt x="118998" y="68580"/>
                </a:lnTo>
                <a:lnTo>
                  <a:pt x="115315" y="71120"/>
                </a:lnTo>
                <a:lnTo>
                  <a:pt x="107695" y="74930"/>
                </a:lnTo>
                <a:lnTo>
                  <a:pt x="113410" y="81280"/>
                </a:lnTo>
                <a:lnTo>
                  <a:pt x="115315" y="81280"/>
                </a:lnTo>
                <a:lnTo>
                  <a:pt x="122808" y="77470"/>
                </a:lnTo>
                <a:lnTo>
                  <a:pt x="139112" y="72390"/>
                </a:lnTo>
                <a:lnTo>
                  <a:pt x="147544" y="68580"/>
                </a:lnTo>
                <a:lnTo>
                  <a:pt x="156844" y="64770"/>
                </a:lnTo>
                <a:lnTo>
                  <a:pt x="180715" y="64770"/>
                </a:lnTo>
                <a:lnTo>
                  <a:pt x="192785" y="63500"/>
                </a:lnTo>
                <a:lnTo>
                  <a:pt x="204723" y="63500"/>
                </a:lnTo>
                <a:lnTo>
                  <a:pt x="209803" y="55880"/>
                </a:lnTo>
                <a:lnTo>
                  <a:pt x="203905" y="53340"/>
                </a:lnTo>
                <a:lnTo>
                  <a:pt x="182639" y="53340"/>
                </a:lnTo>
                <a:lnTo>
                  <a:pt x="173862" y="52070"/>
                </a:lnTo>
                <a:lnTo>
                  <a:pt x="175944" y="40640"/>
                </a:lnTo>
                <a:lnTo>
                  <a:pt x="177657" y="29210"/>
                </a:lnTo>
                <a:lnTo>
                  <a:pt x="180774" y="19050"/>
                </a:lnTo>
                <a:lnTo>
                  <a:pt x="187070" y="8890"/>
                </a:lnTo>
                <a:lnTo>
                  <a:pt x="187070" y="7620"/>
                </a:lnTo>
                <a:lnTo>
                  <a:pt x="185165" y="1270"/>
                </a:lnTo>
                <a:lnTo>
                  <a:pt x="185165" y="0"/>
                </a:lnTo>
                <a:close/>
              </a:path>
              <a:path w="236219" h="264159">
                <a:moveTo>
                  <a:pt x="204723" y="63500"/>
                </a:moveTo>
                <a:lnTo>
                  <a:pt x="194690" y="63500"/>
                </a:lnTo>
                <a:lnTo>
                  <a:pt x="194690" y="64770"/>
                </a:lnTo>
                <a:lnTo>
                  <a:pt x="202183" y="67310"/>
                </a:lnTo>
                <a:lnTo>
                  <a:pt x="204723" y="63500"/>
                </a:lnTo>
                <a:close/>
              </a:path>
              <a:path w="236219" h="264159">
                <a:moveTo>
                  <a:pt x="130428" y="52070"/>
                </a:moveTo>
                <a:lnTo>
                  <a:pt x="100202" y="52070"/>
                </a:lnTo>
                <a:lnTo>
                  <a:pt x="107695" y="55880"/>
                </a:lnTo>
                <a:lnTo>
                  <a:pt x="113410" y="57150"/>
                </a:lnTo>
                <a:lnTo>
                  <a:pt x="117220" y="59690"/>
                </a:lnTo>
                <a:lnTo>
                  <a:pt x="120903" y="60960"/>
                </a:lnTo>
                <a:lnTo>
                  <a:pt x="128523" y="63500"/>
                </a:lnTo>
                <a:lnTo>
                  <a:pt x="134111" y="59690"/>
                </a:lnTo>
                <a:lnTo>
                  <a:pt x="130428" y="52070"/>
                </a:lnTo>
                <a:close/>
              </a:path>
              <a:path w="236219" h="264159">
                <a:moveTo>
                  <a:pt x="92582" y="5080"/>
                </a:moveTo>
                <a:lnTo>
                  <a:pt x="90677" y="5080"/>
                </a:lnTo>
                <a:lnTo>
                  <a:pt x="85089" y="8890"/>
                </a:lnTo>
                <a:lnTo>
                  <a:pt x="83184" y="11430"/>
                </a:lnTo>
                <a:lnTo>
                  <a:pt x="81279" y="16510"/>
                </a:lnTo>
                <a:lnTo>
                  <a:pt x="77469" y="24130"/>
                </a:lnTo>
                <a:lnTo>
                  <a:pt x="77469" y="29210"/>
                </a:lnTo>
                <a:lnTo>
                  <a:pt x="75497" y="40640"/>
                </a:lnTo>
                <a:lnTo>
                  <a:pt x="70167" y="48260"/>
                </a:lnTo>
                <a:lnTo>
                  <a:pt x="62360" y="55880"/>
                </a:lnTo>
                <a:lnTo>
                  <a:pt x="52958" y="60960"/>
                </a:lnTo>
                <a:lnTo>
                  <a:pt x="69185" y="60960"/>
                </a:lnTo>
                <a:lnTo>
                  <a:pt x="69976" y="59690"/>
                </a:lnTo>
                <a:lnTo>
                  <a:pt x="95202" y="59690"/>
                </a:lnTo>
                <a:lnTo>
                  <a:pt x="96392" y="53340"/>
                </a:lnTo>
                <a:lnTo>
                  <a:pt x="100202" y="52070"/>
                </a:lnTo>
                <a:lnTo>
                  <a:pt x="130428" y="52070"/>
                </a:lnTo>
                <a:lnTo>
                  <a:pt x="128523" y="45720"/>
                </a:lnTo>
                <a:lnTo>
                  <a:pt x="122808" y="40640"/>
                </a:lnTo>
                <a:lnTo>
                  <a:pt x="117220" y="36830"/>
                </a:lnTo>
                <a:lnTo>
                  <a:pt x="113410" y="35560"/>
                </a:lnTo>
                <a:lnTo>
                  <a:pt x="111505" y="33020"/>
                </a:lnTo>
                <a:lnTo>
                  <a:pt x="111505" y="27940"/>
                </a:lnTo>
                <a:lnTo>
                  <a:pt x="109888" y="19050"/>
                </a:lnTo>
                <a:lnTo>
                  <a:pt x="105616" y="12700"/>
                </a:lnTo>
                <a:lnTo>
                  <a:pt x="99558" y="7620"/>
                </a:lnTo>
                <a:lnTo>
                  <a:pt x="92582" y="5080"/>
                </a:lnTo>
                <a:close/>
              </a:path>
              <a:path w="236219" h="264159">
                <a:moveTo>
                  <a:pt x="200955" y="52070"/>
                </a:moveTo>
                <a:lnTo>
                  <a:pt x="191785" y="52070"/>
                </a:lnTo>
                <a:lnTo>
                  <a:pt x="182639" y="53340"/>
                </a:lnTo>
                <a:lnTo>
                  <a:pt x="203905" y="53340"/>
                </a:lnTo>
                <a:lnTo>
                  <a:pt x="200955" y="52070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32176" y="6451010"/>
            <a:ext cx="129803" cy="1966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14727" y="6385559"/>
            <a:ext cx="236775" cy="2973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51482" y="6466332"/>
            <a:ext cx="140781" cy="1569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71955" y="6431279"/>
            <a:ext cx="210026" cy="2240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6740" y="6380988"/>
            <a:ext cx="242570" cy="289560"/>
          </a:xfrm>
          <a:custGeom>
            <a:avLst/>
            <a:gdLst/>
            <a:ahLst/>
            <a:cxnLst/>
            <a:rect l="l" t="t" r="r" b="b"/>
            <a:pathLst>
              <a:path w="242569" h="289559">
                <a:moveTo>
                  <a:pt x="61577" y="222250"/>
                </a:moveTo>
                <a:lnTo>
                  <a:pt x="37858" y="222250"/>
                </a:lnTo>
                <a:lnTo>
                  <a:pt x="35315" y="233680"/>
                </a:lnTo>
                <a:lnTo>
                  <a:pt x="33127" y="245110"/>
                </a:lnTo>
                <a:lnTo>
                  <a:pt x="30939" y="255270"/>
                </a:lnTo>
                <a:lnTo>
                  <a:pt x="28397" y="265430"/>
                </a:lnTo>
                <a:lnTo>
                  <a:pt x="28456" y="275590"/>
                </a:lnTo>
                <a:lnTo>
                  <a:pt x="31710" y="283210"/>
                </a:lnTo>
                <a:lnTo>
                  <a:pt x="38514" y="288290"/>
                </a:lnTo>
                <a:lnTo>
                  <a:pt x="49225" y="289560"/>
                </a:lnTo>
                <a:lnTo>
                  <a:pt x="49225" y="287020"/>
                </a:lnTo>
                <a:lnTo>
                  <a:pt x="51117" y="284480"/>
                </a:lnTo>
                <a:lnTo>
                  <a:pt x="54281" y="262890"/>
                </a:lnTo>
                <a:lnTo>
                  <a:pt x="57977" y="242570"/>
                </a:lnTo>
                <a:lnTo>
                  <a:pt x="61577" y="222250"/>
                </a:lnTo>
                <a:close/>
              </a:path>
              <a:path w="242569" h="289559">
                <a:moveTo>
                  <a:pt x="109804" y="228600"/>
                </a:moveTo>
                <a:lnTo>
                  <a:pt x="100329" y="228600"/>
                </a:lnTo>
                <a:lnTo>
                  <a:pt x="100329" y="240030"/>
                </a:lnTo>
                <a:lnTo>
                  <a:pt x="104114" y="242570"/>
                </a:lnTo>
                <a:lnTo>
                  <a:pt x="109503" y="247650"/>
                </a:lnTo>
                <a:lnTo>
                  <a:pt x="119561" y="255270"/>
                </a:lnTo>
                <a:lnTo>
                  <a:pt x="124942" y="260350"/>
                </a:lnTo>
                <a:lnTo>
                  <a:pt x="141539" y="270510"/>
                </a:lnTo>
                <a:lnTo>
                  <a:pt x="159732" y="278130"/>
                </a:lnTo>
                <a:lnTo>
                  <a:pt x="198780" y="288290"/>
                </a:lnTo>
                <a:lnTo>
                  <a:pt x="210134" y="288290"/>
                </a:lnTo>
                <a:lnTo>
                  <a:pt x="210134" y="287020"/>
                </a:lnTo>
                <a:lnTo>
                  <a:pt x="212026" y="283210"/>
                </a:lnTo>
                <a:lnTo>
                  <a:pt x="212026" y="275590"/>
                </a:lnTo>
                <a:lnTo>
                  <a:pt x="210134" y="271780"/>
                </a:lnTo>
                <a:lnTo>
                  <a:pt x="204832" y="264160"/>
                </a:lnTo>
                <a:lnTo>
                  <a:pt x="174167" y="264160"/>
                </a:lnTo>
                <a:lnTo>
                  <a:pt x="157807" y="261620"/>
                </a:lnTo>
                <a:lnTo>
                  <a:pt x="142690" y="255270"/>
                </a:lnTo>
                <a:lnTo>
                  <a:pt x="128640" y="246380"/>
                </a:lnTo>
                <a:lnTo>
                  <a:pt x="115481" y="236220"/>
                </a:lnTo>
                <a:lnTo>
                  <a:pt x="113588" y="232410"/>
                </a:lnTo>
                <a:lnTo>
                  <a:pt x="109804" y="228600"/>
                </a:lnTo>
                <a:close/>
              </a:path>
              <a:path w="242569" h="289559">
                <a:moveTo>
                  <a:pt x="161332" y="203200"/>
                </a:moveTo>
                <a:lnTo>
                  <a:pt x="134404" y="203200"/>
                </a:lnTo>
                <a:lnTo>
                  <a:pt x="134334" y="212090"/>
                </a:lnTo>
                <a:lnTo>
                  <a:pt x="134019" y="223520"/>
                </a:lnTo>
                <a:lnTo>
                  <a:pt x="137007" y="232410"/>
                </a:lnTo>
                <a:lnTo>
                  <a:pt x="145319" y="237490"/>
                </a:lnTo>
                <a:lnTo>
                  <a:pt x="160908" y="240030"/>
                </a:lnTo>
                <a:lnTo>
                  <a:pt x="162801" y="240030"/>
                </a:lnTo>
                <a:lnTo>
                  <a:pt x="166585" y="241300"/>
                </a:lnTo>
                <a:lnTo>
                  <a:pt x="177952" y="264160"/>
                </a:lnTo>
                <a:lnTo>
                  <a:pt x="204832" y="264160"/>
                </a:lnTo>
                <a:lnTo>
                  <a:pt x="203065" y="261620"/>
                </a:lnTo>
                <a:lnTo>
                  <a:pt x="196172" y="251460"/>
                </a:lnTo>
                <a:lnTo>
                  <a:pt x="189633" y="241300"/>
                </a:lnTo>
                <a:lnTo>
                  <a:pt x="183629" y="232410"/>
                </a:lnTo>
                <a:lnTo>
                  <a:pt x="193624" y="228600"/>
                </a:lnTo>
                <a:lnTo>
                  <a:pt x="203977" y="226060"/>
                </a:lnTo>
                <a:lnTo>
                  <a:pt x="238531" y="226060"/>
                </a:lnTo>
                <a:lnTo>
                  <a:pt x="242315" y="220980"/>
                </a:lnTo>
                <a:lnTo>
                  <a:pt x="155232" y="220980"/>
                </a:lnTo>
                <a:lnTo>
                  <a:pt x="155794" y="212090"/>
                </a:lnTo>
                <a:lnTo>
                  <a:pt x="159727" y="204470"/>
                </a:lnTo>
                <a:lnTo>
                  <a:pt x="161332" y="203200"/>
                </a:lnTo>
                <a:close/>
              </a:path>
              <a:path w="242569" h="289559">
                <a:moveTo>
                  <a:pt x="238531" y="226060"/>
                </a:moveTo>
                <a:lnTo>
                  <a:pt x="215040" y="226060"/>
                </a:lnTo>
                <a:lnTo>
                  <a:pt x="227164" y="229870"/>
                </a:lnTo>
                <a:lnTo>
                  <a:pt x="230962" y="232410"/>
                </a:lnTo>
                <a:lnTo>
                  <a:pt x="236639" y="232410"/>
                </a:lnTo>
                <a:lnTo>
                  <a:pt x="238531" y="226060"/>
                </a:lnTo>
                <a:close/>
              </a:path>
              <a:path w="242569" h="289559">
                <a:moveTo>
                  <a:pt x="89211" y="24130"/>
                </a:moveTo>
                <a:lnTo>
                  <a:pt x="81963" y="24130"/>
                </a:lnTo>
                <a:lnTo>
                  <a:pt x="73825" y="26670"/>
                </a:lnTo>
                <a:lnTo>
                  <a:pt x="43535" y="57150"/>
                </a:lnTo>
                <a:lnTo>
                  <a:pt x="36914" y="77470"/>
                </a:lnTo>
                <a:lnTo>
                  <a:pt x="39815" y="86360"/>
                </a:lnTo>
                <a:lnTo>
                  <a:pt x="47332" y="96520"/>
                </a:lnTo>
                <a:lnTo>
                  <a:pt x="47332" y="100330"/>
                </a:lnTo>
                <a:lnTo>
                  <a:pt x="51117" y="101600"/>
                </a:lnTo>
                <a:lnTo>
                  <a:pt x="49225" y="104140"/>
                </a:lnTo>
                <a:lnTo>
                  <a:pt x="46349" y="113030"/>
                </a:lnTo>
                <a:lnTo>
                  <a:pt x="28247" y="149860"/>
                </a:lnTo>
                <a:lnTo>
                  <a:pt x="19638" y="162560"/>
                </a:lnTo>
                <a:lnTo>
                  <a:pt x="10675" y="176530"/>
                </a:lnTo>
                <a:lnTo>
                  <a:pt x="1892" y="189230"/>
                </a:lnTo>
                <a:lnTo>
                  <a:pt x="1892" y="190500"/>
                </a:lnTo>
                <a:lnTo>
                  <a:pt x="0" y="193040"/>
                </a:lnTo>
                <a:lnTo>
                  <a:pt x="0" y="194310"/>
                </a:lnTo>
                <a:lnTo>
                  <a:pt x="1005" y="201930"/>
                </a:lnTo>
                <a:lnTo>
                  <a:pt x="25557" y="228600"/>
                </a:lnTo>
                <a:lnTo>
                  <a:pt x="31353" y="227330"/>
                </a:lnTo>
                <a:lnTo>
                  <a:pt x="37858" y="222250"/>
                </a:lnTo>
                <a:lnTo>
                  <a:pt x="61577" y="222250"/>
                </a:lnTo>
                <a:lnTo>
                  <a:pt x="62027" y="219710"/>
                </a:lnTo>
                <a:lnTo>
                  <a:pt x="66255" y="198120"/>
                </a:lnTo>
                <a:lnTo>
                  <a:pt x="66255" y="194310"/>
                </a:lnTo>
                <a:lnTo>
                  <a:pt x="64363" y="189230"/>
                </a:lnTo>
                <a:lnTo>
                  <a:pt x="64363" y="185420"/>
                </a:lnTo>
                <a:lnTo>
                  <a:pt x="62471" y="181610"/>
                </a:lnTo>
                <a:lnTo>
                  <a:pt x="62471" y="177800"/>
                </a:lnTo>
                <a:lnTo>
                  <a:pt x="64363" y="175260"/>
                </a:lnTo>
                <a:lnTo>
                  <a:pt x="81406" y="147320"/>
                </a:lnTo>
                <a:lnTo>
                  <a:pt x="126834" y="147320"/>
                </a:lnTo>
                <a:lnTo>
                  <a:pt x="128727" y="144780"/>
                </a:lnTo>
                <a:lnTo>
                  <a:pt x="130619" y="144780"/>
                </a:lnTo>
                <a:lnTo>
                  <a:pt x="132514" y="143510"/>
                </a:lnTo>
                <a:lnTo>
                  <a:pt x="102222" y="143510"/>
                </a:lnTo>
                <a:lnTo>
                  <a:pt x="90868" y="138430"/>
                </a:lnTo>
                <a:lnTo>
                  <a:pt x="96574" y="124460"/>
                </a:lnTo>
                <a:lnTo>
                  <a:pt x="96781" y="114300"/>
                </a:lnTo>
                <a:lnTo>
                  <a:pt x="91666" y="102870"/>
                </a:lnTo>
                <a:lnTo>
                  <a:pt x="81406" y="91440"/>
                </a:lnTo>
                <a:lnTo>
                  <a:pt x="79514" y="88900"/>
                </a:lnTo>
                <a:lnTo>
                  <a:pt x="77622" y="85090"/>
                </a:lnTo>
                <a:lnTo>
                  <a:pt x="73825" y="83820"/>
                </a:lnTo>
                <a:lnTo>
                  <a:pt x="68148" y="80010"/>
                </a:lnTo>
                <a:lnTo>
                  <a:pt x="68148" y="73660"/>
                </a:lnTo>
                <a:lnTo>
                  <a:pt x="70040" y="68580"/>
                </a:lnTo>
                <a:lnTo>
                  <a:pt x="106006" y="41910"/>
                </a:lnTo>
                <a:lnTo>
                  <a:pt x="106006" y="38100"/>
                </a:lnTo>
                <a:lnTo>
                  <a:pt x="100329" y="30480"/>
                </a:lnTo>
                <a:lnTo>
                  <a:pt x="95392" y="26670"/>
                </a:lnTo>
                <a:lnTo>
                  <a:pt x="89211" y="24130"/>
                </a:lnTo>
                <a:close/>
              </a:path>
              <a:path w="242569" h="289559">
                <a:moveTo>
                  <a:pt x="215811" y="205740"/>
                </a:moveTo>
                <a:lnTo>
                  <a:pt x="201936" y="205740"/>
                </a:lnTo>
                <a:lnTo>
                  <a:pt x="188596" y="208280"/>
                </a:lnTo>
                <a:lnTo>
                  <a:pt x="175611" y="212090"/>
                </a:lnTo>
                <a:lnTo>
                  <a:pt x="162801" y="218440"/>
                </a:lnTo>
                <a:lnTo>
                  <a:pt x="160908" y="220980"/>
                </a:lnTo>
                <a:lnTo>
                  <a:pt x="242315" y="220980"/>
                </a:lnTo>
                <a:lnTo>
                  <a:pt x="242315" y="214630"/>
                </a:lnTo>
                <a:lnTo>
                  <a:pt x="234746" y="210820"/>
                </a:lnTo>
                <a:lnTo>
                  <a:pt x="223380" y="207010"/>
                </a:lnTo>
                <a:lnTo>
                  <a:pt x="215811" y="205740"/>
                </a:lnTo>
                <a:close/>
              </a:path>
              <a:path w="242569" h="289559">
                <a:moveTo>
                  <a:pt x="90868" y="181610"/>
                </a:moveTo>
                <a:lnTo>
                  <a:pt x="71932" y="181610"/>
                </a:lnTo>
                <a:lnTo>
                  <a:pt x="71932" y="182880"/>
                </a:lnTo>
                <a:lnTo>
                  <a:pt x="71119" y="189230"/>
                </a:lnTo>
                <a:lnTo>
                  <a:pt x="83299" y="217170"/>
                </a:lnTo>
                <a:lnTo>
                  <a:pt x="98437" y="213360"/>
                </a:lnTo>
                <a:lnTo>
                  <a:pt x="104114" y="210820"/>
                </a:lnTo>
                <a:lnTo>
                  <a:pt x="111696" y="209550"/>
                </a:lnTo>
                <a:lnTo>
                  <a:pt x="123050" y="205740"/>
                </a:lnTo>
                <a:lnTo>
                  <a:pt x="128727" y="205740"/>
                </a:lnTo>
                <a:lnTo>
                  <a:pt x="134404" y="203200"/>
                </a:lnTo>
                <a:lnTo>
                  <a:pt x="161332" y="203200"/>
                </a:lnTo>
                <a:lnTo>
                  <a:pt x="166147" y="199390"/>
                </a:lnTo>
                <a:lnTo>
                  <a:pt x="174167" y="195580"/>
                </a:lnTo>
                <a:lnTo>
                  <a:pt x="181736" y="195580"/>
                </a:lnTo>
                <a:lnTo>
                  <a:pt x="189306" y="194310"/>
                </a:lnTo>
                <a:lnTo>
                  <a:pt x="202564" y="194310"/>
                </a:lnTo>
                <a:lnTo>
                  <a:pt x="208241" y="193040"/>
                </a:lnTo>
                <a:lnTo>
                  <a:pt x="210764" y="182880"/>
                </a:lnTo>
                <a:lnTo>
                  <a:pt x="96545" y="182880"/>
                </a:lnTo>
                <a:lnTo>
                  <a:pt x="90868" y="181610"/>
                </a:lnTo>
                <a:close/>
              </a:path>
              <a:path w="242569" h="289559">
                <a:moveTo>
                  <a:pt x="126834" y="147320"/>
                </a:moveTo>
                <a:lnTo>
                  <a:pt x="81406" y="147320"/>
                </a:lnTo>
                <a:lnTo>
                  <a:pt x="85369" y="156210"/>
                </a:lnTo>
                <a:lnTo>
                  <a:pt x="88976" y="163830"/>
                </a:lnTo>
                <a:lnTo>
                  <a:pt x="92583" y="173990"/>
                </a:lnTo>
                <a:lnTo>
                  <a:pt x="96545" y="182880"/>
                </a:lnTo>
                <a:lnTo>
                  <a:pt x="210764" y="182880"/>
                </a:lnTo>
                <a:lnTo>
                  <a:pt x="211711" y="179070"/>
                </a:lnTo>
                <a:lnTo>
                  <a:pt x="113588" y="179070"/>
                </a:lnTo>
                <a:lnTo>
                  <a:pt x="109804" y="177800"/>
                </a:lnTo>
                <a:lnTo>
                  <a:pt x="106006" y="166370"/>
                </a:lnTo>
                <a:lnTo>
                  <a:pt x="102222" y="160020"/>
                </a:lnTo>
                <a:lnTo>
                  <a:pt x="104114" y="158750"/>
                </a:lnTo>
                <a:lnTo>
                  <a:pt x="119265" y="152400"/>
                </a:lnTo>
                <a:lnTo>
                  <a:pt x="126834" y="152400"/>
                </a:lnTo>
                <a:lnTo>
                  <a:pt x="126834" y="147320"/>
                </a:lnTo>
                <a:close/>
              </a:path>
              <a:path w="242569" h="289559">
                <a:moveTo>
                  <a:pt x="126834" y="152400"/>
                </a:moveTo>
                <a:lnTo>
                  <a:pt x="119265" y="152400"/>
                </a:lnTo>
                <a:lnTo>
                  <a:pt x="119265" y="160020"/>
                </a:lnTo>
                <a:lnTo>
                  <a:pt x="123050" y="175260"/>
                </a:lnTo>
                <a:lnTo>
                  <a:pt x="113588" y="179070"/>
                </a:lnTo>
                <a:lnTo>
                  <a:pt x="211711" y="179070"/>
                </a:lnTo>
                <a:lnTo>
                  <a:pt x="212026" y="177800"/>
                </a:lnTo>
                <a:lnTo>
                  <a:pt x="209755" y="173990"/>
                </a:lnTo>
                <a:lnTo>
                  <a:pt x="128727" y="173990"/>
                </a:lnTo>
                <a:lnTo>
                  <a:pt x="128727" y="166370"/>
                </a:lnTo>
                <a:lnTo>
                  <a:pt x="126834" y="158750"/>
                </a:lnTo>
                <a:lnTo>
                  <a:pt x="126834" y="152400"/>
                </a:lnTo>
                <a:close/>
              </a:path>
              <a:path w="242569" h="289559">
                <a:moveTo>
                  <a:pt x="153339" y="138430"/>
                </a:moveTo>
                <a:lnTo>
                  <a:pt x="143878" y="138430"/>
                </a:lnTo>
                <a:lnTo>
                  <a:pt x="143907" y="151130"/>
                </a:lnTo>
                <a:lnTo>
                  <a:pt x="141274" y="162560"/>
                </a:lnTo>
                <a:lnTo>
                  <a:pt x="136155" y="170180"/>
                </a:lnTo>
                <a:lnTo>
                  <a:pt x="128727" y="173990"/>
                </a:lnTo>
                <a:lnTo>
                  <a:pt x="209755" y="173990"/>
                </a:lnTo>
                <a:lnTo>
                  <a:pt x="208241" y="171450"/>
                </a:lnTo>
                <a:lnTo>
                  <a:pt x="205718" y="170180"/>
                </a:lnTo>
                <a:lnTo>
                  <a:pt x="151447" y="170180"/>
                </a:lnTo>
                <a:lnTo>
                  <a:pt x="151447" y="167640"/>
                </a:lnTo>
                <a:lnTo>
                  <a:pt x="149555" y="167640"/>
                </a:lnTo>
                <a:lnTo>
                  <a:pt x="153339" y="156210"/>
                </a:lnTo>
                <a:lnTo>
                  <a:pt x="153339" y="138430"/>
                </a:lnTo>
                <a:close/>
              </a:path>
              <a:path w="242569" h="289559">
                <a:moveTo>
                  <a:pt x="208241" y="134620"/>
                </a:moveTo>
                <a:lnTo>
                  <a:pt x="179844" y="134620"/>
                </a:lnTo>
                <a:lnTo>
                  <a:pt x="183629" y="138430"/>
                </a:lnTo>
                <a:lnTo>
                  <a:pt x="179844" y="143510"/>
                </a:lnTo>
                <a:lnTo>
                  <a:pt x="153339" y="170180"/>
                </a:lnTo>
                <a:lnTo>
                  <a:pt x="205718" y="170180"/>
                </a:lnTo>
                <a:lnTo>
                  <a:pt x="200672" y="167640"/>
                </a:lnTo>
                <a:lnTo>
                  <a:pt x="198780" y="166370"/>
                </a:lnTo>
                <a:lnTo>
                  <a:pt x="194983" y="166370"/>
                </a:lnTo>
                <a:lnTo>
                  <a:pt x="191198" y="163830"/>
                </a:lnTo>
                <a:lnTo>
                  <a:pt x="194983" y="160020"/>
                </a:lnTo>
                <a:lnTo>
                  <a:pt x="196875" y="160020"/>
                </a:lnTo>
                <a:lnTo>
                  <a:pt x="202914" y="157480"/>
                </a:lnTo>
                <a:lnTo>
                  <a:pt x="206821" y="152400"/>
                </a:lnTo>
                <a:lnTo>
                  <a:pt x="208596" y="146050"/>
                </a:lnTo>
                <a:lnTo>
                  <a:pt x="208241" y="139700"/>
                </a:lnTo>
                <a:lnTo>
                  <a:pt x="208241" y="134620"/>
                </a:lnTo>
                <a:close/>
              </a:path>
              <a:path w="242569" h="289559">
                <a:moveTo>
                  <a:pt x="194983" y="83820"/>
                </a:moveTo>
                <a:lnTo>
                  <a:pt x="121157" y="83820"/>
                </a:lnTo>
                <a:lnTo>
                  <a:pt x="114355" y="85090"/>
                </a:lnTo>
                <a:lnTo>
                  <a:pt x="101455" y="86360"/>
                </a:lnTo>
                <a:lnTo>
                  <a:pt x="94653" y="87630"/>
                </a:lnTo>
                <a:lnTo>
                  <a:pt x="92760" y="87630"/>
                </a:lnTo>
                <a:lnTo>
                  <a:pt x="92760" y="88900"/>
                </a:lnTo>
                <a:lnTo>
                  <a:pt x="96545" y="92710"/>
                </a:lnTo>
                <a:lnTo>
                  <a:pt x="102222" y="96520"/>
                </a:lnTo>
                <a:lnTo>
                  <a:pt x="106006" y="97790"/>
                </a:lnTo>
                <a:lnTo>
                  <a:pt x="111696" y="100330"/>
                </a:lnTo>
                <a:lnTo>
                  <a:pt x="124942" y="100330"/>
                </a:lnTo>
                <a:lnTo>
                  <a:pt x="121926" y="107950"/>
                </a:lnTo>
                <a:lnTo>
                  <a:pt x="117846" y="115570"/>
                </a:lnTo>
                <a:lnTo>
                  <a:pt x="115895" y="123190"/>
                </a:lnTo>
                <a:lnTo>
                  <a:pt x="119265" y="132080"/>
                </a:lnTo>
                <a:lnTo>
                  <a:pt x="102222" y="143510"/>
                </a:lnTo>
                <a:lnTo>
                  <a:pt x="132514" y="143510"/>
                </a:lnTo>
                <a:lnTo>
                  <a:pt x="138201" y="139700"/>
                </a:lnTo>
                <a:lnTo>
                  <a:pt x="143878" y="138430"/>
                </a:lnTo>
                <a:lnTo>
                  <a:pt x="153339" y="138430"/>
                </a:lnTo>
                <a:lnTo>
                  <a:pt x="153339" y="134620"/>
                </a:lnTo>
                <a:lnTo>
                  <a:pt x="208241" y="134620"/>
                </a:lnTo>
                <a:lnTo>
                  <a:pt x="208241" y="130810"/>
                </a:lnTo>
                <a:lnTo>
                  <a:pt x="200672" y="127000"/>
                </a:lnTo>
                <a:lnTo>
                  <a:pt x="193090" y="124460"/>
                </a:lnTo>
                <a:lnTo>
                  <a:pt x="188349" y="123190"/>
                </a:lnTo>
                <a:lnTo>
                  <a:pt x="134404" y="123190"/>
                </a:lnTo>
                <a:lnTo>
                  <a:pt x="138201" y="115570"/>
                </a:lnTo>
                <a:lnTo>
                  <a:pt x="140093" y="109220"/>
                </a:lnTo>
                <a:lnTo>
                  <a:pt x="143878" y="101600"/>
                </a:lnTo>
                <a:lnTo>
                  <a:pt x="145770" y="96520"/>
                </a:lnTo>
                <a:lnTo>
                  <a:pt x="147662" y="95250"/>
                </a:lnTo>
                <a:lnTo>
                  <a:pt x="155232" y="95250"/>
                </a:lnTo>
                <a:lnTo>
                  <a:pt x="194983" y="83820"/>
                </a:lnTo>
                <a:close/>
              </a:path>
              <a:path w="242569" h="289559">
                <a:moveTo>
                  <a:pt x="164461" y="119380"/>
                </a:moveTo>
                <a:lnTo>
                  <a:pt x="149699" y="120650"/>
                </a:lnTo>
                <a:lnTo>
                  <a:pt x="134404" y="123190"/>
                </a:lnTo>
                <a:lnTo>
                  <a:pt x="188349" y="123190"/>
                </a:lnTo>
                <a:lnTo>
                  <a:pt x="178866" y="120650"/>
                </a:lnTo>
                <a:lnTo>
                  <a:pt x="164461" y="119380"/>
                </a:lnTo>
                <a:close/>
              </a:path>
              <a:path w="242569" h="289559">
                <a:moveTo>
                  <a:pt x="159016" y="0"/>
                </a:moveTo>
                <a:lnTo>
                  <a:pt x="159016" y="6350"/>
                </a:lnTo>
                <a:lnTo>
                  <a:pt x="134404" y="72390"/>
                </a:lnTo>
                <a:lnTo>
                  <a:pt x="132511" y="80010"/>
                </a:lnTo>
                <a:lnTo>
                  <a:pt x="128727" y="83820"/>
                </a:lnTo>
                <a:lnTo>
                  <a:pt x="198780" y="83820"/>
                </a:lnTo>
                <a:lnTo>
                  <a:pt x="200672" y="80010"/>
                </a:lnTo>
                <a:lnTo>
                  <a:pt x="200672" y="77470"/>
                </a:lnTo>
                <a:lnTo>
                  <a:pt x="151447" y="77470"/>
                </a:lnTo>
                <a:lnTo>
                  <a:pt x="154966" y="62230"/>
                </a:lnTo>
                <a:lnTo>
                  <a:pt x="158308" y="46990"/>
                </a:lnTo>
                <a:lnTo>
                  <a:pt x="163427" y="33020"/>
                </a:lnTo>
                <a:lnTo>
                  <a:pt x="172275" y="21590"/>
                </a:lnTo>
                <a:lnTo>
                  <a:pt x="177952" y="17780"/>
                </a:lnTo>
                <a:lnTo>
                  <a:pt x="174167" y="7620"/>
                </a:lnTo>
                <a:lnTo>
                  <a:pt x="159016" y="0"/>
                </a:lnTo>
                <a:close/>
              </a:path>
              <a:path w="242569" h="289559">
                <a:moveTo>
                  <a:pt x="191198" y="66040"/>
                </a:moveTo>
                <a:lnTo>
                  <a:pt x="185521" y="66040"/>
                </a:lnTo>
                <a:lnTo>
                  <a:pt x="181736" y="68580"/>
                </a:lnTo>
                <a:lnTo>
                  <a:pt x="174343" y="69850"/>
                </a:lnTo>
                <a:lnTo>
                  <a:pt x="158841" y="74930"/>
                </a:lnTo>
                <a:lnTo>
                  <a:pt x="151447" y="77470"/>
                </a:lnTo>
                <a:lnTo>
                  <a:pt x="200672" y="77470"/>
                </a:lnTo>
                <a:lnTo>
                  <a:pt x="200672" y="73660"/>
                </a:lnTo>
                <a:lnTo>
                  <a:pt x="196875" y="69850"/>
                </a:lnTo>
                <a:lnTo>
                  <a:pt x="193090" y="68580"/>
                </a:lnTo>
                <a:lnTo>
                  <a:pt x="191198" y="66040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3795" y="6606540"/>
            <a:ext cx="29209" cy="81280"/>
          </a:xfrm>
          <a:custGeom>
            <a:avLst/>
            <a:gdLst/>
            <a:ahLst/>
            <a:cxnLst/>
            <a:rect l="l" t="t" r="r" b="b"/>
            <a:pathLst>
              <a:path w="29209" h="81279">
                <a:moveTo>
                  <a:pt x="17145" y="0"/>
                </a:moveTo>
                <a:lnTo>
                  <a:pt x="12858" y="16877"/>
                </a:lnTo>
                <a:lnTo>
                  <a:pt x="8572" y="33578"/>
                </a:lnTo>
                <a:lnTo>
                  <a:pt x="4263" y="50012"/>
                </a:lnTo>
                <a:lnTo>
                  <a:pt x="120" y="65304"/>
                </a:lnTo>
                <a:lnTo>
                  <a:pt x="0" y="69494"/>
                </a:lnTo>
                <a:lnTo>
                  <a:pt x="3810" y="73253"/>
                </a:lnTo>
                <a:lnTo>
                  <a:pt x="11430" y="77012"/>
                </a:lnTo>
                <a:lnTo>
                  <a:pt x="17145" y="80771"/>
                </a:lnTo>
                <a:lnTo>
                  <a:pt x="19734" y="65304"/>
                </a:lnTo>
                <a:lnTo>
                  <a:pt x="22161" y="49927"/>
                </a:lnTo>
                <a:lnTo>
                  <a:pt x="24913" y="35073"/>
                </a:lnTo>
                <a:lnTo>
                  <a:pt x="28575" y="20662"/>
                </a:lnTo>
                <a:lnTo>
                  <a:pt x="29200" y="14262"/>
                </a:lnTo>
                <a:lnTo>
                  <a:pt x="27860" y="8921"/>
                </a:lnTo>
                <a:lnTo>
                  <a:pt x="24020" y="4285"/>
                </a:lnTo>
                <a:lnTo>
                  <a:pt x="17145" y="0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16469" y="6469379"/>
            <a:ext cx="157604" cy="13868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02663" y="6445138"/>
            <a:ext cx="181038" cy="18426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2511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初始化安装环境</a:t>
            </a:r>
            <a:endParaRPr sz="2800"/>
          </a:p>
        </p:txBody>
      </p:sp>
      <p:sp>
        <p:nvSpPr>
          <p:cNvPr id="18" name="object 18"/>
          <p:cNvSpPr/>
          <p:nvPr/>
        </p:nvSpPr>
        <p:spPr>
          <a:xfrm>
            <a:off x="577595" y="1584960"/>
            <a:ext cx="11056620" cy="44348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37133" y="1016634"/>
            <a:ext cx="11353800" cy="1918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使用</a:t>
            </a:r>
            <a:r>
              <a:rPr sz="2400" spc="-5" dirty="0">
                <a:latin typeface="微软雅黑"/>
                <a:cs typeface="微软雅黑"/>
              </a:rPr>
              <a:t>vi</a:t>
            </a:r>
            <a:r>
              <a:rPr sz="2400" dirty="0">
                <a:latin typeface="微软雅黑"/>
                <a:cs typeface="微软雅黑"/>
              </a:rPr>
              <a:t>打开文件</a:t>
            </a:r>
            <a:r>
              <a:rPr sz="2400" spc="-10" dirty="0">
                <a:latin typeface="微软雅黑"/>
                <a:cs typeface="微软雅黑"/>
              </a:rPr>
              <a:t>“/etc/profile.d/performance.sh”</a:t>
            </a:r>
            <a:r>
              <a:rPr sz="2400" dirty="0">
                <a:latin typeface="微软雅黑"/>
                <a:cs typeface="微软雅黑"/>
              </a:rPr>
              <a:t>。</a:t>
            </a:r>
          </a:p>
          <a:p>
            <a:pPr>
              <a:lnSpc>
                <a:spcPct val="100000"/>
              </a:lnSpc>
            </a:pPr>
            <a:endParaRPr sz="3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输入</a:t>
            </a:r>
            <a:r>
              <a:rPr sz="2400" spc="-5" dirty="0">
                <a:latin typeface="微软雅黑"/>
                <a:cs typeface="微软雅黑"/>
              </a:rPr>
              <a:t>“i”，</a:t>
            </a:r>
            <a:r>
              <a:rPr sz="2400" dirty="0">
                <a:latin typeface="微软雅黑"/>
                <a:cs typeface="微软雅黑"/>
              </a:rPr>
              <a:t>进入</a:t>
            </a:r>
            <a:r>
              <a:rPr sz="2400" spc="-15" dirty="0">
                <a:latin typeface="微软雅黑"/>
                <a:cs typeface="微软雅黑"/>
              </a:rPr>
              <a:t>INSERT</a:t>
            </a:r>
            <a:r>
              <a:rPr sz="2400" dirty="0">
                <a:latin typeface="微软雅黑"/>
                <a:cs typeface="微软雅黑"/>
              </a:rPr>
              <a:t>模式。</a:t>
            </a: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微软雅黑"/>
                <a:cs typeface="微软雅黑"/>
              </a:rPr>
              <a:t>用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“#”</a:t>
            </a:r>
            <a:r>
              <a:rPr sz="2400" spc="-5" dirty="0">
                <a:latin typeface="微软雅黑"/>
                <a:cs typeface="微软雅黑"/>
              </a:rPr>
              <a:t>注释掉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“sysctl</a:t>
            </a:r>
            <a:r>
              <a:rPr sz="2400" spc="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-w</a:t>
            </a:r>
            <a:r>
              <a:rPr sz="2400" spc="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微软雅黑"/>
                <a:cs typeface="微软雅黑"/>
              </a:rPr>
              <a:t>vm.min_free_kbytes</a:t>
            </a:r>
            <a:r>
              <a:rPr sz="2400" spc="5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=112</a:t>
            </a:r>
            <a:r>
              <a:rPr sz="2400" spc="2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640</a:t>
            </a:r>
            <a:r>
              <a:rPr sz="2400" spc="2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&amp;&gt; /dev/null”</a:t>
            </a:r>
            <a:r>
              <a:rPr sz="2400" spc="4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这行。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0783" y="5476443"/>
            <a:ext cx="117125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  <a:tabLst>
                <a:tab pos="675640" algn="l"/>
              </a:tabLst>
            </a:pPr>
            <a:r>
              <a:rPr sz="2400" b="1" dirty="0">
                <a:latin typeface="微软雅黑"/>
                <a:cs typeface="微软雅黑"/>
              </a:rPr>
              <a:t>①	#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vi </a:t>
            </a:r>
            <a:r>
              <a:rPr sz="2400" spc="-10" dirty="0">
                <a:solidFill>
                  <a:srgbClr val="C00000"/>
                </a:solidFill>
                <a:latin typeface="微软雅黑"/>
                <a:cs typeface="微软雅黑"/>
              </a:rPr>
              <a:t>/etc/profile.d/performance.sh</a:t>
            </a:r>
            <a:endParaRPr sz="2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tabLst>
                <a:tab pos="218440" algn="l"/>
                <a:tab pos="675640" algn="l"/>
              </a:tabLst>
            </a:pPr>
            <a:r>
              <a:rPr sz="2400" u="sng" dirty="0">
                <a:uFill>
                  <a:solidFill>
                    <a:srgbClr val="BEBEBE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400" u="sng" dirty="0"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②	用</a:t>
            </a:r>
            <a:r>
              <a:rPr sz="2400" u="sng" dirty="0">
                <a:solidFill>
                  <a:srgbClr val="C00000"/>
                </a:solidFill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“#”</a:t>
            </a:r>
            <a:r>
              <a:rPr sz="2400" u="sng" dirty="0"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注释掉</a:t>
            </a:r>
            <a:r>
              <a:rPr sz="2400" u="sng" dirty="0">
                <a:solidFill>
                  <a:srgbClr val="C00000"/>
                </a:solidFill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“sysctl</a:t>
            </a:r>
            <a:r>
              <a:rPr sz="2400" u="sng" spc="-10" dirty="0">
                <a:solidFill>
                  <a:srgbClr val="C00000"/>
                </a:solidFill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 </a:t>
            </a:r>
            <a:r>
              <a:rPr sz="2400" u="sng" dirty="0">
                <a:solidFill>
                  <a:srgbClr val="C00000"/>
                </a:solidFill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-w</a:t>
            </a:r>
            <a:r>
              <a:rPr sz="2400" u="sng" spc="5" dirty="0">
                <a:solidFill>
                  <a:srgbClr val="C00000"/>
                </a:solidFill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 </a:t>
            </a:r>
            <a:r>
              <a:rPr sz="2400" u="sng" spc="-10" dirty="0">
                <a:solidFill>
                  <a:srgbClr val="C00000"/>
                </a:solidFill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vm.min_free_kbytes</a:t>
            </a:r>
            <a:r>
              <a:rPr sz="2400" u="sng" spc="40" dirty="0">
                <a:solidFill>
                  <a:srgbClr val="C00000"/>
                </a:solidFill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 </a:t>
            </a:r>
            <a:r>
              <a:rPr sz="2400" u="sng" spc="-5" dirty="0">
                <a:solidFill>
                  <a:srgbClr val="C00000"/>
                </a:solidFill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=112</a:t>
            </a:r>
            <a:r>
              <a:rPr sz="2400" u="sng" spc="25" dirty="0">
                <a:solidFill>
                  <a:srgbClr val="C00000"/>
                </a:solidFill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 </a:t>
            </a:r>
            <a:r>
              <a:rPr sz="2400" u="sng" spc="-5" dirty="0">
                <a:solidFill>
                  <a:srgbClr val="C00000"/>
                </a:solidFill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640</a:t>
            </a:r>
            <a:r>
              <a:rPr sz="2400" u="sng" spc="10" dirty="0">
                <a:solidFill>
                  <a:srgbClr val="C00000"/>
                </a:solidFill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 </a:t>
            </a:r>
            <a:r>
              <a:rPr sz="2400" u="sng" spc="-5" dirty="0">
                <a:solidFill>
                  <a:srgbClr val="C00000"/>
                </a:solidFill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&amp;&gt; /dev/null”</a:t>
            </a:r>
            <a:r>
              <a:rPr sz="2400" u="sng" spc="30" dirty="0">
                <a:solidFill>
                  <a:srgbClr val="C00000"/>
                </a:solidFill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 </a:t>
            </a:r>
            <a:r>
              <a:rPr sz="2400" u="sng" dirty="0"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这</a:t>
            </a:r>
            <a:r>
              <a:rPr sz="2400" dirty="0">
                <a:latin typeface="微软雅黑"/>
                <a:cs typeface="微软雅黑"/>
              </a:rPr>
              <a:t>行</a:t>
            </a:r>
          </a:p>
        </p:txBody>
      </p:sp>
      <p:sp>
        <p:nvSpPr>
          <p:cNvPr id="21" name="object 21"/>
          <p:cNvSpPr/>
          <p:nvPr/>
        </p:nvSpPr>
        <p:spPr>
          <a:xfrm>
            <a:off x="577595" y="3169920"/>
            <a:ext cx="8519160" cy="210311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2511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初始化安装环境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577595" y="2199132"/>
            <a:ext cx="10354056" cy="348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6640" y="918464"/>
            <a:ext cx="10944860" cy="10426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为确保</a:t>
            </a:r>
            <a:r>
              <a:rPr sz="2400" spc="-5" dirty="0">
                <a:latin typeface="微软雅黑"/>
                <a:cs typeface="微软雅黑"/>
              </a:rPr>
              <a:t>openssl</a:t>
            </a:r>
            <a:r>
              <a:rPr sz="2400" dirty="0">
                <a:latin typeface="微软雅黑"/>
                <a:cs typeface="微软雅黑"/>
              </a:rPr>
              <a:t>版本</a:t>
            </a:r>
            <a:r>
              <a:rPr sz="2400" spc="-15" dirty="0">
                <a:latin typeface="微软雅黑"/>
                <a:cs typeface="微软雅黑"/>
              </a:rPr>
              <a:t>正</a:t>
            </a:r>
            <a:r>
              <a:rPr sz="2400" dirty="0">
                <a:latin typeface="微软雅黑"/>
                <a:cs typeface="微软雅黑"/>
              </a:rPr>
              <a:t>确，执行预安装前加载安装包</a:t>
            </a:r>
            <a:r>
              <a:rPr sz="2400" spc="5" dirty="0">
                <a:latin typeface="微软雅黑"/>
                <a:cs typeface="微软雅黑"/>
              </a:rPr>
              <a:t>中</a:t>
            </a:r>
            <a:r>
              <a:rPr sz="2400" spc="-5" dirty="0">
                <a:latin typeface="微软雅黑"/>
                <a:cs typeface="微软雅黑"/>
              </a:rPr>
              <a:t>lib</a:t>
            </a:r>
            <a:r>
              <a:rPr sz="2400" dirty="0">
                <a:latin typeface="微软雅黑"/>
                <a:cs typeface="微软雅黑"/>
              </a:rPr>
              <a:t>库。需要执行以下命令：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245"/>
              </a:spcBef>
              <a:tabLst>
                <a:tab pos="469265" algn="l"/>
              </a:tabLst>
            </a:pPr>
            <a:r>
              <a:rPr sz="2400" dirty="0">
                <a:latin typeface="微软雅黑"/>
                <a:cs typeface="微软雅黑"/>
              </a:rPr>
              <a:t>①	使用</a:t>
            </a:r>
            <a:r>
              <a:rPr sz="2400" spc="-5" dirty="0">
                <a:latin typeface="微软雅黑"/>
                <a:cs typeface="微软雅黑"/>
              </a:rPr>
              <a:t>vi</a:t>
            </a:r>
            <a:r>
              <a:rPr sz="2400" dirty="0">
                <a:latin typeface="微软雅黑"/>
                <a:cs typeface="微软雅黑"/>
              </a:rPr>
              <a:t>打开文件</a:t>
            </a:r>
            <a:r>
              <a:rPr sz="2400" spc="-20" dirty="0">
                <a:latin typeface="微软雅黑"/>
                <a:cs typeface="微软雅黑"/>
              </a:rPr>
              <a:t>/etc/profile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656640" y="2759405"/>
            <a:ext cx="9781540" cy="3286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dirty="0">
                <a:latin typeface="微软雅黑"/>
                <a:cs typeface="微软雅黑"/>
              </a:rPr>
              <a:t>②	</a:t>
            </a:r>
            <a:r>
              <a:rPr sz="2400" spc="-5" dirty="0">
                <a:latin typeface="微软雅黑"/>
                <a:cs typeface="微软雅黑"/>
              </a:rPr>
              <a:t>在文件底部添</a:t>
            </a:r>
            <a:r>
              <a:rPr sz="2400" dirty="0">
                <a:latin typeface="微软雅黑"/>
                <a:cs typeface="微软雅黑"/>
              </a:rPr>
              <a:t>加</a:t>
            </a:r>
            <a:r>
              <a:rPr sz="2400" spc="-5" dirty="0">
                <a:latin typeface="微软雅黑"/>
                <a:cs typeface="微软雅黑"/>
              </a:rPr>
              <a:t>以下内容。</a:t>
            </a:r>
            <a:endParaRPr sz="2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000" spc="10" dirty="0">
                <a:latin typeface="微软雅黑"/>
                <a:cs typeface="微软雅黑"/>
              </a:rPr>
              <a:t>export</a:t>
            </a:r>
            <a:r>
              <a:rPr sz="2000" spc="-25" dirty="0">
                <a:latin typeface="微软雅黑"/>
                <a:cs typeface="微软雅黑"/>
              </a:rPr>
              <a:t> </a:t>
            </a:r>
            <a:r>
              <a:rPr sz="2000" spc="-5" dirty="0">
                <a:latin typeface="微软雅黑"/>
                <a:cs typeface="微软雅黑"/>
              </a:rPr>
              <a:t>packagePath=/opt/software/openGauss</a:t>
            </a:r>
            <a:endParaRPr sz="2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000" spc="10" dirty="0">
                <a:latin typeface="微软雅黑"/>
                <a:cs typeface="微软雅黑"/>
              </a:rPr>
              <a:t>export </a:t>
            </a:r>
            <a:r>
              <a:rPr sz="2000" spc="-15" dirty="0">
                <a:latin typeface="微软雅黑"/>
                <a:cs typeface="微软雅黑"/>
              </a:rPr>
              <a:t>LD_LIBRARY_PATH=$packagePath/script/gspylib/clib:$LD_LIBRARY_</a:t>
            </a:r>
            <a:r>
              <a:rPr sz="2000" spc="70" dirty="0">
                <a:latin typeface="微软雅黑"/>
                <a:cs typeface="微软雅黑"/>
              </a:rPr>
              <a:t> </a:t>
            </a:r>
            <a:r>
              <a:rPr sz="2000" spc="-80" dirty="0">
                <a:latin typeface="微软雅黑"/>
                <a:cs typeface="微软雅黑"/>
              </a:rPr>
              <a:t>PATH</a:t>
            </a:r>
            <a:endParaRPr sz="2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  <a:tabLst>
                <a:tab pos="469265" algn="l"/>
              </a:tabLst>
            </a:pPr>
            <a:r>
              <a:rPr sz="2400" dirty="0">
                <a:latin typeface="微软雅黑"/>
                <a:cs typeface="微软雅黑"/>
              </a:rPr>
              <a:t>③	</a:t>
            </a:r>
            <a:r>
              <a:rPr sz="2400" spc="-5" dirty="0">
                <a:latin typeface="微软雅黑"/>
                <a:cs typeface="微软雅黑"/>
              </a:rPr>
              <a:t>配置完成后，使用命</a:t>
            </a:r>
            <a:r>
              <a:rPr sz="2400" dirty="0">
                <a:latin typeface="微软雅黑"/>
                <a:cs typeface="微软雅黑"/>
              </a:rPr>
              <a:t>令</a:t>
            </a:r>
            <a:r>
              <a:rPr sz="2400" spc="-5" dirty="0">
                <a:latin typeface="微软雅黑"/>
                <a:cs typeface="微软雅黑"/>
              </a:rPr>
              <a:t> </a:t>
            </a:r>
            <a:r>
              <a:rPr sz="2400" spc="-10" dirty="0">
                <a:latin typeface="微软雅黑"/>
                <a:cs typeface="微软雅黑"/>
              </a:rPr>
              <a:t>source</a:t>
            </a:r>
            <a:r>
              <a:rPr sz="2400" spc="-5" dirty="0">
                <a:latin typeface="微软雅黑"/>
                <a:cs typeface="微软雅黑"/>
              </a:rPr>
              <a:t> </a:t>
            </a:r>
            <a:r>
              <a:rPr sz="2400" spc="-15" dirty="0">
                <a:latin typeface="微软雅黑"/>
                <a:cs typeface="微软雅黑"/>
              </a:rPr>
              <a:t>/etc/profile</a:t>
            </a:r>
            <a:r>
              <a:rPr sz="2400" spc="30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使设置生效。</a:t>
            </a:r>
            <a:endParaRPr sz="2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245"/>
              </a:spcBef>
            </a:pPr>
            <a:r>
              <a:rPr sz="2400" b="1" dirty="0">
                <a:latin typeface="微软雅黑"/>
                <a:cs typeface="微软雅黑"/>
              </a:rPr>
              <a:t>#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vi</a:t>
            </a:r>
            <a:r>
              <a:rPr sz="2400" spc="-15" dirty="0">
                <a:solidFill>
                  <a:srgbClr val="C00000"/>
                </a:solidFill>
                <a:latin typeface="微软雅黑"/>
                <a:cs typeface="微软雅黑"/>
              </a:rPr>
              <a:t> /etc/profile</a:t>
            </a:r>
            <a:endParaRPr sz="2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000" spc="10" dirty="0">
                <a:solidFill>
                  <a:srgbClr val="C00000"/>
                </a:solidFill>
                <a:latin typeface="微软雅黑"/>
                <a:cs typeface="微软雅黑"/>
              </a:rPr>
              <a:t>export</a:t>
            </a:r>
            <a:r>
              <a:rPr sz="2000" spc="-2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微软雅黑"/>
                <a:cs typeface="微软雅黑"/>
              </a:rPr>
              <a:t>packagePath=/opt/software/openGauss</a:t>
            </a:r>
            <a:endParaRPr sz="2000" dirty="0">
              <a:latin typeface="微软雅黑"/>
              <a:cs typeface="微软雅黑"/>
            </a:endParaRPr>
          </a:p>
          <a:p>
            <a:pPr marL="12700">
              <a:lnSpc>
                <a:spcPts val="2390"/>
              </a:lnSpc>
            </a:pPr>
            <a:r>
              <a:rPr sz="2000" spc="10" dirty="0">
                <a:solidFill>
                  <a:srgbClr val="C00000"/>
                </a:solidFill>
                <a:latin typeface="微软雅黑"/>
                <a:cs typeface="微软雅黑"/>
              </a:rPr>
              <a:t>export </a:t>
            </a:r>
            <a:r>
              <a:rPr sz="2000" spc="-15" dirty="0">
                <a:solidFill>
                  <a:srgbClr val="C00000"/>
                </a:solidFill>
                <a:latin typeface="微软雅黑"/>
                <a:cs typeface="微软雅黑"/>
              </a:rPr>
              <a:t>LD_LIBRARY_PATH=$packagePath/script/gspylib/clib:$LD_LIBRARY_</a:t>
            </a:r>
            <a:r>
              <a:rPr sz="2000" spc="7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spc="-80" dirty="0">
                <a:solidFill>
                  <a:srgbClr val="C00000"/>
                </a:solidFill>
                <a:latin typeface="微软雅黑"/>
                <a:cs typeface="微软雅黑"/>
              </a:rPr>
              <a:t>PATH</a:t>
            </a:r>
            <a:endParaRPr sz="2000" dirty="0">
              <a:latin typeface="微软雅黑"/>
              <a:cs typeface="微软雅黑"/>
            </a:endParaRPr>
          </a:p>
          <a:p>
            <a:pPr marL="12700">
              <a:lnSpc>
                <a:spcPts val="2870"/>
              </a:lnSpc>
            </a:pPr>
            <a:r>
              <a:rPr sz="2400" b="1" dirty="0">
                <a:latin typeface="微软雅黑"/>
                <a:cs typeface="微软雅黑"/>
              </a:rPr>
              <a:t># </a:t>
            </a:r>
            <a:r>
              <a:rPr sz="2400" spc="-10" dirty="0">
                <a:solidFill>
                  <a:srgbClr val="C00000"/>
                </a:solidFill>
                <a:latin typeface="微软雅黑"/>
                <a:cs typeface="微软雅黑"/>
              </a:rPr>
              <a:t>source</a:t>
            </a:r>
            <a:r>
              <a:rPr sz="2400" spc="-2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微软雅黑"/>
                <a:cs typeface="微软雅黑"/>
              </a:rPr>
              <a:t>/etc/profile</a:t>
            </a:r>
            <a:endParaRPr sz="24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2511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初始化安装环境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1389126"/>
            <a:ext cx="63754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在安装目录下，按顺序解压以下两个安装包 </a:t>
            </a:r>
            <a:r>
              <a:rPr sz="2400" spc="-15" dirty="0">
                <a:latin typeface="微软雅黑"/>
                <a:cs typeface="微软雅黑"/>
              </a:rPr>
              <a:t>openGauss-2.0.0-openEuler-64bit-all.tar.gz  </a:t>
            </a:r>
            <a:r>
              <a:rPr sz="2400" dirty="0">
                <a:latin typeface="微软雅黑"/>
                <a:cs typeface="微软雅黑"/>
              </a:rPr>
              <a:t>op</a:t>
            </a:r>
            <a:r>
              <a:rPr sz="2400" spc="-10" dirty="0">
                <a:latin typeface="微软雅黑"/>
                <a:cs typeface="微软雅黑"/>
              </a:rPr>
              <a:t>e</a:t>
            </a:r>
            <a:r>
              <a:rPr sz="2400" spc="-5" dirty="0">
                <a:latin typeface="微软雅黑"/>
                <a:cs typeface="微软雅黑"/>
              </a:rPr>
              <a:t>nGaus</a:t>
            </a:r>
            <a:r>
              <a:rPr sz="2400" spc="5" dirty="0">
                <a:latin typeface="微软雅黑"/>
                <a:cs typeface="微软雅黑"/>
              </a:rPr>
              <a:t>s</a:t>
            </a:r>
            <a:r>
              <a:rPr sz="2400" dirty="0">
                <a:latin typeface="微软雅黑"/>
                <a:cs typeface="微软雅黑"/>
              </a:rPr>
              <a:t>-</a:t>
            </a:r>
            <a:r>
              <a:rPr sz="2400" spc="-5" dirty="0">
                <a:latin typeface="微软雅黑"/>
                <a:cs typeface="微软雅黑"/>
              </a:rPr>
              <a:t>2.0.</a:t>
            </a:r>
            <a:r>
              <a:rPr sz="2400" dirty="0">
                <a:latin typeface="微软雅黑"/>
                <a:cs typeface="微软雅黑"/>
              </a:rPr>
              <a:t>0-op</a:t>
            </a:r>
            <a:r>
              <a:rPr sz="2400" spc="-10" dirty="0">
                <a:latin typeface="微软雅黑"/>
                <a:cs typeface="微软雅黑"/>
              </a:rPr>
              <a:t>e</a:t>
            </a:r>
            <a:r>
              <a:rPr sz="2400" spc="-5" dirty="0">
                <a:latin typeface="微软雅黑"/>
                <a:cs typeface="微软雅黑"/>
              </a:rPr>
              <a:t>nE</a:t>
            </a:r>
            <a:r>
              <a:rPr sz="2400" spc="-15" dirty="0">
                <a:latin typeface="微软雅黑"/>
                <a:cs typeface="微软雅黑"/>
              </a:rPr>
              <a:t>u</a:t>
            </a:r>
            <a:r>
              <a:rPr sz="2400" spc="-5" dirty="0">
                <a:latin typeface="微软雅黑"/>
                <a:cs typeface="微软雅黑"/>
              </a:rPr>
              <a:t>l</a:t>
            </a:r>
            <a:r>
              <a:rPr sz="2400" spc="-10" dirty="0">
                <a:latin typeface="微软雅黑"/>
                <a:cs typeface="微软雅黑"/>
              </a:rPr>
              <a:t>e</a:t>
            </a:r>
            <a:r>
              <a:rPr sz="2400" spc="-175" dirty="0">
                <a:latin typeface="微软雅黑"/>
                <a:cs typeface="微软雅黑"/>
              </a:rPr>
              <a:t>r</a:t>
            </a:r>
            <a:r>
              <a:rPr sz="2400" dirty="0">
                <a:latin typeface="微软雅黑"/>
                <a:cs typeface="微软雅黑"/>
              </a:rPr>
              <a:t>-</a:t>
            </a:r>
            <a:r>
              <a:rPr sz="2400" spc="-5" dirty="0">
                <a:latin typeface="微软雅黑"/>
                <a:cs typeface="微软雅黑"/>
              </a:rPr>
              <a:t>6</a:t>
            </a:r>
            <a:r>
              <a:rPr sz="2400" spc="-10" dirty="0">
                <a:latin typeface="微软雅黑"/>
                <a:cs typeface="微软雅黑"/>
              </a:rPr>
              <a:t>4</a:t>
            </a:r>
            <a:r>
              <a:rPr sz="2400" dirty="0">
                <a:latin typeface="微软雅黑"/>
                <a:cs typeface="微软雅黑"/>
              </a:rPr>
              <a:t>bi</a:t>
            </a:r>
            <a:r>
              <a:rPr sz="2400" spc="-145" dirty="0">
                <a:latin typeface="微软雅黑"/>
                <a:cs typeface="微软雅黑"/>
              </a:rPr>
              <a:t>t</a:t>
            </a:r>
            <a:r>
              <a:rPr sz="2400" dirty="0">
                <a:latin typeface="微软雅黑"/>
                <a:cs typeface="微软雅黑"/>
              </a:rPr>
              <a:t>-o</a:t>
            </a:r>
            <a:r>
              <a:rPr sz="2400" spc="-10" dirty="0">
                <a:latin typeface="微软雅黑"/>
                <a:cs typeface="微软雅黑"/>
              </a:rPr>
              <a:t>m</a:t>
            </a:r>
            <a:r>
              <a:rPr sz="2400" dirty="0">
                <a:latin typeface="微软雅黑"/>
                <a:cs typeface="微软雅黑"/>
              </a:rPr>
              <a:t>.ta</a:t>
            </a:r>
            <a:r>
              <a:rPr sz="2400" spc="-220" dirty="0">
                <a:latin typeface="微软雅黑"/>
                <a:cs typeface="微软雅黑"/>
              </a:rPr>
              <a:t>r</a:t>
            </a:r>
            <a:r>
              <a:rPr sz="2400" dirty="0">
                <a:latin typeface="微软雅黑"/>
                <a:cs typeface="微软雅黑"/>
              </a:rPr>
              <a:t>.gz</a:t>
            </a:r>
          </a:p>
        </p:txBody>
      </p:sp>
      <p:sp>
        <p:nvSpPr>
          <p:cNvPr id="4" name="object 4"/>
          <p:cNvSpPr/>
          <p:nvPr/>
        </p:nvSpPr>
        <p:spPr>
          <a:xfrm>
            <a:off x="577595" y="2982467"/>
            <a:ext cx="11251692" cy="3642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7595" y="3761232"/>
            <a:ext cx="10794492" cy="376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6640" y="5395061"/>
            <a:ext cx="79413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/>
                <a:cs typeface="微软雅黑"/>
              </a:rPr>
              <a:t>#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tar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-zxvf</a:t>
            </a:r>
            <a:r>
              <a:rPr sz="2400" spc="-3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微软雅黑"/>
                <a:cs typeface="微软雅黑"/>
              </a:rPr>
              <a:t>openGauss-2.0.0-openEuler-64bit-all.tar.gz</a:t>
            </a:r>
            <a:endParaRPr sz="2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微软雅黑"/>
                <a:cs typeface="微软雅黑"/>
              </a:rPr>
              <a:t>#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tar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-zxvf</a:t>
            </a:r>
            <a:r>
              <a:rPr sz="2400" spc="-6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微软雅黑"/>
                <a:cs typeface="微软雅黑"/>
              </a:rPr>
              <a:t>openGauss-2.0.0-openEuler-64bit-om.tar.gz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2511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初始化安装环境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94766" y="1486915"/>
            <a:ext cx="106781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安装包解压后，会在</a:t>
            </a:r>
            <a:r>
              <a:rPr sz="2400" spc="-5" dirty="0">
                <a:latin typeface="微软雅黑"/>
                <a:cs typeface="微软雅黑"/>
              </a:rPr>
              <a:t>/opt/s</a:t>
            </a:r>
            <a:r>
              <a:rPr sz="2400" spc="-55" dirty="0">
                <a:latin typeface="微软雅黑"/>
                <a:cs typeface="微软雅黑"/>
              </a:rPr>
              <a:t>o</a:t>
            </a:r>
            <a:r>
              <a:rPr sz="2400" spc="40" dirty="0">
                <a:latin typeface="微软雅黑"/>
                <a:cs typeface="微软雅黑"/>
              </a:rPr>
              <a:t>f</a:t>
            </a:r>
            <a:r>
              <a:rPr sz="2400" dirty="0">
                <a:latin typeface="微软雅黑"/>
                <a:cs typeface="微软雅黑"/>
              </a:rPr>
              <a:t>tw</a:t>
            </a:r>
            <a:r>
              <a:rPr sz="2400" spc="5" dirty="0">
                <a:latin typeface="微软雅黑"/>
                <a:cs typeface="微软雅黑"/>
              </a:rPr>
              <a:t>a</a:t>
            </a:r>
            <a:r>
              <a:rPr sz="2400" spc="-45" dirty="0">
                <a:latin typeface="微软雅黑"/>
                <a:cs typeface="微软雅黑"/>
              </a:rPr>
              <a:t>r</a:t>
            </a:r>
            <a:r>
              <a:rPr sz="2400" spc="-5" dirty="0">
                <a:latin typeface="微软雅黑"/>
                <a:cs typeface="微软雅黑"/>
              </a:rPr>
              <a:t>e</a:t>
            </a:r>
            <a:r>
              <a:rPr sz="2400" spc="-15" dirty="0">
                <a:latin typeface="微软雅黑"/>
                <a:cs typeface="微软雅黑"/>
              </a:rPr>
              <a:t>/</a:t>
            </a:r>
            <a:r>
              <a:rPr sz="2400" dirty="0">
                <a:latin typeface="微软雅黑"/>
                <a:cs typeface="微软雅黑"/>
              </a:rPr>
              <a:t>openGaus</a:t>
            </a:r>
            <a:r>
              <a:rPr sz="2400" spc="15" dirty="0">
                <a:latin typeface="微软雅黑"/>
                <a:cs typeface="微软雅黑"/>
              </a:rPr>
              <a:t>s</a:t>
            </a:r>
            <a:r>
              <a:rPr sz="2400" dirty="0">
                <a:latin typeface="微软雅黑"/>
                <a:cs typeface="微软雅黑"/>
              </a:rPr>
              <a:t>路径下自动生成script子目录， 并且</a:t>
            </a:r>
            <a:r>
              <a:rPr sz="2400" spc="-5" dirty="0">
                <a:latin typeface="微软雅黑"/>
                <a:cs typeface="微软雅黑"/>
              </a:rPr>
              <a:t>在</a:t>
            </a:r>
            <a:r>
              <a:rPr sz="2400" dirty="0">
                <a:latin typeface="微软雅黑"/>
                <a:cs typeface="微软雅黑"/>
              </a:rPr>
              <a:t>script目录下生成</a:t>
            </a:r>
            <a:r>
              <a:rPr sz="2400" spc="-5" dirty="0">
                <a:latin typeface="微软雅黑"/>
                <a:cs typeface="微软雅黑"/>
              </a:rPr>
              <a:t>gs_preinstall</a:t>
            </a:r>
            <a:r>
              <a:rPr sz="2400" dirty="0">
                <a:latin typeface="微软雅黑"/>
                <a:cs typeface="微软雅黑"/>
              </a:rPr>
              <a:t>等各种</a:t>
            </a:r>
            <a:r>
              <a:rPr sz="2400" spc="-5" dirty="0">
                <a:latin typeface="微软雅黑"/>
                <a:cs typeface="微软雅黑"/>
              </a:rPr>
              <a:t>OM</a:t>
            </a:r>
            <a:r>
              <a:rPr sz="2400" dirty="0">
                <a:latin typeface="微软雅黑"/>
                <a:cs typeface="微软雅黑"/>
              </a:rPr>
              <a:t>工具脚本。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2787395"/>
            <a:ext cx="10654284" cy="1438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4766" y="5347817"/>
            <a:ext cx="55613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/>
                <a:cs typeface="微软雅黑"/>
              </a:rPr>
              <a:t>#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cd</a:t>
            </a:r>
            <a:r>
              <a:rPr sz="2400" spc="-8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/opt/software/openGauss/script/</a:t>
            </a:r>
            <a:endParaRPr sz="2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微软雅黑"/>
                <a:cs typeface="微软雅黑"/>
              </a:rPr>
              <a:t>#</a:t>
            </a:r>
            <a:r>
              <a:rPr sz="2400" b="1" spc="-15" dirty="0">
                <a:latin typeface="微软雅黑"/>
                <a:cs typeface="微软雅黑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ls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2511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初始化安装环境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56640" y="1689353"/>
            <a:ext cx="10872470" cy="2470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切换到script目录，输入以下命令来创</a:t>
            </a:r>
            <a:r>
              <a:rPr sz="2400" spc="5" dirty="0">
                <a:latin typeface="微软雅黑"/>
                <a:cs typeface="微软雅黑"/>
              </a:rPr>
              <a:t>建</a:t>
            </a:r>
            <a:r>
              <a:rPr sz="2400" dirty="0">
                <a:latin typeface="微软雅黑"/>
                <a:cs typeface="微软雅黑"/>
              </a:rPr>
              <a:t>openGauss</a:t>
            </a:r>
            <a:r>
              <a:rPr sz="2400" spc="-5" dirty="0">
                <a:latin typeface="微软雅黑"/>
                <a:cs typeface="微软雅黑"/>
              </a:rPr>
              <a:t> </a:t>
            </a:r>
            <a:r>
              <a:rPr sz="2400" spc="-10" dirty="0">
                <a:latin typeface="微软雅黑"/>
                <a:cs typeface="微软雅黑"/>
              </a:rPr>
              <a:t>omm</a:t>
            </a:r>
            <a:r>
              <a:rPr sz="2400" dirty="0">
                <a:latin typeface="微软雅黑"/>
                <a:cs typeface="微软雅黑"/>
              </a:rPr>
              <a:t>用户互信：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b="1" spc="-25" dirty="0">
                <a:latin typeface="微软雅黑"/>
                <a:cs typeface="微软雅黑"/>
              </a:rPr>
              <a:t>python </a:t>
            </a:r>
            <a:r>
              <a:rPr sz="2000" b="1" spc="-30" dirty="0">
                <a:latin typeface="微软雅黑"/>
                <a:cs typeface="微软雅黑"/>
              </a:rPr>
              <a:t>gs_preinstall </a:t>
            </a:r>
            <a:r>
              <a:rPr sz="2000" b="1" spc="-15" dirty="0">
                <a:latin typeface="微软雅黑"/>
                <a:cs typeface="微软雅黑"/>
              </a:rPr>
              <a:t>-U omm -G </a:t>
            </a:r>
            <a:r>
              <a:rPr sz="2000" b="1" spc="-20" dirty="0">
                <a:latin typeface="微软雅黑"/>
                <a:cs typeface="微软雅黑"/>
              </a:rPr>
              <a:t>dbgrp </a:t>
            </a:r>
            <a:r>
              <a:rPr sz="2000" b="1" spc="-15" dirty="0">
                <a:latin typeface="微软雅黑"/>
                <a:cs typeface="微软雅黑"/>
              </a:rPr>
              <a:t>-X</a:t>
            </a:r>
            <a:r>
              <a:rPr sz="2000" b="1" spc="-20" dirty="0">
                <a:latin typeface="微软雅黑"/>
                <a:cs typeface="微软雅黑"/>
              </a:rPr>
              <a:t> </a:t>
            </a:r>
            <a:r>
              <a:rPr sz="2000" b="1" spc="-25" dirty="0">
                <a:latin typeface="微软雅黑"/>
                <a:cs typeface="微软雅黑"/>
              </a:rPr>
              <a:t>/opt/software/openGauss/clusterconfig.xml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8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微软雅黑"/>
                <a:cs typeface="微软雅黑"/>
              </a:rPr>
              <a:t>命令中</a:t>
            </a:r>
            <a:r>
              <a:rPr sz="2400" dirty="0">
                <a:latin typeface="微软雅黑"/>
                <a:cs typeface="微软雅黑"/>
              </a:rPr>
              <a:t>的</a:t>
            </a:r>
            <a:r>
              <a:rPr sz="2400" spc="-10" dirty="0">
                <a:latin typeface="微软雅黑"/>
                <a:cs typeface="微软雅黑"/>
              </a:rPr>
              <a:t>omm</a:t>
            </a:r>
            <a:r>
              <a:rPr sz="2400" spc="-5" dirty="0">
                <a:latin typeface="微软雅黑"/>
                <a:cs typeface="微软雅黑"/>
              </a:rPr>
              <a:t>为操作系统用户，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dbgrp为运行openGauss的操作系统用户的群组名称，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微软雅黑"/>
                <a:cs typeface="微软雅黑"/>
              </a:rPr>
              <a:t>/opt/software/openGauss/clusterconfig.xml</a:t>
            </a:r>
            <a:r>
              <a:rPr sz="2400" dirty="0">
                <a:latin typeface="微软雅黑"/>
                <a:cs typeface="微软雅黑"/>
              </a:rPr>
              <a:t>为</a:t>
            </a:r>
            <a:r>
              <a:rPr sz="2400" spc="-5" dirty="0">
                <a:latin typeface="微软雅黑"/>
                <a:cs typeface="微软雅黑"/>
              </a:rPr>
              <a:t>openGauss</a:t>
            </a:r>
            <a:r>
              <a:rPr sz="2400" dirty="0">
                <a:latin typeface="微软雅黑"/>
                <a:cs typeface="微软雅黑"/>
              </a:rPr>
              <a:t>配置文件路径。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6640" y="5654446"/>
            <a:ext cx="9979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# </a:t>
            </a:r>
            <a:r>
              <a:rPr sz="1800" b="1" spc="-25" dirty="0">
                <a:solidFill>
                  <a:srgbClr val="C00000"/>
                </a:solidFill>
                <a:latin typeface="微软雅黑"/>
                <a:cs typeface="微软雅黑"/>
              </a:rPr>
              <a:t>python gs_preinstall </a:t>
            </a:r>
            <a:r>
              <a:rPr sz="1800" b="1" spc="-15" dirty="0">
                <a:solidFill>
                  <a:srgbClr val="C00000"/>
                </a:solidFill>
                <a:latin typeface="微软雅黑"/>
                <a:cs typeface="微软雅黑"/>
              </a:rPr>
              <a:t>-U omm -G </a:t>
            </a:r>
            <a:r>
              <a:rPr sz="1800" b="1" spc="-20" dirty="0">
                <a:solidFill>
                  <a:srgbClr val="C00000"/>
                </a:solidFill>
                <a:latin typeface="微软雅黑"/>
                <a:cs typeface="微软雅黑"/>
              </a:rPr>
              <a:t>dbgrp </a:t>
            </a:r>
            <a:r>
              <a:rPr sz="1800" b="1" spc="-15" dirty="0">
                <a:solidFill>
                  <a:srgbClr val="C00000"/>
                </a:solidFill>
                <a:latin typeface="微软雅黑"/>
                <a:cs typeface="微软雅黑"/>
              </a:rPr>
              <a:t>-X</a:t>
            </a:r>
            <a:r>
              <a:rPr sz="1800" b="1" spc="-7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微软雅黑"/>
                <a:cs typeface="微软雅黑"/>
              </a:rPr>
              <a:t>/opt/software/openGauss/clusterconfig.xml</a:t>
            </a:r>
            <a:endParaRPr sz="18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2511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初始化安装环境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1007109"/>
            <a:ext cx="5161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这里提示你是否创建互信。填写</a:t>
            </a:r>
            <a:r>
              <a:rPr sz="2400" spc="-80" dirty="0">
                <a:latin typeface="微软雅黑"/>
                <a:cs typeface="微软雅黑"/>
              </a:rPr>
              <a:t> </a:t>
            </a:r>
            <a:r>
              <a:rPr sz="2400" spc="-10" dirty="0">
                <a:latin typeface="微软雅黑"/>
                <a:cs typeface="微软雅黑"/>
              </a:rPr>
              <a:t>yes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359" y="1473708"/>
            <a:ext cx="11269980" cy="1725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4359" y="3721608"/>
            <a:ext cx="10727436" cy="876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7568" y="3250819"/>
            <a:ext cx="3686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这里要求你输入两次密码。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4359" y="4823459"/>
            <a:ext cx="10727436" cy="13358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2511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初始化安装环境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1031494"/>
            <a:ext cx="109004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修</a:t>
            </a:r>
            <a:r>
              <a:rPr sz="2400" spc="-5" dirty="0">
                <a:latin typeface="微软雅黑"/>
                <a:cs typeface="微软雅黑"/>
              </a:rPr>
              <a:t>改/opt/software/openGauss/script</a:t>
            </a:r>
            <a:r>
              <a:rPr sz="2400" dirty="0">
                <a:latin typeface="微软雅黑"/>
                <a:cs typeface="微软雅黑"/>
              </a:rPr>
              <a:t>文件的权限，登录到openGauss的主机，  并切换到</a:t>
            </a:r>
            <a:r>
              <a:rPr sz="2400" spc="-5" dirty="0">
                <a:latin typeface="微软雅黑"/>
                <a:cs typeface="微软雅黑"/>
              </a:rPr>
              <a:t>omm</a:t>
            </a:r>
            <a:r>
              <a:rPr sz="2400" dirty="0">
                <a:latin typeface="微软雅黑"/>
                <a:cs typeface="微软雅黑"/>
              </a:rPr>
              <a:t>用户。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4766" y="5347817"/>
            <a:ext cx="714755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/>
                <a:cs typeface="微软雅黑"/>
              </a:rPr>
              <a:t>#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chmod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-R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755</a:t>
            </a:r>
            <a:r>
              <a:rPr sz="2400" spc="-6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/opt/software/openGauss/script</a:t>
            </a:r>
            <a:endParaRPr sz="2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微软雅黑"/>
                <a:cs typeface="微软雅黑"/>
              </a:rPr>
              <a:t>#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su -</a:t>
            </a:r>
            <a:r>
              <a:rPr sz="2400" spc="-2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omm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7595" y="2039111"/>
            <a:ext cx="10194036" cy="2779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4099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执行安装</a:t>
            </a:r>
            <a:r>
              <a:rPr sz="2800" spc="-10" dirty="0"/>
              <a:t>openGauss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4859528"/>
            <a:ext cx="11416665" cy="1211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$ </a:t>
            </a:r>
            <a:r>
              <a:rPr sz="1800" b="1" spc="-5" dirty="0">
                <a:solidFill>
                  <a:srgbClr val="C6000A"/>
                </a:solidFill>
                <a:latin typeface="微软雅黑"/>
                <a:cs typeface="微软雅黑"/>
              </a:rPr>
              <a:t>gs_install -X /opt/software/openGauss/clusterconfig.xml</a:t>
            </a:r>
            <a:r>
              <a:rPr sz="1800" b="1" spc="229" dirty="0">
                <a:solidFill>
                  <a:srgbClr val="C6000A"/>
                </a:solidFill>
                <a:latin typeface="微软雅黑"/>
                <a:cs typeface="微软雅黑"/>
              </a:rPr>
              <a:t> </a:t>
            </a:r>
            <a:r>
              <a:rPr sz="1800" b="1" spc="-10" dirty="0">
                <a:solidFill>
                  <a:srgbClr val="C6000A"/>
                </a:solidFill>
                <a:latin typeface="微软雅黑"/>
                <a:cs typeface="微软雅黑"/>
              </a:rPr>
              <a:t>--gsinit-parameter="--encoding=UTF8"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tabLst>
                <a:tab pos="4766310" algn="l"/>
              </a:tabLst>
            </a:pPr>
            <a:r>
              <a:rPr sz="1800" b="1" spc="-5" dirty="0">
                <a:solidFill>
                  <a:srgbClr val="C6000A"/>
                </a:solidFill>
                <a:latin typeface="微软雅黑"/>
                <a:cs typeface="微软雅黑"/>
              </a:rPr>
              <a:t>--dn-guc="max_process_memory=4GB"	--dn-guc="shared_buffers=256MB"</a:t>
            </a:r>
            <a:r>
              <a:rPr sz="1800" b="1" spc="5" dirty="0">
                <a:solidFill>
                  <a:srgbClr val="C6000A"/>
                </a:solidFill>
                <a:latin typeface="微软雅黑"/>
                <a:cs typeface="微软雅黑"/>
              </a:rPr>
              <a:t> </a:t>
            </a:r>
            <a:r>
              <a:rPr sz="1800" b="1" spc="-5" dirty="0">
                <a:solidFill>
                  <a:srgbClr val="C6000A"/>
                </a:solidFill>
                <a:latin typeface="微软雅黑"/>
                <a:cs typeface="微软雅黑"/>
              </a:rPr>
              <a:t>--dn-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ts val="2150"/>
              </a:lnSpc>
            </a:pPr>
            <a:r>
              <a:rPr sz="1800" b="1" spc="-5" dirty="0">
                <a:solidFill>
                  <a:srgbClr val="C6000A"/>
                </a:solidFill>
                <a:latin typeface="微软雅黑"/>
                <a:cs typeface="微软雅黑"/>
              </a:rPr>
              <a:t>guc="bulk_write_ring_size=256MB"</a:t>
            </a:r>
            <a:r>
              <a:rPr sz="1800" b="1" spc="50" dirty="0">
                <a:solidFill>
                  <a:srgbClr val="C6000A"/>
                </a:solidFill>
                <a:latin typeface="微软雅黑"/>
                <a:cs typeface="微软雅黑"/>
              </a:rPr>
              <a:t> </a:t>
            </a:r>
            <a:r>
              <a:rPr sz="1800" b="1" spc="-5" dirty="0">
                <a:solidFill>
                  <a:srgbClr val="C6000A"/>
                </a:solidFill>
                <a:latin typeface="微软雅黑"/>
                <a:cs typeface="微软雅黑"/>
              </a:rPr>
              <a:t>--dn-guc="cstore_buffers=16MB"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ts val="2870"/>
              </a:lnSpc>
            </a:pPr>
            <a:r>
              <a:rPr sz="2400" dirty="0">
                <a:latin typeface="微软雅黑"/>
                <a:cs typeface="微软雅黑"/>
              </a:rPr>
              <a:t>（整个粘上去）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6640" y="1025397"/>
            <a:ext cx="5511800" cy="9493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400" dirty="0">
                <a:latin typeface="微软雅黑"/>
                <a:cs typeface="微软雅黑"/>
              </a:rPr>
              <a:t>使</a:t>
            </a:r>
            <a:r>
              <a:rPr sz="2400" spc="-5" dirty="0">
                <a:latin typeface="微软雅黑"/>
                <a:cs typeface="微软雅黑"/>
              </a:rPr>
              <a:t>用gs_install</a:t>
            </a:r>
            <a:r>
              <a:rPr sz="2400" dirty="0">
                <a:latin typeface="微软雅黑"/>
                <a:cs typeface="微软雅黑"/>
              </a:rPr>
              <a:t>命令安装openGauss：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400" dirty="0">
                <a:latin typeface="微软雅黑"/>
                <a:cs typeface="微软雅黑"/>
              </a:rPr>
              <a:t>中间需要输入两次密码，成功后如下图。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7595" y="2238755"/>
            <a:ext cx="7123176" cy="1899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4099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执行安装</a:t>
            </a:r>
            <a:r>
              <a:rPr sz="2800" spc="-10" dirty="0"/>
              <a:t>openGauss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122546" y="2862833"/>
            <a:ext cx="390397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latin typeface="微软雅黑"/>
                <a:cs typeface="微软雅黑"/>
              </a:rPr>
              <a:t>openGauss</a:t>
            </a:r>
            <a:r>
              <a:rPr sz="3200" b="1" dirty="0">
                <a:latin typeface="微软雅黑"/>
                <a:cs typeface="微软雅黑"/>
              </a:rPr>
              <a:t>安装成功</a:t>
            </a:r>
            <a:endParaRPr sz="3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4831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openGauss</a:t>
            </a:r>
            <a:r>
              <a:rPr sz="2800" spc="-5" dirty="0"/>
              <a:t>数据库的简单使用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847420"/>
            <a:ext cx="7833995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/>
                <a:cs typeface="微软雅黑"/>
              </a:rPr>
              <a:t>在数据库主节点服务器上，</a:t>
            </a:r>
            <a:r>
              <a:rPr sz="2400" dirty="0">
                <a:latin typeface="微软雅黑"/>
                <a:cs typeface="微软雅黑"/>
              </a:rPr>
              <a:t>在</a:t>
            </a:r>
            <a:r>
              <a:rPr sz="2400" b="1" spc="-10" dirty="0">
                <a:latin typeface="微软雅黑"/>
                <a:cs typeface="微软雅黑"/>
              </a:rPr>
              <a:t>omm</a:t>
            </a:r>
            <a:r>
              <a:rPr sz="2400" spc="-5" dirty="0">
                <a:latin typeface="微软雅黑"/>
                <a:cs typeface="微软雅黑"/>
              </a:rPr>
              <a:t>操作系统用户环境下：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微软雅黑"/>
                <a:cs typeface="微软雅黑"/>
              </a:rPr>
              <a:t>使用</a:t>
            </a:r>
            <a:r>
              <a:rPr sz="2400" spc="-10" dirty="0">
                <a:latin typeface="微软雅黑"/>
                <a:cs typeface="微软雅黑"/>
              </a:rPr>
              <a:t> </a:t>
            </a:r>
            <a:r>
              <a:rPr sz="2400" b="1" dirty="0">
                <a:latin typeface="微软雅黑"/>
                <a:cs typeface="微软雅黑"/>
              </a:rPr>
              <a:t>gs_om</a:t>
            </a:r>
            <a:r>
              <a:rPr sz="2400" b="1" spc="-5" dirty="0">
                <a:latin typeface="微软雅黑"/>
                <a:cs typeface="微软雅黑"/>
              </a:rPr>
              <a:t> -t </a:t>
            </a:r>
            <a:r>
              <a:rPr sz="2400" b="1" dirty="0">
                <a:latin typeface="微软雅黑"/>
                <a:cs typeface="微软雅黑"/>
              </a:rPr>
              <a:t>status </a:t>
            </a:r>
            <a:r>
              <a:rPr sz="2400" dirty="0">
                <a:latin typeface="微软雅黑"/>
                <a:cs typeface="微软雅黑"/>
              </a:rPr>
              <a:t>命令查看服务是否启动。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1755648"/>
            <a:ext cx="8531352" cy="1491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56640" y="3366896"/>
            <a:ext cx="8152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如果没有启动，使用</a:t>
            </a:r>
            <a:r>
              <a:rPr sz="2400" spc="-25" dirty="0">
                <a:latin typeface="微软雅黑"/>
                <a:cs typeface="微软雅黑"/>
              </a:rPr>
              <a:t> </a:t>
            </a:r>
            <a:r>
              <a:rPr sz="2400" b="1" dirty="0">
                <a:latin typeface="微软雅黑"/>
                <a:cs typeface="微软雅黑"/>
              </a:rPr>
              <a:t>gs_om</a:t>
            </a:r>
            <a:r>
              <a:rPr sz="2400" b="1" spc="-15" dirty="0">
                <a:latin typeface="微软雅黑"/>
                <a:cs typeface="微软雅黑"/>
              </a:rPr>
              <a:t> </a:t>
            </a:r>
            <a:r>
              <a:rPr sz="2400" b="1" spc="-5" dirty="0">
                <a:latin typeface="微软雅黑"/>
                <a:cs typeface="微软雅黑"/>
              </a:rPr>
              <a:t>-t</a:t>
            </a:r>
            <a:r>
              <a:rPr sz="2400" b="1" spc="-20" dirty="0">
                <a:latin typeface="微软雅黑"/>
                <a:cs typeface="微软雅黑"/>
              </a:rPr>
              <a:t> </a:t>
            </a:r>
            <a:r>
              <a:rPr sz="2400" b="1" spc="15" dirty="0">
                <a:latin typeface="微软雅黑"/>
                <a:cs typeface="微软雅黑"/>
              </a:rPr>
              <a:t>start</a:t>
            </a:r>
            <a:r>
              <a:rPr sz="2400" b="1" spc="-25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命令启动数据库服务。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7595" y="3806952"/>
            <a:ext cx="7188708" cy="146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63139" y="2459735"/>
            <a:ext cx="932815" cy="378460"/>
          </a:xfrm>
          <a:custGeom>
            <a:avLst/>
            <a:gdLst/>
            <a:ahLst/>
            <a:cxnLst/>
            <a:rect l="l" t="t" r="r" b="b"/>
            <a:pathLst>
              <a:path w="932814" h="378460">
                <a:moveTo>
                  <a:pt x="0" y="377951"/>
                </a:moveTo>
                <a:lnTo>
                  <a:pt x="932688" y="377951"/>
                </a:lnTo>
                <a:lnTo>
                  <a:pt x="932688" y="0"/>
                </a:lnTo>
                <a:lnTo>
                  <a:pt x="0" y="0"/>
                </a:lnTo>
                <a:lnTo>
                  <a:pt x="0" y="377951"/>
                </a:lnTo>
                <a:close/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6640" y="5395061"/>
            <a:ext cx="72256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/>
                <a:cs typeface="微软雅黑"/>
              </a:rPr>
              <a:t>$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gs_om -t</a:t>
            </a:r>
            <a:r>
              <a:rPr sz="2400" spc="-1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status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微软雅黑"/>
                <a:cs typeface="微软雅黑"/>
              </a:rPr>
              <a:t>$</a:t>
            </a:r>
            <a:r>
              <a:rPr sz="2400" b="1" spc="-40" dirty="0"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gs_om</a:t>
            </a:r>
            <a:r>
              <a:rPr sz="2400" spc="-1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-t</a:t>
            </a:r>
            <a:r>
              <a:rPr sz="2400" spc="-2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spc="10" dirty="0">
                <a:solidFill>
                  <a:srgbClr val="C00000"/>
                </a:solidFill>
                <a:latin typeface="微软雅黑"/>
                <a:cs typeface="微软雅黑"/>
              </a:rPr>
              <a:t>start（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如果没有启动，才执行这个命令）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4831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openGauss</a:t>
            </a:r>
            <a:r>
              <a:rPr sz="2800" spc="-5" dirty="0"/>
              <a:t>数据库的简单使用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847420"/>
            <a:ext cx="75679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/>
                <a:cs typeface="微软雅黑"/>
              </a:rPr>
              <a:t>使</a:t>
            </a:r>
            <a:r>
              <a:rPr sz="2400" dirty="0">
                <a:latin typeface="微软雅黑"/>
                <a:cs typeface="微软雅黑"/>
              </a:rPr>
              <a:t>用</a:t>
            </a:r>
            <a:r>
              <a:rPr sz="2400" spc="-10" dirty="0">
                <a:latin typeface="微软雅黑"/>
                <a:cs typeface="微软雅黑"/>
              </a:rPr>
              <a:t> </a:t>
            </a:r>
            <a:r>
              <a:rPr sz="2400" b="1" dirty="0">
                <a:latin typeface="微软雅黑"/>
                <a:cs typeface="微软雅黑"/>
              </a:rPr>
              <a:t>gsql</a:t>
            </a:r>
            <a:r>
              <a:rPr sz="2400" b="1" spc="5" dirty="0">
                <a:latin typeface="微软雅黑"/>
                <a:cs typeface="微软雅黑"/>
              </a:rPr>
              <a:t> </a:t>
            </a:r>
            <a:r>
              <a:rPr sz="2400" b="1" spc="-5" dirty="0">
                <a:latin typeface="微软雅黑"/>
                <a:cs typeface="微软雅黑"/>
              </a:rPr>
              <a:t>-d postgres</a:t>
            </a:r>
            <a:r>
              <a:rPr sz="2400" b="1" spc="5" dirty="0">
                <a:latin typeface="微软雅黑"/>
                <a:cs typeface="微软雅黑"/>
              </a:rPr>
              <a:t> </a:t>
            </a:r>
            <a:r>
              <a:rPr sz="2400" b="1" spc="-5" dirty="0">
                <a:latin typeface="微软雅黑"/>
                <a:cs typeface="微软雅黑"/>
              </a:rPr>
              <a:t>-p 26000</a:t>
            </a:r>
            <a:r>
              <a:rPr sz="2400" b="1" spc="-20" dirty="0">
                <a:latin typeface="微软雅黑"/>
                <a:cs typeface="微软雅黑"/>
              </a:rPr>
              <a:t> </a:t>
            </a:r>
            <a:r>
              <a:rPr sz="2400" b="1" spc="-5" dirty="0">
                <a:latin typeface="微软雅黑"/>
                <a:cs typeface="微软雅黑"/>
              </a:rPr>
              <a:t>-r</a:t>
            </a:r>
            <a:r>
              <a:rPr sz="2400" b="1" spc="-10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命令连接数据库。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1435608"/>
            <a:ext cx="11167872" cy="1615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56640" y="3134995"/>
            <a:ext cx="10828655" cy="284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出现上图即连接数据库成功。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微软雅黑"/>
                <a:cs typeface="微软雅黑"/>
              </a:rPr>
              <a:t>命令中的pos</a:t>
            </a:r>
            <a:r>
              <a:rPr sz="2400" spc="-15" dirty="0">
                <a:latin typeface="微软雅黑"/>
                <a:cs typeface="微软雅黑"/>
              </a:rPr>
              <a:t>t</a:t>
            </a:r>
            <a:r>
              <a:rPr sz="2400" dirty="0">
                <a:latin typeface="微软雅黑"/>
                <a:cs typeface="微软雅黑"/>
              </a:rPr>
              <a:t>g</a:t>
            </a:r>
            <a:r>
              <a:rPr sz="2400" spc="-40" dirty="0">
                <a:latin typeface="微软雅黑"/>
                <a:cs typeface="微软雅黑"/>
              </a:rPr>
              <a:t>r</a:t>
            </a:r>
            <a:r>
              <a:rPr sz="2400" spc="-5" dirty="0">
                <a:latin typeface="微软雅黑"/>
                <a:cs typeface="微软雅黑"/>
              </a:rPr>
              <a:t>es</a:t>
            </a:r>
            <a:r>
              <a:rPr sz="2400" dirty="0">
                <a:latin typeface="微软雅黑"/>
                <a:cs typeface="微软雅黑"/>
              </a:rPr>
              <a:t>是openGaus</a:t>
            </a:r>
            <a:r>
              <a:rPr sz="2400" spc="5" dirty="0">
                <a:latin typeface="微软雅黑"/>
                <a:cs typeface="微软雅黑"/>
              </a:rPr>
              <a:t>s</a:t>
            </a:r>
            <a:r>
              <a:rPr sz="2400" dirty="0">
                <a:latin typeface="微软雅黑"/>
                <a:cs typeface="微软雅黑"/>
              </a:rPr>
              <a:t>安装完成后默认生成的数据库，初始可以连接到 此数据库进行新数据库的创建。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微软雅黑"/>
                <a:cs typeface="微软雅黑"/>
              </a:rPr>
              <a:t>26000为数据库主节点的端口号，需根</a:t>
            </a:r>
            <a:r>
              <a:rPr sz="2400" dirty="0">
                <a:latin typeface="微软雅黑"/>
                <a:cs typeface="微软雅黑"/>
              </a:rPr>
              <a:t>据</a:t>
            </a:r>
            <a:r>
              <a:rPr sz="2400" spc="-5" dirty="0">
                <a:latin typeface="微软雅黑"/>
                <a:cs typeface="微软雅黑"/>
              </a:rPr>
              <a:t>openGauss的实际情况做替换。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65"/>
              </a:spcBef>
            </a:pPr>
            <a:r>
              <a:rPr sz="2400" b="1" dirty="0">
                <a:latin typeface="微软雅黑"/>
                <a:cs typeface="微软雅黑"/>
              </a:rPr>
              <a:t>$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gsql -d </a:t>
            </a:r>
            <a:r>
              <a:rPr sz="2400" spc="-10" dirty="0">
                <a:solidFill>
                  <a:srgbClr val="C00000"/>
                </a:solidFill>
                <a:latin typeface="微软雅黑"/>
                <a:cs typeface="微软雅黑"/>
              </a:rPr>
              <a:t>postgres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-p </a:t>
            </a:r>
            <a:r>
              <a:rPr sz="2400" spc="-5" dirty="0">
                <a:solidFill>
                  <a:srgbClr val="C00000"/>
                </a:solidFill>
                <a:latin typeface="微软雅黑"/>
                <a:cs typeface="微软雅黑"/>
              </a:rPr>
              <a:t>26000</a:t>
            </a:r>
            <a:r>
              <a:rPr sz="2400" spc="3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C00000"/>
                </a:solidFill>
                <a:latin typeface="微软雅黑"/>
                <a:cs typeface="微软雅黑"/>
              </a:rPr>
              <a:t>-r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35</a:t>
            </a:fld>
            <a:endParaRPr spc="-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4831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openGauss</a:t>
            </a:r>
            <a:r>
              <a:rPr sz="2800" spc="-5" dirty="0"/>
              <a:t>数据库的简单使用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1071753"/>
            <a:ext cx="109404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默认只有openGauss安装时创建的管理员用户（这里</a:t>
            </a:r>
            <a:r>
              <a:rPr sz="2400" spc="-30" dirty="0">
                <a:latin typeface="微软雅黑"/>
                <a:cs typeface="微软雅黑"/>
              </a:rPr>
              <a:t>是</a:t>
            </a:r>
            <a:r>
              <a:rPr sz="2400" dirty="0">
                <a:latin typeface="微软雅黑"/>
                <a:cs typeface="微软雅黑"/>
              </a:rPr>
              <a:t>om</a:t>
            </a:r>
            <a:r>
              <a:rPr sz="2400" spc="-15" dirty="0">
                <a:latin typeface="微软雅黑"/>
                <a:cs typeface="微软雅黑"/>
              </a:rPr>
              <a:t>m</a:t>
            </a:r>
            <a:r>
              <a:rPr sz="2400" dirty="0">
                <a:latin typeface="微软雅黑"/>
                <a:cs typeface="微软雅黑"/>
              </a:rPr>
              <a:t>）可以访问初始数据 库。还可以使用 </a:t>
            </a:r>
            <a:r>
              <a:rPr sz="2400" b="1" spc="-30" dirty="0">
                <a:latin typeface="微软雅黑"/>
                <a:cs typeface="微软雅黑"/>
              </a:rPr>
              <a:t>CREATE</a:t>
            </a:r>
            <a:r>
              <a:rPr sz="2400" b="1" spc="-5" dirty="0">
                <a:latin typeface="微软雅黑"/>
                <a:cs typeface="微软雅黑"/>
              </a:rPr>
              <a:t> USER</a:t>
            </a:r>
            <a:r>
              <a:rPr sz="2400" b="1" dirty="0">
                <a:latin typeface="微软雅黑"/>
                <a:cs typeface="微软雅黑"/>
              </a:rPr>
              <a:t> username</a:t>
            </a:r>
            <a:r>
              <a:rPr sz="2400" b="1" spc="-10" dirty="0">
                <a:latin typeface="微软雅黑"/>
                <a:cs typeface="微软雅黑"/>
              </a:rPr>
              <a:t> </a:t>
            </a:r>
            <a:r>
              <a:rPr sz="2400" b="1" spc="-5" dirty="0">
                <a:latin typeface="微软雅黑"/>
                <a:cs typeface="微软雅黑"/>
              </a:rPr>
              <a:t>WITH </a:t>
            </a:r>
            <a:r>
              <a:rPr sz="2400" b="1" spc="-25" dirty="0">
                <a:latin typeface="微软雅黑"/>
                <a:cs typeface="微软雅黑"/>
              </a:rPr>
              <a:t>PASSWORD</a:t>
            </a:r>
            <a:r>
              <a:rPr sz="2400" b="1" spc="10" dirty="0">
                <a:latin typeface="微软雅黑"/>
                <a:cs typeface="微软雅黑"/>
              </a:rPr>
              <a:t> </a:t>
            </a:r>
            <a:r>
              <a:rPr sz="2400" b="1" spc="-10" dirty="0">
                <a:latin typeface="微软雅黑"/>
                <a:cs typeface="微软雅黑"/>
              </a:rPr>
              <a:t>"password";  </a:t>
            </a:r>
            <a:r>
              <a:rPr sz="2400" dirty="0">
                <a:latin typeface="微软雅黑"/>
                <a:cs typeface="微软雅黑"/>
              </a:rPr>
              <a:t>命令创建其他数据库用户帐号。下图成功创建了用</a:t>
            </a:r>
            <a:r>
              <a:rPr sz="2400" spc="5" dirty="0">
                <a:latin typeface="微软雅黑"/>
                <a:cs typeface="微软雅黑"/>
              </a:rPr>
              <a:t>户</a:t>
            </a:r>
            <a:r>
              <a:rPr sz="2400" spc="-5" dirty="0">
                <a:latin typeface="微软雅黑"/>
                <a:cs typeface="微软雅黑"/>
              </a:rPr>
              <a:t>john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108" y="3149346"/>
            <a:ext cx="107410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可以使用命令</a:t>
            </a:r>
            <a:r>
              <a:rPr sz="2400" spc="-5" dirty="0">
                <a:latin typeface="微软雅黑"/>
                <a:cs typeface="微软雅黑"/>
              </a:rPr>
              <a:t> </a:t>
            </a:r>
            <a:r>
              <a:rPr sz="2400" b="1" spc="-30" dirty="0">
                <a:latin typeface="微软雅黑"/>
                <a:cs typeface="微软雅黑"/>
              </a:rPr>
              <a:t>CREATE</a:t>
            </a:r>
            <a:r>
              <a:rPr sz="2400" b="1" spc="-5" dirty="0">
                <a:latin typeface="微软雅黑"/>
                <a:cs typeface="微软雅黑"/>
              </a:rPr>
              <a:t> </a:t>
            </a:r>
            <a:r>
              <a:rPr sz="2400" b="1" spc="-55" dirty="0">
                <a:latin typeface="微软雅黑"/>
                <a:cs typeface="微软雅黑"/>
              </a:rPr>
              <a:t>DATABASE</a:t>
            </a:r>
            <a:r>
              <a:rPr sz="2400" b="1" spc="-10" dirty="0">
                <a:latin typeface="微软雅黑"/>
                <a:cs typeface="微软雅黑"/>
              </a:rPr>
              <a:t> </a:t>
            </a:r>
            <a:r>
              <a:rPr sz="2400" b="1" spc="-5" dirty="0">
                <a:latin typeface="微软雅黑"/>
                <a:cs typeface="微软雅黑"/>
              </a:rPr>
              <a:t>database_name</a:t>
            </a:r>
            <a:r>
              <a:rPr sz="2400" b="1" spc="-10" dirty="0">
                <a:latin typeface="微软雅黑"/>
                <a:cs typeface="微软雅黑"/>
              </a:rPr>
              <a:t> </a:t>
            </a:r>
            <a:r>
              <a:rPr sz="2400" b="1" spc="-5" dirty="0">
                <a:latin typeface="微软雅黑"/>
                <a:cs typeface="微软雅黑"/>
              </a:rPr>
              <a:t>OWNER owner_name;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微软雅黑"/>
                <a:cs typeface="微软雅黑"/>
              </a:rPr>
              <a:t>创建数据库。下图成功创建了数据</a:t>
            </a:r>
            <a:r>
              <a:rPr sz="2400" dirty="0">
                <a:latin typeface="微软雅黑"/>
                <a:cs typeface="微软雅黑"/>
              </a:rPr>
              <a:t>库</a:t>
            </a:r>
            <a:r>
              <a:rPr sz="2400" spc="-5" dirty="0">
                <a:latin typeface="微软雅黑"/>
                <a:cs typeface="微软雅黑"/>
              </a:rPr>
              <a:t>newdb，管理员设为john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9600" y="4012691"/>
            <a:ext cx="9034272" cy="8229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9600" y="2363723"/>
            <a:ext cx="11129772" cy="7010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6640" y="4818989"/>
            <a:ext cx="10329545" cy="130746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400" spc="-5" dirty="0">
                <a:latin typeface="微软雅黑"/>
                <a:cs typeface="微软雅黑"/>
              </a:rPr>
              <a:t>Ctrl+Z</a:t>
            </a:r>
            <a:r>
              <a:rPr sz="2400" dirty="0">
                <a:latin typeface="微软雅黑"/>
                <a:cs typeface="微软雅黑"/>
              </a:rPr>
              <a:t>即可退出数据库。</a:t>
            </a:r>
            <a:endParaRPr sz="24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730"/>
              </a:spcBef>
            </a:pPr>
            <a:r>
              <a:rPr sz="2400" b="1" spc="-5" dirty="0">
                <a:latin typeface="微软雅黑"/>
                <a:cs typeface="微软雅黑"/>
              </a:rPr>
              <a:t>postgres=# </a:t>
            </a:r>
            <a:r>
              <a:rPr sz="2400" b="1" spc="-30" dirty="0">
                <a:solidFill>
                  <a:srgbClr val="C00000"/>
                </a:solidFill>
                <a:latin typeface="微软雅黑"/>
                <a:cs typeface="微软雅黑"/>
              </a:rPr>
              <a:t>CREATE </a:t>
            </a:r>
            <a:r>
              <a:rPr sz="2400" b="1" spc="-5" dirty="0">
                <a:solidFill>
                  <a:srgbClr val="C00000"/>
                </a:solidFill>
                <a:latin typeface="微软雅黑"/>
                <a:cs typeface="微软雅黑"/>
              </a:rPr>
              <a:t>USER john WITH </a:t>
            </a:r>
            <a:r>
              <a:rPr sz="2400" b="1" spc="-25" dirty="0">
                <a:solidFill>
                  <a:srgbClr val="C00000"/>
                </a:solidFill>
                <a:latin typeface="微软雅黑"/>
                <a:cs typeface="微软雅黑"/>
              </a:rPr>
              <a:t>PASSWORD </a:t>
            </a:r>
            <a:r>
              <a:rPr sz="2400" b="1" spc="-5" dirty="0">
                <a:solidFill>
                  <a:srgbClr val="C00000"/>
                </a:solidFill>
                <a:latin typeface="微软雅黑"/>
                <a:cs typeface="微软雅黑"/>
              </a:rPr>
              <a:t>"399ng259dsn..";  </a:t>
            </a:r>
            <a:r>
              <a:rPr sz="2400" b="1" spc="-5" dirty="0">
                <a:latin typeface="微软雅黑"/>
                <a:cs typeface="微软雅黑"/>
              </a:rPr>
              <a:t>postgres=# </a:t>
            </a:r>
            <a:r>
              <a:rPr sz="2400" b="1" spc="-30" dirty="0">
                <a:solidFill>
                  <a:srgbClr val="C00000"/>
                </a:solidFill>
                <a:latin typeface="微软雅黑"/>
                <a:cs typeface="微软雅黑"/>
              </a:rPr>
              <a:t>CREATE </a:t>
            </a:r>
            <a:r>
              <a:rPr sz="2400" b="1" spc="-55" dirty="0">
                <a:solidFill>
                  <a:srgbClr val="C00000"/>
                </a:solidFill>
                <a:latin typeface="微软雅黑"/>
                <a:cs typeface="微软雅黑"/>
              </a:rPr>
              <a:t>DATABASE </a:t>
            </a:r>
            <a:r>
              <a:rPr sz="2400" b="1" spc="-5" dirty="0">
                <a:solidFill>
                  <a:srgbClr val="C00000"/>
                </a:solidFill>
                <a:latin typeface="微软雅黑"/>
                <a:cs typeface="微软雅黑"/>
              </a:rPr>
              <a:t>newdb OWNER</a:t>
            </a:r>
            <a:r>
              <a:rPr sz="2400" b="1" spc="8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微软雅黑"/>
                <a:cs typeface="微软雅黑"/>
              </a:rPr>
              <a:t>john;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33438" y="3122498"/>
            <a:ext cx="36144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使用工具连接</a:t>
            </a:r>
            <a:r>
              <a:rPr dirty="0"/>
              <a:t>ECS</a:t>
            </a:r>
          </a:p>
        </p:txBody>
      </p:sp>
      <p:sp>
        <p:nvSpPr>
          <p:cNvPr id="3" name="object 3"/>
          <p:cNvSpPr/>
          <p:nvPr/>
        </p:nvSpPr>
        <p:spPr>
          <a:xfrm>
            <a:off x="5891784" y="3000755"/>
            <a:ext cx="858519" cy="856615"/>
          </a:xfrm>
          <a:custGeom>
            <a:avLst/>
            <a:gdLst/>
            <a:ahLst/>
            <a:cxnLst/>
            <a:rect l="l" t="t" r="r" b="b"/>
            <a:pathLst>
              <a:path w="858520" h="856614">
                <a:moveTo>
                  <a:pt x="429005" y="0"/>
                </a:moveTo>
                <a:lnTo>
                  <a:pt x="382252" y="2513"/>
                </a:lnTo>
                <a:lnTo>
                  <a:pt x="336959" y="9879"/>
                </a:lnTo>
                <a:lnTo>
                  <a:pt x="293388" y="21835"/>
                </a:lnTo>
                <a:lnTo>
                  <a:pt x="251800" y="38122"/>
                </a:lnTo>
                <a:lnTo>
                  <a:pt x="212456" y="58476"/>
                </a:lnTo>
                <a:lnTo>
                  <a:pt x="175619" y="82637"/>
                </a:lnTo>
                <a:lnTo>
                  <a:pt x="141550" y="110343"/>
                </a:lnTo>
                <a:lnTo>
                  <a:pt x="110509" y="141333"/>
                </a:lnTo>
                <a:lnTo>
                  <a:pt x="82759" y="175345"/>
                </a:lnTo>
                <a:lnTo>
                  <a:pt x="58561" y="212118"/>
                </a:lnTo>
                <a:lnTo>
                  <a:pt x="38176" y="251390"/>
                </a:lnTo>
                <a:lnTo>
                  <a:pt x="21866" y="292900"/>
                </a:lnTo>
                <a:lnTo>
                  <a:pt x="9892" y="336387"/>
                </a:lnTo>
                <a:lnTo>
                  <a:pt x="2516" y="381588"/>
                </a:lnTo>
                <a:lnTo>
                  <a:pt x="0" y="428244"/>
                </a:lnTo>
                <a:lnTo>
                  <a:pt x="2516" y="474899"/>
                </a:lnTo>
                <a:lnTo>
                  <a:pt x="9892" y="520100"/>
                </a:lnTo>
                <a:lnTo>
                  <a:pt x="21866" y="563587"/>
                </a:lnTo>
                <a:lnTo>
                  <a:pt x="38176" y="605097"/>
                </a:lnTo>
                <a:lnTo>
                  <a:pt x="58561" y="644369"/>
                </a:lnTo>
                <a:lnTo>
                  <a:pt x="82759" y="681142"/>
                </a:lnTo>
                <a:lnTo>
                  <a:pt x="110509" y="715154"/>
                </a:lnTo>
                <a:lnTo>
                  <a:pt x="141550" y="746144"/>
                </a:lnTo>
                <a:lnTo>
                  <a:pt x="175619" y="773850"/>
                </a:lnTo>
                <a:lnTo>
                  <a:pt x="212456" y="798011"/>
                </a:lnTo>
                <a:lnTo>
                  <a:pt x="251800" y="818365"/>
                </a:lnTo>
                <a:lnTo>
                  <a:pt x="293388" y="834652"/>
                </a:lnTo>
                <a:lnTo>
                  <a:pt x="336959" y="846608"/>
                </a:lnTo>
                <a:lnTo>
                  <a:pt x="382252" y="853974"/>
                </a:lnTo>
                <a:lnTo>
                  <a:pt x="429005" y="856488"/>
                </a:lnTo>
                <a:lnTo>
                  <a:pt x="475759" y="853974"/>
                </a:lnTo>
                <a:lnTo>
                  <a:pt x="521052" y="846608"/>
                </a:lnTo>
                <a:lnTo>
                  <a:pt x="564623" y="834652"/>
                </a:lnTo>
                <a:lnTo>
                  <a:pt x="606211" y="818365"/>
                </a:lnTo>
                <a:lnTo>
                  <a:pt x="645555" y="798011"/>
                </a:lnTo>
                <a:lnTo>
                  <a:pt x="682392" y="773850"/>
                </a:lnTo>
                <a:lnTo>
                  <a:pt x="716461" y="746144"/>
                </a:lnTo>
                <a:lnTo>
                  <a:pt x="747502" y="715154"/>
                </a:lnTo>
                <a:lnTo>
                  <a:pt x="775252" y="681142"/>
                </a:lnTo>
                <a:lnTo>
                  <a:pt x="799450" y="644369"/>
                </a:lnTo>
                <a:lnTo>
                  <a:pt x="819835" y="605097"/>
                </a:lnTo>
                <a:lnTo>
                  <a:pt x="836145" y="563587"/>
                </a:lnTo>
                <a:lnTo>
                  <a:pt x="848119" y="520100"/>
                </a:lnTo>
                <a:lnTo>
                  <a:pt x="855495" y="474899"/>
                </a:lnTo>
                <a:lnTo>
                  <a:pt x="858012" y="428244"/>
                </a:lnTo>
                <a:lnTo>
                  <a:pt x="855495" y="381588"/>
                </a:lnTo>
                <a:lnTo>
                  <a:pt x="848119" y="336387"/>
                </a:lnTo>
                <a:lnTo>
                  <a:pt x="836145" y="292900"/>
                </a:lnTo>
                <a:lnTo>
                  <a:pt x="819835" y="251390"/>
                </a:lnTo>
                <a:lnTo>
                  <a:pt x="799450" y="212118"/>
                </a:lnTo>
                <a:lnTo>
                  <a:pt x="775252" y="175345"/>
                </a:lnTo>
                <a:lnTo>
                  <a:pt x="747502" y="141333"/>
                </a:lnTo>
                <a:lnTo>
                  <a:pt x="716461" y="110343"/>
                </a:lnTo>
                <a:lnTo>
                  <a:pt x="682392" y="82637"/>
                </a:lnTo>
                <a:lnTo>
                  <a:pt x="645555" y="58476"/>
                </a:lnTo>
                <a:lnTo>
                  <a:pt x="606211" y="38122"/>
                </a:lnTo>
                <a:lnTo>
                  <a:pt x="564623" y="21835"/>
                </a:lnTo>
                <a:lnTo>
                  <a:pt x="521052" y="9879"/>
                </a:lnTo>
                <a:lnTo>
                  <a:pt x="475759" y="2513"/>
                </a:lnTo>
                <a:lnTo>
                  <a:pt x="429005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66230" y="3103244"/>
            <a:ext cx="3098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endParaRPr sz="4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640" y="228092"/>
            <a:ext cx="4202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微软雅黑"/>
                <a:cs typeface="微软雅黑"/>
              </a:rPr>
              <a:t>使</a:t>
            </a:r>
            <a:r>
              <a:rPr sz="2800" b="1" spc="-10" dirty="0">
                <a:latin typeface="微软雅黑"/>
                <a:cs typeface="微软雅黑"/>
              </a:rPr>
              <a:t>用</a:t>
            </a:r>
            <a:r>
              <a:rPr sz="2800" b="1" spc="-5" dirty="0">
                <a:latin typeface="微软雅黑"/>
                <a:cs typeface="微软雅黑"/>
              </a:rPr>
              <a:t>Data</a:t>
            </a:r>
            <a:r>
              <a:rPr sz="2800" b="1" spc="-40" dirty="0">
                <a:latin typeface="微软雅黑"/>
                <a:cs typeface="微软雅黑"/>
              </a:rPr>
              <a:t> </a:t>
            </a:r>
            <a:r>
              <a:rPr sz="2800" b="1" spc="-25" dirty="0">
                <a:latin typeface="微软雅黑"/>
                <a:cs typeface="微软雅黑"/>
              </a:rPr>
              <a:t>Studio</a:t>
            </a:r>
            <a:r>
              <a:rPr sz="2800" b="1" spc="-5" dirty="0">
                <a:latin typeface="微软雅黑"/>
                <a:cs typeface="微软雅黑"/>
              </a:rPr>
              <a:t>连</a:t>
            </a:r>
            <a:r>
              <a:rPr sz="2800" b="1" spc="-10" dirty="0">
                <a:latin typeface="微软雅黑"/>
                <a:cs typeface="微软雅黑"/>
              </a:rPr>
              <a:t>接</a:t>
            </a:r>
            <a:r>
              <a:rPr sz="2800" b="1" spc="-5" dirty="0">
                <a:latin typeface="微软雅黑"/>
                <a:cs typeface="微软雅黑"/>
              </a:rPr>
              <a:t>ECS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6640" y="881634"/>
            <a:ext cx="100222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打</a:t>
            </a:r>
            <a:r>
              <a:rPr sz="2400" spc="-5" dirty="0">
                <a:latin typeface="微软雅黑"/>
                <a:cs typeface="微软雅黑"/>
              </a:rPr>
              <a:t>开</a:t>
            </a:r>
            <a:r>
              <a:rPr sz="2400" dirty="0">
                <a:latin typeface="微软雅黑"/>
                <a:cs typeface="微软雅黑"/>
              </a:rPr>
              <a:t>EC</a:t>
            </a:r>
            <a:r>
              <a:rPr sz="2400" spc="-5" dirty="0">
                <a:latin typeface="微软雅黑"/>
                <a:cs typeface="微软雅黑"/>
              </a:rPr>
              <a:t>S</a:t>
            </a:r>
            <a:r>
              <a:rPr sz="2400" dirty="0">
                <a:latin typeface="微软雅黑"/>
                <a:cs typeface="微软雅黑"/>
              </a:rPr>
              <a:t>云服务器列表，点击“更多”“网络设置”“安全组规则配置”。 下图的云服务器的安全组是</a:t>
            </a:r>
            <a:r>
              <a:rPr sz="2400" spc="-5" dirty="0">
                <a:latin typeface="微软雅黑"/>
                <a:cs typeface="微软雅黑"/>
              </a:rPr>
              <a:t>default，</a:t>
            </a:r>
            <a:r>
              <a:rPr sz="2400" dirty="0">
                <a:latin typeface="微软雅黑"/>
                <a:cs typeface="微软雅黑"/>
              </a:rPr>
              <a:t>点击“配置规则”。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1876044"/>
            <a:ext cx="3474720" cy="4328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023" y="1818132"/>
            <a:ext cx="3484245" cy="4391025"/>
          </a:xfrm>
          <a:custGeom>
            <a:avLst/>
            <a:gdLst/>
            <a:ahLst/>
            <a:cxnLst/>
            <a:rect l="l" t="t" r="r" b="b"/>
            <a:pathLst>
              <a:path w="3484245" h="4391025">
                <a:moveTo>
                  <a:pt x="0" y="4390644"/>
                </a:moveTo>
                <a:lnTo>
                  <a:pt x="3483864" y="4390644"/>
                </a:lnTo>
                <a:lnTo>
                  <a:pt x="3483864" y="0"/>
                </a:lnTo>
                <a:lnTo>
                  <a:pt x="0" y="0"/>
                </a:lnTo>
                <a:lnTo>
                  <a:pt x="0" y="4390644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96740" y="1868423"/>
            <a:ext cx="6294120" cy="2324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76928" y="1818132"/>
            <a:ext cx="6318885" cy="2386965"/>
          </a:xfrm>
          <a:custGeom>
            <a:avLst/>
            <a:gdLst/>
            <a:ahLst/>
            <a:cxnLst/>
            <a:rect l="l" t="t" r="r" b="b"/>
            <a:pathLst>
              <a:path w="6318884" h="2386965">
                <a:moveTo>
                  <a:pt x="0" y="2386584"/>
                </a:moveTo>
                <a:lnTo>
                  <a:pt x="6318504" y="2386584"/>
                </a:lnTo>
                <a:lnTo>
                  <a:pt x="6318504" y="0"/>
                </a:lnTo>
                <a:lnTo>
                  <a:pt x="0" y="0"/>
                </a:lnTo>
                <a:lnTo>
                  <a:pt x="0" y="2386584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38</a:t>
            </a:fld>
            <a:endParaRPr spc="-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4202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使</a:t>
            </a:r>
            <a:r>
              <a:rPr sz="2800" spc="-10" dirty="0"/>
              <a:t>用</a:t>
            </a:r>
            <a:r>
              <a:rPr sz="2800" spc="-5" dirty="0"/>
              <a:t>Data</a:t>
            </a:r>
            <a:r>
              <a:rPr sz="2800" spc="-40" dirty="0"/>
              <a:t> </a:t>
            </a:r>
            <a:r>
              <a:rPr sz="2800" spc="-25" dirty="0"/>
              <a:t>Studio</a:t>
            </a:r>
            <a:r>
              <a:rPr sz="2800" spc="-5" dirty="0"/>
              <a:t>连</a:t>
            </a:r>
            <a:r>
              <a:rPr sz="2800" spc="-10" dirty="0"/>
              <a:t>接</a:t>
            </a:r>
            <a:r>
              <a:rPr sz="2800" spc="-5" dirty="0"/>
              <a:t>ECS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859916"/>
            <a:ext cx="4993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点击“入方向规则”“添加规则”</a:t>
            </a:r>
            <a:r>
              <a:rPr sz="2400" spc="-90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1490247"/>
            <a:ext cx="5882640" cy="17182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023" y="1371600"/>
            <a:ext cx="5892165" cy="1849120"/>
          </a:xfrm>
          <a:custGeom>
            <a:avLst/>
            <a:gdLst/>
            <a:ahLst/>
            <a:cxnLst/>
            <a:rect l="l" t="t" r="r" b="b"/>
            <a:pathLst>
              <a:path w="5892165" h="1849120">
                <a:moveTo>
                  <a:pt x="0" y="1848612"/>
                </a:moveTo>
                <a:lnTo>
                  <a:pt x="5891784" y="1848612"/>
                </a:lnTo>
                <a:lnTo>
                  <a:pt x="5891784" y="0"/>
                </a:lnTo>
                <a:lnTo>
                  <a:pt x="0" y="0"/>
                </a:lnTo>
                <a:lnTo>
                  <a:pt x="0" y="1848612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4270" y="3923310"/>
            <a:ext cx="10296525" cy="22425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3023" y="3823715"/>
            <a:ext cx="10372725" cy="2394585"/>
          </a:xfrm>
          <a:custGeom>
            <a:avLst/>
            <a:gdLst/>
            <a:ahLst/>
            <a:cxnLst/>
            <a:rect l="l" t="t" r="r" b="b"/>
            <a:pathLst>
              <a:path w="10372725" h="2394585">
                <a:moveTo>
                  <a:pt x="0" y="2394204"/>
                </a:moveTo>
                <a:lnTo>
                  <a:pt x="10372344" y="2394204"/>
                </a:lnTo>
                <a:lnTo>
                  <a:pt x="10372344" y="0"/>
                </a:lnTo>
                <a:lnTo>
                  <a:pt x="0" y="0"/>
                </a:lnTo>
                <a:lnTo>
                  <a:pt x="0" y="2394204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6640" y="3312414"/>
            <a:ext cx="10240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输入“优先级”为</a:t>
            </a:r>
            <a:r>
              <a:rPr sz="2400" spc="-5" dirty="0">
                <a:latin typeface="微软雅黑"/>
                <a:cs typeface="微软雅黑"/>
              </a:rPr>
              <a:t>1</a:t>
            </a:r>
            <a:r>
              <a:rPr sz="2400" dirty="0">
                <a:latin typeface="微软雅黑"/>
                <a:cs typeface="微软雅黑"/>
              </a:rPr>
              <a:t>，“协议端口”为</a:t>
            </a:r>
            <a:r>
              <a:rPr sz="2400" spc="-5" dirty="0">
                <a:latin typeface="微软雅黑"/>
                <a:cs typeface="微软雅黑"/>
              </a:rPr>
              <a:t>26000</a:t>
            </a:r>
            <a:r>
              <a:rPr sz="2400" dirty="0">
                <a:latin typeface="微软雅黑"/>
                <a:cs typeface="微软雅黑"/>
              </a:rPr>
              <a:t>，作为后面连接数据库的端口。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39</a:t>
            </a:fld>
            <a:endParaRPr spc="-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4202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使</a:t>
            </a:r>
            <a:r>
              <a:rPr sz="2800" spc="-10" dirty="0"/>
              <a:t>用</a:t>
            </a:r>
            <a:r>
              <a:rPr sz="2800" spc="-5" dirty="0"/>
              <a:t>Data</a:t>
            </a:r>
            <a:r>
              <a:rPr sz="2800" spc="-40" dirty="0"/>
              <a:t> </a:t>
            </a:r>
            <a:r>
              <a:rPr sz="2800" spc="-25" dirty="0"/>
              <a:t>Studio</a:t>
            </a:r>
            <a:r>
              <a:rPr sz="2800" spc="-5" dirty="0"/>
              <a:t>连</a:t>
            </a:r>
            <a:r>
              <a:rPr sz="2800" spc="-10" dirty="0"/>
              <a:t>接</a:t>
            </a:r>
            <a:r>
              <a:rPr sz="2800" spc="-5" dirty="0"/>
              <a:t>ECS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1281176"/>
            <a:ext cx="10751820" cy="2060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/>
                <a:cs typeface="微软雅黑"/>
              </a:rPr>
              <a:t>初始情况下，在配置文件pg_h</a:t>
            </a:r>
            <a:r>
              <a:rPr sz="2400" b="1" spc="-30" dirty="0">
                <a:latin typeface="微软雅黑"/>
                <a:cs typeface="微软雅黑"/>
              </a:rPr>
              <a:t>b</a:t>
            </a:r>
            <a:r>
              <a:rPr sz="2400" b="1" dirty="0">
                <a:latin typeface="微软雅黑"/>
                <a:cs typeface="微软雅黑"/>
              </a:rPr>
              <a:t>a.c</a:t>
            </a:r>
            <a:r>
              <a:rPr sz="2400" b="1" spc="-10" dirty="0">
                <a:latin typeface="微软雅黑"/>
                <a:cs typeface="微软雅黑"/>
              </a:rPr>
              <a:t>o</a:t>
            </a:r>
            <a:r>
              <a:rPr sz="2400" b="1" dirty="0">
                <a:latin typeface="微软雅黑"/>
                <a:cs typeface="微软雅黑"/>
              </a:rPr>
              <a:t>nf中规定了不允许远程登录。所以需要修改 该文件允许远程登录。</a:t>
            </a:r>
            <a:endParaRPr sz="2400">
              <a:latin typeface="微软雅黑"/>
              <a:cs typeface="微软雅黑"/>
            </a:endParaRPr>
          </a:p>
          <a:p>
            <a:pPr marL="12700" marR="157480">
              <a:lnSpc>
                <a:spcPct val="100000"/>
              </a:lnSpc>
              <a:spcBef>
                <a:spcPts val="1620"/>
              </a:spcBef>
            </a:pPr>
            <a:r>
              <a:rPr sz="2400" dirty="0">
                <a:latin typeface="微软雅黑"/>
                <a:cs typeface="微软雅黑"/>
              </a:rPr>
              <a:t>最后一行命令的意思是：对于主机配置</a:t>
            </a:r>
            <a:r>
              <a:rPr sz="2400" spc="5" dirty="0">
                <a:latin typeface="微软雅黑"/>
                <a:cs typeface="微软雅黑"/>
              </a:rPr>
              <a:t>（</a:t>
            </a:r>
            <a:r>
              <a:rPr sz="2400" dirty="0">
                <a:latin typeface="微软雅黑"/>
                <a:cs typeface="微软雅黑"/>
              </a:rPr>
              <a:t>hos</a:t>
            </a:r>
            <a:r>
              <a:rPr sz="2400" spc="5" dirty="0">
                <a:latin typeface="微软雅黑"/>
                <a:cs typeface="微软雅黑"/>
              </a:rPr>
              <a:t>t</a:t>
            </a:r>
            <a:r>
              <a:rPr sz="2400" dirty="0">
                <a:latin typeface="微软雅黑"/>
                <a:cs typeface="微软雅黑"/>
              </a:rPr>
              <a:t>），允许所有远程主机（</a:t>
            </a:r>
            <a:r>
              <a:rPr sz="2400" spc="-5" dirty="0">
                <a:latin typeface="微软雅黑"/>
                <a:cs typeface="微软雅黑"/>
              </a:rPr>
              <a:t>0</a:t>
            </a:r>
            <a:r>
              <a:rPr sz="2400" spc="-10" dirty="0">
                <a:latin typeface="微软雅黑"/>
                <a:cs typeface="微软雅黑"/>
              </a:rPr>
              <a:t>/</a:t>
            </a:r>
            <a:r>
              <a:rPr sz="2400" spc="-5" dirty="0">
                <a:latin typeface="微软雅黑"/>
                <a:cs typeface="微软雅黑"/>
              </a:rPr>
              <a:t>0</a:t>
            </a:r>
            <a:r>
              <a:rPr sz="2400" dirty="0">
                <a:latin typeface="微软雅黑"/>
                <a:cs typeface="微软雅黑"/>
              </a:rPr>
              <a:t>）， 以所有用户身份</a:t>
            </a:r>
            <a:r>
              <a:rPr sz="2400" spc="-5" dirty="0">
                <a:latin typeface="微软雅黑"/>
                <a:cs typeface="微软雅黑"/>
              </a:rPr>
              <a:t>（all），</a:t>
            </a:r>
            <a:r>
              <a:rPr sz="2400" dirty="0">
                <a:latin typeface="微软雅黑"/>
                <a:cs typeface="微软雅黑"/>
              </a:rPr>
              <a:t>以密</a:t>
            </a:r>
            <a:r>
              <a:rPr sz="2400" spc="-10" dirty="0">
                <a:latin typeface="微软雅黑"/>
                <a:cs typeface="微软雅黑"/>
              </a:rPr>
              <a:t>码</a:t>
            </a:r>
            <a:r>
              <a:rPr sz="2400" spc="-5" dirty="0">
                <a:latin typeface="微软雅黑"/>
                <a:cs typeface="微软雅黑"/>
              </a:rPr>
              <a:t>sha256</a:t>
            </a:r>
            <a:r>
              <a:rPr sz="2400" dirty="0">
                <a:latin typeface="微软雅黑"/>
                <a:cs typeface="微软雅黑"/>
              </a:rPr>
              <a:t>加密的方式</a:t>
            </a:r>
            <a:r>
              <a:rPr sz="2400" spc="-5" dirty="0">
                <a:latin typeface="微软雅黑"/>
                <a:cs typeface="微软雅黑"/>
              </a:rPr>
              <a:t>（sha256），</a:t>
            </a:r>
            <a:r>
              <a:rPr sz="2400" dirty="0">
                <a:latin typeface="微软雅黑"/>
                <a:cs typeface="微软雅黑"/>
              </a:rPr>
              <a:t>登录所有的 库</a:t>
            </a:r>
            <a:r>
              <a:rPr sz="2400" spc="-5" dirty="0">
                <a:latin typeface="微软雅黑"/>
                <a:cs typeface="微软雅黑"/>
              </a:rPr>
              <a:t>（all）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6640" y="4889754"/>
            <a:ext cx="91528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[omm@db1 ~]$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cd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/gaussdb/data/db1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[omm@db1 db1]$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cp pg_hba.conf</a:t>
            </a:r>
            <a:r>
              <a:rPr sz="24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pg_hba.conf.bak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[omm@db1 </a:t>
            </a:r>
            <a:r>
              <a:rPr sz="2400" spc="-10" dirty="0">
                <a:latin typeface="Calibri"/>
                <a:cs typeface="Calibri"/>
              </a:rPr>
              <a:t>db1]$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gs_guc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set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-N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-I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-h "host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all all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0.0.0.0/0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sha256"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2272" y="3625596"/>
            <a:ext cx="6225539" cy="1019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40</a:t>
            </a:fld>
            <a:endParaRPr spc="-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4202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使</a:t>
            </a:r>
            <a:r>
              <a:rPr sz="2800" spc="-10" dirty="0"/>
              <a:t>用</a:t>
            </a:r>
            <a:r>
              <a:rPr sz="2800" spc="-5" dirty="0"/>
              <a:t>Data</a:t>
            </a:r>
            <a:r>
              <a:rPr sz="2800" spc="-40" dirty="0"/>
              <a:t> </a:t>
            </a:r>
            <a:r>
              <a:rPr sz="2800" spc="-25" dirty="0"/>
              <a:t>Studio</a:t>
            </a:r>
            <a:r>
              <a:rPr sz="2800" spc="-5" dirty="0"/>
              <a:t>连</a:t>
            </a:r>
            <a:r>
              <a:rPr sz="2800" spc="-10" dirty="0"/>
              <a:t>接</a:t>
            </a:r>
            <a:r>
              <a:rPr sz="2800" spc="-5" dirty="0"/>
              <a:t>ECS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1061720"/>
            <a:ext cx="10807700" cy="7632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50"/>
              </a:spcBef>
            </a:pPr>
            <a:r>
              <a:rPr sz="2400" dirty="0">
                <a:latin typeface="微软雅黑"/>
                <a:cs typeface="微软雅黑"/>
              </a:rPr>
              <a:t>登录数据库并创建＂</a:t>
            </a:r>
            <a:r>
              <a:rPr sz="2400" spc="-5" dirty="0">
                <a:latin typeface="Calibri"/>
                <a:cs typeface="Calibri"/>
              </a:rPr>
              <a:t>dbope</a:t>
            </a:r>
            <a:r>
              <a:rPr sz="2400" spc="5" dirty="0">
                <a:latin typeface="Calibri"/>
                <a:cs typeface="Calibri"/>
              </a:rPr>
              <a:t>r</a:t>
            </a:r>
            <a:r>
              <a:rPr sz="2400" dirty="0">
                <a:latin typeface="微软雅黑"/>
                <a:cs typeface="微软雅黑"/>
              </a:rPr>
              <a:t>＂用户，密码为＂</a:t>
            </a:r>
            <a:r>
              <a:rPr sz="2400" b="1" dirty="0">
                <a:solidFill>
                  <a:srgbClr val="C6000A"/>
                </a:solidFill>
                <a:latin typeface="Calibri"/>
                <a:cs typeface="Calibri"/>
              </a:rPr>
              <a:t>d</a:t>
            </a:r>
            <a:r>
              <a:rPr sz="2400" b="1" spc="-10" dirty="0">
                <a:solidFill>
                  <a:srgbClr val="C6000A"/>
                </a:solidFill>
                <a:latin typeface="Calibri"/>
                <a:cs typeface="Calibri"/>
              </a:rPr>
              <a:t>b</a:t>
            </a:r>
            <a:r>
              <a:rPr sz="2400" b="1" dirty="0">
                <a:solidFill>
                  <a:srgbClr val="C6000A"/>
                </a:solidFill>
                <a:latin typeface="Calibri"/>
                <a:cs typeface="Calibri"/>
              </a:rPr>
              <a:t>oper</a:t>
            </a:r>
            <a:r>
              <a:rPr sz="2400" b="1" spc="5" dirty="0">
                <a:solidFill>
                  <a:srgbClr val="C6000A"/>
                </a:solidFill>
                <a:latin typeface="Calibri"/>
                <a:cs typeface="Calibri"/>
              </a:rPr>
              <a:t>@</a:t>
            </a:r>
            <a:r>
              <a:rPr sz="2400" b="1" dirty="0">
                <a:solidFill>
                  <a:srgbClr val="C6000A"/>
                </a:solidFill>
                <a:latin typeface="Calibri"/>
                <a:cs typeface="Calibri"/>
              </a:rPr>
              <a:t>1</a:t>
            </a:r>
            <a:r>
              <a:rPr sz="2400" b="1" spc="-10" dirty="0">
                <a:solidFill>
                  <a:srgbClr val="C6000A"/>
                </a:solidFill>
                <a:latin typeface="Calibri"/>
                <a:cs typeface="Calibri"/>
              </a:rPr>
              <a:t>23</a:t>
            </a:r>
            <a:r>
              <a:rPr sz="2400" dirty="0">
                <a:latin typeface="微软雅黑"/>
                <a:cs typeface="微软雅黑"/>
              </a:rPr>
              <a:t>＂（密码可自定义）， 同时进行授权，并退出数据库。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6640" y="3992371"/>
            <a:ext cx="786130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[omm@db1 </a:t>
            </a:r>
            <a:r>
              <a:rPr sz="2400" spc="-10" dirty="0">
                <a:latin typeface="Calibri"/>
                <a:cs typeface="Calibri"/>
              </a:rPr>
              <a:t>db1]$ </a:t>
            </a:r>
            <a:r>
              <a:rPr sz="2400" b="1" spc="-5" dirty="0">
                <a:solidFill>
                  <a:srgbClr val="C6000A"/>
                </a:solidFill>
                <a:latin typeface="Calibri"/>
                <a:cs typeface="Calibri"/>
              </a:rPr>
              <a:t>gsql -d </a:t>
            </a:r>
            <a:r>
              <a:rPr sz="2400" b="1" spc="-10" dirty="0">
                <a:solidFill>
                  <a:srgbClr val="C6000A"/>
                </a:solidFill>
                <a:latin typeface="Calibri"/>
                <a:cs typeface="Calibri"/>
              </a:rPr>
              <a:t>postgres </a:t>
            </a:r>
            <a:r>
              <a:rPr sz="2400" b="1" spc="-5" dirty="0">
                <a:solidFill>
                  <a:srgbClr val="C6000A"/>
                </a:solidFill>
                <a:latin typeface="Calibri"/>
                <a:cs typeface="Calibri"/>
              </a:rPr>
              <a:t>-p 26000 -r  </a:t>
            </a:r>
            <a:r>
              <a:rPr sz="2400" spc="-20" dirty="0">
                <a:latin typeface="Calibri"/>
                <a:cs typeface="Calibri"/>
              </a:rPr>
              <a:t>postgres=#</a:t>
            </a:r>
            <a:r>
              <a:rPr sz="2400" b="1" spc="-20" dirty="0">
                <a:solidFill>
                  <a:srgbClr val="C6000A"/>
                </a:solidFill>
                <a:latin typeface="Calibri"/>
                <a:cs typeface="Calibri"/>
              </a:rPr>
              <a:t>CREATE </a:t>
            </a:r>
            <a:r>
              <a:rPr sz="2400" b="1" dirty="0">
                <a:solidFill>
                  <a:srgbClr val="C6000A"/>
                </a:solidFill>
                <a:latin typeface="Calibri"/>
                <a:cs typeface="Calibri"/>
              </a:rPr>
              <a:t>USER </a:t>
            </a:r>
            <a:r>
              <a:rPr sz="2400" b="1" spc="-5" dirty="0">
                <a:solidFill>
                  <a:srgbClr val="C6000A"/>
                </a:solidFill>
                <a:latin typeface="Calibri"/>
                <a:cs typeface="Calibri"/>
              </a:rPr>
              <a:t>dboper IDENTIFIED </a:t>
            </a:r>
            <a:r>
              <a:rPr sz="2400" b="1" spc="-45" dirty="0">
                <a:solidFill>
                  <a:srgbClr val="C6000A"/>
                </a:solidFill>
                <a:latin typeface="Calibri"/>
                <a:cs typeface="Calibri"/>
              </a:rPr>
              <a:t>BY </a:t>
            </a:r>
            <a:r>
              <a:rPr sz="2400" b="1" spc="-5" dirty="0">
                <a:solidFill>
                  <a:srgbClr val="C6000A"/>
                </a:solidFill>
                <a:latin typeface="Calibri"/>
                <a:cs typeface="Calibri"/>
              </a:rPr>
              <a:t>'dboper@123';  </a:t>
            </a:r>
            <a:r>
              <a:rPr sz="2400" spc="-40" dirty="0">
                <a:latin typeface="Calibri"/>
                <a:cs typeface="Calibri"/>
              </a:rPr>
              <a:t>CREATE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ROLE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postgres=#</a:t>
            </a:r>
            <a:r>
              <a:rPr sz="2400" b="1" spc="-10" dirty="0">
                <a:solidFill>
                  <a:srgbClr val="C6000A"/>
                </a:solidFill>
                <a:latin typeface="Calibri"/>
                <a:cs typeface="Calibri"/>
              </a:rPr>
              <a:t>alter </a:t>
            </a:r>
            <a:r>
              <a:rPr sz="2400" b="1" dirty="0">
                <a:solidFill>
                  <a:srgbClr val="C6000A"/>
                </a:solidFill>
                <a:latin typeface="Calibri"/>
                <a:cs typeface="Calibri"/>
              </a:rPr>
              <a:t>user </a:t>
            </a:r>
            <a:r>
              <a:rPr sz="2400" b="1" spc="-5" dirty="0">
                <a:solidFill>
                  <a:srgbClr val="C6000A"/>
                </a:solidFill>
                <a:latin typeface="Calibri"/>
                <a:cs typeface="Calibri"/>
              </a:rPr>
              <a:t>dboper</a:t>
            </a:r>
            <a:r>
              <a:rPr sz="2400" b="1" dirty="0">
                <a:solidFill>
                  <a:srgbClr val="C6000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6000A"/>
                </a:solidFill>
                <a:latin typeface="Calibri"/>
                <a:cs typeface="Calibri"/>
              </a:rPr>
              <a:t>sysadmin;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40" dirty="0">
                <a:latin typeface="Calibri"/>
                <a:cs typeface="Calibri"/>
              </a:rPr>
              <a:t>ALTER</a:t>
            </a:r>
            <a:r>
              <a:rPr sz="2400" spc="-10" dirty="0">
                <a:latin typeface="Calibri"/>
                <a:cs typeface="Calibri"/>
              </a:rPr>
              <a:t> ROLE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postgres=#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6000A"/>
                </a:solidFill>
                <a:latin typeface="Calibri"/>
                <a:cs typeface="Calibri"/>
              </a:rPr>
              <a:t>\q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4463" y="1950720"/>
            <a:ext cx="9649968" cy="20253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41</a:t>
            </a:fld>
            <a:endParaRPr spc="-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4202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使</a:t>
            </a:r>
            <a:r>
              <a:rPr sz="2800" spc="-10" dirty="0"/>
              <a:t>用</a:t>
            </a:r>
            <a:r>
              <a:rPr sz="2800" spc="-5" dirty="0"/>
              <a:t>Data</a:t>
            </a:r>
            <a:r>
              <a:rPr sz="2800" spc="-40" dirty="0"/>
              <a:t> </a:t>
            </a:r>
            <a:r>
              <a:rPr sz="2800" spc="-25" dirty="0"/>
              <a:t>Studio</a:t>
            </a:r>
            <a:r>
              <a:rPr sz="2800" spc="-5" dirty="0"/>
              <a:t>连</a:t>
            </a:r>
            <a:r>
              <a:rPr sz="2800" spc="-10" dirty="0"/>
              <a:t>接</a:t>
            </a:r>
            <a:r>
              <a:rPr sz="2800" spc="-5" dirty="0"/>
              <a:t>ECS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1061720"/>
            <a:ext cx="79165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修改数据库监听地址。</a:t>
            </a:r>
            <a:endParaRPr sz="24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主要是</a:t>
            </a:r>
            <a:r>
              <a:rPr sz="2400" spc="540" dirty="0">
                <a:latin typeface="微软雅黑"/>
                <a:cs typeface="微软雅黑"/>
              </a:rPr>
              <a:t>将</a:t>
            </a:r>
            <a:r>
              <a:rPr sz="2400" spc="-10" dirty="0">
                <a:latin typeface="Calibri"/>
                <a:cs typeface="Calibri"/>
              </a:rPr>
              <a:t>listen_addresses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微软雅黑"/>
                <a:cs typeface="微软雅黑"/>
              </a:rPr>
              <a:t>的值由原来</a:t>
            </a:r>
            <a:r>
              <a:rPr sz="2400" spc="-190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Calibri"/>
                <a:cs typeface="Calibri"/>
              </a:rPr>
              <a:t>IP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微软雅黑"/>
                <a:cs typeface="微软雅黑"/>
              </a:rPr>
              <a:t>地址修改成为</a:t>
            </a:r>
            <a:r>
              <a:rPr sz="2400" dirty="0">
                <a:latin typeface="Calibri"/>
                <a:cs typeface="Calibri"/>
              </a:rPr>
              <a:t>*</a:t>
            </a:r>
            <a:r>
              <a:rPr sz="2400" dirty="0">
                <a:latin typeface="微软雅黑"/>
                <a:cs typeface="微软雅黑"/>
              </a:rPr>
              <a:t>号。 </a:t>
            </a:r>
            <a:r>
              <a:rPr sz="2400" spc="-5" dirty="0">
                <a:latin typeface="微软雅黑"/>
                <a:cs typeface="微软雅黑"/>
              </a:rPr>
              <a:t>修改完成后重启数据库生效。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6640" y="4612640"/>
            <a:ext cx="745109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[omm@db1 </a:t>
            </a:r>
            <a:r>
              <a:rPr sz="2400" spc="-10" dirty="0">
                <a:latin typeface="Calibri"/>
                <a:cs typeface="Calibri"/>
              </a:rPr>
              <a:t>db1]$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cd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/gaussdb/data/db1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[omm@db1 </a:t>
            </a:r>
            <a:r>
              <a:rPr sz="2400" spc="-10" dirty="0">
                <a:latin typeface="Calibri"/>
                <a:cs typeface="Calibri"/>
              </a:rPr>
              <a:t>db1]$ </a:t>
            </a:r>
            <a:r>
              <a:rPr sz="2400" b="1" spc="-5" dirty="0">
                <a:solidFill>
                  <a:srgbClr val="C6000A"/>
                </a:solidFill>
                <a:latin typeface="Calibri"/>
                <a:cs typeface="Calibri"/>
              </a:rPr>
              <a:t>cp </a:t>
            </a:r>
            <a:r>
              <a:rPr sz="2400" b="1" spc="-10" dirty="0">
                <a:solidFill>
                  <a:srgbClr val="C6000A"/>
                </a:solidFill>
                <a:latin typeface="Calibri"/>
                <a:cs typeface="Calibri"/>
              </a:rPr>
              <a:t>postgresql.conf </a:t>
            </a:r>
            <a:r>
              <a:rPr sz="2400" b="1" spc="-15" dirty="0">
                <a:solidFill>
                  <a:srgbClr val="C6000A"/>
                </a:solidFill>
                <a:latin typeface="Calibri"/>
                <a:cs typeface="Calibri"/>
              </a:rPr>
              <a:t>postgresql.conf.bak  </a:t>
            </a:r>
            <a:r>
              <a:rPr sz="2400" spc="-5" dirty="0">
                <a:latin typeface="Calibri"/>
                <a:cs typeface="Calibri"/>
              </a:rPr>
              <a:t>[omm@db1 </a:t>
            </a:r>
            <a:r>
              <a:rPr sz="2400" spc="-10" dirty="0">
                <a:latin typeface="Calibri"/>
                <a:cs typeface="Calibri"/>
              </a:rPr>
              <a:t>db1]$ </a:t>
            </a:r>
            <a:r>
              <a:rPr sz="2400" b="1" spc="-5" dirty="0">
                <a:solidFill>
                  <a:srgbClr val="C6000A"/>
                </a:solidFill>
                <a:latin typeface="Calibri"/>
                <a:cs typeface="Calibri"/>
              </a:rPr>
              <a:t>gs_guc </a:t>
            </a:r>
            <a:r>
              <a:rPr sz="2400" b="1" dirty="0">
                <a:solidFill>
                  <a:srgbClr val="C6000A"/>
                </a:solidFill>
                <a:latin typeface="Calibri"/>
                <a:cs typeface="Calibri"/>
              </a:rPr>
              <a:t>set </a:t>
            </a:r>
            <a:r>
              <a:rPr sz="2400" b="1" spc="-5" dirty="0">
                <a:solidFill>
                  <a:srgbClr val="C6000A"/>
                </a:solidFill>
                <a:latin typeface="Calibri"/>
                <a:cs typeface="Calibri"/>
              </a:rPr>
              <a:t>-I </a:t>
            </a:r>
            <a:r>
              <a:rPr sz="2400" b="1" dirty="0">
                <a:solidFill>
                  <a:srgbClr val="C6000A"/>
                </a:solidFill>
                <a:latin typeface="Calibri"/>
                <a:cs typeface="Calibri"/>
              </a:rPr>
              <a:t>all </a:t>
            </a:r>
            <a:r>
              <a:rPr sz="2400" b="1" spc="-5" dirty="0">
                <a:solidFill>
                  <a:srgbClr val="C6000A"/>
                </a:solidFill>
                <a:latin typeface="Calibri"/>
                <a:cs typeface="Calibri"/>
              </a:rPr>
              <a:t>-c </a:t>
            </a:r>
            <a:r>
              <a:rPr sz="2400" b="1" spc="-10" dirty="0">
                <a:solidFill>
                  <a:srgbClr val="C6000A"/>
                </a:solidFill>
                <a:latin typeface="Calibri"/>
                <a:cs typeface="Calibri"/>
              </a:rPr>
              <a:t>"listen_addresses='*'"  </a:t>
            </a:r>
            <a:r>
              <a:rPr sz="2400" spc="-5" dirty="0">
                <a:latin typeface="Calibri"/>
                <a:cs typeface="Calibri"/>
              </a:rPr>
              <a:t>[omm@db1 db1]$ </a:t>
            </a:r>
            <a:r>
              <a:rPr sz="2400" b="1" spc="-5" dirty="0">
                <a:solidFill>
                  <a:srgbClr val="C6000A"/>
                </a:solidFill>
                <a:latin typeface="Calibri"/>
                <a:cs typeface="Calibri"/>
              </a:rPr>
              <a:t>gs_om -t</a:t>
            </a:r>
            <a:r>
              <a:rPr sz="2400" b="1" spc="-25" dirty="0">
                <a:solidFill>
                  <a:srgbClr val="C6000A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6000A"/>
                </a:solidFill>
                <a:latin typeface="Calibri"/>
                <a:cs typeface="Calibri"/>
              </a:rPr>
              <a:t>restart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7700" y="2395727"/>
            <a:ext cx="9110472" cy="20528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42</a:t>
            </a:fld>
            <a:endParaRPr spc="-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4202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使</a:t>
            </a:r>
            <a:r>
              <a:rPr sz="2800" spc="-10" dirty="0"/>
              <a:t>用</a:t>
            </a:r>
            <a:r>
              <a:rPr sz="2800" spc="-5" dirty="0"/>
              <a:t>Data</a:t>
            </a:r>
            <a:r>
              <a:rPr sz="2800" spc="-40" dirty="0"/>
              <a:t> </a:t>
            </a:r>
            <a:r>
              <a:rPr sz="2800" spc="-25" dirty="0"/>
              <a:t>Studio</a:t>
            </a:r>
            <a:r>
              <a:rPr sz="2800" spc="-5" dirty="0"/>
              <a:t>连</a:t>
            </a:r>
            <a:r>
              <a:rPr sz="2800" spc="-10" dirty="0"/>
              <a:t>接</a:t>
            </a:r>
            <a:r>
              <a:rPr sz="2800" spc="-5" dirty="0"/>
              <a:t>ECS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973963"/>
            <a:ext cx="8135620" cy="3916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在本地电脑打开Data</a:t>
            </a:r>
            <a:r>
              <a:rPr sz="2400" spc="-90" dirty="0">
                <a:latin typeface="微软雅黑"/>
                <a:cs typeface="微软雅黑"/>
              </a:rPr>
              <a:t> </a:t>
            </a:r>
            <a:r>
              <a:rPr sz="2400" spc="-15" dirty="0">
                <a:latin typeface="微软雅黑"/>
                <a:cs typeface="微软雅黑"/>
              </a:rPr>
              <a:t>Studio，</a:t>
            </a:r>
            <a:r>
              <a:rPr sz="2400" dirty="0">
                <a:latin typeface="微软雅黑"/>
                <a:cs typeface="微软雅黑"/>
              </a:rPr>
              <a:t>点击“文件”“新建连接”。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400" spc="-5" dirty="0">
                <a:latin typeface="微软雅黑"/>
                <a:cs typeface="微软雅黑"/>
              </a:rPr>
              <a:t>比如连接数据</a:t>
            </a:r>
            <a:r>
              <a:rPr sz="2400" dirty="0">
                <a:latin typeface="微软雅黑"/>
                <a:cs typeface="微软雅黑"/>
              </a:rPr>
              <a:t>库</a:t>
            </a:r>
            <a:r>
              <a:rPr sz="2400" spc="-5" dirty="0">
                <a:latin typeface="微软雅黑"/>
                <a:cs typeface="微软雅黑"/>
              </a:rPr>
              <a:t>newdb，如右图：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其中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微软雅黑"/>
                <a:cs typeface="微软雅黑"/>
              </a:rPr>
              <a:t>名称：随意输入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微软雅黑"/>
                <a:cs typeface="微软雅黑"/>
              </a:rPr>
              <a:t>主机：ECS的公网IP地址</a:t>
            </a:r>
            <a:endParaRPr sz="2400">
              <a:latin typeface="微软雅黑"/>
              <a:cs typeface="微软雅黑"/>
            </a:endParaRPr>
          </a:p>
          <a:p>
            <a:pPr marL="12700" marR="5633085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端 口 号 </a:t>
            </a:r>
            <a:r>
              <a:rPr sz="2400" spc="-5" dirty="0">
                <a:latin typeface="微软雅黑"/>
                <a:cs typeface="微软雅黑"/>
              </a:rPr>
              <a:t>：26000  </a:t>
            </a:r>
            <a:r>
              <a:rPr sz="2400" dirty="0">
                <a:latin typeface="微软雅黑"/>
                <a:cs typeface="微软雅黑"/>
              </a:rPr>
              <a:t>数据库：pos</a:t>
            </a:r>
            <a:r>
              <a:rPr sz="2400" spc="-15" dirty="0">
                <a:latin typeface="微软雅黑"/>
                <a:cs typeface="微软雅黑"/>
              </a:rPr>
              <a:t>t</a:t>
            </a:r>
            <a:r>
              <a:rPr sz="2400" dirty="0">
                <a:latin typeface="微软雅黑"/>
                <a:cs typeface="微软雅黑"/>
              </a:rPr>
              <a:t>g</a:t>
            </a:r>
            <a:r>
              <a:rPr sz="2400" spc="-40" dirty="0">
                <a:latin typeface="微软雅黑"/>
                <a:cs typeface="微软雅黑"/>
              </a:rPr>
              <a:t>r</a:t>
            </a:r>
            <a:r>
              <a:rPr sz="2400" spc="-5" dirty="0">
                <a:latin typeface="微软雅黑"/>
                <a:cs typeface="微软雅黑"/>
              </a:rPr>
              <a:t>es </a:t>
            </a:r>
            <a:r>
              <a:rPr sz="2400" dirty="0">
                <a:latin typeface="微软雅黑"/>
                <a:cs typeface="微软雅黑"/>
              </a:rPr>
              <a:t>用户名：dboper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微软雅黑"/>
                <a:cs typeface="微软雅黑"/>
              </a:rPr>
              <a:t>密码：dboper@123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点击确定建立数据库连接。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33644" y="1638300"/>
            <a:ext cx="4914900" cy="44439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43</a:t>
            </a:fld>
            <a:endParaRPr spc="-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4202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使</a:t>
            </a:r>
            <a:r>
              <a:rPr sz="2800" spc="-10" dirty="0"/>
              <a:t>用</a:t>
            </a:r>
            <a:r>
              <a:rPr sz="2800" spc="-5" dirty="0"/>
              <a:t>Data</a:t>
            </a:r>
            <a:r>
              <a:rPr sz="2800" spc="-40" dirty="0"/>
              <a:t> </a:t>
            </a:r>
            <a:r>
              <a:rPr sz="2800" spc="-25" dirty="0"/>
              <a:t>Studio</a:t>
            </a:r>
            <a:r>
              <a:rPr sz="2800" spc="-5" dirty="0"/>
              <a:t>连</a:t>
            </a:r>
            <a:r>
              <a:rPr sz="2800" spc="-10" dirty="0"/>
              <a:t>接</a:t>
            </a:r>
            <a:r>
              <a:rPr sz="2800" spc="-5" dirty="0"/>
              <a:t>ECS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973963"/>
            <a:ext cx="337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弹窗提示表示连接成功。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1227" y="1504188"/>
            <a:ext cx="4384548" cy="1427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88947" y="1908048"/>
            <a:ext cx="669290" cy="370840"/>
          </a:xfrm>
          <a:custGeom>
            <a:avLst/>
            <a:gdLst/>
            <a:ahLst/>
            <a:cxnLst/>
            <a:rect l="l" t="t" r="r" b="b"/>
            <a:pathLst>
              <a:path w="669289" h="370839">
                <a:moveTo>
                  <a:pt x="0" y="370332"/>
                </a:moveTo>
                <a:lnTo>
                  <a:pt x="669035" y="370332"/>
                </a:lnTo>
                <a:lnTo>
                  <a:pt x="669035" y="0"/>
                </a:lnTo>
                <a:lnTo>
                  <a:pt x="0" y="0"/>
                </a:lnTo>
                <a:lnTo>
                  <a:pt x="0" y="37033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44</a:t>
            </a:fld>
            <a:endParaRPr spc="-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640" y="228092"/>
            <a:ext cx="30657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微软雅黑"/>
                <a:cs typeface="微软雅黑"/>
              </a:rPr>
              <a:t>使</a:t>
            </a:r>
            <a:r>
              <a:rPr sz="2800" b="1" spc="-10" dirty="0">
                <a:latin typeface="微软雅黑"/>
                <a:cs typeface="微软雅黑"/>
              </a:rPr>
              <a:t>用</a:t>
            </a:r>
            <a:r>
              <a:rPr sz="2800" b="1" spc="-5" dirty="0">
                <a:latin typeface="微软雅黑"/>
                <a:cs typeface="微软雅黑"/>
              </a:rPr>
              <a:t>putt</a:t>
            </a:r>
            <a:r>
              <a:rPr sz="2800" b="1" spc="-15" dirty="0">
                <a:latin typeface="微软雅黑"/>
                <a:cs typeface="微软雅黑"/>
              </a:rPr>
              <a:t>y</a:t>
            </a:r>
            <a:r>
              <a:rPr sz="2800" b="1" spc="-5" dirty="0">
                <a:latin typeface="微软雅黑"/>
                <a:cs typeface="微软雅黑"/>
              </a:rPr>
              <a:t>连接ECS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6640" y="964184"/>
            <a:ext cx="111963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在本地电脑打开putty，</a:t>
            </a:r>
            <a:r>
              <a:rPr sz="2400" spc="-5" dirty="0">
                <a:latin typeface="微软雅黑"/>
                <a:cs typeface="微软雅黑"/>
              </a:rPr>
              <a:t>在Host</a:t>
            </a:r>
            <a:r>
              <a:rPr sz="2400" spc="-70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Name的地方输入购买</a:t>
            </a:r>
            <a:r>
              <a:rPr sz="2400" spc="-15" dirty="0">
                <a:latin typeface="微软雅黑"/>
                <a:cs typeface="微软雅黑"/>
              </a:rPr>
              <a:t>的</a:t>
            </a:r>
            <a:r>
              <a:rPr sz="2400" spc="-5" dirty="0">
                <a:latin typeface="微软雅黑"/>
                <a:cs typeface="微软雅黑"/>
              </a:rPr>
              <a:t>ECS</a:t>
            </a:r>
            <a:r>
              <a:rPr sz="2400" dirty="0">
                <a:latin typeface="微软雅黑"/>
                <a:cs typeface="微软雅黑"/>
              </a:rPr>
              <a:t>服务器的公网</a:t>
            </a:r>
            <a:r>
              <a:rPr sz="2400" spc="-10" dirty="0">
                <a:latin typeface="微软雅黑"/>
                <a:cs typeface="微软雅黑"/>
              </a:rPr>
              <a:t>IP</a:t>
            </a:r>
            <a:r>
              <a:rPr sz="2400" dirty="0">
                <a:latin typeface="微软雅黑"/>
                <a:cs typeface="微软雅黑"/>
              </a:rPr>
              <a:t>地址，  点击</a:t>
            </a:r>
            <a:r>
              <a:rPr sz="2400" spc="-5" dirty="0">
                <a:latin typeface="微软雅黑"/>
                <a:cs typeface="微软雅黑"/>
              </a:rPr>
              <a:t>“Open”</a:t>
            </a:r>
            <a:r>
              <a:rPr sz="2400" dirty="0">
                <a:latin typeface="微软雅黑"/>
                <a:cs typeface="微软雅黑"/>
              </a:rPr>
              <a:t>。如果弹出右图的窗口，点击“是”。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1773935"/>
            <a:ext cx="4939284" cy="44058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023" y="1769364"/>
            <a:ext cx="4948555" cy="4415155"/>
          </a:xfrm>
          <a:custGeom>
            <a:avLst/>
            <a:gdLst/>
            <a:ahLst/>
            <a:cxnLst/>
            <a:rect l="l" t="t" r="r" b="b"/>
            <a:pathLst>
              <a:path w="4948555" h="4415155">
                <a:moveTo>
                  <a:pt x="0" y="4415028"/>
                </a:moveTo>
                <a:lnTo>
                  <a:pt x="4948428" y="4415028"/>
                </a:lnTo>
                <a:lnTo>
                  <a:pt x="4948428" y="0"/>
                </a:lnTo>
                <a:lnTo>
                  <a:pt x="0" y="0"/>
                </a:lnTo>
                <a:lnTo>
                  <a:pt x="0" y="4415028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82284" y="1773935"/>
            <a:ext cx="4896612" cy="3695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77711" y="1769364"/>
            <a:ext cx="4906010" cy="3705225"/>
          </a:xfrm>
          <a:custGeom>
            <a:avLst/>
            <a:gdLst/>
            <a:ahLst/>
            <a:cxnLst/>
            <a:rect l="l" t="t" r="r" b="b"/>
            <a:pathLst>
              <a:path w="4906009" h="3705225">
                <a:moveTo>
                  <a:pt x="0" y="3704844"/>
                </a:moveTo>
                <a:lnTo>
                  <a:pt x="4905755" y="3704844"/>
                </a:lnTo>
                <a:lnTo>
                  <a:pt x="4905755" y="0"/>
                </a:lnTo>
                <a:lnTo>
                  <a:pt x="0" y="0"/>
                </a:lnTo>
                <a:lnTo>
                  <a:pt x="0" y="3704844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45</a:t>
            </a:fld>
            <a:endParaRPr spc="-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0657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使</a:t>
            </a:r>
            <a:r>
              <a:rPr sz="2800" spc="-10" dirty="0"/>
              <a:t>用</a:t>
            </a:r>
            <a:r>
              <a:rPr sz="2800" spc="-5" dirty="0"/>
              <a:t>putt</a:t>
            </a:r>
            <a:r>
              <a:rPr sz="2800" spc="-15" dirty="0"/>
              <a:t>y</a:t>
            </a:r>
            <a:r>
              <a:rPr sz="2800" spc="-5" dirty="0"/>
              <a:t>连接ECS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964184"/>
            <a:ext cx="4296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以</a:t>
            </a:r>
            <a:r>
              <a:rPr sz="2400" spc="-45" dirty="0">
                <a:latin typeface="微软雅黑"/>
                <a:cs typeface="微软雅黑"/>
              </a:rPr>
              <a:t>r</a:t>
            </a:r>
            <a:r>
              <a:rPr sz="2400" dirty="0">
                <a:latin typeface="微软雅黑"/>
                <a:cs typeface="微软雅黑"/>
              </a:rPr>
              <a:t>oot用户来登录。输入密码。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1405127"/>
            <a:ext cx="7857744" cy="13959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023" y="1400555"/>
            <a:ext cx="7867015" cy="1405255"/>
          </a:xfrm>
          <a:custGeom>
            <a:avLst/>
            <a:gdLst/>
            <a:ahLst/>
            <a:cxnLst/>
            <a:rect l="l" t="t" r="r" b="b"/>
            <a:pathLst>
              <a:path w="7867015" h="1405255">
                <a:moveTo>
                  <a:pt x="0" y="1405127"/>
                </a:moveTo>
                <a:lnTo>
                  <a:pt x="7866888" y="1405127"/>
                </a:lnTo>
                <a:lnTo>
                  <a:pt x="7866888" y="0"/>
                </a:lnTo>
                <a:lnTo>
                  <a:pt x="0" y="0"/>
                </a:lnTo>
                <a:lnTo>
                  <a:pt x="0" y="1405127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7595" y="3340608"/>
            <a:ext cx="7857744" cy="2874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3023" y="3336035"/>
            <a:ext cx="7867015" cy="2883535"/>
          </a:xfrm>
          <a:custGeom>
            <a:avLst/>
            <a:gdLst/>
            <a:ahLst/>
            <a:cxnLst/>
            <a:rect l="l" t="t" r="r" b="b"/>
            <a:pathLst>
              <a:path w="7867015" h="2883535">
                <a:moveTo>
                  <a:pt x="0" y="2883408"/>
                </a:moveTo>
                <a:lnTo>
                  <a:pt x="7866888" y="2883408"/>
                </a:lnTo>
                <a:lnTo>
                  <a:pt x="7866888" y="0"/>
                </a:lnTo>
                <a:lnTo>
                  <a:pt x="0" y="0"/>
                </a:lnTo>
                <a:lnTo>
                  <a:pt x="0" y="2883408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6640" y="2900553"/>
            <a:ext cx="337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提示如下，即连接成功。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46</a:t>
            </a:fld>
            <a:endParaRPr spc="-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30185" y="3122498"/>
            <a:ext cx="412622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使用简单</a:t>
            </a:r>
            <a:r>
              <a:rPr dirty="0"/>
              <a:t>的</a:t>
            </a:r>
            <a:r>
              <a:rPr spc="-5" dirty="0"/>
              <a:t>SQL</a:t>
            </a:r>
            <a:r>
              <a:rPr dirty="0"/>
              <a:t>语句</a:t>
            </a:r>
          </a:p>
        </p:txBody>
      </p:sp>
      <p:sp>
        <p:nvSpPr>
          <p:cNvPr id="3" name="object 3"/>
          <p:cNvSpPr/>
          <p:nvPr/>
        </p:nvSpPr>
        <p:spPr>
          <a:xfrm>
            <a:off x="6288023" y="3000755"/>
            <a:ext cx="858519" cy="856615"/>
          </a:xfrm>
          <a:custGeom>
            <a:avLst/>
            <a:gdLst/>
            <a:ahLst/>
            <a:cxnLst/>
            <a:rect l="l" t="t" r="r" b="b"/>
            <a:pathLst>
              <a:path w="858520" h="856614">
                <a:moveTo>
                  <a:pt x="429005" y="0"/>
                </a:moveTo>
                <a:lnTo>
                  <a:pt x="382252" y="2513"/>
                </a:lnTo>
                <a:lnTo>
                  <a:pt x="336959" y="9879"/>
                </a:lnTo>
                <a:lnTo>
                  <a:pt x="293388" y="21835"/>
                </a:lnTo>
                <a:lnTo>
                  <a:pt x="251800" y="38122"/>
                </a:lnTo>
                <a:lnTo>
                  <a:pt x="212456" y="58476"/>
                </a:lnTo>
                <a:lnTo>
                  <a:pt x="175619" y="82637"/>
                </a:lnTo>
                <a:lnTo>
                  <a:pt x="141550" y="110343"/>
                </a:lnTo>
                <a:lnTo>
                  <a:pt x="110509" y="141333"/>
                </a:lnTo>
                <a:lnTo>
                  <a:pt x="82759" y="175345"/>
                </a:lnTo>
                <a:lnTo>
                  <a:pt x="58561" y="212118"/>
                </a:lnTo>
                <a:lnTo>
                  <a:pt x="38176" y="251390"/>
                </a:lnTo>
                <a:lnTo>
                  <a:pt x="21866" y="292900"/>
                </a:lnTo>
                <a:lnTo>
                  <a:pt x="9892" y="336387"/>
                </a:lnTo>
                <a:lnTo>
                  <a:pt x="2516" y="381588"/>
                </a:lnTo>
                <a:lnTo>
                  <a:pt x="0" y="428244"/>
                </a:lnTo>
                <a:lnTo>
                  <a:pt x="2516" y="474899"/>
                </a:lnTo>
                <a:lnTo>
                  <a:pt x="9892" y="520100"/>
                </a:lnTo>
                <a:lnTo>
                  <a:pt x="21866" y="563587"/>
                </a:lnTo>
                <a:lnTo>
                  <a:pt x="38176" y="605097"/>
                </a:lnTo>
                <a:lnTo>
                  <a:pt x="58561" y="644369"/>
                </a:lnTo>
                <a:lnTo>
                  <a:pt x="82759" y="681142"/>
                </a:lnTo>
                <a:lnTo>
                  <a:pt x="110509" y="715154"/>
                </a:lnTo>
                <a:lnTo>
                  <a:pt x="141550" y="746144"/>
                </a:lnTo>
                <a:lnTo>
                  <a:pt x="175619" y="773850"/>
                </a:lnTo>
                <a:lnTo>
                  <a:pt x="212456" y="798011"/>
                </a:lnTo>
                <a:lnTo>
                  <a:pt x="251800" y="818365"/>
                </a:lnTo>
                <a:lnTo>
                  <a:pt x="293388" y="834652"/>
                </a:lnTo>
                <a:lnTo>
                  <a:pt x="336959" y="846608"/>
                </a:lnTo>
                <a:lnTo>
                  <a:pt x="382252" y="853974"/>
                </a:lnTo>
                <a:lnTo>
                  <a:pt x="429005" y="856488"/>
                </a:lnTo>
                <a:lnTo>
                  <a:pt x="475759" y="853974"/>
                </a:lnTo>
                <a:lnTo>
                  <a:pt x="521052" y="846608"/>
                </a:lnTo>
                <a:lnTo>
                  <a:pt x="564623" y="834652"/>
                </a:lnTo>
                <a:lnTo>
                  <a:pt x="606211" y="818365"/>
                </a:lnTo>
                <a:lnTo>
                  <a:pt x="645555" y="798011"/>
                </a:lnTo>
                <a:lnTo>
                  <a:pt x="682392" y="773850"/>
                </a:lnTo>
                <a:lnTo>
                  <a:pt x="716461" y="746144"/>
                </a:lnTo>
                <a:lnTo>
                  <a:pt x="747502" y="715154"/>
                </a:lnTo>
                <a:lnTo>
                  <a:pt x="775252" y="681142"/>
                </a:lnTo>
                <a:lnTo>
                  <a:pt x="799450" y="644369"/>
                </a:lnTo>
                <a:lnTo>
                  <a:pt x="819835" y="605097"/>
                </a:lnTo>
                <a:lnTo>
                  <a:pt x="836145" y="563587"/>
                </a:lnTo>
                <a:lnTo>
                  <a:pt x="848119" y="520100"/>
                </a:lnTo>
                <a:lnTo>
                  <a:pt x="855495" y="474899"/>
                </a:lnTo>
                <a:lnTo>
                  <a:pt x="858011" y="428244"/>
                </a:lnTo>
                <a:lnTo>
                  <a:pt x="855495" y="381588"/>
                </a:lnTo>
                <a:lnTo>
                  <a:pt x="848119" y="336387"/>
                </a:lnTo>
                <a:lnTo>
                  <a:pt x="836145" y="292900"/>
                </a:lnTo>
                <a:lnTo>
                  <a:pt x="819835" y="251390"/>
                </a:lnTo>
                <a:lnTo>
                  <a:pt x="799450" y="212118"/>
                </a:lnTo>
                <a:lnTo>
                  <a:pt x="775252" y="175345"/>
                </a:lnTo>
                <a:lnTo>
                  <a:pt x="747502" y="141333"/>
                </a:lnTo>
                <a:lnTo>
                  <a:pt x="716461" y="110343"/>
                </a:lnTo>
                <a:lnTo>
                  <a:pt x="682392" y="82637"/>
                </a:lnTo>
                <a:lnTo>
                  <a:pt x="645555" y="58476"/>
                </a:lnTo>
                <a:lnTo>
                  <a:pt x="606211" y="38122"/>
                </a:lnTo>
                <a:lnTo>
                  <a:pt x="564623" y="21835"/>
                </a:lnTo>
                <a:lnTo>
                  <a:pt x="521052" y="9879"/>
                </a:lnTo>
                <a:lnTo>
                  <a:pt x="475759" y="2513"/>
                </a:lnTo>
                <a:lnTo>
                  <a:pt x="429005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63106" y="3103244"/>
            <a:ext cx="3098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endParaRPr sz="4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90176" y="251459"/>
            <a:ext cx="1969007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21920"/>
            <a:ext cx="550545" cy="699770"/>
          </a:xfrm>
          <a:custGeom>
            <a:avLst/>
            <a:gdLst/>
            <a:ahLst/>
            <a:cxnLst/>
            <a:rect l="l" t="t" r="r" b="b"/>
            <a:pathLst>
              <a:path w="550544" h="699769">
                <a:moveTo>
                  <a:pt x="550164" y="0"/>
                </a:moveTo>
                <a:lnTo>
                  <a:pt x="0" y="0"/>
                </a:lnTo>
                <a:lnTo>
                  <a:pt x="0" y="699515"/>
                </a:lnTo>
                <a:lnTo>
                  <a:pt x="312432" y="699515"/>
                </a:lnTo>
                <a:lnTo>
                  <a:pt x="550164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8337" y="380238"/>
            <a:ext cx="96520" cy="220979"/>
          </a:xfrm>
          <a:custGeom>
            <a:avLst/>
            <a:gdLst/>
            <a:ahLst/>
            <a:cxnLst/>
            <a:rect l="l" t="t" r="r" b="b"/>
            <a:pathLst>
              <a:path w="96520" h="220979">
                <a:moveTo>
                  <a:pt x="96012" y="0"/>
                </a:moveTo>
                <a:lnTo>
                  <a:pt x="75044" y="0"/>
                </a:lnTo>
                <a:lnTo>
                  <a:pt x="0" y="220979"/>
                </a:lnTo>
                <a:lnTo>
                  <a:pt x="20967" y="220979"/>
                </a:lnTo>
                <a:lnTo>
                  <a:pt x="96012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8337" y="380238"/>
            <a:ext cx="96520" cy="220979"/>
          </a:xfrm>
          <a:custGeom>
            <a:avLst/>
            <a:gdLst/>
            <a:ahLst/>
            <a:cxnLst/>
            <a:rect l="l" t="t" r="r" b="b"/>
            <a:pathLst>
              <a:path w="96520" h="220979">
                <a:moveTo>
                  <a:pt x="75044" y="0"/>
                </a:moveTo>
                <a:lnTo>
                  <a:pt x="96012" y="0"/>
                </a:lnTo>
                <a:lnTo>
                  <a:pt x="20967" y="220979"/>
                </a:lnTo>
                <a:lnTo>
                  <a:pt x="0" y="220979"/>
                </a:lnTo>
                <a:lnTo>
                  <a:pt x="75044" y="0"/>
                </a:lnTo>
                <a:close/>
              </a:path>
            </a:pathLst>
          </a:custGeom>
          <a:ln w="38100">
            <a:solidFill>
              <a:srgbClr val="A03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3483" y="821436"/>
            <a:ext cx="11306175" cy="0"/>
          </a:xfrm>
          <a:custGeom>
            <a:avLst/>
            <a:gdLst/>
            <a:ahLst/>
            <a:cxnLst/>
            <a:rect l="l" t="t" r="r" b="b"/>
            <a:pathLst>
              <a:path w="11306175">
                <a:moveTo>
                  <a:pt x="0" y="0"/>
                </a:moveTo>
                <a:lnTo>
                  <a:pt x="11306175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69140" y="336804"/>
            <a:ext cx="0" cy="265430"/>
          </a:xfrm>
          <a:custGeom>
            <a:avLst/>
            <a:gdLst/>
            <a:ahLst/>
            <a:cxnLst/>
            <a:rect l="l" t="t" r="r" b="b"/>
            <a:pathLst>
              <a:path h="265430">
                <a:moveTo>
                  <a:pt x="0" y="0"/>
                </a:moveTo>
                <a:lnTo>
                  <a:pt x="0" y="265175"/>
                </a:lnTo>
              </a:path>
            </a:pathLst>
          </a:custGeom>
          <a:ln w="45720">
            <a:solidFill>
              <a:srgbClr val="A03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95372" y="6404864"/>
            <a:ext cx="236220" cy="264160"/>
          </a:xfrm>
          <a:custGeom>
            <a:avLst/>
            <a:gdLst/>
            <a:ahLst/>
            <a:cxnLst/>
            <a:rect l="l" t="t" r="r" b="b"/>
            <a:pathLst>
              <a:path w="236219" h="264159">
                <a:moveTo>
                  <a:pt x="168147" y="229870"/>
                </a:moveTo>
                <a:lnTo>
                  <a:pt x="168147" y="234950"/>
                </a:lnTo>
                <a:lnTo>
                  <a:pt x="170052" y="236220"/>
                </a:lnTo>
                <a:lnTo>
                  <a:pt x="174676" y="242570"/>
                </a:lnTo>
                <a:lnTo>
                  <a:pt x="179990" y="248920"/>
                </a:lnTo>
                <a:lnTo>
                  <a:pt x="186019" y="255270"/>
                </a:lnTo>
                <a:lnTo>
                  <a:pt x="192785" y="261620"/>
                </a:lnTo>
                <a:lnTo>
                  <a:pt x="196595" y="262890"/>
                </a:lnTo>
                <a:lnTo>
                  <a:pt x="202183" y="262890"/>
                </a:lnTo>
                <a:lnTo>
                  <a:pt x="207898" y="264160"/>
                </a:lnTo>
                <a:lnTo>
                  <a:pt x="207898" y="261620"/>
                </a:lnTo>
                <a:lnTo>
                  <a:pt x="211708" y="255270"/>
                </a:lnTo>
                <a:lnTo>
                  <a:pt x="211624" y="248920"/>
                </a:lnTo>
                <a:lnTo>
                  <a:pt x="211204" y="242570"/>
                </a:lnTo>
                <a:lnTo>
                  <a:pt x="188975" y="242570"/>
                </a:lnTo>
                <a:lnTo>
                  <a:pt x="181355" y="236220"/>
                </a:lnTo>
                <a:lnTo>
                  <a:pt x="173862" y="233680"/>
                </a:lnTo>
                <a:lnTo>
                  <a:pt x="168147" y="229870"/>
                </a:lnTo>
                <a:close/>
              </a:path>
              <a:path w="236219" h="264159">
                <a:moveTo>
                  <a:pt x="92844" y="198120"/>
                </a:moveTo>
                <a:lnTo>
                  <a:pt x="69976" y="198120"/>
                </a:lnTo>
                <a:lnTo>
                  <a:pt x="71754" y="199390"/>
                </a:lnTo>
                <a:lnTo>
                  <a:pt x="73659" y="199390"/>
                </a:lnTo>
                <a:lnTo>
                  <a:pt x="74136" y="215900"/>
                </a:lnTo>
                <a:lnTo>
                  <a:pt x="73659" y="224790"/>
                </a:lnTo>
                <a:lnTo>
                  <a:pt x="71754" y="233680"/>
                </a:lnTo>
                <a:lnTo>
                  <a:pt x="69976" y="242570"/>
                </a:lnTo>
                <a:lnTo>
                  <a:pt x="75564" y="246380"/>
                </a:lnTo>
                <a:lnTo>
                  <a:pt x="81279" y="250190"/>
                </a:lnTo>
                <a:lnTo>
                  <a:pt x="85089" y="254000"/>
                </a:lnTo>
                <a:lnTo>
                  <a:pt x="90677" y="254000"/>
                </a:lnTo>
                <a:lnTo>
                  <a:pt x="96392" y="255270"/>
                </a:lnTo>
                <a:lnTo>
                  <a:pt x="96392" y="238760"/>
                </a:lnTo>
                <a:lnTo>
                  <a:pt x="94994" y="226060"/>
                </a:lnTo>
                <a:lnTo>
                  <a:pt x="93773" y="213360"/>
                </a:lnTo>
                <a:lnTo>
                  <a:pt x="92996" y="201930"/>
                </a:lnTo>
                <a:lnTo>
                  <a:pt x="92877" y="199390"/>
                </a:lnTo>
                <a:lnTo>
                  <a:pt x="92844" y="198120"/>
                </a:lnTo>
                <a:close/>
              </a:path>
              <a:path w="236219" h="264159">
                <a:moveTo>
                  <a:pt x="204088" y="160020"/>
                </a:moveTo>
                <a:lnTo>
                  <a:pt x="183276" y="160020"/>
                </a:lnTo>
                <a:lnTo>
                  <a:pt x="187608" y="163830"/>
                </a:lnTo>
                <a:lnTo>
                  <a:pt x="190880" y="171450"/>
                </a:lnTo>
                <a:lnTo>
                  <a:pt x="190880" y="240030"/>
                </a:lnTo>
                <a:lnTo>
                  <a:pt x="188975" y="240030"/>
                </a:lnTo>
                <a:lnTo>
                  <a:pt x="188975" y="242570"/>
                </a:lnTo>
                <a:lnTo>
                  <a:pt x="211204" y="242570"/>
                </a:lnTo>
                <a:lnTo>
                  <a:pt x="205994" y="163830"/>
                </a:lnTo>
                <a:lnTo>
                  <a:pt x="204088" y="160020"/>
                </a:lnTo>
                <a:close/>
              </a:path>
              <a:path w="236219" h="264159">
                <a:moveTo>
                  <a:pt x="133641" y="151130"/>
                </a:moveTo>
                <a:lnTo>
                  <a:pt x="49148" y="151130"/>
                </a:lnTo>
                <a:lnTo>
                  <a:pt x="32130" y="201930"/>
                </a:lnTo>
                <a:lnTo>
                  <a:pt x="30372" y="208280"/>
                </a:lnTo>
                <a:lnTo>
                  <a:pt x="30924" y="214630"/>
                </a:lnTo>
                <a:lnTo>
                  <a:pt x="33952" y="219710"/>
                </a:lnTo>
                <a:lnTo>
                  <a:pt x="39623" y="223520"/>
                </a:lnTo>
                <a:lnTo>
                  <a:pt x="45587" y="224790"/>
                </a:lnTo>
                <a:lnTo>
                  <a:pt x="51704" y="223520"/>
                </a:lnTo>
                <a:lnTo>
                  <a:pt x="57465" y="219710"/>
                </a:lnTo>
                <a:lnTo>
                  <a:pt x="62356" y="212090"/>
                </a:lnTo>
                <a:lnTo>
                  <a:pt x="64261" y="207010"/>
                </a:lnTo>
                <a:lnTo>
                  <a:pt x="68071" y="203200"/>
                </a:lnTo>
                <a:lnTo>
                  <a:pt x="69976" y="198120"/>
                </a:lnTo>
                <a:lnTo>
                  <a:pt x="92844" y="198120"/>
                </a:lnTo>
                <a:lnTo>
                  <a:pt x="92681" y="191770"/>
                </a:lnTo>
                <a:lnTo>
                  <a:pt x="92582" y="180340"/>
                </a:lnTo>
                <a:lnTo>
                  <a:pt x="100202" y="166370"/>
                </a:lnTo>
                <a:lnTo>
                  <a:pt x="102107" y="163830"/>
                </a:lnTo>
                <a:lnTo>
                  <a:pt x="107695" y="163830"/>
                </a:lnTo>
                <a:lnTo>
                  <a:pt x="111505" y="162560"/>
                </a:lnTo>
                <a:lnTo>
                  <a:pt x="113410" y="162560"/>
                </a:lnTo>
                <a:lnTo>
                  <a:pt x="120759" y="157480"/>
                </a:lnTo>
                <a:lnTo>
                  <a:pt x="133641" y="151130"/>
                </a:lnTo>
                <a:close/>
              </a:path>
              <a:path w="236219" h="264159">
                <a:moveTo>
                  <a:pt x="198955" y="132080"/>
                </a:moveTo>
                <a:lnTo>
                  <a:pt x="166242" y="132080"/>
                </a:lnTo>
                <a:lnTo>
                  <a:pt x="157049" y="148590"/>
                </a:lnTo>
                <a:lnTo>
                  <a:pt x="149272" y="166370"/>
                </a:lnTo>
                <a:lnTo>
                  <a:pt x="142900" y="182880"/>
                </a:lnTo>
                <a:lnTo>
                  <a:pt x="137921" y="201930"/>
                </a:lnTo>
                <a:lnTo>
                  <a:pt x="137622" y="209550"/>
                </a:lnTo>
                <a:lnTo>
                  <a:pt x="139811" y="215900"/>
                </a:lnTo>
                <a:lnTo>
                  <a:pt x="144833" y="219710"/>
                </a:lnTo>
                <a:lnTo>
                  <a:pt x="153034" y="223520"/>
                </a:lnTo>
                <a:lnTo>
                  <a:pt x="154939" y="215900"/>
                </a:lnTo>
                <a:lnTo>
                  <a:pt x="154939" y="208280"/>
                </a:lnTo>
                <a:lnTo>
                  <a:pt x="156844" y="201930"/>
                </a:lnTo>
                <a:lnTo>
                  <a:pt x="181972" y="201930"/>
                </a:lnTo>
                <a:lnTo>
                  <a:pt x="179577" y="198120"/>
                </a:lnTo>
                <a:lnTo>
                  <a:pt x="170052" y="191770"/>
                </a:lnTo>
                <a:lnTo>
                  <a:pt x="158750" y="187960"/>
                </a:lnTo>
                <a:lnTo>
                  <a:pt x="158750" y="186690"/>
                </a:lnTo>
                <a:lnTo>
                  <a:pt x="166242" y="179070"/>
                </a:lnTo>
                <a:lnTo>
                  <a:pt x="183260" y="179070"/>
                </a:lnTo>
                <a:lnTo>
                  <a:pt x="183260" y="172720"/>
                </a:lnTo>
                <a:lnTo>
                  <a:pt x="173862" y="172720"/>
                </a:lnTo>
                <a:lnTo>
                  <a:pt x="170052" y="167640"/>
                </a:lnTo>
                <a:lnTo>
                  <a:pt x="177540" y="161290"/>
                </a:lnTo>
                <a:lnTo>
                  <a:pt x="183276" y="160020"/>
                </a:lnTo>
                <a:lnTo>
                  <a:pt x="204088" y="160020"/>
                </a:lnTo>
                <a:lnTo>
                  <a:pt x="200278" y="154940"/>
                </a:lnTo>
                <a:lnTo>
                  <a:pt x="196595" y="152400"/>
                </a:lnTo>
                <a:lnTo>
                  <a:pt x="192785" y="148590"/>
                </a:lnTo>
                <a:lnTo>
                  <a:pt x="185165" y="148590"/>
                </a:lnTo>
                <a:lnTo>
                  <a:pt x="179577" y="147320"/>
                </a:lnTo>
                <a:lnTo>
                  <a:pt x="185306" y="140970"/>
                </a:lnTo>
                <a:lnTo>
                  <a:pt x="191595" y="135890"/>
                </a:lnTo>
                <a:lnTo>
                  <a:pt x="198955" y="132080"/>
                </a:lnTo>
                <a:close/>
              </a:path>
              <a:path w="236219" h="264159">
                <a:moveTo>
                  <a:pt x="181972" y="201930"/>
                </a:moveTo>
                <a:lnTo>
                  <a:pt x="156844" y="201930"/>
                </a:lnTo>
                <a:lnTo>
                  <a:pt x="160654" y="204470"/>
                </a:lnTo>
                <a:lnTo>
                  <a:pt x="162559" y="204470"/>
                </a:lnTo>
                <a:lnTo>
                  <a:pt x="168147" y="208280"/>
                </a:lnTo>
                <a:lnTo>
                  <a:pt x="173862" y="214630"/>
                </a:lnTo>
                <a:lnTo>
                  <a:pt x="181355" y="208280"/>
                </a:lnTo>
                <a:lnTo>
                  <a:pt x="185165" y="207010"/>
                </a:lnTo>
                <a:lnTo>
                  <a:pt x="181972" y="201930"/>
                </a:lnTo>
                <a:close/>
              </a:path>
              <a:path w="236219" h="264159">
                <a:moveTo>
                  <a:pt x="183260" y="179070"/>
                </a:moveTo>
                <a:lnTo>
                  <a:pt x="166242" y="179070"/>
                </a:lnTo>
                <a:lnTo>
                  <a:pt x="177672" y="182880"/>
                </a:lnTo>
                <a:lnTo>
                  <a:pt x="183260" y="184150"/>
                </a:lnTo>
                <a:lnTo>
                  <a:pt x="183260" y="179070"/>
                </a:lnTo>
                <a:close/>
              </a:path>
              <a:path w="236219" h="264159">
                <a:moveTo>
                  <a:pt x="95202" y="59690"/>
                </a:moveTo>
                <a:lnTo>
                  <a:pt x="71754" y="59690"/>
                </a:lnTo>
                <a:lnTo>
                  <a:pt x="71743" y="64770"/>
                </a:lnTo>
                <a:lnTo>
                  <a:pt x="71616" y="74930"/>
                </a:lnTo>
                <a:lnTo>
                  <a:pt x="71532" y="78740"/>
                </a:lnTo>
                <a:lnTo>
                  <a:pt x="71004" y="87630"/>
                </a:lnTo>
                <a:lnTo>
                  <a:pt x="69976" y="96520"/>
                </a:lnTo>
                <a:lnTo>
                  <a:pt x="69976" y="100330"/>
                </a:lnTo>
                <a:lnTo>
                  <a:pt x="64261" y="104140"/>
                </a:lnTo>
                <a:lnTo>
                  <a:pt x="51171" y="113030"/>
                </a:lnTo>
                <a:lnTo>
                  <a:pt x="37544" y="120650"/>
                </a:lnTo>
                <a:lnTo>
                  <a:pt x="0" y="140970"/>
                </a:lnTo>
                <a:lnTo>
                  <a:pt x="0" y="147320"/>
                </a:lnTo>
                <a:lnTo>
                  <a:pt x="9397" y="151130"/>
                </a:lnTo>
                <a:lnTo>
                  <a:pt x="19377" y="156210"/>
                </a:lnTo>
                <a:lnTo>
                  <a:pt x="29321" y="160020"/>
                </a:lnTo>
                <a:lnTo>
                  <a:pt x="39241" y="158750"/>
                </a:lnTo>
                <a:lnTo>
                  <a:pt x="49148" y="151130"/>
                </a:lnTo>
                <a:lnTo>
                  <a:pt x="133641" y="151130"/>
                </a:lnTo>
                <a:lnTo>
                  <a:pt x="136217" y="149860"/>
                </a:lnTo>
                <a:lnTo>
                  <a:pt x="143636" y="144780"/>
                </a:lnTo>
                <a:lnTo>
                  <a:pt x="154939" y="139700"/>
                </a:lnTo>
                <a:lnTo>
                  <a:pt x="166242" y="132080"/>
                </a:lnTo>
                <a:lnTo>
                  <a:pt x="215391" y="132080"/>
                </a:lnTo>
                <a:lnTo>
                  <a:pt x="223011" y="128270"/>
                </a:lnTo>
                <a:lnTo>
                  <a:pt x="122808" y="128270"/>
                </a:lnTo>
                <a:lnTo>
                  <a:pt x="120268" y="123190"/>
                </a:lnTo>
                <a:lnTo>
                  <a:pt x="98297" y="123190"/>
                </a:lnTo>
                <a:lnTo>
                  <a:pt x="92344" y="107950"/>
                </a:lnTo>
                <a:lnTo>
                  <a:pt x="90677" y="93980"/>
                </a:lnTo>
                <a:lnTo>
                  <a:pt x="91868" y="78740"/>
                </a:lnTo>
                <a:lnTo>
                  <a:pt x="94487" y="63500"/>
                </a:lnTo>
                <a:lnTo>
                  <a:pt x="95202" y="59690"/>
                </a:lnTo>
                <a:close/>
              </a:path>
              <a:path w="236219" h="264159">
                <a:moveTo>
                  <a:pt x="180715" y="64770"/>
                </a:moveTo>
                <a:lnTo>
                  <a:pt x="156844" y="64770"/>
                </a:lnTo>
                <a:lnTo>
                  <a:pt x="154939" y="74930"/>
                </a:lnTo>
                <a:lnTo>
                  <a:pt x="153034" y="81280"/>
                </a:lnTo>
                <a:lnTo>
                  <a:pt x="153034" y="87630"/>
                </a:lnTo>
                <a:lnTo>
                  <a:pt x="136016" y="87630"/>
                </a:lnTo>
                <a:lnTo>
                  <a:pt x="134111" y="92710"/>
                </a:lnTo>
                <a:lnTo>
                  <a:pt x="134111" y="95250"/>
                </a:lnTo>
                <a:lnTo>
                  <a:pt x="139826" y="99060"/>
                </a:lnTo>
                <a:lnTo>
                  <a:pt x="141731" y="102870"/>
                </a:lnTo>
                <a:lnTo>
                  <a:pt x="141731" y="104140"/>
                </a:lnTo>
                <a:lnTo>
                  <a:pt x="143636" y="107950"/>
                </a:lnTo>
                <a:lnTo>
                  <a:pt x="122808" y="128270"/>
                </a:lnTo>
                <a:lnTo>
                  <a:pt x="223011" y="128270"/>
                </a:lnTo>
                <a:lnTo>
                  <a:pt x="230504" y="124460"/>
                </a:lnTo>
                <a:lnTo>
                  <a:pt x="236219" y="123190"/>
                </a:lnTo>
                <a:lnTo>
                  <a:pt x="236219" y="116840"/>
                </a:lnTo>
                <a:lnTo>
                  <a:pt x="232409" y="113030"/>
                </a:lnTo>
                <a:lnTo>
                  <a:pt x="226442" y="109220"/>
                </a:lnTo>
                <a:lnTo>
                  <a:pt x="179577" y="109220"/>
                </a:lnTo>
                <a:lnTo>
                  <a:pt x="171957" y="96520"/>
                </a:lnTo>
                <a:lnTo>
                  <a:pt x="170052" y="91440"/>
                </a:lnTo>
                <a:lnTo>
                  <a:pt x="169838" y="87630"/>
                </a:lnTo>
                <a:lnTo>
                  <a:pt x="147446" y="87630"/>
                </a:lnTo>
                <a:lnTo>
                  <a:pt x="141731" y="85090"/>
                </a:lnTo>
                <a:lnTo>
                  <a:pt x="169694" y="85090"/>
                </a:lnTo>
                <a:lnTo>
                  <a:pt x="169336" y="78740"/>
                </a:lnTo>
                <a:lnTo>
                  <a:pt x="172894" y="69850"/>
                </a:lnTo>
                <a:lnTo>
                  <a:pt x="180715" y="64770"/>
                </a:lnTo>
                <a:close/>
              </a:path>
              <a:path w="236219" h="264159">
                <a:moveTo>
                  <a:pt x="109600" y="107950"/>
                </a:moveTo>
                <a:lnTo>
                  <a:pt x="105790" y="115570"/>
                </a:lnTo>
                <a:lnTo>
                  <a:pt x="102107" y="119380"/>
                </a:lnTo>
                <a:lnTo>
                  <a:pt x="98297" y="123190"/>
                </a:lnTo>
                <a:lnTo>
                  <a:pt x="120268" y="123190"/>
                </a:lnTo>
                <a:lnTo>
                  <a:pt x="118998" y="120650"/>
                </a:lnTo>
                <a:lnTo>
                  <a:pt x="115315" y="115570"/>
                </a:lnTo>
                <a:lnTo>
                  <a:pt x="109600" y="107950"/>
                </a:lnTo>
                <a:close/>
              </a:path>
              <a:path w="236219" h="264159">
                <a:moveTo>
                  <a:pt x="213032" y="105410"/>
                </a:moveTo>
                <a:lnTo>
                  <a:pt x="192071" y="109220"/>
                </a:lnTo>
                <a:lnTo>
                  <a:pt x="226442" y="109220"/>
                </a:lnTo>
                <a:lnTo>
                  <a:pt x="219916" y="106680"/>
                </a:lnTo>
                <a:lnTo>
                  <a:pt x="213032" y="105410"/>
                </a:lnTo>
                <a:close/>
              </a:path>
              <a:path w="236219" h="264159">
                <a:moveTo>
                  <a:pt x="51053" y="35560"/>
                </a:moveTo>
                <a:lnTo>
                  <a:pt x="49148" y="36830"/>
                </a:lnTo>
                <a:lnTo>
                  <a:pt x="38865" y="41910"/>
                </a:lnTo>
                <a:lnTo>
                  <a:pt x="30702" y="48260"/>
                </a:lnTo>
                <a:lnTo>
                  <a:pt x="24681" y="57150"/>
                </a:lnTo>
                <a:lnTo>
                  <a:pt x="20827" y="67310"/>
                </a:lnTo>
                <a:lnTo>
                  <a:pt x="18922" y="72390"/>
                </a:lnTo>
                <a:lnTo>
                  <a:pt x="18922" y="77470"/>
                </a:lnTo>
                <a:lnTo>
                  <a:pt x="17017" y="81280"/>
                </a:lnTo>
                <a:lnTo>
                  <a:pt x="15557" y="88900"/>
                </a:lnTo>
                <a:lnTo>
                  <a:pt x="16763" y="93980"/>
                </a:lnTo>
                <a:lnTo>
                  <a:pt x="20446" y="99060"/>
                </a:lnTo>
                <a:lnTo>
                  <a:pt x="26415" y="102870"/>
                </a:lnTo>
                <a:lnTo>
                  <a:pt x="32130" y="104140"/>
                </a:lnTo>
                <a:lnTo>
                  <a:pt x="37845" y="104140"/>
                </a:lnTo>
                <a:lnTo>
                  <a:pt x="43433" y="106680"/>
                </a:lnTo>
                <a:lnTo>
                  <a:pt x="41528" y="104140"/>
                </a:lnTo>
                <a:lnTo>
                  <a:pt x="41528" y="102870"/>
                </a:lnTo>
                <a:lnTo>
                  <a:pt x="48652" y="92710"/>
                </a:lnTo>
                <a:lnTo>
                  <a:pt x="55752" y="81280"/>
                </a:lnTo>
                <a:lnTo>
                  <a:pt x="62853" y="71120"/>
                </a:lnTo>
                <a:lnTo>
                  <a:pt x="69185" y="60960"/>
                </a:lnTo>
                <a:lnTo>
                  <a:pt x="52958" y="60960"/>
                </a:lnTo>
                <a:lnTo>
                  <a:pt x="54863" y="57150"/>
                </a:lnTo>
                <a:lnTo>
                  <a:pt x="54863" y="52070"/>
                </a:lnTo>
                <a:lnTo>
                  <a:pt x="58546" y="49530"/>
                </a:lnTo>
                <a:lnTo>
                  <a:pt x="60451" y="45720"/>
                </a:lnTo>
                <a:lnTo>
                  <a:pt x="64261" y="43180"/>
                </a:lnTo>
                <a:lnTo>
                  <a:pt x="60451" y="40640"/>
                </a:lnTo>
                <a:lnTo>
                  <a:pt x="56641" y="36830"/>
                </a:lnTo>
                <a:lnTo>
                  <a:pt x="51053" y="35560"/>
                </a:lnTo>
                <a:close/>
              </a:path>
              <a:path w="236219" h="264159">
                <a:moveTo>
                  <a:pt x="185165" y="0"/>
                </a:moveTo>
                <a:lnTo>
                  <a:pt x="177672" y="0"/>
                </a:lnTo>
                <a:lnTo>
                  <a:pt x="175767" y="3810"/>
                </a:lnTo>
                <a:lnTo>
                  <a:pt x="173862" y="5080"/>
                </a:lnTo>
                <a:lnTo>
                  <a:pt x="170052" y="11430"/>
                </a:lnTo>
                <a:lnTo>
                  <a:pt x="170052" y="13970"/>
                </a:lnTo>
                <a:lnTo>
                  <a:pt x="167512" y="22860"/>
                </a:lnTo>
                <a:lnTo>
                  <a:pt x="163194" y="41910"/>
                </a:lnTo>
                <a:lnTo>
                  <a:pt x="160654" y="49530"/>
                </a:lnTo>
                <a:lnTo>
                  <a:pt x="158750" y="52070"/>
                </a:lnTo>
                <a:lnTo>
                  <a:pt x="156844" y="55880"/>
                </a:lnTo>
                <a:lnTo>
                  <a:pt x="153034" y="55880"/>
                </a:lnTo>
                <a:lnTo>
                  <a:pt x="136064" y="63500"/>
                </a:lnTo>
                <a:lnTo>
                  <a:pt x="118998" y="68580"/>
                </a:lnTo>
                <a:lnTo>
                  <a:pt x="115315" y="71120"/>
                </a:lnTo>
                <a:lnTo>
                  <a:pt x="107695" y="74930"/>
                </a:lnTo>
                <a:lnTo>
                  <a:pt x="113410" y="81280"/>
                </a:lnTo>
                <a:lnTo>
                  <a:pt x="115315" y="81280"/>
                </a:lnTo>
                <a:lnTo>
                  <a:pt x="122808" y="77470"/>
                </a:lnTo>
                <a:lnTo>
                  <a:pt x="139112" y="72390"/>
                </a:lnTo>
                <a:lnTo>
                  <a:pt x="147544" y="68580"/>
                </a:lnTo>
                <a:lnTo>
                  <a:pt x="156844" y="64770"/>
                </a:lnTo>
                <a:lnTo>
                  <a:pt x="180715" y="64770"/>
                </a:lnTo>
                <a:lnTo>
                  <a:pt x="192785" y="63500"/>
                </a:lnTo>
                <a:lnTo>
                  <a:pt x="204723" y="63500"/>
                </a:lnTo>
                <a:lnTo>
                  <a:pt x="209803" y="55880"/>
                </a:lnTo>
                <a:lnTo>
                  <a:pt x="203905" y="53340"/>
                </a:lnTo>
                <a:lnTo>
                  <a:pt x="182639" y="53340"/>
                </a:lnTo>
                <a:lnTo>
                  <a:pt x="173862" y="52070"/>
                </a:lnTo>
                <a:lnTo>
                  <a:pt x="175944" y="40640"/>
                </a:lnTo>
                <a:lnTo>
                  <a:pt x="177657" y="29210"/>
                </a:lnTo>
                <a:lnTo>
                  <a:pt x="180774" y="19050"/>
                </a:lnTo>
                <a:lnTo>
                  <a:pt x="187070" y="8890"/>
                </a:lnTo>
                <a:lnTo>
                  <a:pt x="187070" y="7620"/>
                </a:lnTo>
                <a:lnTo>
                  <a:pt x="185165" y="1270"/>
                </a:lnTo>
                <a:lnTo>
                  <a:pt x="185165" y="0"/>
                </a:lnTo>
                <a:close/>
              </a:path>
              <a:path w="236219" h="264159">
                <a:moveTo>
                  <a:pt x="204723" y="63500"/>
                </a:moveTo>
                <a:lnTo>
                  <a:pt x="194690" y="63500"/>
                </a:lnTo>
                <a:lnTo>
                  <a:pt x="194690" y="64770"/>
                </a:lnTo>
                <a:lnTo>
                  <a:pt x="202183" y="67310"/>
                </a:lnTo>
                <a:lnTo>
                  <a:pt x="204723" y="63500"/>
                </a:lnTo>
                <a:close/>
              </a:path>
              <a:path w="236219" h="264159">
                <a:moveTo>
                  <a:pt x="130428" y="52070"/>
                </a:moveTo>
                <a:lnTo>
                  <a:pt x="100202" y="52070"/>
                </a:lnTo>
                <a:lnTo>
                  <a:pt x="107695" y="55880"/>
                </a:lnTo>
                <a:lnTo>
                  <a:pt x="113410" y="57150"/>
                </a:lnTo>
                <a:lnTo>
                  <a:pt x="117220" y="59690"/>
                </a:lnTo>
                <a:lnTo>
                  <a:pt x="120903" y="60960"/>
                </a:lnTo>
                <a:lnTo>
                  <a:pt x="128523" y="63500"/>
                </a:lnTo>
                <a:lnTo>
                  <a:pt x="134111" y="59690"/>
                </a:lnTo>
                <a:lnTo>
                  <a:pt x="130428" y="52070"/>
                </a:lnTo>
                <a:close/>
              </a:path>
              <a:path w="236219" h="264159">
                <a:moveTo>
                  <a:pt x="92582" y="5080"/>
                </a:moveTo>
                <a:lnTo>
                  <a:pt x="90677" y="5080"/>
                </a:lnTo>
                <a:lnTo>
                  <a:pt x="85089" y="8890"/>
                </a:lnTo>
                <a:lnTo>
                  <a:pt x="83184" y="11430"/>
                </a:lnTo>
                <a:lnTo>
                  <a:pt x="81279" y="16510"/>
                </a:lnTo>
                <a:lnTo>
                  <a:pt x="77469" y="24130"/>
                </a:lnTo>
                <a:lnTo>
                  <a:pt x="77469" y="29210"/>
                </a:lnTo>
                <a:lnTo>
                  <a:pt x="75497" y="40640"/>
                </a:lnTo>
                <a:lnTo>
                  <a:pt x="70167" y="48260"/>
                </a:lnTo>
                <a:lnTo>
                  <a:pt x="62360" y="55880"/>
                </a:lnTo>
                <a:lnTo>
                  <a:pt x="52958" y="60960"/>
                </a:lnTo>
                <a:lnTo>
                  <a:pt x="69185" y="60960"/>
                </a:lnTo>
                <a:lnTo>
                  <a:pt x="69976" y="59690"/>
                </a:lnTo>
                <a:lnTo>
                  <a:pt x="95202" y="59690"/>
                </a:lnTo>
                <a:lnTo>
                  <a:pt x="96392" y="53340"/>
                </a:lnTo>
                <a:lnTo>
                  <a:pt x="100202" y="52070"/>
                </a:lnTo>
                <a:lnTo>
                  <a:pt x="130428" y="52070"/>
                </a:lnTo>
                <a:lnTo>
                  <a:pt x="128523" y="45720"/>
                </a:lnTo>
                <a:lnTo>
                  <a:pt x="122808" y="40640"/>
                </a:lnTo>
                <a:lnTo>
                  <a:pt x="117220" y="36830"/>
                </a:lnTo>
                <a:lnTo>
                  <a:pt x="113410" y="35560"/>
                </a:lnTo>
                <a:lnTo>
                  <a:pt x="111505" y="33020"/>
                </a:lnTo>
                <a:lnTo>
                  <a:pt x="111505" y="27940"/>
                </a:lnTo>
                <a:lnTo>
                  <a:pt x="109888" y="19050"/>
                </a:lnTo>
                <a:lnTo>
                  <a:pt x="105616" y="12700"/>
                </a:lnTo>
                <a:lnTo>
                  <a:pt x="99558" y="7620"/>
                </a:lnTo>
                <a:lnTo>
                  <a:pt x="92582" y="5080"/>
                </a:lnTo>
                <a:close/>
              </a:path>
              <a:path w="236219" h="264159">
                <a:moveTo>
                  <a:pt x="200955" y="52070"/>
                </a:moveTo>
                <a:lnTo>
                  <a:pt x="191785" y="52070"/>
                </a:lnTo>
                <a:lnTo>
                  <a:pt x="182639" y="53340"/>
                </a:lnTo>
                <a:lnTo>
                  <a:pt x="203905" y="53340"/>
                </a:lnTo>
                <a:lnTo>
                  <a:pt x="200955" y="52070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32176" y="6451010"/>
            <a:ext cx="129803" cy="1966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14727" y="6385559"/>
            <a:ext cx="236775" cy="2973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51482" y="6466332"/>
            <a:ext cx="140781" cy="1569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71955" y="6431279"/>
            <a:ext cx="210026" cy="2240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6740" y="6380988"/>
            <a:ext cx="242570" cy="289560"/>
          </a:xfrm>
          <a:custGeom>
            <a:avLst/>
            <a:gdLst/>
            <a:ahLst/>
            <a:cxnLst/>
            <a:rect l="l" t="t" r="r" b="b"/>
            <a:pathLst>
              <a:path w="242569" h="289559">
                <a:moveTo>
                  <a:pt x="61577" y="222250"/>
                </a:moveTo>
                <a:lnTo>
                  <a:pt x="37858" y="222250"/>
                </a:lnTo>
                <a:lnTo>
                  <a:pt x="35315" y="233680"/>
                </a:lnTo>
                <a:lnTo>
                  <a:pt x="33127" y="245110"/>
                </a:lnTo>
                <a:lnTo>
                  <a:pt x="30939" y="255270"/>
                </a:lnTo>
                <a:lnTo>
                  <a:pt x="28397" y="265430"/>
                </a:lnTo>
                <a:lnTo>
                  <a:pt x="28456" y="275590"/>
                </a:lnTo>
                <a:lnTo>
                  <a:pt x="31710" y="283210"/>
                </a:lnTo>
                <a:lnTo>
                  <a:pt x="38514" y="288290"/>
                </a:lnTo>
                <a:lnTo>
                  <a:pt x="49225" y="289560"/>
                </a:lnTo>
                <a:lnTo>
                  <a:pt x="49225" y="287020"/>
                </a:lnTo>
                <a:lnTo>
                  <a:pt x="51117" y="284480"/>
                </a:lnTo>
                <a:lnTo>
                  <a:pt x="54281" y="262890"/>
                </a:lnTo>
                <a:lnTo>
                  <a:pt x="57977" y="242570"/>
                </a:lnTo>
                <a:lnTo>
                  <a:pt x="61577" y="222250"/>
                </a:lnTo>
                <a:close/>
              </a:path>
              <a:path w="242569" h="289559">
                <a:moveTo>
                  <a:pt x="109804" y="228600"/>
                </a:moveTo>
                <a:lnTo>
                  <a:pt x="100329" y="228600"/>
                </a:lnTo>
                <a:lnTo>
                  <a:pt x="100329" y="240030"/>
                </a:lnTo>
                <a:lnTo>
                  <a:pt x="104114" y="242570"/>
                </a:lnTo>
                <a:lnTo>
                  <a:pt x="109503" y="247650"/>
                </a:lnTo>
                <a:lnTo>
                  <a:pt x="119561" y="255270"/>
                </a:lnTo>
                <a:lnTo>
                  <a:pt x="124942" y="260350"/>
                </a:lnTo>
                <a:lnTo>
                  <a:pt x="141539" y="270510"/>
                </a:lnTo>
                <a:lnTo>
                  <a:pt x="159732" y="278130"/>
                </a:lnTo>
                <a:lnTo>
                  <a:pt x="198780" y="288290"/>
                </a:lnTo>
                <a:lnTo>
                  <a:pt x="210134" y="288290"/>
                </a:lnTo>
                <a:lnTo>
                  <a:pt x="210134" y="287020"/>
                </a:lnTo>
                <a:lnTo>
                  <a:pt x="212026" y="283210"/>
                </a:lnTo>
                <a:lnTo>
                  <a:pt x="212026" y="275590"/>
                </a:lnTo>
                <a:lnTo>
                  <a:pt x="210134" y="271780"/>
                </a:lnTo>
                <a:lnTo>
                  <a:pt x="204832" y="264160"/>
                </a:lnTo>
                <a:lnTo>
                  <a:pt x="174167" y="264160"/>
                </a:lnTo>
                <a:lnTo>
                  <a:pt x="157807" y="261620"/>
                </a:lnTo>
                <a:lnTo>
                  <a:pt x="142690" y="255270"/>
                </a:lnTo>
                <a:lnTo>
                  <a:pt x="128640" y="246380"/>
                </a:lnTo>
                <a:lnTo>
                  <a:pt x="115481" y="236220"/>
                </a:lnTo>
                <a:lnTo>
                  <a:pt x="113588" y="232410"/>
                </a:lnTo>
                <a:lnTo>
                  <a:pt x="109804" y="228600"/>
                </a:lnTo>
                <a:close/>
              </a:path>
              <a:path w="242569" h="289559">
                <a:moveTo>
                  <a:pt x="161332" y="203200"/>
                </a:moveTo>
                <a:lnTo>
                  <a:pt x="134404" y="203200"/>
                </a:lnTo>
                <a:lnTo>
                  <a:pt x="134334" y="212090"/>
                </a:lnTo>
                <a:lnTo>
                  <a:pt x="134019" y="223520"/>
                </a:lnTo>
                <a:lnTo>
                  <a:pt x="137007" y="232410"/>
                </a:lnTo>
                <a:lnTo>
                  <a:pt x="145319" y="237490"/>
                </a:lnTo>
                <a:lnTo>
                  <a:pt x="160908" y="240030"/>
                </a:lnTo>
                <a:lnTo>
                  <a:pt x="162801" y="240030"/>
                </a:lnTo>
                <a:lnTo>
                  <a:pt x="166585" y="241300"/>
                </a:lnTo>
                <a:lnTo>
                  <a:pt x="177952" y="264160"/>
                </a:lnTo>
                <a:lnTo>
                  <a:pt x="204832" y="264160"/>
                </a:lnTo>
                <a:lnTo>
                  <a:pt x="203065" y="261620"/>
                </a:lnTo>
                <a:lnTo>
                  <a:pt x="196172" y="251460"/>
                </a:lnTo>
                <a:lnTo>
                  <a:pt x="189633" y="241300"/>
                </a:lnTo>
                <a:lnTo>
                  <a:pt x="183629" y="232410"/>
                </a:lnTo>
                <a:lnTo>
                  <a:pt x="193624" y="228600"/>
                </a:lnTo>
                <a:lnTo>
                  <a:pt x="203977" y="226060"/>
                </a:lnTo>
                <a:lnTo>
                  <a:pt x="238531" y="226060"/>
                </a:lnTo>
                <a:lnTo>
                  <a:pt x="242315" y="220980"/>
                </a:lnTo>
                <a:lnTo>
                  <a:pt x="155232" y="220980"/>
                </a:lnTo>
                <a:lnTo>
                  <a:pt x="155794" y="212090"/>
                </a:lnTo>
                <a:lnTo>
                  <a:pt x="159727" y="204470"/>
                </a:lnTo>
                <a:lnTo>
                  <a:pt x="161332" y="203200"/>
                </a:lnTo>
                <a:close/>
              </a:path>
              <a:path w="242569" h="289559">
                <a:moveTo>
                  <a:pt x="238531" y="226060"/>
                </a:moveTo>
                <a:lnTo>
                  <a:pt x="215040" y="226060"/>
                </a:lnTo>
                <a:lnTo>
                  <a:pt x="227164" y="229870"/>
                </a:lnTo>
                <a:lnTo>
                  <a:pt x="230962" y="232410"/>
                </a:lnTo>
                <a:lnTo>
                  <a:pt x="236639" y="232410"/>
                </a:lnTo>
                <a:lnTo>
                  <a:pt x="238531" y="226060"/>
                </a:lnTo>
                <a:close/>
              </a:path>
              <a:path w="242569" h="289559">
                <a:moveTo>
                  <a:pt x="89211" y="24130"/>
                </a:moveTo>
                <a:lnTo>
                  <a:pt x="81963" y="24130"/>
                </a:lnTo>
                <a:lnTo>
                  <a:pt x="73825" y="26670"/>
                </a:lnTo>
                <a:lnTo>
                  <a:pt x="43535" y="57150"/>
                </a:lnTo>
                <a:lnTo>
                  <a:pt x="36914" y="77470"/>
                </a:lnTo>
                <a:lnTo>
                  <a:pt x="39815" y="86360"/>
                </a:lnTo>
                <a:lnTo>
                  <a:pt x="47332" y="96520"/>
                </a:lnTo>
                <a:lnTo>
                  <a:pt x="47332" y="100330"/>
                </a:lnTo>
                <a:lnTo>
                  <a:pt x="51117" y="101600"/>
                </a:lnTo>
                <a:lnTo>
                  <a:pt x="49225" y="104140"/>
                </a:lnTo>
                <a:lnTo>
                  <a:pt x="46349" y="113030"/>
                </a:lnTo>
                <a:lnTo>
                  <a:pt x="28247" y="149860"/>
                </a:lnTo>
                <a:lnTo>
                  <a:pt x="19638" y="162560"/>
                </a:lnTo>
                <a:lnTo>
                  <a:pt x="10675" y="176530"/>
                </a:lnTo>
                <a:lnTo>
                  <a:pt x="1892" y="189230"/>
                </a:lnTo>
                <a:lnTo>
                  <a:pt x="1892" y="190500"/>
                </a:lnTo>
                <a:lnTo>
                  <a:pt x="0" y="193040"/>
                </a:lnTo>
                <a:lnTo>
                  <a:pt x="0" y="194310"/>
                </a:lnTo>
                <a:lnTo>
                  <a:pt x="1005" y="201930"/>
                </a:lnTo>
                <a:lnTo>
                  <a:pt x="25557" y="228600"/>
                </a:lnTo>
                <a:lnTo>
                  <a:pt x="31353" y="227330"/>
                </a:lnTo>
                <a:lnTo>
                  <a:pt x="37858" y="222250"/>
                </a:lnTo>
                <a:lnTo>
                  <a:pt x="61577" y="222250"/>
                </a:lnTo>
                <a:lnTo>
                  <a:pt x="62027" y="219710"/>
                </a:lnTo>
                <a:lnTo>
                  <a:pt x="66255" y="198120"/>
                </a:lnTo>
                <a:lnTo>
                  <a:pt x="66255" y="194310"/>
                </a:lnTo>
                <a:lnTo>
                  <a:pt x="64363" y="189230"/>
                </a:lnTo>
                <a:lnTo>
                  <a:pt x="64363" y="185420"/>
                </a:lnTo>
                <a:lnTo>
                  <a:pt x="62471" y="181610"/>
                </a:lnTo>
                <a:lnTo>
                  <a:pt x="62471" y="177800"/>
                </a:lnTo>
                <a:lnTo>
                  <a:pt x="64363" y="175260"/>
                </a:lnTo>
                <a:lnTo>
                  <a:pt x="81406" y="147320"/>
                </a:lnTo>
                <a:lnTo>
                  <a:pt x="126834" y="147320"/>
                </a:lnTo>
                <a:lnTo>
                  <a:pt x="128727" y="144780"/>
                </a:lnTo>
                <a:lnTo>
                  <a:pt x="130619" y="144780"/>
                </a:lnTo>
                <a:lnTo>
                  <a:pt x="132514" y="143510"/>
                </a:lnTo>
                <a:lnTo>
                  <a:pt x="102222" y="143510"/>
                </a:lnTo>
                <a:lnTo>
                  <a:pt x="90868" y="138430"/>
                </a:lnTo>
                <a:lnTo>
                  <a:pt x="96574" y="124460"/>
                </a:lnTo>
                <a:lnTo>
                  <a:pt x="96781" y="114300"/>
                </a:lnTo>
                <a:lnTo>
                  <a:pt x="91666" y="102870"/>
                </a:lnTo>
                <a:lnTo>
                  <a:pt x="81406" y="91440"/>
                </a:lnTo>
                <a:lnTo>
                  <a:pt x="79514" y="88900"/>
                </a:lnTo>
                <a:lnTo>
                  <a:pt x="77622" y="85090"/>
                </a:lnTo>
                <a:lnTo>
                  <a:pt x="73825" y="83820"/>
                </a:lnTo>
                <a:lnTo>
                  <a:pt x="68148" y="80010"/>
                </a:lnTo>
                <a:lnTo>
                  <a:pt x="68148" y="73660"/>
                </a:lnTo>
                <a:lnTo>
                  <a:pt x="70040" y="68580"/>
                </a:lnTo>
                <a:lnTo>
                  <a:pt x="106006" y="41910"/>
                </a:lnTo>
                <a:lnTo>
                  <a:pt x="106006" y="38100"/>
                </a:lnTo>
                <a:lnTo>
                  <a:pt x="100329" y="30480"/>
                </a:lnTo>
                <a:lnTo>
                  <a:pt x="95392" y="26670"/>
                </a:lnTo>
                <a:lnTo>
                  <a:pt x="89211" y="24130"/>
                </a:lnTo>
                <a:close/>
              </a:path>
              <a:path w="242569" h="289559">
                <a:moveTo>
                  <a:pt x="215811" y="205740"/>
                </a:moveTo>
                <a:lnTo>
                  <a:pt x="201936" y="205740"/>
                </a:lnTo>
                <a:lnTo>
                  <a:pt x="188596" y="208280"/>
                </a:lnTo>
                <a:lnTo>
                  <a:pt x="175611" y="212090"/>
                </a:lnTo>
                <a:lnTo>
                  <a:pt x="162801" y="218440"/>
                </a:lnTo>
                <a:lnTo>
                  <a:pt x="160908" y="220980"/>
                </a:lnTo>
                <a:lnTo>
                  <a:pt x="242315" y="220980"/>
                </a:lnTo>
                <a:lnTo>
                  <a:pt x="242315" y="214630"/>
                </a:lnTo>
                <a:lnTo>
                  <a:pt x="234746" y="210820"/>
                </a:lnTo>
                <a:lnTo>
                  <a:pt x="223380" y="207010"/>
                </a:lnTo>
                <a:lnTo>
                  <a:pt x="215811" y="205740"/>
                </a:lnTo>
                <a:close/>
              </a:path>
              <a:path w="242569" h="289559">
                <a:moveTo>
                  <a:pt x="90868" y="181610"/>
                </a:moveTo>
                <a:lnTo>
                  <a:pt x="71932" y="181610"/>
                </a:lnTo>
                <a:lnTo>
                  <a:pt x="71932" y="182880"/>
                </a:lnTo>
                <a:lnTo>
                  <a:pt x="71119" y="189230"/>
                </a:lnTo>
                <a:lnTo>
                  <a:pt x="83299" y="217170"/>
                </a:lnTo>
                <a:lnTo>
                  <a:pt x="98437" y="213360"/>
                </a:lnTo>
                <a:lnTo>
                  <a:pt x="104114" y="210820"/>
                </a:lnTo>
                <a:lnTo>
                  <a:pt x="111696" y="209550"/>
                </a:lnTo>
                <a:lnTo>
                  <a:pt x="123050" y="205740"/>
                </a:lnTo>
                <a:lnTo>
                  <a:pt x="128727" y="205740"/>
                </a:lnTo>
                <a:lnTo>
                  <a:pt x="134404" y="203200"/>
                </a:lnTo>
                <a:lnTo>
                  <a:pt x="161332" y="203200"/>
                </a:lnTo>
                <a:lnTo>
                  <a:pt x="166147" y="199390"/>
                </a:lnTo>
                <a:lnTo>
                  <a:pt x="174167" y="195580"/>
                </a:lnTo>
                <a:lnTo>
                  <a:pt x="181736" y="195580"/>
                </a:lnTo>
                <a:lnTo>
                  <a:pt x="189306" y="194310"/>
                </a:lnTo>
                <a:lnTo>
                  <a:pt x="202564" y="194310"/>
                </a:lnTo>
                <a:lnTo>
                  <a:pt x="208241" y="193040"/>
                </a:lnTo>
                <a:lnTo>
                  <a:pt x="210764" y="182880"/>
                </a:lnTo>
                <a:lnTo>
                  <a:pt x="96545" y="182880"/>
                </a:lnTo>
                <a:lnTo>
                  <a:pt x="90868" y="181610"/>
                </a:lnTo>
                <a:close/>
              </a:path>
              <a:path w="242569" h="289559">
                <a:moveTo>
                  <a:pt x="126834" y="147320"/>
                </a:moveTo>
                <a:lnTo>
                  <a:pt x="81406" y="147320"/>
                </a:lnTo>
                <a:lnTo>
                  <a:pt x="85369" y="156210"/>
                </a:lnTo>
                <a:lnTo>
                  <a:pt x="88976" y="163830"/>
                </a:lnTo>
                <a:lnTo>
                  <a:pt x="92583" y="173990"/>
                </a:lnTo>
                <a:lnTo>
                  <a:pt x="96545" y="182880"/>
                </a:lnTo>
                <a:lnTo>
                  <a:pt x="210764" y="182880"/>
                </a:lnTo>
                <a:lnTo>
                  <a:pt x="211711" y="179070"/>
                </a:lnTo>
                <a:lnTo>
                  <a:pt x="113588" y="179070"/>
                </a:lnTo>
                <a:lnTo>
                  <a:pt x="109804" y="177800"/>
                </a:lnTo>
                <a:lnTo>
                  <a:pt x="106006" y="166370"/>
                </a:lnTo>
                <a:lnTo>
                  <a:pt x="102222" y="160020"/>
                </a:lnTo>
                <a:lnTo>
                  <a:pt x="104114" y="158750"/>
                </a:lnTo>
                <a:lnTo>
                  <a:pt x="119265" y="152400"/>
                </a:lnTo>
                <a:lnTo>
                  <a:pt x="126834" y="152400"/>
                </a:lnTo>
                <a:lnTo>
                  <a:pt x="126834" y="147320"/>
                </a:lnTo>
                <a:close/>
              </a:path>
              <a:path w="242569" h="289559">
                <a:moveTo>
                  <a:pt x="126834" y="152400"/>
                </a:moveTo>
                <a:lnTo>
                  <a:pt x="119265" y="152400"/>
                </a:lnTo>
                <a:lnTo>
                  <a:pt x="119265" y="160020"/>
                </a:lnTo>
                <a:lnTo>
                  <a:pt x="123050" y="175260"/>
                </a:lnTo>
                <a:lnTo>
                  <a:pt x="113588" y="179070"/>
                </a:lnTo>
                <a:lnTo>
                  <a:pt x="211711" y="179070"/>
                </a:lnTo>
                <a:lnTo>
                  <a:pt x="212026" y="177800"/>
                </a:lnTo>
                <a:lnTo>
                  <a:pt x="209755" y="173990"/>
                </a:lnTo>
                <a:lnTo>
                  <a:pt x="128727" y="173990"/>
                </a:lnTo>
                <a:lnTo>
                  <a:pt x="128727" y="166370"/>
                </a:lnTo>
                <a:lnTo>
                  <a:pt x="126834" y="158750"/>
                </a:lnTo>
                <a:lnTo>
                  <a:pt x="126834" y="152400"/>
                </a:lnTo>
                <a:close/>
              </a:path>
              <a:path w="242569" h="289559">
                <a:moveTo>
                  <a:pt x="153339" y="138430"/>
                </a:moveTo>
                <a:lnTo>
                  <a:pt x="143878" y="138430"/>
                </a:lnTo>
                <a:lnTo>
                  <a:pt x="143907" y="151130"/>
                </a:lnTo>
                <a:lnTo>
                  <a:pt x="141274" y="162560"/>
                </a:lnTo>
                <a:lnTo>
                  <a:pt x="136155" y="170180"/>
                </a:lnTo>
                <a:lnTo>
                  <a:pt x="128727" y="173990"/>
                </a:lnTo>
                <a:lnTo>
                  <a:pt x="209755" y="173990"/>
                </a:lnTo>
                <a:lnTo>
                  <a:pt x="208241" y="171450"/>
                </a:lnTo>
                <a:lnTo>
                  <a:pt x="205718" y="170180"/>
                </a:lnTo>
                <a:lnTo>
                  <a:pt x="151447" y="170180"/>
                </a:lnTo>
                <a:lnTo>
                  <a:pt x="151447" y="167640"/>
                </a:lnTo>
                <a:lnTo>
                  <a:pt x="149555" y="167640"/>
                </a:lnTo>
                <a:lnTo>
                  <a:pt x="153339" y="156210"/>
                </a:lnTo>
                <a:lnTo>
                  <a:pt x="153339" y="138430"/>
                </a:lnTo>
                <a:close/>
              </a:path>
              <a:path w="242569" h="289559">
                <a:moveTo>
                  <a:pt x="208241" y="134620"/>
                </a:moveTo>
                <a:lnTo>
                  <a:pt x="179844" y="134620"/>
                </a:lnTo>
                <a:lnTo>
                  <a:pt x="183629" y="138430"/>
                </a:lnTo>
                <a:lnTo>
                  <a:pt x="179844" y="143510"/>
                </a:lnTo>
                <a:lnTo>
                  <a:pt x="153339" y="170180"/>
                </a:lnTo>
                <a:lnTo>
                  <a:pt x="205718" y="170180"/>
                </a:lnTo>
                <a:lnTo>
                  <a:pt x="200672" y="167640"/>
                </a:lnTo>
                <a:lnTo>
                  <a:pt x="198780" y="166370"/>
                </a:lnTo>
                <a:lnTo>
                  <a:pt x="194983" y="166370"/>
                </a:lnTo>
                <a:lnTo>
                  <a:pt x="191198" y="163830"/>
                </a:lnTo>
                <a:lnTo>
                  <a:pt x="194983" y="160020"/>
                </a:lnTo>
                <a:lnTo>
                  <a:pt x="196875" y="160020"/>
                </a:lnTo>
                <a:lnTo>
                  <a:pt x="202914" y="157480"/>
                </a:lnTo>
                <a:lnTo>
                  <a:pt x="206821" y="152400"/>
                </a:lnTo>
                <a:lnTo>
                  <a:pt x="208596" y="146050"/>
                </a:lnTo>
                <a:lnTo>
                  <a:pt x="208241" y="139700"/>
                </a:lnTo>
                <a:lnTo>
                  <a:pt x="208241" y="134620"/>
                </a:lnTo>
                <a:close/>
              </a:path>
              <a:path w="242569" h="289559">
                <a:moveTo>
                  <a:pt x="194983" y="83820"/>
                </a:moveTo>
                <a:lnTo>
                  <a:pt x="121157" y="83820"/>
                </a:lnTo>
                <a:lnTo>
                  <a:pt x="114355" y="85090"/>
                </a:lnTo>
                <a:lnTo>
                  <a:pt x="101455" y="86360"/>
                </a:lnTo>
                <a:lnTo>
                  <a:pt x="94653" y="87630"/>
                </a:lnTo>
                <a:lnTo>
                  <a:pt x="92760" y="87630"/>
                </a:lnTo>
                <a:lnTo>
                  <a:pt x="92760" y="88900"/>
                </a:lnTo>
                <a:lnTo>
                  <a:pt x="96545" y="92710"/>
                </a:lnTo>
                <a:lnTo>
                  <a:pt x="102222" y="96520"/>
                </a:lnTo>
                <a:lnTo>
                  <a:pt x="106006" y="97790"/>
                </a:lnTo>
                <a:lnTo>
                  <a:pt x="111696" y="100330"/>
                </a:lnTo>
                <a:lnTo>
                  <a:pt x="124942" y="100330"/>
                </a:lnTo>
                <a:lnTo>
                  <a:pt x="121926" y="107950"/>
                </a:lnTo>
                <a:lnTo>
                  <a:pt x="117846" y="115570"/>
                </a:lnTo>
                <a:lnTo>
                  <a:pt x="115895" y="123190"/>
                </a:lnTo>
                <a:lnTo>
                  <a:pt x="119265" y="132080"/>
                </a:lnTo>
                <a:lnTo>
                  <a:pt x="102222" y="143510"/>
                </a:lnTo>
                <a:lnTo>
                  <a:pt x="132514" y="143510"/>
                </a:lnTo>
                <a:lnTo>
                  <a:pt x="138201" y="139700"/>
                </a:lnTo>
                <a:lnTo>
                  <a:pt x="143878" y="138430"/>
                </a:lnTo>
                <a:lnTo>
                  <a:pt x="153339" y="138430"/>
                </a:lnTo>
                <a:lnTo>
                  <a:pt x="153339" y="134620"/>
                </a:lnTo>
                <a:lnTo>
                  <a:pt x="208241" y="134620"/>
                </a:lnTo>
                <a:lnTo>
                  <a:pt x="208241" y="130810"/>
                </a:lnTo>
                <a:lnTo>
                  <a:pt x="200672" y="127000"/>
                </a:lnTo>
                <a:lnTo>
                  <a:pt x="193090" y="124460"/>
                </a:lnTo>
                <a:lnTo>
                  <a:pt x="188349" y="123190"/>
                </a:lnTo>
                <a:lnTo>
                  <a:pt x="134404" y="123190"/>
                </a:lnTo>
                <a:lnTo>
                  <a:pt x="138201" y="115570"/>
                </a:lnTo>
                <a:lnTo>
                  <a:pt x="140093" y="109220"/>
                </a:lnTo>
                <a:lnTo>
                  <a:pt x="143878" y="101600"/>
                </a:lnTo>
                <a:lnTo>
                  <a:pt x="145770" y="96520"/>
                </a:lnTo>
                <a:lnTo>
                  <a:pt x="147662" y="95250"/>
                </a:lnTo>
                <a:lnTo>
                  <a:pt x="155232" y="95250"/>
                </a:lnTo>
                <a:lnTo>
                  <a:pt x="194983" y="83820"/>
                </a:lnTo>
                <a:close/>
              </a:path>
              <a:path w="242569" h="289559">
                <a:moveTo>
                  <a:pt x="164461" y="119380"/>
                </a:moveTo>
                <a:lnTo>
                  <a:pt x="149699" y="120650"/>
                </a:lnTo>
                <a:lnTo>
                  <a:pt x="134404" y="123190"/>
                </a:lnTo>
                <a:lnTo>
                  <a:pt x="188349" y="123190"/>
                </a:lnTo>
                <a:lnTo>
                  <a:pt x="178866" y="120650"/>
                </a:lnTo>
                <a:lnTo>
                  <a:pt x="164461" y="119380"/>
                </a:lnTo>
                <a:close/>
              </a:path>
              <a:path w="242569" h="289559">
                <a:moveTo>
                  <a:pt x="159016" y="0"/>
                </a:moveTo>
                <a:lnTo>
                  <a:pt x="159016" y="6350"/>
                </a:lnTo>
                <a:lnTo>
                  <a:pt x="134404" y="72390"/>
                </a:lnTo>
                <a:lnTo>
                  <a:pt x="132511" y="80010"/>
                </a:lnTo>
                <a:lnTo>
                  <a:pt x="128727" y="83820"/>
                </a:lnTo>
                <a:lnTo>
                  <a:pt x="198780" y="83820"/>
                </a:lnTo>
                <a:lnTo>
                  <a:pt x="200672" y="80010"/>
                </a:lnTo>
                <a:lnTo>
                  <a:pt x="200672" y="77470"/>
                </a:lnTo>
                <a:lnTo>
                  <a:pt x="151447" y="77470"/>
                </a:lnTo>
                <a:lnTo>
                  <a:pt x="154966" y="62230"/>
                </a:lnTo>
                <a:lnTo>
                  <a:pt x="158308" y="46990"/>
                </a:lnTo>
                <a:lnTo>
                  <a:pt x="163427" y="33020"/>
                </a:lnTo>
                <a:lnTo>
                  <a:pt x="172275" y="21590"/>
                </a:lnTo>
                <a:lnTo>
                  <a:pt x="177952" y="17780"/>
                </a:lnTo>
                <a:lnTo>
                  <a:pt x="174167" y="7620"/>
                </a:lnTo>
                <a:lnTo>
                  <a:pt x="159016" y="0"/>
                </a:lnTo>
                <a:close/>
              </a:path>
              <a:path w="242569" h="289559">
                <a:moveTo>
                  <a:pt x="191198" y="66040"/>
                </a:moveTo>
                <a:lnTo>
                  <a:pt x="185521" y="66040"/>
                </a:lnTo>
                <a:lnTo>
                  <a:pt x="181736" y="68580"/>
                </a:lnTo>
                <a:lnTo>
                  <a:pt x="174343" y="69850"/>
                </a:lnTo>
                <a:lnTo>
                  <a:pt x="158841" y="74930"/>
                </a:lnTo>
                <a:lnTo>
                  <a:pt x="151447" y="77470"/>
                </a:lnTo>
                <a:lnTo>
                  <a:pt x="200672" y="77470"/>
                </a:lnTo>
                <a:lnTo>
                  <a:pt x="200672" y="73660"/>
                </a:lnTo>
                <a:lnTo>
                  <a:pt x="196875" y="69850"/>
                </a:lnTo>
                <a:lnTo>
                  <a:pt x="193090" y="68580"/>
                </a:lnTo>
                <a:lnTo>
                  <a:pt x="191198" y="66040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3795" y="6606540"/>
            <a:ext cx="29209" cy="81280"/>
          </a:xfrm>
          <a:custGeom>
            <a:avLst/>
            <a:gdLst/>
            <a:ahLst/>
            <a:cxnLst/>
            <a:rect l="l" t="t" r="r" b="b"/>
            <a:pathLst>
              <a:path w="29209" h="81279">
                <a:moveTo>
                  <a:pt x="17145" y="0"/>
                </a:moveTo>
                <a:lnTo>
                  <a:pt x="12858" y="16877"/>
                </a:lnTo>
                <a:lnTo>
                  <a:pt x="8572" y="33578"/>
                </a:lnTo>
                <a:lnTo>
                  <a:pt x="4263" y="50012"/>
                </a:lnTo>
                <a:lnTo>
                  <a:pt x="120" y="65304"/>
                </a:lnTo>
                <a:lnTo>
                  <a:pt x="0" y="69494"/>
                </a:lnTo>
                <a:lnTo>
                  <a:pt x="3810" y="73253"/>
                </a:lnTo>
                <a:lnTo>
                  <a:pt x="11430" y="77012"/>
                </a:lnTo>
                <a:lnTo>
                  <a:pt x="17145" y="80771"/>
                </a:lnTo>
                <a:lnTo>
                  <a:pt x="19734" y="65304"/>
                </a:lnTo>
                <a:lnTo>
                  <a:pt x="22161" y="49927"/>
                </a:lnTo>
                <a:lnTo>
                  <a:pt x="24913" y="35073"/>
                </a:lnTo>
                <a:lnTo>
                  <a:pt x="28575" y="20662"/>
                </a:lnTo>
                <a:lnTo>
                  <a:pt x="29200" y="14262"/>
                </a:lnTo>
                <a:lnTo>
                  <a:pt x="27860" y="8921"/>
                </a:lnTo>
                <a:lnTo>
                  <a:pt x="24020" y="4285"/>
                </a:lnTo>
                <a:lnTo>
                  <a:pt x="17145" y="0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16469" y="6469379"/>
            <a:ext cx="157604" cy="13868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02663" y="6445138"/>
            <a:ext cx="181038" cy="18426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209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使用简单的SQ</a:t>
            </a:r>
            <a:r>
              <a:rPr sz="2800" spc="-15" dirty="0"/>
              <a:t>L</a:t>
            </a:r>
            <a:r>
              <a:rPr sz="2800" spc="-5" dirty="0"/>
              <a:t>语句</a:t>
            </a:r>
            <a:endParaRPr sz="2800"/>
          </a:p>
        </p:txBody>
      </p:sp>
      <p:sp>
        <p:nvSpPr>
          <p:cNvPr id="18" name="object 18"/>
          <p:cNvSpPr txBox="1"/>
          <p:nvPr/>
        </p:nvSpPr>
        <p:spPr>
          <a:xfrm>
            <a:off x="575259" y="846835"/>
            <a:ext cx="9882505" cy="2103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创建表空间</a:t>
            </a:r>
            <a:r>
              <a:rPr sz="2400" spc="-5" dirty="0">
                <a:latin typeface="微软雅黑"/>
                <a:cs typeface="微软雅黑"/>
              </a:rPr>
              <a:t>fastspace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b="1" spc="-45" dirty="0">
                <a:solidFill>
                  <a:srgbClr val="C6000A"/>
                </a:solidFill>
                <a:latin typeface="微软雅黑"/>
                <a:cs typeface="微软雅黑"/>
              </a:rPr>
              <a:t>CREATE </a:t>
            </a:r>
            <a:r>
              <a:rPr sz="2000" b="1" spc="-55" dirty="0">
                <a:solidFill>
                  <a:srgbClr val="C6000A"/>
                </a:solidFill>
                <a:latin typeface="微软雅黑"/>
                <a:cs typeface="微软雅黑"/>
              </a:rPr>
              <a:t>TABLESPACE </a:t>
            </a:r>
            <a:r>
              <a:rPr sz="2000" b="1" spc="-30" dirty="0">
                <a:solidFill>
                  <a:srgbClr val="C6000A"/>
                </a:solidFill>
                <a:latin typeface="微软雅黑"/>
                <a:cs typeface="微软雅黑"/>
              </a:rPr>
              <a:t>fastspace </a:t>
            </a:r>
            <a:r>
              <a:rPr sz="2000" b="1" spc="-35" dirty="0">
                <a:solidFill>
                  <a:srgbClr val="C6000A"/>
                </a:solidFill>
                <a:latin typeface="微软雅黑"/>
                <a:cs typeface="微软雅黑"/>
              </a:rPr>
              <a:t>RELATIVE </a:t>
            </a:r>
            <a:r>
              <a:rPr sz="2000" b="1" spc="-50" dirty="0">
                <a:solidFill>
                  <a:srgbClr val="C6000A"/>
                </a:solidFill>
                <a:latin typeface="微软雅黑"/>
                <a:cs typeface="微软雅黑"/>
              </a:rPr>
              <a:t>LOCATION</a:t>
            </a:r>
            <a:r>
              <a:rPr sz="2000" b="1" spc="145" dirty="0">
                <a:solidFill>
                  <a:srgbClr val="C6000A"/>
                </a:solidFill>
                <a:latin typeface="微软雅黑"/>
                <a:cs typeface="微软雅黑"/>
              </a:rPr>
              <a:t> </a:t>
            </a:r>
            <a:r>
              <a:rPr sz="2000" b="1" spc="-30" dirty="0">
                <a:solidFill>
                  <a:srgbClr val="C6000A"/>
                </a:solidFill>
                <a:latin typeface="微软雅黑"/>
                <a:cs typeface="微软雅黑"/>
              </a:rPr>
              <a:t>'tablespace/tablespace_1';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100">
              <a:latin typeface="微软雅黑"/>
              <a:cs typeface="微软雅黑"/>
            </a:endParaRPr>
          </a:p>
          <a:p>
            <a:pPr marL="9398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微软雅黑"/>
                <a:cs typeface="微软雅黑"/>
              </a:rPr>
              <a:t>将“fastspace”表空间的访问权限赋予数据用</a:t>
            </a:r>
            <a:r>
              <a:rPr sz="2400" dirty="0">
                <a:latin typeface="微软雅黑"/>
                <a:cs typeface="微软雅黑"/>
              </a:rPr>
              <a:t>户</a:t>
            </a:r>
            <a:r>
              <a:rPr sz="2400" spc="-5" dirty="0">
                <a:latin typeface="微软雅黑"/>
                <a:cs typeface="微软雅黑"/>
              </a:rPr>
              <a:t>john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93980">
              <a:lnSpc>
                <a:spcPct val="100000"/>
              </a:lnSpc>
              <a:spcBef>
                <a:spcPts val="15"/>
              </a:spcBef>
            </a:pPr>
            <a:r>
              <a:rPr sz="2000" b="1" spc="-15" dirty="0">
                <a:solidFill>
                  <a:srgbClr val="C6000A"/>
                </a:solidFill>
                <a:latin typeface="微软雅黑"/>
                <a:cs typeface="微软雅黑"/>
              </a:rPr>
              <a:t>GRANT </a:t>
            </a:r>
            <a:r>
              <a:rPr sz="2000" b="1" spc="-45" dirty="0">
                <a:solidFill>
                  <a:srgbClr val="C6000A"/>
                </a:solidFill>
                <a:latin typeface="微软雅黑"/>
                <a:cs typeface="微软雅黑"/>
              </a:rPr>
              <a:t>CREATE </a:t>
            </a:r>
            <a:r>
              <a:rPr sz="2000" b="1" spc="-10" dirty="0">
                <a:solidFill>
                  <a:srgbClr val="C6000A"/>
                </a:solidFill>
                <a:latin typeface="微软雅黑"/>
                <a:cs typeface="微软雅黑"/>
              </a:rPr>
              <a:t>ON </a:t>
            </a:r>
            <a:r>
              <a:rPr sz="2000" b="1" spc="-55" dirty="0">
                <a:solidFill>
                  <a:srgbClr val="C6000A"/>
                </a:solidFill>
                <a:latin typeface="微软雅黑"/>
                <a:cs typeface="微软雅黑"/>
              </a:rPr>
              <a:t>TABLESPACE </a:t>
            </a:r>
            <a:r>
              <a:rPr sz="2000" b="1" spc="-30" dirty="0">
                <a:solidFill>
                  <a:srgbClr val="C6000A"/>
                </a:solidFill>
                <a:latin typeface="微软雅黑"/>
                <a:cs typeface="微软雅黑"/>
              </a:rPr>
              <a:t>fastspace </a:t>
            </a:r>
            <a:r>
              <a:rPr sz="2000" b="1" spc="-55" dirty="0">
                <a:solidFill>
                  <a:srgbClr val="C6000A"/>
                </a:solidFill>
                <a:latin typeface="微软雅黑"/>
                <a:cs typeface="微软雅黑"/>
              </a:rPr>
              <a:t>TO</a:t>
            </a:r>
            <a:r>
              <a:rPr sz="2000" b="1" spc="-40" dirty="0">
                <a:solidFill>
                  <a:srgbClr val="C6000A"/>
                </a:solidFill>
                <a:latin typeface="微软雅黑"/>
                <a:cs typeface="微软雅黑"/>
              </a:rPr>
              <a:t> </a:t>
            </a:r>
            <a:r>
              <a:rPr sz="2000" b="1" spc="-20" dirty="0">
                <a:solidFill>
                  <a:srgbClr val="C6000A"/>
                </a:solidFill>
                <a:latin typeface="微软雅黑"/>
                <a:cs typeface="微软雅黑"/>
              </a:rPr>
              <a:t>john;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7595" y="1588008"/>
            <a:ext cx="11431524" cy="60350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7595" y="3040379"/>
            <a:ext cx="9555480" cy="6751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87959" y="3736670"/>
            <a:ext cx="3423920" cy="1003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/>
                <a:cs typeface="微软雅黑"/>
              </a:rPr>
              <a:t>创建表。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2000" b="1" spc="-45" dirty="0">
                <a:solidFill>
                  <a:srgbClr val="C6000A"/>
                </a:solidFill>
                <a:latin typeface="微软雅黑"/>
                <a:cs typeface="微软雅黑"/>
              </a:rPr>
              <a:t>CREATE </a:t>
            </a:r>
            <a:r>
              <a:rPr sz="2000" b="1" spc="-55" dirty="0">
                <a:solidFill>
                  <a:srgbClr val="C6000A"/>
                </a:solidFill>
                <a:latin typeface="微软雅黑"/>
                <a:cs typeface="微软雅黑"/>
              </a:rPr>
              <a:t>TABLE </a:t>
            </a:r>
            <a:r>
              <a:rPr sz="2000" b="1" spc="-25" dirty="0">
                <a:solidFill>
                  <a:srgbClr val="C6000A"/>
                </a:solidFill>
                <a:latin typeface="微软雅黑"/>
                <a:cs typeface="微软雅黑"/>
              </a:rPr>
              <a:t>customer_t1  </a:t>
            </a:r>
            <a:r>
              <a:rPr sz="2000" b="1" dirty="0">
                <a:solidFill>
                  <a:srgbClr val="C6000A"/>
                </a:solidFill>
                <a:latin typeface="微软雅黑"/>
                <a:cs typeface="微软雅黑"/>
              </a:rPr>
              <a:t>(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48</a:t>
            </a:fld>
            <a:endParaRPr spc="-5" dirty="0"/>
          </a:p>
        </p:txBody>
      </p:sp>
      <p:sp>
        <p:nvSpPr>
          <p:cNvPr id="22" name="object 22"/>
          <p:cNvSpPr txBox="1"/>
          <p:nvPr/>
        </p:nvSpPr>
        <p:spPr>
          <a:xfrm>
            <a:off x="3626222" y="4714113"/>
            <a:ext cx="971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30" dirty="0">
                <a:solidFill>
                  <a:srgbClr val="C6000A"/>
                </a:solidFill>
                <a:latin typeface="微软雅黑"/>
                <a:cs typeface="微软雅黑"/>
              </a:rPr>
              <a:t>in</a:t>
            </a:r>
            <a:r>
              <a:rPr sz="2000" b="1" spc="-40" dirty="0">
                <a:solidFill>
                  <a:srgbClr val="C6000A"/>
                </a:solidFill>
                <a:latin typeface="微软雅黑"/>
                <a:cs typeface="微软雅黑"/>
              </a:rPr>
              <a:t>t</a:t>
            </a:r>
            <a:r>
              <a:rPr sz="2000" b="1" spc="-30" dirty="0">
                <a:solidFill>
                  <a:srgbClr val="C6000A"/>
                </a:solidFill>
                <a:latin typeface="微软雅黑"/>
                <a:cs typeface="微软雅黑"/>
              </a:rPr>
              <a:t>e</a:t>
            </a:r>
            <a:r>
              <a:rPr sz="2000" b="1" spc="-25" dirty="0">
                <a:solidFill>
                  <a:srgbClr val="C6000A"/>
                </a:solidFill>
                <a:latin typeface="微软雅黑"/>
                <a:cs typeface="微软雅黑"/>
              </a:rPr>
              <a:t>g</a:t>
            </a:r>
            <a:r>
              <a:rPr sz="2000" b="1" spc="-30" dirty="0">
                <a:solidFill>
                  <a:srgbClr val="C6000A"/>
                </a:solidFill>
                <a:latin typeface="微软雅黑"/>
                <a:cs typeface="微软雅黑"/>
              </a:rPr>
              <a:t>e</a:t>
            </a:r>
            <a:r>
              <a:rPr sz="2000" b="1" spc="-190" dirty="0">
                <a:solidFill>
                  <a:srgbClr val="C6000A"/>
                </a:solidFill>
                <a:latin typeface="微软雅黑"/>
                <a:cs typeface="微软雅黑"/>
              </a:rPr>
              <a:t>r</a:t>
            </a:r>
            <a:r>
              <a:rPr sz="2000" b="1" dirty="0">
                <a:solidFill>
                  <a:srgbClr val="C6000A"/>
                </a:solidFill>
                <a:latin typeface="微软雅黑"/>
                <a:cs typeface="微软雅黑"/>
              </a:rPr>
              <a:t>,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9391" y="4714113"/>
            <a:ext cx="182308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b="1" spc="-30" dirty="0">
                <a:solidFill>
                  <a:srgbClr val="C6000A"/>
                </a:solidFill>
                <a:latin typeface="微软雅黑"/>
                <a:cs typeface="微软雅黑"/>
              </a:rPr>
              <a:t>c</a:t>
            </a:r>
            <a:r>
              <a:rPr sz="2000" b="1" spc="-25" dirty="0">
                <a:solidFill>
                  <a:srgbClr val="C6000A"/>
                </a:solidFill>
                <a:latin typeface="微软雅黑"/>
                <a:cs typeface="微软雅黑"/>
              </a:rPr>
              <a:t>_</a:t>
            </a:r>
            <a:r>
              <a:rPr sz="2000" b="1" spc="-30" dirty="0">
                <a:solidFill>
                  <a:srgbClr val="C6000A"/>
                </a:solidFill>
                <a:latin typeface="微软雅黑"/>
                <a:cs typeface="微软雅黑"/>
              </a:rPr>
              <a:t>cus</a:t>
            </a:r>
            <a:r>
              <a:rPr sz="2000" b="1" spc="-40" dirty="0">
                <a:solidFill>
                  <a:srgbClr val="C6000A"/>
                </a:solidFill>
                <a:latin typeface="微软雅黑"/>
                <a:cs typeface="微软雅黑"/>
              </a:rPr>
              <a:t>t</a:t>
            </a:r>
            <a:r>
              <a:rPr sz="2000" b="1" spc="-25" dirty="0">
                <a:solidFill>
                  <a:srgbClr val="C6000A"/>
                </a:solidFill>
                <a:latin typeface="微软雅黑"/>
                <a:cs typeface="微软雅黑"/>
              </a:rPr>
              <a:t>om</a:t>
            </a:r>
            <a:r>
              <a:rPr sz="2000" b="1" spc="-30" dirty="0">
                <a:solidFill>
                  <a:srgbClr val="C6000A"/>
                </a:solidFill>
                <a:latin typeface="微软雅黑"/>
                <a:cs typeface="微软雅黑"/>
              </a:rPr>
              <a:t>e</a:t>
            </a:r>
            <a:r>
              <a:rPr sz="2000" b="1" spc="-25" dirty="0">
                <a:solidFill>
                  <a:srgbClr val="C6000A"/>
                </a:solidFill>
                <a:latin typeface="微软雅黑"/>
                <a:cs typeface="微软雅黑"/>
              </a:rPr>
              <a:t>r_</a:t>
            </a:r>
            <a:r>
              <a:rPr sz="2000" b="1" spc="-30" dirty="0">
                <a:solidFill>
                  <a:srgbClr val="C6000A"/>
                </a:solidFill>
                <a:latin typeface="微软雅黑"/>
                <a:cs typeface="微软雅黑"/>
              </a:rPr>
              <a:t>s</a:t>
            </a:r>
            <a:r>
              <a:rPr sz="2000" b="1" dirty="0">
                <a:solidFill>
                  <a:srgbClr val="C6000A"/>
                </a:solidFill>
                <a:latin typeface="微软雅黑"/>
                <a:cs typeface="微软雅黑"/>
              </a:rPr>
              <a:t>k  </a:t>
            </a:r>
            <a:r>
              <a:rPr sz="2000" b="1" spc="-25" dirty="0">
                <a:solidFill>
                  <a:srgbClr val="C6000A"/>
                </a:solidFill>
                <a:latin typeface="微软雅黑"/>
                <a:cs typeface="微软雅黑"/>
              </a:rPr>
              <a:t>c_customer_id  c_first_name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55192" y="5018608"/>
            <a:ext cx="11226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C6000A"/>
                </a:solidFill>
                <a:latin typeface="微软雅黑"/>
                <a:cs typeface="微软雅黑"/>
              </a:rPr>
              <a:t>char(5),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solidFill>
                  <a:srgbClr val="C6000A"/>
                </a:solidFill>
                <a:latin typeface="微软雅黑"/>
                <a:cs typeface="微软雅黑"/>
              </a:rPr>
              <a:t>char(6),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0783" y="5628843"/>
            <a:ext cx="113315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100"/>
              </a:spcBef>
              <a:tabLst>
                <a:tab pos="3046095" algn="l"/>
              </a:tabLst>
            </a:pPr>
            <a:r>
              <a:rPr sz="2000" b="1" spc="-25" dirty="0">
                <a:solidFill>
                  <a:srgbClr val="C6000A"/>
                </a:solidFill>
                <a:latin typeface="微软雅黑"/>
                <a:cs typeface="微软雅黑"/>
              </a:rPr>
              <a:t>c_last_name	char(8)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1318240" algn="l"/>
              </a:tabLst>
            </a:pPr>
            <a:r>
              <a:rPr sz="2000" b="1" u="sng" dirty="0">
                <a:solidFill>
                  <a:srgbClr val="C6000A"/>
                </a:solidFill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 </a:t>
            </a:r>
            <a:r>
              <a:rPr sz="2000" b="1" u="sng" spc="-55" dirty="0">
                <a:solidFill>
                  <a:srgbClr val="C6000A"/>
                </a:solidFill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 </a:t>
            </a:r>
            <a:r>
              <a:rPr sz="2000" b="1" u="sng" spc="-15" dirty="0">
                <a:solidFill>
                  <a:srgbClr val="C6000A"/>
                </a:solidFill>
                <a:uFill>
                  <a:solidFill>
                    <a:srgbClr val="BEBEBE"/>
                  </a:solidFill>
                </a:uFill>
                <a:latin typeface="微软雅黑"/>
                <a:cs typeface="微软雅黑"/>
              </a:rPr>
              <a:t>);	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209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使用简单的SQ</a:t>
            </a:r>
            <a:r>
              <a:rPr sz="2800" spc="-15" dirty="0"/>
              <a:t>L</a:t>
            </a:r>
            <a:r>
              <a:rPr sz="2800" spc="-5" dirty="0"/>
              <a:t>语句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577595" y="1013460"/>
            <a:ext cx="4668012" cy="1493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7595" y="3584447"/>
            <a:ext cx="10917936" cy="417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7595" y="4570476"/>
            <a:ext cx="9293352" cy="11826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6640" y="2529078"/>
            <a:ext cx="9065260" cy="19392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向表中插入单行数据。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b="1" spc="-10" dirty="0">
                <a:solidFill>
                  <a:srgbClr val="C00000"/>
                </a:solidFill>
                <a:latin typeface="微软雅黑"/>
                <a:cs typeface="微软雅黑"/>
              </a:rPr>
              <a:t>INSERT </a:t>
            </a:r>
            <a:r>
              <a:rPr sz="2000" b="1" spc="-25" dirty="0">
                <a:solidFill>
                  <a:srgbClr val="C00000"/>
                </a:solidFill>
                <a:latin typeface="微软雅黑"/>
                <a:cs typeface="微软雅黑"/>
              </a:rPr>
              <a:t>INTO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customer_t1(c_customer_sk, c_customer_id,</a:t>
            </a:r>
            <a:r>
              <a:rPr sz="2000" b="1" spc="9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c_first_name)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solidFill>
                  <a:srgbClr val="C00000"/>
                </a:solidFill>
                <a:latin typeface="微软雅黑"/>
                <a:cs typeface="微软雅黑"/>
              </a:rPr>
              <a:t>VALUES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(3769, </a:t>
            </a:r>
            <a:r>
              <a:rPr sz="2000" b="1" spc="-25" dirty="0">
                <a:solidFill>
                  <a:srgbClr val="C00000"/>
                </a:solidFill>
                <a:latin typeface="微软雅黑"/>
                <a:cs typeface="微软雅黑"/>
              </a:rPr>
              <a:t>'hello',</a:t>
            </a:r>
            <a:r>
              <a:rPr sz="2000" b="1" spc="-4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spc="-20" dirty="0">
                <a:solidFill>
                  <a:srgbClr val="C00000"/>
                </a:solidFill>
                <a:latin typeface="微软雅黑"/>
                <a:cs typeface="微软雅黑"/>
              </a:rPr>
              <a:t>'Grace');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向表中插入多行数据。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49</a:t>
            </a:fld>
            <a:endParaRPr spc="-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209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使用简单的SQ</a:t>
            </a:r>
            <a:r>
              <a:rPr sz="2800" spc="-15" dirty="0"/>
              <a:t>L</a:t>
            </a:r>
            <a:r>
              <a:rPr sz="2800" spc="-5" dirty="0"/>
              <a:t>语句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933450"/>
            <a:ext cx="9331325" cy="100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更新表中数据。</a:t>
            </a:r>
            <a:endParaRPr sz="24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15"/>
              </a:spcBef>
            </a:pPr>
            <a:r>
              <a:rPr sz="2000" b="1" spc="-35" dirty="0">
                <a:solidFill>
                  <a:srgbClr val="C00000"/>
                </a:solidFill>
                <a:latin typeface="微软雅黑"/>
                <a:cs typeface="微软雅黑"/>
              </a:rPr>
              <a:t>UPDATE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customer_t1 SET c_customer_sk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= 9876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WHERE c_customer_sk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=  9527;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1964435"/>
            <a:ext cx="8718804" cy="7101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56640" y="2754629"/>
            <a:ext cx="6611620" cy="668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使用系统表pg_tables查询数据库所有表的信息。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b="1" spc="-25" dirty="0">
                <a:solidFill>
                  <a:srgbClr val="C6000A"/>
                </a:solidFill>
                <a:latin typeface="微软雅黑"/>
                <a:cs typeface="微软雅黑"/>
              </a:rPr>
              <a:t>SELECT </a:t>
            </a:r>
            <a:r>
              <a:rPr sz="1800" b="1" dirty="0">
                <a:solidFill>
                  <a:srgbClr val="C6000A"/>
                </a:solidFill>
                <a:latin typeface="微软雅黑"/>
                <a:cs typeface="微软雅黑"/>
              </a:rPr>
              <a:t>* </a:t>
            </a:r>
            <a:r>
              <a:rPr sz="1800" b="1" spc="-25" dirty="0">
                <a:solidFill>
                  <a:srgbClr val="C6000A"/>
                </a:solidFill>
                <a:latin typeface="微软雅黑"/>
                <a:cs typeface="微软雅黑"/>
              </a:rPr>
              <a:t>FROM</a:t>
            </a:r>
            <a:r>
              <a:rPr sz="1800" b="1" spc="-90" dirty="0">
                <a:solidFill>
                  <a:srgbClr val="C6000A"/>
                </a:solidFill>
                <a:latin typeface="微软雅黑"/>
                <a:cs typeface="微软雅黑"/>
              </a:rPr>
              <a:t> </a:t>
            </a:r>
            <a:r>
              <a:rPr sz="1800" b="1" spc="-25" dirty="0">
                <a:solidFill>
                  <a:srgbClr val="C6000A"/>
                </a:solidFill>
                <a:latin typeface="微软雅黑"/>
                <a:cs typeface="微软雅黑"/>
              </a:rPr>
              <a:t>pg_tables;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7595" y="3529584"/>
            <a:ext cx="9945624" cy="24917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50</a:t>
            </a:fld>
            <a:endParaRPr spc="-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209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使用简单的SQ</a:t>
            </a:r>
            <a:r>
              <a:rPr sz="2800" spc="-15" dirty="0"/>
              <a:t>L</a:t>
            </a:r>
            <a:r>
              <a:rPr sz="2800" spc="-5" dirty="0"/>
              <a:t>语句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577595" y="1720595"/>
            <a:ext cx="5462016" cy="556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7595" y="3179064"/>
            <a:ext cx="9317736" cy="5577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56640" y="933450"/>
            <a:ext cx="7585709" cy="376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创</a:t>
            </a:r>
            <a:r>
              <a:rPr sz="2400" spc="-5" dirty="0">
                <a:latin typeface="微软雅黑"/>
                <a:cs typeface="微软雅黑"/>
              </a:rPr>
              <a:t>建schema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b="1" spc="-25" dirty="0">
                <a:solidFill>
                  <a:srgbClr val="C00000"/>
                </a:solidFill>
                <a:latin typeface="微软雅黑"/>
                <a:cs typeface="微软雅黑"/>
              </a:rPr>
              <a:t>CREATE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SCHEMA</a:t>
            </a:r>
            <a:r>
              <a:rPr sz="2000" b="1" spc="-1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myschema;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33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在</a:t>
            </a:r>
            <a:r>
              <a:rPr sz="2400" spc="-5" dirty="0">
                <a:latin typeface="微软雅黑"/>
                <a:cs typeface="微软雅黑"/>
              </a:rPr>
              <a:t>myschema</a:t>
            </a:r>
            <a:r>
              <a:rPr sz="2400" dirty="0">
                <a:latin typeface="微软雅黑"/>
                <a:cs typeface="微软雅黑"/>
              </a:rPr>
              <a:t>下创建mytable表。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b="1" spc="-45" dirty="0">
                <a:solidFill>
                  <a:srgbClr val="C6000A"/>
                </a:solidFill>
                <a:latin typeface="微软雅黑"/>
                <a:cs typeface="微软雅黑"/>
              </a:rPr>
              <a:t>CREATE </a:t>
            </a:r>
            <a:r>
              <a:rPr sz="2000" b="1" spc="-55" dirty="0">
                <a:solidFill>
                  <a:srgbClr val="C6000A"/>
                </a:solidFill>
                <a:latin typeface="微软雅黑"/>
                <a:cs typeface="微软雅黑"/>
              </a:rPr>
              <a:t>TABLE </a:t>
            </a:r>
            <a:r>
              <a:rPr sz="2000" b="1" spc="-25" dirty="0">
                <a:solidFill>
                  <a:srgbClr val="C6000A"/>
                </a:solidFill>
                <a:latin typeface="微软雅黑"/>
                <a:cs typeface="微软雅黑"/>
              </a:rPr>
              <a:t>myschema.mytable(id int, </a:t>
            </a:r>
            <a:r>
              <a:rPr sz="2000" b="1" spc="-20" dirty="0">
                <a:solidFill>
                  <a:srgbClr val="C6000A"/>
                </a:solidFill>
                <a:latin typeface="微软雅黑"/>
                <a:cs typeface="微软雅黑"/>
              </a:rPr>
              <a:t>name</a:t>
            </a:r>
            <a:r>
              <a:rPr sz="2000" b="1" spc="40" dirty="0">
                <a:solidFill>
                  <a:srgbClr val="C6000A"/>
                </a:solidFill>
                <a:latin typeface="微软雅黑"/>
                <a:cs typeface="微软雅黑"/>
              </a:rPr>
              <a:t> </a:t>
            </a:r>
            <a:r>
              <a:rPr sz="2000" b="1" spc="-30" dirty="0">
                <a:solidFill>
                  <a:srgbClr val="C6000A"/>
                </a:solidFill>
                <a:latin typeface="微软雅黑"/>
                <a:cs typeface="微软雅黑"/>
              </a:rPr>
              <a:t>varchar(20));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5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查</a:t>
            </a:r>
            <a:r>
              <a:rPr sz="2400" spc="-5" dirty="0">
                <a:latin typeface="微软雅黑"/>
                <a:cs typeface="微软雅黑"/>
              </a:rPr>
              <a:t>询myschema</a:t>
            </a:r>
            <a:r>
              <a:rPr sz="2400" dirty="0">
                <a:latin typeface="微软雅黑"/>
                <a:cs typeface="微软雅黑"/>
              </a:rPr>
              <a:t>下mytable表的所有数据。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SELECT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* </a:t>
            </a:r>
            <a:r>
              <a:rPr sz="2000" b="1" spc="-10" dirty="0">
                <a:solidFill>
                  <a:srgbClr val="C00000"/>
                </a:solidFill>
                <a:latin typeface="微软雅黑"/>
                <a:cs typeface="微软雅黑"/>
              </a:rPr>
              <a:t>FROM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myschema.mytable;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7595" y="4887467"/>
            <a:ext cx="6057900" cy="1028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51</a:t>
            </a:fld>
            <a:endParaRPr spc="-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209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使用简单的SQ</a:t>
            </a:r>
            <a:r>
              <a:rPr sz="2800" spc="-15" dirty="0"/>
              <a:t>L</a:t>
            </a:r>
            <a:r>
              <a:rPr sz="2800" spc="-5" dirty="0"/>
              <a:t>语句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4206951"/>
            <a:ext cx="6030595" cy="69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/>
                <a:cs typeface="微软雅黑"/>
              </a:rPr>
              <a:t>创建索引。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000" b="1" spc="-45" dirty="0">
                <a:solidFill>
                  <a:srgbClr val="C6000A"/>
                </a:solidFill>
                <a:latin typeface="微软雅黑"/>
                <a:cs typeface="微软雅黑"/>
              </a:rPr>
              <a:t>CREATE </a:t>
            </a:r>
            <a:r>
              <a:rPr sz="2000" b="1" spc="-15" dirty="0">
                <a:solidFill>
                  <a:srgbClr val="C6000A"/>
                </a:solidFill>
                <a:latin typeface="微软雅黑"/>
                <a:cs typeface="微软雅黑"/>
              </a:rPr>
              <a:t>INDEX </a:t>
            </a:r>
            <a:r>
              <a:rPr sz="2000" b="1" spc="-30" dirty="0">
                <a:solidFill>
                  <a:srgbClr val="C6000A"/>
                </a:solidFill>
                <a:latin typeface="微软雅黑"/>
                <a:cs typeface="微软雅黑"/>
              </a:rPr>
              <a:t>cor_all_std_key </a:t>
            </a:r>
            <a:r>
              <a:rPr sz="2000" b="1" spc="-10" dirty="0">
                <a:solidFill>
                  <a:srgbClr val="C6000A"/>
                </a:solidFill>
                <a:latin typeface="微软雅黑"/>
                <a:cs typeface="微软雅黑"/>
              </a:rPr>
              <a:t>ON</a:t>
            </a:r>
            <a:r>
              <a:rPr sz="2000" b="1" spc="-25" dirty="0">
                <a:solidFill>
                  <a:srgbClr val="C6000A"/>
                </a:solidFill>
                <a:latin typeface="微软雅黑"/>
                <a:cs typeface="微软雅黑"/>
              </a:rPr>
              <a:t> score(cor_id);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5077967"/>
            <a:ext cx="5492496" cy="871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56640" y="929385"/>
            <a:ext cx="9684385" cy="2291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创建普通视图。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b="1" spc="-25" dirty="0">
                <a:solidFill>
                  <a:srgbClr val="C00000"/>
                </a:solidFill>
                <a:latin typeface="微软雅黑"/>
                <a:cs typeface="微软雅黑"/>
              </a:rPr>
              <a:t>CREATE </a:t>
            </a:r>
            <a:r>
              <a:rPr sz="2000" b="1" spc="5" dirty="0">
                <a:solidFill>
                  <a:srgbClr val="C00000"/>
                </a:solidFill>
                <a:latin typeface="微软雅黑"/>
                <a:cs typeface="微软雅黑"/>
              </a:rPr>
              <a:t>OR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REPLACE </a:t>
            </a:r>
            <a:r>
              <a:rPr sz="2000" b="1" spc="5" dirty="0">
                <a:solidFill>
                  <a:srgbClr val="C00000"/>
                </a:solidFill>
                <a:latin typeface="微软雅黑"/>
                <a:cs typeface="微软雅黑"/>
              </a:rPr>
              <a:t>VIEW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MyView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AS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SELECT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* </a:t>
            </a:r>
            <a:r>
              <a:rPr sz="2000" b="1" spc="-10" dirty="0">
                <a:solidFill>
                  <a:srgbClr val="C00000"/>
                </a:solidFill>
                <a:latin typeface="微软雅黑"/>
                <a:cs typeface="微软雅黑"/>
              </a:rPr>
              <a:t>FROM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customer_t1</a:t>
            </a:r>
            <a:r>
              <a:rPr sz="2000" b="1" spc="-3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WHERE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c_first_name </a:t>
            </a:r>
            <a:r>
              <a:rPr sz="2000" b="1" spc="-10" dirty="0">
                <a:solidFill>
                  <a:srgbClr val="C00000"/>
                </a:solidFill>
                <a:latin typeface="微软雅黑"/>
                <a:cs typeface="微软雅黑"/>
              </a:rPr>
              <a:t>like</a:t>
            </a:r>
            <a:r>
              <a:rPr sz="2000" b="1" spc="-2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‘G%';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查询普通视图。</a:t>
            </a:r>
            <a:endParaRPr sz="2400">
              <a:latin typeface="微软雅黑"/>
              <a:cs typeface="微软雅黑"/>
            </a:endParaRPr>
          </a:p>
          <a:p>
            <a:pPr marL="88900">
              <a:lnSpc>
                <a:spcPct val="100000"/>
              </a:lnSpc>
              <a:spcBef>
                <a:spcPts val="15"/>
              </a:spcBef>
            </a:pP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SELECT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* </a:t>
            </a:r>
            <a:r>
              <a:rPr sz="2000" b="1" spc="-10" dirty="0">
                <a:solidFill>
                  <a:srgbClr val="C00000"/>
                </a:solidFill>
                <a:latin typeface="微软雅黑"/>
                <a:cs typeface="微软雅黑"/>
              </a:rPr>
              <a:t>FROM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 MyView;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7595" y="1985772"/>
            <a:ext cx="9770364" cy="3977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7595" y="3278123"/>
            <a:ext cx="5772912" cy="9067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52</a:t>
            </a:fld>
            <a:endParaRPr spc="-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209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使用简单的SQ</a:t>
            </a:r>
            <a:r>
              <a:rPr sz="2800" spc="-15" dirty="0"/>
              <a:t>L</a:t>
            </a:r>
            <a:r>
              <a:rPr sz="2800" spc="-5" dirty="0"/>
              <a:t>语句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577595" y="4562855"/>
            <a:ext cx="5274564" cy="16062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6640" y="933450"/>
            <a:ext cx="8729980" cy="3448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创建触发器函数。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b="1" spc="-25" dirty="0">
                <a:solidFill>
                  <a:srgbClr val="C00000"/>
                </a:solidFill>
                <a:latin typeface="微软雅黑"/>
                <a:cs typeface="微软雅黑"/>
              </a:rPr>
              <a:t>CREATE </a:t>
            </a:r>
            <a:r>
              <a:rPr sz="2000" b="1" spc="5" dirty="0">
                <a:solidFill>
                  <a:srgbClr val="C00000"/>
                </a:solidFill>
                <a:latin typeface="微软雅黑"/>
                <a:cs typeface="微软雅黑"/>
              </a:rPr>
              <a:t>OR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REPLACE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FUNCTION func_name()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RETURNS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TRIGGER</a:t>
            </a:r>
            <a:r>
              <a:rPr sz="2000" b="1" spc="-5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AS</a:t>
            </a:r>
            <a:endParaRPr sz="2000">
              <a:latin typeface="微软雅黑"/>
              <a:cs typeface="微软雅黑"/>
            </a:endParaRPr>
          </a:p>
          <a:p>
            <a:pPr marL="12700" marR="7533005">
              <a:lnSpc>
                <a:spcPct val="100000"/>
              </a:lnSpc>
            </a:pP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$$  </a:t>
            </a:r>
            <a:r>
              <a:rPr sz="2000" b="1" spc="5" dirty="0">
                <a:solidFill>
                  <a:srgbClr val="C00000"/>
                </a:solidFill>
                <a:latin typeface="微软雅黑"/>
                <a:cs typeface="微软雅黑"/>
              </a:rPr>
              <a:t>D</a:t>
            </a:r>
            <a:r>
              <a:rPr sz="2000" b="1" spc="-15" dirty="0">
                <a:solidFill>
                  <a:srgbClr val="C00000"/>
                </a:solidFill>
                <a:latin typeface="微软雅黑"/>
                <a:cs typeface="微软雅黑"/>
              </a:rPr>
              <a:t>E</a:t>
            </a:r>
            <a:r>
              <a:rPr sz="2000" b="1" spc="-10" dirty="0">
                <a:solidFill>
                  <a:srgbClr val="C00000"/>
                </a:solidFill>
                <a:latin typeface="微软雅黑"/>
                <a:cs typeface="微软雅黑"/>
              </a:rPr>
              <a:t>C</a:t>
            </a:r>
            <a:r>
              <a:rPr sz="2000" b="1" spc="40" dirty="0">
                <a:solidFill>
                  <a:srgbClr val="C00000"/>
                </a:solidFill>
                <a:latin typeface="微软雅黑"/>
                <a:cs typeface="微软雅黑"/>
              </a:rPr>
              <a:t>L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ARE 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BEGIN</a:t>
            </a:r>
            <a:endParaRPr sz="20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**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函数体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**</a:t>
            </a:r>
            <a:endParaRPr sz="20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RETURN</a:t>
            </a:r>
            <a:r>
              <a:rPr sz="2000" b="1" spc="-2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NEW/OLD;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END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$$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LANGUAGE</a:t>
            </a:r>
            <a:r>
              <a:rPr sz="2000" b="1" spc="-4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PLPGSQL;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975"/>
              </a:spcBef>
            </a:pPr>
            <a:r>
              <a:rPr sz="2400" dirty="0">
                <a:latin typeface="微软雅黑"/>
                <a:cs typeface="微软雅黑"/>
              </a:rPr>
              <a:t>示例：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53</a:t>
            </a:fld>
            <a:endParaRPr spc="-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209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使用简单的SQ</a:t>
            </a:r>
            <a:r>
              <a:rPr sz="2800" spc="-15" dirty="0"/>
              <a:t>L</a:t>
            </a:r>
            <a:r>
              <a:rPr sz="2800" spc="-5" dirty="0"/>
              <a:t>语句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71576" y="933450"/>
            <a:ext cx="4564380" cy="4783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创建</a:t>
            </a:r>
            <a:r>
              <a:rPr sz="2400" spc="-15" dirty="0">
                <a:latin typeface="微软雅黑"/>
                <a:cs typeface="微软雅黑"/>
              </a:rPr>
              <a:t>INSERT</a:t>
            </a:r>
            <a:r>
              <a:rPr sz="2400" dirty="0">
                <a:latin typeface="微软雅黑"/>
                <a:cs typeface="微软雅黑"/>
              </a:rPr>
              <a:t>触发器。</a:t>
            </a:r>
            <a:endParaRPr sz="2400">
              <a:latin typeface="微软雅黑"/>
              <a:cs typeface="微软雅黑"/>
            </a:endParaRPr>
          </a:p>
          <a:p>
            <a:pPr marL="12700" marR="582295">
              <a:lnSpc>
                <a:spcPct val="100000"/>
              </a:lnSpc>
              <a:spcBef>
                <a:spcPts val="15"/>
              </a:spcBef>
            </a:pPr>
            <a:r>
              <a:rPr sz="2000" b="1" spc="-25" dirty="0">
                <a:solidFill>
                  <a:srgbClr val="C00000"/>
                </a:solidFill>
                <a:latin typeface="微软雅黑"/>
                <a:cs typeface="微软雅黑"/>
              </a:rPr>
              <a:t>CREATE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TRIGGER trigger_name 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AFTER </a:t>
            </a:r>
            <a:r>
              <a:rPr sz="2000" b="1" spc="-10" dirty="0">
                <a:solidFill>
                  <a:srgbClr val="C00000"/>
                </a:solidFill>
                <a:latin typeface="微软雅黑"/>
                <a:cs typeface="微软雅黑"/>
              </a:rPr>
              <a:t>INSERT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ON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table_name 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FOR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EACH</a:t>
            </a:r>
            <a:r>
              <a:rPr sz="2000" b="1" spc="-3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微软雅黑"/>
                <a:cs typeface="微软雅黑"/>
              </a:rPr>
              <a:t>ROW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ts val="2390"/>
              </a:lnSpc>
            </a:pP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EXECUTE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PROCEDURE</a:t>
            </a:r>
            <a:r>
              <a:rPr sz="2000" b="1" spc="-7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func_name();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ts val="2870"/>
              </a:lnSpc>
            </a:pPr>
            <a:r>
              <a:rPr sz="2400" dirty="0">
                <a:latin typeface="微软雅黑"/>
                <a:cs typeface="微软雅黑"/>
              </a:rPr>
              <a:t>创建</a:t>
            </a:r>
            <a:r>
              <a:rPr sz="2400" spc="-45" dirty="0">
                <a:latin typeface="微软雅黑"/>
                <a:cs typeface="微软雅黑"/>
              </a:rPr>
              <a:t>UPDATE</a:t>
            </a:r>
            <a:r>
              <a:rPr sz="2400" dirty="0">
                <a:latin typeface="微软雅黑"/>
                <a:cs typeface="微软雅黑"/>
              </a:rPr>
              <a:t>触发器。</a:t>
            </a:r>
            <a:endParaRPr sz="2400">
              <a:latin typeface="微软雅黑"/>
              <a:cs typeface="微软雅黑"/>
            </a:endParaRPr>
          </a:p>
          <a:p>
            <a:pPr marL="12700" marR="573405" algn="just">
              <a:lnSpc>
                <a:spcPct val="100000"/>
              </a:lnSpc>
              <a:spcBef>
                <a:spcPts val="20"/>
              </a:spcBef>
            </a:pPr>
            <a:r>
              <a:rPr sz="2000" b="1" spc="-25" dirty="0">
                <a:solidFill>
                  <a:srgbClr val="C00000"/>
                </a:solidFill>
                <a:latin typeface="微软雅黑"/>
                <a:cs typeface="微软雅黑"/>
              </a:rPr>
              <a:t>CREATE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TRIGGER trigger_name 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AFTER </a:t>
            </a:r>
            <a:r>
              <a:rPr sz="2000" b="1" spc="-35" dirty="0">
                <a:solidFill>
                  <a:srgbClr val="C00000"/>
                </a:solidFill>
                <a:latin typeface="微软雅黑"/>
                <a:cs typeface="微软雅黑"/>
              </a:rPr>
              <a:t>UPDATE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ON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table_name  FOR EACH</a:t>
            </a:r>
            <a:r>
              <a:rPr sz="2000" b="1" spc="-2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微软雅黑"/>
                <a:cs typeface="微软雅黑"/>
              </a:rPr>
              <a:t>ROW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ts val="2390"/>
              </a:lnSpc>
            </a:pP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EXECUTE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PROCEDURE</a:t>
            </a:r>
            <a:r>
              <a:rPr sz="2000" b="1" spc="-7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func_name();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ts val="2870"/>
              </a:lnSpc>
            </a:pPr>
            <a:r>
              <a:rPr sz="2400" dirty="0">
                <a:latin typeface="微软雅黑"/>
                <a:cs typeface="微软雅黑"/>
              </a:rPr>
              <a:t>创建DELETE触发器。</a:t>
            </a:r>
            <a:endParaRPr sz="2400">
              <a:latin typeface="微软雅黑"/>
              <a:cs typeface="微软雅黑"/>
            </a:endParaRPr>
          </a:p>
          <a:p>
            <a:pPr marL="12700" marR="501015">
              <a:lnSpc>
                <a:spcPct val="100000"/>
              </a:lnSpc>
              <a:spcBef>
                <a:spcPts val="15"/>
              </a:spcBef>
            </a:pPr>
            <a:r>
              <a:rPr sz="2000" b="1" spc="-25" dirty="0">
                <a:solidFill>
                  <a:srgbClr val="C00000"/>
                </a:solidFill>
                <a:latin typeface="微软雅黑"/>
                <a:cs typeface="微软雅黑"/>
              </a:rPr>
              <a:t>CREATE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TRIGGER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trigger_name  BEFORE DELETE ON</a:t>
            </a:r>
            <a:r>
              <a:rPr sz="2000" b="1" spc="-11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table_name  FOR EACH</a:t>
            </a:r>
            <a:r>
              <a:rPr sz="2000" b="1" spc="-2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微软雅黑"/>
                <a:cs typeface="微软雅黑"/>
              </a:rPr>
              <a:t>ROW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EXECUTE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PROCEDURE</a:t>
            </a:r>
            <a:r>
              <a:rPr sz="2000" b="1" spc="-7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func_name();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74714" y="933450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示例：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64808" y="1380744"/>
            <a:ext cx="5154168" cy="1109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54</a:t>
            </a:fld>
            <a:endParaRPr spc="-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3209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使用简单的SQ</a:t>
            </a:r>
            <a:r>
              <a:rPr sz="2800" spc="-15" dirty="0"/>
              <a:t>L</a:t>
            </a:r>
            <a:r>
              <a:rPr sz="2800" spc="-5" dirty="0"/>
              <a:t>语句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933450"/>
            <a:ext cx="4728845" cy="411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创建存储过程。</a:t>
            </a:r>
            <a:endParaRPr sz="24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15"/>
              </a:spcBef>
            </a:pPr>
            <a:r>
              <a:rPr sz="2000" b="1" spc="-10" dirty="0">
                <a:solidFill>
                  <a:srgbClr val="C00000"/>
                </a:solidFill>
                <a:latin typeface="微软雅黑"/>
                <a:cs typeface="微软雅黑"/>
              </a:rPr>
              <a:t>create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or replace procedure  procedure_name(var_name</a:t>
            </a:r>
            <a:r>
              <a:rPr sz="2000" b="1" spc="-8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var_type)  </a:t>
            </a:r>
            <a:r>
              <a:rPr sz="2000" b="1" spc="-10" dirty="0">
                <a:solidFill>
                  <a:srgbClr val="C00000"/>
                </a:solidFill>
                <a:latin typeface="微软雅黑"/>
                <a:cs typeface="微软雅黑"/>
              </a:rPr>
              <a:t>as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declare</a:t>
            </a:r>
            <a:endParaRPr sz="2000">
              <a:latin typeface="微软雅黑"/>
              <a:cs typeface="微软雅黑"/>
            </a:endParaRPr>
          </a:p>
          <a:p>
            <a:pPr marL="927100" marR="245110">
              <a:lnSpc>
                <a:spcPct val="100000"/>
              </a:lnSpc>
            </a:pP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**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核心部分要用的变量的声明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**  var_name1 var_type1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:=</a:t>
            </a:r>
            <a:r>
              <a:rPr sz="2000" b="1" spc="-4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0;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begin</a:t>
            </a:r>
            <a:endParaRPr sz="20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**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核心部分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**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end;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ts val="2390"/>
              </a:lnSpc>
            </a:pP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/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ts val="2870"/>
              </a:lnSpc>
            </a:pPr>
            <a:r>
              <a:rPr sz="2400" spc="-5" dirty="0">
                <a:latin typeface="微软雅黑"/>
                <a:cs typeface="微软雅黑"/>
              </a:rPr>
              <a:t>调用存储过程。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call</a:t>
            </a:r>
            <a:r>
              <a:rPr sz="2000" b="1" spc="-1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procedure_name(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参数值）;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07482" y="921511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示例：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62600" y="1391411"/>
            <a:ext cx="6323076" cy="20345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55</a:t>
            </a:fld>
            <a:endParaRPr spc="-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7575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创建并使</a:t>
            </a:r>
            <a:r>
              <a:rPr dirty="0"/>
              <a:t>用</a:t>
            </a:r>
            <a:r>
              <a:rPr spc="-5" dirty="0"/>
              <a:t>IAM</a:t>
            </a:r>
            <a:r>
              <a:rPr dirty="0"/>
              <a:t>帐号</a:t>
            </a:r>
          </a:p>
        </p:txBody>
      </p:sp>
      <p:sp>
        <p:nvSpPr>
          <p:cNvPr id="3" name="object 3"/>
          <p:cNvSpPr/>
          <p:nvPr/>
        </p:nvSpPr>
        <p:spPr>
          <a:xfrm>
            <a:off x="6288023" y="3000755"/>
            <a:ext cx="858519" cy="856615"/>
          </a:xfrm>
          <a:custGeom>
            <a:avLst/>
            <a:gdLst/>
            <a:ahLst/>
            <a:cxnLst/>
            <a:rect l="l" t="t" r="r" b="b"/>
            <a:pathLst>
              <a:path w="858520" h="856614">
                <a:moveTo>
                  <a:pt x="429005" y="0"/>
                </a:moveTo>
                <a:lnTo>
                  <a:pt x="382252" y="2513"/>
                </a:lnTo>
                <a:lnTo>
                  <a:pt x="336959" y="9879"/>
                </a:lnTo>
                <a:lnTo>
                  <a:pt x="293388" y="21835"/>
                </a:lnTo>
                <a:lnTo>
                  <a:pt x="251800" y="38122"/>
                </a:lnTo>
                <a:lnTo>
                  <a:pt x="212456" y="58476"/>
                </a:lnTo>
                <a:lnTo>
                  <a:pt x="175619" y="82637"/>
                </a:lnTo>
                <a:lnTo>
                  <a:pt x="141550" y="110343"/>
                </a:lnTo>
                <a:lnTo>
                  <a:pt x="110509" y="141333"/>
                </a:lnTo>
                <a:lnTo>
                  <a:pt x="82759" y="175345"/>
                </a:lnTo>
                <a:lnTo>
                  <a:pt x="58561" y="212118"/>
                </a:lnTo>
                <a:lnTo>
                  <a:pt x="38176" y="251390"/>
                </a:lnTo>
                <a:lnTo>
                  <a:pt x="21866" y="292900"/>
                </a:lnTo>
                <a:lnTo>
                  <a:pt x="9892" y="336387"/>
                </a:lnTo>
                <a:lnTo>
                  <a:pt x="2516" y="381588"/>
                </a:lnTo>
                <a:lnTo>
                  <a:pt x="0" y="428244"/>
                </a:lnTo>
                <a:lnTo>
                  <a:pt x="2516" y="474899"/>
                </a:lnTo>
                <a:lnTo>
                  <a:pt x="9892" y="520100"/>
                </a:lnTo>
                <a:lnTo>
                  <a:pt x="21866" y="563587"/>
                </a:lnTo>
                <a:lnTo>
                  <a:pt x="38176" y="605097"/>
                </a:lnTo>
                <a:lnTo>
                  <a:pt x="58561" y="644369"/>
                </a:lnTo>
                <a:lnTo>
                  <a:pt x="82759" y="681142"/>
                </a:lnTo>
                <a:lnTo>
                  <a:pt x="110509" y="715154"/>
                </a:lnTo>
                <a:lnTo>
                  <a:pt x="141550" y="746144"/>
                </a:lnTo>
                <a:lnTo>
                  <a:pt x="175619" y="773850"/>
                </a:lnTo>
                <a:lnTo>
                  <a:pt x="212456" y="798011"/>
                </a:lnTo>
                <a:lnTo>
                  <a:pt x="251800" y="818365"/>
                </a:lnTo>
                <a:lnTo>
                  <a:pt x="293388" y="834652"/>
                </a:lnTo>
                <a:lnTo>
                  <a:pt x="336959" y="846608"/>
                </a:lnTo>
                <a:lnTo>
                  <a:pt x="382252" y="853974"/>
                </a:lnTo>
                <a:lnTo>
                  <a:pt x="429005" y="856488"/>
                </a:lnTo>
                <a:lnTo>
                  <a:pt x="475759" y="853974"/>
                </a:lnTo>
                <a:lnTo>
                  <a:pt x="521052" y="846608"/>
                </a:lnTo>
                <a:lnTo>
                  <a:pt x="564623" y="834652"/>
                </a:lnTo>
                <a:lnTo>
                  <a:pt x="606211" y="818365"/>
                </a:lnTo>
                <a:lnTo>
                  <a:pt x="645555" y="798011"/>
                </a:lnTo>
                <a:lnTo>
                  <a:pt x="682392" y="773850"/>
                </a:lnTo>
                <a:lnTo>
                  <a:pt x="716461" y="746144"/>
                </a:lnTo>
                <a:lnTo>
                  <a:pt x="747502" y="715154"/>
                </a:lnTo>
                <a:lnTo>
                  <a:pt x="775252" y="681142"/>
                </a:lnTo>
                <a:lnTo>
                  <a:pt x="799450" y="644369"/>
                </a:lnTo>
                <a:lnTo>
                  <a:pt x="819835" y="605097"/>
                </a:lnTo>
                <a:lnTo>
                  <a:pt x="836145" y="563587"/>
                </a:lnTo>
                <a:lnTo>
                  <a:pt x="848119" y="520100"/>
                </a:lnTo>
                <a:lnTo>
                  <a:pt x="855495" y="474899"/>
                </a:lnTo>
                <a:lnTo>
                  <a:pt x="858011" y="428244"/>
                </a:lnTo>
                <a:lnTo>
                  <a:pt x="855495" y="381588"/>
                </a:lnTo>
                <a:lnTo>
                  <a:pt x="848119" y="336387"/>
                </a:lnTo>
                <a:lnTo>
                  <a:pt x="836145" y="292900"/>
                </a:lnTo>
                <a:lnTo>
                  <a:pt x="819835" y="251390"/>
                </a:lnTo>
                <a:lnTo>
                  <a:pt x="799450" y="212118"/>
                </a:lnTo>
                <a:lnTo>
                  <a:pt x="775252" y="175345"/>
                </a:lnTo>
                <a:lnTo>
                  <a:pt x="747502" y="141333"/>
                </a:lnTo>
                <a:lnTo>
                  <a:pt x="716461" y="110343"/>
                </a:lnTo>
                <a:lnTo>
                  <a:pt x="682392" y="82637"/>
                </a:lnTo>
                <a:lnTo>
                  <a:pt x="645555" y="58476"/>
                </a:lnTo>
                <a:lnTo>
                  <a:pt x="606211" y="38122"/>
                </a:lnTo>
                <a:lnTo>
                  <a:pt x="564623" y="21835"/>
                </a:lnTo>
                <a:lnTo>
                  <a:pt x="521052" y="9879"/>
                </a:lnTo>
                <a:lnTo>
                  <a:pt x="475759" y="2513"/>
                </a:lnTo>
                <a:lnTo>
                  <a:pt x="429005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63106" y="3103244"/>
            <a:ext cx="3098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5</a:t>
            </a:r>
            <a:endParaRPr sz="4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2197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什么是</a:t>
            </a:r>
            <a:r>
              <a:rPr sz="2800" spc="-10" dirty="0"/>
              <a:t>IA</a:t>
            </a:r>
            <a:r>
              <a:rPr sz="2800" spc="-5" dirty="0"/>
              <a:t>M？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964184"/>
            <a:ext cx="1078928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209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111111"/>
                </a:solidFill>
                <a:latin typeface="微软雅黑"/>
                <a:cs typeface="微软雅黑"/>
              </a:rPr>
              <a:t>IA</a:t>
            </a:r>
            <a:r>
              <a:rPr sz="2400" b="1" dirty="0">
                <a:solidFill>
                  <a:srgbClr val="111111"/>
                </a:solidFill>
                <a:latin typeface="微软雅黑"/>
                <a:cs typeface="微软雅黑"/>
              </a:rPr>
              <a:t>M是一个身份管理系统，多</a:t>
            </a:r>
            <a:r>
              <a:rPr sz="2400" b="1" spc="-25" dirty="0">
                <a:solidFill>
                  <a:srgbClr val="111111"/>
                </a:solidFill>
                <a:latin typeface="微软雅黑"/>
                <a:cs typeface="微软雅黑"/>
              </a:rPr>
              <a:t>个</a:t>
            </a:r>
            <a:r>
              <a:rPr sz="2400" b="1" spc="-5" dirty="0">
                <a:solidFill>
                  <a:srgbClr val="111111"/>
                </a:solidFill>
                <a:latin typeface="微软雅黑"/>
                <a:cs typeface="微软雅黑"/>
              </a:rPr>
              <a:t>IA</a:t>
            </a:r>
            <a:r>
              <a:rPr sz="2400" b="1" dirty="0">
                <a:solidFill>
                  <a:srgbClr val="111111"/>
                </a:solidFill>
                <a:latin typeface="微软雅黑"/>
                <a:cs typeface="微软雅黑"/>
              </a:rPr>
              <a:t>M用户依附于一个根账号，并且由根账号决定  </a:t>
            </a:r>
            <a:r>
              <a:rPr sz="2400" b="1" spc="-5" dirty="0">
                <a:solidFill>
                  <a:srgbClr val="111111"/>
                </a:solidFill>
                <a:latin typeface="微软雅黑"/>
                <a:cs typeface="微软雅黑"/>
              </a:rPr>
              <a:t>IAM</a:t>
            </a:r>
            <a:r>
              <a:rPr sz="2400" b="1" dirty="0">
                <a:solidFill>
                  <a:srgbClr val="111111"/>
                </a:solidFill>
                <a:latin typeface="微软雅黑"/>
                <a:cs typeface="微软雅黑"/>
              </a:rPr>
              <a:t>用户的行动能力。</a:t>
            </a:r>
            <a:endParaRPr sz="24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系统默认内置了</a:t>
            </a:r>
            <a:r>
              <a:rPr sz="2400" spc="-5" dirty="0">
                <a:latin typeface="微软雅黑"/>
                <a:cs typeface="微软雅黑"/>
              </a:rPr>
              <a:t>admin</a:t>
            </a:r>
            <a:r>
              <a:rPr sz="2400" dirty="0">
                <a:latin typeface="微软雅黑"/>
                <a:cs typeface="微软雅黑"/>
              </a:rPr>
              <a:t>组，用于拥有帐号所有资源的使用及管理权限。</a:t>
            </a:r>
            <a:r>
              <a:rPr sz="2400" spc="-80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一个组织 </a:t>
            </a:r>
            <a:r>
              <a:rPr sz="2400" spc="-5" dirty="0">
                <a:latin typeface="微软雅黑"/>
                <a:cs typeface="微软雅黑"/>
              </a:rPr>
              <a:t>的管理员需要首先注册并登录华为云。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2814294"/>
            <a:ext cx="3762755" cy="31674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023" y="2639567"/>
            <a:ext cx="3771900" cy="3412490"/>
          </a:xfrm>
          <a:custGeom>
            <a:avLst/>
            <a:gdLst/>
            <a:ahLst/>
            <a:cxnLst/>
            <a:rect l="l" t="t" r="r" b="b"/>
            <a:pathLst>
              <a:path w="3771900" h="3412490">
                <a:moveTo>
                  <a:pt x="0" y="3412236"/>
                </a:moveTo>
                <a:lnTo>
                  <a:pt x="3771900" y="3412236"/>
                </a:lnTo>
                <a:lnTo>
                  <a:pt x="3771900" y="0"/>
                </a:lnTo>
                <a:lnTo>
                  <a:pt x="0" y="0"/>
                </a:lnTo>
                <a:lnTo>
                  <a:pt x="0" y="3412236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57</a:t>
            </a:fld>
            <a:endParaRPr spc="-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4286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创建具有不同权限的用户组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964184"/>
            <a:ext cx="5511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登录成功之后，点击左上角“控制台”。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1618488"/>
            <a:ext cx="4142232" cy="12816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023" y="1613916"/>
            <a:ext cx="4151629" cy="1290955"/>
          </a:xfrm>
          <a:custGeom>
            <a:avLst/>
            <a:gdLst/>
            <a:ahLst/>
            <a:cxnLst/>
            <a:rect l="l" t="t" r="r" b="b"/>
            <a:pathLst>
              <a:path w="4151629" h="1290955">
                <a:moveTo>
                  <a:pt x="0" y="1290827"/>
                </a:moveTo>
                <a:lnTo>
                  <a:pt x="4151376" y="1290827"/>
                </a:lnTo>
                <a:lnTo>
                  <a:pt x="4151376" y="0"/>
                </a:lnTo>
                <a:lnTo>
                  <a:pt x="0" y="0"/>
                </a:lnTo>
                <a:lnTo>
                  <a:pt x="0" y="1290827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6640" y="2951479"/>
            <a:ext cx="7035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点击右上角帐号的下拉菜单中的“统一身份认证”。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7595" y="3421379"/>
            <a:ext cx="2513076" cy="2822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3023" y="3416808"/>
            <a:ext cx="2522220" cy="2832100"/>
          </a:xfrm>
          <a:custGeom>
            <a:avLst/>
            <a:gdLst/>
            <a:ahLst/>
            <a:cxnLst/>
            <a:rect l="l" t="t" r="r" b="b"/>
            <a:pathLst>
              <a:path w="2522220" h="2832100">
                <a:moveTo>
                  <a:pt x="0" y="2831592"/>
                </a:moveTo>
                <a:lnTo>
                  <a:pt x="2522220" y="2831592"/>
                </a:lnTo>
                <a:lnTo>
                  <a:pt x="2522220" y="0"/>
                </a:lnTo>
                <a:lnTo>
                  <a:pt x="0" y="0"/>
                </a:lnTo>
                <a:lnTo>
                  <a:pt x="0" y="2831592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58</a:t>
            </a:fld>
            <a:endParaRPr spc="-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4286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创建具有不同权限的用户组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825753"/>
            <a:ext cx="10311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在统一身份认证服务，左侧导航窗格中，单击“用户组</a:t>
            </a:r>
            <a:r>
              <a:rPr sz="2400" spc="5" dirty="0">
                <a:latin typeface="微软雅黑"/>
                <a:cs typeface="微软雅黑"/>
              </a:rPr>
              <a:t>”</a:t>
            </a:r>
            <a:r>
              <a:rPr sz="2400" spc="-5" dirty="0">
                <a:latin typeface="微软雅黑"/>
                <a:cs typeface="微软雅黑"/>
              </a:rPr>
              <a:t>&gt;</a:t>
            </a:r>
            <a:r>
              <a:rPr sz="2400" dirty="0">
                <a:latin typeface="微软雅黑"/>
                <a:cs typeface="微软雅黑"/>
              </a:rPr>
              <a:t>“创建用户组”。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6640" y="3111500"/>
            <a:ext cx="1099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在“创建用户组”界面，输入“用户组名称”，单击“确定”，完成用户组创建。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7595" y="1342644"/>
            <a:ext cx="7301483" cy="17465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3023" y="1338072"/>
            <a:ext cx="7310755" cy="1755775"/>
          </a:xfrm>
          <a:custGeom>
            <a:avLst/>
            <a:gdLst/>
            <a:ahLst/>
            <a:cxnLst/>
            <a:rect l="l" t="t" r="r" b="b"/>
            <a:pathLst>
              <a:path w="7310755" h="1755775">
                <a:moveTo>
                  <a:pt x="0" y="1755648"/>
                </a:moveTo>
                <a:lnTo>
                  <a:pt x="7310628" y="1755648"/>
                </a:lnTo>
                <a:lnTo>
                  <a:pt x="7310628" y="0"/>
                </a:lnTo>
                <a:lnTo>
                  <a:pt x="0" y="0"/>
                </a:lnTo>
                <a:lnTo>
                  <a:pt x="0" y="1755648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7595" y="3550920"/>
            <a:ext cx="6234683" cy="26365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59</a:t>
            </a:fld>
            <a:endParaRPr spc="-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4286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创建具有不同权限的用户组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75259" y="853185"/>
            <a:ext cx="520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下面是创建好的用户组（作为例子）。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6640" y="3111500"/>
            <a:ext cx="10693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可以在测试人员组的“操作”一栏中，点击“授权”，给测试人员组授权如下。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7595" y="1396856"/>
            <a:ext cx="10847832" cy="15034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3023" y="1316736"/>
            <a:ext cx="10857230" cy="1777364"/>
          </a:xfrm>
          <a:custGeom>
            <a:avLst/>
            <a:gdLst/>
            <a:ahLst/>
            <a:cxnLst/>
            <a:rect l="l" t="t" r="r" b="b"/>
            <a:pathLst>
              <a:path w="10857230" h="1777364">
                <a:moveTo>
                  <a:pt x="0" y="1776983"/>
                </a:moveTo>
                <a:lnTo>
                  <a:pt x="10856976" y="1776983"/>
                </a:lnTo>
                <a:lnTo>
                  <a:pt x="10856976" y="0"/>
                </a:lnTo>
                <a:lnTo>
                  <a:pt x="0" y="0"/>
                </a:lnTo>
                <a:lnTo>
                  <a:pt x="0" y="1776983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2654" y="3872019"/>
            <a:ext cx="11052305" cy="14096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3023" y="3732276"/>
            <a:ext cx="11287125" cy="1592580"/>
          </a:xfrm>
          <a:custGeom>
            <a:avLst/>
            <a:gdLst/>
            <a:ahLst/>
            <a:cxnLst/>
            <a:rect l="l" t="t" r="r" b="b"/>
            <a:pathLst>
              <a:path w="11287125" h="1592579">
                <a:moveTo>
                  <a:pt x="0" y="1592580"/>
                </a:moveTo>
                <a:lnTo>
                  <a:pt x="11286744" y="1592580"/>
                </a:lnTo>
                <a:lnTo>
                  <a:pt x="11286744" y="0"/>
                </a:lnTo>
                <a:lnTo>
                  <a:pt x="0" y="0"/>
                </a:lnTo>
                <a:lnTo>
                  <a:pt x="0" y="1592580"/>
                </a:lnTo>
                <a:close/>
              </a:path>
            </a:pathLst>
          </a:custGeom>
          <a:ln w="9143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60</a:t>
            </a:fld>
            <a:endParaRPr spc="-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4286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创建具有不同权限的用户组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4817109"/>
            <a:ext cx="109982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之后该组织就可以使用管理员帐号，给成员创</a:t>
            </a:r>
            <a:r>
              <a:rPr sz="2400" spc="5" dirty="0">
                <a:latin typeface="微软雅黑"/>
                <a:cs typeface="微软雅黑"/>
              </a:rPr>
              <a:t>建</a:t>
            </a:r>
            <a:r>
              <a:rPr sz="2400" dirty="0">
                <a:latin typeface="微软雅黑"/>
                <a:cs typeface="微软雅黑"/>
              </a:rPr>
              <a:t>IA</a:t>
            </a:r>
            <a:r>
              <a:rPr sz="2400" spc="-5" dirty="0">
                <a:latin typeface="微软雅黑"/>
                <a:cs typeface="微软雅黑"/>
              </a:rPr>
              <a:t>M</a:t>
            </a:r>
            <a:r>
              <a:rPr sz="2400" dirty="0">
                <a:latin typeface="微软雅黑"/>
                <a:cs typeface="微软雅黑"/>
              </a:rPr>
              <a:t>用户并加入用户组，使得他们 拥有独立的用户和密码，可以独立登录华为云平台，并使用他们加入的用户组的权 限范围内的资源。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6640" y="980694"/>
            <a:ext cx="459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同样可以给开发人员组授权如下。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1695" y="1668232"/>
            <a:ext cx="10188704" cy="29327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3023" y="1519427"/>
            <a:ext cx="10252075" cy="3086100"/>
          </a:xfrm>
          <a:custGeom>
            <a:avLst/>
            <a:gdLst/>
            <a:ahLst/>
            <a:cxnLst/>
            <a:rect l="l" t="t" r="r" b="b"/>
            <a:pathLst>
              <a:path w="10252075" h="3086100">
                <a:moveTo>
                  <a:pt x="0" y="3086100"/>
                </a:moveTo>
                <a:lnTo>
                  <a:pt x="10251948" y="3086100"/>
                </a:lnTo>
                <a:lnTo>
                  <a:pt x="10251948" y="0"/>
                </a:lnTo>
                <a:lnTo>
                  <a:pt x="0" y="0"/>
                </a:lnTo>
                <a:lnTo>
                  <a:pt x="0" y="3086100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61</a:t>
            </a:fld>
            <a:endParaRPr spc="-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53936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给成员创建</a:t>
            </a:r>
            <a:r>
              <a:rPr sz="2800" spc="-10" dirty="0"/>
              <a:t>IAM</a:t>
            </a:r>
            <a:r>
              <a:rPr sz="2800" spc="-5" dirty="0"/>
              <a:t>用户并加入用户组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908430"/>
            <a:ext cx="109207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/>
                <a:cs typeface="微软雅黑"/>
              </a:rPr>
              <a:t>在管理员的帐号中</a:t>
            </a:r>
            <a:r>
              <a:rPr sz="2400" dirty="0">
                <a:latin typeface="微软雅黑"/>
                <a:cs typeface="微软雅黑"/>
              </a:rPr>
              <a:t>：在统一身份认证服务，左侧导航窗格中，单击“用户</a:t>
            </a:r>
            <a:r>
              <a:rPr sz="2400" spc="5" dirty="0">
                <a:latin typeface="微软雅黑"/>
                <a:cs typeface="微软雅黑"/>
              </a:rPr>
              <a:t>”</a:t>
            </a:r>
            <a:r>
              <a:rPr sz="2400" spc="-5" dirty="0">
                <a:latin typeface="微软雅黑"/>
                <a:cs typeface="微软雅黑"/>
              </a:rPr>
              <a:t>&gt;</a:t>
            </a:r>
            <a:r>
              <a:rPr sz="2400" dirty="0">
                <a:latin typeface="微软雅黑"/>
                <a:cs typeface="微软雅黑"/>
              </a:rPr>
              <a:t>“创 建用户”。之后配置用户的基本信息。比如创建用</a:t>
            </a:r>
            <a:r>
              <a:rPr sz="2400" spc="5" dirty="0">
                <a:latin typeface="微软雅黑"/>
                <a:cs typeface="微软雅黑"/>
              </a:rPr>
              <a:t>户</a:t>
            </a:r>
            <a:r>
              <a:rPr sz="2400" spc="-5" dirty="0">
                <a:latin typeface="微软雅黑"/>
                <a:cs typeface="微软雅黑"/>
              </a:rPr>
              <a:t>molly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1796795"/>
            <a:ext cx="4899660" cy="49331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62</a:t>
            </a:fld>
            <a:endParaRPr spc="-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53936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给成员创建</a:t>
            </a:r>
            <a:r>
              <a:rPr sz="2800" spc="-10" dirty="0"/>
              <a:t>IAM</a:t>
            </a:r>
            <a:r>
              <a:rPr sz="2800" spc="-5" dirty="0"/>
              <a:t>用户并加入用户组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4766309"/>
            <a:ext cx="105181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以同样的流程创建用户ma</a:t>
            </a:r>
            <a:r>
              <a:rPr sz="2400" spc="100" dirty="0">
                <a:latin typeface="微软雅黑"/>
                <a:cs typeface="微软雅黑"/>
              </a:rPr>
              <a:t>r</a:t>
            </a:r>
            <a:r>
              <a:rPr sz="2400" spc="5" dirty="0">
                <a:latin typeface="微软雅黑"/>
                <a:cs typeface="微软雅黑"/>
              </a:rPr>
              <a:t>y</a:t>
            </a:r>
            <a:r>
              <a:rPr sz="2400" dirty="0">
                <a:latin typeface="微软雅黑"/>
                <a:cs typeface="微软雅黑"/>
              </a:rPr>
              <a:t>。以上管理员使用自己的帐号创建了两</a:t>
            </a:r>
            <a:r>
              <a:rPr sz="2400" spc="5" dirty="0">
                <a:latin typeface="微软雅黑"/>
                <a:cs typeface="微软雅黑"/>
              </a:rPr>
              <a:t>个</a:t>
            </a:r>
            <a:r>
              <a:rPr sz="2400" dirty="0">
                <a:latin typeface="微软雅黑"/>
                <a:cs typeface="微软雅黑"/>
              </a:rPr>
              <a:t>IA</a:t>
            </a:r>
            <a:r>
              <a:rPr sz="2400" spc="-5" dirty="0">
                <a:latin typeface="微软雅黑"/>
                <a:cs typeface="微软雅黑"/>
              </a:rPr>
              <a:t>M</a:t>
            </a:r>
            <a:r>
              <a:rPr sz="2400" dirty="0">
                <a:latin typeface="微软雅黑"/>
                <a:cs typeface="微软雅黑"/>
              </a:rPr>
              <a:t>用户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微软雅黑"/>
                <a:cs typeface="微软雅黑"/>
              </a:rPr>
              <a:t>molly和</a:t>
            </a:r>
            <a:r>
              <a:rPr sz="2400" spc="25" dirty="0">
                <a:latin typeface="微软雅黑"/>
                <a:cs typeface="微软雅黑"/>
              </a:rPr>
              <a:t>mary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6640" y="883411"/>
            <a:ext cx="35706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使mo</a:t>
            </a:r>
            <a:r>
              <a:rPr sz="2400" spc="-10" dirty="0">
                <a:latin typeface="微软雅黑"/>
                <a:cs typeface="微软雅黑"/>
              </a:rPr>
              <a:t>l</a:t>
            </a:r>
            <a:r>
              <a:rPr sz="2400" spc="-5" dirty="0">
                <a:latin typeface="微软雅黑"/>
                <a:cs typeface="微软雅黑"/>
              </a:rPr>
              <a:t>l</a:t>
            </a:r>
            <a:r>
              <a:rPr sz="2400" dirty="0">
                <a:latin typeface="微软雅黑"/>
                <a:cs typeface="微软雅黑"/>
              </a:rPr>
              <a:t>y加入开发人员组。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7595" y="1456944"/>
            <a:ext cx="10142220" cy="3154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3023" y="1452372"/>
            <a:ext cx="10151745" cy="3164205"/>
          </a:xfrm>
          <a:custGeom>
            <a:avLst/>
            <a:gdLst/>
            <a:ahLst/>
            <a:cxnLst/>
            <a:rect l="l" t="t" r="r" b="b"/>
            <a:pathLst>
              <a:path w="10151745" h="3164204">
                <a:moveTo>
                  <a:pt x="0" y="3163823"/>
                </a:moveTo>
                <a:lnTo>
                  <a:pt x="10151364" y="3163823"/>
                </a:lnTo>
                <a:lnTo>
                  <a:pt x="10151364" y="0"/>
                </a:lnTo>
                <a:lnTo>
                  <a:pt x="0" y="0"/>
                </a:lnTo>
                <a:lnTo>
                  <a:pt x="0" y="3163823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4577" y="3638550"/>
            <a:ext cx="1122045" cy="462280"/>
          </a:xfrm>
          <a:custGeom>
            <a:avLst/>
            <a:gdLst/>
            <a:ahLst/>
            <a:cxnLst/>
            <a:rect l="l" t="t" r="r" b="b"/>
            <a:pathLst>
              <a:path w="1122045" h="462279">
                <a:moveTo>
                  <a:pt x="0" y="461772"/>
                </a:moveTo>
                <a:lnTo>
                  <a:pt x="1121663" y="461772"/>
                </a:lnTo>
                <a:lnTo>
                  <a:pt x="1121663" y="0"/>
                </a:lnTo>
                <a:lnTo>
                  <a:pt x="0" y="0"/>
                </a:lnTo>
                <a:lnTo>
                  <a:pt x="0" y="461772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63</a:t>
            </a:fld>
            <a:endParaRPr spc="-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640" y="228092"/>
            <a:ext cx="53936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给成员创建</a:t>
            </a:r>
            <a:r>
              <a:rPr sz="2800" spc="-10" dirty="0"/>
              <a:t>IAM</a:t>
            </a:r>
            <a:r>
              <a:rPr sz="2800" spc="-5" dirty="0"/>
              <a:t>用户并加入用户组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6640" y="883411"/>
            <a:ext cx="109842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之后该组织的开发成员就可以使用</a:t>
            </a:r>
            <a:r>
              <a:rPr sz="2400" spc="-5" dirty="0">
                <a:latin typeface="微软雅黑"/>
                <a:cs typeface="微软雅黑"/>
              </a:rPr>
              <a:t>IAM</a:t>
            </a:r>
            <a:r>
              <a:rPr sz="2400" dirty="0">
                <a:latin typeface="微软雅黑"/>
                <a:cs typeface="微软雅黑"/>
              </a:rPr>
              <a:t>用户</a:t>
            </a:r>
            <a:r>
              <a:rPr sz="2400" spc="-25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molly</a:t>
            </a:r>
            <a:r>
              <a:rPr sz="2400" dirty="0">
                <a:latin typeface="微软雅黑"/>
                <a:cs typeface="微软雅黑"/>
              </a:rPr>
              <a:t> 的身份独立登录华为云平台：  </a:t>
            </a:r>
            <a:r>
              <a:rPr sz="2400" spc="-5" dirty="0">
                <a:latin typeface="微软雅黑"/>
                <a:cs typeface="微软雅黑"/>
              </a:rPr>
              <a:t>首先在登录页面，单击登录下方的</a:t>
            </a:r>
            <a:r>
              <a:rPr sz="2400" dirty="0">
                <a:latin typeface="微软雅黑"/>
                <a:cs typeface="微软雅黑"/>
              </a:rPr>
              <a:t>“IAM</a:t>
            </a:r>
            <a:r>
              <a:rPr sz="2400" spc="-5" dirty="0">
                <a:latin typeface="微软雅黑"/>
                <a:cs typeface="微软雅黑"/>
              </a:rPr>
              <a:t>用户”，在“IAM用户登录”页面，输入 </a:t>
            </a:r>
            <a:r>
              <a:rPr sz="2400" dirty="0">
                <a:latin typeface="微软雅黑"/>
                <a:cs typeface="微软雅黑"/>
              </a:rPr>
              <a:t>“租户名</a:t>
            </a:r>
            <a:r>
              <a:rPr sz="2400" spc="-10" dirty="0">
                <a:latin typeface="微软雅黑"/>
                <a:cs typeface="微软雅黑"/>
              </a:rPr>
              <a:t>/</a:t>
            </a:r>
            <a:r>
              <a:rPr sz="2400" dirty="0">
                <a:latin typeface="微软雅黑"/>
                <a:cs typeface="微软雅黑"/>
              </a:rPr>
              <a:t>原华为云帐号名”、</a:t>
            </a:r>
            <a:r>
              <a:rPr sz="2400" spc="-5" dirty="0">
                <a:latin typeface="微软雅黑"/>
                <a:cs typeface="微软雅黑"/>
              </a:rPr>
              <a:t>“IAM</a:t>
            </a:r>
            <a:r>
              <a:rPr sz="2400" dirty="0">
                <a:latin typeface="微软雅黑"/>
                <a:cs typeface="微软雅黑"/>
              </a:rPr>
              <a:t>用户名”和“密码”，即可登录成功。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595" y="2372500"/>
            <a:ext cx="3360420" cy="36480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023" y="2235707"/>
            <a:ext cx="3369945" cy="3843654"/>
          </a:xfrm>
          <a:custGeom>
            <a:avLst/>
            <a:gdLst/>
            <a:ahLst/>
            <a:cxnLst/>
            <a:rect l="l" t="t" r="r" b="b"/>
            <a:pathLst>
              <a:path w="3369945" h="3843654">
                <a:moveTo>
                  <a:pt x="0" y="3843528"/>
                </a:moveTo>
                <a:lnTo>
                  <a:pt x="3369564" y="3843528"/>
                </a:lnTo>
                <a:lnTo>
                  <a:pt x="3369564" y="0"/>
                </a:lnTo>
                <a:lnTo>
                  <a:pt x="0" y="0"/>
                </a:lnTo>
                <a:lnTo>
                  <a:pt x="0" y="3843528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00955" y="2327446"/>
            <a:ext cx="3843528" cy="37408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96384" y="2235707"/>
            <a:ext cx="3853179" cy="4018915"/>
          </a:xfrm>
          <a:custGeom>
            <a:avLst/>
            <a:gdLst/>
            <a:ahLst/>
            <a:cxnLst/>
            <a:rect l="l" t="t" r="r" b="b"/>
            <a:pathLst>
              <a:path w="3853179" h="4018915">
                <a:moveTo>
                  <a:pt x="0" y="4018788"/>
                </a:moveTo>
                <a:lnTo>
                  <a:pt x="3852671" y="4018788"/>
                </a:lnTo>
                <a:lnTo>
                  <a:pt x="3852671" y="0"/>
                </a:lnTo>
                <a:lnTo>
                  <a:pt x="0" y="0"/>
                </a:lnTo>
                <a:lnTo>
                  <a:pt x="0" y="4018788"/>
                </a:lnTo>
                <a:close/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75628" y="3654297"/>
            <a:ext cx="1625600" cy="1603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微软雅黑"/>
                <a:cs typeface="微软雅黑"/>
              </a:rPr>
              <a:t>管理员的租户名</a:t>
            </a:r>
            <a:endParaRPr sz="1800">
              <a:latin typeface="微软雅黑"/>
              <a:cs typeface="微软雅黑"/>
            </a:endParaRPr>
          </a:p>
          <a:p>
            <a:pPr marL="12700" marR="238125">
              <a:lnSpc>
                <a:spcPts val="5140"/>
              </a:lnSpc>
              <a:spcBef>
                <a:spcPts val="650"/>
              </a:spcBef>
            </a:pPr>
            <a:r>
              <a:rPr sz="1800" dirty="0">
                <a:solidFill>
                  <a:srgbClr val="C00000"/>
                </a:solidFill>
                <a:latin typeface="微软雅黑"/>
                <a:cs typeface="微软雅黑"/>
              </a:rPr>
              <a:t>IAM用户名 IA</a:t>
            </a:r>
            <a:r>
              <a:rPr sz="1800" spc="5" dirty="0">
                <a:solidFill>
                  <a:srgbClr val="C00000"/>
                </a:solidFill>
                <a:latin typeface="微软雅黑"/>
                <a:cs typeface="微软雅黑"/>
              </a:rPr>
              <a:t>M</a:t>
            </a:r>
            <a:r>
              <a:rPr sz="1800" dirty="0">
                <a:solidFill>
                  <a:srgbClr val="C00000"/>
                </a:solidFill>
                <a:latin typeface="微软雅黑"/>
                <a:cs typeface="微软雅黑"/>
              </a:rPr>
              <a:t>用户密码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64</a:t>
            </a:fld>
            <a:endParaRPr spc="-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74256"/>
            <a:ext cx="12192000" cy="6383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578633"/>
            <a:ext cx="12191999" cy="42793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782811"/>
            <a:ext cx="12192000" cy="40751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201923"/>
            <a:ext cx="12192000" cy="3656329"/>
          </a:xfrm>
          <a:custGeom>
            <a:avLst/>
            <a:gdLst/>
            <a:ahLst/>
            <a:cxnLst/>
            <a:rect l="l" t="t" r="r" b="b"/>
            <a:pathLst>
              <a:path w="12192000" h="3656329">
                <a:moveTo>
                  <a:pt x="6096000" y="0"/>
                </a:moveTo>
                <a:lnTo>
                  <a:pt x="6040255" y="53"/>
                </a:lnTo>
                <a:lnTo>
                  <a:pt x="5984585" y="215"/>
                </a:lnTo>
                <a:lnTo>
                  <a:pt x="5928989" y="483"/>
                </a:lnTo>
                <a:lnTo>
                  <a:pt x="5873470" y="859"/>
                </a:lnTo>
                <a:lnTo>
                  <a:pt x="5818027" y="1341"/>
                </a:lnTo>
                <a:lnTo>
                  <a:pt x="5762662" y="1929"/>
                </a:lnTo>
                <a:lnTo>
                  <a:pt x="5707375" y="2624"/>
                </a:lnTo>
                <a:lnTo>
                  <a:pt x="5487026" y="6457"/>
                </a:lnTo>
                <a:lnTo>
                  <a:pt x="4942047" y="23324"/>
                </a:lnTo>
                <a:lnTo>
                  <a:pt x="4406155" y="50368"/>
                </a:lnTo>
                <a:lnTo>
                  <a:pt x="3880184" y="87299"/>
                </a:lnTo>
                <a:lnTo>
                  <a:pt x="3415986" y="128755"/>
                </a:lnTo>
                <a:lnTo>
                  <a:pt x="2961113" y="177778"/>
                </a:lnTo>
                <a:lnTo>
                  <a:pt x="2516173" y="234160"/>
                </a:lnTo>
                <a:lnTo>
                  <a:pt x="2081777" y="297690"/>
                </a:lnTo>
                <a:lnTo>
                  <a:pt x="1704992" y="359993"/>
                </a:lnTo>
                <a:lnTo>
                  <a:pt x="1337448" y="427632"/>
                </a:lnTo>
                <a:lnTo>
                  <a:pt x="979572" y="500460"/>
                </a:lnTo>
                <a:lnTo>
                  <a:pt x="674700" y="568325"/>
                </a:lnTo>
                <a:lnTo>
                  <a:pt x="0" y="741552"/>
                </a:lnTo>
                <a:lnTo>
                  <a:pt x="0" y="3656075"/>
                </a:lnTo>
                <a:lnTo>
                  <a:pt x="12192000" y="3656075"/>
                </a:lnTo>
                <a:lnTo>
                  <a:pt x="12192000" y="741552"/>
                </a:lnTo>
                <a:lnTo>
                  <a:pt x="11517249" y="568325"/>
                </a:lnTo>
                <a:lnTo>
                  <a:pt x="11212385" y="500460"/>
                </a:lnTo>
                <a:lnTo>
                  <a:pt x="10854519" y="427632"/>
                </a:lnTo>
                <a:lnTo>
                  <a:pt x="10486982" y="359993"/>
                </a:lnTo>
                <a:lnTo>
                  <a:pt x="10110203" y="297690"/>
                </a:lnTo>
                <a:lnTo>
                  <a:pt x="9675813" y="234160"/>
                </a:lnTo>
                <a:lnTo>
                  <a:pt x="9230878" y="177778"/>
                </a:lnTo>
                <a:lnTo>
                  <a:pt x="8776008" y="128755"/>
                </a:lnTo>
                <a:lnTo>
                  <a:pt x="8311812" y="87299"/>
                </a:lnTo>
                <a:lnTo>
                  <a:pt x="7785843" y="50368"/>
                </a:lnTo>
                <a:lnTo>
                  <a:pt x="7249951" y="23324"/>
                </a:lnTo>
                <a:lnTo>
                  <a:pt x="6704973" y="6457"/>
                </a:lnTo>
                <a:lnTo>
                  <a:pt x="6151744" y="53"/>
                </a:lnTo>
                <a:lnTo>
                  <a:pt x="6096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09977" y="5296661"/>
            <a:ext cx="7974965" cy="0"/>
          </a:xfrm>
          <a:custGeom>
            <a:avLst/>
            <a:gdLst/>
            <a:ahLst/>
            <a:cxnLst/>
            <a:rect l="l" t="t" r="r" b="b"/>
            <a:pathLst>
              <a:path w="7974965">
                <a:moveTo>
                  <a:pt x="0" y="0"/>
                </a:moveTo>
                <a:lnTo>
                  <a:pt x="7974965" y="0"/>
                </a:lnTo>
              </a:path>
            </a:pathLst>
          </a:custGeom>
          <a:ln w="38100">
            <a:solidFill>
              <a:srgbClr val="006C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66388" y="944880"/>
            <a:ext cx="4511040" cy="12618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18312" y="6287515"/>
            <a:ext cx="17024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60" dirty="0">
                <a:solidFill>
                  <a:srgbClr val="A1A1A1"/>
                </a:solidFill>
                <a:latin typeface="微软雅黑"/>
                <a:cs typeface="微软雅黑"/>
              </a:rPr>
              <a:t>BIT </a:t>
            </a:r>
            <a:r>
              <a:rPr sz="1400" b="1" dirty="0">
                <a:solidFill>
                  <a:srgbClr val="A1A1A1"/>
                </a:solidFill>
                <a:latin typeface="微软雅黑"/>
                <a:cs typeface="微软雅黑"/>
              </a:rPr>
              <a:t>| </a:t>
            </a:r>
            <a:r>
              <a:rPr sz="1400" b="1" spc="70" dirty="0">
                <a:solidFill>
                  <a:srgbClr val="A1A1A1"/>
                </a:solidFill>
                <a:latin typeface="微软雅黑"/>
                <a:cs typeface="微软雅黑"/>
              </a:rPr>
              <a:t>SINCE</a:t>
            </a:r>
            <a:r>
              <a:rPr sz="1400" b="1" spc="65" dirty="0">
                <a:solidFill>
                  <a:srgbClr val="A1A1A1"/>
                </a:solidFill>
                <a:latin typeface="微软雅黑"/>
                <a:cs typeface="微软雅黑"/>
              </a:rPr>
              <a:t> </a:t>
            </a:r>
            <a:r>
              <a:rPr sz="1400" b="1" spc="70" dirty="0">
                <a:solidFill>
                  <a:srgbClr val="A1A1A1"/>
                </a:solidFill>
                <a:latin typeface="微软雅黑"/>
                <a:cs typeface="微软雅黑"/>
              </a:rPr>
              <a:t>1940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594592" y="6323838"/>
            <a:ext cx="153924" cy="1714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814047" y="6351395"/>
            <a:ext cx="85552" cy="1286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216640" y="6310884"/>
            <a:ext cx="156971" cy="19354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434571" y="6364223"/>
            <a:ext cx="96011" cy="10058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271759" y="6308852"/>
            <a:ext cx="517556" cy="19862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867643" y="6350129"/>
            <a:ext cx="126491" cy="12534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838702" y="3921709"/>
            <a:ext cx="440753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70" dirty="0">
                <a:latin typeface="微软雅黑"/>
                <a:cs typeface="微软雅黑"/>
              </a:rPr>
              <a:t>Thank</a:t>
            </a:r>
            <a:r>
              <a:rPr sz="6000" b="1" spc="125" dirty="0">
                <a:latin typeface="微软雅黑"/>
                <a:cs typeface="微软雅黑"/>
              </a:rPr>
              <a:t> </a:t>
            </a:r>
            <a:r>
              <a:rPr sz="6000" b="1" spc="50" dirty="0">
                <a:latin typeface="微软雅黑"/>
                <a:cs typeface="微软雅黑"/>
              </a:rPr>
              <a:t>you!</a:t>
            </a:r>
            <a:endParaRPr sz="6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2417</Words>
  <Application>Microsoft Office PowerPoint</Application>
  <PresentationFormat>宽屏</PresentationFormat>
  <Paragraphs>390</Paragraphs>
  <Slides>65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2" baseType="lpstr">
      <vt:lpstr>MS Gothic</vt:lpstr>
      <vt:lpstr>微软雅黑</vt:lpstr>
      <vt:lpstr>Arial</vt:lpstr>
      <vt:lpstr>Calibri</vt:lpstr>
      <vt:lpstr>Century Gothic</vt:lpstr>
      <vt:lpstr>Times New Roman</vt:lpstr>
      <vt:lpstr>Office Theme</vt:lpstr>
      <vt:lpstr>◁ BIT ▷</vt:lpstr>
      <vt:lpstr>PowerPoint 演示文稿</vt:lpstr>
      <vt:lpstr>购买弹性云服务器ECS</vt:lpstr>
      <vt:lpstr>购买弹性云服务器ECS</vt:lpstr>
      <vt:lpstr>购买弹性云服务器ECS</vt:lpstr>
      <vt:lpstr>购买弹性云服务器ECS</vt:lpstr>
      <vt:lpstr>购买弹性云服务器ECS</vt:lpstr>
      <vt:lpstr>购买弹性云服务器ECS</vt:lpstr>
      <vt:lpstr>购买弹性云服务器ECS</vt:lpstr>
      <vt:lpstr>PowerPoint 演示文稿</vt:lpstr>
      <vt:lpstr>购买弹性云服务器ECS</vt:lpstr>
      <vt:lpstr>PowerPoint 演示文稿</vt:lpstr>
      <vt:lpstr>购买弹性云服务器ECS</vt:lpstr>
      <vt:lpstr>安装openGauss数据库</vt:lpstr>
      <vt:lpstr>PowerPoint 演示文稿</vt:lpstr>
      <vt:lpstr>使用“CloudShell登录”连接ECS</vt:lpstr>
      <vt:lpstr>使用“CloudShell登录”连接ECS</vt:lpstr>
      <vt:lpstr>修改操作系统配置</vt:lpstr>
      <vt:lpstr>修改操作系统配置</vt:lpstr>
      <vt:lpstr>下载数据库安装包</vt:lpstr>
      <vt:lpstr>创建XML配置文件</vt:lpstr>
      <vt:lpstr>创建XML配置文件</vt:lpstr>
      <vt:lpstr>创建XML配置文件</vt:lpstr>
      <vt:lpstr>创建XML配置文件</vt:lpstr>
      <vt:lpstr>初始化安装环境</vt:lpstr>
      <vt:lpstr>初始化安装环境</vt:lpstr>
      <vt:lpstr>初始化安装环境</vt:lpstr>
      <vt:lpstr>初始化安装环境</vt:lpstr>
      <vt:lpstr>初始化安装环境</vt:lpstr>
      <vt:lpstr>初始化安装环境</vt:lpstr>
      <vt:lpstr>初始化安装环境</vt:lpstr>
      <vt:lpstr>执行安装openGauss</vt:lpstr>
      <vt:lpstr>执行安装openGauss</vt:lpstr>
      <vt:lpstr>openGauss数据库的简单使用</vt:lpstr>
      <vt:lpstr>openGauss数据库的简单使用</vt:lpstr>
      <vt:lpstr>openGauss数据库的简单使用</vt:lpstr>
      <vt:lpstr>使用工具连接ECS</vt:lpstr>
      <vt:lpstr>PowerPoint 演示文稿</vt:lpstr>
      <vt:lpstr>使用Data Studio连接ECS</vt:lpstr>
      <vt:lpstr>使用Data Studio连接ECS</vt:lpstr>
      <vt:lpstr>使用Data Studio连接ECS</vt:lpstr>
      <vt:lpstr>使用Data Studio连接ECS</vt:lpstr>
      <vt:lpstr>使用Data Studio连接ECS</vt:lpstr>
      <vt:lpstr>使用Data Studio连接ECS</vt:lpstr>
      <vt:lpstr>PowerPoint 演示文稿</vt:lpstr>
      <vt:lpstr>使用putty连接ECS</vt:lpstr>
      <vt:lpstr>使用简单的SQL语句</vt:lpstr>
      <vt:lpstr>使用简单的SQL语句</vt:lpstr>
      <vt:lpstr>使用简单的SQL语句</vt:lpstr>
      <vt:lpstr>使用简单的SQL语句</vt:lpstr>
      <vt:lpstr>使用简单的SQL语句</vt:lpstr>
      <vt:lpstr>使用简单的SQL语句</vt:lpstr>
      <vt:lpstr>使用简单的SQL语句</vt:lpstr>
      <vt:lpstr>使用简单的SQL语句</vt:lpstr>
      <vt:lpstr>使用简单的SQL语句</vt:lpstr>
      <vt:lpstr>创建并使用IAM帐号</vt:lpstr>
      <vt:lpstr>什么是IAM？</vt:lpstr>
      <vt:lpstr>创建具有不同权限的用户组</vt:lpstr>
      <vt:lpstr>创建具有不同权限的用户组</vt:lpstr>
      <vt:lpstr>创建具有不同权限的用户组</vt:lpstr>
      <vt:lpstr>创建具有不同权限的用户组</vt:lpstr>
      <vt:lpstr>给成员创建IAM用户并加入用户组</vt:lpstr>
      <vt:lpstr>给成员创建IAM用户并加入用户组</vt:lpstr>
      <vt:lpstr>给成员创建IAM用户并加入用户组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北京理工大学 毕业设计论文答辩模板</dc:title>
  <dc:creator>兴鹏 司</dc:creator>
  <cp:lastModifiedBy>- Vel</cp:lastModifiedBy>
  <cp:revision>1</cp:revision>
  <dcterms:created xsi:type="dcterms:W3CDTF">2024-04-17T02:46:38Z</dcterms:created>
  <dcterms:modified xsi:type="dcterms:W3CDTF">2024-04-17T03:05:01Z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2024-04-17T00:00:00Z</vt:filetime>
  </property>
</Properties>
</file>
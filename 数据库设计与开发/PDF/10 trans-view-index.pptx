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43:51.8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35,'0'-1,"0"-1,1 1,-1 0,0 0,1-1,-1 1,1 0,-1 0,1-1,0 1,-1 0,1 0,0 0,0 0,0 0,0 0,0 0,0 0,0 1,0-1,0 0,0 1,0-1,1 0,-1 1,0-1,0 1,1 0,0-1,6-1,1 1,-1 0,12-1,-16 2,18 0,0 0,0 2,38 7,66 23,-38-8,-3 1,-52-13,58 10,24-3,164 24,1-21,209-22,-196-2,675 2,-929-1,-1-1,1-2,-1-2,73-20,-66 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43:54.7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1 211,'262'1,"297"-3,-181-21,-40 1,-321 21,328 2,-339-1,12 1,0 1,0 0,21 7,-34-8,0 1,0-1,-1 1,1 1,-1-1,0 0,1 1,-1 0,0 0,0 0,-1 1,1 0,-1-1,0 1,0 0,4 6,32 81,-33-76,-1-1,-1 1,-1 0,3 21,-4-19,1-1,0 0,9 24,-7-31,0 0,1 0,0-1,0 1,1-1,0-1,1 1,13 10,-9-8,-1 1,0 0,10 13,-16-17,0-1,0 0,1 0,0-1,0 1,0-1,1-1,0 1,0-1,0 0,0-1,1 1,8 1,4 0,0 0,1-2,-1-1,22 1,33-3,-1-3,1-3,135-29,216-82,-357 97,-62 17,87-24,175-78,-106 17,-60 31,-101 56,332-189,-323 184,0-2,14-12,-24 20,-1 0,1-1,0 1,-1-1,1 1,0-1,-1 1,1-1,-1 1,1-1,-1 0,1 1,-1-1,0 0,1 0,-1 1,0-1,0 0,1 0,-1 1,0-1,0 0,0 0,0 0,0 1,0-1,0 0,0 0,0 0,0 1,-1-1,1 0,0 0,0 1,-1-2,-1 0,0 1,0-1,0 1,-1 0,1 0,0 0,0 0,-1 0,1 1,0-1,-4 0,-23-4,0 1,0 2,-37 1,-92 12,136-9,-1108 160,829-112,116-22,-187 54,191-30,-268 83,414-124,-1-2,1-2,-2-1,1-1,-71-2,-59 1,142-1,0 0,0 1,0 2,-40 15,48-15,-1-1,-25 5,42-9,-1-1,1 0,-1 0,1 0,-1 0,1 0,-1 0,1 0,-1 0,1 0,-1 0,1 0,-1 0,1-1,-1 1,1 0,-1 0,1 0,-1-1,1 1,-1 0,1-1,-1 1,-2-4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43:57.1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0,'11'2,"-1"-1,1 1,-1 1,0 0,0 0,0 1,-1 0,17 10,10 4,1-2,47 13,-32-13,-27-8,1 0,0-1,29 2,275 18,-303-26,3 0,-1 1,1 1,45 12,-15-1,0-3,71 4,-1 0,474 53,-330-42,226 4,1-29,-312 11,-15 0,684-12,-783-2,103-17,68-28,65-36,-244 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7:43:58.4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1 248,'0'1,"0"0,0-1,0 1,0 0,0 0,1-1,-1 1,0 0,0-1,1 1,-1-1,1 1,-1 0,0-1,1 1,-1-1,1 1,0-1,-1 1,1-1,-1 0,1 1,0-1,-1 0,1 1,-1-1,1 0,1 1,26 3,-25-4,67 4,119-10,78-25,238-44,92-14,1 27,171 53,-394 44,-325-30,210 31,-119-13,189 4,-330-27,-31 1,-42 5,29 5,5-1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19:31.4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1,'128'3,"177"29,669 67,12-74,-314-12,-54-34,-5-48,-434 46,-107 17,90 2,66 16,-105-4,-75-5,307 22,-297-16,78 21,-93-18,1-2,0-2,70 4,-87-12,-10-1,0 1,-1 1,1 0,0 2,-1 0,23 7,21 8,-31-11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19:34.9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1,'13'0,"0"0,0 1,1 1,-1 0,0 1,-1 0,1 1,0 0,-1 1,20 11,-13-5,18 10,0-1,2-2,74 24,-26-13,-61-19,0-2,1 0,47 7,-11-11,-1-2,1-2,123-18,-137 11,-19 3,0-2,32-9,-29 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19:37.4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0 478,'39'-4,"109"-14,119-17,94-15,49-7,28-8,2 5,-23 11,-31 6,-65 10,-53 6,-59 9,-61 6,-55 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19:58.8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0,'2'0,"0"0,0 1,1-1,-1 0,0 1,0 0,0-1,0 1,0 0,3 2,8 3,77 34,51 20,-3-13,197 39,164 0,724 21,6-111,-905-13,-67-3,142-23,-367 38,63-19,-19 4,369-50,-212 39,93-26,56-9,-26 48,-199 16,1234-12,-1343 14,0 3,0 1,-1 3,0 2,72 22,-72-18,1-1,0-3,1-2,78 1,-91-7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0:54.9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14,'0'-1,"0"1,0-1,0 1,0-1,0 0,1 1,-1-1,0 1,0-1,1 0,-1 1,0-1,1 1,-1-1,1 1,-1-1,1 1,-1 0,1-1,-1 1,1-1,-1 1,1 0,-1-1,1 1,0 0,-1 0,1 0,-1 0,1-1,0 1,-1 0,2 0,23 0,1 5,0 1,-1 1,33 13,47 12,471 71,-120-26,-310-51,2-6,191 2,-221-23,-14 0,113 14,-20-2,-131-10,112 17,-177-18,227 39,-156-30,87-1,-116-6,0 3,60 12,-55-7,85 5,293 9,-388-19,46 14,-54-11,0-1,1-2,33 2,409-6,-208-3,856 2,-1094 0,1-2,0-1,0 0,-1-3,1 0,34-13,-16 0,-26 11,0 0,0 1,0 1,29-4,90 4,-99 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1:00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402 875,'0'-1,"1"0,-1 0,0 1,1-1,-1 0,0 1,1-1,-1 0,1 1,-1-1,1 0,-1 1,1-1,-1 1,1-1,0 1,-1-1,1 1,0-1,-1 1,1 0,0-1,0 1,0 0,-1 0,1 0,0-1,1 1,31-3,-25 2,420-8,-151 7,-95-3,622-10,-352 29,-3-1,600-14,-969 4,99 18,-69-6,491 30,-333-29,93 7,407 33,-746-54,442 36,-2-35,-171-38,-11 1,482 5,243 27,-495 4,-233-11,-116 3,191 18,-191-3,199-13,290-74,-518 60,117-7,-119 14,-116 10,-3 1,0-1,0 0,0-1,0-1,0 1,20-9,-31 11,1 0,-1 0,0-1,1 1,-1 0,1 0,-1 0,0 0,1-1,-1 1,0 0,1 0,-1-1,0 1,1 0,-1-1,0 1,0 0,1-1,-1 1,0 0,0-1,0 1,1 0,-1-1,0 1,0-1,0 1,0 0,0-1,0 1,0-1,0 1,0-1,0 1,0 0,0-1,0 1,0-1,0 1,-1 0,1-1,0 1,0-1,0 1,-1 0,1-1,0 1,0 0,-1-1,-3-3,-1 1,1-1,-1 1,0 0,0 0,0 1,0 0,-6-3,-56-14,34 10,-421-91,-27 30,-1063-64,-15 82,-1201 36,1370 63,943-56,323 2,61 3,-538-34,-6-43,-67-16,63 59,588 37,-352-37,249 22,-131-17,-290-27,487 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1:01.2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0,'4'0,"10"9,7 2,8 4,4-1,4-2,-3 4,-5 1,3-4,8 1,9-2,-2-3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2:40.5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4:20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4120 203,'-919'34,"772"-21,-1121 122,1232-130,7 0,-45 1,63-6,0 0,0-1,1-1,-1 0,0 0,1-1,-18-7,-24-16,-57-37,67 36,-1 3,-77-32,-375-92,437 135,-1 3,-98-3,-120 13,187 2,49-1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9:27.6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0 100,'145'0,"684"-19,7-22,-625 30,-37-1,104-4,1168 34,-983 7,-440-24,12 1,-1 0,52 9,436 50,-120-55,-235-8,1997 2,-2132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9:29.1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47,'4'0,"11"0,27 0,32-5,29-1,22 1,16 1,0 0,-2 2,-21 1,-18 1,-17 0,-22-8,-23-3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9:30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1 346,'206'-9,"0"-7,84-8,2001-30,-1531 56,-678-7,1-3,142-35,-133 22,1 3,0 4,108-1,456-5,415-10,-760 14,-262 12,195-23,-112 11,-73 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8:29:33.7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0,'3'2,"0"-1,0 1,1-1,-1 0,0 0,0-1,1 1,-1-1,5 1,20 2,120 13,81 7,75 7,1233 99,-941-92,-135-9,-294-18,338 32,264 25,-449-44,-182-12,276 25,-267-14,-70-9,82 3,35-16,335-43,-398 25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4094" y="2506344"/>
            <a:ext cx="71158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06879" y="3821557"/>
            <a:ext cx="5730240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3460" y="495299"/>
            <a:ext cx="7117079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840" y="1350783"/>
            <a:ext cx="7742555" cy="276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24" Type="http://schemas.openxmlformats.org/officeDocument/2006/relationships/image" Target="../media/image79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12.png"/><Relationship Id="rId4" Type="http://schemas.openxmlformats.org/officeDocument/2006/relationships/customXml" Target="../ink/ink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3" Type="http://schemas.openxmlformats.org/officeDocument/2006/relationships/image" Target="../media/image115.png"/><Relationship Id="rId21" Type="http://schemas.openxmlformats.org/officeDocument/2006/relationships/image" Target="../media/image133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" Type="http://schemas.openxmlformats.org/officeDocument/2006/relationships/image" Target="../media/image114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21" Type="http://schemas.openxmlformats.org/officeDocument/2006/relationships/image" Target="../media/image154.png"/><Relationship Id="rId34" Type="http://schemas.openxmlformats.org/officeDocument/2006/relationships/image" Target="../media/image167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37" Type="http://schemas.openxmlformats.org/officeDocument/2006/relationships/image" Target="../media/image170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36" Type="http://schemas.openxmlformats.org/officeDocument/2006/relationships/image" Target="../media/image169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31" Type="http://schemas.openxmlformats.org/officeDocument/2006/relationships/image" Target="../media/image164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Relationship Id="rId35" Type="http://schemas.openxmlformats.org/officeDocument/2006/relationships/image" Target="../media/image168.png"/><Relationship Id="rId8" Type="http://schemas.openxmlformats.org/officeDocument/2006/relationships/image" Target="../media/image141.png"/><Relationship Id="rId3" Type="http://schemas.openxmlformats.org/officeDocument/2006/relationships/image" Target="../media/image1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72.png"/><Relationship Id="rId7" Type="http://schemas.openxmlformats.org/officeDocument/2006/relationships/image" Target="../media/image174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73.png"/><Relationship Id="rId4" Type="http://schemas.openxmlformats.org/officeDocument/2006/relationships/customXml" Target="../ink/ink10.xml"/><Relationship Id="rId9" Type="http://schemas.openxmlformats.org/officeDocument/2006/relationships/image" Target="../media/image17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image" Target="../media/image177.png"/><Relationship Id="rId7" Type="http://schemas.openxmlformats.org/officeDocument/2006/relationships/image" Target="../media/image17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178.png"/><Relationship Id="rId4" Type="http://schemas.openxmlformats.org/officeDocument/2006/relationships/customXml" Target="../ink/ink15.xml"/><Relationship Id="rId9" Type="http://schemas.openxmlformats.org/officeDocument/2006/relationships/image" Target="../media/image18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" Type="http://schemas.openxmlformats.org/officeDocument/2006/relationships/image" Target="../media/image181.png"/><Relationship Id="rId16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10" Type="http://schemas.openxmlformats.org/officeDocument/2006/relationships/image" Target="../media/image189.png"/><Relationship Id="rId19" Type="http://schemas.openxmlformats.org/officeDocument/2006/relationships/image" Target="../media/image198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3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42" Type="http://schemas.openxmlformats.org/officeDocument/2006/relationships/image" Target="../media/image238.png"/><Relationship Id="rId47" Type="http://schemas.openxmlformats.org/officeDocument/2006/relationships/image" Target="../media/image243.png"/><Relationship Id="rId50" Type="http://schemas.openxmlformats.org/officeDocument/2006/relationships/image" Target="../media/image246.png"/><Relationship Id="rId55" Type="http://schemas.openxmlformats.org/officeDocument/2006/relationships/image" Target="../media/image251.png"/><Relationship Id="rId63" Type="http://schemas.openxmlformats.org/officeDocument/2006/relationships/image" Target="../media/image259.png"/><Relationship Id="rId7" Type="http://schemas.openxmlformats.org/officeDocument/2006/relationships/image" Target="../media/image204.png"/><Relationship Id="rId2" Type="http://schemas.openxmlformats.org/officeDocument/2006/relationships/image" Target="../media/image199.png"/><Relationship Id="rId16" Type="http://schemas.openxmlformats.org/officeDocument/2006/relationships/image" Target="../media/image213.png"/><Relationship Id="rId29" Type="http://schemas.openxmlformats.org/officeDocument/2006/relationships/image" Target="../media/image226.png"/><Relationship Id="rId11" Type="http://schemas.openxmlformats.org/officeDocument/2006/relationships/image" Target="../media/image208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3.png"/><Relationship Id="rId40" Type="http://schemas.openxmlformats.org/officeDocument/2006/relationships/image" Target="../media/image236.png"/><Relationship Id="rId45" Type="http://schemas.openxmlformats.org/officeDocument/2006/relationships/image" Target="../media/image241.png"/><Relationship Id="rId53" Type="http://schemas.openxmlformats.org/officeDocument/2006/relationships/image" Target="../media/image249.png"/><Relationship Id="rId58" Type="http://schemas.openxmlformats.org/officeDocument/2006/relationships/image" Target="../media/image254.png"/><Relationship Id="rId66" Type="http://schemas.openxmlformats.org/officeDocument/2006/relationships/image" Target="../media/image262.png"/><Relationship Id="rId5" Type="http://schemas.openxmlformats.org/officeDocument/2006/relationships/image" Target="../media/image202.png"/><Relationship Id="rId61" Type="http://schemas.openxmlformats.org/officeDocument/2006/relationships/image" Target="../media/image257.png"/><Relationship Id="rId19" Type="http://schemas.openxmlformats.org/officeDocument/2006/relationships/image" Target="../media/image21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43" Type="http://schemas.openxmlformats.org/officeDocument/2006/relationships/image" Target="../media/image239.png"/><Relationship Id="rId48" Type="http://schemas.openxmlformats.org/officeDocument/2006/relationships/image" Target="../media/image244.png"/><Relationship Id="rId56" Type="http://schemas.openxmlformats.org/officeDocument/2006/relationships/image" Target="../media/image252.png"/><Relationship Id="rId64" Type="http://schemas.openxmlformats.org/officeDocument/2006/relationships/image" Target="../media/image260.png"/><Relationship Id="rId8" Type="http://schemas.openxmlformats.org/officeDocument/2006/relationships/image" Target="../media/image205.png"/><Relationship Id="rId51" Type="http://schemas.openxmlformats.org/officeDocument/2006/relationships/image" Target="../media/image247.png"/><Relationship Id="rId3" Type="http://schemas.openxmlformats.org/officeDocument/2006/relationships/image" Target="../media/image200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image" Target="../media/image234.png"/><Relationship Id="rId46" Type="http://schemas.openxmlformats.org/officeDocument/2006/relationships/image" Target="../media/image242.png"/><Relationship Id="rId59" Type="http://schemas.openxmlformats.org/officeDocument/2006/relationships/image" Target="../media/image255.png"/><Relationship Id="rId67" Type="http://schemas.openxmlformats.org/officeDocument/2006/relationships/image" Target="../media/image263.png"/><Relationship Id="rId20" Type="http://schemas.openxmlformats.org/officeDocument/2006/relationships/image" Target="../media/image217.png"/><Relationship Id="rId41" Type="http://schemas.openxmlformats.org/officeDocument/2006/relationships/image" Target="../media/image237.png"/><Relationship Id="rId54" Type="http://schemas.openxmlformats.org/officeDocument/2006/relationships/image" Target="../media/image250.png"/><Relationship Id="rId6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36" Type="http://schemas.openxmlformats.org/officeDocument/2006/relationships/image" Target="../media/image198.png"/><Relationship Id="rId49" Type="http://schemas.openxmlformats.org/officeDocument/2006/relationships/image" Target="../media/image245.png"/><Relationship Id="rId57" Type="http://schemas.openxmlformats.org/officeDocument/2006/relationships/image" Target="../media/image253.png"/><Relationship Id="rId10" Type="http://schemas.openxmlformats.org/officeDocument/2006/relationships/image" Target="../media/image207.png"/><Relationship Id="rId31" Type="http://schemas.openxmlformats.org/officeDocument/2006/relationships/image" Target="../media/image228.png"/><Relationship Id="rId44" Type="http://schemas.openxmlformats.org/officeDocument/2006/relationships/image" Target="../media/image240.png"/><Relationship Id="rId52" Type="http://schemas.openxmlformats.org/officeDocument/2006/relationships/image" Target="../media/image248.png"/><Relationship Id="rId60" Type="http://schemas.openxmlformats.org/officeDocument/2006/relationships/image" Target="../media/image256.png"/><Relationship Id="rId65" Type="http://schemas.openxmlformats.org/officeDocument/2006/relationships/image" Target="../media/image261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39" Type="http://schemas.openxmlformats.org/officeDocument/2006/relationships/image" Target="../media/image235.png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5.png"/><Relationship Id="rId18" Type="http://schemas.openxmlformats.org/officeDocument/2006/relationships/image" Target="../media/image280.png"/><Relationship Id="rId26" Type="http://schemas.openxmlformats.org/officeDocument/2006/relationships/image" Target="../media/image286.png"/><Relationship Id="rId39" Type="http://schemas.openxmlformats.org/officeDocument/2006/relationships/image" Target="../media/image233.png"/><Relationship Id="rId21" Type="http://schemas.openxmlformats.org/officeDocument/2006/relationships/image" Target="../media/image283.png"/><Relationship Id="rId34" Type="http://schemas.openxmlformats.org/officeDocument/2006/relationships/image" Target="../media/image294.png"/><Relationship Id="rId7" Type="http://schemas.openxmlformats.org/officeDocument/2006/relationships/image" Target="../media/image269.png"/><Relationship Id="rId2" Type="http://schemas.openxmlformats.org/officeDocument/2006/relationships/image" Target="../media/image264.png"/><Relationship Id="rId16" Type="http://schemas.openxmlformats.org/officeDocument/2006/relationships/image" Target="../media/image278.png"/><Relationship Id="rId20" Type="http://schemas.openxmlformats.org/officeDocument/2006/relationships/image" Target="../media/image282.png"/><Relationship Id="rId29" Type="http://schemas.openxmlformats.org/officeDocument/2006/relationships/image" Target="../media/image289.png"/><Relationship Id="rId41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Relationship Id="rId11" Type="http://schemas.openxmlformats.org/officeDocument/2006/relationships/image" Target="../media/image273.png"/><Relationship Id="rId24" Type="http://schemas.openxmlformats.org/officeDocument/2006/relationships/image" Target="../media/image198.png"/><Relationship Id="rId32" Type="http://schemas.openxmlformats.org/officeDocument/2006/relationships/image" Target="../media/image292.png"/><Relationship Id="rId37" Type="http://schemas.openxmlformats.org/officeDocument/2006/relationships/image" Target="../media/image297.png"/><Relationship Id="rId40" Type="http://schemas.openxmlformats.org/officeDocument/2006/relationships/image" Target="../media/image234.png"/><Relationship Id="rId5" Type="http://schemas.openxmlformats.org/officeDocument/2006/relationships/image" Target="../media/image267.png"/><Relationship Id="rId15" Type="http://schemas.openxmlformats.org/officeDocument/2006/relationships/image" Target="../media/image277.png"/><Relationship Id="rId23" Type="http://schemas.openxmlformats.org/officeDocument/2006/relationships/image" Target="../media/image232.png"/><Relationship Id="rId28" Type="http://schemas.openxmlformats.org/officeDocument/2006/relationships/image" Target="../media/image288.png"/><Relationship Id="rId36" Type="http://schemas.openxmlformats.org/officeDocument/2006/relationships/image" Target="../media/image296.png"/><Relationship Id="rId10" Type="http://schemas.openxmlformats.org/officeDocument/2006/relationships/image" Target="../media/image272.png"/><Relationship Id="rId19" Type="http://schemas.openxmlformats.org/officeDocument/2006/relationships/image" Target="../media/image281.png"/><Relationship Id="rId31" Type="http://schemas.openxmlformats.org/officeDocument/2006/relationships/image" Target="../media/image291.png"/><Relationship Id="rId4" Type="http://schemas.openxmlformats.org/officeDocument/2006/relationships/image" Target="../media/image266.png"/><Relationship Id="rId9" Type="http://schemas.openxmlformats.org/officeDocument/2006/relationships/image" Target="../media/image271.png"/><Relationship Id="rId14" Type="http://schemas.openxmlformats.org/officeDocument/2006/relationships/image" Target="../media/image276.png"/><Relationship Id="rId22" Type="http://schemas.openxmlformats.org/officeDocument/2006/relationships/image" Target="../media/image284.png"/><Relationship Id="rId27" Type="http://schemas.openxmlformats.org/officeDocument/2006/relationships/image" Target="../media/image287.png"/><Relationship Id="rId30" Type="http://schemas.openxmlformats.org/officeDocument/2006/relationships/image" Target="../media/image290.png"/><Relationship Id="rId35" Type="http://schemas.openxmlformats.org/officeDocument/2006/relationships/image" Target="../media/image295.png"/><Relationship Id="rId8" Type="http://schemas.openxmlformats.org/officeDocument/2006/relationships/image" Target="../media/image270.png"/><Relationship Id="rId3" Type="http://schemas.openxmlformats.org/officeDocument/2006/relationships/image" Target="../media/image265.png"/><Relationship Id="rId12" Type="http://schemas.openxmlformats.org/officeDocument/2006/relationships/image" Target="../media/image274.png"/><Relationship Id="rId17" Type="http://schemas.openxmlformats.org/officeDocument/2006/relationships/image" Target="../media/image279.png"/><Relationship Id="rId25" Type="http://schemas.openxmlformats.org/officeDocument/2006/relationships/image" Target="../media/image285.png"/><Relationship Id="rId33" Type="http://schemas.openxmlformats.org/officeDocument/2006/relationships/image" Target="../media/image293.png"/><Relationship Id="rId38" Type="http://schemas.openxmlformats.org/officeDocument/2006/relationships/image" Target="../media/image298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png"/><Relationship Id="rId18" Type="http://schemas.openxmlformats.org/officeDocument/2006/relationships/image" Target="../media/image315.png"/><Relationship Id="rId26" Type="http://schemas.openxmlformats.org/officeDocument/2006/relationships/image" Target="../media/image232.png"/><Relationship Id="rId39" Type="http://schemas.openxmlformats.org/officeDocument/2006/relationships/image" Target="../media/image332.png"/><Relationship Id="rId21" Type="http://schemas.openxmlformats.org/officeDocument/2006/relationships/image" Target="../media/image318.png"/><Relationship Id="rId34" Type="http://schemas.openxmlformats.org/officeDocument/2006/relationships/image" Target="../media/image327.png"/><Relationship Id="rId42" Type="http://schemas.openxmlformats.org/officeDocument/2006/relationships/image" Target="../media/image335.png"/><Relationship Id="rId47" Type="http://schemas.openxmlformats.org/officeDocument/2006/relationships/image" Target="../media/image340.png"/><Relationship Id="rId50" Type="http://schemas.openxmlformats.org/officeDocument/2006/relationships/image" Target="../media/image343.png"/><Relationship Id="rId7" Type="http://schemas.openxmlformats.org/officeDocument/2006/relationships/image" Target="../media/image304.png"/><Relationship Id="rId2" Type="http://schemas.openxmlformats.org/officeDocument/2006/relationships/image" Target="../media/image299.png"/><Relationship Id="rId16" Type="http://schemas.openxmlformats.org/officeDocument/2006/relationships/image" Target="../media/image313.png"/><Relationship Id="rId29" Type="http://schemas.openxmlformats.org/officeDocument/2006/relationships/image" Target="../media/image323.png"/><Relationship Id="rId11" Type="http://schemas.openxmlformats.org/officeDocument/2006/relationships/image" Target="../media/image308.png"/><Relationship Id="rId24" Type="http://schemas.openxmlformats.org/officeDocument/2006/relationships/image" Target="../media/image321.png"/><Relationship Id="rId32" Type="http://schemas.openxmlformats.org/officeDocument/2006/relationships/image" Target="../media/image325.png"/><Relationship Id="rId37" Type="http://schemas.openxmlformats.org/officeDocument/2006/relationships/image" Target="../media/image330.png"/><Relationship Id="rId40" Type="http://schemas.openxmlformats.org/officeDocument/2006/relationships/image" Target="../media/image333.png"/><Relationship Id="rId45" Type="http://schemas.openxmlformats.org/officeDocument/2006/relationships/image" Target="../media/image338.png"/><Relationship Id="rId5" Type="http://schemas.openxmlformats.org/officeDocument/2006/relationships/image" Target="../media/image302.png"/><Relationship Id="rId15" Type="http://schemas.openxmlformats.org/officeDocument/2006/relationships/image" Target="../media/image312.png"/><Relationship Id="rId23" Type="http://schemas.openxmlformats.org/officeDocument/2006/relationships/image" Target="../media/image320.png"/><Relationship Id="rId28" Type="http://schemas.openxmlformats.org/officeDocument/2006/relationships/image" Target="../media/image233.png"/><Relationship Id="rId36" Type="http://schemas.openxmlformats.org/officeDocument/2006/relationships/image" Target="../media/image329.png"/><Relationship Id="rId49" Type="http://schemas.openxmlformats.org/officeDocument/2006/relationships/image" Target="../media/image342.png"/><Relationship Id="rId10" Type="http://schemas.openxmlformats.org/officeDocument/2006/relationships/image" Target="../media/image307.png"/><Relationship Id="rId19" Type="http://schemas.openxmlformats.org/officeDocument/2006/relationships/image" Target="../media/image316.png"/><Relationship Id="rId31" Type="http://schemas.openxmlformats.org/officeDocument/2006/relationships/image" Target="../media/image324.png"/><Relationship Id="rId44" Type="http://schemas.openxmlformats.org/officeDocument/2006/relationships/image" Target="../media/image337.png"/><Relationship Id="rId4" Type="http://schemas.openxmlformats.org/officeDocument/2006/relationships/image" Target="../media/image301.png"/><Relationship Id="rId9" Type="http://schemas.openxmlformats.org/officeDocument/2006/relationships/image" Target="../media/image306.png"/><Relationship Id="rId14" Type="http://schemas.openxmlformats.org/officeDocument/2006/relationships/image" Target="../media/image311.png"/><Relationship Id="rId22" Type="http://schemas.openxmlformats.org/officeDocument/2006/relationships/image" Target="../media/image319.png"/><Relationship Id="rId27" Type="http://schemas.openxmlformats.org/officeDocument/2006/relationships/image" Target="../media/image198.png"/><Relationship Id="rId30" Type="http://schemas.openxmlformats.org/officeDocument/2006/relationships/image" Target="../media/image235.png"/><Relationship Id="rId35" Type="http://schemas.openxmlformats.org/officeDocument/2006/relationships/image" Target="../media/image328.png"/><Relationship Id="rId43" Type="http://schemas.openxmlformats.org/officeDocument/2006/relationships/image" Target="../media/image336.png"/><Relationship Id="rId48" Type="http://schemas.openxmlformats.org/officeDocument/2006/relationships/image" Target="../media/image341.png"/><Relationship Id="rId8" Type="http://schemas.openxmlformats.org/officeDocument/2006/relationships/image" Target="../media/image305.png"/><Relationship Id="rId3" Type="http://schemas.openxmlformats.org/officeDocument/2006/relationships/image" Target="../media/image300.png"/><Relationship Id="rId12" Type="http://schemas.openxmlformats.org/officeDocument/2006/relationships/image" Target="../media/image309.png"/><Relationship Id="rId17" Type="http://schemas.openxmlformats.org/officeDocument/2006/relationships/image" Target="../media/image314.png"/><Relationship Id="rId25" Type="http://schemas.openxmlformats.org/officeDocument/2006/relationships/image" Target="../media/image322.png"/><Relationship Id="rId33" Type="http://schemas.openxmlformats.org/officeDocument/2006/relationships/image" Target="../media/image326.png"/><Relationship Id="rId38" Type="http://schemas.openxmlformats.org/officeDocument/2006/relationships/image" Target="../media/image331.png"/><Relationship Id="rId46" Type="http://schemas.openxmlformats.org/officeDocument/2006/relationships/image" Target="../media/image339.png"/><Relationship Id="rId20" Type="http://schemas.openxmlformats.org/officeDocument/2006/relationships/image" Target="../media/image317.png"/><Relationship Id="rId41" Type="http://schemas.openxmlformats.org/officeDocument/2006/relationships/image" Target="../media/image3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14095" y="1284248"/>
            <a:ext cx="71158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Transactions, </a:t>
            </a:r>
            <a:r>
              <a:rPr spc="-5" dirty="0"/>
              <a:t>Views,</a:t>
            </a:r>
            <a:r>
              <a:rPr spc="-35" dirty="0"/>
              <a:t> </a:t>
            </a:r>
            <a:r>
              <a:rPr spc="-15" dirty="0"/>
              <a:t>Indexes</a:t>
            </a:r>
            <a:br>
              <a:rPr lang="en-US" spc="-15" dirty="0"/>
            </a:br>
            <a:r>
              <a:rPr lang="zh-CN" altLang="en-US" spc="-15" dirty="0"/>
              <a:t>事务 视图 索引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310639" y="3505200"/>
            <a:ext cx="6522721" cy="1722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9900"/>
              </a:lnSpc>
              <a:spcBef>
                <a:spcPts val="100"/>
              </a:spcBef>
            </a:pPr>
            <a:r>
              <a:rPr spc="-5" dirty="0"/>
              <a:t>Controlling Concurrent</a:t>
            </a:r>
            <a:r>
              <a:rPr spc="-55" dirty="0"/>
              <a:t> </a:t>
            </a:r>
            <a:r>
              <a:rPr spc="-5" dirty="0"/>
              <a:t>Behavior  Virtual and Materialized</a:t>
            </a:r>
            <a:r>
              <a:rPr lang="zh-CN" altLang="en-US" spc="-5" dirty="0"/>
              <a:t>物化</a:t>
            </a:r>
            <a:r>
              <a:rPr spc="-5" dirty="0"/>
              <a:t> Views  Speeding Accesses to</a:t>
            </a:r>
            <a:r>
              <a:rPr spc="-25" dirty="0"/>
              <a:t> </a:t>
            </a:r>
            <a:r>
              <a:rPr spc="-5" dirty="0"/>
              <a:t>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489" y="829944"/>
            <a:ext cx="4605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Why</a:t>
            </a:r>
            <a:r>
              <a:rPr spc="-95" dirty="0"/>
              <a:t> </a:t>
            </a:r>
            <a:r>
              <a:rPr spc="-40" dirty="0"/>
              <a:t>Transactions?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7770" cy="404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Database systems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normally being  accessed by </a:t>
            </a:r>
            <a:r>
              <a:rPr sz="3200" spc="-10" dirty="0">
                <a:latin typeface="Tahoma"/>
                <a:cs typeface="Tahoma"/>
              </a:rPr>
              <a:t>many </a:t>
            </a:r>
            <a:r>
              <a:rPr sz="3200" spc="-5" dirty="0">
                <a:latin typeface="Tahoma"/>
                <a:cs typeface="Tahoma"/>
              </a:rPr>
              <a:t>users or processes at  the same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Both </a:t>
            </a:r>
            <a:r>
              <a:rPr sz="2800" spc="-5" dirty="0">
                <a:latin typeface="Tahoma"/>
                <a:cs typeface="Tahoma"/>
              </a:rPr>
              <a:t>queries and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modifications.</a:t>
            </a:r>
            <a:endParaRPr sz="2800" dirty="0">
              <a:latin typeface="Tahoma"/>
              <a:cs typeface="Tahoma"/>
            </a:endParaRPr>
          </a:p>
          <a:p>
            <a:pPr marL="328295" marR="650875" indent="-31623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Unlike operating </a:t>
            </a:r>
            <a:r>
              <a:rPr sz="3200" spc="-5" dirty="0">
                <a:latin typeface="Tahoma"/>
                <a:cs typeface="Tahoma"/>
              </a:rPr>
              <a:t>systems, which </a:t>
            </a:r>
            <a:r>
              <a:rPr lang="en-US" altLang="zh-CN" sz="3600" dirty="0">
                <a:effectLst/>
              </a:rPr>
              <a:t>support </a:t>
            </a:r>
            <a:r>
              <a:rPr sz="3350" i="1" spc="-1125" dirty="0">
                <a:latin typeface="Tahoma"/>
                <a:cs typeface="Tahoma"/>
              </a:rPr>
              <a:t> </a:t>
            </a:r>
            <a:r>
              <a:rPr sz="3350" i="1" spc="-10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interaction </a:t>
            </a:r>
            <a:r>
              <a:rPr sz="3200" spc="-5" dirty="0">
                <a:latin typeface="Tahoma"/>
                <a:cs typeface="Tahoma"/>
              </a:rPr>
              <a:t>of processes,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DMBS  needs to </a:t>
            </a:r>
            <a:r>
              <a:rPr sz="3200" spc="-10" dirty="0">
                <a:latin typeface="Tahoma"/>
                <a:cs typeface="Tahoma"/>
              </a:rPr>
              <a:t>keep </a:t>
            </a:r>
            <a:r>
              <a:rPr sz="3200" spc="-5" dirty="0">
                <a:latin typeface="Tahoma"/>
                <a:cs typeface="Tahoma"/>
              </a:rPr>
              <a:t>processes </a:t>
            </a:r>
            <a:r>
              <a:rPr sz="3200" spc="-10" dirty="0">
                <a:latin typeface="Tahoma"/>
                <a:cs typeface="Tahoma"/>
              </a:rPr>
              <a:t>from  </a:t>
            </a:r>
            <a:r>
              <a:rPr sz="3200" spc="-5" dirty="0">
                <a:latin typeface="Tahoma"/>
                <a:cs typeface="Tahoma"/>
              </a:rPr>
              <a:t>troublesome</a:t>
            </a:r>
            <a:r>
              <a:rPr sz="3200" spc="-10" dirty="0">
                <a:latin typeface="Tahoma"/>
                <a:cs typeface="Tahoma"/>
              </a:rPr>
              <a:t> interactions.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085" y="829944"/>
            <a:ext cx="62598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5" dirty="0"/>
              <a:t>Bad</a:t>
            </a:r>
            <a:r>
              <a:rPr spc="-45" dirty="0"/>
              <a:t> </a:t>
            </a:r>
            <a:r>
              <a:rPr spc="-15" dirty="0"/>
              <a:t>Interaction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3320" cy="398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your </a:t>
            </a:r>
            <a:r>
              <a:rPr sz="3200" spc="-5" dirty="0">
                <a:latin typeface="Tahoma"/>
                <a:cs typeface="Tahoma"/>
              </a:rPr>
              <a:t>domestic partner each  </a:t>
            </a:r>
            <a:r>
              <a:rPr sz="3200" spc="-10" dirty="0">
                <a:latin typeface="Tahoma"/>
                <a:cs typeface="Tahoma"/>
              </a:rPr>
              <a:t>take </a:t>
            </a:r>
            <a:r>
              <a:rPr sz="3200" spc="-5" dirty="0">
                <a:latin typeface="Tahoma"/>
                <a:cs typeface="Tahoma"/>
              </a:rPr>
              <a:t>$100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15" dirty="0">
                <a:latin typeface="Tahoma"/>
                <a:cs typeface="Tahoma"/>
              </a:rPr>
              <a:t>different </a:t>
            </a:r>
            <a:r>
              <a:rPr sz="3200" spc="-60" dirty="0">
                <a:latin typeface="Tahoma"/>
                <a:cs typeface="Tahoma"/>
              </a:rPr>
              <a:t>ATM’s </a:t>
            </a:r>
            <a:r>
              <a:rPr sz="3200" spc="-5" dirty="0">
                <a:latin typeface="Tahoma"/>
                <a:cs typeface="Tahoma"/>
              </a:rPr>
              <a:t>at about  the same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 dirty="0">
              <a:latin typeface="Tahoma"/>
              <a:cs typeface="Tahoma"/>
            </a:endParaRPr>
          </a:p>
          <a:p>
            <a:pPr marL="755650" marR="31623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DBMS </a:t>
            </a:r>
            <a:r>
              <a:rPr sz="2800" spc="-10" dirty="0">
                <a:latin typeface="Tahoma"/>
                <a:cs typeface="Tahoma"/>
              </a:rPr>
              <a:t>better make sure </a:t>
            </a:r>
            <a:r>
              <a:rPr sz="2800" spc="-5" dirty="0">
                <a:latin typeface="Tahoma"/>
                <a:cs typeface="Tahoma"/>
              </a:rPr>
              <a:t>one account  deduction </a:t>
            </a:r>
            <a:r>
              <a:rPr sz="2800" spc="5" dirty="0">
                <a:latin typeface="Tahoma"/>
                <a:cs typeface="Tahoma"/>
              </a:rPr>
              <a:t>doesn’t </a:t>
            </a:r>
            <a:r>
              <a:rPr sz="2800" spc="-5" dirty="0">
                <a:latin typeface="Tahoma"/>
                <a:cs typeface="Tahoma"/>
              </a:rPr>
              <a:t>get lost.</a:t>
            </a:r>
            <a:endParaRPr sz="2800" dirty="0">
              <a:latin typeface="Tahoma"/>
              <a:cs typeface="Tahoma"/>
            </a:endParaRPr>
          </a:p>
          <a:p>
            <a:pPr marL="355600" marR="288290" indent="-342900" algn="just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Compare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An OS </a:t>
            </a:r>
            <a:r>
              <a:rPr sz="3200" spc="-5" dirty="0">
                <a:latin typeface="Tahoma"/>
                <a:cs typeface="Tahoma"/>
              </a:rPr>
              <a:t>allows two people to  edit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document at the same time. If  both write, </a:t>
            </a:r>
            <a:r>
              <a:rPr sz="3200" spc="-25" dirty="0">
                <a:latin typeface="Tahoma"/>
                <a:cs typeface="Tahoma"/>
              </a:rPr>
              <a:t>one’s </a:t>
            </a:r>
            <a:r>
              <a:rPr sz="3200" spc="-5" dirty="0">
                <a:latin typeface="Tahoma"/>
                <a:cs typeface="Tahoma"/>
              </a:rPr>
              <a:t>changes get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lost.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4029" y="829944"/>
            <a:ext cx="3076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Transactions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294880" cy="316738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137160" indent="-342900">
              <a:lnSpc>
                <a:spcPts val="3840"/>
              </a:lnSpc>
              <a:spcBef>
                <a:spcPts val="390"/>
              </a:spcBef>
            </a:pPr>
            <a:r>
              <a:rPr sz="3200" spc="-108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Transaction </a:t>
            </a:r>
            <a:r>
              <a:rPr sz="3350" i="1" spc="-8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process </a:t>
            </a:r>
            <a:r>
              <a:rPr sz="3200" spc="-10" dirty="0">
                <a:latin typeface="Tahoma"/>
                <a:cs typeface="Tahoma"/>
              </a:rPr>
              <a:t>involving  </a:t>
            </a:r>
            <a:r>
              <a:rPr sz="3200" spc="-5" dirty="0">
                <a:latin typeface="Tahoma"/>
                <a:cs typeface="Tahoma"/>
              </a:rPr>
              <a:t>database queries and/or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modification.</a:t>
            </a:r>
            <a:endParaRPr sz="3200" dirty="0">
              <a:latin typeface="Tahoma"/>
              <a:cs typeface="Tahoma"/>
            </a:endParaRPr>
          </a:p>
          <a:p>
            <a:pPr marL="355600" marR="13335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Normally with some strong properties  </a:t>
            </a:r>
            <a:r>
              <a:rPr sz="3200" spc="-10" dirty="0">
                <a:latin typeface="Tahoma"/>
                <a:cs typeface="Tahoma"/>
              </a:rPr>
              <a:t>regarding </a:t>
            </a:r>
            <a:r>
              <a:rPr sz="3200" spc="-30" dirty="0">
                <a:latin typeface="Tahoma"/>
                <a:cs typeface="Tahoma"/>
              </a:rPr>
              <a:t>concurrency.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Formed </a:t>
            </a:r>
            <a:r>
              <a:rPr sz="3200" spc="-5" dirty="0">
                <a:latin typeface="Tahoma"/>
                <a:cs typeface="Tahoma"/>
              </a:rPr>
              <a:t>in SQL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single statements  or explicit </a:t>
            </a:r>
            <a:r>
              <a:rPr sz="3200" spc="-10" dirty="0">
                <a:latin typeface="Tahoma"/>
                <a:cs typeface="Tahoma"/>
              </a:rPr>
              <a:t>programmer</a:t>
            </a:r>
            <a:r>
              <a:rPr sz="3200" spc="-5" dirty="0">
                <a:latin typeface="Tahoma"/>
                <a:cs typeface="Tahoma"/>
              </a:rPr>
              <a:t> control.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114" y="677544"/>
            <a:ext cx="45097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ACID</a:t>
            </a:r>
            <a:r>
              <a:rPr spc="-60" dirty="0"/>
              <a:t> </a:t>
            </a:r>
            <a:r>
              <a:rPr spc="-45" dirty="0"/>
              <a:t>Transactions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690858"/>
            <a:ext cx="8082280" cy="4374274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3200" spc="-106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 err="1">
                <a:effectLst/>
              </a:rPr>
              <a:t>ACIDtransactions</a:t>
            </a:r>
            <a:r>
              <a:rPr lang="en-US" altLang="zh-CN" sz="3600" dirty="0">
                <a:effectLst/>
              </a:rPr>
              <a:t> 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are:</a:t>
            </a:r>
            <a:endParaRPr sz="3200" dirty="0">
              <a:latin typeface="Tahoma"/>
              <a:cs typeface="Tahoma"/>
            </a:endParaRPr>
          </a:p>
          <a:p>
            <a:pPr marL="708660" indent="-239395">
              <a:lnSpc>
                <a:spcPct val="100000"/>
              </a:lnSpc>
              <a:spcBef>
                <a:spcPts val="54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09295" algn="l"/>
              </a:tabLst>
            </a:pPr>
            <a:r>
              <a:rPr lang="en-US" altLang="zh-CN" sz="3200" dirty="0">
                <a:effectLst/>
              </a:rPr>
              <a:t>Atomic</a:t>
            </a:r>
            <a:r>
              <a:rPr sz="2800" spc="-715" dirty="0">
                <a:latin typeface="Tahoma"/>
                <a:cs typeface="Tahoma"/>
              </a:rPr>
              <a:t>: </a:t>
            </a:r>
            <a:r>
              <a:rPr sz="2800" spc="-5" dirty="0">
                <a:latin typeface="Tahoma"/>
                <a:cs typeface="Tahoma"/>
              </a:rPr>
              <a:t>Whole </a:t>
            </a:r>
            <a:r>
              <a:rPr sz="2800" spc="-10" dirty="0">
                <a:latin typeface="Tahoma"/>
                <a:cs typeface="Tahoma"/>
              </a:rPr>
              <a:t>transaction </a:t>
            </a:r>
            <a:r>
              <a:rPr sz="2800" spc="-5" dirty="0">
                <a:latin typeface="Tahoma"/>
                <a:cs typeface="Tahoma"/>
              </a:rPr>
              <a:t>or none is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done.</a:t>
            </a:r>
            <a:endParaRPr sz="2800" dirty="0">
              <a:latin typeface="Tahoma"/>
              <a:cs typeface="Tahoma"/>
            </a:endParaRPr>
          </a:p>
          <a:p>
            <a:pPr marL="732155" indent="-262890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>
                <a:effectLst/>
              </a:rPr>
              <a:t>Consistent</a:t>
            </a:r>
            <a:r>
              <a:rPr sz="2800" spc="-880" dirty="0">
                <a:latin typeface="Tahoma"/>
                <a:cs typeface="Tahoma"/>
              </a:rPr>
              <a:t>: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Database </a:t>
            </a:r>
            <a:r>
              <a:rPr sz="2800" spc="-10" dirty="0">
                <a:latin typeface="Tahoma"/>
                <a:cs typeface="Tahoma"/>
              </a:rPr>
              <a:t>constraints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preserved.</a:t>
            </a:r>
            <a:endParaRPr sz="2800" dirty="0">
              <a:latin typeface="Tahoma"/>
              <a:cs typeface="Tahoma"/>
            </a:endParaRPr>
          </a:p>
          <a:p>
            <a:pPr marL="755650" marR="80645" indent="-285750">
              <a:lnSpc>
                <a:spcPts val="3360"/>
              </a:lnSpc>
              <a:spcBef>
                <a:spcPts val="760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09295" algn="l"/>
              </a:tabLst>
            </a:pPr>
            <a:r>
              <a:rPr lang="en-US" altLang="zh-CN" sz="3200" dirty="0">
                <a:effectLst/>
              </a:rPr>
              <a:t>Isolated</a:t>
            </a:r>
            <a:r>
              <a:rPr lang="zh-CN" altLang="en-US" sz="3200" dirty="0">
                <a:effectLst/>
              </a:rPr>
              <a:t>隔离</a:t>
            </a:r>
            <a:r>
              <a:rPr sz="2800" spc="-805" dirty="0">
                <a:latin typeface="Tahoma"/>
                <a:cs typeface="Tahoma"/>
              </a:rPr>
              <a:t>: </a:t>
            </a:r>
            <a:r>
              <a:rPr sz="2800" spc="-5" dirty="0">
                <a:latin typeface="Tahoma"/>
                <a:cs typeface="Tahoma"/>
              </a:rPr>
              <a:t>It appears to the user as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only one  process </a:t>
            </a:r>
            <a:r>
              <a:rPr sz="2800" spc="-10" dirty="0">
                <a:latin typeface="Tahoma"/>
                <a:cs typeface="Tahoma"/>
              </a:rPr>
              <a:t>executes </a:t>
            </a:r>
            <a:r>
              <a:rPr sz="2800" spc="-5" dirty="0">
                <a:latin typeface="Tahoma"/>
                <a:cs typeface="Tahoma"/>
              </a:rPr>
              <a:t>at a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time.</a:t>
            </a:r>
            <a:endParaRPr sz="2800" dirty="0">
              <a:latin typeface="Tahoma"/>
              <a:cs typeface="Tahoma"/>
            </a:endParaRPr>
          </a:p>
          <a:p>
            <a:pPr marL="732155" indent="-262890">
              <a:lnSpc>
                <a:spcPct val="100000"/>
              </a:lnSpc>
              <a:spcBef>
                <a:spcPts val="459"/>
              </a:spcBef>
              <a:buClr>
                <a:srgbClr val="CC00CC"/>
              </a:buClr>
              <a:buSzPct val="96551"/>
              <a:buFont typeface="Wingdings"/>
              <a:buChar char=""/>
              <a:tabLst>
                <a:tab pos="732790" algn="l"/>
              </a:tabLst>
            </a:pPr>
            <a:r>
              <a:rPr lang="en-US" altLang="zh-CN" sz="3200" dirty="0">
                <a:effectLst/>
              </a:rPr>
              <a:t>Durable</a:t>
            </a:r>
            <a:r>
              <a:rPr sz="2800" spc="-795" dirty="0">
                <a:latin typeface="Tahoma"/>
                <a:cs typeface="Tahoma"/>
              </a:rPr>
              <a:t>:</a:t>
            </a:r>
            <a:r>
              <a:rPr sz="2800" spc="-7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Effects </a:t>
            </a:r>
            <a:r>
              <a:rPr sz="2800" spc="-5" dirty="0">
                <a:latin typeface="Tahoma"/>
                <a:cs typeface="Tahoma"/>
              </a:rPr>
              <a:t>of a process </a:t>
            </a:r>
            <a:r>
              <a:rPr sz="2800" spc="-10" dirty="0">
                <a:latin typeface="Tahoma"/>
                <a:cs typeface="Tahoma"/>
              </a:rPr>
              <a:t>survive </a:t>
            </a: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crash.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Optional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0" dirty="0">
                <a:latin typeface="Tahoma"/>
                <a:cs typeface="Tahoma"/>
              </a:rPr>
              <a:t>weaker forms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0" dirty="0">
                <a:latin typeface="Tahoma"/>
                <a:cs typeface="Tahoma"/>
              </a:rPr>
              <a:t>transactions are  </a:t>
            </a:r>
            <a:r>
              <a:rPr sz="3200" spc="-5" dirty="0">
                <a:latin typeface="Tahoma"/>
                <a:cs typeface="Tahoma"/>
              </a:rPr>
              <a:t>often supported as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well.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B347B45-76CD-5AA1-8AFF-99D8E86A30B4}"/>
                  </a:ext>
                </a:extLst>
              </p14:cNvPr>
              <p14:cNvContentPartPr/>
              <p14:nvPr/>
            </p14:nvContentPartPr>
            <p14:xfrm>
              <a:off x="1210419" y="2694805"/>
              <a:ext cx="1209240" cy="763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B347B45-76CD-5AA1-8AFF-99D8E86A30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6419" y="2587165"/>
                <a:ext cx="13168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3E6AC33-A9AB-790D-0923-9696CBC23371}"/>
                  </a:ext>
                </a:extLst>
              </p14:cNvPr>
              <p14:cNvContentPartPr/>
              <p14:nvPr/>
            </p14:nvContentPartPr>
            <p14:xfrm>
              <a:off x="1138059" y="3213925"/>
              <a:ext cx="1605600" cy="2653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3E6AC33-A9AB-790D-0923-9696CBC233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4419" y="3106285"/>
                <a:ext cx="171324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9CEA0B3-FC19-F014-5C93-01546C185BB6}"/>
                  </a:ext>
                </a:extLst>
              </p14:cNvPr>
              <p14:cNvContentPartPr/>
              <p14:nvPr/>
            </p14:nvContentPartPr>
            <p14:xfrm>
              <a:off x="1228059" y="3684085"/>
              <a:ext cx="1917720" cy="144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9CEA0B3-FC19-F014-5C93-01546C185B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4059" y="3576085"/>
                <a:ext cx="20253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7AEB6AA-24DD-71A0-1801-5F69AEDBB28B}"/>
                  </a:ext>
                </a:extLst>
              </p14:cNvPr>
              <p14:cNvContentPartPr/>
              <p14:nvPr/>
            </p14:nvContentPartPr>
            <p14:xfrm>
              <a:off x="1057779" y="4643845"/>
              <a:ext cx="1510920" cy="982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7AEB6AA-24DD-71A0-1801-5F69AEDBB2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4139" y="4535845"/>
                <a:ext cx="1618560" cy="31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675" y="829944"/>
            <a:ext cx="21532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COMMI</a:t>
            </a:r>
            <a:r>
              <a:rPr dirty="0"/>
              <a:t>T</a:t>
            </a:r>
            <a:r>
              <a:rPr lang="zh-CN" altLang="en-US" dirty="0"/>
              <a:t>提交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19950" cy="1939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SQL statement COMMIT causes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0" dirty="0">
                <a:latin typeface="Tahoma"/>
                <a:cs typeface="Tahoma"/>
              </a:rPr>
              <a:t>transaction </a:t>
            </a:r>
            <a:r>
              <a:rPr sz="3200" spc="-5" dirty="0">
                <a:latin typeface="Tahoma"/>
                <a:cs typeface="Tahoma"/>
              </a:rPr>
              <a:t>to complete.</a:t>
            </a:r>
            <a:endParaRPr sz="3200" dirty="0">
              <a:latin typeface="Tahoma"/>
              <a:cs typeface="Tahoma"/>
            </a:endParaRPr>
          </a:p>
          <a:p>
            <a:pPr marL="755650" marR="89725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5" dirty="0">
                <a:latin typeface="Tahoma"/>
                <a:cs typeface="Tahoma"/>
              </a:rPr>
              <a:t>It’s </a:t>
            </a:r>
            <a:r>
              <a:rPr sz="2800" spc="-5" dirty="0">
                <a:latin typeface="Tahoma"/>
                <a:cs typeface="Tahoma"/>
              </a:rPr>
              <a:t>database modifications </a:t>
            </a: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now  permanent in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database.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5485" y="829944"/>
            <a:ext cx="265366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ROLLBACK</a:t>
            </a:r>
            <a:r>
              <a:rPr lang="zh-CN" altLang="en-US" spc="-5" dirty="0"/>
              <a:t>回滚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12965" cy="404939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01625" marR="172085" indent="-28956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5" dirty="0">
                <a:latin typeface="Tahoma"/>
                <a:cs typeface="Tahoma"/>
              </a:rPr>
              <a:t>The SQL statement ROLLBACK also  causes the </a:t>
            </a:r>
            <a:r>
              <a:rPr lang="en-US" sz="3200" spc="-10" dirty="0">
                <a:latin typeface="Tahoma"/>
                <a:cs typeface="Tahoma"/>
              </a:rPr>
              <a:t>transaction </a:t>
            </a:r>
            <a:r>
              <a:rPr lang="en-US" sz="3200" spc="-5" dirty="0">
                <a:latin typeface="Tahoma"/>
                <a:cs typeface="Tahoma"/>
              </a:rPr>
              <a:t>to end, but by </a:t>
            </a:r>
            <a:r>
              <a:rPr lang="en-US" sz="3200" spc="-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aborting</a:t>
            </a:r>
            <a:r>
              <a:rPr lang="zh-CN" altLang="en-US" sz="3600" dirty="0">
                <a:effectLst/>
              </a:rPr>
              <a:t>异常终止</a:t>
            </a:r>
            <a:r>
              <a:rPr lang="en-US" sz="3200" spc="-1035" dirty="0">
                <a:latin typeface="Tahoma"/>
                <a:cs typeface="Tahoma"/>
              </a:rPr>
              <a:t>.</a:t>
            </a:r>
            <a:endParaRPr lang="en-US"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lang="en-US" sz="2800" spc="-5" dirty="0">
                <a:latin typeface="Tahoma"/>
                <a:cs typeface="Tahoma"/>
              </a:rPr>
              <a:t>No </a:t>
            </a:r>
            <a:r>
              <a:rPr lang="en-US" sz="2800" spc="-10" dirty="0">
                <a:latin typeface="Tahoma"/>
                <a:cs typeface="Tahoma"/>
              </a:rPr>
              <a:t>effects </a:t>
            </a:r>
            <a:r>
              <a:rPr lang="en-US" sz="2800" spc="-5" dirty="0">
                <a:latin typeface="Tahoma"/>
                <a:cs typeface="Tahoma"/>
              </a:rPr>
              <a:t>on the</a:t>
            </a:r>
            <a:r>
              <a:rPr lang="en-US" sz="2800" spc="10" dirty="0">
                <a:latin typeface="Tahoma"/>
                <a:cs typeface="Tahoma"/>
              </a:rPr>
              <a:t> </a:t>
            </a:r>
            <a:r>
              <a:rPr lang="en-US" sz="2800" spc="-5" dirty="0">
                <a:latin typeface="Tahoma"/>
                <a:cs typeface="Tahoma"/>
              </a:rPr>
              <a:t>database.</a:t>
            </a:r>
            <a:endParaRPr lang="en-US"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lang="en-US" sz="3200" spc="-25" dirty="0">
                <a:latin typeface="Tahoma"/>
                <a:cs typeface="Tahoma"/>
              </a:rPr>
              <a:t>Failures </a:t>
            </a:r>
            <a:r>
              <a:rPr lang="en-US" sz="3200" spc="-10" dirty="0">
                <a:latin typeface="Tahoma"/>
                <a:cs typeface="Tahoma"/>
              </a:rPr>
              <a:t>like </a:t>
            </a:r>
            <a:r>
              <a:rPr lang="en-US" sz="3200" spc="-5" dirty="0">
                <a:latin typeface="Tahoma"/>
                <a:cs typeface="Tahoma"/>
              </a:rPr>
              <a:t>division by </a:t>
            </a:r>
            <a:r>
              <a:rPr lang="en-US" sz="3200" dirty="0">
                <a:latin typeface="Tahoma"/>
                <a:cs typeface="Tahoma"/>
              </a:rPr>
              <a:t>0 </a:t>
            </a:r>
            <a:r>
              <a:rPr lang="en-US" sz="3200" spc="-5" dirty="0">
                <a:latin typeface="Tahoma"/>
                <a:cs typeface="Tahoma"/>
              </a:rPr>
              <a:t>or </a:t>
            </a:r>
            <a:r>
              <a:rPr lang="en-US" sz="3200" dirty="0">
                <a:latin typeface="Tahoma"/>
                <a:cs typeface="Tahoma"/>
              </a:rPr>
              <a:t>a  </a:t>
            </a:r>
            <a:r>
              <a:rPr lang="en-US" sz="3200" spc="-10" dirty="0">
                <a:latin typeface="Tahoma"/>
                <a:cs typeface="Tahoma"/>
              </a:rPr>
              <a:t>constraint </a:t>
            </a:r>
            <a:r>
              <a:rPr lang="en-US" sz="3200" spc="-5" dirty="0">
                <a:latin typeface="Tahoma"/>
                <a:cs typeface="Tahoma"/>
              </a:rPr>
              <a:t>violation can also cause  rollback, </a:t>
            </a:r>
            <a:r>
              <a:rPr lang="en-US" sz="3200" spc="-10" dirty="0">
                <a:latin typeface="Tahoma"/>
                <a:cs typeface="Tahoma"/>
              </a:rPr>
              <a:t>even </a:t>
            </a:r>
            <a:r>
              <a:rPr lang="en-US" sz="3200" dirty="0">
                <a:latin typeface="Tahoma"/>
                <a:cs typeface="Tahoma"/>
              </a:rPr>
              <a:t>if </a:t>
            </a:r>
            <a:r>
              <a:rPr lang="en-US" sz="3200" spc="-5" dirty="0">
                <a:latin typeface="Tahoma"/>
                <a:cs typeface="Tahoma"/>
              </a:rPr>
              <a:t>the </a:t>
            </a:r>
            <a:r>
              <a:rPr lang="en-US" sz="3200" spc="-10" dirty="0">
                <a:latin typeface="Tahoma"/>
                <a:cs typeface="Tahoma"/>
              </a:rPr>
              <a:t>programmer </a:t>
            </a:r>
            <a:r>
              <a:rPr lang="en-US" sz="3200" spc="-5" dirty="0">
                <a:latin typeface="Tahoma"/>
                <a:cs typeface="Tahoma"/>
              </a:rPr>
              <a:t>does  not request</a:t>
            </a:r>
            <a:r>
              <a:rPr lang="en-US" sz="3200" spc="-10" dirty="0">
                <a:latin typeface="Tahoma"/>
                <a:cs typeface="Tahoma"/>
              </a:rPr>
              <a:t> </a:t>
            </a:r>
            <a:r>
              <a:rPr lang="en-US" sz="3200" spc="-5" dirty="0">
                <a:latin typeface="Tahoma"/>
                <a:cs typeface="Tahoma"/>
              </a:rPr>
              <a:t>it.</a:t>
            </a:r>
            <a:endParaRPr lang="en-US"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676400"/>
            <a:ext cx="7467600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02940" y="2350363"/>
            <a:ext cx="612140" cy="1612265"/>
          </a:xfrm>
          <a:custGeom>
            <a:avLst/>
            <a:gdLst/>
            <a:ahLst/>
            <a:cxnLst/>
            <a:rect l="l" t="t" r="r" b="b"/>
            <a:pathLst>
              <a:path w="612139" h="1612264">
                <a:moveTo>
                  <a:pt x="0" y="1612036"/>
                </a:moveTo>
                <a:lnTo>
                  <a:pt x="0" y="268897"/>
                </a:lnTo>
                <a:lnTo>
                  <a:pt x="611797" y="0"/>
                </a:lnTo>
                <a:lnTo>
                  <a:pt x="611797" y="1230630"/>
                </a:lnTo>
                <a:lnTo>
                  <a:pt x="0" y="1612036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96590" y="2344064"/>
            <a:ext cx="624840" cy="1624965"/>
          </a:xfrm>
          <a:custGeom>
            <a:avLst/>
            <a:gdLst/>
            <a:ahLst/>
            <a:cxnLst/>
            <a:rect l="l" t="t" r="r" b="b"/>
            <a:pathLst>
              <a:path w="624839" h="1624964">
                <a:moveTo>
                  <a:pt x="6032" y="1624672"/>
                </a:moveTo>
                <a:lnTo>
                  <a:pt x="0" y="1618335"/>
                </a:lnTo>
                <a:lnTo>
                  <a:pt x="0" y="275196"/>
                </a:lnTo>
                <a:lnTo>
                  <a:pt x="615594" y="482"/>
                </a:lnTo>
                <a:lnTo>
                  <a:pt x="617321" y="0"/>
                </a:lnTo>
                <a:lnTo>
                  <a:pt x="619112" y="25"/>
                </a:lnTo>
                <a:lnTo>
                  <a:pt x="624497" y="6299"/>
                </a:lnTo>
                <a:lnTo>
                  <a:pt x="611797" y="6299"/>
                </a:lnTo>
                <a:lnTo>
                  <a:pt x="611797" y="16028"/>
                </a:lnTo>
                <a:lnTo>
                  <a:pt x="22136" y="275196"/>
                </a:lnTo>
                <a:lnTo>
                  <a:pt x="12700" y="275196"/>
                </a:lnTo>
                <a:lnTo>
                  <a:pt x="8902" y="281012"/>
                </a:lnTo>
                <a:lnTo>
                  <a:pt x="12700" y="281012"/>
                </a:lnTo>
                <a:lnTo>
                  <a:pt x="12700" y="1606901"/>
                </a:lnTo>
                <a:lnTo>
                  <a:pt x="2997" y="1612950"/>
                </a:lnTo>
                <a:lnTo>
                  <a:pt x="12700" y="1618335"/>
                </a:lnTo>
                <a:lnTo>
                  <a:pt x="18353" y="1618335"/>
                </a:lnTo>
                <a:lnTo>
                  <a:pt x="9715" y="1623720"/>
                </a:lnTo>
                <a:lnTo>
                  <a:pt x="7937" y="1624482"/>
                </a:lnTo>
                <a:lnTo>
                  <a:pt x="6032" y="1624672"/>
                </a:lnTo>
                <a:close/>
              </a:path>
              <a:path w="624839" h="1624964">
                <a:moveTo>
                  <a:pt x="611797" y="16028"/>
                </a:moveTo>
                <a:lnTo>
                  <a:pt x="611797" y="6299"/>
                </a:lnTo>
                <a:lnTo>
                  <a:pt x="620699" y="12115"/>
                </a:lnTo>
                <a:lnTo>
                  <a:pt x="611797" y="16028"/>
                </a:lnTo>
                <a:close/>
              </a:path>
              <a:path w="624839" h="1624964">
                <a:moveTo>
                  <a:pt x="611797" y="1233412"/>
                </a:moveTo>
                <a:lnTo>
                  <a:pt x="611797" y="16028"/>
                </a:lnTo>
                <a:lnTo>
                  <a:pt x="620699" y="12115"/>
                </a:lnTo>
                <a:lnTo>
                  <a:pt x="611797" y="6299"/>
                </a:lnTo>
                <a:lnTo>
                  <a:pt x="624497" y="6299"/>
                </a:lnTo>
                <a:lnTo>
                  <a:pt x="624497" y="1231544"/>
                </a:lnTo>
                <a:lnTo>
                  <a:pt x="614794" y="1231544"/>
                </a:lnTo>
                <a:lnTo>
                  <a:pt x="611797" y="1233412"/>
                </a:lnTo>
                <a:close/>
              </a:path>
              <a:path w="624839" h="1624964">
                <a:moveTo>
                  <a:pt x="8902" y="281012"/>
                </a:moveTo>
                <a:lnTo>
                  <a:pt x="12700" y="275196"/>
                </a:lnTo>
                <a:lnTo>
                  <a:pt x="12700" y="279343"/>
                </a:lnTo>
                <a:lnTo>
                  <a:pt x="8902" y="281012"/>
                </a:lnTo>
                <a:close/>
              </a:path>
              <a:path w="624839" h="1624964">
                <a:moveTo>
                  <a:pt x="12700" y="279343"/>
                </a:moveTo>
                <a:lnTo>
                  <a:pt x="12700" y="275196"/>
                </a:lnTo>
                <a:lnTo>
                  <a:pt x="22136" y="275196"/>
                </a:lnTo>
                <a:lnTo>
                  <a:pt x="12700" y="279343"/>
                </a:lnTo>
                <a:close/>
              </a:path>
              <a:path w="624839" h="1624964">
                <a:moveTo>
                  <a:pt x="12700" y="281012"/>
                </a:moveTo>
                <a:lnTo>
                  <a:pt x="8902" y="281012"/>
                </a:lnTo>
                <a:lnTo>
                  <a:pt x="12700" y="279343"/>
                </a:lnTo>
                <a:lnTo>
                  <a:pt x="12700" y="281012"/>
                </a:lnTo>
                <a:close/>
              </a:path>
              <a:path w="624839" h="1624964">
                <a:moveTo>
                  <a:pt x="611797" y="1236929"/>
                </a:moveTo>
                <a:lnTo>
                  <a:pt x="611797" y="1233412"/>
                </a:lnTo>
                <a:lnTo>
                  <a:pt x="614794" y="1231544"/>
                </a:lnTo>
                <a:lnTo>
                  <a:pt x="611797" y="1236929"/>
                </a:lnTo>
                <a:close/>
              </a:path>
              <a:path w="624839" h="1624964">
                <a:moveTo>
                  <a:pt x="624497" y="1236929"/>
                </a:moveTo>
                <a:lnTo>
                  <a:pt x="611797" y="1236929"/>
                </a:lnTo>
                <a:lnTo>
                  <a:pt x="614794" y="1231544"/>
                </a:lnTo>
                <a:lnTo>
                  <a:pt x="624497" y="1231544"/>
                </a:lnTo>
                <a:lnTo>
                  <a:pt x="624497" y="1236929"/>
                </a:lnTo>
                <a:close/>
              </a:path>
              <a:path w="624839" h="1624964">
                <a:moveTo>
                  <a:pt x="18353" y="1618335"/>
                </a:moveTo>
                <a:lnTo>
                  <a:pt x="12700" y="1618335"/>
                </a:lnTo>
                <a:lnTo>
                  <a:pt x="12700" y="1606901"/>
                </a:lnTo>
                <a:lnTo>
                  <a:pt x="611797" y="1233412"/>
                </a:lnTo>
                <a:lnTo>
                  <a:pt x="611797" y="1236929"/>
                </a:lnTo>
                <a:lnTo>
                  <a:pt x="624497" y="1236929"/>
                </a:lnTo>
                <a:lnTo>
                  <a:pt x="624293" y="1238529"/>
                </a:lnTo>
                <a:lnTo>
                  <a:pt x="623697" y="1240015"/>
                </a:lnTo>
                <a:lnTo>
                  <a:pt x="622744" y="1241310"/>
                </a:lnTo>
                <a:lnTo>
                  <a:pt x="621512" y="1242326"/>
                </a:lnTo>
                <a:lnTo>
                  <a:pt x="18353" y="1618335"/>
                </a:lnTo>
                <a:close/>
              </a:path>
              <a:path w="624839" h="1624964">
                <a:moveTo>
                  <a:pt x="12700" y="1618335"/>
                </a:moveTo>
                <a:lnTo>
                  <a:pt x="2997" y="1612950"/>
                </a:lnTo>
                <a:lnTo>
                  <a:pt x="12700" y="1606901"/>
                </a:lnTo>
                <a:lnTo>
                  <a:pt x="12700" y="1618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21457" y="2505392"/>
            <a:ext cx="481965" cy="1457325"/>
          </a:xfrm>
          <a:custGeom>
            <a:avLst/>
            <a:gdLst/>
            <a:ahLst/>
            <a:cxnLst/>
            <a:rect l="l" t="t" r="r" b="b"/>
            <a:pathLst>
              <a:path w="481964" h="1457325">
                <a:moveTo>
                  <a:pt x="481482" y="1457007"/>
                </a:moveTo>
                <a:lnTo>
                  <a:pt x="1371" y="1322552"/>
                </a:lnTo>
                <a:lnTo>
                  <a:pt x="0" y="0"/>
                </a:lnTo>
                <a:lnTo>
                  <a:pt x="481482" y="115239"/>
                </a:lnTo>
                <a:lnTo>
                  <a:pt x="481482" y="14570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15109" y="2499055"/>
            <a:ext cx="494665" cy="1470025"/>
          </a:xfrm>
          <a:custGeom>
            <a:avLst/>
            <a:gdLst/>
            <a:ahLst/>
            <a:cxnLst/>
            <a:rect l="l" t="t" r="r" b="b"/>
            <a:pathLst>
              <a:path w="494664" h="1470025">
                <a:moveTo>
                  <a:pt x="488046" y="1469694"/>
                </a:moveTo>
                <a:lnTo>
                  <a:pt x="6005" y="1335011"/>
                </a:lnTo>
                <a:lnTo>
                  <a:pt x="0" y="6337"/>
                </a:lnTo>
                <a:lnTo>
                  <a:pt x="277" y="4457"/>
                </a:lnTo>
                <a:lnTo>
                  <a:pt x="1115" y="2743"/>
                </a:lnTo>
                <a:lnTo>
                  <a:pt x="2411" y="1358"/>
                </a:lnTo>
                <a:lnTo>
                  <a:pt x="4062" y="419"/>
                </a:lnTo>
                <a:lnTo>
                  <a:pt x="5929" y="0"/>
                </a:lnTo>
                <a:lnTo>
                  <a:pt x="7821" y="165"/>
                </a:lnTo>
                <a:lnTo>
                  <a:pt x="33609" y="6337"/>
                </a:lnTo>
                <a:lnTo>
                  <a:pt x="12682" y="6350"/>
                </a:lnTo>
                <a:lnTo>
                  <a:pt x="4874" y="12509"/>
                </a:lnTo>
                <a:lnTo>
                  <a:pt x="12706" y="14384"/>
                </a:lnTo>
                <a:lnTo>
                  <a:pt x="14063" y="1322781"/>
                </a:lnTo>
                <a:lnTo>
                  <a:pt x="9434" y="1322781"/>
                </a:lnTo>
                <a:lnTo>
                  <a:pt x="14069" y="1328889"/>
                </a:lnTo>
                <a:lnTo>
                  <a:pt x="31292" y="1328902"/>
                </a:lnTo>
                <a:lnTo>
                  <a:pt x="481480" y="1454977"/>
                </a:lnTo>
                <a:lnTo>
                  <a:pt x="481480" y="1463344"/>
                </a:lnTo>
                <a:lnTo>
                  <a:pt x="494180" y="1463344"/>
                </a:lnTo>
                <a:lnTo>
                  <a:pt x="493888" y="1465262"/>
                </a:lnTo>
                <a:lnTo>
                  <a:pt x="493024" y="1467002"/>
                </a:lnTo>
                <a:lnTo>
                  <a:pt x="491665" y="1468399"/>
                </a:lnTo>
                <a:lnTo>
                  <a:pt x="489951" y="1469326"/>
                </a:lnTo>
                <a:lnTo>
                  <a:pt x="488046" y="1469694"/>
                </a:lnTo>
                <a:close/>
              </a:path>
              <a:path w="494664" h="1470025">
                <a:moveTo>
                  <a:pt x="12706" y="14384"/>
                </a:moveTo>
                <a:lnTo>
                  <a:pt x="4874" y="12509"/>
                </a:lnTo>
                <a:lnTo>
                  <a:pt x="12698" y="6337"/>
                </a:lnTo>
                <a:lnTo>
                  <a:pt x="12706" y="14384"/>
                </a:lnTo>
                <a:close/>
              </a:path>
              <a:path w="494664" h="1470025">
                <a:moveTo>
                  <a:pt x="481480" y="126594"/>
                </a:moveTo>
                <a:lnTo>
                  <a:pt x="12706" y="14384"/>
                </a:lnTo>
                <a:lnTo>
                  <a:pt x="12698" y="6337"/>
                </a:lnTo>
                <a:lnTo>
                  <a:pt x="33662" y="6350"/>
                </a:lnTo>
                <a:lnTo>
                  <a:pt x="489303" y="115404"/>
                </a:lnTo>
                <a:lnTo>
                  <a:pt x="494180" y="121577"/>
                </a:lnTo>
                <a:lnTo>
                  <a:pt x="481480" y="121577"/>
                </a:lnTo>
                <a:lnTo>
                  <a:pt x="481480" y="126594"/>
                </a:lnTo>
                <a:close/>
              </a:path>
              <a:path w="494664" h="1470025">
                <a:moveTo>
                  <a:pt x="486357" y="127762"/>
                </a:moveTo>
                <a:lnTo>
                  <a:pt x="481480" y="126594"/>
                </a:lnTo>
                <a:lnTo>
                  <a:pt x="481480" y="121577"/>
                </a:lnTo>
                <a:lnTo>
                  <a:pt x="486357" y="127762"/>
                </a:lnTo>
                <a:close/>
              </a:path>
              <a:path w="494664" h="1470025">
                <a:moveTo>
                  <a:pt x="494180" y="127762"/>
                </a:moveTo>
                <a:lnTo>
                  <a:pt x="486357" y="127762"/>
                </a:lnTo>
                <a:lnTo>
                  <a:pt x="481480" y="121577"/>
                </a:lnTo>
                <a:lnTo>
                  <a:pt x="494180" y="121577"/>
                </a:lnTo>
                <a:lnTo>
                  <a:pt x="494180" y="127762"/>
                </a:lnTo>
                <a:close/>
              </a:path>
              <a:path w="494664" h="1470025">
                <a:moveTo>
                  <a:pt x="494180" y="1463344"/>
                </a:moveTo>
                <a:lnTo>
                  <a:pt x="481480" y="1463344"/>
                </a:lnTo>
                <a:lnTo>
                  <a:pt x="489545" y="1457236"/>
                </a:lnTo>
                <a:lnTo>
                  <a:pt x="481480" y="1454977"/>
                </a:lnTo>
                <a:lnTo>
                  <a:pt x="481480" y="126594"/>
                </a:lnTo>
                <a:lnTo>
                  <a:pt x="486357" y="127762"/>
                </a:lnTo>
                <a:lnTo>
                  <a:pt x="494180" y="127762"/>
                </a:lnTo>
                <a:lnTo>
                  <a:pt x="494180" y="1463344"/>
                </a:lnTo>
                <a:close/>
              </a:path>
              <a:path w="494664" h="1470025">
                <a:moveTo>
                  <a:pt x="14069" y="1328889"/>
                </a:moveTo>
                <a:lnTo>
                  <a:pt x="9434" y="1322781"/>
                </a:lnTo>
                <a:lnTo>
                  <a:pt x="14064" y="1324077"/>
                </a:lnTo>
                <a:lnTo>
                  <a:pt x="14069" y="1328889"/>
                </a:lnTo>
                <a:close/>
              </a:path>
              <a:path w="494664" h="1470025">
                <a:moveTo>
                  <a:pt x="14064" y="1324077"/>
                </a:moveTo>
                <a:lnTo>
                  <a:pt x="9434" y="1322781"/>
                </a:lnTo>
                <a:lnTo>
                  <a:pt x="14063" y="1322781"/>
                </a:lnTo>
                <a:lnTo>
                  <a:pt x="14064" y="1324077"/>
                </a:lnTo>
                <a:close/>
              </a:path>
              <a:path w="494664" h="1470025">
                <a:moveTo>
                  <a:pt x="31247" y="1328889"/>
                </a:moveTo>
                <a:lnTo>
                  <a:pt x="14069" y="1328889"/>
                </a:lnTo>
                <a:lnTo>
                  <a:pt x="14064" y="1324077"/>
                </a:lnTo>
                <a:lnTo>
                  <a:pt x="31247" y="1328889"/>
                </a:lnTo>
                <a:close/>
              </a:path>
              <a:path w="494664" h="1470025">
                <a:moveTo>
                  <a:pt x="481480" y="1463344"/>
                </a:moveTo>
                <a:lnTo>
                  <a:pt x="481480" y="1454977"/>
                </a:lnTo>
                <a:lnTo>
                  <a:pt x="489545" y="1457236"/>
                </a:lnTo>
                <a:lnTo>
                  <a:pt x="481480" y="1463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79077" y="2595943"/>
            <a:ext cx="347345" cy="1292860"/>
          </a:xfrm>
          <a:custGeom>
            <a:avLst/>
            <a:gdLst/>
            <a:ahLst/>
            <a:cxnLst/>
            <a:rect l="l" t="t" r="r" b="b"/>
            <a:pathLst>
              <a:path w="347344" h="1292860">
                <a:moveTo>
                  <a:pt x="347040" y="1292377"/>
                </a:moveTo>
                <a:lnTo>
                  <a:pt x="0" y="1194968"/>
                </a:lnTo>
                <a:lnTo>
                  <a:pt x="0" y="0"/>
                </a:lnTo>
                <a:lnTo>
                  <a:pt x="345668" y="87807"/>
                </a:lnTo>
                <a:lnTo>
                  <a:pt x="347040" y="1292377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72727" y="2589783"/>
            <a:ext cx="360045" cy="1304925"/>
          </a:xfrm>
          <a:custGeom>
            <a:avLst/>
            <a:gdLst/>
            <a:ahLst/>
            <a:cxnLst/>
            <a:rect l="l" t="t" r="r" b="b"/>
            <a:pathLst>
              <a:path w="360044" h="1304925">
                <a:moveTo>
                  <a:pt x="358375" y="100114"/>
                </a:moveTo>
                <a:lnTo>
                  <a:pt x="350456" y="100114"/>
                </a:lnTo>
                <a:lnTo>
                  <a:pt x="345668" y="93967"/>
                </a:lnTo>
                <a:lnTo>
                  <a:pt x="326204" y="93954"/>
                </a:lnTo>
                <a:lnTo>
                  <a:pt x="4775" y="12319"/>
                </a:lnTo>
                <a:lnTo>
                  <a:pt x="7912" y="0"/>
                </a:lnTo>
                <a:lnTo>
                  <a:pt x="353580" y="87807"/>
                </a:lnTo>
                <a:lnTo>
                  <a:pt x="358368" y="93967"/>
                </a:lnTo>
                <a:lnTo>
                  <a:pt x="345668" y="93967"/>
                </a:lnTo>
                <a:lnTo>
                  <a:pt x="345674" y="98899"/>
                </a:lnTo>
                <a:lnTo>
                  <a:pt x="358374" y="98899"/>
                </a:lnTo>
                <a:lnTo>
                  <a:pt x="358375" y="100114"/>
                </a:lnTo>
                <a:close/>
              </a:path>
              <a:path w="360044" h="1304925">
                <a:moveTo>
                  <a:pt x="353606" y="1304874"/>
                </a:moveTo>
                <a:lnTo>
                  <a:pt x="4622" y="1207236"/>
                </a:lnTo>
                <a:lnTo>
                  <a:pt x="0" y="1201127"/>
                </a:lnTo>
                <a:lnTo>
                  <a:pt x="0" y="18503"/>
                </a:lnTo>
                <a:lnTo>
                  <a:pt x="12700" y="18503"/>
                </a:lnTo>
                <a:lnTo>
                  <a:pt x="12700" y="1195006"/>
                </a:lnTo>
                <a:lnTo>
                  <a:pt x="8064" y="1195006"/>
                </a:lnTo>
                <a:lnTo>
                  <a:pt x="12700" y="1201127"/>
                </a:lnTo>
                <a:lnTo>
                  <a:pt x="29873" y="1201127"/>
                </a:lnTo>
                <a:lnTo>
                  <a:pt x="347030" y="1290149"/>
                </a:lnTo>
                <a:lnTo>
                  <a:pt x="347040" y="1298536"/>
                </a:lnTo>
                <a:lnTo>
                  <a:pt x="359738" y="1298536"/>
                </a:lnTo>
                <a:lnTo>
                  <a:pt x="359448" y="1300441"/>
                </a:lnTo>
                <a:lnTo>
                  <a:pt x="358584" y="1302194"/>
                </a:lnTo>
                <a:lnTo>
                  <a:pt x="357238" y="1303591"/>
                </a:lnTo>
                <a:lnTo>
                  <a:pt x="355523" y="1304518"/>
                </a:lnTo>
                <a:lnTo>
                  <a:pt x="353606" y="1304874"/>
                </a:lnTo>
                <a:close/>
              </a:path>
              <a:path w="360044" h="1304925">
                <a:moveTo>
                  <a:pt x="350456" y="100114"/>
                </a:moveTo>
                <a:lnTo>
                  <a:pt x="345674" y="98899"/>
                </a:lnTo>
                <a:lnTo>
                  <a:pt x="345668" y="93967"/>
                </a:lnTo>
                <a:lnTo>
                  <a:pt x="350456" y="100114"/>
                </a:lnTo>
                <a:close/>
              </a:path>
              <a:path w="360044" h="1304925">
                <a:moveTo>
                  <a:pt x="359738" y="1298536"/>
                </a:moveTo>
                <a:lnTo>
                  <a:pt x="347040" y="1298536"/>
                </a:lnTo>
                <a:lnTo>
                  <a:pt x="355104" y="1292415"/>
                </a:lnTo>
                <a:lnTo>
                  <a:pt x="347030" y="1290149"/>
                </a:lnTo>
                <a:lnTo>
                  <a:pt x="345674" y="98899"/>
                </a:lnTo>
                <a:lnTo>
                  <a:pt x="350456" y="100114"/>
                </a:lnTo>
                <a:lnTo>
                  <a:pt x="358375" y="100114"/>
                </a:lnTo>
                <a:lnTo>
                  <a:pt x="359738" y="1298536"/>
                </a:lnTo>
                <a:close/>
              </a:path>
              <a:path w="360044" h="1304925">
                <a:moveTo>
                  <a:pt x="12700" y="1201127"/>
                </a:moveTo>
                <a:lnTo>
                  <a:pt x="8064" y="1195006"/>
                </a:lnTo>
                <a:lnTo>
                  <a:pt x="12699" y="1196307"/>
                </a:lnTo>
                <a:lnTo>
                  <a:pt x="12700" y="1201127"/>
                </a:lnTo>
                <a:close/>
              </a:path>
              <a:path w="360044" h="1304925">
                <a:moveTo>
                  <a:pt x="12700" y="1196307"/>
                </a:moveTo>
                <a:lnTo>
                  <a:pt x="8064" y="1195006"/>
                </a:lnTo>
                <a:lnTo>
                  <a:pt x="12700" y="1195006"/>
                </a:lnTo>
                <a:lnTo>
                  <a:pt x="12700" y="1196307"/>
                </a:lnTo>
                <a:close/>
              </a:path>
              <a:path w="360044" h="1304925">
                <a:moveTo>
                  <a:pt x="29873" y="1201127"/>
                </a:moveTo>
                <a:lnTo>
                  <a:pt x="12700" y="1201127"/>
                </a:lnTo>
                <a:lnTo>
                  <a:pt x="12700" y="1196307"/>
                </a:lnTo>
                <a:lnTo>
                  <a:pt x="29873" y="1201127"/>
                </a:lnTo>
                <a:close/>
              </a:path>
              <a:path w="360044" h="1304925">
                <a:moveTo>
                  <a:pt x="347040" y="1298536"/>
                </a:moveTo>
                <a:lnTo>
                  <a:pt x="347030" y="1290149"/>
                </a:lnTo>
                <a:lnTo>
                  <a:pt x="355104" y="1292415"/>
                </a:lnTo>
                <a:lnTo>
                  <a:pt x="347040" y="12985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83040" y="3727119"/>
            <a:ext cx="336550" cy="95250"/>
          </a:xfrm>
          <a:custGeom>
            <a:avLst/>
            <a:gdLst/>
            <a:ahLst/>
            <a:cxnLst/>
            <a:rect l="l" t="t" r="r" b="b"/>
            <a:pathLst>
              <a:path w="336550" h="95250">
                <a:moveTo>
                  <a:pt x="333324" y="94640"/>
                </a:moveTo>
                <a:lnTo>
                  <a:pt x="0" y="12331"/>
                </a:lnTo>
                <a:lnTo>
                  <a:pt x="3035" y="0"/>
                </a:lnTo>
                <a:lnTo>
                  <a:pt x="336372" y="82321"/>
                </a:lnTo>
                <a:lnTo>
                  <a:pt x="333324" y="946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79077" y="2767431"/>
            <a:ext cx="347345" cy="485775"/>
          </a:xfrm>
          <a:custGeom>
            <a:avLst/>
            <a:gdLst/>
            <a:ahLst/>
            <a:cxnLst/>
            <a:rect l="l" t="t" r="r" b="b"/>
            <a:pathLst>
              <a:path w="347344" h="485775">
                <a:moveTo>
                  <a:pt x="347040" y="485673"/>
                </a:moveTo>
                <a:lnTo>
                  <a:pt x="0" y="393750"/>
                </a:lnTo>
                <a:lnTo>
                  <a:pt x="1371" y="0"/>
                </a:lnTo>
                <a:lnTo>
                  <a:pt x="347040" y="85064"/>
                </a:lnTo>
                <a:lnTo>
                  <a:pt x="347040" y="4856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72734" y="2761094"/>
            <a:ext cx="360045" cy="498475"/>
          </a:xfrm>
          <a:custGeom>
            <a:avLst/>
            <a:gdLst/>
            <a:ahLst/>
            <a:cxnLst/>
            <a:rect l="l" t="t" r="r" b="b"/>
            <a:pathLst>
              <a:path w="360044" h="498475">
                <a:moveTo>
                  <a:pt x="353676" y="498348"/>
                </a:moveTo>
                <a:lnTo>
                  <a:pt x="4718" y="406222"/>
                </a:lnTo>
                <a:lnTo>
                  <a:pt x="0" y="400113"/>
                </a:lnTo>
                <a:lnTo>
                  <a:pt x="1365" y="6324"/>
                </a:lnTo>
                <a:lnTo>
                  <a:pt x="7321" y="0"/>
                </a:lnTo>
                <a:lnTo>
                  <a:pt x="9226" y="177"/>
                </a:lnTo>
                <a:lnTo>
                  <a:pt x="34360" y="6362"/>
                </a:lnTo>
                <a:lnTo>
                  <a:pt x="14065" y="6362"/>
                </a:lnTo>
                <a:lnTo>
                  <a:pt x="6191" y="12509"/>
                </a:lnTo>
                <a:lnTo>
                  <a:pt x="14037" y="14440"/>
                </a:lnTo>
                <a:lnTo>
                  <a:pt x="12715" y="393954"/>
                </a:lnTo>
                <a:lnTo>
                  <a:pt x="7969" y="393954"/>
                </a:lnTo>
                <a:lnTo>
                  <a:pt x="12693" y="400113"/>
                </a:lnTo>
                <a:lnTo>
                  <a:pt x="31223" y="400113"/>
                </a:lnTo>
                <a:lnTo>
                  <a:pt x="347033" y="483764"/>
                </a:lnTo>
                <a:lnTo>
                  <a:pt x="347033" y="492010"/>
                </a:lnTo>
                <a:lnTo>
                  <a:pt x="359733" y="492010"/>
                </a:lnTo>
                <a:lnTo>
                  <a:pt x="359441" y="493915"/>
                </a:lnTo>
                <a:lnTo>
                  <a:pt x="358590" y="495642"/>
                </a:lnTo>
                <a:lnTo>
                  <a:pt x="357257" y="497039"/>
                </a:lnTo>
                <a:lnTo>
                  <a:pt x="355568" y="497967"/>
                </a:lnTo>
                <a:lnTo>
                  <a:pt x="353676" y="498348"/>
                </a:lnTo>
                <a:close/>
              </a:path>
              <a:path w="360044" h="498475">
                <a:moveTo>
                  <a:pt x="14037" y="14440"/>
                </a:moveTo>
                <a:lnTo>
                  <a:pt x="6191" y="12509"/>
                </a:lnTo>
                <a:lnTo>
                  <a:pt x="14065" y="6362"/>
                </a:lnTo>
                <a:lnTo>
                  <a:pt x="14037" y="14440"/>
                </a:lnTo>
                <a:close/>
              </a:path>
              <a:path w="360044" h="498475">
                <a:moveTo>
                  <a:pt x="347033" y="96383"/>
                </a:moveTo>
                <a:lnTo>
                  <a:pt x="14037" y="14440"/>
                </a:lnTo>
                <a:lnTo>
                  <a:pt x="14065" y="6362"/>
                </a:lnTo>
                <a:lnTo>
                  <a:pt x="34360" y="6362"/>
                </a:lnTo>
                <a:lnTo>
                  <a:pt x="354907" y="85242"/>
                </a:lnTo>
                <a:lnTo>
                  <a:pt x="359733" y="91401"/>
                </a:lnTo>
                <a:lnTo>
                  <a:pt x="347033" y="91401"/>
                </a:lnTo>
                <a:lnTo>
                  <a:pt x="347033" y="96383"/>
                </a:lnTo>
                <a:close/>
              </a:path>
              <a:path w="360044" h="498475">
                <a:moveTo>
                  <a:pt x="351872" y="97574"/>
                </a:moveTo>
                <a:lnTo>
                  <a:pt x="347033" y="96383"/>
                </a:lnTo>
                <a:lnTo>
                  <a:pt x="347033" y="91401"/>
                </a:lnTo>
                <a:lnTo>
                  <a:pt x="351872" y="97574"/>
                </a:lnTo>
                <a:close/>
              </a:path>
              <a:path w="360044" h="498475">
                <a:moveTo>
                  <a:pt x="359733" y="97574"/>
                </a:moveTo>
                <a:lnTo>
                  <a:pt x="351872" y="97574"/>
                </a:lnTo>
                <a:lnTo>
                  <a:pt x="347033" y="91401"/>
                </a:lnTo>
                <a:lnTo>
                  <a:pt x="359733" y="91401"/>
                </a:lnTo>
                <a:lnTo>
                  <a:pt x="359733" y="97574"/>
                </a:lnTo>
                <a:close/>
              </a:path>
              <a:path w="360044" h="498475">
                <a:moveTo>
                  <a:pt x="359733" y="492010"/>
                </a:moveTo>
                <a:lnTo>
                  <a:pt x="347033" y="492010"/>
                </a:lnTo>
                <a:lnTo>
                  <a:pt x="355009" y="485876"/>
                </a:lnTo>
                <a:lnTo>
                  <a:pt x="347033" y="483764"/>
                </a:lnTo>
                <a:lnTo>
                  <a:pt x="347033" y="96383"/>
                </a:lnTo>
                <a:lnTo>
                  <a:pt x="351872" y="97574"/>
                </a:lnTo>
                <a:lnTo>
                  <a:pt x="359733" y="97574"/>
                </a:lnTo>
                <a:lnTo>
                  <a:pt x="359733" y="492010"/>
                </a:lnTo>
                <a:close/>
              </a:path>
              <a:path w="360044" h="498475">
                <a:moveTo>
                  <a:pt x="12693" y="400113"/>
                </a:moveTo>
                <a:lnTo>
                  <a:pt x="7969" y="393954"/>
                </a:lnTo>
                <a:lnTo>
                  <a:pt x="12710" y="395209"/>
                </a:lnTo>
                <a:lnTo>
                  <a:pt x="12693" y="400113"/>
                </a:lnTo>
                <a:close/>
              </a:path>
              <a:path w="360044" h="498475">
                <a:moveTo>
                  <a:pt x="12710" y="395209"/>
                </a:moveTo>
                <a:lnTo>
                  <a:pt x="7969" y="393954"/>
                </a:lnTo>
                <a:lnTo>
                  <a:pt x="12715" y="393954"/>
                </a:lnTo>
                <a:lnTo>
                  <a:pt x="12710" y="395209"/>
                </a:lnTo>
                <a:close/>
              </a:path>
              <a:path w="360044" h="498475">
                <a:moveTo>
                  <a:pt x="31223" y="400113"/>
                </a:moveTo>
                <a:lnTo>
                  <a:pt x="12693" y="400113"/>
                </a:lnTo>
                <a:lnTo>
                  <a:pt x="12710" y="395209"/>
                </a:lnTo>
                <a:lnTo>
                  <a:pt x="31223" y="400113"/>
                </a:lnTo>
                <a:close/>
              </a:path>
              <a:path w="360044" h="498475">
                <a:moveTo>
                  <a:pt x="347033" y="492010"/>
                </a:moveTo>
                <a:lnTo>
                  <a:pt x="347033" y="483764"/>
                </a:lnTo>
                <a:lnTo>
                  <a:pt x="355009" y="485876"/>
                </a:lnTo>
                <a:lnTo>
                  <a:pt x="347033" y="492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87383" y="2901149"/>
            <a:ext cx="334645" cy="81280"/>
          </a:xfrm>
          <a:custGeom>
            <a:avLst/>
            <a:gdLst/>
            <a:ahLst/>
            <a:cxnLst/>
            <a:rect l="l" t="t" r="r" b="b"/>
            <a:pathLst>
              <a:path w="334644" h="81280">
                <a:moveTo>
                  <a:pt x="331965" y="81038"/>
                </a:moveTo>
                <a:lnTo>
                  <a:pt x="0" y="12445"/>
                </a:lnTo>
                <a:lnTo>
                  <a:pt x="2578" y="0"/>
                </a:lnTo>
                <a:lnTo>
                  <a:pt x="334543" y="68605"/>
                </a:lnTo>
                <a:lnTo>
                  <a:pt x="331965" y="810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87142" y="3035655"/>
            <a:ext cx="335280" cy="95250"/>
          </a:xfrm>
          <a:custGeom>
            <a:avLst/>
            <a:gdLst/>
            <a:ahLst/>
            <a:cxnLst/>
            <a:rect l="l" t="t" r="r" b="b"/>
            <a:pathLst>
              <a:path w="335280" h="95250">
                <a:moveTo>
                  <a:pt x="331965" y="94653"/>
                </a:moveTo>
                <a:lnTo>
                  <a:pt x="0" y="12331"/>
                </a:lnTo>
                <a:lnTo>
                  <a:pt x="3060" y="0"/>
                </a:lnTo>
                <a:lnTo>
                  <a:pt x="335026" y="82321"/>
                </a:lnTo>
                <a:lnTo>
                  <a:pt x="331965" y="946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29954" y="2842158"/>
            <a:ext cx="242570" cy="60960"/>
          </a:xfrm>
          <a:custGeom>
            <a:avLst/>
            <a:gdLst/>
            <a:ahLst/>
            <a:cxnLst/>
            <a:rect l="l" t="t" r="r" b="b"/>
            <a:pathLst>
              <a:path w="242569" h="60960">
                <a:moveTo>
                  <a:pt x="240055" y="60464"/>
                </a:moveTo>
                <a:lnTo>
                  <a:pt x="0" y="12445"/>
                </a:lnTo>
                <a:lnTo>
                  <a:pt x="2489" y="0"/>
                </a:lnTo>
                <a:lnTo>
                  <a:pt x="242544" y="48018"/>
                </a:lnTo>
                <a:lnTo>
                  <a:pt x="240055" y="60464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18232" y="2659049"/>
            <a:ext cx="54610" cy="30480"/>
          </a:xfrm>
          <a:custGeom>
            <a:avLst/>
            <a:gdLst/>
            <a:ahLst/>
            <a:cxnLst/>
            <a:rect l="l" t="t" r="r" b="b"/>
            <a:pathLst>
              <a:path w="54610" h="30480">
                <a:moveTo>
                  <a:pt x="26682" y="30187"/>
                </a:moveTo>
                <a:lnTo>
                  <a:pt x="15996" y="29002"/>
                </a:lnTo>
                <a:lnTo>
                  <a:pt x="7378" y="25827"/>
                </a:lnTo>
                <a:lnTo>
                  <a:pt x="1722" y="21170"/>
                </a:lnTo>
                <a:lnTo>
                  <a:pt x="0" y="15570"/>
                </a:lnTo>
                <a:lnTo>
                  <a:pt x="1722" y="9419"/>
                </a:lnTo>
                <a:lnTo>
                  <a:pt x="7378" y="4479"/>
                </a:lnTo>
                <a:lnTo>
                  <a:pt x="16016" y="1193"/>
                </a:lnTo>
                <a:lnTo>
                  <a:pt x="26682" y="0"/>
                </a:lnTo>
                <a:lnTo>
                  <a:pt x="37380" y="1193"/>
                </a:lnTo>
                <a:lnTo>
                  <a:pt x="46080" y="4421"/>
                </a:lnTo>
                <a:lnTo>
                  <a:pt x="51959" y="9220"/>
                </a:lnTo>
                <a:lnTo>
                  <a:pt x="54114" y="15100"/>
                </a:lnTo>
                <a:lnTo>
                  <a:pt x="51959" y="20972"/>
                </a:lnTo>
                <a:lnTo>
                  <a:pt x="46080" y="25768"/>
                </a:lnTo>
                <a:lnTo>
                  <a:pt x="37360" y="29002"/>
                </a:lnTo>
                <a:lnTo>
                  <a:pt x="26682" y="3018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83319" y="2842895"/>
            <a:ext cx="127635" cy="64769"/>
          </a:xfrm>
          <a:custGeom>
            <a:avLst/>
            <a:gdLst/>
            <a:ahLst/>
            <a:cxnLst/>
            <a:rect l="l" t="t" r="r" b="b"/>
            <a:pathLst>
              <a:path w="127635" h="64769">
                <a:moveTo>
                  <a:pt x="127571" y="64477"/>
                </a:moveTo>
                <a:lnTo>
                  <a:pt x="0" y="38417"/>
                </a:lnTo>
                <a:lnTo>
                  <a:pt x="0" y="0"/>
                </a:lnTo>
                <a:lnTo>
                  <a:pt x="127571" y="26060"/>
                </a:lnTo>
                <a:lnTo>
                  <a:pt x="127571" y="64477"/>
                </a:lnTo>
                <a:close/>
              </a:path>
            </a:pathLst>
          </a:custGeom>
          <a:solidFill>
            <a:srgbClr val="A9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83078" y="3662629"/>
            <a:ext cx="336550" cy="92075"/>
          </a:xfrm>
          <a:custGeom>
            <a:avLst/>
            <a:gdLst/>
            <a:ahLst/>
            <a:cxnLst/>
            <a:rect l="l" t="t" r="r" b="b"/>
            <a:pathLst>
              <a:path w="336550" h="92075">
                <a:moveTo>
                  <a:pt x="333336" y="91922"/>
                </a:moveTo>
                <a:lnTo>
                  <a:pt x="0" y="12344"/>
                </a:lnTo>
                <a:lnTo>
                  <a:pt x="2959" y="0"/>
                </a:lnTo>
                <a:lnTo>
                  <a:pt x="336283" y="79565"/>
                </a:lnTo>
                <a:lnTo>
                  <a:pt x="333336" y="919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83014" y="3594049"/>
            <a:ext cx="336550" cy="96520"/>
          </a:xfrm>
          <a:custGeom>
            <a:avLst/>
            <a:gdLst/>
            <a:ahLst/>
            <a:cxnLst/>
            <a:rect l="l" t="t" r="r" b="b"/>
            <a:pathLst>
              <a:path w="336550" h="96520">
                <a:moveTo>
                  <a:pt x="333336" y="95999"/>
                </a:moveTo>
                <a:lnTo>
                  <a:pt x="0" y="12319"/>
                </a:lnTo>
                <a:lnTo>
                  <a:pt x="3086" y="0"/>
                </a:lnTo>
                <a:lnTo>
                  <a:pt x="336423" y="83693"/>
                </a:lnTo>
                <a:lnTo>
                  <a:pt x="333336" y="95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14600" y="2244725"/>
            <a:ext cx="1099185" cy="380365"/>
          </a:xfrm>
          <a:custGeom>
            <a:avLst/>
            <a:gdLst/>
            <a:ahLst/>
            <a:cxnLst/>
            <a:rect l="l" t="t" r="r" b="b"/>
            <a:pathLst>
              <a:path w="1099185" h="380364">
                <a:moveTo>
                  <a:pt x="491083" y="380034"/>
                </a:moveTo>
                <a:lnTo>
                  <a:pt x="0" y="260667"/>
                </a:lnTo>
                <a:lnTo>
                  <a:pt x="620026" y="0"/>
                </a:lnTo>
                <a:lnTo>
                  <a:pt x="1098765" y="107010"/>
                </a:lnTo>
                <a:lnTo>
                  <a:pt x="491083" y="3800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08275" y="2238400"/>
            <a:ext cx="1111885" cy="393065"/>
          </a:xfrm>
          <a:custGeom>
            <a:avLst/>
            <a:gdLst/>
            <a:ahLst/>
            <a:cxnLst/>
            <a:rect l="l" t="t" r="r" b="b"/>
            <a:pathLst>
              <a:path w="1111885" h="393064">
                <a:moveTo>
                  <a:pt x="497293" y="392696"/>
                </a:moveTo>
                <a:lnTo>
                  <a:pt x="4825" y="273164"/>
                </a:lnTo>
                <a:lnTo>
                  <a:pt x="0" y="267500"/>
                </a:lnTo>
                <a:lnTo>
                  <a:pt x="152" y="265531"/>
                </a:lnTo>
                <a:lnTo>
                  <a:pt x="623887" y="469"/>
                </a:lnTo>
                <a:lnTo>
                  <a:pt x="625792" y="0"/>
                </a:lnTo>
                <a:lnTo>
                  <a:pt x="627735" y="126"/>
                </a:lnTo>
                <a:lnTo>
                  <a:pt x="681654" y="12179"/>
                </a:lnTo>
                <a:lnTo>
                  <a:pt x="628815" y="12179"/>
                </a:lnTo>
                <a:lnTo>
                  <a:pt x="624966" y="12522"/>
                </a:lnTo>
                <a:lnTo>
                  <a:pt x="626946" y="12964"/>
                </a:lnTo>
                <a:lnTo>
                  <a:pt x="37395" y="260819"/>
                </a:lnTo>
                <a:lnTo>
                  <a:pt x="7823" y="260819"/>
                </a:lnTo>
                <a:lnTo>
                  <a:pt x="8788" y="272846"/>
                </a:lnTo>
                <a:lnTo>
                  <a:pt x="57302" y="272846"/>
                </a:lnTo>
                <a:lnTo>
                  <a:pt x="496776" y="379669"/>
                </a:lnTo>
                <a:lnTo>
                  <a:pt x="494804" y="380555"/>
                </a:lnTo>
                <a:lnTo>
                  <a:pt x="525819" y="380555"/>
                </a:lnTo>
                <a:lnTo>
                  <a:pt x="500011" y="392150"/>
                </a:lnTo>
                <a:lnTo>
                  <a:pt x="498678" y="392569"/>
                </a:lnTo>
                <a:lnTo>
                  <a:pt x="497293" y="392696"/>
                </a:lnTo>
                <a:close/>
              </a:path>
              <a:path w="1111885" h="393064">
                <a:moveTo>
                  <a:pt x="626946" y="12964"/>
                </a:moveTo>
                <a:lnTo>
                  <a:pt x="624966" y="12522"/>
                </a:lnTo>
                <a:lnTo>
                  <a:pt x="628815" y="12179"/>
                </a:lnTo>
                <a:lnTo>
                  <a:pt x="626946" y="12964"/>
                </a:lnTo>
                <a:close/>
              </a:path>
              <a:path w="1111885" h="393064">
                <a:moveTo>
                  <a:pt x="1085072" y="115367"/>
                </a:moveTo>
                <a:lnTo>
                  <a:pt x="626946" y="12964"/>
                </a:lnTo>
                <a:lnTo>
                  <a:pt x="628815" y="12179"/>
                </a:lnTo>
                <a:lnTo>
                  <a:pt x="681654" y="12179"/>
                </a:lnTo>
                <a:lnTo>
                  <a:pt x="1106474" y="107137"/>
                </a:lnTo>
                <a:lnTo>
                  <a:pt x="1107508" y="107543"/>
                </a:lnTo>
                <a:lnTo>
                  <a:pt x="1102487" y="107543"/>
                </a:lnTo>
                <a:lnTo>
                  <a:pt x="1085072" y="115367"/>
                </a:lnTo>
                <a:close/>
              </a:path>
              <a:path w="1111885" h="393064">
                <a:moveTo>
                  <a:pt x="1103706" y="119532"/>
                </a:moveTo>
                <a:lnTo>
                  <a:pt x="1085072" y="115367"/>
                </a:lnTo>
                <a:lnTo>
                  <a:pt x="1102487" y="107543"/>
                </a:lnTo>
                <a:lnTo>
                  <a:pt x="1103706" y="119532"/>
                </a:lnTo>
                <a:close/>
              </a:path>
              <a:path w="1111885" h="393064">
                <a:moveTo>
                  <a:pt x="1106789" y="119532"/>
                </a:moveTo>
                <a:lnTo>
                  <a:pt x="1103706" y="119532"/>
                </a:lnTo>
                <a:lnTo>
                  <a:pt x="1102487" y="107543"/>
                </a:lnTo>
                <a:lnTo>
                  <a:pt x="1107508" y="107543"/>
                </a:lnTo>
                <a:lnTo>
                  <a:pt x="1108316" y="107861"/>
                </a:lnTo>
                <a:lnTo>
                  <a:pt x="1109840" y="109118"/>
                </a:lnTo>
                <a:lnTo>
                  <a:pt x="1110907" y="110782"/>
                </a:lnTo>
                <a:lnTo>
                  <a:pt x="1111402" y="112699"/>
                </a:lnTo>
                <a:lnTo>
                  <a:pt x="1111300" y="114668"/>
                </a:lnTo>
                <a:lnTo>
                  <a:pt x="1110589" y="116509"/>
                </a:lnTo>
                <a:lnTo>
                  <a:pt x="1109344" y="118046"/>
                </a:lnTo>
                <a:lnTo>
                  <a:pt x="1107693" y="119125"/>
                </a:lnTo>
                <a:lnTo>
                  <a:pt x="1106789" y="119532"/>
                </a:lnTo>
                <a:close/>
              </a:path>
              <a:path w="1111885" h="393064">
                <a:moveTo>
                  <a:pt x="525819" y="380555"/>
                </a:moveTo>
                <a:lnTo>
                  <a:pt x="494804" y="380555"/>
                </a:lnTo>
                <a:lnTo>
                  <a:pt x="498906" y="380187"/>
                </a:lnTo>
                <a:lnTo>
                  <a:pt x="496776" y="379669"/>
                </a:lnTo>
                <a:lnTo>
                  <a:pt x="1085072" y="115367"/>
                </a:lnTo>
                <a:lnTo>
                  <a:pt x="1103706" y="119532"/>
                </a:lnTo>
                <a:lnTo>
                  <a:pt x="1106789" y="119532"/>
                </a:lnTo>
                <a:lnTo>
                  <a:pt x="525819" y="380555"/>
                </a:lnTo>
                <a:close/>
              </a:path>
              <a:path w="1111885" h="393064">
                <a:moveTo>
                  <a:pt x="8788" y="272846"/>
                </a:moveTo>
                <a:lnTo>
                  <a:pt x="7823" y="260819"/>
                </a:lnTo>
                <a:lnTo>
                  <a:pt x="26561" y="265374"/>
                </a:lnTo>
                <a:lnTo>
                  <a:pt x="8788" y="272846"/>
                </a:lnTo>
                <a:close/>
              </a:path>
              <a:path w="1111885" h="393064">
                <a:moveTo>
                  <a:pt x="26561" y="265374"/>
                </a:moveTo>
                <a:lnTo>
                  <a:pt x="7823" y="260819"/>
                </a:lnTo>
                <a:lnTo>
                  <a:pt x="37395" y="260819"/>
                </a:lnTo>
                <a:lnTo>
                  <a:pt x="26561" y="265374"/>
                </a:lnTo>
                <a:close/>
              </a:path>
              <a:path w="1111885" h="393064">
                <a:moveTo>
                  <a:pt x="57302" y="272846"/>
                </a:moveTo>
                <a:lnTo>
                  <a:pt x="8788" y="272846"/>
                </a:lnTo>
                <a:lnTo>
                  <a:pt x="26561" y="265374"/>
                </a:lnTo>
                <a:lnTo>
                  <a:pt x="57302" y="272846"/>
                </a:lnTo>
                <a:close/>
              </a:path>
              <a:path w="1111885" h="393064">
                <a:moveTo>
                  <a:pt x="494804" y="380555"/>
                </a:moveTo>
                <a:lnTo>
                  <a:pt x="496776" y="379669"/>
                </a:lnTo>
                <a:lnTo>
                  <a:pt x="498906" y="380187"/>
                </a:lnTo>
                <a:lnTo>
                  <a:pt x="494804" y="380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1477" y="3056915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21945" y="30187"/>
                </a:moveTo>
                <a:lnTo>
                  <a:pt x="0" y="19202"/>
                </a:lnTo>
                <a:lnTo>
                  <a:pt x="9601" y="0"/>
                </a:lnTo>
                <a:lnTo>
                  <a:pt x="31546" y="10972"/>
                </a:lnTo>
                <a:lnTo>
                  <a:pt x="21945" y="30187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24302" y="2938221"/>
            <a:ext cx="262255" cy="71755"/>
          </a:xfrm>
          <a:custGeom>
            <a:avLst/>
            <a:gdLst/>
            <a:ahLst/>
            <a:cxnLst/>
            <a:rect l="l" t="t" r="r" b="b"/>
            <a:pathLst>
              <a:path w="262255" h="71755">
                <a:moveTo>
                  <a:pt x="259257" y="71386"/>
                </a:moveTo>
                <a:lnTo>
                  <a:pt x="0" y="12382"/>
                </a:lnTo>
                <a:lnTo>
                  <a:pt x="2819" y="0"/>
                </a:lnTo>
                <a:lnTo>
                  <a:pt x="262077" y="58991"/>
                </a:lnTo>
                <a:lnTo>
                  <a:pt x="259257" y="71386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25636" y="2990367"/>
            <a:ext cx="260985" cy="73025"/>
          </a:xfrm>
          <a:custGeom>
            <a:avLst/>
            <a:gdLst/>
            <a:ahLst/>
            <a:cxnLst/>
            <a:rect l="l" t="t" r="r" b="b"/>
            <a:pathLst>
              <a:path w="260985" h="73025">
                <a:moveTo>
                  <a:pt x="257886" y="72732"/>
                </a:moveTo>
                <a:lnTo>
                  <a:pt x="0" y="12369"/>
                </a:lnTo>
                <a:lnTo>
                  <a:pt x="2895" y="0"/>
                </a:lnTo>
                <a:lnTo>
                  <a:pt x="260781" y="60363"/>
                </a:lnTo>
                <a:lnTo>
                  <a:pt x="257886" y="72732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15247" y="2940113"/>
            <a:ext cx="14604" cy="47625"/>
          </a:xfrm>
          <a:custGeom>
            <a:avLst/>
            <a:gdLst/>
            <a:ahLst/>
            <a:cxnLst/>
            <a:rect l="l" t="t" r="r" b="b"/>
            <a:pathLst>
              <a:path w="14605" h="47625">
                <a:moveTo>
                  <a:pt x="1371" y="47015"/>
                </a:moveTo>
                <a:lnTo>
                  <a:pt x="0" y="368"/>
                </a:lnTo>
                <a:lnTo>
                  <a:pt x="12700" y="0"/>
                </a:lnTo>
                <a:lnTo>
                  <a:pt x="14071" y="46647"/>
                </a:lnTo>
                <a:lnTo>
                  <a:pt x="1371" y="47015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884106" y="3012820"/>
            <a:ext cx="14604" cy="44450"/>
          </a:xfrm>
          <a:custGeom>
            <a:avLst/>
            <a:gdLst/>
            <a:ahLst/>
            <a:cxnLst/>
            <a:rect l="l" t="t" r="r" b="b"/>
            <a:pathLst>
              <a:path w="14605" h="44450">
                <a:moveTo>
                  <a:pt x="1371" y="44297"/>
                </a:moveTo>
                <a:lnTo>
                  <a:pt x="0" y="393"/>
                </a:lnTo>
                <a:lnTo>
                  <a:pt x="12700" y="0"/>
                </a:lnTo>
                <a:lnTo>
                  <a:pt x="14071" y="43891"/>
                </a:lnTo>
                <a:lnTo>
                  <a:pt x="1371" y="44297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6736" y="1136650"/>
            <a:ext cx="1368413" cy="146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721994" y="324167"/>
            <a:ext cx="4780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Arial Narrow"/>
                <a:cs typeface="Arial Narrow"/>
              </a:rPr>
              <a:t>How </a:t>
            </a:r>
            <a:r>
              <a:rPr sz="3000" b="1" dirty="0">
                <a:latin typeface="Arial Narrow"/>
                <a:cs typeface="Arial Narrow"/>
              </a:rPr>
              <a:t>the </a:t>
            </a:r>
            <a:r>
              <a:rPr sz="3000" b="1" spc="-15" dirty="0">
                <a:latin typeface="Arial Narrow"/>
                <a:cs typeface="Arial Narrow"/>
              </a:rPr>
              <a:t>Transaction </a:t>
            </a:r>
            <a:r>
              <a:rPr sz="3000" b="1" dirty="0">
                <a:latin typeface="Arial Narrow"/>
                <a:cs typeface="Arial Narrow"/>
              </a:rPr>
              <a:t>Log</a:t>
            </a:r>
            <a:r>
              <a:rPr sz="3000" b="1" spc="-25" dirty="0">
                <a:latin typeface="Arial Narrow"/>
                <a:cs typeface="Arial Narrow"/>
              </a:rPr>
              <a:t> </a:t>
            </a:r>
            <a:r>
              <a:rPr sz="3000" b="1" spc="-15" dirty="0">
                <a:latin typeface="Arial Narrow"/>
                <a:cs typeface="Arial Narrow"/>
              </a:rPr>
              <a:t>Works</a:t>
            </a:r>
            <a:endParaRPr sz="3000">
              <a:latin typeface="Arial Narrow"/>
              <a:cs typeface="Arial Narro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40510" y="2402573"/>
            <a:ext cx="894079" cy="4082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9610" y="1273810"/>
            <a:ext cx="3053080" cy="7797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42820" y="1339850"/>
            <a:ext cx="2197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 modification is  sent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application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791335" y="1334135"/>
            <a:ext cx="414655" cy="4146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10079" y="1413497"/>
            <a:ext cx="125564" cy="21890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28134" y="2874048"/>
            <a:ext cx="1047762" cy="469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72455" y="2601467"/>
            <a:ext cx="1075944" cy="10561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69408" y="2435351"/>
            <a:ext cx="1082039" cy="3337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65725" y="2432050"/>
            <a:ext cx="1089025" cy="12319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348095" y="2614295"/>
            <a:ext cx="421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 Narrow"/>
                <a:cs typeface="Arial Narrow"/>
              </a:rPr>
              <a:t>Dis</a:t>
            </a:r>
            <a:r>
              <a:rPr sz="1800" b="1" dirty="0">
                <a:latin typeface="Arial Narrow"/>
                <a:cs typeface="Arial Narrow"/>
              </a:rPr>
              <a:t>k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79084" y="1502410"/>
            <a:ext cx="3319780" cy="77977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662295" y="1568450"/>
            <a:ext cx="2794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Modification is recorded  in transaction log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disk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236209" y="1588135"/>
            <a:ext cx="414654" cy="41465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46065" y="1667497"/>
            <a:ext cx="161124" cy="22208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16610" y="4059872"/>
            <a:ext cx="3522979" cy="104171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99819" y="4119562"/>
            <a:ext cx="28454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 pages are located in,  </a:t>
            </a:r>
            <a:r>
              <a:rPr sz="1800" b="1" dirty="0">
                <a:latin typeface="Arial"/>
                <a:cs typeface="Arial"/>
              </a:rPr>
              <a:t>or </a:t>
            </a:r>
            <a:r>
              <a:rPr sz="1800" b="1" spc="-5" dirty="0">
                <a:latin typeface="Arial"/>
                <a:cs typeface="Arial"/>
              </a:rPr>
              <a:t>read into, buffer cache  and modified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48334" y="4169409"/>
            <a:ext cx="414654" cy="41465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55015" y="4248772"/>
            <a:ext cx="163664" cy="21890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665220" y="2542857"/>
            <a:ext cx="119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 Narrow"/>
                <a:cs typeface="Arial Narrow"/>
              </a:rPr>
              <a:t>Buffer</a:t>
            </a:r>
            <a:r>
              <a:rPr sz="1800" b="1" spc="-70" dirty="0">
                <a:latin typeface="Arial Narrow"/>
                <a:cs typeface="Arial Narrow"/>
              </a:rPr>
              <a:t> </a:t>
            </a:r>
            <a:r>
              <a:rPr sz="1800" b="1" spc="-5" dirty="0">
                <a:latin typeface="Arial Narrow"/>
                <a:cs typeface="Arial Narrow"/>
              </a:rPr>
              <a:t>Cache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104197" y="2875597"/>
            <a:ext cx="382904" cy="306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08997" y="2875597"/>
            <a:ext cx="382904" cy="3067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713797" y="2875597"/>
            <a:ext cx="382904" cy="306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04197" y="3104197"/>
            <a:ext cx="382904" cy="306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08997" y="3104197"/>
            <a:ext cx="382904" cy="3067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713797" y="3104197"/>
            <a:ext cx="382904" cy="306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04197" y="3332797"/>
            <a:ext cx="382904" cy="3067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408997" y="3332797"/>
            <a:ext cx="382904" cy="3067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713797" y="3332797"/>
            <a:ext cx="382904" cy="306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419475" y="2886075"/>
            <a:ext cx="323850" cy="247650"/>
          </a:xfrm>
          <a:custGeom>
            <a:avLst/>
            <a:gdLst/>
            <a:ahLst/>
            <a:cxnLst/>
            <a:rect l="l" t="t" r="r" b="b"/>
            <a:pathLst>
              <a:path w="323850" h="247650">
                <a:moveTo>
                  <a:pt x="323850" y="247650"/>
                </a:moveTo>
                <a:lnTo>
                  <a:pt x="0" y="247650"/>
                </a:lnTo>
                <a:lnTo>
                  <a:pt x="0" y="0"/>
                </a:lnTo>
                <a:lnTo>
                  <a:pt x="323850" y="0"/>
                </a:lnTo>
                <a:lnTo>
                  <a:pt x="3238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28600"/>
                </a:lnTo>
                <a:lnTo>
                  <a:pt x="9525" y="228600"/>
                </a:lnTo>
                <a:lnTo>
                  <a:pt x="19050" y="238125"/>
                </a:lnTo>
                <a:lnTo>
                  <a:pt x="323850" y="238125"/>
                </a:lnTo>
                <a:lnTo>
                  <a:pt x="323850" y="247650"/>
                </a:lnTo>
                <a:close/>
              </a:path>
              <a:path w="323850" h="24765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323850" h="247650">
                <a:moveTo>
                  <a:pt x="30480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304800" y="9525"/>
                </a:lnTo>
                <a:lnTo>
                  <a:pt x="304800" y="19050"/>
                </a:lnTo>
                <a:close/>
              </a:path>
              <a:path w="323850" h="247650">
                <a:moveTo>
                  <a:pt x="304800" y="238125"/>
                </a:moveTo>
                <a:lnTo>
                  <a:pt x="304800" y="9525"/>
                </a:lnTo>
                <a:lnTo>
                  <a:pt x="314325" y="19050"/>
                </a:lnTo>
                <a:lnTo>
                  <a:pt x="323850" y="19050"/>
                </a:lnTo>
                <a:lnTo>
                  <a:pt x="323850" y="228600"/>
                </a:lnTo>
                <a:lnTo>
                  <a:pt x="314325" y="228600"/>
                </a:lnTo>
                <a:lnTo>
                  <a:pt x="304800" y="238125"/>
                </a:lnTo>
                <a:close/>
              </a:path>
              <a:path w="323850" h="247650">
                <a:moveTo>
                  <a:pt x="323850" y="19050"/>
                </a:moveTo>
                <a:lnTo>
                  <a:pt x="314325" y="19050"/>
                </a:lnTo>
                <a:lnTo>
                  <a:pt x="304800" y="9525"/>
                </a:lnTo>
                <a:lnTo>
                  <a:pt x="323850" y="9525"/>
                </a:lnTo>
                <a:lnTo>
                  <a:pt x="323850" y="19050"/>
                </a:lnTo>
                <a:close/>
              </a:path>
              <a:path w="323850" h="247650">
                <a:moveTo>
                  <a:pt x="19050" y="238125"/>
                </a:moveTo>
                <a:lnTo>
                  <a:pt x="9525" y="228600"/>
                </a:lnTo>
                <a:lnTo>
                  <a:pt x="19050" y="228600"/>
                </a:lnTo>
                <a:lnTo>
                  <a:pt x="19050" y="238125"/>
                </a:lnTo>
                <a:close/>
              </a:path>
              <a:path w="323850" h="247650">
                <a:moveTo>
                  <a:pt x="304800" y="238125"/>
                </a:moveTo>
                <a:lnTo>
                  <a:pt x="19050" y="238125"/>
                </a:lnTo>
                <a:lnTo>
                  <a:pt x="19050" y="228600"/>
                </a:lnTo>
                <a:lnTo>
                  <a:pt x="304800" y="228600"/>
                </a:lnTo>
                <a:lnTo>
                  <a:pt x="304800" y="238125"/>
                </a:lnTo>
                <a:close/>
              </a:path>
              <a:path w="323850" h="247650">
                <a:moveTo>
                  <a:pt x="323850" y="238125"/>
                </a:moveTo>
                <a:lnTo>
                  <a:pt x="304800" y="238125"/>
                </a:lnTo>
                <a:lnTo>
                  <a:pt x="314325" y="228600"/>
                </a:lnTo>
                <a:lnTo>
                  <a:pt x="323850" y="228600"/>
                </a:lnTo>
                <a:lnTo>
                  <a:pt x="323850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28134" y="3669398"/>
            <a:ext cx="1047762" cy="46986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357620" y="4062095"/>
            <a:ext cx="421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 Narrow"/>
                <a:cs typeface="Arial Narrow"/>
              </a:rPr>
              <a:t>Dis</a:t>
            </a:r>
            <a:r>
              <a:rPr sz="1800" b="1" dirty="0">
                <a:latin typeface="Arial Narrow"/>
                <a:cs typeface="Arial Narrow"/>
              </a:rPr>
              <a:t>k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172455" y="4049267"/>
            <a:ext cx="1075944" cy="10561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69408" y="3883152"/>
            <a:ext cx="1082039" cy="33375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165725" y="3879850"/>
            <a:ext cx="1089025" cy="12319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80784" y="4694872"/>
            <a:ext cx="2494280" cy="132111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6563994" y="4757102"/>
            <a:ext cx="1994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Checkpoint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writes  committed  transactions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50609" y="4779009"/>
            <a:ext cx="414655" cy="4146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256020" y="4859007"/>
            <a:ext cx="171284" cy="21827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3400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7" y="356615"/>
                </a:moveTo>
                <a:lnTo>
                  <a:pt x="59436" y="356615"/>
                </a:lnTo>
                <a:lnTo>
                  <a:pt x="36320" y="351938"/>
                </a:lnTo>
                <a:lnTo>
                  <a:pt x="17425" y="339190"/>
                </a:lnTo>
                <a:lnTo>
                  <a:pt x="4677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677" y="35999"/>
                </a:lnTo>
                <a:lnTo>
                  <a:pt x="17425" y="16997"/>
                </a:lnTo>
                <a:lnTo>
                  <a:pt x="36320" y="4355"/>
                </a:lnTo>
                <a:lnTo>
                  <a:pt x="59436" y="0"/>
                </a:lnTo>
                <a:lnTo>
                  <a:pt x="384047" y="0"/>
                </a:lnTo>
                <a:lnTo>
                  <a:pt x="406841" y="4355"/>
                </a:lnTo>
                <a:lnTo>
                  <a:pt x="425629" y="16997"/>
                </a:lnTo>
                <a:lnTo>
                  <a:pt x="438485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485" y="320295"/>
                </a:lnTo>
                <a:lnTo>
                  <a:pt x="425629" y="339190"/>
                </a:lnTo>
                <a:lnTo>
                  <a:pt x="406841" y="351938"/>
                </a:lnTo>
                <a:lnTo>
                  <a:pt x="384047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28713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62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1" y="17779"/>
                </a:moveTo>
                <a:lnTo>
                  <a:pt x="18923" y="17779"/>
                </a:lnTo>
                <a:lnTo>
                  <a:pt x="23152" y="13970"/>
                </a:lnTo>
                <a:lnTo>
                  <a:pt x="23495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1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37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8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3" y="332739"/>
                </a:moveTo>
                <a:lnTo>
                  <a:pt x="7581" y="332739"/>
                </a:lnTo>
                <a:lnTo>
                  <a:pt x="5079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79" y="38100"/>
                </a:lnTo>
                <a:lnTo>
                  <a:pt x="7581" y="33020"/>
                </a:lnTo>
                <a:lnTo>
                  <a:pt x="18923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2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842" y="5715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2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3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7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79" y="36829"/>
                </a:lnTo>
                <a:lnTo>
                  <a:pt x="447205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42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2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42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42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2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42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05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3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8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1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5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62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8263" y="6050279"/>
            <a:ext cx="332740" cy="192405"/>
          </a:xfrm>
          <a:custGeom>
            <a:avLst/>
            <a:gdLst/>
            <a:ahLst/>
            <a:cxnLst/>
            <a:rect l="l" t="t" r="r" b="b"/>
            <a:pathLst>
              <a:path w="332740" h="192404">
                <a:moveTo>
                  <a:pt x="0" y="0"/>
                </a:moveTo>
                <a:lnTo>
                  <a:pt x="332232" y="0"/>
                </a:lnTo>
                <a:lnTo>
                  <a:pt x="332232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4200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76910" y="6036309"/>
            <a:ext cx="143205" cy="13825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66102" y="6085522"/>
            <a:ext cx="207962" cy="14477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031747" y="5967984"/>
            <a:ext cx="443865" cy="356870"/>
          </a:xfrm>
          <a:custGeom>
            <a:avLst/>
            <a:gdLst/>
            <a:ahLst/>
            <a:cxnLst/>
            <a:rect l="l" t="t" r="r" b="b"/>
            <a:pathLst>
              <a:path w="443865" h="356870">
                <a:moveTo>
                  <a:pt x="384048" y="356615"/>
                </a:moveTo>
                <a:lnTo>
                  <a:pt x="59436" y="356615"/>
                </a:lnTo>
                <a:lnTo>
                  <a:pt x="36392" y="351938"/>
                </a:lnTo>
                <a:lnTo>
                  <a:pt x="17521" y="339190"/>
                </a:lnTo>
                <a:lnTo>
                  <a:pt x="4748" y="320295"/>
                </a:lnTo>
                <a:lnTo>
                  <a:pt x="0" y="297179"/>
                </a:lnTo>
                <a:lnTo>
                  <a:pt x="0" y="59436"/>
                </a:lnTo>
                <a:lnTo>
                  <a:pt x="4748" y="35999"/>
                </a:lnTo>
                <a:lnTo>
                  <a:pt x="17521" y="16997"/>
                </a:lnTo>
                <a:lnTo>
                  <a:pt x="36392" y="4355"/>
                </a:lnTo>
                <a:lnTo>
                  <a:pt x="59436" y="0"/>
                </a:lnTo>
                <a:lnTo>
                  <a:pt x="384048" y="0"/>
                </a:lnTo>
                <a:lnTo>
                  <a:pt x="406913" y="4355"/>
                </a:lnTo>
                <a:lnTo>
                  <a:pt x="425724" y="16997"/>
                </a:lnTo>
                <a:lnTo>
                  <a:pt x="438556" y="35999"/>
                </a:lnTo>
                <a:lnTo>
                  <a:pt x="443484" y="59436"/>
                </a:lnTo>
                <a:lnTo>
                  <a:pt x="443484" y="297179"/>
                </a:lnTo>
                <a:lnTo>
                  <a:pt x="438556" y="320295"/>
                </a:lnTo>
                <a:lnTo>
                  <a:pt x="425724" y="339190"/>
                </a:lnTo>
                <a:lnTo>
                  <a:pt x="406913" y="351938"/>
                </a:lnTo>
                <a:lnTo>
                  <a:pt x="384048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027188" y="5962650"/>
            <a:ext cx="452755" cy="365760"/>
          </a:xfrm>
          <a:custGeom>
            <a:avLst/>
            <a:gdLst/>
            <a:ahLst/>
            <a:cxnLst/>
            <a:rect l="l" t="t" r="r" b="b"/>
            <a:pathLst>
              <a:path w="452755" h="365760">
                <a:moveTo>
                  <a:pt x="401129" y="1270"/>
                </a:moveTo>
                <a:lnTo>
                  <a:pt x="51384" y="1270"/>
                </a:lnTo>
                <a:lnTo>
                  <a:pt x="54546" y="0"/>
                </a:lnTo>
                <a:lnTo>
                  <a:pt x="397967" y="0"/>
                </a:lnTo>
                <a:lnTo>
                  <a:pt x="401129" y="1270"/>
                </a:lnTo>
                <a:close/>
              </a:path>
              <a:path w="452755" h="365760">
                <a:moveTo>
                  <a:pt x="418515" y="7620"/>
                </a:moveTo>
                <a:lnTo>
                  <a:pt x="33769" y="7620"/>
                </a:lnTo>
                <a:lnTo>
                  <a:pt x="38976" y="5079"/>
                </a:lnTo>
                <a:lnTo>
                  <a:pt x="39408" y="3810"/>
                </a:lnTo>
                <a:lnTo>
                  <a:pt x="45212" y="2539"/>
                </a:lnTo>
                <a:lnTo>
                  <a:pt x="48272" y="1270"/>
                </a:lnTo>
                <a:lnTo>
                  <a:pt x="404241" y="1270"/>
                </a:lnTo>
                <a:lnTo>
                  <a:pt x="407073" y="2539"/>
                </a:lnTo>
                <a:lnTo>
                  <a:pt x="412877" y="3810"/>
                </a:lnTo>
                <a:lnTo>
                  <a:pt x="413308" y="5079"/>
                </a:lnTo>
                <a:lnTo>
                  <a:pt x="418515" y="7620"/>
                </a:lnTo>
                <a:close/>
              </a:path>
              <a:path w="452755" h="365760">
                <a:moveTo>
                  <a:pt x="53060" y="10160"/>
                </a:moveTo>
                <a:lnTo>
                  <a:pt x="28460" y="10160"/>
                </a:lnTo>
                <a:lnTo>
                  <a:pt x="33375" y="7620"/>
                </a:lnTo>
                <a:lnTo>
                  <a:pt x="418922" y="7620"/>
                </a:lnTo>
                <a:lnTo>
                  <a:pt x="421373" y="8889"/>
                </a:lnTo>
                <a:lnTo>
                  <a:pt x="55994" y="8889"/>
                </a:lnTo>
                <a:lnTo>
                  <a:pt x="53060" y="10160"/>
                </a:lnTo>
                <a:close/>
              </a:path>
              <a:path w="452755" h="365760">
                <a:moveTo>
                  <a:pt x="55753" y="10160"/>
                </a:moveTo>
                <a:lnTo>
                  <a:pt x="55994" y="8889"/>
                </a:lnTo>
                <a:lnTo>
                  <a:pt x="58737" y="8889"/>
                </a:lnTo>
                <a:lnTo>
                  <a:pt x="55753" y="10160"/>
                </a:lnTo>
                <a:close/>
              </a:path>
              <a:path w="452755" h="365760">
                <a:moveTo>
                  <a:pt x="396532" y="10160"/>
                </a:moveTo>
                <a:lnTo>
                  <a:pt x="393547" y="8889"/>
                </a:lnTo>
                <a:lnTo>
                  <a:pt x="396290" y="8889"/>
                </a:lnTo>
                <a:lnTo>
                  <a:pt x="396532" y="10160"/>
                </a:lnTo>
                <a:close/>
              </a:path>
              <a:path w="452755" h="365760">
                <a:moveTo>
                  <a:pt x="423824" y="10160"/>
                </a:moveTo>
                <a:lnTo>
                  <a:pt x="399224" y="10160"/>
                </a:lnTo>
                <a:lnTo>
                  <a:pt x="396290" y="8889"/>
                </a:lnTo>
                <a:lnTo>
                  <a:pt x="421373" y="8889"/>
                </a:lnTo>
                <a:lnTo>
                  <a:pt x="423824" y="10160"/>
                </a:lnTo>
                <a:close/>
              </a:path>
              <a:path w="452755" h="365760">
                <a:moveTo>
                  <a:pt x="33400" y="17779"/>
                </a:moveTo>
                <a:lnTo>
                  <a:pt x="18922" y="17779"/>
                </a:lnTo>
                <a:lnTo>
                  <a:pt x="23152" y="13970"/>
                </a:lnTo>
                <a:lnTo>
                  <a:pt x="23494" y="13970"/>
                </a:lnTo>
                <a:lnTo>
                  <a:pt x="28079" y="10160"/>
                </a:lnTo>
                <a:lnTo>
                  <a:pt x="50647" y="10160"/>
                </a:lnTo>
                <a:lnTo>
                  <a:pt x="47815" y="11429"/>
                </a:lnTo>
                <a:lnTo>
                  <a:pt x="48158" y="11429"/>
                </a:lnTo>
                <a:lnTo>
                  <a:pt x="42684" y="12700"/>
                </a:lnTo>
                <a:lnTo>
                  <a:pt x="43116" y="12700"/>
                </a:lnTo>
                <a:lnTo>
                  <a:pt x="37909" y="15239"/>
                </a:lnTo>
                <a:lnTo>
                  <a:pt x="38315" y="15239"/>
                </a:lnTo>
                <a:lnTo>
                  <a:pt x="33400" y="17779"/>
                </a:lnTo>
                <a:close/>
              </a:path>
              <a:path w="452755" h="365760">
                <a:moveTo>
                  <a:pt x="433362" y="17779"/>
                </a:moveTo>
                <a:lnTo>
                  <a:pt x="418884" y="17779"/>
                </a:lnTo>
                <a:lnTo>
                  <a:pt x="413969" y="15239"/>
                </a:lnTo>
                <a:lnTo>
                  <a:pt x="414375" y="15239"/>
                </a:lnTo>
                <a:lnTo>
                  <a:pt x="409168" y="12700"/>
                </a:lnTo>
                <a:lnTo>
                  <a:pt x="409600" y="12700"/>
                </a:lnTo>
                <a:lnTo>
                  <a:pt x="404126" y="11429"/>
                </a:lnTo>
                <a:lnTo>
                  <a:pt x="404469" y="11429"/>
                </a:lnTo>
                <a:lnTo>
                  <a:pt x="401650" y="10160"/>
                </a:lnTo>
                <a:lnTo>
                  <a:pt x="424205" y="10160"/>
                </a:lnTo>
                <a:lnTo>
                  <a:pt x="428790" y="13970"/>
                </a:lnTo>
                <a:lnTo>
                  <a:pt x="429133" y="13970"/>
                </a:lnTo>
                <a:lnTo>
                  <a:pt x="433362" y="17779"/>
                </a:lnTo>
                <a:close/>
              </a:path>
              <a:path w="452755" h="365760">
                <a:moveTo>
                  <a:pt x="18668" y="33020"/>
                </a:moveTo>
                <a:lnTo>
                  <a:pt x="7797" y="33020"/>
                </a:lnTo>
                <a:lnTo>
                  <a:pt x="10782" y="27939"/>
                </a:lnTo>
                <a:lnTo>
                  <a:pt x="11036" y="27939"/>
                </a:lnTo>
                <a:lnTo>
                  <a:pt x="14465" y="22860"/>
                </a:lnTo>
                <a:lnTo>
                  <a:pt x="14757" y="22860"/>
                </a:lnTo>
                <a:lnTo>
                  <a:pt x="18592" y="17779"/>
                </a:lnTo>
                <a:lnTo>
                  <a:pt x="33781" y="17779"/>
                </a:lnTo>
                <a:lnTo>
                  <a:pt x="29197" y="21589"/>
                </a:lnTo>
                <a:lnTo>
                  <a:pt x="29552" y="21589"/>
                </a:lnTo>
                <a:lnTo>
                  <a:pt x="25323" y="25400"/>
                </a:lnTo>
                <a:lnTo>
                  <a:pt x="25641" y="25400"/>
                </a:lnTo>
                <a:lnTo>
                  <a:pt x="21805" y="29210"/>
                </a:lnTo>
                <a:lnTo>
                  <a:pt x="22097" y="29210"/>
                </a:lnTo>
                <a:lnTo>
                  <a:pt x="18668" y="33020"/>
                </a:lnTo>
                <a:close/>
              </a:path>
              <a:path w="452755" h="365760">
                <a:moveTo>
                  <a:pt x="444487" y="33020"/>
                </a:moveTo>
                <a:lnTo>
                  <a:pt x="433616" y="33020"/>
                </a:lnTo>
                <a:lnTo>
                  <a:pt x="430187" y="29210"/>
                </a:lnTo>
                <a:lnTo>
                  <a:pt x="430479" y="29210"/>
                </a:lnTo>
                <a:lnTo>
                  <a:pt x="426643" y="25400"/>
                </a:lnTo>
                <a:lnTo>
                  <a:pt x="426961" y="25400"/>
                </a:lnTo>
                <a:lnTo>
                  <a:pt x="422732" y="21589"/>
                </a:lnTo>
                <a:lnTo>
                  <a:pt x="423087" y="21589"/>
                </a:lnTo>
                <a:lnTo>
                  <a:pt x="418503" y="17779"/>
                </a:lnTo>
                <a:lnTo>
                  <a:pt x="433692" y="17779"/>
                </a:lnTo>
                <a:lnTo>
                  <a:pt x="437527" y="22860"/>
                </a:lnTo>
                <a:lnTo>
                  <a:pt x="437819" y="22860"/>
                </a:lnTo>
                <a:lnTo>
                  <a:pt x="441248" y="27939"/>
                </a:lnTo>
                <a:lnTo>
                  <a:pt x="441502" y="27939"/>
                </a:lnTo>
                <a:lnTo>
                  <a:pt x="444487" y="33020"/>
                </a:lnTo>
                <a:close/>
              </a:path>
              <a:path w="452755" h="365760">
                <a:moveTo>
                  <a:pt x="18922" y="332739"/>
                </a:moveTo>
                <a:lnTo>
                  <a:pt x="7581" y="332739"/>
                </a:lnTo>
                <a:lnTo>
                  <a:pt x="5080" y="327660"/>
                </a:lnTo>
                <a:lnTo>
                  <a:pt x="4889" y="326389"/>
                </a:lnTo>
                <a:lnTo>
                  <a:pt x="2781" y="321310"/>
                </a:lnTo>
                <a:lnTo>
                  <a:pt x="1917" y="317500"/>
                </a:lnTo>
                <a:lnTo>
                  <a:pt x="1206" y="314960"/>
                </a:lnTo>
                <a:lnTo>
                  <a:pt x="647" y="311150"/>
                </a:lnTo>
                <a:lnTo>
                  <a:pt x="241" y="308610"/>
                </a:lnTo>
                <a:lnTo>
                  <a:pt x="0" y="304800"/>
                </a:lnTo>
                <a:lnTo>
                  <a:pt x="0" y="60960"/>
                </a:lnTo>
                <a:lnTo>
                  <a:pt x="266" y="57150"/>
                </a:lnTo>
                <a:lnTo>
                  <a:pt x="685" y="53339"/>
                </a:lnTo>
                <a:lnTo>
                  <a:pt x="1257" y="50800"/>
                </a:lnTo>
                <a:lnTo>
                  <a:pt x="1981" y="46989"/>
                </a:lnTo>
                <a:lnTo>
                  <a:pt x="2781" y="44450"/>
                </a:lnTo>
                <a:lnTo>
                  <a:pt x="4889" y="39370"/>
                </a:lnTo>
                <a:lnTo>
                  <a:pt x="5080" y="38100"/>
                </a:lnTo>
                <a:lnTo>
                  <a:pt x="7581" y="33020"/>
                </a:lnTo>
                <a:lnTo>
                  <a:pt x="18922" y="33020"/>
                </a:lnTo>
                <a:lnTo>
                  <a:pt x="16684" y="36829"/>
                </a:lnTo>
                <a:lnTo>
                  <a:pt x="16167" y="36829"/>
                </a:lnTo>
                <a:lnTo>
                  <a:pt x="14155" y="41910"/>
                </a:lnTo>
                <a:lnTo>
                  <a:pt x="13843" y="41910"/>
                </a:lnTo>
                <a:lnTo>
                  <a:pt x="11836" y="46989"/>
                </a:lnTo>
                <a:lnTo>
                  <a:pt x="11137" y="49529"/>
                </a:lnTo>
                <a:lnTo>
                  <a:pt x="10761" y="52070"/>
                </a:lnTo>
                <a:lnTo>
                  <a:pt x="10579" y="52070"/>
                </a:lnTo>
                <a:lnTo>
                  <a:pt x="10231" y="54610"/>
                </a:lnTo>
                <a:lnTo>
                  <a:pt x="10096" y="54610"/>
                </a:lnTo>
                <a:lnTo>
                  <a:pt x="9715" y="58420"/>
                </a:lnTo>
                <a:lnTo>
                  <a:pt x="9512" y="60960"/>
                </a:lnTo>
                <a:lnTo>
                  <a:pt x="9512" y="304800"/>
                </a:lnTo>
                <a:lnTo>
                  <a:pt x="9740" y="307339"/>
                </a:lnTo>
                <a:lnTo>
                  <a:pt x="10096" y="309879"/>
                </a:lnTo>
                <a:lnTo>
                  <a:pt x="10579" y="312420"/>
                </a:lnTo>
                <a:lnTo>
                  <a:pt x="11201" y="314960"/>
                </a:lnTo>
                <a:lnTo>
                  <a:pt x="11937" y="318770"/>
                </a:lnTo>
                <a:lnTo>
                  <a:pt x="12237" y="318770"/>
                </a:lnTo>
                <a:lnTo>
                  <a:pt x="13843" y="323850"/>
                </a:lnTo>
                <a:lnTo>
                  <a:pt x="14281" y="323850"/>
                </a:lnTo>
                <a:lnTo>
                  <a:pt x="16167" y="327660"/>
                </a:lnTo>
                <a:lnTo>
                  <a:pt x="15938" y="327660"/>
                </a:lnTo>
                <a:lnTo>
                  <a:pt x="18922" y="332739"/>
                </a:lnTo>
                <a:close/>
              </a:path>
              <a:path w="452755" h="365760">
                <a:moveTo>
                  <a:pt x="436346" y="38100"/>
                </a:moveTo>
                <a:lnTo>
                  <a:pt x="433362" y="33020"/>
                </a:lnTo>
                <a:lnTo>
                  <a:pt x="444703" y="33020"/>
                </a:lnTo>
                <a:lnTo>
                  <a:pt x="446589" y="36829"/>
                </a:lnTo>
                <a:lnTo>
                  <a:pt x="436118" y="36829"/>
                </a:lnTo>
                <a:lnTo>
                  <a:pt x="436346" y="38100"/>
                </a:lnTo>
                <a:close/>
              </a:path>
              <a:path w="452755" h="365760">
                <a:moveTo>
                  <a:pt x="15938" y="38100"/>
                </a:moveTo>
                <a:lnTo>
                  <a:pt x="16167" y="36829"/>
                </a:lnTo>
                <a:lnTo>
                  <a:pt x="16684" y="36829"/>
                </a:lnTo>
                <a:lnTo>
                  <a:pt x="15938" y="38100"/>
                </a:lnTo>
                <a:close/>
              </a:path>
              <a:path w="452755" h="365760">
                <a:moveTo>
                  <a:pt x="438632" y="43179"/>
                </a:moveTo>
                <a:lnTo>
                  <a:pt x="436118" y="36829"/>
                </a:lnTo>
                <a:lnTo>
                  <a:pt x="446589" y="36829"/>
                </a:lnTo>
                <a:lnTo>
                  <a:pt x="447217" y="38100"/>
                </a:lnTo>
                <a:lnTo>
                  <a:pt x="447395" y="39370"/>
                </a:lnTo>
                <a:lnTo>
                  <a:pt x="448449" y="41910"/>
                </a:lnTo>
                <a:lnTo>
                  <a:pt x="438454" y="41910"/>
                </a:lnTo>
                <a:lnTo>
                  <a:pt x="438632" y="43179"/>
                </a:lnTo>
                <a:close/>
              </a:path>
              <a:path w="452755" h="365760">
                <a:moveTo>
                  <a:pt x="13652" y="43179"/>
                </a:moveTo>
                <a:lnTo>
                  <a:pt x="13843" y="41910"/>
                </a:lnTo>
                <a:lnTo>
                  <a:pt x="14155" y="41910"/>
                </a:lnTo>
                <a:lnTo>
                  <a:pt x="13652" y="43179"/>
                </a:lnTo>
                <a:close/>
              </a:path>
              <a:path w="452755" h="365760">
                <a:moveTo>
                  <a:pt x="441744" y="53339"/>
                </a:moveTo>
                <a:lnTo>
                  <a:pt x="441083" y="49529"/>
                </a:lnTo>
                <a:lnTo>
                  <a:pt x="440347" y="46989"/>
                </a:lnTo>
                <a:lnTo>
                  <a:pt x="438454" y="41910"/>
                </a:lnTo>
                <a:lnTo>
                  <a:pt x="448449" y="41910"/>
                </a:lnTo>
                <a:lnTo>
                  <a:pt x="449503" y="44450"/>
                </a:lnTo>
                <a:lnTo>
                  <a:pt x="450367" y="48260"/>
                </a:lnTo>
                <a:lnTo>
                  <a:pt x="451078" y="50800"/>
                </a:lnTo>
                <a:lnTo>
                  <a:pt x="451264" y="52070"/>
                </a:lnTo>
                <a:lnTo>
                  <a:pt x="441706" y="52070"/>
                </a:lnTo>
                <a:lnTo>
                  <a:pt x="441744" y="53339"/>
                </a:lnTo>
                <a:close/>
              </a:path>
              <a:path w="452755" h="365760">
                <a:moveTo>
                  <a:pt x="10540" y="53339"/>
                </a:moveTo>
                <a:lnTo>
                  <a:pt x="10579" y="52070"/>
                </a:lnTo>
                <a:lnTo>
                  <a:pt x="10761" y="52070"/>
                </a:lnTo>
                <a:lnTo>
                  <a:pt x="10540" y="53339"/>
                </a:lnTo>
                <a:close/>
              </a:path>
              <a:path w="452755" h="365760">
                <a:moveTo>
                  <a:pt x="442226" y="55879"/>
                </a:moveTo>
                <a:lnTo>
                  <a:pt x="441706" y="52070"/>
                </a:lnTo>
                <a:lnTo>
                  <a:pt x="451264" y="52070"/>
                </a:lnTo>
                <a:lnTo>
                  <a:pt x="451637" y="54610"/>
                </a:lnTo>
                <a:lnTo>
                  <a:pt x="442188" y="54610"/>
                </a:lnTo>
                <a:lnTo>
                  <a:pt x="442226" y="55879"/>
                </a:lnTo>
                <a:close/>
              </a:path>
              <a:path w="452755" h="365760">
                <a:moveTo>
                  <a:pt x="10058" y="55879"/>
                </a:moveTo>
                <a:lnTo>
                  <a:pt x="10096" y="54610"/>
                </a:lnTo>
                <a:lnTo>
                  <a:pt x="10231" y="54610"/>
                </a:lnTo>
                <a:lnTo>
                  <a:pt x="10058" y="55879"/>
                </a:lnTo>
                <a:close/>
              </a:path>
              <a:path w="452755" h="365760">
                <a:moveTo>
                  <a:pt x="450037" y="318770"/>
                </a:moveTo>
                <a:lnTo>
                  <a:pt x="440347" y="318770"/>
                </a:lnTo>
                <a:lnTo>
                  <a:pt x="441147" y="314960"/>
                </a:lnTo>
                <a:lnTo>
                  <a:pt x="441744" y="312420"/>
                </a:lnTo>
                <a:lnTo>
                  <a:pt x="442226" y="309879"/>
                </a:lnTo>
                <a:lnTo>
                  <a:pt x="442569" y="307339"/>
                </a:lnTo>
                <a:lnTo>
                  <a:pt x="442772" y="304800"/>
                </a:lnTo>
                <a:lnTo>
                  <a:pt x="442760" y="60960"/>
                </a:lnTo>
                <a:lnTo>
                  <a:pt x="442544" y="58420"/>
                </a:lnTo>
                <a:lnTo>
                  <a:pt x="442188" y="54610"/>
                </a:lnTo>
                <a:lnTo>
                  <a:pt x="451637" y="54610"/>
                </a:lnTo>
                <a:lnTo>
                  <a:pt x="452043" y="57150"/>
                </a:lnTo>
                <a:lnTo>
                  <a:pt x="452285" y="60960"/>
                </a:lnTo>
                <a:lnTo>
                  <a:pt x="452272" y="304800"/>
                </a:lnTo>
                <a:lnTo>
                  <a:pt x="452018" y="308610"/>
                </a:lnTo>
                <a:lnTo>
                  <a:pt x="451599" y="311150"/>
                </a:lnTo>
                <a:lnTo>
                  <a:pt x="451027" y="314960"/>
                </a:lnTo>
                <a:lnTo>
                  <a:pt x="450303" y="317500"/>
                </a:lnTo>
                <a:lnTo>
                  <a:pt x="450037" y="318770"/>
                </a:lnTo>
                <a:close/>
              </a:path>
              <a:path w="452755" h="365760">
                <a:moveTo>
                  <a:pt x="12237" y="318770"/>
                </a:moveTo>
                <a:lnTo>
                  <a:pt x="11937" y="318770"/>
                </a:lnTo>
                <a:lnTo>
                  <a:pt x="11836" y="317500"/>
                </a:lnTo>
                <a:lnTo>
                  <a:pt x="12237" y="318770"/>
                </a:lnTo>
                <a:close/>
              </a:path>
              <a:path w="452755" h="365760">
                <a:moveTo>
                  <a:pt x="448449" y="323850"/>
                </a:moveTo>
                <a:lnTo>
                  <a:pt x="438454" y="323850"/>
                </a:lnTo>
                <a:lnTo>
                  <a:pt x="440448" y="317500"/>
                </a:lnTo>
                <a:lnTo>
                  <a:pt x="440347" y="318770"/>
                </a:lnTo>
                <a:lnTo>
                  <a:pt x="450037" y="318770"/>
                </a:lnTo>
                <a:lnTo>
                  <a:pt x="449503" y="321310"/>
                </a:lnTo>
                <a:lnTo>
                  <a:pt x="448449" y="323850"/>
                </a:lnTo>
                <a:close/>
              </a:path>
              <a:path w="452755" h="365760">
                <a:moveTo>
                  <a:pt x="14281" y="323850"/>
                </a:moveTo>
                <a:lnTo>
                  <a:pt x="13843" y="323850"/>
                </a:lnTo>
                <a:lnTo>
                  <a:pt x="13652" y="322579"/>
                </a:lnTo>
                <a:lnTo>
                  <a:pt x="14281" y="323850"/>
                </a:lnTo>
                <a:close/>
              </a:path>
              <a:path w="452755" h="365760">
                <a:moveTo>
                  <a:pt x="444703" y="332739"/>
                </a:moveTo>
                <a:lnTo>
                  <a:pt x="433362" y="332739"/>
                </a:lnTo>
                <a:lnTo>
                  <a:pt x="436346" y="327660"/>
                </a:lnTo>
                <a:lnTo>
                  <a:pt x="436118" y="327660"/>
                </a:lnTo>
                <a:lnTo>
                  <a:pt x="438632" y="322579"/>
                </a:lnTo>
                <a:lnTo>
                  <a:pt x="438454" y="323850"/>
                </a:lnTo>
                <a:lnTo>
                  <a:pt x="448449" y="323850"/>
                </a:lnTo>
                <a:lnTo>
                  <a:pt x="447395" y="326389"/>
                </a:lnTo>
                <a:lnTo>
                  <a:pt x="447217" y="327660"/>
                </a:lnTo>
                <a:lnTo>
                  <a:pt x="444703" y="332739"/>
                </a:lnTo>
                <a:close/>
              </a:path>
              <a:path w="452755" h="365760">
                <a:moveTo>
                  <a:pt x="43116" y="351789"/>
                </a:moveTo>
                <a:lnTo>
                  <a:pt x="23152" y="351789"/>
                </a:lnTo>
                <a:lnTo>
                  <a:pt x="18922" y="347979"/>
                </a:lnTo>
                <a:lnTo>
                  <a:pt x="18592" y="346710"/>
                </a:lnTo>
                <a:lnTo>
                  <a:pt x="14757" y="342900"/>
                </a:lnTo>
                <a:lnTo>
                  <a:pt x="14465" y="342900"/>
                </a:lnTo>
                <a:lnTo>
                  <a:pt x="11036" y="337820"/>
                </a:lnTo>
                <a:lnTo>
                  <a:pt x="10782" y="337820"/>
                </a:lnTo>
                <a:lnTo>
                  <a:pt x="7797" y="332739"/>
                </a:lnTo>
                <a:lnTo>
                  <a:pt x="18668" y="332739"/>
                </a:lnTo>
                <a:lnTo>
                  <a:pt x="22097" y="336550"/>
                </a:lnTo>
                <a:lnTo>
                  <a:pt x="21805" y="336550"/>
                </a:lnTo>
                <a:lnTo>
                  <a:pt x="25641" y="340360"/>
                </a:lnTo>
                <a:lnTo>
                  <a:pt x="25323" y="340360"/>
                </a:lnTo>
                <a:lnTo>
                  <a:pt x="29552" y="344170"/>
                </a:lnTo>
                <a:lnTo>
                  <a:pt x="29197" y="344170"/>
                </a:lnTo>
                <a:lnTo>
                  <a:pt x="33781" y="346710"/>
                </a:lnTo>
                <a:lnTo>
                  <a:pt x="33400" y="346710"/>
                </a:lnTo>
                <a:lnTo>
                  <a:pt x="38315" y="350520"/>
                </a:lnTo>
                <a:lnTo>
                  <a:pt x="40513" y="350520"/>
                </a:lnTo>
                <a:lnTo>
                  <a:pt x="43116" y="351789"/>
                </a:lnTo>
                <a:close/>
              </a:path>
              <a:path w="452755" h="365760">
                <a:moveTo>
                  <a:pt x="430542" y="350520"/>
                </a:moveTo>
                <a:lnTo>
                  <a:pt x="413969" y="350520"/>
                </a:lnTo>
                <a:lnTo>
                  <a:pt x="418884" y="346710"/>
                </a:lnTo>
                <a:lnTo>
                  <a:pt x="418503" y="346710"/>
                </a:lnTo>
                <a:lnTo>
                  <a:pt x="423087" y="344170"/>
                </a:lnTo>
                <a:lnTo>
                  <a:pt x="422732" y="344170"/>
                </a:lnTo>
                <a:lnTo>
                  <a:pt x="426961" y="340360"/>
                </a:lnTo>
                <a:lnTo>
                  <a:pt x="426643" y="340360"/>
                </a:lnTo>
                <a:lnTo>
                  <a:pt x="430479" y="336550"/>
                </a:lnTo>
                <a:lnTo>
                  <a:pt x="430187" y="336550"/>
                </a:lnTo>
                <a:lnTo>
                  <a:pt x="433616" y="332739"/>
                </a:lnTo>
                <a:lnTo>
                  <a:pt x="444487" y="332739"/>
                </a:lnTo>
                <a:lnTo>
                  <a:pt x="441502" y="337820"/>
                </a:lnTo>
                <a:lnTo>
                  <a:pt x="441248" y="337820"/>
                </a:lnTo>
                <a:lnTo>
                  <a:pt x="437819" y="342900"/>
                </a:lnTo>
                <a:lnTo>
                  <a:pt x="437527" y="342900"/>
                </a:lnTo>
                <a:lnTo>
                  <a:pt x="433692" y="346710"/>
                </a:lnTo>
                <a:lnTo>
                  <a:pt x="433362" y="347979"/>
                </a:lnTo>
                <a:lnTo>
                  <a:pt x="430542" y="350520"/>
                </a:lnTo>
                <a:close/>
              </a:path>
              <a:path w="452755" h="365760">
                <a:moveTo>
                  <a:pt x="40513" y="350520"/>
                </a:moveTo>
                <a:lnTo>
                  <a:pt x="38315" y="350520"/>
                </a:lnTo>
                <a:lnTo>
                  <a:pt x="37909" y="349250"/>
                </a:lnTo>
                <a:lnTo>
                  <a:pt x="40513" y="350520"/>
                </a:lnTo>
                <a:close/>
              </a:path>
              <a:path w="452755" h="365760">
                <a:moveTo>
                  <a:pt x="429133" y="351789"/>
                </a:moveTo>
                <a:lnTo>
                  <a:pt x="409168" y="351789"/>
                </a:lnTo>
                <a:lnTo>
                  <a:pt x="414375" y="349250"/>
                </a:lnTo>
                <a:lnTo>
                  <a:pt x="413969" y="350520"/>
                </a:lnTo>
                <a:lnTo>
                  <a:pt x="430542" y="350520"/>
                </a:lnTo>
                <a:lnTo>
                  <a:pt x="429133" y="351789"/>
                </a:lnTo>
                <a:close/>
              </a:path>
              <a:path w="452755" h="365760">
                <a:moveTo>
                  <a:pt x="53289" y="355600"/>
                </a:moveTo>
                <a:lnTo>
                  <a:pt x="28079" y="355600"/>
                </a:lnTo>
                <a:lnTo>
                  <a:pt x="23494" y="351789"/>
                </a:lnTo>
                <a:lnTo>
                  <a:pt x="42684" y="351789"/>
                </a:lnTo>
                <a:lnTo>
                  <a:pt x="48158" y="354329"/>
                </a:lnTo>
                <a:lnTo>
                  <a:pt x="50406" y="354329"/>
                </a:lnTo>
                <a:lnTo>
                  <a:pt x="53289" y="355600"/>
                </a:lnTo>
                <a:close/>
              </a:path>
              <a:path w="452755" h="365760">
                <a:moveTo>
                  <a:pt x="424205" y="355600"/>
                </a:moveTo>
                <a:lnTo>
                  <a:pt x="398995" y="355600"/>
                </a:lnTo>
                <a:lnTo>
                  <a:pt x="401878" y="354329"/>
                </a:lnTo>
                <a:lnTo>
                  <a:pt x="404126" y="354329"/>
                </a:lnTo>
                <a:lnTo>
                  <a:pt x="409600" y="351789"/>
                </a:lnTo>
                <a:lnTo>
                  <a:pt x="428790" y="351789"/>
                </a:lnTo>
                <a:lnTo>
                  <a:pt x="424205" y="355600"/>
                </a:lnTo>
                <a:close/>
              </a:path>
              <a:path w="452755" h="365760">
                <a:moveTo>
                  <a:pt x="418922" y="358139"/>
                </a:moveTo>
                <a:lnTo>
                  <a:pt x="33375" y="358139"/>
                </a:lnTo>
                <a:lnTo>
                  <a:pt x="28460" y="355600"/>
                </a:lnTo>
                <a:lnTo>
                  <a:pt x="55753" y="355600"/>
                </a:lnTo>
                <a:lnTo>
                  <a:pt x="58737" y="356870"/>
                </a:lnTo>
                <a:lnTo>
                  <a:pt x="421373" y="356870"/>
                </a:lnTo>
                <a:lnTo>
                  <a:pt x="418922" y="358139"/>
                </a:lnTo>
                <a:close/>
              </a:path>
              <a:path w="452755" h="365760">
                <a:moveTo>
                  <a:pt x="421373" y="356870"/>
                </a:moveTo>
                <a:lnTo>
                  <a:pt x="393547" y="356870"/>
                </a:lnTo>
                <a:lnTo>
                  <a:pt x="396532" y="355600"/>
                </a:lnTo>
                <a:lnTo>
                  <a:pt x="423824" y="355600"/>
                </a:lnTo>
                <a:lnTo>
                  <a:pt x="421373" y="356870"/>
                </a:lnTo>
                <a:close/>
              </a:path>
              <a:path w="452755" h="365760">
                <a:moveTo>
                  <a:pt x="413308" y="360679"/>
                </a:moveTo>
                <a:lnTo>
                  <a:pt x="38976" y="360679"/>
                </a:lnTo>
                <a:lnTo>
                  <a:pt x="33769" y="358139"/>
                </a:lnTo>
                <a:lnTo>
                  <a:pt x="418515" y="358139"/>
                </a:lnTo>
                <a:lnTo>
                  <a:pt x="413308" y="360679"/>
                </a:lnTo>
                <a:close/>
              </a:path>
              <a:path w="452755" h="365760">
                <a:moveTo>
                  <a:pt x="404012" y="364489"/>
                </a:moveTo>
                <a:lnTo>
                  <a:pt x="48044" y="364489"/>
                </a:lnTo>
                <a:lnTo>
                  <a:pt x="45212" y="363220"/>
                </a:lnTo>
                <a:lnTo>
                  <a:pt x="39408" y="360679"/>
                </a:lnTo>
                <a:lnTo>
                  <a:pt x="412877" y="360679"/>
                </a:lnTo>
                <a:lnTo>
                  <a:pt x="407073" y="363220"/>
                </a:lnTo>
                <a:lnTo>
                  <a:pt x="404012" y="364489"/>
                </a:lnTo>
                <a:close/>
              </a:path>
              <a:path w="452755" h="365760">
                <a:moveTo>
                  <a:pt x="397738" y="365760"/>
                </a:moveTo>
                <a:lnTo>
                  <a:pt x="54317" y="365760"/>
                </a:lnTo>
                <a:lnTo>
                  <a:pt x="51155" y="364489"/>
                </a:lnTo>
                <a:lnTo>
                  <a:pt x="400900" y="364489"/>
                </a:lnTo>
                <a:lnTo>
                  <a:pt x="397738" y="3657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88136" y="6050279"/>
            <a:ext cx="330835" cy="192405"/>
          </a:xfrm>
          <a:custGeom>
            <a:avLst/>
            <a:gdLst/>
            <a:ahLst/>
            <a:cxnLst/>
            <a:rect l="l" t="t" r="r" b="b"/>
            <a:pathLst>
              <a:path w="330834" h="192404">
                <a:moveTo>
                  <a:pt x="0" y="0"/>
                </a:moveTo>
                <a:lnTo>
                  <a:pt x="330707" y="0"/>
                </a:lnTo>
                <a:lnTo>
                  <a:pt x="330707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82675" y="6045200"/>
            <a:ext cx="341630" cy="201930"/>
          </a:xfrm>
          <a:custGeom>
            <a:avLst/>
            <a:gdLst/>
            <a:ahLst/>
            <a:cxnLst/>
            <a:rect l="l" t="t" r="r" b="b"/>
            <a:pathLst>
              <a:path w="341630" h="201929">
                <a:moveTo>
                  <a:pt x="341312" y="201612"/>
                </a:moveTo>
                <a:lnTo>
                  <a:pt x="0" y="201612"/>
                </a:lnTo>
                <a:lnTo>
                  <a:pt x="0" y="0"/>
                </a:lnTo>
                <a:lnTo>
                  <a:pt x="341312" y="0"/>
                </a:lnTo>
                <a:lnTo>
                  <a:pt x="3413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2087"/>
                </a:lnTo>
                <a:lnTo>
                  <a:pt x="4762" y="192087"/>
                </a:lnTo>
                <a:lnTo>
                  <a:pt x="9525" y="196850"/>
                </a:lnTo>
                <a:lnTo>
                  <a:pt x="341312" y="196850"/>
                </a:lnTo>
                <a:lnTo>
                  <a:pt x="341312" y="201612"/>
                </a:lnTo>
                <a:close/>
              </a:path>
              <a:path w="341630" h="2019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1630" h="201929">
                <a:moveTo>
                  <a:pt x="3317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31787" y="4762"/>
                </a:lnTo>
                <a:lnTo>
                  <a:pt x="331787" y="9525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331787" y="4762"/>
                </a:lnTo>
                <a:lnTo>
                  <a:pt x="336550" y="9525"/>
                </a:lnTo>
                <a:lnTo>
                  <a:pt x="341312" y="9525"/>
                </a:lnTo>
                <a:lnTo>
                  <a:pt x="341312" y="192087"/>
                </a:lnTo>
                <a:lnTo>
                  <a:pt x="336550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9525"/>
                </a:moveTo>
                <a:lnTo>
                  <a:pt x="336550" y="9525"/>
                </a:lnTo>
                <a:lnTo>
                  <a:pt x="331787" y="4762"/>
                </a:lnTo>
                <a:lnTo>
                  <a:pt x="341312" y="4762"/>
                </a:lnTo>
                <a:lnTo>
                  <a:pt x="341312" y="9525"/>
                </a:lnTo>
                <a:close/>
              </a:path>
              <a:path w="341630" h="201929">
                <a:moveTo>
                  <a:pt x="9525" y="196850"/>
                </a:moveTo>
                <a:lnTo>
                  <a:pt x="4762" y="192087"/>
                </a:lnTo>
                <a:lnTo>
                  <a:pt x="9525" y="192087"/>
                </a:lnTo>
                <a:lnTo>
                  <a:pt x="9525" y="196850"/>
                </a:lnTo>
                <a:close/>
              </a:path>
              <a:path w="341630" h="201929">
                <a:moveTo>
                  <a:pt x="331787" y="196850"/>
                </a:moveTo>
                <a:lnTo>
                  <a:pt x="9525" y="196850"/>
                </a:lnTo>
                <a:lnTo>
                  <a:pt x="9525" y="192087"/>
                </a:lnTo>
                <a:lnTo>
                  <a:pt x="331787" y="192087"/>
                </a:lnTo>
                <a:lnTo>
                  <a:pt x="331787" y="196850"/>
                </a:lnTo>
                <a:close/>
              </a:path>
              <a:path w="341630" h="201929">
                <a:moveTo>
                  <a:pt x="341312" y="196850"/>
                </a:moveTo>
                <a:lnTo>
                  <a:pt x="331787" y="196850"/>
                </a:lnTo>
                <a:lnTo>
                  <a:pt x="336550" y="192087"/>
                </a:lnTo>
                <a:lnTo>
                  <a:pt x="341312" y="192087"/>
                </a:lnTo>
                <a:lnTo>
                  <a:pt x="341312" y="1968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123010" y="6085522"/>
            <a:ext cx="143205" cy="13827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156360" y="6085522"/>
            <a:ext cx="216179" cy="14477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874775" y="6050279"/>
            <a:ext cx="257810" cy="208915"/>
          </a:xfrm>
          <a:custGeom>
            <a:avLst/>
            <a:gdLst/>
            <a:ahLst/>
            <a:cxnLst/>
            <a:rect l="l" t="t" r="r" b="b"/>
            <a:pathLst>
              <a:path w="257809" h="208914">
                <a:moveTo>
                  <a:pt x="67056" y="208787"/>
                </a:moveTo>
                <a:lnTo>
                  <a:pt x="67056" y="161544"/>
                </a:lnTo>
                <a:lnTo>
                  <a:pt x="0" y="161544"/>
                </a:lnTo>
                <a:lnTo>
                  <a:pt x="0" y="47244"/>
                </a:lnTo>
                <a:lnTo>
                  <a:pt x="67056" y="47244"/>
                </a:lnTo>
                <a:lnTo>
                  <a:pt x="67056" y="0"/>
                </a:lnTo>
                <a:lnTo>
                  <a:pt x="257556" y="105156"/>
                </a:lnTo>
                <a:lnTo>
                  <a:pt x="67056" y="208787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869950" y="6041910"/>
            <a:ext cx="272415" cy="226060"/>
          </a:xfrm>
          <a:custGeom>
            <a:avLst/>
            <a:gdLst/>
            <a:ahLst/>
            <a:cxnLst/>
            <a:rect l="l" t="t" r="r" b="b"/>
            <a:pathLst>
              <a:path w="272415" h="226060">
                <a:moveTo>
                  <a:pt x="66675" y="55676"/>
                </a:moveTo>
                <a:lnTo>
                  <a:pt x="66675" y="0"/>
                </a:lnTo>
                <a:lnTo>
                  <a:pt x="81314" y="8051"/>
                </a:lnTo>
                <a:lnTo>
                  <a:pt x="76200" y="8051"/>
                </a:lnTo>
                <a:lnTo>
                  <a:pt x="69138" y="12230"/>
                </a:lnTo>
                <a:lnTo>
                  <a:pt x="76200" y="16113"/>
                </a:lnTo>
                <a:lnTo>
                  <a:pt x="76200" y="50914"/>
                </a:lnTo>
                <a:lnTo>
                  <a:pt x="71437" y="50914"/>
                </a:lnTo>
                <a:lnTo>
                  <a:pt x="66675" y="55676"/>
                </a:lnTo>
                <a:close/>
              </a:path>
              <a:path w="272415" h="226060">
                <a:moveTo>
                  <a:pt x="76200" y="16113"/>
                </a:moveTo>
                <a:lnTo>
                  <a:pt x="69138" y="12230"/>
                </a:lnTo>
                <a:lnTo>
                  <a:pt x="76200" y="8051"/>
                </a:lnTo>
                <a:lnTo>
                  <a:pt x="76200" y="16113"/>
                </a:lnTo>
                <a:close/>
              </a:path>
              <a:path w="272415" h="226060">
                <a:moveTo>
                  <a:pt x="252041" y="112826"/>
                </a:moveTo>
                <a:lnTo>
                  <a:pt x="76200" y="16113"/>
                </a:lnTo>
                <a:lnTo>
                  <a:pt x="76200" y="8051"/>
                </a:lnTo>
                <a:lnTo>
                  <a:pt x="81314" y="8051"/>
                </a:lnTo>
                <a:lnTo>
                  <a:pt x="264221" y="108648"/>
                </a:lnTo>
                <a:lnTo>
                  <a:pt x="259638" y="108648"/>
                </a:lnTo>
                <a:lnTo>
                  <a:pt x="252041" y="112826"/>
                </a:lnTo>
                <a:close/>
              </a:path>
              <a:path w="272415" h="226060">
                <a:moveTo>
                  <a:pt x="66675" y="174739"/>
                </a:moveTo>
                <a:lnTo>
                  <a:pt x="0" y="174739"/>
                </a:lnTo>
                <a:lnTo>
                  <a:pt x="0" y="50914"/>
                </a:lnTo>
                <a:lnTo>
                  <a:pt x="66675" y="50914"/>
                </a:lnTo>
                <a:lnTo>
                  <a:pt x="66675" y="55676"/>
                </a:lnTo>
                <a:lnTo>
                  <a:pt x="9525" y="55676"/>
                </a:lnTo>
                <a:lnTo>
                  <a:pt x="4762" y="60439"/>
                </a:lnTo>
                <a:lnTo>
                  <a:pt x="9525" y="60439"/>
                </a:lnTo>
                <a:lnTo>
                  <a:pt x="9525" y="165214"/>
                </a:lnTo>
                <a:lnTo>
                  <a:pt x="4762" y="165214"/>
                </a:lnTo>
                <a:lnTo>
                  <a:pt x="9525" y="169976"/>
                </a:lnTo>
                <a:lnTo>
                  <a:pt x="66675" y="169976"/>
                </a:lnTo>
                <a:lnTo>
                  <a:pt x="66675" y="174739"/>
                </a:lnTo>
                <a:close/>
              </a:path>
              <a:path w="272415" h="226060">
                <a:moveTo>
                  <a:pt x="76200" y="60439"/>
                </a:moveTo>
                <a:lnTo>
                  <a:pt x="9525" y="60439"/>
                </a:lnTo>
                <a:lnTo>
                  <a:pt x="9525" y="55676"/>
                </a:lnTo>
                <a:lnTo>
                  <a:pt x="66675" y="55676"/>
                </a:lnTo>
                <a:lnTo>
                  <a:pt x="71437" y="50914"/>
                </a:lnTo>
                <a:lnTo>
                  <a:pt x="76200" y="50914"/>
                </a:lnTo>
                <a:lnTo>
                  <a:pt x="76200" y="60439"/>
                </a:lnTo>
                <a:close/>
              </a:path>
              <a:path w="272415" h="226060">
                <a:moveTo>
                  <a:pt x="9525" y="60439"/>
                </a:moveTo>
                <a:lnTo>
                  <a:pt x="4762" y="60439"/>
                </a:lnTo>
                <a:lnTo>
                  <a:pt x="9525" y="55676"/>
                </a:lnTo>
                <a:lnTo>
                  <a:pt x="9525" y="60439"/>
                </a:lnTo>
                <a:close/>
              </a:path>
              <a:path w="272415" h="226060">
                <a:moveTo>
                  <a:pt x="259638" y="117005"/>
                </a:moveTo>
                <a:lnTo>
                  <a:pt x="252041" y="112826"/>
                </a:lnTo>
                <a:lnTo>
                  <a:pt x="259638" y="108648"/>
                </a:lnTo>
                <a:lnTo>
                  <a:pt x="259638" y="117005"/>
                </a:lnTo>
                <a:close/>
              </a:path>
              <a:path w="272415" h="226060">
                <a:moveTo>
                  <a:pt x="264221" y="117005"/>
                </a:moveTo>
                <a:lnTo>
                  <a:pt x="259638" y="117005"/>
                </a:lnTo>
                <a:lnTo>
                  <a:pt x="259638" y="108648"/>
                </a:lnTo>
                <a:lnTo>
                  <a:pt x="264221" y="108648"/>
                </a:lnTo>
                <a:lnTo>
                  <a:pt x="271818" y="112826"/>
                </a:lnTo>
                <a:lnTo>
                  <a:pt x="264221" y="117005"/>
                </a:lnTo>
                <a:close/>
              </a:path>
              <a:path w="272415" h="226060">
                <a:moveTo>
                  <a:pt x="81314" y="217601"/>
                </a:moveTo>
                <a:lnTo>
                  <a:pt x="76200" y="217601"/>
                </a:lnTo>
                <a:lnTo>
                  <a:pt x="76200" y="209539"/>
                </a:lnTo>
                <a:lnTo>
                  <a:pt x="252041" y="112826"/>
                </a:lnTo>
                <a:lnTo>
                  <a:pt x="259638" y="117005"/>
                </a:lnTo>
                <a:lnTo>
                  <a:pt x="264221" y="117005"/>
                </a:lnTo>
                <a:lnTo>
                  <a:pt x="81314" y="217601"/>
                </a:lnTo>
                <a:close/>
              </a:path>
              <a:path w="272415" h="226060">
                <a:moveTo>
                  <a:pt x="9525" y="169976"/>
                </a:moveTo>
                <a:lnTo>
                  <a:pt x="4762" y="165214"/>
                </a:lnTo>
                <a:lnTo>
                  <a:pt x="9525" y="165214"/>
                </a:lnTo>
                <a:lnTo>
                  <a:pt x="9525" y="169976"/>
                </a:lnTo>
                <a:close/>
              </a:path>
              <a:path w="272415" h="226060">
                <a:moveTo>
                  <a:pt x="76200" y="174739"/>
                </a:moveTo>
                <a:lnTo>
                  <a:pt x="71437" y="174739"/>
                </a:lnTo>
                <a:lnTo>
                  <a:pt x="66675" y="169976"/>
                </a:lnTo>
                <a:lnTo>
                  <a:pt x="9525" y="169976"/>
                </a:lnTo>
                <a:lnTo>
                  <a:pt x="9525" y="165214"/>
                </a:lnTo>
                <a:lnTo>
                  <a:pt x="76200" y="165214"/>
                </a:lnTo>
                <a:lnTo>
                  <a:pt x="76200" y="174739"/>
                </a:lnTo>
                <a:close/>
              </a:path>
              <a:path w="272415" h="226060">
                <a:moveTo>
                  <a:pt x="66675" y="225653"/>
                </a:moveTo>
                <a:lnTo>
                  <a:pt x="66675" y="169976"/>
                </a:lnTo>
                <a:lnTo>
                  <a:pt x="71437" y="174739"/>
                </a:lnTo>
                <a:lnTo>
                  <a:pt x="76200" y="174739"/>
                </a:lnTo>
                <a:lnTo>
                  <a:pt x="76200" y="209539"/>
                </a:lnTo>
                <a:lnTo>
                  <a:pt x="69138" y="213423"/>
                </a:lnTo>
                <a:lnTo>
                  <a:pt x="76200" y="217601"/>
                </a:lnTo>
                <a:lnTo>
                  <a:pt x="81314" y="217601"/>
                </a:lnTo>
                <a:lnTo>
                  <a:pt x="66675" y="225653"/>
                </a:lnTo>
                <a:close/>
              </a:path>
              <a:path w="272415" h="226060">
                <a:moveTo>
                  <a:pt x="76200" y="217601"/>
                </a:moveTo>
                <a:lnTo>
                  <a:pt x="69138" y="213423"/>
                </a:lnTo>
                <a:lnTo>
                  <a:pt x="76200" y="209539"/>
                </a:lnTo>
                <a:lnTo>
                  <a:pt x="76200" y="2176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25478" y="2116556"/>
            <a:ext cx="931544" cy="491490"/>
          </a:xfrm>
          <a:custGeom>
            <a:avLst/>
            <a:gdLst/>
            <a:ahLst/>
            <a:cxnLst/>
            <a:rect l="l" t="t" r="r" b="b"/>
            <a:pathLst>
              <a:path w="931545" h="491489">
                <a:moveTo>
                  <a:pt x="914400" y="491286"/>
                </a:moveTo>
                <a:lnTo>
                  <a:pt x="0" y="34086"/>
                </a:lnTo>
                <a:lnTo>
                  <a:pt x="17043" y="0"/>
                </a:lnTo>
                <a:lnTo>
                  <a:pt x="931443" y="457199"/>
                </a:lnTo>
                <a:lnTo>
                  <a:pt x="914400" y="4912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71197" y="2418397"/>
            <a:ext cx="1932305" cy="1229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11078" y="2116556"/>
            <a:ext cx="931544" cy="491490"/>
          </a:xfrm>
          <a:custGeom>
            <a:avLst/>
            <a:gdLst/>
            <a:ahLst/>
            <a:cxnLst/>
            <a:rect l="l" t="t" r="r" b="b"/>
            <a:pathLst>
              <a:path w="931545" h="491489">
                <a:moveTo>
                  <a:pt x="17043" y="491286"/>
                </a:moveTo>
                <a:lnTo>
                  <a:pt x="0" y="457199"/>
                </a:lnTo>
                <a:lnTo>
                  <a:pt x="914400" y="0"/>
                </a:lnTo>
                <a:lnTo>
                  <a:pt x="931443" y="34086"/>
                </a:lnTo>
                <a:lnTo>
                  <a:pt x="17043" y="491286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7200" y="1292352"/>
            <a:ext cx="2133600" cy="9412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4152" y="1139952"/>
            <a:ext cx="2139696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62437" y="1138237"/>
            <a:ext cx="2143125" cy="10998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71288" y="1651647"/>
            <a:ext cx="1155230" cy="2408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80397" y="2418397"/>
            <a:ext cx="1932305" cy="12290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146300" y="441007"/>
            <a:ext cx="4852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How Data </a:t>
            </a:r>
            <a:r>
              <a:rPr spc="-25" dirty="0"/>
              <a:t>Is</a:t>
            </a:r>
            <a:r>
              <a:rPr spc="-45" dirty="0"/>
              <a:t> </a:t>
            </a:r>
            <a:r>
              <a:rPr spc="-10" dirty="0"/>
              <a:t>Stored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60770" y="4358640"/>
            <a:ext cx="13970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Extent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(8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contiguous  8-KB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pages)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7769" y="4358640"/>
            <a:ext cx="825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Arial"/>
                <a:cs typeface="Arial"/>
              </a:rPr>
              <a:t>Tables,  </a:t>
            </a:r>
            <a:r>
              <a:rPr sz="1800" spc="-5" dirty="0">
                <a:latin typeface="Arial"/>
                <a:cs typeface="Arial"/>
              </a:rPr>
              <a:t>Inde</a:t>
            </a:r>
            <a:r>
              <a:rPr sz="1800" dirty="0">
                <a:latin typeface="Arial"/>
                <a:cs typeface="Arial"/>
              </a:rPr>
              <a:t>x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2225" y="5349240"/>
            <a:ext cx="334454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  <a:tabLst>
                <a:tab pos="2086610" algn="l"/>
              </a:tabLst>
            </a:pPr>
            <a:r>
              <a:rPr sz="1800" spc="-5" dirty="0">
                <a:latin typeface="Arial"/>
                <a:cs typeface="Arial"/>
              </a:rPr>
              <a:t>Data	Page </a:t>
            </a:r>
            <a:r>
              <a:rPr sz="1800" dirty="0">
                <a:latin typeface="Arial"/>
                <a:cs typeface="Arial"/>
              </a:rPr>
              <a:t>(8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KB)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800" spc="-5" dirty="0">
                <a:latin typeface="Arial"/>
                <a:cs typeface="Arial"/>
              </a:rPr>
              <a:t>Max row </a:t>
            </a:r>
            <a:r>
              <a:rPr sz="1800" dirty="0">
                <a:latin typeface="Arial"/>
                <a:cs typeface="Arial"/>
              </a:rPr>
              <a:t>size = </a:t>
            </a:r>
            <a:r>
              <a:rPr sz="1800" spc="-5" dirty="0">
                <a:latin typeface="Arial"/>
                <a:cs typeface="Arial"/>
              </a:rPr>
              <a:t>8060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bytes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860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812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432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384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04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956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576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528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148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100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720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672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292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244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86400" y="4495800"/>
            <a:ext cx="457200" cy="381000"/>
          </a:xfrm>
          <a:custGeom>
            <a:avLst/>
            <a:gdLst/>
            <a:ahLst/>
            <a:cxnLst/>
            <a:rect l="l" t="t" r="r" b="b"/>
            <a:pathLst>
              <a:path w="457200" h="381000">
                <a:moveTo>
                  <a:pt x="0" y="0"/>
                </a:moveTo>
                <a:lnTo>
                  <a:pt x="457200" y="0"/>
                </a:lnTo>
                <a:lnTo>
                  <a:pt x="457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81637" y="4491037"/>
            <a:ext cx="466725" cy="390525"/>
          </a:xfrm>
          <a:custGeom>
            <a:avLst/>
            <a:gdLst/>
            <a:ahLst/>
            <a:cxnLst/>
            <a:rect l="l" t="t" r="r" b="b"/>
            <a:pathLst>
              <a:path w="466725" h="390525">
                <a:moveTo>
                  <a:pt x="4667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466725" y="0"/>
                </a:lnTo>
                <a:lnTo>
                  <a:pt x="46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466725" y="385762"/>
                </a:lnTo>
                <a:lnTo>
                  <a:pt x="466725" y="390525"/>
                </a:lnTo>
                <a:close/>
              </a:path>
              <a:path w="4667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66725" h="390525">
                <a:moveTo>
                  <a:pt x="45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" y="4762"/>
                </a:lnTo>
                <a:lnTo>
                  <a:pt x="457200" y="9525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457200" y="4762"/>
                </a:lnTo>
                <a:lnTo>
                  <a:pt x="461962" y="9525"/>
                </a:lnTo>
                <a:lnTo>
                  <a:pt x="466725" y="9525"/>
                </a:lnTo>
                <a:lnTo>
                  <a:pt x="466725" y="381000"/>
                </a:lnTo>
                <a:lnTo>
                  <a:pt x="461962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9525"/>
                </a:moveTo>
                <a:lnTo>
                  <a:pt x="461962" y="9525"/>
                </a:lnTo>
                <a:lnTo>
                  <a:pt x="457200" y="4762"/>
                </a:lnTo>
                <a:lnTo>
                  <a:pt x="466725" y="4762"/>
                </a:lnTo>
                <a:lnTo>
                  <a:pt x="466725" y="9525"/>
                </a:lnTo>
                <a:close/>
              </a:path>
              <a:path w="4667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466725" h="390525">
                <a:moveTo>
                  <a:pt x="4572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457200" y="381000"/>
                </a:lnTo>
                <a:lnTo>
                  <a:pt x="457200" y="385762"/>
                </a:lnTo>
                <a:close/>
              </a:path>
              <a:path w="466725" h="390525">
                <a:moveTo>
                  <a:pt x="466725" y="385762"/>
                </a:moveTo>
                <a:lnTo>
                  <a:pt x="457200" y="385762"/>
                </a:lnTo>
                <a:lnTo>
                  <a:pt x="461962" y="381000"/>
                </a:lnTo>
                <a:lnTo>
                  <a:pt x="466725" y="381000"/>
                </a:lnTo>
                <a:lnTo>
                  <a:pt x="4667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86000" y="3581400"/>
            <a:ext cx="3657600" cy="914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65819" y="3576078"/>
            <a:ext cx="3698240" cy="924560"/>
          </a:xfrm>
          <a:custGeom>
            <a:avLst/>
            <a:gdLst/>
            <a:ahLst/>
            <a:cxnLst/>
            <a:rect l="l" t="t" r="r" b="b"/>
            <a:pathLst>
              <a:path w="3698240" h="924560">
                <a:moveTo>
                  <a:pt x="3697960" y="924483"/>
                </a:moveTo>
                <a:lnTo>
                  <a:pt x="0" y="924483"/>
                </a:lnTo>
                <a:lnTo>
                  <a:pt x="1848980" y="0"/>
                </a:lnTo>
                <a:lnTo>
                  <a:pt x="1868132" y="9575"/>
                </a:lnTo>
                <a:lnTo>
                  <a:pt x="1846846" y="9575"/>
                </a:lnTo>
                <a:lnTo>
                  <a:pt x="1848980" y="10642"/>
                </a:lnTo>
                <a:lnTo>
                  <a:pt x="40347" y="914958"/>
                </a:lnTo>
                <a:lnTo>
                  <a:pt x="20180" y="914958"/>
                </a:lnTo>
                <a:lnTo>
                  <a:pt x="22313" y="923975"/>
                </a:lnTo>
                <a:lnTo>
                  <a:pt x="3696944" y="923975"/>
                </a:lnTo>
                <a:lnTo>
                  <a:pt x="3697960" y="924483"/>
                </a:lnTo>
                <a:close/>
              </a:path>
              <a:path w="3698240" h="924560">
                <a:moveTo>
                  <a:pt x="1848980" y="10642"/>
                </a:moveTo>
                <a:lnTo>
                  <a:pt x="1846846" y="9575"/>
                </a:lnTo>
                <a:lnTo>
                  <a:pt x="1851113" y="9575"/>
                </a:lnTo>
                <a:lnTo>
                  <a:pt x="1848980" y="10642"/>
                </a:lnTo>
                <a:close/>
              </a:path>
              <a:path w="3698240" h="924560">
                <a:moveTo>
                  <a:pt x="3675646" y="923975"/>
                </a:moveTo>
                <a:lnTo>
                  <a:pt x="1848980" y="10642"/>
                </a:lnTo>
                <a:lnTo>
                  <a:pt x="1851113" y="9575"/>
                </a:lnTo>
                <a:lnTo>
                  <a:pt x="1868132" y="9575"/>
                </a:lnTo>
                <a:lnTo>
                  <a:pt x="3678910" y="914958"/>
                </a:lnTo>
                <a:lnTo>
                  <a:pt x="3677780" y="914958"/>
                </a:lnTo>
                <a:lnTo>
                  <a:pt x="3675646" y="923975"/>
                </a:lnTo>
                <a:close/>
              </a:path>
              <a:path w="3698240" h="924560">
                <a:moveTo>
                  <a:pt x="22313" y="923975"/>
                </a:moveTo>
                <a:lnTo>
                  <a:pt x="20180" y="914958"/>
                </a:lnTo>
                <a:lnTo>
                  <a:pt x="40347" y="914958"/>
                </a:lnTo>
                <a:lnTo>
                  <a:pt x="22313" y="923975"/>
                </a:lnTo>
                <a:close/>
              </a:path>
              <a:path w="3698240" h="924560">
                <a:moveTo>
                  <a:pt x="3675646" y="923975"/>
                </a:moveTo>
                <a:lnTo>
                  <a:pt x="22313" y="923975"/>
                </a:lnTo>
                <a:lnTo>
                  <a:pt x="40347" y="914958"/>
                </a:lnTo>
                <a:lnTo>
                  <a:pt x="3657612" y="914958"/>
                </a:lnTo>
                <a:lnTo>
                  <a:pt x="3675646" y="923975"/>
                </a:lnTo>
                <a:close/>
              </a:path>
              <a:path w="3698240" h="924560">
                <a:moveTo>
                  <a:pt x="3696944" y="923975"/>
                </a:moveTo>
                <a:lnTo>
                  <a:pt x="3675646" y="923975"/>
                </a:lnTo>
                <a:lnTo>
                  <a:pt x="3677780" y="914958"/>
                </a:lnTo>
                <a:lnTo>
                  <a:pt x="3678910" y="914958"/>
                </a:lnTo>
                <a:lnTo>
                  <a:pt x="3696944" y="923975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00400" y="5334000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95637" y="5329237"/>
            <a:ext cx="1304925" cy="390525"/>
          </a:xfrm>
          <a:custGeom>
            <a:avLst/>
            <a:gdLst/>
            <a:ahLst/>
            <a:cxnLst/>
            <a:rect l="l" t="t" r="r" b="b"/>
            <a:pathLst>
              <a:path w="1304925" h="390525">
                <a:moveTo>
                  <a:pt x="1304925" y="390525"/>
                </a:moveTo>
                <a:lnTo>
                  <a:pt x="0" y="3905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81000"/>
                </a:lnTo>
                <a:lnTo>
                  <a:pt x="4762" y="381000"/>
                </a:lnTo>
                <a:lnTo>
                  <a:pt x="9525" y="385762"/>
                </a:lnTo>
                <a:lnTo>
                  <a:pt x="1304925" y="385762"/>
                </a:lnTo>
                <a:lnTo>
                  <a:pt x="1304925" y="390525"/>
                </a:lnTo>
                <a:close/>
              </a:path>
              <a:path w="1304925" h="390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3905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390525">
                <a:moveTo>
                  <a:pt x="1295400" y="3857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381000"/>
                </a:lnTo>
                <a:lnTo>
                  <a:pt x="1300162" y="381000"/>
                </a:lnTo>
                <a:lnTo>
                  <a:pt x="1295400" y="385762"/>
                </a:lnTo>
                <a:close/>
              </a:path>
              <a:path w="1304925" h="3905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390525">
                <a:moveTo>
                  <a:pt x="9525" y="385762"/>
                </a:moveTo>
                <a:lnTo>
                  <a:pt x="4762" y="381000"/>
                </a:lnTo>
                <a:lnTo>
                  <a:pt x="9525" y="381000"/>
                </a:lnTo>
                <a:lnTo>
                  <a:pt x="9525" y="385762"/>
                </a:lnTo>
                <a:close/>
              </a:path>
              <a:path w="1304925" h="390525">
                <a:moveTo>
                  <a:pt x="1295400" y="385762"/>
                </a:moveTo>
                <a:lnTo>
                  <a:pt x="9525" y="385762"/>
                </a:lnTo>
                <a:lnTo>
                  <a:pt x="9525" y="381000"/>
                </a:lnTo>
                <a:lnTo>
                  <a:pt x="1295400" y="381000"/>
                </a:lnTo>
                <a:lnTo>
                  <a:pt x="1295400" y="385762"/>
                </a:lnTo>
                <a:close/>
              </a:path>
              <a:path w="1304925" h="390525">
                <a:moveTo>
                  <a:pt x="1304925" y="385762"/>
                </a:moveTo>
                <a:lnTo>
                  <a:pt x="1295400" y="385762"/>
                </a:lnTo>
                <a:lnTo>
                  <a:pt x="1300162" y="381000"/>
                </a:lnTo>
                <a:lnTo>
                  <a:pt x="1304925" y="381000"/>
                </a:lnTo>
                <a:lnTo>
                  <a:pt x="1304925" y="385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00400" y="4495800"/>
            <a:ext cx="1295400" cy="838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95688" y="4491037"/>
            <a:ext cx="1304925" cy="847725"/>
          </a:xfrm>
          <a:custGeom>
            <a:avLst/>
            <a:gdLst/>
            <a:ahLst/>
            <a:cxnLst/>
            <a:rect l="l" t="t" r="r" b="b"/>
            <a:pathLst>
              <a:path w="1304925" h="847725">
                <a:moveTo>
                  <a:pt x="1300111" y="847725"/>
                </a:moveTo>
                <a:lnTo>
                  <a:pt x="4711" y="847725"/>
                </a:lnTo>
                <a:lnTo>
                  <a:pt x="3098" y="847445"/>
                </a:lnTo>
                <a:lnTo>
                  <a:pt x="1676" y="846632"/>
                </a:lnTo>
                <a:lnTo>
                  <a:pt x="622" y="845388"/>
                </a:lnTo>
                <a:lnTo>
                  <a:pt x="125" y="844092"/>
                </a:lnTo>
                <a:lnTo>
                  <a:pt x="0" y="842225"/>
                </a:lnTo>
                <a:lnTo>
                  <a:pt x="533" y="840676"/>
                </a:lnTo>
                <a:lnTo>
                  <a:pt x="457733" y="2476"/>
                </a:lnTo>
                <a:lnTo>
                  <a:pt x="458787" y="1168"/>
                </a:lnTo>
                <a:lnTo>
                  <a:pt x="460248" y="304"/>
                </a:lnTo>
                <a:lnTo>
                  <a:pt x="461911" y="0"/>
                </a:lnTo>
                <a:lnTo>
                  <a:pt x="919111" y="0"/>
                </a:lnTo>
                <a:lnTo>
                  <a:pt x="914781" y="6730"/>
                </a:lnTo>
                <a:lnTo>
                  <a:pt x="914925" y="7048"/>
                </a:lnTo>
                <a:lnTo>
                  <a:pt x="466090" y="7048"/>
                </a:lnTo>
                <a:lnTo>
                  <a:pt x="461911" y="9525"/>
                </a:lnTo>
                <a:lnTo>
                  <a:pt x="464739" y="9525"/>
                </a:lnTo>
                <a:lnTo>
                  <a:pt x="12734" y="838200"/>
                </a:lnTo>
                <a:lnTo>
                  <a:pt x="4711" y="838200"/>
                </a:lnTo>
                <a:lnTo>
                  <a:pt x="8890" y="845248"/>
                </a:lnTo>
                <a:lnTo>
                  <a:pt x="1304237" y="845248"/>
                </a:lnTo>
                <a:lnTo>
                  <a:pt x="1304112" y="845540"/>
                </a:lnTo>
                <a:lnTo>
                  <a:pt x="1303058" y="846709"/>
                </a:lnTo>
                <a:lnTo>
                  <a:pt x="1301673" y="847458"/>
                </a:lnTo>
                <a:lnTo>
                  <a:pt x="1300111" y="847725"/>
                </a:lnTo>
                <a:close/>
              </a:path>
              <a:path w="1304925" h="847725">
                <a:moveTo>
                  <a:pt x="1295781" y="844930"/>
                </a:moveTo>
                <a:lnTo>
                  <a:pt x="914781" y="6730"/>
                </a:lnTo>
                <a:lnTo>
                  <a:pt x="919111" y="9525"/>
                </a:lnTo>
                <a:lnTo>
                  <a:pt x="926501" y="9525"/>
                </a:lnTo>
                <a:lnTo>
                  <a:pt x="1303172" y="838200"/>
                </a:lnTo>
                <a:lnTo>
                  <a:pt x="1300111" y="838200"/>
                </a:lnTo>
                <a:lnTo>
                  <a:pt x="1295781" y="844930"/>
                </a:lnTo>
                <a:close/>
              </a:path>
              <a:path w="1304925" h="847725">
                <a:moveTo>
                  <a:pt x="926501" y="9525"/>
                </a:moveTo>
                <a:lnTo>
                  <a:pt x="919111" y="9525"/>
                </a:lnTo>
                <a:lnTo>
                  <a:pt x="914781" y="6730"/>
                </a:lnTo>
                <a:lnTo>
                  <a:pt x="925231" y="6730"/>
                </a:lnTo>
                <a:lnTo>
                  <a:pt x="926501" y="9525"/>
                </a:lnTo>
                <a:close/>
              </a:path>
              <a:path w="1304925" h="847725">
                <a:moveTo>
                  <a:pt x="464739" y="9525"/>
                </a:moveTo>
                <a:lnTo>
                  <a:pt x="461911" y="9525"/>
                </a:lnTo>
                <a:lnTo>
                  <a:pt x="466090" y="7048"/>
                </a:lnTo>
                <a:lnTo>
                  <a:pt x="464739" y="9525"/>
                </a:lnTo>
                <a:close/>
              </a:path>
              <a:path w="1304925" h="847725">
                <a:moveTo>
                  <a:pt x="916051" y="9525"/>
                </a:moveTo>
                <a:lnTo>
                  <a:pt x="464739" y="9525"/>
                </a:lnTo>
                <a:lnTo>
                  <a:pt x="466090" y="7048"/>
                </a:lnTo>
                <a:lnTo>
                  <a:pt x="914925" y="7048"/>
                </a:lnTo>
                <a:lnTo>
                  <a:pt x="916051" y="9525"/>
                </a:lnTo>
                <a:close/>
              </a:path>
              <a:path w="1304925" h="847725">
                <a:moveTo>
                  <a:pt x="8890" y="845248"/>
                </a:moveTo>
                <a:lnTo>
                  <a:pt x="4711" y="838200"/>
                </a:lnTo>
                <a:lnTo>
                  <a:pt x="12734" y="838200"/>
                </a:lnTo>
                <a:lnTo>
                  <a:pt x="8890" y="845248"/>
                </a:lnTo>
                <a:close/>
              </a:path>
              <a:path w="1304925" h="847725">
                <a:moveTo>
                  <a:pt x="1304237" y="845248"/>
                </a:moveTo>
                <a:lnTo>
                  <a:pt x="8890" y="845248"/>
                </a:lnTo>
                <a:lnTo>
                  <a:pt x="12734" y="838200"/>
                </a:lnTo>
                <a:lnTo>
                  <a:pt x="1292721" y="838200"/>
                </a:lnTo>
                <a:lnTo>
                  <a:pt x="1295781" y="844930"/>
                </a:lnTo>
                <a:lnTo>
                  <a:pt x="1304374" y="844930"/>
                </a:lnTo>
                <a:lnTo>
                  <a:pt x="1304237" y="845248"/>
                </a:lnTo>
                <a:close/>
              </a:path>
              <a:path w="1304925" h="847725">
                <a:moveTo>
                  <a:pt x="1304374" y="844930"/>
                </a:moveTo>
                <a:lnTo>
                  <a:pt x="1295781" y="844930"/>
                </a:lnTo>
                <a:lnTo>
                  <a:pt x="1300111" y="838200"/>
                </a:lnTo>
                <a:lnTo>
                  <a:pt x="1303172" y="838200"/>
                </a:lnTo>
                <a:lnTo>
                  <a:pt x="1304442" y="840994"/>
                </a:lnTo>
                <a:lnTo>
                  <a:pt x="1304770" y="842225"/>
                </a:lnTo>
                <a:lnTo>
                  <a:pt x="1304734" y="844092"/>
                </a:lnTo>
                <a:lnTo>
                  <a:pt x="1304374" y="844930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279140" y="2699385"/>
            <a:ext cx="15906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990000"/>
                </a:solidFill>
                <a:latin typeface="Arial"/>
                <a:cs typeface="Arial"/>
              </a:rPr>
              <a:t>Data</a:t>
            </a:r>
            <a:r>
              <a:rPr sz="2000" b="1" spc="-2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Arial"/>
                <a:cs typeface="Arial"/>
              </a:rPr>
              <a:t>(file)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16915" algn="l"/>
                <a:tab pos="1153795" algn="l"/>
              </a:tabLst>
            </a:pPr>
            <a:r>
              <a:rPr sz="2000" spc="-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rgbClr val="990000"/>
                </a:solidFill>
                <a:latin typeface="Arial"/>
                <a:cs typeface="Arial"/>
              </a:rPr>
              <a:t>md</a:t>
            </a:r>
            <a:r>
              <a:rPr sz="2000" dirty="0">
                <a:solidFill>
                  <a:srgbClr val="990000"/>
                </a:solidFill>
                <a:latin typeface="Arial"/>
                <a:cs typeface="Arial"/>
              </a:rPr>
              <a:t>f	</a:t>
            </a:r>
            <a:r>
              <a:rPr sz="2000" spc="-10" dirty="0">
                <a:solidFill>
                  <a:srgbClr val="990000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990000"/>
                </a:solidFill>
                <a:latin typeface="Arial"/>
                <a:cs typeface="Arial"/>
              </a:rPr>
              <a:t>r	</a:t>
            </a:r>
            <a:r>
              <a:rPr sz="2000" spc="-5" dirty="0">
                <a:solidFill>
                  <a:srgbClr val="990000"/>
                </a:solidFill>
                <a:latin typeface="Arial"/>
                <a:cs typeface="Arial"/>
              </a:rPr>
              <a:t>.</a:t>
            </a:r>
            <a:r>
              <a:rPr sz="2000" spc="-10" dirty="0">
                <a:solidFill>
                  <a:srgbClr val="990000"/>
                </a:solidFill>
                <a:latin typeface="Arial"/>
                <a:cs typeface="Arial"/>
              </a:rPr>
              <a:t>nd</a:t>
            </a:r>
            <a:r>
              <a:rPr sz="2000" dirty="0">
                <a:solidFill>
                  <a:srgbClr val="990000"/>
                </a:solidFill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869940" y="2699385"/>
            <a:ext cx="10966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990000"/>
                </a:solidFill>
                <a:latin typeface="Arial"/>
                <a:cs typeface="Arial"/>
              </a:rPr>
              <a:t>Log</a:t>
            </a:r>
            <a:r>
              <a:rPr sz="2000" b="1" spc="-75" dirty="0">
                <a:solidFill>
                  <a:srgbClr val="9900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Arial"/>
                <a:cs typeface="Arial"/>
              </a:rPr>
              <a:t>(file)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990000"/>
                </a:solidFill>
                <a:latin typeface="Arial"/>
                <a:cs typeface="Arial"/>
              </a:rPr>
              <a:t>.Idf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4850" y="829944"/>
            <a:ext cx="77349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Interacting</a:t>
            </a:r>
            <a:r>
              <a:rPr spc="-45" dirty="0"/>
              <a:t> </a:t>
            </a:r>
            <a:r>
              <a:rPr spc="-5" dirty="0"/>
              <a:t>Processes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2320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002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Assume the usual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Sells(bar,beer,price) 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relation, and suppose that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dirty="0">
                <a:latin typeface="Tahoma"/>
                <a:cs typeface="Tahoma"/>
              </a:rPr>
              <a:t>Bar </a:t>
            </a:r>
            <a:r>
              <a:rPr sz="3200" spc="-5" dirty="0">
                <a:latin typeface="Tahoma"/>
                <a:cs typeface="Tahoma"/>
              </a:rPr>
              <a:t>sells  only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$2.50 and Miller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$3.00.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Sally is querying 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Sells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highest and  lowest price </a:t>
            </a:r>
            <a:r>
              <a:rPr sz="3200" dirty="0">
                <a:latin typeface="Tahoma"/>
                <a:cs typeface="Tahoma"/>
              </a:rPr>
              <a:t>Joe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charges.</a:t>
            </a:r>
            <a:endParaRPr sz="3200" dirty="0">
              <a:latin typeface="Tahoma"/>
              <a:cs typeface="Tahoma"/>
            </a:endParaRPr>
          </a:p>
          <a:p>
            <a:pPr marL="355600" marR="1377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Joe </a:t>
            </a:r>
            <a:r>
              <a:rPr sz="3200" spc="-5" dirty="0">
                <a:latin typeface="Tahoma"/>
                <a:cs typeface="Tahoma"/>
              </a:rPr>
              <a:t>decides to stop selling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and  </a:t>
            </a:r>
            <a:r>
              <a:rPr sz="3200" spc="-65" dirty="0">
                <a:latin typeface="Tahoma"/>
                <a:cs typeface="Tahoma"/>
              </a:rPr>
              <a:t>Miller, </a:t>
            </a:r>
            <a:r>
              <a:rPr sz="3200" spc="-5" dirty="0">
                <a:latin typeface="Tahoma"/>
                <a:cs typeface="Tahoma"/>
              </a:rPr>
              <a:t>but to sell only </a:t>
            </a:r>
            <a:r>
              <a:rPr sz="3200" spc="-10" dirty="0">
                <a:latin typeface="Tahoma"/>
                <a:cs typeface="Tahoma"/>
              </a:rPr>
              <a:t>Heineken </a:t>
            </a:r>
            <a:r>
              <a:rPr sz="3200" spc="-5" dirty="0">
                <a:latin typeface="Tahoma"/>
                <a:cs typeface="Tahoma"/>
              </a:rPr>
              <a:t>at</a:t>
            </a:r>
            <a:r>
              <a:rPr sz="3200" spc="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$3.50.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954" y="829944"/>
            <a:ext cx="3768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Sally’s</a:t>
            </a:r>
            <a:r>
              <a:rPr spc="-60" dirty="0"/>
              <a:t> </a:t>
            </a:r>
            <a:r>
              <a:rPr spc="-20" dirty="0"/>
              <a:t>Program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7135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Sally </a:t>
            </a:r>
            <a:r>
              <a:rPr sz="3200" spc="-10" dirty="0">
                <a:latin typeface="Tahoma"/>
                <a:cs typeface="Tahoma"/>
              </a:rPr>
              <a:t>executes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following </a:t>
            </a:r>
            <a:r>
              <a:rPr sz="3200" spc="-5" dirty="0">
                <a:latin typeface="Tahoma"/>
                <a:cs typeface="Tahoma"/>
              </a:rPr>
              <a:t>two SQL  statements called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(min)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(max) </a:t>
            </a:r>
            <a:r>
              <a:rPr sz="3200" spc="-5" dirty="0">
                <a:latin typeface="Tahoma"/>
                <a:cs typeface="Tahoma"/>
              </a:rPr>
              <a:t>to  help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remember what they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5" dirty="0">
                <a:latin typeface="Tahoma"/>
                <a:cs typeface="Tahoma"/>
              </a:rPr>
              <a:t>do.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571875"/>
            <a:ext cx="1093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(max</a:t>
            </a:r>
            <a:r>
              <a:rPr sz="3200" dirty="0">
                <a:solidFill>
                  <a:srgbClr val="FF3300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741545"/>
            <a:ext cx="99821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(min</a:t>
            </a:r>
            <a:r>
              <a:rPr sz="3200" dirty="0">
                <a:solidFill>
                  <a:srgbClr val="FF3300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3339" y="3475482"/>
            <a:ext cx="5616575" cy="236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 MAX(price) FROM </a:t>
            </a:r>
            <a:r>
              <a:rPr sz="3200" dirty="0">
                <a:latin typeface="Tahoma"/>
                <a:cs typeface="Tahoma"/>
              </a:rPr>
              <a:t>Sells  </a:t>
            </a: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 </a:t>
            </a:r>
            <a:r>
              <a:rPr sz="3200" spc="10" dirty="0">
                <a:latin typeface="Tahoma"/>
                <a:cs typeface="Tahoma"/>
              </a:rPr>
              <a:t>Bar’;  </a:t>
            </a:r>
            <a:r>
              <a:rPr sz="3200" spc="-5" dirty="0">
                <a:latin typeface="Tahoma"/>
                <a:cs typeface="Tahoma"/>
              </a:rPr>
              <a:t>SELECT MIN(price) FROM </a:t>
            </a:r>
            <a:r>
              <a:rPr sz="3200" dirty="0">
                <a:latin typeface="Tahoma"/>
                <a:cs typeface="Tahoma"/>
              </a:rPr>
              <a:t>Sells  </a:t>
            </a: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 </a:t>
            </a:r>
            <a:r>
              <a:rPr sz="3200" spc="10" dirty="0">
                <a:latin typeface="Tahoma"/>
                <a:cs typeface="Tahoma"/>
              </a:rPr>
              <a:t>Bar’;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6070" y="829944"/>
            <a:ext cx="3451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Joe’s</a:t>
            </a:r>
            <a:r>
              <a:rPr spc="-75" dirty="0"/>
              <a:t> </a:t>
            </a:r>
            <a:r>
              <a:rPr spc="-20" dirty="0"/>
              <a:t>Program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994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At </a:t>
            </a:r>
            <a:r>
              <a:rPr sz="3200" spc="-5" dirty="0">
                <a:latin typeface="Tahoma"/>
                <a:cs typeface="Tahoma"/>
              </a:rPr>
              <a:t>about the same time,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10" dirty="0">
                <a:latin typeface="Tahoma"/>
                <a:cs typeface="Tahoma"/>
              </a:rPr>
              <a:t>executes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10" dirty="0">
                <a:latin typeface="Tahoma"/>
                <a:cs typeface="Tahoma"/>
              </a:rPr>
              <a:t>following </a:t>
            </a:r>
            <a:r>
              <a:rPr sz="3200" spc="-5" dirty="0">
                <a:latin typeface="Tahoma"/>
                <a:cs typeface="Tahoma"/>
              </a:rPr>
              <a:t>steps: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(del) </a:t>
            </a:r>
            <a:r>
              <a:rPr sz="3200" spc="-5" dirty="0">
                <a:latin typeface="Tahoma"/>
                <a:cs typeface="Tahoma"/>
              </a:rPr>
              <a:t>and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(ins)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084194"/>
            <a:ext cx="8686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</a:t>
            </a:r>
            <a:r>
              <a:rPr sz="3200" dirty="0">
                <a:solidFill>
                  <a:srgbClr val="FF3300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4253865"/>
            <a:ext cx="8382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(ins</a:t>
            </a:r>
            <a:r>
              <a:rPr sz="3200" dirty="0">
                <a:solidFill>
                  <a:srgbClr val="FF3300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939" y="2987801"/>
            <a:ext cx="6769100" cy="23647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Tahoma"/>
                <a:cs typeface="Tahoma"/>
              </a:rPr>
              <a:t>DELETE 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 marL="12700" marR="214503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 </a:t>
            </a:r>
            <a:r>
              <a:rPr sz="3200" spc="10" dirty="0">
                <a:latin typeface="Tahoma"/>
                <a:cs typeface="Tahoma"/>
              </a:rPr>
              <a:t>Bar’;  </a:t>
            </a:r>
            <a:r>
              <a:rPr sz="3200" spc="-20" dirty="0">
                <a:latin typeface="Tahoma"/>
                <a:cs typeface="Tahoma"/>
              </a:rPr>
              <a:t>INSERT INTO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20" dirty="0">
                <a:latin typeface="Tahoma"/>
                <a:cs typeface="Tahoma"/>
              </a:rPr>
              <a:t>VALUES(’Joe’’s </a:t>
            </a:r>
            <a:r>
              <a:rPr sz="3200" spc="-55" dirty="0">
                <a:latin typeface="Tahoma"/>
                <a:cs typeface="Tahoma"/>
              </a:rPr>
              <a:t>Bar’, </a:t>
            </a:r>
            <a:r>
              <a:rPr sz="3200" spc="-35" dirty="0">
                <a:latin typeface="Tahoma"/>
                <a:cs typeface="Tahoma"/>
              </a:rPr>
              <a:t>’Heineken’,</a:t>
            </a:r>
            <a:r>
              <a:rPr sz="3200" spc="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3.50);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4605" y="829944"/>
            <a:ext cx="6575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Interleaving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Statements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5457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Although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(max) </a:t>
            </a:r>
            <a:r>
              <a:rPr sz="3200" spc="-5" dirty="0">
                <a:latin typeface="Tahoma"/>
                <a:cs typeface="Tahoma"/>
              </a:rPr>
              <a:t>must come </a:t>
            </a:r>
            <a:r>
              <a:rPr sz="3200" spc="-15" dirty="0">
                <a:latin typeface="Tahoma"/>
                <a:cs typeface="Tahoma"/>
              </a:rPr>
              <a:t>before </a:t>
            </a:r>
            <a:r>
              <a:rPr sz="3200" spc="-1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(min)</a:t>
            </a:r>
            <a:r>
              <a:rPr sz="3200" spc="-5" dirty="0">
                <a:latin typeface="Tahoma"/>
                <a:cs typeface="Tahoma"/>
              </a:rPr>
              <a:t>, and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(del) </a:t>
            </a:r>
            <a:r>
              <a:rPr sz="3200" spc="-5" dirty="0">
                <a:latin typeface="Tahoma"/>
                <a:cs typeface="Tahoma"/>
              </a:rPr>
              <a:t>must come </a:t>
            </a:r>
            <a:r>
              <a:rPr sz="3200" spc="-15" dirty="0">
                <a:latin typeface="Tahoma"/>
                <a:cs typeface="Tahoma"/>
              </a:rPr>
              <a:t>before </a:t>
            </a:r>
            <a:r>
              <a:rPr sz="3200" spc="-15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(ins)</a:t>
            </a:r>
            <a:r>
              <a:rPr sz="3200" spc="-5" dirty="0">
                <a:latin typeface="Tahoma"/>
                <a:cs typeface="Tahoma"/>
              </a:rPr>
              <a:t>, 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other </a:t>
            </a:r>
            <a:r>
              <a:rPr sz="3200" spc="-10" dirty="0">
                <a:latin typeface="Tahoma"/>
                <a:cs typeface="Tahoma"/>
              </a:rPr>
              <a:t>constraints </a:t>
            </a:r>
            <a:r>
              <a:rPr sz="3200" dirty="0">
                <a:latin typeface="Tahoma"/>
                <a:cs typeface="Tahoma"/>
              </a:rPr>
              <a:t>on  </a:t>
            </a:r>
            <a:r>
              <a:rPr sz="3200" spc="-5" dirty="0">
                <a:latin typeface="Tahoma"/>
                <a:cs typeface="Tahoma"/>
              </a:rPr>
              <a:t>the order of these statements, unless 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group </a:t>
            </a:r>
            <a:r>
              <a:rPr sz="3200" spc="-15" dirty="0">
                <a:latin typeface="Tahoma"/>
                <a:cs typeface="Tahoma"/>
              </a:rPr>
              <a:t>Sally’s </a:t>
            </a:r>
            <a:r>
              <a:rPr sz="3200" spc="-5" dirty="0">
                <a:latin typeface="Tahoma"/>
                <a:cs typeface="Tahoma"/>
              </a:rPr>
              <a:t>and/or </a:t>
            </a:r>
            <a:r>
              <a:rPr sz="3200" spc="-25" dirty="0">
                <a:latin typeface="Tahoma"/>
                <a:cs typeface="Tahoma"/>
              </a:rPr>
              <a:t>Joe’s  </a:t>
            </a:r>
            <a:r>
              <a:rPr sz="3200" spc="-5" dirty="0">
                <a:latin typeface="Tahoma"/>
                <a:cs typeface="Tahoma"/>
              </a:rPr>
              <a:t>statements into</a:t>
            </a:r>
            <a:r>
              <a:rPr sz="3200" spc="-10" dirty="0">
                <a:latin typeface="Tahoma"/>
                <a:cs typeface="Tahoma"/>
              </a:rPr>
              <a:t> transactions.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039" y="829944"/>
            <a:ext cx="748855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5" dirty="0"/>
              <a:t>Strange</a:t>
            </a:r>
            <a:r>
              <a:rPr spc="-35" dirty="0"/>
              <a:t> </a:t>
            </a:r>
            <a:r>
              <a:rPr spc="-10" dirty="0"/>
              <a:t>Interleaving</a:t>
            </a:r>
            <a:r>
              <a:rPr lang="zh-CN" altLang="en-US" spc="-10" dirty="0"/>
              <a:t> 交错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568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the steps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" dirty="0">
                <a:latin typeface="Tahoma"/>
                <a:cs typeface="Tahoma"/>
              </a:rPr>
              <a:t>in the order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 (max)(del)(ins)(min)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989072"/>
            <a:ext cx="220091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Prices:  Statement:  </a:t>
            </a:r>
            <a:r>
              <a:rPr sz="3200" spc="-10" dirty="0">
                <a:latin typeface="Tahoma"/>
                <a:cs typeface="Tahoma"/>
              </a:rPr>
              <a:t>Result: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424804"/>
            <a:ext cx="45142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Sally sees MAX </a:t>
            </a:r>
            <a:r>
              <a:rPr sz="3200" dirty="0">
                <a:latin typeface="Tahoma"/>
                <a:cs typeface="Tahoma"/>
              </a:rPr>
              <a:t>&lt;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MIN!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9540" y="3766184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(in</a:t>
            </a:r>
            <a:r>
              <a:rPr sz="2400" spc="-5" dirty="0">
                <a:solidFill>
                  <a:srgbClr val="FF3300"/>
                </a:solidFill>
                <a:latin typeface="Tahoma"/>
                <a:cs typeface="Tahoma"/>
              </a:rPr>
              <a:t>s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2540" y="3156584"/>
            <a:ext cx="90995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{</a:t>
            </a:r>
            <a:r>
              <a:rPr sz="2400" spc="-5" dirty="0">
                <a:latin typeface="Tahoma"/>
                <a:cs typeface="Tahoma"/>
              </a:rPr>
              <a:t>3.50</a:t>
            </a:r>
            <a:r>
              <a:rPr sz="2400" dirty="0">
                <a:latin typeface="Tahoma"/>
                <a:cs typeface="Tahoma"/>
              </a:rPr>
              <a:t>}</a:t>
            </a:r>
            <a:endParaRPr sz="2400">
              <a:latin typeface="Tahoma"/>
              <a:cs typeface="Tahoma"/>
            </a:endParaRPr>
          </a:p>
          <a:p>
            <a:pPr marL="12700" marR="159385">
              <a:lnSpc>
                <a:spcPct val="145800"/>
              </a:lnSpc>
              <a:spcBef>
                <a:spcPts val="600"/>
              </a:spcBef>
            </a:pP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in)  </a:t>
            </a:r>
            <a:r>
              <a:rPr sz="2400" spc="-5" dirty="0">
                <a:latin typeface="Tahoma"/>
                <a:cs typeface="Tahoma"/>
              </a:rPr>
              <a:t>3.50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9140" y="3156584"/>
            <a:ext cx="319341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latin typeface="Tahoma"/>
                <a:cs typeface="Tahoma"/>
              </a:rPr>
              <a:t>{2.50,3.00}{2.50,3.00}</a:t>
            </a:r>
            <a:endParaRPr sz="2400">
              <a:latin typeface="Tahoma"/>
              <a:cs typeface="Tahoma"/>
            </a:endParaRPr>
          </a:p>
          <a:p>
            <a:pPr marL="469900" marR="711200" indent="-76200">
              <a:lnSpc>
                <a:spcPct val="145800"/>
              </a:lnSpc>
              <a:spcBef>
                <a:spcPts val="600"/>
              </a:spcBef>
              <a:tabLst>
                <a:tab pos="1840864" algn="l"/>
              </a:tabLst>
            </a:pP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Tahoma"/>
                <a:cs typeface="Tahoma"/>
              </a:rPr>
              <a:t>m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ax)	(</a:t>
            </a:r>
            <a:r>
              <a:rPr sz="2400" spc="-5" dirty="0">
                <a:solidFill>
                  <a:srgbClr val="FF3300"/>
                </a:solidFill>
                <a:latin typeface="Tahoma"/>
                <a:cs typeface="Tahoma"/>
              </a:rPr>
              <a:t>d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el)  </a:t>
            </a:r>
            <a:r>
              <a:rPr sz="2400" spc="-5" dirty="0">
                <a:latin typeface="Tahoma"/>
                <a:cs typeface="Tahoma"/>
              </a:rPr>
              <a:t>3.00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2635" marR="5080" indent="-192151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Fixing the </a:t>
            </a:r>
            <a:r>
              <a:rPr spc="-10" dirty="0"/>
              <a:t>Problem </a:t>
            </a:r>
            <a:r>
              <a:rPr spc="-5" dirty="0"/>
              <a:t>by Using  </a:t>
            </a:r>
            <a:r>
              <a:rPr spc="-45" dirty="0"/>
              <a:t>Transactions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36180" cy="3926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86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group </a:t>
            </a:r>
            <a:r>
              <a:rPr sz="3200" spc="-15" dirty="0">
                <a:latin typeface="Tahoma"/>
                <a:cs typeface="Tahoma"/>
              </a:rPr>
              <a:t>Sally’s </a:t>
            </a:r>
            <a:r>
              <a:rPr sz="3200" spc="-5" dirty="0">
                <a:latin typeface="Tahoma"/>
                <a:cs typeface="Tahoma"/>
              </a:rPr>
              <a:t>statements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 (max)(min) </a:t>
            </a:r>
            <a:r>
              <a:rPr sz="3200" spc="-5" dirty="0">
                <a:latin typeface="Tahoma"/>
                <a:cs typeface="Tahoma"/>
              </a:rPr>
              <a:t>into one </a:t>
            </a:r>
            <a:r>
              <a:rPr sz="3200" spc="-10" dirty="0">
                <a:latin typeface="Tahoma"/>
                <a:cs typeface="Tahoma"/>
              </a:rPr>
              <a:t>transaction, </a:t>
            </a:r>
            <a:r>
              <a:rPr sz="3200" spc="-5" dirty="0">
                <a:latin typeface="Tahoma"/>
                <a:cs typeface="Tahoma"/>
              </a:rPr>
              <a:t>then  she cannot see this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inconsistency.</a:t>
            </a:r>
            <a:endParaRPr sz="3200">
              <a:latin typeface="Tahoma"/>
              <a:cs typeface="Tahoma"/>
            </a:endParaRPr>
          </a:p>
          <a:p>
            <a:pPr marL="355600" marR="82423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She sees </a:t>
            </a:r>
            <a:r>
              <a:rPr sz="3200" spc="-25" dirty="0">
                <a:latin typeface="Tahoma"/>
                <a:cs typeface="Tahoma"/>
              </a:rPr>
              <a:t>Joe’s </a:t>
            </a:r>
            <a:r>
              <a:rPr sz="3200" spc="-5" dirty="0">
                <a:latin typeface="Tahoma"/>
                <a:cs typeface="Tahoma"/>
              </a:rPr>
              <a:t>prices at some </a:t>
            </a:r>
            <a:r>
              <a:rPr sz="3200" spc="-10" dirty="0">
                <a:latin typeface="Tahoma"/>
                <a:cs typeface="Tahoma"/>
              </a:rPr>
              <a:t>fixed 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Either </a:t>
            </a:r>
            <a:r>
              <a:rPr sz="2800" spc="-10" dirty="0">
                <a:latin typeface="Tahoma"/>
                <a:cs typeface="Tahoma"/>
              </a:rPr>
              <a:t>before </a:t>
            </a:r>
            <a:r>
              <a:rPr sz="2800" spc="-5" dirty="0">
                <a:latin typeface="Tahoma"/>
                <a:cs typeface="Tahoma"/>
              </a:rPr>
              <a:t>or after he changes prices, or  in the middle, but the MAX and MIN </a:t>
            </a:r>
            <a:r>
              <a:rPr sz="2800" spc="-10" dirty="0">
                <a:latin typeface="Tahoma"/>
                <a:cs typeface="Tahoma"/>
              </a:rPr>
              <a:t>are  </a:t>
            </a:r>
            <a:r>
              <a:rPr sz="2800" spc="-5" dirty="0">
                <a:latin typeface="Tahoma"/>
                <a:cs typeface="Tahoma"/>
              </a:rPr>
              <a:t>computed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same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prices.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1589" y="829944"/>
            <a:ext cx="65608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Another Problem:</a:t>
            </a:r>
            <a:r>
              <a:rPr spc="-50" dirty="0"/>
              <a:t> </a:t>
            </a:r>
            <a:r>
              <a:rPr spc="-15" dirty="0"/>
              <a:t>Rollback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2050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10" dirty="0">
                <a:latin typeface="Tahoma"/>
                <a:cs typeface="Tahoma"/>
              </a:rPr>
              <a:t>executes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(del)(ins)</a:t>
            </a:r>
            <a:r>
              <a:rPr sz="3200" spc="-5" dirty="0">
                <a:latin typeface="Tahoma"/>
                <a:cs typeface="Tahoma"/>
              </a:rPr>
              <a:t>, not as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transaction, </a:t>
            </a:r>
            <a:r>
              <a:rPr sz="3200" spc="-5" dirty="0">
                <a:latin typeface="Tahoma"/>
                <a:cs typeface="Tahoma"/>
              </a:rPr>
              <a:t>but after </a:t>
            </a:r>
            <a:r>
              <a:rPr sz="3200" spc="-10" dirty="0">
                <a:latin typeface="Tahoma"/>
                <a:cs typeface="Tahoma"/>
              </a:rPr>
              <a:t>executing </a:t>
            </a:r>
            <a:r>
              <a:rPr sz="3200" spc="-5" dirty="0">
                <a:latin typeface="Tahoma"/>
                <a:cs typeface="Tahoma"/>
              </a:rPr>
              <a:t>these  statements, thinks </a:t>
            </a:r>
            <a:r>
              <a:rPr sz="3200" spc="-10" dirty="0">
                <a:latin typeface="Tahoma"/>
                <a:cs typeface="Tahoma"/>
              </a:rPr>
              <a:t>better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and  issues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ROLLBACK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statement.</a:t>
            </a:r>
            <a:endParaRPr sz="3200" dirty="0">
              <a:latin typeface="Tahoma"/>
              <a:cs typeface="Tahoma"/>
            </a:endParaRPr>
          </a:p>
          <a:p>
            <a:pPr marL="355600" marR="1016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Sally </a:t>
            </a:r>
            <a:r>
              <a:rPr sz="3200" spc="-10" dirty="0">
                <a:latin typeface="Tahoma"/>
                <a:cs typeface="Tahoma"/>
              </a:rPr>
              <a:t>executes </a:t>
            </a:r>
            <a:r>
              <a:rPr sz="3200" spc="-5" dirty="0">
                <a:latin typeface="Tahoma"/>
                <a:cs typeface="Tahoma"/>
              </a:rPr>
              <a:t>her statements after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 (ins) </a:t>
            </a:r>
            <a:r>
              <a:rPr sz="3200" spc="-5" dirty="0">
                <a:latin typeface="Tahoma"/>
                <a:cs typeface="Tahoma"/>
              </a:rPr>
              <a:t>but </a:t>
            </a:r>
            <a:r>
              <a:rPr sz="3200" spc="-15" dirty="0">
                <a:latin typeface="Tahoma"/>
                <a:cs typeface="Tahoma"/>
              </a:rPr>
              <a:t>before </a:t>
            </a:r>
            <a:r>
              <a:rPr sz="3200" spc="-5" dirty="0">
                <a:latin typeface="Tahoma"/>
                <a:cs typeface="Tahoma"/>
              </a:rPr>
              <a:t>the rollback, she sees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5" dirty="0">
                <a:latin typeface="Tahoma"/>
                <a:cs typeface="Tahoma"/>
              </a:rPr>
              <a:t>value, </a:t>
            </a:r>
            <a:r>
              <a:rPr sz="3200" spc="-5" dirty="0">
                <a:latin typeface="Tahoma"/>
                <a:cs typeface="Tahoma"/>
              </a:rPr>
              <a:t>3.50, that </a:t>
            </a:r>
            <a:r>
              <a:rPr sz="3200" spc="-10" dirty="0">
                <a:latin typeface="Tahoma"/>
                <a:cs typeface="Tahoma"/>
              </a:rPr>
              <a:t>never </a:t>
            </a:r>
            <a:r>
              <a:rPr sz="3200" spc="-5" dirty="0">
                <a:latin typeface="Tahoma"/>
                <a:cs typeface="Tahoma"/>
              </a:rPr>
              <a:t>existed in the  database.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795" y="829944"/>
            <a:ext cx="2010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3959" cy="33420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10" dirty="0">
                <a:latin typeface="Tahoma"/>
                <a:cs typeface="Tahoma"/>
              </a:rPr>
              <a:t>executes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(del)(ins) </a:t>
            </a:r>
            <a:r>
              <a:rPr sz="3200" spc="-5" dirty="0">
                <a:latin typeface="Tahoma"/>
                <a:cs typeface="Tahoma"/>
              </a:rPr>
              <a:t>as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0" dirty="0">
                <a:latin typeface="Tahoma"/>
                <a:cs typeface="Tahoma"/>
              </a:rPr>
              <a:t>transaction,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spc="-5" dirty="0">
                <a:latin typeface="Tahoma"/>
                <a:cs typeface="Tahoma"/>
              </a:rPr>
              <a:t>cannot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seen by  others until the </a:t>
            </a:r>
            <a:r>
              <a:rPr sz="3200" spc="-10" dirty="0">
                <a:latin typeface="Tahoma"/>
                <a:cs typeface="Tahoma"/>
              </a:rPr>
              <a:t>transaction executes  </a:t>
            </a:r>
            <a:r>
              <a:rPr sz="3200" spc="-65" dirty="0">
                <a:latin typeface="Tahoma"/>
                <a:cs typeface="Tahoma"/>
              </a:rPr>
              <a:t>COMMIT.</a:t>
            </a:r>
            <a:endParaRPr sz="3200">
              <a:latin typeface="Tahoma"/>
              <a:cs typeface="Tahoma"/>
            </a:endParaRPr>
          </a:p>
          <a:p>
            <a:pPr marL="755650" marR="824865" lvl="1" indent="-285750" algn="just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If the </a:t>
            </a:r>
            <a:r>
              <a:rPr sz="2800" spc="-10" dirty="0">
                <a:latin typeface="Tahoma"/>
                <a:cs typeface="Tahoma"/>
              </a:rPr>
              <a:t>transaction executes </a:t>
            </a:r>
            <a:r>
              <a:rPr sz="2800" spc="-5" dirty="0">
                <a:latin typeface="Tahoma"/>
                <a:cs typeface="Tahoma"/>
              </a:rPr>
              <a:t>ROLLBACK  instead, then </a:t>
            </a:r>
            <a:r>
              <a:rPr sz="2800" dirty="0">
                <a:latin typeface="Tahoma"/>
                <a:cs typeface="Tahoma"/>
              </a:rPr>
              <a:t>its </a:t>
            </a:r>
            <a:r>
              <a:rPr sz="2800" spc="-10" dirty="0">
                <a:latin typeface="Tahoma"/>
                <a:cs typeface="Tahoma"/>
              </a:rPr>
              <a:t>effects </a:t>
            </a:r>
            <a:r>
              <a:rPr sz="2800" spc="-5" dirty="0">
                <a:latin typeface="Tahoma"/>
                <a:cs typeface="Tahoma"/>
              </a:rPr>
              <a:t>can </a:t>
            </a:r>
            <a:r>
              <a:rPr sz="2900" i="1" spc="-925" dirty="0">
                <a:latin typeface="Tahoma"/>
                <a:cs typeface="Tahoma"/>
              </a:rPr>
              <a:t>never</a:t>
            </a:r>
            <a:r>
              <a:rPr sz="2900" i="1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  seen.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0014" y="829944"/>
            <a:ext cx="3823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Isolation</a:t>
            </a:r>
            <a:r>
              <a:rPr spc="-65" dirty="0"/>
              <a:t> </a:t>
            </a:r>
            <a:r>
              <a:rPr spc="-10" dirty="0"/>
              <a:t>Levels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95845" cy="41427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SQL defines </a:t>
            </a:r>
            <a:r>
              <a:rPr sz="3200" spc="-15" dirty="0">
                <a:latin typeface="Tahoma"/>
                <a:cs typeface="Tahoma"/>
              </a:rPr>
              <a:t>four </a:t>
            </a:r>
            <a:r>
              <a:rPr lang="en-US" altLang="zh-CN" sz="3600" dirty="0">
                <a:effectLst/>
                <a:highlight>
                  <a:srgbClr val="FFFF00"/>
                </a:highlight>
              </a:rPr>
              <a:t>isolation levels</a:t>
            </a:r>
            <a:r>
              <a:rPr sz="3350" i="1" spc="-975" dirty="0">
                <a:solidFill>
                  <a:srgbClr val="FF0066"/>
                </a:solidFill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 </a:t>
            </a:r>
            <a:r>
              <a:rPr sz="3200" spc="-5" dirty="0">
                <a:latin typeface="Tahoma"/>
                <a:cs typeface="Tahoma"/>
              </a:rPr>
              <a:t>choices about what </a:t>
            </a:r>
            <a:r>
              <a:rPr sz="3200" spc="-10" dirty="0">
                <a:latin typeface="Tahoma"/>
                <a:cs typeface="Tahoma"/>
              </a:rPr>
              <a:t>interactions are  </a:t>
            </a:r>
            <a:r>
              <a:rPr sz="3200" spc="-5" dirty="0">
                <a:latin typeface="Tahoma"/>
                <a:cs typeface="Tahoma"/>
              </a:rPr>
              <a:t>allowed by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execute </a:t>
            </a:r>
            <a:r>
              <a:rPr sz="3200" spc="-5" dirty="0">
                <a:latin typeface="Tahoma"/>
                <a:cs typeface="Tahoma"/>
              </a:rPr>
              <a:t>at  about the same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 dirty="0">
              <a:latin typeface="Tahoma"/>
              <a:cs typeface="Tahoma"/>
            </a:endParaRPr>
          </a:p>
          <a:p>
            <a:pPr marL="355600" marR="247015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Only one </a:t>
            </a:r>
            <a:r>
              <a:rPr sz="3200" spc="-10" dirty="0">
                <a:latin typeface="Tahoma"/>
                <a:cs typeface="Tahoma"/>
              </a:rPr>
              <a:t>level </a:t>
            </a:r>
            <a:r>
              <a:rPr sz="3200" spc="-5" dirty="0">
                <a:latin typeface="Tahoma"/>
                <a:cs typeface="Tahoma"/>
              </a:rPr>
              <a:t>(“serializable”)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ACID  </a:t>
            </a:r>
            <a:r>
              <a:rPr sz="3200" spc="-10" dirty="0">
                <a:latin typeface="Tahoma"/>
                <a:cs typeface="Tahoma"/>
              </a:rPr>
              <a:t>transactions.</a:t>
            </a:r>
            <a:endParaRPr sz="3200" dirty="0">
              <a:latin typeface="Tahoma"/>
              <a:cs typeface="Tahoma"/>
            </a:endParaRPr>
          </a:p>
          <a:p>
            <a:pPr marL="355600" marR="14604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Each DBMS implements </a:t>
            </a:r>
            <a:r>
              <a:rPr sz="3200" spc="-10" dirty="0">
                <a:latin typeface="Tahoma"/>
                <a:cs typeface="Tahoma"/>
              </a:rPr>
              <a:t>transactions </a:t>
            </a:r>
            <a:r>
              <a:rPr sz="3200" spc="-5" dirty="0">
                <a:latin typeface="Tahoma"/>
                <a:cs typeface="Tahoma"/>
              </a:rPr>
              <a:t>in  </a:t>
            </a:r>
            <a:r>
              <a:rPr sz="3200" dirty="0">
                <a:latin typeface="Tahoma"/>
                <a:cs typeface="Tahoma"/>
              </a:rPr>
              <a:t>its </a:t>
            </a:r>
            <a:r>
              <a:rPr sz="3200" spc="-5" dirty="0">
                <a:latin typeface="Tahoma"/>
                <a:cs typeface="Tahoma"/>
              </a:rPr>
              <a:t>own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way.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7755" y="829944"/>
            <a:ext cx="6968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Choosing the </a:t>
            </a:r>
            <a:r>
              <a:rPr spc="-10" dirty="0"/>
              <a:t>Isolation</a:t>
            </a:r>
            <a:r>
              <a:rPr spc="-40" dirty="0"/>
              <a:t> </a:t>
            </a:r>
            <a:r>
              <a:rPr spc="-10" dirty="0"/>
              <a:t>Level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40507"/>
            <a:ext cx="7387590" cy="385201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5999"/>
              </a:lnSpc>
              <a:spcBef>
                <a:spcPts val="6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Within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transaction,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0" dirty="0">
                <a:latin typeface="Tahoma"/>
                <a:cs typeface="Tahoma"/>
              </a:rPr>
              <a:t>say:  </a:t>
            </a:r>
            <a:r>
              <a:rPr sz="3200" spc="-5" dirty="0">
                <a:latin typeface="Tahoma"/>
                <a:cs typeface="Tahoma"/>
              </a:rPr>
              <a:t>SET TRANSACTION </a:t>
            </a:r>
            <a:r>
              <a:rPr sz="3200" spc="-30" dirty="0">
                <a:latin typeface="Tahoma"/>
                <a:cs typeface="Tahoma"/>
              </a:rPr>
              <a:t>ISOLATION </a:t>
            </a:r>
            <a:r>
              <a:rPr sz="3200" spc="-5" dirty="0">
                <a:latin typeface="Tahoma"/>
                <a:cs typeface="Tahoma"/>
              </a:rPr>
              <a:t>LEVEL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85" dirty="0">
                <a:latin typeface="Tahoma"/>
                <a:cs typeface="Tahoma"/>
              </a:rPr>
              <a:t>X</a:t>
            </a:r>
            <a:endParaRPr sz="3350" dirty="0">
              <a:latin typeface="Tahoma"/>
              <a:cs typeface="Tahoma"/>
            </a:endParaRPr>
          </a:p>
          <a:p>
            <a:pPr marL="622300">
              <a:lnSpc>
                <a:spcPct val="100000"/>
              </a:lnSpc>
              <a:spcBef>
                <a:spcPts val="575"/>
              </a:spcBef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350" i="1" spc="-85" dirty="0">
                <a:latin typeface="Tahoma"/>
                <a:cs typeface="Tahoma"/>
              </a:rPr>
              <a:t>X</a:t>
            </a:r>
            <a:r>
              <a:rPr sz="3350" i="1" spc="-2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</a:t>
            </a:r>
          </a:p>
          <a:p>
            <a:pPr marL="1003300" lvl="1" indent="-533400">
              <a:lnSpc>
                <a:spcPct val="100000"/>
              </a:lnSpc>
              <a:spcBef>
                <a:spcPts val="65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SERIALIZABLE</a:t>
            </a:r>
            <a:r>
              <a:rPr lang="zh-CN" altLang="en-US" sz="2800" spc="-5" dirty="0">
                <a:latin typeface="Tahoma"/>
                <a:cs typeface="Tahoma"/>
              </a:rPr>
              <a:t>可序列化的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35" dirty="0">
                <a:latin typeface="Tahoma"/>
                <a:cs typeface="Tahoma"/>
              </a:rPr>
              <a:t>REPEATABLE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READ</a:t>
            </a:r>
            <a:r>
              <a:rPr lang="zh-CN" altLang="en-US" sz="2800" spc="-5" dirty="0">
                <a:latin typeface="Tahoma"/>
                <a:cs typeface="Tahoma"/>
              </a:rPr>
              <a:t>可重复读取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READ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COMMITTED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READ </a:t>
            </a:r>
            <a:r>
              <a:rPr sz="2800" spc="-20" dirty="0">
                <a:latin typeface="Tahoma"/>
                <a:cs typeface="Tahoma"/>
              </a:rPr>
              <a:t>UNCOMMITTED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8767" y="381000"/>
            <a:ext cx="600646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Serializable</a:t>
            </a:r>
            <a:r>
              <a:rPr spc="-45" dirty="0"/>
              <a:t> Transactions</a:t>
            </a:r>
            <a:r>
              <a:rPr lang="zh-CN" altLang="en-US" spc="-45" dirty="0"/>
              <a:t>可序列化事务</a:t>
            </a:r>
            <a:endParaRPr spc="-4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915784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Sally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(max)(min)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Joe = </a:t>
            </a:r>
            <a:r>
              <a:rPr sz="3200" dirty="0">
                <a:solidFill>
                  <a:srgbClr val="FF33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(del)(ins)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10" dirty="0">
                <a:latin typeface="Tahoma"/>
                <a:cs typeface="Tahoma"/>
              </a:rPr>
              <a:t>transactions, </a:t>
            </a:r>
            <a:r>
              <a:rPr sz="3200" spc="-5" dirty="0">
                <a:latin typeface="Tahoma"/>
                <a:cs typeface="Tahoma"/>
              </a:rPr>
              <a:t>and  Sally runs with isolation </a:t>
            </a:r>
            <a:r>
              <a:rPr sz="3200" spc="-10" dirty="0">
                <a:latin typeface="Tahoma"/>
                <a:cs typeface="Tahoma"/>
              </a:rPr>
              <a:t>level  </a:t>
            </a:r>
            <a:r>
              <a:rPr sz="3200" spc="-5" dirty="0">
                <a:latin typeface="Tahoma"/>
                <a:cs typeface="Tahoma"/>
              </a:rPr>
              <a:t>SERIALIZABLE, then she will see the  database either </a:t>
            </a:r>
            <a:r>
              <a:rPr sz="3200" spc="-15" dirty="0">
                <a:latin typeface="Tahoma"/>
                <a:cs typeface="Tahoma"/>
              </a:rPr>
              <a:t>before </a:t>
            </a:r>
            <a:r>
              <a:rPr sz="3200" spc="-5" dirty="0">
                <a:latin typeface="Tahoma"/>
                <a:cs typeface="Tahoma"/>
              </a:rPr>
              <a:t>or after </a:t>
            </a:r>
            <a:r>
              <a:rPr sz="3200" dirty="0">
                <a:latin typeface="Tahoma"/>
                <a:cs typeface="Tahoma"/>
              </a:rPr>
              <a:t>Joe  </a:t>
            </a:r>
            <a:r>
              <a:rPr sz="3200" spc="-5" dirty="0">
                <a:latin typeface="Tahoma"/>
                <a:cs typeface="Tahoma"/>
              </a:rPr>
              <a:t>runs, but not in 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middle.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865" y="829944"/>
            <a:ext cx="8256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Isolation Level </a:t>
            </a:r>
            <a:r>
              <a:rPr spc="-25" dirty="0"/>
              <a:t>Is </a:t>
            </a:r>
            <a:r>
              <a:rPr spc="-20" dirty="0"/>
              <a:t>Personal</a:t>
            </a:r>
            <a:r>
              <a:rPr spc="15" dirty="0"/>
              <a:t> </a:t>
            </a:r>
            <a:r>
              <a:rPr spc="-5" dirty="0"/>
              <a:t>Choice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1415" cy="39878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>
              <a:lnSpc>
                <a:spcPts val="3840"/>
              </a:lnSpc>
              <a:spcBef>
                <a:spcPts val="22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0" dirty="0">
                <a:latin typeface="Tahoma"/>
                <a:cs typeface="Tahoma"/>
              </a:rPr>
              <a:t>Your </a:t>
            </a:r>
            <a:r>
              <a:rPr sz="3200" spc="-5" dirty="0">
                <a:latin typeface="Tahoma"/>
                <a:cs typeface="Tahoma"/>
              </a:rPr>
              <a:t>choice, </a:t>
            </a:r>
            <a:r>
              <a:rPr sz="3200" spc="-45" dirty="0">
                <a:latin typeface="Tahoma"/>
                <a:cs typeface="Tahoma"/>
              </a:rPr>
              <a:t>e.g., </a:t>
            </a:r>
            <a:r>
              <a:rPr sz="3200" dirty="0">
                <a:latin typeface="Tahoma"/>
                <a:cs typeface="Tahoma"/>
              </a:rPr>
              <a:t>run </a:t>
            </a:r>
            <a:r>
              <a:rPr sz="3200" spc="-5" dirty="0">
                <a:latin typeface="Tahoma"/>
                <a:cs typeface="Tahoma"/>
              </a:rPr>
              <a:t>serializable,  </a:t>
            </a:r>
            <a:r>
              <a:rPr sz="3200" spc="-15" dirty="0">
                <a:latin typeface="Tahoma"/>
                <a:cs typeface="Tahoma"/>
              </a:rPr>
              <a:t>affects </a:t>
            </a:r>
            <a:r>
              <a:rPr sz="3200" spc="-5" dirty="0">
                <a:latin typeface="Tahoma"/>
                <a:cs typeface="Tahoma"/>
              </a:rPr>
              <a:t>only how </a:t>
            </a:r>
            <a:r>
              <a:rPr sz="3350" i="1" spc="-844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see the database,  not how others see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it.</a:t>
            </a:r>
            <a:endParaRPr sz="3200">
              <a:latin typeface="Tahoma"/>
              <a:cs typeface="Tahoma"/>
            </a:endParaRPr>
          </a:p>
          <a:p>
            <a:pPr marL="355600" marR="354965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If </a:t>
            </a:r>
            <a:r>
              <a:rPr sz="3200" dirty="0">
                <a:latin typeface="Tahoma"/>
                <a:cs typeface="Tahoma"/>
              </a:rPr>
              <a:t>Joe </a:t>
            </a:r>
            <a:r>
              <a:rPr sz="3200" spc="-10" dirty="0">
                <a:latin typeface="Tahoma"/>
                <a:cs typeface="Tahoma"/>
              </a:rPr>
              <a:t>Runs </a:t>
            </a:r>
            <a:r>
              <a:rPr sz="3200" spc="-5" dirty="0">
                <a:latin typeface="Tahoma"/>
                <a:cs typeface="Tahoma"/>
              </a:rPr>
              <a:t>serializable, but  Sally </a:t>
            </a:r>
            <a:r>
              <a:rPr sz="3200" spc="5" dirty="0">
                <a:latin typeface="Tahoma"/>
                <a:cs typeface="Tahoma"/>
              </a:rPr>
              <a:t>doesn’t, </a:t>
            </a:r>
            <a:r>
              <a:rPr sz="3200" spc="-5" dirty="0">
                <a:latin typeface="Tahoma"/>
                <a:cs typeface="Tahoma"/>
              </a:rPr>
              <a:t>then Sally might see </a:t>
            </a:r>
            <a:r>
              <a:rPr sz="3200" dirty="0">
                <a:latin typeface="Tahoma"/>
                <a:cs typeface="Tahoma"/>
              </a:rPr>
              <a:t>no  </a:t>
            </a:r>
            <a:r>
              <a:rPr sz="3200" spc="-5" dirty="0">
                <a:latin typeface="Tahoma"/>
                <a:cs typeface="Tahoma"/>
              </a:rPr>
              <a:t>prices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25" dirty="0">
                <a:latin typeface="Tahoma"/>
                <a:cs typeface="Tahoma"/>
              </a:rPr>
              <a:t>Joe’s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Bar.</a:t>
            </a:r>
            <a:endParaRPr sz="3200">
              <a:latin typeface="Tahoma"/>
              <a:cs typeface="Tahoma"/>
            </a:endParaRPr>
          </a:p>
          <a:p>
            <a:pPr marL="755650" marR="65151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40" dirty="0">
                <a:latin typeface="Tahoma"/>
                <a:cs typeface="Tahoma"/>
              </a:rPr>
              <a:t>i.e., </a:t>
            </a:r>
            <a:r>
              <a:rPr sz="2800" dirty="0">
                <a:latin typeface="Tahoma"/>
                <a:cs typeface="Tahoma"/>
              </a:rPr>
              <a:t>it </a:t>
            </a:r>
            <a:r>
              <a:rPr sz="2800" spc="-5" dirty="0">
                <a:latin typeface="Tahoma"/>
                <a:cs typeface="Tahoma"/>
              </a:rPr>
              <a:t>looks to Sally as </a:t>
            </a:r>
            <a:r>
              <a:rPr sz="2800" dirty="0">
                <a:latin typeface="Tahoma"/>
                <a:cs typeface="Tahoma"/>
              </a:rPr>
              <a:t>if </a:t>
            </a:r>
            <a:r>
              <a:rPr sz="2800" spc="-5" dirty="0">
                <a:latin typeface="Tahoma"/>
                <a:cs typeface="Tahoma"/>
              </a:rPr>
              <a:t>she </a:t>
            </a:r>
            <a:r>
              <a:rPr sz="2800" spc="-20" dirty="0">
                <a:latin typeface="Tahoma"/>
                <a:cs typeface="Tahoma"/>
              </a:rPr>
              <a:t>ran </a:t>
            </a:r>
            <a:r>
              <a:rPr sz="2800" spc="-5" dirty="0">
                <a:latin typeface="Tahoma"/>
                <a:cs typeface="Tahoma"/>
              </a:rPr>
              <a:t>in the  middle of </a:t>
            </a:r>
            <a:r>
              <a:rPr sz="2800" spc="-25" dirty="0">
                <a:latin typeface="Tahoma"/>
                <a:cs typeface="Tahoma"/>
              </a:rPr>
              <a:t>Joe’s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transaction.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075" y="829944"/>
            <a:ext cx="71824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Read-Commited</a:t>
            </a:r>
            <a:r>
              <a:rPr spc="-50" dirty="0"/>
              <a:t> </a:t>
            </a:r>
            <a:r>
              <a:rPr spc="-45" dirty="0"/>
              <a:t>Transactions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07605" cy="4048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Sally runs with isolation </a:t>
            </a:r>
            <a:r>
              <a:rPr sz="3200" spc="-10" dirty="0">
                <a:latin typeface="Tahoma"/>
                <a:cs typeface="Tahoma"/>
              </a:rPr>
              <a:t>level </a:t>
            </a:r>
            <a:r>
              <a:rPr sz="3200" spc="-5" dirty="0">
                <a:latin typeface="Tahoma"/>
                <a:cs typeface="Tahoma"/>
              </a:rPr>
              <a:t>READ  </a:t>
            </a:r>
            <a:r>
              <a:rPr sz="3200" spc="-25" dirty="0">
                <a:latin typeface="Tahoma"/>
                <a:cs typeface="Tahoma"/>
              </a:rPr>
              <a:t>COMMITTED, </a:t>
            </a:r>
            <a:r>
              <a:rPr sz="3200" spc="-5" dirty="0">
                <a:latin typeface="Tahoma"/>
                <a:cs typeface="Tahoma"/>
              </a:rPr>
              <a:t>then she can see only  committed data, but not necessarily the  same data each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>
              <a:latin typeface="Tahoma"/>
              <a:cs typeface="Tahoma"/>
            </a:endParaRPr>
          </a:p>
          <a:p>
            <a:pPr marL="355600" marR="1377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Under READ </a:t>
            </a:r>
            <a:r>
              <a:rPr sz="3200" spc="-25" dirty="0">
                <a:latin typeface="Tahoma"/>
                <a:cs typeface="Tahoma"/>
              </a:rPr>
              <a:t>COMMITTED,  </a:t>
            </a:r>
            <a:r>
              <a:rPr sz="3200" spc="-5" dirty="0">
                <a:latin typeface="Tahoma"/>
                <a:cs typeface="Tahoma"/>
              </a:rPr>
              <a:t>the interleaving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(max)(del)(ins)(min) </a:t>
            </a:r>
            <a:r>
              <a:rPr sz="3200" spc="-5" dirty="0">
                <a:latin typeface="Tahoma"/>
                <a:cs typeface="Tahoma"/>
              </a:rPr>
              <a:t>is  allowed, as long as </a:t>
            </a:r>
            <a:r>
              <a:rPr sz="3200" dirty="0">
                <a:latin typeface="Tahoma"/>
                <a:cs typeface="Tahoma"/>
              </a:rPr>
              <a:t>Joe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commits.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Sally sees MAX &lt;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MIN.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425" y="829944"/>
            <a:ext cx="74237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Repeatable-Read</a:t>
            </a:r>
            <a:r>
              <a:rPr spc="-45" dirty="0"/>
              <a:t> Transactions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61250" cy="2919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4737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Requirement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0" dirty="0">
                <a:latin typeface="Tahoma"/>
                <a:cs typeface="Tahoma"/>
              </a:rPr>
              <a:t>like </a:t>
            </a:r>
            <a:r>
              <a:rPr sz="3200" spc="-5" dirty="0">
                <a:latin typeface="Tahoma"/>
                <a:cs typeface="Tahoma"/>
              </a:rPr>
              <a:t>read-committed,  plus: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data is read again, then  everything seen the first time will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seen the second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time.</a:t>
            </a:r>
            <a:endParaRPr sz="3200">
              <a:latin typeface="Tahoma"/>
              <a:cs typeface="Tahoma"/>
            </a:endParaRPr>
          </a:p>
          <a:p>
            <a:pPr marL="755650" marR="5080" lvl="1" indent="-285750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the second and subsequent reads </a:t>
            </a:r>
            <a:r>
              <a:rPr sz="2800" spc="-10" dirty="0">
                <a:latin typeface="Tahoma"/>
                <a:cs typeface="Tahoma"/>
              </a:rPr>
              <a:t>may  </a:t>
            </a:r>
            <a:r>
              <a:rPr sz="2800" spc="-5" dirty="0">
                <a:latin typeface="Tahoma"/>
                <a:cs typeface="Tahoma"/>
              </a:rPr>
              <a:t>see </a:t>
            </a:r>
            <a:r>
              <a:rPr sz="2900" i="1" spc="-855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tuples as</a:t>
            </a:r>
            <a:r>
              <a:rPr sz="2800" spc="-2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well.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205" y="829944"/>
            <a:ext cx="6625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Repeatable</a:t>
            </a:r>
            <a:r>
              <a:rPr spc="-65" dirty="0"/>
              <a:t> </a:t>
            </a:r>
            <a:r>
              <a:rPr spc="-25" dirty="0"/>
              <a:t>Read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19670" cy="336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970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Sally runs under </a:t>
            </a:r>
            <a:r>
              <a:rPr sz="3200" spc="-40" dirty="0">
                <a:latin typeface="Tahoma"/>
                <a:cs typeface="Tahoma"/>
              </a:rPr>
              <a:t>REPEATABLE  </a:t>
            </a:r>
            <a:r>
              <a:rPr sz="3200" spc="-20" dirty="0">
                <a:latin typeface="Tahoma"/>
                <a:cs typeface="Tahoma"/>
              </a:rPr>
              <a:t>READ, </a:t>
            </a:r>
            <a:r>
              <a:rPr sz="3200" spc="-5" dirty="0">
                <a:latin typeface="Tahoma"/>
                <a:cs typeface="Tahoma"/>
              </a:rPr>
              <a:t>and the order of </a:t>
            </a:r>
            <a:r>
              <a:rPr sz="3200" spc="-10" dirty="0">
                <a:latin typeface="Tahoma"/>
                <a:cs typeface="Tahoma"/>
              </a:rPr>
              <a:t>execution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5" dirty="0">
                <a:solidFill>
                  <a:srgbClr val="FF3300"/>
                </a:solidFill>
                <a:latin typeface="Tahoma"/>
                <a:cs typeface="Tahoma"/>
              </a:rPr>
              <a:t> (max)(del)(ins)(min)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FF3300"/>
                </a:solidFill>
                <a:latin typeface="Tahoma"/>
                <a:cs typeface="Tahoma"/>
              </a:rPr>
              <a:t>(max) </a:t>
            </a:r>
            <a:r>
              <a:rPr sz="2800" spc="-5" dirty="0">
                <a:latin typeface="Tahoma"/>
                <a:cs typeface="Tahoma"/>
              </a:rPr>
              <a:t>sees prices 2.50 and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3.00.</a:t>
            </a:r>
            <a:endParaRPr sz="280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FF3300"/>
                </a:solidFill>
                <a:latin typeface="Tahoma"/>
                <a:cs typeface="Tahoma"/>
              </a:rPr>
              <a:t>(min) </a:t>
            </a:r>
            <a:r>
              <a:rPr sz="2800" spc="-5" dirty="0">
                <a:latin typeface="Tahoma"/>
                <a:cs typeface="Tahoma"/>
              </a:rPr>
              <a:t>can see 3.50, but must also see 2.50  and 3.00, because they </a:t>
            </a:r>
            <a:r>
              <a:rPr sz="2800" spc="-10" dirty="0">
                <a:latin typeface="Tahoma"/>
                <a:cs typeface="Tahoma"/>
              </a:rPr>
              <a:t>were </a:t>
            </a:r>
            <a:r>
              <a:rPr sz="2800" spc="-5" dirty="0">
                <a:latin typeface="Tahoma"/>
                <a:cs typeface="Tahoma"/>
              </a:rPr>
              <a:t>seen on the  earlier </a:t>
            </a:r>
            <a:r>
              <a:rPr sz="2800" spc="-10" dirty="0">
                <a:latin typeface="Tahoma"/>
                <a:cs typeface="Tahoma"/>
              </a:rPr>
              <a:t>read by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3300"/>
                </a:solidFill>
                <a:latin typeface="Tahoma"/>
                <a:cs typeface="Tahoma"/>
              </a:rPr>
              <a:t>(max)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6785" y="829944"/>
            <a:ext cx="4711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Read</a:t>
            </a:r>
            <a:r>
              <a:rPr spc="-80" dirty="0"/>
              <a:t> </a:t>
            </a:r>
            <a:r>
              <a:rPr spc="-5" dirty="0"/>
              <a:t>Uncommitted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607934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10" dirty="0">
                <a:latin typeface="Tahoma"/>
                <a:cs typeface="Tahoma"/>
              </a:rPr>
              <a:t>transaction </a:t>
            </a:r>
            <a:r>
              <a:rPr sz="3200" spc="-5" dirty="0">
                <a:latin typeface="Tahoma"/>
                <a:cs typeface="Tahoma"/>
              </a:rPr>
              <a:t>running under READ  </a:t>
            </a:r>
            <a:r>
              <a:rPr sz="3200" spc="-20" dirty="0">
                <a:latin typeface="Tahoma"/>
                <a:cs typeface="Tahoma"/>
              </a:rPr>
              <a:t>UNCOMMITTED </a:t>
            </a:r>
            <a:r>
              <a:rPr sz="3200" spc="-5" dirty="0">
                <a:latin typeface="Tahoma"/>
                <a:cs typeface="Tahoma"/>
              </a:rPr>
              <a:t>can see data in the  database, </a:t>
            </a:r>
            <a:r>
              <a:rPr sz="3200" spc="-10" dirty="0">
                <a:latin typeface="Tahoma"/>
                <a:cs typeface="Tahoma"/>
              </a:rPr>
              <a:t>even </a:t>
            </a:r>
            <a:r>
              <a:rPr sz="3200" dirty="0">
                <a:latin typeface="Tahoma"/>
                <a:cs typeface="Tahoma"/>
              </a:rPr>
              <a:t>if it </a:t>
            </a:r>
            <a:r>
              <a:rPr sz="3200" spc="-15" dirty="0">
                <a:latin typeface="Tahoma"/>
                <a:cs typeface="Tahoma"/>
              </a:rPr>
              <a:t>was </a:t>
            </a:r>
            <a:r>
              <a:rPr sz="3200" spc="-5" dirty="0">
                <a:latin typeface="Tahoma"/>
                <a:cs typeface="Tahoma"/>
              </a:rPr>
              <a:t>written by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0" dirty="0">
                <a:latin typeface="Tahoma"/>
                <a:cs typeface="Tahoma"/>
              </a:rPr>
              <a:t>transaction </a:t>
            </a:r>
            <a:r>
              <a:rPr sz="3200" spc="-5" dirty="0">
                <a:latin typeface="Tahoma"/>
                <a:cs typeface="Tahoma"/>
              </a:rPr>
              <a:t>that has not committed (and 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never).</a:t>
            </a:r>
            <a:endParaRPr sz="3200">
              <a:latin typeface="Tahoma"/>
              <a:cs typeface="Tahoma"/>
            </a:endParaRPr>
          </a:p>
          <a:p>
            <a:pPr marL="355600" marR="426084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If Sally runs under READ  </a:t>
            </a:r>
            <a:r>
              <a:rPr sz="3200" spc="-25" dirty="0">
                <a:latin typeface="Tahoma"/>
                <a:cs typeface="Tahoma"/>
              </a:rPr>
              <a:t>UNCOMMITTED, </a:t>
            </a:r>
            <a:r>
              <a:rPr sz="3200" spc="-5" dirty="0">
                <a:latin typeface="Tahoma"/>
                <a:cs typeface="Tahoma"/>
              </a:rPr>
              <a:t>she could see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price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3.50 </a:t>
            </a:r>
            <a:r>
              <a:rPr sz="3200" spc="-10" dirty="0">
                <a:latin typeface="Tahoma"/>
                <a:cs typeface="Tahoma"/>
              </a:rPr>
              <a:t>even </a:t>
            </a:r>
            <a:r>
              <a:rPr sz="3200" dirty="0">
                <a:latin typeface="Tahoma"/>
                <a:cs typeface="Tahoma"/>
              </a:rPr>
              <a:t>if Joe </a:t>
            </a:r>
            <a:r>
              <a:rPr sz="3200" spc="-5" dirty="0">
                <a:latin typeface="Tahoma"/>
                <a:cs typeface="Tahoma"/>
              </a:rPr>
              <a:t>later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aborts.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4465" marR="5080" indent="-121856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Determining Which </a:t>
            </a:r>
            <a:r>
              <a:rPr spc="-105" dirty="0"/>
              <a:t>Type </a:t>
            </a:r>
            <a:r>
              <a:rPr spc="-5" dirty="0"/>
              <a:t>of  </a:t>
            </a:r>
            <a:r>
              <a:rPr spc="-15" dirty="0"/>
              <a:t>Constraint </a:t>
            </a:r>
            <a:r>
              <a:rPr spc="-5" dirty="0"/>
              <a:t>to Use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2292985"/>
            <a:ext cx="4078604" cy="725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5383" y="2503373"/>
            <a:ext cx="1998510" cy="294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75797" y="2292985"/>
            <a:ext cx="4078605" cy="7258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73498" y="2503373"/>
            <a:ext cx="1894370" cy="2941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3397" y="2902585"/>
            <a:ext cx="4078604" cy="12592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75797" y="2902585"/>
            <a:ext cx="4078605" cy="4972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75797" y="3283584"/>
            <a:ext cx="4078605" cy="4972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75797" y="3664584"/>
            <a:ext cx="40786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3397" y="4045584"/>
            <a:ext cx="4078604" cy="8782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75797" y="4045584"/>
            <a:ext cx="4078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75797" y="4426584"/>
            <a:ext cx="40786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3397" y="4807584"/>
            <a:ext cx="4078604" cy="8782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3580" y="3325812"/>
            <a:ext cx="1252855" cy="2045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Domain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250000"/>
              </a:lnSpc>
              <a:spcBef>
                <a:spcPts val="1500"/>
              </a:spcBef>
            </a:pPr>
            <a:r>
              <a:rPr sz="2000" spc="-5" dirty="0">
                <a:latin typeface="Arial"/>
                <a:cs typeface="Arial"/>
              </a:rPr>
              <a:t>Entity  R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en</a:t>
            </a:r>
            <a:r>
              <a:rPr sz="2000" spc="-5" dirty="0">
                <a:latin typeface="Arial"/>
                <a:cs typeface="Arial"/>
              </a:rPr>
              <a:t>ti</a:t>
            </a:r>
            <a:r>
              <a:rPr sz="2000" spc="-10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75797" y="4807584"/>
            <a:ext cx="4078605" cy="497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75797" y="5188584"/>
            <a:ext cx="4078605" cy="497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65979" y="2870009"/>
            <a:ext cx="1776730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000" spc="-40" dirty="0">
                <a:latin typeface="Arial"/>
                <a:cs typeface="Arial"/>
              </a:rPr>
              <a:t>DEFAULT  </a:t>
            </a:r>
            <a:r>
              <a:rPr sz="2000" spc="-5" dirty="0">
                <a:latin typeface="Arial"/>
                <a:cs typeface="Arial"/>
              </a:rPr>
              <a:t>CHECK  REFERENTIA</a:t>
            </a:r>
            <a:r>
              <a:rPr sz="2000" dirty="0">
                <a:latin typeface="Arial"/>
                <a:cs typeface="Arial"/>
              </a:rPr>
              <a:t>L  </a:t>
            </a:r>
            <a:r>
              <a:rPr sz="2000" spc="-10" dirty="0">
                <a:latin typeface="Arial"/>
                <a:cs typeface="Arial"/>
              </a:rPr>
              <a:t>PRIMARY </a:t>
            </a:r>
            <a:r>
              <a:rPr sz="2000" dirty="0">
                <a:latin typeface="Arial"/>
                <a:cs typeface="Arial"/>
              </a:rPr>
              <a:t>KEY  </a:t>
            </a:r>
            <a:r>
              <a:rPr sz="2000" spc="-5" dirty="0">
                <a:latin typeface="Arial"/>
                <a:cs typeface="Arial"/>
              </a:rPr>
              <a:t>UNIQUE  FOREIGN </a:t>
            </a:r>
            <a:r>
              <a:rPr sz="2000" dirty="0">
                <a:latin typeface="Arial"/>
                <a:cs typeface="Arial"/>
              </a:rPr>
              <a:t>KEY  </a:t>
            </a:r>
            <a:r>
              <a:rPr sz="2000" spc="-5" dirty="0">
                <a:latin typeface="Arial"/>
                <a:cs typeface="Arial"/>
              </a:rPr>
              <a:t>CHECK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5119115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9454" y="575944"/>
            <a:ext cx="5165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DEFAULT</a:t>
            </a:r>
            <a:r>
              <a:rPr spc="-9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5827" y="1276794"/>
            <a:ext cx="6842125" cy="3827779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Apply Only to </a:t>
            </a:r>
            <a:r>
              <a:rPr sz="3200" spc="-20" dirty="0">
                <a:latin typeface="Tahoma"/>
                <a:cs typeface="Tahoma"/>
              </a:rPr>
              <a:t>INSERT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Statements</a:t>
            </a:r>
            <a:endParaRPr sz="3200">
              <a:latin typeface="Tahoma"/>
              <a:cs typeface="Tahoma"/>
            </a:endParaRPr>
          </a:p>
          <a:p>
            <a:pPr marL="355600" marR="37020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Only One </a:t>
            </a:r>
            <a:r>
              <a:rPr sz="3200" spc="-65" dirty="0">
                <a:latin typeface="Tahoma"/>
                <a:cs typeface="Tahoma"/>
              </a:rPr>
              <a:t>DEFAULT </a:t>
            </a:r>
            <a:r>
              <a:rPr sz="3200" spc="-10" dirty="0">
                <a:latin typeface="Tahoma"/>
                <a:cs typeface="Tahoma"/>
              </a:rPr>
              <a:t>Constraint </a:t>
            </a:r>
            <a:r>
              <a:rPr sz="3200" spc="-30" dirty="0">
                <a:latin typeface="Tahoma"/>
                <a:cs typeface="Tahoma"/>
              </a:rPr>
              <a:t>Per  </a:t>
            </a:r>
            <a:r>
              <a:rPr sz="3200" spc="-5" dirty="0">
                <a:latin typeface="Tahoma"/>
                <a:cs typeface="Tahoma"/>
              </a:rPr>
              <a:t>Column</a:t>
            </a:r>
            <a:endParaRPr sz="3200">
              <a:latin typeface="Tahoma"/>
              <a:cs typeface="Tahoma"/>
            </a:endParaRPr>
          </a:p>
          <a:p>
            <a:pPr marL="355600" marR="77089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Cannot </a:t>
            </a:r>
            <a:r>
              <a:rPr sz="3200" spc="5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Used with </a:t>
            </a:r>
            <a:r>
              <a:rPr sz="3200" spc="-20" dirty="0">
                <a:latin typeface="Tahoma"/>
                <a:cs typeface="Tahoma"/>
              </a:rPr>
              <a:t>IDENTITY  </a:t>
            </a:r>
            <a:r>
              <a:rPr sz="3200" spc="-10" dirty="0">
                <a:latin typeface="Tahoma"/>
                <a:cs typeface="Tahoma"/>
              </a:rPr>
              <a:t>Property</a:t>
            </a:r>
            <a:endParaRPr sz="32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or </a:t>
            </a:r>
            <a:r>
              <a:rPr sz="3200" spc="-10" dirty="0">
                <a:latin typeface="Tahoma"/>
                <a:cs typeface="Tahoma"/>
              </a:rPr>
              <a:t>rowversion </a:t>
            </a:r>
            <a:r>
              <a:rPr sz="3200" spc="-5" dirty="0">
                <a:latin typeface="Tahoma"/>
                <a:cs typeface="Tahoma"/>
              </a:rPr>
              <a:t>Data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80" dirty="0">
                <a:latin typeface="Tahoma"/>
                <a:cs typeface="Tahoma"/>
              </a:rPr>
              <a:t>Type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Allow </a:t>
            </a:r>
            <a:r>
              <a:rPr sz="3200" dirty="0">
                <a:latin typeface="Tahoma"/>
                <a:cs typeface="Tahoma"/>
              </a:rPr>
              <a:t>Some </a:t>
            </a:r>
            <a:r>
              <a:rPr sz="3200" spc="-10" dirty="0">
                <a:latin typeface="Tahoma"/>
                <a:cs typeface="Tahoma"/>
              </a:rPr>
              <a:t>System-supplied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Values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4209" y="5326697"/>
            <a:ext cx="7891780" cy="1440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3269" y="5370512"/>
            <a:ext cx="660654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76034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ALTER TABLE dbo.Customers  ADD</a:t>
            </a:r>
            <a:endParaRPr sz="2000">
              <a:latin typeface="Lucida Sans Typewriter"/>
              <a:cs typeface="Lucida Sans Typewriter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CONSTRAINT DF_contactname DEFAULT 'UNKNOWN'  FOR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ContactName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4739640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2345" y="95567"/>
            <a:ext cx="4639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CHECK</a:t>
            </a:r>
            <a:r>
              <a:rPr spc="-7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3464" y="808037"/>
            <a:ext cx="6970395" cy="3867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930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Used with </a:t>
            </a:r>
            <a:r>
              <a:rPr sz="3200" spc="-20" dirty="0">
                <a:latin typeface="Tahoma"/>
                <a:cs typeface="Tahoma"/>
              </a:rPr>
              <a:t>INSERT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35" dirty="0">
                <a:latin typeface="Tahoma"/>
                <a:cs typeface="Tahoma"/>
              </a:rPr>
              <a:t>UPDATE  </a:t>
            </a:r>
            <a:r>
              <a:rPr sz="3200" spc="-5" dirty="0">
                <a:latin typeface="Tahoma"/>
                <a:cs typeface="Tahoma"/>
              </a:rPr>
              <a:t>Statements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Reference </a:t>
            </a:r>
            <a:r>
              <a:rPr sz="3200" spc="-5" dirty="0">
                <a:latin typeface="Tahoma"/>
                <a:cs typeface="Tahoma"/>
              </a:rPr>
              <a:t>Other Columns in the  Same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75" dirty="0">
                <a:latin typeface="Tahoma"/>
                <a:cs typeface="Tahoma"/>
              </a:rPr>
              <a:t>Table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Cannot:</a:t>
            </a:r>
            <a:endParaRPr sz="3200">
              <a:latin typeface="Tahoma"/>
              <a:cs typeface="Tahoma"/>
            </a:endParaRPr>
          </a:p>
          <a:p>
            <a:pPr marL="755015" marR="656590" lvl="1" indent="-285750">
              <a:lnSpc>
                <a:spcPct val="79900"/>
              </a:lnSpc>
              <a:spcBef>
                <a:spcPts val="7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Tahoma"/>
                <a:cs typeface="Tahoma"/>
              </a:rPr>
              <a:t>Be </a:t>
            </a:r>
            <a:r>
              <a:rPr sz="2800" spc="-5" dirty="0">
                <a:latin typeface="Tahoma"/>
                <a:cs typeface="Tahoma"/>
              </a:rPr>
              <a:t>used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b="1" spc="-5" dirty="0">
                <a:latin typeface="Tahoma"/>
                <a:cs typeface="Tahoma"/>
              </a:rPr>
              <a:t>rowversion </a:t>
            </a:r>
            <a:r>
              <a:rPr sz="2800" spc="-5" dirty="0">
                <a:latin typeface="Tahoma"/>
                <a:cs typeface="Tahoma"/>
              </a:rPr>
              <a:t>data  </a:t>
            </a:r>
            <a:r>
              <a:rPr sz="2800" spc="-10" dirty="0">
                <a:latin typeface="Tahoma"/>
                <a:cs typeface="Tahoma"/>
              </a:rPr>
              <a:t>type</a:t>
            </a:r>
            <a:endParaRPr sz="2800">
              <a:latin typeface="Tahoma"/>
              <a:cs typeface="Tahoma"/>
            </a:endParaRPr>
          </a:p>
          <a:p>
            <a:pPr marL="755650" lvl="1" indent="-285750">
              <a:lnSpc>
                <a:spcPts val="3354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Contain subqueries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5609" y="4947284"/>
            <a:ext cx="8272780" cy="1748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69" y="4991100"/>
            <a:ext cx="7218680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337248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ALTER TABLE dbo.Employees  ADD</a:t>
            </a: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CONSTRAINT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CK_birthdate</a:t>
            </a:r>
            <a:endParaRPr sz="2000">
              <a:latin typeface="Lucida Sans Typewriter"/>
              <a:cs typeface="Lucida Sans Typewriter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CHECK (BirthDate </a:t>
            </a:r>
            <a:r>
              <a:rPr sz="2000" dirty="0">
                <a:latin typeface="Lucida Sans Typewriter"/>
                <a:cs typeface="Lucida Sans Typewriter"/>
              </a:rPr>
              <a:t>&gt; </a:t>
            </a:r>
            <a:r>
              <a:rPr sz="2000" spc="-5" dirty="0">
                <a:latin typeface="Lucida Sans Typewriter"/>
                <a:cs typeface="Lucida Sans Typewriter"/>
              </a:rPr>
              <a:t>'01-01-1900' AND BirthDate </a:t>
            </a:r>
            <a:r>
              <a:rPr sz="2000" dirty="0">
                <a:latin typeface="Lucida Sans Typewriter"/>
                <a:cs typeface="Lucida Sans Typewriter"/>
              </a:rPr>
              <a:t>&lt;  </a:t>
            </a:r>
            <a:r>
              <a:rPr sz="2000" spc="-5" dirty="0">
                <a:latin typeface="Lucida Sans Typewriter"/>
                <a:cs typeface="Lucida Sans Typewriter"/>
              </a:rPr>
              <a:t>getdate())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4887467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82394" y="588644"/>
            <a:ext cx="6379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PRIMARY </a:t>
            </a:r>
            <a:r>
              <a:rPr spc="-5" dirty="0"/>
              <a:t>KEY</a:t>
            </a:r>
            <a:r>
              <a:rPr spc="-6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4389" y="1311274"/>
            <a:ext cx="7360284" cy="3244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Only One </a:t>
            </a:r>
            <a:r>
              <a:rPr sz="3200" spc="-10" dirty="0">
                <a:latin typeface="Tahoma"/>
                <a:cs typeface="Tahoma"/>
              </a:rPr>
              <a:t>PRIMARY </a:t>
            </a:r>
            <a:r>
              <a:rPr sz="3200" spc="-5" dirty="0">
                <a:latin typeface="Tahoma"/>
                <a:cs typeface="Tahoma"/>
              </a:rPr>
              <a:t>KEY </a:t>
            </a:r>
            <a:r>
              <a:rPr sz="3200" spc="-10" dirty="0">
                <a:latin typeface="Tahoma"/>
                <a:cs typeface="Tahoma"/>
              </a:rPr>
              <a:t>Constraint </a:t>
            </a:r>
            <a:r>
              <a:rPr sz="3200" spc="-30" dirty="0">
                <a:latin typeface="Tahoma"/>
                <a:cs typeface="Tahoma"/>
              </a:rPr>
              <a:t>Per  </a:t>
            </a:r>
            <a:r>
              <a:rPr sz="3200" spc="-75" dirty="0">
                <a:latin typeface="Tahoma"/>
                <a:cs typeface="Tahoma"/>
              </a:rPr>
              <a:t>Table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Must </a:t>
            </a:r>
            <a:r>
              <a:rPr sz="3200" spc="5" dirty="0">
                <a:latin typeface="Tahoma"/>
                <a:cs typeface="Tahoma"/>
              </a:rPr>
              <a:t>Be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Unique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Null </a:t>
            </a:r>
            <a:r>
              <a:rPr sz="3200" spc="-30" dirty="0">
                <a:latin typeface="Tahoma"/>
                <a:cs typeface="Tahoma"/>
              </a:rPr>
              <a:t>Values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Not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Allowed</a:t>
            </a:r>
            <a:endParaRPr sz="3200">
              <a:latin typeface="Tahoma"/>
              <a:cs typeface="Tahoma"/>
            </a:endParaRPr>
          </a:p>
          <a:p>
            <a:pPr marL="355600" marR="42100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Creates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Unique </a:t>
            </a:r>
            <a:r>
              <a:rPr sz="3200" spc="-10" dirty="0">
                <a:latin typeface="Tahoma"/>
                <a:cs typeface="Tahoma"/>
              </a:rPr>
              <a:t>Index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Specified  Columns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4209" y="5094922"/>
            <a:ext cx="7891780" cy="1440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3269" y="5138737"/>
            <a:ext cx="599440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14757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ALTER TABLE dbo.Customers  ADD</a:t>
            </a: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CONSTRAINT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PK_Customers</a:t>
            </a:r>
            <a:endParaRPr sz="2000">
              <a:latin typeface="Lucida Sans Typewriter"/>
              <a:cs typeface="Lucida Sans Typewriter"/>
            </a:endParaRPr>
          </a:p>
          <a:p>
            <a:pPr marL="3187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PRIMARY KEY NONCLUSTERED</a:t>
            </a:r>
            <a:r>
              <a:rPr sz="2000" spc="15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(CustomerID)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4543044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2010" y="239394"/>
            <a:ext cx="4971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UNIQUE</a:t>
            </a:r>
            <a:r>
              <a:rPr spc="-7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9940" y="976756"/>
            <a:ext cx="7539355" cy="28524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Allow One Null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5" dirty="0">
                <a:latin typeface="Tahoma"/>
                <a:cs typeface="Tahoma"/>
              </a:rPr>
              <a:t>Value</a:t>
            </a:r>
            <a:endParaRPr sz="32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Allow Multiple UNIQUE </a:t>
            </a:r>
            <a:r>
              <a:rPr sz="3200" spc="-10" dirty="0">
                <a:latin typeface="Tahoma"/>
                <a:cs typeface="Tahoma"/>
              </a:rPr>
              <a:t>Constraints </a:t>
            </a:r>
            <a:r>
              <a:rPr sz="3200" dirty="0">
                <a:latin typeface="Tahoma"/>
                <a:cs typeface="Tahoma"/>
              </a:rPr>
              <a:t>on a  </a:t>
            </a:r>
            <a:r>
              <a:rPr sz="3200" spc="-75" dirty="0">
                <a:latin typeface="Tahoma"/>
                <a:cs typeface="Tahoma"/>
              </a:rPr>
              <a:t>Table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Defined with One or More Columns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Enforced </a:t>
            </a:r>
            <a:r>
              <a:rPr sz="3200" spc="-5" dirty="0">
                <a:latin typeface="Tahoma"/>
                <a:cs typeface="Tahoma"/>
              </a:rPr>
              <a:t>with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Unique</a:t>
            </a:r>
            <a:r>
              <a:rPr sz="3200" spc="-10" dirty="0">
                <a:latin typeface="Tahoma"/>
                <a:cs typeface="Tahoma"/>
              </a:rPr>
              <a:t> Index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4209" y="4750434"/>
            <a:ext cx="7891780" cy="1440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3269" y="4794250"/>
            <a:ext cx="538226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53543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ALTER TABLE dbo.Suppliers  ADD</a:t>
            </a: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CONSTRAINT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U_CompanyName</a:t>
            </a:r>
            <a:endParaRPr sz="2000">
              <a:latin typeface="Lucida Sans Typewriter"/>
              <a:cs typeface="Lucida Sans Typewriter"/>
            </a:endParaRPr>
          </a:p>
          <a:p>
            <a:pPr marL="3187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UNIQUE NONCLUSTERED</a:t>
            </a:r>
            <a:r>
              <a:rPr sz="200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(CompanyName)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5190744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7950" y="167957"/>
            <a:ext cx="63881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FOREIGN KEY</a:t>
            </a:r>
            <a:r>
              <a:rPr spc="-70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4" name="object 4"/>
          <p:cNvSpPr/>
          <p:nvPr/>
        </p:nvSpPr>
        <p:spPr>
          <a:xfrm>
            <a:off x="664209" y="5398134"/>
            <a:ext cx="7891780" cy="1441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190" y="910907"/>
            <a:ext cx="7221220" cy="577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Must </a:t>
            </a:r>
            <a:r>
              <a:rPr sz="2800" spc="-15" dirty="0">
                <a:latin typeface="Tahoma"/>
                <a:cs typeface="Tahoma"/>
              </a:rPr>
              <a:t>Reference </a:t>
            </a:r>
            <a:r>
              <a:rPr sz="2800" spc="-5" dirty="0">
                <a:latin typeface="Tahoma"/>
                <a:cs typeface="Tahoma"/>
              </a:rPr>
              <a:t>a </a:t>
            </a:r>
            <a:r>
              <a:rPr sz="2800" spc="-10" dirty="0">
                <a:latin typeface="Tahoma"/>
                <a:cs typeface="Tahoma"/>
              </a:rPr>
              <a:t>PRIMARY </a:t>
            </a:r>
            <a:r>
              <a:rPr sz="2800" spc="-5" dirty="0">
                <a:latin typeface="Tahoma"/>
                <a:cs typeface="Tahoma"/>
              </a:rPr>
              <a:t>KEY or UNIQUE  </a:t>
            </a:r>
            <a:r>
              <a:rPr sz="2800" spc="-10" dirty="0">
                <a:latin typeface="Tahoma"/>
                <a:cs typeface="Tahoma"/>
              </a:rPr>
              <a:t>Constraint</a:t>
            </a:r>
            <a:endParaRPr sz="2800">
              <a:latin typeface="Tahoma"/>
              <a:cs typeface="Tahoma"/>
            </a:endParaRPr>
          </a:p>
          <a:p>
            <a:pPr marL="355600" marR="421005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Provide </a:t>
            </a:r>
            <a:r>
              <a:rPr sz="2800" spc="-5" dirty="0">
                <a:latin typeface="Tahoma"/>
                <a:cs typeface="Tahoma"/>
              </a:rPr>
              <a:t>Single or Multicolumn </a:t>
            </a:r>
            <a:r>
              <a:rPr sz="2800" spc="-15" dirty="0">
                <a:latin typeface="Tahoma"/>
                <a:cs typeface="Tahoma"/>
              </a:rPr>
              <a:t>Referential  </a:t>
            </a:r>
            <a:r>
              <a:rPr sz="2800" spc="-10" dirty="0">
                <a:latin typeface="Tahoma"/>
                <a:cs typeface="Tahoma"/>
              </a:rPr>
              <a:t>Integrity</a:t>
            </a:r>
            <a:endParaRPr sz="2800">
              <a:latin typeface="Tahoma"/>
              <a:cs typeface="Tahoma"/>
            </a:endParaRPr>
          </a:p>
          <a:p>
            <a:pPr marL="363220" indent="-35115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Do Not Automatically Create </a:t>
            </a:r>
            <a:r>
              <a:rPr sz="2800" spc="-10" dirty="0">
                <a:latin typeface="Tahoma"/>
                <a:cs typeface="Tahoma"/>
              </a:rPr>
              <a:t>Indexes</a:t>
            </a:r>
            <a:endParaRPr sz="2800">
              <a:latin typeface="Tahoma"/>
              <a:cs typeface="Tahoma"/>
            </a:endParaRPr>
          </a:p>
          <a:p>
            <a:pPr marL="355600" marR="303530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Users Must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SELECT or REFERENCES  </a:t>
            </a:r>
            <a:r>
              <a:rPr sz="2800" spc="-10" dirty="0">
                <a:latin typeface="Tahoma"/>
                <a:cs typeface="Tahoma"/>
              </a:rPr>
              <a:t>Permissions </a:t>
            </a:r>
            <a:r>
              <a:rPr sz="2800" spc="-5" dirty="0">
                <a:latin typeface="Tahoma"/>
                <a:cs typeface="Tahoma"/>
              </a:rPr>
              <a:t>on </a:t>
            </a:r>
            <a:r>
              <a:rPr sz="2800" spc="-15" dirty="0">
                <a:latin typeface="Tahoma"/>
                <a:cs typeface="Tahoma"/>
              </a:rPr>
              <a:t>Referenced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Tables</a:t>
            </a:r>
            <a:endParaRPr sz="2800">
              <a:latin typeface="Tahoma"/>
              <a:cs typeface="Tahoma"/>
            </a:endParaRPr>
          </a:p>
          <a:p>
            <a:pPr marL="355600" marR="38735" indent="-3429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Use Only REFERENCES Clause Within Same  </a:t>
            </a:r>
            <a:r>
              <a:rPr sz="2800" spc="-65" dirty="0">
                <a:latin typeface="Tahoma"/>
                <a:cs typeface="Tahoma"/>
              </a:rPr>
              <a:t>Table</a:t>
            </a:r>
            <a:endParaRPr sz="2800">
              <a:latin typeface="Tahoma"/>
              <a:cs typeface="Tahoma"/>
            </a:endParaRPr>
          </a:p>
          <a:p>
            <a:pPr marL="144145">
              <a:lnSpc>
                <a:spcPct val="100000"/>
              </a:lnSpc>
              <a:spcBef>
                <a:spcPts val="2765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ALTER TABLE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dbo.Orders</a:t>
            </a:r>
            <a:endParaRPr sz="2000">
              <a:latin typeface="Lucida Sans Typewriter"/>
              <a:cs typeface="Lucida Sans Typewriter"/>
            </a:endParaRPr>
          </a:p>
          <a:p>
            <a:pPr marL="450850" marR="1864995" indent="-3060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ADD CONSTRAINT FK_Orders_Customers  FOREIGN KEY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(CustomerID)</a:t>
            </a:r>
            <a:endParaRPr sz="2000">
              <a:latin typeface="Lucida Sans Typewriter"/>
              <a:cs typeface="Lucida Sans Typewriter"/>
            </a:endParaRPr>
          </a:p>
          <a:p>
            <a:pPr marL="45085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REFERENCES dbo.Customers(CustomerID)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882" y="127317"/>
            <a:ext cx="75926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Cascading </a:t>
            </a:r>
            <a:r>
              <a:rPr spc="-20" dirty="0"/>
              <a:t>Referential</a:t>
            </a:r>
            <a:r>
              <a:rPr spc="-30" dirty="0"/>
              <a:t> </a:t>
            </a:r>
            <a:r>
              <a:rPr spc="-10" dirty="0"/>
              <a:t>Integrity</a:t>
            </a:r>
          </a:p>
        </p:txBody>
      </p:sp>
      <p:sp>
        <p:nvSpPr>
          <p:cNvPr id="3" name="object 3"/>
          <p:cNvSpPr/>
          <p:nvPr/>
        </p:nvSpPr>
        <p:spPr>
          <a:xfrm>
            <a:off x="533400" y="1143000"/>
            <a:ext cx="8001000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4350" y="1123950"/>
            <a:ext cx="8039100" cy="4686300"/>
          </a:xfrm>
          <a:custGeom>
            <a:avLst/>
            <a:gdLst/>
            <a:ahLst/>
            <a:cxnLst/>
            <a:rect l="l" t="t" r="r" b="b"/>
            <a:pathLst>
              <a:path w="8039100" h="4686300">
                <a:moveTo>
                  <a:pt x="8039100" y="4686300"/>
                </a:moveTo>
                <a:lnTo>
                  <a:pt x="0" y="4686300"/>
                </a:lnTo>
                <a:lnTo>
                  <a:pt x="0" y="0"/>
                </a:lnTo>
                <a:lnTo>
                  <a:pt x="8039100" y="0"/>
                </a:lnTo>
                <a:lnTo>
                  <a:pt x="8039100" y="19050"/>
                </a:lnTo>
                <a:lnTo>
                  <a:pt x="38100" y="19050"/>
                </a:lnTo>
                <a:lnTo>
                  <a:pt x="19050" y="38100"/>
                </a:lnTo>
                <a:lnTo>
                  <a:pt x="38100" y="38100"/>
                </a:lnTo>
                <a:lnTo>
                  <a:pt x="38100" y="4648200"/>
                </a:lnTo>
                <a:lnTo>
                  <a:pt x="19050" y="4648200"/>
                </a:lnTo>
                <a:lnTo>
                  <a:pt x="38100" y="4667250"/>
                </a:lnTo>
                <a:lnTo>
                  <a:pt x="8039100" y="4667249"/>
                </a:lnTo>
                <a:lnTo>
                  <a:pt x="8039100" y="4686300"/>
                </a:lnTo>
                <a:close/>
              </a:path>
              <a:path w="8039100" h="4686300">
                <a:moveTo>
                  <a:pt x="38100" y="38100"/>
                </a:moveTo>
                <a:lnTo>
                  <a:pt x="19050" y="38100"/>
                </a:lnTo>
                <a:lnTo>
                  <a:pt x="38100" y="19050"/>
                </a:lnTo>
                <a:lnTo>
                  <a:pt x="38100" y="38100"/>
                </a:lnTo>
                <a:close/>
              </a:path>
              <a:path w="8039100" h="4686300">
                <a:moveTo>
                  <a:pt x="8001000" y="38100"/>
                </a:moveTo>
                <a:lnTo>
                  <a:pt x="38100" y="38100"/>
                </a:lnTo>
                <a:lnTo>
                  <a:pt x="38100" y="19050"/>
                </a:lnTo>
                <a:lnTo>
                  <a:pt x="8001000" y="19050"/>
                </a:lnTo>
                <a:lnTo>
                  <a:pt x="8001000" y="38100"/>
                </a:lnTo>
                <a:close/>
              </a:path>
              <a:path w="8039100" h="4686300">
                <a:moveTo>
                  <a:pt x="8001000" y="4667250"/>
                </a:moveTo>
                <a:lnTo>
                  <a:pt x="8001000" y="19050"/>
                </a:lnTo>
                <a:lnTo>
                  <a:pt x="8020050" y="38100"/>
                </a:lnTo>
                <a:lnTo>
                  <a:pt x="8039100" y="38100"/>
                </a:lnTo>
                <a:lnTo>
                  <a:pt x="8039100" y="4648200"/>
                </a:lnTo>
                <a:lnTo>
                  <a:pt x="8020050" y="4648200"/>
                </a:lnTo>
                <a:lnTo>
                  <a:pt x="8001000" y="4667250"/>
                </a:lnTo>
                <a:close/>
              </a:path>
              <a:path w="8039100" h="4686300">
                <a:moveTo>
                  <a:pt x="8039100" y="38100"/>
                </a:moveTo>
                <a:lnTo>
                  <a:pt x="8020050" y="38100"/>
                </a:lnTo>
                <a:lnTo>
                  <a:pt x="8001000" y="19050"/>
                </a:lnTo>
                <a:lnTo>
                  <a:pt x="8039100" y="19050"/>
                </a:lnTo>
                <a:lnTo>
                  <a:pt x="8039100" y="38100"/>
                </a:lnTo>
                <a:close/>
              </a:path>
              <a:path w="8039100" h="4686300">
                <a:moveTo>
                  <a:pt x="38100" y="4667250"/>
                </a:moveTo>
                <a:lnTo>
                  <a:pt x="19050" y="4648200"/>
                </a:lnTo>
                <a:lnTo>
                  <a:pt x="38100" y="4648200"/>
                </a:lnTo>
                <a:lnTo>
                  <a:pt x="38100" y="4667250"/>
                </a:lnTo>
                <a:close/>
              </a:path>
              <a:path w="8039100" h="4686300">
                <a:moveTo>
                  <a:pt x="8001000" y="4667250"/>
                </a:moveTo>
                <a:lnTo>
                  <a:pt x="38100" y="4667250"/>
                </a:lnTo>
                <a:lnTo>
                  <a:pt x="38100" y="4648200"/>
                </a:lnTo>
                <a:lnTo>
                  <a:pt x="8001000" y="4648200"/>
                </a:lnTo>
                <a:lnTo>
                  <a:pt x="8001000" y="4667250"/>
                </a:lnTo>
                <a:close/>
              </a:path>
              <a:path w="8039100" h="4686300">
                <a:moveTo>
                  <a:pt x="8039100" y="4667249"/>
                </a:moveTo>
                <a:lnTo>
                  <a:pt x="8001000" y="4667250"/>
                </a:lnTo>
                <a:lnTo>
                  <a:pt x="8020050" y="4648200"/>
                </a:lnTo>
                <a:lnTo>
                  <a:pt x="8039100" y="4648200"/>
                </a:lnTo>
                <a:lnTo>
                  <a:pt x="8039100" y="4667249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0055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00550" y="121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00550" y="129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00550" y="137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0550" y="144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00550" y="152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00550" y="1600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00550" y="167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00550" y="1752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00550" y="182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0055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00550" y="1981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00550" y="2057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00550" y="2133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00550" y="2209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00550" y="2286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00550" y="2362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00550" y="2438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00550" y="2514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00550" y="2590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00550" y="2667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00550" y="2743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00550" y="2819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00550" y="2895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400550" y="2971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400550" y="3048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00550" y="3124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00550" y="3200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00550" y="3276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00550" y="335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00550" y="3429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00550" y="3505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00550" y="358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00550" y="3657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00550" y="3733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00550" y="3810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400550" y="3886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00550" y="3962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00550" y="403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00550" y="4114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00550" y="4191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400550" y="426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400550" y="4343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400550" y="4419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00550" y="4495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400550" y="4572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400550" y="464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00550" y="472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400550" y="480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00550" y="4876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400550" y="495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400550" y="5029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400550" y="5105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400550" y="5181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400550" y="5257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400550" y="5334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400550" y="5410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400550" y="5486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400550" y="5562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400550" y="5638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400550" y="571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612140" y="1162685"/>
            <a:ext cx="52451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74465" algn="l"/>
              </a:tabLst>
            </a:pPr>
            <a:r>
              <a:rPr sz="2000" b="1" dirty="0">
                <a:solidFill>
                  <a:srgbClr val="777777"/>
                </a:solidFill>
                <a:latin typeface="Arial"/>
                <a:cs typeface="Arial"/>
              </a:rPr>
              <a:t>NO</a:t>
            </a:r>
            <a:r>
              <a:rPr sz="2000" b="1" spc="-8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777777"/>
                </a:solidFill>
                <a:latin typeface="Arial"/>
                <a:cs typeface="Arial"/>
              </a:rPr>
              <a:t>ACTION	CASCADE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808797" y="1427797"/>
            <a:ext cx="2427605" cy="375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19122" y="1512087"/>
            <a:ext cx="904379" cy="202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08797" y="1738160"/>
            <a:ext cx="2427605" cy="4533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808797" y="1970938"/>
            <a:ext cx="2427605" cy="6861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502025" y="1758162"/>
            <a:ext cx="0" cy="854075"/>
          </a:xfrm>
          <a:custGeom>
            <a:avLst/>
            <a:gdLst/>
            <a:ahLst/>
            <a:cxnLst/>
            <a:rect l="l" t="t" r="r" b="b"/>
            <a:pathLst>
              <a:path h="854075">
                <a:moveTo>
                  <a:pt x="0" y="0"/>
                </a:moveTo>
                <a:lnTo>
                  <a:pt x="0" y="8535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24037" y="1986178"/>
            <a:ext cx="2371725" cy="630555"/>
          </a:xfrm>
          <a:custGeom>
            <a:avLst/>
            <a:gdLst/>
            <a:ahLst/>
            <a:cxnLst/>
            <a:rect l="l" t="t" r="r" b="b"/>
            <a:pathLst>
              <a:path w="2371725" h="630555">
                <a:moveTo>
                  <a:pt x="2371725" y="630250"/>
                </a:moveTo>
                <a:lnTo>
                  <a:pt x="0" y="630250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20725"/>
                </a:lnTo>
                <a:lnTo>
                  <a:pt x="4762" y="620725"/>
                </a:lnTo>
                <a:lnTo>
                  <a:pt x="9525" y="625487"/>
                </a:lnTo>
                <a:lnTo>
                  <a:pt x="2371725" y="625487"/>
                </a:lnTo>
                <a:lnTo>
                  <a:pt x="2371725" y="630250"/>
                </a:lnTo>
                <a:close/>
              </a:path>
              <a:path w="2371725" h="63055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630555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630555">
                <a:moveTo>
                  <a:pt x="2362200" y="625487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620725"/>
                </a:lnTo>
                <a:lnTo>
                  <a:pt x="2366962" y="620725"/>
                </a:lnTo>
                <a:lnTo>
                  <a:pt x="2362200" y="625487"/>
                </a:lnTo>
                <a:close/>
              </a:path>
              <a:path w="2371725" h="630555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630555">
                <a:moveTo>
                  <a:pt x="9525" y="625487"/>
                </a:moveTo>
                <a:lnTo>
                  <a:pt x="4762" y="620725"/>
                </a:lnTo>
                <a:lnTo>
                  <a:pt x="9525" y="620725"/>
                </a:lnTo>
                <a:lnTo>
                  <a:pt x="9525" y="625487"/>
                </a:lnTo>
                <a:close/>
              </a:path>
              <a:path w="2371725" h="630555">
                <a:moveTo>
                  <a:pt x="2362200" y="625487"/>
                </a:moveTo>
                <a:lnTo>
                  <a:pt x="9525" y="625487"/>
                </a:lnTo>
                <a:lnTo>
                  <a:pt x="9525" y="620725"/>
                </a:lnTo>
                <a:lnTo>
                  <a:pt x="2362200" y="620725"/>
                </a:lnTo>
                <a:lnTo>
                  <a:pt x="2362200" y="625487"/>
                </a:lnTo>
                <a:close/>
              </a:path>
              <a:path w="2371725" h="630555">
                <a:moveTo>
                  <a:pt x="2371725" y="625487"/>
                </a:moveTo>
                <a:lnTo>
                  <a:pt x="2362200" y="625487"/>
                </a:lnTo>
                <a:lnTo>
                  <a:pt x="2366962" y="620725"/>
                </a:lnTo>
                <a:lnTo>
                  <a:pt x="2371725" y="620725"/>
                </a:lnTo>
                <a:lnTo>
                  <a:pt x="2371725" y="625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40409" y="2279713"/>
            <a:ext cx="2672079" cy="7327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839469" y="2324798"/>
            <a:ext cx="1403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INSERT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new  CustomerID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907539" y="1705978"/>
            <a:ext cx="12934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5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(PK)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09600" y="2068537"/>
            <a:ext cx="304800" cy="31036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03250" y="2062187"/>
            <a:ext cx="317500" cy="322580"/>
          </a:xfrm>
          <a:custGeom>
            <a:avLst/>
            <a:gdLst/>
            <a:ahLst/>
            <a:cxnLst/>
            <a:rect l="l" t="t" r="r" b="b"/>
            <a:pathLst>
              <a:path w="317500" h="322580">
                <a:moveTo>
                  <a:pt x="166751" y="322580"/>
                </a:moveTo>
                <a:lnTo>
                  <a:pt x="150748" y="322580"/>
                </a:lnTo>
                <a:lnTo>
                  <a:pt x="126580" y="318769"/>
                </a:lnTo>
                <a:lnTo>
                  <a:pt x="89738" y="306069"/>
                </a:lnTo>
                <a:lnTo>
                  <a:pt x="57835" y="285750"/>
                </a:lnTo>
                <a:lnTo>
                  <a:pt x="51854" y="280669"/>
                </a:lnTo>
                <a:lnTo>
                  <a:pt x="46558" y="275589"/>
                </a:lnTo>
                <a:lnTo>
                  <a:pt x="41300" y="269239"/>
                </a:lnTo>
                <a:lnTo>
                  <a:pt x="36118" y="262889"/>
                </a:lnTo>
                <a:lnTo>
                  <a:pt x="31419" y="257810"/>
                </a:lnTo>
                <a:lnTo>
                  <a:pt x="27000" y="251460"/>
                </a:lnTo>
                <a:lnTo>
                  <a:pt x="22885" y="243839"/>
                </a:lnTo>
                <a:lnTo>
                  <a:pt x="19075" y="237489"/>
                </a:lnTo>
                <a:lnTo>
                  <a:pt x="4953" y="200660"/>
                </a:lnTo>
                <a:lnTo>
                  <a:pt x="0" y="161289"/>
                </a:lnTo>
                <a:lnTo>
                  <a:pt x="203" y="152400"/>
                </a:lnTo>
                <a:lnTo>
                  <a:pt x="7175" y="113030"/>
                </a:lnTo>
                <a:lnTo>
                  <a:pt x="23037" y="77469"/>
                </a:lnTo>
                <a:lnTo>
                  <a:pt x="27165" y="69850"/>
                </a:lnTo>
                <a:lnTo>
                  <a:pt x="31597" y="64769"/>
                </a:lnTo>
                <a:lnTo>
                  <a:pt x="36309" y="58419"/>
                </a:lnTo>
                <a:lnTo>
                  <a:pt x="41300" y="52069"/>
                </a:lnTo>
                <a:lnTo>
                  <a:pt x="51854" y="41910"/>
                </a:lnTo>
                <a:lnTo>
                  <a:pt x="57835" y="35560"/>
                </a:lnTo>
                <a:lnTo>
                  <a:pt x="63842" y="31750"/>
                </a:lnTo>
                <a:lnTo>
                  <a:pt x="97066" y="11430"/>
                </a:lnTo>
                <a:lnTo>
                  <a:pt x="142671" y="0"/>
                </a:lnTo>
                <a:lnTo>
                  <a:pt x="174828" y="0"/>
                </a:lnTo>
                <a:lnTo>
                  <a:pt x="190919" y="2539"/>
                </a:lnTo>
                <a:lnTo>
                  <a:pt x="198285" y="3810"/>
                </a:lnTo>
                <a:lnTo>
                  <a:pt x="213512" y="8889"/>
                </a:lnTo>
                <a:lnTo>
                  <a:pt x="218321" y="11430"/>
                </a:lnTo>
                <a:lnTo>
                  <a:pt x="158584" y="11430"/>
                </a:lnTo>
                <a:lnTo>
                  <a:pt x="158750" y="11456"/>
                </a:lnTo>
                <a:lnTo>
                  <a:pt x="151066" y="12700"/>
                </a:lnTo>
                <a:lnTo>
                  <a:pt x="143979" y="12700"/>
                </a:lnTo>
                <a:lnTo>
                  <a:pt x="136359" y="13969"/>
                </a:lnTo>
                <a:lnTo>
                  <a:pt x="136677" y="13969"/>
                </a:lnTo>
                <a:lnTo>
                  <a:pt x="129171" y="15239"/>
                </a:lnTo>
                <a:lnTo>
                  <a:pt x="129489" y="15239"/>
                </a:lnTo>
                <a:lnTo>
                  <a:pt x="122110" y="16510"/>
                </a:lnTo>
                <a:lnTo>
                  <a:pt x="122428" y="16510"/>
                </a:lnTo>
                <a:lnTo>
                  <a:pt x="115189" y="19050"/>
                </a:lnTo>
                <a:lnTo>
                  <a:pt x="115493" y="19050"/>
                </a:lnTo>
                <a:lnTo>
                  <a:pt x="108419" y="21589"/>
                </a:lnTo>
                <a:lnTo>
                  <a:pt x="108712" y="21589"/>
                </a:lnTo>
                <a:lnTo>
                  <a:pt x="101790" y="24130"/>
                </a:lnTo>
                <a:lnTo>
                  <a:pt x="102082" y="24130"/>
                </a:lnTo>
                <a:lnTo>
                  <a:pt x="95338" y="26669"/>
                </a:lnTo>
                <a:lnTo>
                  <a:pt x="95618" y="26669"/>
                </a:lnTo>
                <a:lnTo>
                  <a:pt x="89039" y="30480"/>
                </a:lnTo>
                <a:lnTo>
                  <a:pt x="89319" y="30480"/>
                </a:lnTo>
                <a:lnTo>
                  <a:pt x="82931" y="33019"/>
                </a:lnTo>
                <a:lnTo>
                  <a:pt x="83197" y="33019"/>
                </a:lnTo>
                <a:lnTo>
                  <a:pt x="78559" y="36830"/>
                </a:lnTo>
                <a:lnTo>
                  <a:pt x="77266" y="36830"/>
                </a:lnTo>
                <a:lnTo>
                  <a:pt x="71285" y="41910"/>
                </a:lnTo>
                <a:lnTo>
                  <a:pt x="71539" y="41910"/>
                </a:lnTo>
                <a:lnTo>
                  <a:pt x="65773" y="45719"/>
                </a:lnTo>
                <a:lnTo>
                  <a:pt x="66014" y="45719"/>
                </a:lnTo>
                <a:lnTo>
                  <a:pt x="60477" y="50800"/>
                </a:lnTo>
                <a:lnTo>
                  <a:pt x="60706" y="50800"/>
                </a:lnTo>
                <a:lnTo>
                  <a:pt x="55410" y="55880"/>
                </a:lnTo>
                <a:lnTo>
                  <a:pt x="55626" y="55880"/>
                </a:lnTo>
                <a:lnTo>
                  <a:pt x="50571" y="60960"/>
                </a:lnTo>
                <a:lnTo>
                  <a:pt x="50774" y="60960"/>
                </a:lnTo>
                <a:lnTo>
                  <a:pt x="45986" y="66039"/>
                </a:lnTo>
                <a:lnTo>
                  <a:pt x="46177" y="66039"/>
                </a:lnTo>
                <a:lnTo>
                  <a:pt x="42560" y="71119"/>
                </a:lnTo>
                <a:lnTo>
                  <a:pt x="41833" y="71119"/>
                </a:lnTo>
                <a:lnTo>
                  <a:pt x="37579" y="77469"/>
                </a:lnTo>
                <a:lnTo>
                  <a:pt x="37757" y="77469"/>
                </a:lnTo>
                <a:lnTo>
                  <a:pt x="33781" y="83819"/>
                </a:lnTo>
                <a:lnTo>
                  <a:pt x="33947" y="83819"/>
                </a:lnTo>
                <a:lnTo>
                  <a:pt x="30276" y="90169"/>
                </a:lnTo>
                <a:lnTo>
                  <a:pt x="30416" y="90169"/>
                </a:lnTo>
                <a:lnTo>
                  <a:pt x="27051" y="96519"/>
                </a:lnTo>
                <a:lnTo>
                  <a:pt x="24129" y="102869"/>
                </a:lnTo>
                <a:lnTo>
                  <a:pt x="21513" y="109219"/>
                </a:lnTo>
                <a:lnTo>
                  <a:pt x="19227" y="116839"/>
                </a:lnTo>
                <a:lnTo>
                  <a:pt x="17259" y="123189"/>
                </a:lnTo>
                <a:lnTo>
                  <a:pt x="15633" y="130810"/>
                </a:lnTo>
                <a:lnTo>
                  <a:pt x="14363" y="138430"/>
                </a:lnTo>
                <a:lnTo>
                  <a:pt x="13436" y="146050"/>
                </a:lnTo>
                <a:lnTo>
                  <a:pt x="12890" y="153669"/>
                </a:lnTo>
                <a:lnTo>
                  <a:pt x="12700" y="161289"/>
                </a:lnTo>
                <a:lnTo>
                  <a:pt x="12890" y="168910"/>
                </a:lnTo>
                <a:lnTo>
                  <a:pt x="13474" y="176530"/>
                </a:lnTo>
                <a:lnTo>
                  <a:pt x="14401" y="184150"/>
                </a:lnTo>
                <a:lnTo>
                  <a:pt x="14585" y="184150"/>
                </a:lnTo>
                <a:lnTo>
                  <a:pt x="15697" y="190500"/>
                </a:lnTo>
                <a:lnTo>
                  <a:pt x="17335" y="198119"/>
                </a:lnTo>
                <a:lnTo>
                  <a:pt x="19316" y="205739"/>
                </a:lnTo>
                <a:lnTo>
                  <a:pt x="19627" y="205739"/>
                </a:lnTo>
                <a:lnTo>
                  <a:pt x="21628" y="212089"/>
                </a:lnTo>
                <a:lnTo>
                  <a:pt x="24244" y="218439"/>
                </a:lnTo>
                <a:lnTo>
                  <a:pt x="27178" y="226060"/>
                </a:lnTo>
                <a:lnTo>
                  <a:pt x="27611" y="226060"/>
                </a:lnTo>
                <a:lnTo>
                  <a:pt x="30416" y="232410"/>
                </a:lnTo>
                <a:lnTo>
                  <a:pt x="30888" y="232410"/>
                </a:lnTo>
                <a:lnTo>
                  <a:pt x="33947" y="238760"/>
                </a:lnTo>
                <a:lnTo>
                  <a:pt x="34577" y="238760"/>
                </a:lnTo>
                <a:lnTo>
                  <a:pt x="37757" y="243839"/>
                </a:lnTo>
                <a:lnTo>
                  <a:pt x="37579" y="243839"/>
                </a:lnTo>
                <a:lnTo>
                  <a:pt x="41833" y="250189"/>
                </a:lnTo>
                <a:lnTo>
                  <a:pt x="41656" y="250189"/>
                </a:lnTo>
                <a:lnTo>
                  <a:pt x="46177" y="255269"/>
                </a:lnTo>
                <a:lnTo>
                  <a:pt x="45986" y="255269"/>
                </a:lnTo>
                <a:lnTo>
                  <a:pt x="50774" y="261619"/>
                </a:lnTo>
                <a:lnTo>
                  <a:pt x="51582" y="261619"/>
                </a:lnTo>
                <a:lnTo>
                  <a:pt x="55626" y="266700"/>
                </a:lnTo>
                <a:lnTo>
                  <a:pt x="55410" y="266700"/>
                </a:lnTo>
                <a:lnTo>
                  <a:pt x="60706" y="271780"/>
                </a:lnTo>
                <a:lnTo>
                  <a:pt x="61861" y="271780"/>
                </a:lnTo>
                <a:lnTo>
                  <a:pt x="66014" y="275589"/>
                </a:lnTo>
                <a:lnTo>
                  <a:pt x="65773" y="275589"/>
                </a:lnTo>
                <a:lnTo>
                  <a:pt x="71539" y="280669"/>
                </a:lnTo>
                <a:lnTo>
                  <a:pt x="71285" y="280669"/>
                </a:lnTo>
                <a:lnTo>
                  <a:pt x="77266" y="284480"/>
                </a:lnTo>
                <a:lnTo>
                  <a:pt x="77012" y="284480"/>
                </a:lnTo>
                <a:lnTo>
                  <a:pt x="83197" y="288289"/>
                </a:lnTo>
                <a:lnTo>
                  <a:pt x="82931" y="288289"/>
                </a:lnTo>
                <a:lnTo>
                  <a:pt x="89319" y="292100"/>
                </a:lnTo>
                <a:lnTo>
                  <a:pt x="89039" y="292100"/>
                </a:lnTo>
                <a:lnTo>
                  <a:pt x="95618" y="294639"/>
                </a:lnTo>
                <a:lnTo>
                  <a:pt x="95338" y="294639"/>
                </a:lnTo>
                <a:lnTo>
                  <a:pt x="102082" y="298450"/>
                </a:lnTo>
                <a:lnTo>
                  <a:pt x="101790" y="298450"/>
                </a:lnTo>
                <a:lnTo>
                  <a:pt x="108712" y="300989"/>
                </a:lnTo>
                <a:lnTo>
                  <a:pt x="108419" y="300989"/>
                </a:lnTo>
                <a:lnTo>
                  <a:pt x="115493" y="303530"/>
                </a:lnTo>
                <a:lnTo>
                  <a:pt x="115189" y="303530"/>
                </a:lnTo>
                <a:lnTo>
                  <a:pt x="122428" y="304800"/>
                </a:lnTo>
                <a:lnTo>
                  <a:pt x="122110" y="304800"/>
                </a:lnTo>
                <a:lnTo>
                  <a:pt x="129489" y="307339"/>
                </a:lnTo>
                <a:lnTo>
                  <a:pt x="132924" y="307339"/>
                </a:lnTo>
                <a:lnTo>
                  <a:pt x="136677" y="308610"/>
                </a:lnTo>
                <a:lnTo>
                  <a:pt x="143662" y="308610"/>
                </a:lnTo>
                <a:lnTo>
                  <a:pt x="151396" y="309880"/>
                </a:lnTo>
                <a:lnTo>
                  <a:pt x="220725" y="309880"/>
                </a:lnTo>
                <a:lnTo>
                  <a:pt x="198285" y="317500"/>
                </a:lnTo>
                <a:lnTo>
                  <a:pt x="166751" y="322580"/>
                </a:lnTo>
                <a:close/>
              </a:path>
              <a:path w="317500" h="322580">
                <a:moveTo>
                  <a:pt x="158750" y="11456"/>
                </a:moveTo>
                <a:lnTo>
                  <a:pt x="158584" y="11430"/>
                </a:lnTo>
                <a:lnTo>
                  <a:pt x="158915" y="11430"/>
                </a:lnTo>
                <a:lnTo>
                  <a:pt x="158750" y="11456"/>
                </a:lnTo>
                <a:close/>
              </a:path>
              <a:path w="317500" h="322580">
                <a:moveTo>
                  <a:pt x="240487" y="38100"/>
                </a:moveTo>
                <a:lnTo>
                  <a:pt x="234302" y="33019"/>
                </a:lnTo>
                <a:lnTo>
                  <a:pt x="234569" y="33019"/>
                </a:lnTo>
                <a:lnTo>
                  <a:pt x="228180" y="30480"/>
                </a:lnTo>
                <a:lnTo>
                  <a:pt x="228460" y="30480"/>
                </a:lnTo>
                <a:lnTo>
                  <a:pt x="221881" y="26669"/>
                </a:lnTo>
                <a:lnTo>
                  <a:pt x="222161" y="26669"/>
                </a:lnTo>
                <a:lnTo>
                  <a:pt x="215417" y="24130"/>
                </a:lnTo>
                <a:lnTo>
                  <a:pt x="215709" y="24130"/>
                </a:lnTo>
                <a:lnTo>
                  <a:pt x="208787" y="21589"/>
                </a:lnTo>
                <a:lnTo>
                  <a:pt x="209080" y="21589"/>
                </a:lnTo>
                <a:lnTo>
                  <a:pt x="202006" y="19050"/>
                </a:lnTo>
                <a:lnTo>
                  <a:pt x="202311" y="19050"/>
                </a:lnTo>
                <a:lnTo>
                  <a:pt x="195072" y="16510"/>
                </a:lnTo>
                <a:lnTo>
                  <a:pt x="195389" y="16510"/>
                </a:lnTo>
                <a:lnTo>
                  <a:pt x="188010" y="15239"/>
                </a:lnTo>
                <a:lnTo>
                  <a:pt x="188328" y="15239"/>
                </a:lnTo>
                <a:lnTo>
                  <a:pt x="180822" y="13969"/>
                </a:lnTo>
                <a:lnTo>
                  <a:pt x="181140" y="13969"/>
                </a:lnTo>
                <a:lnTo>
                  <a:pt x="173520" y="12700"/>
                </a:lnTo>
                <a:lnTo>
                  <a:pt x="166433" y="12700"/>
                </a:lnTo>
                <a:lnTo>
                  <a:pt x="158750" y="11456"/>
                </a:lnTo>
                <a:lnTo>
                  <a:pt x="158915" y="11430"/>
                </a:lnTo>
                <a:lnTo>
                  <a:pt x="218321" y="11430"/>
                </a:lnTo>
                <a:lnTo>
                  <a:pt x="220725" y="12700"/>
                </a:lnTo>
                <a:lnTo>
                  <a:pt x="227761" y="15239"/>
                </a:lnTo>
                <a:lnTo>
                  <a:pt x="234607" y="19050"/>
                </a:lnTo>
                <a:lnTo>
                  <a:pt x="241249" y="22860"/>
                </a:lnTo>
                <a:lnTo>
                  <a:pt x="247688" y="26669"/>
                </a:lnTo>
                <a:lnTo>
                  <a:pt x="253898" y="31750"/>
                </a:lnTo>
                <a:lnTo>
                  <a:pt x="259664" y="35560"/>
                </a:lnTo>
                <a:lnTo>
                  <a:pt x="260860" y="36830"/>
                </a:lnTo>
                <a:lnTo>
                  <a:pt x="240233" y="36830"/>
                </a:lnTo>
                <a:lnTo>
                  <a:pt x="240487" y="38100"/>
                </a:lnTo>
                <a:close/>
              </a:path>
              <a:path w="317500" h="322580">
                <a:moveTo>
                  <a:pt x="77012" y="38100"/>
                </a:moveTo>
                <a:lnTo>
                  <a:pt x="77266" y="36830"/>
                </a:lnTo>
                <a:lnTo>
                  <a:pt x="78559" y="36830"/>
                </a:lnTo>
                <a:lnTo>
                  <a:pt x="77012" y="38100"/>
                </a:lnTo>
                <a:close/>
              </a:path>
              <a:path w="317500" h="322580">
                <a:moveTo>
                  <a:pt x="275844" y="72389"/>
                </a:moveTo>
                <a:lnTo>
                  <a:pt x="271322" y="66039"/>
                </a:lnTo>
                <a:lnTo>
                  <a:pt x="271513" y="66039"/>
                </a:lnTo>
                <a:lnTo>
                  <a:pt x="266725" y="60960"/>
                </a:lnTo>
                <a:lnTo>
                  <a:pt x="266928" y="60960"/>
                </a:lnTo>
                <a:lnTo>
                  <a:pt x="261874" y="55880"/>
                </a:lnTo>
                <a:lnTo>
                  <a:pt x="262089" y="55880"/>
                </a:lnTo>
                <a:lnTo>
                  <a:pt x="256794" y="50800"/>
                </a:lnTo>
                <a:lnTo>
                  <a:pt x="257022" y="50800"/>
                </a:lnTo>
                <a:lnTo>
                  <a:pt x="251485" y="45719"/>
                </a:lnTo>
                <a:lnTo>
                  <a:pt x="251726" y="45719"/>
                </a:lnTo>
                <a:lnTo>
                  <a:pt x="245960" y="41910"/>
                </a:lnTo>
                <a:lnTo>
                  <a:pt x="246214" y="41910"/>
                </a:lnTo>
                <a:lnTo>
                  <a:pt x="240233" y="36830"/>
                </a:lnTo>
                <a:lnTo>
                  <a:pt x="260860" y="36830"/>
                </a:lnTo>
                <a:lnTo>
                  <a:pt x="265645" y="41910"/>
                </a:lnTo>
                <a:lnTo>
                  <a:pt x="276199" y="52069"/>
                </a:lnTo>
                <a:lnTo>
                  <a:pt x="281381" y="58419"/>
                </a:lnTo>
                <a:lnTo>
                  <a:pt x="286080" y="64769"/>
                </a:lnTo>
                <a:lnTo>
                  <a:pt x="290499" y="71119"/>
                </a:lnTo>
                <a:lnTo>
                  <a:pt x="275666" y="71119"/>
                </a:lnTo>
                <a:lnTo>
                  <a:pt x="275844" y="72389"/>
                </a:lnTo>
                <a:close/>
              </a:path>
              <a:path w="317500" h="322580">
                <a:moveTo>
                  <a:pt x="41656" y="72389"/>
                </a:moveTo>
                <a:lnTo>
                  <a:pt x="41833" y="71119"/>
                </a:lnTo>
                <a:lnTo>
                  <a:pt x="42560" y="71119"/>
                </a:lnTo>
                <a:lnTo>
                  <a:pt x="41656" y="72389"/>
                </a:lnTo>
                <a:close/>
              </a:path>
              <a:path w="317500" h="322580">
                <a:moveTo>
                  <a:pt x="315821" y="184150"/>
                </a:moveTo>
                <a:lnTo>
                  <a:pt x="303098" y="184150"/>
                </a:lnTo>
                <a:lnTo>
                  <a:pt x="304063" y="176530"/>
                </a:lnTo>
                <a:lnTo>
                  <a:pt x="304622" y="168910"/>
                </a:lnTo>
                <a:lnTo>
                  <a:pt x="304800" y="161289"/>
                </a:lnTo>
                <a:lnTo>
                  <a:pt x="304609" y="153669"/>
                </a:lnTo>
                <a:lnTo>
                  <a:pt x="304025" y="146050"/>
                </a:lnTo>
                <a:lnTo>
                  <a:pt x="303098" y="138430"/>
                </a:lnTo>
                <a:lnTo>
                  <a:pt x="301802" y="130810"/>
                </a:lnTo>
                <a:lnTo>
                  <a:pt x="300164" y="123189"/>
                </a:lnTo>
                <a:lnTo>
                  <a:pt x="298183" y="116839"/>
                </a:lnTo>
                <a:lnTo>
                  <a:pt x="295871" y="109219"/>
                </a:lnTo>
                <a:lnTo>
                  <a:pt x="293255" y="102869"/>
                </a:lnTo>
                <a:lnTo>
                  <a:pt x="290322" y="96519"/>
                </a:lnTo>
                <a:lnTo>
                  <a:pt x="290449" y="96519"/>
                </a:lnTo>
                <a:lnTo>
                  <a:pt x="287083" y="90169"/>
                </a:lnTo>
                <a:lnTo>
                  <a:pt x="287223" y="90169"/>
                </a:lnTo>
                <a:lnTo>
                  <a:pt x="283552" y="83819"/>
                </a:lnTo>
                <a:lnTo>
                  <a:pt x="283718" y="83819"/>
                </a:lnTo>
                <a:lnTo>
                  <a:pt x="279742" y="77469"/>
                </a:lnTo>
                <a:lnTo>
                  <a:pt x="279920" y="77469"/>
                </a:lnTo>
                <a:lnTo>
                  <a:pt x="275666" y="71119"/>
                </a:lnTo>
                <a:lnTo>
                  <a:pt x="290499" y="71119"/>
                </a:lnTo>
                <a:lnTo>
                  <a:pt x="294614" y="77469"/>
                </a:lnTo>
                <a:lnTo>
                  <a:pt x="310413" y="113030"/>
                </a:lnTo>
                <a:lnTo>
                  <a:pt x="317296" y="152400"/>
                </a:lnTo>
                <a:lnTo>
                  <a:pt x="317500" y="161289"/>
                </a:lnTo>
                <a:lnTo>
                  <a:pt x="317284" y="168910"/>
                </a:lnTo>
                <a:lnTo>
                  <a:pt x="316699" y="177800"/>
                </a:lnTo>
                <a:lnTo>
                  <a:pt x="315821" y="184150"/>
                </a:lnTo>
                <a:close/>
              </a:path>
              <a:path w="317500" h="322580">
                <a:moveTo>
                  <a:pt x="14585" y="184150"/>
                </a:moveTo>
                <a:lnTo>
                  <a:pt x="14401" y="184150"/>
                </a:lnTo>
                <a:lnTo>
                  <a:pt x="14363" y="182880"/>
                </a:lnTo>
                <a:lnTo>
                  <a:pt x="14585" y="184150"/>
                </a:lnTo>
                <a:close/>
              </a:path>
              <a:path w="317500" h="322580">
                <a:moveTo>
                  <a:pt x="311397" y="205739"/>
                </a:moveTo>
                <a:lnTo>
                  <a:pt x="298183" y="205739"/>
                </a:lnTo>
                <a:lnTo>
                  <a:pt x="300240" y="198119"/>
                </a:lnTo>
                <a:lnTo>
                  <a:pt x="301866" y="190500"/>
                </a:lnTo>
                <a:lnTo>
                  <a:pt x="303136" y="182880"/>
                </a:lnTo>
                <a:lnTo>
                  <a:pt x="303098" y="184150"/>
                </a:lnTo>
                <a:lnTo>
                  <a:pt x="315821" y="184150"/>
                </a:lnTo>
                <a:lnTo>
                  <a:pt x="315645" y="185419"/>
                </a:lnTo>
                <a:lnTo>
                  <a:pt x="314248" y="193039"/>
                </a:lnTo>
                <a:lnTo>
                  <a:pt x="312470" y="201930"/>
                </a:lnTo>
                <a:lnTo>
                  <a:pt x="311397" y="205739"/>
                </a:lnTo>
                <a:close/>
              </a:path>
              <a:path w="317500" h="322580">
                <a:moveTo>
                  <a:pt x="19627" y="205739"/>
                </a:moveTo>
                <a:lnTo>
                  <a:pt x="19316" y="205739"/>
                </a:lnTo>
                <a:lnTo>
                  <a:pt x="19227" y="204469"/>
                </a:lnTo>
                <a:lnTo>
                  <a:pt x="19627" y="205739"/>
                </a:lnTo>
                <a:close/>
              </a:path>
              <a:path w="317500" h="322580">
                <a:moveTo>
                  <a:pt x="303961" y="226060"/>
                </a:moveTo>
                <a:lnTo>
                  <a:pt x="290322" y="226060"/>
                </a:lnTo>
                <a:lnTo>
                  <a:pt x="293369" y="218439"/>
                </a:lnTo>
                <a:lnTo>
                  <a:pt x="295986" y="212089"/>
                </a:lnTo>
                <a:lnTo>
                  <a:pt x="298272" y="204469"/>
                </a:lnTo>
                <a:lnTo>
                  <a:pt x="298183" y="205739"/>
                </a:lnTo>
                <a:lnTo>
                  <a:pt x="311397" y="205739"/>
                </a:lnTo>
                <a:lnTo>
                  <a:pt x="310324" y="209550"/>
                </a:lnTo>
                <a:lnTo>
                  <a:pt x="307822" y="215900"/>
                </a:lnTo>
                <a:lnTo>
                  <a:pt x="304977" y="223519"/>
                </a:lnTo>
                <a:lnTo>
                  <a:pt x="303961" y="226060"/>
                </a:lnTo>
                <a:close/>
              </a:path>
              <a:path w="317500" h="322580">
                <a:moveTo>
                  <a:pt x="27611" y="226060"/>
                </a:moveTo>
                <a:lnTo>
                  <a:pt x="27178" y="226060"/>
                </a:lnTo>
                <a:lnTo>
                  <a:pt x="27051" y="224789"/>
                </a:lnTo>
                <a:lnTo>
                  <a:pt x="27611" y="226060"/>
                </a:lnTo>
                <a:close/>
              </a:path>
              <a:path w="317500" h="322580">
                <a:moveTo>
                  <a:pt x="301200" y="232410"/>
                </a:moveTo>
                <a:lnTo>
                  <a:pt x="287083" y="232410"/>
                </a:lnTo>
                <a:lnTo>
                  <a:pt x="290449" y="224789"/>
                </a:lnTo>
                <a:lnTo>
                  <a:pt x="290322" y="226060"/>
                </a:lnTo>
                <a:lnTo>
                  <a:pt x="303961" y="226060"/>
                </a:lnTo>
                <a:lnTo>
                  <a:pt x="301929" y="231139"/>
                </a:lnTo>
                <a:lnTo>
                  <a:pt x="301200" y="232410"/>
                </a:lnTo>
                <a:close/>
              </a:path>
              <a:path w="317500" h="322580">
                <a:moveTo>
                  <a:pt x="30888" y="232410"/>
                </a:moveTo>
                <a:lnTo>
                  <a:pt x="30416" y="232410"/>
                </a:lnTo>
                <a:lnTo>
                  <a:pt x="30276" y="231139"/>
                </a:lnTo>
                <a:lnTo>
                  <a:pt x="30888" y="232410"/>
                </a:lnTo>
                <a:close/>
              </a:path>
              <a:path w="317500" h="322580">
                <a:moveTo>
                  <a:pt x="297647" y="238760"/>
                </a:moveTo>
                <a:lnTo>
                  <a:pt x="283552" y="238760"/>
                </a:lnTo>
                <a:lnTo>
                  <a:pt x="287223" y="231139"/>
                </a:lnTo>
                <a:lnTo>
                  <a:pt x="287083" y="232410"/>
                </a:lnTo>
                <a:lnTo>
                  <a:pt x="301200" y="232410"/>
                </a:lnTo>
                <a:lnTo>
                  <a:pt x="298284" y="237489"/>
                </a:lnTo>
                <a:lnTo>
                  <a:pt x="297647" y="238760"/>
                </a:lnTo>
                <a:close/>
              </a:path>
              <a:path w="317500" h="322580">
                <a:moveTo>
                  <a:pt x="34577" y="238760"/>
                </a:moveTo>
                <a:lnTo>
                  <a:pt x="33947" y="238760"/>
                </a:lnTo>
                <a:lnTo>
                  <a:pt x="33781" y="237489"/>
                </a:lnTo>
                <a:lnTo>
                  <a:pt x="34577" y="238760"/>
                </a:lnTo>
                <a:close/>
              </a:path>
              <a:path w="317500" h="322580">
                <a:moveTo>
                  <a:pt x="283075" y="261619"/>
                </a:moveTo>
                <a:lnTo>
                  <a:pt x="266725" y="261619"/>
                </a:lnTo>
                <a:lnTo>
                  <a:pt x="271513" y="255269"/>
                </a:lnTo>
                <a:lnTo>
                  <a:pt x="271322" y="255269"/>
                </a:lnTo>
                <a:lnTo>
                  <a:pt x="275844" y="250189"/>
                </a:lnTo>
                <a:lnTo>
                  <a:pt x="275666" y="250189"/>
                </a:lnTo>
                <a:lnTo>
                  <a:pt x="279920" y="243839"/>
                </a:lnTo>
                <a:lnTo>
                  <a:pt x="279742" y="243839"/>
                </a:lnTo>
                <a:lnTo>
                  <a:pt x="283718" y="237489"/>
                </a:lnTo>
                <a:lnTo>
                  <a:pt x="283552" y="238760"/>
                </a:lnTo>
                <a:lnTo>
                  <a:pt x="297647" y="238760"/>
                </a:lnTo>
                <a:lnTo>
                  <a:pt x="294462" y="245110"/>
                </a:lnTo>
                <a:lnTo>
                  <a:pt x="290334" y="251460"/>
                </a:lnTo>
                <a:lnTo>
                  <a:pt x="285902" y="257810"/>
                </a:lnTo>
                <a:lnTo>
                  <a:pt x="283075" y="261619"/>
                </a:lnTo>
                <a:close/>
              </a:path>
              <a:path w="317500" h="322580">
                <a:moveTo>
                  <a:pt x="51582" y="261619"/>
                </a:moveTo>
                <a:lnTo>
                  <a:pt x="50774" y="261619"/>
                </a:lnTo>
                <a:lnTo>
                  <a:pt x="50571" y="260350"/>
                </a:lnTo>
                <a:lnTo>
                  <a:pt x="51582" y="261619"/>
                </a:lnTo>
                <a:close/>
              </a:path>
              <a:path w="317500" h="322580">
                <a:moveTo>
                  <a:pt x="274096" y="271780"/>
                </a:moveTo>
                <a:lnTo>
                  <a:pt x="256794" y="271780"/>
                </a:lnTo>
                <a:lnTo>
                  <a:pt x="262089" y="266700"/>
                </a:lnTo>
                <a:lnTo>
                  <a:pt x="261874" y="266700"/>
                </a:lnTo>
                <a:lnTo>
                  <a:pt x="266928" y="260350"/>
                </a:lnTo>
                <a:lnTo>
                  <a:pt x="266725" y="261619"/>
                </a:lnTo>
                <a:lnTo>
                  <a:pt x="283075" y="261619"/>
                </a:lnTo>
                <a:lnTo>
                  <a:pt x="281190" y="264160"/>
                </a:lnTo>
                <a:lnTo>
                  <a:pt x="276199" y="269239"/>
                </a:lnTo>
                <a:lnTo>
                  <a:pt x="274096" y="271780"/>
                </a:lnTo>
                <a:close/>
              </a:path>
              <a:path w="317500" h="322580">
                <a:moveTo>
                  <a:pt x="61861" y="271780"/>
                </a:moveTo>
                <a:lnTo>
                  <a:pt x="60706" y="271780"/>
                </a:lnTo>
                <a:lnTo>
                  <a:pt x="60477" y="270510"/>
                </a:lnTo>
                <a:lnTo>
                  <a:pt x="61861" y="271780"/>
                </a:lnTo>
                <a:close/>
              </a:path>
              <a:path w="317500" h="322580">
                <a:moveTo>
                  <a:pt x="225230" y="307339"/>
                </a:moveTo>
                <a:lnTo>
                  <a:pt x="188010" y="307339"/>
                </a:lnTo>
                <a:lnTo>
                  <a:pt x="195389" y="304800"/>
                </a:lnTo>
                <a:lnTo>
                  <a:pt x="195072" y="304800"/>
                </a:lnTo>
                <a:lnTo>
                  <a:pt x="202311" y="303530"/>
                </a:lnTo>
                <a:lnTo>
                  <a:pt x="202006" y="303530"/>
                </a:lnTo>
                <a:lnTo>
                  <a:pt x="209080" y="300989"/>
                </a:lnTo>
                <a:lnTo>
                  <a:pt x="208787" y="300989"/>
                </a:lnTo>
                <a:lnTo>
                  <a:pt x="215709" y="298450"/>
                </a:lnTo>
                <a:lnTo>
                  <a:pt x="215417" y="298450"/>
                </a:lnTo>
                <a:lnTo>
                  <a:pt x="222161" y="294639"/>
                </a:lnTo>
                <a:lnTo>
                  <a:pt x="221881" y="294639"/>
                </a:lnTo>
                <a:lnTo>
                  <a:pt x="228460" y="292100"/>
                </a:lnTo>
                <a:lnTo>
                  <a:pt x="228180" y="292100"/>
                </a:lnTo>
                <a:lnTo>
                  <a:pt x="234569" y="288289"/>
                </a:lnTo>
                <a:lnTo>
                  <a:pt x="234302" y="288289"/>
                </a:lnTo>
                <a:lnTo>
                  <a:pt x="240487" y="284480"/>
                </a:lnTo>
                <a:lnTo>
                  <a:pt x="240233" y="284480"/>
                </a:lnTo>
                <a:lnTo>
                  <a:pt x="246214" y="280669"/>
                </a:lnTo>
                <a:lnTo>
                  <a:pt x="245960" y="280669"/>
                </a:lnTo>
                <a:lnTo>
                  <a:pt x="251726" y="275589"/>
                </a:lnTo>
                <a:lnTo>
                  <a:pt x="251485" y="275589"/>
                </a:lnTo>
                <a:lnTo>
                  <a:pt x="257022" y="270510"/>
                </a:lnTo>
                <a:lnTo>
                  <a:pt x="256794" y="271780"/>
                </a:lnTo>
                <a:lnTo>
                  <a:pt x="274096" y="271780"/>
                </a:lnTo>
                <a:lnTo>
                  <a:pt x="240982" y="298450"/>
                </a:lnTo>
                <a:lnTo>
                  <a:pt x="234327" y="303530"/>
                </a:lnTo>
                <a:lnTo>
                  <a:pt x="227482" y="306069"/>
                </a:lnTo>
                <a:lnTo>
                  <a:pt x="225230" y="307339"/>
                </a:lnTo>
                <a:close/>
              </a:path>
              <a:path w="317500" h="322580">
                <a:moveTo>
                  <a:pt x="132924" y="307339"/>
                </a:moveTo>
                <a:lnTo>
                  <a:pt x="129489" y="307339"/>
                </a:lnTo>
                <a:lnTo>
                  <a:pt x="129171" y="306069"/>
                </a:lnTo>
                <a:lnTo>
                  <a:pt x="132924" y="307339"/>
                </a:lnTo>
                <a:close/>
              </a:path>
              <a:path w="317500" h="322580">
                <a:moveTo>
                  <a:pt x="220725" y="309880"/>
                </a:moveTo>
                <a:lnTo>
                  <a:pt x="166103" y="309880"/>
                </a:lnTo>
                <a:lnTo>
                  <a:pt x="173837" y="308610"/>
                </a:lnTo>
                <a:lnTo>
                  <a:pt x="180822" y="308610"/>
                </a:lnTo>
                <a:lnTo>
                  <a:pt x="188328" y="306069"/>
                </a:lnTo>
                <a:lnTo>
                  <a:pt x="188010" y="307339"/>
                </a:lnTo>
                <a:lnTo>
                  <a:pt x="225230" y="307339"/>
                </a:lnTo>
                <a:lnTo>
                  <a:pt x="220725" y="309880"/>
                </a:lnTo>
                <a:close/>
              </a:path>
            </a:pathLst>
          </a:custGeom>
          <a:solidFill>
            <a:srgbClr val="99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03922" y="2131275"/>
            <a:ext cx="116344" cy="19825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808797" y="3027997"/>
            <a:ext cx="2427605" cy="375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917852" y="3112287"/>
            <a:ext cx="582434" cy="2027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808797" y="3338258"/>
            <a:ext cx="2427605" cy="4532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808797" y="3570947"/>
            <a:ext cx="2427605" cy="68592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502025" y="3358260"/>
            <a:ext cx="0" cy="853440"/>
          </a:xfrm>
          <a:custGeom>
            <a:avLst/>
            <a:gdLst/>
            <a:ahLst/>
            <a:cxnLst/>
            <a:rect l="l" t="t" r="r" b="b"/>
            <a:pathLst>
              <a:path h="853439">
                <a:moveTo>
                  <a:pt x="0" y="0"/>
                </a:moveTo>
                <a:lnTo>
                  <a:pt x="0" y="85321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824037" y="3586188"/>
            <a:ext cx="2371725" cy="630555"/>
          </a:xfrm>
          <a:custGeom>
            <a:avLst/>
            <a:gdLst/>
            <a:ahLst/>
            <a:cxnLst/>
            <a:rect l="l" t="t" r="r" b="b"/>
            <a:pathLst>
              <a:path w="2371725" h="630554">
                <a:moveTo>
                  <a:pt x="2371725" y="630047"/>
                </a:moveTo>
                <a:lnTo>
                  <a:pt x="0" y="630047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20522"/>
                </a:lnTo>
                <a:lnTo>
                  <a:pt x="4762" y="620522"/>
                </a:lnTo>
                <a:lnTo>
                  <a:pt x="9525" y="625284"/>
                </a:lnTo>
                <a:lnTo>
                  <a:pt x="2371725" y="625284"/>
                </a:lnTo>
                <a:lnTo>
                  <a:pt x="2371725" y="630047"/>
                </a:lnTo>
                <a:close/>
              </a:path>
              <a:path w="2371725" h="63055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630554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630554">
                <a:moveTo>
                  <a:pt x="2362200" y="625284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620522"/>
                </a:lnTo>
                <a:lnTo>
                  <a:pt x="2366962" y="620522"/>
                </a:lnTo>
                <a:lnTo>
                  <a:pt x="2362200" y="625284"/>
                </a:lnTo>
                <a:close/>
              </a:path>
              <a:path w="2371725" h="630554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630554">
                <a:moveTo>
                  <a:pt x="9525" y="625284"/>
                </a:moveTo>
                <a:lnTo>
                  <a:pt x="4762" y="620522"/>
                </a:lnTo>
                <a:lnTo>
                  <a:pt x="9525" y="620522"/>
                </a:lnTo>
                <a:lnTo>
                  <a:pt x="9525" y="625284"/>
                </a:lnTo>
                <a:close/>
              </a:path>
              <a:path w="2371725" h="630554">
                <a:moveTo>
                  <a:pt x="2362200" y="625284"/>
                </a:moveTo>
                <a:lnTo>
                  <a:pt x="9525" y="625284"/>
                </a:lnTo>
                <a:lnTo>
                  <a:pt x="9525" y="620522"/>
                </a:lnTo>
                <a:lnTo>
                  <a:pt x="2362200" y="620522"/>
                </a:lnTo>
                <a:lnTo>
                  <a:pt x="2362200" y="625284"/>
                </a:lnTo>
                <a:close/>
              </a:path>
              <a:path w="2371725" h="630554">
                <a:moveTo>
                  <a:pt x="2371725" y="625284"/>
                </a:moveTo>
                <a:lnTo>
                  <a:pt x="2362200" y="625284"/>
                </a:lnTo>
                <a:lnTo>
                  <a:pt x="2366962" y="620522"/>
                </a:lnTo>
                <a:lnTo>
                  <a:pt x="2371725" y="620522"/>
                </a:lnTo>
                <a:lnTo>
                  <a:pt x="2371725" y="625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907539" y="3306089"/>
            <a:ext cx="12839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5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(FK)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64209" y="3724490"/>
            <a:ext cx="2672079" cy="10072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09600" y="3451986"/>
            <a:ext cx="304800" cy="31026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03250" y="3445636"/>
            <a:ext cx="317500" cy="322580"/>
          </a:xfrm>
          <a:custGeom>
            <a:avLst/>
            <a:gdLst/>
            <a:ahLst/>
            <a:cxnLst/>
            <a:rect l="l" t="t" r="r" b="b"/>
            <a:pathLst>
              <a:path w="317500" h="322579">
                <a:moveTo>
                  <a:pt x="166751" y="322579"/>
                </a:moveTo>
                <a:lnTo>
                  <a:pt x="150418" y="322579"/>
                </a:lnTo>
                <a:lnTo>
                  <a:pt x="126580" y="318770"/>
                </a:lnTo>
                <a:lnTo>
                  <a:pt x="89738" y="306070"/>
                </a:lnTo>
                <a:lnTo>
                  <a:pt x="63601" y="289560"/>
                </a:lnTo>
                <a:lnTo>
                  <a:pt x="57607" y="285750"/>
                </a:lnTo>
                <a:lnTo>
                  <a:pt x="51854" y="280670"/>
                </a:lnTo>
                <a:lnTo>
                  <a:pt x="46354" y="274320"/>
                </a:lnTo>
                <a:lnTo>
                  <a:pt x="41109" y="269239"/>
                </a:lnTo>
                <a:lnTo>
                  <a:pt x="36118" y="262889"/>
                </a:lnTo>
                <a:lnTo>
                  <a:pt x="31597" y="257810"/>
                </a:lnTo>
                <a:lnTo>
                  <a:pt x="27000" y="251460"/>
                </a:lnTo>
                <a:lnTo>
                  <a:pt x="22885" y="243839"/>
                </a:lnTo>
                <a:lnTo>
                  <a:pt x="19075" y="237489"/>
                </a:lnTo>
                <a:lnTo>
                  <a:pt x="15570" y="231139"/>
                </a:lnTo>
                <a:lnTo>
                  <a:pt x="3187" y="193039"/>
                </a:lnTo>
                <a:lnTo>
                  <a:pt x="0" y="161289"/>
                </a:lnTo>
                <a:lnTo>
                  <a:pt x="203" y="152400"/>
                </a:lnTo>
                <a:lnTo>
                  <a:pt x="7175" y="113029"/>
                </a:lnTo>
                <a:lnTo>
                  <a:pt x="23037" y="77470"/>
                </a:lnTo>
                <a:lnTo>
                  <a:pt x="51854" y="41910"/>
                </a:lnTo>
                <a:lnTo>
                  <a:pt x="82905" y="19050"/>
                </a:lnTo>
                <a:lnTo>
                  <a:pt x="96773" y="12700"/>
                </a:lnTo>
                <a:lnTo>
                  <a:pt x="104279" y="8889"/>
                </a:lnTo>
                <a:lnTo>
                  <a:pt x="111366" y="6350"/>
                </a:lnTo>
                <a:lnTo>
                  <a:pt x="119214" y="3810"/>
                </a:lnTo>
                <a:lnTo>
                  <a:pt x="134404" y="1270"/>
                </a:lnTo>
                <a:lnTo>
                  <a:pt x="142671" y="0"/>
                </a:lnTo>
                <a:lnTo>
                  <a:pt x="174828" y="0"/>
                </a:lnTo>
                <a:lnTo>
                  <a:pt x="213512" y="8889"/>
                </a:lnTo>
                <a:lnTo>
                  <a:pt x="220725" y="12700"/>
                </a:lnTo>
                <a:lnTo>
                  <a:pt x="143979" y="12700"/>
                </a:lnTo>
                <a:lnTo>
                  <a:pt x="136359" y="13970"/>
                </a:lnTo>
                <a:lnTo>
                  <a:pt x="136677" y="13970"/>
                </a:lnTo>
                <a:lnTo>
                  <a:pt x="129171" y="15239"/>
                </a:lnTo>
                <a:lnTo>
                  <a:pt x="129489" y="15239"/>
                </a:lnTo>
                <a:lnTo>
                  <a:pt x="122110" y="16510"/>
                </a:lnTo>
                <a:lnTo>
                  <a:pt x="122428" y="16510"/>
                </a:lnTo>
                <a:lnTo>
                  <a:pt x="115189" y="19050"/>
                </a:lnTo>
                <a:lnTo>
                  <a:pt x="115493" y="19050"/>
                </a:lnTo>
                <a:lnTo>
                  <a:pt x="108419" y="21589"/>
                </a:lnTo>
                <a:lnTo>
                  <a:pt x="108712" y="21589"/>
                </a:lnTo>
                <a:lnTo>
                  <a:pt x="101790" y="24129"/>
                </a:lnTo>
                <a:lnTo>
                  <a:pt x="102082" y="24129"/>
                </a:lnTo>
                <a:lnTo>
                  <a:pt x="95338" y="26670"/>
                </a:lnTo>
                <a:lnTo>
                  <a:pt x="95618" y="26670"/>
                </a:lnTo>
                <a:lnTo>
                  <a:pt x="89039" y="30479"/>
                </a:lnTo>
                <a:lnTo>
                  <a:pt x="89319" y="30479"/>
                </a:lnTo>
                <a:lnTo>
                  <a:pt x="82931" y="33020"/>
                </a:lnTo>
                <a:lnTo>
                  <a:pt x="83197" y="33020"/>
                </a:lnTo>
                <a:lnTo>
                  <a:pt x="78559" y="36829"/>
                </a:lnTo>
                <a:lnTo>
                  <a:pt x="77266" y="36829"/>
                </a:lnTo>
                <a:lnTo>
                  <a:pt x="71285" y="41910"/>
                </a:lnTo>
                <a:lnTo>
                  <a:pt x="71539" y="41910"/>
                </a:lnTo>
                <a:lnTo>
                  <a:pt x="65773" y="45720"/>
                </a:lnTo>
                <a:lnTo>
                  <a:pt x="66014" y="45720"/>
                </a:lnTo>
                <a:lnTo>
                  <a:pt x="60477" y="50800"/>
                </a:lnTo>
                <a:lnTo>
                  <a:pt x="60706" y="50800"/>
                </a:lnTo>
                <a:lnTo>
                  <a:pt x="55410" y="55879"/>
                </a:lnTo>
                <a:lnTo>
                  <a:pt x="55626" y="55879"/>
                </a:lnTo>
                <a:lnTo>
                  <a:pt x="50571" y="60960"/>
                </a:lnTo>
                <a:lnTo>
                  <a:pt x="50774" y="60960"/>
                </a:lnTo>
                <a:lnTo>
                  <a:pt x="45986" y="66039"/>
                </a:lnTo>
                <a:lnTo>
                  <a:pt x="46177" y="66039"/>
                </a:lnTo>
                <a:lnTo>
                  <a:pt x="42560" y="71120"/>
                </a:lnTo>
                <a:lnTo>
                  <a:pt x="41833" y="71120"/>
                </a:lnTo>
                <a:lnTo>
                  <a:pt x="37579" y="77470"/>
                </a:lnTo>
                <a:lnTo>
                  <a:pt x="37744" y="77470"/>
                </a:lnTo>
                <a:lnTo>
                  <a:pt x="33781" y="83820"/>
                </a:lnTo>
                <a:lnTo>
                  <a:pt x="33947" y="83820"/>
                </a:lnTo>
                <a:lnTo>
                  <a:pt x="30276" y="90170"/>
                </a:lnTo>
                <a:lnTo>
                  <a:pt x="30416" y="90170"/>
                </a:lnTo>
                <a:lnTo>
                  <a:pt x="27051" y="96520"/>
                </a:lnTo>
                <a:lnTo>
                  <a:pt x="24129" y="102870"/>
                </a:lnTo>
                <a:lnTo>
                  <a:pt x="21513" y="109220"/>
                </a:lnTo>
                <a:lnTo>
                  <a:pt x="19227" y="116839"/>
                </a:lnTo>
                <a:lnTo>
                  <a:pt x="17259" y="123189"/>
                </a:lnTo>
                <a:lnTo>
                  <a:pt x="15633" y="130810"/>
                </a:lnTo>
                <a:lnTo>
                  <a:pt x="14363" y="138429"/>
                </a:lnTo>
                <a:lnTo>
                  <a:pt x="13436" y="146050"/>
                </a:lnTo>
                <a:lnTo>
                  <a:pt x="12977" y="152400"/>
                </a:lnTo>
                <a:lnTo>
                  <a:pt x="12700" y="161289"/>
                </a:lnTo>
                <a:lnTo>
                  <a:pt x="12890" y="168910"/>
                </a:lnTo>
                <a:lnTo>
                  <a:pt x="13474" y="176529"/>
                </a:lnTo>
                <a:lnTo>
                  <a:pt x="14401" y="184150"/>
                </a:lnTo>
                <a:lnTo>
                  <a:pt x="14585" y="184150"/>
                </a:lnTo>
                <a:lnTo>
                  <a:pt x="15697" y="190500"/>
                </a:lnTo>
                <a:lnTo>
                  <a:pt x="17335" y="198120"/>
                </a:lnTo>
                <a:lnTo>
                  <a:pt x="19316" y="205739"/>
                </a:lnTo>
                <a:lnTo>
                  <a:pt x="19627" y="205739"/>
                </a:lnTo>
                <a:lnTo>
                  <a:pt x="21628" y="212089"/>
                </a:lnTo>
                <a:lnTo>
                  <a:pt x="24244" y="218439"/>
                </a:lnTo>
                <a:lnTo>
                  <a:pt x="27178" y="226060"/>
                </a:lnTo>
                <a:lnTo>
                  <a:pt x="27611" y="226060"/>
                </a:lnTo>
                <a:lnTo>
                  <a:pt x="30416" y="232410"/>
                </a:lnTo>
                <a:lnTo>
                  <a:pt x="30888" y="232410"/>
                </a:lnTo>
                <a:lnTo>
                  <a:pt x="33947" y="238760"/>
                </a:lnTo>
                <a:lnTo>
                  <a:pt x="34574" y="238760"/>
                </a:lnTo>
                <a:lnTo>
                  <a:pt x="37744" y="243839"/>
                </a:lnTo>
                <a:lnTo>
                  <a:pt x="37579" y="243839"/>
                </a:lnTo>
                <a:lnTo>
                  <a:pt x="41833" y="250189"/>
                </a:lnTo>
                <a:lnTo>
                  <a:pt x="41656" y="250189"/>
                </a:lnTo>
                <a:lnTo>
                  <a:pt x="46177" y="255270"/>
                </a:lnTo>
                <a:lnTo>
                  <a:pt x="45986" y="255270"/>
                </a:lnTo>
                <a:lnTo>
                  <a:pt x="50774" y="261620"/>
                </a:lnTo>
                <a:lnTo>
                  <a:pt x="51582" y="261620"/>
                </a:lnTo>
                <a:lnTo>
                  <a:pt x="55626" y="266700"/>
                </a:lnTo>
                <a:lnTo>
                  <a:pt x="56734" y="266700"/>
                </a:lnTo>
                <a:lnTo>
                  <a:pt x="60706" y="270510"/>
                </a:lnTo>
                <a:lnTo>
                  <a:pt x="60477" y="270510"/>
                </a:lnTo>
                <a:lnTo>
                  <a:pt x="66014" y="275589"/>
                </a:lnTo>
                <a:lnTo>
                  <a:pt x="65773" y="275589"/>
                </a:lnTo>
                <a:lnTo>
                  <a:pt x="71539" y="280670"/>
                </a:lnTo>
                <a:lnTo>
                  <a:pt x="72780" y="280670"/>
                </a:lnTo>
                <a:lnTo>
                  <a:pt x="77266" y="284479"/>
                </a:lnTo>
                <a:lnTo>
                  <a:pt x="77012" y="284479"/>
                </a:lnTo>
                <a:lnTo>
                  <a:pt x="83197" y="288289"/>
                </a:lnTo>
                <a:lnTo>
                  <a:pt x="82931" y="288289"/>
                </a:lnTo>
                <a:lnTo>
                  <a:pt x="89319" y="292100"/>
                </a:lnTo>
                <a:lnTo>
                  <a:pt x="89039" y="292100"/>
                </a:lnTo>
                <a:lnTo>
                  <a:pt x="95618" y="294639"/>
                </a:lnTo>
                <a:lnTo>
                  <a:pt x="95338" y="294639"/>
                </a:lnTo>
                <a:lnTo>
                  <a:pt x="102082" y="298450"/>
                </a:lnTo>
                <a:lnTo>
                  <a:pt x="101790" y="298450"/>
                </a:lnTo>
                <a:lnTo>
                  <a:pt x="108712" y="300989"/>
                </a:lnTo>
                <a:lnTo>
                  <a:pt x="108419" y="300989"/>
                </a:lnTo>
                <a:lnTo>
                  <a:pt x="115493" y="303529"/>
                </a:lnTo>
                <a:lnTo>
                  <a:pt x="118808" y="303529"/>
                </a:lnTo>
                <a:lnTo>
                  <a:pt x="122428" y="304800"/>
                </a:lnTo>
                <a:lnTo>
                  <a:pt x="122110" y="304800"/>
                </a:lnTo>
                <a:lnTo>
                  <a:pt x="129489" y="306070"/>
                </a:lnTo>
                <a:lnTo>
                  <a:pt x="129171" y="306070"/>
                </a:lnTo>
                <a:lnTo>
                  <a:pt x="136677" y="307339"/>
                </a:lnTo>
                <a:lnTo>
                  <a:pt x="136359" y="307339"/>
                </a:lnTo>
                <a:lnTo>
                  <a:pt x="143979" y="308610"/>
                </a:lnTo>
                <a:lnTo>
                  <a:pt x="143662" y="308610"/>
                </a:lnTo>
                <a:lnTo>
                  <a:pt x="151396" y="309879"/>
                </a:lnTo>
                <a:lnTo>
                  <a:pt x="220433" y="309879"/>
                </a:lnTo>
                <a:lnTo>
                  <a:pt x="205828" y="314960"/>
                </a:lnTo>
                <a:lnTo>
                  <a:pt x="198285" y="317500"/>
                </a:lnTo>
                <a:lnTo>
                  <a:pt x="166751" y="322579"/>
                </a:lnTo>
                <a:close/>
              </a:path>
              <a:path w="317500" h="322579">
                <a:moveTo>
                  <a:pt x="240487" y="38100"/>
                </a:moveTo>
                <a:lnTo>
                  <a:pt x="234302" y="33020"/>
                </a:lnTo>
                <a:lnTo>
                  <a:pt x="234569" y="33020"/>
                </a:lnTo>
                <a:lnTo>
                  <a:pt x="228180" y="30479"/>
                </a:lnTo>
                <a:lnTo>
                  <a:pt x="228460" y="30479"/>
                </a:lnTo>
                <a:lnTo>
                  <a:pt x="221881" y="26670"/>
                </a:lnTo>
                <a:lnTo>
                  <a:pt x="222161" y="26670"/>
                </a:lnTo>
                <a:lnTo>
                  <a:pt x="215417" y="24129"/>
                </a:lnTo>
                <a:lnTo>
                  <a:pt x="215709" y="24129"/>
                </a:lnTo>
                <a:lnTo>
                  <a:pt x="208787" y="21589"/>
                </a:lnTo>
                <a:lnTo>
                  <a:pt x="209080" y="21589"/>
                </a:lnTo>
                <a:lnTo>
                  <a:pt x="202006" y="19050"/>
                </a:lnTo>
                <a:lnTo>
                  <a:pt x="202311" y="19050"/>
                </a:lnTo>
                <a:lnTo>
                  <a:pt x="195072" y="16510"/>
                </a:lnTo>
                <a:lnTo>
                  <a:pt x="195389" y="16510"/>
                </a:lnTo>
                <a:lnTo>
                  <a:pt x="188010" y="15239"/>
                </a:lnTo>
                <a:lnTo>
                  <a:pt x="188328" y="15239"/>
                </a:lnTo>
                <a:lnTo>
                  <a:pt x="180822" y="13970"/>
                </a:lnTo>
                <a:lnTo>
                  <a:pt x="181140" y="13970"/>
                </a:lnTo>
                <a:lnTo>
                  <a:pt x="173520" y="12700"/>
                </a:lnTo>
                <a:lnTo>
                  <a:pt x="220725" y="12700"/>
                </a:lnTo>
                <a:lnTo>
                  <a:pt x="253898" y="31750"/>
                </a:lnTo>
                <a:lnTo>
                  <a:pt x="259892" y="36829"/>
                </a:lnTo>
                <a:lnTo>
                  <a:pt x="240233" y="36829"/>
                </a:lnTo>
                <a:lnTo>
                  <a:pt x="240487" y="38100"/>
                </a:lnTo>
                <a:close/>
              </a:path>
              <a:path w="317500" h="322579">
                <a:moveTo>
                  <a:pt x="77012" y="38100"/>
                </a:moveTo>
                <a:lnTo>
                  <a:pt x="77266" y="36829"/>
                </a:lnTo>
                <a:lnTo>
                  <a:pt x="78559" y="36829"/>
                </a:lnTo>
                <a:lnTo>
                  <a:pt x="77012" y="38100"/>
                </a:lnTo>
                <a:close/>
              </a:path>
              <a:path w="317500" h="322579">
                <a:moveTo>
                  <a:pt x="275844" y="72389"/>
                </a:moveTo>
                <a:lnTo>
                  <a:pt x="271322" y="66039"/>
                </a:lnTo>
                <a:lnTo>
                  <a:pt x="271513" y="66039"/>
                </a:lnTo>
                <a:lnTo>
                  <a:pt x="266725" y="60960"/>
                </a:lnTo>
                <a:lnTo>
                  <a:pt x="266928" y="60960"/>
                </a:lnTo>
                <a:lnTo>
                  <a:pt x="261874" y="55879"/>
                </a:lnTo>
                <a:lnTo>
                  <a:pt x="262089" y="55879"/>
                </a:lnTo>
                <a:lnTo>
                  <a:pt x="256794" y="50800"/>
                </a:lnTo>
                <a:lnTo>
                  <a:pt x="257022" y="50800"/>
                </a:lnTo>
                <a:lnTo>
                  <a:pt x="251485" y="45720"/>
                </a:lnTo>
                <a:lnTo>
                  <a:pt x="251726" y="45720"/>
                </a:lnTo>
                <a:lnTo>
                  <a:pt x="245960" y="41910"/>
                </a:lnTo>
                <a:lnTo>
                  <a:pt x="246214" y="41910"/>
                </a:lnTo>
                <a:lnTo>
                  <a:pt x="240233" y="36829"/>
                </a:lnTo>
                <a:lnTo>
                  <a:pt x="259892" y="36829"/>
                </a:lnTo>
                <a:lnTo>
                  <a:pt x="286080" y="64770"/>
                </a:lnTo>
                <a:lnTo>
                  <a:pt x="290499" y="71120"/>
                </a:lnTo>
                <a:lnTo>
                  <a:pt x="275666" y="71120"/>
                </a:lnTo>
                <a:lnTo>
                  <a:pt x="275844" y="72389"/>
                </a:lnTo>
                <a:close/>
              </a:path>
              <a:path w="317500" h="322579">
                <a:moveTo>
                  <a:pt x="41656" y="72389"/>
                </a:moveTo>
                <a:lnTo>
                  <a:pt x="41833" y="71120"/>
                </a:lnTo>
                <a:lnTo>
                  <a:pt x="42560" y="71120"/>
                </a:lnTo>
                <a:lnTo>
                  <a:pt x="41656" y="72389"/>
                </a:lnTo>
                <a:close/>
              </a:path>
              <a:path w="317500" h="322579">
                <a:moveTo>
                  <a:pt x="315821" y="184150"/>
                </a:moveTo>
                <a:lnTo>
                  <a:pt x="303098" y="184150"/>
                </a:lnTo>
                <a:lnTo>
                  <a:pt x="304063" y="176529"/>
                </a:lnTo>
                <a:lnTo>
                  <a:pt x="304622" y="168910"/>
                </a:lnTo>
                <a:lnTo>
                  <a:pt x="304800" y="161289"/>
                </a:lnTo>
                <a:lnTo>
                  <a:pt x="304609" y="152400"/>
                </a:lnTo>
                <a:lnTo>
                  <a:pt x="304025" y="146050"/>
                </a:lnTo>
                <a:lnTo>
                  <a:pt x="303098" y="138429"/>
                </a:lnTo>
                <a:lnTo>
                  <a:pt x="301802" y="130810"/>
                </a:lnTo>
                <a:lnTo>
                  <a:pt x="300164" y="123189"/>
                </a:lnTo>
                <a:lnTo>
                  <a:pt x="298183" y="116839"/>
                </a:lnTo>
                <a:lnTo>
                  <a:pt x="295871" y="109220"/>
                </a:lnTo>
                <a:lnTo>
                  <a:pt x="293255" y="102870"/>
                </a:lnTo>
                <a:lnTo>
                  <a:pt x="290322" y="96520"/>
                </a:lnTo>
                <a:lnTo>
                  <a:pt x="290449" y="96520"/>
                </a:lnTo>
                <a:lnTo>
                  <a:pt x="287083" y="90170"/>
                </a:lnTo>
                <a:lnTo>
                  <a:pt x="287223" y="90170"/>
                </a:lnTo>
                <a:lnTo>
                  <a:pt x="283552" y="83820"/>
                </a:lnTo>
                <a:lnTo>
                  <a:pt x="283718" y="83820"/>
                </a:lnTo>
                <a:lnTo>
                  <a:pt x="279755" y="77470"/>
                </a:lnTo>
                <a:lnTo>
                  <a:pt x="279920" y="77470"/>
                </a:lnTo>
                <a:lnTo>
                  <a:pt x="275666" y="71120"/>
                </a:lnTo>
                <a:lnTo>
                  <a:pt x="290499" y="71120"/>
                </a:lnTo>
                <a:lnTo>
                  <a:pt x="294462" y="77470"/>
                </a:lnTo>
                <a:lnTo>
                  <a:pt x="298284" y="83820"/>
                </a:lnTo>
                <a:lnTo>
                  <a:pt x="301929" y="91439"/>
                </a:lnTo>
                <a:lnTo>
                  <a:pt x="305092" y="97789"/>
                </a:lnTo>
                <a:lnTo>
                  <a:pt x="315696" y="135889"/>
                </a:lnTo>
                <a:lnTo>
                  <a:pt x="317500" y="161289"/>
                </a:lnTo>
                <a:lnTo>
                  <a:pt x="317284" y="168910"/>
                </a:lnTo>
                <a:lnTo>
                  <a:pt x="316699" y="177800"/>
                </a:lnTo>
                <a:lnTo>
                  <a:pt x="315821" y="184150"/>
                </a:lnTo>
                <a:close/>
              </a:path>
              <a:path w="317500" h="322579">
                <a:moveTo>
                  <a:pt x="12877" y="153670"/>
                </a:moveTo>
                <a:lnTo>
                  <a:pt x="12890" y="152400"/>
                </a:lnTo>
                <a:lnTo>
                  <a:pt x="12877" y="153670"/>
                </a:lnTo>
                <a:close/>
              </a:path>
              <a:path w="317500" h="322579">
                <a:moveTo>
                  <a:pt x="304622" y="153670"/>
                </a:moveTo>
                <a:lnTo>
                  <a:pt x="304522" y="152400"/>
                </a:lnTo>
                <a:lnTo>
                  <a:pt x="304622" y="153670"/>
                </a:lnTo>
                <a:close/>
              </a:path>
              <a:path w="317500" h="322579">
                <a:moveTo>
                  <a:pt x="14585" y="184150"/>
                </a:moveTo>
                <a:lnTo>
                  <a:pt x="14401" y="184150"/>
                </a:lnTo>
                <a:lnTo>
                  <a:pt x="14363" y="182879"/>
                </a:lnTo>
                <a:lnTo>
                  <a:pt x="14585" y="184150"/>
                </a:lnTo>
                <a:close/>
              </a:path>
              <a:path w="317500" h="322579">
                <a:moveTo>
                  <a:pt x="311397" y="205739"/>
                </a:moveTo>
                <a:lnTo>
                  <a:pt x="298183" y="205739"/>
                </a:lnTo>
                <a:lnTo>
                  <a:pt x="300240" y="198120"/>
                </a:lnTo>
                <a:lnTo>
                  <a:pt x="301866" y="190500"/>
                </a:lnTo>
                <a:lnTo>
                  <a:pt x="303136" y="182879"/>
                </a:lnTo>
                <a:lnTo>
                  <a:pt x="303098" y="184150"/>
                </a:lnTo>
                <a:lnTo>
                  <a:pt x="315821" y="184150"/>
                </a:lnTo>
                <a:lnTo>
                  <a:pt x="315645" y="185420"/>
                </a:lnTo>
                <a:lnTo>
                  <a:pt x="314248" y="193039"/>
                </a:lnTo>
                <a:lnTo>
                  <a:pt x="312470" y="201929"/>
                </a:lnTo>
                <a:lnTo>
                  <a:pt x="311397" y="205739"/>
                </a:lnTo>
                <a:close/>
              </a:path>
              <a:path w="317500" h="322579">
                <a:moveTo>
                  <a:pt x="19627" y="205739"/>
                </a:moveTo>
                <a:lnTo>
                  <a:pt x="19316" y="205739"/>
                </a:lnTo>
                <a:lnTo>
                  <a:pt x="19227" y="204470"/>
                </a:lnTo>
                <a:lnTo>
                  <a:pt x="19627" y="205739"/>
                </a:lnTo>
                <a:close/>
              </a:path>
              <a:path w="317500" h="322579">
                <a:moveTo>
                  <a:pt x="303961" y="226060"/>
                </a:moveTo>
                <a:lnTo>
                  <a:pt x="290322" y="226060"/>
                </a:lnTo>
                <a:lnTo>
                  <a:pt x="293369" y="218439"/>
                </a:lnTo>
                <a:lnTo>
                  <a:pt x="295986" y="212089"/>
                </a:lnTo>
                <a:lnTo>
                  <a:pt x="298272" y="204470"/>
                </a:lnTo>
                <a:lnTo>
                  <a:pt x="298183" y="205739"/>
                </a:lnTo>
                <a:lnTo>
                  <a:pt x="311397" y="205739"/>
                </a:lnTo>
                <a:lnTo>
                  <a:pt x="310324" y="209550"/>
                </a:lnTo>
                <a:lnTo>
                  <a:pt x="307822" y="215900"/>
                </a:lnTo>
                <a:lnTo>
                  <a:pt x="304977" y="223520"/>
                </a:lnTo>
                <a:lnTo>
                  <a:pt x="303961" y="226060"/>
                </a:lnTo>
                <a:close/>
              </a:path>
              <a:path w="317500" h="322579">
                <a:moveTo>
                  <a:pt x="27611" y="226060"/>
                </a:moveTo>
                <a:lnTo>
                  <a:pt x="27178" y="226060"/>
                </a:lnTo>
                <a:lnTo>
                  <a:pt x="27051" y="224789"/>
                </a:lnTo>
                <a:lnTo>
                  <a:pt x="27611" y="226060"/>
                </a:lnTo>
                <a:close/>
              </a:path>
              <a:path w="317500" h="322579">
                <a:moveTo>
                  <a:pt x="301200" y="232410"/>
                </a:moveTo>
                <a:lnTo>
                  <a:pt x="287083" y="232410"/>
                </a:lnTo>
                <a:lnTo>
                  <a:pt x="290449" y="224789"/>
                </a:lnTo>
                <a:lnTo>
                  <a:pt x="290322" y="226060"/>
                </a:lnTo>
                <a:lnTo>
                  <a:pt x="303961" y="226060"/>
                </a:lnTo>
                <a:lnTo>
                  <a:pt x="301929" y="231139"/>
                </a:lnTo>
                <a:lnTo>
                  <a:pt x="301200" y="232410"/>
                </a:lnTo>
                <a:close/>
              </a:path>
              <a:path w="317500" h="322579">
                <a:moveTo>
                  <a:pt x="30888" y="232410"/>
                </a:moveTo>
                <a:lnTo>
                  <a:pt x="30416" y="232410"/>
                </a:lnTo>
                <a:lnTo>
                  <a:pt x="30276" y="231139"/>
                </a:lnTo>
                <a:lnTo>
                  <a:pt x="30888" y="232410"/>
                </a:lnTo>
                <a:close/>
              </a:path>
              <a:path w="317500" h="322579">
                <a:moveTo>
                  <a:pt x="297647" y="238760"/>
                </a:moveTo>
                <a:lnTo>
                  <a:pt x="283552" y="238760"/>
                </a:lnTo>
                <a:lnTo>
                  <a:pt x="287223" y="231139"/>
                </a:lnTo>
                <a:lnTo>
                  <a:pt x="287083" y="232410"/>
                </a:lnTo>
                <a:lnTo>
                  <a:pt x="301200" y="232410"/>
                </a:lnTo>
                <a:lnTo>
                  <a:pt x="298284" y="237489"/>
                </a:lnTo>
                <a:lnTo>
                  <a:pt x="297647" y="238760"/>
                </a:lnTo>
                <a:close/>
              </a:path>
              <a:path w="317500" h="322579">
                <a:moveTo>
                  <a:pt x="34574" y="238760"/>
                </a:moveTo>
                <a:lnTo>
                  <a:pt x="33947" y="238760"/>
                </a:lnTo>
                <a:lnTo>
                  <a:pt x="33781" y="237489"/>
                </a:lnTo>
                <a:lnTo>
                  <a:pt x="34574" y="238760"/>
                </a:lnTo>
                <a:close/>
              </a:path>
              <a:path w="317500" h="322579">
                <a:moveTo>
                  <a:pt x="283075" y="261620"/>
                </a:moveTo>
                <a:lnTo>
                  <a:pt x="266725" y="261620"/>
                </a:lnTo>
                <a:lnTo>
                  <a:pt x="271513" y="255270"/>
                </a:lnTo>
                <a:lnTo>
                  <a:pt x="271322" y="255270"/>
                </a:lnTo>
                <a:lnTo>
                  <a:pt x="275844" y="250189"/>
                </a:lnTo>
                <a:lnTo>
                  <a:pt x="275666" y="250189"/>
                </a:lnTo>
                <a:lnTo>
                  <a:pt x="279920" y="243839"/>
                </a:lnTo>
                <a:lnTo>
                  <a:pt x="279755" y="243839"/>
                </a:lnTo>
                <a:lnTo>
                  <a:pt x="283718" y="237489"/>
                </a:lnTo>
                <a:lnTo>
                  <a:pt x="283552" y="238760"/>
                </a:lnTo>
                <a:lnTo>
                  <a:pt x="297647" y="238760"/>
                </a:lnTo>
                <a:lnTo>
                  <a:pt x="294462" y="245110"/>
                </a:lnTo>
                <a:lnTo>
                  <a:pt x="290499" y="251460"/>
                </a:lnTo>
                <a:lnTo>
                  <a:pt x="285902" y="257810"/>
                </a:lnTo>
                <a:lnTo>
                  <a:pt x="283075" y="261620"/>
                </a:lnTo>
                <a:close/>
              </a:path>
              <a:path w="317500" h="322579">
                <a:moveTo>
                  <a:pt x="51582" y="261620"/>
                </a:moveTo>
                <a:lnTo>
                  <a:pt x="50774" y="261620"/>
                </a:lnTo>
                <a:lnTo>
                  <a:pt x="50571" y="260350"/>
                </a:lnTo>
                <a:lnTo>
                  <a:pt x="51582" y="261620"/>
                </a:lnTo>
                <a:close/>
              </a:path>
              <a:path w="317500" h="322579">
                <a:moveTo>
                  <a:pt x="278695" y="266700"/>
                </a:moveTo>
                <a:lnTo>
                  <a:pt x="261874" y="266700"/>
                </a:lnTo>
                <a:lnTo>
                  <a:pt x="266928" y="260350"/>
                </a:lnTo>
                <a:lnTo>
                  <a:pt x="266725" y="261620"/>
                </a:lnTo>
                <a:lnTo>
                  <a:pt x="283075" y="261620"/>
                </a:lnTo>
                <a:lnTo>
                  <a:pt x="281190" y="264160"/>
                </a:lnTo>
                <a:lnTo>
                  <a:pt x="278695" y="266700"/>
                </a:lnTo>
                <a:close/>
              </a:path>
              <a:path w="317500" h="322579">
                <a:moveTo>
                  <a:pt x="56734" y="266700"/>
                </a:moveTo>
                <a:lnTo>
                  <a:pt x="55626" y="266700"/>
                </a:lnTo>
                <a:lnTo>
                  <a:pt x="55410" y="265429"/>
                </a:lnTo>
                <a:lnTo>
                  <a:pt x="56734" y="266700"/>
                </a:lnTo>
                <a:close/>
              </a:path>
              <a:path w="317500" h="322579">
                <a:moveTo>
                  <a:pt x="265645" y="280670"/>
                </a:moveTo>
                <a:lnTo>
                  <a:pt x="245960" y="280670"/>
                </a:lnTo>
                <a:lnTo>
                  <a:pt x="251726" y="275589"/>
                </a:lnTo>
                <a:lnTo>
                  <a:pt x="251485" y="275589"/>
                </a:lnTo>
                <a:lnTo>
                  <a:pt x="257022" y="270510"/>
                </a:lnTo>
                <a:lnTo>
                  <a:pt x="256794" y="270510"/>
                </a:lnTo>
                <a:lnTo>
                  <a:pt x="262089" y="265429"/>
                </a:lnTo>
                <a:lnTo>
                  <a:pt x="261874" y="266700"/>
                </a:lnTo>
                <a:lnTo>
                  <a:pt x="278695" y="266700"/>
                </a:lnTo>
                <a:lnTo>
                  <a:pt x="276199" y="269239"/>
                </a:lnTo>
                <a:lnTo>
                  <a:pt x="270929" y="275589"/>
                </a:lnTo>
                <a:lnTo>
                  <a:pt x="265645" y="280670"/>
                </a:lnTo>
                <a:close/>
              </a:path>
              <a:path w="317500" h="322579">
                <a:moveTo>
                  <a:pt x="72780" y="280670"/>
                </a:moveTo>
                <a:lnTo>
                  <a:pt x="71539" y="280670"/>
                </a:lnTo>
                <a:lnTo>
                  <a:pt x="71285" y="279400"/>
                </a:lnTo>
                <a:lnTo>
                  <a:pt x="72780" y="280670"/>
                </a:lnTo>
                <a:close/>
              </a:path>
              <a:path w="317500" h="322579">
                <a:moveTo>
                  <a:pt x="232045" y="303529"/>
                </a:moveTo>
                <a:lnTo>
                  <a:pt x="202006" y="303529"/>
                </a:lnTo>
                <a:lnTo>
                  <a:pt x="209080" y="300989"/>
                </a:lnTo>
                <a:lnTo>
                  <a:pt x="208787" y="300989"/>
                </a:lnTo>
                <a:lnTo>
                  <a:pt x="215709" y="298450"/>
                </a:lnTo>
                <a:lnTo>
                  <a:pt x="215417" y="298450"/>
                </a:lnTo>
                <a:lnTo>
                  <a:pt x="222161" y="294639"/>
                </a:lnTo>
                <a:lnTo>
                  <a:pt x="221881" y="294639"/>
                </a:lnTo>
                <a:lnTo>
                  <a:pt x="228460" y="292100"/>
                </a:lnTo>
                <a:lnTo>
                  <a:pt x="228180" y="292100"/>
                </a:lnTo>
                <a:lnTo>
                  <a:pt x="234569" y="288289"/>
                </a:lnTo>
                <a:lnTo>
                  <a:pt x="234302" y="288289"/>
                </a:lnTo>
                <a:lnTo>
                  <a:pt x="240487" y="284479"/>
                </a:lnTo>
                <a:lnTo>
                  <a:pt x="240233" y="284479"/>
                </a:lnTo>
                <a:lnTo>
                  <a:pt x="246214" y="279400"/>
                </a:lnTo>
                <a:lnTo>
                  <a:pt x="245960" y="280670"/>
                </a:lnTo>
                <a:lnTo>
                  <a:pt x="265645" y="280670"/>
                </a:lnTo>
                <a:lnTo>
                  <a:pt x="253657" y="290829"/>
                </a:lnTo>
                <a:lnTo>
                  <a:pt x="247434" y="294639"/>
                </a:lnTo>
                <a:lnTo>
                  <a:pt x="240982" y="298450"/>
                </a:lnTo>
                <a:lnTo>
                  <a:pt x="234327" y="302260"/>
                </a:lnTo>
                <a:lnTo>
                  <a:pt x="232045" y="303529"/>
                </a:lnTo>
                <a:close/>
              </a:path>
              <a:path w="317500" h="322579">
                <a:moveTo>
                  <a:pt x="118808" y="303529"/>
                </a:moveTo>
                <a:lnTo>
                  <a:pt x="115493" y="303529"/>
                </a:lnTo>
                <a:lnTo>
                  <a:pt x="115189" y="302260"/>
                </a:lnTo>
                <a:lnTo>
                  <a:pt x="118808" y="303529"/>
                </a:lnTo>
                <a:close/>
              </a:path>
              <a:path w="317500" h="322579">
                <a:moveTo>
                  <a:pt x="220433" y="309879"/>
                </a:moveTo>
                <a:lnTo>
                  <a:pt x="166103" y="309879"/>
                </a:lnTo>
                <a:lnTo>
                  <a:pt x="173837" y="308610"/>
                </a:lnTo>
                <a:lnTo>
                  <a:pt x="173520" y="308610"/>
                </a:lnTo>
                <a:lnTo>
                  <a:pt x="181140" y="307339"/>
                </a:lnTo>
                <a:lnTo>
                  <a:pt x="180822" y="307339"/>
                </a:lnTo>
                <a:lnTo>
                  <a:pt x="188328" y="306070"/>
                </a:lnTo>
                <a:lnTo>
                  <a:pt x="188010" y="306070"/>
                </a:lnTo>
                <a:lnTo>
                  <a:pt x="195389" y="304800"/>
                </a:lnTo>
                <a:lnTo>
                  <a:pt x="195072" y="304800"/>
                </a:lnTo>
                <a:lnTo>
                  <a:pt x="202311" y="302260"/>
                </a:lnTo>
                <a:lnTo>
                  <a:pt x="202006" y="303529"/>
                </a:lnTo>
                <a:lnTo>
                  <a:pt x="232045" y="303529"/>
                </a:lnTo>
                <a:lnTo>
                  <a:pt x="227482" y="306070"/>
                </a:lnTo>
                <a:lnTo>
                  <a:pt x="220433" y="309879"/>
                </a:lnTo>
                <a:close/>
              </a:path>
            </a:pathLst>
          </a:custGeom>
          <a:solidFill>
            <a:srgbClr val="99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93127" y="3514712"/>
            <a:ext cx="150634" cy="19825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075997" y="1356360"/>
            <a:ext cx="2427605" cy="37557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186322" y="1440649"/>
            <a:ext cx="904379" cy="2027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075997" y="1666532"/>
            <a:ext cx="2427605" cy="45312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075997" y="1899170"/>
            <a:ext cx="2427605" cy="68574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769225" y="1686534"/>
            <a:ext cx="0" cy="853440"/>
          </a:xfrm>
          <a:custGeom>
            <a:avLst/>
            <a:gdLst/>
            <a:ahLst/>
            <a:cxnLst/>
            <a:rect l="l" t="t" r="r" b="b"/>
            <a:pathLst>
              <a:path h="853439">
                <a:moveTo>
                  <a:pt x="0" y="0"/>
                </a:moveTo>
                <a:lnTo>
                  <a:pt x="0" y="8529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091237" y="1914398"/>
            <a:ext cx="2371725" cy="629920"/>
          </a:xfrm>
          <a:custGeom>
            <a:avLst/>
            <a:gdLst/>
            <a:ahLst/>
            <a:cxnLst/>
            <a:rect l="l" t="t" r="r" b="b"/>
            <a:pathLst>
              <a:path w="2371725" h="629919">
                <a:moveTo>
                  <a:pt x="2371725" y="629881"/>
                </a:moveTo>
                <a:lnTo>
                  <a:pt x="0" y="629881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20356"/>
                </a:lnTo>
                <a:lnTo>
                  <a:pt x="4762" y="620356"/>
                </a:lnTo>
                <a:lnTo>
                  <a:pt x="9525" y="625119"/>
                </a:lnTo>
                <a:lnTo>
                  <a:pt x="2371725" y="625119"/>
                </a:lnTo>
                <a:lnTo>
                  <a:pt x="2371725" y="629881"/>
                </a:lnTo>
                <a:close/>
              </a:path>
              <a:path w="2371725" h="62991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629919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629919">
                <a:moveTo>
                  <a:pt x="2362200" y="625119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620356"/>
                </a:lnTo>
                <a:lnTo>
                  <a:pt x="2366962" y="620356"/>
                </a:lnTo>
                <a:lnTo>
                  <a:pt x="2362200" y="625119"/>
                </a:lnTo>
                <a:close/>
              </a:path>
              <a:path w="2371725" h="629919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629919">
                <a:moveTo>
                  <a:pt x="9525" y="625119"/>
                </a:moveTo>
                <a:lnTo>
                  <a:pt x="4762" y="620356"/>
                </a:lnTo>
                <a:lnTo>
                  <a:pt x="9525" y="620356"/>
                </a:lnTo>
                <a:lnTo>
                  <a:pt x="9525" y="625119"/>
                </a:lnTo>
                <a:close/>
              </a:path>
              <a:path w="2371725" h="629919">
                <a:moveTo>
                  <a:pt x="2362200" y="625119"/>
                </a:moveTo>
                <a:lnTo>
                  <a:pt x="9525" y="625119"/>
                </a:lnTo>
                <a:lnTo>
                  <a:pt x="9525" y="620356"/>
                </a:lnTo>
                <a:lnTo>
                  <a:pt x="2362200" y="620356"/>
                </a:lnTo>
                <a:lnTo>
                  <a:pt x="2362200" y="625119"/>
                </a:lnTo>
                <a:close/>
              </a:path>
              <a:path w="2371725" h="629919">
                <a:moveTo>
                  <a:pt x="2371725" y="625119"/>
                </a:moveTo>
                <a:lnTo>
                  <a:pt x="2362200" y="625119"/>
                </a:lnTo>
                <a:lnTo>
                  <a:pt x="2366962" y="620356"/>
                </a:lnTo>
                <a:lnTo>
                  <a:pt x="2371725" y="620356"/>
                </a:lnTo>
                <a:lnTo>
                  <a:pt x="2371725" y="625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6174740" y="1636013"/>
            <a:ext cx="12934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5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(PK)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4702809" y="2207755"/>
            <a:ext cx="2672080" cy="45768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4801870" y="2252827"/>
            <a:ext cx="2367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UPDATE</a:t>
            </a:r>
            <a:r>
              <a:rPr sz="1800" spc="-9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CustomerID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075997" y="3217405"/>
            <a:ext cx="2427605" cy="37557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185052" y="3301695"/>
            <a:ext cx="582434" cy="2027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075997" y="3527564"/>
            <a:ext cx="2427605" cy="45312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075997" y="3760203"/>
            <a:ext cx="2427605" cy="68574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769225" y="3547579"/>
            <a:ext cx="0" cy="853440"/>
          </a:xfrm>
          <a:custGeom>
            <a:avLst/>
            <a:gdLst/>
            <a:ahLst/>
            <a:cxnLst/>
            <a:rect l="l" t="t" r="r" b="b"/>
            <a:pathLst>
              <a:path h="853439">
                <a:moveTo>
                  <a:pt x="0" y="0"/>
                </a:moveTo>
                <a:lnTo>
                  <a:pt x="0" y="85297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091237" y="3775443"/>
            <a:ext cx="2371725" cy="629920"/>
          </a:xfrm>
          <a:custGeom>
            <a:avLst/>
            <a:gdLst/>
            <a:ahLst/>
            <a:cxnLst/>
            <a:rect l="l" t="t" r="r" b="b"/>
            <a:pathLst>
              <a:path w="2371725" h="629920">
                <a:moveTo>
                  <a:pt x="2371725" y="629869"/>
                </a:moveTo>
                <a:lnTo>
                  <a:pt x="0" y="629869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20344"/>
                </a:lnTo>
                <a:lnTo>
                  <a:pt x="4762" y="620344"/>
                </a:lnTo>
                <a:lnTo>
                  <a:pt x="9525" y="625106"/>
                </a:lnTo>
                <a:lnTo>
                  <a:pt x="2371725" y="625106"/>
                </a:lnTo>
                <a:lnTo>
                  <a:pt x="2371725" y="629869"/>
                </a:lnTo>
                <a:close/>
              </a:path>
              <a:path w="2371725" h="62992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629920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629920">
                <a:moveTo>
                  <a:pt x="2362200" y="625106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620344"/>
                </a:lnTo>
                <a:lnTo>
                  <a:pt x="2366962" y="620344"/>
                </a:lnTo>
                <a:lnTo>
                  <a:pt x="2362200" y="625106"/>
                </a:lnTo>
                <a:close/>
              </a:path>
              <a:path w="2371725" h="629920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629920">
                <a:moveTo>
                  <a:pt x="9525" y="625106"/>
                </a:moveTo>
                <a:lnTo>
                  <a:pt x="4762" y="620344"/>
                </a:lnTo>
                <a:lnTo>
                  <a:pt x="9525" y="620344"/>
                </a:lnTo>
                <a:lnTo>
                  <a:pt x="9525" y="625106"/>
                </a:lnTo>
                <a:close/>
              </a:path>
              <a:path w="2371725" h="629920">
                <a:moveTo>
                  <a:pt x="2362200" y="625106"/>
                </a:moveTo>
                <a:lnTo>
                  <a:pt x="9525" y="625106"/>
                </a:lnTo>
                <a:lnTo>
                  <a:pt x="9525" y="620344"/>
                </a:lnTo>
                <a:lnTo>
                  <a:pt x="2362200" y="620344"/>
                </a:lnTo>
                <a:lnTo>
                  <a:pt x="2362200" y="625106"/>
                </a:lnTo>
                <a:close/>
              </a:path>
              <a:path w="2371725" h="629920">
                <a:moveTo>
                  <a:pt x="2371725" y="625106"/>
                </a:moveTo>
                <a:lnTo>
                  <a:pt x="2362200" y="625106"/>
                </a:lnTo>
                <a:lnTo>
                  <a:pt x="2366962" y="620344"/>
                </a:lnTo>
                <a:lnTo>
                  <a:pt x="2371725" y="620344"/>
                </a:lnTo>
                <a:lnTo>
                  <a:pt x="2371725" y="625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6098540" y="3495433"/>
            <a:ext cx="12839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5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(FK)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7239000" y="2538983"/>
            <a:ext cx="533400" cy="10088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225588" y="2534754"/>
            <a:ext cx="560705" cy="1019175"/>
          </a:xfrm>
          <a:custGeom>
            <a:avLst/>
            <a:gdLst/>
            <a:ahLst/>
            <a:cxnLst/>
            <a:rect l="l" t="t" r="r" b="b"/>
            <a:pathLst>
              <a:path w="560704" h="1019175">
                <a:moveTo>
                  <a:pt x="141998" y="796124"/>
                </a:moveTo>
                <a:lnTo>
                  <a:pt x="141998" y="0"/>
                </a:lnTo>
                <a:lnTo>
                  <a:pt x="418223" y="0"/>
                </a:lnTo>
                <a:lnTo>
                  <a:pt x="418223" y="4762"/>
                </a:lnTo>
                <a:lnTo>
                  <a:pt x="151523" y="4762"/>
                </a:lnTo>
                <a:lnTo>
                  <a:pt x="146761" y="9525"/>
                </a:lnTo>
                <a:lnTo>
                  <a:pt x="151523" y="9525"/>
                </a:lnTo>
                <a:lnTo>
                  <a:pt x="151523" y="791362"/>
                </a:lnTo>
                <a:lnTo>
                  <a:pt x="146761" y="791362"/>
                </a:lnTo>
                <a:lnTo>
                  <a:pt x="141998" y="796124"/>
                </a:lnTo>
                <a:close/>
              </a:path>
              <a:path w="560704" h="1019175">
                <a:moveTo>
                  <a:pt x="151523" y="9525"/>
                </a:moveTo>
                <a:lnTo>
                  <a:pt x="146761" y="9525"/>
                </a:lnTo>
                <a:lnTo>
                  <a:pt x="151523" y="4762"/>
                </a:lnTo>
                <a:lnTo>
                  <a:pt x="151523" y="9525"/>
                </a:lnTo>
                <a:close/>
              </a:path>
              <a:path w="560704" h="1019175">
                <a:moveTo>
                  <a:pt x="408698" y="9525"/>
                </a:moveTo>
                <a:lnTo>
                  <a:pt x="151523" y="9525"/>
                </a:lnTo>
                <a:lnTo>
                  <a:pt x="151523" y="4762"/>
                </a:lnTo>
                <a:lnTo>
                  <a:pt x="408698" y="4762"/>
                </a:lnTo>
                <a:lnTo>
                  <a:pt x="408698" y="9525"/>
                </a:lnTo>
                <a:close/>
              </a:path>
              <a:path w="560704" h="1019175">
                <a:moveTo>
                  <a:pt x="533403" y="800887"/>
                </a:moveTo>
                <a:lnTo>
                  <a:pt x="408698" y="800887"/>
                </a:lnTo>
                <a:lnTo>
                  <a:pt x="408698" y="4762"/>
                </a:lnTo>
                <a:lnTo>
                  <a:pt x="413461" y="9525"/>
                </a:lnTo>
                <a:lnTo>
                  <a:pt x="418223" y="9525"/>
                </a:lnTo>
                <a:lnTo>
                  <a:pt x="418223" y="791362"/>
                </a:lnTo>
                <a:lnTo>
                  <a:pt x="413461" y="791362"/>
                </a:lnTo>
                <a:lnTo>
                  <a:pt x="418223" y="796124"/>
                </a:lnTo>
                <a:lnTo>
                  <a:pt x="539265" y="796124"/>
                </a:lnTo>
                <a:lnTo>
                  <a:pt x="533403" y="800887"/>
                </a:lnTo>
                <a:close/>
              </a:path>
              <a:path w="560704" h="1019175">
                <a:moveTo>
                  <a:pt x="418223" y="9525"/>
                </a:moveTo>
                <a:lnTo>
                  <a:pt x="413461" y="9525"/>
                </a:lnTo>
                <a:lnTo>
                  <a:pt x="408698" y="4762"/>
                </a:lnTo>
                <a:lnTo>
                  <a:pt x="418223" y="4762"/>
                </a:lnTo>
                <a:lnTo>
                  <a:pt x="418223" y="9525"/>
                </a:lnTo>
                <a:close/>
              </a:path>
              <a:path w="560704" h="1019175">
                <a:moveTo>
                  <a:pt x="280111" y="1018959"/>
                </a:moveTo>
                <a:lnTo>
                  <a:pt x="0" y="791362"/>
                </a:lnTo>
                <a:lnTo>
                  <a:pt x="141998" y="791362"/>
                </a:lnTo>
                <a:lnTo>
                  <a:pt x="141998" y="792429"/>
                </a:lnTo>
                <a:lnTo>
                  <a:pt x="16408" y="792429"/>
                </a:lnTo>
                <a:lnTo>
                  <a:pt x="13411" y="800887"/>
                </a:lnTo>
                <a:lnTo>
                  <a:pt x="26818" y="800887"/>
                </a:lnTo>
                <a:lnTo>
                  <a:pt x="280111" y="1006681"/>
                </a:lnTo>
                <a:lnTo>
                  <a:pt x="277114" y="1009116"/>
                </a:lnTo>
                <a:lnTo>
                  <a:pt x="292224" y="1009116"/>
                </a:lnTo>
                <a:lnTo>
                  <a:pt x="280111" y="1018959"/>
                </a:lnTo>
                <a:close/>
              </a:path>
              <a:path w="560704" h="1019175">
                <a:moveTo>
                  <a:pt x="151523" y="796124"/>
                </a:moveTo>
                <a:lnTo>
                  <a:pt x="141998" y="796124"/>
                </a:lnTo>
                <a:lnTo>
                  <a:pt x="146761" y="791362"/>
                </a:lnTo>
                <a:lnTo>
                  <a:pt x="151523" y="791362"/>
                </a:lnTo>
                <a:lnTo>
                  <a:pt x="151523" y="796124"/>
                </a:lnTo>
                <a:close/>
              </a:path>
              <a:path w="560704" h="1019175">
                <a:moveTo>
                  <a:pt x="418223" y="796124"/>
                </a:moveTo>
                <a:lnTo>
                  <a:pt x="413461" y="791362"/>
                </a:lnTo>
                <a:lnTo>
                  <a:pt x="418223" y="791362"/>
                </a:lnTo>
                <a:lnTo>
                  <a:pt x="418223" y="796124"/>
                </a:lnTo>
                <a:close/>
              </a:path>
              <a:path w="560704" h="1019175">
                <a:moveTo>
                  <a:pt x="539265" y="796124"/>
                </a:moveTo>
                <a:lnTo>
                  <a:pt x="418223" y="796124"/>
                </a:lnTo>
                <a:lnTo>
                  <a:pt x="418223" y="791362"/>
                </a:lnTo>
                <a:lnTo>
                  <a:pt x="560222" y="791362"/>
                </a:lnTo>
                <a:lnTo>
                  <a:pt x="558909" y="792429"/>
                </a:lnTo>
                <a:lnTo>
                  <a:pt x="543814" y="792429"/>
                </a:lnTo>
                <a:lnTo>
                  <a:pt x="539265" y="796124"/>
                </a:lnTo>
                <a:close/>
              </a:path>
              <a:path w="560704" h="1019175">
                <a:moveTo>
                  <a:pt x="26818" y="800887"/>
                </a:moveTo>
                <a:lnTo>
                  <a:pt x="13411" y="800887"/>
                </a:lnTo>
                <a:lnTo>
                  <a:pt x="16408" y="792429"/>
                </a:lnTo>
                <a:lnTo>
                  <a:pt x="26818" y="800887"/>
                </a:lnTo>
                <a:close/>
              </a:path>
              <a:path w="560704" h="1019175">
                <a:moveTo>
                  <a:pt x="151523" y="800887"/>
                </a:moveTo>
                <a:lnTo>
                  <a:pt x="26818" y="800887"/>
                </a:lnTo>
                <a:lnTo>
                  <a:pt x="16408" y="792429"/>
                </a:lnTo>
                <a:lnTo>
                  <a:pt x="141998" y="792429"/>
                </a:lnTo>
                <a:lnTo>
                  <a:pt x="141998" y="796124"/>
                </a:lnTo>
                <a:lnTo>
                  <a:pt x="151523" y="796124"/>
                </a:lnTo>
                <a:lnTo>
                  <a:pt x="151523" y="800887"/>
                </a:lnTo>
                <a:close/>
              </a:path>
              <a:path w="560704" h="1019175">
                <a:moveTo>
                  <a:pt x="292224" y="1009116"/>
                </a:moveTo>
                <a:lnTo>
                  <a:pt x="283108" y="1009116"/>
                </a:lnTo>
                <a:lnTo>
                  <a:pt x="280111" y="1006681"/>
                </a:lnTo>
                <a:lnTo>
                  <a:pt x="543814" y="792429"/>
                </a:lnTo>
                <a:lnTo>
                  <a:pt x="546811" y="800887"/>
                </a:lnTo>
                <a:lnTo>
                  <a:pt x="548499" y="800887"/>
                </a:lnTo>
                <a:lnTo>
                  <a:pt x="292224" y="1009116"/>
                </a:lnTo>
                <a:close/>
              </a:path>
              <a:path w="560704" h="1019175">
                <a:moveTo>
                  <a:pt x="548499" y="800887"/>
                </a:moveTo>
                <a:lnTo>
                  <a:pt x="546811" y="800887"/>
                </a:lnTo>
                <a:lnTo>
                  <a:pt x="543814" y="792429"/>
                </a:lnTo>
                <a:lnTo>
                  <a:pt x="558909" y="792429"/>
                </a:lnTo>
                <a:lnTo>
                  <a:pt x="548499" y="800887"/>
                </a:lnTo>
                <a:close/>
              </a:path>
              <a:path w="560704" h="1019175">
                <a:moveTo>
                  <a:pt x="283108" y="1009116"/>
                </a:moveTo>
                <a:lnTo>
                  <a:pt x="277114" y="1009116"/>
                </a:lnTo>
                <a:lnTo>
                  <a:pt x="280111" y="1006681"/>
                </a:lnTo>
                <a:lnTo>
                  <a:pt x="283108" y="10091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572000" y="1996706"/>
            <a:ext cx="304800" cy="3101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565650" y="1990356"/>
            <a:ext cx="317500" cy="322580"/>
          </a:xfrm>
          <a:custGeom>
            <a:avLst/>
            <a:gdLst/>
            <a:ahLst/>
            <a:cxnLst/>
            <a:rect l="l" t="t" r="r" b="b"/>
            <a:pathLst>
              <a:path w="317500" h="322580">
                <a:moveTo>
                  <a:pt x="166750" y="322580"/>
                </a:moveTo>
                <a:lnTo>
                  <a:pt x="150418" y="322580"/>
                </a:lnTo>
                <a:lnTo>
                  <a:pt x="126580" y="318769"/>
                </a:lnTo>
                <a:lnTo>
                  <a:pt x="89738" y="306069"/>
                </a:lnTo>
                <a:lnTo>
                  <a:pt x="63601" y="289560"/>
                </a:lnTo>
                <a:lnTo>
                  <a:pt x="57607" y="285750"/>
                </a:lnTo>
                <a:lnTo>
                  <a:pt x="51854" y="280669"/>
                </a:lnTo>
                <a:lnTo>
                  <a:pt x="46354" y="274319"/>
                </a:lnTo>
                <a:lnTo>
                  <a:pt x="41109" y="269239"/>
                </a:lnTo>
                <a:lnTo>
                  <a:pt x="36118" y="262889"/>
                </a:lnTo>
                <a:lnTo>
                  <a:pt x="31597" y="257810"/>
                </a:lnTo>
                <a:lnTo>
                  <a:pt x="27000" y="251460"/>
                </a:lnTo>
                <a:lnTo>
                  <a:pt x="22885" y="243839"/>
                </a:lnTo>
                <a:lnTo>
                  <a:pt x="19075" y="237489"/>
                </a:lnTo>
                <a:lnTo>
                  <a:pt x="15570" y="231139"/>
                </a:lnTo>
                <a:lnTo>
                  <a:pt x="3187" y="193039"/>
                </a:lnTo>
                <a:lnTo>
                  <a:pt x="0" y="161289"/>
                </a:lnTo>
                <a:lnTo>
                  <a:pt x="203" y="152400"/>
                </a:lnTo>
                <a:lnTo>
                  <a:pt x="7175" y="113030"/>
                </a:lnTo>
                <a:lnTo>
                  <a:pt x="23037" y="77469"/>
                </a:lnTo>
                <a:lnTo>
                  <a:pt x="27000" y="71119"/>
                </a:lnTo>
                <a:lnTo>
                  <a:pt x="31597" y="63500"/>
                </a:lnTo>
                <a:lnTo>
                  <a:pt x="36309" y="58419"/>
                </a:lnTo>
                <a:lnTo>
                  <a:pt x="41313" y="52069"/>
                </a:lnTo>
                <a:lnTo>
                  <a:pt x="46570" y="46989"/>
                </a:lnTo>
                <a:lnTo>
                  <a:pt x="52082" y="40639"/>
                </a:lnTo>
                <a:lnTo>
                  <a:pt x="57848" y="35560"/>
                </a:lnTo>
                <a:lnTo>
                  <a:pt x="63842" y="31750"/>
                </a:lnTo>
                <a:lnTo>
                  <a:pt x="70065" y="26669"/>
                </a:lnTo>
                <a:lnTo>
                  <a:pt x="111366" y="6350"/>
                </a:lnTo>
                <a:lnTo>
                  <a:pt x="118897" y="5080"/>
                </a:lnTo>
                <a:lnTo>
                  <a:pt x="126898" y="2539"/>
                </a:lnTo>
                <a:lnTo>
                  <a:pt x="142354" y="0"/>
                </a:lnTo>
                <a:lnTo>
                  <a:pt x="175145" y="0"/>
                </a:lnTo>
                <a:lnTo>
                  <a:pt x="190601" y="2539"/>
                </a:lnTo>
                <a:lnTo>
                  <a:pt x="198602" y="5080"/>
                </a:lnTo>
                <a:lnTo>
                  <a:pt x="206133" y="6350"/>
                </a:lnTo>
                <a:lnTo>
                  <a:pt x="213512" y="8889"/>
                </a:lnTo>
                <a:lnTo>
                  <a:pt x="220725" y="12700"/>
                </a:lnTo>
                <a:lnTo>
                  <a:pt x="143979" y="12700"/>
                </a:lnTo>
                <a:lnTo>
                  <a:pt x="136359" y="13969"/>
                </a:lnTo>
                <a:lnTo>
                  <a:pt x="136677" y="13969"/>
                </a:lnTo>
                <a:lnTo>
                  <a:pt x="129171" y="15239"/>
                </a:lnTo>
                <a:lnTo>
                  <a:pt x="129489" y="15239"/>
                </a:lnTo>
                <a:lnTo>
                  <a:pt x="122110" y="16510"/>
                </a:lnTo>
                <a:lnTo>
                  <a:pt x="122427" y="16510"/>
                </a:lnTo>
                <a:lnTo>
                  <a:pt x="115188" y="19050"/>
                </a:lnTo>
                <a:lnTo>
                  <a:pt x="115493" y="19050"/>
                </a:lnTo>
                <a:lnTo>
                  <a:pt x="108419" y="21589"/>
                </a:lnTo>
                <a:lnTo>
                  <a:pt x="108712" y="21589"/>
                </a:lnTo>
                <a:lnTo>
                  <a:pt x="101790" y="24130"/>
                </a:lnTo>
                <a:lnTo>
                  <a:pt x="102082" y="24130"/>
                </a:lnTo>
                <a:lnTo>
                  <a:pt x="95326" y="26669"/>
                </a:lnTo>
                <a:lnTo>
                  <a:pt x="95618" y="26669"/>
                </a:lnTo>
                <a:lnTo>
                  <a:pt x="89039" y="30480"/>
                </a:lnTo>
                <a:lnTo>
                  <a:pt x="89319" y="30480"/>
                </a:lnTo>
                <a:lnTo>
                  <a:pt x="82930" y="33019"/>
                </a:lnTo>
                <a:lnTo>
                  <a:pt x="83197" y="33019"/>
                </a:lnTo>
                <a:lnTo>
                  <a:pt x="78559" y="36830"/>
                </a:lnTo>
                <a:lnTo>
                  <a:pt x="77266" y="36830"/>
                </a:lnTo>
                <a:lnTo>
                  <a:pt x="71285" y="41910"/>
                </a:lnTo>
                <a:lnTo>
                  <a:pt x="71526" y="41910"/>
                </a:lnTo>
                <a:lnTo>
                  <a:pt x="65773" y="45719"/>
                </a:lnTo>
                <a:lnTo>
                  <a:pt x="66014" y="45719"/>
                </a:lnTo>
                <a:lnTo>
                  <a:pt x="60477" y="50800"/>
                </a:lnTo>
                <a:lnTo>
                  <a:pt x="60705" y="50800"/>
                </a:lnTo>
                <a:lnTo>
                  <a:pt x="55410" y="55880"/>
                </a:lnTo>
                <a:lnTo>
                  <a:pt x="55625" y="55880"/>
                </a:lnTo>
                <a:lnTo>
                  <a:pt x="50571" y="60960"/>
                </a:lnTo>
                <a:lnTo>
                  <a:pt x="50774" y="60960"/>
                </a:lnTo>
                <a:lnTo>
                  <a:pt x="45986" y="66039"/>
                </a:lnTo>
                <a:lnTo>
                  <a:pt x="46177" y="66039"/>
                </a:lnTo>
                <a:lnTo>
                  <a:pt x="42560" y="71119"/>
                </a:lnTo>
                <a:lnTo>
                  <a:pt x="41833" y="71119"/>
                </a:lnTo>
                <a:lnTo>
                  <a:pt x="37579" y="77469"/>
                </a:lnTo>
                <a:lnTo>
                  <a:pt x="37744" y="77469"/>
                </a:lnTo>
                <a:lnTo>
                  <a:pt x="33782" y="83819"/>
                </a:lnTo>
                <a:lnTo>
                  <a:pt x="33947" y="83819"/>
                </a:lnTo>
                <a:lnTo>
                  <a:pt x="30276" y="90169"/>
                </a:lnTo>
                <a:lnTo>
                  <a:pt x="30416" y="90169"/>
                </a:lnTo>
                <a:lnTo>
                  <a:pt x="27050" y="96519"/>
                </a:lnTo>
                <a:lnTo>
                  <a:pt x="24129" y="102869"/>
                </a:lnTo>
                <a:lnTo>
                  <a:pt x="21513" y="109219"/>
                </a:lnTo>
                <a:lnTo>
                  <a:pt x="19227" y="116839"/>
                </a:lnTo>
                <a:lnTo>
                  <a:pt x="17259" y="123189"/>
                </a:lnTo>
                <a:lnTo>
                  <a:pt x="15633" y="130810"/>
                </a:lnTo>
                <a:lnTo>
                  <a:pt x="14363" y="138430"/>
                </a:lnTo>
                <a:lnTo>
                  <a:pt x="13436" y="146050"/>
                </a:lnTo>
                <a:lnTo>
                  <a:pt x="12977" y="152400"/>
                </a:lnTo>
                <a:lnTo>
                  <a:pt x="12727" y="160019"/>
                </a:lnTo>
                <a:lnTo>
                  <a:pt x="12890" y="168910"/>
                </a:lnTo>
                <a:lnTo>
                  <a:pt x="13474" y="176530"/>
                </a:lnTo>
                <a:lnTo>
                  <a:pt x="14401" y="184150"/>
                </a:lnTo>
                <a:lnTo>
                  <a:pt x="14585" y="184150"/>
                </a:lnTo>
                <a:lnTo>
                  <a:pt x="15697" y="190500"/>
                </a:lnTo>
                <a:lnTo>
                  <a:pt x="17335" y="198119"/>
                </a:lnTo>
                <a:lnTo>
                  <a:pt x="19316" y="205739"/>
                </a:lnTo>
                <a:lnTo>
                  <a:pt x="19627" y="205739"/>
                </a:lnTo>
                <a:lnTo>
                  <a:pt x="21628" y="212089"/>
                </a:lnTo>
                <a:lnTo>
                  <a:pt x="24244" y="218439"/>
                </a:lnTo>
                <a:lnTo>
                  <a:pt x="27177" y="226060"/>
                </a:lnTo>
                <a:lnTo>
                  <a:pt x="27611" y="226060"/>
                </a:lnTo>
                <a:lnTo>
                  <a:pt x="30416" y="232410"/>
                </a:lnTo>
                <a:lnTo>
                  <a:pt x="31010" y="232410"/>
                </a:lnTo>
                <a:lnTo>
                  <a:pt x="33947" y="237489"/>
                </a:lnTo>
                <a:lnTo>
                  <a:pt x="33782" y="237489"/>
                </a:lnTo>
                <a:lnTo>
                  <a:pt x="37744" y="243839"/>
                </a:lnTo>
                <a:lnTo>
                  <a:pt x="37579" y="243839"/>
                </a:lnTo>
                <a:lnTo>
                  <a:pt x="41833" y="250189"/>
                </a:lnTo>
                <a:lnTo>
                  <a:pt x="41655" y="250189"/>
                </a:lnTo>
                <a:lnTo>
                  <a:pt x="46177" y="255269"/>
                </a:lnTo>
                <a:lnTo>
                  <a:pt x="45986" y="255269"/>
                </a:lnTo>
                <a:lnTo>
                  <a:pt x="50774" y="260350"/>
                </a:lnTo>
                <a:lnTo>
                  <a:pt x="50571" y="260350"/>
                </a:lnTo>
                <a:lnTo>
                  <a:pt x="55625" y="266700"/>
                </a:lnTo>
                <a:lnTo>
                  <a:pt x="56734" y="266700"/>
                </a:lnTo>
                <a:lnTo>
                  <a:pt x="60705" y="270510"/>
                </a:lnTo>
                <a:lnTo>
                  <a:pt x="60477" y="270510"/>
                </a:lnTo>
                <a:lnTo>
                  <a:pt x="66014" y="275589"/>
                </a:lnTo>
                <a:lnTo>
                  <a:pt x="65773" y="275589"/>
                </a:lnTo>
                <a:lnTo>
                  <a:pt x="71526" y="280669"/>
                </a:lnTo>
                <a:lnTo>
                  <a:pt x="72780" y="280669"/>
                </a:lnTo>
                <a:lnTo>
                  <a:pt x="77266" y="284480"/>
                </a:lnTo>
                <a:lnTo>
                  <a:pt x="77012" y="284480"/>
                </a:lnTo>
                <a:lnTo>
                  <a:pt x="83197" y="288289"/>
                </a:lnTo>
                <a:lnTo>
                  <a:pt x="82930" y="288289"/>
                </a:lnTo>
                <a:lnTo>
                  <a:pt x="89319" y="292100"/>
                </a:lnTo>
                <a:lnTo>
                  <a:pt x="89039" y="292100"/>
                </a:lnTo>
                <a:lnTo>
                  <a:pt x="95618" y="294639"/>
                </a:lnTo>
                <a:lnTo>
                  <a:pt x="95326" y="294639"/>
                </a:lnTo>
                <a:lnTo>
                  <a:pt x="102082" y="298450"/>
                </a:lnTo>
                <a:lnTo>
                  <a:pt x="101790" y="298450"/>
                </a:lnTo>
                <a:lnTo>
                  <a:pt x="108712" y="300989"/>
                </a:lnTo>
                <a:lnTo>
                  <a:pt x="108419" y="300989"/>
                </a:lnTo>
                <a:lnTo>
                  <a:pt x="115493" y="303530"/>
                </a:lnTo>
                <a:lnTo>
                  <a:pt x="118808" y="303530"/>
                </a:lnTo>
                <a:lnTo>
                  <a:pt x="122427" y="304800"/>
                </a:lnTo>
                <a:lnTo>
                  <a:pt x="122110" y="304800"/>
                </a:lnTo>
                <a:lnTo>
                  <a:pt x="129489" y="306069"/>
                </a:lnTo>
                <a:lnTo>
                  <a:pt x="129171" y="306069"/>
                </a:lnTo>
                <a:lnTo>
                  <a:pt x="136677" y="307339"/>
                </a:lnTo>
                <a:lnTo>
                  <a:pt x="136359" y="307339"/>
                </a:lnTo>
                <a:lnTo>
                  <a:pt x="143979" y="308610"/>
                </a:lnTo>
                <a:lnTo>
                  <a:pt x="143662" y="308610"/>
                </a:lnTo>
                <a:lnTo>
                  <a:pt x="151396" y="309880"/>
                </a:lnTo>
                <a:lnTo>
                  <a:pt x="220433" y="309880"/>
                </a:lnTo>
                <a:lnTo>
                  <a:pt x="205828" y="314960"/>
                </a:lnTo>
                <a:lnTo>
                  <a:pt x="198285" y="317500"/>
                </a:lnTo>
                <a:lnTo>
                  <a:pt x="166750" y="322580"/>
                </a:lnTo>
                <a:close/>
              </a:path>
              <a:path w="317500" h="322580">
                <a:moveTo>
                  <a:pt x="240487" y="38100"/>
                </a:moveTo>
                <a:lnTo>
                  <a:pt x="234302" y="33019"/>
                </a:lnTo>
                <a:lnTo>
                  <a:pt x="234569" y="33019"/>
                </a:lnTo>
                <a:lnTo>
                  <a:pt x="228180" y="30480"/>
                </a:lnTo>
                <a:lnTo>
                  <a:pt x="228460" y="30480"/>
                </a:lnTo>
                <a:lnTo>
                  <a:pt x="221881" y="26669"/>
                </a:lnTo>
                <a:lnTo>
                  <a:pt x="222173" y="26669"/>
                </a:lnTo>
                <a:lnTo>
                  <a:pt x="215417" y="24130"/>
                </a:lnTo>
                <a:lnTo>
                  <a:pt x="215709" y="24130"/>
                </a:lnTo>
                <a:lnTo>
                  <a:pt x="208787" y="21589"/>
                </a:lnTo>
                <a:lnTo>
                  <a:pt x="209080" y="21589"/>
                </a:lnTo>
                <a:lnTo>
                  <a:pt x="202006" y="19050"/>
                </a:lnTo>
                <a:lnTo>
                  <a:pt x="202311" y="19050"/>
                </a:lnTo>
                <a:lnTo>
                  <a:pt x="195072" y="16510"/>
                </a:lnTo>
                <a:lnTo>
                  <a:pt x="195389" y="16510"/>
                </a:lnTo>
                <a:lnTo>
                  <a:pt x="188010" y="15239"/>
                </a:lnTo>
                <a:lnTo>
                  <a:pt x="188328" y="15239"/>
                </a:lnTo>
                <a:lnTo>
                  <a:pt x="180822" y="13969"/>
                </a:lnTo>
                <a:lnTo>
                  <a:pt x="181140" y="13969"/>
                </a:lnTo>
                <a:lnTo>
                  <a:pt x="173520" y="12700"/>
                </a:lnTo>
                <a:lnTo>
                  <a:pt x="220725" y="12700"/>
                </a:lnTo>
                <a:lnTo>
                  <a:pt x="253898" y="31750"/>
                </a:lnTo>
                <a:lnTo>
                  <a:pt x="259892" y="36830"/>
                </a:lnTo>
                <a:lnTo>
                  <a:pt x="240233" y="36830"/>
                </a:lnTo>
                <a:lnTo>
                  <a:pt x="240487" y="38100"/>
                </a:lnTo>
                <a:close/>
              </a:path>
              <a:path w="317500" h="322580">
                <a:moveTo>
                  <a:pt x="77012" y="38100"/>
                </a:moveTo>
                <a:lnTo>
                  <a:pt x="77266" y="36830"/>
                </a:lnTo>
                <a:lnTo>
                  <a:pt x="78559" y="36830"/>
                </a:lnTo>
                <a:lnTo>
                  <a:pt x="77012" y="38100"/>
                </a:lnTo>
                <a:close/>
              </a:path>
              <a:path w="317500" h="322580">
                <a:moveTo>
                  <a:pt x="275844" y="72389"/>
                </a:moveTo>
                <a:lnTo>
                  <a:pt x="271322" y="66039"/>
                </a:lnTo>
                <a:lnTo>
                  <a:pt x="271513" y="66039"/>
                </a:lnTo>
                <a:lnTo>
                  <a:pt x="266725" y="60960"/>
                </a:lnTo>
                <a:lnTo>
                  <a:pt x="266928" y="60960"/>
                </a:lnTo>
                <a:lnTo>
                  <a:pt x="261874" y="55880"/>
                </a:lnTo>
                <a:lnTo>
                  <a:pt x="262089" y="55880"/>
                </a:lnTo>
                <a:lnTo>
                  <a:pt x="256794" y="50800"/>
                </a:lnTo>
                <a:lnTo>
                  <a:pt x="257022" y="50800"/>
                </a:lnTo>
                <a:lnTo>
                  <a:pt x="251485" y="45719"/>
                </a:lnTo>
                <a:lnTo>
                  <a:pt x="251726" y="45719"/>
                </a:lnTo>
                <a:lnTo>
                  <a:pt x="245973" y="41910"/>
                </a:lnTo>
                <a:lnTo>
                  <a:pt x="246214" y="41910"/>
                </a:lnTo>
                <a:lnTo>
                  <a:pt x="240233" y="36830"/>
                </a:lnTo>
                <a:lnTo>
                  <a:pt x="259892" y="36830"/>
                </a:lnTo>
                <a:lnTo>
                  <a:pt x="286080" y="64769"/>
                </a:lnTo>
                <a:lnTo>
                  <a:pt x="290499" y="71119"/>
                </a:lnTo>
                <a:lnTo>
                  <a:pt x="275666" y="71119"/>
                </a:lnTo>
                <a:lnTo>
                  <a:pt x="275844" y="72389"/>
                </a:lnTo>
                <a:close/>
              </a:path>
              <a:path w="317500" h="322580">
                <a:moveTo>
                  <a:pt x="41655" y="72389"/>
                </a:moveTo>
                <a:lnTo>
                  <a:pt x="41833" y="71119"/>
                </a:lnTo>
                <a:lnTo>
                  <a:pt x="42560" y="71119"/>
                </a:lnTo>
                <a:lnTo>
                  <a:pt x="41655" y="72389"/>
                </a:lnTo>
                <a:close/>
              </a:path>
              <a:path w="317500" h="322580">
                <a:moveTo>
                  <a:pt x="317469" y="161289"/>
                </a:moveTo>
                <a:lnTo>
                  <a:pt x="304800" y="161289"/>
                </a:lnTo>
                <a:lnTo>
                  <a:pt x="304800" y="160019"/>
                </a:lnTo>
                <a:lnTo>
                  <a:pt x="304609" y="152400"/>
                </a:lnTo>
                <a:lnTo>
                  <a:pt x="304025" y="146050"/>
                </a:lnTo>
                <a:lnTo>
                  <a:pt x="303098" y="138430"/>
                </a:lnTo>
                <a:lnTo>
                  <a:pt x="301802" y="130810"/>
                </a:lnTo>
                <a:lnTo>
                  <a:pt x="300164" y="123189"/>
                </a:lnTo>
                <a:lnTo>
                  <a:pt x="298183" y="116839"/>
                </a:lnTo>
                <a:lnTo>
                  <a:pt x="295871" y="109219"/>
                </a:lnTo>
                <a:lnTo>
                  <a:pt x="293255" y="102869"/>
                </a:lnTo>
                <a:lnTo>
                  <a:pt x="290322" y="96519"/>
                </a:lnTo>
                <a:lnTo>
                  <a:pt x="287083" y="90169"/>
                </a:lnTo>
                <a:lnTo>
                  <a:pt x="287223" y="90169"/>
                </a:lnTo>
                <a:lnTo>
                  <a:pt x="283552" y="83819"/>
                </a:lnTo>
                <a:lnTo>
                  <a:pt x="283717" y="83819"/>
                </a:lnTo>
                <a:lnTo>
                  <a:pt x="279755" y="77469"/>
                </a:lnTo>
                <a:lnTo>
                  <a:pt x="279920" y="77469"/>
                </a:lnTo>
                <a:lnTo>
                  <a:pt x="275666" y="71119"/>
                </a:lnTo>
                <a:lnTo>
                  <a:pt x="290499" y="71119"/>
                </a:lnTo>
                <a:lnTo>
                  <a:pt x="298424" y="83819"/>
                </a:lnTo>
                <a:lnTo>
                  <a:pt x="301929" y="91439"/>
                </a:lnTo>
                <a:lnTo>
                  <a:pt x="304977" y="97789"/>
                </a:lnTo>
                <a:lnTo>
                  <a:pt x="315696" y="135889"/>
                </a:lnTo>
                <a:lnTo>
                  <a:pt x="317500" y="160019"/>
                </a:lnTo>
                <a:lnTo>
                  <a:pt x="317469" y="161289"/>
                </a:lnTo>
                <a:close/>
              </a:path>
              <a:path w="317500" h="322580">
                <a:moveTo>
                  <a:pt x="12877" y="153669"/>
                </a:moveTo>
                <a:lnTo>
                  <a:pt x="12890" y="152400"/>
                </a:lnTo>
                <a:lnTo>
                  <a:pt x="12877" y="153669"/>
                </a:lnTo>
                <a:close/>
              </a:path>
              <a:path w="317500" h="322580">
                <a:moveTo>
                  <a:pt x="304622" y="153669"/>
                </a:moveTo>
                <a:lnTo>
                  <a:pt x="304522" y="152400"/>
                </a:lnTo>
                <a:lnTo>
                  <a:pt x="304622" y="153669"/>
                </a:lnTo>
                <a:close/>
              </a:path>
              <a:path w="317500" h="322580">
                <a:moveTo>
                  <a:pt x="12713" y="160655"/>
                </a:moveTo>
                <a:lnTo>
                  <a:pt x="12700" y="160019"/>
                </a:lnTo>
                <a:lnTo>
                  <a:pt x="12713" y="160655"/>
                </a:lnTo>
                <a:close/>
              </a:path>
              <a:path w="317500" h="322580">
                <a:moveTo>
                  <a:pt x="304786" y="160655"/>
                </a:moveTo>
                <a:lnTo>
                  <a:pt x="304772" y="160019"/>
                </a:lnTo>
                <a:lnTo>
                  <a:pt x="304786" y="160655"/>
                </a:lnTo>
                <a:close/>
              </a:path>
              <a:path w="317500" h="322580">
                <a:moveTo>
                  <a:pt x="12727" y="161289"/>
                </a:moveTo>
                <a:lnTo>
                  <a:pt x="12713" y="160655"/>
                </a:lnTo>
                <a:lnTo>
                  <a:pt x="12727" y="161289"/>
                </a:lnTo>
                <a:close/>
              </a:path>
              <a:path w="317500" h="322580">
                <a:moveTo>
                  <a:pt x="316699" y="176530"/>
                </a:moveTo>
                <a:lnTo>
                  <a:pt x="304025" y="176530"/>
                </a:lnTo>
                <a:lnTo>
                  <a:pt x="304622" y="168910"/>
                </a:lnTo>
                <a:lnTo>
                  <a:pt x="304786" y="160655"/>
                </a:lnTo>
                <a:lnTo>
                  <a:pt x="304800" y="161289"/>
                </a:lnTo>
                <a:lnTo>
                  <a:pt x="317469" y="161289"/>
                </a:lnTo>
                <a:lnTo>
                  <a:pt x="317284" y="168910"/>
                </a:lnTo>
                <a:lnTo>
                  <a:pt x="316699" y="176530"/>
                </a:lnTo>
                <a:close/>
              </a:path>
              <a:path w="317500" h="322580">
                <a:moveTo>
                  <a:pt x="13574" y="176530"/>
                </a:moveTo>
                <a:lnTo>
                  <a:pt x="13436" y="175260"/>
                </a:lnTo>
                <a:lnTo>
                  <a:pt x="13574" y="176530"/>
                </a:lnTo>
                <a:close/>
              </a:path>
              <a:path w="317500" h="322580">
                <a:moveTo>
                  <a:pt x="315796" y="184150"/>
                </a:moveTo>
                <a:lnTo>
                  <a:pt x="303098" y="184150"/>
                </a:lnTo>
                <a:lnTo>
                  <a:pt x="304063" y="175260"/>
                </a:lnTo>
                <a:lnTo>
                  <a:pt x="304025" y="176530"/>
                </a:lnTo>
                <a:lnTo>
                  <a:pt x="316699" y="176530"/>
                </a:lnTo>
                <a:lnTo>
                  <a:pt x="315796" y="184150"/>
                </a:lnTo>
                <a:close/>
              </a:path>
              <a:path w="317500" h="322580">
                <a:moveTo>
                  <a:pt x="14585" y="184150"/>
                </a:moveTo>
                <a:lnTo>
                  <a:pt x="14401" y="184150"/>
                </a:lnTo>
                <a:lnTo>
                  <a:pt x="14363" y="182880"/>
                </a:lnTo>
                <a:lnTo>
                  <a:pt x="14585" y="184150"/>
                </a:lnTo>
                <a:close/>
              </a:path>
              <a:path w="317500" h="322580">
                <a:moveTo>
                  <a:pt x="311244" y="205739"/>
                </a:moveTo>
                <a:lnTo>
                  <a:pt x="298183" y="205739"/>
                </a:lnTo>
                <a:lnTo>
                  <a:pt x="300240" y="198119"/>
                </a:lnTo>
                <a:lnTo>
                  <a:pt x="301866" y="190500"/>
                </a:lnTo>
                <a:lnTo>
                  <a:pt x="303136" y="182880"/>
                </a:lnTo>
                <a:lnTo>
                  <a:pt x="303098" y="184150"/>
                </a:lnTo>
                <a:lnTo>
                  <a:pt x="315796" y="184150"/>
                </a:lnTo>
                <a:lnTo>
                  <a:pt x="315645" y="185419"/>
                </a:lnTo>
                <a:lnTo>
                  <a:pt x="314248" y="193039"/>
                </a:lnTo>
                <a:lnTo>
                  <a:pt x="312470" y="200660"/>
                </a:lnTo>
                <a:lnTo>
                  <a:pt x="311244" y="205739"/>
                </a:lnTo>
                <a:close/>
              </a:path>
              <a:path w="317500" h="322580">
                <a:moveTo>
                  <a:pt x="19627" y="205739"/>
                </a:moveTo>
                <a:lnTo>
                  <a:pt x="19316" y="205739"/>
                </a:lnTo>
                <a:lnTo>
                  <a:pt x="19227" y="204469"/>
                </a:lnTo>
                <a:lnTo>
                  <a:pt x="19627" y="205739"/>
                </a:lnTo>
                <a:close/>
              </a:path>
              <a:path w="317500" h="322580">
                <a:moveTo>
                  <a:pt x="303961" y="226060"/>
                </a:moveTo>
                <a:lnTo>
                  <a:pt x="290322" y="226060"/>
                </a:lnTo>
                <a:lnTo>
                  <a:pt x="293370" y="218439"/>
                </a:lnTo>
                <a:lnTo>
                  <a:pt x="295986" y="212089"/>
                </a:lnTo>
                <a:lnTo>
                  <a:pt x="298272" y="204469"/>
                </a:lnTo>
                <a:lnTo>
                  <a:pt x="298183" y="205739"/>
                </a:lnTo>
                <a:lnTo>
                  <a:pt x="311244" y="205739"/>
                </a:lnTo>
                <a:lnTo>
                  <a:pt x="310324" y="209550"/>
                </a:lnTo>
                <a:lnTo>
                  <a:pt x="307822" y="215900"/>
                </a:lnTo>
                <a:lnTo>
                  <a:pt x="304977" y="223519"/>
                </a:lnTo>
                <a:lnTo>
                  <a:pt x="303961" y="226060"/>
                </a:lnTo>
                <a:close/>
              </a:path>
              <a:path w="317500" h="322580">
                <a:moveTo>
                  <a:pt x="27611" y="226060"/>
                </a:moveTo>
                <a:lnTo>
                  <a:pt x="27177" y="226060"/>
                </a:lnTo>
                <a:lnTo>
                  <a:pt x="27050" y="224789"/>
                </a:lnTo>
                <a:lnTo>
                  <a:pt x="27611" y="226060"/>
                </a:lnTo>
                <a:close/>
              </a:path>
              <a:path w="317500" h="322580">
                <a:moveTo>
                  <a:pt x="301200" y="232410"/>
                </a:moveTo>
                <a:lnTo>
                  <a:pt x="287083" y="232410"/>
                </a:lnTo>
                <a:lnTo>
                  <a:pt x="290449" y="224789"/>
                </a:lnTo>
                <a:lnTo>
                  <a:pt x="290322" y="226060"/>
                </a:lnTo>
                <a:lnTo>
                  <a:pt x="303961" y="226060"/>
                </a:lnTo>
                <a:lnTo>
                  <a:pt x="301929" y="231139"/>
                </a:lnTo>
                <a:lnTo>
                  <a:pt x="301200" y="232410"/>
                </a:lnTo>
                <a:close/>
              </a:path>
              <a:path w="317500" h="322580">
                <a:moveTo>
                  <a:pt x="31010" y="232410"/>
                </a:moveTo>
                <a:lnTo>
                  <a:pt x="30416" y="232410"/>
                </a:lnTo>
                <a:lnTo>
                  <a:pt x="30276" y="231139"/>
                </a:lnTo>
                <a:lnTo>
                  <a:pt x="31010" y="232410"/>
                </a:lnTo>
                <a:close/>
              </a:path>
              <a:path w="317500" h="322580">
                <a:moveTo>
                  <a:pt x="278790" y="266700"/>
                </a:moveTo>
                <a:lnTo>
                  <a:pt x="261874" y="266700"/>
                </a:lnTo>
                <a:lnTo>
                  <a:pt x="266928" y="260350"/>
                </a:lnTo>
                <a:lnTo>
                  <a:pt x="266725" y="260350"/>
                </a:lnTo>
                <a:lnTo>
                  <a:pt x="271513" y="255269"/>
                </a:lnTo>
                <a:lnTo>
                  <a:pt x="271322" y="255269"/>
                </a:lnTo>
                <a:lnTo>
                  <a:pt x="275844" y="250189"/>
                </a:lnTo>
                <a:lnTo>
                  <a:pt x="275666" y="250189"/>
                </a:lnTo>
                <a:lnTo>
                  <a:pt x="279920" y="243839"/>
                </a:lnTo>
                <a:lnTo>
                  <a:pt x="279755" y="243839"/>
                </a:lnTo>
                <a:lnTo>
                  <a:pt x="283717" y="237489"/>
                </a:lnTo>
                <a:lnTo>
                  <a:pt x="283552" y="237489"/>
                </a:lnTo>
                <a:lnTo>
                  <a:pt x="287223" y="231139"/>
                </a:lnTo>
                <a:lnTo>
                  <a:pt x="287083" y="232410"/>
                </a:lnTo>
                <a:lnTo>
                  <a:pt x="301200" y="232410"/>
                </a:lnTo>
                <a:lnTo>
                  <a:pt x="298284" y="237489"/>
                </a:lnTo>
                <a:lnTo>
                  <a:pt x="294462" y="245110"/>
                </a:lnTo>
                <a:lnTo>
                  <a:pt x="290499" y="251460"/>
                </a:lnTo>
                <a:lnTo>
                  <a:pt x="285902" y="257810"/>
                </a:lnTo>
                <a:lnTo>
                  <a:pt x="281190" y="264160"/>
                </a:lnTo>
                <a:lnTo>
                  <a:pt x="278790" y="266700"/>
                </a:lnTo>
                <a:close/>
              </a:path>
              <a:path w="317500" h="322580">
                <a:moveTo>
                  <a:pt x="56734" y="266700"/>
                </a:moveTo>
                <a:lnTo>
                  <a:pt x="55625" y="266700"/>
                </a:lnTo>
                <a:lnTo>
                  <a:pt x="55410" y="265430"/>
                </a:lnTo>
                <a:lnTo>
                  <a:pt x="56734" y="266700"/>
                </a:lnTo>
                <a:close/>
              </a:path>
              <a:path w="317500" h="322580">
                <a:moveTo>
                  <a:pt x="265645" y="280669"/>
                </a:moveTo>
                <a:lnTo>
                  <a:pt x="245973" y="280669"/>
                </a:lnTo>
                <a:lnTo>
                  <a:pt x="251726" y="275589"/>
                </a:lnTo>
                <a:lnTo>
                  <a:pt x="251485" y="275589"/>
                </a:lnTo>
                <a:lnTo>
                  <a:pt x="257022" y="270510"/>
                </a:lnTo>
                <a:lnTo>
                  <a:pt x="256794" y="270510"/>
                </a:lnTo>
                <a:lnTo>
                  <a:pt x="262089" y="265430"/>
                </a:lnTo>
                <a:lnTo>
                  <a:pt x="261874" y="266700"/>
                </a:lnTo>
                <a:lnTo>
                  <a:pt x="278790" y="266700"/>
                </a:lnTo>
                <a:lnTo>
                  <a:pt x="276390" y="269239"/>
                </a:lnTo>
                <a:lnTo>
                  <a:pt x="270929" y="275589"/>
                </a:lnTo>
                <a:lnTo>
                  <a:pt x="265645" y="280669"/>
                </a:lnTo>
                <a:close/>
              </a:path>
              <a:path w="317500" h="322580">
                <a:moveTo>
                  <a:pt x="72780" y="280669"/>
                </a:moveTo>
                <a:lnTo>
                  <a:pt x="71526" y="280669"/>
                </a:lnTo>
                <a:lnTo>
                  <a:pt x="71285" y="279400"/>
                </a:lnTo>
                <a:lnTo>
                  <a:pt x="72780" y="280669"/>
                </a:lnTo>
                <a:close/>
              </a:path>
              <a:path w="317500" h="322580">
                <a:moveTo>
                  <a:pt x="232041" y="303530"/>
                </a:moveTo>
                <a:lnTo>
                  <a:pt x="202006" y="303530"/>
                </a:lnTo>
                <a:lnTo>
                  <a:pt x="209080" y="300989"/>
                </a:lnTo>
                <a:lnTo>
                  <a:pt x="208787" y="300989"/>
                </a:lnTo>
                <a:lnTo>
                  <a:pt x="215709" y="298450"/>
                </a:lnTo>
                <a:lnTo>
                  <a:pt x="215417" y="298450"/>
                </a:lnTo>
                <a:lnTo>
                  <a:pt x="222173" y="294639"/>
                </a:lnTo>
                <a:lnTo>
                  <a:pt x="221881" y="294639"/>
                </a:lnTo>
                <a:lnTo>
                  <a:pt x="228460" y="292100"/>
                </a:lnTo>
                <a:lnTo>
                  <a:pt x="228180" y="292100"/>
                </a:lnTo>
                <a:lnTo>
                  <a:pt x="234569" y="288289"/>
                </a:lnTo>
                <a:lnTo>
                  <a:pt x="234302" y="288289"/>
                </a:lnTo>
                <a:lnTo>
                  <a:pt x="240487" y="284480"/>
                </a:lnTo>
                <a:lnTo>
                  <a:pt x="240233" y="284480"/>
                </a:lnTo>
                <a:lnTo>
                  <a:pt x="246214" y="279400"/>
                </a:lnTo>
                <a:lnTo>
                  <a:pt x="245973" y="280669"/>
                </a:lnTo>
                <a:lnTo>
                  <a:pt x="265645" y="280669"/>
                </a:lnTo>
                <a:lnTo>
                  <a:pt x="234327" y="302260"/>
                </a:lnTo>
                <a:lnTo>
                  <a:pt x="232041" y="303530"/>
                </a:lnTo>
                <a:close/>
              </a:path>
              <a:path w="317500" h="322580">
                <a:moveTo>
                  <a:pt x="118808" y="303530"/>
                </a:moveTo>
                <a:lnTo>
                  <a:pt x="115493" y="303530"/>
                </a:lnTo>
                <a:lnTo>
                  <a:pt x="115188" y="302260"/>
                </a:lnTo>
                <a:lnTo>
                  <a:pt x="118808" y="303530"/>
                </a:lnTo>
                <a:close/>
              </a:path>
              <a:path w="317500" h="322580">
                <a:moveTo>
                  <a:pt x="220433" y="309880"/>
                </a:moveTo>
                <a:lnTo>
                  <a:pt x="166103" y="309880"/>
                </a:lnTo>
                <a:lnTo>
                  <a:pt x="173837" y="308610"/>
                </a:lnTo>
                <a:lnTo>
                  <a:pt x="173520" y="308610"/>
                </a:lnTo>
                <a:lnTo>
                  <a:pt x="181140" y="307339"/>
                </a:lnTo>
                <a:lnTo>
                  <a:pt x="180822" y="307339"/>
                </a:lnTo>
                <a:lnTo>
                  <a:pt x="188328" y="306069"/>
                </a:lnTo>
                <a:lnTo>
                  <a:pt x="188010" y="306069"/>
                </a:lnTo>
                <a:lnTo>
                  <a:pt x="195389" y="304800"/>
                </a:lnTo>
                <a:lnTo>
                  <a:pt x="195072" y="304800"/>
                </a:lnTo>
                <a:lnTo>
                  <a:pt x="202311" y="302260"/>
                </a:lnTo>
                <a:lnTo>
                  <a:pt x="202006" y="303530"/>
                </a:lnTo>
                <a:lnTo>
                  <a:pt x="232041" y="303530"/>
                </a:lnTo>
                <a:lnTo>
                  <a:pt x="227469" y="306069"/>
                </a:lnTo>
                <a:lnTo>
                  <a:pt x="220433" y="309880"/>
                </a:lnTo>
                <a:close/>
              </a:path>
            </a:pathLst>
          </a:custGeom>
          <a:solidFill>
            <a:srgbClr val="99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666322" y="2059432"/>
            <a:ext cx="116344" cy="19825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315200" y="2849879"/>
            <a:ext cx="381000" cy="233679"/>
          </a:xfrm>
          <a:custGeom>
            <a:avLst/>
            <a:gdLst/>
            <a:ahLst/>
            <a:cxnLst/>
            <a:rect l="l" t="t" r="r" b="b"/>
            <a:pathLst>
              <a:path w="381000" h="233680">
                <a:moveTo>
                  <a:pt x="0" y="0"/>
                </a:moveTo>
                <a:lnTo>
                  <a:pt x="381000" y="0"/>
                </a:lnTo>
                <a:lnTo>
                  <a:pt x="381000" y="233172"/>
                </a:lnTo>
                <a:lnTo>
                  <a:pt x="0" y="233172"/>
                </a:lnTo>
                <a:lnTo>
                  <a:pt x="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7010400" y="2796908"/>
            <a:ext cx="989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CASCADE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808797" y="4780597"/>
            <a:ext cx="2427605" cy="37576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1919122" y="4864887"/>
            <a:ext cx="904379" cy="2027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1808797" y="5090960"/>
            <a:ext cx="2427605" cy="4533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1808797" y="5323738"/>
            <a:ext cx="2427605" cy="6861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502025" y="5110962"/>
            <a:ext cx="0" cy="854075"/>
          </a:xfrm>
          <a:custGeom>
            <a:avLst/>
            <a:gdLst/>
            <a:ahLst/>
            <a:cxnLst/>
            <a:rect l="l" t="t" r="r" b="b"/>
            <a:pathLst>
              <a:path h="854075">
                <a:moveTo>
                  <a:pt x="0" y="0"/>
                </a:moveTo>
                <a:lnTo>
                  <a:pt x="0" y="8535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1824037" y="5338978"/>
            <a:ext cx="2371725" cy="630555"/>
          </a:xfrm>
          <a:custGeom>
            <a:avLst/>
            <a:gdLst/>
            <a:ahLst/>
            <a:cxnLst/>
            <a:rect l="l" t="t" r="r" b="b"/>
            <a:pathLst>
              <a:path w="2371725" h="630554">
                <a:moveTo>
                  <a:pt x="2371725" y="630250"/>
                </a:moveTo>
                <a:lnTo>
                  <a:pt x="0" y="630250"/>
                </a:lnTo>
                <a:lnTo>
                  <a:pt x="0" y="0"/>
                </a:lnTo>
                <a:lnTo>
                  <a:pt x="2371725" y="0"/>
                </a:lnTo>
                <a:lnTo>
                  <a:pt x="237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20725"/>
                </a:lnTo>
                <a:lnTo>
                  <a:pt x="4762" y="620725"/>
                </a:lnTo>
                <a:lnTo>
                  <a:pt x="9525" y="625487"/>
                </a:lnTo>
                <a:lnTo>
                  <a:pt x="2371725" y="625487"/>
                </a:lnTo>
                <a:lnTo>
                  <a:pt x="2371725" y="630250"/>
                </a:lnTo>
                <a:close/>
              </a:path>
              <a:path w="2371725" h="63055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630554">
                <a:moveTo>
                  <a:pt x="236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62200" y="4762"/>
                </a:lnTo>
                <a:lnTo>
                  <a:pt x="2362200" y="9525"/>
                </a:lnTo>
                <a:close/>
              </a:path>
              <a:path w="2371725" h="630554">
                <a:moveTo>
                  <a:pt x="2362200" y="625487"/>
                </a:moveTo>
                <a:lnTo>
                  <a:pt x="2362200" y="4762"/>
                </a:lnTo>
                <a:lnTo>
                  <a:pt x="2366962" y="9525"/>
                </a:lnTo>
                <a:lnTo>
                  <a:pt x="2371725" y="9525"/>
                </a:lnTo>
                <a:lnTo>
                  <a:pt x="2371725" y="620725"/>
                </a:lnTo>
                <a:lnTo>
                  <a:pt x="2366962" y="620725"/>
                </a:lnTo>
                <a:lnTo>
                  <a:pt x="2362200" y="625487"/>
                </a:lnTo>
                <a:close/>
              </a:path>
              <a:path w="2371725" h="630554">
                <a:moveTo>
                  <a:pt x="2371725" y="9525"/>
                </a:moveTo>
                <a:lnTo>
                  <a:pt x="2366962" y="9525"/>
                </a:lnTo>
                <a:lnTo>
                  <a:pt x="2362200" y="4762"/>
                </a:lnTo>
                <a:lnTo>
                  <a:pt x="2371725" y="4762"/>
                </a:lnTo>
                <a:lnTo>
                  <a:pt x="2371725" y="9525"/>
                </a:lnTo>
                <a:close/>
              </a:path>
              <a:path w="2371725" h="630554">
                <a:moveTo>
                  <a:pt x="9525" y="625487"/>
                </a:moveTo>
                <a:lnTo>
                  <a:pt x="4762" y="620725"/>
                </a:lnTo>
                <a:lnTo>
                  <a:pt x="9525" y="620725"/>
                </a:lnTo>
                <a:lnTo>
                  <a:pt x="9525" y="625487"/>
                </a:lnTo>
                <a:close/>
              </a:path>
              <a:path w="2371725" h="630554">
                <a:moveTo>
                  <a:pt x="2362200" y="625487"/>
                </a:moveTo>
                <a:lnTo>
                  <a:pt x="9525" y="625487"/>
                </a:lnTo>
                <a:lnTo>
                  <a:pt x="9525" y="620725"/>
                </a:lnTo>
                <a:lnTo>
                  <a:pt x="2362200" y="620725"/>
                </a:lnTo>
                <a:lnTo>
                  <a:pt x="2362200" y="625487"/>
                </a:lnTo>
                <a:close/>
              </a:path>
              <a:path w="2371725" h="630554">
                <a:moveTo>
                  <a:pt x="2371725" y="625487"/>
                </a:moveTo>
                <a:lnTo>
                  <a:pt x="2362200" y="625487"/>
                </a:lnTo>
                <a:lnTo>
                  <a:pt x="2366962" y="620725"/>
                </a:lnTo>
                <a:lnTo>
                  <a:pt x="2371725" y="620725"/>
                </a:lnTo>
                <a:lnTo>
                  <a:pt x="2371725" y="6254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740409" y="5632513"/>
            <a:ext cx="2672079" cy="73272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763269" y="3769576"/>
            <a:ext cx="2437765" cy="248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29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UPDATE old  CustomerID to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new  CustomerID</a:t>
            </a:r>
            <a:endParaRPr sz="18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Lucida Sans Typewriter"/>
              <a:cs typeface="Lucida Sans Typewriter"/>
            </a:endParaRPr>
          </a:p>
          <a:p>
            <a:pPr marL="1156970">
              <a:lnSpc>
                <a:spcPct val="100000"/>
              </a:lnSpc>
              <a:spcBef>
                <a:spcPts val="5"/>
              </a:spcBef>
            </a:pPr>
            <a:r>
              <a:rPr sz="1600" i="1" spc="-5" dirty="0">
                <a:latin typeface="Arial Narrow"/>
                <a:cs typeface="Arial Narrow"/>
              </a:rPr>
              <a:t>CustomerID</a:t>
            </a:r>
            <a:r>
              <a:rPr sz="1600" i="1" spc="-5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(PK)</a:t>
            </a:r>
            <a:endParaRPr sz="16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Arial Narrow"/>
              <a:cs typeface="Arial Narrow"/>
            </a:endParaRPr>
          </a:p>
          <a:p>
            <a:pPr marL="88265" marR="962660">
              <a:lnSpc>
                <a:spcPct val="100000"/>
              </a:lnSpc>
            </a:pPr>
            <a:r>
              <a:rPr sz="1800" dirty="0">
                <a:latin typeface="Lucida Sans Typewriter"/>
                <a:cs typeface="Lucida Sans Typewriter"/>
              </a:rPr>
              <a:t>DELETE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old  CustomerID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609600" y="5421338"/>
            <a:ext cx="304800" cy="31036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03250" y="5414988"/>
            <a:ext cx="317500" cy="322580"/>
          </a:xfrm>
          <a:custGeom>
            <a:avLst/>
            <a:gdLst/>
            <a:ahLst/>
            <a:cxnLst/>
            <a:rect l="l" t="t" r="r" b="b"/>
            <a:pathLst>
              <a:path w="317500" h="322579">
                <a:moveTo>
                  <a:pt x="166751" y="322579"/>
                </a:moveTo>
                <a:lnTo>
                  <a:pt x="150748" y="322579"/>
                </a:lnTo>
                <a:lnTo>
                  <a:pt x="126580" y="318770"/>
                </a:lnTo>
                <a:lnTo>
                  <a:pt x="89738" y="306070"/>
                </a:lnTo>
                <a:lnTo>
                  <a:pt x="57835" y="285750"/>
                </a:lnTo>
                <a:lnTo>
                  <a:pt x="51854" y="280670"/>
                </a:lnTo>
                <a:lnTo>
                  <a:pt x="46558" y="275589"/>
                </a:lnTo>
                <a:lnTo>
                  <a:pt x="41300" y="269239"/>
                </a:lnTo>
                <a:lnTo>
                  <a:pt x="36118" y="262889"/>
                </a:lnTo>
                <a:lnTo>
                  <a:pt x="31419" y="257810"/>
                </a:lnTo>
                <a:lnTo>
                  <a:pt x="27000" y="251460"/>
                </a:lnTo>
                <a:lnTo>
                  <a:pt x="22885" y="245110"/>
                </a:lnTo>
                <a:lnTo>
                  <a:pt x="19075" y="237489"/>
                </a:lnTo>
                <a:lnTo>
                  <a:pt x="15570" y="231139"/>
                </a:lnTo>
                <a:lnTo>
                  <a:pt x="3187" y="193039"/>
                </a:lnTo>
                <a:lnTo>
                  <a:pt x="0" y="161289"/>
                </a:lnTo>
                <a:lnTo>
                  <a:pt x="203" y="152400"/>
                </a:lnTo>
                <a:lnTo>
                  <a:pt x="7175" y="113029"/>
                </a:lnTo>
                <a:lnTo>
                  <a:pt x="23037" y="77470"/>
                </a:lnTo>
                <a:lnTo>
                  <a:pt x="27165" y="69850"/>
                </a:lnTo>
                <a:lnTo>
                  <a:pt x="31597" y="64770"/>
                </a:lnTo>
                <a:lnTo>
                  <a:pt x="36309" y="58420"/>
                </a:lnTo>
                <a:lnTo>
                  <a:pt x="41300" y="52070"/>
                </a:lnTo>
                <a:lnTo>
                  <a:pt x="51854" y="41910"/>
                </a:lnTo>
                <a:lnTo>
                  <a:pt x="57835" y="35560"/>
                </a:lnTo>
                <a:lnTo>
                  <a:pt x="63842" y="31750"/>
                </a:lnTo>
                <a:lnTo>
                  <a:pt x="97066" y="11429"/>
                </a:lnTo>
                <a:lnTo>
                  <a:pt x="142671" y="0"/>
                </a:lnTo>
                <a:lnTo>
                  <a:pt x="174828" y="0"/>
                </a:lnTo>
                <a:lnTo>
                  <a:pt x="190919" y="2539"/>
                </a:lnTo>
                <a:lnTo>
                  <a:pt x="198285" y="3810"/>
                </a:lnTo>
                <a:lnTo>
                  <a:pt x="213512" y="8889"/>
                </a:lnTo>
                <a:lnTo>
                  <a:pt x="218321" y="11429"/>
                </a:lnTo>
                <a:lnTo>
                  <a:pt x="158584" y="11429"/>
                </a:lnTo>
                <a:lnTo>
                  <a:pt x="158750" y="11456"/>
                </a:lnTo>
                <a:lnTo>
                  <a:pt x="151066" y="12700"/>
                </a:lnTo>
                <a:lnTo>
                  <a:pt x="143979" y="12700"/>
                </a:lnTo>
                <a:lnTo>
                  <a:pt x="136359" y="13970"/>
                </a:lnTo>
                <a:lnTo>
                  <a:pt x="136677" y="13970"/>
                </a:lnTo>
                <a:lnTo>
                  <a:pt x="129171" y="15239"/>
                </a:lnTo>
                <a:lnTo>
                  <a:pt x="129489" y="15239"/>
                </a:lnTo>
                <a:lnTo>
                  <a:pt x="122110" y="16510"/>
                </a:lnTo>
                <a:lnTo>
                  <a:pt x="122428" y="16510"/>
                </a:lnTo>
                <a:lnTo>
                  <a:pt x="115189" y="19050"/>
                </a:lnTo>
                <a:lnTo>
                  <a:pt x="115493" y="19050"/>
                </a:lnTo>
                <a:lnTo>
                  <a:pt x="108419" y="21589"/>
                </a:lnTo>
                <a:lnTo>
                  <a:pt x="108712" y="21589"/>
                </a:lnTo>
                <a:lnTo>
                  <a:pt x="101790" y="24129"/>
                </a:lnTo>
                <a:lnTo>
                  <a:pt x="102082" y="24129"/>
                </a:lnTo>
                <a:lnTo>
                  <a:pt x="95338" y="26670"/>
                </a:lnTo>
                <a:lnTo>
                  <a:pt x="95618" y="26670"/>
                </a:lnTo>
                <a:lnTo>
                  <a:pt x="89039" y="30479"/>
                </a:lnTo>
                <a:lnTo>
                  <a:pt x="89319" y="30479"/>
                </a:lnTo>
                <a:lnTo>
                  <a:pt x="82931" y="33020"/>
                </a:lnTo>
                <a:lnTo>
                  <a:pt x="83197" y="33020"/>
                </a:lnTo>
                <a:lnTo>
                  <a:pt x="78559" y="36829"/>
                </a:lnTo>
                <a:lnTo>
                  <a:pt x="77266" y="36829"/>
                </a:lnTo>
                <a:lnTo>
                  <a:pt x="71285" y="41910"/>
                </a:lnTo>
                <a:lnTo>
                  <a:pt x="71539" y="41910"/>
                </a:lnTo>
                <a:lnTo>
                  <a:pt x="65773" y="45720"/>
                </a:lnTo>
                <a:lnTo>
                  <a:pt x="66014" y="45720"/>
                </a:lnTo>
                <a:lnTo>
                  <a:pt x="60477" y="50800"/>
                </a:lnTo>
                <a:lnTo>
                  <a:pt x="60706" y="50800"/>
                </a:lnTo>
                <a:lnTo>
                  <a:pt x="55410" y="55879"/>
                </a:lnTo>
                <a:lnTo>
                  <a:pt x="55626" y="55879"/>
                </a:lnTo>
                <a:lnTo>
                  <a:pt x="50571" y="60960"/>
                </a:lnTo>
                <a:lnTo>
                  <a:pt x="50774" y="60960"/>
                </a:lnTo>
                <a:lnTo>
                  <a:pt x="45986" y="66039"/>
                </a:lnTo>
                <a:lnTo>
                  <a:pt x="46177" y="66039"/>
                </a:lnTo>
                <a:lnTo>
                  <a:pt x="42560" y="71120"/>
                </a:lnTo>
                <a:lnTo>
                  <a:pt x="41833" y="71120"/>
                </a:lnTo>
                <a:lnTo>
                  <a:pt x="37579" y="77470"/>
                </a:lnTo>
                <a:lnTo>
                  <a:pt x="37757" y="77470"/>
                </a:lnTo>
                <a:lnTo>
                  <a:pt x="33781" y="83820"/>
                </a:lnTo>
                <a:lnTo>
                  <a:pt x="33947" y="83820"/>
                </a:lnTo>
                <a:lnTo>
                  <a:pt x="30276" y="90170"/>
                </a:lnTo>
                <a:lnTo>
                  <a:pt x="30416" y="90170"/>
                </a:lnTo>
                <a:lnTo>
                  <a:pt x="27051" y="96520"/>
                </a:lnTo>
                <a:lnTo>
                  <a:pt x="24129" y="102870"/>
                </a:lnTo>
                <a:lnTo>
                  <a:pt x="21513" y="109220"/>
                </a:lnTo>
                <a:lnTo>
                  <a:pt x="19227" y="116839"/>
                </a:lnTo>
                <a:lnTo>
                  <a:pt x="17259" y="123189"/>
                </a:lnTo>
                <a:lnTo>
                  <a:pt x="15633" y="130810"/>
                </a:lnTo>
                <a:lnTo>
                  <a:pt x="14363" y="138429"/>
                </a:lnTo>
                <a:lnTo>
                  <a:pt x="13436" y="146050"/>
                </a:lnTo>
                <a:lnTo>
                  <a:pt x="12890" y="153670"/>
                </a:lnTo>
                <a:lnTo>
                  <a:pt x="12700" y="161289"/>
                </a:lnTo>
                <a:lnTo>
                  <a:pt x="12890" y="168910"/>
                </a:lnTo>
                <a:lnTo>
                  <a:pt x="13474" y="176529"/>
                </a:lnTo>
                <a:lnTo>
                  <a:pt x="14401" y="184150"/>
                </a:lnTo>
                <a:lnTo>
                  <a:pt x="14585" y="184150"/>
                </a:lnTo>
                <a:lnTo>
                  <a:pt x="15697" y="190500"/>
                </a:lnTo>
                <a:lnTo>
                  <a:pt x="17335" y="198120"/>
                </a:lnTo>
                <a:lnTo>
                  <a:pt x="19316" y="205739"/>
                </a:lnTo>
                <a:lnTo>
                  <a:pt x="19627" y="205739"/>
                </a:lnTo>
                <a:lnTo>
                  <a:pt x="21628" y="212089"/>
                </a:lnTo>
                <a:lnTo>
                  <a:pt x="24244" y="218439"/>
                </a:lnTo>
                <a:lnTo>
                  <a:pt x="27178" y="226060"/>
                </a:lnTo>
                <a:lnTo>
                  <a:pt x="27611" y="226060"/>
                </a:lnTo>
                <a:lnTo>
                  <a:pt x="30416" y="232410"/>
                </a:lnTo>
                <a:lnTo>
                  <a:pt x="30888" y="232410"/>
                </a:lnTo>
                <a:lnTo>
                  <a:pt x="33947" y="238760"/>
                </a:lnTo>
                <a:lnTo>
                  <a:pt x="34577" y="238760"/>
                </a:lnTo>
                <a:lnTo>
                  <a:pt x="37757" y="243839"/>
                </a:lnTo>
                <a:lnTo>
                  <a:pt x="37579" y="243839"/>
                </a:lnTo>
                <a:lnTo>
                  <a:pt x="41833" y="250189"/>
                </a:lnTo>
                <a:lnTo>
                  <a:pt x="41656" y="250189"/>
                </a:lnTo>
                <a:lnTo>
                  <a:pt x="46177" y="255270"/>
                </a:lnTo>
                <a:lnTo>
                  <a:pt x="45986" y="255270"/>
                </a:lnTo>
                <a:lnTo>
                  <a:pt x="50774" y="261620"/>
                </a:lnTo>
                <a:lnTo>
                  <a:pt x="51582" y="261620"/>
                </a:lnTo>
                <a:lnTo>
                  <a:pt x="55626" y="266700"/>
                </a:lnTo>
                <a:lnTo>
                  <a:pt x="55410" y="266700"/>
                </a:lnTo>
                <a:lnTo>
                  <a:pt x="60706" y="271779"/>
                </a:lnTo>
                <a:lnTo>
                  <a:pt x="61861" y="271779"/>
                </a:lnTo>
                <a:lnTo>
                  <a:pt x="66014" y="275589"/>
                </a:lnTo>
                <a:lnTo>
                  <a:pt x="65773" y="275589"/>
                </a:lnTo>
                <a:lnTo>
                  <a:pt x="71539" y="280670"/>
                </a:lnTo>
                <a:lnTo>
                  <a:pt x="71285" y="280670"/>
                </a:lnTo>
                <a:lnTo>
                  <a:pt x="77266" y="284479"/>
                </a:lnTo>
                <a:lnTo>
                  <a:pt x="77012" y="284479"/>
                </a:lnTo>
                <a:lnTo>
                  <a:pt x="83197" y="288289"/>
                </a:lnTo>
                <a:lnTo>
                  <a:pt x="82931" y="288289"/>
                </a:lnTo>
                <a:lnTo>
                  <a:pt x="89319" y="292100"/>
                </a:lnTo>
                <a:lnTo>
                  <a:pt x="89039" y="292100"/>
                </a:lnTo>
                <a:lnTo>
                  <a:pt x="95618" y="294639"/>
                </a:lnTo>
                <a:lnTo>
                  <a:pt x="95338" y="294639"/>
                </a:lnTo>
                <a:lnTo>
                  <a:pt x="102082" y="298450"/>
                </a:lnTo>
                <a:lnTo>
                  <a:pt x="101790" y="298450"/>
                </a:lnTo>
                <a:lnTo>
                  <a:pt x="108712" y="300989"/>
                </a:lnTo>
                <a:lnTo>
                  <a:pt x="108419" y="300989"/>
                </a:lnTo>
                <a:lnTo>
                  <a:pt x="115493" y="303529"/>
                </a:lnTo>
                <a:lnTo>
                  <a:pt x="115189" y="303529"/>
                </a:lnTo>
                <a:lnTo>
                  <a:pt x="122428" y="304800"/>
                </a:lnTo>
                <a:lnTo>
                  <a:pt x="122110" y="304800"/>
                </a:lnTo>
                <a:lnTo>
                  <a:pt x="129489" y="307339"/>
                </a:lnTo>
                <a:lnTo>
                  <a:pt x="132924" y="307339"/>
                </a:lnTo>
                <a:lnTo>
                  <a:pt x="136677" y="308610"/>
                </a:lnTo>
                <a:lnTo>
                  <a:pt x="143662" y="308610"/>
                </a:lnTo>
                <a:lnTo>
                  <a:pt x="151396" y="309879"/>
                </a:lnTo>
                <a:lnTo>
                  <a:pt x="220725" y="309879"/>
                </a:lnTo>
                <a:lnTo>
                  <a:pt x="198285" y="317500"/>
                </a:lnTo>
                <a:lnTo>
                  <a:pt x="166751" y="322579"/>
                </a:lnTo>
                <a:close/>
              </a:path>
              <a:path w="317500" h="322579">
                <a:moveTo>
                  <a:pt x="158750" y="11456"/>
                </a:moveTo>
                <a:lnTo>
                  <a:pt x="158584" y="11429"/>
                </a:lnTo>
                <a:lnTo>
                  <a:pt x="158915" y="11429"/>
                </a:lnTo>
                <a:lnTo>
                  <a:pt x="158750" y="11456"/>
                </a:lnTo>
                <a:close/>
              </a:path>
              <a:path w="317500" h="322579">
                <a:moveTo>
                  <a:pt x="240487" y="38100"/>
                </a:moveTo>
                <a:lnTo>
                  <a:pt x="234302" y="33020"/>
                </a:lnTo>
                <a:lnTo>
                  <a:pt x="234569" y="33020"/>
                </a:lnTo>
                <a:lnTo>
                  <a:pt x="228180" y="30479"/>
                </a:lnTo>
                <a:lnTo>
                  <a:pt x="228460" y="30479"/>
                </a:lnTo>
                <a:lnTo>
                  <a:pt x="221881" y="26670"/>
                </a:lnTo>
                <a:lnTo>
                  <a:pt x="222161" y="26670"/>
                </a:lnTo>
                <a:lnTo>
                  <a:pt x="215417" y="24129"/>
                </a:lnTo>
                <a:lnTo>
                  <a:pt x="215709" y="24129"/>
                </a:lnTo>
                <a:lnTo>
                  <a:pt x="208787" y="21589"/>
                </a:lnTo>
                <a:lnTo>
                  <a:pt x="209080" y="21589"/>
                </a:lnTo>
                <a:lnTo>
                  <a:pt x="202006" y="19050"/>
                </a:lnTo>
                <a:lnTo>
                  <a:pt x="202311" y="19050"/>
                </a:lnTo>
                <a:lnTo>
                  <a:pt x="195072" y="16510"/>
                </a:lnTo>
                <a:lnTo>
                  <a:pt x="195389" y="16510"/>
                </a:lnTo>
                <a:lnTo>
                  <a:pt x="188010" y="15239"/>
                </a:lnTo>
                <a:lnTo>
                  <a:pt x="188328" y="15239"/>
                </a:lnTo>
                <a:lnTo>
                  <a:pt x="180822" y="13970"/>
                </a:lnTo>
                <a:lnTo>
                  <a:pt x="181140" y="13970"/>
                </a:lnTo>
                <a:lnTo>
                  <a:pt x="173520" y="12700"/>
                </a:lnTo>
                <a:lnTo>
                  <a:pt x="166433" y="12700"/>
                </a:lnTo>
                <a:lnTo>
                  <a:pt x="158750" y="11456"/>
                </a:lnTo>
                <a:lnTo>
                  <a:pt x="158915" y="11429"/>
                </a:lnTo>
                <a:lnTo>
                  <a:pt x="218321" y="11429"/>
                </a:lnTo>
                <a:lnTo>
                  <a:pt x="220725" y="12700"/>
                </a:lnTo>
                <a:lnTo>
                  <a:pt x="227761" y="15239"/>
                </a:lnTo>
                <a:lnTo>
                  <a:pt x="234607" y="19050"/>
                </a:lnTo>
                <a:lnTo>
                  <a:pt x="241249" y="22860"/>
                </a:lnTo>
                <a:lnTo>
                  <a:pt x="247688" y="26670"/>
                </a:lnTo>
                <a:lnTo>
                  <a:pt x="253898" y="31750"/>
                </a:lnTo>
                <a:lnTo>
                  <a:pt x="259664" y="35560"/>
                </a:lnTo>
                <a:lnTo>
                  <a:pt x="260860" y="36829"/>
                </a:lnTo>
                <a:lnTo>
                  <a:pt x="240233" y="36829"/>
                </a:lnTo>
                <a:lnTo>
                  <a:pt x="240487" y="38100"/>
                </a:lnTo>
                <a:close/>
              </a:path>
              <a:path w="317500" h="322579">
                <a:moveTo>
                  <a:pt x="77012" y="38100"/>
                </a:moveTo>
                <a:lnTo>
                  <a:pt x="77266" y="36829"/>
                </a:lnTo>
                <a:lnTo>
                  <a:pt x="78559" y="36829"/>
                </a:lnTo>
                <a:lnTo>
                  <a:pt x="77012" y="38100"/>
                </a:lnTo>
                <a:close/>
              </a:path>
              <a:path w="317500" h="322579">
                <a:moveTo>
                  <a:pt x="275844" y="72389"/>
                </a:moveTo>
                <a:lnTo>
                  <a:pt x="271322" y="66039"/>
                </a:lnTo>
                <a:lnTo>
                  <a:pt x="271513" y="66039"/>
                </a:lnTo>
                <a:lnTo>
                  <a:pt x="266725" y="60960"/>
                </a:lnTo>
                <a:lnTo>
                  <a:pt x="266928" y="60960"/>
                </a:lnTo>
                <a:lnTo>
                  <a:pt x="261874" y="55879"/>
                </a:lnTo>
                <a:lnTo>
                  <a:pt x="262089" y="55879"/>
                </a:lnTo>
                <a:lnTo>
                  <a:pt x="256794" y="50800"/>
                </a:lnTo>
                <a:lnTo>
                  <a:pt x="257022" y="50800"/>
                </a:lnTo>
                <a:lnTo>
                  <a:pt x="251485" y="45720"/>
                </a:lnTo>
                <a:lnTo>
                  <a:pt x="251726" y="45720"/>
                </a:lnTo>
                <a:lnTo>
                  <a:pt x="245960" y="41910"/>
                </a:lnTo>
                <a:lnTo>
                  <a:pt x="246214" y="41910"/>
                </a:lnTo>
                <a:lnTo>
                  <a:pt x="240233" y="36829"/>
                </a:lnTo>
                <a:lnTo>
                  <a:pt x="260860" y="36829"/>
                </a:lnTo>
                <a:lnTo>
                  <a:pt x="265645" y="41910"/>
                </a:lnTo>
                <a:lnTo>
                  <a:pt x="276199" y="52070"/>
                </a:lnTo>
                <a:lnTo>
                  <a:pt x="281381" y="58420"/>
                </a:lnTo>
                <a:lnTo>
                  <a:pt x="286080" y="64770"/>
                </a:lnTo>
                <a:lnTo>
                  <a:pt x="290499" y="71120"/>
                </a:lnTo>
                <a:lnTo>
                  <a:pt x="275666" y="71120"/>
                </a:lnTo>
                <a:lnTo>
                  <a:pt x="275844" y="72389"/>
                </a:lnTo>
                <a:close/>
              </a:path>
              <a:path w="317500" h="322579">
                <a:moveTo>
                  <a:pt x="41656" y="72389"/>
                </a:moveTo>
                <a:lnTo>
                  <a:pt x="41833" y="71120"/>
                </a:lnTo>
                <a:lnTo>
                  <a:pt x="42560" y="71120"/>
                </a:lnTo>
                <a:lnTo>
                  <a:pt x="41656" y="72389"/>
                </a:lnTo>
                <a:close/>
              </a:path>
              <a:path w="317500" h="322579">
                <a:moveTo>
                  <a:pt x="315821" y="184150"/>
                </a:moveTo>
                <a:lnTo>
                  <a:pt x="303098" y="184150"/>
                </a:lnTo>
                <a:lnTo>
                  <a:pt x="304063" y="176529"/>
                </a:lnTo>
                <a:lnTo>
                  <a:pt x="304622" y="168910"/>
                </a:lnTo>
                <a:lnTo>
                  <a:pt x="304800" y="161289"/>
                </a:lnTo>
                <a:lnTo>
                  <a:pt x="304609" y="153670"/>
                </a:lnTo>
                <a:lnTo>
                  <a:pt x="304025" y="146050"/>
                </a:lnTo>
                <a:lnTo>
                  <a:pt x="303098" y="138429"/>
                </a:lnTo>
                <a:lnTo>
                  <a:pt x="301802" y="130810"/>
                </a:lnTo>
                <a:lnTo>
                  <a:pt x="300164" y="123189"/>
                </a:lnTo>
                <a:lnTo>
                  <a:pt x="298183" y="116839"/>
                </a:lnTo>
                <a:lnTo>
                  <a:pt x="295871" y="109220"/>
                </a:lnTo>
                <a:lnTo>
                  <a:pt x="293255" y="102870"/>
                </a:lnTo>
                <a:lnTo>
                  <a:pt x="290322" y="96520"/>
                </a:lnTo>
                <a:lnTo>
                  <a:pt x="290449" y="96520"/>
                </a:lnTo>
                <a:lnTo>
                  <a:pt x="287083" y="90170"/>
                </a:lnTo>
                <a:lnTo>
                  <a:pt x="287223" y="90170"/>
                </a:lnTo>
                <a:lnTo>
                  <a:pt x="283552" y="83820"/>
                </a:lnTo>
                <a:lnTo>
                  <a:pt x="283718" y="83820"/>
                </a:lnTo>
                <a:lnTo>
                  <a:pt x="279742" y="77470"/>
                </a:lnTo>
                <a:lnTo>
                  <a:pt x="279920" y="77470"/>
                </a:lnTo>
                <a:lnTo>
                  <a:pt x="275666" y="71120"/>
                </a:lnTo>
                <a:lnTo>
                  <a:pt x="290499" y="71120"/>
                </a:lnTo>
                <a:lnTo>
                  <a:pt x="294614" y="77470"/>
                </a:lnTo>
                <a:lnTo>
                  <a:pt x="310413" y="113029"/>
                </a:lnTo>
                <a:lnTo>
                  <a:pt x="317296" y="152400"/>
                </a:lnTo>
                <a:lnTo>
                  <a:pt x="317500" y="161289"/>
                </a:lnTo>
                <a:lnTo>
                  <a:pt x="317284" y="168910"/>
                </a:lnTo>
                <a:lnTo>
                  <a:pt x="316699" y="177800"/>
                </a:lnTo>
                <a:lnTo>
                  <a:pt x="315821" y="184150"/>
                </a:lnTo>
                <a:close/>
              </a:path>
              <a:path w="317500" h="322579">
                <a:moveTo>
                  <a:pt x="14585" y="184150"/>
                </a:moveTo>
                <a:lnTo>
                  <a:pt x="14401" y="184150"/>
                </a:lnTo>
                <a:lnTo>
                  <a:pt x="14363" y="182879"/>
                </a:lnTo>
                <a:lnTo>
                  <a:pt x="14585" y="184150"/>
                </a:lnTo>
                <a:close/>
              </a:path>
              <a:path w="317500" h="322579">
                <a:moveTo>
                  <a:pt x="311397" y="205739"/>
                </a:moveTo>
                <a:lnTo>
                  <a:pt x="298183" y="205739"/>
                </a:lnTo>
                <a:lnTo>
                  <a:pt x="300240" y="198120"/>
                </a:lnTo>
                <a:lnTo>
                  <a:pt x="301866" y="190500"/>
                </a:lnTo>
                <a:lnTo>
                  <a:pt x="303136" y="182879"/>
                </a:lnTo>
                <a:lnTo>
                  <a:pt x="303098" y="184150"/>
                </a:lnTo>
                <a:lnTo>
                  <a:pt x="315821" y="184150"/>
                </a:lnTo>
                <a:lnTo>
                  <a:pt x="315645" y="185420"/>
                </a:lnTo>
                <a:lnTo>
                  <a:pt x="314248" y="193039"/>
                </a:lnTo>
                <a:lnTo>
                  <a:pt x="312470" y="201929"/>
                </a:lnTo>
                <a:lnTo>
                  <a:pt x="311397" y="205739"/>
                </a:lnTo>
                <a:close/>
              </a:path>
              <a:path w="317500" h="322579">
                <a:moveTo>
                  <a:pt x="19627" y="205739"/>
                </a:moveTo>
                <a:lnTo>
                  <a:pt x="19316" y="205739"/>
                </a:lnTo>
                <a:lnTo>
                  <a:pt x="19227" y="204470"/>
                </a:lnTo>
                <a:lnTo>
                  <a:pt x="19627" y="205739"/>
                </a:lnTo>
                <a:close/>
              </a:path>
              <a:path w="317500" h="322579">
                <a:moveTo>
                  <a:pt x="303961" y="226060"/>
                </a:moveTo>
                <a:lnTo>
                  <a:pt x="290322" y="226060"/>
                </a:lnTo>
                <a:lnTo>
                  <a:pt x="293369" y="218439"/>
                </a:lnTo>
                <a:lnTo>
                  <a:pt x="295986" y="212089"/>
                </a:lnTo>
                <a:lnTo>
                  <a:pt x="298272" y="204470"/>
                </a:lnTo>
                <a:lnTo>
                  <a:pt x="298183" y="205739"/>
                </a:lnTo>
                <a:lnTo>
                  <a:pt x="311397" y="205739"/>
                </a:lnTo>
                <a:lnTo>
                  <a:pt x="310324" y="209550"/>
                </a:lnTo>
                <a:lnTo>
                  <a:pt x="307822" y="215900"/>
                </a:lnTo>
                <a:lnTo>
                  <a:pt x="304977" y="223520"/>
                </a:lnTo>
                <a:lnTo>
                  <a:pt x="303961" y="226060"/>
                </a:lnTo>
                <a:close/>
              </a:path>
              <a:path w="317500" h="322579">
                <a:moveTo>
                  <a:pt x="27611" y="226060"/>
                </a:moveTo>
                <a:lnTo>
                  <a:pt x="27178" y="226060"/>
                </a:lnTo>
                <a:lnTo>
                  <a:pt x="27051" y="224789"/>
                </a:lnTo>
                <a:lnTo>
                  <a:pt x="27611" y="226060"/>
                </a:lnTo>
                <a:close/>
              </a:path>
              <a:path w="317500" h="322579">
                <a:moveTo>
                  <a:pt x="301200" y="232410"/>
                </a:moveTo>
                <a:lnTo>
                  <a:pt x="287083" y="232410"/>
                </a:lnTo>
                <a:lnTo>
                  <a:pt x="290449" y="224789"/>
                </a:lnTo>
                <a:lnTo>
                  <a:pt x="290322" y="226060"/>
                </a:lnTo>
                <a:lnTo>
                  <a:pt x="303961" y="226060"/>
                </a:lnTo>
                <a:lnTo>
                  <a:pt x="301929" y="231139"/>
                </a:lnTo>
                <a:lnTo>
                  <a:pt x="301200" y="232410"/>
                </a:lnTo>
                <a:close/>
              </a:path>
              <a:path w="317500" h="322579">
                <a:moveTo>
                  <a:pt x="30888" y="232410"/>
                </a:moveTo>
                <a:lnTo>
                  <a:pt x="30416" y="232410"/>
                </a:lnTo>
                <a:lnTo>
                  <a:pt x="30276" y="231139"/>
                </a:lnTo>
                <a:lnTo>
                  <a:pt x="30888" y="232410"/>
                </a:lnTo>
                <a:close/>
              </a:path>
              <a:path w="317500" h="322579">
                <a:moveTo>
                  <a:pt x="297647" y="238760"/>
                </a:moveTo>
                <a:lnTo>
                  <a:pt x="283552" y="238760"/>
                </a:lnTo>
                <a:lnTo>
                  <a:pt x="287223" y="231139"/>
                </a:lnTo>
                <a:lnTo>
                  <a:pt x="287083" y="232410"/>
                </a:lnTo>
                <a:lnTo>
                  <a:pt x="301200" y="232410"/>
                </a:lnTo>
                <a:lnTo>
                  <a:pt x="298284" y="237489"/>
                </a:lnTo>
                <a:lnTo>
                  <a:pt x="297647" y="238760"/>
                </a:lnTo>
                <a:close/>
              </a:path>
              <a:path w="317500" h="322579">
                <a:moveTo>
                  <a:pt x="34577" y="238760"/>
                </a:moveTo>
                <a:lnTo>
                  <a:pt x="33947" y="238760"/>
                </a:lnTo>
                <a:lnTo>
                  <a:pt x="33781" y="237489"/>
                </a:lnTo>
                <a:lnTo>
                  <a:pt x="34577" y="238760"/>
                </a:lnTo>
                <a:close/>
              </a:path>
              <a:path w="317500" h="322579">
                <a:moveTo>
                  <a:pt x="283075" y="261620"/>
                </a:moveTo>
                <a:lnTo>
                  <a:pt x="266725" y="261620"/>
                </a:lnTo>
                <a:lnTo>
                  <a:pt x="271513" y="255270"/>
                </a:lnTo>
                <a:lnTo>
                  <a:pt x="271322" y="255270"/>
                </a:lnTo>
                <a:lnTo>
                  <a:pt x="275844" y="250189"/>
                </a:lnTo>
                <a:lnTo>
                  <a:pt x="275666" y="250189"/>
                </a:lnTo>
                <a:lnTo>
                  <a:pt x="279920" y="243839"/>
                </a:lnTo>
                <a:lnTo>
                  <a:pt x="279742" y="243839"/>
                </a:lnTo>
                <a:lnTo>
                  <a:pt x="283718" y="237489"/>
                </a:lnTo>
                <a:lnTo>
                  <a:pt x="283552" y="238760"/>
                </a:lnTo>
                <a:lnTo>
                  <a:pt x="297647" y="238760"/>
                </a:lnTo>
                <a:lnTo>
                  <a:pt x="294462" y="245110"/>
                </a:lnTo>
                <a:lnTo>
                  <a:pt x="290334" y="251460"/>
                </a:lnTo>
                <a:lnTo>
                  <a:pt x="285902" y="257810"/>
                </a:lnTo>
                <a:lnTo>
                  <a:pt x="283075" y="261620"/>
                </a:lnTo>
                <a:close/>
              </a:path>
              <a:path w="317500" h="322579">
                <a:moveTo>
                  <a:pt x="51582" y="261620"/>
                </a:moveTo>
                <a:lnTo>
                  <a:pt x="50774" y="261620"/>
                </a:lnTo>
                <a:lnTo>
                  <a:pt x="50571" y="260350"/>
                </a:lnTo>
                <a:lnTo>
                  <a:pt x="51582" y="261620"/>
                </a:lnTo>
                <a:close/>
              </a:path>
              <a:path w="317500" h="322579">
                <a:moveTo>
                  <a:pt x="274096" y="271779"/>
                </a:moveTo>
                <a:lnTo>
                  <a:pt x="256794" y="271779"/>
                </a:lnTo>
                <a:lnTo>
                  <a:pt x="262089" y="266700"/>
                </a:lnTo>
                <a:lnTo>
                  <a:pt x="261874" y="266700"/>
                </a:lnTo>
                <a:lnTo>
                  <a:pt x="266928" y="260350"/>
                </a:lnTo>
                <a:lnTo>
                  <a:pt x="266725" y="261620"/>
                </a:lnTo>
                <a:lnTo>
                  <a:pt x="283075" y="261620"/>
                </a:lnTo>
                <a:lnTo>
                  <a:pt x="281190" y="264160"/>
                </a:lnTo>
                <a:lnTo>
                  <a:pt x="276199" y="269239"/>
                </a:lnTo>
                <a:lnTo>
                  <a:pt x="274096" y="271779"/>
                </a:lnTo>
                <a:close/>
              </a:path>
              <a:path w="317500" h="322579">
                <a:moveTo>
                  <a:pt x="61861" y="271779"/>
                </a:moveTo>
                <a:lnTo>
                  <a:pt x="60706" y="271779"/>
                </a:lnTo>
                <a:lnTo>
                  <a:pt x="60477" y="270510"/>
                </a:lnTo>
                <a:lnTo>
                  <a:pt x="61861" y="271779"/>
                </a:lnTo>
                <a:close/>
              </a:path>
              <a:path w="317500" h="322579">
                <a:moveTo>
                  <a:pt x="225230" y="307339"/>
                </a:moveTo>
                <a:lnTo>
                  <a:pt x="188010" y="307339"/>
                </a:lnTo>
                <a:lnTo>
                  <a:pt x="195389" y="304800"/>
                </a:lnTo>
                <a:lnTo>
                  <a:pt x="195072" y="304800"/>
                </a:lnTo>
                <a:lnTo>
                  <a:pt x="202311" y="303529"/>
                </a:lnTo>
                <a:lnTo>
                  <a:pt x="202006" y="303529"/>
                </a:lnTo>
                <a:lnTo>
                  <a:pt x="209080" y="300989"/>
                </a:lnTo>
                <a:lnTo>
                  <a:pt x="208787" y="300989"/>
                </a:lnTo>
                <a:lnTo>
                  <a:pt x="215709" y="298450"/>
                </a:lnTo>
                <a:lnTo>
                  <a:pt x="215417" y="298450"/>
                </a:lnTo>
                <a:lnTo>
                  <a:pt x="222161" y="294639"/>
                </a:lnTo>
                <a:lnTo>
                  <a:pt x="221881" y="294639"/>
                </a:lnTo>
                <a:lnTo>
                  <a:pt x="228460" y="292100"/>
                </a:lnTo>
                <a:lnTo>
                  <a:pt x="228180" y="292100"/>
                </a:lnTo>
                <a:lnTo>
                  <a:pt x="234569" y="288289"/>
                </a:lnTo>
                <a:lnTo>
                  <a:pt x="234302" y="288289"/>
                </a:lnTo>
                <a:lnTo>
                  <a:pt x="240487" y="284479"/>
                </a:lnTo>
                <a:lnTo>
                  <a:pt x="240233" y="284479"/>
                </a:lnTo>
                <a:lnTo>
                  <a:pt x="246214" y="280670"/>
                </a:lnTo>
                <a:lnTo>
                  <a:pt x="245960" y="280670"/>
                </a:lnTo>
                <a:lnTo>
                  <a:pt x="251726" y="275589"/>
                </a:lnTo>
                <a:lnTo>
                  <a:pt x="251485" y="275589"/>
                </a:lnTo>
                <a:lnTo>
                  <a:pt x="257022" y="270510"/>
                </a:lnTo>
                <a:lnTo>
                  <a:pt x="256794" y="271779"/>
                </a:lnTo>
                <a:lnTo>
                  <a:pt x="274096" y="271779"/>
                </a:lnTo>
                <a:lnTo>
                  <a:pt x="240982" y="298450"/>
                </a:lnTo>
                <a:lnTo>
                  <a:pt x="234327" y="303529"/>
                </a:lnTo>
                <a:lnTo>
                  <a:pt x="227482" y="306070"/>
                </a:lnTo>
                <a:lnTo>
                  <a:pt x="225230" y="307339"/>
                </a:lnTo>
                <a:close/>
              </a:path>
              <a:path w="317500" h="322579">
                <a:moveTo>
                  <a:pt x="132924" y="307339"/>
                </a:moveTo>
                <a:lnTo>
                  <a:pt x="129489" y="307339"/>
                </a:lnTo>
                <a:lnTo>
                  <a:pt x="129171" y="306070"/>
                </a:lnTo>
                <a:lnTo>
                  <a:pt x="132924" y="307339"/>
                </a:lnTo>
                <a:close/>
              </a:path>
              <a:path w="317500" h="322579">
                <a:moveTo>
                  <a:pt x="220725" y="309879"/>
                </a:moveTo>
                <a:lnTo>
                  <a:pt x="166103" y="309879"/>
                </a:lnTo>
                <a:lnTo>
                  <a:pt x="173837" y="308610"/>
                </a:lnTo>
                <a:lnTo>
                  <a:pt x="180822" y="308610"/>
                </a:lnTo>
                <a:lnTo>
                  <a:pt x="188328" y="306070"/>
                </a:lnTo>
                <a:lnTo>
                  <a:pt x="188010" y="307339"/>
                </a:lnTo>
                <a:lnTo>
                  <a:pt x="225230" y="307339"/>
                </a:lnTo>
                <a:lnTo>
                  <a:pt x="220725" y="309879"/>
                </a:lnTo>
                <a:close/>
              </a:path>
            </a:pathLst>
          </a:custGeom>
          <a:solidFill>
            <a:srgbClr val="99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96302" y="5484075"/>
            <a:ext cx="147459" cy="20079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2842260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01211" y="4671059"/>
            <a:ext cx="4724399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8289" y="176847"/>
            <a:ext cx="6167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spc="-10" dirty="0"/>
              <a:t>Defaults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10" dirty="0"/>
              <a:t>Rules</a:t>
            </a:r>
          </a:p>
        </p:txBody>
      </p:sp>
      <p:sp>
        <p:nvSpPr>
          <p:cNvPr id="5" name="object 5"/>
          <p:cNvSpPr/>
          <p:nvPr/>
        </p:nvSpPr>
        <p:spPr>
          <a:xfrm>
            <a:off x="664209" y="3048635"/>
            <a:ext cx="7891780" cy="1744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4209" y="4877434"/>
            <a:ext cx="7891780" cy="17449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3269" y="1174749"/>
            <a:ext cx="7125970" cy="529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0725" indent="-402590">
              <a:lnSpc>
                <a:spcPts val="3825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721360" algn="l"/>
              </a:tabLst>
            </a:pPr>
            <a:r>
              <a:rPr sz="3200" dirty="0">
                <a:latin typeface="Tahoma"/>
                <a:cs typeface="Tahoma"/>
              </a:rPr>
              <a:t>As </a:t>
            </a:r>
            <a:r>
              <a:rPr sz="3200" spc="-5" dirty="0">
                <a:latin typeface="Tahoma"/>
                <a:cs typeface="Tahoma"/>
              </a:rPr>
              <a:t>Independent Objects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They:</a:t>
            </a:r>
            <a:endParaRPr sz="3200">
              <a:latin typeface="Tahoma"/>
              <a:cs typeface="Tahoma"/>
            </a:endParaRPr>
          </a:p>
          <a:p>
            <a:pPr marL="1061720" lvl="1" indent="-285750">
              <a:lnSpc>
                <a:spcPts val="3260"/>
              </a:lnSpc>
              <a:buClr>
                <a:srgbClr val="CC00CC"/>
              </a:buClr>
              <a:buFont typeface="Wingdings"/>
              <a:buChar char=""/>
              <a:tabLst>
                <a:tab pos="1061720" algn="l"/>
              </a:tabLst>
            </a:pPr>
            <a:r>
              <a:rPr sz="2800" spc="-1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defined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once</a:t>
            </a:r>
            <a:endParaRPr sz="2800">
              <a:latin typeface="Tahoma"/>
              <a:cs typeface="Tahoma"/>
            </a:endParaRPr>
          </a:p>
          <a:p>
            <a:pPr marL="1061720" marR="5080" lvl="1" indent="-285750">
              <a:lnSpc>
                <a:spcPct val="75000"/>
              </a:lnSpc>
              <a:spcBef>
                <a:spcPts val="755"/>
              </a:spcBef>
              <a:buClr>
                <a:srgbClr val="CC00CC"/>
              </a:buClr>
              <a:buFont typeface="Wingdings"/>
              <a:buChar char=""/>
              <a:tabLst>
                <a:tab pos="1061720" algn="l"/>
              </a:tabLst>
            </a:pPr>
            <a:r>
              <a:rPr sz="2800" spc="-5" dirty="0">
                <a:latin typeface="Tahoma"/>
                <a:cs typeface="Tahoma"/>
              </a:rPr>
              <a:t>Can be bound to one or </a:t>
            </a:r>
            <a:r>
              <a:rPr sz="2800" spc="-10" dirty="0">
                <a:latin typeface="Tahoma"/>
                <a:cs typeface="Tahoma"/>
              </a:rPr>
              <a:t>more </a:t>
            </a:r>
            <a:r>
              <a:rPr sz="2800" spc="-5" dirty="0">
                <a:latin typeface="Tahoma"/>
                <a:cs typeface="Tahoma"/>
              </a:rPr>
              <a:t>columns  or </a:t>
            </a:r>
            <a:r>
              <a:rPr sz="2800" spc="-10" dirty="0">
                <a:latin typeface="Tahoma"/>
                <a:cs typeface="Tahoma"/>
              </a:rPr>
              <a:t>user-defined </a:t>
            </a:r>
            <a:r>
              <a:rPr sz="2800" spc="-5" dirty="0">
                <a:latin typeface="Tahoma"/>
                <a:cs typeface="Tahoma"/>
              </a:rPr>
              <a:t>data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types</a:t>
            </a:r>
            <a:endParaRPr sz="2800">
              <a:latin typeface="Tahoma"/>
              <a:cs typeface="Tahoma"/>
            </a:endParaRPr>
          </a:p>
          <a:p>
            <a:pPr marL="318770" marR="2360295" indent="-306070">
              <a:lnSpc>
                <a:spcPct val="100000"/>
              </a:lnSpc>
              <a:spcBef>
                <a:spcPts val="222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CREATE DEFAULT phone_no_default 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'(000)000-0000'</a:t>
            </a: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Lucida Sans Typewriter"/>
                <a:cs typeface="Lucida Sans Typewriter"/>
              </a:rPr>
              <a:t>GO</a:t>
            </a:r>
            <a:endParaRPr sz="2000">
              <a:latin typeface="Lucida Sans Typewriter"/>
              <a:cs typeface="Lucida Sans Typewriter"/>
            </a:endParaRPr>
          </a:p>
          <a:p>
            <a:pPr marL="318770" marR="1595120" indent="-3060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EXEC sp_bindefault phone_no_default,  'Customers.Phone'</a:t>
            </a:r>
            <a:endParaRPr sz="2000">
              <a:latin typeface="Lucida Sans Typewriter"/>
              <a:cs typeface="Lucida Sans Typewriter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CREATE RULE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regioncode_rule</a:t>
            </a:r>
            <a:endParaRPr sz="2000">
              <a:latin typeface="Lucida Sans Typewriter"/>
              <a:cs typeface="Lucida Sans Typewriter"/>
            </a:endParaRPr>
          </a:p>
          <a:p>
            <a:pPr marL="12700" marR="370840" indent="306070">
              <a:lnSpc>
                <a:spcPct val="100000"/>
              </a:lnSpc>
            </a:pPr>
            <a:r>
              <a:rPr sz="2000" dirty="0">
                <a:latin typeface="Lucida Sans Typewriter"/>
                <a:cs typeface="Lucida Sans Typewriter"/>
              </a:rPr>
              <a:t>AS </a:t>
            </a:r>
            <a:r>
              <a:rPr sz="2000" spc="-5" dirty="0">
                <a:latin typeface="Lucida Sans Typewriter"/>
                <a:cs typeface="Lucida Sans Typewriter"/>
              </a:rPr>
              <a:t>@regioncode </a:t>
            </a:r>
            <a:r>
              <a:rPr sz="2000" dirty="0">
                <a:latin typeface="Lucida Sans Typewriter"/>
                <a:cs typeface="Lucida Sans Typewriter"/>
              </a:rPr>
              <a:t>IN </a:t>
            </a:r>
            <a:r>
              <a:rPr sz="2000" spc="-5" dirty="0">
                <a:latin typeface="Lucida Sans Typewriter"/>
                <a:cs typeface="Lucida Sans Typewriter"/>
              </a:rPr>
              <a:t>('IA', 'IL', 'KS', 'MO')  </a:t>
            </a:r>
            <a:r>
              <a:rPr sz="2000" dirty="0">
                <a:latin typeface="Lucida Sans Typewriter"/>
                <a:cs typeface="Lucida Sans Typewriter"/>
              </a:rPr>
              <a:t>GO</a:t>
            </a:r>
            <a:endParaRPr sz="2000">
              <a:latin typeface="Lucida Sans Typewriter"/>
              <a:cs typeface="Lucida Sans Typewriter"/>
            </a:endParaRPr>
          </a:p>
          <a:p>
            <a:pPr marL="318770" marR="2054225" indent="-306070">
              <a:lnSpc>
                <a:spcPct val="1000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EXEC sp_bindrule regioncode_rule,  'Customers.Region'</a:t>
            </a:r>
            <a:endParaRPr sz="20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5300" marR="5080" indent="-17526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Deciding Which </a:t>
            </a:r>
            <a:r>
              <a:rPr spc="-10" dirty="0"/>
              <a:t>Enforcement  </a:t>
            </a:r>
            <a:r>
              <a:rPr spc="-5" dirty="0"/>
              <a:t>Method to</a:t>
            </a:r>
            <a:r>
              <a:rPr spc="-15" dirty="0"/>
              <a:t> </a:t>
            </a:r>
            <a:r>
              <a:rPr spc="-5" dirty="0"/>
              <a:t>Use</a:t>
            </a:r>
          </a:p>
        </p:txBody>
      </p:sp>
      <p:sp>
        <p:nvSpPr>
          <p:cNvPr id="3" name="object 3"/>
          <p:cNvSpPr/>
          <p:nvPr/>
        </p:nvSpPr>
        <p:spPr>
          <a:xfrm>
            <a:off x="513397" y="2102485"/>
            <a:ext cx="2630804" cy="878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008" y="2239848"/>
            <a:ext cx="1653705" cy="290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8873" y="2549093"/>
            <a:ext cx="1540675" cy="2833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3397" y="2864485"/>
            <a:ext cx="2630804" cy="9544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140" y="3125152"/>
            <a:ext cx="13093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Constraints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3397" y="3702684"/>
            <a:ext cx="2630804" cy="95440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3397" y="4540884"/>
            <a:ext cx="2630804" cy="9544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2140" y="4801552"/>
            <a:ext cx="9467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80" dirty="0">
                <a:latin typeface="Arial"/>
                <a:cs typeface="Arial"/>
              </a:rPr>
              <a:t>T</a:t>
            </a:r>
            <a:r>
              <a:rPr sz="2000" spc="-5" dirty="0">
                <a:latin typeface="Arial"/>
                <a:cs typeface="Arial"/>
              </a:rPr>
              <a:t>ri</a:t>
            </a:r>
            <a:r>
              <a:rPr sz="2000" spc="-10" dirty="0">
                <a:latin typeface="Arial"/>
                <a:cs typeface="Arial"/>
              </a:rPr>
              <a:t>gge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75597" y="2102485"/>
            <a:ext cx="2021205" cy="87820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88208" y="2239848"/>
            <a:ext cx="1610525" cy="2909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75597" y="2864485"/>
            <a:ext cx="2021205" cy="9544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974339" y="3125152"/>
            <a:ext cx="929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Med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spc="-10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75597" y="3702684"/>
            <a:ext cx="2021205" cy="9544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2140" y="3963352"/>
            <a:ext cx="28536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74265" algn="l"/>
              </a:tabLst>
            </a:pPr>
            <a:r>
              <a:rPr sz="2000" spc="-5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au</a:t>
            </a:r>
            <a:r>
              <a:rPr sz="2000" spc="-5" dirty="0">
                <a:latin typeface="Arial"/>
                <a:cs typeface="Arial"/>
              </a:rPr>
              <a:t>lt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</a:t>
            </a:r>
            <a:r>
              <a:rPr sz="2000" dirty="0">
                <a:latin typeface="Arial"/>
                <a:cs typeface="Arial"/>
              </a:rPr>
              <a:t>d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u</a:t>
            </a:r>
            <a:r>
              <a:rPr sz="2000" spc="-5" dirty="0">
                <a:latin typeface="Arial"/>
                <a:cs typeface="Arial"/>
              </a:rPr>
              <a:t>l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s	</a:t>
            </a: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75597" y="4540884"/>
            <a:ext cx="2021205" cy="9544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74339" y="4801552"/>
            <a:ext cx="548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Hi</a:t>
            </a:r>
            <a:r>
              <a:rPr sz="2000" spc="-10" dirty="0">
                <a:latin typeface="Arial"/>
                <a:cs typeface="Arial"/>
              </a:rPr>
              <a:t>g</a:t>
            </a:r>
            <a:r>
              <a:rPr sz="2000" dirty="0"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10275" y="3113087"/>
            <a:ext cx="0" cy="990600"/>
          </a:xfrm>
          <a:custGeom>
            <a:avLst/>
            <a:gdLst/>
            <a:ahLst/>
            <a:cxnLst/>
            <a:rect l="l" t="t" r="r" b="b"/>
            <a:pathLst>
              <a:path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04397" y="2102485"/>
            <a:ext cx="1895792" cy="8782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17008" y="2236673"/>
            <a:ext cx="1579410" cy="24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09388" y="2549093"/>
            <a:ext cx="694855" cy="23638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04397" y="2864485"/>
            <a:ext cx="1868805" cy="9544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03140" y="3125152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704397" y="3702684"/>
            <a:ext cx="1868805" cy="9544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03140" y="3963352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04397" y="4540884"/>
            <a:ext cx="1868805" cy="9544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803140" y="4801552"/>
            <a:ext cx="1535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Medium-High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111331" y="3113074"/>
            <a:ext cx="0" cy="991235"/>
          </a:xfrm>
          <a:custGeom>
            <a:avLst/>
            <a:gdLst/>
            <a:ahLst/>
            <a:cxnLst/>
            <a:rect l="l" t="t" r="r" b="b"/>
            <a:pathLst>
              <a:path h="991235">
                <a:moveTo>
                  <a:pt x="0" y="0"/>
                </a:moveTo>
                <a:lnTo>
                  <a:pt x="0" y="990625"/>
                </a:lnTo>
              </a:path>
            </a:pathLst>
          </a:custGeom>
          <a:ln w="11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56997" y="2102485"/>
            <a:ext cx="2173605" cy="8782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569608" y="2236673"/>
            <a:ext cx="1788960" cy="2440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37553" y="2541473"/>
            <a:ext cx="1529880" cy="2440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56997" y="2864485"/>
            <a:ext cx="2173605" cy="9544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55740" y="3125152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56997" y="3702684"/>
            <a:ext cx="2173605" cy="9544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555740" y="3963352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56997" y="4540884"/>
            <a:ext cx="2173605" cy="9544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555740" y="4801552"/>
            <a:ext cx="5619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Aft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3397" y="5379084"/>
            <a:ext cx="2630804" cy="9544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12140" y="5487352"/>
            <a:ext cx="14370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Data types,  Null/Not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75597" y="5379084"/>
            <a:ext cx="2021205" cy="9544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974339" y="5639752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704397" y="5379084"/>
            <a:ext cx="1868805" cy="9544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803140" y="5639752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w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456997" y="5379084"/>
            <a:ext cx="2173605" cy="95440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555740" y="5639752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"/>
                <a:cs typeface="Arial"/>
              </a:rPr>
              <a:t>B</a:t>
            </a:r>
            <a:r>
              <a:rPr sz="2000" spc="-10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o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9370" y="601344"/>
            <a:ext cx="1445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View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764017"/>
            <a:ext cx="7564755" cy="3971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22300" marR="369570" indent="-609600" algn="just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350" i="1" spc="-825" dirty="0">
                <a:solidFill>
                  <a:srgbClr val="FF0066"/>
                </a:solidFill>
                <a:latin typeface="Tahoma"/>
                <a:cs typeface="Tahoma"/>
              </a:rPr>
              <a:t>view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 defined in terms  of stored tables (called </a:t>
            </a:r>
            <a:r>
              <a:rPr sz="3350" i="1" spc="-910" dirty="0">
                <a:solidFill>
                  <a:srgbClr val="FF0066"/>
                </a:solidFill>
                <a:latin typeface="Tahoma"/>
                <a:cs typeface="Tahoma"/>
              </a:rPr>
              <a:t>basetables</a:t>
            </a:r>
            <a:r>
              <a:rPr sz="3200" spc="-910" dirty="0">
                <a:latin typeface="Tahoma"/>
                <a:cs typeface="Tahoma"/>
              </a:rPr>
              <a:t>)  </a:t>
            </a:r>
            <a:r>
              <a:rPr sz="3200" spc="-5" dirty="0">
                <a:latin typeface="Tahoma"/>
                <a:cs typeface="Tahoma"/>
              </a:rPr>
              <a:t>and other views.</a:t>
            </a:r>
            <a:endParaRPr sz="3200">
              <a:latin typeface="Tahoma"/>
              <a:cs typeface="Tahoma"/>
            </a:endParaRPr>
          </a:p>
          <a:p>
            <a:pPr marL="622300" indent="-6096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"/>
              <a:tabLst>
                <a:tab pos="622300" algn="l"/>
              </a:tabLst>
            </a:pPr>
            <a:r>
              <a:rPr sz="3200" spc="-105" dirty="0">
                <a:latin typeface="Tahoma"/>
                <a:cs typeface="Tahoma"/>
              </a:rPr>
              <a:t>Two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kinds:</a:t>
            </a:r>
            <a:endParaRPr sz="3200">
              <a:latin typeface="Tahoma"/>
              <a:cs typeface="Tahoma"/>
            </a:endParaRPr>
          </a:p>
          <a:p>
            <a:pPr marL="1002665" marR="5080" lvl="1" indent="-556895">
              <a:lnSpc>
                <a:spcPts val="3360"/>
              </a:lnSpc>
              <a:spcBef>
                <a:spcPts val="78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sz="2900" i="1" spc="-875" dirty="0">
                <a:solidFill>
                  <a:srgbClr val="FF0066"/>
                </a:solidFill>
                <a:latin typeface="Tahoma"/>
                <a:cs typeface="Tahoma"/>
              </a:rPr>
              <a:t>Virtual </a:t>
            </a:r>
            <a:r>
              <a:rPr sz="2800" spc="-5" dirty="0">
                <a:latin typeface="Tahoma"/>
                <a:cs typeface="Tahoma"/>
              </a:rPr>
              <a:t>= not stored in the database; just  a query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constructing the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relation.</a:t>
            </a:r>
            <a:endParaRPr sz="2800">
              <a:latin typeface="Tahoma"/>
              <a:cs typeface="Tahoma"/>
            </a:endParaRPr>
          </a:p>
          <a:p>
            <a:pPr marL="1002665" marR="273685" lvl="1" indent="-556895">
              <a:lnSpc>
                <a:spcPts val="336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sz="2900" i="1" spc="-910" dirty="0">
                <a:solidFill>
                  <a:srgbClr val="FF0066"/>
                </a:solidFill>
                <a:latin typeface="Tahoma"/>
                <a:cs typeface="Tahoma"/>
              </a:rPr>
              <a:t>Materialized</a:t>
            </a:r>
            <a:r>
              <a:rPr sz="2900" i="1" spc="-55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actually constructed and  stored.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1754" y="601344"/>
            <a:ext cx="39211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Declaring</a:t>
            </a:r>
            <a:r>
              <a:rPr spc="-60" dirty="0"/>
              <a:t> </a:t>
            </a:r>
            <a:r>
              <a:rPr spc="-5" dirty="0"/>
              <a:t>Views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40739" y="1689226"/>
            <a:ext cx="6065520" cy="226631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5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Declare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15" dirty="0">
                <a:latin typeface="Tahoma"/>
                <a:cs typeface="Tahoma"/>
              </a:rPr>
              <a:t>[MATERIALIZED]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VIEW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&lt;name&gt; AS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&lt;query&gt;;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Default </a:t>
            </a:r>
            <a:r>
              <a:rPr sz="3200" spc="-5" dirty="0">
                <a:latin typeface="Tahoma"/>
                <a:cs typeface="Tahoma"/>
              </a:rPr>
              <a:t>is virtual.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264" y="829944"/>
            <a:ext cx="6174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View</a:t>
            </a:r>
            <a:r>
              <a:rPr spc="-35" dirty="0"/>
              <a:t> </a:t>
            </a:r>
            <a:r>
              <a:rPr spc="-5" dirty="0"/>
              <a:t>Definition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014219"/>
            <a:ext cx="7814945" cy="3830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30" dirty="0">
                <a:solidFill>
                  <a:srgbClr val="CC00CC"/>
                </a:solidFill>
                <a:latin typeface="Tahoma"/>
                <a:cs typeface="Tahoma"/>
              </a:rPr>
              <a:t>CanDrink(drinker,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2800" spc="-5" dirty="0">
                <a:latin typeface="Tahoma"/>
                <a:cs typeface="Tahoma"/>
              </a:rPr>
              <a:t>is a view “containing”  the </a:t>
            </a:r>
            <a:r>
              <a:rPr sz="2800" spc="-10" dirty="0">
                <a:latin typeface="Tahoma"/>
                <a:cs typeface="Tahoma"/>
              </a:rPr>
              <a:t>drinker-beer </a:t>
            </a:r>
            <a:r>
              <a:rPr sz="2800" spc="-5" dirty="0">
                <a:latin typeface="Tahoma"/>
                <a:cs typeface="Tahoma"/>
              </a:rPr>
              <a:t>pairs such that the </a:t>
            </a:r>
            <a:r>
              <a:rPr sz="2800" spc="-10" dirty="0">
                <a:latin typeface="Tahoma"/>
                <a:cs typeface="Tahoma"/>
              </a:rPr>
              <a:t>drinker  frequents </a:t>
            </a:r>
            <a:r>
              <a:rPr sz="2800" spc="-5" dirty="0">
                <a:latin typeface="Tahoma"/>
                <a:cs typeface="Tahoma"/>
              </a:rPr>
              <a:t>at least one bar that </a:t>
            </a:r>
            <a:r>
              <a:rPr sz="2800" spc="-10" dirty="0">
                <a:latin typeface="Tahoma"/>
                <a:cs typeface="Tahoma"/>
              </a:rPr>
              <a:t>serves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8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beer: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00">
              <a:latin typeface="Tahoma"/>
              <a:cs typeface="Tahoma"/>
            </a:endParaRPr>
          </a:p>
          <a:p>
            <a:pPr marL="927100" marR="2399665" indent="-571500">
              <a:lnSpc>
                <a:spcPct val="119900"/>
              </a:lnSpc>
              <a:spcBef>
                <a:spcPts val="5"/>
              </a:spcBef>
            </a:pPr>
            <a:r>
              <a:rPr sz="2800" spc="-5" dirty="0">
                <a:latin typeface="Courier New"/>
                <a:cs typeface="Courier New"/>
              </a:rPr>
              <a:t>CREATE VIEW CanDrink AS  SELECT drinker, beer  FROM Frequents,</a:t>
            </a:r>
            <a:r>
              <a:rPr sz="2800" spc="-6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Sells</a:t>
            </a:r>
            <a:endParaRPr sz="28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ourier New"/>
                <a:cs typeface="Courier New"/>
              </a:rPr>
              <a:t>WHERE Frequents.bar =</a:t>
            </a:r>
            <a:r>
              <a:rPr sz="2800" spc="-3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Sells.bar;</a:t>
            </a:r>
            <a:endParaRPr sz="28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DE6B62D-8447-05EF-FB3B-0469376E13FE}"/>
                  </a:ext>
                </a:extLst>
              </p14:cNvPr>
              <p14:cNvContentPartPr/>
              <p14:nvPr/>
            </p14:nvContentPartPr>
            <p14:xfrm>
              <a:off x="1003779" y="3962005"/>
              <a:ext cx="2216880" cy="795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DE6B62D-8447-05EF-FB3B-0469376E1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0139" y="3854365"/>
                <a:ext cx="23245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9BAD6B0-709A-87CA-A2D5-123CAD958F25}"/>
                  </a:ext>
                </a:extLst>
              </p14:cNvPr>
              <p14:cNvContentPartPr/>
              <p14:nvPr/>
            </p14:nvContentPartPr>
            <p14:xfrm>
              <a:off x="5333499" y="4069645"/>
              <a:ext cx="441000" cy="828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9BAD6B0-709A-87CA-A2D5-123CAD958F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9859" y="3962005"/>
                <a:ext cx="54864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0706D1B-D1B3-15B3-7343-4D70B2412B54}"/>
                  </a:ext>
                </a:extLst>
              </p14:cNvPr>
              <p14:cNvContentPartPr/>
              <p14:nvPr/>
            </p14:nvContentPartPr>
            <p14:xfrm>
              <a:off x="1469979" y="4381765"/>
              <a:ext cx="1420200" cy="1720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0706D1B-D1B3-15B3-7343-4D70B2412B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5979" y="4274125"/>
                <a:ext cx="1527840" cy="38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994" y="829944"/>
            <a:ext cx="66840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Accessing </a:t>
            </a:r>
            <a:r>
              <a:rPr dirty="0"/>
              <a:t>a</a:t>
            </a:r>
            <a:r>
              <a:rPr spc="-50" dirty="0"/>
              <a:t> </a:t>
            </a:r>
            <a:r>
              <a:rPr spc="-5" dirty="0"/>
              <a:t>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43470" cy="36931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Query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view as </a:t>
            </a:r>
            <a:r>
              <a:rPr sz="3200" dirty="0">
                <a:latin typeface="Tahoma"/>
                <a:cs typeface="Tahoma"/>
              </a:rPr>
              <a:t>if it </a:t>
            </a:r>
            <a:r>
              <a:rPr sz="3200" spc="-5" dirty="0">
                <a:latin typeface="Tahoma"/>
                <a:cs typeface="Tahoma"/>
              </a:rPr>
              <a:t>were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base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table.</a:t>
            </a:r>
            <a:endParaRPr sz="3200">
              <a:latin typeface="Tahoma"/>
              <a:cs typeface="Tahoma"/>
            </a:endParaRPr>
          </a:p>
          <a:p>
            <a:pPr marL="755650" marR="233679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Also: a limited ability to </a:t>
            </a:r>
            <a:r>
              <a:rPr sz="2800" spc="-10" dirty="0">
                <a:latin typeface="Tahoma"/>
                <a:cs typeface="Tahoma"/>
              </a:rPr>
              <a:t>modify </a:t>
            </a:r>
            <a:r>
              <a:rPr sz="2800" spc="-5" dirty="0">
                <a:latin typeface="Tahoma"/>
                <a:cs typeface="Tahoma"/>
              </a:rPr>
              <a:t>views </a:t>
            </a:r>
            <a:r>
              <a:rPr sz="2800" dirty="0">
                <a:latin typeface="Tahoma"/>
                <a:cs typeface="Tahoma"/>
              </a:rPr>
              <a:t>if it  </a:t>
            </a:r>
            <a:r>
              <a:rPr sz="2800" spc="-10" dirty="0">
                <a:latin typeface="Tahoma"/>
                <a:cs typeface="Tahoma"/>
              </a:rPr>
              <a:t>makes </a:t>
            </a:r>
            <a:r>
              <a:rPr sz="2800" spc="-5" dirty="0">
                <a:latin typeface="Tahoma"/>
                <a:cs typeface="Tahoma"/>
              </a:rPr>
              <a:t>sense as a modification of one  underlying base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table.</a:t>
            </a:r>
            <a:endParaRPr sz="28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1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query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 beer FROM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CanDrink</a:t>
            </a:r>
            <a:endParaRPr sz="32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drinker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’Sally’;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1211" y="2743200"/>
            <a:ext cx="4724399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80385" y="242887"/>
            <a:ext cx="2983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</a:t>
            </a:r>
            <a:r>
              <a:rPr spc="-65" dirty="0"/>
              <a:t> </a:t>
            </a:r>
            <a:r>
              <a:rPr spc="-5" dirty="0"/>
              <a:t>Views</a:t>
            </a:r>
          </a:p>
        </p:txBody>
      </p:sp>
      <p:sp>
        <p:nvSpPr>
          <p:cNvPr id="4" name="object 4"/>
          <p:cNvSpPr/>
          <p:nvPr/>
        </p:nvSpPr>
        <p:spPr>
          <a:xfrm>
            <a:off x="1503997" y="4658359"/>
            <a:ext cx="4383405" cy="540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8988" y="4778578"/>
            <a:ext cx="1827695" cy="2909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03997" y="5082222"/>
            <a:ext cx="2214879" cy="4686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02672" y="5082222"/>
            <a:ext cx="2284730" cy="4686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3997" y="5434647"/>
            <a:ext cx="2214879" cy="10337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02739" y="5033009"/>
            <a:ext cx="1092835" cy="1291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765"/>
              </a:spcBef>
            </a:pPr>
            <a:r>
              <a:rPr sz="1800" i="1" spc="-5" dirty="0">
                <a:latin typeface="Arial"/>
                <a:cs typeface="Arial"/>
              </a:rPr>
              <a:t>Lastname</a:t>
            </a:r>
            <a:endParaRPr sz="1800">
              <a:latin typeface="Arial"/>
              <a:cs typeface="Arial"/>
            </a:endParaRPr>
          </a:p>
          <a:p>
            <a:pPr marL="12700" marR="144780">
              <a:lnSpc>
                <a:spcPct val="100000"/>
              </a:lnSpc>
              <a:spcBef>
                <a:spcPts val="665"/>
              </a:spcBef>
            </a:pPr>
            <a:r>
              <a:rPr sz="1800" spc="-5" dirty="0">
                <a:latin typeface="Arial"/>
                <a:cs typeface="Arial"/>
              </a:rPr>
              <a:t>Davolio  Fuller  Le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rli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02672" y="5434647"/>
            <a:ext cx="2284730" cy="10337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1415" y="5033009"/>
            <a:ext cx="1105535" cy="1291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65"/>
              </a:spcBef>
            </a:pPr>
            <a:r>
              <a:rPr sz="1800" i="1" spc="-5" dirty="0">
                <a:latin typeface="Arial"/>
                <a:cs typeface="Arial"/>
              </a:rPr>
              <a:t>Firstname</a:t>
            </a:r>
            <a:endParaRPr sz="1800">
              <a:latin typeface="Arial"/>
              <a:cs typeface="Arial"/>
            </a:endParaRPr>
          </a:p>
          <a:p>
            <a:pPr marL="12700" marR="309880">
              <a:lnSpc>
                <a:spcPct val="100000"/>
              </a:lnSpc>
              <a:spcBef>
                <a:spcPts val="665"/>
              </a:spcBef>
            </a:pPr>
            <a:r>
              <a:rPr sz="1800" spc="-5" dirty="0">
                <a:latin typeface="Arial"/>
                <a:cs typeface="Arial"/>
              </a:rPr>
              <a:t>Nancy  And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w  </a:t>
            </a:r>
            <a:r>
              <a:rPr sz="1800" spc="-5" dirty="0">
                <a:latin typeface="Arial"/>
                <a:cs typeface="Arial"/>
              </a:rPr>
              <a:t>Janet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4397" y="1122997"/>
            <a:ext cx="6785292" cy="5400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99388" y="1243215"/>
            <a:ext cx="1383182" cy="2909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4397" y="1546860"/>
            <a:ext cx="1640204" cy="4686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18397" y="1546860"/>
            <a:ext cx="1698942" cy="4686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01134" y="1546860"/>
            <a:ext cx="2465705" cy="4686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0634" y="1546860"/>
            <a:ext cx="1329055" cy="46862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4397" y="1899285"/>
            <a:ext cx="1640204" cy="103378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18397" y="1899285"/>
            <a:ext cx="1698942" cy="125444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93139" y="1497647"/>
            <a:ext cx="2654935" cy="1291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1599565" algn="l"/>
              </a:tabLst>
            </a:pPr>
            <a:r>
              <a:rPr sz="1800" i="1" spc="-5" dirty="0">
                <a:latin typeface="Arial"/>
                <a:cs typeface="Arial"/>
              </a:rPr>
              <a:t>EmployeeID	LastName</a:t>
            </a:r>
            <a:endParaRPr sz="1800">
              <a:latin typeface="Arial"/>
              <a:cs typeface="Arial"/>
            </a:endParaRPr>
          </a:p>
          <a:p>
            <a:pPr marL="1536700" indent="-1524000">
              <a:lnSpc>
                <a:spcPct val="100000"/>
              </a:lnSpc>
              <a:spcBef>
                <a:spcPts val="665"/>
              </a:spcBef>
              <a:buAutoNum type="arabicPlain"/>
              <a:tabLst>
                <a:tab pos="1536065" algn="l"/>
                <a:tab pos="1536700" algn="l"/>
              </a:tabLst>
            </a:pPr>
            <a:r>
              <a:rPr sz="1800" spc="-5" dirty="0">
                <a:latin typeface="Arial"/>
                <a:cs typeface="Arial"/>
              </a:rPr>
              <a:t>Davolio</a:t>
            </a:r>
            <a:endParaRPr sz="1800">
              <a:latin typeface="Arial"/>
              <a:cs typeface="Arial"/>
            </a:endParaRPr>
          </a:p>
          <a:p>
            <a:pPr marL="1536700" indent="-1524000">
              <a:lnSpc>
                <a:spcPct val="100000"/>
              </a:lnSpc>
              <a:buAutoNum type="arabicPlain"/>
              <a:tabLst>
                <a:tab pos="1536065" algn="l"/>
                <a:tab pos="1536700" algn="l"/>
              </a:tabLst>
            </a:pPr>
            <a:r>
              <a:rPr sz="1800" spc="-5" dirty="0">
                <a:latin typeface="Arial"/>
                <a:cs typeface="Arial"/>
              </a:rPr>
              <a:t>Fuller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7139" y="2489517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Leverling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01134" y="1899285"/>
            <a:ext cx="2465705" cy="103378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99877" y="1497647"/>
            <a:ext cx="1042035" cy="1291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i="1" spc="-5" dirty="0">
                <a:latin typeface="Arial"/>
                <a:cs typeface="Arial"/>
              </a:rPr>
              <a:t>Firstname</a:t>
            </a:r>
            <a:endParaRPr sz="1800">
              <a:latin typeface="Arial"/>
              <a:cs typeface="Arial"/>
            </a:endParaRPr>
          </a:p>
          <a:p>
            <a:pPr marL="12700" marR="246379">
              <a:lnSpc>
                <a:spcPct val="100000"/>
              </a:lnSpc>
              <a:spcBef>
                <a:spcPts val="665"/>
              </a:spcBef>
            </a:pPr>
            <a:r>
              <a:rPr sz="1800" spc="-5" dirty="0">
                <a:latin typeface="Arial"/>
                <a:cs typeface="Arial"/>
              </a:rPr>
              <a:t>Nancy  And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w  </a:t>
            </a:r>
            <a:r>
              <a:rPr sz="1800" spc="-5" dirty="0">
                <a:latin typeface="Arial"/>
                <a:cs typeface="Arial"/>
              </a:rPr>
              <a:t>Janet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50634" y="1899285"/>
            <a:ext cx="1329055" cy="103378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449377" y="1497647"/>
            <a:ext cx="455295" cy="1291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800" i="1" spc="-20" dirty="0">
                <a:latin typeface="Arial"/>
                <a:cs typeface="Arial"/>
              </a:rPr>
              <a:t>T</a:t>
            </a:r>
            <a:r>
              <a:rPr sz="1800" i="1" dirty="0">
                <a:latin typeface="Arial"/>
                <a:cs typeface="Arial"/>
              </a:rPr>
              <a:t>i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800" i="1" dirty="0">
                <a:latin typeface="Arial"/>
                <a:cs typeface="Arial"/>
              </a:rPr>
              <a:t>le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800" spc="-5" dirty="0">
                <a:latin typeface="Arial"/>
                <a:cs typeface="Arial"/>
              </a:rPr>
              <a:t>~~~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~~~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~~~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24200" y="2895600"/>
            <a:ext cx="454151" cy="18120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117113" y="2890837"/>
            <a:ext cx="468630" cy="1828800"/>
          </a:xfrm>
          <a:custGeom>
            <a:avLst/>
            <a:gdLst/>
            <a:ahLst/>
            <a:cxnLst/>
            <a:rect l="l" t="t" r="r" b="b"/>
            <a:pathLst>
              <a:path w="468629" h="1828800">
                <a:moveTo>
                  <a:pt x="99161" y="1259281"/>
                </a:moveTo>
                <a:lnTo>
                  <a:pt x="99161" y="0"/>
                </a:lnTo>
                <a:lnTo>
                  <a:pt x="369036" y="0"/>
                </a:lnTo>
                <a:lnTo>
                  <a:pt x="369036" y="4762"/>
                </a:lnTo>
                <a:lnTo>
                  <a:pt x="108686" y="4762"/>
                </a:lnTo>
                <a:lnTo>
                  <a:pt x="103924" y="9525"/>
                </a:lnTo>
                <a:lnTo>
                  <a:pt x="108686" y="9525"/>
                </a:lnTo>
                <a:lnTo>
                  <a:pt x="108686" y="1254518"/>
                </a:lnTo>
                <a:lnTo>
                  <a:pt x="103924" y="1254518"/>
                </a:lnTo>
                <a:lnTo>
                  <a:pt x="99161" y="1259281"/>
                </a:lnTo>
                <a:close/>
              </a:path>
              <a:path w="468629" h="1828800">
                <a:moveTo>
                  <a:pt x="108686" y="9525"/>
                </a:moveTo>
                <a:lnTo>
                  <a:pt x="103924" y="9525"/>
                </a:lnTo>
                <a:lnTo>
                  <a:pt x="108686" y="4762"/>
                </a:lnTo>
                <a:lnTo>
                  <a:pt x="108686" y="9525"/>
                </a:lnTo>
                <a:close/>
              </a:path>
              <a:path w="468629" h="1828800">
                <a:moveTo>
                  <a:pt x="359511" y="9525"/>
                </a:moveTo>
                <a:lnTo>
                  <a:pt x="108686" y="9525"/>
                </a:lnTo>
                <a:lnTo>
                  <a:pt x="108686" y="4762"/>
                </a:lnTo>
                <a:lnTo>
                  <a:pt x="359511" y="4762"/>
                </a:lnTo>
                <a:lnTo>
                  <a:pt x="359511" y="9525"/>
                </a:lnTo>
                <a:close/>
              </a:path>
              <a:path w="468629" h="1828800">
                <a:moveTo>
                  <a:pt x="454027" y="1264043"/>
                </a:moveTo>
                <a:lnTo>
                  <a:pt x="359511" y="1264043"/>
                </a:lnTo>
                <a:lnTo>
                  <a:pt x="359511" y="4762"/>
                </a:lnTo>
                <a:lnTo>
                  <a:pt x="364274" y="9525"/>
                </a:lnTo>
                <a:lnTo>
                  <a:pt x="369036" y="9525"/>
                </a:lnTo>
                <a:lnTo>
                  <a:pt x="369036" y="1254518"/>
                </a:lnTo>
                <a:lnTo>
                  <a:pt x="364274" y="1254518"/>
                </a:lnTo>
                <a:lnTo>
                  <a:pt x="369036" y="1259281"/>
                </a:lnTo>
                <a:lnTo>
                  <a:pt x="455969" y="1259281"/>
                </a:lnTo>
                <a:lnTo>
                  <a:pt x="454027" y="1264043"/>
                </a:lnTo>
                <a:close/>
              </a:path>
              <a:path w="468629" h="1828800">
                <a:moveTo>
                  <a:pt x="369036" y="9525"/>
                </a:moveTo>
                <a:lnTo>
                  <a:pt x="364274" y="9525"/>
                </a:lnTo>
                <a:lnTo>
                  <a:pt x="359511" y="4762"/>
                </a:lnTo>
                <a:lnTo>
                  <a:pt x="369036" y="4762"/>
                </a:lnTo>
                <a:lnTo>
                  <a:pt x="369036" y="9525"/>
                </a:lnTo>
                <a:close/>
              </a:path>
              <a:path w="468629" h="1828800">
                <a:moveTo>
                  <a:pt x="234099" y="1828711"/>
                </a:moveTo>
                <a:lnTo>
                  <a:pt x="0" y="1254518"/>
                </a:lnTo>
                <a:lnTo>
                  <a:pt x="99161" y="1254518"/>
                </a:lnTo>
                <a:lnTo>
                  <a:pt x="99161" y="1257477"/>
                </a:lnTo>
                <a:lnTo>
                  <a:pt x="11493" y="1257477"/>
                </a:lnTo>
                <a:lnTo>
                  <a:pt x="7086" y="1264043"/>
                </a:lnTo>
                <a:lnTo>
                  <a:pt x="14170" y="1264043"/>
                </a:lnTo>
                <a:lnTo>
                  <a:pt x="234099" y="1803487"/>
                </a:lnTo>
                <a:lnTo>
                  <a:pt x="229692" y="1814296"/>
                </a:lnTo>
                <a:lnTo>
                  <a:pt x="239975" y="1814296"/>
                </a:lnTo>
                <a:lnTo>
                  <a:pt x="234099" y="1828711"/>
                </a:lnTo>
                <a:close/>
              </a:path>
              <a:path w="468629" h="1828800">
                <a:moveTo>
                  <a:pt x="108686" y="1259281"/>
                </a:moveTo>
                <a:lnTo>
                  <a:pt x="99161" y="1259281"/>
                </a:lnTo>
                <a:lnTo>
                  <a:pt x="103924" y="1254518"/>
                </a:lnTo>
                <a:lnTo>
                  <a:pt x="108686" y="1254518"/>
                </a:lnTo>
                <a:lnTo>
                  <a:pt x="108686" y="1259281"/>
                </a:lnTo>
                <a:close/>
              </a:path>
              <a:path w="468629" h="1828800">
                <a:moveTo>
                  <a:pt x="369036" y="1259281"/>
                </a:moveTo>
                <a:lnTo>
                  <a:pt x="364274" y="1254518"/>
                </a:lnTo>
                <a:lnTo>
                  <a:pt x="369036" y="1254518"/>
                </a:lnTo>
                <a:lnTo>
                  <a:pt x="369036" y="1259281"/>
                </a:lnTo>
                <a:close/>
              </a:path>
              <a:path w="468629" h="1828800">
                <a:moveTo>
                  <a:pt x="455969" y="1259281"/>
                </a:moveTo>
                <a:lnTo>
                  <a:pt x="369036" y="1259281"/>
                </a:lnTo>
                <a:lnTo>
                  <a:pt x="369036" y="1254518"/>
                </a:lnTo>
                <a:lnTo>
                  <a:pt x="468198" y="1254518"/>
                </a:lnTo>
                <a:lnTo>
                  <a:pt x="466991" y="1257477"/>
                </a:lnTo>
                <a:lnTo>
                  <a:pt x="456704" y="1257477"/>
                </a:lnTo>
                <a:lnTo>
                  <a:pt x="455969" y="1259281"/>
                </a:lnTo>
                <a:close/>
              </a:path>
              <a:path w="468629" h="1828800">
                <a:moveTo>
                  <a:pt x="14170" y="1264043"/>
                </a:moveTo>
                <a:lnTo>
                  <a:pt x="7086" y="1264043"/>
                </a:lnTo>
                <a:lnTo>
                  <a:pt x="11493" y="1257477"/>
                </a:lnTo>
                <a:lnTo>
                  <a:pt x="14170" y="1264043"/>
                </a:lnTo>
                <a:close/>
              </a:path>
              <a:path w="468629" h="1828800">
                <a:moveTo>
                  <a:pt x="108686" y="1264043"/>
                </a:moveTo>
                <a:lnTo>
                  <a:pt x="14170" y="1264043"/>
                </a:lnTo>
                <a:lnTo>
                  <a:pt x="11493" y="1257477"/>
                </a:lnTo>
                <a:lnTo>
                  <a:pt x="99161" y="1257477"/>
                </a:lnTo>
                <a:lnTo>
                  <a:pt x="99161" y="1259281"/>
                </a:lnTo>
                <a:lnTo>
                  <a:pt x="108686" y="1259281"/>
                </a:lnTo>
                <a:lnTo>
                  <a:pt x="108686" y="1264043"/>
                </a:lnTo>
                <a:close/>
              </a:path>
              <a:path w="468629" h="1828800">
                <a:moveTo>
                  <a:pt x="239975" y="1814296"/>
                </a:moveTo>
                <a:lnTo>
                  <a:pt x="238505" y="1814296"/>
                </a:lnTo>
                <a:lnTo>
                  <a:pt x="234099" y="1803487"/>
                </a:lnTo>
                <a:lnTo>
                  <a:pt x="456704" y="1257477"/>
                </a:lnTo>
                <a:lnTo>
                  <a:pt x="461111" y="1264043"/>
                </a:lnTo>
                <a:lnTo>
                  <a:pt x="464314" y="1264043"/>
                </a:lnTo>
                <a:lnTo>
                  <a:pt x="239975" y="1814296"/>
                </a:lnTo>
                <a:close/>
              </a:path>
              <a:path w="468629" h="1828800">
                <a:moveTo>
                  <a:pt x="464314" y="1264043"/>
                </a:moveTo>
                <a:lnTo>
                  <a:pt x="461111" y="1264043"/>
                </a:lnTo>
                <a:lnTo>
                  <a:pt x="456704" y="1257477"/>
                </a:lnTo>
                <a:lnTo>
                  <a:pt x="466991" y="1257477"/>
                </a:lnTo>
                <a:lnTo>
                  <a:pt x="464314" y="1264043"/>
                </a:lnTo>
                <a:close/>
              </a:path>
              <a:path w="468629" h="1828800">
                <a:moveTo>
                  <a:pt x="238505" y="1814296"/>
                </a:moveTo>
                <a:lnTo>
                  <a:pt x="229692" y="1814296"/>
                </a:lnTo>
                <a:lnTo>
                  <a:pt x="234099" y="1803487"/>
                </a:lnTo>
                <a:lnTo>
                  <a:pt x="238505" y="181429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096000" y="5334000"/>
            <a:ext cx="1970531" cy="7757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086106" y="5325948"/>
            <a:ext cx="1985010" cy="792480"/>
          </a:xfrm>
          <a:custGeom>
            <a:avLst/>
            <a:gdLst/>
            <a:ahLst/>
            <a:cxnLst/>
            <a:rect l="l" t="t" r="r" b="b"/>
            <a:pathLst>
              <a:path w="1985009" h="792479">
                <a:moveTo>
                  <a:pt x="721880" y="792391"/>
                </a:moveTo>
                <a:lnTo>
                  <a:pt x="0" y="396201"/>
                </a:lnTo>
                <a:lnTo>
                  <a:pt x="721880" y="0"/>
                </a:lnTo>
                <a:lnTo>
                  <a:pt x="721880" y="8051"/>
                </a:lnTo>
                <a:lnTo>
                  <a:pt x="712355" y="8051"/>
                </a:lnTo>
                <a:lnTo>
                  <a:pt x="712355" y="16098"/>
                </a:lnTo>
                <a:lnTo>
                  <a:pt x="27382" y="392023"/>
                </a:lnTo>
                <a:lnTo>
                  <a:pt x="12179" y="392023"/>
                </a:lnTo>
                <a:lnTo>
                  <a:pt x="12179" y="400367"/>
                </a:lnTo>
                <a:lnTo>
                  <a:pt x="27382" y="400367"/>
                </a:lnTo>
                <a:lnTo>
                  <a:pt x="712355" y="776292"/>
                </a:lnTo>
                <a:lnTo>
                  <a:pt x="712355" y="784339"/>
                </a:lnTo>
                <a:lnTo>
                  <a:pt x="721880" y="784339"/>
                </a:lnTo>
                <a:lnTo>
                  <a:pt x="721880" y="792391"/>
                </a:lnTo>
                <a:close/>
              </a:path>
              <a:path w="1985009" h="792479">
                <a:moveTo>
                  <a:pt x="712355" y="16098"/>
                </a:moveTo>
                <a:lnTo>
                  <a:pt x="712355" y="8051"/>
                </a:lnTo>
                <a:lnTo>
                  <a:pt x="719404" y="12230"/>
                </a:lnTo>
                <a:lnTo>
                  <a:pt x="712355" y="16098"/>
                </a:lnTo>
                <a:close/>
              </a:path>
              <a:path w="1985009" h="792479">
                <a:moveTo>
                  <a:pt x="1975218" y="202463"/>
                </a:moveTo>
                <a:lnTo>
                  <a:pt x="712355" y="202463"/>
                </a:lnTo>
                <a:lnTo>
                  <a:pt x="712355" y="16098"/>
                </a:lnTo>
                <a:lnTo>
                  <a:pt x="719404" y="12230"/>
                </a:lnTo>
                <a:lnTo>
                  <a:pt x="712355" y="8051"/>
                </a:lnTo>
                <a:lnTo>
                  <a:pt x="721880" y="8051"/>
                </a:lnTo>
                <a:lnTo>
                  <a:pt x="721880" y="192938"/>
                </a:lnTo>
                <a:lnTo>
                  <a:pt x="717118" y="192938"/>
                </a:lnTo>
                <a:lnTo>
                  <a:pt x="721880" y="197700"/>
                </a:lnTo>
                <a:lnTo>
                  <a:pt x="1975218" y="197700"/>
                </a:lnTo>
                <a:lnTo>
                  <a:pt x="1975218" y="202463"/>
                </a:lnTo>
                <a:close/>
              </a:path>
              <a:path w="1985009" h="792479">
                <a:moveTo>
                  <a:pt x="721880" y="197700"/>
                </a:moveTo>
                <a:lnTo>
                  <a:pt x="717118" y="192938"/>
                </a:lnTo>
                <a:lnTo>
                  <a:pt x="721880" y="192938"/>
                </a:lnTo>
                <a:lnTo>
                  <a:pt x="721880" y="197700"/>
                </a:lnTo>
                <a:close/>
              </a:path>
              <a:path w="1985009" h="792479">
                <a:moveTo>
                  <a:pt x="1984743" y="202463"/>
                </a:moveTo>
                <a:lnTo>
                  <a:pt x="1979980" y="202463"/>
                </a:lnTo>
                <a:lnTo>
                  <a:pt x="1975218" y="197700"/>
                </a:lnTo>
                <a:lnTo>
                  <a:pt x="721880" y="197700"/>
                </a:lnTo>
                <a:lnTo>
                  <a:pt x="721880" y="192938"/>
                </a:lnTo>
                <a:lnTo>
                  <a:pt x="1984743" y="192938"/>
                </a:lnTo>
                <a:lnTo>
                  <a:pt x="1984743" y="202463"/>
                </a:lnTo>
                <a:close/>
              </a:path>
              <a:path w="1985009" h="792479">
                <a:moveTo>
                  <a:pt x="1975218" y="594690"/>
                </a:moveTo>
                <a:lnTo>
                  <a:pt x="1975218" y="197700"/>
                </a:lnTo>
                <a:lnTo>
                  <a:pt x="1979980" y="202463"/>
                </a:lnTo>
                <a:lnTo>
                  <a:pt x="1984743" y="202463"/>
                </a:lnTo>
                <a:lnTo>
                  <a:pt x="1984743" y="589927"/>
                </a:lnTo>
                <a:lnTo>
                  <a:pt x="1979980" y="589927"/>
                </a:lnTo>
                <a:lnTo>
                  <a:pt x="1975218" y="594690"/>
                </a:lnTo>
                <a:close/>
              </a:path>
              <a:path w="1985009" h="792479">
                <a:moveTo>
                  <a:pt x="12179" y="400367"/>
                </a:moveTo>
                <a:lnTo>
                  <a:pt x="12179" y="392023"/>
                </a:lnTo>
                <a:lnTo>
                  <a:pt x="19781" y="396195"/>
                </a:lnTo>
                <a:lnTo>
                  <a:pt x="12179" y="400367"/>
                </a:lnTo>
                <a:close/>
              </a:path>
              <a:path w="1985009" h="792479">
                <a:moveTo>
                  <a:pt x="19781" y="396195"/>
                </a:moveTo>
                <a:lnTo>
                  <a:pt x="12179" y="392023"/>
                </a:lnTo>
                <a:lnTo>
                  <a:pt x="27382" y="392023"/>
                </a:lnTo>
                <a:lnTo>
                  <a:pt x="19781" y="396195"/>
                </a:lnTo>
                <a:close/>
              </a:path>
              <a:path w="1985009" h="792479">
                <a:moveTo>
                  <a:pt x="27382" y="400367"/>
                </a:moveTo>
                <a:lnTo>
                  <a:pt x="12179" y="400367"/>
                </a:lnTo>
                <a:lnTo>
                  <a:pt x="19792" y="396201"/>
                </a:lnTo>
                <a:lnTo>
                  <a:pt x="27382" y="400367"/>
                </a:lnTo>
                <a:close/>
              </a:path>
              <a:path w="1985009" h="792479">
                <a:moveTo>
                  <a:pt x="721880" y="784339"/>
                </a:moveTo>
                <a:lnTo>
                  <a:pt x="712355" y="784339"/>
                </a:lnTo>
                <a:lnTo>
                  <a:pt x="719404" y="780161"/>
                </a:lnTo>
                <a:lnTo>
                  <a:pt x="712355" y="776292"/>
                </a:lnTo>
                <a:lnTo>
                  <a:pt x="712355" y="589927"/>
                </a:lnTo>
                <a:lnTo>
                  <a:pt x="1975218" y="589927"/>
                </a:lnTo>
                <a:lnTo>
                  <a:pt x="1975218" y="594690"/>
                </a:lnTo>
                <a:lnTo>
                  <a:pt x="721880" y="594690"/>
                </a:lnTo>
                <a:lnTo>
                  <a:pt x="717118" y="599452"/>
                </a:lnTo>
                <a:lnTo>
                  <a:pt x="721880" y="599452"/>
                </a:lnTo>
                <a:lnTo>
                  <a:pt x="721880" y="784339"/>
                </a:lnTo>
                <a:close/>
              </a:path>
              <a:path w="1985009" h="792479">
                <a:moveTo>
                  <a:pt x="1984743" y="599452"/>
                </a:moveTo>
                <a:lnTo>
                  <a:pt x="721880" y="599452"/>
                </a:lnTo>
                <a:lnTo>
                  <a:pt x="721880" y="594690"/>
                </a:lnTo>
                <a:lnTo>
                  <a:pt x="1975218" y="594690"/>
                </a:lnTo>
                <a:lnTo>
                  <a:pt x="1979980" y="589927"/>
                </a:lnTo>
                <a:lnTo>
                  <a:pt x="1984743" y="589927"/>
                </a:lnTo>
                <a:lnTo>
                  <a:pt x="1984743" y="599452"/>
                </a:lnTo>
                <a:close/>
              </a:path>
              <a:path w="1985009" h="792479">
                <a:moveTo>
                  <a:pt x="721880" y="599452"/>
                </a:moveTo>
                <a:lnTo>
                  <a:pt x="717118" y="599452"/>
                </a:lnTo>
                <a:lnTo>
                  <a:pt x="721880" y="594690"/>
                </a:lnTo>
                <a:lnTo>
                  <a:pt x="721880" y="599452"/>
                </a:lnTo>
                <a:close/>
              </a:path>
              <a:path w="1985009" h="792479">
                <a:moveTo>
                  <a:pt x="712355" y="784339"/>
                </a:moveTo>
                <a:lnTo>
                  <a:pt x="712355" y="776292"/>
                </a:lnTo>
                <a:lnTo>
                  <a:pt x="719404" y="780161"/>
                </a:lnTo>
                <a:lnTo>
                  <a:pt x="712355" y="78433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22160" y="5620194"/>
            <a:ext cx="1314919" cy="22081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56797" y="3204210"/>
            <a:ext cx="3756977" cy="132905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955540" y="3243262"/>
            <a:ext cx="3456940" cy="96964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220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VIEW dbo.EmployeeView  AS</a:t>
            </a:r>
            <a:endParaRPr sz="1600">
              <a:latin typeface="Lucida Sans Typewriter"/>
              <a:cs typeface="Lucida Sans Typewriter"/>
            </a:endParaRPr>
          </a:p>
          <a:p>
            <a:pPr marL="12700" marR="250190">
              <a:lnSpc>
                <a:spcPts val="1839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LastName, Firstname  FROM</a:t>
            </a:r>
            <a:r>
              <a:rPr sz="1600" spc="-1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Employees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267200" y="2895600"/>
            <a:ext cx="454151" cy="181203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60113" y="2890837"/>
            <a:ext cx="468630" cy="1828800"/>
          </a:xfrm>
          <a:custGeom>
            <a:avLst/>
            <a:gdLst/>
            <a:ahLst/>
            <a:cxnLst/>
            <a:rect l="l" t="t" r="r" b="b"/>
            <a:pathLst>
              <a:path w="468629" h="1828800">
                <a:moveTo>
                  <a:pt x="99161" y="1259281"/>
                </a:moveTo>
                <a:lnTo>
                  <a:pt x="99161" y="0"/>
                </a:lnTo>
                <a:lnTo>
                  <a:pt x="369036" y="0"/>
                </a:lnTo>
                <a:lnTo>
                  <a:pt x="369036" y="4762"/>
                </a:lnTo>
                <a:lnTo>
                  <a:pt x="108686" y="4762"/>
                </a:lnTo>
                <a:lnTo>
                  <a:pt x="103924" y="9525"/>
                </a:lnTo>
                <a:lnTo>
                  <a:pt x="108686" y="9525"/>
                </a:lnTo>
                <a:lnTo>
                  <a:pt x="108686" y="1254518"/>
                </a:lnTo>
                <a:lnTo>
                  <a:pt x="103924" y="1254518"/>
                </a:lnTo>
                <a:lnTo>
                  <a:pt x="99161" y="1259281"/>
                </a:lnTo>
                <a:close/>
              </a:path>
              <a:path w="468629" h="1828800">
                <a:moveTo>
                  <a:pt x="108686" y="9525"/>
                </a:moveTo>
                <a:lnTo>
                  <a:pt x="103924" y="9525"/>
                </a:lnTo>
                <a:lnTo>
                  <a:pt x="108686" y="4762"/>
                </a:lnTo>
                <a:lnTo>
                  <a:pt x="108686" y="9525"/>
                </a:lnTo>
                <a:close/>
              </a:path>
              <a:path w="468629" h="1828800">
                <a:moveTo>
                  <a:pt x="359511" y="9525"/>
                </a:moveTo>
                <a:lnTo>
                  <a:pt x="108686" y="9525"/>
                </a:lnTo>
                <a:lnTo>
                  <a:pt x="108686" y="4762"/>
                </a:lnTo>
                <a:lnTo>
                  <a:pt x="359511" y="4762"/>
                </a:lnTo>
                <a:lnTo>
                  <a:pt x="359511" y="9525"/>
                </a:lnTo>
                <a:close/>
              </a:path>
              <a:path w="468629" h="1828800">
                <a:moveTo>
                  <a:pt x="454027" y="1264043"/>
                </a:moveTo>
                <a:lnTo>
                  <a:pt x="359511" y="1264043"/>
                </a:lnTo>
                <a:lnTo>
                  <a:pt x="359511" y="4762"/>
                </a:lnTo>
                <a:lnTo>
                  <a:pt x="364274" y="9525"/>
                </a:lnTo>
                <a:lnTo>
                  <a:pt x="369036" y="9525"/>
                </a:lnTo>
                <a:lnTo>
                  <a:pt x="369036" y="1254518"/>
                </a:lnTo>
                <a:lnTo>
                  <a:pt x="364274" y="1254518"/>
                </a:lnTo>
                <a:lnTo>
                  <a:pt x="369036" y="1259281"/>
                </a:lnTo>
                <a:lnTo>
                  <a:pt x="455969" y="1259281"/>
                </a:lnTo>
                <a:lnTo>
                  <a:pt x="454027" y="1264043"/>
                </a:lnTo>
                <a:close/>
              </a:path>
              <a:path w="468629" h="1828800">
                <a:moveTo>
                  <a:pt x="369036" y="9525"/>
                </a:moveTo>
                <a:lnTo>
                  <a:pt x="364274" y="9525"/>
                </a:lnTo>
                <a:lnTo>
                  <a:pt x="359511" y="4762"/>
                </a:lnTo>
                <a:lnTo>
                  <a:pt x="369036" y="4762"/>
                </a:lnTo>
                <a:lnTo>
                  <a:pt x="369036" y="9525"/>
                </a:lnTo>
                <a:close/>
              </a:path>
              <a:path w="468629" h="1828800">
                <a:moveTo>
                  <a:pt x="234099" y="1828711"/>
                </a:moveTo>
                <a:lnTo>
                  <a:pt x="0" y="1254518"/>
                </a:lnTo>
                <a:lnTo>
                  <a:pt x="99161" y="1254518"/>
                </a:lnTo>
                <a:lnTo>
                  <a:pt x="99161" y="1257477"/>
                </a:lnTo>
                <a:lnTo>
                  <a:pt x="11493" y="1257477"/>
                </a:lnTo>
                <a:lnTo>
                  <a:pt x="7086" y="1264043"/>
                </a:lnTo>
                <a:lnTo>
                  <a:pt x="14170" y="1264043"/>
                </a:lnTo>
                <a:lnTo>
                  <a:pt x="234099" y="1803487"/>
                </a:lnTo>
                <a:lnTo>
                  <a:pt x="229692" y="1814296"/>
                </a:lnTo>
                <a:lnTo>
                  <a:pt x="239975" y="1814296"/>
                </a:lnTo>
                <a:lnTo>
                  <a:pt x="234099" y="1828711"/>
                </a:lnTo>
                <a:close/>
              </a:path>
              <a:path w="468629" h="1828800">
                <a:moveTo>
                  <a:pt x="108686" y="1259281"/>
                </a:moveTo>
                <a:lnTo>
                  <a:pt x="99161" y="1259281"/>
                </a:lnTo>
                <a:lnTo>
                  <a:pt x="103924" y="1254518"/>
                </a:lnTo>
                <a:lnTo>
                  <a:pt x="108686" y="1254518"/>
                </a:lnTo>
                <a:lnTo>
                  <a:pt x="108686" y="1259281"/>
                </a:lnTo>
                <a:close/>
              </a:path>
              <a:path w="468629" h="1828800">
                <a:moveTo>
                  <a:pt x="369036" y="1259281"/>
                </a:moveTo>
                <a:lnTo>
                  <a:pt x="364274" y="1254518"/>
                </a:lnTo>
                <a:lnTo>
                  <a:pt x="369036" y="1254518"/>
                </a:lnTo>
                <a:lnTo>
                  <a:pt x="369036" y="1259281"/>
                </a:lnTo>
                <a:close/>
              </a:path>
              <a:path w="468629" h="1828800">
                <a:moveTo>
                  <a:pt x="455969" y="1259281"/>
                </a:moveTo>
                <a:lnTo>
                  <a:pt x="369036" y="1259281"/>
                </a:lnTo>
                <a:lnTo>
                  <a:pt x="369036" y="1254518"/>
                </a:lnTo>
                <a:lnTo>
                  <a:pt x="468198" y="1254518"/>
                </a:lnTo>
                <a:lnTo>
                  <a:pt x="466991" y="1257477"/>
                </a:lnTo>
                <a:lnTo>
                  <a:pt x="456704" y="1257477"/>
                </a:lnTo>
                <a:lnTo>
                  <a:pt x="455969" y="1259281"/>
                </a:lnTo>
                <a:close/>
              </a:path>
              <a:path w="468629" h="1828800">
                <a:moveTo>
                  <a:pt x="14170" y="1264043"/>
                </a:moveTo>
                <a:lnTo>
                  <a:pt x="7086" y="1264043"/>
                </a:lnTo>
                <a:lnTo>
                  <a:pt x="11493" y="1257477"/>
                </a:lnTo>
                <a:lnTo>
                  <a:pt x="14170" y="1264043"/>
                </a:lnTo>
                <a:close/>
              </a:path>
              <a:path w="468629" h="1828800">
                <a:moveTo>
                  <a:pt x="108686" y="1264043"/>
                </a:moveTo>
                <a:lnTo>
                  <a:pt x="14170" y="1264043"/>
                </a:lnTo>
                <a:lnTo>
                  <a:pt x="11493" y="1257477"/>
                </a:lnTo>
                <a:lnTo>
                  <a:pt x="99161" y="1257477"/>
                </a:lnTo>
                <a:lnTo>
                  <a:pt x="99161" y="1259281"/>
                </a:lnTo>
                <a:lnTo>
                  <a:pt x="108686" y="1259281"/>
                </a:lnTo>
                <a:lnTo>
                  <a:pt x="108686" y="1264043"/>
                </a:lnTo>
                <a:close/>
              </a:path>
              <a:path w="468629" h="1828800">
                <a:moveTo>
                  <a:pt x="239975" y="1814296"/>
                </a:moveTo>
                <a:lnTo>
                  <a:pt x="238505" y="1814296"/>
                </a:lnTo>
                <a:lnTo>
                  <a:pt x="234099" y="1803487"/>
                </a:lnTo>
                <a:lnTo>
                  <a:pt x="456704" y="1257477"/>
                </a:lnTo>
                <a:lnTo>
                  <a:pt x="461111" y="1264043"/>
                </a:lnTo>
                <a:lnTo>
                  <a:pt x="464314" y="1264043"/>
                </a:lnTo>
                <a:lnTo>
                  <a:pt x="239975" y="1814296"/>
                </a:lnTo>
                <a:close/>
              </a:path>
              <a:path w="468629" h="1828800">
                <a:moveTo>
                  <a:pt x="464314" y="1264043"/>
                </a:moveTo>
                <a:lnTo>
                  <a:pt x="461111" y="1264043"/>
                </a:lnTo>
                <a:lnTo>
                  <a:pt x="456704" y="1257477"/>
                </a:lnTo>
                <a:lnTo>
                  <a:pt x="466991" y="1257477"/>
                </a:lnTo>
                <a:lnTo>
                  <a:pt x="464314" y="1264043"/>
                </a:lnTo>
                <a:close/>
              </a:path>
              <a:path w="468629" h="1828800">
                <a:moveTo>
                  <a:pt x="238505" y="1814296"/>
                </a:moveTo>
                <a:lnTo>
                  <a:pt x="229692" y="1814296"/>
                </a:lnTo>
                <a:lnTo>
                  <a:pt x="234099" y="1803487"/>
                </a:lnTo>
                <a:lnTo>
                  <a:pt x="238505" y="181429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9380" y="332104"/>
            <a:ext cx="6365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Example: </a:t>
            </a:r>
            <a:r>
              <a:rPr sz="3600" dirty="0"/>
              <a:t>View of </a:t>
            </a:r>
            <a:r>
              <a:rPr sz="3600" spc="-5" dirty="0"/>
              <a:t>Joined</a:t>
            </a:r>
            <a:r>
              <a:rPr sz="3600" spc="-30" dirty="0"/>
              <a:t> </a:t>
            </a:r>
            <a:r>
              <a:rPr sz="3600" spc="-70" dirty="0"/>
              <a:t>Tables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37197" y="1351597"/>
            <a:ext cx="1106805" cy="344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3539" y="1404264"/>
            <a:ext cx="554164" cy="181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7197" y="1580197"/>
            <a:ext cx="954405" cy="14116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75397" y="1351597"/>
            <a:ext cx="1259205" cy="3482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20647" y="1393342"/>
            <a:ext cx="924699" cy="202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5397" y="1580197"/>
            <a:ext cx="1241107" cy="158972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18397" y="1351597"/>
            <a:ext cx="1030605" cy="3448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8397" y="1580197"/>
            <a:ext cx="1241107" cy="14116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42197" y="1351597"/>
            <a:ext cx="1155382" cy="3584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33142" y="1395882"/>
            <a:ext cx="1066939" cy="2382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65997" y="1580197"/>
            <a:ext cx="1259205" cy="14116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29622" y="1351597"/>
            <a:ext cx="1126807" cy="35845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59937" y="1393342"/>
            <a:ext cx="998994" cy="2408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29622" y="1580197"/>
            <a:ext cx="1109980" cy="141160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03095" y="1012190"/>
            <a:ext cx="5441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3545" algn="l"/>
              </a:tabLst>
            </a:pPr>
            <a:r>
              <a:rPr sz="1800" b="1" spc="-5" dirty="0">
                <a:latin typeface="Arial"/>
                <a:cs typeface="Arial"/>
              </a:rPr>
              <a:t>Orders	Customers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6640" y="3755390"/>
            <a:ext cx="17360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ShipStatusView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8597" y="4185284"/>
            <a:ext cx="5450205" cy="193230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7340" y="4231957"/>
            <a:ext cx="5172710" cy="173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7637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CREATE VIEW dbo.ShipStatusView  AS</a:t>
            </a:r>
            <a:endParaRPr sz="1600">
              <a:latin typeface="Lucida Sans Typewriter"/>
              <a:cs typeface="Lucida Sans Typewriter"/>
            </a:endParaRPr>
          </a:p>
          <a:p>
            <a:pPr marL="870585" marR="5080" indent="-85788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OrderID, RequiredDate, ShippedDate,  ContactName</a:t>
            </a:r>
            <a:endParaRPr sz="1600">
              <a:latin typeface="Lucida Sans Typewriter"/>
              <a:cs typeface="Lucida Sans Typewriter"/>
            </a:endParaRPr>
          </a:p>
          <a:p>
            <a:pPr marL="380365" marR="741045" indent="-367665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FROM Customers c INNER JOIN Orders o  ON c.CustomerID =</a:t>
            </a:r>
            <a:r>
              <a:rPr sz="1600" spc="-1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O.CustomerID</a:t>
            </a:r>
            <a:endParaRPr sz="1600">
              <a:latin typeface="Lucida Sans Typewriter"/>
              <a:cs typeface="Lucida Sans Typewriter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RequiredDate &lt;</a:t>
            </a:r>
            <a:r>
              <a:rPr sz="160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ShippedDate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80597" y="1351597"/>
            <a:ext cx="1106805" cy="3482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49647" y="1393342"/>
            <a:ext cx="924699" cy="202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80597" y="1580197"/>
            <a:ext cx="1106805" cy="14116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71197" y="1351597"/>
            <a:ext cx="1411605" cy="36036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858027" y="1393342"/>
            <a:ext cx="1190129" cy="24270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71197" y="1580197"/>
            <a:ext cx="1411605" cy="14116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66597" y="1351597"/>
            <a:ext cx="1487804" cy="34829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261377" y="1393342"/>
            <a:ext cx="1051064" cy="2027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66597" y="1580197"/>
            <a:ext cx="1487804" cy="14116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41350" y="1649800"/>
          <a:ext cx="7738107" cy="1058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16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9053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10663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BONAP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</a:t>
                      </a:r>
                      <a:r>
                        <a:rPr sz="1400" spc="-204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47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75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50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45" dirty="0">
                          <a:latin typeface="Arial Narrow"/>
                          <a:cs typeface="Arial Narrow"/>
                        </a:rPr>
                        <a:t>7</a:t>
                      </a:r>
                      <a:r>
                        <a:rPr sz="1400" spc="-53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-09-2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1997-10-03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BONAP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Bon app'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Laurence</a:t>
                      </a:r>
                      <a:r>
                        <a:rPr sz="1400" spc="-3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Lebihan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marL="317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10827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BONAP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</a:t>
                      </a:r>
                      <a:r>
                        <a:rPr sz="1400" spc="-204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47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75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50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45" dirty="0">
                          <a:latin typeface="Arial Narrow"/>
                          <a:cs typeface="Arial Narrow"/>
                        </a:rPr>
                        <a:t>8</a:t>
                      </a:r>
                      <a:r>
                        <a:rPr sz="1400" spc="-53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-01-2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6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1998-02-06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PICCO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Piccolo und</a:t>
                      </a:r>
                      <a:r>
                        <a:rPr sz="1400" spc="-25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mehr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Georg</a:t>
                      </a:r>
                      <a:r>
                        <a:rPr sz="14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Pipps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">
                <a:tc>
                  <a:txBody>
                    <a:bodyPr/>
                    <a:lstStyle/>
                    <a:p>
                      <a:pPr marL="317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10427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PICCO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</a:t>
                      </a:r>
                      <a:r>
                        <a:rPr sz="1400" spc="-204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47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75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50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45" dirty="0">
                          <a:latin typeface="Arial Narrow"/>
                          <a:cs typeface="Arial Narrow"/>
                        </a:rPr>
                        <a:t>7</a:t>
                      </a:r>
                      <a:r>
                        <a:rPr sz="1400" spc="-53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-02-2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1997-03-03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QUICK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QUICK-Stop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Horst</a:t>
                      </a:r>
                      <a:r>
                        <a:rPr sz="1400" spc="-1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Kloss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10451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QUICK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</a:t>
                      </a:r>
                      <a:r>
                        <a:rPr sz="1400" spc="-204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47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75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50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45" dirty="0">
                          <a:latin typeface="Arial Narrow"/>
                          <a:cs typeface="Arial Narrow"/>
                        </a:rPr>
                        <a:t>7</a:t>
                      </a:r>
                      <a:r>
                        <a:rPr sz="1400" spc="-53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-03-0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5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80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1997-03-12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53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10515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QUICK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</a:t>
                      </a:r>
                      <a:r>
                        <a:rPr sz="1400" spc="-204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47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75" dirty="0">
                          <a:latin typeface="Arial Narrow"/>
                          <a:cs typeface="Arial Narrow"/>
                        </a:rPr>
                        <a:t>9</a:t>
                      </a:r>
                      <a:r>
                        <a:rPr sz="1400" spc="-50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145" dirty="0">
                          <a:latin typeface="Arial Narrow"/>
                          <a:cs typeface="Arial Narrow"/>
                        </a:rPr>
                        <a:t>7</a:t>
                      </a:r>
                      <a:r>
                        <a:rPr sz="1400" spc="-535" dirty="0">
                          <a:latin typeface="Arial Narrow"/>
                          <a:cs typeface="Arial Narrow"/>
                        </a:rPr>
                        <a:t>~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-05-0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7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4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1997-05-23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3771900" y="2726435"/>
            <a:ext cx="2862072" cy="173888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65537" y="2719768"/>
            <a:ext cx="2883535" cy="1754505"/>
          </a:xfrm>
          <a:custGeom>
            <a:avLst/>
            <a:gdLst/>
            <a:ahLst/>
            <a:cxnLst/>
            <a:rect l="l" t="t" r="r" b="b"/>
            <a:pathLst>
              <a:path w="2883534" h="1754504">
                <a:moveTo>
                  <a:pt x="2401849" y="1570914"/>
                </a:moveTo>
                <a:lnTo>
                  <a:pt x="0" y="150812"/>
                </a:lnTo>
                <a:lnTo>
                  <a:pt x="89166" y="0"/>
                </a:lnTo>
                <a:lnTo>
                  <a:pt x="104288" y="8940"/>
                </a:lnTo>
                <a:lnTo>
                  <a:pt x="94945" y="8940"/>
                </a:lnTo>
                <a:lnTo>
                  <a:pt x="88417" y="10617"/>
                </a:lnTo>
                <a:lnTo>
                  <a:pt x="92519" y="13042"/>
                </a:lnTo>
                <a:lnTo>
                  <a:pt x="14476" y="145034"/>
                </a:lnTo>
                <a:lnTo>
                  <a:pt x="8940" y="145034"/>
                </a:lnTo>
                <a:lnTo>
                  <a:pt x="10617" y="151561"/>
                </a:lnTo>
                <a:lnTo>
                  <a:pt x="19981" y="151561"/>
                </a:lnTo>
                <a:lnTo>
                  <a:pt x="2413624" y="1566811"/>
                </a:lnTo>
                <a:lnTo>
                  <a:pt x="2404275" y="1566811"/>
                </a:lnTo>
                <a:lnTo>
                  <a:pt x="2401849" y="1570914"/>
                </a:lnTo>
                <a:close/>
              </a:path>
              <a:path w="2883534" h="1754504">
                <a:moveTo>
                  <a:pt x="92519" y="13042"/>
                </a:moveTo>
                <a:lnTo>
                  <a:pt x="88417" y="10617"/>
                </a:lnTo>
                <a:lnTo>
                  <a:pt x="94945" y="8940"/>
                </a:lnTo>
                <a:lnTo>
                  <a:pt x="92519" y="13042"/>
                </a:lnTo>
                <a:close/>
              </a:path>
              <a:path w="2883534" h="1754504">
                <a:moveTo>
                  <a:pt x="2494368" y="1433144"/>
                </a:moveTo>
                <a:lnTo>
                  <a:pt x="92519" y="13042"/>
                </a:lnTo>
                <a:lnTo>
                  <a:pt x="94945" y="8940"/>
                </a:lnTo>
                <a:lnTo>
                  <a:pt x="104288" y="8940"/>
                </a:lnTo>
                <a:lnTo>
                  <a:pt x="2491015" y="1420101"/>
                </a:lnTo>
                <a:lnTo>
                  <a:pt x="2488590" y="1424203"/>
                </a:lnTo>
                <a:lnTo>
                  <a:pt x="2499655" y="1424203"/>
                </a:lnTo>
                <a:lnTo>
                  <a:pt x="2494368" y="1433144"/>
                </a:lnTo>
                <a:close/>
              </a:path>
              <a:path w="2883534" h="1754504">
                <a:moveTo>
                  <a:pt x="10617" y="151561"/>
                </a:moveTo>
                <a:lnTo>
                  <a:pt x="8940" y="145034"/>
                </a:lnTo>
                <a:lnTo>
                  <a:pt x="13042" y="147459"/>
                </a:lnTo>
                <a:lnTo>
                  <a:pt x="10617" y="151561"/>
                </a:lnTo>
                <a:close/>
              </a:path>
              <a:path w="2883534" h="1754504">
                <a:moveTo>
                  <a:pt x="13042" y="147459"/>
                </a:moveTo>
                <a:lnTo>
                  <a:pt x="8940" y="145034"/>
                </a:lnTo>
                <a:lnTo>
                  <a:pt x="14476" y="145034"/>
                </a:lnTo>
                <a:lnTo>
                  <a:pt x="13042" y="147459"/>
                </a:lnTo>
                <a:close/>
              </a:path>
              <a:path w="2883534" h="1754504">
                <a:moveTo>
                  <a:pt x="19981" y="151561"/>
                </a:moveTo>
                <a:lnTo>
                  <a:pt x="10617" y="151561"/>
                </a:lnTo>
                <a:lnTo>
                  <a:pt x="13042" y="147459"/>
                </a:lnTo>
                <a:lnTo>
                  <a:pt x="19981" y="151561"/>
                </a:lnTo>
                <a:close/>
              </a:path>
              <a:path w="2883534" h="1754504">
                <a:moveTo>
                  <a:pt x="2499655" y="1424203"/>
                </a:moveTo>
                <a:lnTo>
                  <a:pt x="2488590" y="1424203"/>
                </a:lnTo>
                <a:lnTo>
                  <a:pt x="2495118" y="1422527"/>
                </a:lnTo>
                <a:lnTo>
                  <a:pt x="2491015" y="1420101"/>
                </a:lnTo>
                <a:lnTo>
                  <a:pt x="2523616" y="1364970"/>
                </a:lnTo>
                <a:lnTo>
                  <a:pt x="2533193" y="1375321"/>
                </a:lnTo>
                <a:lnTo>
                  <a:pt x="2528557" y="1375321"/>
                </a:lnTo>
                <a:lnTo>
                  <a:pt x="2520962" y="1376133"/>
                </a:lnTo>
                <a:lnTo>
                  <a:pt x="2525303" y="1380824"/>
                </a:lnTo>
                <a:lnTo>
                  <a:pt x="2499655" y="1424203"/>
                </a:lnTo>
                <a:close/>
              </a:path>
              <a:path w="2883534" h="1754504">
                <a:moveTo>
                  <a:pt x="2525303" y="1380824"/>
                </a:moveTo>
                <a:lnTo>
                  <a:pt x="2520962" y="1376133"/>
                </a:lnTo>
                <a:lnTo>
                  <a:pt x="2528557" y="1375321"/>
                </a:lnTo>
                <a:lnTo>
                  <a:pt x="2525303" y="1380824"/>
                </a:lnTo>
                <a:close/>
              </a:path>
              <a:path w="2883534" h="1754504">
                <a:moveTo>
                  <a:pt x="2878655" y="1748688"/>
                </a:moveTo>
                <a:lnTo>
                  <a:pt x="2865666" y="1748688"/>
                </a:lnTo>
                <a:lnTo>
                  <a:pt x="2870314" y="1740827"/>
                </a:lnTo>
                <a:lnTo>
                  <a:pt x="2854830" y="1736976"/>
                </a:lnTo>
                <a:lnTo>
                  <a:pt x="2525303" y="1380824"/>
                </a:lnTo>
                <a:lnTo>
                  <a:pt x="2528557" y="1375321"/>
                </a:lnTo>
                <a:lnTo>
                  <a:pt x="2533193" y="1375321"/>
                </a:lnTo>
                <a:lnTo>
                  <a:pt x="2878655" y="1748688"/>
                </a:lnTo>
                <a:close/>
              </a:path>
              <a:path w="2883534" h="1754504">
                <a:moveTo>
                  <a:pt x="2488590" y="1424203"/>
                </a:moveTo>
                <a:lnTo>
                  <a:pt x="2491015" y="1420101"/>
                </a:lnTo>
                <a:lnTo>
                  <a:pt x="2495118" y="1422527"/>
                </a:lnTo>
                <a:lnTo>
                  <a:pt x="2488590" y="1424203"/>
                </a:lnTo>
                <a:close/>
              </a:path>
              <a:path w="2883534" h="1754504">
                <a:moveTo>
                  <a:pt x="2405951" y="1573339"/>
                </a:moveTo>
                <a:lnTo>
                  <a:pt x="2401849" y="1570914"/>
                </a:lnTo>
                <a:lnTo>
                  <a:pt x="2404275" y="1566811"/>
                </a:lnTo>
                <a:lnTo>
                  <a:pt x="2405951" y="1573339"/>
                </a:lnTo>
                <a:close/>
              </a:path>
              <a:path w="2883534" h="1754504">
                <a:moveTo>
                  <a:pt x="2411476" y="1573339"/>
                </a:moveTo>
                <a:lnTo>
                  <a:pt x="2405951" y="1573339"/>
                </a:lnTo>
                <a:lnTo>
                  <a:pt x="2404275" y="1566811"/>
                </a:lnTo>
                <a:lnTo>
                  <a:pt x="2413624" y="1566811"/>
                </a:lnTo>
                <a:lnTo>
                  <a:pt x="2414892" y="1567561"/>
                </a:lnTo>
                <a:lnTo>
                  <a:pt x="2411476" y="1573339"/>
                </a:lnTo>
                <a:close/>
              </a:path>
              <a:path w="2883534" h="1754504">
                <a:moveTo>
                  <a:pt x="2883496" y="1753920"/>
                </a:moveTo>
                <a:lnTo>
                  <a:pt x="2369248" y="1626044"/>
                </a:lnTo>
                <a:lnTo>
                  <a:pt x="2401849" y="1570914"/>
                </a:lnTo>
                <a:lnTo>
                  <a:pt x="2405951" y="1573339"/>
                </a:lnTo>
                <a:lnTo>
                  <a:pt x="2411476" y="1573339"/>
                </a:lnTo>
                <a:lnTo>
                  <a:pt x="2384870" y="1618348"/>
                </a:lnTo>
                <a:lnTo>
                  <a:pt x="2377757" y="1618348"/>
                </a:lnTo>
                <a:lnTo>
                  <a:pt x="2380703" y="1625396"/>
                </a:lnTo>
                <a:lnTo>
                  <a:pt x="2406103" y="1625396"/>
                </a:lnTo>
                <a:lnTo>
                  <a:pt x="2854830" y="1736976"/>
                </a:lnTo>
                <a:lnTo>
                  <a:pt x="2865666" y="1748688"/>
                </a:lnTo>
                <a:lnTo>
                  <a:pt x="2878655" y="1748688"/>
                </a:lnTo>
                <a:lnTo>
                  <a:pt x="2883496" y="1753920"/>
                </a:lnTo>
                <a:close/>
              </a:path>
              <a:path w="2883534" h="1754504">
                <a:moveTo>
                  <a:pt x="2380703" y="1625396"/>
                </a:moveTo>
                <a:lnTo>
                  <a:pt x="2377757" y="1618348"/>
                </a:lnTo>
                <a:lnTo>
                  <a:pt x="2383958" y="1619890"/>
                </a:lnTo>
                <a:lnTo>
                  <a:pt x="2380703" y="1625396"/>
                </a:lnTo>
                <a:close/>
              </a:path>
              <a:path w="2883534" h="1754504">
                <a:moveTo>
                  <a:pt x="2383958" y="1619890"/>
                </a:moveTo>
                <a:lnTo>
                  <a:pt x="2377757" y="1618348"/>
                </a:lnTo>
                <a:lnTo>
                  <a:pt x="2384870" y="1618348"/>
                </a:lnTo>
                <a:lnTo>
                  <a:pt x="2383958" y="1619890"/>
                </a:lnTo>
                <a:close/>
              </a:path>
              <a:path w="2883534" h="1754504">
                <a:moveTo>
                  <a:pt x="2406103" y="1625396"/>
                </a:moveTo>
                <a:lnTo>
                  <a:pt x="2380703" y="1625396"/>
                </a:lnTo>
                <a:lnTo>
                  <a:pt x="2383958" y="1619890"/>
                </a:lnTo>
                <a:lnTo>
                  <a:pt x="2406103" y="1625396"/>
                </a:lnTo>
                <a:close/>
              </a:path>
              <a:path w="2883534" h="1754504">
                <a:moveTo>
                  <a:pt x="2865666" y="1748688"/>
                </a:moveTo>
                <a:lnTo>
                  <a:pt x="2854830" y="1736976"/>
                </a:lnTo>
                <a:lnTo>
                  <a:pt x="2870314" y="1740827"/>
                </a:lnTo>
                <a:lnTo>
                  <a:pt x="2865666" y="174868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996428" y="2970276"/>
            <a:ext cx="304800" cy="148742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989430" y="2966110"/>
            <a:ext cx="319405" cy="1504315"/>
          </a:xfrm>
          <a:custGeom>
            <a:avLst/>
            <a:gdLst/>
            <a:ahLst/>
            <a:cxnLst/>
            <a:rect l="l" t="t" r="r" b="b"/>
            <a:pathLst>
              <a:path w="319404" h="1504314">
                <a:moveTo>
                  <a:pt x="88006" y="1119098"/>
                </a:moveTo>
                <a:lnTo>
                  <a:pt x="78473" y="1119098"/>
                </a:lnTo>
                <a:lnTo>
                  <a:pt x="83299" y="1114399"/>
                </a:lnTo>
                <a:lnTo>
                  <a:pt x="78531" y="1114341"/>
                </a:lnTo>
                <a:lnTo>
                  <a:pt x="92138" y="0"/>
                </a:lnTo>
                <a:lnTo>
                  <a:pt x="254050" y="1968"/>
                </a:lnTo>
                <a:lnTo>
                  <a:pt x="254015" y="4876"/>
                </a:lnTo>
                <a:lnTo>
                  <a:pt x="101600" y="4876"/>
                </a:lnTo>
                <a:lnTo>
                  <a:pt x="96786" y="9575"/>
                </a:lnTo>
                <a:lnTo>
                  <a:pt x="101541" y="9634"/>
                </a:lnTo>
                <a:lnTo>
                  <a:pt x="88006" y="1119098"/>
                </a:lnTo>
                <a:close/>
              </a:path>
              <a:path w="319404" h="1504314">
                <a:moveTo>
                  <a:pt x="101541" y="9634"/>
                </a:moveTo>
                <a:lnTo>
                  <a:pt x="96786" y="9575"/>
                </a:lnTo>
                <a:lnTo>
                  <a:pt x="101600" y="4876"/>
                </a:lnTo>
                <a:lnTo>
                  <a:pt x="101541" y="9634"/>
                </a:lnTo>
                <a:close/>
              </a:path>
              <a:path w="319404" h="1504314">
                <a:moveTo>
                  <a:pt x="249173" y="11442"/>
                </a:moveTo>
                <a:lnTo>
                  <a:pt x="101541" y="9634"/>
                </a:lnTo>
                <a:lnTo>
                  <a:pt x="101600" y="4876"/>
                </a:lnTo>
                <a:lnTo>
                  <a:pt x="254015" y="4876"/>
                </a:lnTo>
                <a:lnTo>
                  <a:pt x="253994" y="6616"/>
                </a:lnTo>
                <a:lnTo>
                  <a:pt x="244475" y="6616"/>
                </a:lnTo>
                <a:lnTo>
                  <a:pt x="244416" y="11384"/>
                </a:lnTo>
                <a:lnTo>
                  <a:pt x="249117" y="11384"/>
                </a:lnTo>
                <a:close/>
              </a:path>
              <a:path w="319404" h="1504314">
                <a:moveTo>
                  <a:pt x="249117" y="11384"/>
                </a:moveTo>
                <a:lnTo>
                  <a:pt x="244416" y="11384"/>
                </a:lnTo>
                <a:lnTo>
                  <a:pt x="244475" y="6616"/>
                </a:lnTo>
                <a:lnTo>
                  <a:pt x="249117" y="11384"/>
                </a:lnTo>
                <a:close/>
              </a:path>
              <a:path w="319404" h="1504314">
                <a:moveTo>
                  <a:pt x="253935" y="11442"/>
                </a:moveTo>
                <a:lnTo>
                  <a:pt x="249173" y="11442"/>
                </a:lnTo>
                <a:lnTo>
                  <a:pt x="244475" y="6616"/>
                </a:lnTo>
                <a:lnTo>
                  <a:pt x="253994" y="6616"/>
                </a:lnTo>
                <a:lnTo>
                  <a:pt x="253935" y="11442"/>
                </a:lnTo>
                <a:close/>
              </a:path>
              <a:path w="319404" h="1504314">
                <a:moveTo>
                  <a:pt x="304669" y="1126618"/>
                </a:moveTo>
                <a:lnTo>
                  <a:pt x="230809" y="1125715"/>
                </a:lnTo>
                <a:lnTo>
                  <a:pt x="244416" y="11384"/>
                </a:lnTo>
                <a:lnTo>
                  <a:pt x="249173" y="11442"/>
                </a:lnTo>
                <a:lnTo>
                  <a:pt x="253935" y="11442"/>
                </a:lnTo>
                <a:lnTo>
                  <a:pt x="240457" y="1116253"/>
                </a:lnTo>
                <a:lnTo>
                  <a:pt x="235686" y="1116253"/>
                </a:lnTo>
                <a:lnTo>
                  <a:pt x="240398" y="1121079"/>
                </a:lnTo>
                <a:lnTo>
                  <a:pt x="307021" y="1121079"/>
                </a:lnTo>
                <a:lnTo>
                  <a:pt x="304669" y="1126618"/>
                </a:lnTo>
                <a:close/>
              </a:path>
              <a:path w="319404" h="1504314">
                <a:moveTo>
                  <a:pt x="154749" y="1504086"/>
                </a:moveTo>
                <a:lnTo>
                  <a:pt x="0" y="1113383"/>
                </a:lnTo>
                <a:lnTo>
                  <a:pt x="78531" y="1114341"/>
                </a:lnTo>
                <a:lnTo>
                  <a:pt x="78505" y="1116469"/>
                </a:lnTo>
                <a:lnTo>
                  <a:pt x="11480" y="1116469"/>
                </a:lnTo>
                <a:lnTo>
                  <a:pt x="6984" y="1122984"/>
                </a:lnTo>
                <a:lnTo>
                  <a:pt x="14095" y="1123071"/>
                </a:lnTo>
                <a:lnTo>
                  <a:pt x="155057" y="1478986"/>
                </a:lnTo>
                <a:lnTo>
                  <a:pt x="150520" y="1489671"/>
                </a:lnTo>
                <a:lnTo>
                  <a:pt x="159334" y="1489786"/>
                </a:lnTo>
                <a:lnTo>
                  <a:pt x="160821" y="1489786"/>
                </a:lnTo>
                <a:lnTo>
                  <a:pt x="154749" y="1504086"/>
                </a:lnTo>
                <a:close/>
              </a:path>
              <a:path w="319404" h="1504314">
                <a:moveTo>
                  <a:pt x="78473" y="1119098"/>
                </a:moveTo>
                <a:lnTo>
                  <a:pt x="78531" y="1114341"/>
                </a:lnTo>
                <a:lnTo>
                  <a:pt x="83299" y="1114399"/>
                </a:lnTo>
                <a:lnTo>
                  <a:pt x="78473" y="1119098"/>
                </a:lnTo>
                <a:close/>
              </a:path>
              <a:path w="319404" h="1504314">
                <a:moveTo>
                  <a:pt x="240398" y="1121079"/>
                </a:moveTo>
                <a:lnTo>
                  <a:pt x="235686" y="1116253"/>
                </a:lnTo>
                <a:lnTo>
                  <a:pt x="240456" y="1116311"/>
                </a:lnTo>
                <a:lnTo>
                  <a:pt x="240398" y="1121079"/>
                </a:lnTo>
                <a:close/>
              </a:path>
              <a:path w="319404" h="1504314">
                <a:moveTo>
                  <a:pt x="240456" y="1116311"/>
                </a:moveTo>
                <a:lnTo>
                  <a:pt x="235686" y="1116253"/>
                </a:lnTo>
                <a:lnTo>
                  <a:pt x="240457" y="1116253"/>
                </a:lnTo>
                <a:close/>
              </a:path>
              <a:path w="319404" h="1504314">
                <a:moveTo>
                  <a:pt x="307021" y="1121079"/>
                </a:moveTo>
                <a:lnTo>
                  <a:pt x="240398" y="1121079"/>
                </a:lnTo>
                <a:lnTo>
                  <a:pt x="240456" y="1116311"/>
                </a:lnTo>
                <a:lnTo>
                  <a:pt x="318985" y="1117269"/>
                </a:lnTo>
                <a:lnTo>
                  <a:pt x="317788" y="1120089"/>
                </a:lnTo>
                <a:lnTo>
                  <a:pt x="307441" y="1120089"/>
                </a:lnTo>
                <a:lnTo>
                  <a:pt x="307021" y="1121079"/>
                </a:lnTo>
                <a:close/>
              </a:path>
              <a:path w="319404" h="1504314">
                <a:moveTo>
                  <a:pt x="14095" y="1123071"/>
                </a:moveTo>
                <a:lnTo>
                  <a:pt x="6984" y="1122984"/>
                </a:lnTo>
                <a:lnTo>
                  <a:pt x="11480" y="1116469"/>
                </a:lnTo>
                <a:lnTo>
                  <a:pt x="14095" y="1123071"/>
                </a:lnTo>
                <a:close/>
              </a:path>
              <a:path w="319404" h="1504314">
                <a:moveTo>
                  <a:pt x="87947" y="1123975"/>
                </a:moveTo>
                <a:lnTo>
                  <a:pt x="14095" y="1123071"/>
                </a:lnTo>
                <a:lnTo>
                  <a:pt x="11480" y="1116469"/>
                </a:lnTo>
                <a:lnTo>
                  <a:pt x="78505" y="1116469"/>
                </a:lnTo>
                <a:lnTo>
                  <a:pt x="78473" y="1119098"/>
                </a:lnTo>
                <a:lnTo>
                  <a:pt x="88006" y="1119098"/>
                </a:lnTo>
                <a:lnTo>
                  <a:pt x="87947" y="1123975"/>
                </a:lnTo>
                <a:close/>
              </a:path>
              <a:path w="319404" h="1504314">
                <a:moveTo>
                  <a:pt x="311772" y="1126705"/>
                </a:moveTo>
                <a:lnTo>
                  <a:pt x="304669" y="1126618"/>
                </a:lnTo>
                <a:lnTo>
                  <a:pt x="307441" y="1120089"/>
                </a:lnTo>
                <a:lnTo>
                  <a:pt x="311772" y="1126705"/>
                </a:lnTo>
                <a:close/>
              </a:path>
              <a:path w="319404" h="1504314">
                <a:moveTo>
                  <a:pt x="314979" y="1126705"/>
                </a:moveTo>
                <a:lnTo>
                  <a:pt x="311772" y="1126705"/>
                </a:lnTo>
                <a:lnTo>
                  <a:pt x="307441" y="1120089"/>
                </a:lnTo>
                <a:lnTo>
                  <a:pt x="317788" y="1120089"/>
                </a:lnTo>
                <a:lnTo>
                  <a:pt x="314979" y="1126705"/>
                </a:lnTo>
                <a:close/>
              </a:path>
              <a:path w="319404" h="1504314">
                <a:moveTo>
                  <a:pt x="160821" y="1489786"/>
                </a:moveTo>
                <a:lnTo>
                  <a:pt x="159334" y="1489786"/>
                </a:lnTo>
                <a:lnTo>
                  <a:pt x="155057" y="1478986"/>
                </a:lnTo>
                <a:lnTo>
                  <a:pt x="304669" y="1126618"/>
                </a:lnTo>
                <a:lnTo>
                  <a:pt x="311772" y="1126705"/>
                </a:lnTo>
                <a:lnTo>
                  <a:pt x="314979" y="1126705"/>
                </a:lnTo>
                <a:lnTo>
                  <a:pt x="160821" y="1489786"/>
                </a:lnTo>
                <a:close/>
              </a:path>
              <a:path w="319404" h="1504314">
                <a:moveTo>
                  <a:pt x="159334" y="1489786"/>
                </a:moveTo>
                <a:lnTo>
                  <a:pt x="150520" y="1489671"/>
                </a:lnTo>
                <a:lnTo>
                  <a:pt x="155057" y="1478986"/>
                </a:lnTo>
                <a:lnTo>
                  <a:pt x="159334" y="148978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92708" y="2638044"/>
            <a:ext cx="4642104" cy="211226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87031" y="2632379"/>
            <a:ext cx="4669155" cy="2127885"/>
          </a:xfrm>
          <a:custGeom>
            <a:avLst/>
            <a:gdLst/>
            <a:ahLst/>
            <a:cxnLst/>
            <a:rect l="l" t="t" r="r" b="b"/>
            <a:pathLst>
              <a:path w="4669155" h="2127885">
                <a:moveTo>
                  <a:pt x="3922019" y="1898985"/>
                </a:moveTo>
                <a:lnTo>
                  <a:pt x="0" y="168567"/>
                </a:lnTo>
                <a:lnTo>
                  <a:pt x="74371" y="0"/>
                </a:lnTo>
                <a:lnTo>
                  <a:pt x="92966" y="8204"/>
                </a:lnTo>
                <a:lnTo>
                  <a:pt x="81165" y="8204"/>
                </a:lnTo>
                <a:lnTo>
                  <a:pt x="74879" y="10629"/>
                </a:lnTo>
                <a:lnTo>
                  <a:pt x="79245" y="12556"/>
                </a:lnTo>
                <a:lnTo>
                  <a:pt x="13398" y="161785"/>
                </a:lnTo>
                <a:lnTo>
                  <a:pt x="8204" y="161785"/>
                </a:lnTo>
                <a:lnTo>
                  <a:pt x="10629" y="168059"/>
                </a:lnTo>
                <a:lnTo>
                  <a:pt x="22423" y="168059"/>
                </a:lnTo>
                <a:lnTo>
                  <a:pt x="3934587" y="1894116"/>
                </a:lnTo>
                <a:lnTo>
                  <a:pt x="3934362" y="1894624"/>
                </a:lnTo>
                <a:lnTo>
                  <a:pt x="3923944" y="1894624"/>
                </a:lnTo>
                <a:lnTo>
                  <a:pt x="3922019" y="1898985"/>
                </a:lnTo>
                <a:close/>
              </a:path>
              <a:path w="4669155" h="2127885">
                <a:moveTo>
                  <a:pt x="79245" y="12556"/>
                </a:moveTo>
                <a:lnTo>
                  <a:pt x="74879" y="10629"/>
                </a:lnTo>
                <a:lnTo>
                  <a:pt x="81165" y="8204"/>
                </a:lnTo>
                <a:lnTo>
                  <a:pt x="79245" y="12556"/>
                </a:lnTo>
                <a:close/>
              </a:path>
              <a:path w="4669155" h="2127885">
                <a:moveTo>
                  <a:pt x="4001262" y="1742973"/>
                </a:moveTo>
                <a:lnTo>
                  <a:pt x="79245" y="12556"/>
                </a:lnTo>
                <a:lnTo>
                  <a:pt x="81165" y="8204"/>
                </a:lnTo>
                <a:lnTo>
                  <a:pt x="92966" y="8204"/>
                </a:lnTo>
                <a:lnTo>
                  <a:pt x="3996403" y="1730411"/>
                </a:lnTo>
                <a:lnTo>
                  <a:pt x="3994480" y="1734769"/>
                </a:lnTo>
                <a:lnTo>
                  <a:pt x="4004881" y="1734769"/>
                </a:lnTo>
                <a:lnTo>
                  <a:pt x="4001262" y="1742973"/>
                </a:lnTo>
                <a:close/>
              </a:path>
              <a:path w="4669155" h="2127885">
                <a:moveTo>
                  <a:pt x="10629" y="168059"/>
                </a:moveTo>
                <a:lnTo>
                  <a:pt x="8204" y="161785"/>
                </a:lnTo>
                <a:lnTo>
                  <a:pt x="12551" y="163703"/>
                </a:lnTo>
                <a:lnTo>
                  <a:pt x="10629" y="168059"/>
                </a:lnTo>
                <a:close/>
              </a:path>
              <a:path w="4669155" h="2127885">
                <a:moveTo>
                  <a:pt x="12551" y="163703"/>
                </a:moveTo>
                <a:lnTo>
                  <a:pt x="8204" y="161785"/>
                </a:lnTo>
                <a:lnTo>
                  <a:pt x="13398" y="161785"/>
                </a:lnTo>
                <a:lnTo>
                  <a:pt x="12551" y="163703"/>
                </a:lnTo>
                <a:close/>
              </a:path>
              <a:path w="4669155" h="2127885">
                <a:moveTo>
                  <a:pt x="22423" y="168059"/>
                </a:moveTo>
                <a:lnTo>
                  <a:pt x="10629" y="168059"/>
                </a:lnTo>
                <a:lnTo>
                  <a:pt x="12551" y="163703"/>
                </a:lnTo>
                <a:lnTo>
                  <a:pt x="22423" y="168059"/>
                </a:lnTo>
                <a:close/>
              </a:path>
              <a:path w="4669155" h="2127885">
                <a:moveTo>
                  <a:pt x="4004881" y="1734769"/>
                </a:moveTo>
                <a:lnTo>
                  <a:pt x="3994480" y="1734769"/>
                </a:lnTo>
                <a:lnTo>
                  <a:pt x="4000754" y="1732330"/>
                </a:lnTo>
                <a:lnTo>
                  <a:pt x="3996403" y="1730411"/>
                </a:lnTo>
                <a:lnTo>
                  <a:pt x="4023410" y="1669199"/>
                </a:lnTo>
                <a:lnTo>
                  <a:pt x="4036333" y="1678381"/>
                </a:lnTo>
                <a:lnTo>
                  <a:pt x="4029760" y="1678381"/>
                </a:lnTo>
                <a:lnTo>
                  <a:pt x="4022648" y="1680337"/>
                </a:lnTo>
                <a:lnTo>
                  <a:pt x="4027406" y="1683717"/>
                </a:lnTo>
                <a:lnTo>
                  <a:pt x="4004881" y="1734769"/>
                </a:lnTo>
                <a:close/>
              </a:path>
              <a:path w="4669155" h="2127885">
                <a:moveTo>
                  <a:pt x="4027406" y="1683717"/>
                </a:moveTo>
                <a:lnTo>
                  <a:pt x="4022648" y="1680337"/>
                </a:lnTo>
                <a:lnTo>
                  <a:pt x="4029760" y="1678381"/>
                </a:lnTo>
                <a:lnTo>
                  <a:pt x="4027406" y="1683717"/>
                </a:lnTo>
                <a:close/>
              </a:path>
              <a:path w="4669155" h="2127885">
                <a:moveTo>
                  <a:pt x="4660842" y="2122106"/>
                </a:moveTo>
                <a:lnTo>
                  <a:pt x="4644402" y="2122106"/>
                </a:lnTo>
                <a:lnTo>
                  <a:pt x="4648161" y="2113572"/>
                </a:lnTo>
                <a:lnTo>
                  <a:pt x="4625475" y="2108658"/>
                </a:lnTo>
                <a:lnTo>
                  <a:pt x="4027406" y="1683717"/>
                </a:lnTo>
                <a:lnTo>
                  <a:pt x="4029760" y="1678381"/>
                </a:lnTo>
                <a:lnTo>
                  <a:pt x="4036333" y="1678381"/>
                </a:lnTo>
                <a:lnTo>
                  <a:pt x="4660842" y="2122106"/>
                </a:lnTo>
                <a:close/>
              </a:path>
              <a:path w="4669155" h="2127885">
                <a:moveTo>
                  <a:pt x="3994480" y="1734769"/>
                </a:moveTo>
                <a:lnTo>
                  <a:pt x="3996403" y="1730411"/>
                </a:lnTo>
                <a:lnTo>
                  <a:pt x="4000754" y="1732330"/>
                </a:lnTo>
                <a:lnTo>
                  <a:pt x="3994480" y="1734769"/>
                </a:lnTo>
                <a:close/>
              </a:path>
              <a:path w="4669155" h="2127885">
                <a:moveTo>
                  <a:pt x="3926382" y="1900910"/>
                </a:moveTo>
                <a:lnTo>
                  <a:pt x="3922019" y="1898985"/>
                </a:lnTo>
                <a:lnTo>
                  <a:pt x="3923944" y="1894624"/>
                </a:lnTo>
                <a:lnTo>
                  <a:pt x="3926382" y="1900910"/>
                </a:lnTo>
                <a:close/>
              </a:path>
              <a:path w="4669155" h="2127885">
                <a:moveTo>
                  <a:pt x="3931588" y="1900910"/>
                </a:moveTo>
                <a:lnTo>
                  <a:pt x="3926382" y="1900910"/>
                </a:lnTo>
                <a:lnTo>
                  <a:pt x="3923944" y="1894624"/>
                </a:lnTo>
                <a:lnTo>
                  <a:pt x="3934362" y="1894624"/>
                </a:lnTo>
                <a:lnTo>
                  <a:pt x="3931588" y="1900910"/>
                </a:lnTo>
                <a:close/>
              </a:path>
              <a:path w="4669155" h="2127885">
                <a:moveTo>
                  <a:pt x="4668850" y="2127796"/>
                </a:moveTo>
                <a:lnTo>
                  <a:pt x="3895013" y="1960194"/>
                </a:lnTo>
                <a:lnTo>
                  <a:pt x="3922019" y="1898985"/>
                </a:lnTo>
                <a:lnTo>
                  <a:pt x="3926382" y="1900910"/>
                </a:lnTo>
                <a:lnTo>
                  <a:pt x="3931588" y="1900910"/>
                </a:lnTo>
                <a:lnTo>
                  <a:pt x="3908991" y="1952116"/>
                </a:lnTo>
                <a:lnTo>
                  <a:pt x="3902735" y="1952116"/>
                </a:lnTo>
                <a:lnTo>
                  <a:pt x="3906088" y="1958695"/>
                </a:lnTo>
                <a:lnTo>
                  <a:pt x="3933108" y="1958695"/>
                </a:lnTo>
                <a:lnTo>
                  <a:pt x="4625475" y="2108658"/>
                </a:lnTo>
                <a:lnTo>
                  <a:pt x="4644402" y="2122106"/>
                </a:lnTo>
                <a:lnTo>
                  <a:pt x="4660842" y="2122106"/>
                </a:lnTo>
                <a:lnTo>
                  <a:pt x="4668850" y="2127796"/>
                </a:lnTo>
                <a:close/>
              </a:path>
              <a:path w="4669155" h="2127885">
                <a:moveTo>
                  <a:pt x="3906088" y="1958695"/>
                </a:moveTo>
                <a:lnTo>
                  <a:pt x="3902735" y="1952116"/>
                </a:lnTo>
                <a:lnTo>
                  <a:pt x="3908445" y="1953353"/>
                </a:lnTo>
                <a:lnTo>
                  <a:pt x="3906088" y="1958695"/>
                </a:lnTo>
                <a:close/>
              </a:path>
              <a:path w="4669155" h="2127885">
                <a:moveTo>
                  <a:pt x="3908445" y="1953353"/>
                </a:moveTo>
                <a:lnTo>
                  <a:pt x="3902735" y="1952116"/>
                </a:lnTo>
                <a:lnTo>
                  <a:pt x="3908991" y="1952116"/>
                </a:lnTo>
                <a:lnTo>
                  <a:pt x="3908445" y="1953353"/>
                </a:lnTo>
                <a:close/>
              </a:path>
              <a:path w="4669155" h="2127885">
                <a:moveTo>
                  <a:pt x="3933108" y="1958695"/>
                </a:moveTo>
                <a:lnTo>
                  <a:pt x="3906088" y="1958695"/>
                </a:lnTo>
                <a:lnTo>
                  <a:pt x="3908445" y="1953353"/>
                </a:lnTo>
                <a:lnTo>
                  <a:pt x="3933108" y="1958695"/>
                </a:lnTo>
                <a:close/>
              </a:path>
              <a:path w="4669155" h="2127885">
                <a:moveTo>
                  <a:pt x="4644402" y="2122106"/>
                </a:moveTo>
                <a:lnTo>
                  <a:pt x="4625475" y="2108658"/>
                </a:lnTo>
                <a:lnTo>
                  <a:pt x="4648161" y="2113572"/>
                </a:lnTo>
                <a:lnTo>
                  <a:pt x="4644402" y="212210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94997" y="4475797"/>
            <a:ext cx="954405" cy="34829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36437" y="4517542"/>
            <a:ext cx="628154" cy="2027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94997" y="4704397"/>
            <a:ext cx="954405" cy="14116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60197" y="4475797"/>
            <a:ext cx="1005204" cy="3448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60197" y="4704397"/>
            <a:ext cx="1149667" cy="14116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456997" y="4475797"/>
            <a:ext cx="1157605" cy="35845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10807" y="4517542"/>
            <a:ext cx="998994" cy="2408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56997" y="4704397"/>
            <a:ext cx="1157605" cy="14116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447597" y="4475797"/>
            <a:ext cx="1411604" cy="34829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604277" y="4517542"/>
            <a:ext cx="1051064" cy="2027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47597" y="4704397"/>
            <a:ext cx="1411604" cy="14116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793740" y="4749800"/>
            <a:ext cx="294830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4065" algn="l"/>
              </a:tabLst>
            </a:pPr>
            <a:r>
              <a:rPr sz="1400" spc="-5" dirty="0">
                <a:latin typeface="Arial Narrow"/>
                <a:cs typeface="Arial Narrow"/>
              </a:rPr>
              <a:t>10264	</a:t>
            </a:r>
            <a:r>
              <a:rPr sz="1400" spc="-145" dirty="0">
                <a:latin typeface="Arial Narrow"/>
                <a:cs typeface="Arial Narrow"/>
              </a:rPr>
              <a:t>199169-0698</a:t>
            </a:r>
            <a:r>
              <a:rPr sz="1400" b="1" spc="-145" dirty="0">
                <a:latin typeface="Arial Narrow"/>
                <a:cs typeface="Arial Narrow"/>
              </a:rPr>
              <a:t>-</a:t>
            </a:r>
            <a:r>
              <a:rPr sz="1400" spc="-145" dirty="0">
                <a:latin typeface="Arial Narrow"/>
                <a:cs typeface="Arial Narrow"/>
              </a:rPr>
              <a:t>2803-21 </a:t>
            </a:r>
            <a:r>
              <a:rPr sz="1400" spc="-5" dirty="0">
                <a:latin typeface="Arial Narrow"/>
                <a:cs typeface="Arial Narrow"/>
              </a:rPr>
              <a:t>Laurence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165" dirty="0">
                <a:latin typeface="Arial Narrow"/>
                <a:cs typeface="Arial Narrow"/>
              </a:rPr>
              <a:t>Lebihan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1400" spc="-5" dirty="0">
                <a:latin typeface="Arial Narrow"/>
                <a:cs typeface="Arial Narrow"/>
              </a:rPr>
              <a:t>10271	</a:t>
            </a:r>
            <a:r>
              <a:rPr sz="1400" spc="-145" dirty="0">
                <a:latin typeface="Arial Narrow"/>
                <a:cs typeface="Arial Narrow"/>
              </a:rPr>
              <a:t>199169-0698</a:t>
            </a:r>
            <a:r>
              <a:rPr sz="1400" b="1" spc="-145" dirty="0">
                <a:latin typeface="Arial Narrow"/>
                <a:cs typeface="Arial Narrow"/>
              </a:rPr>
              <a:t>-</a:t>
            </a:r>
            <a:r>
              <a:rPr sz="1400" spc="-145" dirty="0">
                <a:latin typeface="Arial Narrow"/>
                <a:cs typeface="Arial Narrow"/>
              </a:rPr>
              <a:t>3800-29 </a:t>
            </a:r>
            <a:r>
              <a:rPr sz="1400" spc="-5" dirty="0">
                <a:latin typeface="Arial Narrow"/>
                <a:cs typeface="Arial Narrow"/>
              </a:rPr>
              <a:t>Georg</a:t>
            </a:r>
            <a:r>
              <a:rPr sz="1400" spc="-2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Pipps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tabLst>
                <a:tab pos="774065" algn="l"/>
              </a:tabLst>
            </a:pPr>
            <a:r>
              <a:rPr sz="1400" spc="-5" dirty="0">
                <a:latin typeface="Arial Narrow"/>
                <a:cs typeface="Arial Narrow"/>
              </a:rPr>
              <a:t>10280	</a:t>
            </a:r>
            <a:r>
              <a:rPr sz="1400" spc="-145" dirty="0">
                <a:latin typeface="Arial Narrow"/>
                <a:cs typeface="Arial Narrow"/>
              </a:rPr>
              <a:t>199169-0699</a:t>
            </a:r>
            <a:r>
              <a:rPr sz="1400" b="1" spc="-145" dirty="0">
                <a:latin typeface="Arial Narrow"/>
                <a:cs typeface="Arial Narrow"/>
              </a:rPr>
              <a:t>-</a:t>
            </a:r>
            <a:r>
              <a:rPr sz="1400" spc="-145" dirty="0">
                <a:latin typeface="Arial Narrow"/>
                <a:cs typeface="Arial Narrow"/>
              </a:rPr>
              <a:t>1902-11 </a:t>
            </a:r>
            <a:r>
              <a:rPr sz="1400" spc="-5" dirty="0">
                <a:latin typeface="Arial Narrow"/>
                <a:cs typeface="Arial Narrow"/>
              </a:rPr>
              <a:t>Horst</a:t>
            </a:r>
            <a:r>
              <a:rPr sz="1400" spc="4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Kloss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775" y="829944"/>
            <a:ext cx="5124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Advantages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spc="-5" dirty="0"/>
              <a:t>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9664" y="1449514"/>
            <a:ext cx="6850380" cy="3622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sz="2000" spc="-15" dirty="0">
                <a:latin typeface="Tahoma"/>
                <a:cs typeface="Tahoma"/>
              </a:rPr>
              <a:t>Focus </a:t>
            </a:r>
            <a:r>
              <a:rPr sz="2000" spc="-5" dirty="0">
                <a:latin typeface="Tahoma"/>
                <a:cs typeface="Tahoma"/>
              </a:rPr>
              <a:t>the Data </a:t>
            </a:r>
            <a:r>
              <a:rPr sz="2000" spc="-10" dirty="0">
                <a:latin typeface="Tahoma"/>
                <a:cs typeface="Tahoma"/>
              </a:rPr>
              <a:t>for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Users</a:t>
            </a:r>
            <a:endParaRPr sz="20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015" algn="l"/>
                <a:tab pos="755650" algn="l"/>
              </a:tabLst>
            </a:pPr>
            <a:r>
              <a:rPr sz="2000" spc="-15" dirty="0">
                <a:latin typeface="Tahoma"/>
                <a:cs typeface="Tahoma"/>
              </a:rPr>
              <a:t>Focus </a:t>
            </a:r>
            <a:r>
              <a:rPr sz="2000" dirty="0">
                <a:latin typeface="Tahoma"/>
                <a:cs typeface="Tahoma"/>
              </a:rPr>
              <a:t>on </a:t>
            </a:r>
            <a:r>
              <a:rPr sz="2000" spc="-5" dirty="0">
                <a:latin typeface="Tahoma"/>
                <a:cs typeface="Tahoma"/>
              </a:rPr>
              <a:t>important or appropriate data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only</a:t>
            </a:r>
            <a:endParaRPr sz="20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Limit access to sensitive data</a:t>
            </a:r>
            <a:endParaRPr sz="20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Mask </a:t>
            </a:r>
            <a:r>
              <a:rPr sz="2000" spc="-5" dirty="0">
                <a:latin typeface="Tahoma"/>
                <a:cs typeface="Tahoma"/>
              </a:rPr>
              <a:t>Database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Complexity</a:t>
            </a:r>
            <a:endParaRPr sz="20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015" algn="l"/>
                <a:tab pos="755650" algn="l"/>
              </a:tabLst>
            </a:pPr>
            <a:r>
              <a:rPr sz="2000" spc="-5" dirty="0">
                <a:latin typeface="Tahoma"/>
                <a:cs typeface="Tahoma"/>
              </a:rPr>
              <a:t>Hide complex database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design</a:t>
            </a:r>
            <a:endParaRPr sz="2000" dirty="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015" algn="l"/>
                <a:tab pos="755650" algn="l"/>
              </a:tabLst>
            </a:pPr>
            <a:r>
              <a:rPr sz="2000" spc="-10" dirty="0">
                <a:latin typeface="Tahoma"/>
                <a:cs typeface="Tahoma"/>
              </a:rPr>
              <a:t>Simplify </a:t>
            </a:r>
            <a:r>
              <a:rPr sz="2000" spc="-5" dirty="0">
                <a:latin typeface="Tahoma"/>
                <a:cs typeface="Tahoma"/>
              </a:rPr>
              <a:t>complex queries, including distributed queries  to heterogeneous data</a:t>
            </a:r>
            <a:endParaRPr sz="20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sz="2000" spc="-10" dirty="0">
                <a:latin typeface="Tahoma"/>
                <a:cs typeface="Tahoma"/>
              </a:rPr>
              <a:t>Simplify </a:t>
            </a:r>
            <a:r>
              <a:rPr sz="2000" spc="-5" dirty="0">
                <a:latin typeface="Tahoma"/>
                <a:cs typeface="Tahoma"/>
              </a:rPr>
              <a:t>Management of </a:t>
            </a:r>
            <a:r>
              <a:rPr sz="2000" dirty="0">
                <a:latin typeface="Tahoma"/>
                <a:cs typeface="Tahoma"/>
              </a:rPr>
              <a:t>User </a:t>
            </a:r>
            <a:r>
              <a:rPr sz="2000" spc="-10" dirty="0">
                <a:latin typeface="Tahoma"/>
                <a:cs typeface="Tahoma"/>
              </a:rPr>
              <a:t>Permissions</a:t>
            </a:r>
            <a:endParaRPr sz="20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sz="2000" spc="-10" dirty="0">
                <a:latin typeface="Tahoma"/>
                <a:cs typeface="Tahoma"/>
              </a:rPr>
              <a:t>Improve Performance</a:t>
            </a:r>
            <a:endParaRPr sz="20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"/>
              <a:tabLst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Organize Data </a:t>
            </a:r>
            <a:r>
              <a:rPr sz="2000" spc="-10" dirty="0">
                <a:latin typeface="Tahoma"/>
                <a:cs typeface="Tahoma"/>
              </a:rPr>
              <a:t>for </a:t>
            </a:r>
            <a:r>
              <a:rPr sz="2000" spc="-5" dirty="0">
                <a:latin typeface="Tahoma"/>
                <a:cs typeface="Tahoma"/>
              </a:rPr>
              <a:t>Export to Other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Applications</a:t>
            </a:r>
            <a:endParaRPr sz="20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CFBB5B1-24A4-B8E2-9D28-B25D2720F059}"/>
                  </a:ext>
                </a:extLst>
              </p14:cNvPr>
              <p14:cNvContentPartPr/>
              <p14:nvPr/>
            </p14:nvContentPartPr>
            <p14:xfrm>
              <a:off x="1999179" y="2303845"/>
              <a:ext cx="3196800" cy="1587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CFBB5B1-24A4-B8E2-9D28-B25D2720F0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45179" y="2195845"/>
                <a:ext cx="3304440" cy="37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84425" y="829944"/>
            <a:ext cx="4375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Triggers </a:t>
            </a:r>
            <a:r>
              <a:rPr dirty="0"/>
              <a:t>on</a:t>
            </a:r>
            <a:r>
              <a:rPr spc="-25" dirty="0"/>
              <a:t> </a:t>
            </a:r>
            <a:r>
              <a:rPr spc="-5" dirty="0"/>
              <a:t>Views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972310"/>
            <a:ext cx="7106920" cy="42189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marR="19050" indent="-3429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0" dirty="0">
                <a:latin typeface="Tahoma"/>
                <a:cs typeface="Tahoma"/>
              </a:rPr>
              <a:t>Generally,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is impossible to </a:t>
            </a:r>
            <a:r>
              <a:rPr sz="3200" spc="-10" dirty="0">
                <a:latin typeface="Tahoma"/>
                <a:cs typeface="Tahoma"/>
              </a:rPr>
              <a:t>modify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virtual </a:t>
            </a:r>
            <a:r>
              <a:rPr sz="3200" spc="-25" dirty="0">
                <a:latin typeface="Tahoma"/>
                <a:cs typeface="Tahoma"/>
              </a:rPr>
              <a:t>view, </a:t>
            </a:r>
            <a:r>
              <a:rPr sz="3200" spc="-5" dirty="0">
                <a:latin typeface="Tahoma"/>
                <a:cs typeface="Tahoma"/>
              </a:rPr>
              <a:t>because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5" dirty="0">
                <a:latin typeface="Tahoma"/>
                <a:cs typeface="Tahoma"/>
              </a:rPr>
              <a:t>doesn’t</a:t>
            </a:r>
            <a:r>
              <a:rPr sz="3200" spc="-5" dirty="0">
                <a:latin typeface="Tahoma"/>
                <a:cs typeface="Tahoma"/>
              </a:rPr>
              <a:t> exist.</a:t>
            </a:r>
            <a:endParaRPr sz="3200" dirty="0">
              <a:latin typeface="Tahoma"/>
              <a:cs typeface="Tahoma"/>
            </a:endParaRPr>
          </a:p>
          <a:p>
            <a:pPr marL="355600" marR="156845" indent="-342900">
              <a:lnSpc>
                <a:spcPts val="345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an </a:t>
            </a:r>
            <a:r>
              <a:rPr sz="3200" spc="-5" dirty="0">
                <a:latin typeface="Tahoma"/>
                <a:cs typeface="Tahoma"/>
              </a:rPr>
              <a:t>INSTEAD </a:t>
            </a:r>
            <a:r>
              <a:rPr sz="3200" dirty="0">
                <a:latin typeface="Tahoma"/>
                <a:cs typeface="Tahoma"/>
              </a:rPr>
              <a:t>OF </a:t>
            </a:r>
            <a:r>
              <a:rPr sz="3200" spc="-5" dirty="0">
                <a:latin typeface="Tahoma"/>
                <a:cs typeface="Tahoma"/>
              </a:rPr>
              <a:t>trigger lets </a:t>
            </a:r>
            <a:r>
              <a:rPr sz="3200" dirty="0">
                <a:latin typeface="Tahoma"/>
                <a:cs typeface="Tahoma"/>
              </a:rPr>
              <a:t>us  </a:t>
            </a:r>
            <a:r>
              <a:rPr sz="3200" spc="-5" dirty="0">
                <a:latin typeface="Tahoma"/>
                <a:cs typeface="Tahoma"/>
              </a:rPr>
              <a:t>interpret view modifications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20" dirty="0">
                <a:latin typeface="Tahoma"/>
                <a:cs typeface="Tahoma"/>
              </a:rPr>
              <a:t>way  </a:t>
            </a:r>
            <a:r>
              <a:rPr sz="3200" spc="-5" dirty="0">
                <a:latin typeface="Tahoma"/>
                <a:cs typeface="Tahoma"/>
              </a:rPr>
              <a:t>that </a:t>
            </a:r>
            <a:r>
              <a:rPr sz="3200" spc="-10" dirty="0">
                <a:latin typeface="Tahoma"/>
                <a:cs typeface="Tahoma"/>
              </a:rPr>
              <a:t>makes </a:t>
            </a:r>
            <a:r>
              <a:rPr sz="3200" spc="-5" dirty="0">
                <a:latin typeface="Tahoma"/>
                <a:cs typeface="Tahoma"/>
              </a:rPr>
              <a:t>sense.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ts val="3460"/>
              </a:lnSpc>
              <a:spcBef>
                <a:spcPts val="7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View </a:t>
            </a:r>
            <a:r>
              <a:rPr sz="3200" spc="-15" dirty="0">
                <a:latin typeface="Tahoma"/>
                <a:cs typeface="Tahoma"/>
              </a:rPr>
              <a:t>Synergy </a:t>
            </a:r>
            <a:r>
              <a:rPr sz="3200" spc="-5" dirty="0">
                <a:latin typeface="Tahoma"/>
                <a:cs typeface="Tahoma"/>
              </a:rPr>
              <a:t>has </a:t>
            </a:r>
            <a:r>
              <a:rPr sz="3200" spc="-55" dirty="0">
                <a:solidFill>
                  <a:srgbClr val="CC00CC"/>
                </a:solidFill>
                <a:latin typeface="Tahoma"/>
                <a:cs typeface="Tahoma"/>
              </a:rPr>
              <a:t>(drinker, 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 </a:t>
            </a:r>
            <a:r>
              <a:rPr sz="3200" spc="-5" dirty="0">
                <a:latin typeface="Tahoma"/>
                <a:cs typeface="Tahoma"/>
              </a:rPr>
              <a:t>triples such that the bar  </a:t>
            </a:r>
            <a:r>
              <a:rPr sz="3200" spc="-10" dirty="0">
                <a:latin typeface="Tahoma"/>
                <a:cs typeface="Tahoma"/>
              </a:rPr>
              <a:t>serves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90" dirty="0">
                <a:latin typeface="Tahoma"/>
                <a:cs typeface="Tahoma"/>
              </a:rPr>
              <a:t>beer,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drinker frequents  </a:t>
            </a:r>
            <a:r>
              <a:rPr sz="3200" spc="-5" dirty="0">
                <a:latin typeface="Tahoma"/>
                <a:cs typeface="Tahoma"/>
              </a:rPr>
              <a:t>the bar and </a:t>
            </a:r>
            <a:r>
              <a:rPr sz="3200" spc="-10" dirty="0">
                <a:latin typeface="Tahoma"/>
                <a:cs typeface="Tahoma"/>
              </a:rPr>
              <a:t>likes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90" dirty="0">
                <a:latin typeface="Tahoma"/>
                <a:cs typeface="Tahoma"/>
              </a:rPr>
              <a:t>beer.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289" y="829944"/>
            <a:ext cx="4758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The</a:t>
            </a:r>
            <a:r>
              <a:rPr spc="-50" dirty="0"/>
              <a:t> </a:t>
            </a:r>
            <a:r>
              <a:rPr spc="-5" dirty="0"/>
              <a:t>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471043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5" dirty="0">
                <a:latin typeface="Tahoma"/>
                <a:cs typeface="Tahoma"/>
              </a:rPr>
              <a:t>VIEW </a:t>
            </a:r>
            <a:r>
              <a:rPr sz="3200" spc="-15" dirty="0">
                <a:latin typeface="Tahoma"/>
                <a:cs typeface="Tahoma"/>
              </a:rPr>
              <a:t>Synergy </a:t>
            </a:r>
            <a:r>
              <a:rPr sz="3200" spc="-5" dirty="0">
                <a:latin typeface="Tahoma"/>
                <a:cs typeface="Tahoma"/>
              </a:rPr>
              <a:t>AS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7439" y="2596514"/>
            <a:ext cx="13919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SELEC</a:t>
            </a:r>
            <a:r>
              <a:rPr sz="3200" dirty="0">
                <a:latin typeface="Tahoma"/>
                <a:cs typeface="Tahoma"/>
              </a:rPr>
              <a:t>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3025" y="2609016"/>
            <a:ext cx="598106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40" dirty="0">
                <a:latin typeface="Tahoma"/>
                <a:cs typeface="Tahoma"/>
              </a:rPr>
              <a:t>Likes.drinker, </a:t>
            </a:r>
            <a:r>
              <a:rPr sz="3200" spc="-45" dirty="0">
                <a:latin typeface="Tahoma"/>
                <a:cs typeface="Tahoma"/>
              </a:rPr>
              <a:t>Likes.beer,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Sells.bar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0139" y="3193851"/>
            <a:ext cx="7441565" cy="224599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10" dirty="0">
                <a:latin typeface="Tahoma"/>
                <a:cs typeface="Tahoma"/>
              </a:rPr>
              <a:t>Likes, </a:t>
            </a:r>
            <a:r>
              <a:rPr sz="3200" spc="-5" dirty="0">
                <a:latin typeface="Tahoma"/>
                <a:cs typeface="Tahoma"/>
              </a:rPr>
              <a:t>Sells, Frequents</a:t>
            </a:r>
            <a:endParaRPr sz="3200">
              <a:latin typeface="Tahoma"/>
              <a:cs typeface="Tahoma"/>
            </a:endParaRPr>
          </a:p>
          <a:p>
            <a:pPr marL="570865" indent="-5715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</a:t>
            </a:r>
            <a:r>
              <a:rPr sz="3200" spc="-10" dirty="0">
                <a:latin typeface="Tahoma"/>
                <a:cs typeface="Tahoma"/>
              </a:rPr>
              <a:t>Likes.drinker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Frequents.drinker  AND </a:t>
            </a:r>
            <a:r>
              <a:rPr sz="3200" spc="-10" dirty="0">
                <a:latin typeface="Tahoma"/>
                <a:cs typeface="Tahoma"/>
              </a:rPr>
              <a:t>Likes.beer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Sells.beer</a:t>
            </a:r>
            <a:endParaRPr sz="3200">
              <a:latin typeface="Tahoma"/>
              <a:cs typeface="Tahoma"/>
            </a:endParaRPr>
          </a:p>
          <a:p>
            <a:pPr marL="5708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AND Sells.bar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5" dirty="0">
                <a:latin typeface="Tahoma"/>
                <a:cs typeface="Tahoma"/>
              </a:rPr>
              <a:t> Frequents.bar;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6800" y="3200400"/>
            <a:ext cx="7620000" cy="2286000"/>
          </a:xfrm>
          <a:custGeom>
            <a:avLst/>
            <a:gdLst/>
            <a:ahLst/>
            <a:cxnLst/>
            <a:rect l="l" t="t" r="r" b="b"/>
            <a:pathLst>
              <a:path w="7620000" h="2286000">
                <a:moveTo>
                  <a:pt x="0" y="0"/>
                </a:moveTo>
                <a:lnTo>
                  <a:pt x="7620000" y="0"/>
                </a:lnTo>
                <a:lnTo>
                  <a:pt x="76200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2037" y="3195637"/>
            <a:ext cx="7629525" cy="2295525"/>
          </a:xfrm>
          <a:custGeom>
            <a:avLst/>
            <a:gdLst/>
            <a:ahLst/>
            <a:cxnLst/>
            <a:rect l="l" t="t" r="r" b="b"/>
            <a:pathLst>
              <a:path w="7629525" h="2295525">
                <a:moveTo>
                  <a:pt x="76295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7629525" y="0"/>
                </a:lnTo>
                <a:lnTo>
                  <a:pt x="7629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7629525" y="2290762"/>
                </a:lnTo>
                <a:lnTo>
                  <a:pt x="7629525" y="2295525"/>
                </a:lnTo>
                <a:close/>
              </a:path>
              <a:path w="76295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629525" h="2295525">
                <a:moveTo>
                  <a:pt x="7620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620000" y="4762"/>
                </a:lnTo>
                <a:lnTo>
                  <a:pt x="7620000" y="9525"/>
                </a:lnTo>
                <a:close/>
              </a:path>
              <a:path w="7629525" h="2295525">
                <a:moveTo>
                  <a:pt x="7620000" y="2290762"/>
                </a:moveTo>
                <a:lnTo>
                  <a:pt x="7620000" y="4762"/>
                </a:lnTo>
                <a:lnTo>
                  <a:pt x="7624762" y="9525"/>
                </a:lnTo>
                <a:lnTo>
                  <a:pt x="7629525" y="9525"/>
                </a:lnTo>
                <a:lnTo>
                  <a:pt x="7629525" y="2286000"/>
                </a:lnTo>
                <a:lnTo>
                  <a:pt x="7624762" y="2286000"/>
                </a:lnTo>
                <a:lnTo>
                  <a:pt x="7620000" y="2290762"/>
                </a:lnTo>
                <a:close/>
              </a:path>
              <a:path w="7629525" h="2295525">
                <a:moveTo>
                  <a:pt x="7629525" y="9525"/>
                </a:moveTo>
                <a:lnTo>
                  <a:pt x="7624762" y="9525"/>
                </a:lnTo>
                <a:lnTo>
                  <a:pt x="7620000" y="4762"/>
                </a:lnTo>
                <a:lnTo>
                  <a:pt x="7629525" y="4762"/>
                </a:lnTo>
                <a:lnTo>
                  <a:pt x="7629525" y="9525"/>
                </a:lnTo>
                <a:close/>
              </a:path>
              <a:path w="76295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7629525" h="2295525">
                <a:moveTo>
                  <a:pt x="76200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7620000" y="2286000"/>
                </a:lnTo>
                <a:lnTo>
                  <a:pt x="7620000" y="2290762"/>
                </a:lnTo>
                <a:close/>
              </a:path>
              <a:path w="7629525" h="2295525">
                <a:moveTo>
                  <a:pt x="7629525" y="2290762"/>
                </a:moveTo>
                <a:lnTo>
                  <a:pt x="7620000" y="2290762"/>
                </a:lnTo>
                <a:lnTo>
                  <a:pt x="7624762" y="2286000"/>
                </a:lnTo>
                <a:lnTo>
                  <a:pt x="7629525" y="2286000"/>
                </a:lnTo>
                <a:lnTo>
                  <a:pt x="76295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07539" y="5822950"/>
            <a:ext cx="23317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ahoma"/>
                <a:cs typeface="Tahoma"/>
              </a:rPr>
              <a:t>Natural </a:t>
            </a:r>
            <a:r>
              <a:rPr sz="2000" spc="-5" dirty="0">
                <a:latin typeface="Tahoma"/>
                <a:cs typeface="Tahoma"/>
              </a:rPr>
              <a:t>join of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Likes,  Sells, and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Frequents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97948" y="5486400"/>
            <a:ext cx="383540" cy="233045"/>
          </a:xfrm>
          <a:custGeom>
            <a:avLst/>
            <a:gdLst/>
            <a:ahLst/>
            <a:cxnLst/>
            <a:rect l="l" t="t" r="r" b="b"/>
            <a:pathLst>
              <a:path w="383539" h="233045">
                <a:moveTo>
                  <a:pt x="315667" y="35117"/>
                </a:moveTo>
                <a:lnTo>
                  <a:pt x="298513" y="6527"/>
                </a:lnTo>
                <a:lnTo>
                  <a:pt x="383451" y="0"/>
                </a:lnTo>
                <a:lnTo>
                  <a:pt x="367336" y="25323"/>
                </a:lnTo>
                <a:lnTo>
                  <a:pt x="331990" y="25323"/>
                </a:lnTo>
                <a:lnTo>
                  <a:pt x="315667" y="35117"/>
                </a:lnTo>
                <a:close/>
              </a:path>
              <a:path w="383539" h="233045">
                <a:moveTo>
                  <a:pt x="320567" y="43285"/>
                </a:moveTo>
                <a:lnTo>
                  <a:pt x="315667" y="35117"/>
                </a:lnTo>
                <a:lnTo>
                  <a:pt x="331990" y="25323"/>
                </a:lnTo>
                <a:lnTo>
                  <a:pt x="336892" y="33489"/>
                </a:lnTo>
                <a:lnTo>
                  <a:pt x="320567" y="43285"/>
                </a:lnTo>
                <a:close/>
              </a:path>
              <a:path w="383539" h="233045">
                <a:moveTo>
                  <a:pt x="337718" y="71869"/>
                </a:moveTo>
                <a:lnTo>
                  <a:pt x="320567" y="43285"/>
                </a:lnTo>
                <a:lnTo>
                  <a:pt x="336892" y="33489"/>
                </a:lnTo>
                <a:lnTo>
                  <a:pt x="331990" y="25323"/>
                </a:lnTo>
                <a:lnTo>
                  <a:pt x="367336" y="25323"/>
                </a:lnTo>
                <a:lnTo>
                  <a:pt x="337718" y="71869"/>
                </a:lnTo>
                <a:close/>
              </a:path>
              <a:path w="383539" h="233045">
                <a:moveTo>
                  <a:pt x="4902" y="232689"/>
                </a:moveTo>
                <a:lnTo>
                  <a:pt x="0" y="224510"/>
                </a:lnTo>
                <a:lnTo>
                  <a:pt x="315667" y="35117"/>
                </a:lnTo>
                <a:lnTo>
                  <a:pt x="320567" y="43285"/>
                </a:lnTo>
                <a:lnTo>
                  <a:pt x="4902" y="232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600" y="2667000"/>
            <a:ext cx="6172200" cy="457200"/>
          </a:xfrm>
          <a:custGeom>
            <a:avLst/>
            <a:gdLst/>
            <a:ahLst/>
            <a:cxnLst/>
            <a:rect l="l" t="t" r="r" b="b"/>
            <a:pathLst>
              <a:path w="6172200" h="457200">
                <a:moveTo>
                  <a:pt x="0" y="0"/>
                </a:moveTo>
                <a:lnTo>
                  <a:pt x="6172200" y="0"/>
                </a:lnTo>
                <a:lnTo>
                  <a:pt x="6172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09837" y="2662237"/>
            <a:ext cx="6181725" cy="466725"/>
          </a:xfrm>
          <a:custGeom>
            <a:avLst/>
            <a:gdLst/>
            <a:ahLst/>
            <a:cxnLst/>
            <a:rect l="l" t="t" r="r" b="b"/>
            <a:pathLst>
              <a:path w="6181725" h="466725">
                <a:moveTo>
                  <a:pt x="61817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6181725" y="0"/>
                </a:lnTo>
                <a:lnTo>
                  <a:pt x="6181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6181725" y="461962"/>
                </a:lnTo>
                <a:lnTo>
                  <a:pt x="6181725" y="466725"/>
                </a:lnTo>
                <a:close/>
              </a:path>
              <a:path w="61817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81725" h="466725">
                <a:moveTo>
                  <a:pt x="6172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172200" y="4762"/>
                </a:lnTo>
                <a:lnTo>
                  <a:pt x="6172200" y="9525"/>
                </a:lnTo>
                <a:close/>
              </a:path>
              <a:path w="6181725" h="466725">
                <a:moveTo>
                  <a:pt x="6172200" y="461962"/>
                </a:moveTo>
                <a:lnTo>
                  <a:pt x="6172200" y="4762"/>
                </a:lnTo>
                <a:lnTo>
                  <a:pt x="6176962" y="9525"/>
                </a:lnTo>
                <a:lnTo>
                  <a:pt x="6181725" y="9525"/>
                </a:lnTo>
                <a:lnTo>
                  <a:pt x="6181725" y="457200"/>
                </a:lnTo>
                <a:lnTo>
                  <a:pt x="6176962" y="457200"/>
                </a:lnTo>
                <a:lnTo>
                  <a:pt x="6172200" y="461962"/>
                </a:lnTo>
                <a:close/>
              </a:path>
              <a:path w="6181725" h="466725">
                <a:moveTo>
                  <a:pt x="6181725" y="9525"/>
                </a:moveTo>
                <a:lnTo>
                  <a:pt x="6176962" y="9525"/>
                </a:lnTo>
                <a:lnTo>
                  <a:pt x="6172200" y="4762"/>
                </a:lnTo>
                <a:lnTo>
                  <a:pt x="6181725" y="4762"/>
                </a:lnTo>
                <a:lnTo>
                  <a:pt x="6181725" y="9525"/>
                </a:lnTo>
                <a:close/>
              </a:path>
              <a:path w="61817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6181725" h="466725">
                <a:moveTo>
                  <a:pt x="61722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6172200" y="457200"/>
                </a:lnTo>
                <a:lnTo>
                  <a:pt x="6172200" y="461962"/>
                </a:lnTo>
                <a:close/>
              </a:path>
              <a:path w="6181725" h="466725">
                <a:moveTo>
                  <a:pt x="6181725" y="461962"/>
                </a:moveTo>
                <a:lnTo>
                  <a:pt x="6172200" y="461962"/>
                </a:lnTo>
                <a:lnTo>
                  <a:pt x="6176962" y="457200"/>
                </a:lnTo>
                <a:lnTo>
                  <a:pt x="6181725" y="457200"/>
                </a:lnTo>
                <a:lnTo>
                  <a:pt x="61817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936740" y="1708149"/>
            <a:ext cx="18592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Pick one copy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of  each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attribute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48400" y="2054263"/>
            <a:ext cx="537210" cy="612775"/>
          </a:xfrm>
          <a:custGeom>
            <a:avLst/>
            <a:gdLst/>
            <a:ahLst/>
            <a:cxnLst/>
            <a:rect l="l" t="t" r="r" b="b"/>
            <a:pathLst>
              <a:path w="537209" h="612775">
                <a:moveTo>
                  <a:pt x="53756" y="558521"/>
                </a:moveTo>
                <a:lnTo>
                  <a:pt x="46590" y="552251"/>
                </a:lnTo>
                <a:lnTo>
                  <a:pt x="529818" y="0"/>
                </a:lnTo>
                <a:lnTo>
                  <a:pt x="536981" y="6273"/>
                </a:lnTo>
                <a:lnTo>
                  <a:pt x="53756" y="558521"/>
                </a:lnTo>
                <a:close/>
              </a:path>
              <a:path w="537209" h="612775">
                <a:moveTo>
                  <a:pt x="0" y="612736"/>
                </a:moveTo>
                <a:lnTo>
                  <a:pt x="21501" y="530301"/>
                </a:lnTo>
                <a:lnTo>
                  <a:pt x="46590" y="552251"/>
                </a:lnTo>
                <a:lnTo>
                  <a:pt x="34048" y="566585"/>
                </a:lnTo>
                <a:lnTo>
                  <a:pt x="41211" y="572858"/>
                </a:lnTo>
                <a:lnTo>
                  <a:pt x="70144" y="572858"/>
                </a:lnTo>
                <a:lnTo>
                  <a:pt x="78854" y="580478"/>
                </a:lnTo>
                <a:lnTo>
                  <a:pt x="0" y="612736"/>
                </a:lnTo>
                <a:close/>
              </a:path>
              <a:path w="537209" h="612775">
                <a:moveTo>
                  <a:pt x="41211" y="572858"/>
                </a:moveTo>
                <a:lnTo>
                  <a:pt x="34048" y="566585"/>
                </a:lnTo>
                <a:lnTo>
                  <a:pt x="46590" y="552251"/>
                </a:lnTo>
                <a:lnTo>
                  <a:pt x="53756" y="558521"/>
                </a:lnTo>
                <a:lnTo>
                  <a:pt x="41211" y="572858"/>
                </a:lnTo>
                <a:close/>
              </a:path>
              <a:path w="537209" h="612775">
                <a:moveTo>
                  <a:pt x="70144" y="572858"/>
                </a:moveTo>
                <a:lnTo>
                  <a:pt x="41211" y="572858"/>
                </a:lnTo>
                <a:lnTo>
                  <a:pt x="53756" y="558521"/>
                </a:lnTo>
                <a:lnTo>
                  <a:pt x="70144" y="572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2664" y="829944"/>
            <a:ext cx="7138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Interpreting </a:t>
            </a:r>
            <a:r>
              <a:rPr dirty="0"/>
              <a:t>a </a:t>
            </a:r>
            <a:r>
              <a:rPr spc="-5" dirty="0"/>
              <a:t>View</a:t>
            </a:r>
            <a:r>
              <a:rPr spc="-45" dirty="0"/>
              <a:t> </a:t>
            </a:r>
            <a:r>
              <a:rPr spc="-5" dirty="0"/>
              <a:t>Insertion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88555" cy="35610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cannot insert into </a:t>
            </a:r>
            <a:r>
              <a:rPr sz="3200" spc="-15" dirty="0">
                <a:latin typeface="Tahoma"/>
                <a:cs typeface="Tahoma"/>
              </a:rPr>
              <a:t>Synergy </a:t>
            </a:r>
            <a:r>
              <a:rPr sz="3200" dirty="0">
                <a:latin typeface="Tahoma"/>
                <a:cs typeface="Tahoma"/>
              </a:rPr>
              <a:t>--- it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virtual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view.</a:t>
            </a:r>
            <a:endParaRPr sz="3200" dirty="0">
              <a:latin typeface="Tahoma"/>
              <a:cs typeface="Tahoma"/>
            </a:endParaRPr>
          </a:p>
          <a:p>
            <a:pPr marL="355600" marR="4889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we </a:t>
            </a:r>
            <a:r>
              <a:rPr sz="3200" spc="-5" dirty="0">
                <a:latin typeface="Tahoma"/>
                <a:cs typeface="Tahoma"/>
              </a:rPr>
              <a:t>can use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INSTEAD </a:t>
            </a:r>
            <a:r>
              <a:rPr sz="3200" dirty="0">
                <a:latin typeface="Tahoma"/>
                <a:cs typeface="Tahoma"/>
              </a:rPr>
              <a:t>OF </a:t>
            </a:r>
            <a:r>
              <a:rPr sz="3200" spc="-5" dirty="0">
                <a:latin typeface="Tahoma"/>
                <a:cs typeface="Tahoma"/>
              </a:rPr>
              <a:t>trigger  to turn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5" dirty="0">
                <a:solidFill>
                  <a:srgbClr val="CC00CC"/>
                </a:solidFill>
                <a:latin typeface="Tahoma"/>
                <a:cs typeface="Tahoma"/>
              </a:rPr>
              <a:t>(drinker,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 </a:t>
            </a:r>
            <a:r>
              <a:rPr sz="3200" spc="-5" dirty="0">
                <a:latin typeface="Tahoma"/>
                <a:cs typeface="Tahoma"/>
              </a:rPr>
              <a:t>triple into  three insertions of projected pairs, one 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 of </a:t>
            </a:r>
            <a:r>
              <a:rPr sz="3200" spc="-10" dirty="0">
                <a:latin typeface="Tahoma"/>
                <a:cs typeface="Tahoma"/>
              </a:rPr>
              <a:t>Likes, </a:t>
            </a:r>
            <a:r>
              <a:rPr sz="3200" spc="-5" dirty="0">
                <a:latin typeface="Tahoma"/>
                <a:cs typeface="Tahoma"/>
              </a:rPr>
              <a:t>Sells, and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Frequents.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Sells.price </a:t>
            </a:r>
            <a:r>
              <a:rPr sz="2800" dirty="0">
                <a:latin typeface="Tahoma"/>
                <a:cs typeface="Tahoma"/>
              </a:rPr>
              <a:t>will </a:t>
            </a:r>
            <a:r>
              <a:rPr sz="2800" spc="-15" dirty="0">
                <a:latin typeface="Tahoma"/>
                <a:cs typeface="Tahoma"/>
              </a:rPr>
              <a:t>have </a:t>
            </a:r>
            <a:r>
              <a:rPr sz="2800" spc="-5" dirty="0">
                <a:latin typeface="Tahoma"/>
                <a:cs typeface="Tahoma"/>
              </a:rPr>
              <a:t>to be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NULL.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7695" y="829944"/>
            <a:ext cx="2848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</a:t>
            </a:r>
            <a:r>
              <a:rPr spc="-60" dirty="0"/>
              <a:t> </a:t>
            </a:r>
            <a:r>
              <a:rPr spc="-65" dirty="0"/>
              <a:t>Trigger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941194"/>
            <a:ext cx="8273415" cy="3973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418204" indent="-342900">
              <a:lnSpc>
                <a:spcPct val="119900"/>
              </a:lnSpc>
              <a:spcBef>
                <a:spcPts val="95"/>
              </a:spcBef>
            </a:pPr>
            <a:r>
              <a:rPr sz="2400" spc="-25" dirty="0">
                <a:latin typeface="Tahoma"/>
                <a:cs typeface="Tahoma"/>
              </a:rPr>
              <a:t>CREATE </a:t>
            </a:r>
            <a:r>
              <a:rPr sz="2400" spc="-5" dirty="0">
                <a:latin typeface="Tahoma"/>
                <a:cs typeface="Tahoma"/>
              </a:rPr>
              <a:t>TRIGGER </a:t>
            </a:r>
            <a:r>
              <a:rPr sz="2400" spc="-30" dirty="0">
                <a:latin typeface="Tahoma"/>
                <a:cs typeface="Tahoma"/>
              </a:rPr>
              <a:t>ViewTrig  </a:t>
            </a:r>
            <a:r>
              <a:rPr sz="2400" spc="-5" dirty="0">
                <a:latin typeface="Tahoma"/>
                <a:cs typeface="Tahoma"/>
              </a:rPr>
              <a:t>INSTEAD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15" dirty="0">
                <a:latin typeface="Tahoma"/>
                <a:cs typeface="Tahoma"/>
              </a:rPr>
              <a:t>INSERT 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Synergy  </a:t>
            </a:r>
            <a:r>
              <a:rPr sz="2400" spc="-5" dirty="0">
                <a:latin typeface="Tahoma"/>
                <a:cs typeface="Tahoma"/>
              </a:rPr>
              <a:t>REFERENCING NEW </a:t>
            </a:r>
            <a:r>
              <a:rPr sz="2400" dirty="0">
                <a:latin typeface="Tahoma"/>
                <a:cs typeface="Tahoma"/>
              </a:rPr>
              <a:t>ROW </a:t>
            </a:r>
            <a:r>
              <a:rPr sz="2400" spc="-5" dirty="0">
                <a:latin typeface="Tahoma"/>
                <a:cs typeface="Tahoma"/>
              </a:rPr>
              <a:t>AS </a:t>
            </a:r>
            <a:r>
              <a:rPr sz="2400" dirty="0">
                <a:latin typeface="Tahoma"/>
                <a:cs typeface="Tahoma"/>
              </a:rPr>
              <a:t>n  </a:t>
            </a:r>
            <a:r>
              <a:rPr sz="2400" spc="-5" dirty="0">
                <a:latin typeface="Tahoma"/>
                <a:cs typeface="Tahoma"/>
              </a:rPr>
              <a:t>FOR EACH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ROW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BEGIN</a:t>
            </a:r>
            <a:endParaRPr sz="2400">
              <a:latin typeface="Tahoma"/>
              <a:cs typeface="Tahoma"/>
            </a:endParaRPr>
          </a:p>
          <a:p>
            <a:pPr marL="927100" marR="5080">
              <a:lnSpc>
                <a:spcPct val="120000"/>
              </a:lnSpc>
            </a:pPr>
            <a:r>
              <a:rPr sz="2400" spc="-15" dirty="0">
                <a:latin typeface="Tahoma"/>
                <a:cs typeface="Tahoma"/>
              </a:rPr>
              <a:t>INSERT </a:t>
            </a:r>
            <a:r>
              <a:rPr sz="2400" spc="-20" dirty="0">
                <a:latin typeface="Tahoma"/>
                <a:cs typeface="Tahoma"/>
              </a:rPr>
              <a:t>INTO </a:t>
            </a:r>
            <a:r>
              <a:rPr sz="2400" spc="-5" dirty="0">
                <a:latin typeface="Tahoma"/>
                <a:cs typeface="Tahoma"/>
              </a:rPr>
              <a:t>LIKES </a:t>
            </a:r>
            <a:r>
              <a:rPr sz="2400" spc="-30" dirty="0">
                <a:latin typeface="Tahoma"/>
                <a:cs typeface="Tahoma"/>
              </a:rPr>
              <a:t>VALUES(n.drinker, </a:t>
            </a:r>
            <a:r>
              <a:rPr sz="2400" spc="-5" dirty="0">
                <a:latin typeface="Tahoma"/>
                <a:cs typeface="Tahoma"/>
              </a:rPr>
              <a:t>n.beer);  </a:t>
            </a:r>
            <a:r>
              <a:rPr sz="2400" spc="-15" dirty="0">
                <a:latin typeface="Tahoma"/>
                <a:cs typeface="Tahoma"/>
              </a:rPr>
              <a:t>INSERT </a:t>
            </a:r>
            <a:r>
              <a:rPr sz="2400" spc="-20" dirty="0">
                <a:latin typeface="Tahoma"/>
                <a:cs typeface="Tahoma"/>
              </a:rPr>
              <a:t>INTO </a:t>
            </a:r>
            <a:r>
              <a:rPr sz="2400" spc="-35" dirty="0">
                <a:latin typeface="Tahoma"/>
                <a:cs typeface="Tahoma"/>
              </a:rPr>
              <a:t>SELLS(bar, </a:t>
            </a:r>
            <a:r>
              <a:rPr sz="2400" spc="-5" dirty="0">
                <a:latin typeface="Tahoma"/>
                <a:cs typeface="Tahoma"/>
              </a:rPr>
              <a:t>beer) </a:t>
            </a:r>
            <a:r>
              <a:rPr sz="2400" spc="-35" dirty="0">
                <a:latin typeface="Tahoma"/>
                <a:cs typeface="Tahoma"/>
              </a:rPr>
              <a:t>VALUES(n.bar, </a:t>
            </a:r>
            <a:r>
              <a:rPr sz="2400" spc="-5" dirty="0">
                <a:latin typeface="Tahoma"/>
                <a:cs typeface="Tahoma"/>
              </a:rPr>
              <a:t>n.beer);  </a:t>
            </a:r>
            <a:r>
              <a:rPr sz="2400" spc="-15" dirty="0">
                <a:latin typeface="Tahoma"/>
                <a:cs typeface="Tahoma"/>
              </a:rPr>
              <a:t>INSERT </a:t>
            </a:r>
            <a:r>
              <a:rPr sz="2400" spc="-20" dirty="0">
                <a:latin typeface="Tahoma"/>
                <a:cs typeface="Tahoma"/>
              </a:rPr>
              <a:t>INTO </a:t>
            </a:r>
            <a:r>
              <a:rPr sz="2400" spc="-5" dirty="0">
                <a:latin typeface="Tahoma"/>
                <a:cs typeface="Tahoma"/>
              </a:rPr>
              <a:t>FREQUENTS </a:t>
            </a:r>
            <a:r>
              <a:rPr sz="2400" spc="-30" dirty="0">
                <a:latin typeface="Tahoma"/>
                <a:cs typeface="Tahoma"/>
              </a:rPr>
              <a:t>VALUES(n.drinker,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n.bar);</a:t>
            </a:r>
            <a:endParaRPr sz="240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Tahoma"/>
                <a:cs typeface="Tahoma"/>
              </a:rPr>
              <a:t>END;</a:t>
            </a:r>
            <a:endParaRPr sz="24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9953D73-726B-EFF5-A867-7B76784E213F}"/>
                  </a:ext>
                </a:extLst>
              </p14:cNvPr>
              <p14:cNvContentPartPr/>
              <p14:nvPr/>
            </p14:nvContentPartPr>
            <p14:xfrm>
              <a:off x="412299" y="2065525"/>
              <a:ext cx="2448360" cy="1947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9953D73-726B-EFF5-A867-7B76784E21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659" y="1957525"/>
                <a:ext cx="255600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9BFC867-1D81-0702-0014-3AB1A19465BC}"/>
                  </a:ext>
                </a:extLst>
              </p14:cNvPr>
              <p14:cNvContentPartPr/>
              <p14:nvPr/>
            </p14:nvContentPartPr>
            <p14:xfrm>
              <a:off x="572139" y="2356405"/>
              <a:ext cx="4628160" cy="3866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9BFC867-1D81-0702-0014-3AB1A19465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8499" y="2248765"/>
                <a:ext cx="473580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A65D7FE6-D3E3-133F-2E69-7570ED8EEBB9}"/>
                  </a:ext>
                </a:extLst>
              </p14:cNvPr>
              <p14:cNvContentPartPr/>
              <p14:nvPr/>
            </p14:nvContentPartPr>
            <p14:xfrm>
              <a:off x="1039419" y="2537125"/>
              <a:ext cx="133200" cy="514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A65D7FE6-D3E3-133F-2E69-7570ED8EEB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5779" y="2429125"/>
                <a:ext cx="2408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13279F5-4F9D-136E-33C4-1807E2D31A92}"/>
                  </a:ext>
                </a:extLst>
              </p14:cNvPr>
              <p14:cNvContentPartPr/>
              <p14:nvPr/>
            </p14:nvContentPartPr>
            <p14:xfrm>
              <a:off x="2178459" y="2268205"/>
              <a:ext cx="360" cy="36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13279F5-4F9D-136E-33C4-1807E2D31A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24819" y="216020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7429" y="829944"/>
            <a:ext cx="4549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Materialized</a:t>
            </a:r>
            <a:r>
              <a:rPr spc="-75" dirty="0"/>
              <a:t> </a:t>
            </a:r>
            <a:r>
              <a:rPr spc="-5" dirty="0"/>
              <a:t>Views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90765" cy="398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1976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Problem</a:t>
            </a:r>
            <a:r>
              <a:rPr sz="3200" spc="-5" dirty="0">
                <a:latin typeface="Tahoma"/>
                <a:cs typeface="Tahoma"/>
              </a:rPr>
              <a:t>: each time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base table  changes, the materialized view </a:t>
            </a:r>
            <a:r>
              <a:rPr sz="3200" spc="-10" dirty="0">
                <a:latin typeface="Tahoma"/>
                <a:cs typeface="Tahoma"/>
              </a:rPr>
              <a:t>may  </a:t>
            </a:r>
            <a:r>
              <a:rPr sz="3200" spc="-5" dirty="0">
                <a:latin typeface="Tahoma"/>
                <a:cs typeface="Tahoma"/>
              </a:rPr>
              <a:t>change.</a:t>
            </a:r>
            <a:endParaRPr sz="3200">
              <a:latin typeface="Tahoma"/>
              <a:cs typeface="Tahoma"/>
            </a:endParaRPr>
          </a:p>
          <a:p>
            <a:pPr marL="755650" marR="7048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Cannot </a:t>
            </a:r>
            <a:r>
              <a:rPr sz="2800" spc="-15" dirty="0">
                <a:latin typeface="Tahoma"/>
                <a:cs typeface="Tahoma"/>
              </a:rPr>
              <a:t>afford </a:t>
            </a:r>
            <a:r>
              <a:rPr sz="2800" spc="-5" dirty="0">
                <a:latin typeface="Tahoma"/>
                <a:cs typeface="Tahoma"/>
              </a:rPr>
              <a:t>to recompute the view </a:t>
            </a:r>
            <a:r>
              <a:rPr sz="2800" dirty="0">
                <a:latin typeface="Tahoma"/>
                <a:cs typeface="Tahoma"/>
              </a:rPr>
              <a:t>with  </a:t>
            </a:r>
            <a:r>
              <a:rPr sz="2800" spc="-5" dirty="0">
                <a:latin typeface="Tahoma"/>
                <a:cs typeface="Tahoma"/>
              </a:rPr>
              <a:t>each change.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Solution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Periodic </a:t>
            </a:r>
            <a:r>
              <a:rPr sz="3200" spc="-5" dirty="0">
                <a:latin typeface="Tahoma"/>
                <a:cs typeface="Tahoma"/>
              </a:rPr>
              <a:t>reconstruction of the  materialized </a:t>
            </a:r>
            <a:r>
              <a:rPr sz="3200" spc="-25" dirty="0">
                <a:latin typeface="Tahoma"/>
                <a:cs typeface="Tahoma"/>
              </a:rPr>
              <a:t>view, </a:t>
            </a:r>
            <a:r>
              <a:rPr sz="3200" spc="-5" dirty="0">
                <a:latin typeface="Tahoma"/>
                <a:cs typeface="Tahoma"/>
              </a:rPr>
              <a:t>which is otherwise  “out of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date.”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" y="829944"/>
            <a:ext cx="8267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Axess/Class </a:t>
            </a:r>
            <a:r>
              <a:rPr spc="-5" dirty="0"/>
              <a:t>Mailing</a:t>
            </a:r>
            <a:r>
              <a:rPr spc="-15" dirty="0"/>
              <a:t> </a:t>
            </a:r>
            <a:r>
              <a:rPr spc="-5" dirty="0"/>
              <a:t>List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38390" cy="3012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class mailing list </a:t>
            </a: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cs145-aut0708-  students </a:t>
            </a:r>
            <a:r>
              <a:rPr sz="3200" spc="-5" dirty="0">
                <a:latin typeface="Tahoma"/>
                <a:cs typeface="Tahoma"/>
              </a:rPr>
              <a:t>is in </a:t>
            </a:r>
            <a:r>
              <a:rPr sz="3200" spc="-15" dirty="0">
                <a:latin typeface="Tahoma"/>
                <a:cs typeface="Tahoma"/>
              </a:rPr>
              <a:t>effect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materialized view  of the class enrollment in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Axess.</a:t>
            </a:r>
            <a:endParaRPr sz="3200" dirty="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Actually updated </a:t>
            </a:r>
            <a:r>
              <a:rPr sz="3200" spc="-15" dirty="0">
                <a:latin typeface="Tahoma"/>
                <a:cs typeface="Tahoma"/>
              </a:rPr>
              <a:t>four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35" dirty="0">
                <a:latin typeface="Tahoma"/>
                <a:cs typeface="Tahoma"/>
              </a:rPr>
              <a:t>times/day.</a:t>
            </a:r>
            <a:endParaRPr sz="3200" dirty="0">
              <a:latin typeface="Tahoma"/>
              <a:cs typeface="Tahoma"/>
            </a:endParaRPr>
          </a:p>
          <a:p>
            <a:pPr marL="755650" marR="12255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60" dirty="0">
                <a:latin typeface="Tahoma"/>
                <a:cs typeface="Tahoma"/>
              </a:rPr>
              <a:t>You </a:t>
            </a:r>
            <a:r>
              <a:rPr sz="2800" spc="-5" dirty="0">
                <a:latin typeface="Tahoma"/>
                <a:cs typeface="Tahoma"/>
              </a:rPr>
              <a:t>can enroll and miss an email sent out  after </a:t>
            </a:r>
            <a:r>
              <a:rPr sz="2800" spc="-15" dirty="0">
                <a:latin typeface="Tahoma"/>
                <a:cs typeface="Tahoma"/>
              </a:rPr>
              <a:t>you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enroll.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2834" y="366838"/>
            <a:ext cx="70580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dirty="0"/>
              <a:t>A </a:t>
            </a:r>
            <a:r>
              <a:rPr spc="-5" dirty="0"/>
              <a:t>Data</a:t>
            </a:r>
            <a:r>
              <a:rPr spc="-45" dirty="0"/>
              <a:t> </a:t>
            </a:r>
            <a:r>
              <a:rPr spc="-25" dirty="0"/>
              <a:t>Warehouse</a:t>
            </a:r>
            <a:r>
              <a:rPr lang="zh-CN" altLang="en-US" spc="-25" dirty="0"/>
              <a:t>数据仓库</a:t>
            </a:r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158355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044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Wal-Mart </a:t>
            </a:r>
            <a:r>
              <a:rPr sz="3200" spc="-5" dirty="0">
                <a:latin typeface="Tahoma"/>
                <a:cs typeface="Tahoma"/>
              </a:rPr>
              <a:t>stores </a:t>
            </a:r>
            <a:r>
              <a:rPr sz="3200" spc="-10" dirty="0">
                <a:latin typeface="Tahoma"/>
                <a:cs typeface="Tahoma"/>
              </a:rPr>
              <a:t>every </a:t>
            </a:r>
            <a:r>
              <a:rPr sz="3200" spc="-5" dirty="0">
                <a:latin typeface="Tahoma"/>
                <a:cs typeface="Tahoma"/>
              </a:rPr>
              <a:t>sale at </a:t>
            </a:r>
            <a:r>
              <a:rPr sz="3200" spc="-10" dirty="0">
                <a:latin typeface="Tahoma"/>
                <a:cs typeface="Tahoma"/>
              </a:rPr>
              <a:t>every  </a:t>
            </a:r>
            <a:r>
              <a:rPr sz="3200" spc="-5" dirty="0">
                <a:latin typeface="Tahoma"/>
                <a:cs typeface="Tahoma"/>
              </a:rPr>
              <a:t>store in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database.</a:t>
            </a:r>
            <a:endParaRPr sz="3200" dirty="0">
              <a:latin typeface="Tahoma"/>
              <a:cs typeface="Tahoma"/>
            </a:endParaRPr>
          </a:p>
          <a:p>
            <a:pPr marL="355600" marR="225425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Overnight, the sales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day are  </a:t>
            </a:r>
            <a:r>
              <a:rPr sz="3200" spc="-5" dirty="0">
                <a:latin typeface="Tahoma"/>
                <a:cs typeface="Tahoma"/>
              </a:rPr>
              <a:t>used to update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 err="1">
                <a:effectLst/>
              </a:rPr>
              <a:t>datawarehouse</a:t>
            </a:r>
            <a:r>
              <a:rPr sz="3350" i="1" spc="-8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 </a:t>
            </a:r>
            <a:r>
              <a:rPr sz="3200" spc="-5" dirty="0">
                <a:latin typeface="Tahoma"/>
                <a:cs typeface="Tahoma"/>
              </a:rPr>
              <a:t>materialized views of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sales.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warehouse </a:t>
            </a:r>
            <a:r>
              <a:rPr sz="3200" spc="-5" dirty="0">
                <a:latin typeface="Tahoma"/>
                <a:cs typeface="Tahoma"/>
              </a:rPr>
              <a:t>is used by analysts to  predict trends and </a:t>
            </a:r>
            <a:r>
              <a:rPr sz="3200" spc="-15" dirty="0">
                <a:latin typeface="Tahoma"/>
                <a:cs typeface="Tahoma"/>
              </a:rPr>
              <a:t>move </a:t>
            </a:r>
            <a:r>
              <a:rPr sz="3200" spc="-5" dirty="0">
                <a:latin typeface="Tahoma"/>
                <a:cs typeface="Tahoma"/>
              </a:rPr>
              <a:t>goods to  where they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selling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best.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829944"/>
            <a:ext cx="19589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</a:t>
            </a:r>
            <a:r>
              <a:rPr spc="-5" dirty="0"/>
              <a:t>nde</a:t>
            </a:r>
            <a:r>
              <a:rPr spc="-60" dirty="0"/>
              <a:t>x</a:t>
            </a:r>
            <a:r>
              <a:rPr spc="-5" dirty="0"/>
              <a:t>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745730" cy="366645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473075" indent="-342900">
              <a:lnSpc>
                <a:spcPts val="3840"/>
              </a:lnSpc>
              <a:spcBef>
                <a:spcPts val="390"/>
              </a:spcBef>
            </a:pPr>
            <a:r>
              <a:rPr sz="3200" spc="-93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lang="en-US" altLang="zh-CN" sz="3600" dirty="0">
                <a:effectLst/>
              </a:rPr>
              <a:t>Index </a:t>
            </a:r>
            <a:r>
              <a:rPr sz="3350" i="1" spc="-93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data structure used to speed  access to tuples of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relation, </a:t>
            </a:r>
            <a:r>
              <a:rPr sz="3200" spc="-10" dirty="0">
                <a:latin typeface="Tahoma"/>
                <a:cs typeface="Tahoma"/>
              </a:rPr>
              <a:t>given  </a:t>
            </a:r>
            <a:r>
              <a:rPr sz="3200" spc="-15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of one or more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attributes.</a:t>
            </a:r>
            <a:endParaRPr sz="3200" dirty="0">
              <a:latin typeface="Tahoma"/>
              <a:cs typeface="Tahoma"/>
            </a:endParaRPr>
          </a:p>
          <a:p>
            <a:pPr marL="301625" marR="5080" indent="-28956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Could </a:t>
            </a:r>
            <a:r>
              <a:rPr sz="3200" dirty="0">
                <a:latin typeface="Tahoma"/>
                <a:cs typeface="Tahoma"/>
              </a:rPr>
              <a:t>be a </a:t>
            </a:r>
            <a:r>
              <a:rPr sz="3200" spc="-5" dirty="0">
                <a:latin typeface="Tahoma"/>
                <a:cs typeface="Tahoma"/>
              </a:rPr>
              <a:t>hash table, but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DBMS </a:t>
            </a:r>
            <a:r>
              <a:rPr sz="3200" dirty="0">
                <a:latin typeface="Tahoma"/>
                <a:cs typeface="Tahoma"/>
              </a:rPr>
              <a:t>it 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spc="-15" dirty="0">
                <a:latin typeface="Tahoma"/>
                <a:cs typeface="Tahoma"/>
              </a:rPr>
              <a:t>always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balanced search </a:t>
            </a:r>
            <a:r>
              <a:rPr sz="3200" spc="-10" dirty="0">
                <a:latin typeface="Tahoma"/>
                <a:cs typeface="Tahoma"/>
              </a:rPr>
              <a:t>tree </a:t>
            </a:r>
            <a:r>
              <a:rPr sz="3200" spc="-5" dirty="0">
                <a:latin typeface="Tahoma"/>
                <a:cs typeface="Tahoma"/>
              </a:rPr>
              <a:t>with  giant nodes (a </a:t>
            </a:r>
            <a:r>
              <a:rPr sz="3200" spc="-10" dirty="0">
                <a:latin typeface="Tahoma"/>
                <a:cs typeface="Tahoma"/>
              </a:rPr>
              <a:t>full </a:t>
            </a:r>
            <a:r>
              <a:rPr sz="3200" spc="-5" dirty="0">
                <a:latin typeface="Tahoma"/>
                <a:cs typeface="Tahoma"/>
              </a:rPr>
              <a:t>disk page) called </a:t>
            </a:r>
            <a:r>
              <a:rPr sz="3200" dirty="0">
                <a:latin typeface="Tahoma"/>
                <a:cs typeface="Tahoma"/>
              </a:rPr>
              <a:t>a </a:t>
            </a:r>
            <a:endParaRPr lang="en-US" sz="3200" dirty="0">
              <a:latin typeface="Tahoma"/>
              <a:cs typeface="Tahoma"/>
            </a:endParaRPr>
          </a:p>
          <a:p>
            <a:pPr marL="12065" marR="5080">
              <a:lnSpc>
                <a:spcPts val="3840"/>
              </a:lnSpc>
              <a:spcBef>
                <a:spcPts val="765"/>
              </a:spcBef>
              <a:buClr>
                <a:srgbClr val="CC00CC"/>
              </a:buClr>
              <a:buSzPct val="96875"/>
              <a:tabLst>
                <a:tab pos="415290" algn="l"/>
              </a:tabLst>
            </a:pPr>
            <a:r>
              <a:rPr lang="en-US" altLang="zh-CN" sz="3200" dirty="0">
                <a:effectLst/>
                <a:latin typeface="Tahoma"/>
                <a:cs typeface="Tahoma"/>
              </a:rPr>
              <a:t>	</a:t>
            </a:r>
            <a:r>
              <a:rPr lang="en-US" altLang="zh-CN" sz="3600" dirty="0">
                <a:effectLst/>
              </a:rPr>
              <a:t>B- tree</a:t>
            </a:r>
            <a:r>
              <a:rPr sz="3200" spc="-944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0E1E44D-BFB7-5849-7870-7A2455277EE7}"/>
                  </a:ext>
                </a:extLst>
              </p14:cNvPr>
              <p14:cNvContentPartPr/>
              <p14:nvPr/>
            </p14:nvContentPartPr>
            <p14:xfrm>
              <a:off x="1304739" y="5269885"/>
              <a:ext cx="1483560" cy="1447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0E1E44D-BFB7-5849-7870-7A2455277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1099" y="5162245"/>
                <a:ext cx="1591200" cy="36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381000"/>
            <a:ext cx="597852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Clustered</a:t>
            </a:r>
            <a:r>
              <a:rPr spc="-75" dirty="0"/>
              <a:t> </a:t>
            </a:r>
            <a:r>
              <a:rPr spc="-15" dirty="0"/>
              <a:t>Indexes</a:t>
            </a:r>
            <a:br>
              <a:rPr lang="en-US" spc="-15" dirty="0"/>
            </a:br>
            <a:r>
              <a:rPr lang="zh-CN" altLang="en-US" spc="-15" dirty="0"/>
              <a:t>聚集索引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56805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8780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spc="-75" dirty="0">
                <a:latin typeface="Tahoma"/>
                <a:cs typeface="Tahoma"/>
              </a:rPr>
              <a:t>Table </a:t>
            </a:r>
            <a:r>
              <a:rPr sz="3200" spc="-5" dirty="0">
                <a:latin typeface="Tahoma"/>
                <a:cs typeface="Tahoma"/>
              </a:rPr>
              <a:t>Can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200" spc="-5" dirty="0">
                <a:latin typeface="Tahoma"/>
                <a:cs typeface="Tahoma"/>
              </a:rPr>
              <a:t>Only One  Clustered</a:t>
            </a:r>
            <a:r>
              <a:rPr sz="3200" spc="-10" dirty="0">
                <a:latin typeface="Tahoma"/>
                <a:cs typeface="Tahoma"/>
              </a:rPr>
              <a:t> Index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0" dirty="0">
                <a:latin typeface="Tahoma"/>
                <a:cs typeface="Tahoma"/>
              </a:rPr>
              <a:t>Physical </a:t>
            </a:r>
            <a:r>
              <a:rPr sz="3200" spc="-25" dirty="0">
                <a:latin typeface="Tahoma"/>
                <a:cs typeface="Tahoma"/>
              </a:rPr>
              <a:t>Row </a:t>
            </a:r>
            <a:r>
              <a:rPr sz="3200" spc="-5" dirty="0">
                <a:latin typeface="Tahoma"/>
                <a:cs typeface="Tahoma"/>
              </a:rPr>
              <a:t>Order of the </a:t>
            </a:r>
            <a:r>
              <a:rPr sz="3200" spc="-75" dirty="0">
                <a:latin typeface="Tahoma"/>
                <a:cs typeface="Tahoma"/>
              </a:rPr>
              <a:t>Table  </a:t>
            </a:r>
            <a:r>
              <a:rPr sz="3200" spc="-5" dirty="0">
                <a:latin typeface="Tahoma"/>
                <a:cs typeface="Tahoma"/>
              </a:rPr>
              <a:t>and the Order of </a:t>
            </a:r>
            <a:r>
              <a:rPr sz="3200" spc="-20" dirty="0">
                <a:latin typeface="Tahoma"/>
                <a:cs typeface="Tahoma"/>
              </a:rPr>
              <a:t>Rows </a:t>
            </a:r>
            <a:r>
              <a:rPr sz="3200" spc="-5" dirty="0">
                <a:latin typeface="Tahoma"/>
                <a:cs typeface="Tahoma"/>
              </a:rPr>
              <a:t>in the </a:t>
            </a:r>
            <a:r>
              <a:rPr sz="3200" spc="-10" dirty="0">
                <a:latin typeface="Tahoma"/>
                <a:cs typeface="Tahoma"/>
              </a:rPr>
              <a:t>Index Are 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Same</a:t>
            </a:r>
            <a:endParaRPr sz="3200" dirty="0">
              <a:latin typeface="Tahoma"/>
              <a:cs typeface="Tahoma"/>
            </a:endParaRPr>
          </a:p>
          <a:p>
            <a:pPr marL="355600" marR="57531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5" dirty="0">
                <a:latin typeface="Tahoma"/>
                <a:cs typeface="Tahoma"/>
              </a:rPr>
              <a:t>Key Value </a:t>
            </a:r>
            <a:r>
              <a:rPr sz="3200" spc="-5" dirty="0">
                <a:latin typeface="Tahoma"/>
                <a:cs typeface="Tahoma"/>
              </a:rPr>
              <a:t>Uniqueness</a:t>
            </a:r>
            <a:r>
              <a:rPr lang="zh-CN" altLang="en-US" sz="3200" spc="-5" dirty="0">
                <a:latin typeface="Tahoma"/>
                <a:cs typeface="Tahoma"/>
              </a:rPr>
              <a:t>唯一性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Maintained  Explicitly</a:t>
            </a:r>
            <a:r>
              <a:rPr lang="zh-CN" altLang="en-US" sz="3200" spc="-5" dirty="0">
                <a:latin typeface="Tahoma"/>
                <a:cs typeface="Tahoma"/>
              </a:rPr>
              <a:t>显示</a:t>
            </a:r>
            <a:endParaRPr sz="32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Tahoma"/>
                <a:cs typeface="Tahoma"/>
              </a:rPr>
              <a:t>or Implicitly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760" y="829944"/>
            <a:ext cx="688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Nonclustered</a:t>
            </a:r>
            <a:r>
              <a:rPr spc="-70" dirty="0"/>
              <a:t> </a:t>
            </a:r>
            <a:r>
              <a:rPr spc="-15" dirty="0"/>
              <a:t>Indexes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539" y="1860549"/>
            <a:ext cx="6847205" cy="4462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7559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Nonclustered </a:t>
            </a:r>
            <a:r>
              <a:rPr sz="3200" spc="-15" dirty="0">
                <a:latin typeface="Tahoma"/>
                <a:cs typeface="Tahoma"/>
              </a:rPr>
              <a:t>Indexes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the SQL  Server </a:t>
            </a:r>
            <a:r>
              <a:rPr sz="3200" spc="-10" dirty="0">
                <a:latin typeface="Tahoma"/>
                <a:cs typeface="Tahoma"/>
              </a:rPr>
              <a:t>Default</a:t>
            </a:r>
            <a:endParaRPr sz="3200" dirty="0">
              <a:latin typeface="Tahoma"/>
              <a:cs typeface="Tahoma"/>
            </a:endParaRPr>
          </a:p>
          <a:p>
            <a:pPr marL="355600" marR="31242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Existing Nonclustered </a:t>
            </a:r>
            <a:r>
              <a:rPr sz="3200" spc="-15" dirty="0">
                <a:latin typeface="Tahoma"/>
                <a:cs typeface="Tahoma"/>
              </a:rPr>
              <a:t>Indexes </a:t>
            </a:r>
            <a:r>
              <a:rPr sz="3200" spc="-10" dirty="0">
                <a:latin typeface="Tahoma"/>
                <a:cs typeface="Tahoma"/>
              </a:rPr>
              <a:t>Are  </a:t>
            </a:r>
            <a:r>
              <a:rPr sz="3200" spc="-5" dirty="0">
                <a:latin typeface="Tahoma"/>
                <a:cs typeface="Tahoma"/>
              </a:rPr>
              <a:t>Automatically </a:t>
            </a:r>
            <a:r>
              <a:rPr sz="3200" spc="-10" dirty="0">
                <a:latin typeface="Tahoma"/>
                <a:cs typeface="Tahoma"/>
              </a:rPr>
              <a:t>Rebuilt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When: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An existing clustered index is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dropped</a:t>
            </a:r>
            <a:endParaRPr sz="28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 clustered index 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created</a:t>
            </a:r>
            <a:endParaRPr sz="2800" dirty="0">
              <a:latin typeface="Tahoma"/>
              <a:cs typeface="Tahoma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The DROP_EXISTING option is used to  change which columns define the  clustered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index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4579" y="829944"/>
            <a:ext cx="44348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Declaring</a:t>
            </a:r>
            <a:r>
              <a:rPr spc="-65" dirty="0"/>
              <a:t> </a:t>
            </a:r>
            <a:r>
              <a:rPr spc="-15" dirty="0"/>
              <a:t>Indexes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6556"/>
            <a:ext cx="5634355" cy="32873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No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standard!</a:t>
            </a:r>
            <a:endParaRPr sz="3200">
              <a:latin typeface="Tahoma"/>
              <a:cs typeface="Tahoma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45" dirty="0">
                <a:solidFill>
                  <a:srgbClr val="000066"/>
                </a:solidFill>
                <a:latin typeface="Tahoma"/>
                <a:cs typeface="Tahoma"/>
              </a:rPr>
              <a:t>Typical</a:t>
            </a:r>
            <a:r>
              <a:rPr sz="3200" spc="-10" dirty="0">
                <a:solidFill>
                  <a:srgbClr val="00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syntax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3200" spc="-5" dirty="0">
                <a:latin typeface="Courier New"/>
                <a:cs typeface="Courier New"/>
              </a:rPr>
              <a:t>CREATE INDEX BeerInd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ON</a:t>
            </a:r>
            <a:endParaRPr sz="32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Beers(manf);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CREATE INDEX SellInd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ON</a:t>
            </a:r>
            <a:endParaRPr sz="32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Sells(bar,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beer);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42B686D-2D55-7DBF-242D-9B94688C80BE}"/>
                  </a:ext>
                </a:extLst>
              </p14:cNvPr>
              <p14:cNvContentPartPr/>
              <p14:nvPr/>
            </p14:nvContentPartPr>
            <p14:xfrm>
              <a:off x="806859" y="3307885"/>
              <a:ext cx="2825280" cy="45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42B686D-2D55-7DBF-242D-9B94688C80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859" y="3200245"/>
                <a:ext cx="29329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46DE868-3B1D-BCD6-9A74-5B81FBC025C7}"/>
                  </a:ext>
                </a:extLst>
              </p14:cNvPr>
              <p14:cNvContentPartPr/>
              <p14:nvPr/>
            </p14:nvContentPartPr>
            <p14:xfrm>
              <a:off x="6015339" y="3488605"/>
              <a:ext cx="426600" cy="169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46DE868-3B1D-BCD6-9A74-5B81FBC025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1339" y="3380965"/>
                <a:ext cx="5342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B76D32C-BDC9-D953-3FB7-01BF17370007}"/>
                  </a:ext>
                </a:extLst>
              </p14:cNvPr>
              <p14:cNvContentPartPr/>
              <p14:nvPr/>
            </p14:nvContentPartPr>
            <p14:xfrm>
              <a:off x="1039419" y="3748165"/>
              <a:ext cx="2574720" cy="1245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B76D32C-BDC9-D953-3FB7-01BF173700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5779" y="3640525"/>
                <a:ext cx="268236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D2F76223-5C07-FB9B-5940-D273666B55FF}"/>
                  </a:ext>
                </a:extLst>
              </p14:cNvPr>
              <p14:cNvContentPartPr/>
              <p14:nvPr/>
            </p14:nvContentPartPr>
            <p14:xfrm>
              <a:off x="2456019" y="4876405"/>
              <a:ext cx="2480400" cy="186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D2F76223-5C07-FB9B-5940-D273666B55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2019" y="4768405"/>
                <a:ext cx="2588040" cy="401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3210" y="829944"/>
            <a:ext cx="34975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</a:t>
            </a:r>
            <a:r>
              <a:rPr spc="-70" dirty="0"/>
              <a:t> </a:t>
            </a:r>
            <a:r>
              <a:rPr spc="-15" dirty="0"/>
              <a:t>Indexes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276465" cy="30702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109855" indent="-3429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Given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15" dirty="0">
                <a:latin typeface="Tahoma"/>
                <a:cs typeface="Tahoma"/>
              </a:rPr>
              <a:t>value </a:t>
            </a:r>
            <a:r>
              <a:rPr sz="3350" i="1" spc="-555" dirty="0">
                <a:latin typeface="Tahoma"/>
                <a:cs typeface="Tahoma"/>
              </a:rPr>
              <a:t>v</a:t>
            </a:r>
            <a:r>
              <a:rPr sz="3200" spc="-555" dirty="0">
                <a:latin typeface="Tahoma"/>
                <a:cs typeface="Tahoma"/>
              </a:rPr>
              <a:t>, </a:t>
            </a:r>
            <a:r>
              <a:rPr sz="3200" spc="-5" dirty="0">
                <a:latin typeface="Tahoma"/>
                <a:cs typeface="Tahoma"/>
              </a:rPr>
              <a:t>the index </a:t>
            </a:r>
            <a:r>
              <a:rPr sz="3200" spc="-10" dirty="0">
                <a:latin typeface="Tahoma"/>
                <a:cs typeface="Tahoma"/>
              </a:rPr>
              <a:t>takes </a:t>
            </a:r>
            <a:r>
              <a:rPr sz="3200" dirty="0">
                <a:latin typeface="Tahoma"/>
                <a:cs typeface="Tahoma"/>
              </a:rPr>
              <a:t>us </a:t>
            </a:r>
            <a:r>
              <a:rPr sz="3200" spc="-5" dirty="0">
                <a:latin typeface="Tahoma"/>
                <a:cs typeface="Tahoma"/>
              </a:rPr>
              <a:t>to  only those tuples that </a:t>
            </a:r>
            <a:r>
              <a:rPr sz="3200" spc="-15" dirty="0">
                <a:latin typeface="Tahoma"/>
                <a:cs typeface="Tahoma"/>
              </a:rPr>
              <a:t>have </a:t>
            </a:r>
            <a:r>
              <a:rPr sz="3350" i="1" spc="-75" dirty="0">
                <a:latin typeface="Tahoma"/>
                <a:cs typeface="Tahoma"/>
              </a:rPr>
              <a:t>v </a:t>
            </a:r>
            <a:r>
              <a:rPr sz="3200" spc="-5" dirty="0">
                <a:latin typeface="Tahoma"/>
                <a:cs typeface="Tahoma"/>
              </a:rPr>
              <a:t>in the  attribute(s) of the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index.</a:t>
            </a:r>
            <a:endParaRPr sz="3200" dirty="0">
              <a:latin typeface="Tahoma"/>
              <a:cs typeface="Tahoma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use BeerInd and SellInd to  find the prices of beers </a:t>
            </a:r>
            <a:r>
              <a:rPr sz="3200" spc="-10" dirty="0">
                <a:latin typeface="Tahoma"/>
                <a:cs typeface="Tahoma"/>
              </a:rPr>
              <a:t>manufactured 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spc="-35" dirty="0">
                <a:latin typeface="Tahoma"/>
                <a:cs typeface="Tahoma"/>
              </a:rPr>
              <a:t>Pete’s </a:t>
            </a:r>
            <a:r>
              <a:rPr sz="3200" spc="-5" dirty="0">
                <a:latin typeface="Tahoma"/>
                <a:cs typeface="Tahoma"/>
              </a:rPr>
              <a:t>and sold by Joe. (next</a:t>
            </a:r>
            <a:r>
              <a:rPr sz="3200" spc="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slide)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7389" y="525144"/>
            <a:ext cx="5189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Using </a:t>
            </a:r>
            <a:r>
              <a:rPr spc="-15" dirty="0"/>
              <a:t>Indexes </a:t>
            </a:r>
            <a:r>
              <a:rPr spc="-5" dirty="0"/>
              <a:t>---</a:t>
            </a:r>
            <a:r>
              <a:rPr spc="-45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635251"/>
            <a:ext cx="7588250" cy="456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146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SELECT price FROM Beers, Sells  WHERE manf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’Pete’’s’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AND</a:t>
            </a:r>
            <a:endParaRPr sz="3200">
              <a:latin typeface="Courier New"/>
              <a:cs typeface="Courier New"/>
            </a:endParaRPr>
          </a:p>
          <a:p>
            <a:pPr marL="622300" marR="373380">
              <a:lnSpc>
                <a:spcPct val="119900"/>
              </a:lnSpc>
              <a:spcBef>
                <a:spcPts val="110"/>
              </a:spcBef>
            </a:pPr>
            <a:r>
              <a:rPr sz="3200" spc="-5" dirty="0">
                <a:latin typeface="Courier New"/>
                <a:cs typeface="Courier New"/>
              </a:rPr>
              <a:t>Beers.name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Sells.beer AND  bar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’Joe’’s</a:t>
            </a:r>
            <a:r>
              <a:rPr sz="3200" spc="-2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Bar’;</a:t>
            </a:r>
            <a:endParaRPr sz="3200">
              <a:latin typeface="Courier New"/>
              <a:cs typeface="Courier New"/>
            </a:endParaRPr>
          </a:p>
          <a:p>
            <a:pPr marL="622300" marR="107314" indent="-60960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Use BeerInd to get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beers made  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Pete’s.</a:t>
            </a:r>
            <a:endParaRPr sz="320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Then use SellInd to get prices of those  beers, with bar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20" dirty="0">
                <a:latin typeface="Tahoma"/>
                <a:cs typeface="Tahoma"/>
              </a:rPr>
              <a:t>’Joe’’s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10" dirty="0">
                <a:latin typeface="Tahoma"/>
                <a:cs typeface="Tahoma"/>
              </a:rPr>
              <a:t>Bar’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8694" y="71119"/>
            <a:ext cx="75076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Finding </a:t>
            </a:r>
            <a:r>
              <a:rPr spc="-25" dirty="0"/>
              <a:t>Rows </a:t>
            </a:r>
            <a:r>
              <a:rPr spc="-5" dirty="0"/>
              <a:t>Without</a:t>
            </a:r>
            <a:r>
              <a:rPr spc="-10" dirty="0"/>
              <a:t> </a:t>
            </a:r>
            <a:r>
              <a:rPr spc="-15" dirty="0"/>
              <a:t>Indexes</a:t>
            </a:r>
          </a:p>
        </p:txBody>
      </p:sp>
      <p:sp>
        <p:nvSpPr>
          <p:cNvPr id="3" name="object 3"/>
          <p:cNvSpPr/>
          <p:nvPr/>
        </p:nvSpPr>
        <p:spPr>
          <a:xfrm>
            <a:off x="786383" y="1447800"/>
            <a:ext cx="7530083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7197" y="4018597"/>
            <a:ext cx="8066405" cy="24276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140" y="4060190"/>
            <a:ext cx="58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H</a:t>
            </a:r>
            <a:r>
              <a:rPr sz="1800" b="1" spc="-5" dirty="0">
                <a:latin typeface="Arial"/>
                <a:cs typeface="Arial"/>
              </a:rPr>
              <a:t>ea</a:t>
            </a:r>
            <a:r>
              <a:rPr sz="1800" b="1" dirty="0">
                <a:latin typeface="Arial"/>
                <a:cs typeface="Arial"/>
              </a:rPr>
              <a:t>p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665" y="4303712"/>
            <a:ext cx="8223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Extent</a:t>
            </a:r>
            <a:r>
              <a:rPr sz="1600" spc="-6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127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94597" y="1351597"/>
            <a:ext cx="586105" cy="357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7997" y="1351597"/>
            <a:ext cx="1043305" cy="357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8597" y="1351597"/>
            <a:ext cx="433704" cy="3575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99597" y="1351597"/>
            <a:ext cx="1043305" cy="357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90197" y="1351597"/>
            <a:ext cx="1043305" cy="357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82239" y="4292600"/>
            <a:ext cx="8223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Extent</a:t>
            </a:r>
            <a:r>
              <a:rPr sz="1600" spc="-6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128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50740" y="4292600"/>
            <a:ext cx="8223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Extent</a:t>
            </a:r>
            <a:r>
              <a:rPr sz="1600" spc="-6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129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127760" y="5085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27760" y="5313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7760" y="5542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7760" y="5771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27760" y="5999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77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277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4277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277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27797" y="5999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1135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135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13597" y="5542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13597" y="57711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13597" y="59997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8237" y="5100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51560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51560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051560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51560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51560" y="5923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3515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3515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3515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3515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351597" y="5923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79182" y="5916295"/>
            <a:ext cx="6375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 </a:t>
            </a: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0373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0373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037397" y="5466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037397" y="56949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037397" y="59235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063750" y="5916295"/>
            <a:ext cx="2914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2037" y="5024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975360" y="4932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75360" y="5161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75360" y="5390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75360" y="5618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975360" y="5847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753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753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753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753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75397" y="5847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611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611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61197" y="5390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61197" y="56187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61197" y="58473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985837" y="4948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99160" y="4856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99160" y="5085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99160" y="5313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99160" y="5542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899160" y="5771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1991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1991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1991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1991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1991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8849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849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8849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884997" y="55425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884997" y="57711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926782" y="5763895"/>
            <a:ext cx="14287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1600" spc="-165" dirty="0">
                <a:latin typeface="Arial Narrow"/>
                <a:cs typeface="Arial Narrow"/>
              </a:rPr>
              <a:t>…</a:t>
            </a:r>
            <a:r>
              <a:rPr sz="2400" spc="-247" baseline="-20833" dirty="0">
                <a:latin typeface="Arial Narrow"/>
                <a:cs typeface="Arial Narrow"/>
              </a:rPr>
              <a:t>…</a:t>
            </a:r>
            <a:r>
              <a:rPr sz="1600" spc="-165" dirty="0">
                <a:latin typeface="Arial Narrow"/>
                <a:cs typeface="Arial Narrow"/>
              </a:rPr>
              <a:t>…..</a:t>
            </a:r>
            <a:r>
              <a:rPr sz="2400" spc="-247" baseline="-20833" dirty="0">
                <a:latin typeface="Arial Narrow"/>
                <a:cs typeface="Arial Narrow"/>
              </a:rPr>
              <a:t>.</a:t>
            </a:r>
            <a:r>
              <a:rPr sz="1600" spc="-165" dirty="0">
                <a:latin typeface="Arial Narrow"/>
                <a:cs typeface="Arial Narrow"/>
              </a:rPr>
              <a:t>.</a:t>
            </a:r>
            <a:r>
              <a:rPr sz="2400" spc="-247" baseline="-20833" dirty="0">
                <a:latin typeface="Arial Narrow"/>
                <a:cs typeface="Arial Narrow"/>
              </a:rPr>
              <a:t>..</a:t>
            </a:r>
            <a:r>
              <a:rPr sz="1600" spc="-165" dirty="0">
                <a:latin typeface="Arial Narrow"/>
                <a:cs typeface="Arial Narrow"/>
              </a:rPr>
              <a:t>…	</a:t>
            </a:r>
            <a:r>
              <a:rPr sz="1600" spc="-45" dirty="0">
                <a:latin typeface="Arial Narrow"/>
                <a:cs typeface="Arial Narrow"/>
              </a:rPr>
              <a:t>..</a:t>
            </a:r>
            <a:r>
              <a:rPr sz="2400" spc="-67" baseline="-20833" dirty="0">
                <a:latin typeface="Arial Narrow"/>
                <a:cs typeface="Arial Narrow"/>
              </a:rPr>
              <a:t>.</a:t>
            </a:r>
            <a:r>
              <a:rPr sz="1600" spc="-45" dirty="0">
                <a:latin typeface="Arial Narrow"/>
                <a:cs typeface="Arial Narrow"/>
              </a:rPr>
              <a:t>.</a:t>
            </a:r>
            <a:r>
              <a:rPr sz="2400" spc="-67" baseline="-20833" dirty="0">
                <a:latin typeface="Arial Narrow"/>
                <a:cs typeface="Arial Narrow"/>
              </a:rPr>
              <a:t>..</a:t>
            </a:r>
            <a:r>
              <a:rPr sz="1600" spc="-45" dirty="0">
                <a:latin typeface="Arial Narrow"/>
                <a:cs typeface="Arial Narrow"/>
              </a:rPr>
              <a:t>...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909637" y="48720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22960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22960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22960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22960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22960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229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1229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1229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1229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1229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8087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8087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8087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808797" y="54663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808797" y="56949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833437" y="47958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46759" y="4704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46759" y="4932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46759" y="5161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46759" y="5390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46759" y="5618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1046797" y="4704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10467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10467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10467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10467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732597" y="4704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7325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7325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732597" y="53901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732597" y="56187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774382" y="5687695"/>
            <a:ext cx="15049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…</a:t>
            </a: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0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4.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1600" spc="-280" dirty="0">
                <a:latin typeface="Arial Narrow"/>
                <a:cs typeface="Arial Narrow"/>
              </a:rPr>
              <a:t>..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M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2400" spc="-337" baseline="20833" dirty="0">
                <a:latin typeface="Arial Narrow"/>
                <a:cs typeface="Arial Narrow"/>
              </a:rPr>
              <a:t> </a:t>
            </a:r>
            <a:r>
              <a:rPr sz="1600" spc="-114" dirty="0">
                <a:latin typeface="Arial Narrow"/>
                <a:cs typeface="Arial Narrow"/>
              </a:rPr>
              <a:t>arti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n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r>
              <a:rPr sz="2400" spc="-172" baseline="20833" dirty="0">
                <a:latin typeface="Arial Narrow"/>
                <a:cs typeface="Arial Narrow"/>
              </a:rPr>
              <a:t>..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757237" y="4719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70559" y="4628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70559" y="4856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70559" y="5085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70559" y="5313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70559" y="5542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70597" y="4628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705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9705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9705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9705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656397" y="4628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6563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698182" y="4849495"/>
            <a:ext cx="15189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2</a:t>
            </a:r>
            <a:r>
              <a:rPr sz="2400" spc="-622" baseline="-20833" dirty="0">
                <a:latin typeface="Arial Narrow"/>
                <a:cs typeface="Arial Narrow"/>
              </a:rPr>
              <a:t>2</a:t>
            </a: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1W</a:t>
            </a:r>
            <a:r>
              <a:rPr sz="2400" spc="-622" baseline="-20833" dirty="0">
                <a:latin typeface="Arial Narrow"/>
                <a:cs typeface="Arial Narrow"/>
              </a:rPr>
              <a:t>1F</a:t>
            </a:r>
            <a:r>
              <a:rPr sz="1600" spc="-415" dirty="0">
                <a:latin typeface="Arial Narrow"/>
                <a:cs typeface="Arial Narrow"/>
              </a:rPr>
              <a:t>h</a:t>
            </a:r>
            <a:r>
              <a:rPr sz="2400" spc="-622" baseline="-20833" dirty="0">
                <a:latin typeface="Arial Narrow"/>
                <a:cs typeface="Arial Narrow"/>
              </a:rPr>
              <a:t>u</a:t>
            </a:r>
            <a:r>
              <a:rPr sz="1600" spc="-415" dirty="0">
                <a:latin typeface="Arial Narrow"/>
                <a:cs typeface="Arial Narrow"/>
              </a:rPr>
              <a:t>Ci</a:t>
            </a:r>
            <a:r>
              <a:rPr sz="2400" spc="-622" baseline="-20833" dirty="0">
                <a:latin typeface="Arial Narrow"/>
                <a:cs typeface="Arial Narrow"/>
              </a:rPr>
              <a:t>n</a:t>
            </a:r>
            <a:r>
              <a:rPr sz="1600" spc="-415" dirty="0">
                <a:latin typeface="Arial Narrow"/>
                <a:cs typeface="Arial Narrow"/>
              </a:rPr>
              <a:t>t</a:t>
            </a:r>
            <a:r>
              <a:rPr sz="2400" spc="-622" baseline="-20833" dirty="0">
                <a:latin typeface="Arial Narrow"/>
                <a:cs typeface="Arial Narrow"/>
              </a:rPr>
              <a:t>R</a:t>
            </a:r>
            <a:r>
              <a:rPr sz="1600" spc="-415" dirty="0">
                <a:latin typeface="Arial Narrow"/>
                <a:cs typeface="Arial Narrow"/>
              </a:rPr>
              <a:t>eo</a:t>
            </a:r>
            <a:r>
              <a:rPr sz="2400" spc="-622" baseline="-20833" dirty="0">
                <a:latin typeface="Arial Narrow"/>
                <a:cs typeface="Arial Narrow"/>
              </a:rPr>
              <a:t>ku</a:t>
            </a:r>
            <a:r>
              <a:rPr sz="1600" spc="-415" dirty="0">
                <a:latin typeface="Arial Narrow"/>
                <a:cs typeface="Arial Narrow"/>
              </a:rPr>
              <a:t>n</a:t>
            </a:r>
            <a:r>
              <a:rPr sz="2400" spc="-622" baseline="-20833" dirty="0">
                <a:latin typeface="Arial Narrow"/>
                <a:cs typeface="Arial Narrow"/>
              </a:rPr>
              <a:t>dd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16563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1656397" y="53139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698182" y="53066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04</a:t>
            </a:r>
            <a:r>
              <a:rPr sz="1600" spc="-350" dirty="0">
                <a:latin typeface="Arial Narrow"/>
                <a:cs typeface="Arial Narrow"/>
              </a:rPr>
              <a:t>0</a:t>
            </a:r>
            <a:r>
              <a:rPr sz="2400" spc="-525" baseline="-20833" dirty="0">
                <a:latin typeface="Arial Narrow"/>
                <a:cs typeface="Arial Narrow"/>
              </a:rPr>
              <a:t>0</a:t>
            </a:r>
            <a:r>
              <a:rPr sz="1600" spc="-350" dirty="0">
                <a:latin typeface="Arial Narrow"/>
                <a:cs typeface="Arial Narrow"/>
              </a:rPr>
              <a:t>3..</a:t>
            </a:r>
            <a:r>
              <a:rPr sz="2400" spc="-525" baseline="-20833" dirty="0">
                <a:latin typeface="Arial Narrow"/>
                <a:cs typeface="Arial Narrow"/>
              </a:rPr>
              <a:t>3M</a:t>
            </a:r>
            <a:r>
              <a:rPr sz="1600" spc="-350" dirty="0">
                <a:latin typeface="Arial Narrow"/>
                <a:cs typeface="Arial Narrow"/>
              </a:rPr>
              <a:t>.02</a:t>
            </a:r>
            <a:r>
              <a:rPr sz="2400" spc="-525" baseline="-20833" dirty="0">
                <a:latin typeface="Arial Narrow"/>
                <a:cs typeface="Arial Narrow"/>
              </a:rPr>
              <a:t>a</a:t>
            </a:r>
            <a:r>
              <a:rPr sz="1600" spc="-350" dirty="0">
                <a:latin typeface="Arial Narrow"/>
                <a:cs typeface="Arial Narrow"/>
              </a:rPr>
              <a:t>W</a:t>
            </a:r>
            <a:r>
              <a:rPr sz="2400" spc="-525" baseline="-20833" dirty="0">
                <a:latin typeface="Arial Narrow"/>
                <a:cs typeface="Arial Narrow"/>
              </a:rPr>
              <a:t>Brt</a:t>
            </a:r>
            <a:r>
              <a:rPr sz="1600" spc="-350" dirty="0">
                <a:latin typeface="Arial Narrow"/>
                <a:cs typeface="Arial Narrow"/>
              </a:rPr>
              <a:t>h</a:t>
            </a:r>
            <a:r>
              <a:rPr sz="2400" spc="-525" baseline="-20833" dirty="0">
                <a:latin typeface="Arial Narrow"/>
                <a:cs typeface="Arial Narrow"/>
              </a:rPr>
              <a:t>ian</a:t>
            </a:r>
            <a:r>
              <a:rPr sz="1600" spc="-350" dirty="0">
                <a:latin typeface="Arial Narrow"/>
                <a:cs typeface="Arial Narrow"/>
              </a:rPr>
              <a:t>Oi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te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ta..</a:t>
            </a:r>
            <a:r>
              <a:rPr sz="2400" spc="-525" baseline="-20833" dirty="0">
                <a:latin typeface="Arial Narrow"/>
                <a:cs typeface="Arial Narrow"/>
              </a:rPr>
              <a:t>.</a:t>
            </a:r>
            <a:r>
              <a:rPr sz="1600" spc="-350" dirty="0">
                <a:latin typeface="Arial Narrow"/>
                <a:cs typeface="Arial Narrow"/>
              </a:rPr>
              <a:t>.</a:t>
            </a:r>
            <a:r>
              <a:rPr sz="2400" spc="-525" baseline="-20833" dirty="0">
                <a:latin typeface="Arial Narrow"/>
                <a:cs typeface="Arial Narrow"/>
              </a:rPr>
              <a:t>..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…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1656397" y="5542597"/>
            <a:ext cx="281305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81037" y="4643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94359" y="4551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594359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94359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94359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594359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94397" y="4551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621982" y="4620895"/>
            <a:ext cx="8959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330" baseline="20833" dirty="0">
                <a:latin typeface="Arial Narrow"/>
                <a:cs typeface="Arial Narrow"/>
              </a:rPr>
              <a:t>0</a:t>
            </a:r>
            <a:r>
              <a:rPr sz="1600" spc="-220" dirty="0">
                <a:latin typeface="Arial Narrow"/>
                <a:cs typeface="Arial Narrow"/>
              </a:rPr>
              <a:t>0</a:t>
            </a:r>
            <a:r>
              <a:rPr sz="2400" spc="-330" baseline="20833" dirty="0">
                <a:latin typeface="Arial Narrow"/>
                <a:cs typeface="Arial Narrow"/>
              </a:rPr>
              <a:t>1</a:t>
            </a:r>
            <a:r>
              <a:rPr sz="1600" spc="-220" dirty="0">
                <a:latin typeface="Arial Narrow"/>
                <a:cs typeface="Arial Narrow"/>
              </a:rPr>
              <a:t>1</a:t>
            </a:r>
            <a:r>
              <a:rPr sz="1600" spc="-175" dirty="0">
                <a:latin typeface="Arial Narrow"/>
                <a:cs typeface="Arial Narrow"/>
              </a:rPr>
              <a:t> </a:t>
            </a:r>
            <a:r>
              <a:rPr sz="2400" spc="-397" baseline="20833" dirty="0">
                <a:latin typeface="Arial Narrow"/>
                <a:cs typeface="Arial Narrow"/>
              </a:rPr>
              <a:t>C</a:t>
            </a:r>
            <a:r>
              <a:rPr sz="1600" spc="-265" dirty="0">
                <a:latin typeface="Arial Narrow"/>
                <a:cs typeface="Arial Narrow"/>
              </a:rPr>
              <a:t>R</a:t>
            </a:r>
            <a:r>
              <a:rPr sz="2400" spc="-397" baseline="20833" dirty="0">
                <a:latin typeface="Arial Narrow"/>
                <a:cs typeface="Arial Narrow"/>
              </a:rPr>
              <a:t>o</a:t>
            </a:r>
            <a:r>
              <a:rPr sz="1600" spc="-265" dirty="0">
                <a:latin typeface="Arial Narrow"/>
                <a:cs typeface="Arial Narrow"/>
              </a:rPr>
              <a:t>u</a:t>
            </a:r>
            <a:r>
              <a:rPr sz="2400" spc="-397" baseline="20833" dirty="0">
                <a:latin typeface="Arial Narrow"/>
                <a:cs typeface="Arial Narrow"/>
              </a:rPr>
              <a:t>n</a:t>
            </a:r>
            <a:r>
              <a:rPr sz="1600" spc="-265" dirty="0">
                <a:latin typeface="Arial Narrow"/>
                <a:cs typeface="Arial Narrow"/>
              </a:rPr>
              <a:t>dd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8943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8943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943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943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580197" y="4551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1593214" y="4544695"/>
            <a:ext cx="3187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15801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 txBox="1"/>
          <p:nvPr/>
        </p:nvSpPr>
        <p:spPr>
          <a:xfrm>
            <a:off x="621982" y="4773295"/>
            <a:ext cx="14427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20" dirty="0">
                <a:latin typeface="Arial Narrow"/>
                <a:cs typeface="Arial Narrow"/>
              </a:rPr>
              <a:t>02</a:t>
            </a:r>
            <a:r>
              <a:rPr sz="2400" spc="-480" baseline="20833" dirty="0">
                <a:latin typeface="Arial Narrow"/>
                <a:cs typeface="Arial Narrow"/>
              </a:rPr>
              <a:t>0</a:t>
            </a:r>
            <a:r>
              <a:rPr sz="1600" spc="-320" dirty="0">
                <a:latin typeface="Arial Narrow"/>
                <a:cs typeface="Arial Narrow"/>
              </a:rPr>
              <a:t>0</a:t>
            </a:r>
            <a:r>
              <a:rPr sz="2400" spc="-480" baseline="20833" dirty="0">
                <a:latin typeface="Arial Narrow"/>
                <a:cs typeface="Arial Narrow"/>
              </a:rPr>
              <a:t>1</a:t>
            </a:r>
            <a:r>
              <a:rPr sz="1600" spc="-320" dirty="0">
                <a:latin typeface="Arial Narrow"/>
                <a:cs typeface="Arial Narrow"/>
              </a:rPr>
              <a:t>1Fu</a:t>
            </a:r>
            <a:r>
              <a:rPr sz="2400" spc="-480" baseline="20833" dirty="0">
                <a:latin typeface="Arial Narrow"/>
                <a:cs typeface="Arial Narrow"/>
              </a:rPr>
              <a:t>A</a:t>
            </a:r>
            <a:r>
              <a:rPr sz="1600" spc="-320" dirty="0">
                <a:latin typeface="Arial Narrow"/>
                <a:cs typeface="Arial Narrow"/>
              </a:rPr>
              <a:t>nS</a:t>
            </a:r>
            <a:r>
              <a:rPr sz="2400" spc="-480" baseline="20833" dirty="0">
                <a:latin typeface="Arial Narrow"/>
                <a:cs typeface="Arial Narrow"/>
              </a:rPr>
              <a:t>k</a:t>
            </a:r>
            <a:r>
              <a:rPr sz="1600" spc="-320" dirty="0">
                <a:latin typeface="Arial Narrow"/>
                <a:cs typeface="Arial Narrow"/>
              </a:rPr>
              <a:t>km</a:t>
            </a:r>
            <a:r>
              <a:rPr sz="2400" spc="-480" baseline="20833" dirty="0">
                <a:latin typeface="Arial Narrow"/>
                <a:cs typeface="Arial Narrow"/>
              </a:rPr>
              <a:t>ht</a:t>
            </a:r>
            <a:r>
              <a:rPr sz="1600" spc="-320" dirty="0">
                <a:latin typeface="Arial Narrow"/>
                <a:cs typeface="Arial Narrow"/>
              </a:rPr>
              <a:t>i</a:t>
            </a:r>
            <a:r>
              <a:rPr sz="2400" spc="-480" baseline="20833" dirty="0">
                <a:latin typeface="Arial Narrow"/>
                <a:cs typeface="Arial Narrow"/>
              </a:rPr>
              <a:t>a</a:t>
            </a:r>
            <a:r>
              <a:rPr sz="1600" spc="-320" dirty="0">
                <a:latin typeface="Arial Narrow"/>
                <a:cs typeface="Arial Narrow"/>
              </a:rPr>
              <a:t>th</a:t>
            </a:r>
            <a:r>
              <a:rPr sz="2400" spc="-480" baseline="20833" dirty="0">
                <a:latin typeface="Arial Narrow"/>
                <a:cs typeface="Arial Narrow"/>
              </a:rPr>
              <a:t>r</a:t>
            </a:r>
            <a:r>
              <a:rPr sz="1600" spc="-320" dirty="0">
                <a:latin typeface="Arial Narrow"/>
                <a:cs typeface="Arial Narrow"/>
              </a:rPr>
              <a:t>…</a:t>
            </a:r>
            <a:r>
              <a:rPr sz="2400" spc="-480" baseline="20833" dirty="0">
                <a:latin typeface="Arial Narrow"/>
                <a:cs typeface="Arial Narrow"/>
              </a:rPr>
              <a:t>…</a:t>
            </a:r>
            <a:r>
              <a:rPr sz="1600" spc="-32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15801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621982" y="50018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80" dirty="0">
                <a:latin typeface="Arial Narrow"/>
                <a:cs typeface="Arial Narrow"/>
              </a:rPr>
              <a:t>0</a:t>
            </a:r>
            <a:r>
              <a:rPr sz="2400" spc="-719" baseline="-20833" dirty="0">
                <a:latin typeface="Arial Narrow"/>
                <a:cs typeface="Arial Narrow"/>
              </a:rPr>
              <a:t>0</a:t>
            </a:r>
            <a:r>
              <a:rPr sz="1600" spc="-480" dirty="0">
                <a:latin typeface="Arial Narrow"/>
                <a:cs typeface="Arial Narrow"/>
              </a:rPr>
              <a:t>3</a:t>
            </a:r>
            <a:r>
              <a:rPr sz="2400" spc="-719" baseline="-20833" dirty="0">
                <a:latin typeface="Arial Narrow"/>
                <a:cs typeface="Arial Narrow"/>
              </a:rPr>
              <a:t>3</a:t>
            </a:r>
            <a:r>
              <a:rPr sz="1600" spc="-480" dirty="0">
                <a:latin typeface="Arial Narrow"/>
                <a:cs typeface="Arial Narrow"/>
              </a:rPr>
              <a:t>0</a:t>
            </a:r>
            <a:r>
              <a:rPr sz="2400" spc="-719" baseline="-20833" dirty="0">
                <a:latin typeface="Arial Narrow"/>
                <a:cs typeface="Arial Narrow"/>
              </a:rPr>
              <a:t>0</a:t>
            </a:r>
            <a:r>
              <a:rPr sz="1600" spc="-480" dirty="0">
                <a:latin typeface="Arial Narrow"/>
                <a:cs typeface="Arial Narrow"/>
              </a:rPr>
              <a:t>2W</a:t>
            </a:r>
            <a:r>
              <a:rPr sz="2400" spc="-719" baseline="-20833" dirty="0">
                <a:latin typeface="Arial Narrow"/>
                <a:cs typeface="Arial Narrow"/>
              </a:rPr>
              <a:t>2B</a:t>
            </a:r>
            <a:r>
              <a:rPr sz="1600" spc="-480" dirty="0">
                <a:latin typeface="Arial Narrow"/>
                <a:cs typeface="Arial Narrow"/>
              </a:rPr>
              <a:t>0h</a:t>
            </a:r>
            <a:r>
              <a:rPr sz="2400" spc="-719" baseline="-20833" dirty="0">
                <a:latin typeface="Arial Narrow"/>
                <a:cs typeface="Arial Narrow"/>
              </a:rPr>
              <a:t>a0</a:t>
            </a:r>
            <a:r>
              <a:rPr sz="1600" spc="-480" dirty="0">
                <a:latin typeface="Arial Narrow"/>
                <a:cs typeface="Arial Narrow"/>
              </a:rPr>
              <a:t>1Oi</a:t>
            </a:r>
            <a:r>
              <a:rPr sz="2400" spc="-719" baseline="-20833" dirty="0">
                <a:latin typeface="Arial Narrow"/>
                <a:cs typeface="Arial Narrow"/>
              </a:rPr>
              <a:t>r1</a:t>
            </a:r>
            <a:r>
              <a:rPr sz="1600" spc="-480" dirty="0">
                <a:latin typeface="Arial Narrow"/>
                <a:cs typeface="Arial Narrow"/>
              </a:rPr>
              <a:t>t</a:t>
            </a:r>
            <a:r>
              <a:rPr sz="2400" spc="-719" baseline="-20833" dirty="0">
                <a:latin typeface="Arial Narrow"/>
                <a:cs typeface="Arial Narrow"/>
              </a:rPr>
              <a:t>F</a:t>
            </a:r>
            <a:r>
              <a:rPr sz="1600" spc="-480" dirty="0">
                <a:latin typeface="Arial Narrow"/>
                <a:cs typeface="Arial Narrow"/>
              </a:rPr>
              <a:t>e</a:t>
            </a:r>
            <a:r>
              <a:rPr sz="2400" spc="-719" baseline="-20833" dirty="0">
                <a:latin typeface="Arial Narrow"/>
                <a:cs typeface="Arial Narrow"/>
              </a:rPr>
              <a:t>r</a:t>
            </a:r>
            <a:r>
              <a:rPr sz="1600" spc="-480" dirty="0">
                <a:latin typeface="Arial Narrow"/>
                <a:cs typeface="Arial Narrow"/>
              </a:rPr>
              <a:t>ta</a:t>
            </a:r>
            <a:r>
              <a:rPr sz="2400" spc="-719" baseline="-20833" dirty="0">
                <a:latin typeface="Arial Narrow"/>
                <a:cs typeface="Arial Narrow"/>
              </a:rPr>
              <a:t>u</a:t>
            </a:r>
            <a:r>
              <a:rPr sz="1600" spc="-480" dirty="0">
                <a:latin typeface="Arial Narrow"/>
                <a:cs typeface="Arial Narrow"/>
              </a:rPr>
              <a:t>A</a:t>
            </a:r>
            <a:r>
              <a:rPr sz="2400" spc="-719" baseline="-20833" dirty="0">
                <a:latin typeface="Arial Narrow"/>
                <a:cs typeface="Arial Narrow"/>
              </a:rPr>
              <a:t>nS</a:t>
            </a:r>
            <a:r>
              <a:rPr sz="1600" spc="-480" dirty="0">
                <a:latin typeface="Arial Narrow"/>
                <a:cs typeface="Arial Narrow"/>
              </a:rPr>
              <a:t>k</a:t>
            </a:r>
            <a:r>
              <a:rPr sz="2400" spc="-719" baseline="-20833" dirty="0">
                <a:latin typeface="Arial Narrow"/>
                <a:cs typeface="Arial Narrow"/>
              </a:rPr>
              <a:t>k</a:t>
            </a:r>
            <a:r>
              <a:rPr sz="1600" spc="-480" dirty="0">
                <a:latin typeface="Arial Narrow"/>
                <a:cs typeface="Arial Narrow"/>
              </a:rPr>
              <a:t>…</a:t>
            </a:r>
            <a:r>
              <a:rPr sz="2400" spc="-719" baseline="-20833" dirty="0">
                <a:latin typeface="Arial Narrow"/>
                <a:cs typeface="Arial Narrow"/>
              </a:rPr>
              <a:t>m</a:t>
            </a:r>
            <a:r>
              <a:rPr sz="1600" spc="-480" dirty="0">
                <a:latin typeface="Arial Narrow"/>
                <a:cs typeface="Arial Narrow"/>
              </a:rPr>
              <a:t>h</a:t>
            </a:r>
            <a:r>
              <a:rPr sz="2400" spc="-719" baseline="-20833" dirty="0">
                <a:latin typeface="Arial Narrow"/>
                <a:cs typeface="Arial Narrow"/>
              </a:rPr>
              <a:t>…</a:t>
            </a:r>
            <a:r>
              <a:rPr sz="1600" spc="-480" dirty="0">
                <a:latin typeface="Arial Narrow"/>
                <a:cs typeface="Arial Narrow"/>
              </a:rPr>
              <a:t>t</a:t>
            </a:r>
            <a:r>
              <a:rPr sz="2400" spc="-719" baseline="-20833" dirty="0">
                <a:latin typeface="Arial Narrow"/>
                <a:cs typeface="Arial Narrow"/>
              </a:rPr>
              <a:t>i</a:t>
            </a:r>
            <a:r>
              <a:rPr sz="1600" spc="-480" dirty="0">
                <a:latin typeface="Arial Narrow"/>
                <a:cs typeface="Arial Narrow"/>
              </a:rPr>
              <a:t>a</a:t>
            </a:r>
            <a:r>
              <a:rPr sz="2400" spc="-719" baseline="-20833" dirty="0">
                <a:latin typeface="Arial Narrow"/>
                <a:cs typeface="Arial Narrow"/>
              </a:rPr>
              <a:t>t</a:t>
            </a:r>
            <a:r>
              <a:rPr sz="1600" spc="-480" dirty="0">
                <a:latin typeface="Arial Narrow"/>
                <a:cs typeface="Arial Narrow"/>
              </a:rPr>
              <a:t>…</a:t>
            </a:r>
            <a:r>
              <a:rPr sz="2400" spc="-719" baseline="-20833" dirty="0">
                <a:latin typeface="Arial Narrow"/>
                <a:cs typeface="Arial Narrow"/>
              </a:rPr>
              <a:t>h</a:t>
            </a:r>
            <a:r>
              <a:rPr sz="1600" spc="-480" dirty="0">
                <a:latin typeface="Arial Narrow"/>
                <a:cs typeface="Arial Narrow"/>
              </a:rPr>
              <a:t>r</a:t>
            </a:r>
            <a:r>
              <a:rPr sz="2400" spc="-719" baseline="-20833" dirty="0">
                <a:latin typeface="Arial Narrow"/>
                <a:cs typeface="Arial Narrow"/>
              </a:rPr>
              <a:t>…</a:t>
            </a:r>
            <a:r>
              <a:rPr sz="1600" spc="-480" dirty="0">
                <a:latin typeface="Arial Narrow"/>
                <a:cs typeface="Arial Narrow"/>
              </a:rPr>
              <a:t>…</a:t>
            </a:r>
            <a:r>
              <a:rPr sz="2400" spc="-719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1580197" y="5237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621982" y="52304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34" dirty="0">
                <a:latin typeface="Arial Narrow"/>
                <a:cs typeface="Arial Narrow"/>
              </a:rPr>
              <a:t>04</a:t>
            </a:r>
            <a:r>
              <a:rPr sz="2400" spc="-652" baseline="20833" dirty="0">
                <a:latin typeface="Arial Narrow"/>
                <a:cs typeface="Arial Narrow"/>
              </a:rPr>
              <a:t>0</a:t>
            </a:r>
            <a:r>
              <a:rPr sz="1600" spc="-434" dirty="0">
                <a:latin typeface="Arial Narrow"/>
                <a:cs typeface="Arial Narrow"/>
              </a:rPr>
              <a:t>0</a:t>
            </a:r>
            <a:r>
              <a:rPr sz="2400" spc="-652" baseline="20833" dirty="0">
                <a:latin typeface="Arial Narrow"/>
                <a:cs typeface="Arial Narrow"/>
              </a:rPr>
              <a:t>3</a:t>
            </a:r>
            <a:r>
              <a:rPr sz="1600" spc="-434" dirty="0">
                <a:latin typeface="Arial Narrow"/>
                <a:cs typeface="Arial Narrow"/>
              </a:rPr>
              <a:t>3D</a:t>
            </a:r>
            <a:r>
              <a:rPr sz="2400" spc="-652" baseline="20833" dirty="0">
                <a:latin typeface="Arial Narrow"/>
                <a:cs typeface="Arial Narrow"/>
              </a:rPr>
              <a:t>0</a:t>
            </a:r>
            <a:r>
              <a:rPr sz="1600" spc="-434" dirty="0">
                <a:latin typeface="Arial Narrow"/>
                <a:cs typeface="Arial Narrow"/>
              </a:rPr>
              <a:t>0u</a:t>
            </a:r>
            <a:r>
              <a:rPr sz="2400" spc="-652" baseline="20833" dirty="0">
                <a:latin typeface="Arial Narrow"/>
                <a:cs typeface="Arial Narrow"/>
              </a:rPr>
              <a:t>2S</a:t>
            </a:r>
            <a:r>
              <a:rPr sz="1600" spc="-434" dirty="0">
                <a:latin typeface="Arial Narrow"/>
                <a:cs typeface="Arial Narrow"/>
              </a:rPr>
              <a:t>2rJ</a:t>
            </a:r>
            <a:r>
              <a:rPr sz="2400" spc="-652" baseline="20833" dirty="0">
                <a:latin typeface="Arial Narrow"/>
                <a:cs typeface="Arial Narrow"/>
              </a:rPr>
              <a:t>m</a:t>
            </a:r>
            <a:r>
              <a:rPr sz="1600" spc="-434" dirty="0">
                <a:latin typeface="Arial Narrow"/>
                <a:cs typeface="Arial Narrow"/>
              </a:rPr>
              <a:t>koi</a:t>
            </a:r>
            <a:r>
              <a:rPr sz="2400" spc="-652" baseline="20833" dirty="0">
                <a:latin typeface="Arial Narrow"/>
                <a:cs typeface="Arial Narrow"/>
              </a:rPr>
              <a:t>W</a:t>
            </a:r>
            <a:r>
              <a:rPr sz="1600" spc="-434" dirty="0">
                <a:latin typeface="Arial Narrow"/>
                <a:cs typeface="Arial Narrow"/>
              </a:rPr>
              <a:t>n</a:t>
            </a:r>
            <a:r>
              <a:rPr sz="2400" spc="-652" baseline="20833" dirty="0">
                <a:latin typeface="Arial Narrow"/>
                <a:cs typeface="Arial Narrow"/>
              </a:rPr>
              <a:t>i</a:t>
            </a:r>
            <a:r>
              <a:rPr sz="1600" spc="-434" dirty="0">
                <a:latin typeface="Arial Narrow"/>
                <a:cs typeface="Arial Narrow"/>
              </a:rPr>
              <a:t>n</a:t>
            </a:r>
            <a:r>
              <a:rPr sz="2400" spc="-652" baseline="20833" dirty="0">
                <a:latin typeface="Arial Narrow"/>
                <a:cs typeface="Arial Narrow"/>
              </a:rPr>
              <a:t>t</a:t>
            </a:r>
            <a:r>
              <a:rPr sz="1600" spc="-434" dirty="0">
                <a:latin typeface="Arial Narrow"/>
                <a:cs typeface="Arial Narrow"/>
              </a:rPr>
              <a:t>F</a:t>
            </a:r>
            <a:r>
              <a:rPr sz="2400" spc="-652" baseline="20833" dirty="0">
                <a:latin typeface="Arial Narrow"/>
                <a:cs typeface="Arial Narrow"/>
              </a:rPr>
              <a:t>h</a:t>
            </a:r>
            <a:r>
              <a:rPr sz="1600" spc="-434" dirty="0">
                <a:latin typeface="Arial Narrow"/>
                <a:cs typeface="Arial Narrow"/>
              </a:rPr>
              <a:t>e</a:t>
            </a:r>
            <a:r>
              <a:rPr sz="2400" spc="-652" baseline="20833" dirty="0">
                <a:latin typeface="Arial Narrow"/>
                <a:cs typeface="Arial Narrow"/>
              </a:rPr>
              <a:t>h</a:t>
            </a:r>
            <a:r>
              <a:rPr sz="1600" spc="-434" dirty="0">
                <a:latin typeface="Arial Narrow"/>
                <a:cs typeface="Arial Narrow"/>
              </a:rPr>
              <a:t>us</a:t>
            </a:r>
            <a:r>
              <a:rPr sz="2400" spc="-652" baseline="20833" dirty="0">
                <a:latin typeface="Arial Narrow"/>
                <a:cs typeface="Arial Narrow"/>
              </a:rPr>
              <a:t>i</a:t>
            </a:r>
            <a:r>
              <a:rPr sz="1600" spc="-434" dirty="0">
                <a:latin typeface="Arial Narrow"/>
                <a:cs typeface="Arial Narrow"/>
              </a:rPr>
              <a:t>.n</a:t>
            </a:r>
            <a:r>
              <a:rPr sz="2400" spc="-652" baseline="20833" dirty="0">
                <a:latin typeface="Arial Narrow"/>
                <a:cs typeface="Arial Narrow"/>
              </a:rPr>
              <a:t>t</a:t>
            </a:r>
            <a:r>
              <a:rPr sz="1600" spc="-434" dirty="0">
                <a:latin typeface="Arial Narrow"/>
                <a:cs typeface="Arial Narrow"/>
              </a:rPr>
              <a:t>.</a:t>
            </a:r>
            <a:r>
              <a:rPr sz="2400" spc="-652" baseline="20833" dirty="0">
                <a:latin typeface="Arial Narrow"/>
                <a:cs typeface="Arial Narrow"/>
              </a:rPr>
              <a:t>e</a:t>
            </a:r>
            <a:r>
              <a:rPr sz="1600" spc="-434" dirty="0">
                <a:latin typeface="Arial Narrow"/>
                <a:cs typeface="Arial Narrow"/>
              </a:rPr>
              <a:t>.k</a:t>
            </a:r>
            <a:r>
              <a:rPr sz="2400" spc="-652" baseline="20833" dirty="0">
                <a:latin typeface="Arial Narrow"/>
                <a:cs typeface="Arial Narrow"/>
              </a:rPr>
              <a:t>…</a:t>
            </a:r>
            <a:r>
              <a:rPr sz="1600" spc="-434" dirty="0">
                <a:latin typeface="Arial Narrow"/>
                <a:cs typeface="Arial Narrow"/>
              </a:rPr>
              <a:t>…</a:t>
            </a:r>
            <a:r>
              <a:rPr sz="2400" spc="-652" baseline="20833" dirty="0">
                <a:latin typeface="Arial Narrow"/>
                <a:cs typeface="Arial Narrow"/>
              </a:rPr>
              <a:t>…</a:t>
            </a:r>
            <a:r>
              <a:rPr sz="1600" spc="-434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15801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621982" y="54590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40" dirty="0">
                <a:latin typeface="Arial Narrow"/>
                <a:cs typeface="Arial Narrow"/>
              </a:rPr>
              <a:t>0</a:t>
            </a:r>
            <a:r>
              <a:rPr sz="2400" spc="-660" baseline="-20833" dirty="0">
                <a:latin typeface="Arial Narrow"/>
                <a:cs typeface="Arial Narrow"/>
              </a:rPr>
              <a:t>…</a:t>
            </a:r>
            <a:r>
              <a:rPr sz="1600" spc="-440" dirty="0">
                <a:latin typeface="Arial Narrow"/>
                <a:cs typeface="Arial Narrow"/>
              </a:rPr>
              <a:t>5</a:t>
            </a:r>
            <a:r>
              <a:rPr sz="1600" spc="-60" dirty="0">
                <a:latin typeface="Arial Narrow"/>
                <a:cs typeface="Arial Narrow"/>
              </a:rPr>
              <a:t> </a:t>
            </a:r>
            <a:r>
              <a:rPr sz="1600" spc="-355" dirty="0">
                <a:latin typeface="Arial Narrow"/>
                <a:cs typeface="Arial Narrow"/>
              </a:rPr>
              <a:t>…</a:t>
            </a:r>
            <a:r>
              <a:rPr sz="2400" spc="-532" baseline="-20833" dirty="0">
                <a:latin typeface="Arial Narrow"/>
                <a:cs typeface="Arial Narrow"/>
              </a:rPr>
              <a:t>…</a:t>
            </a:r>
            <a:r>
              <a:rPr sz="1600" spc="-355" dirty="0">
                <a:latin typeface="Arial Narrow"/>
                <a:cs typeface="Arial Narrow"/>
              </a:rPr>
              <a:t>L</a:t>
            </a:r>
            <a:r>
              <a:rPr sz="2400" spc="-532" baseline="-20833" dirty="0">
                <a:latin typeface="Arial Narrow"/>
                <a:cs typeface="Arial Narrow"/>
              </a:rPr>
              <a:t>.</a:t>
            </a:r>
            <a:r>
              <a:rPr sz="1600" spc="-355" dirty="0">
                <a:latin typeface="Arial Narrow"/>
                <a:cs typeface="Arial Narrow"/>
              </a:rPr>
              <a:t>a0</a:t>
            </a:r>
            <a:r>
              <a:rPr sz="2400" spc="-532" baseline="-20833" dirty="0">
                <a:latin typeface="Arial Narrow"/>
                <a:cs typeface="Arial Narrow"/>
              </a:rPr>
              <a:t>..</a:t>
            </a:r>
            <a:r>
              <a:rPr sz="1600" spc="-355" dirty="0">
                <a:latin typeface="Arial Narrow"/>
                <a:cs typeface="Arial Narrow"/>
              </a:rPr>
              <a:t>n</a:t>
            </a:r>
            <a:r>
              <a:rPr sz="2400" spc="-532" baseline="-20833" dirty="0">
                <a:latin typeface="Arial Narrow"/>
                <a:cs typeface="Arial Narrow"/>
              </a:rPr>
              <a:t>0</a:t>
            </a:r>
            <a:r>
              <a:rPr sz="1600" spc="-355" dirty="0">
                <a:latin typeface="Arial Narrow"/>
                <a:cs typeface="Arial Narrow"/>
              </a:rPr>
              <a:t>3…g</a:t>
            </a:r>
            <a:r>
              <a:rPr sz="2400" spc="-532" baseline="-20833" dirty="0">
                <a:latin typeface="Arial Narrow"/>
                <a:cs typeface="Arial Narrow"/>
              </a:rPr>
              <a:t>3...</a:t>
            </a:r>
            <a:r>
              <a:rPr sz="1600" spc="-355" dirty="0">
                <a:latin typeface="Arial Narrow"/>
                <a:cs typeface="Arial Narrow"/>
              </a:rPr>
              <a:t>S</a:t>
            </a:r>
            <a:r>
              <a:rPr sz="2400" spc="-532" baseline="-20833" dirty="0">
                <a:latin typeface="Arial Narrow"/>
                <a:cs typeface="Arial Narrow"/>
              </a:rPr>
              <a:t>J</a:t>
            </a:r>
            <a:r>
              <a:rPr sz="1600" spc="-355" dirty="0">
                <a:latin typeface="Arial Narrow"/>
                <a:cs typeface="Arial Narrow"/>
              </a:rPr>
              <a:t>m</a:t>
            </a:r>
            <a:r>
              <a:rPr sz="2400" spc="-532" baseline="-20833" dirty="0">
                <a:latin typeface="Arial Narrow"/>
                <a:cs typeface="Arial Narrow"/>
              </a:rPr>
              <a:t>o</a:t>
            </a:r>
            <a:r>
              <a:rPr sz="1600" spc="-355" dirty="0">
                <a:latin typeface="Arial Narrow"/>
                <a:cs typeface="Arial Narrow"/>
              </a:rPr>
              <a:t>..i</a:t>
            </a:r>
            <a:r>
              <a:rPr sz="2400" spc="-532" baseline="-20833" dirty="0">
                <a:latin typeface="Arial Narrow"/>
                <a:cs typeface="Arial Narrow"/>
              </a:rPr>
              <a:t>n.</a:t>
            </a:r>
            <a:r>
              <a:rPr sz="1600" spc="-355" dirty="0">
                <a:latin typeface="Arial Narrow"/>
                <a:cs typeface="Arial Narrow"/>
              </a:rPr>
              <a:t>.t</a:t>
            </a:r>
            <a:r>
              <a:rPr sz="2400" spc="-532" baseline="-20833" dirty="0">
                <a:latin typeface="Arial Narrow"/>
                <a:cs typeface="Arial Narrow"/>
              </a:rPr>
              <a:t>.</a:t>
            </a:r>
            <a:r>
              <a:rPr sz="1600" spc="-355" dirty="0">
                <a:latin typeface="Arial Narrow"/>
                <a:cs typeface="Arial Narrow"/>
              </a:rPr>
              <a:t>h</a:t>
            </a:r>
            <a:r>
              <a:rPr sz="2400" spc="-532" baseline="-20833" dirty="0">
                <a:latin typeface="Arial Narrow"/>
                <a:cs typeface="Arial Narrow"/>
              </a:rPr>
              <a:t>e.</a:t>
            </a:r>
            <a:r>
              <a:rPr sz="1600" spc="-355" dirty="0">
                <a:latin typeface="Arial Narrow"/>
                <a:cs typeface="Arial Narrow"/>
              </a:rPr>
              <a:t>.</a:t>
            </a:r>
            <a:r>
              <a:rPr sz="2400" spc="-532" baseline="-20833" dirty="0">
                <a:latin typeface="Arial Narrow"/>
                <a:cs typeface="Arial Narrow"/>
              </a:rPr>
              <a:t>s</a:t>
            </a:r>
            <a:r>
              <a:rPr sz="1600" spc="-355" dirty="0">
                <a:latin typeface="Arial Narrow"/>
                <a:cs typeface="Arial Narrow"/>
              </a:rPr>
              <a:t>.</a:t>
            </a:r>
            <a:r>
              <a:rPr sz="2400" spc="-532" baseline="-20833" dirty="0">
                <a:latin typeface="Arial Narrow"/>
                <a:cs typeface="Arial Narrow"/>
              </a:rPr>
              <a:t>.</a:t>
            </a:r>
            <a:r>
              <a:rPr sz="1600" spc="-355" dirty="0">
                <a:latin typeface="Arial Narrow"/>
                <a:cs typeface="Arial Narrow"/>
              </a:rPr>
              <a:t>.</a:t>
            </a:r>
            <a:r>
              <a:rPr sz="2400" spc="-532" baseline="-20833" dirty="0">
                <a:latin typeface="Arial Narrow"/>
                <a:cs typeface="Arial Narrow"/>
              </a:rPr>
              <a:t>..</a:t>
            </a:r>
            <a:r>
              <a:rPr sz="1600" spc="-355" dirty="0">
                <a:latin typeface="Arial Narrow"/>
                <a:cs typeface="Arial Narrow"/>
              </a:rPr>
              <a:t>…</a:t>
            </a:r>
            <a:r>
              <a:rPr sz="2400" spc="-532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604837" y="4567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108960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108960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108960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108960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108960" y="5999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4089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4089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4089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4089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3408997" y="5999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0947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0947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4094797" y="5542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40947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4094797" y="5999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3119437" y="5100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3032760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3032760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3032760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3032760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032760" y="5923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33327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33327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33327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33327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3332797" y="5923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 txBox="1"/>
          <p:nvPr/>
        </p:nvSpPr>
        <p:spPr>
          <a:xfrm>
            <a:off x="3060382" y="5916295"/>
            <a:ext cx="6375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 </a:t>
            </a: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40185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40185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4018597" y="5466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40185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4018597" y="5923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 txBox="1"/>
          <p:nvPr/>
        </p:nvSpPr>
        <p:spPr>
          <a:xfrm>
            <a:off x="4044950" y="5916295"/>
            <a:ext cx="2914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3043237" y="5024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956560" y="4932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2956560" y="5161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956560" y="5390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956560" y="5618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956560" y="5847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32565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32565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32565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2565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3256597" y="5847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39423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39423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942397" y="5390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39423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3942397" y="5847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2967037" y="4948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880360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880360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2880360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2880360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880360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31803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31803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31803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1803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1803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8661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8661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38661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8661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8661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 txBox="1"/>
          <p:nvPr/>
        </p:nvSpPr>
        <p:spPr>
          <a:xfrm>
            <a:off x="2907982" y="5763895"/>
            <a:ext cx="14287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1600" spc="-165" dirty="0">
                <a:latin typeface="Arial Narrow"/>
                <a:cs typeface="Arial Narrow"/>
              </a:rPr>
              <a:t>…</a:t>
            </a:r>
            <a:r>
              <a:rPr sz="2400" spc="-247" baseline="-20833" dirty="0">
                <a:latin typeface="Arial Narrow"/>
                <a:cs typeface="Arial Narrow"/>
              </a:rPr>
              <a:t>…</a:t>
            </a:r>
            <a:r>
              <a:rPr sz="1600" spc="-165" dirty="0">
                <a:latin typeface="Arial Narrow"/>
                <a:cs typeface="Arial Narrow"/>
              </a:rPr>
              <a:t>…..</a:t>
            </a:r>
            <a:r>
              <a:rPr sz="2400" spc="-247" baseline="-20833" dirty="0">
                <a:latin typeface="Arial Narrow"/>
                <a:cs typeface="Arial Narrow"/>
              </a:rPr>
              <a:t>.</a:t>
            </a:r>
            <a:r>
              <a:rPr sz="1600" spc="-165" dirty="0">
                <a:latin typeface="Arial Narrow"/>
                <a:cs typeface="Arial Narrow"/>
              </a:rPr>
              <a:t>.</a:t>
            </a:r>
            <a:r>
              <a:rPr sz="2400" spc="-247" baseline="-20833" dirty="0">
                <a:latin typeface="Arial Narrow"/>
                <a:cs typeface="Arial Narrow"/>
              </a:rPr>
              <a:t>..</a:t>
            </a:r>
            <a:r>
              <a:rPr sz="1600" spc="-165" dirty="0">
                <a:latin typeface="Arial Narrow"/>
                <a:cs typeface="Arial Narrow"/>
              </a:rPr>
              <a:t>…	</a:t>
            </a:r>
            <a:r>
              <a:rPr sz="1600" spc="-45" dirty="0">
                <a:latin typeface="Arial Narrow"/>
                <a:cs typeface="Arial Narrow"/>
              </a:rPr>
              <a:t>..</a:t>
            </a:r>
            <a:r>
              <a:rPr sz="2400" spc="-67" baseline="-20833" dirty="0">
                <a:latin typeface="Arial Narrow"/>
                <a:cs typeface="Arial Narrow"/>
              </a:rPr>
              <a:t>.</a:t>
            </a:r>
            <a:r>
              <a:rPr sz="1600" spc="-45" dirty="0">
                <a:latin typeface="Arial Narrow"/>
                <a:cs typeface="Arial Narrow"/>
              </a:rPr>
              <a:t>.</a:t>
            </a:r>
            <a:r>
              <a:rPr sz="2400" spc="-67" baseline="-20833" dirty="0">
                <a:latin typeface="Arial Narrow"/>
                <a:cs typeface="Arial Narrow"/>
              </a:rPr>
              <a:t>..</a:t>
            </a:r>
            <a:r>
              <a:rPr sz="1600" spc="-45" dirty="0">
                <a:latin typeface="Arial Narrow"/>
                <a:cs typeface="Arial Narrow"/>
              </a:rPr>
              <a:t>...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20" name="object 220"/>
          <p:cNvSpPr/>
          <p:nvPr/>
        </p:nvSpPr>
        <p:spPr>
          <a:xfrm>
            <a:off x="2890837" y="48720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2804160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2804160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2804160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804160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2804160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31041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31041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1041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1041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1041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7899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7899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7899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37899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37899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2814637" y="47958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2727960" y="4704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2727960" y="4932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727960" y="5161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2727960" y="5390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2727960" y="5618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3027997" y="4704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30279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30279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30279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30279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3713797" y="4704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7137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37137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713797" y="5390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7137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 txBox="1"/>
          <p:nvPr/>
        </p:nvSpPr>
        <p:spPr>
          <a:xfrm>
            <a:off x="2755582" y="5687695"/>
            <a:ext cx="15049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…</a:t>
            </a: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0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4.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1600" spc="-280" dirty="0">
                <a:latin typeface="Arial Narrow"/>
                <a:cs typeface="Arial Narrow"/>
              </a:rPr>
              <a:t>..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M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2400" spc="-337" baseline="20833" dirty="0">
                <a:latin typeface="Arial Narrow"/>
                <a:cs typeface="Arial Narrow"/>
              </a:rPr>
              <a:t> </a:t>
            </a:r>
            <a:r>
              <a:rPr sz="1600" spc="-114" dirty="0">
                <a:latin typeface="Arial Narrow"/>
                <a:cs typeface="Arial Narrow"/>
              </a:rPr>
              <a:t>arti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n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r>
              <a:rPr sz="2400" spc="-172" baseline="20833" dirty="0">
                <a:latin typeface="Arial Narrow"/>
                <a:cs typeface="Arial Narrow"/>
              </a:rPr>
              <a:t>..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53" name="object 253"/>
          <p:cNvSpPr/>
          <p:nvPr/>
        </p:nvSpPr>
        <p:spPr>
          <a:xfrm>
            <a:off x="2738437" y="4719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2651760" y="4628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2651760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2651760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2651760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2651760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2951797" y="4628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29517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29517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29517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29517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3637597" y="4628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36375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 txBox="1"/>
          <p:nvPr/>
        </p:nvSpPr>
        <p:spPr>
          <a:xfrm>
            <a:off x="2679382" y="4849495"/>
            <a:ext cx="15189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2</a:t>
            </a:r>
            <a:r>
              <a:rPr sz="2400" spc="-622" baseline="-20833" dirty="0">
                <a:latin typeface="Arial Narrow"/>
                <a:cs typeface="Arial Narrow"/>
              </a:rPr>
              <a:t>2</a:t>
            </a: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1W</a:t>
            </a:r>
            <a:r>
              <a:rPr sz="2400" spc="-622" baseline="-20833" dirty="0">
                <a:latin typeface="Arial Narrow"/>
                <a:cs typeface="Arial Narrow"/>
              </a:rPr>
              <a:t>1F</a:t>
            </a:r>
            <a:r>
              <a:rPr sz="1600" spc="-415" dirty="0">
                <a:latin typeface="Arial Narrow"/>
                <a:cs typeface="Arial Narrow"/>
              </a:rPr>
              <a:t>h</a:t>
            </a:r>
            <a:r>
              <a:rPr sz="2400" spc="-622" baseline="-20833" dirty="0">
                <a:latin typeface="Arial Narrow"/>
                <a:cs typeface="Arial Narrow"/>
              </a:rPr>
              <a:t>u</a:t>
            </a:r>
            <a:r>
              <a:rPr sz="1600" spc="-415" dirty="0">
                <a:latin typeface="Arial Narrow"/>
                <a:cs typeface="Arial Narrow"/>
              </a:rPr>
              <a:t>Ci</a:t>
            </a:r>
            <a:r>
              <a:rPr sz="2400" spc="-622" baseline="-20833" dirty="0">
                <a:latin typeface="Arial Narrow"/>
                <a:cs typeface="Arial Narrow"/>
              </a:rPr>
              <a:t>n</a:t>
            </a:r>
            <a:r>
              <a:rPr sz="1600" spc="-415" dirty="0">
                <a:latin typeface="Arial Narrow"/>
                <a:cs typeface="Arial Narrow"/>
              </a:rPr>
              <a:t>t</a:t>
            </a:r>
            <a:r>
              <a:rPr sz="2400" spc="-622" baseline="-20833" dirty="0">
                <a:latin typeface="Arial Narrow"/>
                <a:cs typeface="Arial Narrow"/>
              </a:rPr>
              <a:t>R</a:t>
            </a:r>
            <a:r>
              <a:rPr sz="1600" spc="-415" dirty="0">
                <a:latin typeface="Arial Narrow"/>
                <a:cs typeface="Arial Narrow"/>
              </a:rPr>
              <a:t>eo</a:t>
            </a:r>
            <a:r>
              <a:rPr sz="2400" spc="-622" baseline="-20833" dirty="0">
                <a:latin typeface="Arial Narrow"/>
                <a:cs typeface="Arial Narrow"/>
              </a:rPr>
              <a:t>ku</a:t>
            </a:r>
            <a:r>
              <a:rPr sz="1600" spc="-415" dirty="0">
                <a:latin typeface="Arial Narrow"/>
                <a:cs typeface="Arial Narrow"/>
              </a:rPr>
              <a:t>n</a:t>
            </a:r>
            <a:r>
              <a:rPr sz="2400" spc="-622" baseline="-20833" dirty="0">
                <a:latin typeface="Arial Narrow"/>
                <a:cs typeface="Arial Narrow"/>
              </a:rPr>
              <a:t>dd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267" name="object 267"/>
          <p:cNvSpPr/>
          <p:nvPr/>
        </p:nvSpPr>
        <p:spPr>
          <a:xfrm>
            <a:off x="36375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3637597" y="5313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 txBox="1"/>
          <p:nvPr/>
        </p:nvSpPr>
        <p:spPr>
          <a:xfrm>
            <a:off x="2679382" y="53066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04</a:t>
            </a:r>
            <a:r>
              <a:rPr sz="1600" spc="-350" dirty="0">
                <a:latin typeface="Arial Narrow"/>
                <a:cs typeface="Arial Narrow"/>
              </a:rPr>
              <a:t>0</a:t>
            </a:r>
            <a:r>
              <a:rPr sz="2400" spc="-525" baseline="-20833" dirty="0">
                <a:latin typeface="Arial Narrow"/>
                <a:cs typeface="Arial Narrow"/>
              </a:rPr>
              <a:t>0</a:t>
            </a:r>
            <a:r>
              <a:rPr sz="1600" spc="-350" dirty="0">
                <a:latin typeface="Arial Narrow"/>
                <a:cs typeface="Arial Narrow"/>
              </a:rPr>
              <a:t>3..</a:t>
            </a:r>
            <a:r>
              <a:rPr sz="2400" spc="-525" baseline="-20833" dirty="0">
                <a:latin typeface="Arial Narrow"/>
                <a:cs typeface="Arial Narrow"/>
              </a:rPr>
              <a:t>3M</a:t>
            </a:r>
            <a:r>
              <a:rPr sz="1600" spc="-350" dirty="0">
                <a:latin typeface="Arial Narrow"/>
                <a:cs typeface="Arial Narrow"/>
              </a:rPr>
              <a:t>.02</a:t>
            </a:r>
            <a:r>
              <a:rPr sz="2400" spc="-525" baseline="-20833" dirty="0">
                <a:latin typeface="Arial Narrow"/>
                <a:cs typeface="Arial Narrow"/>
              </a:rPr>
              <a:t>a</a:t>
            </a:r>
            <a:r>
              <a:rPr sz="1600" spc="-350" dirty="0">
                <a:latin typeface="Arial Narrow"/>
                <a:cs typeface="Arial Narrow"/>
              </a:rPr>
              <a:t>W</a:t>
            </a:r>
            <a:r>
              <a:rPr sz="2400" spc="-525" baseline="-20833" dirty="0">
                <a:latin typeface="Arial Narrow"/>
                <a:cs typeface="Arial Narrow"/>
              </a:rPr>
              <a:t>Brt</a:t>
            </a:r>
            <a:r>
              <a:rPr sz="1600" spc="-350" dirty="0">
                <a:latin typeface="Arial Narrow"/>
                <a:cs typeface="Arial Narrow"/>
              </a:rPr>
              <a:t>h</a:t>
            </a:r>
            <a:r>
              <a:rPr sz="2400" spc="-525" baseline="-20833" dirty="0">
                <a:latin typeface="Arial Narrow"/>
                <a:cs typeface="Arial Narrow"/>
              </a:rPr>
              <a:t>ian</a:t>
            </a:r>
            <a:r>
              <a:rPr sz="1600" spc="-350" dirty="0">
                <a:latin typeface="Arial Narrow"/>
                <a:cs typeface="Arial Narrow"/>
              </a:rPr>
              <a:t>Oi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te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ta..</a:t>
            </a:r>
            <a:r>
              <a:rPr sz="2400" spc="-525" baseline="-20833" dirty="0">
                <a:latin typeface="Arial Narrow"/>
                <a:cs typeface="Arial Narrow"/>
              </a:rPr>
              <a:t>.</a:t>
            </a:r>
            <a:r>
              <a:rPr sz="1600" spc="-350" dirty="0">
                <a:latin typeface="Arial Narrow"/>
                <a:cs typeface="Arial Narrow"/>
              </a:rPr>
              <a:t>.</a:t>
            </a:r>
            <a:r>
              <a:rPr sz="2400" spc="-525" baseline="-20833" dirty="0">
                <a:latin typeface="Arial Narrow"/>
                <a:cs typeface="Arial Narrow"/>
              </a:rPr>
              <a:t>..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…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36375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2662237" y="4643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2575560" y="4551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2575560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2575560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2575560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2575560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2875597" y="4551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2875597" y="4780597"/>
            <a:ext cx="740727" cy="2847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28755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28755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28755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3561397" y="4551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 txBox="1"/>
          <p:nvPr/>
        </p:nvSpPr>
        <p:spPr>
          <a:xfrm>
            <a:off x="2603182" y="4544695"/>
            <a:ext cx="1290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09015" algn="l"/>
              </a:tabLst>
            </a:pPr>
            <a:r>
              <a:rPr sz="1600" spc="-220" dirty="0">
                <a:latin typeface="Arial Narrow"/>
                <a:cs typeface="Arial Narrow"/>
              </a:rPr>
              <a:t>0</a:t>
            </a:r>
            <a:r>
              <a:rPr sz="2400" spc="-330" baseline="-20833" dirty="0">
                <a:latin typeface="Arial Narrow"/>
                <a:cs typeface="Arial Narrow"/>
              </a:rPr>
              <a:t>0</a:t>
            </a:r>
            <a:r>
              <a:rPr sz="1600" spc="-220" dirty="0">
                <a:latin typeface="Arial Narrow"/>
                <a:cs typeface="Arial Narrow"/>
              </a:rPr>
              <a:t>1</a:t>
            </a:r>
            <a:r>
              <a:rPr sz="2400" spc="-330" baseline="-20833" dirty="0">
                <a:latin typeface="Arial Narrow"/>
                <a:cs typeface="Arial Narrow"/>
              </a:rPr>
              <a:t>1   </a:t>
            </a:r>
            <a:r>
              <a:rPr sz="2400" spc="-195" baseline="-20833" dirty="0">
                <a:latin typeface="Arial Narrow"/>
                <a:cs typeface="Arial Narrow"/>
              </a:rPr>
              <a:t> </a:t>
            </a:r>
            <a:r>
              <a:rPr sz="1600" spc="-320" dirty="0">
                <a:latin typeface="Arial Narrow"/>
                <a:cs typeface="Arial Narrow"/>
              </a:rPr>
              <a:t>D</a:t>
            </a:r>
            <a:r>
              <a:rPr sz="2400" spc="-480" baseline="-20833" dirty="0">
                <a:latin typeface="Arial Narrow"/>
                <a:cs typeface="Arial Narrow"/>
              </a:rPr>
              <a:t>R</a:t>
            </a:r>
            <a:r>
              <a:rPr sz="1600" spc="-320" dirty="0">
                <a:latin typeface="Arial Narrow"/>
                <a:cs typeface="Arial Narrow"/>
              </a:rPr>
              <a:t>u</a:t>
            </a:r>
            <a:r>
              <a:rPr sz="2400" spc="-480" baseline="-20833" dirty="0">
                <a:latin typeface="Arial Narrow"/>
                <a:cs typeface="Arial Narrow"/>
              </a:rPr>
              <a:t>u</a:t>
            </a:r>
            <a:r>
              <a:rPr sz="1600" spc="-320" dirty="0">
                <a:latin typeface="Arial Narrow"/>
                <a:cs typeface="Arial Narrow"/>
              </a:rPr>
              <a:t>n</a:t>
            </a:r>
            <a:r>
              <a:rPr sz="2400" spc="-480" baseline="-20833" dirty="0">
                <a:latin typeface="Arial Narrow"/>
                <a:cs typeface="Arial Narrow"/>
              </a:rPr>
              <a:t>d</a:t>
            </a:r>
            <a:r>
              <a:rPr sz="1600" spc="-320" dirty="0">
                <a:latin typeface="Arial Narrow"/>
                <a:cs typeface="Arial Narrow"/>
              </a:rPr>
              <a:t>n</a:t>
            </a:r>
            <a:r>
              <a:rPr sz="2400" spc="-480" baseline="-20833" dirty="0">
                <a:latin typeface="Arial Narrow"/>
                <a:cs typeface="Arial Narrow"/>
              </a:rPr>
              <a:t>d	</a:t>
            </a: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35613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 txBox="1"/>
          <p:nvPr/>
        </p:nvSpPr>
        <p:spPr>
          <a:xfrm>
            <a:off x="2603182" y="4773295"/>
            <a:ext cx="14427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45" dirty="0">
                <a:latin typeface="Arial Narrow"/>
                <a:cs typeface="Arial Narrow"/>
              </a:rPr>
              <a:t>02</a:t>
            </a:r>
            <a:r>
              <a:rPr sz="2400" spc="-517" baseline="20833" dirty="0">
                <a:latin typeface="Arial Narrow"/>
                <a:cs typeface="Arial Narrow"/>
              </a:rPr>
              <a:t>0</a:t>
            </a:r>
            <a:r>
              <a:rPr sz="1600" spc="-345" dirty="0">
                <a:latin typeface="Arial Narrow"/>
                <a:cs typeface="Arial Narrow"/>
              </a:rPr>
              <a:t>0</a:t>
            </a:r>
            <a:r>
              <a:rPr sz="2400" spc="-517" baseline="20833" dirty="0">
                <a:latin typeface="Arial Narrow"/>
                <a:cs typeface="Arial Narrow"/>
              </a:rPr>
              <a:t>1</a:t>
            </a:r>
            <a:r>
              <a:rPr sz="1600" spc="-345" dirty="0">
                <a:latin typeface="Arial Narrow"/>
                <a:cs typeface="Arial Narrow"/>
              </a:rPr>
              <a:t>1Ra</a:t>
            </a:r>
            <a:r>
              <a:rPr sz="2400" spc="-517" baseline="20833" dirty="0">
                <a:latin typeface="Arial Narrow"/>
                <a:cs typeface="Arial Narrow"/>
              </a:rPr>
              <a:t>A</a:t>
            </a:r>
            <a:r>
              <a:rPr sz="1600" spc="-345" dirty="0">
                <a:latin typeface="Arial Narrow"/>
                <a:cs typeface="Arial Narrow"/>
              </a:rPr>
              <a:t>nS</a:t>
            </a:r>
            <a:r>
              <a:rPr sz="2400" spc="-517" baseline="20833" dirty="0">
                <a:latin typeface="Arial Narrow"/>
                <a:cs typeface="Arial Narrow"/>
              </a:rPr>
              <a:t>k</a:t>
            </a:r>
            <a:r>
              <a:rPr sz="1600" spc="-345" dirty="0">
                <a:latin typeface="Arial Narrow"/>
                <a:cs typeface="Arial Narrow"/>
              </a:rPr>
              <a:t>dm</a:t>
            </a:r>
            <a:r>
              <a:rPr sz="2400" spc="-517" baseline="20833" dirty="0">
                <a:latin typeface="Arial Narrow"/>
                <a:cs typeface="Arial Narrow"/>
              </a:rPr>
              <a:t>h</a:t>
            </a:r>
            <a:r>
              <a:rPr sz="1600" spc="-345" dirty="0">
                <a:latin typeface="Arial Narrow"/>
                <a:cs typeface="Arial Narrow"/>
              </a:rPr>
              <a:t>a</a:t>
            </a:r>
            <a:r>
              <a:rPr sz="2400" spc="-517" baseline="20833" dirty="0">
                <a:latin typeface="Arial Narrow"/>
                <a:cs typeface="Arial Narrow"/>
              </a:rPr>
              <a:t>t</a:t>
            </a:r>
            <a:r>
              <a:rPr sz="1600" spc="-345" dirty="0">
                <a:latin typeface="Arial Narrow"/>
                <a:cs typeface="Arial Narrow"/>
              </a:rPr>
              <a:t>i</a:t>
            </a:r>
            <a:r>
              <a:rPr sz="2400" spc="-517" baseline="20833" dirty="0">
                <a:latin typeface="Arial Narrow"/>
                <a:cs typeface="Arial Narrow"/>
              </a:rPr>
              <a:t>a</a:t>
            </a:r>
            <a:r>
              <a:rPr sz="1600" spc="-345" dirty="0">
                <a:latin typeface="Arial Narrow"/>
                <a:cs typeface="Arial Narrow"/>
              </a:rPr>
              <a:t>ltlh</a:t>
            </a:r>
            <a:r>
              <a:rPr sz="2400" spc="-517" baseline="20833" dirty="0">
                <a:latin typeface="Arial Narrow"/>
                <a:cs typeface="Arial Narrow"/>
              </a:rPr>
              <a:t>r</a:t>
            </a:r>
            <a:r>
              <a:rPr sz="1600" spc="-345" dirty="0">
                <a:latin typeface="Arial Narrow"/>
                <a:cs typeface="Arial Narrow"/>
              </a:rPr>
              <a:t>…</a:t>
            </a:r>
            <a:r>
              <a:rPr sz="2400" spc="-517" baseline="20833" dirty="0">
                <a:latin typeface="Arial Narrow"/>
                <a:cs typeface="Arial Narrow"/>
              </a:rPr>
              <a:t>…</a:t>
            </a:r>
            <a:r>
              <a:rPr sz="1600" spc="-34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86" name="object 286"/>
          <p:cNvSpPr/>
          <p:nvPr/>
        </p:nvSpPr>
        <p:spPr>
          <a:xfrm>
            <a:off x="35613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 txBox="1"/>
          <p:nvPr/>
        </p:nvSpPr>
        <p:spPr>
          <a:xfrm>
            <a:off x="2603182" y="50018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70" dirty="0">
                <a:latin typeface="Arial Narrow"/>
                <a:cs typeface="Arial Narrow"/>
              </a:rPr>
              <a:t>0</a:t>
            </a:r>
            <a:r>
              <a:rPr sz="2400" spc="-705" baseline="-20833" dirty="0">
                <a:latin typeface="Arial Narrow"/>
                <a:cs typeface="Arial Narrow"/>
              </a:rPr>
              <a:t>0</a:t>
            </a:r>
            <a:r>
              <a:rPr sz="1600" spc="-470" dirty="0">
                <a:latin typeface="Arial Narrow"/>
                <a:cs typeface="Arial Narrow"/>
              </a:rPr>
              <a:t>3</a:t>
            </a:r>
            <a:r>
              <a:rPr sz="2400" spc="-705" baseline="-20833" dirty="0">
                <a:latin typeface="Arial Narrow"/>
                <a:cs typeface="Arial Narrow"/>
              </a:rPr>
              <a:t>3</a:t>
            </a:r>
            <a:r>
              <a:rPr sz="1600" spc="-470" dirty="0">
                <a:latin typeface="Arial Narrow"/>
                <a:cs typeface="Arial Narrow"/>
              </a:rPr>
              <a:t>0</a:t>
            </a:r>
            <a:r>
              <a:rPr sz="2400" spc="-705" baseline="-20833" dirty="0">
                <a:latin typeface="Arial Narrow"/>
                <a:cs typeface="Arial Narrow"/>
              </a:rPr>
              <a:t>0</a:t>
            </a:r>
            <a:r>
              <a:rPr sz="1600" spc="-470" dirty="0">
                <a:latin typeface="Arial Narrow"/>
                <a:cs typeface="Arial Narrow"/>
              </a:rPr>
              <a:t>2O</a:t>
            </a:r>
            <a:r>
              <a:rPr sz="2400" spc="-705" baseline="-20833" dirty="0">
                <a:latin typeface="Arial Narrow"/>
                <a:cs typeface="Arial Narrow"/>
              </a:rPr>
              <a:t>2B</a:t>
            </a:r>
            <a:r>
              <a:rPr sz="1600" spc="-470" dirty="0">
                <a:latin typeface="Arial Narrow"/>
                <a:cs typeface="Arial Narrow"/>
              </a:rPr>
              <a:t>0ta</a:t>
            </a:r>
            <a:r>
              <a:rPr sz="2400" spc="-705" baseline="-20833" dirty="0">
                <a:latin typeface="Arial Narrow"/>
                <a:cs typeface="Arial Narrow"/>
              </a:rPr>
              <a:t>0</a:t>
            </a:r>
            <a:r>
              <a:rPr sz="1600" spc="-470" dirty="0">
                <a:latin typeface="Arial Narrow"/>
                <a:cs typeface="Arial Narrow"/>
              </a:rPr>
              <a:t>1O</a:t>
            </a:r>
            <a:r>
              <a:rPr sz="2400" spc="-705" baseline="-20833" dirty="0">
                <a:latin typeface="Arial Narrow"/>
                <a:cs typeface="Arial Narrow"/>
              </a:rPr>
              <a:t>r1Fr</a:t>
            </a:r>
            <a:r>
              <a:rPr sz="1600" spc="-470" dirty="0">
                <a:latin typeface="Arial Narrow"/>
                <a:cs typeface="Arial Narrow"/>
              </a:rPr>
              <a:t>ta</a:t>
            </a:r>
            <a:r>
              <a:rPr sz="2400" spc="-705" baseline="-20833" dirty="0">
                <a:latin typeface="Arial Narrow"/>
                <a:cs typeface="Arial Narrow"/>
              </a:rPr>
              <a:t>u</a:t>
            </a:r>
            <a:r>
              <a:rPr sz="1600" spc="-470" dirty="0">
                <a:latin typeface="Arial Narrow"/>
                <a:cs typeface="Arial Narrow"/>
              </a:rPr>
              <a:t>A</a:t>
            </a:r>
            <a:r>
              <a:rPr sz="2400" spc="-705" baseline="-20833" dirty="0">
                <a:latin typeface="Arial Narrow"/>
                <a:cs typeface="Arial Narrow"/>
              </a:rPr>
              <a:t>nS</a:t>
            </a:r>
            <a:r>
              <a:rPr sz="1600" spc="-470" dirty="0">
                <a:latin typeface="Arial Narrow"/>
                <a:cs typeface="Arial Narrow"/>
              </a:rPr>
              <a:t>k</a:t>
            </a:r>
            <a:r>
              <a:rPr sz="2400" spc="-705" baseline="-20833" dirty="0">
                <a:latin typeface="Arial Narrow"/>
                <a:cs typeface="Arial Narrow"/>
              </a:rPr>
              <a:t>k</a:t>
            </a:r>
            <a:r>
              <a:rPr sz="1600" spc="-470" dirty="0">
                <a:latin typeface="Arial Narrow"/>
                <a:cs typeface="Arial Narrow"/>
              </a:rPr>
              <a:t>…</a:t>
            </a:r>
            <a:r>
              <a:rPr sz="2400" spc="-705" baseline="-20833" dirty="0">
                <a:latin typeface="Arial Narrow"/>
                <a:cs typeface="Arial Narrow"/>
              </a:rPr>
              <a:t>m</a:t>
            </a:r>
            <a:r>
              <a:rPr sz="1600" spc="-470" dirty="0">
                <a:latin typeface="Arial Narrow"/>
                <a:cs typeface="Arial Narrow"/>
              </a:rPr>
              <a:t>h</a:t>
            </a:r>
            <a:r>
              <a:rPr sz="2400" spc="-705" baseline="-20833" dirty="0">
                <a:latin typeface="Arial Narrow"/>
                <a:cs typeface="Arial Narrow"/>
              </a:rPr>
              <a:t>…</a:t>
            </a:r>
            <a:r>
              <a:rPr sz="1600" spc="-470" dirty="0">
                <a:latin typeface="Arial Narrow"/>
                <a:cs typeface="Arial Narrow"/>
              </a:rPr>
              <a:t>t</a:t>
            </a:r>
            <a:r>
              <a:rPr sz="2400" spc="-705" baseline="-20833" dirty="0">
                <a:latin typeface="Arial Narrow"/>
                <a:cs typeface="Arial Narrow"/>
              </a:rPr>
              <a:t>i</a:t>
            </a:r>
            <a:r>
              <a:rPr sz="1600" spc="-470" dirty="0">
                <a:latin typeface="Arial Narrow"/>
                <a:cs typeface="Arial Narrow"/>
              </a:rPr>
              <a:t>a</a:t>
            </a:r>
            <a:r>
              <a:rPr sz="2400" spc="-705" baseline="-20833" dirty="0">
                <a:latin typeface="Arial Narrow"/>
                <a:cs typeface="Arial Narrow"/>
              </a:rPr>
              <a:t>t</a:t>
            </a:r>
            <a:r>
              <a:rPr sz="1600" spc="-470" dirty="0">
                <a:latin typeface="Arial Narrow"/>
                <a:cs typeface="Arial Narrow"/>
              </a:rPr>
              <a:t>…</a:t>
            </a:r>
            <a:r>
              <a:rPr sz="2400" spc="-705" baseline="-20833" dirty="0">
                <a:latin typeface="Arial Narrow"/>
                <a:cs typeface="Arial Narrow"/>
              </a:rPr>
              <a:t>h</a:t>
            </a:r>
            <a:r>
              <a:rPr sz="1600" spc="-470" dirty="0">
                <a:latin typeface="Arial Narrow"/>
                <a:cs typeface="Arial Narrow"/>
              </a:rPr>
              <a:t>r</a:t>
            </a:r>
            <a:r>
              <a:rPr sz="2400" spc="-705" baseline="-20833" dirty="0">
                <a:latin typeface="Arial Narrow"/>
                <a:cs typeface="Arial Narrow"/>
              </a:rPr>
              <a:t>…</a:t>
            </a:r>
            <a:r>
              <a:rPr sz="1600" spc="-470" dirty="0">
                <a:latin typeface="Arial Narrow"/>
                <a:cs typeface="Arial Narrow"/>
              </a:rPr>
              <a:t>…</a:t>
            </a:r>
            <a:r>
              <a:rPr sz="2400" spc="-705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288" name="object 288"/>
          <p:cNvSpPr/>
          <p:nvPr/>
        </p:nvSpPr>
        <p:spPr>
          <a:xfrm>
            <a:off x="3561397" y="5237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 txBox="1"/>
          <p:nvPr/>
        </p:nvSpPr>
        <p:spPr>
          <a:xfrm>
            <a:off x="2603182" y="52304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25" dirty="0">
                <a:latin typeface="Arial Narrow"/>
                <a:cs typeface="Arial Narrow"/>
              </a:rPr>
              <a:t>04</a:t>
            </a:r>
            <a:r>
              <a:rPr sz="2400" spc="-637" baseline="20833" dirty="0">
                <a:latin typeface="Arial Narrow"/>
                <a:cs typeface="Arial Narrow"/>
              </a:rPr>
              <a:t>0</a:t>
            </a:r>
            <a:r>
              <a:rPr sz="1600" spc="-425" dirty="0">
                <a:latin typeface="Arial Narrow"/>
                <a:cs typeface="Arial Narrow"/>
              </a:rPr>
              <a:t>0</a:t>
            </a:r>
            <a:r>
              <a:rPr sz="2400" spc="-637" baseline="20833" dirty="0">
                <a:latin typeface="Arial Narrow"/>
                <a:cs typeface="Arial Narrow"/>
              </a:rPr>
              <a:t>3</a:t>
            </a:r>
            <a:r>
              <a:rPr sz="1600" spc="-425" dirty="0">
                <a:latin typeface="Arial Narrow"/>
                <a:cs typeface="Arial Narrow"/>
              </a:rPr>
              <a:t>3S</a:t>
            </a:r>
            <a:r>
              <a:rPr sz="2400" spc="-637" baseline="20833" dirty="0">
                <a:latin typeface="Arial Narrow"/>
                <a:cs typeface="Arial Narrow"/>
              </a:rPr>
              <a:t>0</a:t>
            </a:r>
            <a:r>
              <a:rPr sz="1600" spc="-425" dirty="0">
                <a:latin typeface="Arial Narrow"/>
                <a:cs typeface="Arial Narrow"/>
              </a:rPr>
              <a:t>l0</a:t>
            </a:r>
            <a:r>
              <a:rPr sz="2400" spc="-637" baseline="20833" dirty="0">
                <a:latin typeface="Arial Narrow"/>
                <a:cs typeface="Arial Narrow"/>
              </a:rPr>
              <a:t>2</a:t>
            </a:r>
            <a:r>
              <a:rPr sz="1600" spc="-425" dirty="0">
                <a:latin typeface="Arial Narrow"/>
                <a:cs typeface="Arial Narrow"/>
              </a:rPr>
              <a:t>i</a:t>
            </a:r>
            <a:r>
              <a:rPr sz="2400" spc="-637" baseline="20833" dirty="0">
                <a:latin typeface="Arial Narrow"/>
                <a:cs typeface="Arial Narrow"/>
              </a:rPr>
              <a:t>S</a:t>
            </a:r>
            <a:r>
              <a:rPr sz="1600" spc="-425" dirty="0">
                <a:latin typeface="Arial Narrow"/>
                <a:cs typeface="Arial Narrow"/>
              </a:rPr>
              <a:t>c2J</a:t>
            </a:r>
            <a:r>
              <a:rPr sz="2400" spc="-637" baseline="20833" dirty="0">
                <a:latin typeface="Arial Narrow"/>
                <a:cs typeface="Arial Narrow"/>
              </a:rPr>
              <a:t>m</a:t>
            </a:r>
            <a:r>
              <a:rPr sz="1600" spc="-425" dirty="0">
                <a:latin typeface="Arial Narrow"/>
                <a:cs typeface="Arial Narrow"/>
              </a:rPr>
              <a:t>hot</a:t>
            </a:r>
            <a:r>
              <a:rPr sz="2400" spc="-637" baseline="20833" dirty="0">
                <a:latin typeface="Arial Narrow"/>
                <a:cs typeface="Arial Narrow"/>
              </a:rPr>
              <a:t>Wi</a:t>
            </a:r>
            <a:r>
              <a:rPr sz="1600" spc="-425" dirty="0">
                <a:latin typeface="Arial Narrow"/>
                <a:cs typeface="Arial Narrow"/>
              </a:rPr>
              <a:t>ne</a:t>
            </a:r>
            <a:r>
              <a:rPr sz="2400" spc="-637" baseline="20833" dirty="0">
                <a:latin typeface="Arial Narrow"/>
                <a:cs typeface="Arial Narrow"/>
              </a:rPr>
              <a:t>t</a:t>
            </a:r>
            <a:r>
              <a:rPr sz="1600" spc="-425" dirty="0">
                <a:latin typeface="Arial Narrow"/>
                <a:cs typeface="Arial Narrow"/>
              </a:rPr>
              <a:t>F</a:t>
            </a:r>
            <a:r>
              <a:rPr sz="2400" spc="-637" baseline="20833" dirty="0">
                <a:latin typeface="Arial Narrow"/>
                <a:cs typeface="Arial Narrow"/>
              </a:rPr>
              <a:t>h</a:t>
            </a:r>
            <a:r>
              <a:rPr sz="1600" spc="-425" dirty="0">
                <a:latin typeface="Arial Narrow"/>
                <a:cs typeface="Arial Narrow"/>
              </a:rPr>
              <a:t>er</a:t>
            </a:r>
            <a:r>
              <a:rPr sz="2400" spc="-637" baseline="20833" dirty="0">
                <a:latin typeface="Arial Narrow"/>
                <a:cs typeface="Arial Narrow"/>
              </a:rPr>
              <a:t>h</a:t>
            </a:r>
            <a:r>
              <a:rPr sz="1600" spc="-425" dirty="0">
                <a:latin typeface="Arial Narrow"/>
                <a:cs typeface="Arial Narrow"/>
              </a:rPr>
              <a:t>us</a:t>
            </a:r>
            <a:r>
              <a:rPr sz="2400" spc="-637" baseline="20833" dirty="0">
                <a:latin typeface="Arial Narrow"/>
                <a:cs typeface="Arial Narrow"/>
              </a:rPr>
              <a:t>i</a:t>
            </a:r>
            <a:r>
              <a:rPr sz="1600" spc="-425" dirty="0">
                <a:latin typeface="Arial Narrow"/>
                <a:cs typeface="Arial Narrow"/>
              </a:rPr>
              <a:t>.n</a:t>
            </a:r>
            <a:r>
              <a:rPr sz="2400" spc="-637" baseline="20833" dirty="0">
                <a:latin typeface="Arial Narrow"/>
                <a:cs typeface="Arial Narrow"/>
              </a:rPr>
              <a:t>t</a:t>
            </a:r>
            <a:r>
              <a:rPr sz="1600" spc="-425" dirty="0">
                <a:latin typeface="Arial Narrow"/>
                <a:cs typeface="Arial Narrow"/>
              </a:rPr>
              <a:t>.</a:t>
            </a:r>
            <a:r>
              <a:rPr sz="2400" spc="-637" baseline="20833" dirty="0">
                <a:latin typeface="Arial Narrow"/>
                <a:cs typeface="Arial Narrow"/>
              </a:rPr>
              <a:t>e</a:t>
            </a:r>
            <a:r>
              <a:rPr sz="1600" spc="-425" dirty="0">
                <a:latin typeface="Arial Narrow"/>
                <a:cs typeface="Arial Narrow"/>
              </a:rPr>
              <a:t>.k</a:t>
            </a:r>
            <a:r>
              <a:rPr sz="2400" spc="-637" baseline="20833" dirty="0">
                <a:latin typeface="Arial Narrow"/>
                <a:cs typeface="Arial Narrow"/>
              </a:rPr>
              <a:t>…</a:t>
            </a:r>
            <a:r>
              <a:rPr sz="1600" spc="-425" dirty="0">
                <a:latin typeface="Arial Narrow"/>
                <a:cs typeface="Arial Narrow"/>
              </a:rPr>
              <a:t>…</a:t>
            </a:r>
            <a:r>
              <a:rPr sz="2400" spc="-637" baseline="20833" dirty="0">
                <a:latin typeface="Arial Narrow"/>
                <a:cs typeface="Arial Narrow"/>
              </a:rPr>
              <a:t>…</a:t>
            </a:r>
            <a:r>
              <a:rPr sz="1600" spc="-42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90" name="object 290"/>
          <p:cNvSpPr/>
          <p:nvPr/>
        </p:nvSpPr>
        <p:spPr>
          <a:xfrm>
            <a:off x="35613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 txBox="1"/>
          <p:nvPr/>
        </p:nvSpPr>
        <p:spPr>
          <a:xfrm>
            <a:off x="2603182" y="54590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40" dirty="0">
                <a:latin typeface="Arial Narrow"/>
                <a:cs typeface="Arial Narrow"/>
              </a:rPr>
              <a:t>0</a:t>
            </a:r>
            <a:r>
              <a:rPr sz="2400" spc="-660" baseline="-20833" dirty="0">
                <a:latin typeface="Arial Narrow"/>
                <a:cs typeface="Arial Narrow"/>
              </a:rPr>
              <a:t>…</a:t>
            </a:r>
            <a:r>
              <a:rPr sz="1600" spc="-440" dirty="0">
                <a:latin typeface="Arial Narrow"/>
                <a:cs typeface="Arial Narrow"/>
              </a:rPr>
              <a:t>5</a:t>
            </a:r>
            <a:r>
              <a:rPr sz="1600" spc="-40" dirty="0">
                <a:latin typeface="Arial Narrow"/>
                <a:cs typeface="Arial Narrow"/>
              </a:rPr>
              <a:t> </a:t>
            </a: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r>
              <a:rPr sz="1600" spc="-360" dirty="0">
                <a:latin typeface="Arial Narrow"/>
                <a:cs typeface="Arial Narrow"/>
              </a:rPr>
              <a:t>L</a:t>
            </a:r>
            <a:r>
              <a:rPr sz="2400" spc="-540" baseline="-20833" dirty="0">
                <a:latin typeface="Arial Narrow"/>
                <a:cs typeface="Arial Narrow"/>
              </a:rPr>
              <a:t>.</a:t>
            </a:r>
            <a:r>
              <a:rPr sz="1600" spc="-360" dirty="0">
                <a:latin typeface="Arial Narrow"/>
                <a:cs typeface="Arial Narrow"/>
              </a:rPr>
              <a:t>a0</a:t>
            </a:r>
            <a:r>
              <a:rPr sz="2400" spc="-540" baseline="-20833" dirty="0">
                <a:latin typeface="Arial Narrow"/>
                <a:cs typeface="Arial Narrow"/>
              </a:rPr>
              <a:t>..</a:t>
            </a:r>
            <a:r>
              <a:rPr sz="1600" spc="-360" dirty="0">
                <a:latin typeface="Arial Narrow"/>
                <a:cs typeface="Arial Narrow"/>
              </a:rPr>
              <a:t>B</a:t>
            </a:r>
            <a:r>
              <a:rPr sz="2400" spc="-540" baseline="-20833" dirty="0">
                <a:latin typeface="Arial Narrow"/>
                <a:cs typeface="Arial Narrow"/>
              </a:rPr>
              <a:t>0</a:t>
            </a:r>
            <a:r>
              <a:rPr sz="1600" spc="-360" dirty="0">
                <a:latin typeface="Arial Narrow"/>
                <a:cs typeface="Arial Narrow"/>
              </a:rPr>
              <a:t>3…</a:t>
            </a:r>
            <a:r>
              <a:rPr sz="2400" spc="-540" baseline="-20833" dirty="0">
                <a:latin typeface="Arial Narrow"/>
                <a:cs typeface="Arial Narrow"/>
              </a:rPr>
              <a:t>3</a:t>
            </a:r>
            <a:r>
              <a:rPr sz="1600" spc="-360" dirty="0">
                <a:latin typeface="Arial Narrow"/>
                <a:cs typeface="Arial Narrow"/>
              </a:rPr>
              <a:t>r</a:t>
            </a:r>
            <a:r>
              <a:rPr sz="2400" spc="-540" baseline="-20833" dirty="0">
                <a:latin typeface="Arial Narrow"/>
                <a:cs typeface="Arial Narrow"/>
              </a:rPr>
              <a:t>..</a:t>
            </a:r>
            <a:r>
              <a:rPr sz="1600" spc="-360" dirty="0">
                <a:latin typeface="Arial Narrow"/>
                <a:cs typeface="Arial Narrow"/>
              </a:rPr>
              <a:t>ie</a:t>
            </a:r>
            <a:r>
              <a:rPr sz="2400" spc="-540" baseline="-20833" dirty="0">
                <a:latin typeface="Arial Narrow"/>
                <a:cs typeface="Arial Narrow"/>
              </a:rPr>
              <a:t>.</a:t>
            </a:r>
            <a:r>
              <a:rPr sz="1600" spc="-360" dirty="0">
                <a:latin typeface="Arial Narrow"/>
                <a:cs typeface="Arial Narrow"/>
              </a:rPr>
              <a:t>S</a:t>
            </a:r>
            <a:r>
              <a:rPr sz="2400" spc="-540" baseline="-20833" dirty="0">
                <a:latin typeface="Arial Narrow"/>
                <a:cs typeface="Arial Narrow"/>
              </a:rPr>
              <a:t>J</a:t>
            </a:r>
            <a:r>
              <a:rPr sz="1600" spc="-360" dirty="0">
                <a:latin typeface="Arial Narrow"/>
                <a:cs typeface="Arial Narrow"/>
              </a:rPr>
              <a:t>m</a:t>
            </a:r>
            <a:r>
              <a:rPr sz="2400" spc="-540" baseline="-20833" dirty="0">
                <a:latin typeface="Arial Narrow"/>
                <a:cs typeface="Arial Narrow"/>
              </a:rPr>
              <a:t>o</a:t>
            </a:r>
            <a:r>
              <a:rPr sz="1600" spc="-360" dirty="0">
                <a:latin typeface="Arial Narrow"/>
                <a:cs typeface="Arial Narrow"/>
              </a:rPr>
              <a:t>..i</a:t>
            </a:r>
            <a:r>
              <a:rPr sz="2400" spc="-540" baseline="-20833" dirty="0">
                <a:latin typeface="Arial Narrow"/>
                <a:cs typeface="Arial Narrow"/>
              </a:rPr>
              <a:t>n.</a:t>
            </a:r>
            <a:r>
              <a:rPr sz="1600" spc="-360" dirty="0">
                <a:latin typeface="Arial Narrow"/>
                <a:cs typeface="Arial Narrow"/>
              </a:rPr>
              <a:t>.t</a:t>
            </a:r>
            <a:r>
              <a:rPr sz="2400" spc="-540" baseline="-20833" dirty="0">
                <a:latin typeface="Arial Narrow"/>
                <a:cs typeface="Arial Narrow"/>
              </a:rPr>
              <a:t>.</a:t>
            </a:r>
            <a:r>
              <a:rPr sz="1600" spc="-360" dirty="0">
                <a:latin typeface="Arial Narrow"/>
                <a:cs typeface="Arial Narrow"/>
              </a:rPr>
              <a:t>h</a:t>
            </a:r>
            <a:r>
              <a:rPr sz="2400" spc="-540" baseline="-20833" dirty="0">
                <a:latin typeface="Arial Narrow"/>
                <a:cs typeface="Arial Narrow"/>
              </a:rPr>
              <a:t>e.</a:t>
            </a:r>
            <a:r>
              <a:rPr sz="1600" spc="-360" dirty="0">
                <a:latin typeface="Arial Narrow"/>
                <a:cs typeface="Arial Narrow"/>
              </a:rPr>
              <a:t>.</a:t>
            </a:r>
            <a:r>
              <a:rPr sz="2400" spc="-540" baseline="-20833" dirty="0">
                <a:latin typeface="Arial Narrow"/>
                <a:cs typeface="Arial Narrow"/>
              </a:rPr>
              <a:t>s</a:t>
            </a:r>
            <a:r>
              <a:rPr sz="1600" spc="-360" dirty="0">
                <a:latin typeface="Arial Narrow"/>
                <a:cs typeface="Arial Narrow"/>
              </a:rPr>
              <a:t>.</a:t>
            </a:r>
            <a:r>
              <a:rPr sz="2400" spc="-540" baseline="-20833" dirty="0">
                <a:latin typeface="Arial Narrow"/>
                <a:cs typeface="Arial Narrow"/>
              </a:rPr>
              <a:t>.</a:t>
            </a:r>
            <a:r>
              <a:rPr sz="1600" spc="-360" dirty="0">
                <a:latin typeface="Arial Narrow"/>
                <a:cs typeface="Arial Narrow"/>
              </a:rPr>
              <a:t>.</a:t>
            </a:r>
            <a:r>
              <a:rPr sz="2400" spc="-540" baseline="-20833" dirty="0">
                <a:latin typeface="Arial Narrow"/>
                <a:cs typeface="Arial Narrow"/>
              </a:rPr>
              <a:t>..</a:t>
            </a: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292" name="object 292"/>
          <p:cNvSpPr/>
          <p:nvPr/>
        </p:nvSpPr>
        <p:spPr>
          <a:xfrm>
            <a:off x="2586037" y="4567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51663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51663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1663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5166359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5166359" y="5999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54663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4663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54663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54663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466397" y="5999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61521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61521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6152197" y="5542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61521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152197" y="5999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5176837" y="5100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5090159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5090159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5090159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5090159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5090159" y="5923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53901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53901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53901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53901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5390197" y="5923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 txBox="1"/>
          <p:nvPr/>
        </p:nvSpPr>
        <p:spPr>
          <a:xfrm>
            <a:off x="5117782" y="5916295"/>
            <a:ext cx="6375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 </a:t>
            </a: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320" name="object 320"/>
          <p:cNvSpPr/>
          <p:nvPr/>
        </p:nvSpPr>
        <p:spPr>
          <a:xfrm>
            <a:off x="60759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60759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6075997" y="5466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60759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6075997" y="5923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 txBox="1"/>
          <p:nvPr/>
        </p:nvSpPr>
        <p:spPr>
          <a:xfrm>
            <a:off x="6102350" y="5916295"/>
            <a:ext cx="2914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326" name="object 326"/>
          <p:cNvSpPr/>
          <p:nvPr/>
        </p:nvSpPr>
        <p:spPr>
          <a:xfrm>
            <a:off x="5100637" y="5024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5013959" y="4932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5013959" y="5161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5013959" y="5390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5013959" y="5618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5013959" y="5847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53139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53139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53139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53139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5313997" y="5847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59997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59997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5999797" y="5390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59997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5999797" y="5847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5024437" y="4948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4937759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49377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49377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49377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4937759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52377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52377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52377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52377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52377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59235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59235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59235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59235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59235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 txBox="1"/>
          <p:nvPr/>
        </p:nvSpPr>
        <p:spPr>
          <a:xfrm>
            <a:off x="4965382" y="5763895"/>
            <a:ext cx="14287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1600" spc="-165" dirty="0">
                <a:latin typeface="Arial Narrow"/>
                <a:cs typeface="Arial Narrow"/>
              </a:rPr>
              <a:t>…</a:t>
            </a:r>
            <a:r>
              <a:rPr sz="2400" spc="-247" baseline="-20833" dirty="0">
                <a:latin typeface="Arial Narrow"/>
                <a:cs typeface="Arial Narrow"/>
              </a:rPr>
              <a:t>…</a:t>
            </a:r>
            <a:r>
              <a:rPr sz="1600" spc="-165" dirty="0">
                <a:latin typeface="Arial Narrow"/>
                <a:cs typeface="Arial Narrow"/>
              </a:rPr>
              <a:t>…..</a:t>
            </a:r>
            <a:r>
              <a:rPr sz="2400" spc="-247" baseline="-20833" dirty="0">
                <a:latin typeface="Arial Narrow"/>
                <a:cs typeface="Arial Narrow"/>
              </a:rPr>
              <a:t>.</a:t>
            </a:r>
            <a:r>
              <a:rPr sz="1600" spc="-165" dirty="0">
                <a:latin typeface="Arial Narrow"/>
                <a:cs typeface="Arial Narrow"/>
              </a:rPr>
              <a:t>.</a:t>
            </a:r>
            <a:r>
              <a:rPr sz="2400" spc="-247" baseline="-20833" dirty="0">
                <a:latin typeface="Arial Narrow"/>
                <a:cs typeface="Arial Narrow"/>
              </a:rPr>
              <a:t>..</a:t>
            </a:r>
            <a:r>
              <a:rPr sz="1600" spc="-165" dirty="0">
                <a:latin typeface="Arial Narrow"/>
                <a:cs typeface="Arial Narrow"/>
              </a:rPr>
              <a:t>…	</a:t>
            </a:r>
            <a:r>
              <a:rPr sz="1600" spc="-45" dirty="0">
                <a:latin typeface="Arial Narrow"/>
                <a:cs typeface="Arial Narrow"/>
              </a:rPr>
              <a:t>..</a:t>
            </a:r>
            <a:r>
              <a:rPr sz="2400" spc="-67" baseline="-20833" dirty="0">
                <a:latin typeface="Arial Narrow"/>
                <a:cs typeface="Arial Narrow"/>
              </a:rPr>
              <a:t>.</a:t>
            </a:r>
            <a:r>
              <a:rPr sz="1600" spc="-45" dirty="0">
                <a:latin typeface="Arial Narrow"/>
                <a:cs typeface="Arial Narrow"/>
              </a:rPr>
              <a:t>.</a:t>
            </a:r>
            <a:r>
              <a:rPr sz="2400" spc="-67" baseline="-20833" dirty="0">
                <a:latin typeface="Arial Narrow"/>
                <a:cs typeface="Arial Narrow"/>
              </a:rPr>
              <a:t>..</a:t>
            </a:r>
            <a:r>
              <a:rPr sz="1600" spc="-45" dirty="0">
                <a:latin typeface="Arial Narrow"/>
                <a:cs typeface="Arial Narrow"/>
              </a:rPr>
              <a:t>...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59" name="object 359"/>
          <p:cNvSpPr/>
          <p:nvPr/>
        </p:nvSpPr>
        <p:spPr>
          <a:xfrm>
            <a:off x="4948237" y="48720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4861559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4861559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4861559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4861559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4861559" y="5694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51615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51615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51615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51615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51615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58473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58473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58473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58473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58473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4872037" y="47958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4785359" y="4704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4785359" y="4932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4785359" y="5161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4785359" y="5390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4785359" y="5618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5085397" y="4704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50853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50853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50853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50853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5771197" y="4704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57711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57711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5771197" y="5390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57711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 txBox="1"/>
          <p:nvPr/>
        </p:nvSpPr>
        <p:spPr>
          <a:xfrm>
            <a:off x="4812982" y="5687695"/>
            <a:ext cx="15049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…</a:t>
            </a: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0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4.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1600" spc="-280" dirty="0">
                <a:latin typeface="Arial Narrow"/>
                <a:cs typeface="Arial Narrow"/>
              </a:rPr>
              <a:t>..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M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2400" spc="-337" baseline="20833" dirty="0">
                <a:latin typeface="Arial Narrow"/>
                <a:cs typeface="Arial Narrow"/>
              </a:rPr>
              <a:t> </a:t>
            </a:r>
            <a:r>
              <a:rPr sz="1600" spc="-114" dirty="0">
                <a:latin typeface="Arial Narrow"/>
                <a:cs typeface="Arial Narrow"/>
              </a:rPr>
              <a:t>arti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n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r>
              <a:rPr sz="2400" spc="-172" baseline="20833" dirty="0">
                <a:latin typeface="Arial Narrow"/>
                <a:cs typeface="Arial Narrow"/>
              </a:rPr>
              <a:t>..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392" name="object 392"/>
          <p:cNvSpPr/>
          <p:nvPr/>
        </p:nvSpPr>
        <p:spPr>
          <a:xfrm>
            <a:off x="4795837" y="4719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4709159" y="4628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4709159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47091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47091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47091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5009197" y="4628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50091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50091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50091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50091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5694997" y="4628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56949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 txBox="1"/>
          <p:nvPr/>
        </p:nvSpPr>
        <p:spPr>
          <a:xfrm>
            <a:off x="4736782" y="4849495"/>
            <a:ext cx="15189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2</a:t>
            </a:r>
            <a:r>
              <a:rPr sz="2400" spc="-622" baseline="-20833" dirty="0">
                <a:latin typeface="Arial Narrow"/>
                <a:cs typeface="Arial Narrow"/>
              </a:rPr>
              <a:t>2</a:t>
            </a: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1W</a:t>
            </a:r>
            <a:r>
              <a:rPr sz="2400" spc="-622" baseline="-20833" dirty="0">
                <a:latin typeface="Arial Narrow"/>
                <a:cs typeface="Arial Narrow"/>
              </a:rPr>
              <a:t>1F</a:t>
            </a:r>
            <a:r>
              <a:rPr sz="1600" spc="-415" dirty="0">
                <a:latin typeface="Arial Narrow"/>
                <a:cs typeface="Arial Narrow"/>
              </a:rPr>
              <a:t>h</a:t>
            </a:r>
            <a:r>
              <a:rPr sz="2400" spc="-622" baseline="-20833" dirty="0">
                <a:latin typeface="Arial Narrow"/>
                <a:cs typeface="Arial Narrow"/>
              </a:rPr>
              <a:t>u</a:t>
            </a:r>
            <a:r>
              <a:rPr sz="1600" spc="-415" dirty="0">
                <a:latin typeface="Arial Narrow"/>
                <a:cs typeface="Arial Narrow"/>
              </a:rPr>
              <a:t>Ci</a:t>
            </a:r>
            <a:r>
              <a:rPr sz="2400" spc="-622" baseline="-20833" dirty="0">
                <a:latin typeface="Arial Narrow"/>
                <a:cs typeface="Arial Narrow"/>
              </a:rPr>
              <a:t>n</a:t>
            </a:r>
            <a:r>
              <a:rPr sz="1600" spc="-415" dirty="0">
                <a:latin typeface="Arial Narrow"/>
                <a:cs typeface="Arial Narrow"/>
              </a:rPr>
              <a:t>t</a:t>
            </a:r>
            <a:r>
              <a:rPr sz="2400" spc="-622" baseline="-20833" dirty="0">
                <a:latin typeface="Arial Narrow"/>
                <a:cs typeface="Arial Narrow"/>
              </a:rPr>
              <a:t>R</a:t>
            </a:r>
            <a:r>
              <a:rPr sz="1600" spc="-415" dirty="0">
                <a:latin typeface="Arial Narrow"/>
                <a:cs typeface="Arial Narrow"/>
              </a:rPr>
              <a:t>eo</a:t>
            </a:r>
            <a:r>
              <a:rPr sz="2400" spc="-622" baseline="-20833" dirty="0">
                <a:latin typeface="Arial Narrow"/>
                <a:cs typeface="Arial Narrow"/>
              </a:rPr>
              <a:t>ku</a:t>
            </a:r>
            <a:r>
              <a:rPr sz="1600" spc="-415" dirty="0">
                <a:latin typeface="Arial Narrow"/>
                <a:cs typeface="Arial Narrow"/>
              </a:rPr>
              <a:t>n</a:t>
            </a:r>
            <a:r>
              <a:rPr sz="2400" spc="-622" baseline="-20833" dirty="0">
                <a:latin typeface="Arial Narrow"/>
                <a:cs typeface="Arial Narrow"/>
              </a:rPr>
              <a:t>dd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406" name="object 406"/>
          <p:cNvSpPr/>
          <p:nvPr/>
        </p:nvSpPr>
        <p:spPr>
          <a:xfrm>
            <a:off x="56949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5694997" y="5313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 txBox="1"/>
          <p:nvPr/>
        </p:nvSpPr>
        <p:spPr>
          <a:xfrm>
            <a:off x="4736782" y="53066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04</a:t>
            </a:r>
            <a:r>
              <a:rPr sz="1600" spc="-350" dirty="0">
                <a:latin typeface="Arial Narrow"/>
                <a:cs typeface="Arial Narrow"/>
              </a:rPr>
              <a:t>0</a:t>
            </a:r>
            <a:r>
              <a:rPr sz="2400" spc="-525" baseline="-20833" dirty="0">
                <a:latin typeface="Arial Narrow"/>
                <a:cs typeface="Arial Narrow"/>
              </a:rPr>
              <a:t>0</a:t>
            </a:r>
            <a:r>
              <a:rPr sz="1600" spc="-350" dirty="0">
                <a:latin typeface="Arial Narrow"/>
                <a:cs typeface="Arial Narrow"/>
              </a:rPr>
              <a:t>3..</a:t>
            </a:r>
            <a:r>
              <a:rPr sz="2400" spc="-525" baseline="-20833" dirty="0">
                <a:latin typeface="Arial Narrow"/>
                <a:cs typeface="Arial Narrow"/>
              </a:rPr>
              <a:t>3M</a:t>
            </a:r>
            <a:r>
              <a:rPr sz="1600" spc="-350" dirty="0">
                <a:latin typeface="Arial Narrow"/>
                <a:cs typeface="Arial Narrow"/>
              </a:rPr>
              <a:t>.02</a:t>
            </a:r>
            <a:r>
              <a:rPr sz="2400" spc="-525" baseline="-20833" dirty="0">
                <a:latin typeface="Arial Narrow"/>
                <a:cs typeface="Arial Narrow"/>
              </a:rPr>
              <a:t>a</a:t>
            </a:r>
            <a:r>
              <a:rPr sz="1600" spc="-350" dirty="0">
                <a:latin typeface="Arial Narrow"/>
                <a:cs typeface="Arial Narrow"/>
              </a:rPr>
              <a:t>W</a:t>
            </a:r>
            <a:r>
              <a:rPr sz="2400" spc="-525" baseline="-20833" dirty="0">
                <a:latin typeface="Arial Narrow"/>
                <a:cs typeface="Arial Narrow"/>
              </a:rPr>
              <a:t>Brt</a:t>
            </a:r>
            <a:r>
              <a:rPr sz="1600" spc="-350" dirty="0">
                <a:latin typeface="Arial Narrow"/>
                <a:cs typeface="Arial Narrow"/>
              </a:rPr>
              <a:t>h</a:t>
            </a:r>
            <a:r>
              <a:rPr sz="2400" spc="-525" baseline="-20833" dirty="0">
                <a:latin typeface="Arial Narrow"/>
                <a:cs typeface="Arial Narrow"/>
              </a:rPr>
              <a:t>ian</a:t>
            </a:r>
            <a:r>
              <a:rPr sz="1600" spc="-350" dirty="0">
                <a:latin typeface="Arial Narrow"/>
                <a:cs typeface="Arial Narrow"/>
              </a:rPr>
              <a:t>Oi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te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ta..</a:t>
            </a:r>
            <a:r>
              <a:rPr sz="2400" spc="-525" baseline="-20833" dirty="0">
                <a:latin typeface="Arial Narrow"/>
                <a:cs typeface="Arial Narrow"/>
              </a:rPr>
              <a:t>.</a:t>
            </a:r>
            <a:r>
              <a:rPr sz="1600" spc="-350" dirty="0">
                <a:latin typeface="Arial Narrow"/>
                <a:cs typeface="Arial Narrow"/>
              </a:rPr>
              <a:t>.</a:t>
            </a:r>
            <a:r>
              <a:rPr sz="2400" spc="-525" baseline="-20833" dirty="0">
                <a:latin typeface="Arial Narrow"/>
                <a:cs typeface="Arial Narrow"/>
              </a:rPr>
              <a:t>..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…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409" name="object 409"/>
          <p:cNvSpPr/>
          <p:nvPr/>
        </p:nvSpPr>
        <p:spPr>
          <a:xfrm>
            <a:off x="56949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4719637" y="4643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71475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71475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71475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7147559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7147559" y="5999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74475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74475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74475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74475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7447597" y="5999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81333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81333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8133397" y="5542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81333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8133397" y="5999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7158037" y="5100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7071359" y="5009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7071359" y="5237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7071359" y="5466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7071359" y="5694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7071359" y="5923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73713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73713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73713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73713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7371397" y="5923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 txBox="1"/>
          <p:nvPr/>
        </p:nvSpPr>
        <p:spPr>
          <a:xfrm>
            <a:off x="7098982" y="5916295"/>
            <a:ext cx="63754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 </a:t>
            </a: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80571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80571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8057197" y="5466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80571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8057197" y="5923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 txBox="1"/>
          <p:nvPr/>
        </p:nvSpPr>
        <p:spPr>
          <a:xfrm>
            <a:off x="8083550" y="5916295"/>
            <a:ext cx="29146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latin typeface="Arial Narrow"/>
                <a:cs typeface="Arial Narrow"/>
              </a:rPr>
              <a:t>..</a:t>
            </a:r>
            <a:r>
              <a:rPr sz="2400" spc="-127" baseline="-20833" dirty="0">
                <a:latin typeface="Arial Narrow"/>
                <a:cs typeface="Arial Narrow"/>
              </a:rPr>
              <a:t>.</a:t>
            </a:r>
            <a:r>
              <a:rPr sz="1600" spc="-85" dirty="0">
                <a:latin typeface="Arial Narrow"/>
                <a:cs typeface="Arial Narrow"/>
              </a:rPr>
              <a:t>.</a:t>
            </a:r>
            <a:r>
              <a:rPr sz="2400" spc="-127" baseline="-20833" dirty="0">
                <a:latin typeface="Arial Narrow"/>
                <a:cs typeface="Arial Narrow"/>
              </a:rPr>
              <a:t>..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444" name="object 444"/>
          <p:cNvSpPr/>
          <p:nvPr/>
        </p:nvSpPr>
        <p:spPr>
          <a:xfrm>
            <a:off x="7081837" y="5024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6995159" y="4932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6995159" y="5161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6995159" y="5390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6995159" y="5618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6995159" y="5847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72951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72951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72951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72951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7295197" y="5847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79809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79809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7980997" y="5390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79809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7980997" y="5847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7005637" y="4948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6918959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69189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69189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69189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6918959" y="5771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72189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72189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72189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72189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7218997" y="5771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79047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79047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7904797" y="5313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79047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7904797" y="5771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 txBox="1"/>
          <p:nvPr/>
        </p:nvSpPr>
        <p:spPr>
          <a:xfrm>
            <a:off x="6946582" y="5763895"/>
            <a:ext cx="14287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1600" spc="-165" dirty="0">
                <a:latin typeface="Arial Narrow"/>
                <a:cs typeface="Arial Narrow"/>
              </a:rPr>
              <a:t>…</a:t>
            </a:r>
            <a:r>
              <a:rPr sz="2400" spc="-247" baseline="-20833" dirty="0">
                <a:latin typeface="Arial Narrow"/>
                <a:cs typeface="Arial Narrow"/>
              </a:rPr>
              <a:t>…</a:t>
            </a:r>
            <a:r>
              <a:rPr sz="1600" spc="-165" dirty="0">
                <a:latin typeface="Arial Narrow"/>
                <a:cs typeface="Arial Narrow"/>
              </a:rPr>
              <a:t>…..</a:t>
            </a:r>
            <a:r>
              <a:rPr sz="2400" spc="-247" baseline="-20833" dirty="0">
                <a:latin typeface="Arial Narrow"/>
                <a:cs typeface="Arial Narrow"/>
              </a:rPr>
              <a:t>.</a:t>
            </a:r>
            <a:r>
              <a:rPr sz="1600" spc="-165" dirty="0">
                <a:latin typeface="Arial Narrow"/>
                <a:cs typeface="Arial Narrow"/>
              </a:rPr>
              <a:t>.</a:t>
            </a:r>
            <a:r>
              <a:rPr sz="2400" spc="-247" baseline="-20833" dirty="0">
                <a:latin typeface="Arial Narrow"/>
                <a:cs typeface="Arial Narrow"/>
              </a:rPr>
              <a:t>..</a:t>
            </a:r>
            <a:r>
              <a:rPr sz="1600" spc="-165" dirty="0">
                <a:latin typeface="Arial Narrow"/>
                <a:cs typeface="Arial Narrow"/>
              </a:rPr>
              <a:t>…	</a:t>
            </a:r>
            <a:r>
              <a:rPr sz="1600" spc="-45" dirty="0">
                <a:latin typeface="Arial Narrow"/>
                <a:cs typeface="Arial Narrow"/>
              </a:rPr>
              <a:t>..</a:t>
            </a:r>
            <a:r>
              <a:rPr sz="2400" spc="-67" baseline="-20833" dirty="0">
                <a:latin typeface="Arial Narrow"/>
                <a:cs typeface="Arial Narrow"/>
              </a:rPr>
              <a:t>.</a:t>
            </a:r>
            <a:r>
              <a:rPr sz="1600" spc="-45" dirty="0">
                <a:latin typeface="Arial Narrow"/>
                <a:cs typeface="Arial Narrow"/>
              </a:rPr>
              <a:t>.</a:t>
            </a:r>
            <a:r>
              <a:rPr sz="2400" spc="-67" baseline="-20833" dirty="0">
                <a:latin typeface="Arial Narrow"/>
                <a:cs typeface="Arial Narrow"/>
              </a:rPr>
              <a:t>..</a:t>
            </a:r>
            <a:r>
              <a:rPr sz="1600" spc="-45" dirty="0">
                <a:latin typeface="Arial Narrow"/>
                <a:cs typeface="Arial Narrow"/>
              </a:rPr>
              <a:t>...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477" name="object 477"/>
          <p:cNvSpPr/>
          <p:nvPr/>
        </p:nvSpPr>
        <p:spPr>
          <a:xfrm>
            <a:off x="6929437" y="48720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6842759" y="4780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6842759" y="5009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6842759" y="5237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6842759" y="5466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6842759" y="5694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71427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71427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71427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71427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7142797" y="5694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78285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78285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7828597" y="5237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78285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7828597" y="5694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6853237" y="47958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6766559" y="4704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6766559" y="4932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6766559" y="5161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6766559" y="5390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6766559" y="5618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7066597" y="4704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7066597" y="4932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7066597" y="5161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7066597" y="5390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7066597" y="5618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7752397" y="4704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7752397" y="4932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7752397" y="5161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7752397" y="53901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7752397" y="5618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 txBox="1"/>
          <p:nvPr/>
        </p:nvSpPr>
        <p:spPr>
          <a:xfrm>
            <a:off x="6794182" y="5687695"/>
            <a:ext cx="15049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…</a:t>
            </a:r>
            <a:r>
              <a:rPr sz="2400" spc="-419" baseline="20833" dirty="0">
                <a:latin typeface="Arial Narrow"/>
                <a:cs typeface="Arial Narrow"/>
              </a:rPr>
              <a:t>…</a:t>
            </a:r>
            <a:r>
              <a:rPr sz="1600" spc="-280" dirty="0">
                <a:latin typeface="Arial Narrow"/>
                <a:cs typeface="Arial Narrow"/>
              </a:rPr>
              <a:t>0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4.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1600" spc="-280" dirty="0">
                <a:latin typeface="Arial Narrow"/>
                <a:cs typeface="Arial Narrow"/>
              </a:rPr>
              <a:t>..</a:t>
            </a:r>
            <a:r>
              <a:rPr sz="2400" spc="-419" baseline="20833" dirty="0">
                <a:latin typeface="Arial Narrow"/>
                <a:cs typeface="Arial Narrow"/>
              </a:rPr>
              <a:t>..</a:t>
            </a:r>
            <a:r>
              <a:rPr sz="1600" spc="-280" dirty="0">
                <a:latin typeface="Arial Narrow"/>
                <a:cs typeface="Arial Narrow"/>
              </a:rPr>
              <a:t>M</a:t>
            </a:r>
            <a:r>
              <a:rPr sz="2400" spc="-419" baseline="20833" dirty="0">
                <a:latin typeface="Arial Narrow"/>
                <a:cs typeface="Arial Narrow"/>
              </a:rPr>
              <a:t>.</a:t>
            </a:r>
            <a:r>
              <a:rPr sz="2400" spc="-337" baseline="20833" dirty="0">
                <a:latin typeface="Arial Narrow"/>
                <a:cs typeface="Arial Narrow"/>
              </a:rPr>
              <a:t> </a:t>
            </a:r>
            <a:r>
              <a:rPr sz="1600" spc="-114" dirty="0">
                <a:latin typeface="Arial Narrow"/>
                <a:cs typeface="Arial Narrow"/>
              </a:rPr>
              <a:t>arti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n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r>
              <a:rPr sz="2400" spc="-172" baseline="20833" dirty="0">
                <a:latin typeface="Arial Narrow"/>
                <a:cs typeface="Arial Narrow"/>
              </a:rPr>
              <a:t>..</a:t>
            </a:r>
            <a:r>
              <a:rPr sz="1600" spc="-114" dirty="0">
                <a:latin typeface="Arial Narrow"/>
                <a:cs typeface="Arial Narrow"/>
              </a:rPr>
              <a:t>.</a:t>
            </a:r>
            <a:r>
              <a:rPr sz="2400" spc="-172" baseline="20833" dirty="0">
                <a:latin typeface="Arial Narrow"/>
                <a:cs typeface="Arial Narrow"/>
              </a:rPr>
              <a:t>.</a:t>
            </a:r>
            <a:r>
              <a:rPr sz="1600" spc="-114" dirty="0">
                <a:latin typeface="Arial Narrow"/>
                <a:cs typeface="Arial Narrow"/>
              </a:rPr>
              <a:t>..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10" name="object 510"/>
          <p:cNvSpPr/>
          <p:nvPr/>
        </p:nvSpPr>
        <p:spPr>
          <a:xfrm>
            <a:off x="6777037" y="47196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6690359" y="4628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6690359" y="4856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6690359" y="5085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6690359" y="5313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6690359" y="5542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6990397" y="4628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6990397" y="4856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6990397" y="5085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6990397" y="5313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6990397" y="5542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7676197" y="4628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7676197" y="48567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 txBox="1"/>
          <p:nvPr/>
        </p:nvSpPr>
        <p:spPr>
          <a:xfrm>
            <a:off x="6717982" y="4849495"/>
            <a:ext cx="15189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2</a:t>
            </a:r>
            <a:r>
              <a:rPr sz="2400" spc="-622" baseline="-20833" dirty="0">
                <a:latin typeface="Arial Narrow"/>
                <a:cs typeface="Arial Narrow"/>
              </a:rPr>
              <a:t>2</a:t>
            </a:r>
            <a:r>
              <a:rPr sz="1600" spc="-415" dirty="0">
                <a:latin typeface="Arial Narrow"/>
                <a:cs typeface="Arial Narrow"/>
              </a:rPr>
              <a:t>0</a:t>
            </a:r>
            <a:r>
              <a:rPr sz="2400" spc="-622" baseline="-20833" dirty="0">
                <a:latin typeface="Arial Narrow"/>
                <a:cs typeface="Arial Narrow"/>
              </a:rPr>
              <a:t>0</a:t>
            </a:r>
            <a:r>
              <a:rPr sz="1600" spc="-415" dirty="0">
                <a:latin typeface="Arial Narrow"/>
                <a:cs typeface="Arial Narrow"/>
              </a:rPr>
              <a:t>1W</a:t>
            </a:r>
            <a:r>
              <a:rPr sz="2400" spc="-622" baseline="-20833" dirty="0">
                <a:latin typeface="Arial Narrow"/>
                <a:cs typeface="Arial Narrow"/>
              </a:rPr>
              <a:t>1F</a:t>
            </a:r>
            <a:r>
              <a:rPr sz="1600" spc="-415" dirty="0">
                <a:latin typeface="Arial Narrow"/>
                <a:cs typeface="Arial Narrow"/>
              </a:rPr>
              <a:t>h</a:t>
            </a:r>
            <a:r>
              <a:rPr sz="2400" spc="-622" baseline="-20833" dirty="0">
                <a:latin typeface="Arial Narrow"/>
                <a:cs typeface="Arial Narrow"/>
              </a:rPr>
              <a:t>u</a:t>
            </a:r>
            <a:r>
              <a:rPr sz="1600" spc="-415" dirty="0">
                <a:latin typeface="Arial Narrow"/>
                <a:cs typeface="Arial Narrow"/>
              </a:rPr>
              <a:t>Ci</a:t>
            </a:r>
            <a:r>
              <a:rPr sz="2400" spc="-622" baseline="-20833" dirty="0">
                <a:latin typeface="Arial Narrow"/>
                <a:cs typeface="Arial Narrow"/>
              </a:rPr>
              <a:t>n</a:t>
            </a:r>
            <a:r>
              <a:rPr sz="1600" spc="-415" dirty="0">
                <a:latin typeface="Arial Narrow"/>
                <a:cs typeface="Arial Narrow"/>
              </a:rPr>
              <a:t>t</a:t>
            </a:r>
            <a:r>
              <a:rPr sz="2400" spc="-622" baseline="-20833" dirty="0">
                <a:latin typeface="Arial Narrow"/>
                <a:cs typeface="Arial Narrow"/>
              </a:rPr>
              <a:t>R</a:t>
            </a:r>
            <a:r>
              <a:rPr sz="1600" spc="-415" dirty="0">
                <a:latin typeface="Arial Narrow"/>
                <a:cs typeface="Arial Narrow"/>
              </a:rPr>
              <a:t>eo</a:t>
            </a:r>
            <a:r>
              <a:rPr sz="2400" spc="-622" baseline="-20833" dirty="0">
                <a:latin typeface="Arial Narrow"/>
                <a:cs typeface="Arial Narrow"/>
              </a:rPr>
              <a:t>ku</a:t>
            </a:r>
            <a:r>
              <a:rPr sz="1600" spc="-415" dirty="0">
                <a:latin typeface="Arial Narrow"/>
                <a:cs typeface="Arial Narrow"/>
              </a:rPr>
              <a:t>n</a:t>
            </a:r>
            <a:r>
              <a:rPr sz="2400" spc="-622" baseline="-20833" dirty="0">
                <a:latin typeface="Arial Narrow"/>
                <a:cs typeface="Arial Narrow"/>
              </a:rPr>
              <a:t>dd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r>
              <a:rPr sz="1600" spc="-415" dirty="0">
                <a:latin typeface="Arial Narrow"/>
                <a:cs typeface="Arial Narrow"/>
              </a:rPr>
              <a:t>…</a:t>
            </a:r>
            <a:r>
              <a:rPr sz="2400" spc="-622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524" name="object 524"/>
          <p:cNvSpPr/>
          <p:nvPr/>
        </p:nvSpPr>
        <p:spPr>
          <a:xfrm>
            <a:off x="7676197" y="50853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7676197" y="53139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 txBox="1"/>
          <p:nvPr/>
        </p:nvSpPr>
        <p:spPr>
          <a:xfrm>
            <a:off x="6717982" y="53066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04</a:t>
            </a:r>
            <a:r>
              <a:rPr sz="1600" spc="-350" dirty="0">
                <a:latin typeface="Arial Narrow"/>
                <a:cs typeface="Arial Narrow"/>
              </a:rPr>
              <a:t>0</a:t>
            </a:r>
            <a:r>
              <a:rPr sz="2400" spc="-525" baseline="-20833" dirty="0">
                <a:latin typeface="Arial Narrow"/>
                <a:cs typeface="Arial Narrow"/>
              </a:rPr>
              <a:t>0</a:t>
            </a:r>
            <a:r>
              <a:rPr sz="1600" spc="-350" dirty="0">
                <a:latin typeface="Arial Narrow"/>
                <a:cs typeface="Arial Narrow"/>
              </a:rPr>
              <a:t>3..</a:t>
            </a:r>
            <a:r>
              <a:rPr sz="2400" spc="-525" baseline="-20833" dirty="0">
                <a:latin typeface="Arial Narrow"/>
                <a:cs typeface="Arial Narrow"/>
              </a:rPr>
              <a:t>3M</a:t>
            </a:r>
            <a:r>
              <a:rPr sz="1600" spc="-350" dirty="0">
                <a:latin typeface="Arial Narrow"/>
                <a:cs typeface="Arial Narrow"/>
              </a:rPr>
              <a:t>.02</a:t>
            </a:r>
            <a:r>
              <a:rPr sz="2400" spc="-525" baseline="-20833" dirty="0">
                <a:latin typeface="Arial Narrow"/>
                <a:cs typeface="Arial Narrow"/>
              </a:rPr>
              <a:t>a</a:t>
            </a:r>
            <a:r>
              <a:rPr sz="1600" spc="-350" dirty="0">
                <a:latin typeface="Arial Narrow"/>
                <a:cs typeface="Arial Narrow"/>
              </a:rPr>
              <a:t>W</a:t>
            </a:r>
            <a:r>
              <a:rPr sz="2400" spc="-525" baseline="-20833" dirty="0">
                <a:latin typeface="Arial Narrow"/>
                <a:cs typeface="Arial Narrow"/>
              </a:rPr>
              <a:t>Brt</a:t>
            </a:r>
            <a:r>
              <a:rPr sz="1600" spc="-350" dirty="0">
                <a:latin typeface="Arial Narrow"/>
                <a:cs typeface="Arial Narrow"/>
              </a:rPr>
              <a:t>h</a:t>
            </a:r>
            <a:r>
              <a:rPr sz="2400" spc="-525" baseline="-20833" dirty="0">
                <a:latin typeface="Arial Narrow"/>
                <a:cs typeface="Arial Narrow"/>
              </a:rPr>
              <a:t>ian</a:t>
            </a:r>
            <a:r>
              <a:rPr sz="1600" spc="-350" dirty="0">
                <a:latin typeface="Arial Narrow"/>
                <a:cs typeface="Arial Narrow"/>
              </a:rPr>
              <a:t>Oi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te</a:t>
            </a:r>
            <a:r>
              <a:rPr sz="2400" spc="-525" baseline="-20833" dirty="0">
                <a:latin typeface="Arial Narrow"/>
                <a:cs typeface="Arial Narrow"/>
              </a:rPr>
              <a:t>r</a:t>
            </a:r>
            <a:r>
              <a:rPr sz="1600" spc="-350" dirty="0">
                <a:latin typeface="Arial Narrow"/>
                <a:cs typeface="Arial Narrow"/>
              </a:rPr>
              <a:t>ta..</a:t>
            </a:r>
            <a:r>
              <a:rPr sz="2400" spc="-525" baseline="-20833" dirty="0">
                <a:latin typeface="Arial Narrow"/>
                <a:cs typeface="Arial Narrow"/>
              </a:rPr>
              <a:t>.</a:t>
            </a:r>
            <a:r>
              <a:rPr sz="1600" spc="-350" dirty="0">
                <a:latin typeface="Arial Narrow"/>
                <a:cs typeface="Arial Narrow"/>
              </a:rPr>
              <a:t>.</a:t>
            </a:r>
            <a:r>
              <a:rPr sz="2400" spc="-525" baseline="-20833" dirty="0">
                <a:latin typeface="Arial Narrow"/>
                <a:cs typeface="Arial Narrow"/>
              </a:rPr>
              <a:t>..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r>
              <a:rPr sz="2400" spc="-525" baseline="-20833" dirty="0">
                <a:latin typeface="Arial Narrow"/>
                <a:cs typeface="Arial Narrow"/>
              </a:rPr>
              <a:t>…</a:t>
            </a:r>
            <a:r>
              <a:rPr sz="1600" spc="-35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27" name="object 527"/>
          <p:cNvSpPr/>
          <p:nvPr/>
        </p:nvSpPr>
        <p:spPr>
          <a:xfrm>
            <a:off x="7676197" y="55425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6700837" y="46434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6614159" y="45519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6614159" y="47805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6614159" y="50091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6614159" y="52377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6614159" y="5466397"/>
            <a:ext cx="352742" cy="284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6914197" y="4551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69141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69141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69141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69141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7599997" y="4551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 txBox="1"/>
          <p:nvPr/>
        </p:nvSpPr>
        <p:spPr>
          <a:xfrm>
            <a:off x="6641782" y="4544695"/>
            <a:ext cx="1290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09015" algn="l"/>
              </a:tabLst>
            </a:pPr>
            <a:r>
              <a:rPr sz="1600" spc="-220" dirty="0">
                <a:latin typeface="Arial Narrow"/>
                <a:cs typeface="Arial Narrow"/>
              </a:rPr>
              <a:t>0</a:t>
            </a:r>
            <a:r>
              <a:rPr sz="2400" spc="-330" baseline="-20833" dirty="0">
                <a:latin typeface="Arial Narrow"/>
                <a:cs typeface="Arial Narrow"/>
              </a:rPr>
              <a:t>0</a:t>
            </a:r>
            <a:r>
              <a:rPr sz="1600" spc="-220" dirty="0">
                <a:latin typeface="Arial Narrow"/>
                <a:cs typeface="Arial Narrow"/>
              </a:rPr>
              <a:t>1</a:t>
            </a:r>
            <a:r>
              <a:rPr sz="2400" spc="-330" baseline="-20833" dirty="0">
                <a:latin typeface="Arial Narrow"/>
                <a:cs typeface="Arial Narrow"/>
              </a:rPr>
              <a:t>1   </a:t>
            </a:r>
            <a:r>
              <a:rPr sz="2400" spc="-202" baseline="-20833" dirty="0">
                <a:latin typeface="Arial Narrow"/>
                <a:cs typeface="Arial Narrow"/>
              </a:rPr>
              <a:t> </a:t>
            </a:r>
            <a:r>
              <a:rPr sz="1600" spc="-260" dirty="0">
                <a:latin typeface="Arial Narrow"/>
                <a:cs typeface="Arial Narrow"/>
              </a:rPr>
              <a:t>G</a:t>
            </a:r>
            <a:r>
              <a:rPr sz="2400" spc="-390" baseline="-20833" dirty="0">
                <a:latin typeface="Arial Narrow"/>
                <a:cs typeface="Arial Narrow"/>
              </a:rPr>
              <a:t>R</a:t>
            </a:r>
            <a:r>
              <a:rPr sz="1600" spc="-260" dirty="0">
                <a:latin typeface="Arial Narrow"/>
                <a:cs typeface="Arial Narrow"/>
              </a:rPr>
              <a:t>ra</a:t>
            </a:r>
            <a:r>
              <a:rPr sz="2400" spc="-390" baseline="-20833" dirty="0">
                <a:latin typeface="Arial Narrow"/>
                <a:cs typeface="Arial Narrow"/>
              </a:rPr>
              <a:t>u</a:t>
            </a:r>
            <a:r>
              <a:rPr sz="1600" spc="-260" dirty="0">
                <a:latin typeface="Arial Narrow"/>
                <a:cs typeface="Arial Narrow"/>
              </a:rPr>
              <a:t>f</a:t>
            </a:r>
            <a:r>
              <a:rPr sz="2400" spc="-390" baseline="-20833" dirty="0">
                <a:latin typeface="Arial Narrow"/>
                <a:cs typeface="Arial Narrow"/>
              </a:rPr>
              <a:t>d</a:t>
            </a:r>
            <a:r>
              <a:rPr sz="1600" spc="-260" dirty="0">
                <a:latin typeface="Arial Narrow"/>
                <a:cs typeface="Arial Narrow"/>
              </a:rPr>
              <a:t>f</a:t>
            </a:r>
            <a:r>
              <a:rPr sz="2400" spc="-390" baseline="-20833" dirty="0">
                <a:latin typeface="Arial Narrow"/>
                <a:cs typeface="Arial Narrow"/>
              </a:rPr>
              <a:t>d	</a:t>
            </a: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541" name="object 541"/>
          <p:cNvSpPr/>
          <p:nvPr/>
        </p:nvSpPr>
        <p:spPr>
          <a:xfrm>
            <a:off x="75999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 txBox="1"/>
          <p:nvPr/>
        </p:nvSpPr>
        <p:spPr>
          <a:xfrm>
            <a:off x="6641782" y="4773295"/>
            <a:ext cx="14427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40" dirty="0">
                <a:latin typeface="Arial Narrow"/>
                <a:cs typeface="Arial Narrow"/>
              </a:rPr>
              <a:t>02</a:t>
            </a:r>
            <a:r>
              <a:rPr sz="2400" spc="-509" baseline="20833" dirty="0">
                <a:latin typeface="Arial Narrow"/>
                <a:cs typeface="Arial Narrow"/>
              </a:rPr>
              <a:t>0</a:t>
            </a:r>
            <a:r>
              <a:rPr sz="1600" spc="-340" dirty="0">
                <a:latin typeface="Arial Narrow"/>
                <a:cs typeface="Arial Narrow"/>
              </a:rPr>
              <a:t>0</a:t>
            </a:r>
            <a:r>
              <a:rPr sz="2400" spc="-509" baseline="20833" dirty="0">
                <a:latin typeface="Arial Narrow"/>
                <a:cs typeface="Arial Narrow"/>
              </a:rPr>
              <a:t>1</a:t>
            </a:r>
            <a:r>
              <a:rPr sz="1600" spc="-340" dirty="0">
                <a:latin typeface="Arial Narrow"/>
                <a:cs typeface="Arial Narrow"/>
              </a:rPr>
              <a:t>1Ba</a:t>
            </a:r>
            <a:r>
              <a:rPr sz="2400" spc="-509" baseline="20833" dirty="0">
                <a:latin typeface="Arial Narrow"/>
                <a:cs typeface="Arial Narrow"/>
              </a:rPr>
              <a:t>A</a:t>
            </a:r>
            <a:r>
              <a:rPr sz="1600" spc="-340" dirty="0">
                <a:latin typeface="Arial Narrow"/>
                <a:cs typeface="Arial Narrow"/>
              </a:rPr>
              <a:t>cS</a:t>
            </a:r>
            <a:r>
              <a:rPr sz="2400" spc="-509" baseline="20833" dirty="0">
                <a:latin typeface="Arial Narrow"/>
                <a:cs typeface="Arial Narrow"/>
              </a:rPr>
              <a:t>k</a:t>
            </a:r>
            <a:r>
              <a:rPr sz="1600" spc="-340" dirty="0">
                <a:latin typeface="Arial Narrow"/>
                <a:cs typeface="Arial Narrow"/>
              </a:rPr>
              <a:t>om</a:t>
            </a:r>
            <a:r>
              <a:rPr sz="2400" spc="-509" baseline="20833" dirty="0">
                <a:latin typeface="Arial Narrow"/>
                <a:cs typeface="Arial Narrow"/>
              </a:rPr>
              <a:t>h</a:t>
            </a:r>
            <a:r>
              <a:rPr sz="1600" spc="-340" dirty="0">
                <a:latin typeface="Arial Narrow"/>
                <a:cs typeface="Arial Narrow"/>
              </a:rPr>
              <a:t>n</a:t>
            </a:r>
            <a:r>
              <a:rPr sz="2400" spc="-509" baseline="20833" dirty="0">
                <a:latin typeface="Arial Narrow"/>
                <a:cs typeface="Arial Narrow"/>
              </a:rPr>
              <a:t>t</a:t>
            </a:r>
            <a:r>
              <a:rPr sz="1600" spc="-340" dirty="0">
                <a:latin typeface="Arial Narrow"/>
                <a:cs typeface="Arial Narrow"/>
              </a:rPr>
              <a:t>i</a:t>
            </a:r>
            <a:r>
              <a:rPr sz="2400" spc="-509" baseline="20833" dirty="0">
                <a:latin typeface="Arial Narrow"/>
                <a:cs typeface="Arial Narrow"/>
              </a:rPr>
              <a:t>a</a:t>
            </a:r>
            <a:r>
              <a:rPr sz="1600" spc="-340" dirty="0">
                <a:latin typeface="Arial Narrow"/>
                <a:cs typeface="Arial Narrow"/>
              </a:rPr>
              <a:t>th</a:t>
            </a:r>
            <a:r>
              <a:rPr sz="2400" spc="-509" baseline="20833" dirty="0">
                <a:latin typeface="Arial Narrow"/>
                <a:cs typeface="Arial Narrow"/>
              </a:rPr>
              <a:t>r</a:t>
            </a:r>
            <a:r>
              <a:rPr sz="1600" spc="-340" dirty="0">
                <a:latin typeface="Arial Narrow"/>
                <a:cs typeface="Arial Narrow"/>
              </a:rPr>
              <a:t>…</a:t>
            </a:r>
            <a:r>
              <a:rPr sz="2400" spc="-509" baseline="20833" dirty="0">
                <a:latin typeface="Arial Narrow"/>
                <a:cs typeface="Arial Narrow"/>
              </a:rPr>
              <a:t>…</a:t>
            </a:r>
            <a:r>
              <a:rPr sz="1600" spc="-34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43" name="object 543"/>
          <p:cNvSpPr/>
          <p:nvPr/>
        </p:nvSpPr>
        <p:spPr>
          <a:xfrm>
            <a:off x="75999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 txBox="1"/>
          <p:nvPr/>
        </p:nvSpPr>
        <p:spPr>
          <a:xfrm>
            <a:off x="6641782" y="50018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84" dirty="0">
                <a:latin typeface="Arial Narrow"/>
                <a:cs typeface="Arial Narrow"/>
              </a:rPr>
              <a:t>0</a:t>
            </a:r>
            <a:r>
              <a:rPr sz="2400" spc="-727" baseline="-20833" dirty="0">
                <a:latin typeface="Arial Narrow"/>
                <a:cs typeface="Arial Narrow"/>
              </a:rPr>
              <a:t>0</a:t>
            </a:r>
            <a:r>
              <a:rPr sz="1600" spc="-484" dirty="0">
                <a:latin typeface="Arial Narrow"/>
                <a:cs typeface="Arial Narrow"/>
              </a:rPr>
              <a:t>3</a:t>
            </a:r>
            <a:r>
              <a:rPr sz="2400" spc="-727" baseline="-20833" dirty="0">
                <a:latin typeface="Arial Narrow"/>
                <a:cs typeface="Arial Narrow"/>
              </a:rPr>
              <a:t>3</a:t>
            </a:r>
            <a:r>
              <a:rPr sz="1600" spc="-484" dirty="0">
                <a:latin typeface="Arial Narrow"/>
                <a:cs typeface="Arial Narrow"/>
              </a:rPr>
              <a:t>0</a:t>
            </a:r>
            <a:r>
              <a:rPr sz="2400" spc="-727" baseline="-20833" dirty="0">
                <a:latin typeface="Arial Narrow"/>
                <a:cs typeface="Arial Narrow"/>
              </a:rPr>
              <a:t>0</a:t>
            </a:r>
            <a:r>
              <a:rPr sz="1600" spc="-484" dirty="0">
                <a:latin typeface="Arial Narrow"/>
                <a:cs typeface="Arial Narrow"/>
              </a:rPr>
              <a:t>2K</a:t>
            </a:r>
            <a:r>
              <a:rPr sz="2400" spc="-727" baseline="-20833" dirty="0">
                <a:latin typeface="Arial Narrow"/>
                <a:cs typeface="Arial Narrow"/>
              </a:rPr>
              <a:t>2B</a:t>
            </a:r>
            <a:r>
              <a:rPr sz="1600" spc="-484" dirty="0">
                <a:latin typeface="Arial Narrow"/>
                <a:cs typeface="Arial Narrow"/>
              </a:rPr>
              <a:t>o0</a:t>
            </a:r>
            <a:r>
              <a:rPr sz="2400" spc="-727" baseline="-20833" dirty="0">
                <a:latin typeface="Arial Narrow"/>
                <a:cs typeface="Arial Narrow"/>
              </a:rPr>
              <a:t>a0</a:t>
            </a:r>
            <a:r>
              <a:rPr sz="1600" spc="-484" dirty="0">
                <a:latin typeface="Arial Narrow"/>
                <a:cs typeface="Arial Narrow"/>
              </a:rPr>
              <a:t>c1O</a:t>
            </a:r>
            <a:r>
              <a:rPr sz="2400" spc="-727" baseline="-20833" dirty="0">
                <a:latin typeface="Arial Narrow"/>
                <a:cs typeface="Arial Narrow"/>
              </a:rPr>
              <a:t>r1</a:t>
            </a:r>
            <a:r>
              <a:rPr sz="1600" spc="-484" dirty="0">
                <a:latin typeface="Arial Narrow"/>
                <a:cs typeface="Arial Narrow"/>
              </a:rPr>
              <a:t>h</a:t>
            </a:r>
            <a:r>
              <a:rPr sz="2400" spc="-727" baseline="-20833" dirty="0">
                <a:latin typeface="Arial Narrow"/>
                <a:cs typeface="Arial Narrow"/>
              </a:rPr>
              <a:t>Fr</a:t>
            </a:r>
            <a:r>
              <a:rPr sz="1600" spc="-484" dirty="0">
                <a:latin typeface="Arial Narrow"/>
                <a:cs typeface="Arial Narrow"/>
              </a:rPr>
              <a:t>ta</a:t>
            </a:r>
            <a:r>
              <a:rPr sz="2400" spc="-727" baseline="-20833" dirty="0">
                <a:latin typeface="Arial Narrow"/>
                <a:cs typeface="Arial Narrow"/>
              </a:rPr>
              <a:t>u</a:t>
            </a:r>
            <a:r>
              <a:rPr sz="1600" spc="-484" dirty="0">
                <a:latin typeface="Arial Narrow"/>
                <a:cs typeface="Arial Narrow"/>
              </a:rPr>
              <a:t>A</a:t>
            </a:r>
            <a:r>
              <a:rPr sz="2400" spc="-727" baseline="-20833" dirty="0">
                <a:latin typeface="Arial Narrow"/>
                <a:cs typeface="Arial Narrow"/>
              </a:rPr>
              <a:t>nS</a:t>
            </a:r>
            <a:r>
              <a:rPr sz="1600" spc="-484" dirty="0">
                <a:latin typeface="Arial Narrow"/>
                <a:cs typeface="Arial Narrow"/>
              </a:rPr>
              <a:t>k</a:t>
            </a:r>
            <a:r>
              <a:rPr sz="2400" spc="-727" baseline="-20833" dirty="0">
                <a:latin typeface="Arial Narrow"/>
                <a:cs typeface="Arial Narrow"/>
              </a:rPr>
              <a:t>k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m</a:t>
            </a:r>
            <a:r>
              <a:rPr sz="1600" spc="-484" dirty="0">
                <a:latin typeface="Arial Narrow"/>
                <a:cs typeface="Arial Narrow"/>
              </a:rPr>
              <a:t>h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r>
              <a:rPr sz="1600" spc="-484" dirty="0">
                <a:latin typeface="Arial Narrow"/>
                <a:cs typeface="Arial Narrow"/>
              </a:rPr>
              <a:t>t</a:t>
            </a:r>
            <a:r>
              <a:rPr sz="2400" spc="-727" baseline="-20833" dirty="0">
                <a:latin typeface="Arial Narrow"/>
                <a:cs typeface="Arial Narrow"/>
              </a:rPr>
              <a:t>i</a:t>
            </a:r>
            <a:r>
              <a:rPr sz="1600" spc="-484" dirty="0">
                <a:latin typeface="Arial Narrow"/>
                <a:cs typeface="Arial Narrow"/>
              </a:rPr>
              <a:t>a</a:t>
            </a:r>
            <a:r>
              <a:rPr sz="2400" spc="-727" baseline="-20833" dirty="0">
                <a:latin typeface="Arial Narrow"/>
                <a:cs typeface="Arial Narrow"/>
              </a:rPr>
              <a:t>t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h</a:t>
            </a:r>
            <a:r>
              <a:rPr sz="1600" spc="-484" dirty="0">
                <a:latin typeface="Arial Narrow"/>
                <a:cs typeface="Arial Narrow"/>
              </a:rPr>
              <a:t>r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545" name="object 545"/>
          <p:cNvSpPr/>
          <p:nvPr/>
        </p:nvSpPr>
        <p:spPr>
          <a:xfrm>
            <a:off x="7599997" y="5237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 txBox="1"/>
          <p:nvPr/>
        </p:nvSpPr>
        <p:spPr>
          <a:xfrm>
            <a:off x="6641782" y="52304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05" dirty="0">
                <a:latin typeface="Arial Narrow"/>
                <a:cs typeface="Arial Narrow"/>
              </a:rPr>
              <a:t>…</a:t>
            </a:r>
            <a:r>
              <a:rPr sz="2400" spc="-607" baseline="20833" dirty="0">
                <a:latin typeface="Arial Narrow"/>
                <a:cs typeface="Arial Narrow"/>
              </a:rPr>
              <a:t>0</a:t>
            </a:r>
            <a:r>
              <a:rPr sz="1600" spc="-405" dirty="0">
                <a:latin typeface="Arial Narrow"/>
                <a:cs typeface="Arial Narrow"/>
              </a:rPr>
              <a:t>0</a:t>
            </a:r>
            <a:r>
              <a:rPr sz="2400" spc="-607" baseline="20833" dirty="0">
                <a:latin typeface="Arial Narrow"/>
                <a:cs typeface="Arial Narrow"/>
              </a:rPr>
              <a:t>3</a:t>
            </a:r>
            <a:r>
              <a:rPr sz="1600" spc="-405" dirty="0">
                <a:latin typeface="Arial Narrow"/>
                <a:cs typeface="Arial Narrow"/>
              </a:rPr>
              <a:t>3.</a:t>
            </a:r>
            <a:r>
              <a:rPr sz="2400" spc="-607" baseline="20833" dirty="0">
                <a:latin typeface="Arial Narrow"/>
                <a:cs typeface="Arial Narrow"/>
              </a:rPr>
              <a:t>0</a:t>
            </a:r>
            <a:r>
              <a:rPr sz="1600" spc="-405" dirty="0">
                <a:latin typeface="Arial Narrow"/>
                <a:cs typeface="Arial Narrow"/>
              </a:rPr>
              <a:t>..0</a:t>
            </a:r>
            <a:r>
              <a:rPr sz="2400" spc="-607" baseline="20833" dirty="0">
                <a:latin typeface="Arial Narrow"/>
                <a:cs typeface="Arial Narrow"/>
              </a:rPr>
              <a:t>2S</a:t>
            </a:r>
            <a:r>
              <a:rPr sz="1600" spc="-405" dirty="0">
                <a:latin typeface="Arial Narrow"/>
                <a:cs typeface="Arial Narrow"/>
              </a:rPr>
              <a:t>2J</a:t>
            </a:r>
            <a:r>
              <a:rPr sz="2400" spc="-607" baseline="20833" dirty="0">
                <a:latin typeface="Arial Narrow"/>
                <a:cs typeface="Arial Narrow"/>
              </a:rPr>
              <a:t>m</a:t>
            </a:r>
            <a:r>
              <a:rPr sz="1600" spc="-405" dirty="0">
                <a:latin typeface="Arial Narrow"/>
                <a:cs typeface="Arial Narrow"/>
              </a:rPr>
              <a:t>o</a:t>
            </a:r>
            <a:r>
              <a:rPr sz="2400" spc="-607" baseline="20833" dirty="0">
                <a:latin typeface="Arial Narrow"/>
                <a:cs typeface="Arial Narrow"/>
              </a:rPr>
              <a:t>Wi</a:t>
            </a:r>
            <a:r>
              <a:rPr sz="1600" spc="-405" dirty="0">
                <a:latin typeface="Arial Narrow"/>
                <a:cs typeface="Arial Narrow"/>
              </a:rPr>
              <a:t>n</a:t>
            </a:r>
            <a:r>
              <a:rPr sz="2400" spc="-607" baseline="20833" dirty="0">
                <a:latin typeface="Arial Narrow"/>
                <a:cs typeface="Arial Narrow"/>
              </a:rPr>
              <a:t>t</a:t>
            </a:r>
            <a:r>
              <a:rPr sz="1600" spc="-405" dirty="0">
                <a:latin typeface="Arial Narrow"/>
                <a:cs typeface="Arial Narrow"/>
              </a:rPr>
              <a:t>F</a:t>
            </a:r>
            <a:r>
              <a:rPr sz="2400" spc="-607" baseline="20833" dirty="0">
                <a:latin typeface="Arial Narrow"/>
                <a:cs typeface="Arial Narrow"/>
              </a:rPr>
              <a:t>h</a:t>
            </a:r>
            <a:r>
              <a:rPr sz="1600" spc="-405" dirty="0">
                <a:latin typeface="Arial Narrow"/>
                <a:cs typeface="Arial Narrow"/>
              </a:rPr>
              <a:t>e</a:t>
            </a:r>
            <a:r>
              <a:rPr sz="2400" spc="-607" baseline="20833" dirty="0">
                <a:latin typeface="Arial Narrow"/>
                <a:cs typeface="Arial Narrow"/>
              </a:rPr>
              <a:t>h</a:t>
            </a:r>
            <a:r>
              <a:rPr sz="1600" spc="-405" dirty="0">
                <a:latin typeface="Arial Narrow"/>
                <a:cs typeface="Arial Narrow"/>
              </a:rPr>
              <a:t>us</a:t>
            </a:r>
            <a:r>
              <a:rPr sz="2400" spc="-607" baseline="20833" dirty="0">
                <a:latin typeface="Arial Narrow"/>
                <a:cs typeface="Arial Narrow"/>
              </a:rPr>
              <a:t>i</a:t>
            </a:r>
            <a:r>
              <a:rPr sz="1600" spc="-405" dirty="0">
                <a:latin typeface="Arial Narrow"/>
                <a:cs typeface="Arial Narrow"/>
              </a:rPr>
              <a:t>.n</a:t>
            </a:r>
            <a:r>
              <a:rPr sz="2400" spc="-607" baseline="20833" dirty="0">
                <a:latin typeface="Arial Narrow"/>
                <a:cs typeface="Arial Narrow"/>
              </a:rPr>
              <a:t>t</a:t>
            </a:r>
            <a:r>
              <a:rPr sz="1600" spc="-405" dirty="0">
                <a:latin typeface="Arial Narrow"/>
                <a:cs typeface="Arial Narrow"/>
              </a:rPr>
              <a:t>.</a:t>
            </a:r>
            <a:r>
              <a:rPr sz="2400" spc="-607" baseline="20833" dirty="0">
                <a:latin typeface="Arial Narrow"/>
                <a:cs typeface="Arial Narrow"/>
              </a:rPr>
              <a:t>e</a:t>
            </a:r>
            <a:r>
              <a:rPr sz="1600" spc="-405" dirty="0">
                <a:latin typeface="Arial Narrow"/>
                <a:cs typeface="Arial Narrow"/>
              </a:rPr>
              <a:t>.k</a:t>
            </a:r>
            <a:r>
              <a:rPr sz="2400" spc="-607" baseline="20833" dirty="0">
                <a:latin typeface="Arial Narrow"/>
                <a:cs typeface="Arial Narrow"/>
              </a:rPr>
              <a:t>…</a:t>
            </a:r>
            <a:r>
              <a:rPr sz="1600" spc="-405" dirty="0">
                <a:latin typeface="Arial Narrow"/>
                <a:cs typeface="Arial Narrow"/>
              </a:rPr>
              <a:t>…</a:t>
            </a:r>
            <a:r>
              <a:rPr sz="2400" spc="-607" baseline="20833" dirty="0">
                <a:latin typeface="Arial Narrow"/>
                <a:cs typeface="Arial Narrow"/>
              </a:rPr>
              <a:t>…</a:t>
            </a:r>
            <a:r>
              <a:rPr sz="1600" spc="-40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47" name="object 547"/>
          <p:cNvSpPr/>
          <p:nvPr/>
        </p:nvSpPr>
        <p:spPr>
          <a:xfrm>
            <a:off x="75999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 txBox="1"/>
          <p:nvPr/>
        </p:nvSpPr>
        <p:spPr>
          <a:xfrm>
            <a:off x="6641782" y="55352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r>
              <a:rPr sz="2400" spc="-487" baseline="20833" dirty="0">
                <a:latin typeface="Arial Narrow"/>
                <a:cs typeface="Arial Narrow"/>
              </a:rPr>
              <a:t>..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.0</a:t>
            </a:r>
            <a:r>
              <a:rPr sz="1600" spc="-325" dirty="0">
                <a:latin typeface="Arial Narrow"/>
                <a:cs typeface="Arial Narrow"/>
              </a:rPr>
              <a:t>..0</a:t>
            </a:r>
            <a:r>
              <a:rPr sz="2400" spc="-487" baseline="20833" dirty="0">
                <a:latin typeface="Arial Narrow"/>
                <a:cs typeface="Arial Narrow"/>
              </a:rPr>
              <a:t>3…</a:t>
            </a:r>
            <a:r>
              <a:rPr sz="1600" spc="-325" dirty="0">
                <a:latin typeface="Arial Narrow"/>
                <a:cs typeface="Arial Narrow"/>
              </a:rPr>
              <a:t>3...</a:t>
            </a:r>
            <a:r>
              <a:rPr sz="2400" spc="-487" baseline="20833" dirty="0">
                <a:latin typeface="Arial Narrow"/>
                <a:cs typeface="Arial Narrow"/>
              </a:rPr>
              <a:t>S</a:t>
            </a:r>
            <a:r>
              <a:rPr sz="1600" spc="-325" dirty="0">
                <a:latin typeface="Arial Narrow"/>
                <a:cs typeface="Arial Narrow"/>
              </a:rPr>
              <a:t>J</a:t>
            </a:r>
            <a:r>
              <a:rPr sz="2400" spc="-487" baseline="20833" dirty="0">
                <a:latin typeface="Arial Narrow"/>
                <a:cs typeface="Arial Narrow"/>
              </a:rPr>
              <a:t>m</a:t>
            </a:r>
            <a:r>
              <a:rPr sz="1600" spc="-325" dirty="0">
                <a:latin typeface="Arial Narrow"/>
                <a:cs typeface="Arial Narrow"/>
              </a:rPr>
              <a:t>o</a:t>
            </a:r>
            <a:r>
              <a:rPr sz="2400" spc="-487" baseline="20833" dirty="0">
                <a:latin typeface="Arial Narrow"/>
                <a:cs typeface="Arial Narrow"/>
              </a:rPr>
              <a:t>..i</a:t>
            </a:r>
            <a:r>
              <a:rPr sz="1600" spc="-325" dirty="0">
                <a:latin typeface="Arial Narrow"/>
                <a:cs typeface="Arial Narrow"/>
              </a:rPr>
              <a:t>n.</a:t>
            </a:r>
            <a:r>
              <a:rPr sz="2400" spc="-487" baseline="20833" dirty="0">
                <a:latin typeface="Arial Narrow"/>
                <a:cs typeface="Arial Narrow"/>
              </a:rPr>
              <a:t>.t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h</a:t>
            </a:r>
            <a:r>
              <a:rPr sz="1600" spc="-325" dirty="0">
                <a:latin typeface="Arial Narrow"/>
                <a:cs typeface="Arial Narrow"/>
              </a:rPr>
              <a:t>e.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s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..</a:t>
            </a: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49" name="object 549"/>
          <p:cNvSpPr/>
          <p:nvPr/>
        </p:nvSpPr>
        <p:spPr>
          <a:xfrm>
            <a:off x="6624637" y="4567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 txBox="1"/>
          <p:nvPr/>
        </p:nvSpPr>
        <p:spPr>
          <a:xfrm>
            <a:off x="6644640" y="4292600"/>
            <a:ext cx="8223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Extent</a:t>
            </a:r>
            <a:r>
              <a:rPr sz="1600" spc="-6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130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51" name="object 551"/>
          <p:cNvSpPr/>
          <p:nvPr/>
        </p:nvSpPr>
        <p:spPr>
          <a:xfrm>
            <a:off x="4632959" y="45519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4632959" y="47805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4632959" y="50091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4632959" y="52377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4632959" y="5466397"/>
            <a:ext cx="352742" cy="2847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4932997" y="45519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4932997" y="47805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4932997" y="50091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4932997" y="52377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4932997" y="5466397"/>
            <a:ext cx="738504" cy="2847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5618797" y="45519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 txBox="1"/>
          <p:nvPr/>
        </p:nvSpPr>
        <p:spPr>
          <a:xfrm>
            <a:off x="4660582" y="4544695"/>
            <a:ext cx="1290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220" dirty="0">
                <a:latin typeface="Arial Narrow"/>
                <a:cs typeface="Arial Narrow"/>
              </a:rPr>
              <a:t>0</a:t>
            </a:r>
            <a:r>
              <a:rPr sz="2400" spc="-330" baseline="-20833" dirty="0">
                <a:latin typeface="Arial Narrow"/>
                <a:cs typeface="Arial Narrow"/>
              </a:rPr>
              <a:t>0</a:t>
            </a:r>
            <a:r>
              <a:rPr sz="1600" spc="-220" dirty="0">
                <a:latin typeface="Arial Narrow"/>
                <a:cs typeface="Arial Narrow"/>
              </a:rPr>
              <a:t>1</a:t>
            </a:r>
            <a:r>
              <a:rPr sz="2400" spc="-330" baseline="-20833" dirty="0">
                <a:latin typeface="Arial Narrow"/>
                <a:cs typeface="Arial Narrow"/>
              </a:rPr>
              <a:t>1 </a:t>
            </a:r>
            <a:r>
              <a:rPr sz="1600" spc="-290" dirty="0">
                <a:latin typeface="Arial Narrow"/>
                <a:cs typeface="Arial Narrow"/>
              </a:rPr>
              <a:t>S</a:t>
            </a:r>
            <a:r>
              <a:rPr sz="2400" spc="-434" baseline="-20833" dirty="0">
                <a:latin typeface="Arial Narrow"/>
                <a:cs typeface="Arial Narrow"/>
              </a:rPr>
              <a:t>R</a:t>
            </a:r>
            <a:r>
              <a:rPr sz="1600" spc="-290" dirty="0">
                <a:latin typeface="Arial Narrow"/>
                <a:cs typeface="Arial Narrow"/>
              </a:rPr>
              <a:t>e</a:t>
            </a:r>
            <a:r>
              <a:rPr sz="2400" spc="-434" baseline="-20833" dirty="0">
                <a:latin typeface="Arial Narrow"/>
                <a:cs typeface="Arial Narrow"/>
              </a:rPr>
              <a:t>u</a:t>
            </a:r>
            <a:r>
              <a:rPr sz="1600" spc="-290" dirty="0">
                <a:latin typeface="Arial Narrow"/>
                <a:cs typeface="Arial Narrow"/>
              </a:rPr>
              <a:t>a</a:t>
            </a:r>
            <a:r>
              <a:rPr sz="2400" spc="-434" baseline="-20833" dirty="0">
                <a:latin typeface="Arial Narrow"/>
                <a:cs typeface="Arial Narrow"/>
              </a:rPr>
              <a:t>d</a:t>
            </a:r>
            <a:r>
              <a:rPr sz="1600" spc="-290" dirty="0">
                <a:latin typeface="Arial Narrow"/>
                <a:cs typeface="Arial Narrow"/>
              </a:rPr>
              <a:t>tt</a:t>
            </a:r>
            <a:r>
              <a:rPr sz="2400" spc="-434" baseline="-20833" dirty="0">
                <a:latin typeface="Arial Narrow"/>
                <a:cs typeface="Arial Narrow"/>
              </a:rPr>
              <a:t>d</a:t>
            </a:r>
            <a:r>
              <a:rPr sz="1600" spc="-290" dirty="0">
                <a:latin typeface="Arial Narrow"/>
                <a:cs typeface="Arial Narrow"/>
              </a:rPr>
              <a:t>le</a:t>
            </a:r>
            <a:r>
              <a:rPr sz="1600" spc="-235" dirty="0">
                <a:latin typeface="Arial Narrow"/>
                <a:cs typeface="Arial Narrow"/>
              </a:rPr>
              <a:t> </a:t>
            </a:r>
            <a:r>
              <a:rPr sz="1600" spc="-360" dirty="0">
                <a:latin typeface="Arial Narrow"/>
                <a:cs typeface="Arial Narrow"/>
              </a:rPr>
              <a:t>…</a:t>
            </a:r>
            <a:r>
              <a:rPr sz="2400" spc="-540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563" name="object 563"/>
          <p:cNvSpPr/>
          <p:nvPr/>
        </p:nvSpPr>
        <p:spPr>
          <a:xfrm>
            <a:off x="5618797" y="47805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 txBox="1"/>
          <p:nvPr/>
        </p:nvSpPr>
        <p:spPr>
          <a:xfrm>
            <a:off x="4660582" y="4773295"/>
            <a:ext cx="14427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315" dirty="0">
                <a:latin typeface="Arial Narrow"/>
                <a:cs typeface="Arial Narrow"/>
              </a:rPr>
              <a:t>02</a:t>
            </a:r>
            <a:r>
              <a:rPr sz="2400" spc="-472" baseline="20833" dirty="0">
                <a:latin typeface="Arial Narrow"/>
                <a:cs typeface="Arial Narrow"/>
              </a:rPr>
              <a:t>0</a:t>
            </a:r>
            <a:r>
              <a:rPr sz="1600" spc="-315" dirty="0">
                <a:latin typeface="Arial Narrow"/>
                <a:cs typeface="Arial Narrow"/>
              </a:rPr>
              <a:t>0</a:t>
            </a:r>
            <a:r>
              <a:rPr sz="2400" spc="-472" baseline="20833" dirty="0">
                <a:latin typeface="Arial Narrow"/>
                <a:cs typeface="Arial Narrow"/>
              </a:rPr>
              <a:t>1</a:t>
            </a:r>
            <a:r>
              <a:rPr sz="1600" spc="-315" dirty="0">
                <a:latin typeface="Arial Narrow"/>
                <a:cs typeface="Arial Narrow"/>
              </a:rPr>
              <a:t>1Pa</a:t>
            </a:r>
            <a:r>
              <a:rPr sz="2400" spc="-472" baseline="20833" dirty="0">
                <a:latin typeface="Arial Narrow"/>
                <a:cs typeface="Arial Narrow"/>
              </a:rPr>
              <a:t>A</a:t>
            </a:r>
            <a:r>
              <a:rPr sz="1600" spc="-315" dirty="0">
                <a:latin typeface="Arial Narrow"/>
                <a:cs typeface="Arial Narrow"/>
              </a:rPr>
              <a:t>rSi</a:t>
            </a:r>
            <a:r>
              <a:rPr sz="2400" spc="-472" baseline="20833" dirty="0">
                <a:latin typeface="Arial Narrow"/>
                <a:cs typeface="Arial Narrow"/>
              </a:rPr>
              <a:t>k</a:t>
            </a:r>
            <a:r>
              <a:rPr sz="1600" spc="-315" dirty="0">
                <a:latin typeface="Arial Narrow"/>
                <a:cs typeface="Arial Narrow"/>
              </a:rPr>
              <a:t>sm</a:t>
            </a:r>
            <a:r>
              <a:rPr sz="2400" spc="-472" baseline="20833" dirty="0">
                <a:latin typeface="Arial Narrow"/>
                <a:cs typeface="Arial Narrow"/>
              </a:rPr>
              <a:t>ht</a:t>
            </a:r>
            <a:r>
              <a:rPr sz="1600" spc="-315" dirty="0">
                <a:latin typeface="Arial Narrow"/>
                <a:cs typeface="Arial Narrow"/>
              </a:rPr>
              <a:t>i</a:t>
            </a:r>
            <a:r>
              <a:rPr sz="2400" spc="-472" baseline="20833" dirty="0">
                <a:latin typeface="Arial Narrow"/>
                <a:cs typeface="Arial Narrow"/>
              </a:rPr>
              <a:t>a</a:t>
            </a:r>
            <a:r>
              <a:rPr sz="1600" spc="-315" dirty="0">
                <a:latin typeface="Arial Narrow"/>
                <a:cs typeface="Arial Narrow"/>
              </a:rPr>
              <a:t>th</a:t>
            </a:r>
            <a:r>
              <a:rPr sz="2400" spc="-472" baseline="20833" dirty="0">
                <a:latin typeface="Arial Narrow"/>
                <a:cs typeface="Arial Narrow"/>
              </a:rPr>
              <a:t>r</a:t>
            </a:r>
            <a:r>
              <a:rPr sz="1600" spc="-315" dirty="0">
                <a:latin typeface="Arial Narrow"/>
                <a:cs typeface="Arial Narrow"/>
              </a:rPr>
              <a:t>…</a:t>
            </a:r>
            <a:r>
              <a:rPr sz="2400" spc="-472" baseline="20833" dirty="0">
                <a:latin typeface="Arial Narrow"/>
                <a:cs typeface="Arial Narrow"/>
              </a:rPr>
              <a:t>…</a:t>
            </a:r>
            <a:r>
              <a:rPr sz="1600" spc="-31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65" name="object 565"/>
          <p:cNvSpPr/>
          <p:nvPr/>
        </p:nvSpPr>
        <p:spPr>
          <a:xfrm>
            <a:off x="5618797" y="5009197"/>
            <a:ext cx="282257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 txBox="1"/>
          <p:nvPr/>
        </p:nvSpPr>
        <p:spPr>
          <a:xfrm>
            <a:off x="4660582" y="50018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84" dirty="0">
                <a:latin typeface="Arial Narrow"/>
                <a:cs typeface="Arial Narrow"/>
              </a:rPr>
              <a:t>0</a:t>
            </a:r>
            <a:r>
              <a:rPr sz="2400" spc="-727" baseline="-20833" dirty="0">
                <a:latin typeface="Arial Narrow"/>
                <a:cs typeface="Arial Narrow"/>
              </a:rPr>
              <a:t>0</a:t>
            </a:r>
            <a:r>
              <a:rPr sz="1600" spc="-484" dirty="0">
                <a:latin typeface="Arial Narrow"/>
                <a:cs typeface="Arial Narrow"/>
              </a:rPr>
              <a:t>3</a:t>
            </a:r>
            <a:r>
              <a:rPr sz="2400" spc="-727" baseline="-20833" dirty="0">
                <a:latin typeface="Arial Narrow"/>
                <a:cs typeface="Arial Narrow"/>
              </a:rPr>
              <a:t>3</a:t>
            </a:r>
            <a:r>
              <a:rPr sz="1600" spc="-484" dirty="0">
                <a:latin typeface="Arial Narrow"/>
                <a:cs typeface="Arial Narrow"/>
              </a:rPr>
              <a:t>0</a:t>
            </a:r>
            <a:r>
              <a:rPr sz="2400" spc="-727" baseline="-20833" dirty="0">
                <a:latin typeface="Arial Narrow"/>
                <a:cs typeface="Arial Narrow"/>
              </a:rPr>
              <a:t>0</a:t>
            </a:r>
            <a:r>
              <a:rPr sz="1600" spc="-484" dirty="0">
                <a:latin typeface="Arial Narrow"/>
                <a:cs typeface="Arial Narrow"/>
              </a:rPr>
              <a:t>2T</a:t>
            </a:r>
            <a:r>
              <a:rPr sz="2400" spc="-727" baseline="-20833" dirty="0">
                <a:latin typeface="Arial Narrow"/>
                <a:cs typeface="Arial Narrow"/>
              </a:rPr>
              <a:t>2B</a:t>
            </a:r>
            <a:r>
              <a:rPr sz="1600" spc="-484" dirty="0">
                <a:latin typeface="Arial Narrow"/>
                <a:cs typeface="Arial Narrow"/>
              </a:rPr>
              <a:t>o0k</a:t>
            </a:r>
            <a:r>
              <a:rPr sz="2400" spc="-727" baseline="-20833" dirty="0">
                <a:latin typeface="Arial Narrow"/>
                <a:cs typeface="Arial Narrow"/>
              </a:rPr>
              <a:t>a0</a:t>
            </a:r>
            <a:r>
              <a:rPr sz="1600" spc="-484" dirty="0">
                <a:latin typeface="Arial Narrow"/>
                <a:cs typeface="Arial Narrow"/>
              </a:rPr>
              <a:t>1Oy</a:t>
            </a:r>
            <a:r>
              <a:rPr sz="2400" spc="-727" baseline="-20833" dirty="0">
                <a:latin typeface="Arial Narrow"/>
                <a:cs typeface="Arial Narrow"/>
              </a:rPr>
              <a:t>r1Fr</a:t>
            </a:r>
            <a:r>
              <a:rPr sz="1600" spc="-484" dirty="0">
                <a:latin typeface="Arial Narrow"/>
                <a:cs typeface="Arial Narrow"/>
              </a:rPr>
              <a:t>ota</a:t>
            </a:r>
            <a:r>
              <a:rPr sz="2400" spc="-727" baseline="-20833" dirty="0">
                <a:latin typeface="Arial Narrow"/>
                <a:cs typeface="Arial Narrow"/>
              </a:rPr>
              <a:t>u</a:t>
            </a:r>
            <a:r>
              <a:rPr sz="1600" spc="-484" dirty="0">
                <a:latin typeface="Arial Narrow"/>
                <a:cs typeface="Arial Narrow"/>
              </a:rPr>
              <a:t>A</a:t>
            </a:r>
            <a:r>
              <a:rPr sz="2400" spc="-727" baseline="-20833" dirty="0">
                <a:latin typeface="Arial Narrow"/>
                <a:cs typeface="Arial Narrow"/>
              </a:rPr>
              <a:t>nS</a:t>
            </a:r>
            <a:r>
              <a:rPr sz="1600" spc="-484" dirty="0">
                <a:latin typeface="Arial Narrow"/>
                <a:cs typeface="Arial Narrow"/>
              </a:rPr>
              <a:t>k</a:t>
            </a:r>
            <a:r>
              <a:rPr sz="2400" spc="-727" baseline="-20833" dirty="0">
                <a:latin typeface="Arial Narrow"/>
                <a:cs typeface="Arial Narrow"/>
              </a:rPr>
              <a:t>k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m</a:t>
            </a:r>
            <a:r>
              <a:rPr sz="1600" spc="-484" dirty="0">
                <a:latin typeface="Arial Narrow"/>
                <a:cs typeface="Arial Narrow"/>
              </a:rPr>
              <a:t>h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r>
              <a:rPr sz="1600" spc="-484" dirty="0">
                <a:latin typeface="Arial Narrow"/>
                <a:cs typeface="Arial Narrow"/>
              </a:rPr>
              <a:t>t</a:t>
            </a:r>
            <a:r>
              <a:rPr sz="2400" spc="-727" baseline="-20833" dirty="0">
                <a:latin typeface="Arial Narrow"/>
                <a:cs typeface="Arial Narrow"/>
              </a:rPr>
              <a:t>i</a:t>
            </a:r>
            <a:r>
              <a:rPr sz="1600" spc="-484" dirty="0">
                <a:latin typeface="Arial Narrow"/>
                <a:cs typeface="Arial Narrow"/>
              </a:rPr>
              <a:t>a</a:t>
            </a:r>
            <a:r>
              <a:rPr sz="2400" spc="-727" baseline="-20833" dirty="0">
                <a:latin typeface="Arial Narrow"/>
                <a:cs typeface="Arial Narrow"/>
              </a:rPr>
              <a:t>t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h</a:t>
            </a:r>
            <a:r>
              <a:rPr sz="1600" spc="-484" dirty="0">
                <a:latin typeface="Arial Narrow"/>
                <a:cs typeface="Arial Narrow"/>
              </a:rPr>
              <a:t>r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r>
              <a:rPr sz="1600" spc="-484" dirty="0">
                <a:latin typeface="Arial Narrow"/>
                <a:cs typeface="Arial Narrow"/>
              </a:rPr>
              <a:t>…</a:t>
            </a:r>
            <a:r>
              <a:rPr sz="2400" spc="-727" baseline="-20833" dirty="0">
                <a:latin typeface="Arial Narrow"/>
                <a:cs typeface="Arial Narrow"/>
              </a:rPr>
              <a:t>…</a:t>
            </a:r>
            <a:endParaRPr sz="2400" baseline="-20833">
              <a:latin typeface="Arial Narrow"/>
              <a:cs typeface="Arial Narrow"/>
            </a:endParaRPr>
          </a:p>
        </p:txBody>
      </p:sp>
      <p:sp>
        <p:nvSpPr>
          <p:cNvPr id="567" name="object 567"/>
          <p:cNvSpPr/>
          <p:nvPr/>
        </p:nvSpPr>
        <p:spPr>
          <a:xfrm>
            <a:off x="5618797" y="52377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 txBox="1"/>
          <p:nvPr/>
        </p:nvSpPr>
        <p:spPr>
          <a:xfrm>
            <a:off x="4660582" y="5230495"/>
            <a:ext cx="16713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spc="-430" dirty="0">
                <a:latin typeface="Arial Narrow"/>
                <a:cs typeface="Arial Narrow"/>
              </a:rPr>
              <a:t>04</a:t>
            </a:r>
            <a:r>
              <a:rPr sz="2400" spc="-644" baseline="20833" dirty="0">
                <a:latin typeface="Arial Narrow"/>
                <a:cs typeface="Arial Narrow"/>
              </a:rPr>
              <a:t>0</a:t>
            </a:r>
            <a:r>
              <a:rPr sz="1600" spc="-430" dirty="0">
                <a:latin typeface="Arial Narrow"/>
                <a:cs typeface="Arial Narrow"/>
              </a:rPr>
              <a:t>0</a:t>
            </a:r>
            <a:r>
              <a:rPr sz="2400" spc="-644" baseline="20833" dirty="0">
                <a:latin typeface="Arial Narrow"/>
                <a:cs typeface="Arial Narrow"/>
              </a:rPr>
              <a:t>3</a:t>
            </a:r>
            <a:r>
              <a:rPr sz="1600" spc="-430" dirty="0">
                <a:latin typeface="Arial Narrow"/>
                <a:cs typeface="Arial Narrow"/>
              </a:rPr>
              <a:t>3A</a:t>
            </a:r>
            <a:r>
              <a:rPr sz="2400" spc="-644" baseline="20833" dirty="0">
                <a:latin typeface="Arial Narrow"/>
                <a:cs typeface="Arial Narrow"/>
              </a:rPr>
              <a:t>0</a:t>
            </a:r>
            <a:r>
              <a:rPr sz="1600" spc="-430" dirty="0">
                <a:latin typeface="Arial Narrow"/>
                <a:cs typeface="Arial Narrow"/>
              </a:rPr>
              <a:t>t0</a:t>
            </a:r>
            <a:r>
              <a:rPr sz="2400" spc="-644" baseline="20833" dirty="0">
                <a:latin typeface="Arial Narrow"/>
                <a:cs typeface="Arial Narrow"/>
              </a:rPr>
              <a:t>2S</a:t>
            </a:r>
            <a:r>
              <a:rPr sz="1600" spc="-430" dirty="0">
                <a:latin typeface="Arial Narrow"/>
                <a:cs typeface="Arial Narrow"/>
              </a:rPr>
              <a:t>la2J</a:t>
            </a:r>
            <a:r>
              <a:rPr sz="2400" spc="-644" baseline="20833" dirty="0">
                <a:latin typeface="Arial Narrow"/>
                <a:cs typeface="Arial Narrow"/>
              </a:rPr>
              <a:t>m</a:t>
            </a:r>
            <a:r>
              <a:rPr sz="1600" spc="-430" dirty="0">
                <a:latin typeface="Arial Narrow"/>
                <a:cs typeface="Arial Narrow"/>
              </a:rPr>
              <a:t>not</a:t>
            </a:r>
            <a:r>
              <a:rPr sz="2400" spc="-644" baseline="20833" dirty="0">
                <a:latin typeface="Arial Narrow"/>
                <a:cs typeface="Arial Narrow"/>
              </a:rPr>
              <a:t>Wi</a:t>
            </a:r>
            <a:r>
              <a:rPr sz="1600" spc="-430" dirty="0">
                <a:latin typeface="Arial Narrow"/>
                <a:cs typeface="Arial Narrow"/>
              </a:rPr>
              <a:t>na</a:t>
            </a:r>
            <a:r>
              <a:rPr sz="2400" spc="-644" baseline="20833" dirty="0">
                <a:latin typeface="Arial Narrow"/>
                <a:cs typeface="Arial Narrow"/>
              </a:rPr>
              <a:t>t</a:t>
            </a:r>
            <a:r>
              <a:rPr sz="1600" spc="-430" dirty="0">
                <a:latin typeface="Arial Narrow"/>
                <a:cs typeface="Arial Narrow"/>
              </a:rPr>
              <a:t>F</a:t>
            </a:r>
            <a:r>
              <a:rPr sz="2400" spc="-644" baseline="20833" dirty="0">
                <a:latin typeface="Arial Narrow"/>
                <a:cs typeface="Arial Narrow"/>
              </a:rPr>
              <a:t>h</a:t>
            </a:r>
            <a:r>
              <a:rPr sz="1600" spc="-430" dirty="0">
                <a:latin typeface="Arial Narrow"/>
                <a:cs typeface="Arial Narrow"/>
              </a:rPr>
              <a:t>e</a:t>
            </a:r>
            <a:r>
              <a:rPr sz="2400" spc="-644" baseline="20833" dirty="0">
                <a:latin typeface="Arial Narrow"/>
                <a:cs typeface="Arial Narrow"/>
              </a:rPr>
              <a:t>h</a:t>
            </a:r>
            <a:r>
              <a:rPr sz="1600" spc="-430" dirty="0">
                <a:latin typeface="Arial Narrow"/>
                <a:cs typeface="Arial Narrow"/>
              </a:rPr>
              <a:t>us</a:t>
            </a:r>
            <a:r>
              <a:rPr sz="2400" spc="-644" baseline="20833" dirty="0">
                <a:latin typeface="Arial Narrow"/>
                <a:cs typeface="Arial Narrow"/>
              </a:rPr>
              <a:t>i</a:t>
            </a:r>
            <a:r>
              <a:rPr sz="1600" spc="-430" dirty="0">
                <a:latin typeface="Arial Narrow"/>
                <a:cs typeface="Arial Narrow"/>
              </a:rPr>
              <a:t>.n</a:t>
            </a:r>
            <a:r>
              <a:rPr sz="2400" spc="-644" baseline="20833" dirty="0">
                <a:latin typeface="Arial Narrow"/>
                <a:cs typeface="Arial Narrow"/>
              </a:rPr>
              <a:t>t</a:t>
            </a:r>
            <a:r>
              <a:rPr sz="1600" spc="-430" dirty="0">
                <a:latin typeface="Arial Narrow"/>
                <a:cs typeface="Arial Narrow"/>
              </a:rPr>
              <a:t>.</a:t>
            </a:r>
            <a:r>
              <a:rPr sz="2400" spc="-644" baseline="20833" dirty="0">
                <a:latin typeface="Arial Narrow"/>
                <a:cs typeface="Arial Narrow"/>
              </a:rPr>
              <a:t>e</a:t>
            </a:r>
            <a:r>
              <a:rPr sz="1600" spc="-430" dirty="0">
                <a:latin typeface="Arial Narrow"/>
                <a:cs typeface="Arial Narrow"/>
              </a:rPr>
              <a:t>.k</a:t>
            </a:r>
            <a:r>
              <a:rPr sz="2400" spc="-644" baseline="20833" dirty="0">
                <a:latin typeface="Arial Narrow"/>
                <a:cs typeface="Arial Narrow"/>
              </a:rPr>
              <a:t>…</a:t>
            </a:r>
            <a:r>
              <a:rPr sz="1600" spc="-430" dirty="0">
                <a:latin typeface="Arial Narrow"/>
                <a:cs typeface="Arial Narrow"/>
              </a:rPr>
              <a:t>…</a:t>
            </a:r>
            <a:r>
              <a:rPr sz="2400" spc="-644" baseline="20833" dirty="0">
                <a:latin typeface="Arial Narrow"/>
                <a:cs typeface="Arial Narrow"/>
              </a:rPr>
              <a:t>…</a:t>
            </a:r>
            <a:r>
              <a:rPr sz="1600" spc="-430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69" name="object 569"/>
          <p:cNvSpPr/>
          <p:nvPr/>
        </p:nvSpPr>
        <p:spPr>
          <a:xfrm>
            <a:off x="5618797" y="5466397"/>
            <a:ext cx="281304" cy="2847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 txBox="1"/>
          <p:nvPr/>
        </p:nvSpPr>
        <p:spPr>
          <a:xfrm>
            <a:off x="4660582" y="5535295"/>
            <a:ext cx="174752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r>
              <a:rPr sz="2400" spc="-487" baseline="20833" dirty="0">
                <a:latin typeface="Arial Narrow"/>
                <a:cs typeface="Arial Narrow"/>
              </a:rPr>
              <a:t>..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.0</a:t>
            </a:r>
            <a:r>
              <a:rPr sz="1600" spc="-325" dirty="0">
                <a:latin typeface="Arial Narrow"/>
                <a:cs typeface="Arial Narrow"/>
              </a:rPr>
              <a:t>..0</a:t>
            </a:r>
            <a:r>
              <a:rPr sz="2400" spc="-487" baseline="20833" dirty="0">
                <a:latin typeface="Arial Narrow"/>
                <a:cs typeface="Arial Narrow"/>
              </a:rPr>
              <a:t>3…</a:t>
            </a:r>
            <a:r>
              <a:rPr sz="1600" spc="-325" dirty="0">
                <a:latin typeface="Arial Narrow"/>
                <a:cs typeface="Arial Narrow"/>
              </a:rPr>
              <a:t>3...</a:t>
            </a:r>
            <a:r>
              <a:rPr sz="2400" spc="-487" baseline="20833" dirty="0">
                <a:latin typeface="Arial Narrow"/>
                <a:cs typeface="Arial Narrow"/>
              </a:rPr>
              <a:t>S</a:t>
            </a:r>
            <a:r>
              <a:rPr sz="1600" spc="-325" dirty="0">
                <a:latin typeface="Arial Narrow"/>
                <a:cs typeface="Arial Narrow"/>
              </a:rPr>
              <a:t>J</a:t>
            </a:r>
            <a:r>
              <a:rPr sz="2400" spc="-487" baseline="20833" dirty="0">
                <a:latin typeface="Arial Narrow"/>
                <a:cs typeface="Arial Narrow"/>
              </a:rPr>
              <a:t>m</a:t>
            </a:r>
            <a:r>
              <a:rPr sz="1600" spc="-325" dirty="0">
                <a:latin typeface="Arial Narrow"/>
                <a:cs typeface="Arial Narrow"/>
              </a:rPr>
              <a:t>o</a:t>
            </a:r>
            <a:r>
              <a:rPr sz="2400" spc="-487" baseline="20833" dirty="0">
                <a:latin typeface="Arial Narrow"/>
                <a:cs typeface="Arial Narrow"/>
              </a:rPr>
              <a:t>..i</a:t>
            </a:r>
            <a:r>
              <a:rPr sz="1600" spc="-325" dirty="0">
                <a:latin typeface="Arial Narrow"/>
                <a:cs typeface="Arial Narrow"/>
              </a:rPr>
              <a:t>n.</a:t>
            </a:r>
            <a:r>
              <a:rPr sz="2400" spc="-487" baseline="20833" dirty="0">
                <a:latin typeface="Arial Narrow"/>
                <a:cs typeface="Arial Narrow"/>
              </a:rPr>
              <a:t>.t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h</a:t>
            </a:r>
            <a:r>
              <a:rPr sz="1600" spc="-325" dirty="0">
                <a:latin typeface="Arial Narrow"/>
                <a:cs typeface="Arial Narrow"/>
              </a:rPr>
              <a:t>e.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s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.</a:t>
            </a:r>
            <a:r>
              <a:rPr sz="2400" spc="-487" baseline="20833" dirty="0">
                <a:latin typeface="Arial Narrow"/>
                <a:cs typeface="Arial Narrow"/>
              </a:rPr>
              <a:t>.</a:t>
            </a:r>
            <a:r>
              <a:rPr sz="1600" spc="-325" dirty="0">
                <a:latin typeface="Arial Narrow"/>
                <a:cs typeface="Arial Narrow"/>
              </a:rPr>
              <a:t>..</a:t>
            </a:r>
            <a:r>
              <a:rPr sz="2400" spc="-487" baseline="20833" dirty="0">
                <a:latin typeface="Arial Narrow"/>
                <a:cs typeface="Arial Narrow"/>
              </a:rPr>
              <a:t>…</a:t>
            </a:r>
            <a:r>
              <a:rPr sz="1600" spc="-32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71" name="object 571"/>
          <p:cNvSpPr/>
          <p:nvPr/>
        </p:nvSpPr>
        <p:spPr>
          <a:xfrm>
            <a:off x="4643437" y="4567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1447800" y="2514600"/>
            <a:ext cx="2514600" cy="18288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1443037" y="2509837"/>
            <a:ext cx="2524125" cy="1838325"/>
          </a:xfrm>
          <a:custGeom>
            <a:avLst/>
            <a:gdLst/>
            <a:ahLst/>
            <a:cxnLst/>
            <a:rect l="l" t="t" r="r" b="b"/>
            <a:pathLst>
              <a:path w="2524125" h="1838325">
                <a:moveTo>
                  <a:pt x="76200" y="1614106"/>
                </a:moveTo>
                <a:lnTo>
                  <a:pt x="76200" y="4762"/>
                </a:lnTo>
                <a:lnTo>
                  <a:pt x="76428" y="3289"/>
                </a:lnTo>
                <a:lnTo>
                  <a:pt x="77114" y="1968"/>
                </a:lnTo>
                <a:lnTo>
                  <a:pt x="78168" y="914"/>
                </a:lnTo>
                <a:lnTo>
                  <a:pt x="79489" y="228"/>
                </a:lnTo>
                <a:lnTo>
                  <a:pt x="80962" y="0"/>
                </a:lnTo>
                <a:lnTo>
                  <a:pt x="2519362" y="0"/>
                </a:lnTo>
                <a:lnTo>
                  <a:pt x="2524125" y="4762"/>
                </a:lnTo>
                <a:lnTo>
                  <a:pt x="85725" y="4762"/>
                </a:lnTo>
                <a:lnTo>
                  <a:pt x="80962" y="9525"/>
                </a:lnTo>
                <a:lnTo>
                  <a:pt x="85725" y="9525"/>
                </a:lnTo>
                <a:lnTo>
                  <a:pt x="85725" y="1609344"/>
                </a:lnTo>
                <a:lnTo>
                  <a:pt x="80962" y="1609344"/>
                </a:lnTo>
                <a:lnTo>
                  <a:pt x="76200" y="1614106"/>
                </a:lnTo>
                <a:close/>
              </a:path>
              <a:path w="2524125" h="1838325">
                <a:moveTo>
                  <a:pt x="85725" y="9525"/>
                </a:moveTo>
                <a:lnTo>
                  <a:pt x="80962" y="9525"/>
                </a:lnTo>
                <a:lnTo>
                  <a:pt x="85725" y="4762"/>
                </a:lnTo>
                <a:lnTo>
                  <a:pt x="85725" y="9525"/>
                </a:lnTo>
                <a:close/>
              </a:path>
              <a:path w="2524125" h="1838325">
                <a:moveTo>
                  <a:pt x="2514600" y="9525"/>
                </a:moveTo>
                <a:lnTo>
                  <a:pt x="85725" y="9525"/>
                </a:lnTo>
                <a:lnTo>
                  <a:pt x="85725" y="4762"/>
                </a:lnTo>
                <a:lnTo>
                  <a:pt x="2514600" y="4762"/>
                </a:lnTo>
                <a:lnTo>
                  <a:pt x="2514600" y="9525"/>
                </a:lnTo>
                <a:close/>
              </a:path>
              <a:path w="2524125" h="1838325">
                <a:moveTo>
                  <a:pt x="2514600" y="151066"/>
                </a:moveTo>
                <a:lnTo>
                  <a:pt x="2514600" y="4762"/>
                </a:lnTo>
                <a:lnTo>
                  <a:pt x="2519362" y="9525"/>
                </a:lnTo>
                <a:lnTo>
                  <a:pt x="2524125" y="9525"/>
                </a:lnTo>
                <a:lnTo>
                  <a:pt x="2524125" y="146304"/>
                </a:lnTo>
                <a:lnTo>
                  <a:pt x="2519362" y="146304"/>
                </a:lnTo>
                <a:lnTo>
                  <a:pt x="2514600" y="151066"/>
                </a:lnTo>
                <a:close/>
              </a:path>
              <a:path w="2524125" h="1838325">
                <a:moveTo>
                  <a:pt x="2524125" y="9525"/>
                </a:moveTo>
                <a:lnTo>
                  <a:pt x="2519362" y="9525"/>
                </a:lnTo>
                <a:lnTo>
                  <a:pt x="2514600" y="4762"/>
                </a:lnTo>
                <a:lnTo>
                  <a:pt x="2524125" y="4762"/>
                </a:lnTo>
                <a:lnTo>
                  <a:pt x="2524125" y="9525"/>
                </a:lnTo>
                <a:close/>
              </a:path>
              <a:path w="2524125" h="1838325">
                <a:moveTo>
                  <a:pt x="300456" y="1618869"/>
                </a:moveTo>
                <a:lnTo>
                  <a:pt x="233362" y="1618869"/>
                </a:lnTo>
                <a:lnTo>
                  <a:pt x="231889" y="1618640"/>
                </a:lnTo>
                <a:lnTo>
                  <a:pt x="230568" y="1617954"/>
                </a:lnTo>
                <a:lnTo>
                  <a:pt x="229514" y="1616900"/>
                </a:lnTo>
                <a:lnTo>
                  <a:pt x="228828" y="1615579"/>
                </a:lnTo>
                <a:lnTo>
                  <a:pt x="228600" y="1614106"/>
                </a:lnTo>
                <a:lnTo>
                  <a:pt x="228600" y="151066"/>
                </a:lnTo>
                <a:lnTo>
                  <a:pt x="233362" y="146304"/>
                </a:lnTo>
                <a:lnTo>
                  <a:pt x="2514600" y="146304"/>
                </a:lnTo>
                <a:lnTo>
                  <a:pt x="2514600" y="151066"/>
                </a:lnTo>
                <a:lnTo>
                  <a:pt x="238125" y="151066"/>
                </a:lnTo>
                <a:lnTo>
                  <a:pt x="233362" y="155829"/>
                </a:lnTo>
                <a:lnTo>
                  <a:pt x="238125" y="155829"/>
                </a:lnTo>
                <a:lnTo>
                  <a:pt x="238125" y="1609344"/>
                </a:lnTo>
                <a:lnTo>
                  <a:pt x="233362" y="1609344"/>
                </a:lnTo>
                <a:lnTo>
                  <a:pt x="238125" y="1614106"/>
                </a:lnTo>
                <a:lnTo>
                  <a:pt x="303763" y="1614106"/>
                </a:lnTo>
                <a:lnTo>
                  <a:pt x="300456" y="1618869"/>
                </a:lnTo>
                <a:close/>
              </a:path>
              <a:path w="2524125" h="1838325">
                <a:moveTo>
                  <a:pt x="2519362" y="155829"/>
                </a:moveTo>
                <a:lnTo>
                  <a:pt x="238125" y="155829"/>
                </a:lnTo>
                <a:lnTo>
                  <a:pt x="238125" y="151066"/>
                </a:lnTo>
                <a:lnTo>
                  <a:pt x="2514600" y="151066"/>
                </a:lnTo>
                <a:lnTo>
                  <a:pt x="2519362" y="146304"/>
                </a:lnTo>
                <a:lnTo>
                  <a:pt x="2524125" y="146304"/>
                </a:lnTo>
                <a:lnTo>
                  <a:pt x="2524125" y="151066"/>
                </a:lnTo>
                <a:lnTo>
                  <a:pt x="2523896" y="152539"/>
                </a:lnTo>
                <a:lnTo>
                  <a:pt x="2523210" y="153860"/>
                </a:lnTo>
                <a:lnTo>
                  <a:pt x="2522156" y="154914"/>
                </a:lnTo>
                <a:lnTo>
                  <a:pt x="2520835" y="155600"/>
                </a:lnTo>
                <a:lnTo>
                  <a:pt x="2519362" y="155829"/>
                </a:lnTo>
                <a:close/>
              </a:path>
              <a:path w="2524125" h="1838325">
                <a:moveTo>
                  <a:pt x="238125" y="155829"/>
                </a:moveTo>
                <a:lnTo>
                  <a:pt x="233362" y="155829"/>
                </a:lnTo>
                <a:lnTo>
                  <a:pt x="238125" y="151066"/>
                </a:lnTo>
                <a:lnTo>
                  <a:pt x="238125" y="155829"/>
                </a:lnTo>
                <a:close/>
              </a:path>
              <a:path w="2524125" h="1838325">
                <a:moveTo>
                  <a:pt x="157162" y="1838325"/>
                </a:moveTo>
                <a:lnTo>
                  <a:pt x="850" y="1616824"/>
                </a:lnTo>
                <a:lnTo>
                  <a:pt x="0" y="1614030"/>
                </a:lnTo>
                <a:lnTo>
                  <a:pt x="253" y="1612582"/>
                </a:lnTo>
                <a:lnTo>
                  <a:pt x="939" y="1611274"/>
                </a:lnTo>
                <a:lnTo>
                  <a:pt x="1981" y="1610233"/>
                </a:lnTo>
                <a:lnTo>
                  <a:pt x="3302" y="1609572"/>
                </a:lnTo>
                <a:lnTo>
                  <a:pt x="4762" y="1609344"/>
                </a:lnTo>
                <a:lnTo>
                  <a:pt x="76200" y="1609344"/>
                </a:lnTo>
                <a:lnTo>
                  <a:pt x="76200" y="1611388"/>
                </a:lnTo>
                <a:lnTo>
                  <a:pt x="8674" y="1611388"/>
                </a:lnTo>
                <a:lnTo>
                  <a:pt x="4762" y="1618869"/>
                </a:lnTo>
                <a:lnTo>
                  <a:pt x="13868" y="1618869"/>
                </a:lnTo>
                <a:lnTo>
                  <a:pt x="157162" y="1825211"/>
                </a:lnTo>
                <a:lnTo>
                  <a:pt x="153250" y="1830844"/>
                </a:lnTo>
                <a:lnTo>
                  <a:pt x="164848" y="1830844"/>
                </a:lnTo>
                <a:lnTo>
                  <a:pt x="161074" y="1836280"/>
                </a:lnTo>
                <a:lnTo>
                  <a:pt x="160019" y="1837372"/>
                </a:lnTo>
                <a:lnTo>
                  <a:pt x="158661" y="1838083"/>
                </a:lnTo>
                <a:lnTo>
                  <a:pt x="157162" y="1838325"/>
                </a:lnTo>
                <a:close/>
              </a:path>
              <a:path w="2524125" h="1838325">
                <a:moveTo>
                  <a:pt x="85725" y="1614106"/>
                </a:moveTo>
                <a:lnTo>
                  <a:pt x="76200" y="1614106"/>
                </a:lnTo>
                <a:lnTo>
                  <a:pt x="80962" y="1609344"/>
                </a:lnTo>
                <a:lnTo>
                  <a:pt x="85725" y="1609344"/>
                </a:lnTo>
                <a:lnTo>
                  <a:pt x="85725" y="1614106"/>
                </a:lnTo>
                <a:close/>
              </a:path>
              <a:path w="2524125" h="1838325">
                <a:moveTo>
                  <a:pt x="238125" y="1614106"/>
                </a:moveTo>
                <a:lnTo>
                  <a:pt x="233362" y="1609344"/>
                </a:lnTo>
                <a:lnTo>
                  <a:pt x="238125" y="1609344"/>
                </a:lnTo>
                <a:lnTo>
                  <a:pt x="238125" y="1614106"/>
                </a:lnTo>
                <a:close/>
              </a:path>
              <a:path w="2524125" h="1838325">
                <a:moveTo>
                  <a:pt x="303763" y="1614106"/>
                </a:moveTo>
                <a:lnTo>
                  <a:pt x="238125" y="1614106"/>
                </a:lnTo>
                <a:lnTo>
                  <a:pt x="238125" y="1609344"/>
                </a:lnTo>
                <a:lnTo>
                  <a:pt x="309562" y="1609344"/>
                </a:lnTo>
                <a:lnTo>
                  <a:pt x="311023" y="1609572"/>
                </a:lnTo>
                <a:lnTo>
                  <a:pt x="312343" y="1610233"/>
                </a:lnTo>
                <a:lnTo>
                  <a:pt x="313385" y="1611274"/>
                </a:lnTo>
                <a:lnTo>
                  <a:pt x="305650" y="1611388"/>
                </a:lnTo>
                <a:lnTo>
                  <a:pt x="303763" y="1614106"/>
                </a:lnTo>
                <a:close/>
              </a:path>
              <a:path w="2524125" h="1838325">
                <a:moveTo>
                  <a:pt x="13868" y="1618869"/>
                </a:moveTo>
                <a:lnTo>
                  <a:pt x="4762" y="1618869"/>
                </a:lnTo>
                <a:lnTo>
                  <a:pt x="8674" y="1611388"/>
                </a:lnTo>
                <a:lnTo>
                  <a:pt x="13868" y="1618869"/>
                </a:lnTo>
                <a:close/>
              </a:path>
              <a:path w="2524125" h="1838325">
                <a:moveTo>
                  <a:pt x="80962" y="1618869"/>
                </a:moveTo>
                <a:lnTo>
                  <a:pt x="13868" y="1618869"/>
                </a:lnTo>
                <a:lnTo>
                  <a:pt x="8674" y="1611388"/>
                </a:lnTo>
                <a:lnTo>
                  <a:pt x="76200" y="1611388"/>
                </a:lnTo>
                <a:lnTo>
                  <a:pt x="76200" y="1614106"/>
                </a:lnTo>
                <a:lnTo>
                  <a:pt x="85725" y="1614106"/>
                </a:lnTo>
                <a:lnTo>
                  <a:pt x="85496" y="1615579"/>
                </a:lnTo>
                <a:lnTo>
                  <a:pt x="84810" y="1616900"/>
                </a:lnTo>
                <a:lnTo>
                  <a:pt x="83756" y="1617954"/>
                </a:lnTo>
                <a:lnTo>
                  <a:pt x="82435" y="1618640"/>
                </a:lnTo>
                <a:lnTo>
                  <a:pt x="80962" y="1618869"/>
                </a:lnTo>
                <a:close/>
              </a:path>
              <a:path w="2524125" h="1838325">
                <a:moveTo>
                  <a:pt x="164848" y="1830844"/>
                </a:moveTo>
                <a:lnTo>
                  <a:pt x="161074" y="1830844"/>
                </a:lnTo>
                <a:lnTo>
                  <a:pt x="157162" y="1825211"/>
                </a:lnTo>
                <a:lnTo>
                  <a:pt x="305650" y="1611388"/>
                </a:lnTo>
                <a:lnTo>
                  <a:pt x="309562" y="1618869"/>
                </a:lnTo>
                <a:lnTo>
                  <a:pt x="312054" y="1618869"/>
                </a:lnTo>
                <a:lnTo>
                  <a:pt x="164848" y="1830844"/>
                </a:lnTo>
                <a:close/>
              </a:path>
              <a:path w="2524125" h="1838325">
                <a:moveTo>
                  <a:pt x="312054" y="1618869"/>
                </a:moveTo>
                <a:lnTo>
                  <a:pt x="309562" y="1618869"/>
                </a:lnTo>
                <a:lnTo>
                  <a:pt x="305650" y="1611388"/>
                </a:lnTo>
                <a:lnTo>
                  <a:pt x="313445" y="1611388"/>
                </a:lnTo>
                <a:lnTo>
                  <a:pt x="314070" y="1612582"/>
                </a:lnTo>
                <a:lnTo>
                  <a:pt x="314325" y="1614030"/>
                </a:lnTo>
                <a:lnTo>
                  <a:pt x="314121" y="1615490"/>
                </a:lnTo>
                <a:lnTo>
                  <a:pt x="313474" y="1616824"/>
                </a:lnTo>
                <a:lnTo>
                  <a:pt x="312054" y="1618869"/>
                </a:lnTo>
                <a:close/>
              </a:path>
              <a:path w="2524125" h="1838325">
                <a:moveTo>
                  <a:pt x="161074" y="1830844"/>
                </a:moveTo>
                <a:lnTo>
                  <a:pt x="153250" y="1830844"/>
                </a:lnTo>
                <a:lnTo>
                  <a:pt x="157162" y="1825211"/>
                </a:lnTo>
                <a:lnTo>
                  <a:pt x="161074" y="1830844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3200400" y="2743200"/>
            <a:ext cx="838200" cy="1600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3195675" y="2738437"/>
            <a:ext cx="847725" cy="1609725"/>
          </a:xfrm>
          <a:custGeom>
            <a:avLst/>
            <a:gdLst/>
            <a:ahLst/>
            <a:cxnLst/>
            <a:rect l="l" t="t" r="r" b="b"/>
            <a:pathLst>
              <a:path w="847725" h="1609725">
                <a:moveTo>
                  <a:pt x="76161" y="1376362"/>
                </a:moveTo>
                <a:lnTo>
                  <a:pt x="76161" y="4762"/>
                </a:lnTo>
                <a:lnTo>
                  <a:pt x="76390" y="3289"/>
                </a:lnTo>
                <a:lnTo>
                  <a:pt x="77076" y="1968"/>
                </a:lnTo>
                <a:lnTo>
                  <a:pt x="78130" y="914"/>
                </a:lnTo>
                <a:lnTo>
                  <a:pt x="79451" y="228"/>
                </a:lnTo>
                <a:lnTo>
                  <a:pt x="80924" y="0"/>
                </a:lnTo>
                <a:lnTo>
                  <a:pt x="842924" y="0"/>
                </a:lnTo>
                <a:lnTo>
                  <a:pt x="847686" y="4762"/>
                </a:lnTo>
                <a:lnTo>
                  <a:pt x="85686" y="4762"/>
                </a:lnTo>
                <a:lnTo>
                  <a:pt x="80924" y="9525"/>
                </a:lnTo>
                <a:lnTo>
                  <a:pt x="85686" y="9525"/>
                </a:lnTo>
                <a:lnTo>
                  <a:pt x="85686" y="1371600"/>
                </a:lnTo>
                <a:lnTo>
                  <a:pt x="80924" y="1371600"/>
                </a:lnTo>
                <a:lnTo>
                  <a:pt x="76161" y="1376362"/>
                </a:lnTo>
                <a:close/>
              </a:path>
              <a:path w="847725" h="1609725">
                <a:moveTo>
                  <a:pt x="85686" y="9525"/>
                </a:moveTo>
                <a:lnTo>
                  <a:pt x="80924" y="9525"/>
                </a:lnTo>
                <a:lnTo>
                  <a:pt x="85686" y="4762"/>
                </a:lnTo>
                <a:lnTo>
                  <a:pt x="85686" y="9525"/>
                </a:lnTo>
                <a:close/>
              </a:path>
              <a:path w="847725" h="1609725">
                <a:moveTo>
                  <a:pt x="838161" y="9525"/>
                </a:moveTo>
                <a:lnTo>
                  <a:pt x="85686" y="9525"/>
                </a:lnTo>
                <a:lnTo>
                  <a:pt x="85686" y="4762"/>
                </a:lnTo>
                <a:lnTo>
                  <a:pt x="838161" y="4762"/>
                </a:lnTo>
                <a:lnTo>
                  <a:pt x="838161" y="9525"/>
                </a:lnTo>
                <a:close/>
              </a:path>
              <a:path w="847725" h="1609725">
                <a:moveTo>
                  <a:pt x="838161" y="157162"/>
                </a:moveTo>
                <a:lnTo>
                  <a:pt x="838161" y="4762"/>
                </a:lnTo>
                <a:lnTo>
                  <a:pt x="842924" y="9525"/>
                </a:lnTo>
                <a:lnTo>
                  <a:pt x="847686" y="9525"/>
                </a:lnTo>
                <a:lnTo>
                  <a:pt x="847686" y="152400"/>
                </a:lnTo>
                <a:lnTo>
                  <a:pt x="842924" y="152400"/>
                </a:lnTo>
                <a:lnTo>
                  <a:pt x="838161" y="157162"/>
                </a:lnTo>
                <a:close/>
              </a:path>
              <a:path w="847725" h="1609725">
                <a:moveTo>
                  <a:pt x="847686" y="9525"/>
                </a:moveTo>
                <a:lnTo>
                  <a:pt x="842924" y="9525"/>
                </a:lnTo>
                <a:lnTo>
                  <a:pt x="838161" y="4762"/>
                </a:lnTo>
                <a:lnTo>
                  <a:pt x="847686" y="4762"/>
                </a:lnTo>
                <a:lnTo>
                  <a:pt x="847686" y="9525"/>
                </a:lnTo>
                <a:close/>
              </a:path>
              <a:path w="847725" h="1609725">
                <a:moveTo>
                  <a:pt x="300625" y="1381125"/>
                </a:moveTo>
                <a:lnTo>
                  <a:pt x="233324" y="1381125"/>
                </a:lnTo>
                <a:lnTo>
                  <a:pt x="231851" y="1380896"/>
                </a:lnTo>
                <a:lnTo>
                  <a:pt x="230530" y="1380210"/>
                </a:lnTo>
                <a:lnTo>
                  <a:pt x="229476" y="1379156"/>
                </a:lnTo>
                <a:lnTo>
                  <a:pt x="228790" y="1377835"/>
                </a:lnTo>
                <a:lnTo>
                  <a:pt x="228561" y="1376362"/>
                </a:lnTo>
                <a:lnTo>
                  <a:pt x="228561" y="157162"/>
                </a:lnTo>
                <a:lnTo>
                  <a:pt x="233324" y="152400"/>
                </a:lnTo>
                <a:lnTo>
                  <a:pt x="838161" y="152400"/>
                </a:lnTo>
                <a:lnTo>
                  <a:pt x="838161" y="157162"/>
                </a:lnTo>
                <a:lnTo>
                  <a:pt x="238086" y="157162"/>
                </a:lnTo>
                <a:lnTo>
                  <a:pt x="233324" y="161925"/>
                </a:lnTo>
                <a:lnTo>
                  <a:pt x="238086" y="161925"/>
                </a:lnTo>
                <a:lnTo>
                  <a:pt x="238086" y="1371600"/>
                </a:lnTo>
                <a:lnTo>
                  <a:pt x="233324" y="1371600"/>
                </a:lnTo>
                <a:lnTo>
                  <a:pt x="238086" y="1376362"/>
                </a:lnTo>
                <a:lnTo>
                  <a:pt x="303800" y="1376362"/>
                </a:lnTo>
                <a:lnTo>
                  <a:pt x="300625" y="1381125"/>
                </a:lnTo>
                <a:close/>
              </a:path>
              <a:path w="847725" h="1609725">
                <a:moveTo>
                  <a:pt x="842924" y="161925"/>
                </a:moveTo>
                <a:lnTo>
                  <a:pt x="238086" y="161925"/>
                </a:lnTo>
                <a:lnTo>
                  <a:pt x="238086" y="157162"/>
                </a:lnTo>
                <a:lnTo>
                  <a:pt x="838161" y="157162"/>
                </a:lnTo>
                <a:lnTo>
                  <a:pt x="842924" y="152400"/>
                </a:lnTo>
                <a:lnTo>
                  <a:pt x="847686" y="152400"/>
                </a:lnTo>
                <a:lnTo>
                  <a:pt x="847686" y="157162"/>
                </a:lnTo>
                <a:lnTo>
                  <a:pt x="847458" y="158635"/>
                </a:lnTo>
                <a:lnTo>
                  <a:pt x="846772" y="159956"/>
                </a:lnTo>
                <a:lnTo>
                  <a:pt x="845718" y="161010"/>
                </a:lnTo>
                <a:lnTo>
                  <a:pt x="844397" y="161696"/>
                </a:lnTo>
                <a:lnTo>
                  <a:pt x="842924" y="161925"/>
                </a:lnTo>
                <a:close/>
              </a:path>
              <a:path w="847725" h="1609725">
                <a:moveTo>
                  <a:pt x="238086" y="161925"/>
                </a:moveTo>
                <a:lnTo>
                  <a:pt x="233324" y="161925"/>
                </a:lnTo>
                <a:lnTo>
                  <a:pt x="238086" y="157162"/>
                </a:lnTo>
                <a:lnTo>
                  <a:pt x="238086" y="161925"/>
                </a:lnTo>
                <a:close/>
              </a:path>
              <a:path w="847725" h="1609725">
                <a:moveTo>
                  <a:pt x="157124" y="1609725"/>
                </a:moveTo>
                <a:lnTo>
                  <a:pt x="762" y="1379004"/>
                </a:lnTo>
                <a:lnTo>
                  <a:pt x="0" y="1375740"/>
                </a:lnTo>
                <a:lnTo>
                  <a:pt x="520" y="1374114"/>
                </a:lnTo>
                <a:lnTo>
                  <a:pt x="1587" y="1372781"/>
                </a:lnTo>
                <a:lnTo>
                  <a:pt x="3048" y="1371904"/>
                </a:lnTo>
                <a:lnTo>
                  <a:pt x="4724" y="1371600"/>
                </a:lnTo>
                <a:lnTo>
                  <a:pt x="76161" y="1371600"/>
                </a:lnTo>
                <a:lnTo>
                  <a:pt x="76161" y="1373720"/>
                </a:lnTo>
                <a:lnTo>
                  <a:pt x="8686" y="1373720"/>
                </a:lnTo>
                <a:lnTo>
                  <a:pt x="4724" y="1381125"/>
                </a:lnTo>
                <a:lnTo>
                  <a:pt x="13622" y="1381125"/>
                </a:lnTo>
                <a:lnTo>
                  <a:pt x="157124" y="1596377"/>
                </a:lnTo>
                <a:lnTo>
                  <a:pt x="153162" y="1602320"/>
                </a:lnTo>
                <a:lnTo>
                  <a:pt x="164608" y="1602320"/>
                </a:lnTo>
                <a:lnTo>
                  <a:pt x="161086" y="1607604"/>
                </a:lnTo>
                <a:lnTo>
                  <a:pt x="160020" y="1608734"/>
                </a:lnTo>
                <a:lnTo>
                  <a:pt x="158661" y="1609471"/>
                </a:lnTo>
                <a:lnTo>
                  <a:pt x="157124" y="1609725"/>
                </a:lnTo>
                <a:close/>
              </a:path>
              <a:path w="847725" h="1609725">
                <a:moveTo>
                  <a:pt x="85686" y="1376362"/>
                </a:moveTo>
                <a:lnTo>
                  <a:pt x="76161" y="1376362"/>
                </a:lnTo>
                <a:lnTo>
                  <a:pt x="80924" y="1371600"/>
                </a:lnTo>
                <a:lnTo>
                  <a:pt x="85686" y="1371600"/>
                </a:lnTo>
                <a:lnTo>
                  <a:pt x="85686" y="1376362"/>
                </a:lnTo>
                <a:close/>
              </a:path>
              <a:path w="847725" h="1609725">
                <a:moveTo>
                  <a:pt x="238086" y="1376362"/>
                </a:moveTo>
                <a:lnTo>
                  <a:pt x="233324" y="1371600"/>
                </a:lnTo>
                <a:lnTo>
                  <a:pt x="238086" y="1371600"/>
                </a:lnTo>
                <a:lnTo>
                  <a:pt x="238086" y="1376362"/>
                </a:lnTo>
                <a:close/>
              </a:path>
              <a:path w="847725" h="1609725">
                <a:moveTo>
                  <a:pt x="303800" y="1376362"/>
                </a:moveTo>
                <a:lnTo>
                  <a:pt x="238086" y="1376362"/>
                </a:lnTo>
                <a:lnTo>
                  <a:pt x="238086" y="1371600"/>
                </a:lnTo>
                <a:lnTo>
                  <a:pt x="309524" y="1371600"/>
                </a:lnTo>
                <a:lnTo>
                  <a:pt x="311200" y="1371904"/>
                </a:lnTo>
                <a:lnTo>
                  <a:pt x="312661" y="1372781"/>
                </a:lnTo>
                <a:lnTo>
                  <a:pt x="313413" y="1373720"/>
                </a:lnTo>
                <a:lnTo>
                  <a:pt x="305562" y="1373720"/>
                </a:lnTo>
                <a:lnTo>
                  <a:pt x="303800" y="1376362"/>
                </a:lnTo>
                <a:close/>
              </a:path>
              <a:path w="847725" h="1609725">
                <a:moveTo>
                  <a:pt x="13622" y="1381125"/>
                </a:moveTo>
                <a:lnTo>
                  <a:pt x="4724" y="1381125"/>
                </a:lnTo>
                <a:lnTo>
                  <a:pt x="8686" y="1373720"/>
                </a:lnTo>
                <a:lnTo>
                  <a:pt x="13622" y="1381125"/>
                </a:lnTo>
                <a:close/>
              </a:path>
              <a:path w="847725" h="1609725">
                <a:moveTo>
                  <a:pt x="80924" y="1381125"/>
                </a:moveTo>
                <a:lnTo>
                  <a:pt x="13622" y="1381125"/>
                </a:lnTo>
                <a:lnTo>
                  <a:pt x="8686" y="1373720"/>
                </a:lnTo>
                <a:lnTo>
                  <a:pt x="76161" y="1373720"/>
                </a:lnTo>
                <a:lnTo>
                  <a:pt x="76161" y="1376362"/>
                </a:lnTo>
                <a:lnTo>
                  <a:pt x="85686" y="1376362"/>
                </a:lnTo>
                <a:lnTo>
                  <a:pt x="85458" y="1377835"/>
                </a:lnTo>
                <a:lnTo>
                  <a:pt x="84772" y="1379156"/>
                </a:lnTo>
                <a:lnTo>
                  <a:pt x="83718" y="1380210"/>
                </a:lnTo>
                <a:lnTo>
                  <a:pt x="82397" y="1380896"/>
                </a:lnTo>
                <a:lnTo>
                  <a:pt x="80924" y="1381125"/>
                </a:lnTo>
                <a:close/>
              </a:path>
              <a:path w="847725" h="1609725">
                <a:moveTo>
                  <a:pt x="164608" y="1602320"/>
                </a:moveTo>
                <a:lnTo>
                  <a:pt x="161086" y="1602320"/>
                </a:lnTo>
                <a:lnTo>
                  <a:pt x="157124" y="1596377"/>
                </a:lnTo>
                <a:lnTo>
                  <a:pt x="305562" y="1373720"/>
                </a:lnTo>
                <a:lnTo>
                  <a:pt x="309524" y="1381125"/>
                </a:lnTo>
                <a:lnTo>
                  <a:pt x="312072" y="1381125"/>
                </a:lnTo>
                <a:lnTo>
                  <a:pt x="164608" y="1602320"/>
                </a:lnTo>
                <a:close/>
              </a:path>
              <a:path w="847725" h="1609725">
                <a:moveTo>
                  <a:pt x="312072" y="1381125"/>
                </a:moveTo>
                <a:lnTo>
                  <a:pt x="309524" y="1381125"/>
                </a:lnTo>
                <a:lnTo>
                  <a:pt x="305562" y="1373720"/>
                </a:lnTo>
                <a:lnTo>
                  <a:pt x="313413" y="1373720"/>
                </a:lnTo>
                <a:lnTo>
                  <a:pt x="313728" y="1374114"/>
                </a:lnTo>
                <a:lnTo>
                  <a:pt x="314248" y="1375740"/>
                </a:lnTo>
                <a:lnTo>
                  <a:pt x="314159" y="1377441"/>
                </a:lnTo>
                <a:lnTo>
                  <a:pt x="313486" y="1379004"/>
                </a:lnTo>
                <a:lnTo>
                  <a:pt x="312072" y="1381125"/>
                </a:lnTo>
                <a:close/>
              </a:path>
              <a:path w="847725" h="1609725">
                <a:moveTo>
                  <a:pt x="161086" y="1602320"/>
                </a:moveTo>
                <a:lnTo>
                  <a:pt x="153162" y="1602320"/>
                </a:lnTo>
                <a:lnTo>
                  <a:pt x="157124" y="1596377"/>
                </a:lnTo>
                <a:lnTo>
                  <a:pt x="161086" y="1602320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5181600" y="3200400"/>
            <a:ext cx="2362200" cy="11430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5176837" y="3195637"/>
            <a:ext cx="2371725" cy="1152525"/>
          </a:xfrm>
          <a:custGeom>
            <a:avLst/>
            <a:gdLst/>
            <a:ahLst/>
            <a:cxnLst/>
            <a:rect l="l" t="t" r="r" b="b"/>
            <a:pathLst>
              <a:path w="2371725" h="1152525">
                <a:moveTo>
                  <a:pt x="2133600" y="161925"/>
                </a:moveTo>
                <a:lnTo>
                  <a:pt x="4762" y="161925"/>
                </a:lnTo>
                <a:lnTo>
                  <a:pt x="3289" y="161696"/>
                </a:lnTo>
                <a:lnTo>
                  <a:pt x="1968" y="161010"/>
                </a:lnTo>
                <a:lnTo>
                  <a:pt x="914" y="159956"/>
                </a:lnTo>
                <a:lnTo>
                  <a:pt x="228" y="158635"/>
                </a:lnTo>
                <a:lnTo>
                  <a:pt x="0" y="157162"/>
                </a:lnTo>
                <a:lnTo>
                  <a:pt x="0" y="4762"/>
                </a:lnTo>
                <a:lnTo>
                  <a:pt x="4762" y="0"/>
                </a:lnTo>
                <a:lnTo>
                  <a:pt x="2290762" y="0"/>
                </a:lnTo>
                <a:lnTo>
                  <a:pt x="2295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"/>
                </a:lnTo>
                <a:lnTo>
                  <a:pt x="4762" y="152400"/>
                </a:lnTo>
                <a:lnTo>
                  <a:pt x="9525" y="157162"/>
                </a:lnTo>
                <a:lnTo>
                  <a:pt x="2133600" y="157162"/>
                </a:lnTo>
                <a:lnTo>
                  <a:pt x="2133600" y="161925"/>
                </a:lnTo>
                <a:close/>
              </a:path>
              <a:path w="2371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71725" h="1152525">
                <a:moveTo>
                  <a:pt x="2286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286000" y="4762"/>
                </a:lnTo>
                <a:lnTo>
                  <a:pt x="2286000" y="9525"/>
                </a:lnTo>
                <a:close/>
              </a:path>
              <a:path w="2371725" h="1152525">
                <a:moveTo>
                  <a:pt x="2358064" y="923925"/>
                </a:moveTo>
                <a:lnTo>
                  <a:pt x="2290762" y="923925"/>
                </a:lnTo>
                <a:lnTo>
                  <a:pt x="2289289" y="923696"/>
                </a:lnTo>
                <a:lnTo>
                  <a:pt x="2287968" y="923010"/>
                </a:lnTo>
                <a:lnTo>
                  <a:pt x="2286914" y="921956"/>
                </a:lnTo>
                <a:lnTo>
                  <a:pt x="2286228" y="920635"/>
                </a:lnTo>
                <a:lnTo>
                  <a:pt x="2286000" y="919162"/>
                </a:lnTo>
                <a:lnTo>
                  <a:pt x="2286000" y="4762"/>
                </a:lnTo>
                <a:lnTo>
                  <a:pt x="2290762" y="9525"/>
                </a:lnTo>
                <a:lnTo>
                  <a:pt x="2295525" y="9525"/>
                </a:lnTo>
                <a:lnTo>
                  <a:pt x="2295525" y="914400"/>
                </a:lnTo>
                <a:lnTo>
                  <a:pt x="2290762" y="914400"/>
                </a:lnTo>
                <a:lnTo>
                  <a:pt x="2295525" y="919162"/>
                </a:lnTo>
                <a:lnTo>
                  <a:pt x="2361239" y="919162"/>
                </a:lnTo>
                <a:lnTo>
                  <a:pt x="2358064" y="923925"/>
                </a:lnTo>
                <a:close/>
              </a:path>
              <a:path w="2371725" h="1152525">
                <a:moveTo>
                  <a:pt x="2295525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5525" y="4762"/>
                </a:lnTo>
                <a:lnTo>
                  <a:pt x="2295525" y="9525"/>
                </a:lnTo>
                <a:close/>
              </a:path>
              <a:path w="2371725" h="1152525">
                <a:moveTo>
                  <a:pt x="9525" y="157162"/>
                </a:moveTo>
                <a:lnTo>
                  <a:pt x="4762" y="152400"/>
                </a:lnTo>
                <a:lnTo>
                  <a:pt x="9525" y="152400"/>
                </a:lnTo>
                <a:lnTo>
                  <a:pt x="9525" y="157162"/>
                </a:lnTo>
                <a:close/>
              </a:path>
              <a:path w="2371725" h="1152525">
                <a:moveTo>
                  <a:pt x="2143125" y="161925"/>
                </a:moveTo>
                <a:lnTo>
                  <a:pt x="2138362" y="161925"/>
                </a:lnTo>
                <a:lnTo>
                  <a:pt x="2133600" y="157162"/>
                </a:lnTo>
                <a:lnTo>
                  <a:pt x="9525" y="157162"/>
                </a:lnTo>
                <a:lnTo>
                  <a:pt x="9525" y="152400"/>
                </a:lnTo>
                <a:lnTo>
                  <a:pt x="2138362" y="152400"/>
                </a:lnTo>
                <a:lnTo>
                  <a:pt x="2143125" y="157162"/>
                </a:lnTo>
                <a:lnTo>
                  <a:pt x="2143125" y="161925"/>
                </a:lnTo>
                <a:close/>
              </a:path>
              <a:path w="2371725" h="1152525">
                <a:moveTo>
                  <a:pt x="2133600" y="919162"/>
                </a:moveTo>
                <a:lnTo>
                  <a:pt x="2133600" y="157162"/>
                </a:lnTo>
                <a:lnTo>
                  <a:pt x="2138362" y="161925"/>
                </a:lnTo>
                <a:lnTo>
                  <a:pt x="2143125" y="161925"/>
                </a:lnTo>
                <a:lnTo>
                  <a:pt x="2143125" y="914400"/>
                </a:lnTo>
                <a:lnTo>
                  <a:pt x="2138362" y="914400"/>
                </a:lnTo>
                <a:lnTo>
                  <a:pt x="2133600" y="919162"/>
                </a:lnTo>
                <a:close/>
              </a:path>
              <a:path w="2371725" h="1152525">
                <a:moveTo>
                  <a:pt x="2214562" y="1152525"/>
                </a:moveTo>
                <a:lnTo>
                  <a:pt x="2058200" y="921804"/>
                </a:lnTo>
                <a:lnTo>
                  <a:pt x="2057438" y="918540"/>
                </a:lnTo>
                <a:lnTo>
                  <a:pt x="2057958" y="916914"/>
                </a:lnTo>
                <a:lnTo>
                  <a:pt x="2059025" y="915581"/>
                </a:lnTo>
                <a:lnTo>
                  <a:pt x="2060486" y="914704"/>
                </a:lnTo>
                <a:lnTo>
                  <a:pt x="2062162" y="914400"/>
                </a:lnTo>
                <a:lnTo>
                  <a:pt x="2133600" y="914400"/>
                </a:lnTo>
                <a:lnTo>
                  <a:pt x="2133600" y="916520"/>
                </a:lnTo>
                <a:lnTo>
                  <a:pt x="2066124" y="916520"/>
                </a:lnTo>
                <a:lnTo>
                  <a:pt x="2062162" y="923925"/>
                </a:lnTo>
                <a:lnTo>
                  <a:pt x="2071060" y="923925"/>
                </a:lnTo>
                <a:lnTo>
                  <a:pt x="2214562" y="1139177"/>
                </a:lnTo>
                <a:lnTo>
                  <a:pt x="2210600" y="1145120"/>
                </a:lnTo>
                <a:lnTo>
                  <a:pt x="2222047" y="1145120"/>
                </a:lnTo>
                <a:lnTo>
                  <a:pt x="2218524" y="1150404"/>
                </a:lnTo>
                <a:lnTo>
                  <a:pt x="2217458" y="1151534"/>
                </a:lnTo>
                <a:lnTo>
                  <a:pt x="2216099" y="1152271"/>
                </a:lnTo>
                <a:lnTo>
                  <a:pt x="2214562" y="1152525"/>
                </a:lnTo>
                <a:close/>
              </a:path>
              <a:path w="2371725" h="1152525">
                <a:moveTo>
                  <a:pt x="2143125" y="919162"/>
                </a:moveTo>
                <a:lnTo>
                  <a:pt x="2133600" y="919162"/>
                </a:lnTo>
                <a:lnTo>
                  <a:pt x="2138362" y="914400"/>
                </a:lnTo>
                <a:lnTo>
                  <a:pt x="2143125" y="914400"/>
                </a:lnTo>
                <a:lnTo>
                  <a:pt x="2143125" y="919162"/>
                </a:lnTo>
                <a:close/>
              </a:path>
              <a:path w="2371725" h="1152525">
                <a:moveTo>
                  <a:pt x="2295525" y="919162"/>
                </a:moveTo>
                <a:lnTo>
                  <a:pt x="2290762" y="914400"/>
                </a:lnTo>
                <a:lnTo>
                  <a:pt x="2295525" y="914400"/>
                </a:lnTo>
                <a:lnTo>
                  <a:pt x="2295525" y="919162"/>
                </a:lnTo>
                <a:close/>
              </a:path>
              <a:path w="2371725" h="1152525">
                <a:moveTo>
                  <a:pt x="2361239" y="919162"/>
                </a:moveTo>
                <a:lnTo>
                  <a:pt x="2295525" y="919162"/>
                </a:lnTo>
                <a:lnTo>
                  <a:pt x="2295525" y="914400"/>
                </a:lnTo>
                <a:lnTo>
                  <a:pt x="2366962" y="914400"/>
                </a:lnTo>
                <a:lnTo>
                  <a:pt x="2368638" y="914704"/>
                </a:lnTo>
                <a:lnTo>
                  <a:pt x="2370099" y="915581"/>
                </a:lnTo>
                <a:lnTo>
                  <a:pt x="2370851" y="916520"/>
                </a:lnTo>
                <a:lnTo>
                  <a:pt x="2363000" y="916520"/>
                </a:lnTo>
                <a:lnTo>
                  <a:pt x="2361239" y="919162"/>
                </a:lnTo>
                <a:close/>
              </a:path>
              <a:path w="2371725" h="1152525">
                <a:moveTo>
                  <a:pt x="2071060" y="923925"/>
                </a:moveTo>
                <a:lnTo>
                  <a:pt x="2062162" y="923925"/>
                </a:lnTo>
                <a:lnTo>
                  <a:pt x="2066124" y="916520"/>
                </a:lnTo>
                <a:lnTo>
                  <a:pt x="2071060" y="923925"/>
                </a:lnTo>
                <a:close/>
              </a:path>
              <a:path w="2371725" h="1152525">
                <a:moveTo>
                  <a:pt x="2138362" y="923925"/>
                </a:moveTo>
                <a:lnTo>
                  <a:pt x="2071060" y="923925"/>
                </a:lnTo>
                <a:lnTo>
                  <a:pt x="2066124" y="916520"/>
                </a:lnTo>
                <a:lnTo>
                  <a:pt x="2133600" y="916520"/>
                </a:lnTo>
                <a:lnTo>
                  <a:pt x="2133600" y="919162"/>
                </a:lnTo>
                <a:lnTo>
                  <a:pt x="2143125" y="919162"/>
                </a:lnTo>
                <a:lnTo>
                  <a:pt x="2142896" y="920635"/>
                </a:lnTo>
                <a:lnTo>
                  <a:pt x="2142210" y="921956"/>
                </a:lnTo>
                <a:lnTo>
                  <a:pt x="2141156" y="923010"/>
                </a:lnTo>
                <a:lnTo>
                  <a:pt x="2139835" y="923696"/>
                </a:lnTo>
                <a:lnTo>
                  <a:pt x="2138362" y="923925"/>
                </a:lnTo>
                <a:close/>
              </a:path>
              <a:path w="2371725" h="1152525">
                <a:moveTo>
                  <a:pt x="2222047" y="1145120"/>
                </a:moveTo>
                <a:lnTo>
                  <a:pt x="2218524" y="1145120"/>
                </a:lnTo>
                <a:lnTo>
                  <a:pt x="2214562" y="1139177"/>
                </a:lnTo>
                <a:lnTo>
                  <a:pt x="2363000" y="916520"/>
                </a:lnTo>
                <a:lnTo>
                  <a:pt x="2366962" y="923925"/>
                </a:lnTo>
                <a:lnTo>
                  <a:pt x="2369510" y="923925"/>
                </a:lnTo>
                <a:lnTo>
                  <a:pt x="2222047" y="1145120"/>
                </a:lnTo>
                <a:close/>
              </a:path>
              <a:path w="2371725" h="1152525">
                <a:moveTo>
                  <a:pt x="2369510" y="923925"/>
                </a:moveTo>
                <a:lnTo>
                  <a:pt x="2366962" y="923925"/>
                </a:lnTo>
                <a:lnTo>
                  <a:pt x="2363000" y="916520"/>
                </a:lnTo>
                <a:lnTo>
                  <a:pt x="2370851" y="916520"/>
                </a:lnTo>
                <a:lnTo>
                  <a:pt x="2371166" y="916914"/>
                </a:lnTo>
                <a:lnTo>
                  <a:pt x="2371686" y="918540"/>
                </a:lnTo>
                <a:lnTo>
                  <a:pt x="2371598" y="920241"/>
                </a:lnTo>
                <a:lnTo>
                  <a:pt x="2370924" y="921804"/>
                </a:lnTo>
                <a:lnTo>
                  <a:pt x="2369510" y="923925"/>
                </a:lnTo>
                <a:close/>
              </a:path>
              <a:path w="2371725" h="1152525">
                <a:moveTo>
                  <a:pt x="2218524" y="1145120"/>
                </a:moveTo>
                <a:lnTo>
                  <a:pt x="2210600" y="1145120"/>
                </a:lnTo>
                <a:lnTo>
                  <a:pt x="2214562" y="1139177"/>
                </a:lnTo>
                <a:lnTo>
                  <a:pt x="2218524" y="1145120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3774122" y="22374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3774122" y="24660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3774122" y="26946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3774122" y="29232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3774122" y="31518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3774122" y="3380422"/>
            <a:ext cx="1424305" cy="2847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3789362" y="2252662"/>
            <a:ext cx="1381125" cy="1381125"/>
          </a:xfrm>
          <a:custGeom>
            <a:avLst/>
            <a:gdLst/>
            <a:ahLst/>
            <a:cxnLst/>
            <a:rect l="l" t="t" r="r" b="b"/>
            <a:pathLst>
              <a:path w="1381125" h="1381125">
                <a:moveTo>
                  <a:pt x="13811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81125" y="0"/>
                </a:lnTo>
                <a:lnTo>
                  <a:pt x="138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81125" y="1376362"/>
                </a:lnTo>
                <a:lnTo>
                  <a:pt x="1381125" y="1381125"/>
                </a:lnTo>
                <a:close/>
              </a:path>
              <a:path w="13811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81125" h="1381125">
                <a:moveTo>
                  <a:pt x="137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371600" y="4762"/>
                </a:lnTo>
                <a:lnTo>
                  <a:pt x="1371600" y="9525"/>
                </a:lnTo>
                <a:close/>
              </a:path>
              <a:path w="1381125" h="1381125">
                <a:moveTo>
                  <a:pt x="1371600" y="1376362"/>
                </a:moveTo>
                <a:lnTo>
                  <a:pt x="1371600" y="4762"/>
                </a:lnTo>
                <a:lnTo>
                  <a:pt x="1376362" y="9525"/>
                </a:lnTo>
                <a:lnTo>
                  <a:pt x="1381125" y="9525"/>
                </a:lnTo>
                <a:lnTo>
                  <a:pt x="1381125" y="1371600"/>
                </a:lnTo>
                <a:lnTo>
                  <a:pt x="1376362" y="1371600"/>
                </a:lnTo>
                <a:lnTo>
                  <a:pt x="1371600" y="1376362"/>
                </a:lnTo>
                <a:close/>
              </a:path>
              <a:path w="1381125" h="1381125">
                <a:moveTo>
                  <a:pt x="1381125" y="9525"/>
                </a:moveTo>
                <a:lnTo>
                  <a:pt x="1376362" y="9525"/>
                </a:lnTo>
                <a:lnTo>
                  <a:pt x="1371600" y="4762"/>
                </a:lnTo>
                <a:lnTo>
                  <a:pt x="1381125" y="4762"/>
                </a:lnTo>
                <a:lnTo>
                  <a:pt x="1381125" y="9525"/>
                </a:lnTo>
                <a:close/>
              </a:path>
              <a:path w="13811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81125" h="1381125">
                <a:moveTo>
                  <a:pt x="13716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371600" y="1371600"/>
                </a:lnTo>
                <a:lnTo>
                  <a:pt x="1371600" y="1376362"/>
                </a:lnTo>
                <a:close/>
              </a:path>
              <a:path w="1381125" h="1381125">
                <a:moveTo>
                  <a:pt x="1381125" y="1376362"/>
                </a:moveTo>
                <a:lnTo>
                  <a:pt x="1371600" y="1376362"/>
                </a:lnTo>
                <a:lnTo>
                  <a:pt x="1376362" y="1371600"/>
                </a:lnTo>
                <a:lnTo>
                  <a:pt x="1381125" y="1371600"/>
                </a:lnTo>
                <a:lnTo>
                  <a:pt x="13811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 txBox="1"/>
          <p:nvPr/>
        </p:nvSpPr>
        <p:spPr>
          <a:xfrm>
            <a:off x="2504439" y="1065529"/>
            <a:ext cx="2810510" cy="257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sysindexes</a:t>
            </a:r>
            <a:endParaRPr sz="1800">
              <a:latin typeface="Arial"/>
              <a:cs typeface="Arial"/>
            </a:endParaRPr>
          </a:p>
          <a:p>
            <a:pPr marL="203835">
              <a:lnSpc>
                <a:spcPct val="100000"/>
              </a:lnSpc>
              <a:spcBef>
                <a:spcPts val="70"/>
              </a:spcBef>
              <a:tabLst>
                <a:tab pos="681355" algn="l"/>
                <a:tab pos="2034539" algn="l"/>
              </a:tabLst>
            </a:pPr>
            <a:r>
              <a:rPr sz="1800" dirty="0">
                <a:latin typeface="Arial Narrow"/>
                <a:cs typeface="Arial Narrow"/>
              </a:rPr>
              <a:t>id	</a:t>
            </a:r>
            <a:r>
              <a:rPr sz="1800" spc="-5" dirty="0">
                <a:latin typeface="Arial Narrow"/>
                <a:cs typeface="Arial Narrow"/>
              </a:rPr>
              <a:t>indid </a:t>
            </a:r>
            <a:r>
              <a:rPr sz="1800" dirty="0">
                <a:latin typeface="Arial Narrow"/>
                <a:cs typeface="Arial Narrow"/>
              </a:rPr>
              <a:t>= 0	</a:t>
            </a:r>
            <a:r>
              <a:rPr sz="1800" spc="-5" dirty="0">
                <a:latin typeface="Arial Narrow"/>
                <a:cs typeface="Arial Narrow"/>
              </a:rPr>
              <a:t>First</a:t>
            </a:r>
            <a:r>
              <a:rPr sz="1800" spc="-55" dirty="0">
                <a:latin typeface="Arial Narrow"/>
                <a:cs typeface="Arial Narrow"/>
              </a:rPr>
              <a:t> </a:t>
            </a:r>
            <a:r>
              <a:rPr sz="1800" spc="-5" dirty="0">
                <a:latin typeface="Arial Narrow"/>
                <a:cs typeface="Arial Narrow"/>
              </a:rPr>
              <a:t>IAM</a:t>
            </a:r>
            <a:endParaRPr sz="18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Arial Narrow"/>
              <a:cs typeface="Arial Narrow"/>
            </a:endParaRPr>
          </a:p>
          <a:p>
            <a:pPr marL="1250950">
              <a:lnSpc>
                <a:spcPts val="1895"/>
              </a:lnSpc>
            </a:pPr>
            <a:r>
              <a:rPr sz="1800" b="1" spc="-5" dirty="0">
                <a:latin typeface="Arial"/>
                <a:cs typeface="Arial"/>
              </a:rPr>
              <a:t>IAM</a:t>
            </a:r>
            <a:endParaRPr sz="1800">
              <a:latin typeface="Arial"/>
              <a:cs typeface="Arial"/>
            </a:endParaRPr>
          </a:p>
          <a:p>
            <a:pPr marL="1320800">
              <a:lnSpc>
                <a:spcPts val="1655"/>
              </a:lnSpc>
              <a:tabLst>
                <a:tab pos="2051050" algn="l"/>
              </a:tabLst>
            </a:pPr>
            <a:r>
              <a:rPr sz="1200" b="1" spc="-195" dirty="0">
                <a:latin typeface="Arial Narrow"/>
                <a:cs typeface="Arial Narrow"/>
              </a:rPr>
              <a:t>E</a:t>
            </a:r>
            <a:r>
              <a:rPr sz="2400" b="1" spc="-292" baseline="-12152" dirty="0">
                <a:latin typeface="Arial Narrow"/>
                <a:cs typeface="Arial Narrow"/>
              </a:rPr>
              <a:t>…</a:t>
            </a:r>
            <a:r>
              <a:rPr sz="1200" b="1" spc="-195" dirty="0">
                <a:latin typeface="Arial Narrow"/>
                <a:cs typeface="Arial Narrow"/>
              </a:rPr>
              <a:t>xtent	</a:t>
            </a:r>
            <a:r>
              <a:rPr sz="1200" b="1" spc="-5" dirty="0">
                <a:latin typeface="Arial Narrow"/>
                <a:cs typeface="Arial Narrow"/>
              </a:rPr>
              <a:t>Bit</a:t>
            </a:r>
            <a:r>
              <a:rPr sz="1200" b="1" spc="-10" dirty="0">
                <a:latin typeface="Arial Narrow"/>
                <a:cs typeface="Arial Narrow"/>
              </a:rPr>
              <a:t> </a:t>
            </a:r>
            <a:r>
              <a:rPr sz="1200" b="1" spc="-5" dirty="0">
                <a:latin typeface="Arial Narrow"/>
                <a:cs typeface="Arial Narrow"/>
              </a:rPr>
              <a:t>Map</a:t>
            </a:r>
            <a:endParaRPr sz="1200">
              <a:latin typeface="Arial Narrow"/>
              <a:cs typeface="Arial Narrow"/>
            </a:endParaRPr>
          </a:p>
          <a:p>
            <a:pPr marL="1381125">
              <a:lnSpc>
                <a:spcPts val="1860"/>
              </a:lnSpc>
              <a:spcBef>
                <a:spcPts val="225"/>
              </a:spcBef>
              <a:tabLst>
                <a:tab pos="2168525" algn="l"/>
              </a:tabLst>
            </a:pPr>
            <a:r>
              <a:rPr sz="1600" b="1" spc="-5" dirty="0">
                <a:latin typeface="Arial Narrow"/>
                <a:cs typeface="Arial Narrow"/>
              </a:rPr>
              <a:t>127	1</a:t>
            </a:r>
            <a:endParaRPr sz="1600">
              <a:latin typeface="Arial Narrow"/>
              <a:cs typeface="Arial Narrow"/>
            </a:endParaRPr>
          </a:p>
          <a:p>
            <a:pPr marL="1381125">
              <a:lnSpc>
                <a:spcPts val="1800"/>
              </a:lnSpc>
              <a:tabLst>
                <a:tab pos="2168525" algn="l"/>
              </a:tabLst>
            </a:pPr>
            <a:r>
              <a:rPr sz="1600" b="1" spc="-5" dirty="0">
                <a:latin typeface="Arial Narrow"/>
                <a:cs typeface="Arial Narrow"/>
              </a:rPr>
              <a:t>128	1</a:t>
            </a:r>
            <a:endParaRPr sz="1600">
              <a:latin typeface="Arial Narrow"/>
              <a:cs typeface="Arial Narrow"/>
            </a:endParaRPr>
          </a:p>
          <a:p>
            <a:pPr marL="1381125">
              <a:lnSpc>
                <a:spcPts val="1800"/>
              </a:lnSpc>
              <a:tabLst>
                <a:tab pos="2168525" algn="l"/>
              </a:tabLst>
            </a:pPr>
            <a:r>
              <a:rPr sz="1600" b="1" spc="-5" dirty="0">
                <a:latin typeface="Arial Narrow"/>
                <a:cs typeface="Arial Narrow"/>
              </a:rPr>
              <a:t>129	0</a:t>
            </a:r>
            <a:endParaRPr sz="1600">
              <a:latin typeface="Arial Narrow"/>
              <a:cs typeface="Arial Narrow"/>
            </a:endParaRPr>
          </a:p>
          <a:p>
            <a:pPr marL="1381125">
              <a:lnSpc>
                <a:spcPts val="1800"/>
              </a:lnSpc>
              <a:tabLst>
                <a:tab pos="2168525" algn="l"/>
              </a:tabLst>
            </a:pPr>
            <a:r>
              <a:rPr sz="1600" b="1" spc="-5" dirty="0">
                <a:latin typeface="Arial Narrow"/>
                <a:cs typeface="Arial Narrow"/>
              </a:rPr>
              <a:t>130	1</a:t>
            </a:r>
            <a:endParaRPr sz="1600">
              <a:latin typeface="Arial Narrow"/>
              <a:cs typeface="Arial Narrow"/>
            </a:endParaRPr>
          </a:p>
          <a:p>
            <a:pPr marL="1381125">
              <a:lnSpc>
                <a:spcPts val="1860"/>
              </a:lnSpc>
            </a:pPr>
            <a:r>
              <a:rPr sz="1600" b="1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586" name="object 586"/>
          <p:cNvSpPr/>
          <p:nvPr/>
        </p:nvSpPr>
        <p:spPr>
          <a:xfrm>
            <a:off x="4267200" y="1676400"/>
            <a:ext cx="381000" cy="6096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4257116" y="1671637"/>
            <a:ext cx="401320" cy="622300"/>
          </a:xfrm>
          <a:custGeom>
            <a:avLst/>
            <a:gdLst/>
            <a:ahLst/>
            <a:cxnLst/>
            <a:rect l="l" t="t" r="r" b="b"/>
            <a:pathLst>
              <a:path w="401320" h="622300">
                <a:moveTo>
                  <a:pt x="100571" y="382943"/>
                </a:moveTo>
                <a:lnTo>
                  <a:pt x="100571" y="0"/>
                </a:lnTo>
                <a:lnTo>
                  <a:pt x="300596" y="0"/>
                </a:lnTo>
                <a:lnTo>
                  <a:pt x="300596" y="4762"/>
                </a:lnTo>
                <a:lnTo>
                  <a:pt x="110096" y="4762"/>
                </a:lnTo>
                <a:lnTo>
                  <a:pt x="105333" y="9525"/>
                </a:lnTo>
                <a:lnTo>
                  <a:pt x="110096" y="9525"/>
                </a:lnTo>
                <a:lnTo>
                  <a:pt x="110096" y="378180"/>
                </a:lnTo>
                <a:lnTo>
                  <a:pt x="105333" y="378180"/>
                </a:lnTo>
                <a:lnTo>
                  <a:pt x="100571" y="382943"/>
                </a:lnTo>
                <a:close/>
              </a:path>
              <a:path w="401320" h="622300">
                <a:moveTo>
                  <a:pt x="110096" y="9525"/>
                </a:moveTo>
                <a:lnTo>
                  <a:pt x="105333" y="9525"/>
                </a:lnTo>
                <a:lnTo>
                  <a:pt x="110096" y="4762"/>
                </a:lnTo>
                <a:lnTo>
                  <a:pt x="110096" y="9525"/>
                </a:lnTo>
                <a:close/>
              </a:path>
              <a:path w="401320" h="622300">
                <a:moveTo>
                  <a:pt x="291071" y="9525"/>
                </a:moveTo>
                <a:lnTo>
                  <a:pt x="110096" y="9525"/>
                </a:lnTo>
                <a:lnTo>
                  <a:pt x="110096" y="4762"/>
                </a:lnTo>
                <a:lnTo>
                  <a:pt x="291071" y="4762"/>
                </a:lnTo>
                <a:lnTo>
                  <a:pt x="291071" y="9525"/>
                </a:lnTo>
                <a:close/>
              </a:path>
              <a:path w="401320" h="622300">
                <a:moveTo>
                  <a:pt x="380992" y="387705"/>
                </a:moveTo>
                <a:lnTo>
                  <a:pt x="291071" y="387705"/>
                </a:lnTo>
                <a:lnTo>
                  <a:pt x="291071" y="4762"/>
                </a:lnTo>
                <a:lnTo>
                  <a:pt x="295833" y="9525"/>
                </a:lnTo>
                <a:lnTo>
                  <a:pt x="300596" y="9525"/>
                </a:lnTo>
                <a:lnTo>
                  <a:pt x="300596" y="378180"/>
                </a:lnTo>
                <a:lnTo>
                  <a:pt x="295833" y="378180"/>
                </a:lnTo>
                <a:lnTo>
                  <a:pt x="300596" y="382943"/>
                </a:lnTo>
                <a:lnTo>
                  <a:pt x="384912" y="382943"/>
                </a:lnTo>
                <a:lnTo>
                  <a:pt x="380992" y="387705"/>
                </a:lnTo>
                <a:close/>
              </a:path>
              <a:path w="401320" h="622300">
                <a:moveTo>
                  <a:pt x="300596" y="9525"/>
                </a:moveTo>
                <a:lnTo>
                  <a:pt x="295833" y="9525"/>
                </a:lnTo>
                <a:lnTo>
                  <a:pt x="291071" y="4762"/>
                </a:lnTo>
                <a:lnTo>
                  <a:pt x="300596" y="4762"/>
                </a:lnTo>
                <a:lnTo>
                  <a:pt x="300596" y="9525"/>
                </a:lnTo>
                <a:close/>
              </a:path>
              <a:path w="401320" h="622300">
                <a:moveTo>
                  <a:pt x="200583" y="621855"/>
                </a:moveTo>
                <a:lnTo>
                  <a:pt x="0" y="378180"/>
                </a:lnTo>
                <a:lnTo>
                  <a:pt x="100571" y="378180"/>
                </a:lnTo>
                <a:lnTo>
                  <a:pt x="100571" y="379920"/>
                </a:lnTo>
                <a:lnTo>
                  <a:pt x="13766" y="379920"/>
                </a:lnTo>
                <a:lnTo>
                  <a:pt x="10083" y="387705"/>
                </a:lnTo>
                <a:lnTo>
                  <a:pt x="20175" y="387705"/>
                </a:lnTo>
                <a:lnTo>
                  <a:pt x="200583" y="606865"/>
                </a:lnTo>
                <a:lnTo>
                  <a:pt x="196900" y="611339"/>
                </a:lnTo>
                <a:lnTo>
                  <a:pt x="209239" y="611339"/>
                </a:lnTo>
                <a:lnTo>
                  <a:pt x="200583" y="621855"/>
                </a:lnTo>
                <a:close/>
              </a:path>
              <a:path w="401320" h="622300">
                <a:moveTo>
                  <a:pt x="110096" y="382943"/>
                </a:moveTo>
                <a:lnTo>
                  <a:pt x="100571" y="382943"/>
                </a:lnTo>
                <a:lnTo>
                  <a:pt x="105333" y="378180"/>
                </a:lnTo>
                <a:lnTo>
                  <a:pt x="110096" y="378180"/>
                </a:lnTo>
                <a:lnTo>
                  <a:pt x="110096" y="382943"/>
                </a:lnTo>
                <a:close/>
              </a:path>
              <a:path w="401320" h="622300">
                <a:moveTo>
                  <a:pt x="300596" y="382943"/>
                </a:moveTo>
                <a:lnTo>
                  <a:pt x="295833" y="378180"/>
                </a:lnTo>
                <a:lnTo>
                  <a:pt x="300596" y="378180"/>
                </a:lnTo>
                <a:lnTo>
                  <a:pt x="300596" y="382943"/>
                </a:lnTo>
                <a:close/>
              </a:path>
              <a:path w="401320" h="622300">
                <a:moveTo>
                  <a:pt x="384912" y="382943"/>
                </a:moveTo>
                <a:lnTo>
                  <a:pt x="300596" y="382943"/>
                </a:lnTo>
                <a:lnTo>
                  <a:pt x="300596" y="378180"/>
                </a:lnTo>
                <a:lnTo>
                  <a:pt x="401167" y="378180"/>
                </a:lnTo>
                <a:lnTo>
                  <a:pt x="399735" y="379920"/>
                </a:lnTo>
                <a:lnTo>
                  <a:pt x="387400" y="379920"/>
                </a:lnTo>
                <a:lnTo>
                  <a:pt x="384912" y="382943"/>
                </a:lnTo>
                <a:close/>
              </a:path>
              <a:path w="401320" h="622300">
                <a:moveTo>
                  <a:pt x="20175" y="387705"/>
                </a:moveTo>
                <a:lnTo>
                  <a:pt x="10083" y="387705"/>
                </a:lnTo>
                <a:lnTo>
                  <a:pt x="13766" y="379920"/>
                </a:lnTo>
                <a:lnTo>
                  <a:pt x="20175" y="387705"/>
                </a:lnTo>
                <a:close/>
              </a:path>
              <a:path w="401320" h="622300">
                <a:moveTo>
                  <a:pt x="110096" y="387705"/>
                </a:moveTo>
                <a:lnTo>
                  <a:pt x="20175" y="387705"/>
                </a:lnTo>
                <a:lnTo>
                  <a:pt x="13766" y="379920"/>
                </a:lnTo>
                <a:lnTo>
                  <a:pt x="100571" y="379920"/>
                </a:lnTo>
                <a:lnTo>
                  <a:pt x="100571" y="382943"/>
                </a:lnTo>
                <a:lnTo>
                  <a:pt x="110096" y="382943"/>
                </a:lnTo>
                <a:lnTo>
                  <a:pt x="110096" y="387705"/>
                </a:lnTo>
                <a:close/>
              </a:path>
              <a:path w="401320" h="622300">
                <a:moveTo>
                  <a:pt x="209239" y="611339"/>
                </a:moveTo>
                <a:lnTo>
                  <a:pt x="204266" y="611339"/>
                </a:lnTo>
                <a:lnTo>
                  <a:pt x="200583" y="606865"/>
                </a:lnTo>
                <a:lnTo>
                  <a:pt x="387400" y="379920"/>
                </a:lnTo>
                <a:lnTo>
                  <a:pt x="391083" y="387705"/>
                </a:lnTo>
                <a:lnTo>
                  <a:pt x="393326" y="387705"/>
                </a:lnTo>
                <a:lnTo>
                  <a:pt x="209239" y="611339"/>
                </a:lnTo>
                <a:close/>
              </a:path>
              <a:path w="401320" h="622300">
                <a:moveTo>
                  <a:pt x="393326" y="387705"/>
                </a:moveTo>
                <a:lnTo>
                  <a:pt x="391083" y="387705"/>
                </a:lnTo>
                <a:lnTo>
                  <a:pt x="387400" y="379920"/>
                </a:lnTo>
                <a:lnTo>
                  <a:pt x="399735" y="379920"/>
                </a:lnTo>
                <a:lnTo>
                  <a:pt x="393326" y="387705"/>
                </a:lnTo>
                <a:close/>
              </a:path>
              <a:path w="401320" h="622300">
                <a:moveTo>
                  <a:pt x="204266" y="611339"/>
                </a:moveTo>
                <a:lnTo>
                  <a:pt x="196900" y="611339"/>
                </a:lnTo>
                <a:lnTo>
                  <a:pt x="200583" y="606865"/>
                </a:lnTo>
                <a:lnTo>
                  <a:pt x="204266" y="611339"/>
                </a:lnTo>
                <a:close/>
              </a:path>
            </a:pathLst>
          </a:custGeom>
          <a:solidFill>
            <a:srgbClr val="D500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4755464" y="4676165"/>
            <a:ext cx="1084580" cy="1085850"/>
          </a:xfrm>
          <a:custGeom>
            <a:avLst/>
            <a:gdLst/>
            <a:ahLst/>
            <a:cxnLst/>
            <a:rect l="l" t="t" r="r" b="b"/>
            <a:pathLst>
              <a:path w="1084579" h="1085850">
                <a:moveTo>
                  <a:pt x="987425" y="1085481"/>
                </a:moveTo>
                <a:lnTo>
                  <a:pt x="0" y="96469"/>
                </a:lnTo>
                <a:lnTo>
                  <a:pt x="96621" y="0"/>
                </a:lnTo>
                <a:lnTo>
                  <a:pt x="1084046" y="989012"/>
                </a:lnTo>
                <a:lnTo>
                  <a:pt x="987425" y="10854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4752251" y="4676203"/>
            <a:ext cx="1084580" cy="1087120"/>
          </a:xfrm>
          <a:custGeom>
            <a:avLst/>
            <a:gdLst/>
            <a:ahLst/>
            <a:cxnLst/>
            <a:rect l="l" t="t" r="r" b="b"/>
            <a:pathLst>
              <a:path w="1084579" h="1087120">
                <a:moveTo>
                  <a:pt x="96697" y="1086993"/>
                </a:moveTo>
                <a:lnTo>
                  <a:pt x="0" y="990600"/>
                </a:lnTo>
                <a:lnTo>
                  <a:pt x="987425" y="0"/>
                </a:lnTo>
                <a:lnTo>
                  <a:pt x="1084122" y="96393"/>
                </a:lnTo>
                <a:lnTo>
                  <a:pt x="96697" y="10869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4786058" y="4692396"/>
            <a:ext cx="1034415" cy="1034415"/>
          </a:xfrm>
          <a:custGeom>
            <a:avLst/>
            <a:gdLst/>
            <a:ahLst/>
            <a:cxnLst/>
            <a:rect l="l" t="t" r="r" b="b"/>
            <a:pathLst>
              <a:path w="1034414" h="1034414">
                <a:moveTo>
                  <a:pt x="950912" y="1033970"/>
                </a:moveTo>
                <a:lnTo>
                  <a:pt x="0" y="83057"/>
                </a:lnTo>
                <a:lnTo>
                  <a:pt x="83057" y="0"/>
                </a:lnTo>
                <a:lnTo>
                  <a:pt x="1033970" y="950912"/>
                </a:lnTo>
                <a:lnTo>
                  <a:pt x="950912" y="103397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4786058" y="4692396"/>
            <a:ext cx="1034415" cy="1034415"/>
          </a:xfrm>
          <a:custGeom>
            <a:avLst/>
            <a:gdLst/>
            <a:ahLst/>
            <a:cxnLst/>
            <a:rect l="l" t="t" r="r" b="b"/>
            <a:pathLst>
              <a:path w="1034414" h="1034414">
                <a:moveTo>
                  <a:pt x="83057" y="1033970"/>
                </a:moveTo>
                <a:lnTo>
                  <a:pt x="0" y="950912"/>
                </a:lnTo>
                <a:lnTo>
                  <a:pt x="950912" y="0"/>
                </a:lnTo>
                <a:lnTo>
                  <a:pt x="1033970" y="83057"/>
                </a:lnTo>
                <a:lnTo>
                  <a:pt x="83057" y="103397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4481569" y="2881312"/>
            <a:ext cx="485660" cy="3327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465137" y="6111252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465137" y="6111252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520674" y="6193866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520674" y="6193866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523849" y="6195466"/>
            <a:ext cx="266611" cy="15887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963447" y="6111252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963447" y="6111252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1018984" y="6193866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1018984" y="6193866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1069771" y="6244716"/>
            <a:ext cx="218998" cy="1096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806335" y="6193866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806335" y="6193866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253047"/>
            <a:ext cx="794512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Finding </a:t>
            </a:r>
            <a:r>
              <a:rPr sz="2800" spc="-15" dirty="0"/>
              <a:t>Rows </a:t>
            </a:r>
            <a:r>
              <a:rPr sz="2800" spc="-5" dirty="0"/>
              <a:t>in a Heap </a:t>
            </a:r>
            <a:r>
              <a:rPr sz="2800" dirty="0"/>
              <a:t>with </a:t>
            </a:r>
            <a:r>
              <a:rPr sz="2800" spc="-5" dirty="0"/>
              <a:t>a Nonclustered</a:t>
            </a:r>
            <a:r>
              <a:rPr sz="2800" spc="20" dirty="0"/>
              <a:t> </a:t>
            </a:r>
            <a:r>
              <a:rPr sz="2800" spc="-5" dirty="0"/>
              <a:t>Index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52437" y="1374775"/>
            <a:ext cx="8162925" cy="2981325"/>
          </a:xfrm>
          <a:custGeom>
            <a:avLst/>
            <a:gdLst/>
            <a:ahLst/>
            <a:cxnLst/>
            <a:rect l="l" t="t" r="r" b="b"/>
            <a:pathLst>
              <a:path w="8162925" h="2981325">
                <a:moveTo>
                  <a:pt x="8162925" y="2981325"/>
                </a:moveTo>
                <a:lnTo>
                  <a:pt x="0" y="2981325"/>
                </a:lnTo>
                <a:lnTo>
                  <a:pt x="0" y="0"/>
                </a:lnTo>
                <a:lnTo>
                  <a:pt x="8162925" y="0"/>
                </a:lnTo>
                <a:lnTo>
                  <a:pt x="816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971800"/>
                </a:lnTo>
                <a:lnTo>
                  <a:pt x="4762" y="2971800"/>
                </a:lnTo>
                <a:lnTo>
                  <a:pt x="9525" y="2976562"/>
                </a:lnTo>
                <a:lnTo>
                  <a:pt x="8162925" y="2976562"/>
                </a:lnTo>
                <a:lnTo>
                  <a:pt x="8162925" y="2981325"/>
                </a:lnTo>
                <a:close/>
              </a:path>
              <a:path w="8162925" h="2981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162925" h="2981325">
                <a:moveTo>
                  <a:pt x="815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153400" y="4762"/>
                </a:lnTo>
                <a:lnTo>
                  <a:pt x="8153400" y="9525"/>
                </a:lnTo>
                <a:close/>
              </a:path>
              <a:path w="8162925" h="2981325">
                <a:moveTo>
                  <a:pt x="8153400" y="2976562"/>
                </a:moveTo>
                <a:lnTo>
                  <a:pt x="8153400" y="4762"/>
                </a:lnTo>
                <a:lnTo>
                  <a:pt x="8158162" y="9525"/>
                </a:lnTo>
                <a:lnTo>
                  <a:pt x="8162925" y="9525"/>
                </a:lnTo>
                <a:lnTo>
                  <a:pt x="8162925" y="2971800"/>
                </a:lnTo>
                <a:lnTo>
                  <a:pt x="8158162" y="2971800"/>
                </a:lnTo>
                <a:lnTo>
                  <a:pt x="8153400" y="2976562"/>
                </a:lnTo>
                <a:close/>
              </a:path>
              <a:path w="8162925" h="2981325">
                <a:moveTo>
                  <a:pt x="8162925" y="9525"/>
                </a:moveTo>
                <a:lnTo>
                  <a:pt x="8158162" y="9525"/>
                </a:lnTo>
                <a:lnTo>
                  <a:pt x="8153400" y="4762"/>
                </a:lnTo>
                <a:lnTo>
                  <a:pt x="8162925" y="4762"/>
                </a:lnTo>
                <a:lnTo>
                  <a:pt x="8162925" y="9525"/>
                </a:lnTo>
                <a:close/>
              </a:path>
              <a:path w="8162925" h="2981325">
                <a:moveTo>
                  <a:pt x="9525" y="2976562"/>
                </a:moveTo>
                <a:lnTo>
                  <a:pt x="4762" y="2971800"/>
                </a:lnTo>
                <a:lnTo>
                  <a:pt x="9525" y="2971800"/>
                </a:lnTo>
                <a:lnTo>
                  <a:pt x="9525" y="2976562"/>
                </a:lnTo>
                <a:close/>
              </a:path>
              <a:path w="8162925" h="2981325">
                <a:moveTo>
                  <a:pt x="8153400" y="2976562"/>
                </a:moveTo>
                <a:lnTo>
                  <a:pt x="9525" y="2976562"/>
                </a:lnTo>
                <a:lnTo>
                  <a:pt x="9525" y="2971800"/>
                </a:lnTo>
                <a:lnTo>
                  <a:pt x="8153400" y="2971800"/>
                </a:lnTo>
                <a:lnTo>
                  <a:pt x="8153400" y="2976562"/>
                </a:lnTo>
                <a:close/>
              </a:path>
              <a:path w="8162925" h="2981325">
                <a:moveTo>
                  <a:pt x="8162925" y="2976562"/>
                </a:moveTo>
                <a:lnTo>
                  <a:pt x="8153400" y="2976562"/>
                </a:lnTo>
                <a:lnTo>
                  <a:pt x="8158162" y="2971800"/>
                </a:lnTo>
                <a:lnTo>
                  <a:pt x="8162925" y="2971800"/>
                </a:lnTo>
                <a:lnTo>
                  <a:pt x="8162925" y="297656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82039" y="1539239"/>
            <a:ext cx="638556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7912" y="1535112"/>
            <a:ext cx="6394450" cy="1228725"/>
          </a:xfrm>
          <a:custGeom>
            <a:avLst/>
            <a:gdLst/>
            <a:ahLst/>
            <a:cxnLst/>
            <a:rect l="l" t="t" r="r" b="b"/>
            <a:pathLst>
              <a:path w="6394450" h="1228725">
                <a:moveTo>
                  <a:pt x="6394450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6394450" y="0"/>
                </a:lnTo>
                <a:lnTo>
                  <a:pt x="6394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6394450" y="1223962"/>
                </a:lnTo>
                <a:lnTo>
                  <a:pt x="6394450" y="1228725"/>
                </a:lnTo>
                <a:close/>
              </a:path>
              <a:path w="6394450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394450" h="1228725">
                <a:moveTo>
                  <a:pt x="6384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384925" y="4762"/>
                </a:lnTo>
                <a:lnTo>
                  <a:pt x="6384925" y="9525"/>
                </a:lnTo>
                <a:close/>
              </a:path>
              <a:path w="6394450" h="1228725">
                <a:moveTo>
                  <a:pt x="6384925" y="1223962"/>
                </a:moveTo>
                <a:lnTo>
                  <a:pt x="6384925" y="4762"/>
                </a:lnTo>
                <a:lnTo>
                  <a:pt x="6389687" y="9525"/>
                </a:lnTo>
                <a:lnTo>
                  <a:pt x="6394450" y="9525"/>
                </a:lnTo>
                <a:lnTo>
                  <a:pt x="6394450" y="1219200"/>
                </a:lnTo>
                <a:lnTo>
                  <a:pt x="6389687" y="1219200"/>
                </a:lnTo>
                <a:lnTo>
                  <a:pt x="6384925" y="1223962"/>
                </a:lnTo>
                <a:close/>
              </a:path>
              <a:path w="6394450" h="1228725">
                <a:moveTo>
                  <a:pt x="6394450" y="9525"/>
                </a:moveTo>
                <a:lnTo>
                  <a:pt x="6389687" y="9525"/>
                </a:lnTo>
                <a:lnTo>
                  <a:pt x="6384925" y="4762"/>
                </a:lnTo>
                <a:lnTo>
                  <a:pt x="6394450" y="4762"/>
                </a:lnTo>
                <a:lnTo>
                  <a:pt x="6394450" y="9525"/>
                </a:lnTo>
                <a:close/>
              </a:path>
              <a:path w="6394450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6394450" h="1228725">
                <a:moveTo>
                  <a:pt x="6384925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6384925" y="1219200"/>
                </a:lnTo>
                <a:lnTo>
                  <a:pt x="6384925" y="1223962"/>
                </a:lnTo>
                <a:close/>
              </a:path>
              <a:path w="6394450" h="1228725">
                <a:moveTo>
                  <a:pt x="6394450" y="1223962"/>
                </a:moveTo>
                <a:lnTo>
                  <a:pt x="6384925" y="1223962"/>
                </a:lnTo>
                <a:lnTo>
                  <a:pt x="6389687" y="1219200"/>
                </a:lnTo>
                <a:lnTo>
                  <a:pt x="6394450" y="1219200"/>
                </a:lnTo>
                <a:lnTo>
                  <a:pt x="6394450" y="1223962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66800" y="2979420"/>
            <a:ext cx="6385559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037" y="2974975"/>
            <a:ext cx="6394450" cy="1152525"/>
          </a:xfrm>
          <a:custGeom>
            <a:avLst/>
            <a:gdLst/>
            <a:ahLst/>
            <a:cxnLst/>
            <a:rect l="l" t="t" r="r" b="b"/>
            <a:pathLst>
              <a:path w="6394450" h="1152525">
                <a:moveTo>
                  <a:pt x="6394450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394450" y="0"/>
                </a:lnTo>
                <a:lnTo>
                  <a:pt x="6394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394450" y="1147762"/>
                </a:lnTo>
                <a:lnTo>
                  <a:pt x="6394450" y="1152525"/>
                </a:lnTo>
                <a:close/>
              </a:path>
              <a:path w="6394450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394450" h="1152525">
                <a:moveTo>
                  <a:pt x="6384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384925" y="4762"/>
                </a:lnTo>
                <a:lnTo>
                  <a:pt x="6384925" y="9525"/>
                </a:lnTo>
                <a:close/>
              </a:path>
              <a:path w="6394450" h="1152525">
                <a:moveTo>
                  <a:pt x="6384925" y="1147762"/>
                </a:moveTo>
                <a:lnTo>
                  <a:pt x="6384925" y="4762"/>
                </a:lnTo>
                <a:lnTo>
                  <a:pt x="6389687" y="9525"/>
                </a:lnTo>
                <a:lnTo>
                  <a:pt x="6394450" y="9525"/>
                </a:lnTo>
                <a:lnTo>
                  <a:pt x="6394450" y="1143000"/>
                </a:lnTo>
                <a:lnTo>
                  <a:pt x="6389687" y="1143000"/>
                </a:lnTo>
                <a:lnTo>
                  <a:pt x="6384925" y="1147762"/>
                </a:lnTo>
                <a:close/>
              </a:path>
              <a:path w="6394450" h="1152525">
                <a:moveTo>
                  <a:pt x="6394450" y="9525"/>
                </a:moveTo>
                <a:lnTo>
                  <a:pt x="6389687" y="9525"/>
                </a:lnTo>
                <a:lnTo>
                  <a:pt x="6384925" y="4762"/>
                </a:lnTo>
                <a:lnTo>
                  <a:pt x="6394450" y="4762"/>
                </a:lnTo>
                <a:lnTo>
                  <a:pt x="6394450" y="9525"/>
                </a:lnTo>
                <a:close/>
              </a:path>
              <a:path w="6394450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394450" h="1152525">
                <a:moveTo>
                  <a:pt x="6384925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384925" y="1143000"/>
                </a:lnTo>
                <a:lnTo>
                  <a:pt x="6384925" y="1147762"/>
                </a:lnTo>
                <a:close/>
              </a:path>
              <a:path w="6394450" h="1152525">
                <a:moveTo>
                  <a:pt x="6394450" y="1147762"/>
                </a:moveTo>
                <a:lnTo>
                  <a:pt x="6384925" y="1147762"/>
                </a:lnTo>
                <a:lnTo>
                  <a:pt x="6389687" y="1143000"/>
                </a:lnTo>
                <a:lnTo>
                  <a:pt x="6394450" y="1143000"/>
                </a:lnTo>
                <a:lnTo>
                  <a:pt x="6394450" y="1147762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1510" y="2364422"/>
            <a:ext cx="360680" cy="960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29772" y="2416810"/>
            <a:ext cx="360679" cy="908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39097" y="1624647"/>
            <a:ext cx="719454" cy="7829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0447" y="1557972"/>
            <a:ext cx="862330" cy="264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0447" y="1751647"/>
            <a:ext cx="862330" cy="2638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0447" y="1943735"/>
            <a:ext cx="862330" cy="264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95687" y="1573212"/>
            <a:ext cx="806450" cy="589280"/>
          </a:xfrm>
          <a:custGeom>
            <a:avLst/>
            <a:gdLst/>
            <a:ahLst/>
            <a:cxnLst/>
            <a:rect l="l" t="t" r="r" b="b"/>
            <a:pathLst>
              <a:path w="806450" h="589280">
                <a:moveTo>
                  <a:pt x="806450" y="588962"/>
                </a:moveTo>
                <a:lnTo>
                  <a:pt x="0" y="588962"/>
                </a:lnTo>
                <a:lnTo>
                  <a:pt x="0" y="0"/>
                </a:lnTo>
                <a:lnTo>
                  <a:pt x="806450" y="0"/>
                </a:lnTo>
                <a:lnTo>
                  <a:pt x="806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806450" y="584200"/>
                </a:lnTo>
                <a:lnTo>
                  <a:pt x="806450" y="588962"/>
                </a:lnTo>
                <a:close/>
              </a:path>
              <a:path w="806450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6450" h="589280">
                <a:moveTo>
                  <a:pt x="796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6925" y="4762"/>
                </a:lnTo>
                <a:lnTo>
                  <a:pt x="796925" y="9525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796925" y="4762"/>
                </a:lnTo>
                <a:lnTo>
                  <a:pt x="801687" y="9525"/>
                </a:lnTo>
                <a:lnTo>
                  <a:pt x="806450" y="9525"/>
                </a:lnTo>
                <a:lnTo>
                  <a:pt x="806450" y="579437"/>
                </a:lnTo>
                <a:lnTo>
                  <a:pt x="801687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9525"/>
                </a:moveTo>
                <a:lnTo>
                  <a:pt x="801687" y="9525"/>
                </a:lnTo>
                <a:lnTo>
                  <a:pt x="796925" y="4762"/>
                </a:lnTo>
                <a:lnTo>
                  <a:pt x="806450" y="4762"/>
                </a:lnTo>
                <a:lnTo>
                  <a:pt x="806450" y="9525"/>
                </a:lnTo>
                <a:close/>
              </a:path>
              <a:path w="806450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96925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584200"/>
                </a:moveTo>
                <a:lnTo>
                  <a:pt x="796925" y="584200"/>
                </a:lnTo>
                <a:lnTo>
                  <a:pt x="801687" y="579437"/>
                </a:lnTo>
                <a:lnTo>
                  <a:pt x="806450" y="579437"/>
                </a:lnTo>
                <a:lnTo>
                  <a:pt x="806450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99597" y="2035810"/>
            <a:ext cx="1214755" cy="325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75397" y="3264534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5397" y="3447097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75397" y="3629659"/>
            <a:ext cx="598804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75397" y="3813809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75397" y="3996372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087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087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087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7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87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906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29809" y="2300922"/>
            <a:ext cx="854392" cy="2644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29809" y="2494597"/>
            <a:ext cx="854392" cy="2638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829809" y="2686685"/>
            <a:ext cx="854392" cy="26447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845050" y="2316162"/>
            <a:ext cx="798830" cy="589280"/>
          </a:xfrm>
          <a:custGeom>
            <a:avLst/>
            <a:gdLst/>
            <a:ahLst/>
            <a:cxnLst/>
            <a:rect l="l" t="t" r="r" b="b"/>
            <a:pathLst>
              <a:path w="798829" h="589280">
                <a:moveTo>
                  <a:pt x="798512" y="588962"/>
                </a:moveTo>
                <a:lnTo>
                  <a:pt x="0" y="588962"/>
                </a:lnTo>
                <a:lnTo>
                  <a:pt x="0" y="0"/>
                </a:lnTo>
                <a:lnTo>
                  <a:pt x="798512" y="0"/>
                </a:lnTo>
                <a:lnTo>
                  <a:pt x="7985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798512" y="584200"/>
                </a:lnTo>
                <a:lnTo>
                  <a:pt x="798512" y="588962"/>
                </a:lnTo>
                <a:close/>
              </a:path>
              <a:path w="798829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8829" h="589280">
                <a:moveTo>
                  <a:pt x="7889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88987" y="4762"/>
                </a:lnTo>
                <a:lnTo>
                  <a:pt x="788987" y="9525"/>
                </a:lnTo>
                <a:close/>
              </a:path>
              <a:path w="798829" h="589280">
                <a:moveTo>
                  <a:pt x="788987" y="584200"/>
                </a:moveTo>
                <a:lnTo>
                  <a:pt x="788987" y="4762"/>
                </a:lnTo>
                <a:lnTo>
                  <a:pt x="793750" y="9525"/>
                </a:lnTo>
                <a:lnTo>
                  <a:pt x="798512" y="9525"/>
                </a:lnTo>
                <a:lnTo>
                  <a:pt x="798512" y="579437"/>
                </a:lnTo>
                <a:lnTo>
                  <a:pt x="793750" y="579437"/>
                </a:lnTo>
                <a:lnTo>
                  <a:pt x="788987" y="584200"/>
                </a:lnTo>
                <a:close/>
              </a:path>
              <a:path w="798829" h="589280">
                <a:moveTo>
                  <a:pt x="798512" y="9525"/>
                </a:moveTo>
                <a:lnTo>
                  <a:pt x="793750" y="9525"/>
                </a:lnTo>
                <a:lnTo>
                  <a:pt x="788987" y="4762"/>
                </a:lnTo>
                <a:lnTo>
                  <a:pt x="798512" y="4762"/>
                </a:lnTo>
                <a:lnTo>
                  <a:pt x="798512" y="9525"/>
                </a:lnTo>
                <a:close/>
              </a:path>
              <a:path w="798829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798829" h="589280">
                <a:moveTo>
                  <a:pt x="788987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88987" y="579437"/>
                </a:lnTo>
                <a:lnTo>
                  <a:pt x="788987" y="584200"/>
                </a:lnTo>
                <a:close/>
              </a:path>
              <a:path w="798829" h="589280">
                <a:moveTo>
                  <a:pt x="798512" y="584200"/>
                </a:moveTo>
                <a:lnTo>
                  <a:pt x="788987" y="584200"/>
                </a:lnTo>
                <a:lnTo>
                  <a:pt x="793750" y="579437"/>
                </a:lnTo>
                <a:lnTo>
                  <a:pt x="798512" y="579437"/>
                </a:lnTo>
                <a:lnTo>
                  <a:pt x="798512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23559" y="2569210"/>
            <a:ext cx="367029" cy="75596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1597" y="3264534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161597" y="3447097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61597" y="3629659"/>
            <a:ext cx="598804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161597" y="3813809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161597" y="3996372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949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949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949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6949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949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1768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221547" y="2300922"/>
            <a:ext cx="862330" cy="264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21547" y="2494597"/>
            <a:ext cx="862330" cy="26384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21547" y="2686685"/>
            <a:ext cx="862330" cy="26447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236787" y="2316162"/>
            <a:ext cx="806450" cy="589280"/>
          </a:xfrm>
          <a:custGeom>
            <a:avLst/>
            <a:gdLst/>
            <a:ahLst/>
            <a:cxnLst/>
            <a:rect l="l" t="t" r="r" b="b"/>
            <a:pathLst>
              <a:path w="806450" h="589280">
                <a:moveTo>
                  <a:pt x="806450" y="588962"/>
                </a:moveTo>
                <a:lnTo>
                  <a:pt x="0" y="588962"/>
                </a:lnTo>
                <a:lnTo>
                  <a:pt x="0" y="0"/>
                </a:lnTo>
                <a:lnTo>
                  <a:pt x="806450" y="0"/>
                </a:lnTo>
                <a:lnTo>
                  <a:pt x="806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806450" y="584200"/>
                </a:lnTo>
                <a:lnTo>
                  <a:pt x="806450" y="588962"/>
                </a:lnTo>
                <a:close/>
              </a:path>
              <a:path w="806450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6450" h="589280">
                <a:moveTo>
                  <a:pt x="796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6925" y="4762"/>
                </a:lnTo>
                <a:lnTo>
                  <a:pt x="796925" y="9525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796925" y="4762"/>
                </a:lnTo>
                <a:lnTo>
                  <a:pt x="801687" y="9525"/>
                </a:lnTo>
                <a:lnTo>
                  <a:pt x="806450" y="9525"/>
                </a:lnTo>
                <a:lnTo>
                  <a:pt x="806450" y="579437"/>
                </a:lnTo>
                <a:lnTo>
                  <a:pt x="801687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9525"/>
                </a:moveTo>
                <a:lnTo>
                  <a:pt x="801687" y="9525"/>
                </a:lnTo>
                <a:lnTo>
                  <a:pt x="796925" y="4762"/>
                </a:lnTo>
                <a:lnTo>
                  <a:pt x="806450" y="4762"/>
                </a:lnTo>
                <a:lnTo>
                  <a:pt x="806450" y="9525"/>
                </a:lnTo>
                <a:close/>
              </a:path>
              <a:path w="806450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96925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584200"/>
                </a:moveTo>
                <a:lnTo>
                  <a:pt x="796925" y="584200"/>
                </a:lnTo>
                <a:lnTo>
                  <a:pt x="801687" y="579437"/>
                </a:lnTo>
                <a:lnTo>
                  <a:pt x="806450" y="579437"/>
                </a:lnTo>
                <a:lnTo>
                  <a:pt x="806450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32760" y="2569210"/>
            <a:ext cx="349567" cy="7559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570797" y="3264534"/>
            <a:ext cx="598805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570797" y="3447097"/>
            <a:ext cx="598805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570797" y="3629659"/>
            <a:ext cx="598805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570797" y="3813809"/>
            <a:ext cx="598805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570797" y="3996372"/>
            <a:ext cx="598805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041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1041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041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041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1041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5860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37197" y="4483734"/>
            <a:ext cx="8218805" cy="19624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80397" y="49949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180397" y="52235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80397" y="54521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80397" y="56807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180397" y="59093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485197" y="49949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485197" y="52235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485197" y="54521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485197" y="56807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485197" y="59093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6375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6375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6375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6375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375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190875" y="5010150"/>
            <a:ext cx="1081405" cy="1152525"/>
          </a:xfrm>
          <a:custGeom>
            <a:avLst/>
            <a:gdLst/>
            <a:ahLst/>
            <a:cxnLst/>
            <a:rect l="l" t="t" r="r" b="b"/>
            <a:pathLst>
              <a:path w="1081404" h="1152525">
                <a:moveTo>
                  <a:pt x="1081087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81087" y="0"/>
                </a:lnTo>
                <a:lnTo>
                  <a:pt x="10810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81087" y="1147762"/>
                </a:lnTo>
                <a:lnTo>
                  <a:pt x="1081087" y="1152525"/>
                </a:lnTo>
                <a:close/>
              </a:path>
              <a:path w="1081404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81404" h="1152525">
                <a:moveTo>
                  <a:pt x="10715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71562" y="4762"/>
                </a:lnTo>
                <a:lnTo>
                  <a:pt x="1071562" y="9525"/>
                </a:lnTo>
                <a:close/>
              </a:path>
              <a:path w="1081404" h="1152525">
                <a:moveTo>
                  <a:pt x="1071562" y="1147762"/>
                </a:moveTo>
                <a:lnTo>
                  <a:pt x="1071562" y="4762"/>
                </a:lnTo>
                <a:lnTo>
                  <a:pt x="1076325" y="9525"/>
                </a:lnTo>
                <a:lnTo>
                  <a:pt x="1081087" y="9525"/>
                </a:lnTo>
                <a:lnTo>
                  <a:pt x="1081087" y="1143000"/>
                </a:lnTo>
                <a:lnTo>
                  <a:pt x="1076325" y="1143000"/>
                </a:lnTo>
                <a:lnTo>
                  <a:pt x="1071562" y="1147762"/>
                </a:lnTo>
                <a:close/>
              </a:path>
              <a:path w="1081404" h="1152525">
                <a:moveTo>
                  <a:pt x="1081087" y="9525"/>
                </a:moveTo>
                <a:lnTo>
                  <a:pt x="1076325" y="9525"/>
                </a:lnTo>
                <a:lnTo>
                  <a:pt x="1071562" y="4762"/>
                </a:lnTo>
                <a:lnTo>
                  <a:pt x="1081087" y="4762"/>
                </a:lnTo>
                <a:lnTo>
                  <a:pt x="1081087" y="9525"/>
                </a:lnTo>
                <a:close/>
              </a:path>
              <a:path w="1081404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81404" h="1152525">
                <a:moveTo>
                  <a:pt x="1071562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71562" y="1143000"/>
                </a:lnTo>
                <a:lnTo>
                  <a:pt x="1071562" y="1147762"/>
                </a:lnTo>
                <a:close/>
              </a:path>
              <a:path w="1081404" h="1152525">
                <a:moveTo>
                  <a:pt x="1081087" y="1147762"/>
                </a:moveTo>
                <a:lnTo>
                  <a:pt x="1071562" y="1147762"/>
                </a:lnTo>
                <a:lnTo>
                  <a:pt x="1076325" y="1143000"/>
                </a:lnTo>
                <a:lnTo>
                  <a:pt x="1081087" y="1143000"/>
                </a:lnTo>
                <a:lnTo>
                  <a:pt x="1081087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43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43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943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943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43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943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8943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8943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943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943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0467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0467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0467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0467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0467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048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889760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889760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889760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889760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889760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1897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1897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1897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1897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1897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342197" y="49949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2342197" y="52235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2342197" y="54521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342197" y="56807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342197" y="59093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9002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44805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44805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44805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44805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4805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47805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47805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7805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805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47805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9329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49329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49329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49329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49329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44910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57759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7759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7759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57759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57759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0759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0759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0759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0759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0759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228397" y="49949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228397" y="52235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228397" y="54521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228397" y="56807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228397" y="59093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57864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071359" y="49949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071359" y="52235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7071359" y="54521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7071359" y="56807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7071359" y="59093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371397" y="49949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7371397" y="52235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7371397" y="54521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371397" y="56807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371397" y="59093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5237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75237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75237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5237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5237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70818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866197" y="3264534"/>
            <a:ext cx="598804" cy="25876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866197" y="3447097"/>
            <a:ext cx="598804" cy="25876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866197" y="3629659"/>
            <a:ext cx="598804" cy="26003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866197" y="3813809"/>
            <a:ext cx="598804" cy="25876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866197" y="3996372"/>
            <a:ext cx="598804" cy="25876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399597" y="3264534"/>
            <a:ext cx="682307" cy="25876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4399597" y="3447097"/>
            <a:ext cx="682307" cy="25876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4399597" y="3629659"/>
            <a:ext cx="682307" cy="26003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4399597" y="3813809"/>
            <a:ext cx="682307" cy="2587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4399597" y="3996372"/>
            <a:ext cx="682307" cy="2587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38814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 txBox="1"/>
          <p:nvPr/>
        </p:nvSpPr>
        <p:spPr>
          <a:xfrm>
            <a:off x="520065" y="6193860"/>
            <a:ext cx="33337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b="1" spc="-5" dirty="0">
                <a:latin typeface="Arial Narrow"/>
                <a:cs typeface="Arial Narrow"/>
              </a:rPr>
              <a:t>File</a:t>
            </a:r>
            <a:r>
              <a:rPr sz="1400" b="1" spc="-85" dirty="0">
                <a:latin typeface="Arial Narrow"/>
                <a:cs typeface="Arial Narrow"/>
              </a:rPr>
              <a:t> </a:t>
            </a:r>
            <a:r>
              <a:rPr sz="1400" b="1" dirty="0">
                <a:latin typeface="Arial Narrow"/>
                <a:cs typeface="Arial Narrow"/>
              </a:rPr>
              <a:t>I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998855" y="6193860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b="1" spc="-5" dirty="0">
                <a:latin typeface="Arial Narrow"/>
                <a:cs typeface="Arial Narrow"/>
              </a:rPr>
              <a:t>#</a:t>
            </a:r>
            <a:r>
              <a:rPr sz="1400" b="1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3104197" y="962660"/>
            <a:ext cx="509904" cy="2813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561397" y="962660"/>
            <a:ext cx="1043305" cy="28130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4551997" y="962660"/>
            <a:ext cx="738504" cy="2813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 txBox="1"/>
          <p:nvPr/>
        </p:nvSpPr>
        <p:spPr>
          <a:xfrm>
            <a:off x="1831339" y="993775"/>
            <a:ext cx="11207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sysindexes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3" name="object 183"/>
          <p:cNvSpPr/>
          <p:nvPr/>
        </p:nvSpPr>
        <p:spPr>
          <a:xfrm>
            <a:off x="2493010" y="1883410"/>
            <a:ext cx="4691380" cy="141478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 txBox="1"/>
          <p:nvPr/>
        </p:nvSpPr>
        <p:spPr>
          <a:xfrm>
            <a:off x="1318577" y="1426983"/>
            <a:ext cx="7200900" cy="2783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764"/>
              </a:lnSpc>
            </a:pPr>
            <a:r>
              <a:rPr sz="1600" b="1" spc="-5" dirty="0">
                <a:latin typeface="Arial"/>
                <a:cs typeface="Arial"/>
              </a:rPr>
              <a:t>Non</a:t>
            </a:r>
            <a:endParaRPr sz="1600">
              <a:latin typeface="Arial"/>
              <a:cs typeface="Arial"/>
            </a:endParaRPr>
          </a:p>
          <a:p>
            <a:pPr marL="2372995">
              <a:lnSpc>
                <a:spcPts val="1625"/>
              </a:lnSpc>
              <a:tabLst>
                <a:tab pos="5177155" algn="l"/>
                <a:tab pos="6263005" algn="l"/>
              </a:tabLst>
            </a:pPr>
            <a:r>
              <a:rPr sz="2100" spc="-7" baseline="35714" dirty="0">
                <a:latin typeface="Arial Narrow"/>
                <a:cs typeface="Arial Narrow"/>
              </a:rPr>
              <a:t>Akhta</a:t>
            </a:r>
            <a:r>
              <a:rPr sz="2100" baseline="35714" dirty="0">
                <a:latin typeface="Arial Narrow"/>
                <a:cs typeface="Arial Narrow"/>
              </a:rPr>
              <a:t>r	</a:t>
            </a:r>
            <a:r>
              <a:rPr sz="2400" b="1" spc="-7" baseline="20833" dirty="0">
                <a:latin typeface="Arial"/>
                <a:cs typeface="Arial"/>
              </a:rPr>
              <a:t>Non-Leaf</a:t>
            </a:r>
            <a:r>
              <a:rPr sz="2400" b="1" baseline="20833" dirty="0">
                <a:latin typeface="Arial"/>
                <a:cs typeface="Arial"/>
              </a:rPr>
              <a:t>	</a:t>
            </a:r>
            <a:r>
              <a:rPr sz="1600" b="1" spc="-5" dirty="0">
                <a:latin typeface="Arial"/>
                <a:cs typeface="Arial"/>
              </a:rPr>
              <a:t>Clustered</a:t>
            </a:r>
            <a:endParaRPr sz="1600">
              <a:latin typeface="Arial"/>
              <a:cs typeface="Arial"/>
            </a:endParaRPr>
          </a:p>
          <a:p>
            <a:pPr marL="2372995">
              <a:lnSpc>
                <a:spcPts val="1330"/>
              </a:lnSpc>
              <a:tabLst>
                <a:tab pos="5537835" algn="l"/>
              </a:tabLst>
            </a:pPr>
            <a:r>
              <a:rPr sz="2100" spc="-7" baseline="27777" dirty="0">
                <a:latin typeface="Arial Narrow"/>
                <a:cs typeface="Arial Narrow"/>
              </a:rPr>
              <a:t>...	</a:t>
            </a:r>
            <a:r>
              <a:rPr sz="1600" b="1" spc="-5" dirty="0">
                <a:latin typeface="Arial"/>
                <a:cs typeface="Arial"/>
              </a:rPr>
              <a:t>Level</a:t>
            </a:r>
            <a:endParaRPr sz="1600">
              <a:latin typeface="Arial"/>
              <a:cs typeface="Arial"/>
            </a:endParaRPr>
          </a:p>
          <a:p>
            <a:pPr marL="1377950">
              <a:lnSpc>
                <a:spcPts val="1165"/>
              </a:lnSpc>
              <a:tabLst>
                <a:tab pos="6670040" algn="l"/>
              </a:tabLst>
            </a:pPr>
            <a:r>
              <a:rPr sz="1800" dirty="0">
                <a:latin typeface="Lucida Sans Typewriter"/>
                <a:cs typeface="Lucida Sans Typewriter"/>
              </a:rPr>
              <a:t>SELECT </a:t>
            </a:r>
            <a:r>
              <a:rPr sz="1800" spc="-844" dirty="0">
                <a:latin typeface="Lucida Sans Typewriter"/>
                <a:cs typeface="Lucida Sans Typewriter"/>
              </a:rPr>
              <a:t>l</a:t>
            </a:r>
            <a:r>
              <a:rPr sz="2100" spc="-172" baseline="29761" dirty="0">
                <a:latin typeface="Arial Narrow"/>
                <a:cs typeface="Arial Narrow"/>
              </a:rPr>
              <a:t>M</a:t>
            </a:r>
            <a:r>
              <a:rPr sz="1800" spc="-975" dirty="0">
                <a:latin typeface="Lucida Sans Typewriter"/>
                <a:cs typeface="Lucida Sans Typewriter"/>
              </a:rPr>
              <a:t>a</a:t>
            </a:r>
            <a:r>
              <a:rPr sz="2100" spc="-7" baseline="29761" dirty="0">
                <a:latin typeface="Arial Narrow"/>
                <a:cs typeface="Arial Narrow"/>
              </a:rPr>
              <a:t>a</a:t>
            </a:r>
            <a:r>
              <a:rPr sz="2100" spc="-75" baseline="29761" dirty="0">
                <a:latin typeface="Arial Narrow"/>
                <a:cs typeface="Arial Narrow"/>
              </a:rPr>
              <a:t>r</a:t>
            </a:r>
            <a:r>
              <a:rPr sz="1800" spc="-1040" dirty="0">
                <a:latin typeface="Lucida Sans Typewriter"/>
                <a:cs typeface="Lucida Sans Typewriter"/>
              </a:rPr>
              <a:t>s</a:t>
            </a:r>
            <a:r>
              <a:rPr sz="2100" spc="-7" baseline="29761" dirty="0">
                <a:latin typeface="Arial Narrow"/>
                <a:cs typeface="Arial Narrow"/>
              </a:rPr>
              <a:t>ti</a:t>
            </a:r>
            <a:r>
              <a:rPr sz="2100" spc="-270" baseline="29761" dirty="0">
                <a:latin typeface="Arial Narrow"/>
                <a:cs typeface="Arial Narrow"/>
              </a:rPr>
              <a:t>n</a:t>
            </a:r>
            <a:r>
              <a:rPr sz="1800" dirty="0">
                <a:latin typeface="Lucida Sans Typewriter"/>
                <a:cs typeface="Lucida Sans Typewriter"/>
              </a:rPr>
              <a:t>tname, firstname	</a:t>
            </a:r>
            <a:r>
              <a:rPr sz="2400" b="1" spc="-7" baseline="32986" dirty="0">
                <a:latin typeface="Arial"/>
                <a:cs typeface="Arial"/>
              </a:rPr>
              <a:t>Index</a:t>
            </a:r>
            <a:endParaRPr sz="2400" baseline="32986">
              <a:latin typeface="Arial"/>
              <a:cs typeface="Arial"/>
            </a:endParaRPr>
          </a:p>
          <a:p>
            <a:pPr marL="941069">
              <a:lnSpc>
                <a:spcPts val="840"/>
              </a:lnSpc>
              <a:tabLst>
                <a:tab pos="2139950" algn="l"/>
                <a:tab pos="3549015" algn="l"/>
              </a:tabLst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37	</a:t>
            </a:r>
            <a:r>
              <a:rPr sz="2100" spc="-7" baseline="-29761" dirty="0">
                <a:latin typeface="Arial Narrow"/>
                <a:cs typeface="Arial Narrow"/>
              </a:rPr>
              <a:t>Page 12</a:t>
            </a:r>
            <a:r>
              <a:rPr sz="2100" spc="22" baseline="-29761" dirty="0">
                <a:latin typeface="Arial Narrow"/>
                <a:cs typeface="Arial Narrow"/>
              </a:rPr>
              <a:t> </a:t>
            </a:r>
            <a:r>
              <a:rPr sz="2100" baseline="-29761" dirty="0">
                <a:latin typeface="Arial Narrow"/>
                <a:cs typeface="Arial Narrow"/>
              </a:rPr>
              <a:t>- </a:t>
            </a:r>
            <a:r>
              <a:rPr sz="2100" spc="-7" baseline="-29761" dirty="0">
                <a:latin typeface="Arial Narrow"/>
                <a:cs typeface="Arial Narrow"/>
              </a:rPr>
              <a:t>Root	</a:t>
            </a: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28</a:t>
            </a:r>
            <a:endParaRPr sz="1400">
              <a:latin typeface="Arial Narrow"/>
              <a:cs typeface="Arial Narrow"/>
            </a:endParaRPr>
          </a:p>
          <a:p>
            <a:pPr marL="1014094">
              <a:lnSpc>
                <a:spcPts val="2020"/>
              </a:lnSpc>
              <a:tabLst>
                <a:tab pos="3622040" algn="l"/>
              </a:tabLst>
            </a:pPr>
            <a:r>
              <a:rPr sz="2100" spc="-240" baseline="1984" dirty="0">
                <a:latin typeface="Arial Narrow"/>
                <a:cs typeface="Arial Narrow"/>
              </a:rPr>
              <a:t>Akhta</a:t>
            </a:r>
            <a:r>
              <a:rPr sz="1800" spc="-160" dirty="0">
                <a:latin typeface="Lucida Sans Typewriter"/>
                <a:cs typeface="Lucida Sans Typewriter"/>
              </a:rPr>
              <a:t>F</a:t>
            </a:r>
            <a:r>
              <a:rPr sz="2100" spc="-240" baseline="1984" dirty="0">
                <a:latin typeface="Arial Narrow"/>
                <a:cs typeface="Arial Narrow"/>
              </a:rPr>
              <a:t>r  </a:t>
            </a:r>
            <a:r>
              <a:rPr sz="2100" spc="-15" baseline="1984" dirty="0">
                <a:latin typeface="Arial Narrow"/>
                <a:cs typeface="Arial Narrow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ROM</a:t>
            </a:r>
            <a:r>
              <a:rPr sz="1800" spc="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member	</a:t>
            </a:r>
            <a:r>
              <a:rPr sz="2100" spc="-7" baseline="1984" dirty="0">
                <a:latin typeface="Arial Narrow"/>
                <a:cs typeface="Arial Narrow"/>
              </a:rPr>
              <a:t>Martin</a:t>
            </a:r>
            <a:endParaRPr sz="2100" baseline="1984">
              <a:latin typeface="Arial Narrow"/>
              <a:cs typeface="Arial Narrow"/>
            </a:endParaRPr>
          </a:p>
          <a:p>
            <a:pPr marL="1014094">
              <a:lnSpc>
                <a:spcPts val="1680"/>
              </a:lnSpc>
              <a:tabLst>
                <a:tab pos="3622040" algn="l"/>
              </a:tabLst>
            </a:pPr>
            <a:r>
              <a:rPr sz="2100" spc="-37" baseline="27777" dirty="0">
                <a:latin typeface="Arial Narrow"/>
                <a:cs typeface="Arial Narrow"/>
              </a:rPr>
              <a:t>Ganio</a:t>
            </a:r>
            <a:r>
              <a:rPr sz="1800" spc="-25" dirty="0">
                <a:latin typeface="Lucida Sans Typewriter"/>
                <a:cs typeface="Lucida Sans Typewriter"/>
              </a:rPr>
              <a:t>WHERE</a:t>
            </a:r>
            <a:r>
              <a:rPr sz="1800" spc="1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lastname	</a:t>
            </a:r>
            <a:r>
              <a:rPr sz="2100" spc="-7" baseline="27777" dirty="0">
                <a:latin typeface="Arial Narrow"/>
                <a:cs typeface="Arial Narrow"/>
              </a:rPr>
              <a:t>Smith</a:t>
            </a:r>
            <a:endParaRPr sz="2100" baseline="27777">
              <a:latin typeface="Arial Narrow"/>
              <a:cs typeface="Arial Narrow"/>
            </a:endParaRPr>
          </a:p>
          <a:p>
            <a:pPr marL="1014094">
              <a:lnSpc>
                <a:spcPts val="840"/>
              </a:lnSpc>
              <a:tabLst>
                <a:tab pos="3622040" algn="l"/>
              </a:tabLst>
            </a:pPr>
            <a:r>
              <a:rPr sz="1400" spc="-5" dirty="0">
                <a:latin typeface="Arial Narrow"/>
                <a:cs typeface="Arial Narrow"/>
              </a:rPr>
              <a:t>...	...</a:t>
            </a:r>
            <a:endParaRPr sz="1400">
              <a:latin typeface="Arial Narrow"/>
              <a:cs typeface="Arial Narrow"/>
            </a:endParaRPr>
          </a:p>
          <a:p>
            <a:pPr marL="1377950">
              <a:lnSpc>
                <a:spcPts val="1445"/>
              </a:lnSpc>
            </a:pPr>
            <a:r>
              <a:rPr sz="1800" dirty="0">
                <a:latin typeface="Lucida Sans Typewriter"/>
                <a:cs typeface="Lucida Sans Typewriter"/>
              </a:rPr>
              <a:t>BETWEEN 'Masters' AND</a:t>
            </a:r>
            <a:r>
              <a:rPr sz="1800" spc="-2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'Rudd'</a:t>
            </a:r>
            <a:endParaRPr sz="1800">
              <a:latin typeface="Lucida Sans Typewriter"/>
              <a:cs typeface="Lucida Sans Typewriter"/>
            </a:endParaRPr>
          </a:p>
          <a:p>
            <a:pPr>
              <a:lnSpc>
                <a:spcPts val="1565"/>
              </a:lnSpc>
              <a:tabLst>
                <a:tab pos="1303020" algn="l"/>
                <a:tab pos="2607945" algn="l"/>
                <a:tab pos="3910965" algn="l"/>
                <a:tab pos="5047615" algn="l"/>
              </a:tabLst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41	Page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51	Page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61	Page</a:t>
            </a:r>
            <a:r>
              <a:rPr sz="1400" spc="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71	</a:t>
            </a:r>
            <a:r>
              <a:rPr sz="2400" b="1" spc="-7" baseline="-5208" dirty="0">
                <a:latin typeface="Arial"/>
                <a:cs typeface="Arial"/>
              </a:rPr>
              <a:t>Leaf</a:t>
            </a:r>
            <a:r>
              <a:rPr sz="2400" b="1" spc="-112" baseline="-5208" dirty="0">
                <a:latin typeface="Arial"/>
                <a:cs typeface="Arial"/>
              </a:rPr>
              <a:t> </a:t>
            </a:r>
            <a:r>
              <a:rPr sz="2400" b="1" spc="-7" baseline="-5208" dirty="0">
                <a:latin typeface="Arial"/>
                <a:cs typeface="Arial"/>
              </a:rPr>
              <a:t>Level</a:t>
            </a:r>
            <a:endParaRPr sz="2400" baseline="-5208">
              <a:latin typeface="Arial"/>
              <a:cs typeface="Arial"/>
            </a:endParaRPr>
          </a:p>
          <a:p>
            <a:pPr marL="32384">
              <a:lnSpc>
                <a:spcPts val="1560"/>
              </a:lnSpc>
              <a:spcBef>
                <a:spcPts val="175"/>
              </a:spcBef>
              <a:tabLst>
                <a:tab pos="1343660" algn="l"/>
                <a:tab pos="2631440" algn="l"/>
                <a:tab pos="3942715" algn="l"/>
                <a:tab pos="5125085" algn="l"/>
              </a:tabLst>
            </a:pPr>
            <a:r>
              <a:rPr sz="1400" spc="-5" dirty="0">
                <a:latin typeface="Arial Narrow"/>
                <a:cs typeface="Arial Narrow"/>
              </a:rPr>
              <a:t>Akhtar</a:t>
            </a:r>
            <a:r>
              <a:rPr sz="1400" spc="29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4:706:01	Ganio </a:t>
            </a:r>
            <a:r>
              <a:rPr sz="1400" spc="10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4:709:01	Martin </a:t>
            </a:r>
            <a:r>
              <a:rPr sz="1400" spc="4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4:708:01	Smith </a:t>
            </a:r>
            <a:r>
              <a:rPr sz="1400" spc="18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4:706:03	</a:t>
            </a:r>
            <a:r>
              <a:rPr sz="1400" spc="-5" dirty="0">
                <a:latin typeface="Arial"/>
                <a:cs typeface="Arial"/>
              </a:rPr>
              <a:t>(Key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Value)</a:t>
            </a:r>
            <a:endParaRPr sz="1400">
              <a:latin typeface="Arial"/>
              <a:cs typeface="Arial"/>
            </a:endParaRPr>
          </a:p>
          <a:p>
            <a:pPr marL="105410">
              <a:lnSpc>
                <a:spcPts val="1445"/>
              </a:lnSpc>
              <a:tabLst>
                <a:tab pos="530225" algn="l"/>
                <a:tab pos="1412875" algn="l"/>
                <a:tab pos="1825625" algn="l"/>
                <a:tab pos="2635250" algn="l"/>
                <a:tab pos="3942715" algn="l"/>
              </a:tabLst>
            </a:pPr>
            <a:r>
              <a:rPr sz="1400" spc="-5" dirty="0">
                <a:latin typeface="Arial Narrow"/>
                <a:cs typeface="Arial Narrow"/>
              </a:rPr>
              <a:t>Barr	4:705:03	Hall	4:709:04	Matey </a:t>
            </a:r>
            <a:r>
              <a:rPr sz="1400" spc="7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4:706:04	Smith </a:t>
            </a:r>
            <a:r>
              <a:rPr sz="1400" spc="9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4:708:04</a:t>
            </a:r>
            <a:endParaRPr sz="1400">
              <a:latin typeface="Arial Narrow"/>
              <a:cs typeface="Arial Narrow"/>
            </a:endParaRPr>
          </a:p>
          <a:p>
            <a:pPr marL="109220">
              <a:lnSpc>
                <a:spcPts val="1445"/>
              </a:lnSpc>
              <a:tabLst>
                <a:tab pos="530225" algn="l"/>
                <a:tab pos="1343660" algn="l"/>
                <a:tab pos="2715895" algn="l"/>
                <a:tab pos="3121025" algn="l"/>
                <a:tab pos="3942715" algn="l"/>
              </a:tabLst>
            </a:pPr>
            <a:r>
              <a:rPr sz="1400" spc="-5" dirty="0">
                <a:latin typeface="Arial Narrow"/>
                <a:cs typeface="Arial Narrow"/>
              </a:rPr>
              <a:t>Con	4:704:01	Jones </a:t>
            </a:r>
            <a:r>
              <a:rPr sz="1400" spc="10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4:709:02	Ota	4:707:02	Smith </a:t>
            </a:r>
            <a:r>
              <a:rPr sz="1400" spc="9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4:707:01</a:t>
            </a:r>
            <a:endParaRPr sz="1400">
              <a:latin typeface="Arial Narrow"/>
              <a:cs typeface="Arial Narrow"/>
            </a:endParaRPr>
          </a:p>
          <a:p>
            <a:pPr marL="80645">
              <a:lnSpc>
                <a:spcPts val="1440"/>
              </a:lnSpc>
              <a:tabLst>
                <a:tab pos="1343660" algn="l"/>
                <a:tab pos="2663190" algn="l"/>
                <a:tab pos="3942715" algn="l"/>
              </a:tabLst>
            </a:pPr>
            <a:r>
              <a:rPr sz="1400" spc="-5" dirty="0">
                <a:latin typeface="Arial Narrow"/>
                <a:cs typeface="Arial Narrow"/>
              </a:rPr>
              <a:t>Funk  </a:t>
            </a:r>
            <a:r>
              <a:rPr sz="1400" spc="5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4:706:02	Jones </a:t>
            </a:r>
            <a:r>
              <a:rPr sz="1400" spc="11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4:708:03	Phua </a:t>
            </a:r>
            <a:r>
              <a:rPr sz="1400" spc="30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4:708:02	White </a:t>
            </a:r>
            <a:r>
              <a:rPr sz="1400" spc="9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4:704:03</a:t>
            </a:r>
            <a:endParaRPr sz="1400">
              <a:latin typeface="Arial Narrow"/>
              <a:cs typeface="Arial Narrow"/>
            </a:endParaRPr>
          </a:p>
          <a:p>
            <a:pPr marL="80645">
              <a:lnSpc>
                <a:spcPts val="1560"/>
              </a:lnSpc>
              <a:tabLst>
                <a:tab pos="1343660" algn="l"/>
                <a:tab pos="2659380" algn="l"/>
                <a:tab pos="3942715" algn="l"/>
              </a:tabLst>
            </a:pPr>
            <a:r>
              <a:rPr sz="1400" spc="-5" dirty="0">
                <a:latin typeface="Arial Narrow"/>
                <a:cs typeface="Arial Narrow"/>
              </a:rPr>
              <a:t>Funk  </a:t>
            </a:r>
            <a:r>
              <a:rPr sz="1400" spc="5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4:704:02	Jones </a:t>
            </a:r>
            <a:r>
              <a:rPr sz="1400" spc="11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4:707:03	Rudd </a:t>
            </a:r>
            <a:r>
              <a:rPr sz="1400" spc="26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4:705:01	White </a:t>
            </a:r>
            <a:r>
              <a:rPr sz="1400" spc="9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4:705:02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85" name="object 185"/>
          <p:cNvSpPr/>
          <p:nvPr/>
        </p:nvSpPr>
        <p:spPr>
          <a:xfrm>
            <a:off x="457200" y="1379219"/>
            <a:ext cx="8153400" cy="2971800"/>
          </a:xfrm>
          <a:custGeom>
            <a:avLst/>
            <a:gdLst/>
            <a:ahLst/>
            <a:cxnLst/>
            <a:rect l="l" t="t" r="r" b="b"/>
            <a:pathLst>
              <a:path w="8153400" h="2971800">
                <a:moveTo>
                  <a:pt x="0" y="0"/>
                </a:moveTo>
                <a:lnTo>
                  <a:pt x="8153400" y="0"/>
                </a:lnTo>
                <a:lnTo>
                  <a:pt x="81534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452437" y="1374775"/>
            <a:ext cx="8162925" cy="2981325"/>
          </a:xfrm>
          <a:custGeom>
            <a:avLst/>
            <a:gdLst/>
            <a:ahLst/>
            <a:cxnLst/>
            <a:rect l="l" t="t" r="r" b="b"/>
            <a:pathLst>
              <a:path w="8162925" h="2981325">
                <a:moveTo>
                  <a:pt x="8162925" y="2981325"/>
                </a:moveTo>
                <a:lnTo>
                  <a:pt x="0" y="2981325"/>
                </a:lnTo>
                <a:lnTo>
                  <a:pt x="0" y="0"/>
                </a:lnTo>
                <a:lnTo>
                  <a:pt x="8162925" y="0"/>
                </a:lnTo>
                <a:lnTo>
                  <a:pt x="816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971800"/>
                </a:lnTo>
                <a:lnTo>
                  <a:pt x="4762" y="2971800"/>
                </a:lnTo>
                <a:lnTo>
                  <a:pt x="9525" y="2976562"/>
                </a:lnTo>
                <a:lnTo>
                  <a:pt x="8162925" y="2976562"/>
                </a:lnTo>
                <a:lnTo>
                  <a:pt x="8162925" y="2981325"/>
                </a:lnTo>
                <a:close/>
              </a:path>
              <a:path w="8162925" h="2981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162925" h="2981325">
                <a:moveTo>
                  <a:pt x="815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153400" y="4762"/>
                </a:lnTo>
                <a:lnTo>
                  <a:pt x="8153400" y="9525"/>
                </a:lnTo>
                <a:close/>
              </a:path>
              <a:path w="8162925" h="2981325">
                <a:moveTo>
                  <a:pt x="8153400" y="2976562"/>
                </a:moveTo>
                <a:lnTo>
                  <a:pt x="8153400" y="4762"/>
                </a:lnTo>
                <a:lnTo>
                  <a:pt x="8158162" y="9525"/>
                </a:lnTo>
                <a:lnTo>
                  <a:pt x="8162925" y="9525"/>
                </a:lnTo>
                <a:lnTo>
                  <a:pt x="8162925" y="2971800"/>
                </a:lnTo>
                <a:lnTo>
                  <a:pt x="8158162" y="2971800"/>
                </a:lnTo>
                <a:lnTo>
                  <a:pt x="8153400" y="2976562"/>
                </a:lnTo>
                <a:close/>
              </a:path>
              <a:path w="8162925" h="2981325">
                <a:moveTo>
                  <a:pt x="8162925" y="9525"/>
                </a:moveTo>
                <a:lnTo>
                  <a:pt x="8158162" y="9525"/>
                </a:lnTo>
                <a:lnTo>
                  <a:pt x="8153400" y="4762"/>
                </a:lnTo>
                <a:lnTo>
                  <a:pt x="8162925" y="4762"/>
                </a:lnTo>
                <a:lnTo>
                  <a:pt x="8162925" y="9525"/>
                </a:lnTo>
                <a:close/>
              </a:path>
              <a:path w="8162925" h="2981325">
                <a:moveTo>
                  <a:pt x="9525" y="2976562"/>
                </a:moveTo>
                <a:lnTo>
                  <a:pt x="4762" y="2971800"/>
                </a:lnTo>
                <a:lnTo>
                  <a:pt x="9525" y="2971800"/>
                </a:lnTo>
                <a:lnTo>
                  <a:pt x="9525" y="2976562"/>
                </a:lnTo>
                <a:close/>
              </a:path>
              <a:path w="8162925" h="2981325">
                <a:moveTo>
                  <a:pt x="8153400" y="2976562"/>
                </a:moveTo>
                <a:lnTo>
                  <a:pt x="9525" y="2976562"/>
                </a:lnTo>
                <a:lnTo>
                  <a:pt x="9525" y="2971800"/>
                </a:lnTo>
                <a:lnTo>
                  <a:pt x="8153400" y="2971800"/>
                </a:lnTo>
                <a:lnTo>
                  <a:pt x="8153400" y="2976562"/>
                </a:lnTo>
                <a:close/>
              </a:path>
              <a:path w="8162925" h="2981325">
                <a:moveTo>
                  <a:pt x="8162925" y="2976562"/>
                </a:moveTo>
                <a:lnTo>
                  <a:pt x="8153400" y="2976562"/>
                </a:lnTo>
                <a:lnTo>
                  <a:pt x="8158162" y="2971800"/>
                </a:lnTo>
                <a:lnTo>
                  <a:pt x="8162925" y="2971800"/>
                </a:lnTo>
                <a:lnTo>
                  <a:pt x="8162925" y="2976562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82039" y="1539239"/>
            <a:ext cx="638556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77912" y="1535112"/>
            <a:ext cx="6394450" cy="1228725"/>
          </a:xfrm>
          <a:custGeom>
            <a:avLst/>
            <a:gdLst/>
            <a:ahLst/>
            <a:cxnLst/>
            <a:rect l="l" t="t" r="r" b="b"/>
            <a:pathLst>
              <a:path w="6394450" h="1228725">
                <a:moveTo>
                  <a:pt x="6394450" y="1228725"/>
                </a:moveTo>
                <a:lnTo>
                  <a:pt x="0" y="1228725"/>
                </a:lnTo>
                <a:lnTo>
                  <a:pt x="0" y="0"/>
                </a:lnTo>
                <a:lnTo>
                  <a:pt x="6394450" y="0"/>
                </a:lnTo>
                <a:lnTo>
                  <a:pt x="6394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219200"/>
                </a:lnTo>
                <a:lnTo>
                  <a:pt x="4762" y="1219200"/>
                </a:lnTo>
                <a:lnTo>
                  <a:pt x="9525" y="1223962"/>
                </a:lnTo>
                <a:lnTo>
                  <a:pt x="6394450" y="1223962"/>
                </a:lnTo>
                <a:lnTo>
                  <a:pt x="6394450" y="1228725"/>
                </a:lnTo>
                <a:close/>
              </a:path>
              <a:path w="6394450" h="1228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394450" h="1228725">
                <a:moveTo>
                  <a:pt x="6384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384925" y="4762"/>
                </a:lnTo>
                <a:lnTo>
                  <a:pt x="6384925" y="9525"/>
                </a:lnTo>
                <a:close/>
              </a:path>
              <a:path w="6394450" h="1228725">
                <a:moveTo>
                  <a:pt x="6384925" y="1223962"/>
                </a:moveTo>
                <a:lnTo>
                  <a:pt x="6384925" y="4762"/>
                </a:lnTo>
                <a:lnTo>
                  <a:pt x="6389687" y="9525"/>
                </a:lnTo>
                <a:lnTo>
                  <a:pt x="6394450" y="9525"/>
                </a:lnTo>
                <a:lnTo>
                  <a:pt x="6394450" y="1219200"/>
                </a:lnTo>
                <a:lnTo>
                  <a:pt x="6389687" y="1219200"/>
                </a:lnTo>
                <a:lnTo>
                  <a:pt x="6384925" y="1223962"/>
                </a:lnTo>
                <a:close/>
              </a:path>
              <a:path w="6394450" h="1228725">
                <a:moveTo>
                  <a:pt x="6394450" y="9525"/>
                </a:moveTo>
                <a:lnTo>
                  <a:pt x="6389687" y="9525"/>
                </a:lnTo>
                <a:lnTo>
                  <a:pt x="6384925" y="4762"/>
                </a:lnTo>
                <a:lnTo>
                  <a:pt x="6394450" y="4762"/>
                </a:lnTo>
                <a:lnTo>
                  <a:pt x="6394450" y="9525"/>
                </a:lnTo>
                <a:close/>
              </a:path>
              <a:path w="6394450" h="1228725">
                <a:moveTo>
                  <a:pt x="9525" y="1223962"/>
                </a:moveTo>
                <a:lnTo>
                  <a:pt x="4762" y="1219200"/>
                </a:lnTo>
                <a:lnTo>
                  <a:pt x="9525" y="1219200"/>
                </a:lnTo>
                <a:lnTo>
                  <a:pt x="9525" y="1223962"/>
                </a:lnTo>
                <a:close/>
              </a:path>
              <a:path w="6394450" h="1228725">
                <a:moveTo>
                  <a:pt x="6384925" y="1223962"/>
                </a:moveTo>
                <a:lnTo>
                  <a:pt x="9525" y="1223962"/>
                </a:lnTo>
                <a:lnTo>
                  <a:pt x="9525" y="1219200"/>
                </a:lnTo>
                <a:lnTo>
                  <a:pt x="6384925" y="1219200"/>
                </a:lnTo>
                <a:lnTo>
                  <a:pt x="6384925" y="1223962"/>
                </a:lnTo>
                <a:close/>
              </a:path>
              <a:path w="6394450" h="1228725">
                <a:moveTo>
                  <a:pt x="6394450" y="1223962"/>
                </a:moveTo>
                <a:lnTo>
                  <a:pt x="6384925" y="1223962"/>
                </a:lnTo>
                <a:lnTo>
                  <a:pt x="6389687" y="1219200"/>
                </a:lnTo>
                <a:lnTo>
                  <a:pt x="6394450" y="1219200"/>
                </a:lnTo>
                <a:lnTo>
                  <a:pt x="6394450" y="1223962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 txBox="1"/>
          <p:nvPr/>
        </p:nvSpPr>
        <p:spPr>
          <a:xfrm>
            <a:off x="6483350" y="1563369"/>
            <a:ext cx="9055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Non-Leaf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Level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3446462" y="2166937"/>
            <a:ext cx="10083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 12 </a:t>
            </a:r>
            <a:r>
              <a:rPr sz="1400" dirty="0">
                <a:latin typeface="Arial Narrow"/>
                <a:cs typeface="Arial Narrow"/>
              </a:rPr>
              <a:t>-</a:t>
            </a:r>
            <a:r>
              <a:rPr sz="1400" spc="-5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Root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855527" y="2071687"/>
            <a:ext cx="570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6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28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92" name="object 192"/>
          <p:cNvSpPr/>
          <p:nvPr/>
        </p:nvSpPr>
        <p:spPr>
          <a:xfrm>
            <a:off x="1066800" y="2979420"/>
            <a:ext cx="6385559" cy="114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062037" y="2974975"/>
            <a:ext cx="6394450" cy="1152525"/>
          </a:xfrm>
          <a:custGeom>
            <a:avLst/>
            <a:gdLst/>
            <a:ahLst/>
            <a:cxnLst/>
            <a:rect l="l" t="t" r="r" b="b"/>
            <a:pathLst>
              <a:path w="6394450" h="1152525">
                <a:moveTo>
                  <a:pt x="6394450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6394450" y="0"/>
                </a:lnTo>
                <a:lnTo>
                  <a:pt x="6394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6394450" y="1147762"/>
                </a:lnTo>
                <a:lnTo>
                  <a:pt x="6394450" y="1152525"/>
                </a:lnTo>
                <a:close/>
              </a:path>
              <a:path w="6394450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394450" h="1152525">
                <a:moveTo>
                  <a:pt x="6384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384925" y="4762"/>
                </a:lnTo>
                <a:lnTo>
                  <a:pt x="6384925" y="9525"/>
                </a:lnTo>
                <a:close/>
              </a:path>
              <a:path w="6394450" h="1152525">
                <a:moveTo>
                  <a:pt x="6384925" y="1147762"/>
                </a:moveTo>
                <a:lnTo>
                  <a:pt x="6384925" y="4762"/>
                </a:lnTo>
                <a:lnTo>
                  <a:pt x="6389687" y="9525"/>
                </a:lnTo>
                <a:lnTo>
                  <a:pt x="6394450" y="9525"/>
                </a:lnTo>
                <a:lnTo>
                  <a:pt x="6394450" y="1143000"/>
                </a:lnTo>
                <a:lnTo>
                  <a:pt x="6389687" y="1143000"/>
                </a:lnTo>
                <a:lnTo>
                  <a:pt x="6384925" y="1147762"/>
                </a:lnTo>
                <a:close/>
              </a:path>
              <a:path w="6394450" h="1152525">
                <a:moveTo>
                  <a:pt x="6394450" y="9525"/>
                </a:moveTo>
                <a:lnTo>
                  <a:pt x="6389687" y="9525"/>
                </a:lnTo>
                <a:lnTo>
                  <a:pt x="6384925" y="4762"/>
                </a:lnTo>
                <a:lnTo>
                  <a:pt x="6394450" y="4762"/>
                </a:lnTo>
                <a:lnTo>
                  <a:pt x="6394450" y="9525"/>
                </a:lnTo>
                <a:close/>
              </a:path>
              <a:path w="6394450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6394450" h="1152525">
                <a:moveTo>
                  <a:pt x="6384925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6384925" y="1143000"/>
                </a:lnTo>
                <a:lnTo>
                  <a:pt x="6384925" y="1147762"/>
                </a:lnTo>
                <a:close/>
              </a:path>
              <a:path w="6394450" h="1152525">
                <a:moveTo>
                  <a:pt x="6394450" y="1147762"/>
                </a:moveTo>
                <a:lnTo>
                  <a:pt x="6384925" y="1147762"/>
                </a:lnTo>
                <a:lnTo>
                  <a:pt x="6389687" y="1143000"/>
                </a:lnTo>
                <a:lnTo>
                  <a:pt x="6394450" y="1143000"/>
                </a:lnTo>
                <a:lnTo>
                  <a:pt x="6394450" y="1147762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 txBox="1"/>
          <p:nvPr/>
        </p:nvSpPr>
        <p:spPr>
          <a:xfrm>
            <a:off x="6353809" y="3003232"/>
            <a:ext cx="10191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Leaf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Level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3914140" y="3008312"/>
            <a:ext cx="570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6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61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5217477" y="3008312"/>
            <a:ext cx="57023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6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97" name="object 197"/>
          <p:cNvSpPr/>
          <p:nvPr/>
        </p:nvSpPr>
        <p:spPr>
          <a:xfrm>
            <a:off x="1921510" y="2364422"/>
            <a:ext cx="360680" cy="9607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4529772" y="2416810"/>
            <a:ext cx="360679" cy="9083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2939097" y="1624647"/>
            <a:ext cx="719454" cy="7829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580447" y="1557972"/>
            <a:ext cx="862330" cy="264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3580447" y="1751647"/>
            <a:ext cx="862330" cy="2638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3275329" y="940752"/>
            <a:ext cx="1795780" cy="1040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234" algn="l"/>
                <a:tab pos="1495425" algn="l"/>
              </a:tabLst>
            </a:pP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nd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=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2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r</a:t>
            </a:r>
            <a:r>
              <a:rPr sz="1600" spc="-5" dirty="0">
                <a:latin typeface="Arial Narrow"/>
                <a:cs typeface="Arial Narrow"/>
              </a:rPr>
              <a:t>oot</a:t>
            </a:r>
            <a:endParaRPr sz="16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500">
              <a:latin typeface="Arial Narrow"/>
              <a:cs typeface="Arial Narrow"/>
            </a:endParaRPr>
          </a:p>
          <a:p>
            <a:pPr marL="416559">
              <a:lnSpc>
                <a:spcPts val="1600"/>
              </a:lnSpc>
            </a:pPr>
            <a:r>
              <a:rPr sz="1400" spc="-5" dirty="0">
                <a:latin typeface="Arial Narrow"/>
                <a:cs typeface="Arial Narrow"/>
              </a:rPr>
              <a:t>Akhtar</a:t>
            </a:r>
            <a:endParaRPr sz="1400">
              <a:latin typeface="Arial Narrow"/>
              <a:cs typeface="Arial Narrow"/>
            </a:endParaRPr>
          </a:p>
          <a:p>
            <a:pPr marL="416559">
              <a:lnSpc>
                <a:spcPts val="1600"/>
              </a:lnSpc>
            </a:pPr>
            <a:r>
              <a:rPr sz="1400" spc="-5" dirty="0">
                <a:latin typeface="Arial Narrow"/>
                <a:cs typeface="Arial Narrow"/>
              </a:rPr>
              <a:t>...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03" name="object 203"/>
          <p:cNvSpPr/>
          <p:nvPr/>
        </p:nvSpPr>
        <p:spPr>
          <a:xfrm>
            <a:off x="3580447" y="1943735"/>
            <a:ext cx="862330" cy="2644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 txBox="1"/>
          <p:nvPr/>
        </p:nvSpPr>
        <p:spPr>
          <a:xfrm>
            <a:off x="3691890" y="1958093"/>
            <a:ext cx="4057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Marti</a:t>
            </a:r>
            <a:r>
              <a:rPr sz="1400" dirty="0">
                <a:latin typeface="Arial Narrow"/>
                <a:cs typeface="Arial Narrow"/>
              </a:rPr>
              <a:t>n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05" name="object 205"/>
          <p:cNvSpPr/>
          <p:nvPr/>
        </p:nvSpPr>
        <p:spPr>
          <a:xfrm>
            <a:off x="3595687" y="1573212"/>
            <a:ext cx="806450" cy="589280"/>
          </a:xfrm>
          <a:custGeom>
            <a:avLst/>
            <a:gdLst/>
            <a:ahLst/>
            <a:cxnLst/>
            <a:rect l="l" t="t" r="r" b="b"/>
            <a:pathLst>
              <a:path w="806450" h="589280">
                <a:moveTo>
                  <a:pt x="806450" y="588962"/>
                </a:moveTo>
                <a:lnTo>
                  <a:pt x="0" y="588962"/>
                </a:lnTo>
                <a:lnTo>
                  <a:pt x="0" y="0"/>
                </a:lnTo>
                <a:lnTo>
                  <a:pt x="806450" y="0"/>
                </a:lnTo>
                <a:lnTo>
                  <a:pt x="806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806450" y="584200"/>
                </a:lnTo>
                <a:lnTo>
                  <a:pt x="806450" y="588962"/>
                </a:lnTo>
                <a:close/>
              </a:path>
              <a:path w="806450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6450" h="589280">
                <a:moveTo>
                  <a:pt x="796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6925" y="4762"/>
                </a:lnTo>
                <a:lnTo>
                  <a:pt x="796925" y="9525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796925" y="4762"/>
                </a:lnTo>
                <a:lnTo>
                  <a:pt x="801687" y="9525"/>
                </a:lnTo>
                <a:lnTo>
                  <a:pt x="806450" y="9525"/>
                </a:lnTo>
                <a:lnTo>
                  <a:pt x="806450" y="579437"/>
                </a:lnTo>
                <a:lnTo>
                  <a:pt x="801687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9525"/>
                </a:moveTo>
                <a:lnTo>
                  <a:pt x="801687" y="9525"/>
                </a:lnTo>
                <a:lnTo>
                  <a:pt x="796925" y="4762"/>
                </a:lnTo>
                <a:lnTo>
                  <a:pt x="806450" y="4762"/>
                </a:lnTo>
                <a:lnTo>
                  <a:pt x="806450" y="9525"/>
                </a:lnTo>
                <a:close/>
              </a:path>
              <a:path w="806450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96925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584200"/>
                </a:moveTo>
                <a:lnTo>
                  <a:pt x="796925" y="584200"/>
                </a:lnTo>
                <a:lnTo>
                  <a:pt x="801687" y="579437"/>
                </a:lnTo>
                <a:lnTo>
                  <a:pt x="806450" y="579437"/>
                </a:lnTo>
                <a:lnTo>
                  <a:pt x="806450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4399597" y="2035810"/>
            <a:ext cx="1214755" cy="3257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275397" y="3264534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275397" y="3447097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275397" y="3629659"/>
            <a:ext cx="598804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275397" y="3813809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275397" y="3996372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8087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8087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 txBox="1"/>
          <p:nvPr/>
        </p:nvSpPr>
        <p:spPr>
          <a:xfrm>
            <a:off x="1305877" y="2981769"/>
            <a:ext cx="1125220" cy="68961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spc="-5" dirty="0">
                <a:latin typeface="Arial Narrow"/>
                <a:cs typeface="Arial Narrow"/>
              </a:rPr>
              <a:t>Page 41</a:t>
            </a:r>
            <a:endParaRPr sz="1400">
              <a:latin typeface="Arial Narrow"/>
              <a:cs typeface="Arial Narrow"/>
            </a:endParaRPr>
          </a:p>
          <a:p>
            <a:pPr marL="45085">
              <a:lnSpc>
                <a:spcPts val="1560"/>
              </a:lnSpc>
              <a:spcBef>
                <a:spcPts val="215"/>
              </a:spcBef>
            </a:pPr>
            <a:r>
              <a:rPr sz="1400" spc="-5" dirty="0">
                <a:latin typeface="Arial Narrow"/>
                <a:cs typeface="Arial Narrow"/>
              </a:rPr>
              <a:t>Akhtar</a:t>
            </a:r>
            <a:r>
              <a:rPr sz="1400" spc="21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4:706:01</a:t>
            </a:r>
            <a:endParaRPr sz="1400">
              <a:latin typeface="Arial Narrow"/>
              <a:cs typeface="Arial Narrow"/>
            </a:endParaRPr>
          </a:p>
          <a:p>
            <a:pPr marL="118110">
              <a:lnSpc>
                <a:spcPts val="1560"/>
              </a:lnSpc>
              <a:tabLst>
                <a:tab pos="542925" algn="l"/>
              </a:tabLst>
            </a:pPr>
            <a:r>
              <a:rPr sz="1400" spc="-5" dirty="0">
                <a:latin typeface="Arial Narrow"/>
                <a:cs typeface="Arial Narrow"/>
              </a:rPr>
              <a:t>Barr	4:705:03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15" name="object 215"/>
          <p:cNvSpPr/>
          <p:nvPr/>
        </p:nvSpPr>
        <p:spPr>
          <a:xfrm>
            <a:off x="18087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8087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8087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 txBox="1"/>
          <p:nvPr/>
        </p:nvSpPr>
        <p:spPr>
          <a:xfrm>
            <a:off x="1386839" y="3615372"/>
            <a:ext cx="1044575" cy="605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ts val="1560"/>
              </a:lnSpc>
              <a:spcBef>
                <a:spcPts val="105"/>
              </a:spcBef>
              <a:tabLst>
                <a:tab pos="461645" algn="l"/>
              </a:tabLst>
            </a:pPr>
            <a:r>
              <a:rPr sz="1400" spc="-5" dirty="0">
                <a:latin typeface="Arial Narrow"/>
                <a:cs typeface="Arial Narrow"/>
              </a:rPr>
              <a:t>Con	4:704:01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440"/>
              </a:lnSpc>
            </a:pPr>
            <a:r>
              <a:rPr sz="1400" spc="-5" dirty="0">
                <a:latin typeface="Arial Narrow"/>
                <a:cs typeface="Arial Narrow"/>
              </a:rPr>
              <a:t>Funk </a:t>
            </a:r>
            <a:r>
              <a:rPr sz="1400" spc="28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4:706:02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560"/>
              </a:lnSpc>
            </a:pPr>
            <a:r>
              <a:rPr sz="1400" spc="-5" dirty="0">
                <a:latin typeface="Arial Narrow"/>
                <a:cs typeface="Arial Narrow"/>
              </a:rPr>
              <a:t>Funk </a:t>
            </a:r>
            <a:r>
              <a:rPr sz="1400" spc="28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4:704:02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19" name="object 219"/>
          <p:cNvSpPr/>
          <p:nvPr/>
        </p:nvSpPr>
        <p:spPr>
          <a:xfrm>
            <a:off x="12906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4829809" y="2300922"/>
            <a:ext cx="854392" cy="2644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 txBox="1"/>
          <p:nvPr/>
        </p:nvSpPr>
        <p:spPr>
          <a:xfrm>
            <a:off x="4941252" y="2315280"/>
            <a:ext cx="4057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Marti</a:t>
            </a:r>
            <a:r>
              <a:rPr sz="1400" dirty="0">
                <a:latin typeface="Arial Narrow"/>
                <a:cs typeface="Arial Narrow"/>
              </a:rPr>
              <a:t>n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22" name="object 222"/>
          <p:cNvSpPr/>
          <p:nvPr/>
        </p:nvSpPr>
        <p:spPr>
          <a:xfrm>
            <a:off x="4829809" y="2494597"/>
            <a:ext cx="854392" cy="26384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829809" y="2686685"/>
            <a:ext cx="854392" cy="26447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 txBox="1"/>
          <p:nvPr/>
        </p:nvSpPr>
        <p:spPr>
          <a:xfrm>
            <a:off x="4928552" y="2484119"/>
            <a:ext cx="398780" cy="4324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Smit</a:t>
            </a:r>
            <a:r>
              <a:rPr sz="1400" dirty="0">
                <a:latin typeface="Arial Narrow"/>
                <a:cs typeface="Arial Narrow"/>
              </a:rPr>
              <a:t>h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600"/>
              </a:lnSpc>
            </a:pPr>
            <a:r>
              <a:rPr sz="1400" spc="-5" dirty="0">
                <a:latin typeface="Arial Narrow"/>
                <a:cs typeface="Arial Narrow"/>
              </a:rPr>
              <a:t>...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25" name="object 225"/>
          <p:cNvSpPr/>
          <p:nvPr/>
        </p:nvSpPr>
        <p:spPr>
          <a:xfrm>
            <a:off x="4845050" y="2316162"/>
            <a:ext cx="798830" cy="589280"/>
          </a:xfrm>
          <a:custGeom>
            <a:avLst/>
            <a:gdLst/>
            <a:ahLst/>
            <a:cxnLst/>
            <a:rect l="l" t="t" r="r" b="b"/>
            <a:pathLst>
              <a:path w="798829" h="589280">
                <a:moveTo>
                  <a:pt x="798512" y="588962"/>
                </a:moveTo>
                <a:lnTo>
                  <a:pt x="0" y="588962"/>
                </a:lnTo>
                <a:lnTo>
                  <a:pt x="0" y="0"/>
                </a:lnTo>
                <a:lnTo>
                  <a:pt x="798512" y="0"/>
                </a:lnTo>
                <a:lnTo>
                  <a:pt x="7985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798512" y="584200"/>
                </a:lnTo>
                <a:lnTo>
                  <a:pt x="798512" y="588962"/>
                </a:lnTo>
                <a:close/>
              </a:path>
              <a:path w="798829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8829" h="589280">
                <a:moveTo>
                  <a:pt x="7889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88987" y="4762"/>
                </a:lnTo>
                <a:lnTo>
                  <a:pt x="788987" y="9525"/>
                </a:lnTo>
                <a:close/>
              </a:path>
              <a:path w="798829" h="589280">
                <a:moveTo>
                  <a:pt x="788987" y="584200"/>
                </a:moveTo>
                <a:lnTo>
                  <a:pt x="788987" y="4762"/>
                </a:lnTo>
                <a:lnTo>
                  <a:pt x="793750" y="9525"/>
                </a:lnTo>
                <a:lnTo>
                  <a:pt x="798512" y="9525"/>
                </a:lnTo>
                <a:lnTo>
                  <a:pt x="798512" y="579437"/>
                </a:lnTo>
                <a:lnTo>
                  <a:pt x="793750" y="579437"/>
                </a:lnTo>
                <a:lnTo>
                  <a:pt x="788987" y="584200"/>
                </a:lnTo>
                <a:close/>
              </a:path>
              <a:path w="798829" h="589280">
                <a:moveTo>
                  <a:pt x="798512" y="9525"/>
                </a:moveTo>
                <a:lnTo>
                  <a:pt x="793750" y="9525"/>
                </a:lnTo>
                <a:lnTo>
                  <a:pt x="788987" y="4762"/>
                </a:lnTo>
                <a:lnTo>
                  <a:pt x="798512" y="4762"/>
                </a:lnTo>
                <a:lnTo>
                  <a:pt x="798512" y="9525"/>
                </a:lnTo>
                <a:close/>
              </a:path>
              <a:path w="798829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798829" h="589280">
                <a:moveTo>
                  <a:pt x="788987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88987" y="579437"/>
                </a:lnTo>
                <a:lnTo>
                  <a:pt x="788987" y="584200"/>
                </a:lnTo>
                <a:close/>
              </a:path>
              <a:path w="798829" h="589280">
                <a:moveTo>
                  <a:pt x="798512" y="584200"/>
                </a:moveTo>
                <a:lnTo>
                  <a:pt x="788987" y="584200"/>
                </a:lnTo>
                <a:lnTo>
                  <a:pt x="793750" y="579437"/>
                </a:lnTo>
                <a:lnTo>
                  <a:pt x="798512" y="579437"/>
                </a:lnTo>
                <a:lnTo>
                  <a:pt x="798512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5623559" y="2569210"/>
            <a:ext cx="367029" cy="75596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5161597" y="3264534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5161597" y="3447097"/>
            <a:ext cx="598804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5161597" y="3629659"/>
            <a:ext cx="598804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161597" y="3813809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5161597" y="3996372"/>
            <a:ext cx="598804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56949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56949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56949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56949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56949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 txBox="1"/>
          <p:nvPr/>
        </p:nvSpPr>
        <p:spPr>
          <a:xfrm>
            <a:off x="5248909" y="3248977"/>
            <a:ext cx="2124710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60"/>
              </a:lnSpc>
              <a:spcBef>
                <a:spcPts val="105"/>
              </a:spcBef>
              <a:tabLst>
                <a:tab pos="1194435" algn="l"/>
              </a:tabLst>
            </a:pPr>
            <a:r>
              <a:rPr sz="1400" spc="-5" dirty="0">
                <a:latin typeface="Arial Narrow"/>
                <a:cs typeface="Arial Narrow"/>
              </a:rPr>
              <a:t>Smith </a:t>
            </a:r>
            <a:r>
              <a:rPr sz="1400" spc="17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4:706:03	</a:t>
            </a:r>
            <a:r>
              <a:rPr sz="1400" spc="-5" dirty="0">
                <a:latin typeface="Arial"/>
                <a:cs typeface="Arial"/>
              </a:rPr>
              <a:t>(Key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Value)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45"/>
              </a:lnSpc>
            </a:pPr>
            <a:r>
              <a:rPr sz="1400" spc="-5" dirty="0">
                <a:latin typeface="Arial Narrow"/>
                <a:cs typeface="Arial Narrow"/>
              </a:rPr>
              <a:t>Smith </a:t>
            </a:r>
            <a:r>
              <a:rPr sz="1400" spc="9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4:708:04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445"/>
              </a:lnSpc>
            </a:pPr>
            <a:r>
              <a:rPr sz="1400" spc="-5" dirty="0">
                <a:latin typeface="Arial Narrow"/>
                <a:cs typeface="Arial Narrow"/>
              </a:rPr>
              <a:t>Smith </a:t>
            </a:r>
            <a:r>
              <a:rPr sz="1400" spc="9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4:707:01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440"/>
              </a:lnSpc>
            </a:pPr>
            <a:r>
              <a:rPr sz="1400" spc="-5" dirty="0">
                <a:latin typeface="Arial Narrow"/>
                <a:cs typeface="Arial Narrow"/>
              </a:rPr>
              <a:t>White </a:t>
            </a:r>
            <a:r>
              <a:rPr sz="1400" spc="9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4:704:03</a:t>
            </a:r>
            <a:endParaRPr sz="1400">
              <a:latin typeface="Arial Narrow"/>
              <a:cs typeface="Arial Narrow"/>
            </a:endParaRPr>
          </a:p>
          <a:p>
            <a:pPr marL="12700">
              <a:lnSpc>
                <a:spcPts val="1560"/>
              </a:lnSpc>
            </a:pPr>
            <a:r>
              <a:rPr sz="1400" spc="-5" dirty="0">
                <a:latin typeface="Arial Narrow"/>
                <a:cs typeface="Arial Narrow"/>
              </a:rPr>
              <a:t>White </a:t>
            </a:r>
            <a:r>
              <a:rPr sz="1400" spc="9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4:705:02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38" name="object 238"/>
          <p:cNvSpPr/>
          <p:nvPr/>
        </p:nvSpPr>
        <p:spPr>
          <a:xfrm>
            <a:off x="51768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2221547" y="2300922"/>
            <a:ext cx="862330" cy="26447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2221547" y="2494597"/>
            <a:ext cx="862330" cy="26384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2221547" y="2686685"/>
            <a:ext cx="862330" cy="26447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 txBox="1"/>
          <p:nvPr/>
        </p:nvSpPr>
        <p:spPr>
          <a:xfrm>
            <a:off x="2247264" y="2071687"/>
            <a:ext cx="570230" cy="84518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85725" marR="5080" indent="-73025" algn="just">
              <a:lnSpc>
                <a:spcPct val="96700"/>
              </a:lnSpc>
              <a:spcBef>
                <a:spcPts val="160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7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37  Akhtar  Ganio</a:t>
            </a:r>
            <a:endParaRPr sz="1400">
              <a:latin typeface="Arial Narrow"/>
              <a:cs typeface="Arial Narrow"/>
            </a:endParaRPr>
          </a:p>
          <a:p>
            <a:pPr marL="85725">
              <a:lnSpc>
                <a:spcPts val="1520"/>
              </a:lnSpc>
            </a:pPr>
            <a:r>
              <a:rPr sz="1400" spc="-5" dirty="0">
                <a:latin typeface="Arial Narrow"/>
                <a:cs typeface="Arial Narrow"/>
              </a:rPr>
              <a:t>...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43" name="object 243"/>
          <p:cNvSpPr/>
          <p:nvPr/>
        </p:nvSpPr>
        <p:spPr>
          <a:xfrm>
            <a:off x="2236787" y="2316162"/>
            <a:ext cx="806450" cy="589280"/>
          </a:xfrm>
          <a:custGeom>
            <a:avLst/>
            <a:gdLst/>
            <a:ahLst/>
            <a:cxnLst/>
            <a:rect l="l" t="t" r="r" b="b"/>
            <a:pathLst>
              <a:path w="806450" h="589280">
                <a:moveTo>
                  <a:pt x="806450" y="588962"/>
                </a:moveTo>
                <a:lnTo>
                  <a:pt x="0" y="588962"/>
                </a:lnTo>
                <a:lnTo>
                  <a:pt x="0" y="0"/>
                </a:lnTo>
                <a:lnTo>
                  <a:pt x="806450" y="0"/>
                </a:lnTo>
                <a:lnTo>
                  <a:pt x="806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79437"/>
                </a:lnTo>
                <a:lnTo>
                  <a:pt x="4762" y="579437"/>
                </a:lnTo>
                <a:lnTo>
                  <a:pt x="9525" y="584200"/>
                </a:lnTo>
                <a:lnTo>
                  <a:pt x="806450" y="584200"/>
                </a:lnTo>
                <a:lnTo>
                  <a:pt x="806450" y="588962"/>
                </a:lnTo>
                <a:close/>
              </a:path>
              <a:path w="806450" h="58928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6450" h="589280">
                <a:moveTo>
                  <a:pt x="796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6925" y="4762"/>
                </a:lnTo>
                <a:lnTo>
                  <a:pt x="796925" y="9525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796925" y="4762"/>
                </a:lnTo>
                <a:lnTo>
                  <a:pt x="801687" y="9525"/>
                </a:lnTo>
                <a:lnTo>
                  <a:pt x="806450" y="9525"/>
                </a:lnTo>
                <a:lnTo>
                  <a:pt x="806450" y="579437"/>
                </a:lnTo>
                <a:lnTo>
                  <a:pt x="801687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9525"/>
                </a:moveTo>
                <a:lnTo>
                  <a:pt x="801687" y="9525"/>
                </a:lnTo>
                <a:lnTo>
                  <a:pt x="796925" y="4762"/>
                </a:lnTo>
                <a:lnTo>
                  <a:pt x="806450" y="4762"/>
                </a:lnTo>
                <a:lnTo>
                  <a:pt x="806450" y="9525"/>
                </a:lnTo>
                <a:close/>
              </a:path>
              <a:path w="806450" h="589280">
                <a:moveTo>
                  <a:pt x="9525" y="584200"/>
                </a:moveTo>
                <a:lnTo>
                  <a:pt x="4762" y="579437"/>
                </a:lnTo>
                <a:lnTo>
                  <a:pt x="9525" y="579437"/>
                </a:lnTo>
                <a:lnTo>
                  <a:pt x="9525" y="584200"/>
                </a:lnTo>
                <a:close/>
              </a:path>
              <a:path w="806450" h="589280">
                <a:moveTo>
                  <a:pt x="796925" y="584200"/>
                </a:moveTo>
                <a:lnTo>
                  <a:pt x="9525" y="584200"/>
                </a:lnTo>
                <a:lnTo>
                  <a:pt x="9525" y="579437"/>
                </a:lnTo>
                <a:lnTo>
                  <a:pt x="796925" y="579437"/>
                </a:lnTo>
                <a:lnTo>
                  <a:pt x="796925" y="584200"/>
                </a:lnTo>
                <a:close/>
              </a:path>
              <a:path w="806450" h="589280">
                <a:moveTo>
                  <a:pt x="806450" y="584200"/>
                </a:moveTo>
                <a:lnTo>
                  <a:pt x="796925" y="584200"/>
                </a:lnTo>
                <a:lnTo>
                  <a:pt x="801687" y="579437"/>
                </a:lnTo>
                <a:lnTo>
                  <a:pt x="806450" y="579437"/>
                </a:lnTo>
                <a:lnTo>
                  <a:pt x="806450" y="584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3032760" y="2569210"/>
            <a:ext cx="349567" cy="7559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2570797" y="3264534"/>
            <a:ext cx="598805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2570797" y="3447097"/>
            <a:ext cx="598805" cy="25876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2570797" y="3629659"/>
            <a:ext cx="598805" cy="2600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2570797" y="3813809"/>
            <a:ext cx="598805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2570797" y="3996372"/>
            <a:ext cx="598805" cy="25876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104197" y="3264534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104197" y="3447097"/>
            <a:ext cx="682307" cy="2587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3104197" y="3629659"/>
            <a:ext cx="682307" cy="26003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3104197" y="3813809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3104197" y="3996372"/>
            <a:ext cx="682307" cy="25876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 txBox="1"/>
          <p:nvPr/>
        </p:nvSpPr>
        <p:spPr>
          <a:xfrm>
            <a:off x="2609214" y="2981769"/>
            <a:ext cx="1117600" cy="12388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1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51</a:t>
            </a:r>
            <a:endParaRPr sz="1400">
              <a:latin typeface="Arial Narrow"/>
              <a:cs typeface="Arial Narrow"/>
            </a:endParaRPr>
          </a:p>
          <a:p>
            <a:pPr marL="53340">
              <a:lnSpc>
                <a:spcPts val="1560"/>
              </a:lnSpc>
              <a:spcBef>
                <a:spcPts val="215"/>
              </a:spcBef>
            </a:pPr>
            <a:r>
              <a:rPr sz="1400" spc="-5" dirty="0">
                <a:latin typeface="Arial Narrow"/>
                <a:cs typeface="Arial Narrow"/>
              </a:rPr>
              <a:t>Ganio </a:t>
            </a:r>
            <a:r>
              <a:rPr sz="1400" spc="2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4:709:01</a:t>
            </a:r>
            <a:endParaRPr sz="1400">
              <a:latin typeface="Arial Narrow"/>
              <a:cs typeface="Arial Narrow"/>
            </a:endParaRPr>
          </a:p>
          <a:p>
            <a:pPr marL="122555">
              <a:lnSpc>
                <a:spcPts val="1445"/>
              </a:lnSpc>
              <a:tabLst>
                <a:tab pos="534670" algn="l"/>
              </a:tabLst>
            </a:pPr>
            <a:r>
              <a:rPr sz="1400" spc="-5" dirty="0">
                <a:latin typeface="Arial Narrow"/>
                <a:cs typeface="Arial Narrow"/>
              </a:rPr>
              <a:t>Hall	4:709:04</a:t>
            </a:r>
            <a:endParaRPr sz="1400">
              <a:latin typeface="Arial Narrow"/>
              <a:cs typeface="Arial Narrow"/>
            </a:endParaRPr>
          </a:p>
          <a:p>
            <a:pPr marL="53340">
              <a:lnSpc>
                <a:spcPts val="1445"/>
              </a:lnSpc>
            </a:pPr>
            <a:r>
              <a:rPr sz="1400" spc="-5" dirty="0">
                <a:latin typeface="Arial Narrow"/>
                <a:cs typeface="Arial Narrow"/>
              </a:rPr>
              <a:t>Jones </a:t>
            </a:r>
            <a:r>
              <a:rPr sz="1400" spc="2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4:709:02</a:t>
            </a:r>
            <a:endParaRPr sz="1400">
              <a:latin typeface="Arial Narrow"/>
              <a:cs typeface="Arial Narrow"/>
            </a:endParaRPr>
          </a:p>
          <a:p>
            <a:pPr marL="53340">
              <a:lnSpc>
                <a:spcPts val="1440"/>
              </a:lnSpc>
            </a:pPr>
            <a:r>
              <a:rPr sz="1400" spc="-5" dirty="0">
                <a:latin typeface="Arial Narrow"/>
                <a:cs typeface="Arial Narrow"/>
              </a:rPr>
              <a:t>Jones </a:t>
            </a:r>
            <a:r>
              <a:rPr sz="1400" spc="2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4:708:03</a:t>
            </a:r>
            <a:endParaRPr sz="1400">
              <a:latin typeface="Arial Narrow"/>
              <a:cs typeface="Arial Narrow"/>
            </a:endParaRPr>
          </a:p>
          <a:p>
            <a:pPr marL="53340">
              <a:lnSpc>
                <a:spcPts val="1560"/>
              </a:lnSpc>
            </a:pPr>
            <a:r>
              <a:rPr sz="1400" spc="-5" dirty="0">
                <a:latin typeface="Arial Narrow"/>
                <a:cs typeface="Arial Narrow"/>
              </a:rPr>
              <a:t>Jones </a:t>
            </a:r>
            <a:r>
              <a:rPr sz="1400" spc="2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4:707:03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56" name="object 256"/>
          <p:cNvSpPr/>
          <p:nvPr/>
        </p:nvSpPr>
        <p:spPr>
          <a:xfrm>
            <a:off x="25860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437197" y="4483734"/>
            <a:ext cx="8218805" cy="19624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 txBox="1"/>
          <p:nvPr/>
        </p:nvSpPr>
        <p:spPr>
          <a:xfrm>
            <a:off x="4498340" y="4749800"/>
            <a:ext cx="651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707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5798502" y="4756150"/>
            <a:ext cx="651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808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7089140" y="4756150"/>
            <a:ext cx="651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709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61" name="object 261"/>
          <p:cNvSpPr/>
          <p:nvPr/>
        </p:nvSpPr>
        <p:spPr>
          <a:xfrm>
            <a:off x="3180397" y="49949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3180397" y="52235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3180397" y="54521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3180397" y="56807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 txBox="1"/>
          <p:nvPr/>
        </p:nvSpPr>
        <p:spPr>
          <a:xfrm>
            <a:off x="3246120" y="5712848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645" dirty="0">
                <a:latin typeface="Arial Narrow"/>
                <a:cs typeface="Arial Narrow"/>
              </a:rPr>
              <a:t>0</a:t>
            </a:r>
            <a:r>
              <a:rPr sz="1400" spc="-5" dirty="0">
                <a:latin typeface="Arial Narrow"/>
                <a:cs typeface="Arial Narrow"/>
              </a:rPr>
              <a:t>0</a:t>
            </a:r>
            <a:r>
              <a:rPr sz="1400" spc="-645" dirty="0">
                <a:latin typeface="Arial Narrow"/>
                <a:cs typeface="Arial Narrow"/>
              </a:rPr>
              <a:t>4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66" name="object 266"/>
          <p:cNvSpPr/>
          <p:nvPr/>
        </p:nvSpPr>
        <p:spPr>
          <a:xfrm>
            <a:off x="3180397" y="5909309"/>
            <a:ext cx="357504" cy="2813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3485197" y="49949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3485197" y="52235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3485197" y="54521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3485197" y="56807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 txBox="1"/>
          <p:nvPr/>
        </p:nvSpPr>
        <p:spPr>
          <a:xfrm>
            <a:off x="3520440" y="5712848"/>
            <a:ext cx="12255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dirty="0">
                <a:latin typeface="Arial Narrow"/>
                <a:cs typeface="Arial Narrow"/>
              </a:rPr>
              <a:t>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72" name="object 272"/>
          <p:cNvSpPr/>
          <p:nvPr/>
        </p:nvSpPr>
        <p:spPr>
          <a:xfrm>
            <a:off x="3485197" y="59093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36375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36375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36375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36375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 txBox="1"/>
          <p:nvPr/>
        </p:nvSpPr>
        <p:spPr>
          <a:xfrm>
            <a:off x="3763645" y="5712848"/>
            <a:ext cx="39814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960" dirty="0">
                <a:latin typeface="Arial Narrow"/>
                <a:cs typeface="Arial Narrow"/>
              </a:rPr>
              <a:t>M</a:t>
            </a:r>
            <a:r>
              <a:rPr sz="1400" spc="-5" dirty="0">
                <a:latin typeface="Arial Narrow"/>
                <a:cs typeface="Arial Narrow"/>
              </a:rPr>
              <a:t>M</a:t>
            </a:r>
            <a:r>
              <a:rPr sz="1400" spc="-645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a</a:t>
            </a:r>
            <a:r>
              <a:rPr sz="1400" spc="-325" dirty="0">
                <a:latin typeface="Arial Narrow"/>
                <a:cs typeface="Arial Narrow"/>
              </a:rPr>
              <a:t>t</a:t>
            </a:r>
            <a:r>
              <a:rPr sz="1400" spc="-5" dirty="0">
                <a:latin typeface="Arial Narrow"/>
                <a:cs typeface="Arial Narrow"/>
              </a:rPr>
              <a:t>t</a:t>
            </a:r>
            <a:r>
              <a:rPr sz="1400" spc="-645" dirty="0">
                <a:latin typeface="Arial Narrow"/>
                <a:cs typeface="Arial Narrow"/>
              </a:rPr>
              <a:t>e</a:t>
            </a:r>
            <a:r>
              <a:rPr sz="1400" spc="-5" dirty="0">
                <a:latin typeface="Arial Narrow"/>
                <a:cs typeface="Arial Narrow"/>
              </a:rPr>
              <a:t>e</a:t>
            </a:r>
            <a:r>
              <a:rPr sz="1400" spc="-580" dirty="0">
                <a:latin typeface="Arial Narrow"/>
                <a:cs typeface="Arial Narrow"/>
              </a:rPr>
              <a:t>y</a:t>
            </a:r>
            <a:r>
              <a:rPr sz="1400" dirty="0">
                <a:latin typeface="Arial Narrow"/>
                <a:cs typeface="Arial Narrow"/>
              </a:rPr>
              <a:t>y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78" name="object 278"/>
          <p:cNvSpPr/>
          <p:nvPr/>
        </p:nvSpPr>
        <p:spPr>
          <a:xfrm>
            <a:off x="36375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3190875" y="5010150"/>
            <a:ext cx="1081405" cy="1152525"/>
          </a:xfrm>
          <a:custGeom>
            <a:avLst/>
            <a:gdLst/>
            <a:ahLst/>
            <a:cxnLst/>
            <a:rect l="l" t="t" r="r" b="b"/>
            <a:pathLst>
              <a:path w="1081404" h="1152525">
                <a:moveTo>
                  <a:pt x="1081087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81087" y="0"/>
                </a:lnTo>
                <a:lnTo>
                  <a:pt x="10810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81087" y="1147762"/>
                </a:lnTo>
                <a:lnTo>
                  <a:pt x="1081087" y="1152525"/>
                </a:lnTo>
                <a:close/>
              </a:path>
              <a:path w="1081404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81404" h="1152525">
                <a:moveTo>
                  <a:pt x="107156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71562" y="4762"/>
                </a:lnTo>
                <a:lnTo>
                  <a:pt x="1071562" y="9525"/>
                </a:lnTo>
                <a:close/>
              </a:path>
              <a:path w="1081404" h="1152525">
                <a:moveTo>
                  <a:pt x="1071562" y="1147762"/>
                </a:moveTo>
                <a:lnTo>
                  <a:pt x="1071562" y="4762"/>
                </a:lnTo>
                <a:lnTo>
                  <a:pt x="1076325" y="9525"/>
                </a:lnTo>
                <a:lnTo>
                  <a:pt x="1081087" y="9525"/>
                </a:lnTo>
                <a:lnTo>
                  <a:pt x="1081087" y="1143000"/>
                </a:lnTo>
                <a:lnTo>
                  <a:pt x="1076325" y="1143000"/>
                </a:lnTo>
                <a:lnTo>
                  <a:pt x="1071562" y="1147762"/>
                </a:lnTo>
                <a:close/>
              </a:path>
              <a:path w="1081404" h="1152525">
                <a:moveTo>
                  <a:pt x="1081087" y="9525"/>
                </a:moveTo>
                <a:lnTo>
                  <a:pt x="1076325" y="9525"/>
                </a:lnTo>
                <a:lnTo>
                  <a:pt x="1071562" y="4762"/>
                </a:lnTo>
                <a:lnTo>
                  <a:pt x="1081087" y="4762"/>
                </a:lnTo>
                <a:lnTo>
                  <a:pt x="1081087" y="9525"/>
                </a:lnTo>
                <a:close/>
              </a:path>
              <a:path w="1081404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81404" h="1152525">
                <a:moveTo>
                  <a:pt x="1071562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71562" y="1143000"/>
                </a:lnTo>
                <a:lnTo>
                  <a:pt x="1071562" y="1147762"/>
                </a:lnTo>
                <a:close/>
              </a:path>
              <a:path w="1081404" h="1152525">
                <a:moveTo>
                  <a:pt x="1081087" y="1147762"/>
                </a:moveTo>
                <a:lnTo>
                  <a:pt x="1071562" y="1147762"/>
                </a:lnTo>
                <a:lnTo>
                  <a:pt x="1076325" y="1143000"/>
                </a:lnTo>
                <a:lnTo>
                  <a:pt x="1081087" y="1143000"/>
                </a:lnTo>
                <a:lnTo>
                  <a:pt x="1081087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 txBox="1"/>
          <p:nvPr/>
        </p:nvSpPr>
        <p:spPr>
          <a:xfrm>
            <a:off x="535940" y="4469164"/>
            <a:ext cx="727710" cy="5207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b="1" spc="-5" dirty="0">
                <a:latin typeface="Arial"/>
                <a:cs typeface="Arial"/>
              </a:rPr>
              <a:t>Heap</a:t>
            </a:r>
            <a:endParaRPr sz="16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4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704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81" name="object 281"/>
          <p:cNvSpPr txBox="1"/>
          <p:nvPr/>
        </p:nvSpPr>
        <p:spPr>
          <a:xfrm>
            <a:off x="1907539" y="4749800"/>
            <a:ext cx="651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705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82" name="object 282"/>
          <p:cNvSpPr txBox="1"/>
          <p:nvPr/>
        </p:nvSpPr>
        <p:spPr>
          <a:xfrm>
            <a:off x="3241039" y="4749800"/>
            <a:ext cx="6515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Page</a:t>
            </a:r>
            <a:r>
              <a:rPr sz="1400" spc="-55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706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83" name="object 283"/>
          <p:cNvSpPr/>
          <p:nvPr/>
        </p:nvSpPr>
        <p:spPr>
          <a:xfrm>
            <a:off x="5943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5943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5943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5943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5943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8943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8943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8943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8943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8943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0467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0467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0467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0467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0467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6048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889760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 txBox="1"/>
          <p:nvPr/>
        </p:nvSpPr>
        <p:spPr>
          <a:xfrm>
            <a:off x="1955482" y="5027048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645" dirty="0">
                <a:latin typeface="Arial Narrow"/>
                <a:cs typeface="Arial Narrow"/>
              </a:rPr>
              <a:t>0</a:t>
            </a:r>
            <a:r>
              <a:rPr sz="1400" spc="-5" dirty="0">
                <a:latin typeface="Arial Narrow"/>
                <a:cs typeface="Arial Narrow"/>
              </a:rPr>
              <a:t>0</a:t>
            </a:r>
            <a:r>
              <a:rPr sz="1400" spc="-64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01" name="object 301"/>
          <p:cNvSpPr/>
          <p:nvPr/>
        </p:nvSpPr>
        <p:spPr>
          <a:xfrm>
            <a:off x="1889760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889760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1889760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1889760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21897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 txBox="1"/>
          <p:nvPr/>
        </p:nvSpPr>
        <p:spPr>
          <a:xfrm>
            <a:off x="2225039" y="5027048"/>
            <a:ext cx="12255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dirty="0">
                <a:latin typeface="Arial Narrow"/>
                <a:cs typeface="Arial Narrow"/>
              </a:rPr>
              <a:t>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07" name="object 307"/>
          <p:cNvSpPr/>
          <p:nvPr/>
        </p:nvSpPr>
        <p:spPr>
          <a:xfrm>
            <a:off x="21897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21897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21897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21897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2342197" y="49949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 txBox="1"/>
          <p:nvPr/>
        </p:nvSpPr>
        <p:spPr>
          <a:xfrm>
            <a:off x="2492375" y="5027048"/>
            <a:ext cx="34988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835" dirty="0">
                <a:latin typeface="Arial Narrow"/>
                <a:cs typeface="Arial Narrow"/>
              </a:rPr>
              <a:t>R</a:t>
            </a:r>
            <a:r>
              <a:rPr sz="1400" spc="-5" dirty="0">
                <a:latin typeface="Arial Narrow"/>
                <a:cs typeface="Arial Narrow"/>
              </a:rPr>
              <a:t>R</a:t>
            </a:r>
            <a:r>
              <a:rPr sz="1400" spc="-645" dirty="0">
                <a:latin typeface="Arial Narrow"/>
                <a:cs typeface="Arial Narrow"/>
              </a:rPr>
              <a:t>u</a:t>
            </a:r>
            <a:r>
              <a:rPr sz="1400" spc="-5" dirty="0">
                <a:latin typeface="Arial Narrow"/>
                <a:cs typeface="Arial Narrow"/>
              </a:rPr>
              <a:t>u</a:t>
            </a:r>
            <a:r>
              <a:rPr sz="1400" spc="-645" dirty="0">
                <a:latin typeface="Arial Narrow"/>
                <a:cs typeface="Arial Narrow"/>
              </a:rPr>
              <a:t>d</a:t>
            </a:r>
            <a:r>
              <a:rPr sz="1400" spc="-5" dirty="0">
                <a:latin typeface="Arial Narrow"/>
                <a:cs typeface="Arial Narrow"/>
              </a:rPr>
              <a:t>d</a:t>
            </a:r>
            <a:r>
              <a:rPr sz="1400" spc="-645" dirty="0">
                <a:latin typeface="Arial Narrow"/>
                <a:cs typeface="Arial Narrow"/>
              </a:rPr>
              <a:t>d</a:t>
            </a:r>
            <a:r>
              <a:rPr sz="1400" dirty="0">
                <a:latin typeface="Arial Narrow"/>
                <a:cs typeface="Arial Narrow"/>
              </a:rPr>
              <a:t>d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13" name="object 313"/>
          <p:cNvSpPr/>
          <p:nvPr/>
        </p:nvSpPr>
        <p:spPr>
          <a:xfrm>
            <a:off x="2342197" y="52235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2342197" y="54521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2342197" y="56807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2342197" y="59093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9002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44805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44805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 txBox="1"/>
          <p:nvPr/>
        </p:nvSpPr>
        <p:spPr>
          <a:xfrm>
            <a:off x="4546282" y="5255648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645" dirty="0">
                <a:latin typeface="Arial Narrow"/>
                <a:cs typeface="Arial Narrow"/>
              </a:rPr>
              <a:t>0</a:t>
            </a:r>
            <a:r>
              <a:rPr sz="1400" spc="-5" dirty="0">
                <a:latin typeface="Arial Narrow"/>
                <a:cs typeface="Arial Narrow"/>
              </a:rPr>
              <a:t>0</a:t>
            </a:r>
            <a:r>
              <a:rPr sz="1400" spc="-645" dirty="0">
                <a:latin typeface="Arial Narrow"/>
                <a:cs typeface="Arial Narrow"/>
              </a:rPr>
              <a:t>2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21" name="object 321"/>
          <p:cNvSpPr/>
          <p:nvPr/>
        </p:nvSpPr>
        <p:spPr>
          <a:xfrm>
            <a:off x="44805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44805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44805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47805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47805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 txBox="1"/>
          <p:nvPr/>
        </p:nvSpPr>
        <p:spPr>
          <a:xfrm>
            <a:off x="4815840" y="5255648"/>
            <a:ext cx="12255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dirty="0">
                <a:latin typeface="Arial Narrow"/>
                <a:cs typeface="Arial Narrow"/>
              </a:rPr>
              <a:t>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27" name="object 327"/>
          <p:cNvSpPr/>
          <p:nvPr/>
        </p:nvSpPr>
        <p:spPr>
          <a:xfrm>
            <a:off x="47805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7805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47805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9329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9329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 txBox="1"/>
          <p:nvPr/>
        </p:nvSpPr>
        <p:spPr>
          <a:xfrm>
            <a:off x="5139690" y="5255648"/>
            <a:ext cx="23622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900" dirty="0">
                <a:latin typeface="Arial Narrow"/>
                <a:cs typeface="Arial Narrow"/>
              </a:rPr>
              <a:t>O</a:t>
            </a:r>
            <a:r>
              <a:rPr sz="1400" spc="-5" dirty="0">
                <a:latin typeface="Arial Narrow"/>
                <a:cs typeface="Arial Narrow"/>
              </a:rPr>
              <a:t>O</a:t>
            </a:r>
            <a:r>
              <a:rPr sz="1400" spc="-325" dirty="0">
                <a:latin typeface="Arial Narrow"/>
                <a:cs typeface="Arial Narrow"/>
              </a:rPr>
              <a:t>t</a:t>
            </a:r>
            <a:r>
              <a:rPr sz="1400" spc="-5" dirty="0">
                <a:latin typeface="Arial Narrow"/>
                <a:cs typeface="Arial Narrow"/>
              </a:rPr>
              <a:t>t</a:t>
            </a:r>
            <a:r>
              <a:rPr sz="1400" spc="-645" dirty="0">
                <a:latin typeface="Arial Narrow"/>
                <a:cs typeface="Arial Narrow"/>
              </a:rPr>
              <a:t>a</a:t>
            </a:r>
            <a:r>
              <a:rPr sz="1400" dirty="0">
                <a:latin typeface="Arial Narrow"/>
                <a:cs typeface="Arial Narrow"/>
              </a:rPr>
              <a:t>a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33" name="object 333"/>
          <p:cNvSpPr/>
          <p:nvPr/>
        </p:nvSpPr>
        <p:spPr>
          <a:xfrm>
            <a:off x="49329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49329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49329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44910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5775959" y="49949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5775959" y="52235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 txBox="1"/>
          <p:nvPr/>
        </p:nvSpPr>
        <p:spPr>
          <a:xfrm>
            <a:off x="5841682" y="5255648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645" dirty="0">
                <a:latin typeface="Arial Narrow"/>
                <a:cs typeface="Arial Narrow"/>
              </a:rPr>
              <a:t>0</a:t>
            </a:r>
            <a:r>
              <a:rPr sz="1400" spc="-5" dirty="0">
                <a:latin typeface="Arial Narrow"/>
                <a:cs typeface="Arial Narrow"/>
              </a:rPr>
              <a:t>0</a:t>
            </a:r>
            <a:r>
              <a:rPr sz="1400" spc="-645" dirty="0">
                <a:latin typeface="Arial Narrow"/>
                <a:cs typeface="Arial Narrow"/>
              </a:rPr>
              <a:t>2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40" name="object 340"/>
          <p:cNvSpPr/>
          <p:nvPr/>
        </p:nvSpPr>
        <p:spPr>
          <a:xfrm>
            <a:off x="5775959" y="54521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5775959" y="56807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5775959" y="5909309"/>
            <a:ext cx="352742" cy="2813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6075997" y="49949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6075997" y="52235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 txBox="1"/>
          <p:nvPr/>
        </p:nvSpPr>
        <p:spPr>
          <a:xfrm>
            <a:off x="6111240" y="5255648"/>
            <a:ext cx="12255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spc="-5" dirty="0">
                <a:latin typeface="Arial Narrow"/>
                <a:cs typeface="Arial Narrow"/>
              </a:rPr>
              <a:t>.</a:t>
            </a:r>
            <a:r>
              <a:rPr sz="1400" spc="-325" dirty="0">
                <a:latin typeface="Arial Narrow"/>
                <a:cs typeface="Arial Narrow"/>
              </a:rPr>
              <a:t>.</a:t>
            </a:r>
            <a:r>
              <a:rPr sz="1400" dirty="0">
                <a:latin typeface="Arial Narrow"/>
                <a:cs typeface="Arial Narrow"/>
              </a:rPr>
              <a:t>.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46" name="object 346"/>
          <p:cNvSpPr/>
          <p:nvPr/>
        </p:nvSpPr>
        <p:spPr>
          <a:xfrm>
            <a:off x="6075997" y="54521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6075997" y="56807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6075997" y="5909309"/>
            <a:ext cx="217487" cy="2813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6228397" y="49949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6228397" y="52235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 txBox="1"/>
          <p:nvPr/>
        </p:nvSpPr>
        <p:spPr>
          <a:xfrm>
            <a:off x="6382384" y="5255648"/>
            <a:ext cx="34163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770" dirty="0">
                <a:latin typeface="Arial Narrow"/>
                <a:cs typeface="Arial Narrow"/>
              </a:rPr>
              <a:t>P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spc="-645" dirty="0">
                <a:latin typeface="Arial Narrow"/>
                <a:cs typeface="Arial Narrow"/>
              </a:rPr>
              <a:t>h</a:t>
            </a:r>
            <a:r>
              <a:rPr sz="1400" spc="-5" dirty="0">
                <a:latin typeface="Arial Narrow"/>
                <a:cs typeface="Arial Narrow"/>
              </a:rPr>
              <a:t>h</a:t>
            </a:r>
            <a:r>
              <a:rPr sz="1400" spc="-645" dirty="0">
                <a:latin typeface="Arial Narrow"/>
                <a:cs typeface="Arial Narrow"/>
              </a:rPr>
              <a:t>u</a:t>
            </a:r>
            <a:r>
              <a:rPr sz="1400" spc="-5" dirty="0">
                <a:latin typeface="Arial Narrow"/>
                <a:cs typeface="Arial Narrow"/>
              </a:rPr>
              <a:t>u</a:t>
            </a:r>
            <a:r>
              <a:rPr sz="1400" spc="-645" dirty="0">
                <a:latin typeface="Arial Narrow"/>
                <a:cs typeface="Arial Narrow"/>
              </a:rPr>
              <a:t>a</a:t>
            </a:r>
            <a:r>
              <a:rPr sz="1400" dirty="0">
                <a:latin typeface="Arial Narrow"/>
                <a:cs typeface="Arial Narrow"/>
              </a:rPr>
              <a:t>a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52" name="object 352"/>
          <p:cNvSpPr/>
          <p:nvPr/>
        </p:nvSpPr>
        <p:spPr>
          <a:xfrm>
            <a:off x="6228397" y="54521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6228397" y="56807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6228397" y="5909309"/>
            <a:ext cx="662305" cy="2813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57864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7071359" y="49949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7071359" y="52235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7071359" y="54521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7071359" y="56807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7071359" y="5909309"/>
            <a:ext cx="352742" cy="2813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7371397" y="49949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7371397" y="52235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7371397" y="54521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7371397" y="56807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7371397" y="5909309"/>
            <a:ext cx="217487" cy="2813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7523797" y="49949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7523797" y="52235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7523797" y="54521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7523797" y="56807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7523797" y="5909309"/>
            <a:ext cx="662304" cy="2813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7081837" y="5010150"/>
            <a:ext cx="1076325" cy="1152525"/>
          </a:xfrm>
          <a:custGeom>
            <a:avLst/>
            <a:gdLst/>
            <a:ahLst/>
            <a:cxnLst/>
            <a:rect l="l" t="t" r="r" b="b"/>
            <a:pathLst>
              <a:path w="1076325" h="1152525">
                <a:moveTo>
                  <a:pt x="10763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076325" y="1147762"/>
                </a:lnTo>
                <a:lnTo>
                  <a:pt x="1076325" y="1152525"/>
                </a:lnTo>
                <a:close/>
              </a:path>
              <a:path w="10763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115252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1143000"/>
                </a:lnTo>
                <a:lnTo>
                  <a:pt x="1071562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076325" h="1152525">
                <a:moveTo>
                  <a:pt x="10668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066800" y="1143000"/>
                </a:lnTo>
                <a:lnTo>
                  <a:pt x="1066800" y="1147762"/>
                </a:lnTo>
                <a:close/>
              </a:path>
              <a:path w="1076325" h="1152525">
                <a:moveTo>
                  <a:pt x="1076325" y="1147762"/>
                </a:moveTo>
                <a:lnTo>
                  <a:pt x="1066800" y="1147762"/>
                </a:lnTo>
                <a:lnTo>
                  <a:pt x="1071562" y="1143000"/>
                </a:lnTo>
                <a:lnTo>
                  <a:pt x="1076325" y="1143000"/>
                </a:lnTo>
                <a:lnTo>
                  <a:pt x="10763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866197" y="3264534"/>
            <a:ext cx="598804" cy="25876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866197" y="3447097"/>
            <a:ext cx="598804" cy="25876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 txBox="1"/>
          <p:nvPr/>
        </p:nvSpPr>
        <p:spPr>
          <a:xfrm>
            <a:off x="3954145" y="3455740"/>
            <a:ext cx="39814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Mate</a:t>
            </a:r>
            <a:r>
              <a:rPr sz="1400" dirty="0">
                <a:latin typeface="Arial Narrow"/>
                <a:cs typeface="Arial Narrow"/>
              </a:rPr>
              <a:t>y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75" name="object 375"/>
          <p:cNvSpPr/>
          <p:nvPr/>
        </p:nvSpPr>
        <p:spPr>
          <a:xfrm>
            <a:off x="3866197" y="3629659"/>
            <a:ext cx="598804" cy="26003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 txBox="1"/>
          <p:nvPr/>
        </p:nvSpPr>
        <p:spPr>
          <a:xfrm>
            <a:off x="4034790" y="3639573"/>
            <a:ext cx="23622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Ot</a:t>
            </a:r>
            <a:r>
              <a:rPr sz="1400" dirty="0">
                <a:latin typeface="Arial Narrow"/>
                <a:cs typeface="Arial Narrow"/>
              </a:rPr>
              <a:t>a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77" name="object 377"/>
          <p:cNvSpPr/>
          <p:nvPr/>
        </p:nvSpPr>
        <p:spPr>
          <a:xfrm>
            <a:off x="3866197" y="3813809"/>
            <a:ext cx="598804" cy="25876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 txBox="1"/>
          <p:nvPr/>
        </p:nvSpPr>
        <p:spPr>
          <a:xfrm>
            <a:off x="3982084" y="3822453"/>
            <a:ext cx="34163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Phu</a:t>
            </a:r>
            <a:r>
              <a:rPr sz="1400" dirty="0">
                <a:latin typeface="Arial Narrow"/>
                <a:cs typeface="Arial Narrow"/>
              </a:rPr>
              <a:t>a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79" name="object 379"/>
          <p:cNvSpPr/>
          <p:nvPr/>
        </p:nvSpPr>
        <p:spPr>
          <a:xfrm>
            <a:off x="3866197" y="3996372"/>
            <a:ext cx="598804" cy="25876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 txBox="1"/>
          <p:nvPr/>
        </p:nvSpPr>
        <p:spPr>
          <a:xfrm>
            <a:off x="3978275" y="4005015"/>
            <a:ext cx="34988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Rud</a:t>
            </a:r>
            <a:r>
              <a:rPr sz="1400" dirty="0">
                <a:latin typeface="Arial Narrow"/>
                <a:cs typeface="Arial Narrow"/>
              </a:rPr>
              <a:t>d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81" name="object 381"/>
          <p:cNvSpPr/>
          <p:nvPr/>
        </p:nvSpPr>
        <p:spPr>
          <a:xfrm>
            <a:off x="4399597" y="3264534"/>
            <a:ext cx="682307" cy="25876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 txBox="1"/>
          <p:nvPr/>
        </p:nvSpPr>
        <p:spPr>
          <a:xfrm>
            <a:off x="3937634" y="3248977"/>
            <a:ext cx="10845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Martin</a:t>
            </a:r>
            <a:r>
              <a:rPr sz="1400" spc="290" dirty="0"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4:708:01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83" name="object 383"/>
          <p:cNvSpPr/>
          <p:nvPr/>
        </p:nvSpPr>
        <p:spPr>
          <a:xfrm>
            <a:off x="4399597" y="3447097"/>
            <a:ext cx="682307" cy="25876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 txBox="1"/>
          <p:nvPr/>
        </p:nvSpPr>
        <p:spPr>
          <a:xfrm>
            <a:off x="4439920" y="3455740"/>
            <a:ext cx="5695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4:706:0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85" name="object 385"/>
          <p:cNvSpPr/>
          <p:nvPr/>
        </p:nvSpPr>
        <p:spPr>
          <a:xfrm>
            <a:off x="4399597" y="3629659"/>
            <a:ext cx="682307" cy="26003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 txBox="1"/>
          <p:nvPr/>
        </p:nvSpPr>
        <p:spPr>
          <a:xfrm>
            <a:off x="4439920" y="3639573"/>
            <a:ext cx="5695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4:707:0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87" name="object 387"/>
          <p:cNvSpPr/>
          <p:nvPr/>
        </p:nvSpPr>
        <p:spPr>
          <a:xfrm>
            <a:off x="4399597" y="3813809"/>
            <a:ext cx="682307" cy="2587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 txBox="1"/>
          <p:nvPr/>
        </p:nvSpPr>
        <p:spPr>
          <a:xfrm>
            <a:off x="4439920" y="3822453"/>
            <a:ext cx="5695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4:708:0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89" name="object 389"/>
          <p:cNvSpPr/>
          <p:nvPr/>
        </p:nvSpPr>
        <p:spPr>
          <a:xfrm>
            <a:off x="4399597" y="3996372"/>
            <a:ext cx="682307" cy="258762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 txBox="1"/>
          <p:nvPr/>
        </p:nvSpPr>
        <p:spPr>
          <a:xfrm>
            <a:off x="4439920" y="4005015"/>
            <a:ext cx="5695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4:705:0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91" name="object 391"/>
          <p:cNvSpPr/>
          <p:nvPr/>
        </p:nvSpPr>
        <p:spPr>
          <a:xfrm>
            <a:off x="3881437" y="3279775"/>
            <a:ext cx="1152525" cy="923925"/>
          </a:xfrm>
          <a:custGeom>
            <a:avLst/>
            <a:gdLst/>
            <a:ahLst/>
            <a:cxnLst/>
            <a:rect l="l" t="t" r="r" b="b"/>
            <a:pathLst>
              <a:path w="1152525" h="923925">
                <a:moveTo>
                  <a:pt x="1152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152525" y="0"/>
                </a:lnTo>
                <a:lnTo>
                  <a:pt x="1152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152525" y="919162"/>
                </a:lnTo>
                <a:lnTo>
                  <a:pt x="1152525" y="923925"/>
                </a:lnTo>
                <a:close/>
              </a:path>
              <a:path w="1152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152525" h="923925">
                <a:moveTo>
                  <a:pt x="1143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43000" y="4762"/>
                </a:lnTo>
                <a:lnTo>
                  <a:pt x="1143000" y="9525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1143000" y="4762"/>
                </a:lnTo>
                <a:lnTo>
                  <a:pt x="1147762" y="9525"/>
                </a:lnTo>
                <a:lnTo>
                  <a:pt x="1152525" y="9525"/>
                </a:lnTo>
                <a:lnTo>
                  <a:pt x="1152525" y="914400"/>
                </a:lnTo>
                <a:lnTo>
                  <a:pt x="1147762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525"/>
                </a:moveTo>
                <a:lnTo>
                  <a:pt x="1147762" y="9525"/>
                </a:lnTo>
                <a:lnTo>
                  <a:pt x="1143000" y="4762"/>
                </a:lnTo>
                <a:lnTo>
                  <a:pt x="1152525" y="4762"/>
                </a:lnTo>
                <a:lnTo>
                  <a:pt x="1152525" y="9525"/>
                </a:lnTo>
                <a:close/>
              </a:path>
              <a:path w="1152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152525" h="923925">
                <a:moveTo>
                  <a:pt x="1143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143000" y="914400"/>
                </a:lnTo>
                <a:lnTo>
                  <a:pt x="1143000" y="919162"/>
                </a:lnTo>
                <a:close/>
              </a:path>
              <a:path w="1152525" h="923925">
                <a:moveTo>
                  <a:pt x="1152525" y="919162"/>
                </a:moveTo>
                <a:lnTo>
                  <a:pt x="1143000" y="919162"/>
                </a:lnTo>
                <a:lnTo>
                  <a:pt x="1147762" y="914400"/>
                </a:lnTo>
                <a:lnTo>
                  <a:pt x="1152525" y="914400"/>
                </a:lnTo>
                <a:lnTo>
                  <a:pt x="1152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 txBox="1"/>
          <p:nvPr/>
        </p:nvSpPr>
        <p:spPr>
          <a:xfrm>
            <a:off x="7602855" y="1395094"/>
            <a:ext cx="92900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09270" algn="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Non  clustered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Index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520065" y="6193860"/>
            <a:ext cx="33337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b="1" spc="-5" dirty="0">
                <a:latin typeface="Arial Narrow"/>
                <a:cs typeface="Arial Narrow"/>
              </a:rPr>
              <a:t>File</a:t>
            </a:r>
            <a:r>
              <a:rPr sz="1400" b="1" spc="-85" dirty="0">
                <a:latin typeface="Arial Narrow"/>
                <a:cs typeface="Arial Narrow"/>
              </a:rPr>
              <a:t> </a:t>
            </a:r>
            <a:r>
              <a:rPr sz="1400" b="1" dirty="0">
                <a:latin typeface="Arial Narrow"/>
                <a:cs typeface="Arial Narrow"/>
              </a:rPr>
              <a:t>I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840105" y="6169659"/>
            <a:ext cx="1314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 Narrow"/>
                <a:cs typeface="Arial Narrow"/>
              </a:rPr>
              <a:t>D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95" name="object 395"/>
          <p:cNvSpPr txBox="1"/>
          <p:nvPr/>
        </p:nvSpPr>
        <p:spPr>
          <a:xfrm>
            <a:off x="998855" y="6193860"/>
            <a:ext cx="16319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b="1" spc="-5" dirty="0">
                <a:latin typeface="Arial Narrow"/>
                <a:cs typeface="Arial Narrow"/>
              </a:rPr>
              <a:t>#</a:t>
            </a:r>
            <a:r>
              <a:rPr sz="1400" b="1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96" name="object 396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4092181" y="1199197"/>
            <a:ext cx="299250" cy="84371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601211" y="1964435"/>
            <a:ext cx="795655" cy="193675"/>
          </a:xfrm>
          <a:custGeom>
            <a:avLst/>
            <a:gdLst/>
            <a:ahLst/>
            <a:cxnLst/>
            <a:rect l="l" t="t" r="r" b="b"/>
            <a:pathLst>
              <a:path w="795654" h="193675">
                <a:moveTo>
                  <a:pt x="0" y="0"/>
                </a:moveTo>
                <a:lnTo>
                  <a:pt x="795527" y="0"/>
                </a:lnTo>
                <a:lnTo>
                  <a:pt x="795527" y="193548"/>
                </a:lnTo>
                <a:lnTo>
                  <a:pt x="0" y="193548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595687" y="1958975"/>
            <a:ext cx="806450" cy="203200"/>
          </a:xfrm>
          <a:custGeom>
            <a:avLst/>
            <a:gdLst/>
            <a:ahLst/>
            <a:cxnLst/>
            <a:rect l="l" t="t" r="r" b="b"/>
            <a:pathLst>
              <a:path w="806450" h="203200">
                <a:moveTo>
                  <a:pt x="806450" y="203200"/>
                </a:moveTo>
                <a:lnTo>
                  <a:pt x="0" y="203200"/>
                </a:lnTo>
                <a:lnTo>
                  <a:pt x="0" y="0"/>
                </a:lnTo>
                <a:lnTo>
                  <a:pt x="806450" y="0"/>
                </a:lnTo>
                <a:lnTo>
                  <a:pt x="80645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3675"/>
                </a:lnTo>
                <a:lnTo>
                  <a:pt x="4762" y="193675"/>
                </a:lnTo>
                <a:lnTo>
                  <a:pt x="9525" y="198437"/>
                </a:lnTo>
                <a:lnTo>
                  <a:pt x="806450" y="198437"/>
                </a:lnTo>
                <a:lnTo>
                  <a:pt x="806450" y="203200"/>
                </a:lnTo>
                <a:close/>
              </a:path>
              <a:path w="806450" h="2032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6450" h="203200">
                <a:moveTo>
                  <a:pt x="79692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6925" y="4762"/>
                </a:lnTo>
                <a:lnTo>
                  <a:pt x="796925" y="9525"/>
                </a:lnTo>
                <a:close/>
              </a:path>
              <a:path w="806450" h="203200">
                <a:moveTo>
                  <a:pt x="796925" y="198437"/>
                </a:moveTo>
                <a:lnTo>
                  <a:pt x="796925" y="4762"/>
                </a:lnTo>
                <a:lnTo>
                  <a:pt x="801687" y="9525"/>
                </a:lnTo>
                <a:lnTo>
                  <a:pt x="806450" y="9525"/>
                </a:lnTo>
                <a:lnTo>
                  <a:pt x="806450" y="193675"/>
                </a:lnTo>
                <a:lnTo>
                  <a:pt x="801687" y="193675"/>
                </a:lnTo>
                <a:lnTo>
                  <a:pt x="796925" y="198437"/>
                </a:lnTo>
                <a:close/>
              </a:path>
              <a:path w="806450" h="203200">
                <a:moveTo>
                  <a:pt x="806450" y="9525"/>
                </a:moveTo>
                <a:lnTo>
                  <a:pt x="801687" y="9525"/>
                </a:lnTo>
                <a:lnTo>
                  <a:pt x="796925" y="4762"/>
                </a:lnTo>
                <a:lnTo>
                  <a:pt x="806450" y="4762"/>
                </a:lnTo>
                <a:lnTo>
                  <a:pt x="806450" y="9525"/>
                </a:lnTo>
                <a:close/>
              </a:path>
              <a:path w="806450" h="203200">
                <a:moveTo>
                  <a:pt x="9525" y="198437"/>
                </a:moveTo>
                <a:lnTo>
                  <a:pt x="4762" y="193675"/>
                </a:lnTo>
                <a:lnTo>
                  <a:pt x="9525" y="193675"/>
                </a:lnTo>
                <a:lnTo>
                  <a:pt x="9525" y="198437"/>
                </a:lnTo>
                <a:close/>
              </a:path>
              <a:path w="806450" h="203200">
                <a:moveTo>
                  <a:pt x="796925" y="198437"/>
                </a:moveTo>
                <a:lnTo>
                  <a:pt x="9525" y="198437"/>
                </a:lnTo>
                <a:lnTo>
                  <a:pt x="9525" y="193675"/>
                </a:lnTo>
                <a:lnTo>
                  <a:pt x="796925" y="193675"/>
                </a:lnTo>
                <a:lnTo>
                  <a:pt x="796925" y="198437"/>
                </a:lnTo>
                <a:close/>
              </a:path>
              <a:path w="806450" h="203200">
                <a:moveTo>
                  <a:pt x="806450" y="198437"/>
                </a:moveTo>
                <a:lnTo>
                  <a:pt x="796925" y="198437"/>
                </a:lnTo>
                <a:lnTo>
                  <a:pt x="801687" y="193675"/>
                </a:lnTo>
                <a:lnTo>
                  <a:pt x="806450" y="193675"/>
                </a:lnTo>
                <a:lnTo>
                  <a:pt x="806450" y="198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3686454" y="1980539"/>
            <a:ext cx="434149" cy="17951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4849367" y="2321051"/>
            <a:ext cx="789940" cy="193675"/>
          </a:xfrm>
          <a:custGeom>
            <a:avLst/>
            <a:gdLst/>
            <a:ahLst/>
            <a:cxnLst/>
            <a:rect l="l" t="t" r="r" b="b"/>
            <a:pathLst>
              <a:path w="789939" h="193675">
                <a:moveTo>
                  <a:pt x="0" y="0"/>
                </a:moveTo>
                <a:lnTo>
                  <a:pt x="789432" y="0"/>
                </a:lnTo>
                <a:lnTo>
                  <a:pt x="789432" y="193548"/>
                </a:lnTo>
                <a:lnTo>
                  <a:pt x="0" y="193548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4845050" y="2316162"/>
            <a:ext cx="798830" cy="203200"/>
          </a:xfrm>
          <a:custGeom>
            <a:avLst/>
            <a:gdLst/>
            <a:ahLst/>
            <a:cxnLst/>
            <a:rect l="l" t="t" r="r" b="b"/>
            <a:pathLst>
              <a:path w="798829" h="203200">
                <a:moveTo>
                  <a:pt x="798512" y="203200"/>
                </a:moveTo>
                <a:lnTo>
                  <a:pt x="0" y="203200"/>
                </a:lnTo>
                <a:lnTo>
                  <a:pt x="0" y="0"/>
                </a:lnTo>
                <a:lnTo>
                  <a:pt x="798512" y="0"/>
                </a:lnTo>
                <a:lnTo>
                  <a:pt x="7985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3675"/>
                </a:lnTo>
                <a:lnTo>
                  <a:pt x="4762" y="193675"/>
                </a:lnTo>
                <a:lnTo>
                  <a:pt x="9525" y="198437"/>
                </a:lnTo>
                <a:lnTo>
                  <a:pt x="798512" y="198437"/>
                </a:lnTo>
                <a:lnTo>
                  <a:pt x="798512" y="203200"/>
                </a:lnTo>
                <a:close/>
              </a:path>
              <a:path w="798829" h="20320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8829" h="203200">
                <a:moveTo>
                  <a:pt x="7889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88987" y="4762"/>
                </a:lnTo>
                <a:lnTo>
                  <a:pt x="788987" y="9525"/>
                </a:lnTo>
                <a:close/>
              </a:path>
              <a:path w="798829" h="203200">
                <a:moveTo>
                  <a:pt x="788987" y="198437"/>
                </a:moveTo>
                <a:lnTo>
                  <a:pt x="788987" y="4762"/>
                </a:lnTo>
                <a:lnTo>
                  <a:pt x="793750" y="9525"/>
                </a:lnTo>
                <a:lnTo>
                  <a:pt x="798512" y="9525"/>
                </a:lnTo>
                <a:lnTo>
                  <a:pt x="798512" y="193675"/>
                </a:lnTo>
                <a:lnTo>
                  <a:pt x="793750" y="193675"/>
                </a:lnTo>
                <a:lnTo>
                  <a:pt x="788987" y="198437"/>
                </a:lnTo>
                <a:close/>
              </a:path>
              <a:path w="798829" h="203200">
                <a:moveTo>
                  <a:pt x="798512" y="9525"/>
                </a:moveTo>
                <a:lnTo>
                  <a:pt x="793750" y="9525"/>
                </a:lnTo>
                <a:lnTo>
                  <a:pt x="788987" y="4762"/>
                </a:lnTo>
                <a:lnTo>
                  <a:pt x="798512" y="4762"/>
                </a:lnTo>
                <a:lnTo>
                  <a:pt x="798512" y="9525"/>
                </a:lnTo>
                <a:close/>
              </a:path>
              <a:path w="798829" h="203200">
                <a:moveTo>
                  <a:pt x="9525" y="198437"/>
                </a:moveTo>
                <a:lnTo>
                  <a:pt x="4762" y="193675"/>
                </a:lnTo>
                <a:lnTo>
                  <a:pt x="9525" y="193675"/>
                </a:lnTo>
                <a:lnTo>
                  <a:pt x="9525" y="198437"/>
                </a:lnTo>
                <a:close/>
              </a:path>
              <a:path w="798829" h="203200">
                <a:moveTo>
                  <a:pt x="788987" y="198437"/>
                </a:moveTo>
                <a:lnTo>
                  <a:pt x="9525" y="198437"/>
                </a:lnTo>
                <a:lnTo>
                  <a:pt x="9525" y="193675"/>
                </a:lnTo>
                <a:lnTo>
                  <a:pt x="788987" y="193675"/>
                </a:lnTo>
                <a:lnTo>
                  <a:pt x="788987" y="198437"/>
                </a:lnTo>
                <a:close/>
              </a:path>
              <a:path w="798829" h="203200">
                <a:moveTo>
                  <a:pt x="798512" y="198437"/>
                </a:moveTo>
                <a:lnTo>
                  <a:pt x="788987" y="198437"/>
                </a:lnTo>
                <a:lnTo>
                  <a:pt x="793750" y="193675"/>
                </a:lnTo>
                <a:lnTo>
                  <a:pt x="798512" y="193675"/>
                </a:lnTo>
                <a:lnTo>
                  <a:pt x="798512" y="198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4935816" y="2337727"/>
            <a:ext cx="434149" cy="17951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4377372" y="1969135"/>
            <a:ext cx="1322679" cy="53524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3195637" y="5689600"/>
            <a:ext cx="314325" cy="238125"/>
          </a:xfrm>
          <a:custGeom>
            <a:avLst/>
            <a:gdLst/>
            <a:ahLst/>
            <a:cxnLst/>
            <a:rect l="l" t="t" r="r" b="b"/>
            <a:pathLst>
              <a:path w="314325" h="238125">
                <a:moveTo>
                  <a:pt x="3143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314325" y="0"/>
                </a:lnTo>
                <a:lnTo>
                  <a:pt x="31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314325" y="233362"/>
                </a:lnTo>
                <a:lnTo>
                  <a:pt x="314325" y="238125"/>
                </a:lnTo>
                <a:close/>
              </a:path>
              <a:path w="3143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14325" h="238125">
                <a:moveTo>
                  <a:pt x="30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4800" y="4762"/>
                </a:lnTo>
                <a:lnTo>
                  <a:pt x="304800" y="9525"/>
                </a:lnTo>
                <a:close/>
              </a:path>
              <a:path w="314325" h="238125">
                <a:moveTo>
                  <a:pt x="304800" y="233362"/>
                </a:moveTo>
                <a:lnTo>
                  <a:pt x="304800" y="4762"/>
                </a:lnTo>
                <a:lnTo>
                  <a:pt x="309562" y="9525"/>
                </a:lnTo>
                <a:lnTo>
                  <a:pt x="314325" y="9525"/>
                </a:lnTo>
                <a:lnTo>
                  <a:pt x="314325" y="228600"/>
                </a:lnTo>
                <a:lnTo>
                  <a:pt x="309562" y="228600"/>
                </a:lnTo>
                <a:lnTo>
                  <a:pt x="304800" y="233362"/>
                </a:lnTo>
                <a:close/>
              </a:path>
              <a:path w="314325" h="238125">
                <a:moveTo>
                  <a:pt x="314325" y="9525"/>
                </a:moveTo>
                <a:lnTo>
                  <a:pt x="309562" y="9525"/>
                </a:lnTo>
                <a:lnTo>
                  <a:pt x="304800" y="4762"/>
                </a:lnTo>
                <a:lnTo>
                  <a:pt x="314325" y="4762"/>
                </a:lnTo>
                <a:lnTo>
                  <a:pt x="314325" y="9525"/>
                </a:lnTo>
                <a:close/>
              </a:path>
              <a:path w="3143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314325" h="238125">
                <a:moveTo>
                  <a:pt x="3048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304800" y="228600"/>
                </a:lnTo>
                <a:lnTo>
                  <a:pt x="304800" y="233362"/>
                </a:lnTo>
                <a:close/>
              </a:path>
              <a:path w="314325" h="238125">
                <a:moveTo>
                  <a:pt x="314325" y="233362"/>
                </a:moveTo>
                <a:lnTo>
                  <a:pt x="304800" y="233362"/>
                </a:lnTo>
                <a:lnTo>
                  <a:pt x="309562" y="228600"/>
                </a:lnTo>
                <a:lnTo>
                  <a:pt x="314325" y="228600"/>
                </a:lnTo>
                <a:lnTo>
                  <a:pt x="3143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7" name="object 417"/>
          <p:cNvGraphicFramePr>
            <a:graphicFrameLocks noGrp="1"/>
          </p:cNvGraphicFramePr>
          <p:nvPr/>
        </p:nvGraphicFramePr>
        <p:xfrm>
          <a:off x="628332" y="5015484"/>
          <a:ext cx="7456797" cy="1130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1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7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3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21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59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2326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01</a:t>
                      </a:r>
                      <a:r>
                        <a:rPr sz="1400" spc="14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Conn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01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Akhtar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01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Smith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1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Martin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01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r>
                        <a:rPr sz="1400" spc="29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Ganio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02</a:t>
                      </a:r>
                      <a:r>
                        <a:rPr sz="1400" spc="14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Funk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02</a:t>
                      </a:r>
                      <a:r>
                        <a:rPr sz="1400" spc="15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White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Funk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r>
                        <a:rPr sz="1400" spc="29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Jones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R="13335" algn="ct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03</a:t>
                      </a:r>
                      <a:r>
                        <a:rPr sz="1400" spc="14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White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03</a:t>
                      </a:r>
                      <a:r>
                        <a:rPr sz="1400" spc="15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Barr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Smith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Jones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Jones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ts val="1635"/>
                        </a:lnSpc>
                        <a:spcBef>
                          <a:spcPts val="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03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635"/>
                        </a:lnSpc>
                        <a:spcBef>
                          <a:spcPts val="5"/>
                        </a:spcBef>
                        <a:tabLst>
                          <a:tab pos="369570" algn="l"/>
                        </a:tabLst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	Hall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R="13335" algn="ctr">
                        <a:lnSpc>
                          <a:spcPts val="1635"/>
                        </a:lnSpc>
                        <a:spcBef>
                          <a:spcPts val="65"/>
                        </a:spcBef>
                        <a:tabLst>
                          <a:tab pos="269240" algn="l"/>
                        </a:tabLst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	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635"/>
                        </a:lnSpc>
                        <a:spcBef>
                          <a:spcPts val="65"/>
                        </a:spcBef>
                        <a:tabLst>
                          <a:tab pos="314960" algn="l"/>
                        </a:tabLst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	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00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0066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0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Smith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635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r>
                        <a:rPr sz="1400" spc="18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931">
                <a:tc>
                  <a:txBody>
                    <a:bodyPr/>
                    <a:lstStyle/>
                    <a:p>
                      <a:pPr marR="13335" algn="ctr">
                        <a:lnSpc>
                          <a:spcPts val="1600"/>
                        </a:lnSpc>
                        <a:spcBef>
                          <a:spcPts val="65"/>
                        </a:spcBef>
                        <a:tabLst>
                          <a:tab pos="269240" algn="l"/>
                        </a:tabLst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	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600"/>
                        </a:lnSpc>
                        <a:spcBef>
                          <a:spcPts val="65"/>
                        </a:spcBef>
                        <a:tabLst>
                          <a:tab pos="314960" algn="l"/>
                        </a:tabLst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	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</a:t>
                      </a:r>
                      <a:r>
                        <a:rPr sz="1400" dirty="0">
                          <a:latin typeface="Arial Narrow"/>
                          <a:cs typeface="Arial Narrow"/>
                        </a:rPr>
                        <a:t>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278765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600"/>
                        </a:lnSpc>
                        <a:spcBef>
                          <a:spcPts val="6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r>
                        <a:rPr sz="1400" spc="18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1400" spc="-5" dirty="0">
                          <a:latin typeface="Arial Narrow"/>
                          <a:cs typeface="Arial Narrow"/>
                        </a:rPr>
                        <a:t>...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82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8" name="object 418"/>
          <p:cNvSpPr/>
          <p:nvPr/>
        </p:nvSpPr>
        <p:spPr>
          <a:xfrm>
            <a:off x="3234969" y="5728309"/>
            <a:ext cx="199834" cy="180149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3500437" y="5689600"/>
            <a:ext cx="161925" cy="238125"/>
          </a:xfrm>
          <a:custGeom>
            <a:avLst/>
            <a:gdLst/>
            <a:ahLst/>
            <a:cxnLst/>
            <a:rect l="l" t="t" r="r" b="b"/>
            <a:pathLst>
              <a:path w="161925" h="238125">
                <a:moveTo>
                  <a:pt x="1619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161925" y="0"/>
                </a:lnTo>
                <a:lnTo>
                  <a:pt x="16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161925" y="233362"/>
                </a:lnTo>
                <a:lnTo>
                  <a:pt x="161925" y="238125"/>
                </a:lnTo>
                <a:close/>
              </a:path>
              <a:path w="1619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1925" h="238125">
                <a:moveTo>
                  <a:pt x="15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2400" y="4762"/>
                </a:lnTo>
                <a:lnTo>
                  <a:pt x="152400" y="9525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152400" y="4762"/>
                </a:lnTo>
                <a:lnTo>
                  <a:pt x="157162" y="9525"/>
                </a:lnTo>
                <a:lnTo>
                  <a:pt x="161925" y="9525"/>
                </a:lnTo>
                <a:lnTo>
                  <a:pt x="161925" y="228600"/>
                </a:lnTo>
                <a:lnTo>
                  <a:pt x="157162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9525"/>
                </a:moveTo>
                <a:lnTo>
                  <a:pt x="157162" y="9525"/>
                </a:lnTo>
                <a:lnTo>
                  <a:pt x="152400" y="4762"/>
                </a:lnTo>
                <a:lnTo>
                  <a:pt x="161925" y="4762"/>
                </a:lnTo>
                <a:lnTo>
                  <a:pt x="161925" y="9525"/>
                </a:lnTo>
                <a:close/>
              </a:path>
              <a:path w="1619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152400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233362"/>
                </a:moveTo>
                <a:lnTo>
                  <a:pt x="152400" y="233362"/>
                </a:lnTo>
                <a:lnTo>
                  <a:pt x="157162" y="228600"/>
                </a:lnTo>
                <a:lnTo>
                  <a:pt x="161925" y="228600"/>
                </a:lnTo>
                <a:lnTo>
                  <a:pt x="1619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3516909" y="5838164"/>
            <a:ext cx="146494" cy="6838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3652837" y="5689600"/>
            <a:ext cx="619125" cy="238125"/>
          </a:xfrm>
          <a:custGeom>
            <a:avLst/>
            <a:gdLst/>
            <a:ahLst/>
            <a:cxnLst/>
            <a:rect l="l" t="t" r="r" b="b"/>
            <a:pathLst>
              <a:path w="619125" h="238125">
                <a:moveTo>
                  <a:pt x="6191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619125" y="233362"/>
                </a:lnTo>
                <a:lnTo>
                  <a:pt x="619125" y="238125"/>
                </a:lnTo>
                <a:close/>
              </a:path>
              <a:path w="6191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2381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228600"/>
                </a:lnTo>
                <a:lnTo>
                  <a:pt x="614362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609600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233362"/>
                </a:moveTo>
                <a:lnTo>
                  <a:pt x="609600" y="233362"/>
                </a:lnTo>
                <a:lnTo>
                  <a:pt x="614362" y="228600"/>
                </a:lnTo>
                <a:lnTo>
                  <a:pt x="619125" y="228600"/>
                </a:lnTo>
                <a:lnTo>
                  <a:pt x="6191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3758209" y="5728944"/>
            <a:ext cx="434784" cy="21507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3751897" y="3497897"/>
            <a:ext cx="314642" cy="226726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4399660" y="2342197"/>
            <a:ext cx="598741" cy="97980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3886200" y="3464052"/>
            <a:ext cx="533400" cy="182880"/>
          </a:xfrm>
          <a:custGeom>
            <a:avLst/>
            <a:gdLst/>
            <a:ahLst/>
            <a:cxnLst/>
            <a:rect l="l" t="t" r="r" b="b"/>
            <a:pathLst>
              <a:path w="533400" h="182879">
                <a:moveTo>
                  <a:pt x="0" y="0"/>
                </a:moveTo>
                <a:lnTo>
                  <a:pt x="533400" y="0"/>
                </a:lnTo>
                <a:lnTo>
                  <a:pt x="533400" y="182879"/>
                </a:lnTo>
                <a:lnTo>
                  <a:pt x="0" y="182879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3881437" y="3459162"/>
            <a:ext cx="542925" cy="192405"/>
          </a:xfrm>
          <a:custGeom>
            <a:avLst/>
            <a:gdLst/>
            <a:ahLst/>
            <a:cxnLst/>
            <a:rect l="l" t="t" r="r" b="b"/>
            <a:pathLst>
              <a:path w="542925" h="192404">
                <a:moveTo>
                  <a:pt x="542925" y="192087"/>
                </a:moveTo>
                <a:lnTo>
                  <a:pt x="0" y="192087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562"/>
                </a:lnTo>
                <a:lnTo>
                  <a:pt x="4762" y="182562"/>
                </a:lnTo>
                <a:lnTo>
                  <a:pt x="9525" y="187325"/>
                </a:lnTo>
                <a:lnTo>
                  <a:pt x="542925" y="187325"/>
                </a:lnTo>
                <a:lnTo>
                  <a:pt x="542925" y="192087"/>
                </a:lnTo>
                <a:close/>
              </a:path>
              <a:path w="542925" h="1924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92404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82562"/>
                </a:lnTo>
                <a:lnTo>
                  <a:pt x="538162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92404">
                <a:moveTo>
                  <a:pt x="9525" y="187325"/>
                </a:moveTo>
                <a:lnTo>
                  <a:pt x="4762" y="182562"/>
                </a:lnTo>
                <a:lnTo>
                  <a:pt x="9525" y="182562"/>
                </a:lnTo>
                <a:lnTo>
                  <a:pt x="9525" y="1873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9525" y="187325"/>
                </a:lnTo>
                <a:lnTo>
                  <a:pt x="9525" y="182562"/>
                </a:lnTo>
                <a:lnTo>
                  <a:pt x="533400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187325"/>
                </a:moveTo>
                <a:lnTo>
                  <a:pt x="533400" y="187325"/>
                </a:lnTo>
                <a:lnTo>
                  <a:pt x="538162" y="182562"/>
                </a:lnTo>
                <a:lnTo>
                  <a:pt x="542925" y="182562"/>
                </a:lnTo>
                <a:lnTo>
                  <a:pt x="542925" y="187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3972204" y="3475011"/>
            <a:ext cx="434784" cy="21507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4414837" y="3459162"/>
            <a:ext cx="620166" cy="195364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5791200" y="5238750"/>
            <a:ext cx="309880" cy="238125"/>
          </a:xfrm>
          <a:custGeom>
            <a:avLst/>
            <a:gdLst/>
            <a:ahLst/>
            <a:cxnLst/>
            <a:rect l="l" t="t" r="r" b="b"/>
            <a:pathLst>
              <a:path w="309879" h="238125">
                <a:moveTo>
                  <a:pt x="309562" y="238125"/>
                </a:moveTo>
                <a:lnTo>
                  <a:pt x="0" y="238125"/>
                </a:lnTo>
                <a:lnTo>
                  <a:pt x="0" y="0"/>
                </a:lnTo>
                <a:lnTo>
                  <a:pt x="309562" y="0"/>
                </a:lnTo>
                <a:lnTo>
                  <a:pt x="3095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309562" y="233362"/>
                </a:lnTo>
                <a:lnTo>
                  <a:pt x="309562" y="238125"/>
                </a:lnTo>
                <a:close/>
              </a:path>
              <a:path w="309879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09879" h="238125">
                <a:moveTo>
                  <a:pt x="30003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0037" y="4762"/>
                </a:lnTo>
                <a:lnTo>
                  <a:pt x="300037" y="9525"/>
                </a:lnTo>
                <a:close/>
              </a:path>
              <a:path w="309879" h="238125">
                <a:moveTo>
                  <a:pt x="300037" y="233362"/>
                </a:moveTo>
                <a:lnTo>
                  <a:pt x="300037" y="4762"/>
                </a:lnTo>
                <a:lnTo>
                  <a:pt x="304800" y="9525"/>
                </a:lnTo>
                <a:lnTo>
                  <a:pt x="309562" y="9525"/>
                </a:lnTo>
                <a:lnTo>
                  <a:pt x="309562" y="228600"/>
                </a:lnTo>
                <a:lnTo>
                  <a:pt x="304800" y="228600"/>
                </a:lnTo>
                <a:lnTo>
                  <a:pt x="300037" y="233362"/>
                </a:lnTo>
                <a:close/>
              </a:path>
              <a:path w="309879" h="238125">
                <a:moveTo>
                  <a:pt x="309562" y="9525"/>
                </a:moveTo>
                <a:lnTo>
                  <a:pt x="304800" y="9525"/>
                </a:lnTo>
                <a:lnTo>
                  <a:pt x="300037" y="4762"/>
                </a:lnTo>
                <a:lnTo>
                  <a:pt x="309562" y="4762"/>
                </a:lnTo>
                <a:lnTo>
                  <a:pt x="309562" y="9525"/>
                </a:lnTo>
                <a:close/>
              </a:path>
              <a:path w="309879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309879" h="238125">
                <a:moveTo>
                  <a:pt x="300037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300037" y="228600"/>
                </a:lnTo>
                <a:lnTo>
                  <a:pt x="300037" y="233362"/>
                </a:lnTo>
                <a:close/>
              </a:path>
              <a:path w="309879" h="238125">
                <a:moveTo>
                  <a:pt x="309562" y="233362"/>
                </a:moveTo>
                <a:lnTo>
                  <a:pt x="300037" y="233362"/>
                </a:lnTo>
                <a:lnTo>
                  <a:pt x="304800" y="228600"/>
                </a:lnTo>
                <a:lnTo>
                  <a:pt x="309562" y="228600"/>
                </a:lnTo>
                <a:lnTo>
                  <a:pt x="309562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5876251" y="5277459"/>
            <a:ext cx="200469" cy="180149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6091237" y="5238750"/>
            <a:ext cx="161925" cy="238125"/>
          </a:xfrm>
          <a:custGeom>
            <a:avLst/>
            <a:gdLst/>
            <a:ahLst/>
            <a:cxnLst/>
            <a:rect l="l" t="t" r="r" b="b"/>
            <a:pathLst>
              <a:path w="161925" h="238125">
                <a:moveTo>
                  <a:pt x="1619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161925" y="0"/>
                </a:lnTo>
                <a:lnTo>
                  <a:pt x="16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161925" y="233362"/>
                </a:lnTo>
                <a:lnTo>
                  <a:pt x="161925" y="238125"/>
                </a:lnTo>
                <a:close/>
              </a:path>
              <a:path w="1619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1925" h="238125">
                <a:moveTo>
                  <a:pt x="15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2400" y="4762"/>
                </a:lnTo>
                <a:lnTo>
                  <a:pt x="152400" y="9525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152400" y="4762"/>
                </a:lnTo>
                <a:lnTo>
                  <a:pt x="157162" y="9525"/>
                </a:lnTo>
                <a:lnTo>
                  <a:pt x="161925" y="9525"/>
                </a:lnTo>
                <a:lnTo>
                  <a:pt x="161925" y="228600"/>
                </a:lnTo>
                <a:lnTo>
                  <a:pt x="157162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9525"/>
                </a:moveTo>
                <a:lnTo>
                  <a:pt x="157162" y="9525"/>
                </a:lnTo>
                <a:lnTo>
                  <a:pt x="152400" y="4762"/>
                </a:lnTo>
                <a:lnTo>
                  <a:pt x="161925" y="4762"/>
                </a:lnTo>
                <a:lnTo>
                  <a:pt x="161925" y="9525"/>
                </a:lnTo>
                <a:close/>
              </a:path>
              <a:path w="1619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152400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233362"/>
                </a:moveTo>
                <a:lnTo>
                  <a:pt x="152400" y="233362"/>
                </a:lnTo>
                <a:lnTo>
                  <a:pt x="157162" y="228600"/>
                </a:lnTo>
                <a:lnTo>
                  <a:pt x="161925" y="228600"/>
                </a:lnTo>
                <a:lnTo>
                  <a:pt x="1619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6107709" y="5387314"/>
            <a:ext cx="146494" cy="6838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6243637" y="5238750"/>
            <a:ext cx="619125" cy="238125"/>
          </a:xfrm>
          <a:custGeom>
            <a:avLst/>
            <a:gdLst/>
            <a:ahLst/>
            <a:cxnLst/>
            <a:rect l="l" t="t" r="r" b="b"/>
            <a:pathLst>
              <a:path w="619125" h="238125">
                <a:moveTo>
                  <a:pt x="6191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619125" y="233362"/>
                </a:lnTo>
                <a:lnTo>
                  <a:pt x="619125" y="238125"/>
                </a:lnTo>
                <a:close/>
              </a:path>
              <a:path w="6191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2381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228600"/>
                </a:lnTo>
                <a:lnTo>
                  <a:pt x="614362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609600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233362"/>
                </a:moveTo>
                <a:lnTo>
                  <a:pt x="609600" y="233362"/>
                </a:lnTo>
                <a:lnTo>
                  <a:pt x="614362" y="228600"/>
                </a:lnTo>
                <a:lnTo>
                  <a:pt x="619125" y="228600"/>
                </a:lnTo>
                <a:lnTo>
                  <a:pt x="6191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6376949" y="5278094"/>
            <a:ext cx="373824" cy="17951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3886200" y="3840479"/>
            <a:ext cx="533400" cy="175260"/>
          </a:xfrm>
          <a:custGeom>
            <a:avLst/>
            <a:gdLst/>
            <a:ahLst/>
            <a:cxnLst/>
            <a:rect l="l" t="t" r="r" b="b"/>
            <a:pathLst>
              <a:path w="533400" h="175260">
                <a:moveTo>
                  <a:pt x="0" y="175260"/>
                </a:moveTo>
                <a:lnTo>
                  <a:pt x="533400" y="175260"/>
                </a:lnTo>
                <a:lnTo>
                  <a:pt x="533400" y="0"/>
                </a:lnTo>
                <a:lnTo>
                  <a:pt x="0" y="0"/>
                </a:lnTo>
                <a:lnTo>
                  <a:pt x="0" y="17526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3881437" y="3829050"/>
            <a:ext cx="542925" cy="192405"/>
          </a:xfrm>
          <a:custGeom>
            <a:avLst/>
            <a:gdLst/>
            <a:ahLst/>
            <a:cxnLst/>
            <a:rect l="l" t="t" r="r" b="b"/>
            <a:pathLst>
              <a:path w="542925" h="192404">
                <a:moveTo>
                  <a:pt x="542925" y="192087"/>
                </a:moveTo>
                <a:lnTo>
                  <a:pt x="0" y="192087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562"/>
                </a:lnTo>
                <a:lnTo>
                  <a:pt x="4762" y="182562"/>
                </a:lnTo>
                <a:lnTo>
                  <a:pt x="9525" y="187325"/>
                </a:lnTo>
                <a:lnTo>
                  <a:pt x="542925" y="187325"/>
                </a:lnTo>
                <a:lnTo>
                  <a:pt x="542925" y="192087"/>
                </a:lnTo>
                <a:close/>
              </a:path>
              <a:path w="542925" h="1924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92404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82562"/>
                </a:lnTo>
                <a:lnTo>
                  <a:pt x="538162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92404">
                <a:moveTo>
                  <a:pt x="9525" y="187325"/>
                </a:moveTo>
                <a:lnTo>
                  <a:pt x="4762" y="182562"/>
                </a:lnTo>
                <a:lnTo>
                  <a:pt x="9525" y="182562"/>
                </a:lnTo>
                <a:lnTo>
                  <a:pt x="9525" y="1873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9525" y="187325"/>
                </a:lnTo>
                <a:lnTo>
                  <a:pt x="9525" y="182562"/>
                </a:lnTo>
                <a:lnTo>
                  <a:pt x="533400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187325"/>
                </a:moveTo>
                <a:lnTo>
                  <a:pt x="533400" y="187325"/>
                </a:lnTo>
                <a:lnTo>
                  <a:pt x="538162" y="182562"/>
                </a:lnTo>
                <a:lnTo>
                  <a:pt x="542925" y="182562"/>
                </a:lnTo>
                <a:lnTo>
                  <a:pt x="542925" y="187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3972204" y="3844899"/>
            <a:ext cx="373824" cy="179514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4414837" y="3829050"/>
            <a:ext cx="620801" cy="19536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5013959" y="3864609"/>
            <a:ext cx="1533842" cy="1429067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1905000" y="5010150"/>
            <a:ext cx="309880" cy="238125"/>
          </a:xfrm>
          <a:custGeom>
            <a:avLst/>
            <a:gdLst/>
            <a:ahLst/>
            <a:cxnLst/>
            <a:rect l="l" t="t" r="r" b="b"/>
            <a:pathLst>
              <a:path w="309880" h="238125">
                <a:moveTo>
                  <a:pt x="309562" y="238125"/>
                </a:moveTo>
                <a:lnTo>
                  <a:pt x="0" y="238125"/>
                </a:lnTo>
                <a:lnTo>
                  <a:pt x="0" y="0"/>
                </a:lnTo>
                <a:lnTo>
                  <a:pt x="309562" y="0"/>
                </a:lnTo>
                <a:lnTo>
                  <a:pt x="3095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309562" y="233362"/>
                </a:lnTo>
                <a:lnTo>
                  <a:pt x="309562" y="238125"/>
                </a:lnTo>
                <a:close/>
              </a:path>
              <a:path w="309880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09880" h="238125">
                <a:moveTo>
                  <a:pt x="30003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0037" y="4762"/>
                </a:lnTo>
                <a:lnTo>
                  <a:pt x="300037" y="9525"/>
                </a:lnTo>
                <a:close/>
              </a:path>
              <a:path w="309880" h="238125">
                <a:moveTo>
                  <a:pt x="300037" y="233362"/>
                </a:moveTo>
                <a:lnTo>
                  <a:pt x="300037" y="4762"/>
                </a:lnTo>
                <a:lnTo>
                  <a:pt x="304800" y="9525"/>
                </a:lnTo>
                <a:lnTo>
                  <a:pt x="309562" y="9525"/>
                </a:lnTo>
                <a:lnTo>
                  <a:pt x="309562" y="228600"/>
                </a:lnTo>
                <a:lnTo>
                  <a:pt x="304800" y="228600"/>
                </a:lnTo>
                <a:lnTo>
                  <a:pt x="300037" y="233362"/>
                </a:lnTo>
                <a:close/>
              </a:path>
              <a:path w="309880" h="238125">
                <a:moveTo>
                  <a:pt x="309562" y="9525"/>
                </a:moveTo>
                <a:lnTo>
                  <a:pt x="304800" y="9525"/>
                </a:lnTo>
                <a:lnTo>
                  <a:pt x="300037" y="4762"/>
                </a:lnTo>
                <a:lnTo>
                  <a:pt x="309562" y="4762"/>
                </a:lnTo>
                <a:lnTo>
                  <a:pt x="309562" y="9525"/>
                </a:lnTo>
                <a:close/>
              </a:path>
              <a:path w="309880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309880" h="238125">
                <a:moveTo>
                  <a:pt x="300037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300037" y="228600"/>
                </a:lnTo>
                <a:lnTo>
                  <a:pt x="300037" y="233362"/>
                </a:lnTo>
                <a:close/>
              </a:path>
              <a:path w="309880" h="238125">
                <a:moveTo>
                  <a:pt x="309562" y="233362"/>
                </a:moveTo>
                <a:lnTo>
                  <a:pt x="300037" y="233362"/>
                </a:lnTo>
                <a:lnTo>
                  <a:pt x="304800" y="228600"/>
                </a:lnTo>
                <a:lnTo>
                  <a:pt x="309562" y="228600"/>
                </a:lnTo>
                <a:lnTo>
                  <a:pt x="309562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1944331" y="5048859"/>
            <a:ext cx="179514" cy="180149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2205037" y="5010150"/>
            <a:ext cx="161925" cy="238125"/>
          </a:xfrm>
          <a:custGeom>
            <a:avLst/>
            <a:gdLst/>
            <a:ahLst/>
            <a:cxnLst/>
            <a:rect l="l" t="t" r="r" b="b"/>
            <a:pathLst>
              <a:path w="161925" h="238125">
                <a:moveTo>
                  <a:pt x="1619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161925" y="0"/>
                </a:lnTo>
                <a:lnTo>
                  <a:pt x="16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161925" y="233362"/>
                </a:lnTo>
                <a:lnTo>
                  <a:pt x="161925" y="238125"/>
                </a:lnTo>
                <a:close/>
              </a:path>
              <a:path w="1619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1925" h="238125">
                <a:moveTo>
                  <a:pt x="15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2400" y="4762"/>
                </a:lnTo>
                <a:lnTo>
                  <a:pt x="152400" y="9525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152400" y="4762"/>
                </a:lnTo>
                <a:lnTo>
                  <a:pt x="157162" y="9525"/>
                </a:lnTo>
                <a:lnTo>
                  <a:pt x="161925" y="9525"/>
                </a:lnTo>
                <a:lnTo>
                  <a:pt x="161925" y="228600"/>
                </a:lnTo>
                <a:lnTo>
                  <a:pt x="157162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9525"/>
                </a:moveTo>
                <a:lnTo>
                  <a:pt x="157162" y="9525"/>
                </a:lnTo>
                <a:lnTo>
                  <a:pt x="152400" y="4762"/>
                </a:lnTo>
                <a:lnTo>
                  <a:pt x="161925" y="4762"/>
                </a:lnTo>
                <a:lnTo>
                  <a:pt x="161925" y="9525"/>
                </a:lnTo>
                <a:close/>
              </a:path>
              <a:path w="1619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152400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233362"/>
                </a:moveTo>
                <a:lnTo>
                  <a:pt x="152400" y="233362"/>
                </a:lnTo>
                <a:lnTo>
                  <a:pt x="157162" y="228600"/>
                </a:lnTo>
                <a:lnTo>
                  <a:pt x="161925" y="228600"/>
                </a:lnTo>
                <a:lnTo>
                  <a:pt x="1619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2221509" y="5158714"/>
            <a:ext cx="146494" cy="68389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2357437" y="5010150"/>
            <a:ext cx="619125" cy="238125"/>
          </a:xfrm>
          <a:custGeom>
            <a:avLst/>
            <a:gdLst/>
            <a:ahLst/>
            <a:cxnLst/>
            <a:rect l="l" t="t" r="r" b="b"/>
            <a:pathLst>
              <a:path w="619125" h="238125">
                <a:moveTo>
                  <a:pt x="6191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619125" y="233362"/>
                </a:lnTo>
                <a:lnTo>
                  <a:pt x="619125" y="238125"/>
                </a:lnTo>
                <a:close/>
              </a:path>
              <a:path w="6191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2381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228600"/>
                </a:lnTo>
                <a:lnTo>
                  <a:pt x="614362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609600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233362"/>
                </a:moveTo>
                <a:lnTo>
                  <a:pt x="609600" y="233362"/>
                </a:lnTo>
                <a:lnTo>
                  <a:pt x="614362" y="228600"/>
                </a:lnTo>
                <a:lnTo>
                  <a:pt x="619125" y="228600"/>
                </a:lnTo>
                <a:lnTo>
                  <a:pt x="6191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2486939" y="5049494"/>
            <a:ext cx="376999" cy="179514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2685097" y="4093209"/>
            <a:ext cx="1229042" cy="971867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3886200" y="4015740"/>
            <a:ext cx="533400" cy="182880"/>
          </a:xfrm>
          <a:custGeom>
            <a:avLst/>
            <a:gdLst/>
            <a:ahLst/>
            <a:cxnLst/>
            <a:rect l="l" t="t" r="r" b="b"/>
            <a:pathLst>
              <a:path w="533400" h="182879">
                <a:moveTo>
                  <a:pt x="0" y="0"/>
                </a:moveTo>
                <a:lnTo>
                  <a:pt x="533400" y="0"/>
                </a:lnTo>
                <a:lnTo>
                  <a:pt x="533400" y="182879"/>
                </a:lnTo>
                <a:lnTo>
                  <a:pt x="0" y="182879"/>
                </a:lnTo>
                <a:lnTo>
                  <a:pt x="0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3881437" y="4011612"/>
            <a:ext cx="542925" cy="192405"/>
          </a:xfrm>
          <a:custGeom>
            <a:avLst/>
            <a:gdLst/>
            <a:ahLst/>
            <a:cxnLst/>
            <a:rect l="l" t="t" r="r" b="b"/>
            <a:pathLst>
              <a:path w="542925" h="192404">
                <a:moveTo>
                  <a:pt x="542925" y="192087"/>
                </a:moveTo>
                <a:lnTo>
                  <a:pt x="0" y="192087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562"/>
                </a:lnTo>
                <a:lnTo>
                  <a:pt x="4762" y="182562"/>
                </a:lnTo>
                <a:lnTo>
                  <a:pt x="9525" y="187325"/>
                </a:lnTo>
                <a:lnTo>
                  <a:pt x="542925" y="187325"/>
                </a:lnTo>
                <a:lnTo>
                  <a:pt x="542925" y="192087"/>
                </a:lnTo>
                <a:close/>
              </a:path>
              <a:path w="542925" h="1924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92404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82562"/>
                </a:lnTo>
                <a:lnTo>
                  <a:pt x="538162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92404">
                <a:moveTo>
                  <a:pt x="9525" y="187325"/>
                </a:moveTo>
                <a:lnTo>
                  <a:pt x="4762" y="182562"/>
                </a:lnTo>
                <a:lnTo>
                  <a:pt x="9525" y="182562"/>
                </a:lnTo>
                <a:lnTo>
                  <a:pt x="9525" y="1873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9525" y="187325"/>
                </a:lnTo>
                <a:lnTo>
                  <a:pt x="9525" y="182562"/>
                </a:lnTo>
                <a:lnTo>
                  <a:pt x="533400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187325"/>
                </a:moveTo>
                <a:lnTo>
                  <a:pt x="533400" y="187325"/>
                </a:lnTo>
                <a:lnTo>
                  <a:pt x="538162" y="182562"/>
                </a:lnTo>
                <a:lnTo>
                  <a:pt x="542925" y="182562"/>
                </a:lnTo>
                <a:lnTo>
                  <a:pt x="542925" y="187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3972204" y="4027461"/>
            <a:ext cx="376999" cy="179514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4414837" y="4011612"/>
            <a:ext cx="619125" cy="195351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4491037" y="5232400"/>
            <a:ext cx="309880" cy="238125"/>
          </a:xfrm>
          <a:custGeom>
            <a:avLst/>
            <a:gdLst/>
            <a:ahLst/>
            <a:cxnLst/>
            <a:rect l="l" t="t" r="r" b="b"/>
            <a:pathLst>
              <a:path w="309879" h="238125">
                <a:moveTo>
                  <a:pt x="309562" y="238125"/>
                </a:moveTo>
                <a:lnTo>
                  <a:pt x="0" y="238125"/>
                </a:lnTo>
                <a:lnTo>
                  <a:pt x="0" y="0"/>
                </a:lnTo>
                <a:lnTo>
                  <a:pt x="309562" y="0"/>
                </a:lnTo>
                <a:lnTo>
                  <a:pt x="30956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309562" y="233362"/>
                </a:lnTo>
                <a:lnTo>
                  <a:pt x="309562" y="238125"/>
                </a:lnTo>
                <a:close/>
              </a:path>
              <a:path w="309879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09879" h="238125">
                <a:moveTo>
                  <a:pt x="30003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0037" y="4762"/>
                </a:lnTo>
                <a:lnTo>
                  <a:pt x="300037" y="9525"/>
                </a:lnTo>
                <a:close/>
              </a:path>
              <a:path w="309879" h="238125">
                <a:moveTo>
                  <a:pt x="300037" y="233362"/>
                </a:moveTo>
                <a:lnTo>
                  <a:pt x="300037" y="4762"/>
                </a:lnTo>
                <a:lnTo>
                  <a:pt x="304800" y="9525"/>
                </a:lnTo>
                <a:lnTo>
                  <a:pt x="309562" y="9525"/>
                </a:lnTo>
                <a:lnTo>
                  <a:pt x="309562" y="228600"/>
                </a:lnTo>
                <a:lnTo>
                  <a:pt x="304800" y="228600"/>
                </a:lnTo>
                <a:lnTo>
                  <a:pt x="300037" y="233362"/>
                </a:lnTo>
                <a:close/>
              </a:path>
              <a:path w="309879" h="238125">
                <a:moveTo>
                  <a:pt x="309562" y="9525"/>
                </a:moveTo>
                <a:lnTo>
                  <a:pt x="304800" y="9525"/>
                </a:lnTo>
                <a:lnTo>
                  <a:pt x="300037" y="4762"/>
                </a:lnTo>
                <a:lnTo>
                  <a:pt x="309562" y="4762"/>
                </a:lnTo>
                <a:lnTo>
                  <a:pt x="309562" y="9525"/>
                </a:lnTo>
                <a:close/>
              </a:path>
              <a:path w="309879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309879" h="238125">
                <a:moveTo>
                  <a:pt x="300037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300037" y="228600"/>
                </a:lnTo>
                <a:lnTo>
                  <a:pt x="300037" y="233362"/>
                </a:lnTo>
                <a:close/>
              </a:path>
              <a:path w="309879" h="238125">
                <a:moveTo>
                  <a:pt x="309562" y="233362"/>
                </a:moveTo>
                <a:lnTo>
                  <a:pt x="300037" y="233362"/>
                </a:lnTo>
                <a:lnTo>
                  <a:pt x="304800" y="228600"/>
                </a:lnTo>
                <a:lnTo>
                  <a:pt x="309562" y="228600"/>
                </a:lnTo>
                <a:lnTo>
                  <a:pt x="309562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4576089" y="5271109"/>
            <a:ext cx="200469" cy="180149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4791075" y="5232400"/>
            <a:ext cx="161925" cy="238125"/>
          </a:xfrm>
          <a:custGeom>
            <a:avLst/>
            <a:gdLst/>
            <a:ahLst/>
            <a:cxnLst/>
            <a:rect l="l" t="t" r="r" b="b"/>
            <a:pathLst>
              <a:path w="161925" h="238125">
                <a:moveTo>
                  <a:pt x="1619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161925" y="0"/>
                </a:lnTo>
                <a:lnTo>
                  <a:pt x="161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161925" y="233362"/>
                </a:lnTo>
                <a:lnTo>
                  <a:pt x="161925" y="238125"/>
                </a:lnTo>
                <a:close/>
              </a:path>
              <a:path w="1619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1925" h="238125">
                <a:moveTo>
                  <a:pt x="152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52400" y="4762"/>
                </a:lnTo>
                <a:lnTo>
                  <a:pt x="152400" y="9525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152400" y="4762"/>
                </a:lnTo>
                <a:lnTo>
                  <a:pt x="157162" y="9525"/>
                </a:lnTo>
                <a:lnTo>
                  <a:pt x="161925" y="9525"/>
                </a:lnTo>
                <a:lnTo>
                  <a:pt x="161925" y="228600"/>
                </a:lnTo>
                <a:lnTo>
                  <a:pt x="157162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9525"/>
                </a:moveTo>
                <a:lnTo>
                  <a:pt x="157162" y="9525"/>
                </a:lnTo>
                <a:lnTo>
                  <a:pt x="152400" y="4762"/>
                </a:lnTo>
                <a:lnTo>
                  <a:pt x="161925" y="4762"/>
                </a:lnTo>
                <a:lnTo>
                  <a:pt x="161925" y="9525"/>
                </a:lnTo>
                <a:close/>
              </a:path>
              <a:path w="1619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161925" h="238125">
                <a:moveTo>
                  <a:pt x="1524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152400" y="228600"/>
                </a:lnTo>
                <a:lnTo>
                  <a:pt x="152400" y="233362"/>
                </a:lnTo>
                <a:close/>
              </a:path>
              <a:path w="161925" h="238125">
                <a:moveTo>
                  <a:pt x="161925" y="233362"/>
                </a:moveTo>
                <a:lnTo>
                  <a:pt x="152400" y="233362"/>
                </a:lnTo>
                <a:lnTo>
                  <a:pt x="157162" y="228600"/>
                </a:lnTo>
                <a:lnTo>
                  <a:pt x="161925" y="228600"/>
                </a:lnTo>
                <a:lnTo>
                  <a:pt x="1619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4807546" y="5380964"/>
            <a:ext cx="146494" cy="68389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4943475" y="5232400"/>
            <a:ext cx="619125" cy="238125"/>
          </a:xfrm>
          <a:custGeom>
            <a:avLst/>
            <a:gdLst/>
            <a:ahLst/>
            <a:cxnLst/>
            <a:rect l="l" t="t" r="r" b="b"/>
            <a:pathLst>
              <a:path w="619125" h="238125">
                <a:moveTo>
                  <a:pt x="619125" y="238125"/>
                </a:moveTo>
                <a:lnTo>
                  <a:pt x="0" y="238125"/>
                </a:lnTo>
                <a:lnTo>
                  <a:pt x="0" y="0"/>
                </a:lnTo>
                <a:lnTo>
                  <a:pt x="619125" y="0"/>
                </a:lnTo>
                <a:lnTo>
                  <a:pt x="619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"/>
                </a:lnTo>
                <a:lnTo>
                  <a:pt x="4762" y="228600"/>
                </a:lnTo>
                <a:lnTo>
                  <a:pt x="9525" y="233362"/>
                </a:lnTo>
                <a:lnTo>
                  <a:pt x="619125" y="233362"/>
                </a:lnTo>
                <a:lnTo>
                  <a:pt x="619125" y="238125"/>
                </a:lnTo>
                <a:close/>
              </a:path>
              <a:path w="619125" h="238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19125" h="238125">
                <a:moveTo>
                  <a:pt x="609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09600" y="4762"/>
                </a:lnTo>
                <a:lnTo>
                  <a:pt x="609600" y="9525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609600" y="4762"/>
                </a:lnTo>
                <a:lnTo>
                  <a:pt x="614362" y="9525"/>
                </a:lnTo>
                <a:lnTo>
                  <a:pt x="619125" y="9525"/>
                </a:lnTo>
                <a:lnTo>
                  <a:pt x="619125" y="228600"/>
                </a:lnTo>
                <a:lnTo>
                  <a:pt x="614362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9525"/>
                </a:moveTo>
                <a:lnTo>
                  <a:pt x="614362" y="9525"/>
                </a:lnTo>
                <a:lnTo>
                  <a:pt x="609600" y="4762"/>
                </a:lnTo>
                <a:lnTo>
                  <a:pt x="619125" y="4762"/>
                </a:lnTo>
                <a:lnTo>
                  <a:pt x="619125" y="9525"/>
                </a:lnTo>
                <a:close/>
              </a:path>
              <a:path w="619125" h="238125">
                <a:moveTo>
                  <a:pt x="9525" y="233362"/>
                </a:moveTo>
                <a:lnTo>
                  <a:pt x="4762" y="228600"/>
                </a:lnTo>
                <a:lnTo>
                  <a:pt x="9525" y="228600"/>
                </a:lnTo>
                <a:lnTo>
                  <a:pt x="9525" y="233362"/>
                </a:lnTo>
                <a:close/>
              </a:path>
              <a:path w="619125" h="238125">
                <a:moveTo>
                  <a:pt x="609600" y="233362"/>
                </a:moveTo>
                <a:lnTo>
                  <a:pt x="9525" y="233362"/>
                </a:lnTo>
                <a:lnTo>
                  <a:pt x="9525" y="228600"/>
                </a:lnTo>
                <a:lnTo>
                  <a:pt x="609600" y="228600"/>
                </a:lnTo>
                <a:lnTo>
                  <a:pt x="609600" y="233362"/>
                </a:lnTo>
                <a:close/>
              </a:path>
              <a:path w="619125" h="238125">
                <a:moveTo>
                  <a:pt x="619125" y="233362"/>
                </a:moveTo>
                <a:lnTo>
                  <a:pt x="609600" y="233362"/>
                </a:lnTo>
                <a:lnTo>
                  <a:pt x="614362" y="228600"/>
                </a:lnTo>
                <a:lnTo>
                  <a:pt x="619125" y="228600"/>
                </a:lnTo>
                <a:lnTo>
                  <a:pt x="619125" y="233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5125681" y="5269839"/>
            <a:ext cx="272224" cy="181419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3886200" y="3657600"/>
            <a:ext cx="533400" cy="182880"/>
          </a:xfrm>
          <a:custGeom>
            <a:avLst/>
            <a:gdLst/>
            <a:ahLst/>
            <a:cxnLst/>
            <a:rect l="l" t="t" r="r" b="b"/>
            <a:pathLst>
              <a:path w="533400" h="182879">
                <a:moveTo>
                  <a:pt x="0" y="0"/>
                </a:moveTo>
                <a:lnTo>
                  <a:pt x="533400" y="0"/>
                </a:lnTo>
                <a:lnTo>
                  <a:pt x="533400" y="182879"/>
                </a:lnTo>
                <a:lnTo>
                  <a:pt x="0" y="182879"/>
                </a:lnTo>
                <a:lnTo>
                  <a:pt x="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3881437" y="3652837"/>
            <a:ext cx="542925" cy="192405"/>
          </a:xfrm>
          <a:custGeom>
            <a:avLst/>
            <a:gdLst/>
            <a:ahLst/>
            <a:cxnLst/>
            <a:rect l="l" t="t" r="r" b="b"/>
            <a:pathLst>
              <a:path w="542925" h="192404">
                <a:moveTo>
                  <a:pt x="542925" y="192087"/>
                </a:moveTo>
                <a:lnTo>
                  <a:pt x="0" y="192087"/>
                </a:lnTo>
                <a:lnTo>
                  <a:pt x="0" y="0"/>
                </a:lnTo>
                <a:lnTo>
                  <a:pt x="542925" y="0"/>
                </a:lnTo>
                <a:lnTo>
                  <a:pt x="542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562"/>
                </a:lnTo>
                <a:lnTo>
                  <a:pt x="4762" y="182562"/>
                </a:lnTo>
                <a:lnTo>
                  <a:pt x="9525" y="187325"/>
                </a:lnTo>
                <a:lnTo>
                  <a:pt x="542925" y="187325"/>
                </a:lnTo>
                <a:lnTo>
                  <a:pt x="542925" y="192087"/>
                </a:lnTo>
                <a:close/>
              </a:path>
              <a:path w="542925" h="1924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42925" h="192404">
                <a:moveTo>
                  <a:pt x="533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" y="4762"/>
                </a:lnTo>
                <a:lnTo>
                  <a:pt x="533400" y="95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533400" y="4762"/>
                </a:lnTo>
                <a:lnTo>
                  <a:pt x="538162" y="9525"/>
                </a:lnTo>
                <a:lnTo>
                  <a:pt x="542925" y="9525"/>
                </a:lnTo>
                <a:lnTo>
                  <a:pt x="542925" y="182562"/>
                </a:lnTo>
                <a:lnTo>
                  <a:pt x="538162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9525"/>
                </a:moveTo>
                <a:lnTo>
                  <a:pt x="538162" y="9525"/>
                </a:lnTo>
                <a:lnTo>
                  <a:pt x="533400" y="4762"/>
                </a:lnTo>
                <a:lnTo>
                  <a:pt x="542925" y="4762"/>
                </a:lnTo>
                <a:lnTo>
                  <a:pt x="542925" y="9525"/>
                </a:lnTo>
                <a:close/>
              </a:path>
              <a:path w="542925" h="192404">
                <a:moveTo>
                  <a:pt x="9525" y="187325"/>
                </a:moveTo>
                <a:lnTo>
                  <a:pt x="4762" y="182562"/>
                </a:lnTo>
                <a:lnTo>
                  <a:pt x="9525" y="182562"/>
                </a:lnTo>
                <a:lnTo>
                  <a:pt x="9525" y="187325"/>
                </a:lnTo>
                <a:close/>
              </a:path>
              <a:path w="542925" h="192404">
                <a:moveTo>
                  <a:pt x="533400" y="187325"/>
                </a:moveTo>
                <a:lnTo>
                  <a:pt x="9525" y="187325"/>
                </a:lnTo>
                <a:lnTo>
                  <a:pt x="9525" y="182562"/>
                </a:lnTo>
                <a:lnTo>
                  <a:pt x="533400" y="182562"/>
                </a:lnTo>
                <a:lnTo>
                  <a:pt x="533400" y="187325"/>
                </a:lnTo>
                <a:close/>
              </a:path>
              <a:path w="542925" h="192404">
                <a:moveTo>
                  <a:pt x="542925" y="187325"/>
                </a:moveTo>
                <a:lnTo>
                  <a:pt x="533400" y="187325"/>
                </a:lnTo>
                <a:lnTo>
                  <a:pt x="538162" y="182562"/>
                </a:lnTo>
                <a:lnTo>
                  <a:pt x="542925" y="182562"/>
                </a:lnTo>
                <a:lnTo>
                  <a:pt x="542925" y="1873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3968394" y="3666781"/>
            <a:ext cx="272224" cy="181419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4414837" y="3652837"/>
            <a:ext cx="620801" cy="195351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5013959" y="3704272"/>
            <a:ext cx="314642" cy="1603692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289" y="243840"/>
            <a:ext cx="6897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Finding </a:t>
            </a:r>
            <a:r>
              <a:rPr sz="3600" spc="-20" dirty="0"/>
              <a:t>Rows </a:t>
            </a:r>
            <a:r>
              <a:rPr sz="3600" dirty="0"/>
              <a:t>in a </a:t>
            </a:r>
            <a:r>
              <a:rPr sz="3600" spc="-5" dirty="0"/>
              <a:t>Clustered</a:t>
            </a:r>
            <a:r>
              <a:rPr sz="3600" spc="-55" dirty="0"/>
              <a:t> </a:t>
            </a:r>
            <a:r>
              <a:rPr sz="3600" spc="-5" dirty="0"/>
              <a:t>Index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04837" y="1366837"/>
            <a:ext cx="7934325" cy="4581525"/>
          </a:xfrm>
          <a:custGeom>
            <a:avLst/>
            <a:gdLst/>
            <a:ahLst/>
            <a:cxnLst/>
            <a:rect l="l" t="t" r="r" b="b"/>
            <a:pathLst>
              <a:path w="7934325" h="4581525">
                <a:moveTo>
                  <a:pt x="7934325" y="4581525"/>
                </a:moveTo>
                <a:lnTo>
                  <a:pt x="0" y="4581525"/>
                </a:lnTo>
                <a:lnTo>
                  <a:pt x="0" y="0"/>
                </a:lnTo>
                <a:lnTo>
                  <a:pt x="7934325" y="0"/>
                </a:lnTo>
                <a:lnTo>
                  <a:pt x="793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0"/>
                </a:lnTo>
                <a:lnTo>
                  <a:pt x="4762" y="4572000"/>
                </a:lnTo>
                <a:lnTo>
                  <a:pt x="9525" y="4576762"/>
                </a:lnTo>
                <a:lnTo>
                  <a:pt x="7934325" y="4576762"/>
                </a:lnTo>
                <a:lnTo>
                  <a:pt x="7934325" y="4581525"/>
                </a:lnTo>
                <a:close/>
              </a:path>
              <a:path w="7934325" h="458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34325" h="4581525">
                <a:moveTo>
                  <a:pt x="792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24800" y="4762"/>
                </a:lnTo>
                <a:lnTo>
                  <a:pt x="7924800" y="9525"/>
                </a:lnTo>
                <a:close/>
              </a:path>
              <a:path w="7934325" h="4581525">
                <a:moveTo>
                  <a:pt x="7924800" y="4576762"/>
                </a:moveTo>
                <a:lnTo>
                  <a:pt x="7924800" y="4762"/>
                </a:lnTo>
                <a:lnTo>
                  <a:pt x="7929562" y="9525"/>
                </a:lnTo>
                <a:lnTo>
                  <a:pt x="7934325" y="9525"/>
                </a:lnTo>
                <a:lnTo>
                  <a:pt x="7934325" y="4572000"/>
                </a:lnTo>
                <a:lnTo>
                  <a:pt x="7929562" y="4572000"/>
                </a:lnTo>
                <a:lnTo>
                  <a:pt x="7924800" y="4576762"/>
                </a:lnTo>
                <a:close/>
              </a:path>
              <a:path w="7934325" h="4581525">
                <a:moveTo>
                  <a:pt x="7934325" y="9525"/>
                </a:moveTo>
                <a:lnTo>
                  <a:pt x="7929562" y="9525"/>
                </a:lnTo>
                <a:lnTo>
                  <a:pt x="7924800" y="4762"/>
                </a:lnTo>
                <a:lnTo>
                  <a:pt x="7934325" y="4762"/>
                </a:lnTo>
                <a:lnTo>
                  <a:pt x="7934325" y="9525"/>
                </a:lnTo>
                <a:close/>
              </a:path>
              <a:path w="7934325" h="4581525">
                <a:moveTo>
                  <a:pt x="9525" y="4576762"/>
                </a:moveTo>
                <a:lnTo>
                  <a:pt x="4762" y="4572000"/>
                </a:lnTo>
                <a:lnTo>
                  <a:pt x="9525" y="4572000"/>
                </a:lnTo>
                <a:lnTo>
                  <a:pt x="9525" y="4576762"/>
                </a:lnTo>
                <a:close/>
              </a:path>
              <a:path w="7934325" h="4581525">
                <a:moveTo>
                  <a:pt x="7924800" y="4576762"/>
                </a:moveTo>
                <a:lnTo>
                  <a:pt x="9525" y="4576762"/>
                </a:lnTo>
                <a:lnTo>
                  <a:pt x="9525" y="4572000"/>
                </a:lnTo>
                <a:lnTo>
                  <a:pt x="7924800" y="4572000"/>
                </a:lnTo>
                <a:lnTo>
                  <a:pt x="7924800" y="4576762"/>
                </a:lnTo>
                <a:close/>
              </a:path>
              <a:path w="7934325" h="4581525">
                <a:moveTo>
                  <a:pt x="7934325" y="4576762"/>
                </a:moveTo>
                <a:lnTo>
                  <a:pt x="7924800" y="4576762"/>
                </a:lnTo>
                <a:lnTo>
                  <a:pt x="7929562" y="4572000"/>
                </a:lnTo>
                <a:lnTo>
                  <a:pt x="7934325" y="4572000"/>
                </a:lnTo>
                <a:lnTo>
                  <a:pt x="7934325" y="45767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9197" y="1732597"/>
            <a:ext cx="7231380" cy="1970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94697" y="1951672"/>
            <a:ext cx="936942" cy="755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2559" y="2332672"/>
            <a:ext cx="1470342" cy="374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3934967"/>
            <a:ext cx="7165848" cy="18562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4437" y="3930650"/>
            <a:ext cx="7175500" cy="1865630"/>
          </a:xfrm>
          <a:custGeom>
            <a:avLst/>
            <a:gdLst/>
            <a:ahLst/>
            <a:cxnLst/>
            <a:rect l="l" t="t" r="r" b="b"/>
            <a:pathLst>
              <a:path w="7175500" h="1865629">
                <a:moveTo>
                  <a:pt x="7175500" y="1865312"/>
                </a:moveTo>
                <a:lnTo>
                  <a:pt x="0" y="1865312"/>
                </a:lnTo>
                <a:lnTo>
                  <a:pt x="0" y="0"/>
                </a:lnTo>
                <a:lnTo>
                  <a:pt x="7175500" y="0"/>
                </a:lnTo>
                <a:lnTo>
                  <a:pt x="71755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55787"/>
                </a:lnTo>
                <a:lnTo>
                  <a:pt x="4762" y="1855787"/>
                </a:lnTo>
                <a:lnTo>
                  <a:pt x="9525" y="1860550"/>
                </a:lnTo>
                <a:lnTo>
                  <a:pt x="7175500" y="1860550"/>
                </a:lnTo>
                <a:lnTo>
                  <a:pt x="7175500" y="1865312"/>
                </a:lnTo>
                <a:close/>
              </a:path>
              <a:path w="7175500" h="18656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75500" h="1865629">
                <a:moveTo>
                  <a:pt x="71659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65975" y="4762"/>
                </a:lnTo>
                <a:lnTo>
                  <a:pt x="7165975" y="9525"/>
                </a:lnTo>
                <a:close/>
              </a:path>
              <a:path w="7175500" h="1865629">
                <a:moveTo>
                  <a:pt x="7165975" y="1860550"/>
                </a:moveTo>
                <a:lnTo>
                  <a:pt x="7165975" y="4762"/>
                </a:lnTo>
                <a:lnTo>
                  <a:pt x="7170737" y="9525"/>
                </a:lnTo>
                <a:lnTo>
                  <a:pt x="7175500" y="9525"/>
                </a:lnTo>
                <a:lnTo>
                  <a:pt x="7175500" y="1855787"/>
                </a:lnTo>
                <a:lnTo>
                  <a:pt x="7170737" y="1855787"/>
                </a:lnTo>
                <a:lnTo>
                  <a:pt x="7165975" y="1860550"/>
                </a:lnTo>
                <a:close/>
              </a:path>
              <a:path w="7175500" h="1865629">
                <a:moveTo>
                  <a:pt x="7175500" y="9525"/>
                </a:moveTo>
                <a:lnTo>
                  <a:pt x="7170737" y="9525"/>
                </a:lnTo>
                <a:lnTo>
                  <a:pt x="7165975" y="4762"/>
                </a:lnTo>
                <a:lnTo>
                  <a:pt x="7175500" y="4762"/>
                </a:lnTo>
                <a:lnTo>
                  <a:pt x="7175500" y="9525"/>
                </a:lnTo>
                <a:close/>
              </a:path>
              <a:path w="7175500" h="1865629">
                <a:moveTo>
                  <a:pt x="9525" y="1860550"/>
                </a:moveTo>
                <a:lnTo>
                  <a:pt x="4762" y="1855787"/>
                </a:lnTo>
                <a:lnTo>
                  <a:pt x="9525" y="1855787"/>
                </a:lnTo>
                <a:lnTo>
                  <a:pt x="9525" y="1860550"/>
                </a:lnTo>
                <a:close/>
              </a:path>
              <a:path w="7175500" h="1865629">
                <a:moveTo>
                  <a:pt x="7165975" y="1860550"/>
                </a:moveTo>
                <a:lnTo>
                  <a:pt x="9525" y="1860550"/>
                </a:lnTo>
                <a:lnTo>
                  <a:pt x="9525" y="1855787"/>
                </a:lnTo>
                <a:lnTo>
                  <a:pt x="7165975" y="1855787"/>
                </a:lnTo>
                <a:lnTo>
                  <a:pt x="7165975" y="1860550"/>
                </a:lnTo>
                <a:close/>
              </a:path>
              <a:path w="7175500" h="1865629">
                <a:moveTo>
                  <a:pt x="7175500" y="1860550"/>
                </a:moveTo>
                <a:lnTo>
                  <a:pt x="7165975" y="1860550"/>
                </a:lnTo>
                <a:lnTo>
                  <a:pt x="7170737" y="1855787"/>
                </a:lnTo>
                <a:lnTo>
                  <a:pt x="7175500" y="1855787"/>
                </a:lnTo>
                <a:lnTo>
                  <a:pt x="7175500" y="186055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75497" y="2713672"/>
            <a:ext cx="479742" cy="14417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0697" y="3018472"/>
            <a:ext cx="479742" cy="11369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15759" y="3247072"/>
            <a:ext cx="835342" cy="9083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29385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29385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27797" y="45250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7797" y="47536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27797" y="4983797"/>
            <a:ext cx="675004" cy="2924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27797" y="52108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38985" y="40678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38985" y="42964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37397" y="45250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37397" y="47536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37397" y="4983797"/>
            <a:ext cx="522605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37397" y="52108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94597" y="40678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94597" y="42964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94597" y="45250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496185" y="47536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494597" y="49822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494597" y="52108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43037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932997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32997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1409" y="45250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931409" y="47536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931409" y="4983797"/>
            <a:ext cx="675004" cy="29241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31409" y="52108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42597" y="40678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42597" y="42964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41009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541009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541009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41009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98209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98209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98209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99797" y="47536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98209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998209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46650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685597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685597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684009" y="45250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684009" y="47536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684009" y="4983797"/>
            <a:ext cx="675004" cy="2924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84009" y="52108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295197" y="4067809"/>
            <a:ext cx="521017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295197" y="4296409"/>
            <a:ext cx="521017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293609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293609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293609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293609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750809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750809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50809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52397" y="47536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750809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750809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699250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496185" y="26469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96185" y="28755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494597" y="3104197"/>
            <a:ext cx="1132205" cy="2940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971380" y="3271100"/>
            <a:ext cx="169519" cy="704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509837" y="26622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172584" y="1808797"/>
            <a:ext cx="1129030" cy="2940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172584" y="20373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70997" y="2265997"/>
            <a:ext cx="1132205" cy="2940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186237" y="18240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001384" y="26469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001384" y="28755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999797" y="3104197"/>
            <a:ext cx="1132205" cy="2940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015037" y="26622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566159" y="3018472"/>
            <a:ext cx="479742" cy="11369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181985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181985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180397" y="45250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180397" y="47536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180397" y="4983797"/>
            <a:ext cx="675004" cy="2924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180397" y="52108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791584" y="4067809"/>
            <a:ext cx="521017" cy="294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791584" y="4296409"/>
            <a:ext cx="521017" cy="294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789997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789997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789997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789997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247197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247197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247197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248784" y="4753609"/>
            <a:ext cx="294004" cy="2940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247197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247197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195637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340610" y="2615247"/>
            <a:ext cx="4691380" cy="114014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701040" y="1426983"/>
            <a:ext cx="7251065" cy="431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</a:pPr>
            <a:r>
              <a:rPr sz="1600" b="1" spc="-5" dirty="0">
                <a:latin typeface="Arial"/>
                <a:cs typeface="Arial"/>
              </a:rPr>
              <a:t>Clustered Index</a:t>
            </a:r>
            <a:endParaRPr sz="1600">
              <a:latin typeface="Arial"/>
              <a:cs typeface="Arial"/>
            </a:endParaRPr>
          </a:p>
          <a:p>
            <a:pPr marL="795655" algn="ctr">
              <a:lnSpc>
                <a:spcPct val="100000"/>
              </a:lnSpc>
              <a:spcBef>
                <a:spcPts val="1345"/>
              </a:spcBef>
            </a:pPr>
            <a:r>
              <a:rPr sz="1500" spc="-5" dirty="0">
                <a:latin typeface="Arial Narrow"/>
                <a:cs typeface="Arial Narrow"/>
              </a:rPr>
              <a:t>Akhtar</a:t>
            </a:r>
            <a:endParaRPr sz="1500">
              <a:latin typeface="Arial Narrow"/>
              <a:cs typeface="Arial Narrow"/>
            </a:endParaRPr>
          </a:p>
          <a:p>
            <a:pPr marL="3806190" marR="3002280" indent="-635" algn="ctr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…  Mar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in</a:t>
            </a:r>
            <a:endParaRPr sz="15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 Narrow"/>
              <a:cs typeface="Arial Narrow"/>
            </a:endParaRPr>
          </a:p>
          <a:p>
            <a:pPr marR="1174115" algn="r">
              <a:lnSpc>
                <a:spcPts val="1590"/>
              </a:lnSpc>
              <a:tabLst>
                <a:tab pos="3790950" algn="l"/>
              </a:tabLst>
            </a:pPr>
            <a:r>
              <a:rPr sz="1800" dirty="0">
                <a:latin typeface="Lucida Sans Typewriter"/>
                <a:cs typeface="Lucida Sans Typewriter"/>
              </a:rPr>
              <a:t>SE</a:t>
            </a:r>
            <a:r>
              <a:rPr sz="1800" spc="-1070" dirty="0">
                <a:latin typeface="Lucida Sans Typewriter"/>
                <a:cs typeface="Lucida Sans Typewriter"/>
              </a:rPr>
              <a:t>L</a:t>
            </a:r>
            <a:r>
              <a:rPr sz="2250" spc="-7" baseline="29629" dirty="0">
                <a:latin typeface="Arial Narrow"/>
                <a:cs typeface="Arial Narrow"/>
              </a:rPr>
              <a:t>A</a:t>
            </a:r>
            <a:r>
              <a:rPr sz="2250" spc="-555" baseline="29629" dirty="0">
                <a:latin typeface="Arial Narrow"/>
                <a:cs typeface="Arial Narrow"/>
              </a:rPr>
              <a:t>k</a:t>
            </a:r>
            <a:r>
              <a:rPr sz="1800" spc="-720" dirty="0">
                <a:latin typeface="Lucida Sans Typewriter"/>
                <a:cs typeface="Lucida Sans Typewriter"/>
              </a:rPr>
              <a:t>E</a:t>
            </a:r>
            <a:r>
              <a:rPr sz="2250" baseline="29629" dirty="0">
                <a:latin typeface="Arial Narrow"/>
                <a:cs typeface="Arial Narrow"/>
              </a:rPr>
              <a:t>h</a:t>
            </a:r>
            <a:r>
              <a:rPr sz="2250" spc="-465" baseline="29629" dirty="0">
                <a:latin typeface="Arial Narrow"/>
                <a:cs typeface="Arial Narrow"/>
              </a:rPr>
              <a:t>t</a:t>
            </a:r>
            <a:r>
              <a:rPr sz="1800" spc="-780" dirty="0">
                <a:latin typeface="Lucida Sans Typewriter"/>
                <a:cs typeface="Lucida Sans Typewriter"/>
              </a:rPr>
              <a:t>C</a:t>
            </a:r>
            <a:r>
              <a:rPr sz="2250" baseline="29629" dirty="0">
                <a:latin typeface="Arial Narrow"/>
                <a:cs typeface="Arial Narrow"/>
              </a:rPr>
              <a:t>a</a:t>
            </a:r>
            <a:r>
              <a:rPr sz="2250" spc="-480" baseline="29629" dirty="0">
                <a:latin typeface="Arial Narrow"/>
                <a:cs typeface="Arial Narrow"/>
              </a:rPr>
              <a:t>r</a:t>
            </a:r>
            <a:r>
              <a:rPr sz="1800" dirty="0">
                <a:latin typeface="Lucida Sans Typewriter"/>
                <a:cs typeface="Lucida Sans Typewriter"/>
              </a:rPr>
              <a:t>T last</a:t>
            </a:r>
            <a:r>
              <a:rPr sz="1800" spc="65" dirty="0">
                <a:latin typeface="Lucida Sans Typewriter"/>
                <a:cs typeface="Lucida Sans Typewriter"/>
              </a:rPr>
              <a:t>n</a:t>
            </a:r>
            <a:r>
              <a:rPr sz="2250" spc="-7" baseline="57407" dirty="0">
                <a:latin typeface="Arial Narrow"/>
                <a:cs typeface="Arial Narrow"/>
              </a:rPr>
              <a:t>P</a:t>
            </a:r>
            <a:r>
              <a:rPr sz="2250" baseline="57407" dirty="0">
                <a:latin typeface="Arial Narrow"/>
                <a:cs typeface="Arial Narrow"/>
              </a:rPr>
              <a:t>age</a:t>
            </a:r>
            <a:r>
              <a:rPr sz="2250" spc="-7" baseline="57407" dirty="0">
                <a:latin typeface="Arial Narrow"/>
                <a:cs typeface="Arial Narrow"/>
              </a:rPr>
              <a:t> </a:t>
            </a:r>
            <a:r>
              <a:rPr sz="2250" baseline="57407" dirty="0">
                <a:latin typeface="Arial Narrow"/>
                <a:cs typeface="Arial Narrow"/>
              </a:rPr>
              <a:t>140</a:t>
            </a:r>
            <a:r>
              <a:rPr sz="2250" spc="-7" baseline="57407" dirty="0">
                <a:latin typeface="Arial Narrow"/>
                <a:cs typeface="Arial Narrow"/>
              </a:rPr>
              <a:t> </a:t>
            </a:r>
            <a:r>
              <a:rPr sz="2250" baseline="57407" dirty="0">
                <a:latin typeface="Arial Narrow"/>
                <a:cs typeface="Arial Narrow"/>
              </a:rPr>
              <a:t>-</a:t>
            </a:r>
            <a:r>
              <a:rPr sz="2250" spc="-7" baseline="57407" dirty="0">
                <a:latin typeface="Arial Narrow"/>
                <a:cs typeface="Arial Narrow"/>
              </a:rPr>
              <a:t> </a:t>
            </a:r>
            <a:r>
              <a:rPr sz="2250" baseline="57407" dirty="0">
                <a:latin typeface="Arial Narrow"/>
                <a:cs typeface="Arial Narrow"/>
              </a:rPr>
              <a:t>Root </a:t>
            </a:r>
            <a:r>
              <a:rPr sz="2250" spc="75" baseline="57407" dirty="0">
                <a:latin typeface="Arial Narrow"/>
                <a:cs typeface="Arial Narrow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tname	</a:t>
            </a:r>
            <a:r>
              <a:rPr sz="2250" baseline="29629" dirty="0">
                <a:latin typeface="Arial Narrow"/>
                <a:cs typeface="Arial Narrow"/>
              </a:rPr>
              <a:t>Mar</a:t>
            </a:r>
            <a:r>
              <a:rPr sz="2250" spc="-7" baseline="29629" dirty="0">
                <a:latin typeface="Arial Narrow"/>
                <a:cs typeface="Arial Narrow"/>
              </a:rPr>
              <a:t>t</a:t>
            </a:r>
            <a:r>
              <a:rPr sz="2250" baseline="29629" dirty="0">
                <a:latin typeface="Arial Narrow"/>
                <a:cs typeface="Arial Narrow"/>
              </a:rPr>
              <a:t>in</a:t>
            </a:r>
            <a:endParaRPr sz="2250" baseline="29629">
              <a:latin typeface="Arial Narrow"/>
              <a:cs typeface="Arial Narrow"/>
            </a:endParaRPr>
          </a:p>
          <a:p>
            <a:pPr marR="1191260" algn="r">
              <a:lnSpc>
                <a:spcPts val="1080"/>
              </a:lnSpc>
              <a:tabLst>
                <a:tab pos="1358265" algn="l"/>
                <a:tab pos="3513454" algn="l"/>
              </a:tabLst>
            </a:pPr>
            <a:r>
              <a:rPr sz="1500" spc="-5" dirty="0">
                <a:latin typeface="Arial Narrow"/>
                <a:cs typeface="Arial Narrow"/>
              </a:rPr>
              <a:t>G</a:t>
            </a:r>
            <a:r>
              <a:rPr sz="1500" dirty="0">
                <a:latin typeface="Arial Narrow"/>
                <a:cs typeface="Arial Narrow"/>
              </a:rPr>
              <a:t>anio	</a:t>
            </a:r>
            <a:r>
              <a:rPr sz="2700" baseline="30864" dirty="0">
                <a:latin typeface="Lucida Sans Typewriter"/>
                <a:cs typeface="Lucida Sans Typewriter"/>
              </a:rPr>
              <a:t>ame, firs	</a:t>
            </a:r>
            <a:r>
              <a:rPr sz="1500" spc="-5" dirty="0">
                <a:latin typeface="Arial Narrow"/>
                <a:cs typeface="Arial Narrow"/>
              </a:rPr>
              <a:t>S</a:t>
            </a:r>
            <a:r>
              <a:rPr sz="1500" dirty="0">
                <a:latin typeface="Arial Narrow"/>
                <a:cs typeface="Arial Narrow"/>
              </a:rPr>
              <a:t>mi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h</a:t>
            </a:r>
            <a:endParaRPr sz="1500">
              <a:latin typeface="Arial Narrow"/>
              <a:cs typeface="Arial Narrow"/>
            </a:endParaRPr>
          </a:p>
          <a:p>
            <a:pPr marL="522605" algn="ctr">
              <a:lnSpc>
                <a:spcPts val="1650"/>
              </a:lnSpc>
              <a:tabLst>
                <a:tab pos="4453255" algn="l"/>
              </a:tabLst>
            </a:pPr>
            <a:r>
              <a:rPr sz="1800" dirty="0">
                <a:latin typeface="Lucida Sans Typewriter"/>
                <a:cs typeface="Lucida Sans Typewriter"/>
              </a:rPr>
              <a:t>FROM member	</a:t>
            </a:r>
            <a:r>
              <a:rPr sz="2250" baseline="-24074" dirty="0">
                <a:latin typeface="Arial Narrow"/>
                <a:cs typeface="Arial Narrow"/>
              </a:rPr>
              <a:t>…</a:t>
            </a:r>
            <a:endParaRPr sz="2250" baseline="-24074">
              <a:latin typeface="Arial Narrow"/>
              <a:cs typeface="Arial Narrow"/>
            </a:endParaRPr>
          </a:p>
          <a:p>
            <a:pPr marL="598805" algn="ctr">
              <a:lnSpc>
                <a:spcPct val="100000"/>
              </a:lnSpc>
              <a:tabLst>
                <a:tab pos="1425575" algn="l"/>
                <a:tab pos="4092575" algn="l"/>
              </a:tabLst>
            </a:pPr>
            <a:r>
              <a:rPr sz="1800" spc="-450" dirty="0">
                <a:latin typeface="Lucida Sans Typewriter"/>
                <a:cs typeface="Lucida Sans Typewriter"/>
              </a:rPr>
              <a:t>W</a:t>
            </a:r>
            <a:r>
              <a:rPr sz="2250" spc="-675" baseline="-31481" dirty="0">
                <a:latin typeface="Arial Narrow"/>
                <a:cs typeface="Arial Narrow"/>
              </a:rPr>
              <a:t>Pa</a:t>
            </a:r>
            <a:r>
              <a:rPr sz="1800" spc="-450" dirty="0">
                <a:latin typeface="Lucida Sans Typewriter"/>
                <a:cs typeface="Lucida Sans Typewriter"/>
              </a:rPr>
              <a:t>H</a:t>
            </a:r>
            <a:r>
              <a:rPr sz="2250" spc="-675" baseline="-31481" dirty="0">
                <a:latin typeface="Arial Narrow"/>
                <a:cs typeface="Arial Narrow"/>
              </a:rPr>
              <a:t>g</a:t>
            </a:r>
            <a:r>
              <a:rPr sz="1800" spc="-450" dirty="0">
                <a:latin typeface="Lucida Sans Typewriter"/>
                <a:cs typeface="Lucida Sans Typewriter"/>
              </a:rPr>
              <a:t>E</a:t>
            </a:r>
            <a:r>
              <a:rPr sz="2250" spc="-675" baseline="-31481" dirty="0">
                <a:latin typeface="Arial Narrow"/>
                <a:cs typeface="Arial Narrow"/>
              </a:rPr>
              <a:t>e</a:t>
            </a:r>
            <a:r>
              <a:rPr sz="2250" spc="-127" baseline="-31481" dirty="0">
                <a:latin typeface="Arial Narrow"/>
                <a:cs typeface="Arial Narrow"/>
              </a:rPr>
              <a:t> </a:t>
            </a:r>
            <a:r>
              <a:rPr sz="1800" spc="-420" dirty="0">
                <a:latin typeface="Lucida Sans Typewriter"/>
                <a:cs typeface="Lucida Sans Typewriter"/>
              </a:rPr>
              <a:t>R</a:t>
            </a:r>
            <a:r>
              <a:rPr sz="2250" spc="-630" baseline="-31481" dirty="0">
                <a:latin typeface="Arial Narrow"/>
                <a:cs typeface="Arial Narrow"/>
              </a:rPr>
              <a:t>14</a:t>
            </a:r>
            <a:r>
              <a:rPr sz="1800" spc="-420" dirty="0">
                <a:latin typeface="Lucida Sans Typewriter"/>
                <a:cs typeface="Lucida Sans Typewriter"/>
              </a:rPr>
              <a:t>E</a:t>
            </a:r>
            <a:r>
              <a:rPr sz="2250" spc="-630" baseline="-31481" dirty="0">
                <a:latin typeface="Arial Narrow"/>
                <a:cs typeface="Arial Narrow"/>
              </a:rPr>
              <a:t>1	</a:t>
            </a:r>
            <a:r>
              <a:rPr sz="1800" dirty="0">
                <a:latin typeface="Lucida Sans Typewriter"/>
                <a:cs typeface="Lucida Sans Typewriter"/>
              </a:rPr>
              <a:t>lastname = 'Ota'	</a:t>
            </a:r>
            <a:r>
              <a:rPr sz="2250" spc="-7" baseline="-31481" dirty="0">
                <a:latin typeface="Arial Narrow"/>
                <a:cs typeface="Arial Narrow"/>
              </a:rPr>
              <a:t>Page</a:t>
            </a:r>
            <a:r>
              <a:rPr sz="2250" spc="-135" baseline="-31481" dirty="0">
                <a:latin typeface="Arial Narrow"/>
                <a:cs typeface="Arial Narrow"/>
              </a:rPr>
              <a:t> </a:t>
            </a:r>
            <a:r>
              <a:rPr sz="2250" baseline="-31481" dirty="0">
                <a:latin typeface="Arial Narrow"/>
                <a:cs typeface="Arial Narrow"/>
              </a:rPr>
              <a:t>145</a:t>
            </a:r>
            <a:endParaRPr sz="2250" baseline="-31481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650">
              <a:latin typeface="Arial Narrow"/>
              <a:cs typeface="Arial Narrow"/>
            </a:endParaRPr>
          </a:p>
          <a:p>
            <a:pPr marL="793750">
              <a:lnSpc>
                <a:spcPct val="100000"/>
              </a:lnSpc>
              <a:tabLst>
                <a:tab pos="1403350" algn="l"/>
                <a:tab pos="2546350" algn="l"/>
                <a:tab pos="3155950" algn="l"/>
                <a:tab pos="4297045" algn="l"/>
                <a:tab pos="4906645" algn="l"/>
                <a:tab pos="6049645" algn="l"/>
                <a:tab pos="6659245" algn="l"/>
              </a:tabLst>
            </a:pPr>
            <a:r>
              <a:rPr sz="1500" spc="-5" dirty="0">
                <a:latin typeface="Arial Narrow"/>
                <a:cs typeface="Arial Narrow"/>
              </a:rPr>
              <a:t>Akhtar	</a:t>
            </a:r>
            <a:r>
              <a:rPr sz="1500" dirty="0">
                <a:latin typeface="Arial Narrow"/>
                <a:cs typeface="Arial Narrow"/>
              </a:rPr>
              <a:t>2334 </a:t>
            </a:r>
            <a:r>
              <a:rPr sz="1500" spc="19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Ganio	</a:t>
            </a:r>
            <a:r>
              <a:rPr sz="1500" dirty="0">
                <a:latin typeface="Arial Narrow"/>
                <a:cs typeface="Arial Narrow"/>
              </a:rPr>
              <a:t>7678 </a:t>
            </a:r>
            <a:r>
              <a:rPr sz="1500" spc="1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Martin	</a:t>
            </a:r>
            <a:r>
              <a:rPr sz="1500" dirty="0">
                <a:latin typeface="Arial Narrow"/>
                <a:cs typeface="Arial Narrow"/>
              </a:rPr>
              <a:t>1234 </a:t>
            </a:r>
            <a:r>
              <a:rPr sz="1500" spc="1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Smith	</a:t>
            </a:r>
            <a:r>
              <a:rPr sz="1500" dirty="0">
                <a:latin typeface="Arial Narrow"/>
                <a:cs typeface="Arial Narrow"/>
              </a:rPr>
              <a:t>1434 </a:t>
            </a:r>
            <a:r>
              <a:rPr sz="1500" spc="10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793750">
              <a:lnSpc>
                <a:spcPct val="100000"/>
              </a:lnSpc>
              <a:tabLst>
                <a:tab pos="1403350" algn="l"/>
                <a:tab pos="2546350" algn="l"/>
                <a:tab pos="3155950" algn="l"/>
                <a:tab pos="4297045" algn="l"/>
                <a:tab pos="4906645" algn="l"/>
                <a:tab pos="6049645" algn="l"/>
                <a:tab pos="6659245" algn="l"/>
              </a:tabLst>
            </a:pPr>
            <a:r>
              <a:rPr sz="1500" spc="-5" dirty="0">
                <a:latin typeface="Arial Narrow"/>
                <a:cs typeface="Arial Narrow"/>
              </a:rPr>
              <a:t>Barr	</a:t>
            </a:r>
            <a:r>
              <a:rPr sz="1500" dirty="0">
                <a:latin typeface="Arial Narrow"/>
                <a:cs typeface="Arial Narrow"/>
              </a:rPr>
              <a:t>5678 </a:t>
            </a:r>
            <a:r>
              <a:rPr sz="1500" spc="19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</a:t>
            </a:r>
            <a:r>
              <a:rPr sz="1500" dirty="0">
                <a:latin typeface="Arial Narrow"/>
                <a:cs typeface="Arial Narrow"/>
              </a:rPr>
              <a:t>Hall	8078 </a:t>
            </a:r>
            <a:r>
              <a:rPr sz="1500" spc="1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Martin	</a:t>
            </a:r>
            <a:r>
              <a:rPr sz="1500" dirty="0">
                <a:latin typeface="Arial Narrow"/>
                <a:cs typeface="Arial Narrow"/>
              </a:rPr>
              <a:t>7778 </a:t>
            </a:r>
            <a:r>
              <a:rPr sz="1500" spc="1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Smith	</a:t>
            </a:r>
            <a:r>
              <a:rPr sz="1500" dirty="0">
                <a:latin typeface="Arial Narrow"/>
                <a:cs typeface="Arial Narrow"/>
              </a:rPr>
              <a:t>5778 </a:t>
            </a:r>
            <a:r>
              <a:rPr sz="1500" spc="10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791845">
              <a:lnSpc>
                <a:spcPct val="100000"/>
              </a:lnSpc>
              <a:tabLst>
                <a:tab pos="1401445" algn="l"/>
                <a:tab pos="2544445" algn="l"/>
                <a:tab pos="3154045" algn="l"/>
                <a:tab pos="4295775" algn="l"/>
                <a:tab pos="4905375" algn="l"/>
                <a:tab pos="6048375" algn="l"/>
                <a:tab pos="6657975" algn="l"/>
              </a:tabLst>
            </a:pPr>
            <a:r>
              <a:rPr sz="1500" dirty="0">
                <a:latin typeface="Arial Narrow"/>
                <a:cs typeface="Arial Narrow"/>
              </a:rPr>
              <a:t>Con	2534 </a:t>
            </a:r>
            <a:r>
              <a:rPr sz="1500" spc="20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Jones	</a:t>
            </a:r>
            <a:r>
              <a:rPr sz="1500" dirty="0">
                <a:latin typeface="Arial Narrow"/>
                <a:cs typeface="Arial Narrow"/>
              </a:rPr>
              <a:t>2434 </a:t>
            </a:r>
            <a:r>
              <a:rPr sz="1500" spc="204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Ota	</a:t>
            </a:r>
            <a:r>
              <a:rPr sz="1500" dirty="0">
                <a:latin typeface="Arial Narrow"/>
                <a:cs typeface="Arial Narrow"/>
              </a:rPr>
              <a:t>5878 </a:t>
            </a:r>
            <a:r>
              <a:rPr sz="1500" spc="204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Smith	</a:t>
            </a:r>
            <a:r>
              <a:rPr sz="1500" dirty="0">
                <a:latin typeface="Arial Narrow"/>
                <a:cs typeface="Arial Narrow"/>
              </a:rPr>
              <a:t>7978 </a:t>
            </a:r>
            <a:r>
              <a:rPr sz="1500" spc="11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791845">
              <a:lnSpc>
                <a:spcPct val="100000"/>
              </a:lnSpc>
              <a:tabLst>
                <a:tab pos="1401445" algn="l"/>
                <a:tab pos="2544445" algn="l"/>
                <a:tab pos="3154045" algn="l"/>
                <a:tab pos="4295775" algn="l"/>
                <a:tab pos="4905375" algn="l"/>
                <a:tab pos="6048375" algn="l"/>
                <a:tab pos="6657975" algn="l"/>
              </a:tabLst>
            </a:pPr>
            <a:r>
              <a:rPr sz="1500" spc="-5" dirty="0">
                <a:latin typeface="Arial Narrow"/>
                <a:cs typeface="Arial Narrow"/>
              </a:rPr>
              <a:t>Funk	</a:t>
            </a:r>
            <a:r>
              <a:rPr sz="1500" dirty="0">
                <a:latin typeface="Arial Narrow"/>
                <a:cs typeface="Arial Narrow"/>
              </a:rPr>
              <a:t>1334 </a:t>
            </a:r>
            <a:r>
              <a:rPr sz="1500" spc="21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Jones	</a:t>
            </a:r>
            <a:r>
              <a:rPr sz="1500" dirty="0">
                <a:latin typeface="Arial Narrow"/>
                <a:cs typeface="Arial Narrow"/>
              </a:rPr>
              <a:t>5978 </a:t>
            </a:r>
            <a:r>
              <a:rPr sz="1500" spc="2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Phua	</a:t>
            </a:r>
            <a:r>
              <a:rPr sz="1500" dirty="0">
                <a:latin typeface="Arial Narrow"/>
                <a:cs typeface="Arial Narrow"/>
              </a:rPr>
              <a:t>7878 </a:t>
            </a:r>
            <a:r>
              <a:rPr sz="1500" spc="2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White	</a:t>
            </a:r>
            <a:r>
              <a:rPr sz="1500" dirty="0">
                <a:latin typeface="Arial Narrow"/>
                <a:cs typeface="Arial Narrow"/>
              </a:rPr>
              <a:t>2234 </a:t>
            </a:r>
            <a:r>
              <a:rPr sz="1500" spc="12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791845">
              <a:lnSpc>
                <a:spcPts val="1800"/>
              </a:lnSpc>
              <a:tabLst>
                <a:tab pos="1401445" algn="l"/>
                <a:tab pos="2544445" algn="l"/>
                <a:tab pos="3154045" algn="l"/>
                <a:tab pos="4295775" algn="l"/>
                <a:tab pos="4905375" algn="l"/>
                <a:tab pos="6048375" algn="l"/>
                <a:tab pos="6657975" algn="l"/>
              </a:tabLst>
            </a:pPr>
            <a:r>
              <a:rPr sz="1500" spc="-5" dirty="0">
                <a:latin typeface="Arial Narrow"/>
                <a:cs typeface="Arial Narrow"/>
              </a:rPr>
              <a:t>Funk	</a:t>
            </a:r>
            <a:r>
              <a:rPr sz="1500" dirty="0">
                <a:latin typeface="Arial Narrow"/>
                <a:cs typeface="Arial Narrow"/>
              </a:rPr>
              <a:t>1534 </a:t>
            </a:r>
            <a:r>
              <a:rPr sz="1500" spc="20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Jones	</a:t>
            </a:r>
            <a:r>
              <a:rPr sz="1500" dirty="0">
                <a:latin typeface="Arial Narrow"/>
                <a:cs typeface="Arial Narrow"/>
              </a:rPr>
              <a:t>2634 </a:t>
            </a:r>
            <a:r>
              <a:rPr sz="1500" spc="204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</a:t>
            </a:r>
            <a:r>
              <a:rPr sz="1500" dirty="0">
                <a:latin typeface="Arial Narrow"/>
                <a:cs typeface="Arial Narrow"/>
              </a:rPr>
              <a:t>Rudd	6078 </a:t>
            </a:r>
            <a:r>
              <a:rPr sz="1500" spc="204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	White	</a:t>
            </a:r>
            <a:r>
              <a:rPr sz="1500" dirty="0">
                <a:latin typeface="Arial Narrow"/>
                <a:cs typeface="Arial Narrow"/>
              </a:rPr>
              <a:t>1634 </a:t>
            </a:r>
            <a:r>
              <a:rPr sz="1500" spc="11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791845">
              <a:lnSpc>
                <a:spcPts val="1800"/>
              </a:lnSpc>
              <a:tabLst>
                <a:tab pos="1401445" algn="l"/>
                <a:tab pos="1862455" algn="l"/>
                <a:tab pos="2544445" algn="l"/>
                <a:tab pos="3154045" algn="l"/>
                <a:tab pos="3615054" algn="l"/>
                <a:tab pos="4295775" algn="l"/>
                <a:tab pos="4905375" algn="l"/>
                <a:tab pos="5366385" algn="l"/>
                <a:tab pos="6048375" algn="l"/>
                <a:tab pos="6657975" algn="l"/>
                <a:tab pos="7118984" algn="l"/>
              </a:tabLst>
            </a:pP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</a:t>
            </a:r>
            <a:endParaRPr sz="1500">
              <a:latin typeface="Arial Narrow"/>
              <a:cs typeface="Arial Narrow"/>
            </a:endParaRPr>
          </a:p>
          <a:p>
            <a:pPr marL="838200">
              <a:lnSpc>
                <a:spcPct val="100000"/>
              </a:lnSpc>
              <a:spcBef>
                <a:spcPts val="445"/>
              </a:spcBef>
              <a:tabLst>
                <a:tab pos="2590165" algn="l"/>
                <a:tab pos="4342765" algn="l"/>
                <a:tab pos="6019165" algn="l"/>
              </a:tabLst>
            </a:pPr>
            <a:r>
              <a:rPr sz="1500" spc="-5" dirty="0">
                <a:latin typeface="Arial Narrow"/>
                <a:cs typeface="Arial Narrow"/>
              </a:rPr>
              <a:t>Page </a:t>
            </a:r>
            <a:r>
              <a:rPr sz="1500" dirty="0">
                <a:latin typeface="Arial Narrow"/>
                <a:cs typeface="Arial Narrow"/>
              </a:rPr>
              <a:t>100	</a:t>
            </a: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5" dirty="0">
                <a:latin typeface="Arial Narrow"/>
                <a:cs typeface="Arial Narrow"/>
              </a:rPr>
              <a:t> </a:t>
            </a:r>
            <a:r>
              <a:rPr sz="1500" spc="-35" dirty="0">
                <a:latin typeface="Arial Narrow"/>
                <a:cs typeface="Arial Narrow"/>
              </a:rPr>
              <a:t>110	</a:t>
            </a: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dirty="0">
                <a:latin typeface="Arial Narrow"/>
                <a:cs typeface="Arial Narrow"/>
              </a:rPr>
              <a:t> 120	</a:t>
            </a: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15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130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609600" y="1371600"/>
            <a:ext cx="7924800" cy="4572000"/>
          </a:xfrm>
          <a:custGeom>
            <a:avLst/>
            <a:gdLst/>
            <a:ahLst/>
            <a:cxnLst/>
            <a:rect l="l" t="t" r="r" b="b"/>
            <a:pathLst>
              <a:path w="7924800" h="4572000">
                <a:moveTo>
                  <a:pt x="0" y="0"/>
                </a:moveTo>
                <a:lnTo>
                  <a:pt x="7924800" y="0"/>
                </a:lnTo>
                <a:lnTo>
                  <a:pt x="79248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04837" y="1366837"/>
            <a:ext cx="7934325" cy="4581525"/>
          </a:xfrm>
          <a:custGeom>
            <a:avLst/>
            <a:gdLst/>
            <a:ahLst/>
            <a:cxnLst/>
            <a:rect l="l" t="t" r="r" b="b"/>
            <a:pathLst>
              <a:path w="7934325" h="4581525">
                <a:moveTo>
                  <a:pt x="7934325" y="4581525"/>
                </a:moveTo>
                <a:lnTo>
                  <a:pt x="0" y="4581525"/>
                </a:lnTo>
                <a:lnTo>
                  <a:pt x="0" y="0"/>
                </a:lnTo>
                <a:lnTo>
                  <a:pt x="7934325" y="0"/>
                </a:lnTo>
                <a:lnTo>
                  <a:pt x="7934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0"/>
                </a:lnTo>
                <a:lnTo>
                  <a:pt x="4762" y="4572000"/>
                </a:lnTo>
                <a:lnTo>
                  <a:pt x="9525" y="4576762"/>
                </a:lnTo>
                <a:lnTo>
                  <a:pt x="7934325" y="4576762"/>
                </a:lnTo>
                <a:lnTo>
                  <a:pt x="7934325" y="4581525"/>
                </a:lnTo>
                <a:close/>
              </a:path>
              <a:path w="7934325" h="4581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934325" h="4581525">
                <a:moveTo>
                  <a:pt x="7924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924800" y="4762"/>
                </a:lnTo>
                <a:lnTo>
                  <a:pt x="7924800" y="9525"/>
                </a:lnTo>
                <a:close/>
              </a:path>
              <a:path w="7934325" h="4581525">
                <a:moveTo>
                  <a:pt x="7924800" y="4576762"/>
                </a:moveTo>
                <a:lnTo>
                  <a:pt x="7924800" y="4762"/>
                </a:lnTo>
                <a:lnTo>
                  <a:pt x="7929562" y="9525"/>
                </a:lnTo>
                <a:lnTo>
                  <a:pt x="7934325" y="9525"/>
                </a:lnTo>
                <a:lnTo>
                  <a:pt x="7934325" y="4572000"/>
                </a:lnTo>
                <a:lnTo>
                  <a:pt x="7929562" y="4572000"/>
                </a:lnTo>
                <a:lnTo>
                  <a:pt x="7924800" y="4576762"/>
                </a:lnTo>
                <a:close/>
              </a:path>
              <a:path w="7934325" h="4581525">
                <a:moveTo>
                  <a:pt x="7934325" y="9525"/>
                </a:moveTo>
                <a:lnTo>
                  <a:pt x="7929562" y="9525"/>
                </a:lnTo>
                <a:lnTo>
                  <a:pt x="7924800" y="4762"/>
                </a:lnTo>
                <a:lnTo>
                  <a:pt x="7934325" y="4762"/>
                </a:lnTo>
                <a:lnTo>
                  <a:pt x="7934325" y="9525"/>
                </a:lnTo>
                <a:close/>
              </a:path>
              <a:path w="7934325" h="4581525">
                <a:moveTo>
                  <a:pt x="9525" y="4576762"/>
                </a:moveTo>
                <a:lnTo>
                  <a:pt x="4762" y="4572000"/>
                </a:lnTo>
                <a:lnTo>
                  <a:pt x="9525" y="4572000"/>
                </a:lnTo>
                <a:lnTo>
                  <a:pt x="9525" y="4576762"/>
                </a:lnTo>
                <a:close/>
              </a:path>
              <a:path w="7934325" h="4581525">
                <a:moveTo>
                  <a:pt x="7924800" y="4576762"/>
                </a:moveTo>
                <a:lnTo>
                  <a:pt x="9525" y="4576762"/>
                </a:lnTo>
                <a:lnTo>
                  <a:pt x="9525" y="4572000"/>
                </a:lnTo>
                <a:lnTo>
                  <a:pt x="7924800" y="4572000"/>
                </a:lnTo>
                <a:lnTo>
                  <a:pt x="7924800" y="4576762"/>
                </a:lnTo>
                <a:close/>
              </a:path>
              <a:path w="7934325" h="4581525">
                <a:moveTo>
                  <a:pt x="7934325" y="4576762"/>
                </a:moveTo>
                <a:lnTo>
                  <a:pt x="7924800" y="4576762"/>
                </a:lnTo>
                <a:lnTo>
                  <a:pt x="7929562" y="4572000"/>
                </a:lnTo>
                <a:lnTo>
                  <a:pt x="7934325" y="4572000"/>
                </a:lnTo>
                <a:lnTo>
                  <a:pt x="7934325" y="45767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688340" y="1395094"/>
            <a:ext cx="154940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Clustered</a:t>
            </a:r>
            <a:r>
              <a:rPr sz="1600" b="1" spc="-5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Index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199197" y="1732597"/>
            <a:ext cx="7231380" cy="19704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294697" y="1951672"/>
            <a:ext cx="936942" cy="7559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242559" y="2332672"/>
            <a:ext cx="1470342" cy="374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1219200" y="3934967"/>
            <a:ext cx="7165848" cy="18562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214437" y="3930650"/>
            <a:ext cx="7175500" cy="1865630"/>
          </a:xfrm>
          <a:custGeom>
            <a:avLst/>
            <a:gdLst/>
            <a:ahLst/>
            <a:cxnLst/>
            <a:rect l="l" t="t" r="r" b="b"/>
            <a:pathLst>
              <a:path w="7175500" h="1865629">
                <a:moveTo>
                  <a:pt x="7175500" y="1865312"/>
                </a:moveTo>
                <a:lnTo>
                  <a:pt x="0" y="1865312"/>
                </a:lnTo>
                <a:lnTo>
                  <a:pt x="0" y="0"/>
                </a:lnTo>
                <a:lnTo>
                  <a:pt x="7175500" y="0"/>
                </a:lnTo>
                <a:lnTo>
                  <a:pt x="7175500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55787"/>
                </a:lnTo>
                <a:lnTo>
                  <a:pt x="4762" y="1855787"/>
                </a:lnTo>
                <a:lnTo>
                  <a:pt x="9525" y="1860550"/>
                </a:lnTo>
                <a:lnTo>
                  <a:pt x="7175500" y="1860550"/>
                </a:lnTo>
                <a:lnTo>
                  <a:pt x="7175500" y="1865312"/>
                </a:lnTo>
                <a:close/>
              </a:path>
              <a:path w="7175500" h="186562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75500" h="1865629">
                <a:moveTo>
                  <a:pt x="7165975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65975" y="4762"/>
                </a:lnTo>
                <a:lnTo>
                  <a:pt x="7165975" y="9525"/>
                </a:lnTo>
                <a:close/>
              </a:path>
              <a:path w="7175500" h="1865629">
                <a:moveTo>
                  <a:pt x="7165975" y="1860550"/>
                </a:moveTo>
                <a:lnTo>
                  <a:pt x="7165975" y="4762"/>
                </a:lnTo>
                <a:lnTo>
                  <a:pt x="7170737" y="9525"/>
                </a:lnTo>
                <a:lnTo>
                  <a:pt x="7175500" y="9525"/>
                </a:lnTo>
                <a:lnTo>
                  <a:pt x="7175500" y="1855787"/>
                </a:lnTo>
                <a:lnTo>
                  <a:pt x="7170737" y="1855787"/>
                </a:lnTo>
                <a:lnTo>
                  <a:pt x="7165975" y="1860550"/>
                </a:lnTo>
                <a:close/>
              </a:path>
              <a:path w="7175500" h="1865629">
                <a:moveTo>
                  <a:pt x="7175500" y="9525"/>
                </a:moveTo>
                <a:lnTo>
                  <a:pt x="7170737" y="9525"/>
                </a:lnTo>
                <a:lnTo>
                  <a:pt x="7165975" y="4762"/>
                </a:lnTo>
                <a:lnTo>
                  <a:pt x="7175500" y="4762"/>
                </a:lnTo>
                <a:lnTo>
                  <a:pt x="7175500" y="9525"/>
                </a:lnTo>
                <a:close/>
              </a:path>
              <a:path w="7175500" h="1865629">
                <a:moveTo>
                  <a:pt x="9525" y="1860550"/>
                </a:moveTo>
                <a:lnTo>
                  <a:pt x="4762" y="1855787"/>
                </a:lnTo>
                <a:lnTo>
                  <a:pt x="9525" y="1855787"/>
                </a:lnTo>
                <a:lnTo>
                  <a:pt x="9525" y="1860550"/>
                </a:lnTo>
                <a:close/>
              </a:path>
              <a:path w="7175500" h="1865629">
                <a:moveTo>
                  <a:pt x="7165975" y="1860550"/>
                </a:moveTo>
                <a:lnTo>
                  <a:pt x="9525" y="1860550"/>
                </a:lnTo>
                <a:lnTo>
                  <a:pt x="9525" y="1855787"/>
                </a:lnTo>
                <a:lnTo>
                  <a:pt x="7165975" y="1855787"/>
                </a:lnTo>
                <a:lnTo>
                  <a:pt x="7165975" y="1860550"/>
                </a:lnTo>
                <a:close/>
              </a:path>
              <a:path w="7175500" h="1865629">
                <a:moveTo>
                  <a:pt x="7175500" y="1860550"/>
                </a:moveTo>
                <a:lnTo>
                  <a:pt x="7165975" y="1860550"/>
                </a:lnTo>
                <a:lnTo>
                  <a:pt x="7170737" y="1855787"/>
                </a:lnTo>
                <a:lnTo>
                  <a:pt x="7175500" y="1855787"/>
                </a:lnTo>
                <a:lnTo>
                  <a:pt x="7175500" y="186055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75497" y="2713672"/>
            <a:ext cx="479742" cy="14417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5580697" y="3018472"/>
            <a:ext cx="479742" cy="11369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715759" y="3247072"/>
            <a:ext cx="835342" cy="9083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1526539" y="5495925"/>
            <a:ext cx="694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7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100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031740" y="5495925"/>
            <a:ext cx="694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7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120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6708140" y="5495925"/>
            <a:ext cx="694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7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130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547302" y="3403600"/>
            <a:ext cx="6946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7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141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429385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1429385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1427797" y="45250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1427797" y="47536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1427797" y="4983797"/>
            <a:ext cx="675004" cy="2924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1427797" y="5210809"/>
            <a:ext cx="675004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1480819" y="4068127"/>
            <a:ext cx="4787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Ak</a:t>
            </a:r>
            <a:r>
              <a:rPr sz="1500" dirty="0">
                <a:latin typeface="Arial Narrow"/>
                <a:cs typeface="Arial Narrow"/>
              </a:rPr>
              <a:t>h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ar  </a:t>
            </a:r>
            <a:r>
              <a:rPr sz="1500" spc="-5" dirty="0">
                <a:latin typeface="Arial Narrow"/>
                <a:cs typeface="Arial Narrow"/>
              </a:rPr>
              <a:t>Barr  </a:t>
            </a:r>
            <a:r>
              <a:rPr sz="1500" dirty="0">
                <a:latin typeface="Arial Narrow"/>
                <a:cs typeface="Arial Narrow"/>
              </a:rPr>
              <a:t>Con  </a:t>
            </a:r>
            <a:r>
              <a:rPr sz="1500" spc="-5" dirty="0">
                <a:latin typeface="Arial Narrow"/>
                <a:cs typeface="Arial Narrow"/>
              </a:rPr>
              <a:t>Funk  Funk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2038985" y="40678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038985" y="42964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037397" y="45250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037397" y="47536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2037397" y="4983797"/>
            <a:ext cx="522605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2037397" y="5210809"/>
            <a:ext cx="522605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494597" y="40678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2494597" y="42964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2494597" y="45250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2496185" y="47536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2494597" y="49822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2494597" y="5210809"/>
            <a:ext cx="294005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 txBox="1"/>
          <p:nvPr/>
        </p:nvSpPr>
        <p:spPr>
          <a:xfrm>
            <a:off x="2090420" y="4068127"/>
            <a:ext cx="6178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2334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397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5678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2534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1334 </a:t>
            </a:r>
            <a:r>
              <a:rPr sz="1500" spc="1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</a:pPr>
            <a:r>
              <a:rPr sz="1500" dirty="0">
                <a:latin typeface="Arial Narrow"/>
                <a:cs typeface="Arial Narrow"/>
              </a:rPr>
              <a:t>1534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473075" algn="l"/>
              </a:tabLst>
            </a:pP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1443037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932997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932997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931409" y="45250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931409" y="47536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4931409" y="4983797"/>
            <a:ext cx="675004" cy="29241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4931409" y="5210809"/>
            <a:ext cx="675004" cy="29400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4984432" y="4068127"/>
            <a:ext cx="46164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Mar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in  Mar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in  </a:t>
            </a:r>
            <a:r>
              <a:rPr sz="1500" spc="-5" dirty="0">
                <a:latin typeface="Arial Narrow"/>
                <a:cs typeface="Arial Narrow"/>
              </a:rPr>
              <a:t>Ota  Phua  </a:t>
            </a:r>
            <a:r>
              <a:rPr sz="1500" dirty="0">
                <a:latin typeface="Arial Narrow"/>
                <a:cs typeface="Arial Narrow"/>
              </a:rPr>
              <a:t>Rudd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5542597" y="40678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5542597" y="4296409"/>
            <a:ext cx="521017" cy="2940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5541009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541009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5541009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541009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5998209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5998209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998209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999797" y="47536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998209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5998209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 txBox="1"/>
          <p:nvPr/>
        </p:nvSpPr>
        <p:spPr>
          <a:xfrm>
            <a:off x="5594032" y="4068127"/>
            <a:ext cx="6178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1234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397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7778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5878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7878 </a:t>
            </a:r>
            <a:r>
              <a:rPr sz="1500" spc="1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</a:pPr>
            <a:r>
              <a:rPr sz="1500" dirty="0">
                <a:latin typeface="Arial Narrow"/>
                <a:cs typeface="Arial Narrow"/>
              </a:rPr>
              <a:t>6078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473075" algn="l"/>
              </a:tabLst>
            </a:pP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70" name="object 170"/>
          <p:cNvSpPr/>
          <p:nvPr/>
        </p:nvSpPr>
        <p:spPr>
          <a:xfrm>
            <a:off x="4946650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6685597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685597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6684009" y="45250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6684009" y="47536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6684009" y="4983797"/>
            <a:ext cx="675004" cy="2924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6684009" y="52108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6737032" y="4068127"/>
            <a:ext cx="4267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just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S</a:t>
            </a:r>
            <a:r>
              <a:rPr sz="1500" dirty="0">
                <a:latin typeface="Arial Narrow"/>
                <a:cs typeface="Arial Narrow"/>
              </a:rPr>
              <a:t>mi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h  </a:t>
            </a:r>
            <a:r>
              <a:rPr sz="1500" spc="-5" dirty="0">
                <a:latin typeface="Arial Narrow"/>
                <a:cs typeface="Arial Narrow"/>
              </a:rPr>
              <a:t>S</a:t>
            </a:r>
            <a:r>
              <a:rPr sz="1500" dirty="0">
                <a:latin typeface="Arial Narrow"/>
                <a:cs typeface="Arial Narrow"/>
              </a:rPr>
              <a:t>mi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h  </a:t>
            </a:r>
            <a:r>
              <a:rPr sz="1500" spc="-5" dirty="0">
                <a:latin typeface="Arial Narrow"/>
                <a:cs typeface="Arial Narrow"/>
              </a:rPr>
              <a:t>S</a:t>
            </a:r>
            <a:r>
              <a:rPr sz="1500" dirty="0">
                <a:latin typeface="Arial Narrow"/>
                <a:cs typeface="Arial Narrow"/>
              </a:rPr>
              <a:t>mi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h  </a:t>
            </a:r>
            <a:r>
              <a:rPr sz="1500" spc="-5" dirty="0">
                <a:latin typeface="Arial Narrow"/>
                <a:cs typeface="Arial Narrow"/>
              </a:rPr>
              <a:t>W</a:t>
            </a:r>
            <a:r>
              <a:rPr sz="1500" dirty="0">
                <a:latin typeface="Arial Narrow"/>
                <a:cs typeface="Arial Narrow"/>
              </a:rPr>
              <a:t>hi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e  </a:t>
            </a:r>
            <a:r>
              <a:rPr sz="1500" spc="-5" dirty="0">
                <a:latin typeface="Arial Narrow"/>
                <a:cs typeface="Arial Narrow"/>
              </a:rPr>
              <a:t>W</a:t>
            </a:r>
            <a:r>
              <a:rPr sz="1500" dirty="0">
                <a:latin typeface="Arial Narrow"/>
                <a:cs typeface="Arial Narrow"/>
              </a:rPr>
              <a:t>hi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e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7295197" y="4067809"/>
            <a:ext cx="521017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7295197" y="4296409"/>
            <a:ext cx="521017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293609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7293609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7293609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293609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7750809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7750809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750809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7752397" y="47536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7750809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7750809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 txBox="1"/>
          <p:nvPr/>
        </p:nvSpPr>
        <p:spPr>
          <a:xfrm>
            <a:off x="7346632" y="4068127"/>
            <a:ext cx="6178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1434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397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5778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7978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2234 </a:t>
            </a:r>
            <a:r>
              <a:rPr sz="1500" spc="1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</a:pPr>
            <a:r>
              <a:rPr sz="1500" dirty="0">
                <a:latin typeface="Arial Narrow"/>
                <a:cs typeface="Arial Narrow"/>
              </a:rPr>
              <a:t>1634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473075" algn="l"/>
              </a:tabLst>
            </a:pP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6699250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2496185" y="26469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2496185" y="28755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 txBox="1"/>
          <p:nvPr/>
        </p:nvSpPr>
        <p:spPr>
          <a:xfrm>
            <a:off x="2809557" y="2647315"/>
            <a:ext cx="47688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Ak</a:t>
            </a:r>
            <a:r>
              <a:rPr sz="1500" dirty="0">
                <a:latin typeface="Arial Narrow"/>
                <a:cs typeface="Arial Narrow"/>
              </a:rPr>
              <a:t>h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ar  </a:t>
            </a:r>
            <a:r>
              <a:rPr sz="1500" spc="-5" dirty="0">
                <a:latin typeface="Arial Narrow"/>
                <a:cs typeface="Arial Narrow"/>
              </a:rPr>
              <a:t>Ganio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195" name="object 195"/>
          <p:cNvSpPr/>
          <p:nvPr/>
        </p:nvSpPr>
        <p:spPr>
          <a:xfrm>
            <a:off x="2494597" y="3104197"/>
            <a:ext cx="1132205" cy="2940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2971380" y="3271100"/>
            <a:ext cx="169519" cy="7045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509837" y="26622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4172584" y="1808797"/>
            <a:ext cx="1129030" cy="2940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4172584" y="20373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4170997" y="2265997"/>
            <a:ext cx="1132205" cy="2940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 txBox="1"/>
          <p:nvPr/>
        </p:nvSpPr>
        <p:spPr>
          <a:xfrm>
            <a:off x="4193540" y="1809115"/>
            <a:ext cx="1163955" cy="996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Akhtar</a:t>
            </a:r>
            <a:endParaRPr sz="1500">
              <a:latin typeface="Arial Narrow"/>
              <a:cs typeface="Arial Narrow"/>
            </a:endParaRPr>
          </a:p>
          <a:p>
            <a:pPr marL="313055" marR="407670" indent="-635" algn="ctr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…  Mar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in</a:t>
            </a:r>
            <a:endParaRPr sz="1500">
              <a:latin typeface="Arial Narrow"/>
              <a:cs typeface="Arial Narrow"/>
            </a:endParaRPr>
          </a:p>
          <a:p>
            <a:pPr algn="ctr">
              <a:lnSpc>
                <a:spcPct val="100000"/>
              </a:lnSpc>
              <a:spcBef>
                <a:spcPts val="440"/>
              </a:spcBef>
            </a:pPr>
            <a:r>
              <a:rPr sz="1500" spc="-5" dirty="0">
                <a:latin typeface="Arial Narrow"/>
                <a:cs typeface="Arial Narrow"/>
              </a:rPr>
              <a:t>Page </a:t>
            </a:r>
            <a:r>
              <a:rPr sz="1500" dirty="0">
                <a:latin typeface="Arial Narrow"/>
                <a:cs typeface="Arial Narrow"/>
              </a:rPr>
              <a:t>140 -</a:t>
            </a:r>
            <a:r>
              <a:rPr sz="1500" spc="-9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Root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202" name="object 202"/>
          <p:cNvSpPr/>
          <p:nvPr/>
        </p:nvSpPr>
        <p:spPr>
          <a:xfrm>
            <a:off x="4186237" y="18240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6001384" y="26469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6001384" y="2875597"/>
            <a:ext cx="1129030" cy="2940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5999797" y="3104197"/>
            <a:ext cx="1132205" cy="2940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/>
          <p:nvPr/>
        </p:nvSpPr>
        <p:spPr>
          <a:xfrm>
            <a:off x="6025515" y="2647315"/>
            <a:ext cx="757555" cy="1010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Mar</a:t>
            </a:r>
            <a:r>
              <a:rPr sz="1500" spc="-5" dirty="0">
                <a:latin typeface="Arial Narrow"/>
                <a:cs typeface="Arial Narrow"/>
              </a:rPr>
              <a:t>t</a:t>
            </a:r>
            <a:r>
              <a:rPr sz="1500" dirty="0">
                <a:latin typeface="Arial Narrow"/>
                <a:cs typeface="Arial Narrow"/>
              </a:rPr>
              <a:t>in  </a:t>
            </a:r>
            <a:r>
              <a:rPr sz="1500" spc="-5" dirty="0">
                <a:latin typeface="Arial Narrow"/>
                <a:cs typeface="Arial Narrow"/>
              </a:rPr>
              <a:t>Smith</a:t>
            </a:r>
            <a:endParaRPr sz="1500">
              <a:latin typeface="Arial Narrow"/>
              <a:cs typeface="Arial Narrow"/>
            </a:endParaRPr>
          </a:p>
          <a:p>
            <a:pPr marL="297815" algn="ctr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…</a:t>
            </a:r>
            <a:endParaRPr sz="1500">
              <a:latin typeface="Arial Narrow"/>
              <a:cs typeface="Arial Narrow"/>
            </a:endParaRPr>
          </a:p>
          <a:p>
            <a:pPr marR="54610" algn="ctr">
              <a:lnSpc>
                <a:spcPct val="100000"/>
              </a:lnSpc>
              <a:spcBef>
                <a:spcPts val="555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70" dirty="0">
                <a:latin typeface="Arial Narrow"/>
                <a:cs typeface="Arial Narrow"/>
              </a:rPr>
              <a:t> </a:t>
            </a:r>
            <a:r>
              <a:rPr sz="1500" dirty="0">
                <a:latin typeface="Arial Narrow"/>
                <a:cs typeface="Arial Narrow"/>
              </a:rPr>
              <a:t>145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6015037" y="2662237"/>
            <a:ext cx="1075055" cy="695325"/>
          </a:xfrm>
          <a:custGeom>
            <a:avLst/>
            <a:gdLst/>
            <a:ahLst/>
            <a:cxnLst/>
            <a:rect l="l" t="t" r="r" b="b"/>
            <a:pathLst>
              <a:path w="1075054" h="695325">
                <a:moveTo>
                  <a:pt x="1074737" y="695325"/>
                </a:moveTo>
                <a:lnTo>
                  <a:pt x="0" y="695325"/>
                </a:lnTo>
                <a:lnTo>
                  <a:pt x="0" y="0"/>
                </a:lnTo>
                <a:lnTo>
                  <a:pt x="1074737" y="0"/>
                </a:lnTo>
                <a:lnTo>
                  <a:pt x="1074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685800"/>
                </a:lnTo>
                <a:lnTo>
                  <a:pt x="4762" y="685800"/>
                </a:lnTo>
                <a:lnTo>
                  <a:pt x="9525" y="690562"/>
                </a:lnTo>
                <a:lnTo>
                  <a:pt x="1074737" y="690562"/>
                </a:lnTo>
                <a:lnTo>
                  <a:pt x="1074737" y="695325"/>
                </a:lnTo>
                <a:close/>
              </a:path>
              <a:path w="1075054" h="695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5054" h="695325">
                <a:moveTo>
                  <a:pt x="1065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5212" y="4762"/>
                </a:lnTo>
                <a:lnTo>
                  <a:pt x="1065212" y="9525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1065212" y="4762"/>
                </a:lnTo>
                <a:lnTo>
                  <a:pt x="1069975" y="9525"/>
                </a:lnTo>
                <a:lnTo>
                  <a:pt x="1074737" y="9525"/>
                </a:lnTo>
                <a:lnTo>
                  <a:pt x="1074737" y="685800"/>
                </a:lnTo>
                <a:lnTo>
                  <a:pt x="1069975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9525"/>
                </a:moveTo>
                <a:lnTo>
                  <a:pt x="1069975" y="9525"/>
                </a:lnTo>
                <a:lnTo>
                  <a:pt x="1065212" y="4762"/>
                </a:lnTo>
                <a:lnTo>
                  <a:pt x="1074737" y="4762"/>
                </a:lnTo>
                <a:lnTo>
                  <a:pt x="1074737" y="9525"/>
                </a:lnTo>
                <a:close/>
              </a:path>
              <a:path w="1075054" h="695325">
                <a:moveTo>
                  <a:pt x="9525" y="690562"/>
                </a:moveTo>
                <a:lnTo>
                  <a:pt x="4762" y="685800"/>
                </a:lnTo>
                <a:lnTo>
                  <a:pt x="9525" y="685800"/>
                </a:lnTo>
                <a:lnTo>
                  <a:pt x="9525" y="690562"/>
                </a:lnTo>
                <a:close/>
              </a:path>
              <a:path w="1075054" h="695325">
                <a:moveTo>
                  <a:pt x="1065212" y="690562"/>
                </a:moveTo>
                <a:lnTo>
                  <a:pt x="9525" y="690562"/>
                </a:lnTo>
                <a:lnTo>
                  <a:pt x="9525" y="685800"/>
                </a:lnTo>
                <a:lnTo>
                  <a:pt x="1065212" y="685800"/>
                </a:lnTo>
                <a:lnTo>
                  <a:pt x="1065212" y="690562"/>
                </a:lnTo>
                <a:close/>
              </a:path>
              <a:path w="1075054" h="695325">
                <a:moveTo>
                  <a:pt x="1074737" y="690562"/>
                </a:moveTo>
                <a:lnTo>
                  <a:pt x="1065212" y="690562"/>
                </a:lnTo>
                <a:lnTo>
                  <a:pt x="1069975" y="685800"/>
                </a:lnTo>
                <a:lnTo>
                  <a:pt x="1074737" y="685800"/>
                </a:lnTo>
                <a:lnTo>
                  <a:pt x="1074737" y="690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3566159" y="3018472"/>
            <a:ext cx="479742" cy="11369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 txBox="1"/>
          <p:nvPr/>
        </p:nvSpPr>
        <p:spPr>
          <a:xfrm>
            <a:off x="3279140" y="5495925"/>
            <a:ext cx="6826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Page</a:t>
            </a:r>
            <a:r>
              <a:rPr sz="1500" spc="-65" dirty="0">
                <a:latin typeface="Arial Narrow"/>
                <a:cs typeface="Arial Narrow"/>
              </a:rPr>
              <a:t> </a:t>
            </a:r>
            <a:r>
              <a:rPr sz="1500" spc="-35" dirty="0">
                <a:latin typeface="Arial Narrow"/>
                <a:cs typeface="Arial Narrow"/>
              </a:rPr>
              <a:t>110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210" name="object 210"/>
          <p:cNvSpPr/>
          <p:nvPr/>
        </p:nvSpPr>
        <p:spPr>
          <a:xfrm>
            <a:off x="3181985" y="40678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3181985" y="4296409"/>
            <a:ext cx="673417" cy="2940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180397" y="45250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180397" y="47536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180397" y="4983797"/>
            <a:ext cx="675004" cy="2924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180397" y="5210809"/>
            <a:ext cx="675004" cy="29400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 txBox="1"/>
          <p:nvPr/>
        </p:nvSpPr>
        <p:spPr>
          <a:xfrm>
            <a:off x="3233420" y="4068127"/>
            <a:ext cx="44450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 Narrow"/>
                <a:cs typeface="Arial Narrow"/>
              </a:rPr>
              <a:t>G</a:t>
            </a:r>
            <a:r>
              <a:rPr sz="1500" dirty="0">
                <a:latin typeface="Arial Narrow"/>
                <a:cs typeface="Arial Narrow"/>
              </a:rPr>
              <a:t>anio  Hall  </a:t>
            </a:r>
            <a:r>
              <a:rPr sz="1500" spc="-5" dirty="0">
                <a:latin typeface="Arial Narrow"/>
                <a:cs typeface="Arial Narrow"/>
              </a:rPr>
              <a:t>J</a:t>
            </a:r>
            <a:r>
              <a:rPr sz="1500" dirty="0">
                <a:latin typeface="Arial Narrow"/>
                <a:cs typeface="Arial Narrow"/>
              </a:rPr>
              <a:t>ones  </a:t>
            </a:r>
            <a:r>
              <a:rPr sz="1500" spc="-5" dirty="0">
                <a:latin typeface="Arial Narrow"/>
                <a:cs typeface="Arial Narrow"/>
              </a:rPr>
              <a:t>J</a:t>
            </a:r>
            <a:r>
              <a:rPr sz="1500" dirty="0">
                <a:latin typeface="Arial Narrow"/>
                <a:cs typeface="Arial Narrow"/>
              </a:rPr>
              <a:t>ones  </a:t>
            </a:r>
            <a:r>
              <a:rPr sz="1500" spc="-5" dirty="0">
                <a:latin typeface="Arial Narrow"/>
                <a:cs typeface="Arial Narrow"/>
              </a:rPr>
              <a:t>J</a:t>
            </a:r>
            <a:r>
              <a:rPr sz="1500" dirty="0">
                <a:latin typeface="Arial Narrow"/>
                <a:cs typeface="Arial Narrow"/>
              </a:rPr>
              <a:t>ones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217" name="object 217"/>
          <p:cNvSpPr/>
          <p:nvPr/>
        </p:nvSpPr>
        <p:spPr>
          <a:xfrm>
            <a:off x="3791584" y="4067809"/>
            <a:ext cx="521017" cy="294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791584" y="4296409"/>
            <a:ext cx="521017" cy="2940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789997" y="45250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789997" y="47536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3789997" y="4983797"/>
            <a:ext cx="522604" cy="2924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3789997" y="5210809"/>
            <a:ext cx="522604" cy="2940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4247197" y="4067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247197" y="42964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247197" y="45250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4248784" y="4753609"/>
            <a:ext cx="294004" cy="2940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4247197" y="49822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4247197" y="5210809"/>
            <a:ext cx="294004" cy="2940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 txBox="1"/>
          <p:nvPr/>
        </p:nvSpPr>
        <p:spPr>
          <a:xfrm>
            <a:off x="3843020" y="4068127"/>
            <a:ext cx="6178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Narrow"/>
                <a:cs typeface="Arial Narrow"/>
              </a:rPr>
              <a:t>7678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397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8078 </a:t>
            </a:r>
            <a:r>
              <a:rPr sz="1500" spc="9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2434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Narrow"/>
                <a:cs typeface="Arial Narrow"/>
              </a:rPr>
              <a:t>5978 </a:t>
            </a:r>
            <a:r>
              <a:rPr sz="1500" spc="120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</a:pPr>
            <a:r>
              <a:rPr sz="1500" dirty="0">
                <a:latin typeface="Arial Narrow"/>
                <a:cs typeface="Arial Narrow"/>
              </a:rPr>
              <a:t>2634 </a:t>
            </a:r>
            <a:r>
              <a:rPr sz="1500" spc="105" dirty="0">
                <a:latin typeface="Arial Narrow"/>
                <a:cs typeface="Arial Narrow"/>
              </a:rPr>
              <a:t> </a:t>
            </a:r>
            <a:r>
              <a:rPr sz="1500" spc="-5" dirty="0">
                <a:latin typeface="Arial Narrow"/>
                <a:cs typeface="Arial Narrow"/>
              </a:rPr>
              <a:t>...</a:t>
            </a:r>
            <a:endParaRPr sz="15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473075" algn="l"/>
              </a:tabLst>
            </a:pP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	</a:t>
            </a:r>
            <a:r>
              <a:rPr sz="1500" spc="-5" dirty="0">
                <a:latin typeface="Arial Narrow"/>
                <a:cs typeface="Arial Narrow"/>
              </a:rPr>
              <a:t>..</a:t>
            </a:r>
            <a:r>
              <a:rPr sz="1500" dirty="0">
                <a:latin typeface="Arial Narrow"/>
                <a:cs typeface="Arial Narrow"/>
              </a:rPr>
              <a:t>.</a:t>
            </a:r>
            <a:endParaRPr sz="1500">
              <a:latin typeface="Arial Narrow"/>
              <a:cs typeface="Arial Narrow"/>
            </a:endParaRPr>
          </a:p>
        </p:txBody>
      </p:sp>
      <p:sp>
        <p:nvSpPr>
          <p:cNvPr id="230" name="object 230"/>
          <p:cNvSpPr/>
          <p:nvPr/>
        </p:nvSpPr>
        <p:spPr>
          <a:xfrm>
            <a:off x="3195637" y="4083050"/>
            <a:ext cx="1304925" cy="1381125"/>
          </a:xfrm>
          <a:custGeom>
            <a:avLst/>
            <a:gdLst/>
            <a:ahLst/>
            <a:cxnLst/>
            <a:rect l="l" t="t" r="r" b="b"/>
            <a:pathLst>
              <a:path w="1304925" h="1381125">
                <a:moveTo>
                  <a:pt x="1304925" y="1381125"/>
                </a:moveTo>
                <a:lnTo>
                  <a:pt x="0" y="1381125"/>
                </a:lnTo>
                <a:lnTo>
                  <a:pt x="0" y="0"/>
                </a:lnTo>
                <a:lnTo>
                  <a:pt x="1304925" y="0"/>
                </a:lnTo>
                <a:lnTo>
                  <a:pt x="1304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371600"/>
                </a:lnTo>
                <a:lnTo>
                  <a:pt x="4762" y="1371600"/>
                </a:lnTo>
                <a:lnTo>
                  <a:pt x="9525" y="1376362"/>
                </a:lnTo>
                <a:lnTo>
                  <a:pt x="1304925" y="1376362"/>
                </a:lnTo>
                <a:lnTo>
                  <a:pt x="1304925" y="1381125"/>
                </a:lnTo>
                <a:close/>
              </a:path>
              <a:path w="1304925" h="1381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04925" h="1381125">
                <a:moveTo>
                  <a:pt x="1295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95400" y="4762"/>
                </a:lnTo>
                <a:lnTo>
                  <a:pt x="1295400" y="9525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1295400" y="4762"/>
                </a:lnTo>
                <a:lnTo>
                  <a:pt x="1300162" y="9525"/>
                </a:lnTo>
                <a:lnTo>
                  <a:pt x="1304925" y="9525"/>
                </a:lnTo>
                <a:lnTo>
                  <a:pt x="1304925" y="1371600"/>
                </a:lnTo>
                <a:lnTo>
                  <a:pt x="1300162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9525"/>
                </a:moveTo>
                <a:lnTo>
                  <a:pt x="1300162" y="9525"/>
                </a:lnTo>
                <a:lnTo>
                  <a:pt x="1295400" y="4762"/>
                </a:lnTo>
                <a:lnTo>
                  <a:pt x="1304925" y="4762"/>
                </a:lnTo>
                <a:lnTo>
                  <a:pt x="1304925" y="9525"/>
                </a:lnTo>
                <a:close/>
              </a:path>
              <a:path w="1304925" h="1381125">
                <a:moveTo>
                  <a:pt x="9525" y="1376362"/>
                </a:moveTo>
                <a:lnTo>
                  <a:pt x="4762" y="1371600"/>
                </a:lnTo>
                <a:lnTo>
                  <a:pt x="9525" y="1371600"/>
                </a:lnTo>
                <a:lnTo>
                  <a:pt x="9525" y="1376362"/>
                </a:lnTo>
                <a:close/>
              </a:path>
              <a:path w="1304925" h="1381125">
                <a:moveTo>
                  <a:pt x="1295400" y="1376362"/>
                </a:moveTo>
                <a:lnTo>
                  <a:pt x="9525" y="1376362"/>
                </a:lnTo>
                <a:lnTo>
                  <a:pt x="9525" y="1371600"/>
                </a:lnTo>
                <a:lnTo>
                  <a:pt x="1295400" y="1371600"/>
                </a:lnTo>
                <a:lnTo>
                  <a:pt x="1295400" y="1376362"/>
                </a:lnTo>
                <a:close/>
              </a:path>
              <a:path w="1304925" h="1381125">
                <a:moveTo>
                  <a:pt x="1304925" y="1376362"/>
                </a:moveTo>
                <a:lnTo>
                  <a:pt x="1295400" y="1376362"/>
                </a:lnTo>
                <a:lnTo>
                  <a:pt x="1300162" y="1371600"/>
                </a:lnTo>
                <a:lnTo>
                  <a:pt x="1304925" y="1371600"/>
                </a:lnTo>
                <a:lnTo>
                  <a:pt x="1304925" y="1376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548060" y="1275397"/>
            <a:ext cx="378066" cy="61240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999797" y="2646997"/>
            <a:ext cx="1129030" cy="2940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6329260" y="2696425"/>
            <a:ext cx="462889" cy="18983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932997" y="4551997"/>
            <a:ext cx="675004" cy="2940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4990045" y="4598885"/>
            <a:ext cx="288264" cy="19237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542597" y="4551997"/>
            <a:ext cx="522604" cy="2940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5597740" y="4600790"/>
            <a:ext cx="385419" cy="19047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5999797" y="4551997"/>
            <a:ext cx="294004" cy="2940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6067006" y="4718900"/>
            <a:ext cx="153009" cy="7045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237797" y="2273935"/>
            <a:ext cx="1589405" cy="45116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466397" y="2723197"/>
            <a:ext cx="598804" cy="190690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4170997" y="2265997"/>
            <a:ext cx="1132205" cy="29400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4502365" y="2315425"/>
            <a:ext cx="462889" cy="18983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3561397" y="1038860"/>
            <a:ext cx="509904" cy="2813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4018597" y="1038860"/>
            <a:ext cx="1043305" cy="28130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5009197" y="1038860"/>
            <a:ext cx="738504" cy="2813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 txBox="1"/>
          <p:nvPr/>
        </p:nvSpPr>
        <p:spPr>
          <a:xfrm>
            <a:off x="3732529" y="1016317"/>
            <a:ext cx="17957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234" algn="l"/>
                <a:tab pos="1495425" algn="l"/>
              </a:tabLst>
            </a:pP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nd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=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1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r</a:t>
            </a:r>
            <a:r>
              <a:rPr sz="1600" spc="-5" dirty="0">
                <a:latin typeface="Arial Narrow"/>
                <a:cs typeface="Arial Narrow"/>
              </a:rPr>
              <a:t>oot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2364739" y="1062037"/>
            <a:ext cx="11207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sysindexes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2089" y="47625"/>
            <a:ext cx="644398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98625" marR="5080" indent="-1685925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Finding </a:t>
            </a:r>
            <a:r>
              <a:rPr sz="2800" spc="-15" dirty="0"/>
              <a:t>Rows </a:t>
            </a:r>
            <a:r>
              <a:rPr sz="2800" spc="-5" dirty="0"/>
              <a:t>in a Clustered Index </a:t>
            </a:r>
            <a:r>
              <a:rPr sz="2800" dirty="0"/>
              <a:t>with </a:t>
            </a:r>
            <a:r>
              <a:rPr sz="2800" spc="-5" dirty="0"/>
              <a:t>a  Nonclustered</a:t>
            </a:r>
            <a:r>
              <a:rPr sz="2800" dirty="0"/>
              <a:t> </a:t>
            </a:r>
            <a:r>
              <a:rPr sz="2800" spc="-5" dirty="0"/>
              <a:t>Index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33400" y="4495800"/>
            <a:ext cx="8077200" cy="1828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8637" y="4491037"/>
            <a:ext cx="8086725" cy="1838325"/>
          </a:xfrm>
          <a:custGeom>
            <a:avLst/>
            <a:gdLst/>
            <a:ahLst/>
            <a:cxnLst/>
            <a:rect l="l" t="t" r="r" b="b"/>
            <a:pathLst>
              <a:path w="8086725" h="1838325">
                <a:moveTo>
                  <a:pt x="80867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8086725" y="1833562"/>
                </a:lnTo>
                <a:lnTo>
                  <a:pt x="8086725" y="1838325"/>
                </a:lnTo>
                <a:close/>
              </a:path>
              <a:path w="80867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18383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1838325">
                <a:moveTo>
                  <a:pt x="8077200" y="18335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1828800"/>
                </a:lnTo>
                <a:lnTo>
                  <a:pt x="8081962" y="1828800"/>
                </a:lnTo>
                <a:lnTo>
                  <a:pt x="8077200" y="1833562"/>
                </a:lnTo>
                <a:close/>
              </a:path>
              <a:path w="8086725" h="18383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8086725" h="1838325">
                <a:moveTo>
                  <a:pt x="80772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8077200" y="1828800"/>
                </a:lnTo>
                <a:lnTo>
                  <a:pt x="8077200" y="1833562"/>
                </a:lnTo>
                <a:close/>
              </a:path>
              <a:path w="8086725" h="1838325">
                <a:moveTo>
                  <a:pt x="8086725" y="1833562"/>
                </a:moveTo>
                <a:lnTo>
                  <a:pt x="8077200" y="1833562"/>
                </a:lnTo>
                <a:lnTo>
                  <a:pt x="8081962" y="1828800"/>
                </a:lnTo>
                <a:lnTo>
                  <a:pt x="8086725" y="1828800"/>
                </a:lnTo>
                <a:lnTo>
                  <a:pt x="8086725" y="1833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8637" y="1290637"/>
            <a:ext cx="8086725" cy="2981325"/>
          </a:xfrm>
          <a:custGeom>
            <a:avLst/>
            <a:gdLst/>
            <a:ahLst/>
            <a:cxnLst/>
            <a:rect l="l" t="t" r="r" b="b"/>
            <a:pathLst>
              <a:path w="8086725" h="2981325">
                <a:moveTo>
                  <a:pt x="8086725" y="2981325"/>
                </a:moveTo>
                <a:lnTo>
                  <a:pt x="0" y="29813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971800"/>
                </a:lnTo>
                <a:lnTo>
                  <a:pt x="4762" y="2971800"/>
                </a:lnTo>
                <a:lnTo>
                  <a:pt x="9525" y="2976562"/>
                </a:lnTo>
                <a:lnTo>
                  <a:pt x="8086725" y="2976562"/>
                </a:lnTo>
                <a:lnTo>
                  <a:pt x="8086725" y="2981325"/>
                </a:lnTo>
                <a:close/>
              </a:path>
              <a:path w="8086725" h="2981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29813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2981325">
                <a:moveTo>
                  <a:pt x="8077200" y="29765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2971800"/>
                </a:lnTo>
                <a:lnTo>
                  <a:pt x="8081962" y="2971800"/>
                </a:lnTo>
                <a:lnTo>
                  <a:pt x="8077200" y="2976562"/>
                </a:lnTo>
                <a:close/>
              </a:path>
              <a:path w="8086725" h="29813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2981325">
                <a:moveTo>
                  <a:pt x="9525" y="2976562"/>
                </a:moveTo>
                <a:lnTo>
                  <a:pt x="4762" y="2971800"/>
                </a:lnTo>
                <a:lnTo>
                  <a:pt x="9525" y="2971800"/>
                </a:lnTo>
                <a:lnTo>
                  <a:pt x="9525" y="2976562"/>
                </a:lnTo>
                <a:close/>
              </a:path>
              <a:path w="8086725" h="2981325">
                <a:moveTo>
                  <a:pt x="8077200" y="2976562"/>
                </a:moveTo>
                <a:lnTo>
                  <a:pt x="9525" y="2976562"/>
                </a:lnTo>
                <a:lnTo>
                  <a:pt x="9525" y="2971800"/>
                </a:lnTo>
                <a:lnTo>
                  <a:pt x="8077200" y="2971800"/>
                </a:lnTo>
                <a:lnTo>
                  <a:pt x="8077200" y="2976562"/>
                </a:lnTo>
                <a:close/>
              </a:path>
              <a:path w="8086725" h="2981325">
                <a:moveTo>
                  <a:pt x="8086725" y="2976562"/>
                </a:moveTo>
                <a:lnTo>
                  <a:pt x="8077200" y="2976562"/>
                </a:lnTo>
                <a:lnTo>
                  <a:pt x="8081962" y="2971800"/>
                </a:lnTo>
                <a:lnTo>
                  <a:pt x="8086725" y="2971800"/>
                </a:lnTo>
                <a:lnTo>
                  <a:pt x="8086725" y="2976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81200" y="1447800"/>
            <a:ext cx="6477000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76437" y="1443037"/>
            <a:ext cx="6486525" cy="1533525"/>
          </a:xfrm>
          <a:custGeom>
            <a:avLst/>
            <a:gdLst/>
            <a:ahLst/>
            <a:cxnLst/>
            <a:rect l="l" t="t" r="r" b="b"/>
            <a:pathLst>
              <a:path w="6486525" h="1533525">
                <a:moveTo>
                  <a:pt x="64865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6486525" y="0"/>
                </a:lnTo>
                <a:lnTo>
                  <a:pt x="648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6486525" y="1528762"/>
                </a:lnTo>
                <a:lnTo>
                  <a:pt x="6486525" y="1533525"/>
                </a:lnTo>
                <a:close/>
              </a:path>
              <a:path w="64865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86525" h="1533525">
                <a:moveTo>
                  <a:pt x="647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77000" y="4762"/>
                </a:lnTo>
                <a:lnTo>
                  <a:pt x="6477000" y="9525"/>
                </a:lnTo>
                <a:close/>
              </a:path>
              <a:path w="6486525" h="1533525">
                <a:moveTo>
                  <a:pt x="6477000" y="1528762"/>
                </a:moveTo>
                <a:lnTo>
                  <a:pt x="6477000" y="4762"/>
                </a:lnTo>
                <a:lnTo>
                  <a:pt x="6481762" y="9525"/>
                </a:lnTo>
                <a:lnTo>
                  <a:pt x="6486525" y="9525"/>
                </a:lnTo>
                <a:lnTo>
                  <a:pt x="6486525" y="1524000"/>
                </a:lnTo>
                <a:lnTo>
                  <a:pt x="6481762" y="1524000"/>
                </a:lnTo>
                <a:lnTo>
                  <a:pt x="6477000" y="1528762"/>
                </a:lnTo>
                <a:close/>
              </a:path>
              <a:path w="6486525" h="1533525">
                <a:moveTo>
                  <a:pt x="6486525" y="9525"/>
                </a:moveTo>
                <a:lnTo>
                  <a:pt x="6481762" y="9525"/>
                </a:lnTo>
                <a:lnTo>
                  <a:pt x="6477000" y="4762"/>
                </a:lnTo>
                <a:lnTo>
                  <a:pt x="6486525" y="4762"/>
                </a:lnTo>
                <a:lnTo>
                  <a:pt x="6486525" y="9525"/>
                </a:lnTo>
                <a:close/>
              </a:path>
              <a:path w="64865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6486525" h="1533525">
                <a:moveTo>
                  <a:pt x="64770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6477000" y="1524000"/>
                </a:lnTo>
                <a:lnTo>
                  <a:pt x="6477000" y="1528762"/>
                </a:lnTo>
                <a:close/>
              </a:path>
              <a:path w="6486525" h="1533525">
                <a:moveTo>
                  <a:pt x="6486525" y="1528762"/>
                </a:moveTo>
                <a:lnTo>
                  <a:pt x="6477000" y="1528762"/>
                </a:lnTo>
                <a:lnTo>
                  <a:pt x="6481762" y="1524000"/>
                </a:lnTo>
                <a:lnTo>
                  <a:pt x="6486525" y="1524000"/>
                </a:lnTo>
                <a:lnTo>
                  <a:pt x="6486525" y="1528762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81200" y="3124200"/>
            <a:ext cx="6477000" cy="914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6437" y="3119437"/>
            <a:ext cx="6486525" cy="923925"/>
          </a:xfrm>
          <a:custGeom>
            <a:avLst/>
            <a:gdLst/>
            <a:ahLst/>
            <a:cxnLst/>
            <a:rect l="l" t="t" r="r" b="b"/>
            <a:pathLst>
              <a:path w="6486525" h="923925">
                <a:moveTo>
                  <a:pt x="6486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6486525" y="0"/>
                </a:lnTo>
                <a:lnTo>
                  <a:pt x="648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6486525" y="919162"/>
                </a:lnTo>
                <a:lnTo>
                  <a:pt x="6486525" y="923925"/>
                </a:lnTo>
                <a:close/>
              </a:path>
              <a:path w="6486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86525" h="923925">
                <a:moveTo>
                  <a:pt x="647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77000" y="4762"/>
                </a:lnTo>
                <a:lnTo>
                  <a:pt x="6477000" y="9525"/>
                </a:lnTo>
                <a:close/>
              </a:path>
              <a:path w="6486525" h="923925">
                <a:moveTo>
                  <a:pt x="6477000" y="919162"/>
                </a:moveTo>
                <a:lnTo>
                  <a:pt x="6477000" y="4762"/>
                </a:lnTo>
                <a:lnTo>
                  <a:pt x="6481762" y="9525"/>
                </a:lnTo>
                <a:lnTo>
                  <a:pt x="6486525" y="9525"/>
                </a:lnTo>
                <a:lnTo>
                  <a:pt x="6486525" y="914400"/>
                </a:lnTo>
                <a:lnTo>
                  <a:pt x="6481762" y="914400"/>
                </a:lnTo>
                <a:lnTo>
                  <a:pt x="6477000" y="919162"/>
                </a:lnTo>
                <a:close/>
              </a:path>
              <a:path w="6486525" h="923925">
                <a:moveTo>
                  <a:pt x="6486525" y="9525"/>
                </a:moveTo>
                <a:lnTo>
                  <a:pt x="6481762" y="9525"/>
                </a:lnTo>
                <a:lnTo>
                  <a:pt x="6477000" y="4762"/>
                </a:lnTo>
                <a:lnTo>
                  <a:pt x="6486525" y="4762"/>
                </a:lnTo>
                <a:lnTo>
                  <a:pt x="6486525" y="9525"/>
                </a:lnTo>
                <a:close/>
              </a:path>
              <a:path w="6486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6486525" h="923925">
                <a:moveTo>
                  <a:pt x="6477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6477000" y="914400"/>
                </a:lnTo>
                <a:lnTo>
                  <a:pt x="6477000" y="919162"/>
                </a:lnTo>
                <a:close/>
              </a:path>
              <a:path w="6486525" h="923925">
                <a:moveTo>
                  <a:pt x="6486525" y="919162"/>
                </a:moveTo>
                <a:lnTo>
                  <a:pt x="6477000" y="919162"/>
                </a:lnTo>
                <a:lnTo>
                  <a:pt x="6481762" y="914400"/>
                </a:lnTo>
                <a:lnTo>
                  <a:pt x="6486525" y="914400"/>
                </a:lnTo>
                <a:lnTo>
                  <a:pt x="6486525" y="919162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1797" y="2312035"/>
            <a:ext cx="1132205" cy="3051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51797" y="2551747"/>
            <a:ext cx="1132205" cy="3019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51797" y="2788285"/>
            <a:ext cx="1132205" cy="3051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67037" y="2327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47097" y="1646872"/>
            <a:ext cx="860742" cy="7559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70997" y="1550035"/>
            <a:ext cx="1132205" cy="3051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70997" y="1789747"/>
            <a:ext cx="1132205" cy="3019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70997" y="2026285"/>
            <a:ext cx="1132205" cy="3051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86237" y="1565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66397" y="2312035"/>
            <a:ext cx="1132205" cy="3051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66397" y="2551747"/>
            <a:ext cx="1132205" cy="3019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66397" y="2788285"/>
            <a:ext cx="1132205" cy="3051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481637" y="2327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661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661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661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281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281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81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8661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6281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814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373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0373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0373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993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993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993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373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993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0526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949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6949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949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569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4569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4569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949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569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7102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503997" y="54663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65997" y="54663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503997" y="56949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503997" y="59235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65997" y="56949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65997" y="59235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503997" y="61521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265997" y="61521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04197" y="54663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104197" y="56949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04197" y="59235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104197" y="61521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5192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713797" y="54663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713797" y="56949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713797" y="59235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475797" y="54663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475797" y="56949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75797" y="59235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713797" y="61521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475797" y="61521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13997" y="54663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313997" y="56949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313997" y="59235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313997" y="61521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290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23597" y="5466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23597" y="5694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923597" y="5923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685597" y="54663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685597" y="56949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685597" y="59235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923597" y="6152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685597" y="61521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523797" y="54663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523797" y="56949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523797" y="59235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523797" y="61521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9388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866197" y="43995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866197" y="46281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866197" y="48567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866197" y="50853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881437" y="44148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380297" y="2408872"/>
            <a:ext cx="632142" cy="8321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4023359" y="2637472"/>
            <a:ext cx="936942" cy="6035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537959" y="2408872"/>
            <a:ext cx="403542" cy="8321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151697" y="4542472"/>
            <a:ext cx="1775142" cy="9083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675697" y="4694872"/>
            <a:ext cx="251142" cy="83216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5471159" y="4999672"/>
            <a:ext cx="936942" cy="52736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242559" y="2045335"/>
            <a:ext cx="936942" cy="37496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637597" y="962660"/>
            <a:ext cx="509904" cy="28130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4094797" y="962660"/>
            <a:ext cx="1043305" cy="28130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5085397" y="962660"/>
            <a:ext cx="738504" cy="281304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 txBox="1"/>
          <p:nvPr/>
        </p:nvSpPr>
        <p:spPr>
          <a:xfrm>
            <a:off x="2440939" y="993775"/>
            <a:ext cx="112077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sysindexes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4742497" y="1189672"/>
            <a:ext cx="141604" cy="39877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188210" y="2340610"/>
            <a:ext cx="5072380" cy="114014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05"/>
              </a:lnSpc>
            </a:pPr>
            <a:r>
              <a:rPr spc="-5" dirty="0"/>
              <a:t>Nonclustered</a:t>
            </a:r>
          </a:p>
          <a:p>
            <a:pPr>
              <a:lnSpc>
                <a:spcPts val="1560"/>
              </a:lnSpc>
              <a:tabLst>
                <a:tab pos="3656965" algn="l"/>
                <a:tab pos="6861175" algn="l"/>
              </a:tabLst>
            </a:pPr>
            <a:r>
              <a:rPr sz="2400" spc="-7" baseline="-24305" dirty="0"/>
              <a:t>Index on	</a:t>
            </a:r>
            <a:r>
              <a:rPr sz="2400" b="0" spc="-7" baseline="-20833" dirty="0">
                <a:latin typeface="Arial Narrow"/>
                <a:cs typeface="Arial Narrow"/>
              </a:rPr>
              <a:t>Aa</a:t>
            </a:r>
            <a:r>
              <a:rPr sz="2400" b="0" spc="-15" baseline="-20833" dirty="0">
                <a:latin typeface="Arial Narrow"/>
                <a:cs typeface="Arial Narrow"/>
              </a:rPr>
              <a:t>r</a:t>
            </a:r>
            <a:r>
              <a:rPr sz="2400" b="0" spc="-7" baseline="-20833" dirty="0">
                <a:latin typeface="Arial Narrow"/>
                <a:cs typeface="Arial Narrow"/>
              </a:rPr>
              <a:t>on</a:t>
            </a:r>
            <a:r>
              <a:rPr sz="2400" b="0" baseline="-20833" dirty="0">
                <a:latin typeface="Arial Narrow"/>
                <a:cs typeface="Arial Narrow"/>
              </a:rPr>
              <a:t>	</a:t>
            </a:r>
            <a:r>
              <a:rPr sz="1600" spc="-5" dirty="0"/>
              <a:t>Non-Leaf</a:t>
            </a:r>
            <a:endParaRPr sz="1600">
              <a:latin typeface="Arial Narrow"/>
              <a:cs typeface="Arial Narrow"/>
            </a:endParaRPr>
          </a:p>
          <a:p>
            <a:pPr>
              <a:lnSpc>
                <a:spcPts val="1814"/>
              </a:lnSpc>
              <a:spcBef>
                <a:spcPts val="720"/>
              </a:spcBef>
              <a:tabLst>
                <a:tab pos="3656965" algn="l"/>
                <a:tab pos="7221855" algn="l"/>
              </a:tabLst>
            </a:pPr>
            <a:r>
              <a:rPr spc="-5" dirty="0"/>
              <a:t>First Na</a:t>
            </a:r>
            <a:r>
              <a:rPr dirty="0"/>
              <a:t>m</a:t>
            </a:r>
            <a:r>
              <a:rPr spc="-5" dirty="0"/>
              <a:t>e</a:t>
            </a:r>
            <a:r>
              <a:rPr dirty="0"/>
              <a:t>	</a:t>
            </a:r>
            <a:r>
              <a:rPr sz="2400" b="0" spc="-7" baseline="5208" dirty="0">
                <a:latin typeface="Arial Narrow"/>
                <a:cs typeface="Arial Narrow"/>
              </a:rPr>
              <a:t>...</a:t>
            </a:r>
            <a:r>
              <a:rPr sz="2400" b="0" baseline="5208" dirty="0">
                <a:latin typeface="Arial Narrow"/>
                <a:cs typeface="Arial Narrow"/>
              </a:rPr>
              <a:t>	</a:t>
            </a:r>
            <a:r>
              <a:rPr sz="2400" spc="-7" baseline="24305" dirty="0"/>
              <a:t>Level</a:t>
            </a:r>
            <a:endParaRPr sz="2400" baseline="24305">
              <a:latin typeface="Arial Narrow"/>
              <a:cs typeface="Arial Narrow"/>
            </a:endParaRPr>
          </a:p>
          <a:p>
            <a:pPr marR="67945" algn="ctr">
              <a:lnSpc>
                <a:spcPts val="1814"/>
              </a:lnSpc>
            </a:pPr>
            <a:r>
              <a:rPr b="0" spc="-5" dirty="0">
                <a:latin typeface="Arial Narrow"/>
                <a:cs typeface="Arial Narrow"/>
              </a:rPr>
              <a:t>Jose</a:t>
            </a:r>
          </a:p>
          <a:p>
            <a:pPr algn="ctr">
              <a:lnSpc>
                <a:spcPts val="1450"/>
              </a:lnSpc>
              <a:spcBef>
                <a:spcPts val="330"/>
              </a:spcBef>
              <a:tabLst>
                <a:tab pos="2514600" algn="l"/>
              </a:tabLst>
            </a:pPr>
            <a:r>
              <a:rPr b="0" spc="-5" dirty="0">
                <a:latin typeface="Arial Narrow"/>
                <a:cs typeface="Arial Narrow"/>
              </a:rPr>
              <a:t>Aaron	Jose</a:t>
            </a:r>
          </a:p>
          <a:p>
            <a:pPr marL="1766570">
              <a:lnSpc>
                <a:spcPts val="1689"/>
              </a:lnSpc>
            </a:pPr>
            <a:r>
              <a:rPr sz="1800" b="0" spc="-170" dirty="0">
                <a:latin typeface="Lucida Sans Typewriter"/>
                <a:cs typeface="Lucida Sans Typewriter"/>
              </a:rPr>
              <a:t>SELEC</a:t>
            </a:r>
            <a:r>
              <a:rPr sz="2400" b="0" spc="-254" baseline="-24305" dirty="0">
                <a:latin typeface="Arial Narrow"/>
                <a:cs typeface="Arial Narrow"/>
              </a:rPr>
              <a:t>D</a:t>
            </a:r>
            <a:r>
              <a:rPr sz="1800" b="0" spc="-170" dirty="0">
                <a:latin typeface="Lucida Sans Typewriter"/>
                <a:cs typeface="Lucida Sans Typewriter"/>
              </a:rPr>
              <a:t>T</a:t>
            </a:r>
            <a:r>
              <a:rPr sz="2400" b="0" spc="-254" baseline="-24305" dirty="0">
                <a:latin typeface="Arial Narrow"/>
                <a:cs typeface="Arial Narrow"/>
              </a:rPr>
              <a:t>ea</a:t>
            </a:r>
            <a:r>
              <a:rPr sz="1800" b="0" spc="-170" dirty="0">
                <a:latin typeface="Lucida Sans Typewriter"/>
                <a:cs typeface="Lucida Sans Typewriter"/>
              </a:rPr>
              <a:t>l</a:t>
            </a:r>
            <a:r>
              <a:rPr sz="2400" b="0" spc="-254" baseline="-24305" dirty="0">
                <a:latin typeface="Arial Narrow"/>
                <a:cs typeface="Arial Narrow"/>
              </a:rPr>
              <a:t>nn</a:t>
            </a:r>
            <a:r>
              <a:rPr sz="1800" b="0" spc="-170" dirty="0">
                <a:latin typeface="Lucida Sans Typewriter"/>
                <a:cs typeface="Lucida Sans Typewriter"/>
              </a:rPr>
              <a:t>a</a:t>
            </a:r>
            <a:r>
              <a:rPr sz="2400" b="0" spc="-254" baseline="-24305" dirty="0">
                <a:latin typeface="Arial Narrow"/>
                <a:cs typeface="Arial Narrow"/>
              </a:rPr>
              <a:t>a</a:t>
            </a:r>
            <a:r>
              <a:rPr sz="1800" b="0" spc="-170" dirty="0">
                <a:latin typeface="Lucida Sans Typewriter"/>
                <a:cs typeface="Lucida Sans Typewriter"/>
              </a:rPr>
              <a:t>stname, </a:t>
            </a:r>
            <a:r>
              <a:rPr sz="1800" b="0" spc="-195" dirty="0">
                <a:latin typeface="Lucida Sans Typewriter"/>
                <a:cs typeface="Lucida Sans Typewriter"/>
              </a:rPr>
              <a:t>firstna</a:t>
            </a:r>
            <a:r>
              <a:rPr sz="2400" b="0" spc="-292" baseline="-24305" dirty="0">
                <a:latin typeface="Arial Narrow"/>
                <a:cs typeface="Arial Narrow"/>
              </a:rPr>
              <a:t>Ni</a:t>
            </a:r>
            <a:r>
              <a:rPr sz="1800" b="0" spc="-195" dirty="0">
                <a:latin typeface="Lucida Sans Typewriter"/>
                <a:cs typeface="Lucida Sans Typewriter"/>
              </a:rPr>
              <a:t>m</a:t>
            </a:r>
            <a:r>
              <a:rPr sz="2400" b="0" spc="-292" baseline="-24305" dirty="0">
                <a:latin typeface="Arial Narrow"/>
                <a:cs typeface="Arial Narrow"/>
              </a:rPr>
              <a:t>na</a:t>
            </a:r>
            <a:r>
              <a:rPr sz="1800" b="0" spc="-195" dirty="0">
                <a:latin typeface="Lucida Sans Typewriter"/>
                <a:cs typeface="Lucida Sans Typewriter"/>
              </a:rPr>
              <a:t>e,</a:t>
            </a:r>
            <a:r>
              <a:rPr sz="1800" b="0" spc="160" dirty="0">
                <a:latin typeface="Lucida Sans Typewriter"/>
                <a:cs typeface="Lucida Sans Typewriter"/>
              </a:rPr>
              <a:t> </a:t>
            </a:r>
            <a:r>
              <a:rPr sz="1800" b="0" dirty="0">
                <a:latin typeface="Lucida Sans Typewriter"/>
                <a:cs typeface="Lucida Sans Typewriter"/>
              </a:rPr>
              <a:t>phone</a:t>
            </a:r>
            <a:endParaRPr sz="1800">
              <a:latin typeface="Lucida Sans Typewriter"/>
              <a:cs typeface="Lucida Sans Typewriter"/>
            </a:endParaRPr>
          </a:p>
          <a:p>
            <a:pPr marL="1766570">
              <a:lnSpc>
                <a:spcPct val="100000"/>
              </a:lnSpc>
              <a:tabLst>
                <a:tab pos="4952365" algn="l"/>
              </a:tabLst>
            </a:pPr>
            <a:r>
              <a:rPr sz="1800" b="0" dirty="0">
                <a:latin typeface="Lucida Sans Typewriter"/>
                <a:cs typeface="Lucida Sans Typewriter"/>
              </a:rPr>
              <a:t>FROM</a:t>
            </a:r>
            <a:r>
              <a:rPr sz="1800" b="0" spc="-135" dirty="0">
                <a:latin typeface="Lucida Sans Typewriter"/>
                <a:cs typeface="Lucida Sans Typewriter"/>
              </a:rPr>
              <a:t> </a:t>
            </a:r>
            <a:r>
              <a:rPr sz="2400" b="0" spc="-254" baseline="-13888" dirty="0">
                <a:latin typeface="Arial Narrow"/>
                <a:cs typeface="Arial Narrow"/>
              </a:rPr>
              <a:t>…</a:t>
            </a:r>
            <a:r>
              <a:rPr sz="1800" b="0" spc="-170" dirty="0">
                <a:latin typeface="Lucida Sans Typewriter"/>
                <a:cs typeface="Lucida Sans Typewriter"/>
              </a:rPr>
              <a:t>member	</a:t>
            </a:r>
            <a:r>
              <a:rPr sz="2400" b="0" spc="-7" baseline="-13888" dirty="0">
                <a:latin typeface="Arial Narrow"/>
                <a:cs typeface="Arial Narrow"/>
              </a:rPr>
              <a:t>…</a:t>
            </a:r>
            <a:endParaRPr sz="2400" baseline="-13888">
              <a:latin typeface="Arial Narrow"/>
              <a:cs typeface="Arial Narrow"/>
            </a:endParaRPr>
          </a:p>
          <a:p>
            <a:pPr marL="1766570">
              <a:lnSpc>
                <a:spcPts val="1830"/>
              </a:lnSpc>
            </a:pPr>
            <a:r>
              <a:rPr sz="1800" b="0" dirty="0">
                <a:latin typeface="Lucida Sans Typewriter"/>
                <a:cs typeface="Lucida Sans Typewriter"/>
              </a:rPr>
              <a:t>WHERE firstname =</a:t>
            </a:r>
            <a:r>
              <a:rPr sz="1800" b="0" spc="-100" dirty="0">
                <a:latin typeface="Lucida Sans Typewriter"/>
                <a:cs typeface="Lucida Sans Typewriter"/>
              </a:rPr>
              <a:t> </a:t>
            </a:r>
            <a:r>
              <a:rPr sz="1800" b="0" dirty="0">
                <a:latin typeface="Lucida Sans Typewriter"/>
                <a:cs typeface="Lucida Sans Typewriter"/>
              </a:rPr>
              <a:t>'Mike'</a:t>
            </a:r>
            <a:endParaRPr sz="1800">
              <a:latin typeface="Lucida Sans Typewriter"/>
              <a:cs typeface="Lucida Sans Typewriter"/>
            </a:endParaRPr>
          </a:p>
          <a:p>
            <a:pPr marL="1523365">
              <a:lnSpc>
                <a:spcPts val="1530"/>
              </a:lnSpc>
              <a:tabLst>
                <a:tab pos="2285365" algn="l"/>
                <a:tab pos="3352165" algn="l"/>
                <a:tab pos="4114165" algn="l"/>
                <a:tab pos="5180965" algn="l"/>
                <a:tab pos="5942965" algn="l"/>
                <a:tab pos="6747509" algn="l"/>
              </a:tabLst>
            </a:pPr>
            <a:r>
              <a:rPr b="0" spc="-5" dirty="0">
                <a:latin typeface="Arial Narrow"/>
                <a:cs typeface="Arial Narrow"/>
              </a:rPr>
              <a:t>Aaron	Con	Deanna	Daum	Jose	Lugo	</a:t>
            </a:r>
            <a:r>
              <a:rPr sz="2400" spc="-7" baseline="6944" dirty="0"/>
              <a:t>Leaf</a:t>
            </a:r>
            <a:r>
              <a:rPr sz="2400" spc="-120" baseline="6944" dirty="0"/>
              <a:t> </a:t>
            </a:r>
            <a:r>
              <a:rPr sz="2400" spc="-7" baseline="6944" dirty="0"/>
              <a:t>Level</a:t>
            </a:r>
            <a:endParaRPr sz="2400" baseline="6944">
              <a:latin typeface="Arial Narrow"/>
              <a:cs typeface="Arial Narrow"/>
            </a:endParaRPr>
          </a:p>
          <a:p>
            <a:pPr marL="1523365">
              <a:lnSpc>
                <a:spcPts val="1800"/>
              </a:lnSpc>
              <a:tabLst>
                <a:tab pos="2285365" algn="l"/>
                <a:tab pos="3352165" algn="l"/>
                <a:tab pos="4114165" algn="l"/>
                <a:tab pos="5180965" algn="l"/>
                <a:tab pos="5942965" algn="l"/>
                <a:tab pos="6920865" algn="l"/>
              </a:tabLst>
            </a:pPr>
            <a:r>
              <a:rPr b="0" spc="-5" dirty="0">
                <a:latin typeface="Arial Narrow"/>
                <a:cs typeface="Arial Narrow"/>
              </a:rPr>
              <a:t>Adam	Ba</a:t>
            </a:r>
            <a:r>
              <a:rPr b="0" spc="-10" dirty="0">
                <a:latin typeface="Arial Narrow"/>
                <a:cs typeface="Arial Narrow"/>
              </a:rPr>
              <a:t>r</a:t>
            </a:r>
            <a:r>
              <a:rPr b="0" spc="-5" dirty="0">
                <a:latin typeface="Arial Narrow"/>
                <a:cs typeface="Arial Narrow"/>
              </a:rPr>
              <a:t>r</a:t>
            </a:r>
            <a:r>
              <a:rPr b="0" dirty="0">
                <a:latin typeface="Arial Narrow"/>
                <a:cs typeface="Arial Narrow"/>
              </a:rPr>
              <a:t>	</a:t>
            </a:r>
            <a:r>
              <a:rPr b="0" spc="-5" dirty="0">
                <a:latin typeface="Arial Narrow"/>
                <a:cs typeface="Arial Narrow"/>
              </a:rPr>
              <a:t>Don</a:t>
            </a:r>
            <a:r>
              <a:rPr b="0" dirty="0">
                <a:latin typeface="Arial Narrow"/>
                <a:cs typeface="Arial Narrow"/>
              </a:rPr>
              <a:t>	</a:t>
            </a:r>
            <a:r>
              <a:rPr b="0" spc="-5" dirty="0">
                <a:latin typeface="Arial Narrow"/>
                <a:cs typeface="Arial Narrow"/>
              </a:rPr>
              <a:t>Ha</a:t>
            </a:r>
            <a:r>
              <a:rPr b="0" spc="-10" dirty="0">
                <a:latin typeface="Arial Narrow"/>
                <a:cs typeface="Arial Narrow"/>
              </a:rPr>
              <a:t>l</a:t>
            </a:r>
            <a:r>
              <a:rPr b="0" spc="-5" dirty="0">
                <a:latin typeface="Arial Narrow"/>
                <a:cs typeface="Arial Narrow"/>
              </a:rPr>
              <a:t>l</a:t>
            </a:r>
            <a:r>
              <a:rPr b="0" dirty="0">
                <a:latin typeface="Arial Narrow"/>
                <a:cs typeface="Arial Narrow"/>
              </a:rPr>
              <a:t>	</a:t>
            </a:r>
            <a:r>
              <a:rPr b="0" spc="-5" dirty="0">
                <a:latin typeface="Arial Narrow"/>
                <a:cs typeface="Arial Narrow"/>
              </a:rPr>
              <a:t>Judy</a:t>
            </a:r>
            <a:r>
              <a:rPr b="0" dirty="0">
                <a:latin typeface="Arial Narrow"/>
                <a:cs typeface="Arial Narrow"/>
              </a:rPr>
              <a:t>	</a:t>
            </a:r>
            <a:r>
              <a:rPr b="0" spc="-5" dirty="0">
                <a:latin typeface="Arial Narrow"/>
                <a:cs typeface="Arial Narrow"/>
              </a:rPr>
              <a:t>Kaeth</a:t>
            </a:r>
            <a:r>
              <a:rPr b="0" spc="-10" dirty="0">
                <a:latin typeface="Arial Narrow"/>
                <a:cs typeface="Arial Narrow"/>
              </a:rPr>
              <a:t>l</a:t>
            </a:r>
            <a:r>
              <a:rPr b="0" spc="-5" dirty="0">
                <a:latin typeface="Arial Narrow"/>
                <a:cs typeface="Arial Narrow"/>
              </a:rPr>
              <a:t>er</a:t>
            </a:r>
            <a:r>
              <a:rPr b="0" dirty="0">
                <a:latin typeface="Arial Narrow"/>
                <a:cs typeface="Arial Narrow"/>
              </a:rPr>
              <a:t>	</a:t>
            </a:r>
            <a:r>
              <a:rPr sz="2100" b="0" spc="-7" baseline="9920" dirty="0">
                <a:latin typeface="Arial"/>
                <a:cs typeface="Arial"/>
              </a:rPr>
              <a:t>(Clustere</a:t>
            </a:r>
            <a:r>
              <a:rPr sz="2100" b="0" baseline="9920" dirty="0">
                <a:latin typeface="Arial"/>
                <a:cs typeface="Arial"/>
              </a:rPr>
              <a:t>d</a:t>
            </a:r>
            <a:endParaRPr sz="2100" baseline="9920">
              <a:latin typeface="Arial"/>
              <a:cs typeface="Arial"/>
            </a:endParaRPr>
          </a:p>
          <a:p>
            <a:pPr marL="1523365">
              <a:lnSpc>
                <a:spcPts val="1800"/>
              </a:lnSpc>
              <a:tabLst>
                <a:tab pos="2285365" algn="l"/>
                <a:tab pos="3352165" algn="l"/>
                <a:tab pos="4114165" algn="l"/>
                <a:tab pos="5180965" algn="l"/>
                <a:tab pos="5942965" algn="l"/>
                <a:tab pos="6884034" algn="l"/>
              </a:tabLst>
            </a:pPr>
            <a:r>
              <a:rPr b="0" spc="-5" dirty="0">
                <a:latin typeface="Arial Narrow"/>
                <a:cs typeface="Arial Narrow"/>
              </a:rPr>
              <a:t>Amie	Baldwin	Doug	Hampton	Mike	Nash	</a:t>
            </a:r>
            <a:r>
              <a:rPr sz="2100" b="0" spc="-7" baseline="15873" dirty="0">
                <a:latin typeface="Arial"/>
                <a:cs typeface="Arial"/>
              </a:rPr>
              <a:t>Key</a:t>
            </a:r>
            <a:r>
              <a:rPr sz="2100" b="0" spc="-135" baseline="15873" dirty="0">
                <a:latin typeface="Arial"/>
                <a:cs typeface="Arial"/>
              </a:rPr>
              <a:t> </a:t>
            </a:r>
            <a:r>
              <a:rPr sz="2100" b="0" spc="-30" baseline="15873" dirty="0">
                <a:latin typeface="Arial"/>
                <a:cs typeface="Arial"/>
              </a:rPr>
              <a:t>Value)</a:t>
            </a:r>
            <a:endParaRPr sz="2100" baseline="15873">
              <a:latin typeface="Arial"/>
              <a:cs typeface="Arial"/>
            </a:endParaRPr>
          </a:p>
          <a:p>
            <a:pPr marL="1523365">
              <a:lnSpc>
                <a:spcPts val="1860"/>
              </a:lnSpc>
              <a:tabLst>
                <a:tab pos="2285365" algn="l"/>
                <a:tab pos="3352165" algn="l"/>
                <a:tab pos="4114165" algn="l"/>
                <a:tab pos="5180965" algn="l"/>
                <a:tab pos="5942965" algn="l"/>
              </a:tabLst>
            </a:pPr>
            <a:r>
              <a:rPr b="0" spc="-5" dirty="0">
                <a:latin typeface="Arial Narrow"/>
                <a:cs typeface="Arial Narrow"/>
              </a:rPr>
              <a:t>…	…	…	…	…	…</a:t>
            </a:r>
          </a:p>
        </p:txBody>
      </p:sp>
      <p:sp>
        <p:nvSpPr>
          <p:cNvPr id="118" name="object 118"/>
          <p:cNvSpPr/>
          <p:nvPr/>
        </p:nvSpPr>
        <p:spPr>
          <a:xfrm>
            <a:off x="533400" y="4495800"/>
            <a:ext cx="8077200" cy="18288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28637" y="4491037"/>
            <a:ext cx="8086725" cy="1838325"/>
          </a:xfrm>
          <a:custGeom>
            <a:avLst/>
            <a:gdLst/>
            <a:ahLst/>
            <a:cxnLst/>
            <a:rect l="l" t="t" r="r" b="b"/>
            <a:pathLst>
              <a:path w="8086725" h="1838325">
                <a:moveTo>
                  <a:pt x="8086725" y="1838325"/>
                </a:moveTo>
                <a:lnTo>
                  <a:pt x="0" y="18383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828800"/>
                </a:lnTo>
                <a:lnTo>
                  <a:pt x="4762" y="1828800"/>
                </a:lnTo>
                <a:lnTo>
                  <a:pt x="9525" y="1833562"/>
                </a:lnTo>
                <a:lnTo>
                  <a:pt x="8086725" y="1833562"/>
                </a:lnTo>
                <a:lnTo>
                  <a:pt x="8086725" y="1838325"/>
                </a:lnTo>
                <a:close/>
              </a:path>
              <a:path w="8086725" h="1838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18383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1838325">
                <a:moveTo>
                  <a:pt x="8077200" y="18335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1828800"/>
                </a:lnTo>
                <a:lnTo>
                  <a:pt x="8081962" y="1828800"/>
                </a:lnTo>
                <a:lnTo>
                  <a:pt x="8077200" y="1833562"/>
                </a:lnTo>
                <a:close/>
              </a:path>
              <a:path w="8086725" h="18383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1838325">
                <a:moveTo>
                  <a:pt x="9525" y="1833562"/>
                </a:moveTo>
                <a:lnTo>
                  <a:pt x="4762" y="1828800"/>
                </a:lnTo>
                <a:lnTo>
                  <a:pt x="9525" y="1828800"/>
                </a:lnTo>
                <a:lnTo>
                  <a:pt x="9525" y="1833562"/>
                </a:lnTo>
                <a:close/>
              </a:path>
              <a:path w="8086725" h="1838325">
                <a:moveTo>
                  <a:pt x="8077200" y="1833562"/>
                </a:moveTo>
                <a:lnTo>
                  <a:pt x="9525" y="1833562"/>
                </a:lnTo>
                <a:lnTo>
                  <a:pt x="9525" y="1828800"/>
                </a:lnTo>
                <a:lnTo>
                  <a:pt x="8077200" y="1828800"/>
                </a:lnTo>
                <a:lnTo>
                  <a:pt x="8077200" y="1833562"/>
                </a:lnTo>
                <a:close/>
              </a:path>
              <a:path w="8086725" h="1838325">
                <a:moveTo>
                  <a:pt x="8086725" y="1833562"/>
                </a:moveTo>
                <a:lnTo>
                  <a:pt x="8077200" y="1833562"/>
                </a:lnTo>
                <a:lnTo>
                  <a:pt x="8081962" y="1828800"/>
                </a:lnTo>
                <a:lnTo>
                  <a:pt x="8086725" y="1828800"/>
                </a:lnTo>
                <a:lnTo>
                  <a:pt x="8086725" y="1833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33400" y="1295400"/>
            <a:ext cx="8077200" cy="2971800"/>
          </a:xfrm>
          <a:custGeom>
            <a:avLst/>
            <a:gdLst/>
            <a:ahLst/>
            <a:cxnLst/>
            <a:rect l="l" t="t" r="r" b="b"/>
            <a:pathLst>
              <a:path w="8077200" h="2971800">
                <a:moveTo>
                  <a:pt x="0" y="0"/>
                </a:moveTo>
                <a:lnTo>
                  <a:pt x="8077200" y="0"/>
                </a:lnTo>
                <a:lnTo>
                  <a:pt x="80772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28637" y="1290637"/>
            <a:ext cx="8086725" cy="2981325"/>
          </a:xfrm>
          <a:custGeom>
            <a:avLst/>
            <a:gdLst/>
            <a:ahLst/>
            <a:cxnLst/>
            <a:rect l="l" t="t" r="r" b="b"/>
            <a:pathLst>
              <a:path w="8086725" h="2981325">
                <a:moveTo>
                  <a:pt x="8086725" y="2981325"/>
                </a:moveTo>
                <a:lnTo>
                  <a:pt x="0" y="2981325"/>
                </a:lnTo>
                <a:lnTo>
                  <a:pt x="0" y="0"/>
                </a:lnTo>
                <a:lnTo>
                  <a:pt x="8086725" y="0"/>
                </a:lnTo>
                <a:lnTo>
                  <a:pt x="8086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971800"/>
                </a:lnTo>
                <a:lnTo>
                  <a:pt x="4762" y="2971800"/>
                </a:lnTo>
                <a:lnTo>
                  <a:pt x="9525" y="2976562"/>
                </a:lnTo>
                <a:lnTo>
                  <a:pt x="8086725" y="2976562"/>
                </a:lnTo>
                <a:lnTo>
                  <a:pt x="8086725" y="2981325"/>
                </a:lnTo>
                <a:close/>
              </a:path>
              <a:path w="8086725" h="2981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86725" h="2981325">
                <a:moveTo>
                  <a:pt x="8077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8077200" y="4762"/>
                </a:lnTo>
                <a:lnTo>
                  <a:pt x="8077200" y="9525"/>
                </a:lnTo>
                <a:close/>
              </a:path>
              <a:path w="8086725" h="2981325">
                <a:moveTo>
                  <a:pt x="8077200" y="2976562"/>
                </a:moveTo>
                <a:lnTo>
                  <a:pt x="8077200" y="4762"/>
                </a:lnTo>
                <a:lnTo>
                  <a:pt x="8081962" y="9525"/>
                </a:lnTo>
                <a:lnTo>
                  <a:pt x="8086725" y="9525"/>
                </a:lnTo>
                <a:lnTo>
                  <a:pt x="8086725" y="2971800"/>
                </a:lnTo>
                <a:lnTo>
                  <a:pt x="8081962" y="2971800"/>
                </a:lnTo>
                <a:lnTo>
                  <a:pt x="8077200" y="2976562"/>
                </a:lnTo>
                <a:close/>
              </a:path>
              <a:path w="8086725" h="2981325">
                <a:moveTo>
                  <a:pt x="8086725" y="9525"/>
                </a:moveTo>
                <a:lnTo>
                  <a:pt x="8081962" y="9525"/>
                </a:lnTo>
                <a:lnTo>
                  <a:pt x="8077200" y="4762"/>
                </a:lnTo>
                <a:lnTo>
                  <a:pt x="8086725" y="4762"/>
                </a:lnTo>
                <a:lnTo>
                  <a:pt x="8086725" y="9525"/>
                </a:lnTo>
                <a:close/>
              </a:path>
              <a:path w="8086725" h="2981325">
                <a:moveTo>
                  <a:pt x="9525" y="2976562"/>
                </a:moveTo>
                <a:lnTo>
                  <a:pt x="4762" y="2971800"/>
                </a:lnTo>
                <a:lnTo>
                  <a:pt x="9525" y="2971800"/>
                </a:lnTo>
                <a:lnTo>
                  <a:pt x="9525" y="2976562"/>
                </a:lnTo>
                <a:close/>
              </a:path>
              <a:path w="8086725" h="2981325">
                <a:moveTo>
                  <a:pt x="8077200" y="2976562"/>
                </a:moveTo>
                <a:lnTo>
                  <a:pt x="9525" y="2976562"/>
                </a:lnTo>
                <a:lnTo>
                  <a:pt x="9525" y="2971800"/>
                </a:lnTo>
                <a:lnTo>
                  <a:pt x="8077200" y="2971800"/>
                </a:lnTo>
                <a:lnTo>
                  <a:pt x="8077200" y="2976562"/>
                </a:lnTo>
                <a:close/>
              </a:path>
              <a:path w="8086725" h="2981325">
                <a:moveTo>
                  <a:pt x="8086725" y="2976562"/>
                </a:moveTo>
                <a:lnTo>
                  <a:pt x="8077200" y="2976562"/>
                </a:lnTo>
                <a:lnTo>
                  <a:pt x="8081962" y="2971800"/>
                </a:lnTo>
                <a:lnTo>
                  <a:pt x="8086725" y="2971800"/>
                </a:lnTo>
                <a:lnTo>
                  <a:pt x="8086725" y="2976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612140" y="1318894"/>
            <a:ext cx="1323340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Nonclustered  Index on  First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981200" y="1447800"/>
            <a:ext cx="6477000" cy="152400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976437" y="1443037"/>
            <a:ext cx="6486525" cy="1533525"/>
          </a:xfrm>
          <a:custGeom>
            <a:avLst/>
            <a:gdLst/>
            <a:ahLst/>
            <a:cxnLst/>
            <a:rect l="l" t="t" r="r" b="b"/>
            <a:pathLst>
              <a:path w="6486525" h="1533525">
                <a:moveTo>
                  <a:pt x="64865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6486525" y="0"/>
                </a:lnTo>
                <a:lnTo>
                  <a:pt x="648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6486525" y="1528762"/>
                </a:lnTo>
                <a:lnTo>
                  <a:pt x="6486525" y="1533525"/>
                </a:lnTo>
                <a:close/>
              </a:path>
              <a:path w="64865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86525" h="1533525">
                <a:moveTo>
                  <a:pt x="647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77000" y="4762"/>
                </a:lnTo>
                <a:lnTo>
                  <a:pt x="6477000" y="9525"/>
                </a:lnTo>
                <a:close/>
              </a:path>
              <a:path w="6486525" h="1533525">
                <a:moveTo>
                  <a:pt x="6477000" y="1528762"/>
                </a:moveTo>
                <a:lnTo>
                  <a:pt x="6477000" y="4762"/>
                </a:lnTo>
                <a:lnTo>
                  <a:pt x="6481762" y="9525"/>
                </a:lnTo>
                <a:lnTo>
                  <a:pt x="6486525" y="9525"/>
                </a:lnTo>
                <a:lnTo>
                  <a:pt x="6486525" y="1524000"/>
                </a:lnTo>
                <a:lnTo>
                  <a:pt x="6481762" y="1524000"/>
                </a:lnTo>
                <a:lnTo>
                  <a:pt x="6477000" y="1528762"/>
                </a:lnTo>
                <a:close/>
              </a:path>
              <a:path w="6486525" h="1533525">
                <a:moveTo>
                  <a:pt x="6486525" y="9525"/>
                </a:moveTo>
                <a:lnTo>
                  <a:pt x="6481762" y="9525"/>
                </a:lnTo>
                <a:lnTo>
                  <a:pt x="6477000" y="4762"/>
                </a:lnTo>
                <a:lnTo>
                  <a:pt x="6486525" y="4762"/>
                </a:lnTo>
                <a:lnTo>
                  <a:pt x="6486525" y="9525"/>
                </a:lnTo>
                <a:close/>
              </a:path>
              <a:path w="64865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6486525" h="1533525">
                <a:moveTo>
                  <a:pt x="64770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6477000" y="1524000"/>
                </a:lnTo>
                <a:lnTo>
                  <a:pt x="6477000" y="1528762"/>
                </a:lnTo>
                <a:close/>
              </a:path>
              <a:path w="6486525" h="1533525">
                <a:moveTo>
                  <a:pt x="6486525" y="1528762"/>
                </a:moveTo>
                <a:lnTo>
                  <a:pt x="6477000" y="1528762"/>
                </a:lnTo>
                <a:lnTo>
                  <a:pt x="6481762" y="1524000"/>
                </a:lnTo>
                <a:lnTo>
                  <a:pt x="6486525" y="1524000"/>
                </a:lnTo>
                <a:lnTo>
                  <a:pt x="6486525" y="1528762"/>
                </a:lnTo>
                <a:close/>
              </a:path>
            </a:pathLst>
          </a:custGeom>
          <a:solidFill>
            <a:srgbClr val="CC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7473950" y="1471294"/>
            <a:ext cx="9055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Non-Leaf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Level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1981200" y="3124200"/>
            <a:ext cx="6477000" cy="9144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1976437" y="3119437"/>
            <a:ext cx="6486525" cy="923925"/>
          </a:xfrm>
          <a:custGeom>
            <a:avLst/>
            <a:gdLst/>
            <a:ahLst/>
            <a:cxnLst/>
            <a:rect l="l" t="t" r="r" b="b"/>
            <a:pathLst>
              <a:path w="6486525" h="923925">
                <a:moveTo>
                  <a:pt x="6486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6486525" y="0"/>
                </a:lnTo>
                <a:lnTo>
                  <a:pt x="648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6486525" y="919162"/>
                </a:lnTo>
                <a:lnTo>
                  <a:pt x="6486525" y="923925"/>
                </a:lnTo>
                <a:close/>
              </a:path>
              <a:path w="6486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486525" h="923925">
                <a:moveTo>
                  <a:pt x="647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477000" y="4762"/>
                </a:lnTo>
                <a:lnTo>
                  <a:pt x="6477000" y="9525"/>
                </a:lnTo>
                <a:close/>
              </a:path>
              <a:path w="6486525" h="923925">
                <a:moveTo>
                  <a:pt x="6477000" y="919162"/>
                </a:moveTo>
                <a:lnTo>
                  <a:pt x="6477000" y="4762"/>
                </a:lnTo>
                <a:lnTo>
                  <a:pt x="6481762" y="9525"/>
                </a:lnTo>
                <a:lnTo>
                  <a:pt x="6486525" y="9525"/>
                </a:lnTo>
                <a:lnTo>
                  <a:pt x="6486525" y="914400"/>
                </a:lnTo>
                <a:lnTo>
                  <a:pt x="6481762" y="914400"/>
                </a:lnTo>
                <a:lnTo>
                  <a:pt x="6477000" y="919162"/>
                </a:lnTo>
                <a:close/>
              </a:path>
              <a:path w="6486525" h="923925">
                <a:moveTo>
                  <a:pt x="6486525" y="9525"/>
                </a:moveTo>
                <a:lnTo>
                  <a:pt x="6481762" y="9525"/>
                </a:lnTo>
                <a:lnTo>
                  <a:pt x="6477000" y="4762"/>
                </a:lnTo>
                <a:lnTo>
                  <a:pt x="6486525" y="4762"/>
                </a:lnTo>
                <a:lnTo>
                  <a:pt x="6486525" y="9525"/>
                </a:lnTo>
                <a:close/>
              </a:path>
              <a:path w="6486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6486525" h="923925">
                <a:moveTo>
                  <a:pt x="6477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6477000" y="914400"/>
                </a:lnTo>
                <a:lnTo>
                  <a:pt x="6477000" y="919162"/>
                </a:lnTo>
                <a:close/>
              </a:path>
              <a:path w="6486525" h="923925">
                <a:moveTo>
                  <a:pt x="6486525" y="919162"/>
                </a:moveTo>
                <a:lnTo>
                  <a:pt x="6477000" y="919162"/>
                </a:lnTo>
                <a:lnTo>
                  <a:pt x="6481762" y="914400"/>
                </a:lnTo>
                <a:lnTo>
                  <a:pt x="6486525" y="914400"/>
                </a:lnTo>
                <a:lnTo>
                  <a:pt x="6486525" y="919162"/>
                </a:lnTo>
                <a:close/>
              </a:path>
            </a:pathLst>
          </a:custGeom>
          <a:solidFill>
            <a:srgbClr val="66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7360284" y="3147694"/>
            <a:ext cx="1019810" cy="6972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9225" marR="5080" indent="-136525" algn="just">
              <a:lnSpc>
                <a:spcPct val="100299"/>
              </a:lnSpc>
              <a:spcBef>
                <a:spcPts val="90"/>
              </a:spcBef>
            </a:pPr>
            <a:r>
              <a:rPr sz="1600" b="1" spc="-5" dirty="0">
                <a:latin typeface="Arial"/>
                <a:cs typeface="Arial"/>
              </a:rPr>
              <a:t>Leaf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Level  </a:t>
            </a:r>
            <a:r>
              <a:rPr sz="1400" spc="-5" dirty="0">
                <a:latin typeface="Arial"/>
                <a:cs typeface="Arial"/>
              </a:rPr>
              <a:t>(Clustered  Key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Value)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2951797" y="2312035"/>
            <a:ext cx="1132205" cy="3051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951797" y="2551747"/>
            <a:ext cx="1132205" cy="3019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951797" y="2788285"/>
            <a:ext cx="1132205" cy="3051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3050539" y="2309812"/>
            <a:ext cx="608965" cy="74485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0"/>
              </a:spcBef>
            </a:pPr>
            <a:r>
              <a:rPr sz="1600" spc="-5" dirty="0">
                <a:latin typeface="Arial Narrow"/>
                <a:cs typeface="Arial Narrow"/>
              </a:rPr>
              <a:t>Aaron  Deanna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14"/>
              </a:lnSpc>
            </a:pP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2967037" y="2327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447097" y="1646872"/>
            <a:ext cx="860742" cy="7559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4170997" y="1550035"/>
            <a:ext cx="1132205" cy="3051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4170997" y="1789747"/>
            <a:ext cx="1132205" cy="3019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4170997" y="2026285"/>
            <a:ext cx="1132205" cy="3051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3808729" y="940752"/>
            <a:ext cx="1795780" cy="1351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234" algn="l"/>
                <a:tab pos="1495425" algn="l"/>
              </a:tabLst>
            </a:pP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nd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d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=</a:t>
            </a:r>
            <a:r>
              <a:rPr sz="1600" dirty="0">
                <a:latin typeface="Arial Narrow"/>
                <a:cs typeface="Arial Narrow"/>
              </a:rPr>
              <a:t> </a:t>
            </a:r>
            <a:r>
              <a:rPr sz="1600" spc="-5" dirty="0">
                <a:latin typeface="Arial Narrow"/>
                <a:cs typeface="Arial Narrow"/>
              </a:rPr>
              <a:t>2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0" dirty="0">
                <a:latin typeface="Arial Narrow"/>
                <a:cs typeface="Arial Narrow"/>
              </a:rPr>
              <a:t>r</a:t>
            </a:r>
            <a:r>
              <a:rPr sz="1600" spc="-5" dirty="0">
                <a:latin typeface="Arial Narrow"/>
                <a:cs typeface="Arial Narrow"/>
              </a:rPr>
              <a:t>oot</a:t>
            </a:r>
            <a:endParaRPr sz="16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450">
              <a:latin typeface="Arial Narrow"/>
              <a:cs typeface="Arial Narrow"/>
            </a:endParaRPr>
          </a:p>
          <a:p>
            <a:pPr marL="473709">
              <a:lnSpc>
                <a:spcPts val="1900"/>
              </a:lnSpc>
            </a:pPr>
            <a:r>
              <a:rPr sz="1600" spc="-5" dirty="0">
                <a:latin typeface="Arial Narrow"/>
                <a:cs typeface="Arial Narrow"/>
              </a:rPr>
              <a:t>Aaron</a:t>
            </a:r>
            <a:endParaRPr sz="1600">
              <a:latin typeface="Arial Narrow"/>
              <a:cs typeface="Arial Narrow"/>
            </a:endParaRPr>
          </a:p>
          <a:p>
            <a:pPr marL="473709">
              <a:lnSpc>
                <a:spcPts val="1875"/>
              </a:lnSpc>
            </a:pPr>
            <a:r>
              <a:rPr sz="1600" spc="-5" dirty="0">
                <a:latin typeface="Arial Narrow"/>
                <a:cs typeface="Arial Narrow"/>
              </a:rPr>
              <a:t>...</a:t>
            </a:r>
            <a:endParaRPr sz="1600">
              <a:latin typeface="Arial Narrow"/>
              <a:cs typeface="Arial Narrow"/>
            </a:endParaRPr>
          </a:p>
          <a:p>
            <a:pPr marL="473709">
              <a:lnSpc>
                <a:spcPts val="1895"/>
              </a:lnSpc>
            </a:pPr>
            <a:r>
              <a:rPr sz="1600" spc="-5" dirty="0">
                <a:latin typeface="Arial Narrow"/>
                <a:cs typeface="Arial Narrow"/>
              </a:rPr>
              <a:t>Jose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4186237" y="1565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5466397" y="2312035"/>
            <a:ext cx="1132205" cy="3051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5466397" y="2551747"/>
            <a:ext cx="1132205" cy="3019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5466397" y="2788285"/>
            <a:ext cx="1132205" cy="3051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5565140" y="2309812"/>
            <a:ext cx="377190" cy="74485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0"/>
              </a:spcBef>
            </a:pPr>
            <a:r>
              <a:rPr sz="1600" spc="-5" dirty="0">
                <a:latin typeface="Arial Narrow"/>
                <a:cs typeface="Arial Narrow"/>
              </a:rPr>
              <a:t>Jose  N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na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14"/>
              </a:lnSpc>
            </a:pP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5481637" y="2327275"/>
            <a:ext cx="1076325" cy="725805"/>
          </a:xfrm>
          <a:custGeom>
            <a:avLst/>
            <a:gdLst/>
            <a:ahLst/>
            <a:cxnLst/>
            <a:rect l="l" t="t" r="r" b="b"/>
            <a:pathLst>
              <a:path w="1076325" h="725805">
                <a:moveTo>
                  <a:pt x="1076325" y="725487"/>
                </a:moveTo>
                <a:lnTo>
                  <a:pt x="0" y="725487"/>
                </a:lnTo>
                <a:lnTo>
                  <a:pt x="0" y="0"/>
                </a:lnTo>
                <a:lnTo>
                  <a:pt x="1076325" y="0"/>
                </a:lnTo>
                <a:lnTo>
                  <a:pt x="1076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715962"/>
                </a:lnTo>
                <a:lnTo>
                  <a:pt x="4762" y="715962"/>
                </a:lnTo>
                <a:lnTo>
                  <a:pt x="9525" y="720725"/>
                </a:lnTo>
                <a:lnTo>
                  <a:pt x="1076325" y="720725"/>
                </a:lnTo>
                <a:lnTo>
                  <a:pt x="1076325" y="725487"/>
                </a:lnTo>
                <a:close/>
              </a:path>
              <a:path w="1076325" h="725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076325" h="725805">
                <a:moveTo>
                  <a:pt x="1066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066800" y="4762"/>
                </a:lnTo>
                <a:lnTo>
                  <a:pt x="1066800" y="95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1066800" y="4762"/>
                </a:lnTo>
                <a:lnTo>
                  <a:pt x="1071562" y="9525"/>
                </a:lnTo>
                <a:lnTo>
                  <a:pt x="1076325" y="9525"/>
                </a:lnTo>
                <a:lnTo>
                  <a:pt x="1076325" y="715962"/>
                </a:lnTo>
                <a:lnTo>
                  <a:pt x="1071562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9525"/>
                </a:moveTo>
                <a:lnTo>
                  <a:pt x="1071562" y="9525"/>
                </a:lnTo>
                <a:lnTo>
                  <a:pt x="1066800" y="4762"/>
                </a:lnTo>
                <a:lnTo>
                  <a:pt x="1076325" y="4762"/>
                </a:lnTo>
                <a:lnTo>
                  <a:pt x="1076325" y="9525"/>
                </a:lnTo>
                <a:close/>
              </a:path>
              <a:path w="1076325" h="725805">
                <a:moveTo>
                  <a:pt x="9525" y="720725"/>
                </a:moveTo>
                <a:lnTo>
                  <a:pt x="4762" y="715962"/>
                </a:lnTo>
                <a:lnTo>
                  <a:pt x="9525" y="715962"/>
                </a:lnTo>
                <a:lnTo>
                  <a:pt x="9525" y="720725"/>
                </a:lnTo>
                <a:close/>
              </a:path>
              <a:path w="1076325" h="725805">
                <a:moveTo>
                  <a:pt x="1066800" y="720725"/>
                </a:moveTo>
                <a:lnTo>
                  <a:pt x="9525" y="720725"/>
                </a:lnTo>
                <a:lnTo>
                  <a:pt x="9525" y="715962"/>
                </a:lnTo>
                <a:lnTo>
                  <a:pt x="1066800" y="715962"/>
                </a:lnTo>
                <a:lnTo>
                  <a:pt x="1066800" y="720725"/>
                </a:lnTo>
                <a:close/>
              </a:path>
              <a:path w="1076325" h="725805">
                <a:moveTo>
                  <a:pt x="1076325" y="720725"/>
                </a:moveTo>
                <a:lnTo>
                  <a:pt x="1066800" y="720725"/>
                </a:lnTo>
                <a:lnTo>
                  <a:pt x="1071562" y="715962"/>
                </a:lnTo>
                <a:lnTo>
                  <a:pt x="1076325" y="715962"/>
                </a:lnTo>
                <a:lnTo>
                  <a:pt x="1076325" y="720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8661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8661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8661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46281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46281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46281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8661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6281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3964940" y="3173094"/>
            <a:ext cx="1463675" cy="9544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236854">
              <a:lnSpc>
                <a:spcPts val="1800"/>
              </a:lnSpc>
              <a:spcBef>
                <a:spcPts val="254"/>
              </a:spcBef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Deanna	Daum  Don	Hall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70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Doug	Hampton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38814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20373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20373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0373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27993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27993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27993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20373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27993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 txBox="1"/>
          <p:nvPr/>
        </p:nvSpPr>
        <p:spPr>
          <a:xfrm>
            <a:off x="2136139" y="3173094"/>
            <a:ext cx="1370330" cy="954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60"/>
              </a:lnSpc>
              <a:spcBef>
                <a:spcPts val="95"/>
              </a:spcBef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Aaron	Con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Adam	Barr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A</a:t>
            </a:r>
            <a:r>
              <a:rPr sz="1600" dirty="0">
                <a:latin typeface="Arial Narrow"/>
                <a:cs typeface="Arial Narrow"/>
              </a:rPr>
              <a:t>m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e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Ba</a:t>
            </a:r>
            <a:r>
              <a:rPr sz="1600" spc="-10" dirty="0">
                <a:latin typeface="Arial Narrow"/>
                <a:cs typeface="Arial Narrow"/>
              </a:rPr>
              <a:t>l</a:t>
            </a:r>
            <a:r>
              <a:rPr sz="1600" spc="-5" dirty="0">
                <a:latin typeface="Arial Narrow"/>
                <a:cs typeface="Arial Narrow"/>
              </a:rPr>
              <a:t>dw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20526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5694997" y="3180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5694997" y="3408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5694997" y="3637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6456997" y="31803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456997" y="34089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6456997" y="36375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5694997" y="3866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6456997" y="3866197"/>
            <a:ext cx="903605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5793740" y="3173094"/>
            <a:ext cx="1408430" cy="954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60"/>
              </a:lnSpc>
              <a:spcBef>
                <a:spcPts val="95"/>
              </a:spcBef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Jose	Lugo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Judy	Kaethler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Mike	Nash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5710237" y="31956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1503997" y="54663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265997" y="54663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1503997" y="56949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1503997" y="59235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2265997" y="56949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265997" y="59235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1503997" y="6152197"/>
            <a:ext cx="827404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2265997" y="61521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3104197" y="54663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3104197" y="56949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3104197" y="59235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 txBox="1"/>
          <p:nvPr/>
        </p:nvSpPr>
        <p:spPr>
          <a:xfrm>
            <a:off x="624840" y="4519295"/>
            <a:ext cx="2769870" cy="189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3825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Clustered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Index  On Last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Name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990600">
              <a:lnSpc>
                <a:spcPts val="1860"/>
              </a:lnSpc>
              <a:spcBef>
                <a:spcPts val="1490"/>
              </a:spcBef>
              <a:tabLst>
                <a:tab pos="1751964" algn="l"/>
                <a:tab pos="2590165" algn="l"/>
              </a:tabLst>
            </a:pPr>
            <a:r>
              <a:rPr sz="1600" spc="-5" dirty="0">
                <a:latin typeface="Arial Narrow"/>
                <a:cs typeface="Arial Narrow"/>
              </a:rPr>
              <a:t>Ba</a:t>
            </a:r>
            <a:r>
              <a:rPr sz="1600" spc="-10" dirty="0">
                <a:latin typeface="Arial Narrow"/>
                <a:cs typeface="Arial Narrow"/>
              </a:rPr>
              <a:t>r</a:t>
            </a:r>
            <a:r>
              <a:rPr sz="1600" spc="-5" dirty="0">
                <a:latin typeface="Arial Narrow"/>
                <a:cs typeface="Arial Narrow"/>
              </a:rPr>
              <a:t>r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Adam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990600" marR="5080">
              <a:lnSpc>
                <a:spcPts val="1800"/>
              </a:lnSpc>
              <a:spcBef>
                <a:spcPts val="100"/>
              </a:spcBef>
              <a:tabLst>
                <a:tab pos="1751964" algn="l"/>
                <a:tab pos="2590165" algn="l"/>
              </a:tabLst>
            </a:pPr>
            <a:r>
              <a:rPr sz="1600" spc="-5" dirty="0">
                <a:latin typeface="Arial Narrow"/>
                <a:cs typeface="Arial Narrow"/>
              </a:rPr>
              <a:t>Cox	A</a:t>
            </a:r>
            <a:r>
              <a:rPr sz="1600" spc="-10" dirty="0">
                <a:latin typeface="Arial Narrow"/>
                <a:cs typeface="Arial Narrow"/>
              </a:rPr>
              <a:t>rl</a:t>
            </a:r>
            <a:r>
              <a:rPr sz="1600" spc="-5" dirty="0">
                <a:latin typeface="Arial Narrow"/>
                <a:cs typeface="Arial Narrow"/>
              </a:rPr>
              <a:t>ette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  Daum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Deanna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990600">
              <a:lnSpc>
                <a:spcPts val="1760"/>
              </a:lnSpc>
              <a:tabLst>
                <a:tab pos="1751964" algn="l"/>
              </a:tabLst>
            </a:pPr>
            <a:r>
              <a:rPr sz="1600" spc="-5" dirty="0">
                <a:latin typeface="Arial Narrow"/>
                <a:cs typeface="Arial Narrow"/>
              </a:rPr>
              <a:t>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3104197" y="61521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 txBox="1"/>
          <p:nvPr/>
        </p:nvSpPr>
        <p:spPr>
          <a:xfrm>
            <a:off x="3202939" y="6144895"/>
            <a:ext cx="1917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89" name="object 189"/>
          <p:cNvSpPr/>
          <p:nvPr/>
        </p:nvSpPr>
        <p:spPr>
          <a:xfrm>
            <a:off x="15192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3713797" y="54663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3713797" y="56949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3713797" y="59235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4475797" y="54663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4475797" y="56949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4475797" y="59235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713797" y="6152197"/>
            <a:ext cx="827405" cy="29749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4475797" y="6152197"/>
            <a:ext cx="903605" cy="29749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5313997" y="54663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5313997" y="56949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5313997" y="59235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5313997" y="6152197"/>
            <a:ext cx="370204" cy="29749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5412740" y="6144895"/>
            <a:ext cx="19177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03" name="object 203"/>
          <p:cNvSpPr/>
          <p:nvPr/>
        </p:nvSpPr>
        <p:spPr>
          <a:xfrm>
            <a:off x="37290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5923597" y="54663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5923597" y="56949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5923597" y="59235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6685597" y="54663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6685597" y="56949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6685597" y="59235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5923597" y="6152197"/>
            <a:ext cx="827405" cy="29749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6685597" y="6152197"/>
            <a:ext cx="903604" cy="29749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7523797" y="54663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7523797" y="56949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7523797" y="59235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7523797" y="6152197"/>
            <a:ext cx="370204" cy="2974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 txBox="1"/>
          <p:nvPr/>
        </p:nvSpPr>
        <p:spPr>
          <a:xfrm>
            <a:off x="6022340" y="5459095"/>
            <a:ext cx="1791970" cy="9544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4"/>
              </a:spcBef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Nagata	Susanne	…  Nash	</a:t>
            </a:r>
            <a:r>
              <a:rPr sz="1600" dirty="0">
                <a:latin typeface="Arial Narrow"/>
                <a:cs typeface="Arial Narrow"/>
              </a:rPr>
              <a:t>M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ke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700"/>
              </a:lnSpc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N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xon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155" dirty="0">
                <a:latin typeface="Arial Narrow"/>
                <a:cs typeface="Arial Narrow"/>
              </a:rPr>
              <a:t>T</a:t>
            </a:r>
            <a:r>
              <a:rPr sz="1600" spc="-5" dirty="0">
                <a:latin typeface="Arial Narrow"/>
                <a:cs typeface="Arial Narrow"/>
              </a:rPr>
              <a:t>oby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…	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17" name="object 217"/>
          <p:cNvSpPr/>
          <p:nvPr/>
        </p:nvSpPr>
        <p:spPr>
          <a:xfrm>
            <a:off x="5938837" y="5481637"/>
            <a:ext cx="1914525" cy="923925"/>
          </a:xfrm>
          <a:custGeom>
            <a:avLst/>
            <a:gdLst/>
            <a:ahLst/>
            <a:cxnLst/>
            <a:rect l="l" t="t" r="r" b="b"/>
            <a:pathLst>
              <a:path w="1914525" h="923925">
                <a:moveTo>
                  <a:pt x="19145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914525" y="0"/>
                </a:lnTo>
                <a:lnTo>
                  <a:pt x="1914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914525" y="919162"/>
                </a:lnTo>
                <a:lnTo>
                  <a:pt x="1914525" y="923925"/>
                </a:lnTo>
                <a:close/>
              </a:path>
              <a:path w="19145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14525" h="923925">
                <a:moveTo>
                  <a:pt x="1905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905000" y="4762"/>
                </a:lnTo>
                <a:lnTo>
                  <a:pt x="1905000" y="9525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1905000" y="4762"/>
                </a:lnTo>
                <a:lnTo>
                  <a:pt x="1909762" y="9525"/>
                </a:lnTo>
                <a:lnTo>
                  <a:pt x="1914525" y="9525"/>
                </a:lnTo>
                <a:lnTo>
                  <a:pt x="1914525" y="914400"/>
                </a:lnTo>
                <a:lnTo>
                  <a:pt x="1909762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525"/>
                </a:moveTo>
                <a:lnTo>
                  <a:pt x="1909762" y="9525"/>
                </a:lnTo>
                <a:lnTo>
                  <a:pt x="1905000" y="4762"/>
                </a:lnTo>
                <a:lnTo>
                  <a:pt x="1914525" y="4762"/>
                </a:lnTo>
                <a:lnTo>
                  <a:pt x="1914525" y="9525"/>
                </a:lnTo>
                <a:close/>
              </a:path>
              <a:path w="19145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914525" h="923925">
                <a:moveTo>
                  <a:pt x="19050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905000" y="914400"/>
                </a:lnTo>
                <a:lnTo>
                  <a:pt x="1905000" y="919162"/>
                </a:lnTo>
                <a:close/>
              </a:path>
              <a:path w="1914525" h="923925">
                <a:moveTo>
                  <a:pt x="1914525" y="919162"/>
                </a:moveTo>
                <a:lnTo>
                  <a:pt x="1905000" y="919162"/>
                </a:lnTo>
                <a:lnTo>
                  <a:pt x="1909762" y="914400"/>
                </a:lnTo>
                <a:lnTo>
                  <a:pt x="1914525" y="914400"/>
                </a:lnTo>
                <a:lnTo>
                  <a:pt x="19145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866197" y="43995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866197" y="46281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866197" y="48567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3866197" y="5085397"/>
            <a:ext cx="1665605" cy="2974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 txBox="1"/>
          <p:nvPr/>
        </p:nvSpPr>
        <p:spPr>
          <a:xfrm>
            <a:off x="3812540" y="4392295"/>
            <a:ext cx="1791970" cy="2021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65100" marR="1054735">
              <a:lnSpc>
                <a:spcPts val="1800"/>
              </a:lnSpc>
              <a:spcBef>
                <a:spcPts val="254"/>
              </a:spcBef>
            </a:pPr>
            <a:r>
              <a:rPr sz="1600" spc="-5" dirty="0">
                <a:latin typeface="Arial Narrow"/>
                <a:cs typeface="Arial Narrow"/>
              </a:rPr>
              <a:t>Barr  Kim  Nagata  O</a:t>
            </a:r>
            <a:r>
              <a:rPr sz="1600" spc="-10" dirty="0">
                <a:latin typeface="Arial Narrow"/>
                <a:cs typeface="Arial Narrow"/>
              </a:rPr>
              <a:t>’</a:t>
            </a:r>
            <a:r>
              <a:rPr sz="1600" dirty="0">
                <a:latin typeface="Arial Narrow"/>
                <a:cs typeface="Arial Narrow"/>
              </a:rPr>
              <a:t>M</a:t>
            </a:r>
            <a:r>
              <a:rPr sz="1600" spc="-5" dirty="0">
                <a:latin typeface="Arial Narrow"/>
                <a:cs typeface="Arial Narrow"/>
              </a:rPr>
              <a:t>e</a:t>
            </a:r>
            <a:r>
              <a:rPr sz="1600" spc="-10" dirty="0">
                <a:latin typeface="Arial Narrow"/>
                <a:cs typeface="Arial Narrow"/>
              </a:rPr>
              <a:t>li</a:t>
            </a:r>
            <a:r>
              <a:rPr sz="1600" spc="-5" dirty="0">
                <a:latin typeface="Arial Narrow"/>
                <a:cs typeface="Arial Narrow"/>
              </a:rPr>
              <a:t>a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spcBef>
                <a:spcPts val="1040"/>
              </a:spcBef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K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m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Shane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Koba</a:t>
            </a:r>
            <a:r>
              <a:rPr sz="1600" spc="-10" dirty="0">
                <a:latin typeface="Arial Narrow"/>
                <a:cs typeface="Arial Narrow"/>
              </a:rPr>
              <a:t>r</a:t>
            </a:r>
            <a:r>
              <a:rPr sz="1600" spc="-5" dirty="0">
                <a:latin typeface="Arial Narrow"/>
                <a:cs typeface="Arial Narrow"/>
              </a:rPr>
              <a:t>a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L</a:t>
            </a:r>
            <a:r>
              <a:rPr sz="1600" spc="-10" dirty="0">
                <a:latin typeface="Arial Narrow"/>
                <a:cs typeface="Arial Narrow"/>
              </a:rPr>
              <a:t>i</a:t>
            </a:r>
            <a:r>
              <a:rPr sz="1600" spc="-5" dirty="0">
                <a:latin typeface="Arial Narrow"/>
                <a:cs typeface="Arial Narrow"/>
              </a:rPr>
              <a:t>nda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00"/>
              </a:lnSpc>
              <a:tabLst>
                <a:tab pos="774065" algn="l"/>
                <a:tab pos="1612265" algn="l"/>
              </a:tabLst>
            </a:pPr>
            <a:r>
              <a:rPr sz="1600" spc="-5" dirty="0">
                <a:latin typeface="Arial Narrow"/>
                <a:cs typeface="Arial Narrow"/>
              </a:rPr>
              <a:t>LaB</a:t>
            </a:r>
            <a:r>
              <a:rPr sz="1600" spc="-10" dirty="0">
                <a:latin typeface="Arial Narrow"/>
                <a:cs typeface="Arial Narrow"/>
              </a:rPr>
              <a:t>ri</a:t>
            </a:r>
            <a:r>
              <a:rPr sz="1600" spc="-5" dirty="0">
                <a:latin typeface="Arial Narrow"/>
                <a:cs typeface="Arial Narrow"/>
              </a:rPr>
              <a:t>e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Ryan</a:t>
            </a:r>
            <a:r>
              <a:rPr sz="1600" dirty="0">
                <a:latin typeface="Arial Narrow"/>
                <a:cs typeface="Arial Narrow"/>
              </a:rPr>
              <a:t>	</a:t>
            </a:r>
            <a:r>
              <a:rPr sz="1600" spc="-5" dirty="0">
                <a:latin typeface="Arial Narrow"/>
                <a:cs typeface="Arial Narrow"/>
              </a:rPr>
              <a:t>…</a:t>
            </a:r>
            <a:endParaRPr sz="1600">
              <a:latin typeface="Arial Narrow"/>
              <a:cs typeface="Arial Narrow"/>
            </a:endParaRPr>
          </a:p>
          <a:p>
            <a:pPr marL="12700">
              <a:lnSpc>
                <a:spcPts val="1860"/>
              </a:lnSpc>
              <a:tabLst>
                <a:tab pos="774065" algn="l"/>
              </a:tabLst>
            </a:pPr>
            <a:r>
              <a:rPr sz="1600" spc="-5" dirty="0">
                <a:latin typeface="Arial Narrow"/>
                <a:cs typeface="Arial Narrow"/>
              </a:rPr>
              <a:t>…	…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23" name="object 223"/>
          <p:cNvSpPr/>
          <p:nvPr/>
        </p:nvSpPr>
        <p:spPr>
          <a:xfrm>
            <a:off x="3881437" y="4414837"/>
            <a:ext cx="1609725" cy="923925"/>
          </a:xfrm>
          <a:custGeom>
            <a:avLst/>
            <a:gdLst/>
            <a:ahLst/>
            <a:cxnLst/>
            <a:rect l="l" t="t" r="r" b="b"/>
            <a:pathLst>
              <a:path w="1609725" h="923925">
                <a:moveTo>
                  <a:pt x="1609725" y="923925"/>
                </a:moveTo>
                <a:lnTo>
                  <a:pt x="0" y="923925"/>
                </a:lnTo>
                <a:lnTo>
                  <a:pt x="0" y="0"/>
                </a:lnTo>
                <a:lnTo>
                  <a:pt x="1609725" y="0"/>
                </a:lnTo>
                <a:lnTo>
                  <a:pt x="1609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14400"/>
                </a:lnTo>
                <a:lnTo>
                  <a:pt x="4762" y="914400"/>
                </a:lnTo>
                <a:lnTo>
                  <a:pt x="9525" y="919162"/>
                </a:lnTo>
                <a:lnTo>
                  <a:pt x="1609725" y="919162"/>
                </a:lnTo>
                <a:lnTo>
                  <a:pt x="1609725" y="923925"/>
                </a:lnTo>
                <a:close/>
              </a:path>
              <a:path w="1609725" h="923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09725" h="923925">
                <a:moveTo>
                  <a:pt x="1600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600200" y="4762"/>
                </a:lnTo>
                <a:lnTo>
                  <a:pt x="1600200" y="9525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1600200" y="4762"/>
                </a:lnTo>
                <a:lnTo>
                  <a:pt x="1604962" y="9525"/>
                </a:lnTo>
                <a:lnTo>
                  <a:pt x="1609725" y="9525"/>
                </a:lnTo>
                <a:lnTo>
                  <a:pt x="1609725" y="914400"/>
                </a:lnTo>
                <a:lnTo>
                  <a:pt x="1604962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525"/>
                </a:moveTo>
                <a:lnTo>
                  <a:pt x="1604962" y="9525"/>
                </a:lnTo>
                <a:lnTo>
                  <a:pt x="1600200" y="4762"/>
                </a:lnTo>
                <a:lnTo>
                  <a:pt x="1609725" y="4762"/>
                </a:lnTo>
                <a:lnTo>
                  <a:pt x="1609725" y="9525"/>
                </a:lnTo>
                <a:close/>
              </a:path>
              <a:path w="1609725" h="923925">
                <a:moveTo>
                  <a:pt x="9525" y="919162"/>
                </a:moveTo>
                <a:lnTo>
                  <a:pt x="4762" y="914400"/>
                </a:lnTo>
                <a:lnTo>
                  <a:pt x="9525" y="914400"/>
                </a:lnTo>
                <a:lnTo>
                  <a:pt x="9525" y="919162"/>
                </a:lnTo>
                <a:close/>
              </a:path>
              <a:path w="1609725" h="923925">
                <a:moveTo>
                  <a:pt x="1600200" y="919162"/>
                </a:moveTo>
                <a:lnTo>
                  <a:pt x="9525" y="919162"/>
                </a:lnTo>
                <a:lnTo>
                  <a:pt x="9525" y="914400"/>
                </a:lnTo>
                <a:lnTo>
                  <a:pt x="1600200" y="914400"/>
                </a:lnTo>
                <a:lnTo>
                  <a:pt x="1600200" y="919162"/>
                </a:lnTo>
                <a:close/>
              </a:path>
              <a:path w="1609725" h="923925">
                <a:moveTo>
                  <a:pt x="1609725" y="919162"/>
                </a:moveTo>
                <a:lnTo>
                  <a:pt x="1600200" y="919162"/>
                </a:lnTo>
                <a:lnTo>
                  <a:pt x="1604962" y="914400"/>
                </a:lnTo>
                <a:lnTo>
                  <a:pt x="1609725" y="914400"/>
                </a:lnTo>
                <a:lnTo>
                  <a:pt x="1609725" y="919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2380297" y="2408872"/>
            <a:ext cx="632142" cy="83216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4023359" y="2637472"/>
            <a:ext cx="936942" cy="6035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6537959" y="2408872"/>
            <a:ext cx="403542" cy="83216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2151697" y="4542472"/>
            <a:ext cx="1775142" cy="90836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675697" y="4694872"/>
            <a:ext cx="251142" cy="83216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5471159" y="4999672"/>
            <a:ext cx="936942" cy="52736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5242559" y="2045335"/>
            <a:ext cx="936942" cy="37496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46513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52067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523849" y="6196088"/>
            <a:ext cx="266611" cy="15888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382460" y="357479"/>
                </a:moveTo>
                <a:lnTo>
                  <a:pt x="58712" y="357479"/>
                </a:lnTo>
                <a:lnTo>
                  <a:pt x="47612" y="355892"/>
                </a:lnTo>
                <a:lnTo>
                  <a:pt x="9525" y="330479"/>
                </a:lnTo>
                <a:lnTo>
                  <a:pt x="0" y="297103"/>
                </a:lnTo>
                <a:lnTo>
                  <a:pt x="0" y="58775"/>
                </a:lnTo>
                <a:lnTo>
                  <a:pt x="17449" y="17475"/>
                </a:lnTo>
                <a:lnTo>
                  <a:pt x="58712" y="0"/>
                </a:lnTo>
                <a:lnTo>
                  <a:pt x="382460" y="0"/>
                </a:lnTo>
                <a:lnTo>
                  <a:pt x="425310" y="17475"/>
                </a:lnTo>
                <a:lnTo>
                  <a:pt x="442760" y="58775"/>
                </a:lnTo>
                <a:lnTo>
                  <a:pt x="442760" y="297103"/>
                </a:lnTo>
                <a:lnTo>
                  <a:pt x="425310" y="340004"/>
                </a:lnTo>
                <a:lnTo>
                  <a:pt x="382460" y="357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963447" y="6111887"/>
            <a:ext cx="443230" cy="357505"/>
          </a:xfrm>
          <a:custGeom>
            <a:avLst/>
            <a:gdLst/>
            <a:ahLst/>
            <a:cxnLst/>
            <a:rect l="l" t="t" r="r" b="b"/>
            <a:pathLst>
              <a:path w="443230" h="357504">
                <a:moveTo>
                  <a:pt x="58712" y="0"/>
                </a:moveTo>
                <a:lnTo>
                  <a:pt x="17449" y="17475"/>
                </a:lnTo>
                <a:lnTo>
                  <a:pt x="0" y="58775"/>
                </a:lnTo>
                <a:lnTo>
                  <a:pt x="0" y="297103"/>
                </a:lnTo>
                <a:lnTo>
                  <a:pt x="17449" y="340004"/>
                </a:lnTo>
                <a:lnTo>
                  <a:pt x="58712" y="357479"/>
                </a:lnTo>
                <a:lnTo>
                  <a:pt x="382460" y="357479"/>
                </a:lnTo>
                <a:lnTo>
                  <a:pt x="425310" y="340004"/>
                </a:lnTo>
                <a:lnTo>
                  <a:pt x="442760" y="297103"/>
                </a:lnTo>
                <a:lnTo>
                  <a:pt x="442760" y="58775"/>
                </a:lnTo>
                <a:lnTo>
                  <a:pt x="425310" y="17475"/>
                </a:lnTo>
                <a:lnTo>
                  <a:pt x="382460" y="0"/>
                </a:lnTo>
                <a:lnTo>
                  <a:pt x="5871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solidFill>
            <a:srgbClr val="C0FD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018984" y="6194501"/>
            <a:ext cx="333375" cy="194310"/>
          </a:xfrm>
          <a:custGeom>
            <a:avLst/>
            <a:gdLst/>
            <a:ahLst/>
            <a:cxnLst/>
            <a:rect l="l" t="t" r="r" b="b"/>
            <a:pathLst>
              <a:path w="333375" h="194310">
                <a:moveTo>
                  <a:pt x="0" y="0"/>
                </a:moveTo>
                <a:lnTo>
                  <a:pt x="333260" y="0"/>
                </a:lnTo>
                <a:lnTo>
                  <a:pt x="333260" y="193840"/>
                </a:lnTo>
                <a:lnTo>
                  <a:pt x="0" y="19384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069771" y="6245352"/>
            <a:ext cx="218998" cy="10962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209727"/>
                </a:moveTo>
                <a:lnTo>
                  <a:pt x="66649" y="162064"/>
                </a:lnTo>
                <a:lnTo>
                  <a:pt x="0" y="162064"/>
                </a:lnTo>
                <a:lnTo>
                  <a:pt x="0" y="47663"/>
                </a:lnTo>
                <a:lnTo>
                  <a:pt x="66649" y="47663"/>
                </a:lnTo>
                <a:lnTo>
                  <a:pt x="66649" y="0"/>
                </a:lnTo>
                <a:lnTo>
                  <a:pt x="257086" y="104863"/>
                </a:lnTo>
                <a:lnTo>
                  <a:pt x="66649" y="209727"/>
                </a:lnTo>
                <a:close/>
              </a:path>
            </a:pathLst>
          </a:custGeom>
          <a:solidFill>
            <a:srgbClr val="DC00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806335" y="6194501"/>
            <a:ext cx="257175" cy="210185"/>
          </a:xfrm>
          <a:custGeom>
            <a:avLst/>
            <a:gdLst/>
            <a:ahLst/>
            <a:cxnLst/>
            <a:rect l="l" t="t" r="r" b="b"/>
            <a:pathLst>
              <a:path w="257175" h="210185">
                <a:moveTo>
                  <a:pt x="66649" y="0"/>
                </a:moveTo>
                <a:lnTo>
                  <a:pt x="66649" y="47663"/>
                </a:lnTo>
                <a:lnTo>
                  <a:pt x="0" y="47663"/>
                </a:lnTo>
                <a:lnTo>
                  <a:pt x="0" y="162064"/>
                </a:lnTo>
                <a:lnTo>
                  <a:pt x="66649" y="162064"/>
                </a:lnTo>
                <a:lnTo>
                  <a:pt x="66649" y="209727"/>
                </a:lnTo>
                <a:lnTo>
                  <a:pt x="257086" y="104863"/>
                </a:lnTo>
                <a:lnTo>
                  <a:pt x="666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624463" y="1199197"/>
            <a:ext cx="377672" cy="53967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5694997" y="3637597"/>
            <a:ext cx="827405" cy="29749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802147" y="3682517"/>
            <a:ext cx="383146" cy="200164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6456997" y="3637597"/>
            <a:ext cx="903605" cy="29749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6564147" y="3682517"/>
            <a:ext cx="416699" cy="20016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5242559" y="1994535"/>
            <a:ext cx="1036955" cy="484504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6537959" y="2375535"/>
            <a:ext cx="503554" cy="86550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866197" y="4856797"/>
            <a:ext cx="1665605" cy="31083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973347" y="4901717"/>
            <a:ext cx="569099" cy="2408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4794884" y="3747134"/>
            <a:ext cx="960755" cy="1170305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5471159" y="4890134"/>
            <a:ext cx="1036955" cy="86550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5923597" y="5694997"/>
            <a:ext cx="827405" cy="29749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6030747" y="5739917"/>
            <a:ext cx="416699" cy="200164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6685597" y="5694997"/>
            <a:ext cx="903604" cy="29749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6792747" y="5739917"/>
            <a:ext cx="383146" cy="20016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7523797" y="5694997"/>
            <a:ext cx="370204" cy="297497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7637932" y="5865012"/>
            <a:ext cx="179209" cy="7252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9995" y="829944"/>
            <a:ext cx="4144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Database</a:t>
            </a:r>
            <a:r>
              <a:rPr spc="-75" dirty="0"/>
              <a:t> </a:t>
            </a:r>
            <a:r>
              <a:rPr spc="-70" dirty="0"/>
              <a:t>Tuning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10500" cy="4122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2735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major problem in making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database  </a:t>
            </a:r>
            <a:r>
              <a:rPr sz="3200" dirty="0">
                <a:latin typeface="Tahoma"/>
                <a:cs typeface="Tahoma"/>
              </a:rPr>
              <a:t>run </a:t>
            </a:r>
            <a:r>
              <a:rPr sz="3200" spc="-15" dirty="0">
                <a:latin typeface="Tahoma"/>
                <a:cs typeface="Tahoma"/>
              </a:rPr>
              <a:t>fast </a:t>
            </a:r>
            <a:r>
              <a:rPr sz="3200" spc="-5" dirty="0">
                <a:latin typeface="Tahoma"/>
                <a:cs typeface="Tahoma"/>
              </a:rPr>
              <a:t>is deciding which </a:t>
            </a:r>
            <a:r>
              <a:rPr sz="3200" spc="-10" dirty="0">
                <a:latin typeface="Tahoma"/>
                <a:cs typeface="Tahoma"/>
              </a:rPr>
              <a:t>indexes </a:t>
            </a:r>
            <a:r>
              <a:rPr sz="3200" spc="-5" dirty="0">
                <a:latin typeface="Tahoma"/>
                <a:cs typeface="Tahoma"/>
              </a:rPr>
              <a:t>to  create.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solidFill>
                  <a:srgbClr val="000066"/>
                </a:solidFill>
                <a:latin typeface="Tahoma"/>
                <a:cs typeface="Tahoma"/>
              </a:rPr>
              <a:t>Pro</a:t>
            </a:r>
            <a:r>
              <a:rPr sz="3200" spc="-10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index speeds </a:t>
            </a:r>
            <a:r>
              <a:rPr sz="3200" dirty="0">
                <a:latin typeface="Tahoma"/>
                <a:cs typeface="Tahoma"/>
              </a:rPr>
              <a:t>up </a:t>
            </a:r>
            <a:r>
              <a:rPr sz="3200" spc="-5" dirty="0">
                <a:latin typeface="Tahoma"/>
                <a:cs typeface="Tahoma"/>
              </a:rPr>
              <a:t>queries that can  use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it.</a:t>
            </a:r>
            <a:endParaRPr sz="3200" dirty="0">
              <a:latin typeface="Tahoma"/>
              <a:cs typeface="Tahoma"/>
            </a:endParaRPr>
          </a:p>
          <a:p>
            <a:pPr marL="355600" marR="21272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000066"/>
                </a:solidFill>
                <a:latin typeface="Tahoma"/>
                <a:cs typeface="Tahoma"/>
              </a:rPr>
              <a:t>Con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index slows down </a:t>
            </a:r>
            <a:r>
              <a:rPr sz="3200" dirty="0">
                <a:latin typeface="Tahoma"/>
                <a:cs typeface="Tahoma"/>
              </a:rPr>
              <a:t>all  </a:t>
            </a:r>
            <a:r>
              <a:rPr sz="3200" spc="-5" dirty="0">
                <a:latin typeface="Tahoma"/>
                <a:cs typeface="Tahoma"/>
              </a:rPr>
              <a:t>modifications </a:t>
            </a:r>
            <a:r>
              <a:rPr sz="3200" dirty="0">
                <a:latin typeface="Tahoma"/>
                <a:cs typeface="Tahoma"/>
              </a:rPr>
              <a:t>on its </a:t>
            </a:r>
            <a:r>
              <a:rPr sz="3200" spc="-5" dirty="0">
                <a:latin typeface="Tahoma"/>
                <a:cs typeface="Tahoma"/>
              </a:rPr>
              <a:t>relation because the  index must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modified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too.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8250" y="829944"/>
            <a:ext cx="4127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5" dirty="0"/>
              <a:t> </a:t>
            </a:r>
            <a:r>
              <a:rPr spc="-70" dirty="0"/>
              <a:t>Tuning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0459" cy="4012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35433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Suppose the only things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did with  our beers database</a:t>
            </a:r>
            <a:r>
              <a:rPr sz="3200" spc="-10" dirty="0">
                <a:latin typeface="Tahoma"/>
                <a:cs typeface="Tahoma"/>
              </a:rPr>
              <a:t> was: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Insert new </a:t>
            </a:r>
            <a:r>
              <a:rPr sz="2800" spc="-10" dirty="0">
                <a:latin typeface="Tahoma"/>
                <a:cs typeface="Tahoma"/>
              </a:rPr>
              <a:t>facts </a:t>
            </a:r>
            <a:r>
              <a:rPr sz="2800" spc="-5" dirty="0">
                <a:latin typeface="Tahoma"/>
                <a:cs typeface="Tahoma"/>
              </a:rPr>
              <a:t>into a relation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(10%).</a:t>
            </a:r>
            <a:endParaRPr sz="2800" dirty="0">
              <a:latin typeface="Tahoma"/>
              <a:cs typeface="Tahoma"/>
            </a:endParaRPr>
          </a:p>
          <a:p>
            <a:pPr marL="1002665" marR="1955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Find the price of a </a:t>
            </a:r>
            <a:r>
              <a:rPr sz="2800" spc="-10" dirty="0">
                <a:latin typeface="Tahoma"/>
                <a:cs typeface="Tahoma"/>
              </a:rPr>
              <a:t>given </a:t>
            </a:r>
            <a:r>
              <a:rPr sz="2800" spc="-5" dirty="0">
                <a:latin typeface="Tahoma"/>
                <a:cs typeface="Tahoma"/>
              </a:rPr>
              <a:t>beer at a </a:t>
            </a:r>
            <a:r>
              <a:rPr sz="2800" spc="-10" dirty="0">
                <a:latin typeface="Tahoma"/>
                <a:cs typeface="Tahoma"/>
              </a:rPr>
              <a:t>given  </a:t>
            </a:r>
            <a:r>
              <a:rPr sz="2800" spc="-5" dirty="0">
                <a:latin typeface="Tahoma"/>
                <a:cs typeface="Tahoma"/>
              </a:rPr>
              <a:t>bar (90%).</a:t>
            </a:r>
            <a:endParaRPr sz="28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spc="-5" dirty="0">
                <a:solidFill>
                  <a:srgbClr val="993300"/>
                </a:solidFill>
                <a:latin typeface="Tahoma"/>
                <a:cs typeface="Tahoma"/>
              </a:rPr>
              <a:t>SellInd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45" dirty="0">
                <a:latin typeface="Tahoma"/>
                <a:cs typeface="Tahoma"/>
              </a:rPr>
              <a:t>Sells(bar, </a:t>
            </a:r>
            <a:r>
              <a:rPr sz="3200" spc="-5" dirty="0">
                <a:latin typeface="Tahoma"/>
                <a:cs typeface="Tahoma"/>
              </a:rPr>
              <a:t>beer) would 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10" dirty="0">
                <a:latin typeface="Tahoma"/>
                <a:cs typeface="Tahoma"/>
              </a:rPr>
              <a:t>wonderful, </a:t>
            </a:r>
            <a:r>
              <a:rPr sz="3200" spc="-5" dirty="0">
                <a:latin typeface="Tahoma"/>
                <a:cs typeface="Tahoma"/>
              </a:rPr>
              <a:t>but </a:t>
            </a:r>
            <a:r>
              <a:rPr sz="3200" spc="-5" dirty="0">
                <a:solidFill>
                  <a:srgbClr val="993300"/>
                </a:solidFill>
                <a:latin typeface="Tahoma"/>
                <a:cs typeface="Tahoma"/>
              </a:rPr>
              <a:t>BeerInd </a:t>
            </a:r>
            <a:r>
              <a:rPr sz="3200" dirty="0">
                <a:latin typeface="Tahoma"/>
                <a:cs typeface="Tahoma"/>
              </a:rPr>
              <a:t>on  </a:t>
            </a:r>
            <a:r>
              <a:rPr sz="3200" spc="10" dirty="0">
                <a:latin typeface="Tahoma"/>
                <a:cs typeface="Tahoma"/>
              </a:rPr>
              <a:t>Beers(manf) </a:t>
            </a:r>
            <a:r>
              <a:rPr sz="3200" spc="-5" dirty="0">
                <a:latin typeface="Tahoma"/>
                <a:cs typeface="Tahoma"/>
              </a:rPr>
              <a:t>would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harmful.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1914" y="829944"/>
            <a:ext cx="3900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Tuning</a:t>
            </a:r>
            <a:r>
              <a:rPr spc="-75" dirty="0"/>
              <a:t> </a:t>
            </a:r>
            <a:r>
              <a:rPr spc="-5" dirty="0"/>
              <a:t>Advisors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336790" cy="3215624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major </a:t>
            </a:r>
            <a:r>
              <a:rPr sz="3200" spc="-10" dirty="0">
                <a:latin typeface="Tahoma"/>
                <a:cs typeface="Tahoma"/>
              </a:rPr>
              <a:t>research </a:t>
            </a:r>
            <a:r>
              <a:rPr sz="3200" spc="-5" dirty="0">
                <a:latin typeface="Tahoma"/>
                <a:cs typeface="Tahoma"/>
              </a:rPr>
              <a:t>thrust</a:t>
            </a:r>
            <a:r>
              <a:rPr lang="zh-CN" altLang="en-US" sz="3200" spc="-5" dirty="0">
                <a:latin typeface="Tahoma"/>
                <a:cs typeface="Tahoma"/>
              </a:rPr>
              <a:t>研究方向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Because hand tuning is so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hard.</a:t>
            </a:r>
            <a:endParaRPr sz="28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61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advisor gets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 err="1">
                <a:effectLst/>
              </a:rPr>
              <a:t>queryload</a:t>
            </a:r>
            <a:r>
              <a:rPr sz="3200" spc="-980" dirty="0">
                <a:latin typeface="Tahoma"/>
                <a:cs typeface="Tahoma"/>
              </a:rPr>
              <a:t>,</a:t>
            </a:r>
            <a:r>
              <a:rPr sz="3200" spc="-96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e.g.:</a:t>
            </a:r>
            <a:endParaRPr sz="3200" dirty="0">
              <a:latin typeface="Tahoma"/>
              <a:cs typeface="Tahoma"/>
            </a:endParaRPr>
          </a:p>
          <a:p>
            <a:pPr marL="1002665" marR="5080" indent="-5334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Choose </a:t>
            </a:r>
            <a:r>
              <a:rPr sz="2800" spc="-15" dirty="0">
                <a:latin typeface="Tahoma"/>
                <a:cs typeface="Tahoma"/>
              </a:rPr>
              <a:t>random </a:t>
            </a:r>
            <a:r>
              <a:rPr sz="2800" spc="-5" dirty="0">
                <a:latin typeface="Tahoma"/>
                <a:cs typeface="Tahoma"/>
              </a:rPr>
              <a:t>queries </a:t>
            </a:r>
            <a:r>
              <a:rPr sz="2800" spc="-15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the history  of queries run on the database,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</a:t>
            </a:r>
            <a:endParaRPr sz="2800" dirty="0">
              <a:latin typeface="Tahoma"/>
              <a:cs typeface="Tahoma"/>
            </a:endParaRPr>
          </a:p>
          <a:p>
            <a:pPr marL="1003300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Designer </a:t>
            </a:r>
            <a:r>
              <a:rPr sz="2800" spc="-10" dirty="0">
                <a:latin typeface="Tahoma"/>
                <a:cs typeface="Tahoma"/>
              </a:rPr>
              <a:t>provides </a:t>
            </a:r>
            <a:r>
              <a:rPr sz="2800" spc="-5" dirty="0">
                <a:latin typeface="Tahoma"/>
                <a:cs typeface="Tahoma"/>
              </a:rPr>
              <a:t>a sample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workload.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6094" y="829944"/>
            <a:ext cx="63747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Tuning </a:t>
            </a:r>
            <a:r>
              <a:rPr spc="-5" dirty="0"/>
              <a:t>Advisors</a:t>
            </a:r>
            <a:r>
              <a:rPr lang="zh-CN" altLang="en-US" spc="-5"/>
              <a:t>调整顾问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61225" cy="3792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596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advisor </a:t>
            </a:r>
            <a:r>
              <a:rPr sz="3200" spc="-10" dirty="0">
                <a:latin typeface="Tahoma"/>
                <a:cs typeface="Tahoma"/>
              </a:rPr>
              <a:t>generates </a:t>
            </a:r>
            <a:r>
              <a:rPr sz="3200" spc="-5" dirty="0">
                <a:latin typeface="Tahoma"/>
                <a:cs typeface="Tahoma"/>
              </a:rPr>
              <a:t>candidate  </a:t>
            </a:r>
            <a:r>
              <a:rPr sz="3200" spc="-10" dirty="0">
                <a:latin typeface="Tahoma"/>
                <a:cs typeface="Tahoma"/>
              </a:rPr>
              <a:t>indexes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10" dirty="0">
                <a:latin typeface="Tahoma"/>
                <a:cs typeface="Tahoma"/>
              </a:rPr>
              <a:t>evaluates </a:t>
            </a:r>
            <a:r>
              <a:rPr sz="3200" spc="-5" dirty="0">
                <a:latin typeface="Tahoma"/>
                <a:cs typeface="Tahoma"/>
              </a:rPr>
              <a:t>each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the  workload.</a:t>
            </a:r>
            <a:endParaRPr sz="3200" dirty="0">
              <a:latin typeface="Tahoma"/>
              <a:cs typeface="Tahoma"/>
            </a:endParaRPr>
          </a:p>
          <a:p>
            <a:pPr marL="755650" marR="40386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20" dirty="0">
                <a:latin typeface="Tahoma"/>
                <a:cs typeface="Tahoma"/>
              </a:rPr>
              <a:t>Feed </a:t>
            </a:r>
            <a:r>
              <a:rPr sz="2800" spc="-5" dirty="0">
                <a:latin typeface="Tahoma"/>
                <a:cs typeface="Tahoma"/>
              </a:rPr>
              <a:t>each sample query to the query  </a:t>
            </a:r>
            <a:r>
              <a:rPr sz="2800" spc="-45" dirty="0">
                <a:latin typeface="Tahoma"/>
                <a:cs typeface="Tahoma"/>
              </a:rPr>
              <a:t>optimizer, </a:t>
            </a:r>
            <a:r>
              <a:rPr sz="2800" spc="-5" dirty="0">
                <a:latin typeface="Tahoma"/>
                <a:cs typeface="Tahoma"/>
              </a:rPr>
              <a:t>which assumes only this one  index is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available.</a:t>
            </a:r>
            <a:endParaRPr sz="2800" dirty="0">
              <a:latin typeface="Tahoma"/>
              <a:cs typeface="Tahoma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Measure the </a:t>
            </a:r>
            <a:r>
              <a:rPr sz="2800" spc="-10" dirty="0">
                <a:latin typeface="Tahoma"/>
                <a:cs typeface="Tahoma"/>
              </a:rPr>
              <a:t>improvement/degradation </a:t>
            </a:r>
            <a:r>
              <a:rPr sz="2800" spc="-5" dirty="0">
                <a:latin typeface="Tahoma"/>
                <a:cs typeface="Tahoma"/>
              </a:rPr>
              <a:t>in  the </a:t>
            </a:r>
            <a:r>
              <a:rPr sz="2800" spc="-20" dirty="0">
                <a:latin typeface="Tahoma"/>
                <a:cs typeface="Tahoma"/>
              </a:rPr>
              <a:t>average </a:t>
            </a:r>
            <a:r>
              <a:rPr sz="2800" spc="-5" dirty="0">
                <a:latin typeface="Tahoma"/>
                <a:cs typeface="Tahoma"/>
              </a:rPr>
              <a:t>running time of the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queries.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4089</Words>
  <Application>Microsoft Office PowerPoint</Application>
  <PresentationFormat>全屏显示(4:3)</PresentationFormat>
  <Paragraphs>744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1" baseType="lpstr">
      <vt:lpstr>Arial</vt:lpstr>
      <vt:lpstr>Arial Narrow</vt:lpstr>
      <vt:lpstr>Calibri</vt:lpstr>
      <vt:lpstr>Courier New</vt:lpstr>
      <vt:lpstr>Lucida Sans Typewriter</vt:lpstr>
      <vt:lpstr>Tahoma</vt:lpstr>
      <vt:lpstr>Times New Roman</vt:lpstr>
      <vt:lpstr>Wingdings</vt:lpstr>
      <vt:lpstr>Office Theme</vt:lpstr>
      <vt:lpstr>Transactions, Views, Indexes 事务 视图 索引</vt:lpstr>
      <vt:lpstr>Why Transactions?</vt:lpstr>
      <vt:lpstr>Example: Bad Interaction</vt:lpstr>
      <vt:lpstr>Transactions</vt:lpstr>
      <vt:lpstr>ACID Transactions</vt:lpstr>
      <vt:lpstr>COMMIT提交</vt:lpstr>
      <vt:lpstr>ROLLBACK回滚</vt:lpstr>
      <vt:lpstr>How the Transaction Log Works</vt:lpstr>
      <vt:lpstr>How Data Is Stored</vt:lpstr>
      <vt:lpstr>Example: Interacting Processes</vt:lpstr>
      <vt:lpstr>Sally’s Program</vt:lpstr>
      <vt:lpstr>Joe’s Program</vt:lpstr>
      <vt:lpstr>Interleaving of Statements</vt:lpstr>
      <vt:lpstr>Example: Strange Interleaving 交错</vt:lpstr>
      <vt:lpstr>Fixing the Problem by Using  Transactions</vt:lpstr>
      <vt:lpstr>Another Problem: Rollback</vt:lpstr>
      <vt:lpstr>Solution</vt:lpstr>
      <vt:lpstr>Isolation Levels</vt:lpstr>
      <vt:lpstr>Choosing the Isolation Level</vt:lpstr>
      <vt:lpstr>Serializable Transactions可序列化事务</vt:lpstr>
      <vt:lpstr>Isolation Level Is Personal Choice</vt:lpstr>
      <vt:lpstr>Read-Commited Transactions</vt:lpstr>
      <vt:lpstr>Repeatable-Read Transactions</vt:lpstr>
      <vt:lpstr>Example: Repeatable Read</vt:lpstr>
      <vt:lpstr>Read Uncommitted</vt:lpstr>
      <vt:lpstr>Determining Which Type of  Constraint to Use</vt:lpstr>
      <vt:lpstr>DEFAULT Constraints</vt:lpstr>
      <vt:lpstr>CHECK Constraints</vt:lpstr>
      <vt:lpstr>PRIMARY KEY Constraints</vt:lpstr>
      <vt:lpstr>UNIQUE Constraints</vt:lpstr>
      <vt:lpstr>FOREIGN KEY Constraints</vt:lpstr>
      <vt:lpstr>Cascading Referential Integrity</vt:lpstr>
      <vt:lpstr>Using Defaults and Rules</vt:lpstr>
      <vt:lpstr>Deciding Which Enforcement  Method to Use</vt:lpstr>
      <vt:lpstr>Views</vt:lpstr>
      <vt:lpstr>Declaring Views</vt:lpstr>
      <vt:lpstr>Example: View Definition</vt:lpstr>
      <vt:lpstr>Example: Accessing a View</vt:lpstr>
      <vt:lpstr>Using Views</vt:lpstr>
      <vt:lpstr>Example: View of Joined Tables</vt:lpstr>
      <vt:lpstr>Advantages of Views</vt:lpstr>
      <vt:lpstr>Triggers on Views</vt:lpstr>
      <vt:lpstr>Example: The View</vt:lpstr>
      <vt:lpstr>Interpreting a View Insertion</vt:lpstr>
      <vt:lpstr>The Trigger</vt:lpstr>
      <vt:lpstr>Materialized Views</vt:lpstr>
      <vt:lpstr>Example: Axess/Class Mailing List</vt:lpstr>
      <vt:lpstr>Example: A Data Warehouse数据仓库</vt:lpstr>
      <vt:lpstr>Indexes</vt:lpstr>
      <vt:lpstr>Using Clustered Indexes 聚集索引</vt:lpstr>
      <vt:lpstr>Using Nonclustered Indexes</vt:lpstr>
      <vt:lpstr>Declaring Indexes</vt:lpstr>
      <vt:lpstr>Using Indexes</vt:lpstr>
      <vt:lpstr>Using Indexes --- (2)</vt:lpstr>
      <vt:lpstr>Finding Rows Without Indexes</vt:lpstr>
      <vt:lpstr>Finding Rows in a Heap with a Nonclustered Index</vt:lpstr>
      <vt:lpstr>Finding Rows in a Clustered Index</vt:lpstr>
      <vt:lpstr>Finding Rows in a Clustered Index with a  Nonclustered Index</vt:lpstr>
      <vt:lpstr>Database Tuning</vt:lpstr>
      <vt:lpstr>Example: Tuning</vt:lpstr>
      <vt:lpstr>Tuning Advisors</vt:lpstr>
      <vt:lpstr>Tuning Advisors调整顾问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2024-06-19T09:20:29Z</dcterms:created>
  <dcterms:modified xsi:type="dcterms:W3CDTF">2024-06-21T08:32:50Z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
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52" y="4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2:06:28.1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1,'22'1,"-1"2,0 0,-1 1,1 1,-1 1,0 1,27 14,-13-7,67 18,-45-22,111 5,597-15,0-88,-696 77,1 4,91 0,132 27,-213-7,-1 3,79 28,-74-15,27 7,-78-28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2:07:17.5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0 308,'0'-4,"5"-2,4 1,28-8,19-14,22-15,9-5,4-2,-1 6,-12 11,-11 11,-12 9,-7 6,-12 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2:07:18.62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1,'12'0,"31"0,32 0,8 0,3 0,-5 0,-12 0,-10 0,-10 0,-5 0,-5 0,11 0,1 0,6 0,5 0,4 0,-8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2:07:19.5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0,'9'0,"24"0,35 4,20 2,20 7,16 3,1-2,-8-3,-12-4,-15-3,-19-2,-21-1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2:09:41.5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4287 11,'-4'0,"-52"0,-43-4,-54-1,-19 4,-26 6,-48 24,-53 24,-19 16,-31 21,-33 16,-23 16,-19 4,45-10,50-14,55-18,74-24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2:09:42.2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1,'17'4,"18"10,54 7,84 0,80 4,70-1,42-5,-10-6,5-10,6-4,-17-3,-34-1,-58 1,-69 1,-65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2:09:42.8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0 206,'17'0,"27"-4,48-14,30-8,31-9,8-10,-15 2,-33 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2:09:44.1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0,'5'5,"0"-1,0 0,1 1,-1-2,1 1,0-1,0 0,0 0,0-1,12 4,29 7,1-3,90 10,45-5,245-10,184-59,-517 40,144-16,-184 26,1 2,70 8,18 10,63 6,-140-17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45085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45085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45085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45085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45085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71294" y="829944"/>
            <a:ext cx="620141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0834" y="1992617"/>
            <a:ext cx="8482330" cy="3098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50859" y="6290054"/>
            <a:ext cx="254634" cy="223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45085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3.png"/><Relationship Id="rId4" Type="http://schemas.openxmlformats.org/officeDocument/2006/relationships/customXml" Target="../ink/ink2.xml"/><Relationship Id="rId9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7.png"/><Relationship Id="rId4" Type="http://schemas.openxmlformats.org/officeDocument/2006/relationships/customXml" Target="../ink/ink6.xml"/><Relationship Id="rId9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6485" y="2506344"/>
            <a:ext cx="44316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SQL</a:t>
            </a:r>
            <a:r>
              <a:rPr spc="-75" dirty="0"/>
              <a:t> </a:t>
            </a:r>
            <a:r>
              <a:rPr spc="-5" dirty="0"/>
              <a:t>Authorization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085">
              <a:lnSpc>
                <a:spcPts val="1630"/>
              </a:lnSpc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960370" y="3821557"/>
            <a:ext cx="3223260" cy="177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55650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Tahoma"/>
                <a:cs typeface="Tahoma"/>
              </a:rPr>
              <a:t>Privileges  </a:t>
            </a:r>
            <a:r>
              <a:rPr sz="3200" spc="-15" dirty="0">
                <a:latin typeface="Tahoma"/>
                <a:cs typeface="Tahoma"/>
              </a:rPr>
              <a:t>Grant </a:t>
            </a:r>
            <a:r>
              <a:rPr sz="3200" spc="-5" dirty="0">
                <a:latin typeface="Tahoma"/>
                <a:cs typeface="Tahoma"/>
              </a:rPr>
              <a:t>and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Revoke</a:t>
            </a:r>
            <a:endParaRPr sz="3200">
              <a:latin typeface="Tahoma"/>
              <a:cs typeface="Tahoma"/>
            </a:endParaRPr>
          </a:p>
          <a:p>
            <a:pPr marL="213360">
              <a:lnSpc>
                <a:spcPct val="100000"/>
              </a:lnSpc>
              <a:spcBef>
                <a:spcPts val="765"/>
              </a:spcBef>
            </a:pPr>
            <a:r>
              <a:rPr sz="3200" spc="-15" dirty="0">
                <a:latin typeface="Tahoma"/>
                <a:cs typeface="Tahoma"/>
              </a:rPr>
              <a:t>Grant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Diagrams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6239" y="829944"/>
            <a:ext cx="327215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Authorization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085">
              <a:lnSpc>
                <a:spcPts val="163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600315" cy="3585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file system identifies certain privileges  </a:t>
            </a:r>
            <a:r>
              <a:rPr sz="3200" dirty="0">
                <a:latin typeface="Tahoma"/>
                <a:cs typeface="Tahoma"/>
              </a:rPr>
              <a:t>on </a:t>
            </a:r>
            <a:r>
              <a:rPr sz="3200" spc="-5" dirty="0">
                <a:latin typeface="Tahoma"/>
                <a:cs typeface="Tahoma"/>
              </a:rPr>
              <a:t>the objects (files) </a:t>
            </a:r>
            <a:r>
              <a:rPr sz="3200" dirty="0">
                <a:latin typeface="Tahoma"/>
                <a:cs typeface="Tahoma"/>
              </a:rPr>
              <a:t>it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manages.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30" dirty="0">
                <a:latin typeface="Tahoma"/>
                <a:cs typeface="Tahoma"/>
              </a:rPr>
              <a:t>Typically </a:t>
            </a:r>
            <a:r>
              <a:rPr sz="2800" spc="-5" dirty="0">
                <a:latin typeface="Tahoma"/>
                <a:cs typeface="Tahoma"/>
              </a:rPr>
              <a:t>read, write,</a:t>
            </a:r>
            <a:r>
              <a:rPr sz="2800" spc="2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execute.</a:t>
            </a:r>
            <a:endParaRPr sz="2800">
              <a:latin typeface="Tahoma"/>
              <a:cs typeface="Tahoma"/>
            </a:endParaRPr>
          </a:p>
          <a:p>
            <a:pPr marL="355600" marR="19748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file system identifies certain  participants to whom privileges </a:t>
            </a:r>
            <a:r>
              <a:rPr sz="3200" spc="-10" dirty="0">
                <a:latin typeface="Tahoma"/>
                <a:cs typeface="Tahoma"/>
              </a:rPr>
              <a:t>may </a:t>
            </a:r>
            <a:r>
              <a:rPr sz="3200" dirty="0">
                <a:latin typeface="Tahoma"/>
                <a:cs typeface="Tahoma"/>
              </a:rPr>
              <a:t>be  </a:t>
            </a:r>
            <a:r>
              <a:rPr sz="3200" spc="-10" dirty="0">
                <a:latin typeface="Tahoma"/>
                <a:cs typeface="Tahoma"/>
              </a:rPr>
              <a:t>granted.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30" dirty="0">
                <a:latin typeface="Tahoma"/>
                <a:cs typeface="Tahoma"/>
              </a:rPr>
              <a:t>Typically </a:t>
            </a:r>
            <a:r>
              <a:rPr sz="2800" spc="-5" dirty="0">
                <a:latin typeface="Tahoma"/>
                <a:cs typeface="Tahoma"/>
              </a:rPr>
              <a:t>the </a:t>
            </a:r>
            <a:r>
              <a:rPr sz="2800" spc="-65" dirty="0">
                <a:latin typeface="Tahoma"/>
                <a:cs typeface="Tahoma"/>
              </a:rPr>
              <a:t>owner, </a:t>
            </a:r>
            <a:r>
              <a:rPr sz="2800" spc="-5" dirty="0">
                <a:latin typeface="Tahoma"/>
                <a:cs typeface="Tahoma"/>
              </a:rPr>
              <a:t>a </a:t>
            </a:r>
            <a:r>
              <a:rPr sz="2800" spc="-10" dirty="0">
                <a:latin typeface="Tahoma"/>
                <a:cs typeface="Tahoma"/>
              </a:rPr>
              <a:t>group, </a:t>
            </a:r>
            <a:r>
              <a:rPr sz="2800" dirty="0">
                <a:latin typeface="Tahoma"/>
                <a:cs typeface="Tahoma"/>
              </a:rPr>
              <a:t>all</a:t>
            </a:r>
            <a:r>
              <a:rPr sz="2800" spc="8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users.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7639" y="829944"/>
            <a:ext cx="372935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Privileges </a:t>
            </a:r>
            <a:r>
              <a:rPr dirty="0"/>
              <a:t>–</a:t>
            </a:r>
            <a:r>
              <a:rPr spc="-65" dirty="0"/>
              <a:t> </a:t>
            </a:r>
            <a:r>
              <a:rPr spc="-5" dirty="0"/>
              <a:t>(1)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085">
              <a:lnSpc>
                <a:spcPts val="163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327900" cy="3049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94335" indent="-342900" algn="just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SQL identifies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more detailed set of  privileges </a:t>
            </a:r>
            <a:r>
              <a:rPr sz="3200" dirty="0">
                <a:latin typeface="Tahoma"/>
                <a:cs typeface="Tahoma"/>
              </a:rPr>
              <a:t>on </a:t>
            </a:r>
            <a:r>
              <a:rPr sz="3200" spc="-5" dirty="0">
                <a:latin typeface="Tahoma"/>
                <a:cs typeface="Tahoma"/>
              </a:rPr>
              <a:t>objects (relations) than  the </a:t>
            </a:r>
            <a:r>
              <a:rPr sz="3200" spc="-10" dirty="0">
                <a:latin typeface="Tahoma"/>
                <a:cs typeface="Tahoma"/>
              </a:rPr>
              <a:t>typical </a:t>
            </a:r>
            <a:r>
              <a:rPr sz="3200" spc="-5" dirty="0">
                <a:latin typeface="Tahoma"/>
                <a:cs typeface="Tahoma"/>
              </a:rPr>
              <a:t>file system.</a:t>
            </a:r>
            <a:endParaRPr sz="32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Nine privileges in all, some of which  can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restricted to one column of one  relation.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7639" y="829944"/>
            <a:ext cx="372935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Privileges </a:t>
            </a:r>
            <a:r>
              <a:rPr dirty="0"/>
              <a:t>–</a:t>
            </a:r>
            <a:r>
              <a:rPr spc="-65" dirty="0"/>
              <a:t> </a:t>
            </a:r>
            <a:r>
              <a:rPr spc="-5" dirty="0"/>
              <a:t>(2)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085">
              <a:lnSpc>
                <a:spcPts val="163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6844030" cy="39262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2300" marR="614680" indent="-6096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dirty="0">
                <a:latin typeface="Tahoma"/>
                <a:cs typeface="Tahoma"/>
              </a:rPr>
              <a:t>Some </a:t>
            </a:r>
            <a:r>
              <a:rPr sz="3200" spc="-5" dirty="0">
                <a:latin typeface="Tahoma"/>
                <a:cs typeface="Tahoma"/>
              </a:rPr>
              <a:t>important privileges </a:t>
            </a:r>
            <a:r>
              <a:rPr sz="3200" dirty="0">
                <a:latin typeface="Tahoma"/>
                <a:cs typeface="Tahoma"/>
              </a:rPr>
              <a:t>on a  </a:t>
            </a:r>
            <a:r>
              <a:rPr sz="3200" spc="-5" dirty="0">
                <a:latin typeface="Tahoma"/>
                <a:cs typeface="Tahoma"/>
              </a:rPr>
              <a:t>relation:</a:t>
            </a:r>
            <a:endParaRPr sz="320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solidFill>
                  <a:srgbClr val="33CC33"/>
                </a:solidFill>
                <a:latin typeface="Tahoma"/>
                <a:cs typeface="Tahoma"/>
              </a:rPr>
              <a:t>SELECT </a:t>
            </a:r>
            <a:r>
              <a:rPr sz="2800" spc="-5" dirty="0">
                <a:latin typeface="Tahoma"/>
                <a:cs typeface="Tahoma"/>
              </a:rPr>
              <a:t>= right to query the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relation.</a:t>
            </a:r>
            <a:endParaRPr sz="280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20" dirty="0">
                <a:solidFill>
                  <a:srgbClr val="33CC33"/>
                </a:solidFill>
                <a:latin typeface="Tahoma"/>
                <a:cs typeface="Tahoma"/>
              </a:rPr>
              <a:t>INSERT </a:t>
            </a:r>
            <a:r>
              <a:rPr sz="2800" spc="-5" dirty="0">
                <a:latin typeface="Tahoma"/>
                <a:cs typeface="Tahoma"/>
              </a:rPr>
              <a:t>= right to insert</a:t>
            </a:r>
            <a:r>
              <a:rPr sz="2800" spc="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tuples.</a:t>
            </a:r>
            <a:endParaRPr sz="2800">
              <a:latin typeface="Tahoma"/>
              <a:cs typeface="Tahoma"/>
            </a:endParaRPr>
          </a:p>
          <a:p>
            <a:pPr marL="1384300" lvl="2" indent="-457834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Wingdings"/>
              <a:buChar char=""/>
              <a:tabLst>
                <a:tab pos="1383665" algn="l"/>
                <a:tab pos="1384300" algn="l"/>
              </a:tabLst>
            </a:pPr>
            <a:r>
              <a:rPr sz="2400" spc="-10" dirty="0">
                <a:latin typeface="Tahoma"/>
                <a:cs typeface="Tahoma"/>
              </a:rPr>
              <a:t>May </a:t>
            </a:r>
            <a:r>
              <a:rPr sz="2400" spc="-5" dirty="0">
                <a:latin typeface="Tahoma"/>
                <a:cs typeface="Tahoma"/>
              </a:rPr>
              <a:t>apply </a:t>
            </a:r>
            <a:r>
              <a:rPr sz="2400" dirty="0">
                <a:latin typeface="Tahoma"/>
                <a:cs typeface="Tahoma"/>
              </a:rPr>
              <a:t>to only one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attribute.</a:t>
            </a:r>
            <a:endParaRPr sz="240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solidFill>
                  <a:srgbClr val="33CC33"/>
                </a:solidFill>
                <a:latin typeface="Tahoma"/>
                <a:cs typeface="Tahoma"/>
              </a:rPr>
              <a:t>DELETE </a:t>
            </a:r>
            <a:r>
              <a:rPr sz="2800" spc="-5" dirty="0">
                <a:latin typeface="Tahoma"/>
                <a:cs typeface="Tahoma"/>
              </a:rPr>
              <a:t>= right to delete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tuples.</a:t>
            </a:r>
            <a:endParaRPr sz="280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30" dirty="0">
                <a:solidFill>
                  <a:srgbClr val="33CC33"/>
                </a:solidFill>
                <a:latin typeface="Tahoma"/>
                <a:cs typeface="Tahoma"/>
              </a:rPr>
              <a:t>UPDATE </a:t>
            </a:r>
            <a:r>
              <a:rPr sz="2800" spc="-5" dirty="0">
                <a:latin typeface="Tahoma"/>
                <a:cs typeface="Tahoma"/>
              </a:rPr>
              <a:t>= right to update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tuples.</a:t>
            </a:r>
            <a:endParaRPr sz="2800">
              <a:latin typeface="Tahoma"/>
              <a:cs typeface="Tahoma"/>
            </a:endParaRPr>
          </a:p>
          <a:p>
            <a:pPr marL="1384300" lvl="2" indent="-457834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Wingdings"/>
              <a:buChar char=""/>
              <a:tabLst>
                <a:tab pos="1383665" algn="l"/>
                <a:tab pos="1384300" algn="l"/>
              </a:tabLst>
            </a:pPr>
            <a:r>
              <a:rPr sz="2400" spc="-10" dirty="0">
                <a:latin typeface="Tahoma"/>
                <a:cs typeface="Tahoma"/>
              </a:rPr>
              <a:t>May </a:t>
            </a:r>
            <a:r>
              <a:rPr sz="2400" spc="-5" dirty="0">
                <a:latin typeface="Tahoma"/>
                <a:cs typeface="Tahoma"/>
              </a:rPr>
              <a:t>apply </a:t>
            </a:r>
            <a:r>
              <a:rPr sz="2400" dirty="0">
                <a:latin typeface="Tahoma"/>
                <a:cs typeface="Tahoma"/>
              </a:rPr>
              <a:t>to only one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attribute.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2970" y="829944"/>
            <a:ext cx="47980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50" dirty="0"/>
              <a:t> </a:t>
            </a:r>
            <a:r>
              <a:rPr spc="-5" dirty="0"/>
              <a:t>Privileges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28367"/>
            <a:ext cx="4333240" cy="15595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r">
              <a:lnSpc>
                <a:spcPct val="119800"/>
              </a:lnSpc>
              <a:spcBef>
                <a:spcPts val="10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25" dirty="0">
                <a:latin typeface="Tahoma"/>
                <a:cs typeface="Tahoma"/>
              </a:rPr>
              <a:t>For </a:t>
            </a:r>
            <a:r>
              <a:rPr sz="2800" spc="-5" dirty="0">
                <a:latin typeface="Tahoma"/>
                <a:cs typeface="Tahoma"/>
              </a:rPr>
              <a:t>the statement</a:t>
            </a:r>
            <a:r>
              <a:rPr sz="2800" spc="-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below:  </a:t>
            </a:r>
            <a:r>
              <a:rPr sz="2800" spc="-20" dirty="0">
                <a:latin typeface="Tahoma"/>
                <a:cs typeface="Tahoma"/>
              </a:rPr>
              <a:t>INSERT INTO</a:t>
            </a:r>
            <a:r>
              <a:rPr sz="2800" spc="-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Beers(name)  SELECT beer FROM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Sells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0139" y="3560906"/>
            <a:ext cx="4286885" cy="145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54"/>
              </a:lnSpc>
            </a:pPr>
            <a:r>
              <a:rPr sz="2800" spc="-5" dirty="0">
                <a:latin typeface="Tahoma"/>
                <a:cs typeface="Tahoma"/>
              </a:rPr>
              <a:t>WHERE </a:t>
            </a:r>
            <a:r>
              <a:rPr sz="2800" spc="-25" dirty="0">
                <a:latin typeface="Tahoma"/>
                <a:cs typeface="Tahoma"/>
              </a:rPr>
              <a:t>NOT</a:t>
            </a:r>
            <a:r>
              <a:rPr sz="2800" spc="-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EXISTS</a:t>
            </a:r>
            <a:endParaRPr sz="2800">
              <a:latin typeface="Tahoma"/>
              <a:cs typeface="Tahoma"/>
            </a:endParaRPr>
          </a:p>
          <a:p>
            <a:pPr marL="570865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Tahoma"/>
                <a:cs typeface="Tahoma"/>
              </a:rPr>
              <a:t>(SELECT * FROM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Beers</a:t>
            </a:r>
            <a:endParaRPr sz="2800">
              <a:latin typeface="Tahoma"/>
              <a:cs typeface="Tahoma"/>
            </a:endParaRPr>
          </a:p>
          <a:p>
            <a:pPr marL="681990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Tahoma"/>
                <a:cs typeface="Tahoma"/>
              </a:rPr>
              <a:t>WHERE name =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beer);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5085079"/>
            <a:ext cx="7327265" cy="878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60" dirty="0">
                <a:latin typeface="Tahoma"/>
                <a:cs typeface="Tahoma"/>
              </a:rPr>
              <a:t>We </a:t>
            </a:r>
            <a:r>
              <a:rPr sz="2800" spc="-10" dirty="0">
                <a:latin typeface="Tahoma"/>
                <a:cs typeface="Tahoma"/>
              </a:rPr>
              <a:t>require </a:t>
            </a:r>
            <a:r>
              <a:rPr sz="2800" spc="-5" dirty="0">
                <a:latin typeface="Tahoma"/>
                <a:cs typeface="Tahoma"/>
              </a:rPr>
              <a:t>privileges SELECT on </a:t>
            </a:r>
            <a:r>
              <a:rPr sz="2800" dirty="0">
                <a:latin typeface="Tahoma"/>
                <a:cs typeface="Tahoma"/>
              </a:rPr>
              <a:t>Sells </a:t>
            </a:r>
            <a:r>
              <a:rPr sz="2800" spc="-5" dirty="0">
                <a:latin typeface="Tahoma"/>
                <a:cs typeface="Tahoma"/>
              </a:rPr>
              <a:t>and  Beers, and </a:t>
            </a:r>
            <a:r>
              <a:rPr sz="2800" spc="-20" dirty="0">
                <a:latin typeface="Tahoma"/>
                <a:cs typeface="Tahoma"/>
              </a:rPr>
              <a:t>INSERT </a:t>
            </a:r>
            <a:r>
              <a:rPr sz="2800" spc="-5" dirty="0">
                <a:latin typeface="Tahoma"/>
                <a:cs typeface="Tahoma"/>
              </a:rPr>
              <a:t>on Beers or</a:t>
            </a:r>
            <a:r>
              <a:rPr sz="2800" spc="7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Beers.name.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90600" y="3581400"/>
            <a:ext cx="4495800" cy="1447800"/>
          </a:xfrm>
          <a:custGeom>
            <a:avLst/>
            <a:gdLst/>
            <a:ahLst/>
            <a:cxnLst/>
            <a:rect l="l" t="t" r="r" b="b"/>
            <a:pathLst>
              <a:path w="4495800" h="1447800">
                <a:moveTo>
                  <a:pt x="0" y="0"/>
                </a:moveTo>
                <a:lnTo>
                  <a:pt x="4495800" y="0"/>
                </a:lnTo>
                <a:lnTo>
                  <a:pt x="44958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00CC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85837" y="3576637"/>
            <a:ext cx="4505325" cy="1457325"/>
          </a:xfrm>
          <a:custGeom>
            <a:avLst/>
            <a:gdLst/>
            <a:ahLst/>
            <a:cxnLst/>
            <a:rect l="l" t="t" r="r" b="b"/>
            <a:pathLst>
              <a:path w="4505325" h="1457325">
                <a:moveTo>
                  <a:pt x="4505325" y="1457325"/>
                </a:moveTo>
                <a:lnTo>
                  <a:pt x="0" y="1457325"/>
                </a:lnTo>
                <a:lnTo>
                  <a:pt x="0" y="0"/>
                </a:lnTo>
                <a:lnTo>
                  <a:pt x="4505325" y="0"/>
                </a:lnTo>
                <a:lnTo>
                  <a:pt x="450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447800"/>
                </a:lnTo>
                <a:lnTo>
                  <a:pt x="4762" y="1447800"/>
                </a:lnTo>
                <a:lnTo>
                  <a:pt x="9525" y="1452562"/>
                </a:lnTo>
                <a:lnTo>
                  <a:pt x="4505325" y="1452562"/>
                </a:lnTo>
                <a:lnTo>
                  <a:pt x="4505325" y="1457325"/>
                </a:lnTo>
                <a:close/>
              </a:path>
              <a:path w="4505325" h="1457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505325" h="1457325">
                <a:moveTo>
                  <a:pt x="449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495800" y="4762"/>
                </a:lnTo>
                <a:lnTo>
                  <a:pt x="4495800" y="9525"/>
                </a:lnTo>
                <a:close/>
              </a:path>
              <a:path w="4505325" h="1457325">
                <a:moveTo>
                  <a:pt x="4495800" y="1452562"/>
                </a:moveTo>
                <a:lnTo>
                  <a:pt x="4495800" y="4762"/>
                </a:lnTo>
                <a:lnTo>
                  <a:pt x="4500562" y="9525"/>
                </a:lnTo>
                <a:lnTo>
                  <a:pt x="4505325" y="9525"/>
                </a:lnTo>
                <a:lnTo>
                  <a:pt x="4505325" y="1447800"/>
                </a:lnTo>
                <a:lnTo>
                  <a:pt x="4500562" y="1447800"/>
                </a:lnTo>
                <a:lnTo>
                  <a:pt x="4495800" y="1452562"/>
                </a:lnTo>
                <a:close/>
              </a:path>
              <a:path w="4505325" h="1457325">
                <a:moveTo>
                  <a:pt x="4505325" y="9525"/>
                </a:moveTo>
                <a:lnTo>
                  <a:pt x="4500562" y="9525"/>
                </a:lnTo>
                <a:lnTo>
                  <a:pt x="4495800" y="4762"/>
                </a:lnTo>
                <a:lnTo>
                  <a:pt x="4505325" y="4762"/>
                </a:lnTo>
                <a:lnTo>
                  <a:pt x="4505325" y="9525"/>
                </a:lnTo>
                <a:close/>
              </a:path>
              <a:path w="4505325" h="1457325">
                <a:moveTo>
                  <a:pt x="9525" y="1452562"/>
                </a:moveTo>
                <a:lnTo>
                  <a:pt x="4762" y="1447800"/>
                </a:lnTo>
                <a:lnTo>
                  <a:pt x="9525" y="1447800"/>
                </a:lnTo>
                <a:lnTo>
                  <a:pt x="9525" y="1452562"/>
                </a:lnTo>
                <a:close/>
              </a:path>
              <a:path w="4505325" h="1457325">
                <a:moveTo>
                  <a:pt x="4495800" y="1452562"/>
                </a:moveTo>
                <a:lnTo>
                  <a:pt x="9525" y="1452562"/>
                </a:lnTo>
                <a:lnTo>
                  <a:pt x="9525" y="1447800"/>
                </a:lnTo>
                <a:lnTo>
                  <a:pt x="4495800" y="1447800"/>
                </a:lnTo>
                <a:lnTo>
                  <a:pt x="4495800" y="1452562"/>
                </a:lnTo>
                <a:close/>
              </a:path>
              <a:path w="4505325" h="1457325">
                <a:moveTo>
                  <a:pt x="4505325" y="1452562"/>
                </a:moveTo>
                <a:lnTo>
                  <a:pt x="4495800" y="1452562"/>
                </a:lnTo>
                <a:lnTo>
                  <a:pt x="4500562" y="1447800"/>
                </a:lnTo>
                <a:lnTo>
                  <a:pt x="4505325" y="1447800"/>
                </a:lnTo>
                <a:lnTo>
                  <a:pt x="4505325" y="1452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387465" y="2171699"/>
            <a:ext cx="1732280" cy="1855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871219" algn="l"/>
              </a:tabLst>
            </a:pPr>
            <a:r>
              <a:rPr sz="2000" spc="-5" dirty="0">
                <a:latin typeface="Tahoma"/>
                <a:cs typeface="Tahoma"/>
              </a:rPr>
              <a:t>beers that </a:t>
            </a:r>
            <a:r>
              <a:rPr sz="2000" dirty="0">
                <a:latin typeface="Tahoma"/>
                <a:cs typeface="Tahoma"/>
              </a:rPr>
              <a:t>do  </a:t>
            </a:r>
            <a:r>
              <a:rPr sz="2000" spc="-5" dirty="0">
                <a:latin typeface="Tahoma"/>
                <a:cs typeface="Tahoma"/>
              </a:rPr>
              <a:t>not appear in  Beers.	</a:t>
            </a:r>
            <a:r>
              <a:rPr sz="2000" spc="-40" dirty="0">
                <a:latin typeface="Tahoma"/>
                <a:cs typeface="Tahoma"/>
              </a:rPr>
              <a:t>We</a:t>
            </a:r>
            <a:r>
              <a:rPr sz="2000" spc="-8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add  them to Beers  with </a:t>
            </a:r>
            <a:r>
              <a:rPr sz="2000" dirty="0">
                <a:latin typeface="Tahoma"/>
                <a:cs typeface="Tahoma"/>
              </a:rPr>
              <a:t>a </a:t>
            </a:r>
            <a:r>
              <a:rPr sz="2000" spc="-5" dirty="0">
                <a:latin typeface="Tahoma"/>
                <a:cs typeface="Tahoma"/>
              </a:rPr>
              <a:t>NULL  </a:t>
            </a:r>
            <a:r>
              <a:rPr sz="2000" spc="-30" dirty="0">
                <a:latin typeface="Tahoma"/>
                <a:cs typeface="Tahoma"/>
              </a:rPr>
              <a:t>manufacturer.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486400" y="3121672"/>
            <a:ext cx="766445" cy="1221740"/>
          </a:xfrm>
          <a:custGeom>
            <a:avLst/>
            <a:gdLst/>
            <a:ahLst/>
            <a:cxnLst/>
            <a:rect l="l" t="t" r="r" b="b"/>
            <a:pathLst>
              <a:path w="766445" h="1221739">
                <a:moveTo>
                  <a:pt x="44426" y="1159634"/>
                </a:moveTo>
                <a:lnTo>
                  <a:pt x="36345" y="1154584"/>
                </a:lnTo>
                <a:lnTo>
                  <a:pt x="757961" y="0"/>
                </a:lnTo>
                <a:lnTo>
                  <a:pt x="766038" y="5054"/>
                </a:lnTo>
                <a:lnTo>
                  <a:pt x="44426" y="1159634"/>
                </a:lnTo>
                <a:close/>
              </a:path>
              <a:path w="766445" h="1221739">
                <a:moveTo>
                  <a:pt x="0" y="1221727"/>
                </a:moveTo>
                <a:lnTo>
                  <a:pt x="8077" y="1136916"/>
                </a:lnTo>
                <a:lnTo>
                  <a:pt x="36345" y="1154584"/>
                </a:lnTo>
                <a:lnTo>
                  <a:pt x="26250" y="1170736"/>
                </a:lnTo>
                <a:lnTo>
                  <a:pt x="34328" y="1175791"/>
                </a:lnTo>
                <a:lnTo>
                  <a:pt x="70276" y="1175791"/>
                </a:lnTo>
                <a:lnTo>
                  <a:pt x="72694" y="1177302"/>
                </a:lnTo>
                <a:lnTo>
                  <a:pt x="0" y="1221727"/>
                </a:lnTo>
                <a:close/>
              </a:path>
              <a:path w="766445" h="1221739">
                <a:moveTo>
                  <a:pt x="34328" y="1175791"/>
                </a:moveTo>
                <a:lnTo>
                  <a:pt x="26250" y="1170736"/>
                </a:lnTo>
                <a:lnTo>
                  <a:pt x="36345" y="1154584"/>
                </a:lnTo>
                <a:lnTo>
                  <a:pt x="44426" y="1159634"/>
                </a:lnTo>
                <a:lnTo>
                  <a:pt x="34328" y="1175791"/>
                </a:lnTo>
                <a:close/>
              </a:path>
              <a:path w="766445" h="1221739">
                <a:moveTo>
                  <a:pt x="70276" y="1175791"/>
                </a:moveTo>
                <a:lnTo>
                  <a:pt x="34328" y="1175791"/>
                </a:lnTo>
                <a:lnTo>
                  <a:pt x="44426" y="1159634"/>
                </a:lnTo>
                <a:lnTo>
                  <a:pt x="70276" y="11757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085">
              <a:lnSpc>
                <a:spcPts val="163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7760" y="829944"/>
            <a:ext cx="4348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Database</a:t>
            </a:r>
            <a:r>
              <a:rPr spc="-55" dirty="0"/>
              <a:t> </a:t>
            </a:r>
            <a:r>
              <a:rPr spc="-5" dirty="0"/>
              <a:t>Objects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085">
              <a:lnSpc>
                <a:spcPts val="163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61580" cy="3147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5245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 objects </a:t>
            </a:r>
            <a:r>
              <a:rPr sz="3200" dirty="0">
                <a:latin typeface="Tahoma"/>
                <a:cs typeface="Tahoma"/>
              </a:rPr>
              <a:t>on </a:t>
            </a:r>
            <a:r>
              <a:rPr sz="3200" spc="-5" dirty="0">
                <a:latin typeface="Tahoma"/>
                <a:cs typeface="Tahoma"/>
              </a:rPr>
              <a:t>which privileges exist  include stored tables and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views.</a:t>
            </a:r>
            <a:endParaRPr sz="3200">
              <a:latin typeface="Tahoma"/>
              <a:cs typeface="Tahoma"/>
            </a:endParaRPr>
          </a:p>
          <a:p>
            <a:pPr marL="355600" marR="23939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Other privileges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the right to create  objects of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0" dirty="0">
                <a:latin typeface="Tahoma"/>
                <a:cs typeface="Tahoma"/>
              </a:rPr>
              <a:t>type, </a:t>
            </a:r>
            <a:r>
              <a:rPr sz="3200" spc="-45" dirty="0">
                <a:latin typeface="Tahoma"/>
                <a:cs typeface="Tahoma"/>
              </a:rPr>
              <a:t>e.g.,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triggers.</a:t>
            </a:r>
            <a:endParaRPr sz="32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Views </a:t>
            </a:r>
            <a:r>
              <a:rPr sz="3200" spc="-10" dirty="0">
                <a:latin typeface="Tahoma"/>
                <a:cs typeface="Tahoma"/>
              </a:rPr>
              <a:t>form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5" dirty="0">
                <a:latin typeface="Tahoma"/>
                <a:cs typeface="Tahoma"/>
              </a:rPr>
              <a:t>important tool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access  control.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829944"/>
            <a:ext cx="83769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Views as Access</a:t>
            </a:r>
            <a:r>
              <a:rPr spc="-20" dirty="0"/>
              <a:t> </a:t>
            </a:r>
            <a:r>
              <a:rPr spc="-10" dirty="0"/>
              <a:t>Control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085">
              <a:lnSpc>
                <a:spcPts val="163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390130" cy="3829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65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might not </a:t>
            </a:r>
            <a:r>
              <a:rPr sz="3200" spc="-10" dirty="0">
                <a:latin typeface="Tahoma"/>
                <a:cs typeface="Tahoma"/>
              </a:rPr>
              <a:t>want </a:t>
            </a:r>
            <a:r>
              <a:rPr sz="3200" spc="-5" dirty="0">
                <a:latin typeface="Tahoma"/>
                <a:cs typeface="Tahoma"/>
              </a:rPr>
              <a:t>to </a:t>
            </a:r>
            <a:r>
              <a:rPr sz="3200" spc="-10" dirty="0">
                <a:latin typeface="Tahoma"/>
                <a:cs typeface="Tahoma"/>
              </a:rPr>
              <a:t>give </a:t>
            </a:r>
            <a:r>
              <a:rPr sz="3200" spc="-5" dirty="0">
                <a:latin typeface="Tahoma"/>
                <a:cs typeface="Tahoma"/>
              </a:rPr>
              <a:t>the SELECT  privilege </a:t>
            </a:r>
            <a:r>
              <a:rPr sz="3200" dirty="0">
                <a:latin typeface="Tahoma"/>
                <a:cs typeface="Tahoma"/>
              </a:rPr>
              <a:t>on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Emps(name, addr, salary)</a:t>
            </a:r>
            <a:r>
              <a:rPr sz="3200" spc="-5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But it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spc="-10" dirty="0">
                <a:latin typeface="Tahoma"/>
                <a:cs typeface="Tahoma"/>
              </a:rPr>
              <a:t>safer </a:t>
            </a:r>
            <a:r>
              <a:rPr sz="3200" spc="-5" dirty="0">
                <a:latin typeface="Tahoma"/>
                <a:cs typeface="Tahoma"/>
              </a:rPr>
              <a:t>to </a:t>
            </a:r>
            <a:r>
              <a:rPr sz="3200" spc="-10" dirty="0">
                <a:latin typeface="Tahoma"/>
                <a:cs typeface="Tahoma"/>
              </a:rPr>
              <a:t>give </a:t>
            </a:r>
            <a:r>
              <a:rPr sz="3200" spc="-5" dirty="0">
                <a:latin typeface="Tahoma"/>
                <a:cs typeface="Tahoma"/>
              </a:rPr>
              <a:t>SELECT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on:</a:t>
            </a:r>
            <a:endParaRPr sz="3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3200" spc="-5" dirty="0">
                <a:latin typeface="Courier New"/>
                <a:cs typeface="Courier New"/>
              </a:rPr>
              <a:t>CREATE VIEW SafeEmps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AS</a:t>
            </a:r>
          </a:p>
          <a:p>
            <a:pPr marL="355600">
              <a:lnSpc>
                <a:spcPct val="100000"/>
              </a:lnSpc>
              <a:spcBef>
                <a:spcPts val="875"/>
              </a:spcBef>
            </a:pPr>
            <a:r>
              <a:rPr sz="3200" spc="-5" dirty="0">
                <a:latin typeface="Courier New"/>
                <a:cs typeface="Courier New"/>
              </a:rPr>
              <a:t>SELECT name, addr FROM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Emps;</a:t>
            </a:r>
            <a:endParaRPr sz="3200" dirty="0">
              <a:latin typeface="Courier New"/>
              <a:cs typeface="Courier New"/>
            </a:endParaRPr>
          </a:p>
          <a:p>
            <a:pPr marL="355600" marR="476884" indent="-342900">
              <a:lnSpc>
                <a:spcPct val="100000"/>
              </a:lnSpc>
              <a:spcBef>
                <a:spcPts val="107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Queries </a:t>
            </a:r>
            <a:r>
              <a:rPr sz="3200" dirty="0">
                <a:latin typeface="Tahoma"/>
                <a:cs typeface="Tahoma"/>
              </a:rPr>
              <a:t>on </a:t>
            </a:r>
            <a:r>
              <a:rPr sz="3200" spc="-10" dirty="0">
                <a:latin typeface="Tahoma"/>
                <a:cs typeface="Tahoma"/>
              </a:rPr>
              <a:t>SafeEmps </a:t>
            </a:r>
            <a:r>
              <a:rPr sz="3200" dirty="0">
                <a:latin typeface="Tahoma"/>
                <a:cs typeface="Tahoma"/>
              </a:rPr>
              <a:t>do </a:t>
            </a:r>
            <a:r>
              <a:rPr sz="3200" spc="-5" dirty="0">
                <a:latin typeface="Tahoma"/>
                <a:cs typeface="Tahoma"/>
              </a:rPr>
              <a:t>not </a:t>
            </a:r>
            <a:r>
              <a:rPr sz="3200" spc="-10" dirty="0">
                <a:latin typeface="Tahoma"/>
                <a:cs typeface="Tahoma"/>
              </a:rPr>
              <a:t>require  </a:t>
            </a:r>
            <a:r>
              <a:rPr sz="3200" spc="-5" dirty="0">
                <a:latin typeface="Tahoma"/>
                <a:cs typeface="Tahoma"/>
              </a:rPr>
              <a:t>SELECT </a:t>
            </a:r>
            <a:r>
              <a:rPr sz="3200" dirty="0">
                <a:latin typeface="Tahoma"/>
                <a:cs typeface="Tahoma"/>
              </a:rPr>
              <a:t>on </a:t>
            </a:r>
            <a:r>
              <a:rPr sz="3200" spc="-5" dirty="0">
                <a:latin typeface="Tahoma"/>
                <a:cs typeface="Tahoma"/>
              </a:rPr>
              <a:t>Emps, just </a:t>
            </a:r>
            <a:r>
              <a:rPr sz="3200" dirty="0">
                <a:latin typeface="Tahoma"/>
                <a:cs typeface="Tahoma"/>
              </a:rPr>
              <a:t>on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SafeEmps.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0614" y="829944"/>
            <a:ext cx="43827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Authorization</a:t>
            </a:r>
            <a:r>
              <a:rPr spc="-80" dirty="0"/>
              <a:t> </a:t>
            </a:r>
            <a:r>
              <a:rPr spc="-40" dirty="0"/>
              <a:t>ID’s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085">
              <a:lnSpc>
                <a:spcPts val="163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148830" cy="2545569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28295" marR="5080" indent="-31623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user is </a:t>
            </a:r>
            <a:r>
              <a:rPr sz="3200" spc="-10" dirty="0">
                <a:latin typeface="Tahoma"/>
                <a:cs typeface="Tahoma"/>
              </a:rPr>
              <a:t>referred </a:t>
            </a:r>
            <a:r>
              <a:rPr sz="3200" spc="-5" dirty="0">
                <a:latin typeface="Tahoma"/>
                <a:cs typeface="Tahoma"/>
              </a:rPr>
              <a:t>to by </a:t>
            </a:r>
            <a:r>
              <a:rPr lang="en-US" altLang="zh-CN" sz="3600" dirty="0">
                <a:effectLst/>
              </a:rPr>
              <a:t>authorization ID</a:t>
            </a:r>
            <a:r>
              <a:rPr sz="3200" spc="-795" dirty="0">
                <a:latin typeface="Tahoma"/>
                <a:cs typeface="Tahoma"/>
              </a:rPr>
              <a:t>,  </a:t>
            </a:r>
            <a:r>
              <a:rPr sz="3200" spc="-10" dirty="0">
                <a:latin typeface="Tahoma"/>
                <a:cs typeface="Tahoma"/>
              </a:rPr>
              <a:t>typically </a:t>
            </a:r>
            <a:r>
              <a:rPr sz="3200" spc="-5" dirty="0">
                <a:latin typeface="Tahoma"/>
                <a:cs typeface="Tahoma"/>
              </a:rPr>
              <a:t>their login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name.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There is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5" dirty="0">
                <a:latin typeface="Tahoma"/>
                <a:cs typeface="Tahoma"/>
              </a:rPr>
              <a:t>authorization </a:t>
            </a:r>
            <a:r>
              <a:rPr sz="3200" dirty="0">
                <a:latin typeface="Tahoma"/>
                <a:cs typeface="Tahoma"/>
              </a:rPr>
              <a:t>ID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PUBLIC.</a:t>
            </a:r>
            <a:endParaRPr sz="3200" dirty="0">
              <a:latin typeface="Tahoma"/>
              <a:cs typeface="Tahoma"/>
            </a:endParaRPr>
          </a:p>
          <a:p>
            <a:pPr marL="755650" marR="194945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0" dirty="0">
                <a:latin typeface="Tahoma"/>
                <a:cs typeface="Tahoma"/>
              </a:rPr>
              <a:t>Granting </a:t>
            </a:r>
            <a:r>
              <a:rPr sz="2800" spc="-5" dirty="0">
                <a:latin typeface="Tahoma"/>
                <a:cs typeface="Tahoma"/>
              </a:rPr>
              <a:t>a privilege to PUBLIC </a:t>
            </a:r>
            <a:r>
              <a:rPr sz="2800" spc="-10" dirty="0">
                <a:latin typeface="Tahoma"/>
                <a:cs typeface="Tahoma"/>
              </a:rPr>
              <a:t>makes </a:t>
            </a:r>
            <a:r>
              <a:rPr sz="2800" dirty="0">
                <a:latin typeface="Tahoma"/>
                <a:cs typeface="Tahoma"/>
              </a:rPr>
              <a:t>it  </a:t>
            </a:r>
            <a:r>
              <a:rPr sz="2800" spc="-10" dirty="0">
                <a:latin typeface="Tahoma"/>
                <a:cs typeface="Tahoma"/>
              </a:rPr>
              <a:t>available </a:t>
            </a:r>
            <a:r>
              <a:rPr sz="2800" spc="-5" dirty="0">
                <a:latin typeface="Tahoma"/>
                <a:cs typeface="Tahoma"/>
              </a:rPr>
              <a:t>to </a:t>
            </a:r>
            <a:r>
              <a:rPr sz="2800" spc="-15" dirty="0">
                <a:latin typeface="Tahoma"/>
                <a:cs typeface="Tahoma"/>
              </a:rPr>
              <a:t>any </a:t>
            </a:r>
            <a:r>
              <a:rPr sz="2800" spc="-5" dirty="0">
                <a:latin typeface="Tahoma"/>
                <a:cs typeface="Tahoma"/>
              </a:rPr>
              <a:t>authorization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ID.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1870" y="829944"/>
            <a:ext cx="46208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Granting</a:t>
            </a:r>
            <a:r>
              <a:rPr spc="-55" dirty="0"/>
              <a:t> </a:t>
            </a:r>
            <a:r>
              <a:rPr spc="-5" dirty="0"/>
              <a:t>Privileges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085">
              <a:lnSpc>
                <a:spcPts val="163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479030" cy="41224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4384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70" dirty="0">
                <a:latin typeface="Tahoma"/>
                <a:cs typeface="Tahoma"/>
              </a:rPr>
              <a:t>You </a:t>
            </a:r>
            <a:r>
              <a:rPr sz="3200" spc="-15" dirty="0">
                <a:latin typeface="Tahoma"/>
                <a:cs typeface="Tahoma"/>
              </a:rPr>
              <a:t>have </a:t>
            </a:r>
            <a:r>
              <a:rPr sz="3200" dirty="0">
                <a:latin typeface="Tahoma"/>
                <a:cs typeface="Tahoma"/>
              </a:rPr>
              <a:t>all </a:t>
            </a:r>
            <a:r>
              <a:rPr sz="3200" spc="-5" dirty="0">
                <a:latin typeface="Tahoma"/>
                <a:cs typeface="Tahoma"/>
              </a:rPr>
              <a:t>possible privileges </a:t>
            </a:r>
            <a:r>
              <a:rPr sz="3200" dirty="0">
                <a:latin typeface="Tahoma"/>
                <a:cs typeface="Tahoma"/>
              </a:rPr>
              <a:t>on </a:t>
            </a:r>
            <a:r>
              <a:rPr sz="3200" spc="-5" dirty="0">
                <a:latin typeface="Tahoma"/>
                <a:cs typeface="Tahoma"/>
              </a:rPr>
              <a:t>the  objects, such as relations, that </a:t>
            </a:r>
            <a:r>
              <a:rPr sz="3200" spc="-10" dirty="0">
                <a:latin typeface="Tahoma"/>
                <a:cs typeface="Tahoma"/>
              </a:rPr>
              <a:t>you  </a:t>
            </a:r>
            <a:r>
              <a:rPr sz="3200" spc="-5" dirty="0">
                <a:latin typeface="Tahoma"/>
                <a:cs typeface="Tahoma"/>
              </a:rPr>
              <a:t>create.</a:t>
            </a:r>
            <a:endParaRPr sz="32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70" dirty="0">
                <a:latin typeface="Tahoma"/>
                <a:cs typeface="Tahoma"/>
              </a:rPr>
              <a:t>You </a:t>
            </a:r>
            <a:r>
              <a:rPr sz="3200" spc="-10" dirty="0">
                <a:latin typeface="Tahoma"/>
                <a:cs typeface="Tahoma"/>
              </a:rPr>
              <a:t>may </a:t>
            </a:r>
            <a:r>
              <a:rPr sz="3200" spc="-15" dirty="0">
                <a:latin typeface="Tahoma"/>
                <a:cs typeface="Tahoma"/>
              </a:rPr>
              <a:t>grant </a:t>
            </a:r>
            <a:r>
              <a:rPr sz="3200" spc="-5" dirty="0">
                <a:latin typeface="Tahoma"/>
                <a:cs typeface="Tahoma"/>
              </a:rPr>
              <a:t>privileges to other users  (authorization </a:t>
            </a:r>
            <a:r>
              <a:rPr sz="3200" spc="-25" dirty="0">
                <a:latin typeface="Tahoma"/>
                <a:cs typeface="Tahoma"/>
              </a:rPr>
              <a:t>ID’s), </a:t>
            </a:r>
            <a:r>
              <a:rPr sz="3200" spc="-5" dirty="0">
                <a:latin typeface="Tahoma"/>
                <a:cs typeface="Tahoma"/>
              </a:rPr>
              <a:t>including</a:t>
            </a:r>
            <a:r>
              <a:rPr sz="3200" spc="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PUBLIC.</a:t>
            </a:r>
            <a:endParaRPr sz="3200">
              <a:latin typeface="Tahoma"/>
              <a:cs typeface="Tahoma"/>
            </a:endParaRPr>
          </a:p>
          <a:p>
            <a:pPr marL="355600" marR="1651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70" dirty="0">
                <a:latin typeface="Tahoma"/>
                <a:cs typeface="Tahoma"/>
              </a:rPr>
              <a:t>You </a:t>
            </a:r>
            <a:r>
              <a:rPr sz="3200" spc="-10" dirty="0">
                <a:latin typeface="Tahoma"/>
                <a:cs typeface="Tahoma"/>
              </a:rPr>
              <a:t>may </a:t>
            </a:r>
            <a:r>
              <a:rPr sz="3200" spc="-5" dirty="0">
                <a:latin typeface="Tahoma"/>
                <a:cs typeface="Tahoma"/>
              </a:rPr>
              <a:t>also </a:t>
            </a:r>
            <a:r>
              <a:rPr sz="3200" spc="-15" dirty="0">
                <a:latin typeface="Tahoma"/>
                <a:cs typeface="Tahoma"/>
              </a:rPr>
              <a:t>grant </a:t>
            </a:r>
            <a:r>
              <a:rPr sz="3200" spc="-5" dirty="0">
                <a:latin typeface="Tahoma"/>
                <a:cs typeface="Tahoma"/>
              </a:rPr>
              <a:t>privileges WITH  GRANT OPTION, which lets the </a:t>
            </a:r>
            <a:r>
              <a:rPr sz="3200" spc="-10" dirty="0">
                <a:latin typeface="Tahoma"/>
                <a:cs typeface="Tahoma"/>
              </a:rPr>
              <a:t>grantee  </a:t>
            </a:r>
            <a:r>
              <a:rPr sz="3200" spc="-5" dirty="0">
                <a:latin typeface="Tahoma"/>
                <a:cs typeface="Tahoma"/>
              </a:rPr>
              <a:t>also </a:t>
            </a:r>
            <a:r>
              <a:rPr sz="3200" spc="-15" dirty="0">
                <a:latin typeface="Tahoma"/>
                <a:cs typeface="Tahoma"/>
              </a:rPr>
              <a:t>grant </a:t>
            </a:r>
            <a:r>
              <a:rPr sz="3200" spc="-5" dirty="0">
                <a:latin typeface="Tahoma"/>
                <a:cs typeface="Tahoma"/>
              </a:rPr>
              <a:t>this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privilege.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4825" y="829944"/>
            <a:ext cx="55949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GRANT</a:t>
            </a:r>
            <a:r>
              <a:rPr spc="-55" dirty="0"/>
              <a:t> </a:t>
            </a:r>
            <a:r>
              <a:rPr spc="-5" dirty="0"/>
              <a:t>Statement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085">
              <a:lnSpc>
                <a:spcPts val="163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7826"/>
            <a:ext cx="7259955" cy="4019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5290" marR="1536065" indent="-415290">
              <a:lnSpc>
                <a:spcPct val="119700"/>
              </a:lnSpc>
              <a:spcBef>
                <a:spcPts val="9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65" dirty="0">
                <a:latin typeface="Tahoma"/>
                <a:cs typeface="Tahoma"/>
              </a:rPr>
              <a:t>To </a:t>
            </a:r>
            <a:r>
              <a:rPr sz="3200" spc="-15" dirty="0">
                <a:latin typeface="Tahoma"/>
                <a:cs typeface="Tahoma"/>
              </a:rPr>
              <a:t>grant </a:t>
            </a:r>
            <a:r>
              <a:rPr sz="3200" spc="-5" dirty="0">
                <a:latin typeface="Tahoma"/>
                <a:cs typeface="Tahoma"/>
              </a:rPr>
              <a:t>privileges, </a:t>
            </a:r>
            <a:r>
              <a:rPr sz="3200" spc="-10" dirty="0">
                <a:latin typeface="Tahoma"/>
                <a:cs typeface="Tahoma"/>
              </a:rPr>
              <a:t>say:  </a:t>
            </a:r>
            <a:r>
              <a:rPr sz="3200" spc="-5" dirty="0">
                <a:latin typeface="Tahoma"/>
                <a:cs typeface="Tahoma"/>
              </a:rPr>
              <a:t>GRANT &lt;list of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privileges&gt;</a:t>
            </a:r>
            <a:endParaRPr sz="3200" dirty="0">
              <a:latin typeface="Tahoma"/>
              <a:cs typeface="Tahoma"/>
            </a:endParaRPr>
          </a:p>
          <a:p>
            <a:pPr marL="926465" marR="697865">
              <a:lnSpc>
                <a:spcPct val="119900"/>
              </a:lnSpc>
            </a:pPr>
            <a:r>
              <a:rPr sz="3200" dirty="0">
                <a:latin typeface="Tahoma"/>
                <a:cs typeface="Tahoma"/>
              </a:rPr>
              <a:t>ON </a:t>
            </a:r>
            <a:r>
              <a:rPr sz="3200" spc="-5" dirty="0">
                <a:latin typeface="Tahoma"/>
                <a:cs typeface="Tahoma"/>
              </a:rPr>
              <a:t>&lt;relation or other object&gt;  </a:t>
            </a:r>
            <a:r>
              <a:rPr sz="3200" spc="-40" dirty="0">
                <a:latin typeface="Tahoma"/>
                <a:cs typeface="Tahoma"/>
              </a:rPr>
              <a:t>TO </a:t>
            </a:r>
            <a:r>
              <a:rPr sz="3200" spc="-5" dirty="0">
                <a:latin typeface="Tahoma"/>
                <a:cs typeface="Tahoma"/>
              </a:rPr>
              <a:t>&lt;list of authorization</a:t>
            </a:r>
            <a:r>
              <a:rPr sz="3200" spc="2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ID’s&gt;;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If </a:t>
            </a:r>
            <a:r>
              <a:rPr sz="3200" spc="-10" dirty="0">
                <a:latin typeface="Tahoma"/>
                <a:cs typeface="Tahoma"/>
              </a:rPr>
              <a:t>you want </a:t>
            </a:r>
            <a:r>
              <a:rPr sz="3200" spc="-5" dirty="0">
                <a:latin typeface="Tahoma"/>
                <a:cs typeface="Tahoma"/>
              </a:rPr>
              <a:t>the recipient(s) to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able  to pass the privilege(s) to others</a:t>
            </a:r>
            <a:r>
              <a:rPr sz="3200" spc="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add:</a:t>
            </a:r>
            <a:endParaRPr sz="3200" dirty="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755"/>
              </a:spcBef>
            </a:pPr>
            <a:r>
              <a:rPr sz="3200" spc="-5" dirty="0">
                <a:latin typeface="Tahoma"/>
                <a:cs typeface="Tahoma"/>
              </a:rPr>
              <a:t>WITH GRANT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OPTION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4275" y="829944"/>
            <a:ext cx="42354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65" dirty="0"/>
              <a:t> </a:t>
            </a:r>
            <a:r>
              <a:rPr spc="-5" dirty="0"/>
              <a:t>GRANT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085">
              <a:lnSpc>
                <a:spcPts val="163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24115" cy="4316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3309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Suppose </a:t>
            </a:r>
            <a:r>
              <a:rPr sz="3200" spc="-10" dirty="0">
                <a:latin typeface="Tahoma"/>
                <a:cs typeface="Tahoma"/>
              </a:rPr>
              <a:t>you are </a:t>
            </a:r>
            <a:r>
              <a:rPr sz="3200" spc="-5" dirty="0">
                <a:latin typeface="Tahoma"/>
                <a:cs typeface="Tahoma"/>
              </a:rPr>
              <a:t>the owner of Sells.  </a:t>
            </a:r>
            <a:r>
              <a:rPr sz="3200" spc="-70" dirty="0">
                <a:latin typeface="Tahoma"/>
                <a:cs typeface="Tahoma"/>
              </a:rPr>
              <a:t>You </a:t>
            </a:r>
            <a:r>
              <a:rPr sz="3200" spc="-10" dirty="0">
                <a:latin typeface="Tahoma"/>
                <a:cs typeface="Tahoma"/>
              </a:rPr>
              <a:t>may</a:t>
            </a:r>
            <a:r>
              <a:rPr sz="3200" spc="5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say:</a:t>
            </a:r>
            <a:endParaRPr sz="320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459"/>
              </a:spcBef>
            </a:pPr>
            <a:r>
              <a:rPr sz="3200" spc="-5" dirty="0">
                <a:latin typeface="Courier New"/>
                <a:cs typeface="Courier New"/>
              </a:rPr>
              <a:t>GRANT SELECT,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UPDATE(price)</a:t>
            </a:r>
            <a:endParaRPr sz="3200">
              <a:latin typeface="Courier New"/>
              <a:cs typeface="Courier New"/>
            </a:endParaRPr>
          </a:p>
          <a:p>
            <a:pPr marL="926465" marR="4394200">
              <a:lnSpc>
                <a:spcPct val="119900"/>
              </a:lnSpc>
            </a:pPr>
            <a:r>
              <a:rPr sz="3200" dirty="0">
                <a:latin typeface="Courier New"/>
                <a:cs typeface="Courier New"/>
              </a:rPr>
              <a:t>ON </a:t>
            </a:r>
            <a:r>
              <a:rPr sz="3200" spc="-5" dirty="0">
                <a:latin typeface="Courier New"/>
                <a:cs typeface="Courier New"/>
              </a:rPr>
              <a:t>Sells  </a:t>
            </a:r>
            <a:r>
              <a:rPr sz="3200" dirty="0">
                <a:latin typeface="Courier New"/>
                <a:cs typeface="Courier New"/>
              </a:rPr>
              <a:t>TO</a:t>
            </a:r>
            <a:r>
              <a:rPr sz="3200" spc="-8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sally;</a:t>
            </a:r>
            <a:endParaRPr sz="3200">
              <a:latin typeface="Courier New"/>
              <a:cs typeface="Courier New"/>
            </a:endParaRPr>
          </a:p>
          <a:p>
            <a:pPr marL="355600" marR="26034" indent="-342900">
              <a:lnSpc>
                <a:spcPct val="100000"/>
              </a:lnSpc>
              <a:spcBef>
                <a:spcPts val="107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Now Sally has the right to issue </a:t>
            </a:r>
            <a:r>
              <a:rPr sz="3200" spc="-15" dirty="0">
                <a:latin typeface="Tahoma"/>
                <a:cs typeface="Tahoma"/>
              </a:rPr>
              <a:t>any  </a:t>
            </a:r>
            <a:r>
              <a:rPr sz="3200" spc="-5" dirty="0">
                <a:latin typeface="Tahoma"/>
                <a:cs typeface="Tahoma"/>
              </a:rPr>
              <a:t>query </a:t>
            </a:r>
            <a:r>
              <a:rPr sz="3200" dirty="0">
                <a:latin typeface="Tahoma"/>
                <a:cs typeface="Tahoma"/>
              </a:rPr>
              <a:t>on Sells </a:t>
            </a:r>
            <a:r>
              <a:rPr sz="3200" spc="-5" dirty="0">
                <a:latin typeface="Tahoma"/>
                <a:cs typeface="Tahoma"/>
              </a:rPr>
              <a:t>and can update the price  component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60" dirty="0">
                <a:latin typeface="Tahoma"/>
                <a:cs typeface="Tahoma"/>
              </a:rPr>
              <a:t>only.</a:t>
            </a:r>
            <a:endParaRPr sz="320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BC203838-15CF-6DF3-ED9B-BBE8A21BF3D8}"/>
                  </a:ext>
                </a:extLst>
              </p14:cNvPr>
              <p14:cNvContentPartPr/>
              <p14:nvPr/>
            </p14:nvContentPartPr>
            <p14:xfrm>
              <a:off x="1703259" y="3289525"/>
              <a:ext cx="1154520" cy="6300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BC203838-15CF-6DF3-ED9B-BBE8A21BF3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49259" y="3181885"/>
                <a:ext cx="126216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3DF62A62-6AFF-8F36-DE18-247799220783}"/>
                  </a:ext>
                </a:extLst>
              </p14:cNvPr>
              <p14:cNvContentPartPr/>
              <p14:nvPr/>
            </p14:nvContentPartPr>
            <p14:xfrm>
              <a:off x="1667259" y="3824485"/>
              <a:ext cx="265680" cy="11124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3DF62A62-6AFF-8F36-DE18-24779922078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13259" y="3716485"/>
                <a:ext cx="37332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A95F5A30-EB37-40DF-9922-9F3073C3A72C}"/>
                  </a:ext>
                </a:extLst>
              </p14:cNvPr>
              <p14:cNvContentPartPr/>
              <p14:nvPr/>
            </p14:nvContentPartPr>
            <p14:xfrm>
              <a:off x="1945179" y="3827725"/>
              <a:ext cx="354960" cy="36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A95F5A30-EB37-40DF-9922-9F3073C3A72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91539" y="3720085"/>
                <a:ext cx="4626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2B826B9C-A702-8236-2855-F622D3F0CAA2}"/>
                  </a:ext>
                </a:extLst>
              </p14:cNvPr>
              <p14:cNvContentPartPr/>
              <p14:nvPr/>
            </p14:nvContentPartPr>
            <p14:xfrm>
              <a:off x="1882179" y="4446565"/>
              <a:ext cx="356040" cy="2844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2B826B9C-A702-8236-2855-F622D3F0CAA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28179" y="4338565"/>
                <a:ext cx="463680" cy="244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9106" y="457200"/>
            <a:ext cx="56457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20" dirty="0"/>
              <a:t>Grant</a:t>
            </a:r>
            <a:r>
              <a:rPr spc="-55" dirty="0"/>
              <a:t> </a:t>
            </a:r>
            <a:r>
              <a:rPr spc="-5" dirty="0"/>
              <a:t>Option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085">
              <a:lnSpc>
                <a:spcPts val="163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08037" y="1371600"/>
            <a:ext cx="7527925" cy="420941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45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Suppose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also</a:t>
            </a:r>
            <a:r>
              <a:rPr sz="3200" spc="-15" dirty="0">
                <a:latin typeface="Tahoma"/>
                <a:cs typeface="Tahoma"/>
              </a:rPr>
              <a:t> grant:</a:t>
            </a:r>
            <a:endParaRPr sz="3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3200" spc="-5" dirty="0">
                <a:latin typeface="Courier New"/>
                <a:cs typeface="Courier New"/>
              </a:rPr>
              <a:t>GRANT UPDATE </a:t>
            </a:r>
            <a:r>
              <a:rPr sz="3200" dirty="0">
                <a:latin typeface="Courier New"/>
                <a:cs typeface="Courier New"/>
              </a:rPr>
              <a:t>ON </a:t>
            </a:r>
            <a:r>
              <a:rPr sz="3200" spc="-5" dirty="0">
                <a:latin typeface="Courier New"/>
                <a:cs typeface="Courier New"/>
              </a:rPr>
              <a:t>Sells </a:t>
            </a:r>
            <a:r>
              <a:rPr sz="3200" dirty="0">
                <a:latin typeface="Courier New"/>
                <a:cs typeface="Courier New"/>
              </a:rPr>
              <a:t>TO</a:t>
            </a:r>
            <a:r>
              <a:rPr sz="3200" spc="-2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sally</a:t>
            </a:r>
            <a:endParaRPr sz="32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WITH GRANT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OPTION;</a:t>
            </a:r>
            <a:endParaRPr sz="3200" dirty="0">
              <a:latin typeface="Courier New"/>
              <a:cs typeface="Courier New"/>
            </a:endParaRPr>
          </a:p>
          <a:p>
            <a:pPr marL="355600" marR="377825" indent="-342900">
              <a:lnSpc>
                <a:spcPct val="100000"/>
              </a:lnSpc>
              <a:spcBef>
                <a:spcPts val="118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30" dirty="0">
                <a:latin typeface="Tahoma"/>
                <a:cs typeface="Tahoma"/>
              </a:rPr>
              <a:t>Now, </a:t>
            </a:r>
            <a:r>
              <a:rPr sz="3200" spc="-5" dirty="0">
                <a:latin typeface="Tahoma"/>
                <a:cs typeface="Tahoma"/>
              </a:rPr>
              <a:t>Sally not only can update </a:t>
            </a:r>
            <a:r>
              <a:rPr sz="3200" spc="-15" dirty="0">
                <a:latin typeface="Tahoma"/>
                <a:cs typeface="Tahoma"/>
              </a:rPr>
              <a:t>any  </a:t>
            </a:r>
            <a:r>
              <a:rPr sz="3200" spc="-5" dirty="0">
                <a:latin typeface="Tahoma"/>
                <a:cs typeface="Tahoma"/>
              </a:rPr>
              <a:t>attribute of Sells, but can </a:t>
            </a:r>
            <a:r>
              <a:rPr sz="3200" spc="-15" dirty="0">
                <a:latin typeface="Tahoma"/>
                <a:cs typeface="Tahoma"/>
              </a:rPr>
              <a:t>grant </a:t>
            </a:r>
            <a:r>
              <a:rPr sz="3200" spc="-5" dirty="0">
                <a:latin typeface="Tahoma"/>
                <a:cs typeface="Tahoma"/>
              </a:rPr>
              <a:t>to  others the privilege </a:t>
            </a:r>
            <a:r>
              <a:rPr sz="3200" spc="-35" dirty="0">
                <a:latin typeface="Tahoma"/>
                <a:cs typeface="Tahoma"/>
              </a:rPr>
              <a:t>UPDATE </a:t>
            </a:r>
            <a:r>
              <a:rPr sz="3200" dirty="0">
                <a:latin typeface="Tahoma"/>
                <a:cs typeface="Tahoma"/>
              </a:rPr>
              <a:t>ON</a:t>
            </a:r>
            <a:r>
              <a:rPr sz="3200" spc="4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Sells.</a:t>
            </a:r>
            <a:endParaRPr sz="3200" dirty="0">
              <a:latin typeface="Tahoma"/>
              <a:cs typeface="Tahoma"/>
            </a:endParaRPr>
          </a:p>
          <a:p>
            <a:pPr marL="755650" marR="5080" lvl="1" indent="-285750">
              <a:lnSpc>
                <a:spcPts val="3229"/>
              </a:lnSpc>
              <a:spcBef>
                <a:spcPts val="88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5" dirty="0">
                <a:latin typeface="Tahoma"/>
                <a:cs typeface="Tahoma"/>
              </a:rPr>
              <a:t>Also, </a:t>
            </a:r>
            <a:r>
              <a:rPr sz="2800" spc="-5" dirty="0">
                <a:latin typeface="Tahoma"/>
                <a:cs typeface="Tahoma"/>
              </a:rPr>
              <a:t>she can </a:t>
            </a:r>
            <a:r>
              <a:rPr sz="2800" spc="-15" dirty="0">
                <a:latin typeface="Tahoma"/>
                <a:cs typeface="Tahoma"/>
              </a:rPr>
              <a:t>grant </a:t>
            </a:r>
            <a:r>
              <a:rPr sz="2800" spc="-10" dirty="0">
                <a:latin typeface="Tahoma"/>
                <a:cs typeface="Tahoma"/>
              </a:rPr>
              <a:t>more </a:t>
            </a:r>
            <a:r>
              <a:rPr sz="2800" spc="-5" dirty="0">
                <a:latin typeface="Tahoma"/>
                <a:cs typeface="Tahoma"/>
              </a:rPr>
              <a:t>specific privileges  </a:t>
            </a:r>
            <a:r>
              <a:rPr sz="2800" spc="-10" dirty="0">
                <a:latin typeface="Tahoma"/>
                <a:cs typeface="Tahoma"/>
              </a:rPr>
              <a:t>like </a:t>
            </a:r>
            <a:r>
              <a:rPr sz="2800" spc="-5" dirty="0">
                <a:latin typeface="Courier New"/>
                <a:cs typeface="Courier New"/>
              </a:rPr>
              <a:t>UPDATE(price)ON</a:t>
            </a:r>
            <a:r>
              <a:rPr sz="2800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Sells</a:t>
            </a:r>
            <a:r>
              <a:rPr sz="2800" spc="-5" dirty="0">
                <a:latin typeface="Tahoma"/>
                <a:cs typeface="Tahoma"/>
              </a:rPr>
              <a:t>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6465" y="351083"/>
            <a:ext cx="475107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Revoking</a:t>
            </a:r>
            <a:r>
              <a:rPr spc="-45" dirty="0"/>
              <a:t> </a:t>
            </a:r>
            <a:r>
              <a:rPr spc="-5" dirty="0"/>
              <a:t>Privileges</a:t>
            </a:r>
            <a:r>
              <a:rPr lang="zh-CN" altLang="en-US" spc="-5" dirty="0"/>
              <a:t>撤销权力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1507489" y="5754831"/>
            <a:ext cx="2551430" cy="454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5" dirty="0">
                <a:latin typeface="Tahoma"/>
                <a:cs typeface="Tahoma"/>
              </a:rPr>
              <a:t>from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elsewhere.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23541"/>
            <a:ext cx="7454265" cy="3899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26465" marR="1109980">
              <a:lnSpc>
                <a:spcPct val="109900"/>
              </a:lnSpc>
              <a:spcBef>
                <a:spcPts val="95"/>
              </a:spcBef>
            </a:pPr>
            <a:r>
              <a:rPr sz="3200" spc="-5" dirty="0">
                <a:latin typeface="Tahoma"/>
                <a:cs typeface="Tahoma"/>
              </a:rPr>
              <a:t>REVOKE &lt;list of privileges&gt;  </a:t>
            </a:r>
            <a:r>
              <a:rPr sz="3200" dirty="0">
                <a:latin typeface="Tahoma"/>
                <a:cs typeface="Tahoma"/>
              </a:rPr>
              <a:t>ON </a:t>
            </a:r>
            <a:r>
              <a:rPr sz="3200" spc="-5" dirty="0">
                <a:latin typeface="Tahoma"/>
                <a:cs typeface="Tahoma"/>
              </a:rPr>
              <a:t>&lt;relation or other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object&gt;</a:t>
            </a:r>
            <a:endParaRPr sz="3200" dirty="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380"/>
              </a:spcBef>
            </a:pPr>
            <a:r>
              <a:rPr sz="3200" spc="-5" dirty="0">
                <a:latin typeface="Tahoma"/>
                <a:cs typeface="Tahoma"/>
              </a:rPr>
              <a:t>FROM &lt;list of authorization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ID’s&gt;;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ts val="3460"/>
              </a:lnSpc>
              <a:spcBef>
                <a:spcPts val="82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0" dirty="0">
                <a:latin typeface="Tahoma"/>
                <a:cs typeface="Tahoma"/>
              </a:rPr>
              <a:t>Your </a:t>
            </a:r>
            <a:r>
              <a:rPr sz="3200" spc="-15" dirty="0">
                <a:latin typeface="Tahoma"/>
                <a:cs typeface="Tahoma"/>
              </a:rPr>
              <a:t>grant </a:t>
            </a:r>
            <a:r>
              <a:rPr sz="3200" spc="-5" dirty="0">
                <a:latin typeface="Tahoma"/>
                <a:cs typeface="Tahoma"/>
              </a:rPr>
              <a:t>of these privileges can </a:t>
            </a:r>
            <a:r>
              <a:rPr sz="3200" dirty="0">
                <a:latin typeface="Tahoma"/>
                <a:cs typeface="Tahoma"/>
              </a:rPr>
              <a:t>no  </a:t>
            </a:r>
            <a:r>
              <a:rPr sz="3200" spc="-5" dirty="0">
                <a:latin typeface="Tahoma"/>
                <a:cs typeface="Tahoma"/>
              </a:rPr>
              <a:t>longer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used by these users to </a:t>
            </a:r>
            <a:r>
              <a:rPr sz="3200" spc="-10" dirty="0">
                <a:latin typeface="Tahoma"/>
                <a:cs typeface="Tahoma"/>
              </a:rPr>
              <a:t>justify  </a:t>
            </a:r>
            <a:r>
              <a:rPr sz="3200" spc="-5" dirty="0">
                <a:latin typeface="Tahoma"/>
                <a:cs typeface="Tahoma"/>
              </a:rPr>
              <a:t>their use of the privilege.</a:t>
            </a:r>
            <a:endParaRPr sz="3200" dirty="0">
              <a:latin typeface="Tahoma"/>
              <a:cs typeface="Tahoma"/>
            </a:endParaRPr>
          </a:p>
          <a:p>
            <a:pPr marL="755650" marR="520700" lvl="1" indent="-285750">
              <a:lnSpc>
                <a:spcPts val="3020"/>
              </a:lnSpc>
              <a:spcBef>
                <a:spcPts val="64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Tahoma"/>
                <a:cs typeface="Tahoma"/>
              </a:rPr>
              <a:t>But </a:t>
            </a:r>
            <a:r>
              <a:rPr sz="2800" spc="-5" dirty="0">
                <a:latin typeface="Tahoma"/>
                <a:cs typeface="Tahoma"/>
              </a:rPr>
              <a:t>they </a:t>
            </a:r>
            <a:r>
              <a:rPr sz="2800" spc="-10" dirty="0">
                <a:latin typeface="Tahoma"/>
                <a:cs typeface="Tahoma"/>
              </a:rPr>
              <a:t>may </a:t>
            </a:r>
            <a:r>
              <a:rPr sz="2800" spc="-5" dirty="0">
                <a:latin typeface="Tahoma"/>
                <a:cs typeface="Tahoma"/>
              </a:rPr>
              <a:t>still </a:t>
            </a:r>
            <a:r>
              <a:rPr sz="2800" spc="-15" dirty="0">
                <a:latin typeface="Tahoma"/>
                <a:cs typeface="Tahoma"/>
              </a:rPr>
              <a:t>have </a:t>
            </a:r>
            <a:r>
              <a:rPr sz="2800" spc="-5" dirty="0">
                <a:latin typeface="Tahoma"/>
                <a:cs typeface="Tahoma"/>
              </a:rPr>
              <a:t>the privilege  because they obtained </a:t>
            </a:r>
            <a:r>
              <a:rPr sz="2800" dirty="0">
                <a:latin typeface="Tahoma"/>
                <a:cs typeface="Tahoma"/>
              </a:rPr>
              <a:t>it</a:t>
            </a:r>
            <a:r>
              <a:rPr sz="2800" spc="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independently</a:t>
            </a:r>
            <a:endParaRPr sz="2800" dirty="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2E7E345E-15BE-D5B9-17B7-1187850A453B}"/>
                  </a:ext>
                </a:extLst>
              </p14:cNvPr>
              <p14:cNvContentPartPr/>
              <p14:nvPr/>
            </p14:nvContentPartPr>
            <p14:xfrm>
              <a:off x="1513539" y="2174245"/>
              <a:ext cx="1543680" cy="34668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2E7E345E-15BE-D5B9-17B7-1187850A453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59539" y="2066605"/>
                <a:ext cx="1651320" cy="56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CF5857D4-D85A-22A3-8039-C5718796A7E3}"/>
                  </a:ext>
                </a:extLst>
              </p14:cNvPr>
              <p14:cNvContentPartPr/>
              <p14:nvPr/>
            </p14:nvContentPartPr>
            <p14:xfrm>
              <a:off x="1757259" y="2151205"/>
              <a:ext cx="1284840" cy="5256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CF5857D4-D85A-22A3-8039-C5718796A7E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03259" y="2043565"/>
                <a:ext cx="139248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E8B1C70B-D275-2785-64CD-A7FFCF33F301}"/>
                  </a:ext>
                </a:extLst>
              </p14:cNvPr>
              <p14:cNvContentPartPr/>
              <p14:nvPr/>
            </p14:nvContentPartPr>
            <p14:xfrm>
              <a:off x="1864539" y="2650885"/>
              <a:ext cx="305640" cy="7452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E8B1C70B-D275-2785-64CD-A7FFCF33F30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10539" y="2542885"/>
                <a:ext cx="41328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C8DC3F56-817B-3D2E-4261-FF6075084625}"/>
                  </a:ext>
                </a:extLst>
              </p14:cNvPr>
              <p14:cNvContentPartPr/>
              <p14:nvPr/>
            </p14:nvContentPartPr>
            <p14:xfrm>
              <a:off x="1828899" y="3262885"/>
              <a:ext cx="907200" cy="3816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C8DC3F56-817B-3D2E-4261-FF607508462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74899" y="3154885"/>
                <a:ext cx="1014840" cy="253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4600" y="829944"/>
            <a:ext cx="41154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REVOKE</a:t>
            </a:r>
            <a:r>
              <a:rPr spc="-55" dirty="0"/>
              <a:t> </a:t>
            </a:r>
            <a:r>
              <a:rPr spc="-5" dirty="0"/>
              <a:t>Options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76259" y="6290054"/>
            <a:ext cx="20383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5" dirty="0">
                <a:latin typeface="Times New Roman"/>
                <a:cs typeface="Times New Roman"/>
              </a:rPr>
              <a:t>1</a:t>
            </a:r>
            <a:r>
              <a:rPr sz="1400" dirty="0">
                <a:latin typeface="Times New Roman"/>
                <a:cs typeface="Times New Roman"/>
              </a:rPr>
              <a:t>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246620" cy="41586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2300" marR="790575" indent="-609600" algn="just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Font typeface="Wingdings"/>
              <a:buChar char=""/>
              <a:tabLst>
                <a:tab pos="622300" algn="l"/>
              </a:tabLst>
            </a:pPr>
            <a:r>
              <a:rPr sz="3200" spc="-65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must append to the REVOKE  statement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either:</a:t>
            </a:r>
            <a:endParaRPr sz="3200">
              <a:latin typeface="Tahoma"/>
              <a:cs typeface="Tahoma"/>
            </a:endParaRPr>
          </a:p>
          <a:p>
            <a:pPr marL="1002665" marR="5080" lvl="1" indent="-533400" algn="just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3300" algn="l"/>
              </a:tabLst>
            </a:pPr>
            <a:r>
              <a:rPr sz="2800" spc="-5" dirty="0">
                <a:solidFill>
                  <a:srgbClr val="33CC33"/>
                </a:solidFill>
                <a:latin typeface="Tahoma"/>
                <a:cs typeface="Tahoma"/>
              </a:rPr>
              <a:t>CASCADE</a:t>
            </a:r>
            <a:r>
              <a:rPr sz="2800" spc="-5" dirty="0">
                <a:latin typeface="Tahoma"/>
                <a:cs typeface="Tahoma"/>
              </a:rPr>
              <a:t>. </a:t>
            </a:r>
            <a:r>
              <a:rPr sz="2800" spc="-30" dirty="0">
                <a:latin typeface="Tahoma"/>
                <a:cs typeface="Tahoma"/>
              </a:rPr>
              <a:t>Now, </a:t>
            </a:r>
            <a:r>
              <a:rPr sz="2800" spc="-15" dirty="0">
                <a:latin typeface="Tahoma"/>
                <a:cs typeface="Tahoma"/>
              </a:rPr>
              <a:t>any </a:t>
            </a:r>
            <a:r>
              <a:rPr sz="2800" spc="-10" dirty="0">
                <a:latin typeface="Tahoma"/>
                <a:cs typeface="Tahoma"/>
              </a:rPr>
              <a:t>grants </a:t>
            </a:r>
            <a:r>
              <a:rPr sz="2800" spc="-5" dirty="0">
                <a:latin typeface="Tahoma"/>
                <a:cs typeface="Tahoma"/>
              </a:rPr>
              <a:t>made </a:t>
            </a:r>
            <a:r>
              <a:rPr sz="2800" spc="-10" dirty="0">
                <a:latin typeface="Tahoma"/>
                <a:cs typeface="Tahoma"/>
              </a:rPr>
              <a:t>by </a:t>
            </a:r>
            <a:r>
              <a:rPr sz="2800" spc="-5" dirty="0">
                <a:latin typeface="Tahoma"/>
                <a:cs typeface="Tahoma"/>
              </a:rPr>
              <a:t>a  </a:t>
            </a:r>
            <a:r>
              <a:rPr sz="2800" spc="-15" dirty="0">
                <a:latin typeface="Tahoma"/>
                <a:cs typeface="Tahoma"/>
              </a:rPr>
              <a:t>revokee </a:t>
            </a:r>
            <a:r>
              <a:rPr sz="2800" spc="-10" dirty="0">
                <a:latin typeface="Tahoma"/>
                <a:cs typeface="Tahoma"/>
              </a:rPr>
              <a:t>are </a:t>
            </a:r>
            <a:r>
              <a:rPr sz="2800" spc="-5" dirty="0">
                <a:latin typeface="Tahoma"/>
                <a:cs typeface="Tahoma"/>
              </a:rPr>
              <a:t>also not in </a:t>
            </a:r>
            <a:r>
              <a:rPr sz="2800" spc="-10" dirty="0">
                <a:latin typeface="Tahoma"/>
                <a:cs typeface="Tahoma"/>
              </a:rPr>
              <a:t>force, </a:t>
            </a:r>
            <a:r>
              <a:rPr sz="2800" spc="-5" dirty="0">
                <a:latin typeface="Tahoma"/>
                <a:cs typeface="Tahoma"/>
              </a:rPr>
              <a:t>no </a:t>
            </a:r>
            <a:r>
              <a:rPr sz="2800" spc="-10" dirty="0">
                <a:latin typeface="Tahoma"/>
                <a:cs typeface="Tahoma"/>
              </a:rPr>
              <a:t>matter  </a:t>
            </a:r>
            <a:r>
              <a:rPr sz="2800" spc="-5" dirty="0">
                <a:latin typeface="Tahoma"/>
                <a:cs typeface="Tahoma"/>
              </a:rPr>
              <a:t>how </a:t>
            </a:r>
            <a:r>
              <a:rPr sz="2800" spc="-15" dirty="0">
                <a:latin typeface="Tahoma"/>
                <a:cs typeface="Tahoma"/>
              </a:rPr>
              <a:t>far </a:t>
            </a:r>
            <a:r>
              <a:rPr sz="2800" spc="-5" dirty="0">
                <a:latin typeface="Tahoma"/>
                <a:cs typeface="Tahoma"/>
              </a:rPr>
              <a:t>the privilege </a:t>
            </a:r>
            <a:r>
              <a:rPr sz="2800" spc="-10" dirty="0">
                <a:latin typeface="Tahoma"/>
                <a:cs typeface="Tahoma"/>
              </a:rPr>
              <a:t>was</a:t>
            </a:r>
            <a:r>
              <a:rPr sz="2800" spc="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passed.</a:t>
            </a:r>
            <a:endParaRPr sz="2800">
              <a:latin typeface="Tahoma"/>
              <a:cs typeface="Tahoma"/>
            </a:endParaRPr>
          </a:p>
          <a:p>
            <a:pPr marL="1002665" marR="23495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  <a:tab pos="2933700" algn="l"/>
              </a:tabLst>
            </a:pPr>
            <a:r>
              <a:rPr sz="2800" spc="-5" dirty="0">
                <a:solidFill>
                  <a:srgbClr val="33CC33"/>
                </a:solidFill>
                <a:latin typeface="Tahoma"/>
                <a:cs typeface="Tahoma"/>
              </a:rPr>
              <a:t>RESTRICT</a:t>
            </a:r>
            <a:r>
              <a:rPr sz="2800" spc="-5" dirty="0">
                <a:latin typeface="Tahoma"/>
                <a:cs typeface="Tahoma"/>
              </a:rPr>
              <a:t>.	If the privilege has been  passed to others, the REVOKE </a:t>
            </a:r>
            <a:r>
              <a:rPr sz="2800" spc="-10" dirty="0">
                <a:latin typeface="Tahoma"/>
                <a:cs typeface="Tahoma"/>
              </a:rPr>
              <a:t>fails </a:t>
            </a:r>
            <a:r>
              <a:rPr sz="2800" spc="-5" dirty="0">
                <a:latin typeface="Tahoma"/>
                <a:cs typeface="Tahoma"/>
              </a:rPr>
              <a:t>as a  </a:t>
            </a:r>
            <a:r>
              <a:rPr sz="2800" spc="-10" dirty="0">
                <a:latin typeface="Tahoma"/>
                <a:cs typeface="Tahoma"/>
              </a:rPr>
              <a:t>warning </a:t>
            </a:r>
            <a:r>
              <a:rPr sz="2800" spc="-5" dirty="0">
                <a:latin typeface="Tahoma"/>
                <a:cs typeface="Tahoma"/>
              </a:rPr>
              <a:t>that something else must be  done to “chase the privilege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down.”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7789" y="829944"/>
            <a:ext cx="38684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Grant</a:t>
            </a:r>
            <a:r>
              <a:rPr spc="-70" dirty="0"/>
              <a:t> </a:t>
            </a:r>
            <a:r>
              <a:rPr spc="-15" dirty="0"/>
              <a:t>Diagrams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486015" cy="39554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Nodes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5" dirty="0">
                <a:latin typeface="Tahoma"/>
                <a:cs typeface="Tahoma"/>
              </a:rPr>
              <a:t>user/privilege/grant option?/is  owner?</a:t>
            </a:r>
            <a:endParaRPr sz="3200" dirty="0">
              <a:latin typeface="Tahoma"/>
              <a:cs typeface="Tahoma"/>
            </a:endParaRPr>
          </a:p>
          <a:p>
            <a:pPr marL="755650" marR="44450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30" dirty="0">
                <a:latin typeface="Tahoma"/>
                <a:cs typeface="Tahoma"/>
              </a:rPr>
              <a:t>UPDATE </a:t>
            </a:r>
            <a:r>
              <a:rPr sz="2800" spc="-5" dirty="0">
                <a:latin typeface="Tahoma"/>
                <a:cs typeface="Tahoma"/>
              </a:rPr>
              <a:t>ON </a:t>
            </a:r>
            <a:r>
              <a:rPr sz="2800" dirty="0">
                <a:latin typeface="Tahoma"/>
                <a:cs typeface="Tahoma"/>
              </a:rPr>
              <a:t>R, </a:t>
            </a:r>
            <a:r>
              <a:rPr sz="2800" spc="-25" dirty="0">
                <a:latin typeface="Tahoma"/>
                <a:cs typeface="Tahoma"/>
              </a:rPr>
              <a:t>UPDATE(a) </a:t>
            </a:r>
            <a:r>
              <a:rPr sz="2800" spc="-5" dirty="0">
                <a:latin typeface="Tahoma"/>
                <a:cs typeface="Tahoma"/>
              </a:rPr>
              <a:t>on </a:t>
            </a:r>
            <a:r>
              <a:rPr sz="2800" dirty="0">
                <a:latin typeface="Tahoma"/>
                <a:cs typeface="Tahoma"/>
              </a:rPr>
              <a:t>R, </a:t>
            </a:r>
            <a:r>
              <a:rPr sz="2800" spc="-5" dirty="0">
                <a:latin typeface="Tahoma"/>
                <a:cs typeface="Tahoma"/>
              </a:rPr>
              <a:t>and  </a:t>
            </a:r>
            <a:r>
              <a:rPr sz="2800" spc="-20" dirty="0">
                <a:latin typeface="Tahoma"/>
                <a:cs typeface="Tahoma"/>
              </a:rPr>
              <a:t>UPDATE(b) </a:t>
            </a:r>
            <a:r>
              <a:rPr sz="2800" spc="-5" dirty="0">
                <a:latin typeface="Tahoma"/>
                <a:cs typeface="Tahoma"/>
              </a:rPr>
              <a:t>ON R </a:t>
            </a:r>
            <a:r>
              <a:rPr sz="2800" spc="-10" dirty="0">
                <a:latin typeface="Tahoma"/>
                <a:cs typeface="Tahoma"/>
              </a:rPr>
              <a:t>live </a:t>
            </a:r>
            <a:r>
              <a:rPr sz="2800" spc="-5" dirty="0">
                <a:latin typeface="Tahoma"/>
                <a:cs typeface="Tahoma"/>
              </a:rPr>
              <a:t>in </a:t>
            </a:r>
            <a:r>
              <a:rPr sz="2800" spc="-10" dirty="0">
                <a:latin typeface="Tahoma"/>
                <a:cs typeface="Tahoma"/>
              </a:rPr>
              <a:t>different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nodes.</a:t>
            </a:r>
            <a:endParaRPr sz="2800" dirty="0">
              <a:latin typeface="Tahoma"/>
              <a:cs typeface="Tahoma"/>
            </a:endParaRPr>
          </a:p>
          <a:p>
            <a:pPr marL="755650" marR="61087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SELECT ON R and SELECT ON R WITH  GRANT OPTION </a:t>
            </a:r>
            <a:r>
              <a:rPr sz="2800" spc="-10" dirty="0">
                <a:latin typeface="Tahoma"/>
                <a:cs typeface="Tahoma"/>
              </a:rPr>
              <a:t>live </a:t>
            </a:r>
            <a:r>
              <a:rPr sz="2800" spc="-5" dirty="0">
                <a:latin typeface="Tahoma"/>
                <a:cs typeface="Tahoma"/>
              </a:rPr>
              <a:t>in </a:t>
            </a:r>
            <a:r>
              <a:rPr sz="2800" spc="-10" dirty="0">
                <a:latin typeface="Tahoma"/>
                <a:cs typeface="Tahoma"/>
              </a:rPr>
              <a:t>different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nodes.</a:t>
            </a:r>
            <a:endParaRPr sz="2800" dirty="0">
              <a:latin typeface="Tahoma"/>
              <a:cs typeface="Tahoma"/>
            </a:endParaRPr>
          </a:p>
          <a:p>
            <a:pPr marL="355600" marR="410845" indent="-342900">
              <a:lnSpc>
                <a:spcPts val="3840"/>
              </a:lnSpc>
              <a:spcBef>
                <a:spcPts val="8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Edge </a:t>
            </a:r>
            <a:r>
              <a:rPr sz="3350" i="1" spc="-105" dirty="0">
                <a:latin typeface="Tahoma"/>
                <a:cs typeface="Tahoma"/>
              </a:rPr>
              <a:t>X</a:t>
            </a:r>
            <a:r>
              <a:rPr sz="3200" spc="-105" dirty="0">
                <a:latin typeface="Tahoma"/>
                <a:cs typeface="Tahoma"/>
              </a:rPr>
              <a:t>-&gt;</a:t>
            </a:r>
            <a:r>
              <a:rPr sz="3350" i="1" spc="-105" dirty="0">
                <a:latin typeface="Tahoma"/>
                <a:cs typeface="Tahoma"/>
              </a:rPr>
              <a:t>Y </a:t>
            </a:r>
            <a:r>
              <a:rPr sz="3200" spc="-5" dirty="0">
                <a:latin typeface="Tahoma"/>
                <a:cs typeface="Tahoma"/>
              </a:rPr>
              <a:t>means that node </a:t>
            </a:r>
            <a:r>
              <a:rPr sz="3350" i="1" spc="-85" dirty="0">
                <a:latin typeface="Tahoma"/>
                <a:cs typeface="Tahoma"/>
              </a:rPr>
              <a:t>X </a:t>
            </a:r>
            <a:r>
              <a:rPr sz="3200" spc="-15" dirty="0">
                <a:latin typeface="Tahoma"/>
                <a:cs typeface="Tahoma"/>
              </a:rPr>
              <a:t>was  </a:t>
            </a:r>
            <a:r>
              <a:rPr sz="3200" spc="-5" dirty="0">
                <a:latin typeface="Tahoma"/>
                <a:cs typeface="Tahoma"/>
              </a:rPr>
              <a:t>used to </a:t>
            </a:r>
            <a:r>
              <a:rPr sz="3200" spc="-15" dirty="0">
                <a:latin typeface="Tahoma"/>
                <a:cs typeface="Tahoma"/>
              </a:rPr>
              <a:t>grant</a:t>
            </a:r>
            <a:r>
              <a:rPr sz="3200" spc="-220" dirty="0">
                <a:latin typeface="Tahoma"/>
                <a:cs typeface="Tahoma"/>
              </a:rPr>
              <a:t> </a:t>
            </a:r>
            <a:r>
              <a:rPr sz="3350" i="1" spc="-560" dirty="0">
                <a:latin typeface="Tahoma"/>
                <a:cs typeface="Tahoma"/>
              </a:rPr>
              <a:t>Y</a:t>
            </a:r>
            <a:r>
              <a:rPr sz="3200" spc="-560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9010" y="829944"/>
            <a:ext cx="46666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Notation </a:t>
            </a:r>
            <a:r>
              <a:rPr spc="-20" dirty="0"/>
              <a:t>for</a:t>
            </a:r>
            <a:r>
              <a:rPr spc="-60" dirty="0"/>
              <a:t> </a:t>
            </a:r>
            <a:r>
              <a:rPr spc="-5" dirty="0"/>
              <a:t>Nodes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597140" cy="328930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423545" indent="-34290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Use </a:t>
            </a:r>
            <a:r>
              <a:rPr sz="3350" i="1" spc="-600" dirty="0">
                <a:latin typeface="Tahoma"/>
                <a:cs typeface="Tahoma"/>
              </a:rPr>
              <a:t>AP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the node representing  authorization </a:t>
            </a:r>
            <a:r>
              <a:rPr sz="3200" dirty="0">
                <a:latin typeface="Tahoma"/>
                <a:cs typeface="Tahoma"/>
              </a:rPr>
              <a:t>ID </a:t>
            </a:r>
            <a:r>
              <a:rPr sz="3350" i="1" spc="-90" dirty="0">
                <a:latin typeface="Tahoma"/>
                <a:cs typeface="Tahoma"/>
              </a:rPr>
              <a:t>A </a:t>
            </a:r>
            <a:r>
              <a:rPr sz="3200" spc="-10" dirty="0">
                <a:latin typeface="Tahoma"/>
                <a:cs typeface="Tahoma"/>
              </a:rPr>
              <a:t>having </a:t>
            </a:r>
            <a:r>
              <a:rPr sz="3200" spc="-5" dirty="0">
                <a:latin typeface="Tahoma"/>
                <a:cs typeface="Tahoma"/>
              </a:rPr>
              <a:t>privilege</a:t>
            </a:r>
            <a:r>
              <a:rPr sz="3200" spc="-420" dirty="0">
                <a:latin typeface="Tahoma"/>
                <a:cs typeface="Tahoma"/>
              </a:rPr>
              <a:t> </a:t>
            </a:r>
            <a:r>
              <a:rPr sz="3350" i="1" spc="-555" dirty="0">
                <a:latin typeface="Tahoma"/>
                <a:cs typeface="Tahoma"/>
              </a:rPr>
              <a:t>P</a:t>
            </a:r>
            <a:r>
              <a:rPr sz="3200" spc="-555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  <a:p>
            <a:pPr marL="732155" lvl="1" indent="-262890">
              <a:lnSpc>
                <a:spcPct val="100000"/>
              </a:lnSpc>
              <a:spcBef>
                <a:spcPts val="445"/>
              </a:spcBef>
              <a:buClr>
                <a:srgbClr val="CC00CC"/>
              </a:buClr>
              <a:buSzPct val="96551"/>
              <a:buFont typeface="Wingdings"/>
              <a:buChar char=""/>
              <a:tabLst>
                <a:tab pos="732790" algn="l"/>
              </a:tabLst>
            </a:pPr>
            <a:r>
              <a:rPr sz="2900" i="1" spc="-45" dirty="0">
                <a:latin typeface="Tahoma"/>
                <a:cs typeface="Tahoma"/>
              </a:rPr>
              <a:t>P</a:t>
            </a:r>
            <a:r>
              <a:rPr sz="2800" spc="-45" dirty="0">
                <a:latin typeface="Tahoma"/>
                <a:cs typeface="Tahoma"/>
              </a:rPr>
              <a:t>* </a:t>
            </a:r>
            <a:r>
              <a:rPr sz="2800" spc="-5" dirty="0">
                <a:latin typeface="Tahoma"/>
                <a:cs typeface="Tahoma"/>
              </a:rPr>
              <a:t>= privilege </a:t>
            </a:r>
            <a:r>
              <a:rPr sz="2900" i="1" spc="-60" dirty="0">
                <a:latin typeface="Tahoma"/>
                <a:cs typeface="Tahoma"/>
              </a:rPr>
              <a:t>P </a:t>
            </a:r>
            <a:r>
              <a:rPr sz="2800" dirty="0">
                <a:latin typeface="Tahoma"/>
                <a:cs typeface="Tahoma"/>
              </a:rPr>
              <a:t>with </a:t>
            </a:r>
            <a:r>
              <a:rPr sz="2800" spc="-15" dirty="0">
                <a:latin typeface="Tahoma"/>
                <a:cs typeface="Tahoma"/>
              </a:rPr>
              <a:t>grant</a:t>
            </a:r>
            <a:r>
              <a:rPr sz="2800" spc="-1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option.</a:t>
            </a:r>
            <a:endParaRPr sz="2800">
              <a:latin typeface="Tahoma"/>
              <a:cs typeface="Tahoma"/>
            </a:endParaRPr>
          </a:p>
          <a:p>
            <a:pPr marL="732155" lvl="1" indent="-262890">
              <a:lnSpc>
                <a:spcPct val="100000"/>
              </a:lnSpc>
              <a:spcBef>
                <a:spcPts val="550"/>
              </a:spcBef>
              <a:buClr>
                <a:srgbClr val="CC00CC"/>
              </a:buClr>
              <a:buSzPct val="96551"/>
              <a:buFont typeface="Wingdings"/>
              <a:buChar char=""/>
              <a:tabLst>
                <a:tab pos="732790" algn="l"/>
              </a:tabLst>
            </a:pPr>
            <a:r>
              <a:rPr sz="2900" i="1" spc="-30" dirty="0">
                <a:latin typeface="Tahoma"/>
                <a:cs typeface="Tahoma"/>
              </a:rPr>
              <a:t>P</a:t>
            </a:r>
            <a:r>
              <a:rPr sz="2800" spc="-30" dirty="0">
                <a:latin typeface="Tahoma"/>
                <a:cs typeface="Tahoma"/>
              </a:rPr>
              <a:t>** </a:t>
            </a:r>
            <a:r>
              <a:rPr sz="2800" spc="-5" dirty="0">
                <a:latin typeface="Tahoma"/>
                <a:cs typeface="Tahoma"/>
              </a:rPr>
              <a:t>= the source of the privilege</a:t>
            </a:r>
            <a:r>
              <a:rPr sz="2800" spc="-140" dirty="0">
                <a:latin typeface="Tahoma"/>
                <a:cs typeface="Tahoma"/>
              </a:rPr>
              <a:t> </a:t>
            </a:r>
            <a:r>
              <a:rPr sz="2900" i="1" spc="-480" dirty="0">
                <a:latin typeface="Tahoma"/>
                <a:cs typeface="Tahoma"/>
              </a:rPr>
              <a:t>P</a:t>
            </a:r>
            <a:r>
              <a:rPr sz="2800" spc="-480" dirty="0">
                <a:latin typeface="Tahoma"/>
                <a:cs typeface="Tahoma"/>
              </a:rPr>
              <a:t>.</a:t>
            </a:r>
            <a:endParaRPr sz="2800">
              <a:latin typeface="Tahoma"/>
              <a:cs typeface="Tahoma"/>
            </a:endParaRPr>
          </a:p>
          <a:p>
            <a:pPr marL="1155065" marR="5080" lvl="2" indent="-228600">
              <a:lnSpc>
                <a:spcPts val="2880"/>
              </a:lnSpc>
              <a:spcBef>
                <a:spcPts val="650"/>
              </a:spcBef>
              <a:buClr>
                <a:srgbClr val="CC00CC"/>
              </a:buClr>
              <a:buChar char="•"/>
              <a:tabLst>
                <a:tab pos="1155700" algn="l"/>
              </a:tabLst>
            </a:pPr>
            <a:r>
              <a:rPr sz="2400" spc="-35" dirty="0">
                <a:latin typeface="Tahoma"/>
                <a:cs typeface="Tahoma"/>
              </a:rPr>
              <a:t>I.e., </a:t>
            </a:r>
            <a:r>
              <a:rPr sz="2500" i="1" spc="-60" dirty="0">
                <a:latin typeface="Tahoma"/>
                <a:cs typeface="Tahoma"/>
              </a:rPr>
              <a:t>A </a:t>
            </a:r>
            <a:r>
              <a:rPr sz="2400" dirty="0">
                <a:latin typeface="Tahoma"/>
                <a:cs typeface="Tahoma"/>
              </a:rPr>
              <a:t>is the </a:t>
            </a:r>
            <a:r>
              <a:rPr sz="2400" spc="-5" dirty="0">
                <a:latin typeface="Tahoma"/>
                <a:cs typeface="Tahoma"/>
              </a:rPr>
              <a:t>owner </a:t>
            </a:r>
            <a:r>
              <a:rPr sz="2400" dirty="0">
                <a:latin typeface="Tahoma"/>
                <a:cs typeface="Tahoma"/>
              </a:rPr>
              <a:t>of the </a:t>
            </a:r>
            <a:r>
              <a:rPr sz="2400" spc="-5" dirty="0">
                <a:latin typeface="Tahoma"/>
                <a:cs typeface="Tahoma"/>
              </a:rPr>
              <a:t>object </a:t>
            </a:r>
            <a:r>
              <a:rPr sz="2400" dirty="0">
                <a:latin typeface="Tahoma"/>
                <a:cs typeface="Tahoma"/>
              </a:rPr>
              <a:t>on </a:t>
            </a:r>
            <a:r>
              <a:rPr sz="2400" spc="-5" dirty="0">
                <a:latin typeface="Tahoma"/>
                <a:cs typeface="Tahoma"/>
              </a:rPr>
              <a:t>which </a:t>
            </a:r>
            <a:r>
              <a:rPr sz="2500" i="1" spc="-60" dirty="0">
                <a:latin typeface="Tahoma"/>
                <a:cs typeface="Tahoma"/>
              </a:rPr>
              <a:t>P </a:t>
            </a:r>
            <a:r>
              <a:rPr sz="2400" dirty="0">
                <a:latin typeface="Tahoma"/>
                <a:cs typeface="Tahoma"/>
              </a:rPr>
              <a:t>is  a</a:t>
            </a:r>
            <a:r>
              <a:rPr sz="2400" spc="-5" dirty="0">
                <a:latin typeface="Tahoma"/>
                <a:cs typeface="Tahoma"/>
              </a:rPr>
              <a:t> privilege.</a:t>
            </a:r>
            <a:endParaRPr sz="2400">
              <a:latin typeface="Tahoma"/>
              <a:cs typeface="Tahoma"/>
            </a:endParaRPr>
          </a:p>
          <a:p>
            <a:pPr marL="1155700" lvl="2" indent="-229235">
              <a:lnSpc>
                <a:spcPct val="100000"/>
              </a:lnSpc>
              <a:spcBef>
                <a:spcPts val="480"/>
              </a:spcBef>
              <a:buClr>
                <a:srgbClr val="CC00CC"/>
              </a:buClr>
              <a:buChar char="•"/>
              <a:tabLst>
                <a:tab pos="1155700" algn="l"/>
              </a:tabLst>
            </a:pPr>
            <a:r>
              <a:rPr sz="2400" spc="-5" dirty="0">
                <a:latin typeface="Tahoma"/>
                <a:cs typeface="Tahoma"/>
              </a:rPr>
              <a:t>Note ** implies </a:t>
            </a:r>
            <a:r>
              <a:rPr sz="2400" spc="-10" dirty="0">
                <a:latin typeface="Tahoma"/>
                <a:cs typeface="Tahoma"/>
              </a:rPr>
              <a:t>grant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option.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Manipulating Edges </a:t>
            </a:r>
            <a:r>
              <a:rPr dirty="0"/>
              <a:t>–</a:t>
            </a:r>
            <a:r>
              <a:rPr spc="-40" dirty="0"/>
              <a:t> </a:t>
            </a:r>
            <a:r>
              <a:rPr spc="-5" dirty="0"/>
              <a:t>(1)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560705" marR="354965" indent="-34290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620395" algn="l"/>
              </a:tabLst>
            </a:pPr>
            <a:r>
              <a:rPr spc="-5" dirty="0"/>
              <a:t>When </a:t>
            </a:r>
            <a:r>
              <a:rPr sz="3350" i="1" spc="-90" dirty="0">
                <a:latin typeface="Tahoma"/>
                <a:cs typeface="Tahoma"/>
              </a:rPr>
              <a:t>A </a:t>
            </a:r>
            <a:r>
              <a:rPr spc="-15" dirty="0"/>
              <a:t>grants </a:t>
            </a:r>
            <a:r>
              <a:rPr sz="3350" i="1" spc="-80" dirty="0">
                <a:latin typeface="Tahoma"/>
                <a:cs typeface="Tahoma"/>
              </a:rPr>
              <a:t>P </a:t>
            </a:r>
            <a:r>
              <a:rPr spc="-5" dirty="0"/>
              <a:t>to </a:t>
            </a:r>
            <a:r>
              <a:rPr sz="3350" i="1" spc="-560" dirty="0">
                <a:latin typeface="Tahoma"/>
                <a:cs typeface="Tahoma"/>
              </a:rPr>
              <a:t>B</a:t>
            </a:r>
            <a:r>
              <a:rPr spc="-560" dirty="0"/>
              <a:t>, </a:t>
            </a:r>
            <a:r>
              <a:rPr spc="-65" dirty="0"/>
              <a:t>We </a:t>
            </a:r>
            <a:r>
              <a:rPr spc="-20" dirty="0"/>
              <a:t>draw </a:t>
            </a:r>
            <a:r>
              <a:rPr dirty="0"/>
              <a:t>an </a:t>
            </a:r>
            <a:r>
              <a:rPr spc="-5" dirty="0"/>
              <a:t>edge  </a:t>
            </a:r>
            <a:r>
              <a:rPr spc="-10" dirty="0"/>
              <a:t>from </a:t>
            </a:r>
            <a:r>
              <a:rPr sz="3350" i="1" spc="-409" dirty="0">
                <a:latin typeface="Tahoma"/>
                <a:cs typeface="Tahoma"/>
              </a:rPr>
              <a:t>AP</a:t>
            </a:r>
            <a:r>
              <a:rPr spc="-409" dirty="0"/>
              <a:t>* </a:t>
            </a:r>
            <a:r>
              <a:rPr spc="-5" dirty="0"/>
              <a:t>or </a:t>
            </a:r>
            <a:r>
              <a:rPr sz="3350" i="1" spc="-360" dirty="0">
                <a:latin typeface="Tahoma"/>
                <a:cs typeface="Tahoma"/>
              </a:rPr>
              <a:t>AP</a:t>
            </a:r>
            <a:r>
              <a:rPr spc="-360" dirty="0"/>
              <a:t>** </a:t>
            </a:r>
            <a:r>
              <a:rPr spc="-5" dirty="0"/>
              <a:t>to</a:t>
            </a:r>
            <a:r>
              <a:rPr spc="-685" dirty="0"/>
              <a:t> </a:t>
            </a:r>
            <a:r>
              <a:rPr sz="3350" i="1" spc="-815" dirty="0">
                <a:latin typeface="Tahoma"/>
                <a:cs typeface="Tahoma"/>
              </a:rPr>
              <a:t>BP</a:t>
            </a:r>
            <a:r>
              <a:rPr spc="-815" dirty="0"/>
              <a:t>.</a:t>
            </a:r>
            <a:endParaRPr sz="3350">
              <a:latin typeface="Tahoma"/>
              <a:cs typeface="Tahoma"/>
            </a:endParaRPr>
          </a:p>
          <a:p>
            <a:pPr marL="960755" lvl="1" indent="-285750">
              <a:lnSpc>
                <a:spcPct val="100000"/>
              </a:lnSpc>
              <a:spcBef>
                <a:spcPts val="445"/>
              </a:spcBef>
              <a:buClr>
                <a:srgbClr val="CC00CC"/>
              </a:buClr>
              <a:buFont typeface="Wingdings"/>
              <a:buChar char=""/>
              <a:tabLst>
                <a:tab pos="960755" algn="l"/>
              </a:tabLst>
            </a:pPr>
            <a:r>
              <a:rPr sz="2800" spc="-5" dirty="0">
                <a:latin typeface="Tahoma"/>
                <a:cs typeface="Tahoma"/>
              </a:rPr>
              <a:t>Or to </a:t>
            </a:r>
            <a:r>
              <a:rPr sz="2900" i="1" spc="-409" dirty="0">
                <a:latin typeface="Tahoma"/>
                <a:cs typeface="Tahoma"/>
              </a:rPr>
              <a:t>BP</a:t>
            </a:r>
            <a:r>
              <a:rPr sz="2800" spc="-409" dirty="0">
                <a:latin typeface="Tahoma"/>
                <a:cs typeface="Tahoma"/>
              </a:rPr>
              <a:t>* </a:t>
            </a:r>
            <a:r>
              <a:rPr sz="2800" dirty="0">
                <a:latin typeface="Tahoma"/>
                <a:cs typeface="Tahoma"/>
              </a:rPr>
              <a:t>if </a:t>
            </a:r>
            <a:r>
              <a:rPr sz="2800" spc="-5" dirty="0">
                <a:latin typeface="Tahoma"/>
                <a:cs typeface="Tahoma"/>
              </a:rPr>
              <a:t>the </a:t>
            </a:r>
            <a:r>
              <a:rPr sz="2800" spc="-15" dirty="0">
                <a:latin typeface="Tahoma"/>
                <a:cs typeface="Tahoma"/>
              </a:rPr>
              <a:t>grant </a:t>
            </a:r>
            <a:r>
              <a:rPr sz="2800" spc="-5" dirty="0">
                <a:latin typeface="Tahoma"/>
                <a:cs typeface="Tahoma"/>
              </a:rPr>
              <a:t>is </a:t>
            </a:r>
            <a:r>
              <a:rPr sz="2800" dirty="0">
                <a:latin typeface="Tahoma"/>
                <a:cs typeface="Tahoma"/>
              </a:rPr>
              <a:t>with </a:t>
            </a:r>
            <a:r>
              <a:rPr sz="2800" spc="-15" dirty="0">
                <a:latin typeface="Tahoma"/>
                <a:cs typeface="Tahoma"/>
              </a:rPr>
              <a:t>grant</a:t>
            </a:r>
            <a:r>
              <a:rPr sz="2800" spc="-2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option.</a:t>
            </a:r>
            <a:endParaRPr sz="2800">
              <a:latin typeface="Tahoma"/>
              <a:cs typeface="Tahoma"/>
            </a:endParaRPr>
          </a:p>
          <a:p>
            <a:pPr marL="560705" marR="5080" indent="-342900">
              <a:lnSpc>
                <a:spcPts val="3840"/>
              </a:lnSpc>
              <a:spcBef>
                <a:spcPts val="869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620395" algn="l"/>
              </a:tabLst>
            </a:pPr>
            <a:r>
              <a:rPr spc="-5" dirty="0"/>
              <a:t>If </a:t>
            </a:r>
            <a:r>
              <a:rPr sz="3350" i="1" spc="-90" dirty="0">
                <a:latin typeface="Tahoma"/>
                <a:cs typeface="Tahoma"/>
              </a:rPr>
              <a:t>A </a:t>
            </a:r>
            <a:r>
              <a:rPr spc="-15" dirty="0"/>
              <a:t>grants </a:t>
            </a:r>
            <a:r>
              <a:rPr dirty="0"/>
              <a:t>a </a:t>
            </a:r>
            <a:r>
              <a:rPr spc="-5" dirty="0"/>
              <a:t>subprivilege </a:t>
            </a:r>
            <a:r>
              <a:rPr sz="3350" i="1" spc="-105" dirty="0">
                <a:latin typeface="Tahoma"/>
                <a:cs typeface="Tahoma"/>
              </a:rPr>
              <a:t>Q </a:t>
            </a:r>
            <a:r>
              <a:rPr spc="-5" dirty="0"/>
              <a:t>of </a:t>
            </a:r>
            <a:r>
              <a:rPr sz="3350" i="1" spc="-80" dirty="0">
                <a:latin typeface="Tahoma"/>
                <a:cs typeface="Tahoma"/>
              </a:rPr>
              <a:t>P </a:t>
            </a:r>
            <a:r>
              <a:rPr spc="-10" dirty="0"/>
              <a:t>[say  </a:t>
            </a:r>
            <a:r>
              <a:rPr spc="-25" dirty="0"/>
              <a:t>UPDATE(a) </a:t>
            </a:r>
            <a:r>
              <a:rPr dirty="0"/>
              <a:t>on R </a:t>
            </a:r>
            <a:r>
              <a:rPr spc="-5" dirty="0"/>
              <a:t>when </a:t>
            </a:r>
            <a:r>
              <a:rPr sz="3350" i="1" spc="-80" dirty="0">
                <a:latin typeface="Tahoma"/>
                <a:cs typeface="Tahoma"/>
              </a:rPr>
              <a:t>P </a:t>
            </a:r>
            <a:r>
              <a:rPr spc="-5" dirty="0"/>
              <a:t>is </a:t>
            </a:r>
            <a:r>
              <a:rPr spc="-35" dirty="0"/>
              <a:t>UPDATE </a:t>
            </a:r>
            <a:r>
              <a:rPr dirty="0"/>
              <a:t>ON R]  </a:t>
            </a:r>
            <a:r>
              <a:rPr spc="-5" dirty="0"/>
              <a:t>then the edge goes to </a:t>
            </a:r>
            <a:r>
              <a:rPr sz="3350" i="1" spc="-710" dirty="0">
                <a:latin typeface="Tahoma"/>
                <a:cs typeface="Tahoma"/>
              </a:rPr>
              <a:t>BQ </a:t>
            </a:r>
            <a:r>
              <a:rPr spc="-5" dirty="0"/>
              <a:t>or </a:t>
            </a:r>
            <a:r>
              <a:rPr sz="3350" i="1" spc="-365" dirty="0">
                <a:latin typeface="Tahoma"/>
                <a:cs typeface="Tahoma"/>
              </a:rPr>
              <a:t>BQ</a:t>
            </a:r>
            <a:r>
              <a:rPr spc="-365" dirty="0"/>
              <a:t>*,</a:t>
            </a:r>
            <a:r>
              <a:rPr spc="-465" dirty="0"/>
              <a:t> </a:t>
            </a:r>
            <a:r>
              <a:rPr spc="-5" dirty="0"/>
              <a:t>instead.</a:t>
            </a:r>
            <a:endParaRPr sz="3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Manipulating Edges </a:t>
            </a:r>
            <a:r>
              <a:rPr dirty="0"/>
              <a:t>–</a:t>
            </a:r>
            <a:r>
              <a:rPr spc="-40" dirty="0"/>
              <a:t> </a:t>
            </a:r>
            <a:r>
              <a:rPr spc="-5" dirty="0"/>
              <a:t>(2)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735330" marR="5080" indent="-28956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848994" algn="l"/>
              </a:tabLst>
            </a:pPr>
            <a:r>
              <a:rPr spc="-5" dirty="0">
                <a:solidFill>
                  <a:srgbClr val="33CC33"/>
                </a:solidFill>
              </a:rPr>
              <a:t>Fundamental rule</a:t>
            </a:r>
            <a:r>
              <a:rPr spc="-5" dirty="0"/>
              <a:t>: User </a:t>
            </a:r>
            <a:r>
              <a:rPr sz="3350" i="1" spc="-90" dirty="0">
                <a:latin typeface="Tahoma"/>
                <a:cs typeface="Tahoma"/>
              </a:rPr>
              <a:t>C </a:t>
            </a:r>
            <a:r>
              <a:rPr spc="-5" dirty="0"/>
              <a:t>has privilege </a:t>
            </a:r>
            <a:r>
              <a:rPr sz="3350" i="1" spc="-105" dirty="0">
                <a:latin typeface="Tahoma"/>
                <a:cs typeface="Tahoma"/>
              </a:rPr>
              <a:t>Q  </a:t>
            </a:r>
            <a:r>
              <a:rPr spc="-5" dirty="0"/>
              <a:t>as long as there is </a:t>
            </a:r>
            <a:r>
              <a:rPr dirty="0"/>
              <a:t>a </a:t>
            </a:r>
            <a:r>
              <a:rPr spc="-5" dirty="0"/>
              <a:t>path </a:t>
            </a:r>
            <a:r>
              <a:rPr spc="-10" dirty="0"/>
              <a:t>from </a:t>
            </a:r>
            <a:r>
              <a:rPr sz="3350" i="1" spc="-360" dirty="0">
                <a:latin typeface="Tahoma"/>
                <a:cs typeface="Tahoma"/>
              </a:rPr>
              <a:t>XP</a:t>
            </a:r>
            <a:r>
              <a:rPr spc="-360" dirty="0"/>
              <a:t>** </a:t>
            </a:r>
            <a:r>
              <a:rPr spc="-5" dirty="0"/>
              <a:t>to </a:t>
            </a:r>
            <a:r>
              <a:rPr sz="3350" i="1" spc="-755" dirty="0">
                <a:latin typeface="Tahoma"/>
                <a:cs typeface="Tahoma"/>
              </a:rPr>
              <a:t>CQ</a:t>
            </a:r>
            <a:r>
              <a:rPr spc="-755" dirty="0"/>
              <a:t>,  </a:t>
            </a:r>
            <a:r>
              <a:rPr sz="3350" i="1" spc="-370" dirty="0">
                <a:latin typeface="Tahoma"/>
                <a:cs typeface="Tahoma"/>
              </a:rPr>
              <a:t>CQ</a:t>
            </a:r>
            <a:r>
              <a:rPr spc="-370" dirty="0"/>
              <a:t>*, </a:t>
            </a:r>
            <a:r>
              <a:rPr spc="-5" dirty="0"/>
              <a:t>or </a:t>
            </a:r>
            <a:r>
              <a:rPr sz="3350" i="1" spc="-295" dirty="0">
                <a:latin typeface="Tahoma"/>
                <a:cs typeface="Tahoma"/>
              </a:rPr>
              <a:t>CQ</a:t>
            </a:r>
            <a:r>
              <a:rPr spc="-295" dirty="0"/>
              <a:t>**, </a:t>
            </a:r>
            <a:r>
              <a:rPr spc="-5" dirty="0"/>
              <a:t>and </a:t>
            </a:r>
            <a:r>
              <a:rPr sz="3350" i="1" spc="-80" dirty="0">
                <a:latin typeface="Tahoma"/>
                <a:cs typeface="Tahoma"/>
              </a:rPr>
              <a:t>P </a:t>
            </a:r>
            <a:r>
              <a:rPr spc="-5" dirty="0"/>
              <a:t>is </a:t>
            </a:r>
            <a:r>
              <a:rPr dirty="0"/>
              <a:t>a </a:t>
            </a:r>
            <a:r>
              <a:rPr spc="-5" dirty="0"/>
              <a:t>superprivilege of</a:t>
            </a:r>
            <a:r>
              <a:rPr spc="-590" dirty="0"/>
              <a:t> </a:t>
            </a:r>
            <a:r>
              <a:rPr sz="3350" i="1" spc="-570" dirty="0">
                <a:latin typeface="Tahoma"/>
                <a:cs typeface="Tahoma"/>
              </a:rPr>
              <a:t>Q</a:t>
            </a:r>
            <a:r>
              <a:rPr spc="-570" dirty="0"/>
              <a:t>.</a:t>
            </a:r>
            <a:endParaRPr sz="3350">
              <a:latin typeface="Tahoma"/>
              <a:cs typeface="Tahoma"/>
            </a:endParaRPr>
          </a:p>
          <a:p>
            <a:pPr marL="1189355" marR="475615" lvl="1" indent="-285750">
              <a:lnSpc>
                <a:spcPts val="3360"/>
              </a:lnSpc>
              <a:spcBef>
                <a:spcPts val="655"/>
              </a:spcBef>
              <a:buClr>
                <a:srgbClr val="CC00CC"/>
              </a:buClr>
              <a:buFont typeface="Wingdings"/>
              <a:buChar char=""/>
              <a:tabLst>
                <a:tab pos="1189355" algn="l"/>
              </a:tabLst>
            </a:pPr>
            <a:r>
              <a:rPr sz="2800" spc="-10" dirty="0">
                <a:latin typeface="Tahoma"/>
                <a:cs typeface="Tahoma"/>
              </a:rPr>
              <a:t>Remember </a:t>
            </a:r>
            <a:r>
              <a:rPr sz="2800" spc="-5" dirty="0">
                <a:latin typeface="Tahoma"/>
                <a:cs typeface="Tahoma"/>
              </a:rPr>
              <a:t>that </a:t>
            </a:r>
            <a:r>
              <a:rPr sz="2900" i="1" spc="-60" dirty="0">
                <a:latin typeface="Tahoma"/>
                <a:cs typeface="Tahoma"/>
              </a:rPr>
              <a:t>P </a:t>
            </a:r>
            <a:r>
              <a:rPr sz="2800" spc="-5" dirty="0">
                <a:latin typeface="Tahoma"/>
                <a:cs typeface="Tahoma"/>
              </a:rPr>
              <a:t>could be </a:t>
            </a:r>
            <a:r>
              <a:rPr sz="2900" i="1" spc="-490" dirty="0">
                <a:latin typeface="Tahoma"/>
                <a:cs typeface="Tahoma"/>
              </a:rPr>
              <a:t>Q</a:t>
            </a:r>
            <a:r>
              <a:rPr sz="2800" spc="-490" dirty="0">
                <a:latin typeface="Tahoma"/>
                <a:cs typeface="Tahoma"/>
              </a:rPr>
              <a:t>, </a:t>
            </a:r>
            <a:r>
              <a:rPr sz="2800" spc="-5" dirty="0">
                <a:latin typeface="Tahoma"/>
                <a:cs typeface="Tahoma"/>
              </a:rPr>
              <a:t>and </a:t>
            </a:r>
            <a:r>
              <a:rPr sz="2900" i="1" spc="-65" dirty="0">
                <a:latin typeface="Tahoma"/>
                <a:cs typeface="Tahoma"/>
              </a:rPr>
              <a:t>X </a:t>
            </a:r>
            <a:r>
              <a:rPr sz="2800" spc="-5" dirty="0">
                <a:latin typeface="Tahoma"/>
                <a:cs typeface="Tahoma"/>
              </a:rPr>
              <a:t>could  be</a:t>
            </a:r>
            <a:r>
              <a:rPr sz="2800" spc="-190" dirty="0">
                <a:latin typeface="Tahoma"/>
                <a:cs typeface="Tahoma"/>
              </a:rPr>
              <a:t> </a:t>
            </a:r>
            <a:r>
              <a:rPr sz="2900" i="1" spc="-480" dirty="0">
                <a:latin typeface="Tahoma"/>
                <a:cs typeface="Tahoma"/>
              </a:rPr>
              <a:t>C</a:t>
            </a:r>
            <a:r>
              <a:rPr sz="2800" spc="-480" dirty="0">
                <a:latin typeface="Tahoma"/>
                <a:cs typeface="Tahoma"/>
              </a:rPr>
              <a:t>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Manipulating Edges </a:t>
            </a:r>
            <a:r>
              <a:rPr dirty="0"/>
              <a:t>–</a:t>
            </a:r>
            <a:r>
              <a:rPr spc="-40" dirty="0"/>
              <a:t> </a:t>
            </a:r>
            <a:r>
              <a:rPr spc="-5" dirty="0"/>
              <a:t>(3)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456170" cy="3557904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01625" marR="123825" indent="-28956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If </a:t>
            </a:r>
            <a:r>
              <a:rPr sz="3350" i="1" spc="-25" dirty="0">
                <a:latin typeface="Tahoma"/>
                <a:cs typeface="Tahoma"/>
              </a:rPr>
              <a:t>A</a:t>
            </a:r>
            <a:r>
              <a:rPr sz="3200" spc="-25" dirty="0">
                <a:latin typeface="Tahoma"/>
                <a:cs typeface="Tahoma"/>
              </a:rPr>
              <a:t>revokes </a:t>
            </a:r>
            <a:r>
              <a:rPr sz="3350" i="1" spc="-80" dirty="0">
                <a:latin typeface="Tahoma"/>
                <a:cs typeface="Tahoma"/>
              </a:rPr>
              <a:t>P </a:t>
            </a:r>
            <a:r>
              <a:rPr sz="3200" spc="-10" dirty="0">
                <a:latin typeface="Tahoma"/>
                <a:cs typeface="Tahoma"/>
              </a:rPr>
              <a:t>from </a:t>
            </a:r>
            <a:r>
              <a:rPr sz="3350" i="1" spc="-90" dirty="0">
                <a:latin typeface="Tahoma"/>
                <a:cs typeface="Tahoma"/>
              </a:rPr>
              <a:t>B </a:t>
            </a:r>
            <a:r>
              <a:rPr sz="3200" spc="-5" dirty="0">
                <a:latin typeface="Tahoma"/>
                <a:cs typeface="Tahoma"/>
              </a:rPr>
              <a:t>with the  CASCADE option, delete the edge </a:t>
            </a:r>
            <a:r>
              <a:rPr sz="3200" spc="-10" dirty="0">
                <a:latin typeface="Tahoma"/>
                <a:cs typeface="Tahoma"/>
              </a:rPr>
              <a:t>from  </a:t>
            </a:r>
            <a:r>
              <a:rPr sz="3350" i="1" spc="-600" dirty="0">
                <a:latin typeface="Tahoma"/>
                <a:cs typeface="Tahoma"/>
              </a:rPr>
              <a:t>AP </a:t>
            </a:r>
            <a:r>
              <a:rPr sz="3200" spc="-5" dirty="0">
                <a:latin typeface="Tahoma"/>
                <a:cs typeface="Tahoma"/>
              </a:rPr>
              <a:t>to</a:t>
            </a:r>
            <a:r>
              <a:rPr sz="3200" spc="-140" dirty="0">
                <a:latin typeface="Tahoma"/>
                <a:cs typeface="Tahoma"/>
              </a:rPr>
              <a:t> </a:t>
            </a:r>
            <a:r>
              <a:rPr sz="3350" i="1" spc="-815" dirty="0">
                <a:latin typeface="Tahoma"/>
                <a:cs typeface="Tahoma"/>
              </a:rPr>
              <a:t>BP</a:t>
            </a:r>
            <a:r>
              <a:rPr sz="3200" spc="-815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  <a:p>
            <a:pPr marL="355600" marR="5080" indent="-342900">
              <a:lnSpc>
                <a:spcPts val="384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But if </a:t>
            </a:r>
            <a:r>
              <a:rPr sz="3350" i="1" spc="-9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uses RESTRICT instead, and  there is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5" dirty="0">
                <a:latin typeface="Tahoma"/>
                <a:cs typeface="Tahoma"/>
              </a:rPr>
              <a:t>edge </a:t>
            </a:r>
            <a:r>
              <a:rPr sz="3200" spc="-10" dirty="0">
                <a:latin typeface="Tahoma"/>
                <a:cs typeface="Tahoma"/>
              </a:rPr>
              <a:t>from </a:t>
            </a:r>
            <a:r>
              <a:rPr sz="3350" i="1" spc="-600" dirty="0">
                <a:latin typeface="Tahoma"/>
                <a:cs typeface="Tahoma"/>
              </a:rPr>
              <a:t>BP </a:t>
            </a:r>
            <a:r>
              <a:rPr sz="3200" spc="-5" dirty="0">
                <a:latin typeface="Tahoma"/>
                <a:cs typeface="Tahoma"/>
              </a:rPr>
              <a:t>to </a:t>
            </a:r>
            <a:r>
              <a:rPr sz="3200" spc="-10" dirty="0">
                <a:latin typeface="Tahoma"/>
                <a:cs typeface="Tahoma"/>
              </a:rPr>
              <a:t>anywhere,  </a:t>
            </a:r>
            <a:r>
              <a:rPr sz="3200" spc="-5" dirty="0">
                <a:latin typeface="Tahoma"/>
                <a:cs typeface="Tahoma"/>
              </a:rPr>
              <a:t>then reject the </a:t>
            </a:r>
            <a:r>
              <a:rPr sz="3200" spc="-10" dirty="0">
                <a:latin typeface="Tahoma"/>
                <a:cs typeface="Tahoma"/>
              </a:rPr>
              <a:t>revocation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200" spc="-10" dirty="0">
                <a:latin typeface="Tahoma"/>
                <a:cs typeface="Tahoma"/>
              </a:rPr>
              <a:t>make </a:t>
            </a:r>
            <a:r>
              <a:rPr sz="3200" dirty="0">
                <a:latin typeface="Tahoma"/>
                <a:cs typeface="Tahoma"/>
              </a:rPr>
              <a:t>no  </a:t>
            </a:r>
            <a:r>
              <a:rPr sz="3200" spc="-5" dirty="0">
                <a:latin typeface="Tahoma"/>
                <a:cs typeface="Tahoma"/>
              </a:rPr>
              <a:t>change to the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15" dirty="0">
                <a:latin typeface="Tahoma"/>
                <a:cs typeface="Tahoma"/>
              </a:rPr>
              <a:t>graph.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Manipulating Edges </a:t>
            </a:r>
            <a:r>
              <a:rPr dirty="0"/>
              <a:t>–</a:t>
            </a:r>
            <a:r>
              <a:rPr spc="-40" dirty="0"/>
              <a:t> </a:t>
            </a:r>
            <a:r>
              <a:rPr spc="-5" dirty="0"/>
              <a:t>(4)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486650" cy="3049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Having </a:t>
            </a:r>
            <a:r>
              <a:rPr sz="3200" spc="-5" dirty="0">
                <a:latin typeface="Tahoma"/>
                <a:cs typeface="Tahoma"/>
              </a:rPr>
              <a:t>revised the edges,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must  check that each node has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path </a:t>
            </a:r>
            <a:r>
              <a:rPr sz="3200" spc="-10" dirty="0">
                <a:latin typeface="Tahoma"/>
                <a:cs typeface="Tahoma"/>
              </a:rPr>
              <a:t>from  </a:t>
            </a:r>
            <a:r>
              <a:rPr sz="3200" spc="-5" dirty="0">
                <a:latin typeface="Tahoma"/>
                <a:cs typeface="Tahoma"/>
              </a:rPr>
              <a:t>some </a:t>
            </a:r>
            <a:r>
              <a:rPr sz="3200" dirty="0">
                <a:latin typeface="Tahoma"/>
                <a:cs typeface="Tahoma"/>
              </a:rPr>
              <a:t>** </a:t>
            </a:r>
            <a:r>
              <a:rPr sz="3200" spc="-5" dirty="0">
                <a:latin typeface="Tahoma"/>
                <a:cs typeface="Tahoma"/>
              </a:rPr>
              <a:t>node, representing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ownership.</a:t>
            </a:r>
            <a:endParaRPr sz="3200">
              <a:latin typeface="Tahoma"/>
              <a:cs typeface="Tahoma"/>
            </a:endParaRPr>
          </a:p>
          <a:p>
            <a:pPr marL="355600" marR="37465" indent="-342900" algn="just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Any </a:t>
            </a:r>
            <a:r>
              <a:rPr sz="3200" spc="-5" dirty="0">
                <a:latin typeface="Tahoma"/>
                <a:cs typeface="Tahoma"/>
              </a:rPr>
              <a:t>node with </a:t>
            </a:r>
            <a:r>
              <a:rPr sz="3200" dirty="0">
                <a:latin typeface="Tahoma"/>
                <a:cs typeface="Tahoma"/>
              </a:rPr>
              <a:t>no </a:t>
            </a:r>
            <a:r>
              <a:rPr sz="3200" spc="-5" dirty="0">
                <a:latin typeface="Tahoma"/>
                <a:cs typeface="Tahoma"/>
              </a:rPr>
              <a:t>such path </a:t>
            </a:r>
            <a:r>
              <a:rPr sz="3200" spc="-10" dirty="0">
                <a:latin typeface="Tahoma"/>
                <a:cs typeface="Tahoma"/>
              </a:rPr>
              <a:t>represents 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5" dirty="0">
                <a:latin typeface="Tahoma"/>
                <a:cs typeface="Tahoma"/>
              </a:rPr>
              <a:t>revoked </a:t>
            </a:r>
            <a:r>
              <a:rPr sz="3200" spc="-5" dirty="0">
                <a:latin typeface="Tahoma"/>
                <a:cs typeface="Tahoma"/>
              </a:rPr>
              <a:t>privilege and is deleted </a:t>
            </a:r>
            <a:r>
              <a:rPr sz="3200" spc="-10" dirty="0">
                <a:latin typeface="Tahoma"/>
                <a:cs typeface="Tahoma"/>
              </a:rPr>
              <a:t>from  </a:t>
            </a:r>
            <a:r>
              <a:rPr sz="3200" spc="-5" dirty="0">
                <a:latin typeface="Tahoma"/>
                <a:cs typeface="Tahoma"/>
              </a:rPr>
              <a:t>the</a:t>
            </a:r>
            <a:r>
              <a:rPr sz="3200" spc="-10" dirty="0">
                <a:latin typeface="Tahoma"/>
                <a:cs typeface="Tahoma"/>
              </a:rPr>
              <a:t> diagram.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4794" y="829944"/>
            <a:ext cx="6074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20" dirty="0"/>
              <a:t>Grant</a:t>
            </a:r>
            <a:r>
              <a:rPr spc="-60" dirty="0"/>
              <a:t> </a:t>
            </a:r>
            <a:r>
              <a:rPr spc="-15" dirty="0"/>
              <a:t>Diagram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5864" y="3848100"/>
            <a:ext cx="127952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ahoma"/>
                <a:cs typeface="Tahoma"/>
              </a:rPr>
              <a:t>A </a:t>
            </a:r>
            <a:r>
              <a:rPr sz="2000" spc="-5" dirty="0">
                <a:latin typeface="Tahoma"/>
                <a:cs typeface="Tahoma"/>
              </a:rPr>
              <a:t>owns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the  object </a:t>
            </a:r>
            <a:r>
              <a:rPr sz="2000" dirty="0">
                <a:latin typeface="Tahoma"/>
                <a:cs typeface="Tahoma"/>
              </a:rPr>
              <a:t>on  </a:t>
            </a:r>
            <a:r>
              <a:rPr sz="2000" spc="-5" dirty="0">
                <a:latin typeface="Tahoma"/>
                <a:cs typeface="Tahoma"/>
              </a:rPr>
              <a:t>which </a:t>
            </a:r>
            <a:r>
              <a:rPr sz="2000" dirty="0">
                <a:latin typeface="Tahoma"/>
                <a:cs typeface="Tahoma"/>
              </a:rPr>
              <a:t>P </a:t>
            </a:r>
            <a:r>
              <a:rPr sz="2000" spc="-5" dirty="0">
                <a:latin typeface="Tahoma"/>
                <a:cs typeface="Tahoma"/>
              </a:rPr>
              <a:t>is  </a:t>
            </a:r>
            <a:r>
              <a:rPr sz="2000" dirty="0">
                <a:latin typeface="Tahoma"/>
                <a:cs typeface="Tahoma"/>
              </a:rPr>
              <a:t>a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privilege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90748" y="2357437"/>
            <a:ext cx="5724286" cy="7708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720465" y="3924300"/>
            <a:ext cx="1815464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45593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A: GRANT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P  </a:t>
            </a:r>
            <a:r>
              <a:rPr sz="2000" spc="-25" dirty="0">
                <a:latin typeface="Tahoma"/>
                <a:cs typeface="Tahoma"/>
              </a:rPr>
              <a:t>TO </a:t>
            </a:r>
            <a:r>
              <a:rPr sz="2000" dirty="0">
                <a:latin typeface="Tahoma"/>
                <a:cs typeface="Tahoma"/>
              </a:rPr>
              <a:t>B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WITH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Tahoma"/>
                <a:cs typeface="Tahoma"/>
              </a:rPr>
              <a:t>GRANT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OPTION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1124" y="1631949"/>
            <a:ext cx="7765415" cy="13087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962015" marR="45847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B: GRANT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P  </a:t>
            </a:r>
            <a:r>
              <a:rPr sz="2000" spc="-25" dirty="0">
                <a:latin typeface="Tahoma"/>
                <a:cs typeface="Tahoma"/>
              </a:rPr>
              <a:t>TO </a:t>
            </a:r>
            <a:r>
              <a:rPr sz="2000" dirty="0">
                <a:latin typeface="Tahoma"/>
                <a:cs typeface="Tahoma"/>
              </a:rPr>
              <a:t>C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WITH</a:t>
            </a:r>
            <a:endParaRPr sz="2000">
              <a:latin typeface="Tahoma"/>
              <a:cs typeface="Tahoma"/>
            </a:endParaRPr>
          </a:p>
          <a:p>
            <a:pPr marL="5962015">
              <a:lnSpc>
                <a:spcPts val="2345"/>
              </a:lnSpc>
            </a:pPr>
            <a:r>
              <a:rPr sz="2000" spc="-5" dirty="0">
                <a:latin typeface="Tahoma"/>
                <a:cs typeface="Tahoma"/>
              </a:rPr>
              <a:t>GRANT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OPTION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ts val="2945"/>
              </a:lnSpc>
              <a:tabLst>
                <a:tab pos="2611755" algn="l"/>
                <a:tab pos="5048250" algn="l"/>
              </a:tabLst>
            </a:pPr>
            <a:r>
              <a:rPr sz="2500" i="1" spc="-755" dirty="0">
                <a:latin typeface="Tahoma"/>
                <a:cs typeface="Tahoma"/>
              </a:rPr>
              <a:t>AP**	</a:t>
            </a:r>
            <a:r>
              <a:rPr sz="2500" i="1" spc="-675" dirty="0">
                <a:latin typeface="Tahoma"/>
                <a:cs typeface="Tahoma"/>
              </a:rPr>
              <a:t>BP*	CP*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243764" y="3881437"/>
            <a:ext cx="771271" cy="770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400349" y="4054959"/>
            <a:ext cx="51435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i="1" spc="-445" dirty="0">
                <a:latin typeface="Tahoma"/>
                <a:cs typeface="Tahoma"/>
              </a:rPr>
              <a:t>CP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03793" y="3043389"/>
            <a:ext cx="4344670" cy="1165225"/>
          </a:xfrm>
          <a:custGeom>
            <a:avLst/>
            <a:gdLst/>
            <a:ahLst/>
            <a:cxnLst/>
            <a:rect l="l" t="t" r="r" b="b"/>
            <a:pathLst>
              <a:path w="4344670" h="1165225">
                <a:moveTo>
                  <a:pt x="4269704" y="1132817"/>
                </a:moveTo>
                <a:lnTo>
                  <a:pt x="0" y="9220"/>
                </a:lnTo>
                <a:lnTo>
                  <a:pt x="2412" y="0"/>
                </a:lnTo>
                <a:lnTo>
                  <a:pt x="4272127" y="1123609"/>
                </a:lnTo>
                <a:lnTo>
                  <a:pt x="4269704" y="1132817"/>
                </a:lnTo>
                <a:close/>
              </a:path>
              <a:path w="4344670" h="1165225">
                <a:moveTo>
                  <a:pt x="4333290" y="1137665"/>
                </a:moveTo>
                <a:lnTo>
                  <a:pt x="4288129" y="1137665"/>
                </a:lnTo>
                <a:lnTo>
                  <a:pt x="4290555" y="1128458"/>
                </a:lnTo>
                <a:lnTo>
                  <a:pt x="4272127" y="1123609"/>
                </a:lnTo>
                <a:lnTo>
                  <a:pt x="4280611" y="1091374"/>
                </a:lnTo>
                <a:lnTo>
                  <a:pt x="4333290" y="1137665"/>
                </a:lnTo>
                <a:close/>
              </a:path>
              <a:path w="4344670" h="1165225">
                <a:moveTo>
                  <a:pt x="4288129" y="1137665"/>
                </a:moveTo>
                <a:lnTo>
                  <a:pt x="4269704" y="1132817"/>
                </a:lnTo>
                <a:lnTo>
                  <a:pt x="4272127" y="1123609"/>
                </a:lnTo>
                <a:lnTo>
                  <a:pt x="4290555" y="1128458"/>
                </a:lnTo>
                <a:lnTo>
                  <a:pt x="4288129" y="1137665"/>
                </a:lnTo>
                <a:close/>
              </a:path>
              <a:path w="4344670" h="1165225">
                <a:moveTo>
                  <a:pt x="4261218" y="1165059"/>
                </a:moveTo>
                <a:lnTo>
                  <a:pt x="4269704" y="1132817"/>
                </a:lnTo>
                <a:lnTo>
                  <a:pt x="4288129" y="1137665"/>
                </a:lnTo>
                <a:lnTo>
                  <a:pt x="4333290" y="1137665"/>
                </a:lnTo>
                <a:lnTo>
                  <a:pt x="4344606" y="1147610"/>
                </a:lnTo>
                <a:lnTo>
                  <a:pt x="4261218" y="11650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098540" y="5137150"/>
            <a:ext cx="136461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A: GRANT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P  </a:t>
            </a:r>
            <a:r>
              <a:rPr sz="2000" spc="-25" dirty="0">
                <a:latin typeface="Tahoma"/>
                <a:cs typeface="Tahoma"/>
              </a:rPr>
              <a:t>TO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4794" y="829944"/>
            <a:ext cx="6074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20" dirty="0"/>
              <a:t>Grant</a:t>
            </a:r>
            <a:r>
              <a:rPr spc="-60" dirty="0"/>
              <a:t> </a:t>
            </a:r>
            <a:r>
              <a:rPr spc="-15" dirty="0"/>
              <a:t>Diagram</a:t>
            </a:r>
          </a:p>
        </p:txBody>
      </p:sp>
      <p:sp>
        <p:nvSpPr>
          <p:cNvPr id="3" name="object 3"/>
          <p:cNvSpPr/>
          <p:nvPr/>
        </p:nvSpPr>
        <p:spPr>
          <a:xfrm>
            <a:off x="1290748" y="2357437"/>
            <a:ext cx="771286" cy="7708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805364" y="2357437"/>
            <a:ext cx="3209671" cy="770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01124" y="2530959"/>
            <a:ext cx="325755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611755" algn="l"/>
              </a:tabLst>
            </a:pPr>
            <a:r>
              <a:rPr sz="2500" i="1" spc="-755" dirty="0">
                <a:latin typeface="Tahoma"/>
                <a:cs typeface="Tahoma"/>
              </a:rPr>
              <a:t>AP**	</a:t>
            </a:r>
            <a:r>
              <a:rPr sz="2500" i="1" spc="-675" dirty="0">
                <a:latin typeface="Tahoma"/>
                <a:cs typeface="Tahoma"/>
              </a:rPr>
              <a:t>BP*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37309" y="2530959"/>
            <a:ext cx="66103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i="1" spc="-675" dirty="0">
                <a:latin typeface="Tahoma"/>
                <a:cs typeface="Tahoma"/>
              </a:rPr>
              <a:t>CP*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243764" y="3881437"/>
            <a:ext cx="771271" cy="7708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400349" y="4054959"/>
            <a:ext cx="51435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i="1" spc="-445" dirty="0">
                <a:latin typeface="Tahoma"/>
                <a:cs typeface="Tahoma"/>
              </a:rPr>
              <a:t>CP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03793" y="3043389"/>
            <a:ext cx="4344670" cy="1165225"/>
          </a:xfrm>
          <a:custGeom>
            <a:avLst/>
            <a:gdLst/>
            <a:ahLst/>
            <a:cxnLst/>
            <a:rect l="l" t="t" r="r" b="b"/>
            <a:pathLst>
              <a:path w="4344670" h="1165225">
                <a:moveTo>
                  <a:pt x="4269704" y="1132817"/>
                </a:moveTo>
                <a:lnTo>
                  <a:pt x="0" y="9220"/>
                </a:lnTo>
                <a:lnTo>
                  <a:pt x="2412" y="0"/>
                </a:lnTo>
                <a:lnTo>
                  <a:pt x="4272127" y="1123609"/>
                </a:lnTo>
                <a:lnTo>
                  <a:pt x="4269704" y="1132817"/>
                </a:lnTo>
                <a:close/>
              </a:path>
              <a:path w="4344670" h="1165225">
                <a:moveTo>
                  <a:pt x="4333290" y="1137665"/>
                </a:moveTo>
                <a:lnTo>
                  <a:pt x="4288129" y="1137665"/>
                </a:lnTo>
                <a:lnTo>
                  <a:pt x="4290555" y="1128458"/>
                </a:lnTo>
                <a:lnTo>
                  <a:pt x="4272127" y="1123609"/>
                </a:lnTo>
                <a:lnTo>
                  <a:pt x="4280611" y="1091374"/>
                </a:lnTo>
                <a:lnTo>
                  <a:pt x="4333290" y="1137665"/>
                </a:lnTo>
                <a:close/>
              </a:path>
              <a:path w="4344670" h="1165225">
                <a:moveTo>
                  <a:pt x="4288129" y="1137665"/>
                </a:moveTo>
                <a:lnTo>
                  <a:pt x="4269704" y="1132817"/>
                </a:lnTo>
                <a:lnTo>
                  <a:pt x="4272127" y="1123609"/>
                </a:lnTo>
                <a:lnTo>
                  <a:pt x="4290555" y="1128458"/>
                </a:lnTo>
                <a:lnTo>
                  <a:pt x="4288129" y="1137665"/>
                </a:lnTo>
                <a:close/>
              </a:path>
              <a:path w="4344670" h="1165225">
                <a:moveTo>
                  <a:pt x="4261218" y="1165059"/>
                </a:moveTo>
                <a:lnTo>
                  <a:pt x="4269704" y="1132817"/>
                </a:lnTo>
                <a:lnTo>
                  <a:pt x="4288129" y="1137665"/>
                </a:lnTo>
                <a:lnTo>
                  <a:pt x="4333290" y="1137665"/>
                </a:lnTo>
                <a:lnTo>
                  <a:pt x="4344606" y="1147610"/>
                </a:lnTo>
                <a:lnTo>
                  <a:pt x="4261218" y="11650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663064" y="1562099"/>
            <a:ext cx="123952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ahoma"/>
                <a:cs typeface="Tahoma"/>
              </a:rPr>
              <a:t>A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executes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63064" y="1866899"/>
            <a:ext cx="337629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REVOKE </a:t>
            </a:r>
            <a:r>
              <a:rPr sz="2000" dirty="0">
                <a:latin typeface="Tahoma"/>
                <a:cs typeface="Tahoma"/>
              </a:rPr>
              <a:t>P </a:t>
            </a:r>
            <a:r>
              <a:rPr sz="2000" spc="-5" dirty="0">
                <a:latin typeface="Tahoma"/>
                <a:cs typeface="Tahoma"/>
              </a:rPr>
              <a:t>FROM </a:t>
            </a:r>
            <a:r>
              <a:rPr sz="2000" dirty="0">
                <a:latin typeface="Tahoma"/>
                <a:cs typeface="Tahoma"/>
              </a:rPr>
              <a:t>B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CASCADE;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58865" y="4991100"/>
            <a:ext cx="221805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40" dirty="0">
                <a:latin typeface="Tahoma"/>
                <a:cs typeface="Tahoma"/>
              </a:rPr>
              <a:t>However, </a:t>
            </a:r>
            <a:r>
              <a:rPr sz="2000" dirty="0">
                <a:latin typeface="Tahoma"/>
                <a:cs typeface="Tahoma"/>
              </a:rPr>
              <a:t>C</a:t>
            </a:r>
            <a:r>
              <a:rPr sz="2000" spc="1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still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sz="2000" spc="-5" dirty="0">
                <a:latin typeface="Tahoma"/>
                <a:cs typeface="Tahoma"/>
              </a:rPr>
              <a:t>has </a:t>
            </a:r>
            <a:r>
              <a:rPr sz="2000" dirty="0">
                <a:latin typeface="Tahoma"/>
                <a:cs typeface="Tahoma"/>
              </a:rPr>
              <a:t>P </a:t>
            </a:r>
            <a:r>
              <a:rPr sz="2000" spc="-5" dirty="0">
                <a:latin typeface="Tahoma"/>
                <a:cs typeface="Tahoma"/>
              </a:rPr>
              <a:t>without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grant  </a:t>
            </a:r>
            <a:r>
              <a:rPr sz="2000" spc="-5" dirty="0">
                <a:latin typeface="Tahoma"/>
                <a:cs typeface="Tahoma"/>
              </a:rPr>
              <a:t>option because of  the direct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grant.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96464" y="4229100"/>
            <a:ext cx="233299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9685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Not only does </a:t>
            </a:r>
            <a:r>
              <a:rPr sz="2000" dirty="0">
                <a:latin typeface="Tahoma"/>
                <a:cs typeface="Tahoma"/>
              </a:rPr>
              <a:t>B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lose  P*, but </a:t>
            </a:r>
            <a:r>
              <a:rPr sz="2000" dirty="0">
                <a:latin typeface="Tahoma"/>
                <a:cs typeface="Tahoma"/>
              </a:rPr>
              <a:t>C </a:t>
            </a:r>
            <a:r>
              <a:rPr sz="2000" spc="-5" dirty="0">
                <a:latin typeface="Tahoma"/>
                <a:cs typeface="Tahoma"/>
              </a:rPr>
              <a:t>loses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P*.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Tahoma"/>
                <a:cs typeface="Tahoma"/>
              </a:rPr>
              <a:t>Delete BP* and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CP*.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574656" y="2324696"/>
            <a:ext cx="3823970" cy="761365"/>
          </a:xfrm>
          <a:custGeom>
            <a:avLst/>
            <a:gdLst/>
            <a:ahLst/>
            <a:cxnLst/>
            <a:rect l="l" t="t" r="r" b="b"/>
            <a:pathLst>
              <a:path w="3823970" h="761364">
                <a:moveTo>
                  <a:pt x="3810000" y="760806"/>
                </a:moveTo>
                <a:lnTo>
                  <a:pt x="0" y="75006"/>
                </a:lnTo>
                <a:lnTo>
                  <a:pt x="13487" y="0"/>
                </a:lnTo>
                <a:lnTo>
                  <a:pt x="3823487" y="685799"/>
                </a:lnTo>
                <a:lnTo>
                  <a:pt x="3810000" y="76080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73208" y="2324989"/>
            <a:ext cx="3826510" cy="913130"/>
          </a:xfrm>
          <a:custGeom>
            <a:avLst/>
            <a:gdLst/>
            <a:ahLst/>
            <a:cxnLst/>
            <a:rect l="l" t="t" r="r" b="b"/>
            <a:pathLst>
              <a:path w="3826509" h="913130">
                <a:moveTo>
                  <a:pt x="16382" y="912622"/>
                </a:moveTo>
                <a:lnTo>
                  <a:pt x="0" y="838200"/>
                </a:lnTo>
                <a:lnTo>
                  <a:pt x="3810000" y="0"/>
                </a:lnTo>
                <a:lnTo>
                  <a:pt x="3826382" y="74422"/>
                </a:lnTo>
                <a:lnTo>
                  <a:pt x="16382" y="912622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569739" y="2203754"/>
            <a:ext cx="1832610" cy="239395"/>
          </a:xfrm>
          <a:custGeom>
            <a:avLst/>
            <a:gdLst/>
            <a:ahLst/>
            <a:cxnLst/>
            <a:rect l="l" t="t" r="r" b="b"/>
            <a:pathLst>
              <a:path w="1832610" h="239394">
                <a:moveTo>
                  <a:pt x="4521" y="162636"/>
                </a:moveTo>
                <a:lnTo>
                  <a:pt x="41649" y="131876"/>
                </a:lnTo>
                <a:lnTo>
                  <a:pt x="86880" y="108369"/>
                </a:lnTo>
                <a:lnTo>
                  <a:pt x="132295" y="86563"/>
                </a:lnTo>
                <a:lnTo>
                  <a:pt x="180022" y="66154"/>
                </a:lnTo>
                <a:lnTo>
                  <a:pt x="230822" y="47637"/>
                </a:lnTo>
                <a:lnTo>
                  <a:pt x="285407" y="31470"/>
                </a:lnTo>
                <a:lnTo>
                  <a:pt x="324269" y="22250"/>
                </a:lnTo>
                <a:lnTo>
                  <a:pt x="365378" y="14427"/>
                </a:lnTo>
                <a:lnTo>
                  <a:pt x="408927" y="8153"/>
                </a:lnTo>
                <a:lnTo>
                  <a:pt x="455129" y="3568"/>
                </a:lnTo>
                <a:lnTo>
                  <a:pt x="504215" y="800"/>
                </a:lnTo>
                <a:lnTo>
                  <a:pt x="543090" y="0"/>
                </a:lnTo>
                <a:lnTo>
                  <a:pt x="556501" y="0"/>
                </a:lnTo>
                <a:lnTo>
                  <a:pt x="612038" y="1282"/>
                </a:lnTo>
                <a:lnTo>
                  <a:pt x="671144" y="4775"/>
                </a:lnTo>
                <a:lnTo>
                  <a:pt x="724886" y="9525"/>
                </a:lnTo>
                <a:lnTo>
                  <a:pt x="543191" y="9525"/>
                </a:lnTo>
                <a:lnTo>
                  <a:pt x="530072" y="9664"/>
                </a:lnTo>
                <a:lnTo>
                  <a:pt x="517220" y="9931"/>
                </a:lnTo>
                <a:lnTo>
                  <a:pt x="504558" y="10325"/>
                </a:lnTo>
                <a:lnTo>
                  <a:pt x="492086" y="10833"/>
                </a:lnTo>
                <a:lnTo>
                  <a:pt x="479805" y="11455"/>
                </a:lnTo>
                <a:lnTo>
                  <a:pt x="467728" y="12204"/>
                </a:lnTo>
                <a:lnTo>
                  <a:pt x="455828" y="13068"/>
                </a:lnTo>
                <a:lnTo>
                  <a:pt x="432536" y="15125"/>
                </a:lnTo>
                <a:lnTo>
                  <a:pt x="388106" y="20535"/>
                </a:lnTo>
                <a:lnTo>
                  <a:pt x="346190" y="27533"/>
                </a:lnTo>
                <a:lnTo>
                  <a:pt x="306679" y="35991"/>
                </a:lnTo>
                <a:lnTo>
                  <a:pt x="269268" y="45758"/>
                </a:lnTo>
                <a:lnTo>
                  <a:pt x="216583" y="62585"/>
                </a:lnTo>
                <a:lnTo>
                  <a:pt x="167398" y="81597"/>
                </a:lnTo>
                <a:lnTo>
                  <a:pt x="120952" y="102336"/>
                </a:lnTo>
                <a:lnTo>
                  <a:pt x="61866" y="131914"/>
                </a:lnTo>
                <a:lnTo>
                  <a:pt x="33110" y="147193"/>
                </a:lnTo>
                <a:lnTo>
                  <a:pt x="4521" y="162636"/>
                </a:lnTo>
                <a:close/>
              </a:path>
              <a:path w="1832610" h="239394">
                <a:moveTo>
                  <a:pt x="1829968" y="239280"/>
                </a:moveTo>
                <a:lnTo>
                  <a:pt x="1573809" y="179184"/>
                </a:lnTo>
                <a:lnTo>
                  <a:pt x="1489481" y="159816"/>
                </a:lnTo>
                <a:lnTo>
                  <a:pt x="1406042" y="140995"/>
                </a:lnTo>
                <a:lnTo>
                  <a:pt x="1323721" y="122872"/>
                </a:lnTo>
                <a:lnTo>
                  <a:pt x="1283068" y="114122"/>
                </a:lnTo>
                <a:lnTo>
                  <a:pt x="1242758" y="105600"/>
                </a:lnTo>
                <a:lnTo>
                  <a:pt x="1202855" y="97320"/>
                </a:lnTo>
                <a:lnTo>
                  <a:pt x="1163358" y="89293"/>
                </a:lnTo>
                <a:lnTo>
                  <a:pt x="1124318" y="81546"/>
                </a:lnTo>
                <a:lnTo>
                  <a:pt x="1085761" y="74104"/>
                </a:lnTo>
                <a:lnTo>
                  <a:pt x="1047699" y="66979"/>
                </a:lnTo>
                <a:lnTo>
                  <a:pt x="1010170" y="60185"/>
                </a:lnTo>
                <a:lnTo>
                  <a:pt x="973201" y="53733"/>
                </a:lnTo>
                <a:lnTo>
                  <a:pt x="936773" y="47637"/>
                </a:lnTo>
                <a:lnTo>
                  <a:pt x="901064" y="41948"/>
                </a:lnTo>
                <a:lnTo>
                  <a:pt x="865949" y="36652"/>
                </a:lnTo>
                <a:lnTo>
                  <a:pt x="831494" y="31775"/>
                </a:lnTo>
                <a:lnTo>
                  <a:pt x="797763" y="27330"/>
                </a:lnTo>
                <a:lnTo>
                  <a:pt x="764743" y="23342"/>
                </a:lnTo>
                <a:lnTo>
                  <a:pt x="732485" y="19824"/>
                </a:lnTo>
                <a:lnTo>
                  <a:pt x="701027" y="16789"/>
                </a:lnTo>
                <a:lnTo>
                  <a:pt x="670369" y="14262"/>
                </a:lnTo>
                <a:lnTo>
                  <a:pt x="640562" y="12268"/>
                </a:lnTo>
                <a:lnTo>
                  <a:pt x="625995" y="11468"/>
                </a:lnTo>
                <a:lnTo>
                  <a:pt x="611644" y="10807"/>
                </a:lnTo>
                <a:lnTo>
                  <a:pt x="597509" y="10274"/>
                </a:lnTo>
                <a:lnTo>
                  <a:pt x="583590" y="9893"/>
                </a:lnTo>
                <a:lnTo>
                  <a:pt x="569899" y="9639"/>
                </a:lnTo>
                <a:lnTo>
                  <a:pt x="556412" y="9525"/>
                </a:lnTo>
                <a:lnTo>
                  <a:pt x="724886" y="9525"/>
                </a:lnTo>
                <a:lnTo>
                  <a:pt x="765835" y="13881"/>
                </a:lnTo>
                <a:lnTo>
                  <a:pt x="819102" y="20535"/>
                </a:lnTo>
                <a:lnTo>
                  <a:pt x="902525" y="32537"/>
                </a:lnTo>
                <a:lnTo>
                  <a:pt x="952953" y="40691"/>
                </a:lnTo>
                <a:lnTo>
                  <a:pt x="993756" y="47650"/>
                </a:lnTo>
                <a:lnTo>
                  <a:pt x="1087564" y="64757"/>
                </a:lnTo>
                <a:lnTo>
                  <a:pt x="1135778" y="74117"/>
                </a:lnTo>
                <a:lnTo>
                  <a:pt x="1239821" y="95262"/>
                </a:lnTo>
                <a:lnTo>
                  <a:pt x="1307118" y="109562"/>
                </a:lnTo>
                <a:lnTo>
                  <a:pt x="1368064" y="122885"/>
                </a:lnTo>
                <a:lnTo>
                  <a:pt x="1476795" y="147193"/>
                </a:lnTo>
                <a:lnTo>
                  <a:pt x="1615823" y="179196"/>
                </a:lnTo>
                <a:lnTo>
                  <a:pt x="1832152" y="230009"/>
                </a:lnTo>
                <a:lnTo>
                  <a:pt x="1829968" y="239280"/>
                </a:lnTo>
                <a:close/>
              </a:path>
              <a:path w="1832610" h="239394">
                <a:moveTo>
                  <a:pt x="410016" y="17623"/>
                </a:moveTo>
                <a:close/>
              </a:path>
              <a:path w="1832610" h="239394">
                <a:moveTo>
                  <a:pt x="409987" y="17627"/>
                </a:moveTo>
                <a:close/>
              </a:path>
              <a:path w="1832610" h="239394">
                <a:moveTo>
                  <a:pt x="388106" y="20535"/>
                </a:moveTo>
                <a:close/>
              </a:path>
              <a:path w="1832610" h="239394">
                <a:moveTo>
                  <a:pt x="366870" y="23837"/>
                </a:moveTo>
                <a:close/>
              </a:path>
              <a:path w="1832610" h="239394">
                <a:moveTo>
                  <a:pt x="346201" y="27533"/>
                </a:moveTo>
                <a:lnTo>
                  <a:pt x="346344" y="27508"/>
                </a:lnTo>
                <a:lnTo>
                  <a:pt x="346201" y="27533"/>
                </a:lnTo>
                <a:close/>
              </a:path>
              <a:path w="1832610" h="239394">
                <a:moveTo>
                  <a:pt x="326161" y="31584"/>
                </a:moveTo>
                <a:close/>
              </a:path>
              <a:path w="1832610" h="239394">
                <a:moveTo>
                  <a:pt x="306679" y="35991"/>
                </a:moveTo>
                <a:close/>
              </a:path>
              <a:path w="1832610" h="239394">
                <a:moveTo>
                  <a:pt x="287803" y="40691"/>
                </a:moveTo>
                <a:close/>
              </a:path>
              <a:path w="1832610" h="239394">
                <a:moveTo>
                  <a:pt x="287714" y="40716"/>
                </a:moveTo>
                <a:close/>
              </a:path>
              <a:path w="1832610" h="239394">
                <a:moveTo>
                  <a:pt x="269268" y="45758"/>
                </a:moveTo>
                <a:close/>
              </a:path>
              <a:path w="1832610" h="239394">
                <a:moveTo>
                  <a:pt x="251278" y="51092"/>
                </a:moveTo>
                <a:close/>
              </a:path>
              <a:path w="1832610" h="239394">
                <a:moveTo>
                  <a:pt x="233745" y="56705"/>
                </a:moveTo>
                <a:close/>
              </a:path>
              <a:path w="1832610" h="239394">
                <a:moveTo>
                  <a:pt x="216585" y="62585"/>
                </a:moveTo>
                <a:close/>
              </a:path>
              <a:path w="1832610" h="239394">
                <a:moveTo>
                  <a:pt x="199870" y="68694"/>
                </a:moveTo>
                <a:close/>
              </a:path>
              <a:path w="1832610" h="239394">
                <a:moveTo>
                  <a:pt x="183464" y="75044"/>
                </a:moveTo>
                <a:close/>
              </a:path>
              <a:path w="1832610" h="239394">
                <a:moveTo>
                  <a:pt x="167411" y="81597"/>
                </a:moveTo>
                <a:close/>
              </a:path>
              <a:path w="1832610" h="239394">
                <a:moveTo>
                  <a:pt x="151663" y="88341"/>
                </a:moveTo>
                <a:close/>
              </a:path>
              <a:path w="1832610" h="239394">
                <a:moveTo>
                  <a:pt x="136190" y="95262"/>
                </a:moveTo>
                <a:close/>
              </a:path>
              <a:path w="1832610" h="239394">
                <a:moveTo>
                  <a:pt x="120954" y="102336"/>
                </a:moveTo>
                <a:close/>
              </a:path>
              <a:path w="1832610" h="239394">
                <a:moveTo>
                  <a:pt x="105930" y="109562"/>
                </a:moveTo>
                <a:close/>
              </a:path>
              <a:path w="1832610" h="239394">
                <a:moveTo>
                  <a:pt x="91147" y="116884"/>
                </a:moveTo>
                <a:close/>
              </a:path>
              <a:path w="1832610" h="239394">
                <a:moveTo>
                  <a:pt x="91111" y="116903"/>
                </a:moveTo>
                <a:close/>
              </a:path>
              <a:path w="1832610" h="239394">
                <a:moveTo>
                  <a:pt x="61887" y="131914"/>
                </a:moveTo>
                <a:close/>
              </a:path>
              <a:path w="1832610" h="239394">
                <a:moveTo>
                  <a:pt x="33110" y="147193"/>
                </a:move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19600" y="2357945"/>
            <a:ext cx="154533" cy="8045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454265" y="1790699"/>
            <a:ext cx="1256665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Tahoma"/>
                <a:cs typeface="Tahoma"/>
              </a:rPr>
              <a:t>Even </a:t>
            </a:r>
            <a:r>
              <a:rPr sz="2000" spc="-5" dirty="0">
                <a:latin typeface="Tahoma"/>
                <a:cs typeface="Tahoma"/>
              </a:rPr>
              <a:t>had  </a:t>
            </a:r>
            <a:r>
              <a:rPr sz="2000" dirty="0">
                <a:latin typeface="Tahoma"/>
                <a:cs typeface="Tahoma"/>
              </a:rPr>
              <a:t>C passed</a:t>
            </a:r>
            <a:r>
              <a:rPr sz="2000" spc="-10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P  </a:t>
            </a:r>
            <a:r>
              <a:rPr sz="2000" spc="-5" dirty="0">
                <a:latin typeface="Tahoma"/>
                <a:cs typeface="Tahoma"/>
              </a:rPr>
              <a:t>to </a:t>
            </a:r>
            <a:r>
              <a:rPr sz="2000" spc="-15" dirty="0">
                <a:latin typeface="Tahoma"/>
                <a:cs typeface="Tahoma"/>
              </a:rPr>
              <a:t>B, </a:t>
            </a:r>
            <a:r>
              <a:rPr sz="2000" spc="-5" dirty="0">
                <a:latin typeface="Tahoma"/>
                <a:cs typeface="Tahoma"/>
              </a:rPr>
              <a:t>both  nodes are  still cut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45" dirty="0">
                <a:latin typeface="Tahoma"/>
                <a:cs typeface="Tahoma"/>
              </a:rPr>
              <a:t>off.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1175</Words>
  <Application>Microsoft Office PowerPoint</Application>
  <PresentationFormat>全屏显示(4:3)</PresentationFormat>
  <Paragraphs>136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Calibri</vt:lpstr>
      <vt:lpstr>Courier New</vt:lpstr>
      <vt:lpstr>Tahoma</vt:lpstr>
      <vt:lpstr>Times New Roman</vt:lpstr>
      <vt:lpstr>Wingdings</vt:lpstr>
      <vt:lpstr>Office Theme</vt:lpstr>
      <vt:lpstr>SQL Authorization</vt:lpstr>
      <vt:lpstr>Authorization</vt:lpstr>
      <vt:lpstr>Privileges – (1)</vt:lpstr>
      <vt:lpstr>Privileges – (2)</vt:lpstr>
      <vt:lpstr>Example: Privileges</vt:lpstr>
      <vt:lpstr>Database Objects</vt:lpstr>
      <vt:lpstr>Example: Views as Access Control</vt:lpstr>
      <vt:lpstr>Authorization ID’s</vt:lpstr>
      <vt:lpstr>Granting Privileges</vt:lpstr>
      <vt:lpstr>The GRANT Statement</vt:lpstr>
      <vt:lpstr>Example: GRANT</vt:lpstr>
      <vt:lpstr>Example: Grant Option</vt:lpstr>
      <vt:lpstr>Revoking Privileges撤销权力</vt:lpstr>
      <vt:lpstr>REVOKE Options</vt:lpstr>
      <vt:lpstr>Grant Diagrams</vt:lpstr>
      <vt:lpstr>Notation for Nodes</vt:lpstr>
      <vt:lpstr>Manipulating Edges – (1)</vt:lpstr>
      <vt:lpstr>Manipulating Edges – (2)</vt:lpstr>
      <vt:lpstr>Manipulating Edges – (3)</vt:lpstr>
      <vt:lpstr>Manipulating Edges – (4)</vt:lpstr>
      <vt:lpstr>Example: Grant Diagram</vt:lpstr>
      <vt:lpstr>Example: Grant Diagram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- Vel</cp:lastModifiedBy>
  <cp:revision>1</cp:revision>
  <dcterms:created xsi:type="dcterms:W3CDTF">2024-06-19T09:21:37Z</dcterms:created>
  <dcterms:modified xsi:type="dcterms:W3CDTF">2024-06-21T12:12:01Z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2020-09-23T00:00:00Z</vt:filetime>
  </property>
  <property fmtid="{D5CDD505-2E9C-101B-9397-08002B2CF9AE}" pid="3" name="Creator">
    <vt:lpwstr>WPS 演示</vt:lpwstr>
  </property>
  <property fmtid="{D5CDD505-2E9C-101B-9397-08002B2CF9AE}" pid="4" name="LastSaved">
    <vt:filetime>2024-06-19T00:00:00Z</vt:filetime>
  </property>
</Properties>
</file>
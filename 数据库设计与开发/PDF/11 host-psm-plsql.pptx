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4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35:10.2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46,'0'-2,"1"0,-1 0,0 0,1 0,0 0,-1 0,1 1,0-1,0 0,0 1,0-1,0 0,0 1,1-1,-1 1,1 0,-1-1,1 1,-1 0,1 0,-1 0,1 0,0 0,0 0,0 0,-1 1,1-1,0 1,0-1,4 1,5-2,1 0,0 1,22 2,190 24,-79-5,208-4,1-24,-4-1,8 34,-6 31,-137-20,-41 1,-114-21,1-4,89 8,-113-19,76 8,40 10,232 1,-168-10,-88-2,-18 2,109 24,-86-12,145 19,489 95,441 104,-775-216,-354-21,0 3,111 22,-126-16,66 2,9 2,503 54,-507-62,124 4,202 31,-394-35,404 19,-304-29,245 4,-220 20,-8-1,395-13,-387-10,192 2,259-2,-499-3,-1-6,0-7,144-37,-252 45,-1-2,61-29,-41 16,-24 11,629-256,-626 258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35:18.9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35:21.9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12,'0'-1,"0"1,0-1,1 0,-1 1,0-1,0 1,1-1,-1 1,0-1,1 1,-1-1,1 1,-1-1,1 1,-1 0,1-1,-1 1,1 0,-1-1,1 1,-1 0,1-1,0 1,-1 0,1 0,-1 0,1 0,0 0,-1 0,1 0,-1 0,1 0,0 0,-1 0,1 0,0 0,-1 0,2 1,27 5,-28-5,53 18,-1 3,64 36,-17-7,375 154,-407-180,419 136,55-25,-434-109,150 58,-235-76,0-2,0-1,0-1,44 4,94-8,-145-1,0 0,2-1,0 1,32 4,-27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37:44.4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0 132,'365'18,"-290"-12,390 34,165 15,155 6,3624 85,-3656-158,-73-18,-90-15,-122-1,-123 6,33-18,-19-7,-44 13,287-36,-102 66,0 25,-354-1,-32-1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37:47.0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0 486,'7'0,"-1"0,1 1,-1-1,1 2,9 2,11 2,400 81,-51-24,1165 144,-1475-199,19 3,90-1,-172-10,51-4,-52 4,1 0,-1-1,0 0,0 1,1-1,-1 0,0 0,0 0,0 0,0-1,0 1,0-1,0 1,0-1,-1 1,4-5,-4 5,-1-1,1 0,0 1,-1-1,1 0,-1 0,1 0,-1 0,0 0,0 0,0 1,0-1,0 0,0 0,0 0,-1 0,0-3,-1-2,-1 0,0 1,-7-13,-12-12,-1 0,-52-51,71 78,-63-62,-112-87,-93-36,227 161,-2 1,-1 2,-1 2,-1 2,-1 3,-98-22,72 24,0 3,-108-3,176 16,1 0,-1 0,1 1,0 0,-12 4,20-5,0 0,0 0,-1 0,1 0,0 0,0 0,0 0,0 0,0 0,-1 0,1 0,0 0,0 1,0-1,0 0,0 0,0 0,-1 0,1 0,0 0,0 1,0-1,0 0,0 0,0 0,0 0,0 1,0-1,0 0,0 0,0 0,0 0,0 1,0-1,0 0,0 0,0 0,0 0,0 1,0-1,0 0,0 0,0 0,0 0,0 1,0-1,0 0,1 0,-1 0,0 0,0 0,0 0,0 1,0-1,0 0,1 0,-1 0,0 0,0 0,0 0,25 11,100 21,91 10,124 21,320 62,-3 32,-615-145,124 31,-126-35,-1-1,47 0,0-8,118-16,-6 0,43 15,-192 3,-19-1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37:51.1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58 949,'34'-16,"1"1,1 2,0 1,1 2,52-8,189-20,73 13,439 51,-2 63,-596-65,227 28,-82-5,-90-9,24 6,34-15,-2-30,-229-4,0-2,0-4,127-37,201-92,279-160,-670 296,-2-1,1 0,0-1,-1 0,9-8,-18 14,1 0,-1-1,0 1,0 0,1-1,-1 1,0 0,0-1,1 1,-1 0,0-1,0 1,0-1,0 1,0 0,1-1,-1 1,0-1,0 1,0-1,0 1,0-1,0 1,-1 0,1-1,0 1,0-1,0 1,0 0,0-1,-1 1,1-1,0 0,-2 0,1 0,-1 0,1 0,-1 0,0 0,1 0,-1 1,0-1,1 0,-5 0,-19-4,0 2,-30-1,-734-27,337 12,-280-16,0-28,-139-66,14-76,712 167,109 23,30 12,0 0,0 0,-1 1,1-1,-1 2,-8-2,-66-4,-108 4,104 4,10-1,-341 7,309-1,-194 39,200-25,69-17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37:53.4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1 476,'15'-9,"0"0,0 2,1 0,23-7,124-34,113-11,113-8,113-4,94 9,60 11,2628-20,-2923 78,8 15,-116 23,-115-17,-68-16,-12-4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42:39.2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20,'0'-4,"9"-2,15 1,101 0,131 28,72 9,36-1,-10-6,-48-6,-64-12,-65-14,-61-12,-48-1,-34-7,-24 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42:41.4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0 207,'40'-2,"0"-2,0-2,62-17,-16 3,761-106,-172 101,0 28,-535-1,-101-1,0 2,-1 2,0 1,0 2,42 14,-9-1,0-3,73 9,146 4,-96-12,143 35,-127-18,-192-32,0-2,0 0,0-1,0 0,0-2,-1 0,21-4,-9 0,0 1,0 1,52 3,88 18,-119-12,1074 175,-411-91,2-72,-681-18,-1-2,1-1,-1-1,55-16,26-6,226-24,-320 48,289-58,-98 6,-171 44,-9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47:21.5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680 1,'-8'0,"-7"0,-10 0,-5 0,-5 0,-10 0,-1 0,-6 0,-3 0,-4 0,-5 0,5 0,3 0,7 0,3 0,10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47:22.3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1 314,'165'9,"-137"-7,0-1,0-1,-1-1,1-2,46-10,132-47,-152 42,437-122,-311 92,-138 37,1 2,1 2,66-2,-67 7,-3-2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47:23.8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3163 2,'-229'-1,"-246"3,431 2,0 3,1 2,0 1,-60 23,42-13,-459 126,444-133,-1-3,-99-1,63-4,41-1,-218 20,274-22,-375 68,298-50,-164 14,218-32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47:30.3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0 226,'109'0,"334"-4,-4-35,-270 7,-139 24,0-1,-1-2,40-20,-48 20,0 1,1 0,0 2,1 1,0 0,0 2,0 1,1 0,-1 2,25 1,14 2,-11 0,97-9,-52-2,142 4,-202 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47:33.2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1,'51'10,"184"5,-94-10,14 8,269 57,-189 5,-66-17,-81-26,-63-21,0-2,0-1,43 8,309 12,0-28,-197-1,-42 2,134-3,-188-8,14-1,25 8,118-6,-177 3,108-22,-116 12,-15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47:35.6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31,'0'-1,"1"0,-1 0,1 0,-1 1,0-1,1 0,-1 0,1 1,0-1,-1 0,1 1,0-1,-1 0,1 1,0-1,0 1,-1-1,1 1,0 0,0-1,0 1,0 0,-1-1,1 1,0 0,0 0,0 0,0 0,0 0,1 0,31 0,-13 3,1 1,0 0,-1 2,29 11,79 42,-19-8,-78-37,1-2,1-1,0-1,0-2,56 7,-42-14,1-1,0-3,-1-2,59-14,183-58,-218 56,44-15,110-27,-207 60,1 1,-1 1,1 1,0 0,-1 1,1 1,-1 1,1 1,23 8,12 7,86 45,-63-26,66 30,-91-44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47:38.8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1,'47'2,"-1"3,79 18,-22-3,548 63,-438-68,231-14,-377-6,0-4,114-29,-161 33,-1 1,1 0,0 1,0 1,0 1,0 1,1 1,-1 1,0 0,38 11,14 7,113 29,-156-42,36 13,-46-12,2-2,-1 0,1-1,32 3,229-7,-159-3,-88 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47:40.5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73,'201'4,"1182"-2,-861-10,-385 13,238 39,-319-33,369 52,-38-28,-177-15,19 16,-131-19,-85-14,34 3,-44-6,0 0,0 0,0 0,0-1,0 1,0-1,0 0,0 1,0-2,-1 1,1 0,4-3,-4 2,-1-1,0 0,0 1,0-1,0 0,0 0,-1 0,0 0,1 0,-1 0,0 0,0-1,-1 1,1 0,-1-1,1-4,-1 2,1 0,0 0,1 1,-1-1,1 0,3-6,3 1,0 0,1 0,0 1,0 0,1 1,0 0,1 1,0 0,0 0,22-10,15-5,67-23,-72 32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53:19.6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6480 45,'0'-2,"0"1,0-1,0 1,-1-1,1 1,-1-1,1 1,-1-1,1 1,-1-1,0 1,0 0,1-1,-1 1,0 0,0 0,-1 0,1-1,0 1,0 0,0 1,-1-1,1 0,0 0,-1 0,-2 0,-3-1,0 0,0 0,0 0,-1 1,-10 0,-34 1,1 1,-84 15,98-11,-325 46,-147 17,-150 3,-1133 38,2-131,1368-7,129 2,107 5,73 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53:20.0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53:20.3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1 293,'0'-12,"0"-18,4-16,2-8,-1 0,-1 1,0 10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53:20.7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23,'0'-1,"0"1,0-1,0 1,0 0,0-1,0 1,0 0,0-1,1 1,-1-1,0 1,0 0,0-1,0 1,1 0,-1-1,0 1,0 0,1-1,-1 1,0 0,0 0,1-1,-1 1,0 0,1 0,-1 0,0-1,1 1,-1 0,1 0,-1 0,0 0,1 0,-1 0,0 0,1 0,-1 0,1 0,50-6,84 2,80 2,489 22,2 28,-549-37,-12-3,175 35,-118 3,116 22,-227-54,276 38,-286-45,0-4,122-10,-151 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9:56:59.7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1421 150,'0'-1,"0"-1,0 1,0 0,0-1,1 1,-1 0,0-1,1 1,-1 0,1-1,-1 1,1 0,0 0,-1 0,1 0,0 0,0 0,0 0,0 0,0 0,0 0,0 0,0 0,0 1,1-1,-1 0,0 1,0-1,1 1,-1-1,0 1,1 0,-1 0,0-1,2 1,4 0,-1 0,0 0,0 1,0-1,0 1,12 4,24 8,-13-3,1-2,0 0,32 2,279 3,10-26,-203 6,-25 1,491-3,-456 28,-16 0,-9-12,0-6,231-27,-5-20,271-18,-585 61,919-36,-447 25,-474 12,-6-1,59 5,-85-1,1 1,-1 0,0 1,1 0,-1 0,-1 1,1 1,-1 0,14 8,21 14,1-3,72 28,1 0,132 45,-173-71,134 65,-28 11,-147-84,-30-15,1 0,-1 1,0 0,0 0,10 8,-17-7,-13-2,-24 2,0-2,-63-3,21-2,-185-1,-80-3,-76 0,-750-4,-174-3,5-21,969 17,55-6,63-3,-138-40,241 38,76 17,-107-3,-76 15,103 2,-629-2,685-1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6:11.7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0 153,'0'-1,"1"0,-1 1,0-1,0 0,1 1,-1-1,0 0,1 1,-1-1,0 0,1 1,-1-1,1 0,-1 1,1-1,0 1,-1-1,1 1,-1 0,1-1,0 1,0 0,-1-1,1 1,0 0,-1 0,1-1,0 1,0 0,-1 0,1 0,0 0,0 0,-1 0,1 0,1 1,30 4,16 10,55 26,-50-19,-6-1,-1 2,-1 2,64 48,-76-51,1-2,0-1,2-2,0-1,53 15,-24-13,0-3,93 9,180-17,-327-7,34 2,0 2,64 13,37 4,351-16,-455-10,0-1,79-23,-44 9,228-71,-176 44,176-70,-213 82,0 5,2 4,1 4,100-10,-42 18,41-8,71-6,-16 2,-127 5,1 6,143 0,465 17,-666 1,-2 2,1 3,-1 3,70 22,-70-19,1-2,121 5,134-17,-151-2,-114 2,0 3,67 13,212 17,-193-23,69 3,-126-13,-8-1,0 4,128 20,-92 0,14 5,231 21,-52-45,10 1,-239-2,277 28,-287-21,66 14,-108-16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6:14.0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4284 34,'0'-1,"0"0,-1 0,1 0,0 0,-1 0,1 0,0 0,-1 0,0 0,1 0,-1 0,1 1,-1-1,0 0,0 0,1 0,-1 1,0-1,0 1,0-1,0 0,0 1,0-1,0 1,0 0,0-1,-2 1,-37-8,38 8,-40-3,-1 1,-58 6,-99 20,194-24,-230 40,-63 22,-1257 387,1437-403,45-17,-2-2,-88 17,135-39,0-2,-1-1,1-1,-1-1,-55-9,-141-42,58-1,-16-5,-88-2,247 55,1-1,0-1,1-1,-1-1,1-1,1-1,-27-16,41 19,15 4,26 6,-26-2,202 14,789 1,-722-22,304-46,260-101,-816 148,-20 4,37-7,0 1,44-2,-72 9,-1 0,1 1,-1 0,0 1,1 0,-1 1,0 1,0 0,-1 0,22 12,7 10,0 2,64 58,-71-51,-1 1,-1 2,35 58,-60-87,0-2,-1 1,0 0,0-1,-1 1,4 9,-7-15,0-1,-1 1,1-1,-1 1,0-1,1 1,-1-1,0 1,0 0,0-1,0 1,0-1,0 1,0 0,-1-1,1 1,0-1,-1 1,1-1,-1 1,0-1,0 0,1 1,-1-1,0 0,0 1,0-1,0 0,0 0,-3 2,-9 4,-1-1,0 0,0 0,0-2,-25 6,-2 0,-211 63,-775 217,957-271,-1-4,0-3,-115 5,-156-19,80-2,227 3,1-1,-1-2,1-2,0 0,-47-17,30 4,1-2,-83-48,-7-17,90 54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6:21.4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1019,'0'-2,"0"0,0 1,0-1,1 0,-1 1,1-1,-1 1,1-1,-1 1,1-1,0 1,-1-1,1 1,0 0,0-1,0 1,0 0,1 0,0-1,1 0,0 0,0 0,0 0,0 1,0-1,0 1,1 0,5-1,1 0,0 1,0 0,0 0,1 1,11 2,23 5,-22-4,0 0,0-1,0-1,35-3,301-66,-274 49,1072-288,-394 63,-634 205,77-28,-176 57,51-9,-19 4,9-4,-6 0,89-13,-122 26,-1-1,36-13,-48 14,9 0,1 0,-1 2,0 2,1 0,37 3,-9 0,293-2,347-6,-501 0,329-22,-340 10,-127 12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6:27.4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1 579,'0'0,"0"-1,0 1,0 0,0-1,0 1,0-1,0 1,0 0,0-1,0 1,0 0,0-1,1 1,-1 0,0-1,0 1,0 0,1-1,-1 1,0 0,0 0,1-1,-1 1,0 0,0 0,1 0,-1-1,0 1,1 0,-1 0,0 0,1 0,-1-1,0 1,1 0,-1 0,1 0,-1 0,13-3,0 1,0 1,0-1,0 2,20 1,107 7,59 7,927 50,-705-43,-152-9,-231-11,389 26,-383-22,-1 2,62 19,-31-6,350 58,236 15,-479-66,-85-15,158 3,150-17,446-4,-619-6,25-2,-78 12,64-1,607-20,337-5,-1132 27,318-6,-255-1,128-24,-67-4,170-27,478-97,-617 114,100-31,77-16,-261 67,194-33,-217 44,127-1,-156 12,83-14,71-23,-42 6,-35 10,257-48,21-10,-312 68,210 1,627 19,-635-7,-262 4,0 2,110 27,-71-12,413 45,-488-64,9 1,55 9,-48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6:32.1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1 154,'0'0,"0"-1,0 1,0 0,0-1,0 1,0 0,0-1,0 1,0-1,0 1,0 0,1-1,-1 1,0 0,0-1,0 1,1 0,-1 0,0-1,0 1,1 0,-1 0,0-1,1 1,-1 0,0 0,0 0,1-1,-1 1,1 0,-1 0,0 0,1 0,-1 0,0 0,1 0,0 0,36-5,201 1,-171 5,220 2,81 1,69-1,1483-12,-311 0,-1391 10,-196-3,1 0,0-1,-1-1,1-1,-1-1,36-16,148-41,-162 54,1 3,0 1,0 2,56 4,-39 0,1985 2,-1194 4,125 1,-613-14,33-1,-12 23,-375-15,628 48,1-51,-566-4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6:33.2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6:36.6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17,'0'-1,"1"-4,13 1,27 0,0 2,0 2,55 6,228 24,1339 175,-1637-202,24 4,71 19,-110-23,0 0,-1 1,0 0,0 1,0 0,-1 1,14 9,-16-10,0 1,1-2,0 1,0-1,0-1,15 5,61 9,-80-16,320 30,11-23,-239-7,802-1,-373-59,-309 27,-126 20,171-46,-206 42,1 3,72-8,111 2,-186 16,1047-14,-753 18,11 9,126 1,-127-6,-23 17,-7-1,360-5,575-2,-1002-14,-218 2,0 3,82 19,-14-2,152 9,52 16,106 18,-301-43,452 60,-238-54,92 5,119 2,-191-10,-229-21,171-16,114-36,-313 35,139-20,381-40,-502 69,50-4,132-39,-162 23,-5 0,192-61,-176 34,-124 44,1 1,-1 1,1 0,32-1,89 4,-81 2,573-31,176-30,-750 58,189 0,-227 7,1 0,-2 2,1 0,32 15,-30-12,0 0,1-1,37 5,22-5,1-5,127-11,-150 0,0-4,106-32,38-9,-39 26,133-28,-289 51,-11 1,-16 1,-14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6:43.8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878 178,'0'-1,"-1"0,1 0,-1 0,1 1,-1-1,0 0,1 0,-1 0,0 1,1-1,-1 1,0-1,0 0,0 1,1-1,-1 1,0 0,0-1,0 1,0 0,0-1,-2 1,-4-3,-187-86,170 78,-1 2,-1 0,-52-9,-82-1,76 14,-89 7,109 8,41-5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6:46.2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1 125,'0'-2,"0"-1,0 0,0 1,0-1,0 0,0 0,1 1,0-1,-1 0,1 1,0-1,0 1,0-1,1 1,-1 0,1-1,-1 1,1 0,0 0,-1 0,1 0,0 0,1 0,-1 1,0-1,0 1,1-1,-1 1,1 0,-1 0,1 0,-1 0,1 1,0-1,-1 1,6-1,28-4,0 2,1 2,45 3,-7 1,557-22,-520 7,-25 1,1 5,118 4,-128 14,3 0,305-7,-250-7,-105 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6:47.9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1 300,'4'0,"6"0,22 0,32-5,67 0,93-14,59-2,78-19,21-8,-9-3,-42 7,-72 6,-82 10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6:49.3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0 105,'6'-11,"-1"0,2 0,0 1,0 0,14-15,-18 22,0 0,0 1,0 0,0 0,0 0,0 0,1 0,-1 1,1-1,-1 1,1 0,0 0,-1 0,1 1,0-1,0 1,-1 0,1 0,0 0,0 1,-1-1,8 3,13 5,-1 2,1 1,-2 1,0 0,35 28,-38-28,64 47,-39-26,1-2,2-1,76 34,-57-36,-37-14,0-2,0 0,1-3,0 0,46 6,-56-13,-1-1,0-2,1 0,-1 0,0-2,0-1,0 0,0-1,0-1,-1-1,0 0,-1-2,0 0,0 0,27-23,247-161,-232 158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6:50.3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1 294,'0'-1,"0"-1,0 1,1-1,-1 1,0 0,1-1,-1 1,1 0,0-1,-1 1,1 0,0 0,0 0,0-1,0 1,0 0,0 0,0 1,0-1,0 0,0 0,1 0,1 0,37-13,-30 11,277-68,-75 21,89-4,-138 30,-68 10,1 3,114 4,-64-4,-122 8,14-1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6:51.2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0 104,'5'0,"60"-5,61 0,61-9,19-2,26-2,-2 2,3 3,13 5,15 2,-4 4,-31 1,-51 1,-55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8:30.9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1 328,'0'0,"0"0,0-1,0 1,0-1,0 1,0-1,0 1,0-1,1 1,-1 0,0-1,0 1,0-1,1 1,-1 0,0-1,1 1,-1 0,0-1,0 1,1 0,-1 0,1-1,-1 1,1 0,16-6,-15 5,35-7,74-9,-54 11,179-22,86-8,85-2,68 1,1020-55,6 43,-576 71,-439-3,906-5,-1337-13,-1 1,1 3,75 17,-87-15,86 5,-50-7,612 74,-420-60,-119-12,261 30,-170-14,-154-17,36 3,370 25,6-27,-89-3,1230 16,-1607-20,-1 1,0 3,0 0,0 2,54 18,-26-3,-21-6,68 14,-40-18,108 2,73-14,-130-1,115 1,919-15,-510 3,274-78,-817 77,-75 15,-23 4,-10 5,-27 17,-57 35,-112 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8:32.2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1,'42'0,"90"8,189 25,178 10,107 6,140 0,32-9,37-3,-82-7,-103-10,-141-3,-154-4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08:34.3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1 125,'4'0,"1"1,-1-1,1 1,-1 0,0 0,1 0,-1 0,7 4,9 3,38 11,0-3,65 9,132 9,-204-28,701 46,11-47,-301-7,284-5,-5-27,116 0,-685 31,-147 1,450-32,470-97,-806 102,-44 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10:30.2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1,'158'5,"-142"-4,200 14,111 16,-72-7,1601 165,-1493-148,-49-9,-52-6,-168-17,85 9,213-6,1566-65,-1671 51,-96 2,140-3,-297 1,1-3,-1 0,59-19,-44 15,-20 6,1294-163,-1318 165,102-6,-92 7,1 1,-1 0,1 1,25 7,94 36,-43-13,-49-17,-2 2,1 3,-2 0,57 41,133 118,-114-85,-73-60,-11-8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10:42.3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1 222,'-1'-2,"1"-1,0 1,0 0,0-1,1 1,-1 0,0 0,1-1,-1 1,1 0,0 0,0 0,0 0,0 0,0 0,0 0,1 0,-1 0,1 0,-1 1,1-1,0 1,-1-1,1 1,0 0,0-1,0 1,0 0,0 0,0 0,0 1,1-1,-1 0,0 1,0 0,3-1,10 0,0 1,0 1,0 0,0 1,-1 0,24 7,24 4,22 3,-42-7,48 4,31-7,130-11,123-28,-253 21,317-43,-414 50,87-15,200-13,-39 35,-251-1,-1 1,0 1,0 1,0 1,0 0,-1 2,20 9,126 70,-147-76,72 44,66 36,-118-70,2-2,45 14,-73-27,-15-3,-24-4,22 1,-1195-58,1032 60,-208-7,290 0,0-3,-115-29,117 15,1-3,-97-45,-110-74,242 121,21 11,4 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10:44.8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513 257,'0'-1,"0"0,1 1,-1-1,0 0,0 0,1 1,-1-1,0 1,1-1,-1 0,1 1,-1-1,0 1,1-1,0 1,-1-1,1 1,-1-1,1 1,0-1,-1 1,1 0,0-1,-1 1,1 0,0 0,-1 0,1 0,0-1,-1 1,2 0,26-1,-27 2,17 1,0 1,-1 1,1 1,-1 0,1 2,26 13,-19-8,50 15,-54-21,0 1,0 1,-1 1,0 1,0 0,31 24,-50-34,-1 0,0 0,1 0,-1 0,0 1,1-1,-1 0,0 0,1 0,-1 1,0-1,0 0,1 0,-1 0,0 1,1-1,-1 0,0 1,0-1,0 0,1 1,-1-1,0 0,0 1,0-1,0 0,0 1,0-1,0 0,0 1,0-1,0 0,0 1,0 0,-14-2,-23-11,-7-9,-45-30,55 30,-1 1,-65-25,49 24,0-2,-65-40,-33-16,123 68,1 0,-1 2,-1 1,-30-4,36 8,11 1,0 1,-1 1,1 0,-1 0,1 1,-15 1,25-1,0 0,0 0,0 0,1 0,-1 0,0 0,0 0,0 0,0 0,0 0,0 0,0 0,1 0,-1 0,0 0,0 0,0 0,0 0,0 1,0-1,0 0,1 0,-1 0,0 0,0 0,0 0,0 0,0 0,0 0,0 0,0 1,0-1,0 0,0 0,0 0,0 0,0 0,0 0,0 0,1 1,-1-1,0 0,0 0,0 0,-1 0,1 0,0 0,0 0,0 1,0-1,0 0,0 0,0 0,0 0,0 0,0 0,0 0,0 1,0-1,0 0,0 0,0 0,-1 0,1 0,0 0,0 0,0 0,34 18,2-1,47 15,-41-17,3 2,1-3,1-1,1-3,74 7,537 9,-476-36,-148 3,-30 5,-8-1,-7 1,-1 0,0 0,0 1,0 1,-11 0,-10 0,-191 2,1 9,-325 59,413-43,112-21,0 1,0 0,-34 18,46-17,13-3,26-1,41-4,1-3,94-17,-91 10,234-29,-187 25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10:45.6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20,'0'-4,"5"-2,26 1,76 1,142 5,118 7,124 23,33 6,63 2,59 14,12 12,-58-5,-39-1,-68 3,-105-10,-114-13,-104-13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10:48.0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51,'31'2,"0"1,0 1,56 17,-43-11,91 24,314 66,33-32,-169-27,-293-38,1 1,-1 0,0 1,0 2,-1 0,32 16,-37-16,0-1,1-1,-1-1,1 0,0 0,23 1,91 0,-88-5,333-4,-316-2,0-3,73-20,-60 13,72-16,214-78,-23-38,-320 141,-8 5,-1 0,1-1,-1 0,0 0,0 0,0-1,0 0,4-4,-9 8,1-1,-1 1,0 0,0 0,0-1,0 1,1 0,-1 0,0-1,0 1,0 0,0 0,0-1,0 1,0 0,0 0,0-1,0 1,0 0,0 0,0-1,0 1,0 0,0-1,0 1,0 0,0 0,0-1,-1 1,1 0,0 0,0 0,0-1,0 1,0 0,-1 0,1 0,0-1,0 1,-1 0,1 0,0 0,0 0,0 0,-1-1,1 1,0 0,0 0,-1 0,1 0,-18-3,-184 2,59 2,-82-11,-144 0,-58 46,-202 5,545-43,26 0,-60 5,101 0,1 0,-1 1,1 1,0 1,-20 9,-20 8,-295 74,329-91,-55 12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10:49.1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26,'0'-1,"0"1,0-1,0 0,1 0,-1 1,0-1,0 1,1-1,-1 0,0 1,1-1,-1 0,0 1,1-1,-1 1,1-1,-1 1,1-1,-1 1,1 0,-1-1,1 1,0-1,-1 1,1 0,0 0,-1-1,2 1,25-5,101-1,169 14,-158-1,669 4,-660 0,-33-1,-38-8,68 5,-123-4,0 0,0 2,-1 0,31 13,19 14,65 42,-118-63,21 11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0:10:50.7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1 139,'0'-1,"0"0,0 0,0 0,0 0,0 0,1 0,-1 0,0 0,1 0,-1 0,0 0,1 0,0 0,-1 0,1 0,-1 1,1-1,0 0,0 0,-1 0,1 1,0-1,1 0,32-12,21-1,0 3,0 2,67-2,-85 8,327-21,84 5,73 7,1146 18,-1155 15,-43 5,-49-2,-63 2,-77-3,56 7,-292-26,-21-3,0 1,-1 0,0 2,1 1,-1 1,30 11,-27-5,-4-4,-1 1,0 1,-1 1,0 1,33 27,-36-22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20:42.6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1 103,'20'0,"0"2,0 1,0 0,-1 2,1 0,-1 1,0 1,-1 0,23 14,-18-10,1-2,0 0,0-1,27 4,102 9,-113-18,0-1,0-3,0 0,0-3,-1-1,1-2,51-17,29-12,2 4,168-20,793-21,10 71,-1067 3,31-1,107 4,-139-1,1 0,0 2,-1 1,29 10,108 51,-93-36,145 43,-150-60,111 9,65-12,-133-9,0 4,130 26,-106-3,301 52,92 11,-404-61,0-5,151 13,301-28,-515-11,511-44,-474 33,-62 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20:47.8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48,'123'1,"543"-21,-660 20,356-28,5 31,231 69,0 30,-128-21,-99-32,1-15,586-23,-621-41,-260 17,-2-4,94-33,-51 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24:27.6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1 650,'77'-3,"1"-3,-2-3,1-3,-1-4,113-40,101-26,-224 71,-40 8,0-2,42-12,-13-2,2 2,0 3,108-12,-112 19,70-18,-28 4,-47 12,1 1,-1 3,68 2,-113 3,0 1,-1-1,1 1,0 0,0-1,0 1,-1 0,1 1,0-1,-1 0,1 1,-1 0,0-1,1 1,-1 0,0 0,0 1,0-1,-1 0,1 0,0 1,-1-1,0 1,1 0,-1-1,0 1,0 0,-1 0,1-1,0 6,2 10,-1-1,-1 1,-3 35,1-27,0 31,4 260,1-289,-2-11,0 0,-1 0,-1 23,0-37,-1 0,1 0,0-1,-1 1,1 0,-1-1,0 1,0 0,0-1,0 1,0-1,-1 0,1 1,-1-1,0 0,1 0,-1 0,0 0,0 0,0 0,-1 0,1-1,0 1,-1-1,1 0,-6 2,1-1,-1-1,0 0,0-1,1 0,-1 0,0-1,0 0,0 0,1-1,-1 0,-10-4,-12-6,-41-22,57 26,-154-70,-16-9,-8-5,138 71,42 17,-1 0,1-1,1 0,-18-11,19 9,0 1,-1 1,0 0,0 0,0 1,0 0,-15-2,-10 0,-37-2,21 3,-407-8,335 14,113-1,-7 1,1-1,-1 0,0-2,0 0,1-1,-1-1,-18-6,35 10,0-1,1 1,-1 0,0-1,0 1,0-1,1 1,-1-1,0 1,1-1,-1 1,0-1,1 0,-1 1,1-1,-1-1,1 1,0 1,-1 0,1-1,0 1,1-1,-1 1,0-1,0 1,0 0,0-1,0 1,0-1,0 1,1 0,-1-1,0 1,0 0,0-1,1 1,-1-1,0 1,1 0,-1 0,1-1,3-2,0 1,0-1,0 1,0 0,8-3,28-7,1 1,47-5,-44 9,705-167,-403 87,-259 67,2 3,0 4,97-1,-139 14,-1-1,1-3,-1-2,75-19,-78 11,0-2,56-29,-86 39,1 0,-1 1,1 1,0 0,0 0,1 2,16-2,103 3,-89 3,-14-1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24:33.7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1 176,'23'-1,"35"-6,0 0,65-8,178-46,-225 41,-35 9,1 1,0 2,64-4,-31 11,103-5,555-10,-491 18,425-2,-630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24:40.8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11665 864,'-7'0,"1"-1,-1 0,1 0,-1-1,1 0,-1 0,-7-4,-45-25,28 13,-23-11,-1 3,-111-36,48 33,-215-25,-127 21,371 28,-1303-16,1379 21,38 0,-19 0,217 1,305-4,-48-44,-362 31,8 6,168 8,-171 4,-97-4,-32-1,-28-2,-132-9,-138-2,-102 2,-1359-6,1121 17,831 4,155-2,109-9,1136-100,-1088 56,-62 4,-74 2,-83 6,-87 4,-73 9,-86 22,-32 8,-8 2,-68 23,-144 40,-139 24,-91 13,-1171 199,1080-216,48-11,70-16,81-16,85-16,232-25,-60 6,-105-3,170-6,-1-2,1 0,0-1,0-1,0 0,1-2,-18-8,-14-10,-44-32,64 38,-1 1,11 7,0-1,1 0,-18-17,35 29,1-1,-1 0,0 1,1-1,-1 0,1 0,-1 1,1-1,-1 0,1 0,0 0,-1 0,1 0,0 0,-1-1,2 2,-1-1,0 1,0 0,0-1,0 1,1-1,-1 1,0-1,0 1,1 0,-1-1,0 1,1 0,-1-1,0 1,1 0,-1-1,1 1,-1 0,0 0,1-1,-1 1,1 0,-1 0,1 0,-1 0,1-1,12 0,1-1,-1 2,0-1,16 3,138 11,79 13,1728 107,-1972-133,-7 1,-20-1,-61 1,-190-2,-141 0,-80 0,-75 0,-1791 19,1884-8,71-1,75-3,78-2,182-2,15 0,-89-9,144 7,1 0,-1-1,1 1,-1-1,1 1,-1-1,1 0,-5-2,7 2,0 1,-1 0,1 0,0 0,0-1,0 1,0 0,0 0,0-1,0 1,0 0,0 0,0-1,0 1,0 0,0 0,0-1,0 1,0 0,0 0,0-1,0 1,0 0,0 0,0-1,0 1,1 0,-1 0,0 0,0-1,0 1,0 0,1 0,-1 0,0 0,0-1,0 1,1 0,-1 0,0 0,0 0,0 0,1 0,-1 0,0 0,0-1,1 1,9-4,1 0,-1 1,16-4,129-22,84-3,736-23,-682 56,-60 12,31 21,-235-28,-40-12,-13-4,-91-37,-2 5,-2 5,-2 6,-202-27,-27 25,-486 16,154 26,240 20,-3 24,389-46,-1213 188,1243-190,-7 1,1 0,0 3,-58 21,75-18,15-12,0 0,0 1,0-1,0 0,0 1,0-1,-1 0,1 1,0-1,0 0,0 1,0-1,0 0,0 1,0-1,1 0,-1 1,0-1,0 0,0 1,0-1,0 0,0 0,1 1,-1-1,0 0,0 1,0-1,1 0,-1 0,0 0,0 1,1-1,-1 0,7 3,-1 0,1 0,0-1,0 0,0-1,0 0,9 1,78 9,97-3,107-16,619-94,-3-64,-37 6,-146 61,-11 55,-387 59,-313-13,-12-2,0 1,0 0,0 0,0 1,0 0,0 0,0 0,0 1,-1 1,1-1,-1 1,7 5,6 9,-1 2,0-1,29 43,-3-4,4-3,3-3,1-2,3-2,2-3,1-3,92 50,103 40,-199-107,1-3,102 26,-5-24,-23-5,13 4,0-7,165-2,296-32,-174-11,410-10,-264 11,-291 7,624-64,-700 55,238-65,-428 90,40-12,-56 16,0 0,0 0,0-1,0 0,0 1,-1-1,1 0,-1 0,1 0,-1-1,1 1,-1-1,3-4,-4 5,-1 1,1 0,-1 0,0-1,0 1,1 0,-1-1,0 1,0 0,0-1,0 1,0-1,-1 1,1 0,0-1,-1 1,1 0,-1 0,1-1,-1 1,0 0,1 0,-1 0,0 0,0 0,0 0,0 0,-1-1,-8-7,0 1,0 0,-1 0,-22-10,-55-24,-147-49,49 33,-2 8,-3 8,-287-25,-595 44,418 68,442-23,-717 90,635-73,-425 3,-996-48,1658 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24:54.3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1 707,'16'1,"-1"-2,1 0,22-5,-12 1,135-27,104-18,111-14,96-8,62 2,838-67,-3 72,-1055 66,-310-1,173 7,-134-3,72 16,-96-15,29 12,12 3,7-5,0-4,113 5,-117-11,761 84,-67-21,18-67,262-91,-453 17,695-78,-989 120,-145 16,253-34,-359 41,70-23,-77 21,-7 3,1 1,0 1,0 2,32-1,107 7,-114-1,216 5,139 7,-364-12,3 0,58 11,1 6,186 44,-241-48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24:55.2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0,'17'0,"18"0,93 0,99 0,47 0,39 8,30 4,20-2,-21-1,-32-3,-30-2,-24-2,-18-1,-24-6,-36 0,-39-1,-39 1,-37 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24:56.5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7232 390,'-123'5,"64"-1,-396 35,-105 8,-1108 11,1206-82,9-28,-51-13,-406-48,4 31,790 75,-549-57,633 58,1 0,-1-2,2-2,-1-1,-57-29,13 0,43 26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29:48.5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4198 630,'-14'0,"33"0,-5 0,266 10,-204-2,127 30,-48-6,-126-28,-1-2,1-1,43-4,9-5,339-25,-240 32,-145 3,0 2,0 1,37 10,17 10,97 24,-146-41,1-1,74 1,-11-12,131-23,-118 12,-34 5,387-63,-264 16,-5 3,-170 48,0 2,1 2,-1 0,35 4,-33 0,0-2,62-8,-90 7,9-2,-16 0,-13-2,-352-59,240 45,-113-15,-407-7,502 42,-426-14,51-54,-2-28,-340-49,492 108,-537 16,799 26,-118 23,-97 36,28-6,-1432 135,1513-189,197-6,50 0,256 9,-34 8,99 9,948 50,227-72,-1274-6,170-28,-19-33,-56 6,-81 12,-223 38,-15 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29:57.7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1287,'2'0,"-1"-1,1 1,-1-1,1 1,-1-1,0 0,1 0,-1 0,0 0,0 0,1 0,-1 0,0 0,0 0,1-3,6-5,5-2,0 0,1 1,0 1,1 0,0 1,0 0,21-7,150-52,92-5,86 10,67 16,272 5,975 69,-1330 0,-65 7,192 36,-443-67,0-2,0-1,0-2,1-1,59-12,752-149,-401 69,-43 8,564-35,-583 83,-361 37,0-1,0-1,0-1,0 0,-1-2,0 0,0-1,29-15,-14 0,-1 0,35-34,53-37,-67 60,1 3,1 2,2 3,80-25,-21 17,161-25,-177 42,-1 5,117 1,-207 10,10 0,34 5,-48-4,0 1,0-1,0 1,0 0,0 1,-1-1,1 1,-1 0,9 7,12 15,-1 1,-1 1,28 41,-12-16,22 30,-26-32,67 70,-94-112,1 0,0-1,0 1,1-2,16 8,62 23,-54-24,48 19,1-4,100 20,-144-41,-16-3,1 1,32 10,-56-14,0-1,1 0,-1 1,0 0,0-1,1 1,-1 0,0-1,0 1,0 0,0 0,0 0,0 0,1 2,-2-3,0 1,0-1,0 0,0 1,0-1,0 1,0-1,0 1,0-1,0 1,0-1,0 0,0 1,0-1,-1 1,1-1,0 1,0-1,0 0,-1 1,1-1,0 0,0 1,-1-1,1 0,0 1,-1-1,0 1,-4 2,-1 0,0 0,1 0,-1 0,-9 2,-227 71,54-26,-108-5,-561 19,549-46,105-4,-356 18,8-29,526-3,21 1,5 0,49 10,101 8,91 1,105-4,101-3,83 2,1298 17,-1277-31,-101-3,-76-1,-85 0,-96 5,-105 2,-83-2,-7 0,-16 2,-277 30,183-23,-155 15,-109 2,-93-5,-1427 9,1573-36,78-8,7-12,-158-5,80 38,170-4,56-2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30:01.3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0 390,'362'-12,"-252"1,135-30,-45-14,-117 29,130-22,-43 34,-67 8,300-33,44-4,386-39,-729 69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30:58.9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3 235,'-3'-8,"3"4,13 1,36-2,172-3,124-6,-6-21,-1-46,-106 20,-191 55,0 1,1 2,-1 2,47 4,-13 0,130 7,-163-5,-1 1,80 24,14 17,-44-14,152 35,-36-40,-126-22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31:00.1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1,'90'39,"-56"-22,190 105,-209-113,25 14,2-2,81 30,-100-45,0 0,1-2,0 0,26-1,99-5,-63 0,-44 1,467 10,169 6,-593-16,291 32,-286-20,845 126,-767-101,177 63,-244-70,-67-21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31:03.3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6428 407,'8'-8,"2"1,-1 0,1 1,0 0,0 1,16-7,5-2,123-56,3 7,3 7,171-36,-256 74,2 2,-1 4,101-2,-160 14,-1 2,1 0,-1 0,0 2,26 8,73 38,-39-16,577 186,-542-193,1-5,165 12,-254-32,12 0,50 9,-73-8,0 0,-1 0,0 1,0 1,0 0,0 1,-1 0,11 7,23 19,2-3,0-1,2-3,1-1,74 23,-97-40,0-1,0-1,0-1,41 0,104-10,-118 3,98-4,372-38,-413 24,-14 2,0 4,118-3,-164 21,1 1,56 14,54 5,380-14,-496-11,-1-2,1-3,72-19,122-59,-180 63,1 3,0 3,90-14,195-5,-241 27,134-13,650-48,8 34,-847 34,0 2,0 2,92 17,163 54,4-28,135-29,-418-18,-31-1,-50-2,-882-8,821 13,-237 3,-66 3,-2081 14,2049-20,57 0,65 0,-437-23,441 3,0 14,-597 70,796-48,-376 45,-949-7,791-78,208 4,-431 10,263 6,-50-22,265 8,179 8,-296-8,240 14,87 1,-677 5,564 12,57 6,169-12,-267 17,321-25,24 0,0-1,0 1,1-1,-1 0,0 0,0-1,0 1,0-1,1 0,-1-1,0 1,1-1,-1 0,1 0,0 0,0-1,-5-2,-62-37,71 42,-1 0,1 0,0 0,-1-1,1 1,0 0,0 0,-1 0,1 0,0 0,0-1,-1 1,1 0,0 0,0 0,0-1,-1 1,1 0,0 0,0 0,0-1,0 1,0 0,-1 0,1-1,0 1,0 0,0-1,0 1,0 0,0 0,0-1,0 1,0 0,0-1,0 1,0 0,0 0,0-1,0 1,1 0,-1 0,0-1,0 1,0 0,0 0,0-1,1 1,-1 0,0 0,0-1,0 1,1 0,-1 0,0 0,0 0,1-1,-1 1,0 0,23-9,-12 6,58-25,109-24,157-10,143 6,84 5,57 11,1372-28,-1417 64,-78 7,-84 2,-91 0,-81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37:56.6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1,'10'1,"-1"1,1 0,0 0,0 1,-1 0,0 1,1 0,-1 1,15 10,16 7,229 115,-254-129,1 0,0-2,0 0,0 0,1-2,0 0,27 3,9-3,58-4,-105 0,29-1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37:58.4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0 486,'4'0,"0"-1,0 1,0-1,0 0,0 0,0 0,0 0,7-4,16-6,104-36,77-19,101-20,498-70,330 56,-792 92,-281 10,121 23,50 30,45 31,-221-63,-1 3,87 53,-123-64,28 25,-29-21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38:11.4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1,'50'18,"99"21,-105-29,178 41,73 11,53 0,1510 132,-1821-192,48 3,116-8,-194 2,0 0,-1 1,1-2,12-3,-18 4,-1 1,1 0,-1 0,1-1,-1 1,1 0,-1-1,1 1,-1-1,1 1,-1 0,0-1,1 1,-1-1,0 1,1-1,-1 1,0-1,0 0,0 1,1-1,-1 0,0 1,0 0,0-1,0 1,0 0,0 0,0-1,1 1,-1 0,0 0,0-1,0 1,1 0,-1 0,0-1,0 1,0 0,1 0,-1 0,0 0,0-1,1 1,-1 0,0 0,0 0,1 0,-1 0,0 0,1 0,-1 0,0 0,1 0,-1 0,0 0,0 0,1 0,-1 0,0 0,1 0,-1 0,0 0,0 0,1 1,84 14,87 29,-147-38,3 3,0 1,0 1,27 15,-24-10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38:37.3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4790 738,'-28'1,"0"1,0 1,-26 8,46-10,-461 105,-300 51,-408-43,660-72,333-25,-407 26,-11-39,569-4,-81-3,100 2,0-1,0 0,0-1,0-1,-19-8,28 10,1 0,-1 0,1-1,0 0,0 1,0-2,0 1,0 0,0-1,1 0,0 1,0-1,0-1,0 1,1 0,-1-1,1 1,0-1,1 0,-1 1,1-1,0 0,0 0,0 0,0-8,2-4,0 0,2 0,-1 1,2-1,0 1,11-25,16-37,50-89,55-70,-82 146,121-213,-169 294,-1 1,0 1,0-1,1 1,0 0,10-10,-14 17,0-1,0 1,0-1,0 1,0 0,0-1,1 1,-1 1,0-1,1 0,-1 0,0 1,1-1,-1 1,1 0,-1 0,1 0,-1 0,1 0,-1 1,0-1,1 1,-1-1,0 1,1 0,3 2,17 9,-1 2,29 22,-2-1,395 242,-407-257,70 27,-87-40,1-1,0-1,1 0,0-2,25 1,76 2,-240-21,-93-10,-1026-58,1225 83,-50-4,55 2,6 0,28-3,121-11,113-10,-234 24,1001-102,-230 24,-4 41,-783 39,28-1,67 7,-103-5,0 0,1 0,-1 0,0 0,0 1,0-1,0 1,-1 0,1 0,0 0,-1 1,1-1,-1 1,0 0,0 0,0 0,0 0,3 6,6 5,-3-6,0 0,0-1,0 0,1-1,1 0,-1-1,1 0,20 7,-10-4,160 60,-141-56,-1-1,71 9,-81-21,-29 1,0 0,0 0,0 0,0 0,-1 0,1 0,0 0,0 0,0 0,0 0,0 0,-1-1,1 1,0 0,0 0,0 0,0 0,0 0,0 0,0 0,0-1,0 1,-1 0,1 0,0 0,0 0,0 0,0-1,0 1,0 0,0 0,0 0,0 0,0 0,0-1,0 1,0 0,0 0,0 0,0 0,0 0,1-1,-1 1,0 0,0 0,0 0,0 0,0 0,0 0,0-1,0 1,0 0,1 0,-1 0,0 0,0 0,0 0,0 0,1 0,-14-4,0 0,0 1,0 1,0 1,0-1,-17 2,-114 2,19 6,-242 48,-24 60,253-71,-984 275,1098-315,-126 34,122-30,0 1,-52 28,42-14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39:18.5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0 399,'963'5,"-436"31,-118-4,-36-26,206 13,183 13,-670-35,-1-3,134-27,-215 31,527-86,-312 54,-101 11,541-57,-195 28,-343 36,148-22,-103-3,211-4,-234 31,1179-40,-1219 55,1034 27,-830-2,-31-2,309 0,-176-9,-66-10,89 6,-283 2,263 16,-231-20,294 7,-103 1,-45-1,261-21,-153 0,187 5,-597 1,46 9,20 2,15-8,623 20,-700-23,1 1,-1 2,0 2,0 1,-1 1,0 2,53 23,30 20,97 39,-198-85,-14-3,-26-6,-36-12,15 2,-91-10,-462 15,356 10,145-3,-1341 21,612-16,-195 11,768 8,-8 0,-261-8,-56 4,391-6,-253 52,368-49,-3 1,-117 12,-605 55,157-16,497-66,-209 12,-730 119,772-78,294-54,0 0,0 0,0-2,-1 0,1-1,0 0,-1-2,-25-6,-5-6,-67-30,74 29,-5-2,-1 3,0 1,-1 3,-90-11,100 17,0-2,-44-15,40 10,-55-8,-43 4,-220 4,352 13,25 3,67 5,169 9,105 2,95-2,959-4,-1-103,-1139 53,46-21,-247 44,148-8,64 23,-149 1,513-1,-855-2,-558-11,-694-4,-329 16,925 28,445-10,381-18,35 0,7-1,76 1,-71-1,230 2,119 9,2474 51,-2488-60,-74 7,-34 14,-185-13,-1 1,67 26,37 16,2-7,181 28,-49-23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0:45.5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0 690,'247'-1,"-12"-7,141-4,565-24,388-9,-817 10,-182-16,261-27,-518 74,121 11,68 24,-36-4,417 7,-5-32,-458-4,-56 0,135 4,-225 3,0 1,0 1,0 2,50 20,58 16,-60-29,130 9,88-13,-87-5,-21-4,-155-6,-1-1,0-2,41-11,-63 14,-1 1,1 1,0 0,0 1,27 2,7 1,-32-3,1-1,0-1,-1 0,0-1,17-6,-28 8,-1 0,1-1,-1 0,1 0,-1 0,0-1,1 1,-1-1,-1 0,1 0,0-1,-1 1,1-1,-1 1,0-1,0 0,-1 0,1-1,-1 1,0 0,2-6,-6-14,1 4,1 19,0 1,1-1,-1 1,0 0,0-1,1 1,-1 0,0-1,1 1,-1 0,1-1,-1 1,0 0,1 0,-1-1,1 1,-1 0,1 0,-1 0,1 0,-1 0,1 0,-1-1,0 1,1 0,-1 0,1 0,-1 1,1-1,-1 0,1 0,-1 0,1 0,-1 0,1 1,-1-1,0 0,1 1,31 9,45 23,-45-17,54 16,-28-18,0-2,1-3,78 2,-84-5,0 2,-1 3,61 20,-9-3,381 70,-331-78,189 0,74-23,-138-1,-222 3,-56 1,0 0,0 0,0 0,0 0,0 0,0 0,0 0,-1-1,1 1,0 0,0-1,0 1,0 0,0-1,-1 1,1-1,1 0,-2 0,0 1,0 0,0-1,0 1,0-1,0 1,0-1,0 1,0 0,0-1,0 1,0-1,0 1,0-1,0 1,0 0,0-1,-1 1,1-1,0 1,0 0,0-1,-1 1,1 0,0-1,-1 1,-5-7,-1 1,0 0,-9-6,14 10,-109-74,-736-448,813 504,8 4,-191-103,190 108,0 0,-1 2,0 1,0 1,0 2,-51-4,-565 28,612-17,-42 3,-89 19,120-15,1 2,1 2,-56 26,-74 52,62-31,-54 20,-4-8,-3-8,-205 50,277-88,-276 85,339-98,-1-2,0-2,-72 9,-109-6,148-10,-767 10,84-3,-680 26,335 32,816-53,-419-17,629 2,-1-4,1-3,0-3,-78-23,7-5,138 38,0 0,0 0,1-1,-1 1,1-1,-1 0,1 0,-4-3,7 5,0 0,0-1,-1 1,1 0,0 0,0 0,0-1,0 1,0 0,0 0,-1-1,1 1,0 0,0 0,0-1,0 1,0 0,0-1,0 1,0 0,0 0,0-1,0 1,0 0,0 0,0-1,0 1,1 0,-1 0,0-1,0 1,0 0,0 0,0 0,1-1,-1 1,0 0,0 0,0 0,1-1,1 0,0 0,0 0,1 0,-1 0,0 0,1 0,-1 1,4-1,21-3,32 0,150-2,129-1,2919-14,-3178 21,313 11,-348-5,1 2,-1 1,54 20,-31-9,120 28,2-9,292 24,392-36,-564-39,129-7,232-25,-551 26,128-38,-156 28,140-34,-26 31,11-2,-198 30,-1-2,1 0,0-1,-1-1,0 0,19-12,-33 17,-1 0,1 0,0 0,0 0,-1 0,1-1,-1 1,0-1,0 0,0 1,0-1,0 0,-1 0,1 0,-1-1,0 1,0 0,0 0,0-1,0 1,-1 0,0-1,0 1,0-1,0 1,0-1,0 1,-1 0,0-1,0 1,0 0,0 0,-3-6,1 3,0 1,0-1,-1 1,0 0,0 0,0 0,-1 0,0 1,0-1,0 1,0 1,0-1,-1 1,0 0,0 0,0 0,-6-1,-19-2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0:53.6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1,'4'0,"27"4,46 2,137 20,159 11,106 7,144 22,-17 3,-35 12,-76-4,-114-15,-126-23,-120-21,-82-23,-58-10,-29-3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1:31.1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1 357,'978'-49,"-858"30,127-38,112-51,-275 82,181-46,-215 62,0 3,0 2,79 2,556 11,-535-8,-129-1,1 1,-1 2,0 0,1 1,-1 1,-1 1,1 1,-1 1,0 1,0 0,30 19,-18-6,196 120,17-12,-233-123,42 25,1-3,72 26,-89-43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1:33.6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40,'7'4,"0"0,0 0,0-1,1 0,-1 0,1-1,0 0,0-1,-1 1,1-1,0-1,11 0,12 2,138 7,903 2,-434-9,-254 22,-243-11,852 62,7-41,-445-33,596-2,-898-4,1871-162,-1777 117,-235 34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1:35.6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1 485,'235'0,"67"-2,120-10,114-10,97-15,1329-138,-1793 158,467-48,-114 7,-139 8,-139 16,-202 28,44 0,-84 6,0 0,0 0,0 0,0 0,0 0,1 1,-1-1,0 1,0 0,0-1,2 3,-3-3,-1 0,0 0,0 1,0-1,1 0,-1 0,0 1,0-1,0 0,0 1,0-1,0 0,1 1,-1-1,0 0,0 1,0-1,0 0,0 1,0-1,0 0,0 1,-1-1,1 1,0-1,0 0,0 0,0 1,0-1,0 0,-1 1,1-1,0 0,0 1,-1-1,1 0,0 1,-5 3,0 0,0 0,0 0,-10 5,14-8,-51 28,-2-2,-1-2,-115 34,62-31,-146 18,-171-13,-4-29,374-4,-263-2,-800 14,1085-10,-474 33,-1113 166,885-100,697-95,0 1,-46 16,73-16,11-7,0 0,0 1,0-1,0 0,0 0,0 0,0 0,0 1,0-1,0 0,0 0,0 0,1 0,-1 1,0-1,0 0,0 0,0 0,0 0,0 0,0 1,1-1,-1 0,0 0,0 0,0 0,0 0,1 0,-1 0,0 0,0 0,0 0,0 0,1 0,-1 0,0 0,0 0,0 0,1 0,-1 0,0 0,0 0,1 0,70-2,121-6,155 10,86 8,-5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1:46.5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0,'1'0,"0"0,0 1,0-1,1 0,-1 1,0-1,0 0,0 1,0 0,0-1,0 1,0-1,0 1,2 1,6 6,61 36,1-3,146 60,-157-78,2-3,1-3,0-3,1-2,107 6,74-21,-143 1,-77 3,0 0,0 2,37 8,72 27,-23-6,-16-12,2-3,122 5,205-17,-204-5,141-3,-240-4,-1-5,0-5,204-57,-18-7,-233 66,1 4,93-2,-93 12,0-4,128-23,-144 16,107-7,51 14,-130 5,21-1,399 4,-469 1,0 0,37 11,-18-3,58 15,148 56,-94-27,-133-45,76 24,176 32,-256-62,364 41,404-36,-501-11,-273 1,1 1,0 2,-1 1,1 0,-1 2,41 15,-22-6,0-3,1-1,1-2,69 4,-84-11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1:49.8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1,'23'0,"0"1,37 6,-12 0,408 58,173 23,43 12,-581-86,16 9,-62-12,60 7,253-1,-222-13,1264 16,-511 24,-799-39,-61-4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1:50.7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22,'0'-4,"38"-1,38-1,61 2,80 1,65 6,28 1,-5 1,-41-1,-67-1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1:51.7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1,'271'0,"798"9,-970-6,804 44,58 93,-611-48,-330-86,-1 1,0 1,-1 1,0 0,0 1,-1 1,0 1,18 17,-30-25,-2 0,0-1,0 0,1 0,-1-1,1 1,-1 0,1-1,0 0,0 0,0 0,0-1,0 1,0-1,1 0,-1 0,0-1,1 1,5-1,16-3,0-2,0-1,33-11,27-7,-47 17,27-6,-60 11,0 0,0 0,0-1,0 1,0-1,-1 0,10-7,-14 9,0 0,0 0,0 0,0-1,0 1,-1 0,1 0,0 0,0-1,-1 1,1 0,-1-1,1 1,-1 0,0-1,1 1,-1-1,0 1,0-1,0 1,0-1,0 1,0 0,-1-1,1 1,0-1,-1 1,1 0,-1-1,1 1,-2-3,-3-3,1 1,-1-1,0 1,-9-9,13 14,-19-18,-2 0,-41-27,39 31,1-2,1 0,-20-22,34 29,8 10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1:53.0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0 132,'9'0,"0"0,0-1,0 0,0 0,0-1,10-3,13-4,118-21,213-16,150 21,-428 23,319-8,-6 22,-349-8,-1 2,59 14,-83-13,-1 1,0 0,-1 2,0 0,0 2,28 20,151 91,-121-78,550 328,-565-334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1:54.6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0 183,'13'0,"29"0,114-17,102-10,100-9,61 2,49 6,25 9,-46 7,-52 5,-68 5,-86 2,-75 1,-66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3:27.7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1 741,'39'0,"-1"-2,1-1,65-15,128-30,75-18,-289 61,662-183,315-166,-961 340,-11 4,0 2,1 0,32-7,-48 14,-1 1,0-1,1 1,-1 1,1-1,-1 1,0 0,1 1,-1 0,11 5,3 2,0 1,20 15,-22-13,133 86,-90-54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3:33.6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1 253,'170'115,"5"-9,265 120,-322-175,2-5,2-5,2-5,228 34,-178-49,185-1,-265-21,-1-4,0-4,156-36,-206 32,63-26,-77 27,1 1,1 1,0 2,54-8,99 1,-50 5,498-81,-609 87,332-63,37-6,-272 56,159-1,184 24,-395-2,-1 2,78 19,20 2,195 9,-334-31,38 11,-39-9,46 8,357-3,-310-13,668-1,-743 0,57-10,-20 1,-103 11,1 0,0-2,-33-6,-34-12,-2 4,-117-6,-189 13,322 8,-810 2,309 1,419 8,23-1,-594 0,-123 3,537 25,212-21,-133 5,-154-28,135 0,222 6,0-2,-58-13,-57-25,91 25,-4-2,-133-35,145 43,-1 1,-50-2,53 7,-57-14,-23-2,107 18,9 2,0-1,0 0,0-1,-13-4,23 6,-1 0,0 0,1-1,-1 1,0 0,1-1,-1 1,0 0,1-1,-1 1,1-1,-1 1,1-1,-1 1,1-1,-1 1,0-2,1 1,0 1,0 0,0-1,0 1,0 0,0-1,0 1,1 0,-1-1,0 1,0 0,0-1,0 1,0 0,1-1,-1 1,0 0,0-1,1 1,-1 0,0 0,1 0,-1-1,0 1,1 0,4-3,0 1,0-1,0 1,11-2,37-8,86-8,58 7,-124 10,536-22,211-12,-215-43,-56 1,-475 72,-7 2,120-27,-64 0,185-25,242 44,-425 15,-113-2,16-1,1 2,-1 1,0 1,52 13,139 65,-138-47,171 44,167 0,-284-60,153 1,-177-20,65 2,-79 14,-24-3,305 7,-222-16,-140-3,-1 2,1-1,0 2,0 0,-1 1,0 0,0 1,0 1,0 0,25 16,27 18,91 59,-137-84,0 1,-1 1,-1 1,32 38,-50-54,8 15,-9-17,0 1,0 0,0-1,0 1,-1-1,1 1,0-1,-1 1,1-1,0 1,-1-1,1 1,0-1,-1 1,1-1,-1 1,1-1,-1 0,1 1,-1-1,1 0,-1 0,0 1,1-1,-1 0,1 0,-1 0,0 0,1 0,-1 0,1 0,-1 0,0 0,1 0,-1 0,0 0,-32 1,0-2,-38-5,11 1,-364-1,2 33,-322 89,620-95,-233 11,-123-33,302-2,-62 3,-327 40,357-11,194-25,43-2,251-15,4-22,-145 16,414-91,-465 90,92-15,81-22,-187 33,-21 7,0 1,2 3,97-12,590-49,-565 46,-85 11,129-6,457 21,-44 1,-376-8,294-4,57-12,-25 0,-563 25,0 1,-1 2,1 0,0 0,26 10,85 40,-89-34,0-2,45 11,18-5,45 12,-118-27,0-1,1-1,38 1,97-4,-117-3,401-3,380 4,-569 11,-102-2,175-13,-240-7,164-40,87-49,-36-21,-212 78,-59 27,-10 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4:38.8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1512,'52'-1,"0"-1,74-14,-98 10,-1-1,0-1,0-2,0 0,-2-2,28-16,-45 22,1 1,0 0,0 1,0 0,0 0,1 1,-1 0,1 0,0 1,0 1,0-1,15 1,-4 3,-10 0,0-1,-1-1,1 0,10-1,-19 1,-1 0,0 0,1 0,-1 0,0-1,0 1,1 0,-1-1,0 1,0-1,0 0,1 1,-1-1,0 0,0 1,0-1,0 0,0 0,0 0,-1 0,1 0,0 0,0 0,-1 0,1-1,-1 1,1 0,-1 0,1-1,-1 1,0 0,1 0,-1-1,0 1,0 0,0-1,0 1,-1-3,0-2,0 0,-1 0,0 0,-1 0,1 0,-1 0,-5-7,-30-40,10 16,-65-116,80 129,2-2,0 0,2 0,-9-38,-12-45,17 69,-8-49,19 77,0 0,1 0,1 0,0-1,0 1,1 0,1 0,5-18,-6 24,2 0,-1 1,1-1,-1 1,2 0,-1 0,0 0,1 0,0 0,0 1,1 0,-1-1,1 2,0-1,0 0,0 1,0 0,1 1,-1-1,1 1,0 0,-1 0,1 0,8 0,13-2,1 2,0 0,0 2,30 4,-18-2,40 3,59 1,-138-6,0 1,1-1,-1 0,0 0,0 0,0-1,1 1,-1 0,0 0,0-1,0 1,0 0,0-1,1 1,-1-1,0 0,0 1,0-1,0 0,-1 1,1-1,2-2,-3 2,0 0,0 0,0 0,0 0,0 0,0 0,0 0,0-1,0 1,0 0,-1 0,1 0,0 0,-1 0,1 0,-1 0,1 0,-1 0,-1-1,-6-9,0 1,-1 0,-14-11,15 14,-197-208,184 193,-1 0,-30-22,20 20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4:41.8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1,'74'2,"83"13,71 24,-119-19,271 30,-359-47,253 49,-141-23,278 32,-266-41,125 10,348-22,-71-3,-51 9,-363-4,-128-10,487 31,7-24,-14-19,-204 2,594 8,-783 3,665 11,356 2,445-15,-1126 13,-85-1,-259-10,597-3,-420-24,-214 17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46:40.6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0 631,'5'-2,"-1"-1,1 0,0 1,0 0,8-2,8-3,282-75,7 20,77-2,96 0,122-1,1829-91,-2054 147,-110 22,-174-1,134 36,79 42,-5 0,-238-76,1-2,-1-3,2-2,-1-4,122-10,-67 2,156 14,-156-2,1498 21,-702-21,-878-7,502 2,-1-44,-363 18,294-1,-392 27,84-2,-146-1,-1-1,1-1,0-1,-1 0,0-1,30-14,-43 17,-1 1,0-1,1 0,-1 0,0-1,0 1,-1-1,1 1,0-1,-1 0,0 0,0 0,1 0,-2 0,1-1,2-4,-4 6,1-1,-1 1,1-1,-1 1,0-1,0 1,0-1,-1 1,1-1,-1 1,1-1,-1 1,0-1,0 1,0 0,0-1,0 1,0 0,-1 0,1 0,-1 0,1 0,-1 0,-3-2,4 3,0 0,-1 0,1 0,0-1,-1 1,1 0,0-1,0 1,0-1,0 1,0-1,-1-2,2 3,1-1,-1 1,1-1,-1 1,1 0,-1-1,1 1,0 0,0 0,0-1,-1 1,1 0,0 0,2-1,3-6,-1 0,0 0,5-12,-5 11,-1 1,1-1,12-14,-10 14,1 1,0 0,1 0,0 1,0 0,0 1,15-8,-2 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54:04.8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1 228,'15'1,"1"1,-1 0,0 1,0 1,0 1,17 7,-18-7,252 115,-156-67,129 71,15 6,-232-121,0-1,1-1,44 7,-49-10,5 1,30 13,-29-10,26 6,64 16,-64-16,83 13,-124-27,-1 0,0 0,0-1,1 0,-1 0,0-1,0 0,0 0,-1-1,1 0,-1 0,12-7,-4 2,174-90,-150 75,-2-2,60-50,-92 70,-1 1,1-1,-1 0,0 0,6-9,-10 14,1-1,-1 0,0 0,1 0,-1 1,1-1,-1 0,0 0,0 0,0 0,1 0,-1 1,0-1,0 0,0 0,0 0,-1 0,1 0,0 0,0 1,0-1,-1 0,1 0,0 0,-1 0,1 1,-1-1,1 0,-1 0,1 1,-1-1,0 0,1 1,-1-1,0 1,1-1,-1 1,0-1,0 1,1-1,-1 1,0 0,0-1,0 1,-1 0,-31-9,-1 1,-37-4,-36-7,-24-19,82 22,0 2,-97-14,111 23,0-1,0-1,-58-21,-95-51,-27-9,179 74,0-2,2-1,-39-25,31 17,28 17,-1 1,0 0,0 1,0 1,-21-5,6 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11:54:09.1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1253,'29'-27,"1"0,1 2,2 2,0 1,40-20,183-72,-198 91,509-171,-548 188,3 1,-1-2,0 0,0-1,-1-2,0 0,35-24,-32 19,-14 9,0 0,14-13,-21 16,0 1,0 0,0-1,0 1,0-1,-1 1,1-1,-1 0,0 0,0 0,0 0,0 0,0 0,0-4,-1-4,0 0,-1 0,-1 0,0 0,-6-18,5 16,-1 0,2 0,-2-20,4 29,0 0,0 0,1 0,-1 0,1 0,0 0,0 0,0 0,1 1,-1-1,1 1,0-1,0 1,0-1,1 1,2-3,2-1,1 0,0 0,0 1,1 0,0 0,16-7,63-22,-41 18,-30 10,0 0,0-1,-1-1,-1 0,1-1,-1-1,-1 0,0-1,-1-1,17-19,-18 16,1 0,23-25,-31 37,1-1,-1 1,1 0,0 0,0 1,0 0,0 0,12-4,-3 3,0 1,0 1,0 0,29 0,63 11,-67-4,52-1,17-10,49-1,-126 7,0 2,58 10,-53-1,-1 1,0 2,-1 1,42 26,-27-16,0 2,55 39,-105-65,1-1,0 1,0-1,-1 1,1-1,0 1,-1 0,1-1,-1 1,1 0,-1-1,1 1,-1 0,1 0,-1 0,0-1,1 1,-1 0,0 0,0 0,0 0,1-1,-1 1,0 0,0 0,0 0,-1 0,1 0,0 1,-1 1,-1 0,1 0,-1 0,0-1,0 1,-3 4,0-1,0-1,-1 0,0 0,0 0,0 0,-1-1,1 0,-1-1,0 1,0-1,0-1,-1 1,-12 1,-41 18,51-16,-1 0,1 1,0 0,1 1,0 0,0 1,0-1,1 2,-9 13,-9 17,-24 47,20-31,2-7,-154 247,172-282,-1 0,-1-1,0-1,-1 0,0-1,-26 17,-3-3,-48 20,-14 8,52-21,26-15,-1-1,0-2,-48 19,36-22,-1-1,0-2,-80 5,-126-12,229-1,1-1,0-1,-1 0,1-1,0-1,0 0,1-1,-1-1,-14-8,-27-15,33 19,1-1,1-1,0-1,0-1,2-1,-27-24,5-1,-10-13,51 52,0 0,1 1,-1-1,1 1,-1-1,1 0,-1 1,1-1,-1 0,1 1,0-1,-1 0,1 0,0 0,0 1,0-1,-1 0,1 0,0 0,0 1,0-1,0 0,0 0,1 0,-1 1,0-1,0 0,0 0,1-1,1 1,-1 0,0 0,1 0,-1 0,1 0,0 0,-1 0,1 0,0 0,0 1,-1-1,1 1,0-1,3 1,24-3,0 2,0 1,30 4,-32-3,760 75,-546-26,-206-41,0-2,60 5,69-8,-126-3,5-1,-1-1,75-13,-97 10,0-1,-1-2,1 1,-1-2,-1-1,1 0,28-21,-17 10,33-25,-56 40,0-1,-1 0,0-1,0 0,-1 0,7-9,3-14,-13 23,1 0,1 1,-1-1,1 1,0 0,10-11,-7 11,-1 1,1-1,1 1,-1 1,1-1,0 1,0 0,0 1,0 0,1 0,-1 1,1 0,0 0,0 1,-1 1,1-1,0 1,13 2,-14-1,18 3,-26-4,1 0,-1 0,0 0,1 0,-1 0,0 0,1 0,-1 0,0 0,1 0,-1 0,1 0,-1 0,0-1,1 1,-1 0,0 0,0 0,1-1,-1 1,0 0,1 0,-1-1,0 1,0 0,0-1,1 1,-1 0,0-1,0 1,0 0,0-1,1 1,-1 0,0-1,0 1,0 0,0-1,0 1,0 0,0-1,0 1,0-1,0 1,0 0,0-1,-1 1,1 0,0-1,0 1,0 0,0-1,-1 1,-3-11,-2 0,2-1,0 1,0-1,1 0,-2-14,5 24,0-1,0 1,0-1,0 0,0 1,0-1,1 0,-1 1,1-1,0 1,0-1,0 1,0-1,0 1,0 0,1-1,-1 1,1 0,0 0,-1 0,1 0,0 1,0-1,0 0,0 1,1-1,-1 1,0 0,1 0,3-2,-1 1,0 0,1 0,-1 1,1-1,0 1,0 1,-1-1,1 1,0 0,0 0,0 0,-1 1,1 0,0 0,-1 1,1 0,-1-1,1 2,-1-1,0 1,0 0,0 0,0 0,0 1,5 4,29 28,2-2,75 48,-71-52,-25-15,-20-15,0 0,0 0,0 0,0 0,0 0,0 0,0 0,1 0,-1 0,0 0,0 0,0 0,0 0,0 0,0 0,0 0,1 0,-1 1,0-1,0 0,0 0,0 0,0 0,0 0,0 0,0 0,0 0,0 1,0-1,0 0,0 0,0 0,0 0,0 0,0 0,0 0,0 1,0-1,0 0,0 0,0 0,0 0,0 0,0 0,0 1,0-1,0 0,0 0,0 0,0 0,0 0,0 0,0 0,0 0,0 1,0-1,-1 0,1 0,0 0,0 0,0 0,0 0,-12-1,-15-6,10-1,0 0,1-2,-19-14,17 12,0 0,-26-12,26 16,-1 0,0 2,-1 0,1 1,-1 1,0 1,-29-1,-522 4,409 5,141-5,-957 10,930-12,-106 3,146 0,-1 0,1 0,-14 4,20-4,1-1,-1 1,1-1,-1 1,1 0,-1 0,1-1,-1 1,1 0,0 0,-1 1,1-1,0 0,0 0,0 0,0 1,0-1,0 1,1-1,-1 1,0-1,1 1,-2 3,2 0,-1 1,-1-1,1 1,-1-1,1 0,-6 10,5-13,0 1,0-1,0 1,0-1,0 1,-1-1,0 0,1 0,-1-1,0 1,0 0,0-1,-5 3,-24 5,0-4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978082" y="1419859"/>
            <a:ext cx="3608070" cy="468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Lucida Sans Typewriter"/>
                <a:cs typeface="Lucida Sans Typewriter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8824" y="495299"/>
            <a:ext cx="7626350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1876933"/>
            <a:ext cx="7622540" cy="4170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859" y="6290054"/>
            <a:ext cx="254634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33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30.png"/><Relationship Id="rId1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39.png"/><Relationship Id="rId18" Type="http://schemas.openxmlformats.org/officeDocument/2006/relationships/customXml" Target="../ink/ink16.xml"/><Relationship Id="rId3" Type="http://schemas.openxmlformats.org/officeDocument/2006/relationships/image" Target="../media/image34.png"/><Relationship Id="rId21" Type="http://schemas.openxmlformats.org/officeDocument/2006/relationships/image" Target="../media/image43.png"/><Relationship Id="rId7" Type="http://schemas.openxmlformats.org/officeDocument/2006/relationships/image" Target="../media/image36.png"/><Relationship Id="rId12" Type="http://schemas.openxmlformats.org/officeDocument/2006/relationships/customXml" Target="../ink/ink13.xml"/><Relationship Id="rId17" Type="http://schemas.openxmlformats.org/officeDocument/2006/relationships/image" Target="../media/image41.png"/><Relationship Id="rId2" Type="http://schemas.openxmlformats.org/officeDocument/2006/relationships/customXml" Target="../ink/ink8.xml"/><Relationship Id="rId16" Type="http://schemas.openxmlformats.org/officeDocument/2006/relationships/customXml" Target="../ink/ink15.xml"/><Relationship Id="rId20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10" Type="http://schemas.openxmlformats.org/officeDocument/2006/relationships/customXml" Target="../ink/ink12.xml"/><Relationship Id="rId19" Type="http://schemas.openxmlformats.org/officeDocument/2006/relationships/image" Target="../media/image42.png"/><Relationship Id="rId4" Type="http://schemas.openxmlformats.org/officeDocument/2006/relationships/customXml" Target="../ink/ink9.xml"/><Relationship Id="rId9" Type="http://schemas.openxmlformats.org/officeDocument/2006/relationships/image" Target="../media/image37.png"/><Relationship Id="rId14" Type="http://schemas.openxmlformats.org/officeDocument/2006/relationships/customXml" Target="../ink/ink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../media/image44.png"/><Relationship Id="rId7" Type="http://schemas.openxmlformats.org/officeDocument/2006/relationships/image" Target="../media/image45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5" Type="http://schemas.openxmlformats.org/officeDocument/2006/relationships/image" Target="../media/image28.png"/><Relationship Id="rId4" Type="http://schemas.openxmlformats.org/officeDocument/2006/relationships/customXml" Target="../ink/ink19.xml"/><Relationship Id="rId9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12" Type="http://schemas.openxmlformats.org/officeDocument/2006/relationships/customXml" Target="../ink/ink28.xml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52.png"/><Relationship Id="rId5" Type="http://schemas.openxmlformats.org/officeDocument/2006/relationships/image" Target="../media/image49.png"/><Relationship Id="rId15" Type="http://schemas.openxmlformats.org/officeDocument/2006/relationships/image" Target="../media/image54.png"/><Relationship Id="rId10" Type="http://schemas.openxmlformats.org/officeDocument/2006/relationships/customXml" Target="../ink/ink27.xml"/><Relationship Id="rId4" Type="http://schemas.openxmlformats.org/officeDocument/2006/relationships/customXml" Target="../ink/ink24.xml"/><Relationship Id="rId9" Type="http://schemas.openxmlformats.org/officeDocument/2006/relationships/image" Target="../media/image51.png"/><Relationship Id="rId14" Type="http://schemas.openxmlformats.org/officeDocument/2006/relationships/customXml" Target="../ink/ink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13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7.png"/><Relationship Id="rId12" Type="http://schemas.openxmlformats.org/officeDocument/2006/relationships/customXml" Target="../ink/ink35.xml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11" Type="http://schemas.openxmlformats.org/officeDocument/2006/relationships/image" Target="../media/image59.png"/><Relationship Id="rId5" Type="http://schemas.openxmlformats.org/officeDocument/2006/relationships/image" Target="../media/image56.png"/><Relationship Id="rId10" Type="http://schemas.openxmlformats.org/officeDocument/2006/relationships/customXml" Target="../ink/ink34.xml"/><Relationship Id="rId4" Type="http://schemas.openxmlformats.org/officeDocument/2006/relationships/customXml" Target="../ink/ink31.xml"/><Relationship Id="rId9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.xml"/><Relationship Id="rId3" Type="http://schemas.openxmlformats.org/officeDocument/2006/relationships/image" Target="../media/image61.png"/><Relationship Id="rId7" Type="http://schemas.openxmlformats.org/officeDocument/2006/relationships/image" Target="../media/image63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5" Type="http://schemas.openxmlformats.org/officeDocument/2006/relationships/image" Target="../media/image62.png"/><Relationship Id="rId4" Type="http://schemas.openxmlformats.org/officeDocument/2006/relationships/customXml" Target="../ink/ink37.xml"/><Relationship Id="rId9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3.xml"/><Relationship Id="rId13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7.png"/><Relationship Id="rId12" Type="http://schemas.openxmlformats.org/officeDocument/2006/relationships/customXml" Target="../ink/ink45.xml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.xml"/><Relationship Id="rId11" Type="http://schemas.openxmlformats.org/officeDocument/2006/relationships/image" Target="../media/image69.png"/><Relationship Id="rId5" Type="http://schemas.openxmlformats.org/officeDocument/2006/relationships/image" Target="../media/image66.png"/><Relationship Id="rId10" Type="http://schemas.openxmlformats.org/officeDocument/2006/relationships/customXml" Target="../ink/ink44.xml"/><Relationship Id="rId4" Type="http://schemas.openxmlformats.org/officeDocument/2006/relationships/customXml" Target="../ink/ink41.xml"/><Relationship Id="rId9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7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7.xml"/><Relationship Id="rId5" Type="http://schemas.openxmlformats.org/officeDocument/2006/relationships/image" Target="../media/image76.png"/><Relationship Id="rId4" Type="http://schemas.openxmlformats.org/officeDocument/2006/relationships/customXml" Target="../ink/ink4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customXml" Target="../ink/ink49.xml"/><Relationship Id="rId18" Type="http://schemas.openxmlformats.org/officeDocument/2006/relationships/image" Target="../media/image90.png"/><Relationship Id="rId3" Type="http://schemas.openxmlformats.org/officeDocument/2006/relationships/image" Target="../media/image79.png"/><Relationship Id="rId21" Type="http://schemas.openxmlformats.org/officeDocument/2006/relationships/customXml" Target="../ink/ink53.xml"/><Relationship Id="rId7" Type="http://schemas.openxmlformats.org/officeDocument/2006/relationships/image" Target="../media/image83.png"/><Relationship Id="rId12" Type="http://schemas.openxmlformats.org/officeDocument/2006/relationships/image" Target="../media/image87.png"/><Relationship Id="rId17" Type="http://schemas.openxmlformats.org/officeDocument/2006/relationships/customXml" Target="../ink/ink51.xml"/><Relationship Id="rId2" Type="http://schemas.openxmlformats.org/officeDocument/2006/relationships/image" Target="../media/image78.png"/><Relationship Id="rId16" Type="http://schemas.openxmlformats.org/officeDocument/2006/relationships/image" Target="../media/image89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customXml" Target="../ink/ink48.xml"/><Relationship Id="rId5" Type="http://schemas.openxmlformats.org/officeDocument/2006/relationships/image" Target="../media/image81.png"/><Relationship Id="rId15" Type="http://schemas.openxmlformats.org/officeDocument/2006/relationships/customXml" Target="../ink/ink50.xml"/><Relationship Id="rId10" Type="http://schemas.openxmlformats.org/officeDocument/2006/relationships/image" Target="../media/image86.png"/><Relationship Id="rId19" Type="http://schemas.openxmlformats.org/officeDocument/2006/relationships/customXml" Target="../ink/ink52.xml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88.png"/><Relationship Id="rId22" Type="http://schemas.openxmlformats.org/officeDocument/2006/relationships/image" Target="../media/image9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5.png"/><Relationship Id="rId2" Type="http://schemas.openxmlformats.org/officeDocument/2006/relationships/customXml" Target="../ink/ink5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.xml"/><Relationship Id="rId5" Type="http://schemas.openxmlformats.org/officeDocument/2006/relationships/image" Target="../media/image94.png"/><Relationship Id="rId4" Type="http://schemas.openxmlformats.org/officeDocument/2006/relationships/customXml" Target="../ink/ink5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98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5" Type="http://schemas.openxmlformats.org/officeDocument/2006/relationships/image" Target="../media/image97.png"/><Relationship Id="rId4" Type="http://schemas.openxmlformats.org/officeDocument/2006/relationships/customXml" Target="../ink/ink5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customXml" Target="../ink/ink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customXml" Target="../ink/ink6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customXml" Target="../ink/ink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customXml" Target="../ink/ink6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customXml" Target="../ink/ink6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customXml" Target="../ink/ink6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customXml" Target="../ink/ink6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08.png"/><Relationship Id="rId2" Type="http://schemas.openxmlformats.org/officeDocument/2006/relationships/customXml" Target="../ink/ink6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9.xml"/><Relationship Id="rId5" Type="http://schemas.openxmlformats.org/officeDocument/2006/relationships/image" Target="../media/image107.png"/><Relationship Id="rId4" Type="http://schemas.openxmlformats.org/officeDocument/2006/relationships/customXml" Target="../ink/ink6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73.xml"/><Relationship Id="rId13" Type="http://schemas.openxmlformats.org/officeDocument/2006/relationships/image" Target="../media/image114.png"/><Relationship Id="rId3" Type="http://schemas.openxmlformats.org/officeDocument/2006/relationships/image" Target="../media/image109.png"/><Relationship Id="rId7" Type="http://schemas.openxmlformats.org/officeDocument/2006/relationships/image" Target="../media/image111.png"/><Relationship Id="rId12" Type="http://schemas.openxmlformats.org/officeDocument/2006/relationships/customXml" Target="../ink/ink75.xml"/><Relationship Id="rId2" Type="http://schemas.openxmlformats.org/officeDocument/2006/relationships/customXml" Target="../ink/ink7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2.xml"/><Relationship Id="rId11" Type="http://schemas.openxmlformats.org/officeDocument/2006/relationships/image" Target="../media/image113.png"/><Relationship Id="rId5" Type="http://schemas.openxmlformats.org/officeDocument/2006/relationships/image" Target="../media/image110.png"/><Relationship Id="rId10" Type="http://schemas.openxmlformats.org/officeDocument/2006/relationships/customXml" Target="../ink/ink74.xml"/><Relationship Id="rId4" Type="http://schemas.openxmlformats.org/officeDocument/2006/relationships/customXml" Target="../ink/ink71.xml"/><Relationship Id="rId9" Type="http://schemas.openxmlformats.org/officeDocument/2006/relationships/image" Target="../media/image11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9.xml"/><Relationship Id="rId3" Type="http://schemas.openxmlformats.org/officeDocument/2006/relationships/image" Target="../media/image115.png"/><Relationship Id="rId7" Type="http://schemas.openxmlformats.org/officeDocument/2006/relationships/image" Target="../media/image117.png"/><Relationship Id="rId2" Type="http://schemas.openxmlformats.org/officeDocument/2006/relationships/customXml" Target="../ink/ink7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8.xml"/><Relationship Id="rId5" Type="http://schemas.openxmlformats.org/officeDocument/2006/relationships/image" Target="../media/image116.png"/><Relationship Id="rId4" Type="http://schemas.openxmlformats.org/officeDocument/2006/relationships/customXml" Target="../ink/ink77.xml"/><Relationship Id="rId9" Type="http://schemas.openxmlformats.org/officeDocument/2006/relationships/image" Target="../media/image11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customXml" Target="../ink/ink8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5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2.xml"/><Relationship Id="rId5" Type="http://schemas.openxmlformats.org/officeDocument/2006/relationships/image" Target="../media/image124.png"/><Relationship Id="rId4" Type="http://schemas.openxmlformats.org/officeDocument/2006/relationships/customXml" Target="../ink/ink8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1485" y="2506344"/>
            <a:ext cx="5701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Real </a:t>
            </a:r>
            <a:r>
              <a:rPr spc="-5" dirty="0"/>
              <a:t>SQL</a:t>
            </a:r>
            <a:r>
              <a:rPr spc="-20" dirty="0"/>
              <a:t> </a:t>
            </a:r>
            <a:r>
              <a:rPr spc="-15" dirty="0"/>
              <a:t>Programming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638935" y="3821557"/>
            <a:ext cx="586613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9900"/>
              </a:lnSpc>
              <a:spcBef>
                <a:spcPts val="100"/>
              </a:spcBef>
            </a:pPr>
            <a:r>
              <a:rPr sz="3200" spc="-10" dirty="0">
                <a:latin typeface="Tahoma"/>
                <a:cs typeface="Tahoma"/>
              </a:rPr>
              <a:t>Persistent </a:t>
            </a:r>
            <a:r>
              <a:rPr sz="3200" spc="-5" dirty="0">
                <a:latin typeface="Tahoma"/>
                <a:cs typeface="Tahoma"/>
              </a:rPr>
              <a:t>Stored Modules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(PSM)  PL/SQL</a:t>
            </a:r>
            <a:endParaRPr sz="3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Embedded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SQL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8650" y="829944"/>
            <a:ext cx="5347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 in </a:t>
            </a:r>
            <a:r>
              <a:rPr spc="-25" dirty="0"/>
              <a:t>Real</a:t>
            </a:r>
            <a:r>
              <a:rPr spc="-65" dirty="0"/>
              <a:t> </a:t>
            </a:r>
            <a:r>
              <a:rPr spc="-15" dirty="0"/>
              <a:t>Programs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26325" cy="3537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spc="-5" dirty="0">
                <a:latin typeface="Tahoma"/>
                <a:cs typeface="Tahoma"/>
              </a:rPr>
              <a:t>seen only how SQL is used at  the generic query </a:t>
            </a:r>
            <a:r>
              <a:rPr sz="3200" spc="-10" dirty="0">
                <a:latin typeface="Tahoma"/>
                <a:cs typeface="Tahoma"/>
              </a:rPr>
              <a:t>interface </a:t>
            </a:r>
            <a:r>
              <a:rPr sz="3200" dirty="0">
                <a:latin typeface="Tahoma"/>
                <a:cs typeface="Tahoma"/>
              </a:rPr>
              <a:t>--- an  </a:t>
            </a:r>
            <a:r>
              <a:rPr sz="3200" spc="-10" dirty="0">
                <a:latin typeface="Tahoma"/>
                <a:cs typeface="Tahoma"/>
              </a:rPr>
              <a:t>environment </a:t>
            </a:r>
            <a:r>
              <a:rPr sz="3200" spc="-5" dirty="0">
                <a:latin typeface="Tahoma"/>
                <a:cs typeface="Tahoma"/>
              </a:rPr>
              <a:t>where </a:t>
            </a:r>
            <a:r>
              <a:rPr sz="3200" dirty="0">
                <a:latin typeface="Tahoma"/>
                <a:cs typeface="Tahoma"/>
              </a:rPr>
              <a:t>we sit </a:t>
            </a:r>
            <a:r>
              <a:rPr sz="3200" spc="-5" dirty="0">
                <a:latin typeface="Tahoma"/>
                <a:cs typeface="Tahoma"/>
              </a:rPr>
              <a:t>at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terminal  and ask queries of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database.</a:t>
            </a:r>
            <a:endParaRPr sz="3200" dirty="0">
              <a:latin typeface="Tahoma"/>
              <a:cs typeface="Tahoma"/>
            </a:endParaRPr>
          </a:p>
          <a:p>
            <a:pPr marL="355600" marR="8953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Reality </a:t>
            </a:r>
            <a:r>
              <a:rPr sz="3200" spc="-5" dirty="0">
                <a:latin typeface="Tahoma"/>
                <a:cs typeface="Tahoma"/>
              </a:rPr>
              <a:t>is almost </a:t>
            </a:r>
            <a:r>
              <a:rPr sz="3200" spc="-15" dirty="0">
                <a:latin typeface="Tahoma"/>
                <a:cs typeface="Tahoma"/>
              </a:rPr>
              <a:t>always </a:t>
            </a:r>
            <a:r>
              <a:rPr sz="3200" spc="-10" dirty="0">
                <a:latin typeface="Tahoma"/>
                <a:cs typeface="Tahoma"/>
              </a:rPr>
              <a:t>different:  conventional programs interacting </a:t>
            </a:r>
            <a:r>
              <a:rPr sz="3200" spc="-5" dirty="0">
                <a:latin typeface="Tahoma"/>
                <a:cs typeface="Tahoma"/>
              </a:rPr>
              <a:t>with  SQL.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7595" y="829944"/>
            <a:ext cx="1909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Options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156450" cy="4122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467995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Code 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specialized language is  stored in the database itself </a:t>
            </a:r>
            <a:r>
              <a:rPr sz="3200" spc="-40" dirty="0">
                <a:latin typeface="Tahoma"/>
                <a:cs typeface="Tahoma"/>
              </a:rPr>
              <a:t>(e.g.,  </a:t>
            </a:r>
            <a:r>
              <a:rPr sz="3200" spc="-5" dirty="0">
                <a:latin typeface="Tahoma"/>
                <a:cs typeface="Tahoma"/>
              </a:rPr>
              <a:t>PSM,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PL/SQL).</a:t>
            </a:r>
            <a:endParaRPr sz="3200" dirty="0">
              <a:latin typeface="Tahoma"/>
              <a:cs typeface="Tahoma"/>
            </a:endParaRPr>
          </a:p>
          <a:p>
            <a:pPr marL="622300" indent="-609600">
              <a:lnSpc>
                <a:spcPts val="3765"/>
              </a:lnSpc>
              <a:spcBef>
                <a:spcPts val="76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SQL statements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embedded in </a:t>
            </a:r>
            <a:r>
              <a:rPr sz="3200" dirty="0">
                <a:latin typeface="Tahoma"/>
                <a:cs typeface="Tahoma"/>
              </a:rPr>
              <a:t>a</a:t>
            </a:r>
          </a:p>
          <a:p>
            <a:pPr marL="568325">
              <a:lnSpc>
                <a:spcPts val="3945"/>
              </a:lnSpc>
            </a:pPr>
            <a:r>
              <a:rPr lang="en-US" altLang="zh-CN" sz="3600" dirty="0" err="1">
                <a:effectLst/>
              </a:rPr>
              <a:t>Hostlanguage</a:t>
            </a:r>
            <a:r>
              <a:rPr lang="en-US" altLang="zh-CN" sz="3600" dirty="0">
                <a:effectLst/>
              </a:rPr>
              <a:t>  </a:t>
            </a:r>
            <a:r>
              <a:rPr sz="3200" spc="-730" dirty="0">
                <a:latin typeface="Tahoma"/>
                <a:cs typeface="Tahoma"/>
              </a:rPr>
              <a:t>(e.g.,</a:t>
            </a:r>
            <a:r>
              <a:rPr sz="3200" spc="-54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C).</a:t>
            </a:r>
            <a:endParaRPr sz="3200" dirty="0">
              <a:latin typeface="Tahoma"/>
              <a:cs typeface="Tahoma"/>
            </a:endParaRPr>
          </a:p>
          <a:p>
            <a:pPr marL="622300" marR="5080" indent="-609600">
              <a:lnSpc>
                <a:spcPct val="100000"/>
              </a:lnSpc>
              <a:spcBef>
                <a:spcPts val="735"/>
              </a:spcBef>
              <a:buClr>
                <a:srgbClr val="CC00CC"/>
              </a:buClr>
              <a:buAutoNum type="arabicPeriod" startAt="3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Connection tools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used to allow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10" dirty="0">
                <a:latin typeface="Tahoma"/>
                <a:cs typeface="Tahoma"/>
              </a:rPr>
              <a:t>conventional </a:t>
            </a:r>
            <a:r>
              <a:rPr sz="3200" spc="-5" dirty="0">
                <a:latin typeface="Tahoma"/>
                <a:cs typeface="Tahoma"/>
              </a:rPr>
              <a:t>language to access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database </a:t>
            </a:r>
            <a:r>
              <a:rPr sz="3200" spc="-40" dirty="0">
                <a:latin typeface="Tahoma"/>
                <a:cs typeface="Tahoma"/>
              </a:rPr>
              <a:t>(e.g., </a:t>
            </a:r>
            <a:r>
              <a:rPr sz="3200" spc="-5" dirty="0">
                <a:latin typeface="Tahoma"/>
                <a:cs typeface="Tahoma"/>
              </a:rPr>
              <a:t>CLI, </a:t>
            </a:r>
            <a:r>
              <a:rPr sz="3200" dirty="0">
                <a:latin typeface="Tahoma"/>
                <a:cs typeface="Tahoma"/>
              </a:rPr>
              <a:t>JDBC,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PHP/DB).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6640" y="1066800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8385" y="358140"/>
            <a:ext cx="7199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47335" algn="l"/>
              </a:tabLst>
            </a:pPr>
            <a:r>
              <a:rPr sz="3600" spc="-15" dirty="0"/>
              <a:t>Control-of-Flow</a:t>
            </a:r>
            <a:r>
              <a:rPr sz="3600" spc="35" dirty="0"/>
              <a:t> </a:t>
            </a:r>
            <a:r>
              <a:rPr sz="3600" spc="-5" dirty="0"/>
              <a:t>Language	Elements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570865" y="1575070"/>
            <a:ext cx="3899535" cy="324421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Statement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Level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BEGIN … END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block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IF … ELSE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block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WHILE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constructs</a:t>
            </a:r>
            <a:endParaRPr sz="28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5" dirty="0">
                <a:latin typeface="Tahoma"/>
                <a:cs typeface="Tahoma"/>
              </a:rPr>
              <a:t>Row</a:t>
            </a:r>
            <a:r>
              <a:rPr sz="3200" spc="-10" dirty="0">
                <a:latin typeface="Tahoma"/>
                <a:cs typeface="Tahoma"/>
              </a:rPr>
              <a:t> Level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CASE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expression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50422" y="1327785"/>
            <a:ext cx="4297680" cy="52755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07440">
              <a:lnSpc>
                <a:spcPct val="100000"/>
              </a:lnSpc>
              <a:spcBef>
                <a:spcPts val="100"/>
              </a:spcBef>
            </a:pPr>
            <a:r>
              <a:rPr dirty="0"/>
              <a:t>DECLARE @n</a:t>
            </a:r>
            <a:r>
              <a:rPr spc="-100" dirty="0"/>
              <a:t> </a:t>
            </a:r>
            <a:r>
              <a:rPr dirty="0"/>
              <a:t>tinyint  SET @n =</a:t>
            </a:r>
            <a:r>
              <a:rPr spc="-30" dirty="0"/>
              <a:t> </a:t>
            </a:r>
            <a:r>
              <a:rPr dirty="0"/>
              <a:t>5</a:t>
            </a:r>
          </a:p>
          <a:p>
            <a:pPr marL="150495" marR="418465" indent="-137795">
              <a:lnSpc>
                <a:spcPct val="100000"/>
              </a:lnSpc>
            </a:pPr>
            <a:r>
              <a:rPr dirty="0"/>
              <a:t>IF (@n BETWEEN 4 and</a:t>
            </a:r>
            <a:r>
              <a:rPr spc="-100" dirty="0"/>
              <a:t> </a:t>
            </a:r>
            <a:r>
              <a:rPr dirty="0"/>
              <a:t>6)  BEGIN</a:t>
            </a:r>
          </a:p>
          <a:p>
            <a:pPr marL="426084" marR="1383030" indent="-137795">
              <a:lnSpc>
                <a:spcPct val="100000"/>
              </a:lnSpc>
            </a:pPr>
            <a:r>
              <a:rPr dirty="0"/>
              <a:t>WHILE (@n &gt;</a:t>
            </a:r>
            <a:r>
              <a:rPr spc="-100" dirty="0"/>
              <a:t> </a:t>
            </a:r>
            <a:r>
              <a:rPr dirty="0"/>
              <a:t>0)  BEGIN</a:t>
            </a:r>
          </a:p>
          <a:p>
            <a:pPr marL="563880">
              <a:lnSpc>
                <a:spcPct val="100000"/>
              </a:lnSpc>
              <a:tabLst>
                <a:tab pos="1665605" algn="l"/>
              </a:tabLst>
            </a:pPr>
            <a:r>
              <a:rPr dirty="0"/>
              <a:t>SELECT	@n AS</a:t>
            </a:r>
            <a:r>
              <a:rPr spc="-100" dirty="0"/>
              <a:t> </a:t>
            </a:r>
            <a:r>
              <a:rPr dirty="0"/>
              <a:t>'Number'</a:t>
            </a:r>
          </a:p>
          <a:p>
            <a:pPr marL="839469">
              <a:lnSpc>
                <a:spcPct val="100000"/>
              </a:lnSpc>
            </a:pPr>
            <a:r>
              <a:rPr dirty="0"/>
              <a:t>,CASE</a:t>
            </a:r>
          </a:p>
          <a:p>
            <a:pPr marL="1390650" marR="142875" indent="-275590">
              <a:lnSpc>
                <a:spcPct val="100000"/>
              </a:lnSpc>
            </a:pPr>
            <a:r>
              <a:rPr dirty="0"/>
              <a:t>WHEN (@n % 2) =</a:t>
            </a:r>
            <a:r>
              <a:rPr spc="-100" dirty="0"/>
              <a:t> </a:t>
            </a:r>
            <a:r>
              <a:rPr dirty="0"/>
              <a:t>1  THEN</a:t>
            </a:r>
            <a:r>
              <a:rPr spc="-20" dirty="0"/>
              <a:t> </a:t>
            </a:r>
            <a:r>
              <a:rPr dirty="0"/>
              <a:t>'EVEN'</a:t>
            </a:r>
          </a:p>
          <a:p>
            <a:pPr marL="977265" marR="831850" indent="137795">
              <a:lnSpc>
                <a:spcPct val="100000"/>
              </a:lnSpc>
            </a:pPr>
            <a:r>
              <a:rPr dirty="0"/>
              <a:t>ELSE 'ODD'  END AS</a:t>
            </a:r>
            <a:r>
              <a:rPr spc="-100" dirty="0"/>
              <a:t> </a:t>
            </a:r>
            <a:r>
              <a:rPr dirty="0"/>
              <a:t>'Type'</a:t>
            </a:r>
          </a:p>
          <a:p>
            <a:pPr marL="426084" marR="969644" indent="137795">
              <a:lnSpc>
                <a:spcPct val="100000"/>
              </a:lnSpc>
            </a:pPr>
            <a:r>
              <a:rPr dirty="0"/>
              <a:t>SET @n = @n -</a:t>
            </a:r>
            <a:r>
              <a:rPr spc="-100" dirty="0"/>
              <a:t> </a:t>
            </a:r>
            <a:r>
              <a:rPr dirty="0"/>
              <a:t>1  END</a:t>
            </a:r>
          </a:p>
          <a:p>
            <a:pPr marL="12700" marR="3036570" indent="137795">
              <a:lnSpc>
                <a:spcPct val="100000"/>
              </a:lnSpc>
            </a:pPr>
            <a:r>
              <a:rPr dirty="0"/>
              <a:t>END  ELSE</a:t>
            </a:r>
          </a:p>
          <a:p>
            <a:pPr marL="150495">
              <a:lnSpc>
                <a:spcPct val="100000"/>
              </a:lnSpc>
            </a:pPr>
            <a:r>
              <a:rPr dirty="0"/>
              <a:t>PRINT 'NO</a:t>
            </a:r>
            <a:r>
              <a:rPr spc="-25" dirty="0"/>
              <a:t> </a:t>
            </a:r>
            <a:r>
              <a:rPr dirty="0"/>
              <a:t>ANALYSIS'</a:t>
            </a:r>
          </a:p>
        </p:txBody>
      </p:sp>
      <p:sp>
        <p:nvSpPr>
          <p:cNvPr id="7" name="object 7"/>
          <p:cNvSpPr/>
          <p:nvPr/>
        </p:nvSpPr>
        <p:spPr>
          <a:xfrm>
            <a:off x="2396172" y="1046797"/>
            <a:ext cx="2529205" cy="5622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52775" y="1141095"/>
            <a:ext cx="965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Exam</a:t>
            </a:r>
            <a:r>
              <a:rPr sz="1800" b="1" dirty="0">
                <a:latin typeface="Arial"/>
                <a:cs typeface="Arial"/>
              </a:rPr>
              <a:t>p</a:t>
            </a:r>
            <a:r>
              <a:rPr sz="1800" b="1" spc="-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65159" y="6270625"/>
            <a:ext cx="1149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8860" y="829944"/>
            <a:ext cx="4526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Stored</a:t>
            </a:r>
            <a:r>
              <a:rPr spc="-50" dirty="0"/>
              <a:t> </a:t>
            </a:r>
            <a:r>
              <a:rPr spc="-10" dirty="0"/>
              <a:t>Procedures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92617"/>
            <a:ext cx="7326630" cy="36550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354965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PSM, or </a:t>
            </a:r>
            <a:r>
              <a:rPr sz="3200" spc="-1035" dirty="0">
                <a:latin typeface="Tahoma"/>
                <a:cs typeface="Tahoma"/>
              </a:rPr>
              <a:t>“</a:t>
            </a:r>
            <a:r>
              <a:rPr lang="en-US" altLang="zh-CN" sz="3600" dirty="0">
                <a:effectLst/>
              </a:rPr>
              <a:t>persistent stored modules</a:t>
            </a:r>
            <a:r>
              <a:rPr sz="3200" spc="-1035" dirty="0">
                <a:latin typeface="Tahoma"/>
                <a:cs typeface="Tahoma"/>
              </a:rPr>
              <a:t>,” </a:t>
            </a:r>
            <a:r>
              <a:rPr sz="3200" spc="-99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allows </a:t>
            </a:r>
            <a:r>
              <a:rPr sz="3200" dirty="0">
                <a:latin typeface="Tahoma"/>
                <a:cs typeface="Tahoma"/>
              </a:rPr>
              <a:t>us </a:t>
            </a:r>
            <a:r>
              <a:rPr sz="3200" spc="-5" dirty="0">
                <a:latin typeface="Tahoma"/>
                <a:cs typeface="Tahoma"/>
              </a:rPr>
              <a:t>to store </a:t>
            </a:r>
            <a:r>
              <a:rPr sz="3200" spc="-10" dirty="0">
                <a:latin typeface="Tahoma"/>
                <a:cs typeface="Tahoma"/>
              </a:rPr>
              <a:t>procedures </a:t>
            </a:r>
            <a:r>
              <a:rPr sz="3200" spc="-5" dirty="0">
                <a:latin typeface="Tahoma"/>
                <a:cs typeface="Tahoma"/>
              </a:rPr>
              <a:t>as  database schema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elements.</a:t>
            </a:r>
            <a:endParaRPr sz="3200" dirty="0">
              <a:latin typeface="Tahoma"/>
              <a:cs typeface="Tahoma"/>
            </a:endParaRPr>
          </a:p>
          <a:p>
            <a:pPr marL="355600" marR="524510" indent="-3429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1853564" algn="l"/>
              </a:tabLst>
            </a:pPr>
            <a:r>
              <a:rPr sz="3200" spc="-5" dirty="0">
                <a:latin typeface="Tahoma"/>
                <a:cs typeface="Tahoma"/>
              </a:rPr>
              <a:t>PSM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	a </a:t>
            </a:r>
            <a:r>
              <a:rPr sz="3200" spc="-5" dirty="0">
                <a:latin typeface="Tahoma"/>
                <a:cs typeface="Tahoma"/>
              </a:rPr>
              <a:t>mixture of </a:t>
            </a:r>
            <a:r>
              <a:rPr sz="3200" spc="-10" dirty="0">
                <a:latin typeface="Tahoma"/>
                <a:cs typeface="Tahoma"/>
              </a:rPr>
              <a:t>conventional  </a:t>
            </a:r>
            <a:r>
              <a:rPr sz="3200" spc="-5" dirty="0">
                <a:latin typeface="Tahoma"/>
                <a:cs typeface="Tahoma"/>
              </a:rPr>
              <a:t>statements </a:t>
            </a:r>
            <a:r>
              <a:rPr sz="3200" spc="-60" dirty="0">
                <a:latin typeface="Tahoma"/>
                <a:cs typeface="Tahoma"/>
              </a:rPr>
              <a:t>(if, </a:t>
            </a:r>
            <a:r>
              <a:rPr sz="3200" spc="-5" dirty="0">
                <a:latin typeface="Tahoma"/>
                <a:cs typeface="Tahoma"/>
              </a:rPr>
              <a:t>while, </a:t>
            </a:r>
            <a:r>
              <a:rPr sz="3200" spc="-35" dirty="0">
                <a:latin typeface="Tahoma"/>
                <a:cs typeface="Tahoma"/>
              </a:rPr>
              <a:t>etc.) 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spc="6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SQL.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Lets </a:t>
            </a:r>
            <a:r>
              <a:rPr sz="3200" dirty="0">
                <a:latin typeface="Tahoma"/>
                <a:cs typeface="Tahoma"/>
              </a:rPr>
              <a:t>us do </a:t>
            </a:r>
            <a:r>
              <a:rPr sz="3200" spc="-5" dirty="0">
                <a:latin typeface="Tahoma"/>
                <a:cs typeface="Tahoma"/>
              </a:rPr>
              <a:t>things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cannot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in SQL  alone.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1100" marR="5080" indent="-1936114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Initial </a:t>
            </a:r>
            <a:r>
              <a:rPr spc="-5" dirty="0"/>
              <a:t>Processing of </a:t>
            </a:r>
            <a:r>
              <a:rPr spc="-10" dirty="0"/>
              <a:t>Stored  Procedures</a:t>
            </a:r>
          </a:p>
        </p:txBody>
      </p:sp>
      <p:sp>
        <p:nvSpPr>
          <p:cNvPr id="3" name="object 3"/>
          <p:cNvSpPr/>
          <p:nvPr/>
        </p:nvSpPr>
        <p:spPr>
          <a:xfrm>
            <a:off x="1351597" y="3424872"/>
            <a:ext cx="3570604" cy="28848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35287" y="2737485"/>
            <a:ext cx="625525" cy="10770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88609" y="2204085"/>
            <a:ext cx="3141980" cy="855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94350" y="2308225"/>
            <a:ext cx="2743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Entries into sysobjects  and syscomments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tables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12409" y="5147309"/>
            <a:ext cx="3141980" cy="8559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62600" y="5251450"/>
            <a:ext cx="2654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5080" indent="-3683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Compiled plan placed in  procedure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cache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25568" y="5256453"/>
            <a:ext cx="927595" cy="6250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51597" y="2053272"/>
            <a:ext cx="3646804" cy="1132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40610" y="5261609"/>
            <a:ext cx="2227580" cy="6273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755900" y="5388609"/>
            <a:ext cx="1346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Compilation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16810" y="3775709"/>
            <a:ext cx="2227580" cy="62738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00350" y="3902709"/>
            <a:ext cx="140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Optimization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3397" y="2205672"/>
            <a:ext cx="1703704" cy="6369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2114" y="2358669"/>
            <a:ext cx="1259382" cy="28465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13397" y="3577272"/>
            <a:ext cx="1703704" cy="11703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9879" y="3756939"/>
            <a:ext cx="1471472" cy="28084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3117" y="4097172"/>
            <a:ext cx="961529" cy="24270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80237" y="4341012"/>
            <a:ext cx="1321574" cy="24270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41040" y="4309109"/>
            <a:ext cx="658482" cy="107641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16810" y="2193289"/>
            <a:ext cx="2227580" cy="85343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073400" y="2407920"/>
            <a:ext cx="863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Parsi</a:t>
            </a:r>
            <a:r>
              <a:rPr sz="1800" b="1" dirty="0">
                <a:latin typeface="Arial"/>
                <a:cs typeface="Arial"/>
              </a:rPr>
              <a:t>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858000" y="3098292"/>
            <a:ext cx="1371600" cy="99745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54952" y="2907792"/>
            <a:ext cx="1377696" cy="3794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851650" y="2905125"/>
            <a:ext cx="1384287" cy="119633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76380" y="2274506"/>
            <a:ext cx="850633" cy="62632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93409" y="4413884"/>
            <a:ext cx="919480" cy="91948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09132" y="4451603"/>
            <a:ext cx="249936" cy="25146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002337" y="4445000"/>
            <a:ext cx="263525" cy="265430"/>
          </a:xfrm>
          <a:custGeom>
            <a:avLst/>
            <a:gdLst/>
            <a:ahLst/>
            <a:cxnLst/>
            <a:rect l="l" t="t" r="r" b="b"/>
            <a:pathLst>
              <a:path w="263525" h="265429">
                <a:moveTo>
                  <a:pt x="263525" y="265112"/>
                </a:moveTo>
                <a:lnTo>
                  <a:pt x="0" y="265112"/>
                </a:lnTo>
                <a:lnTo>
                  <a:pt x="0" y="0"/>
                </a:lnTo>
                <a:lnTo>
                  <a:pt x="263525" y="0"/>
                </a:lnTo>
                <a:lnTo>
                  <a:pt x="26352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252412"/>
                </a:lnTo>
                <a:lnTo>
                  <a:pt x="6350" y="252412"/>
                </a:lnTo>
                <a:lnTo>
                  <a:pt x="12700" y="258762"/>
                </a:lnTo>
                <a:lnTo>
                  <a:pt x="263525" y="258762"/>
                </a:lnTo>
                <a:lnTo>
                  <a:pt x="263525" y="265112"/>
                </a:lnTo>
                <a:close/>
              </a:path>
              <a:path w="263525" h="26542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63525" h="265429">
                <a:moveTo>
                  <a:pt x="25082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50825" y="6350"/>
                </a:lnTo>
                <a:lnTo>
                  <a:pt x="250825" y="12700"/>
                </a:lnTo>
                <a:close/>
              </a:path>
              <a:path w="263525" h="265429">
                <a:moveTo>
                  <a:pt x="250825" y="258762"/>
                </a:moveTo>
                <a:lnTo>
                  <a:pt x="250825" y="6350"/>
                </a:lnTo>
                <a:lnTo>
                  <a:pt x="257175" y="12700"/>
                </a:lnTo>
                <a:lnTo>
                  <a:pt x="263525" y="12700"/>
                </a:lnTo>
                <a:lnTo>
                  <a:pt x="263525" y="252412"/>
                </a:lnTo>
                <a:lnTo>
                  <a:pt x="257175" y="252412"/>
                </a:lnTo>
                <a:lnTo>
                  <a:pt x="250825" y="258762"/>
                </a:lnTo>
                <a:close/>
              </a:path>
              <a:path w="263525" h="265429">
                <a:moveTo>
                  <a:pt x="263525" y="12700"/>
                </a:moveTo>
                <a:lnTo>
                  <a:pt x="257175" y="12700"/>
                </a:lnTo>
                <a:lnTo>
                  <a:pt x="250825" y="6350"/>
                </a:lnTo>
                <a:lnTo>
                  <a:pt x="263525" y="6350"/>
                </a:lnTo>
                <a:lnTo>
                  <a:pt x="263525" y="12700"/>
                </a:lnTo>
                <a:close/>
              </a:path>
              <a:path w="263525" h="265429">
                <a:moveTo>
                  <a:pt x="12700" y="258762"/>
                </a:moveTo>
                <a:lnTo>
                  <a:pt x="6350" y="252412"/>
                </a:lnTo>
                <a:lnTo>
                  <a:pt x="12700" y="252412"/>
                </a:lnTo>
                <a:lnTo>
                  <a:pt x="12700" y="258762"/>
                </a:lnTo>
                <a:close/>
              </a:path>
              <a:path w="263525" h="265429">
                <a:moveTo>
                  <a:pt x="250825" y="258762"/>
                </a:moveTo>
                <a:lnTo>
                  <a:pt x="12700" y="258762"/>
                </a:lnTo>
                <a:lnTo>
                  <a:pt x="12700" y="252412"/>
                </a:lnTo>
                <a:lnTo>
                  <a:pt x="250825" y="252412"/>
                </a:lnTo>
                <a:lnTo>
                  <a:pt x="250825" y="258762"/>
                </a:lnTo>
                <a:close/>
              </a:path>
              <a:path w="263525" h="265429">
                <a:moveTo>
                  <a:pt x="263525" y="258762"/>
                </a:moveTo>
                <a:lnTo>
                  <a:pt x="250825" y="258762"/>
                </a:lnTo>
                <a:lnTo>
                  <a:pt x="257175" y="252412"/>
                </a:lnTo>
                <a:lnTo>
                  <a:pt x="263525" y="252412"/>
                </a:lnTo>
                <a:lnTo>
                  <a:pt x="263525" y="25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5728715" y="4435475"/>
          <a:ext cx="824230" cy="8268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0465" marR="5080" indent="-127889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Advantages </a:t>
            </a:r>
            <a:r>
              <a:rPr spc="-5" dirty="0"/>
              <a:t>of </a:t>
            </a:r>
            <a:r>
              <a:rPr spc="-10" dirty="0"/>
              <a:t>Stored  Procedures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6173470" cy="29495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Share Application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Logic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Shield Database Schema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Details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Provide </a:t>
            </a:r>
            <a:r>
              <a:rPr sz="3200" spc="-5" dirty="0">
                <a:latin typeface="Tahoma"/>
                <a:cs typeface="Tahoma"/>
              </a:rPr>
              <a:t>Security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Mechanisms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Improve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Performance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Reduce </a:t>
            </a:r>
            <a:r>
              <a:rPr sz="3200" spc="-5" dirty="0">
                <a:latin typeface="Tahoma"/>
                <a:cs typeface="Tahoma"/>
              </a:rPr>
              <a:t>Network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Traffic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500" y="829944"/>
            <a:ext cx="39376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 </a:t>
            </a:r>
            <a:r>
              <a:rPr spc="-5" dirty="0"/>
              <a:t>PSM</a:t>
            </a:r>
            <a:r>
              <a:rPr spc="-75" dirty="0"/>
              <a:t> </a:t>
            </a:r>
            <a:r>
              <a:rPr spc="-30" dirty="0"/>
              <a:t>Form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7826"/>
            <a:ext cx="7640955" cy="411670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3200" spc="-35" dirty="0">
                <a:latin typeface="Tahoma"/>
                <a:cs typeface="Tahoma"/>
              </a:rPr>
              <a:t>CREATE </a:t>
            </a:r>
            <a:r>
              <a:rPr sz="3200" spc="-5" dirty="0">
                <a:latin typeface="Tahoma"/>
                <a:cs typeface="Tahoma"/>
              </a:rPr>
              <a:t>PROCEDURE &lt;name&gt;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(</a:t>
            </a:r>
            <a:endParaRPr sz="32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755"/>
              </a:spcBef>
            </a:pPr>
            <a:r>
              <a:rPr sz="3200" spc="-10" dirty="0">
                <a:latin typeface="Tahoma"/>
                <a:cs typeface="Tahoma"/>
              </a:rPr>
              <a:t>&lt;parameter </a:t>
            </a:r>
            <a:r>
              <a:rPr sz="3200" spc="-5" dirty="0">
                <a:latin typeface="Tahoma"/>
                <a:cs typeface="Tahoma"/>
              </a:rPr>
              <a:t>list&gt;</a:t>
            </a:r>
            <a:r>
              <a:rPr sz="3200" dirty="0">
                <a:latin typeface="Tahoma"/>
                <a:cs typeface="Tahoma"/>
              </a:rPr>
              <a:t> )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&lt;optional local</a:t>
            </a:r>
            <a:r>
              <a:rPr sz="3200" spc="-10" dirty="0">
                <a:latin typeface="Tahoma"/>
                <a:cs typeface="Tahoma"/>
              </a:rPr>
              <a:t> declarations&gt;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&lt;body&gt;;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Function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alternative: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35" dirty="0">
                <a:latin typeface="Tahoma"/>
                <a:cs typeface="Tahoma"/>
              </a:rPr>
              <a:t>CREATE </a:t>
            </a:r>
            <a:r>
              <a:rPr sz="3200" spc="-5" dirty="0">
                <a:latin typeface="Tahoma"/>
                <a:cs typeface="Tahoma"/>
              </a:rPr>
              <a:t>FUNCTION &lt;name&gt;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(</a:t>
            </a:r>
            <a:endParaRPr sz="32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755"/>
              </a:spcBef>
            </a:pPr>
            <a:r>
              <a:rPr sz="3200" spc="-10" dirty="0">
                <a:latin typeface="Tahoma"/>
                <a:cs typeface="Tahoma"/>
              </a:rPr>
              <a:t>&lt;parameter </a:t>
            </a:r>
            <a:r>
              <a:rPr sz="3200" spc="-5" dirty="0">
                <a:latin typeface="Tahoma"/>
                <a:cs typeface="Tahoma"/>
              </a:rPr>
              <a:t>list&gt; </a:t>
            </a:r>
            <a:r>
              <a:rPr sz="3200" dirty="0">
                <a:latin typeface="Tahoma"/>
                <a:cs typeface="Tahoma"/>
              </a:rPr>
              <a:t>) </a:t>
            </a:r>
            <a:r>
              <a:rPr sz="3200" spc="-5" dirty="0">
                <a:latin typeface="Tahoma"/>
                <a:cs typeface="Tahoma"/>
              </a:rPr>
              <a:t>RETURNS</a:t>
            </a:r>
            <a:r>
              <a:rPr sz="3200" spc="-10" dirty="0">
                <a:latin typeface="Tahoma"/>
                <a:cs typeface="Tahoma"/>
              </a:rPr>
              <a:t> &lt;type&gt;</a:t>
            </a:r>
            <a:endParaRPr sz="320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2055BF04-58BC-28D1-830E-6A1435FBF455}"/>
                  </a:ext>
                </a:extLst>
              </p14:cNvPr>
              <p14:cNvContentPartPr/>
              <p14:nvPr/>
            </p14:nvContentPartPr>
            <p14:xfrm>
              <a:off x="735219" y="2099365"/>
              <a:ext cx="5131800" cy="4032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2055BF04-58BC-28D1-830E-6A1435FBF4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1219" y="1991365"/>
                <a:ext cx="5239440" cy="61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C5A8A9D5-F636-62A9-4379-987212BD41ED}"/>
                  </a:ext>
                </a:extLst>
              </p14:cNvPr>
              <p14:cNvContentPartPr/>
              <p14:nvPr/>
            </p14:nvContentPartPr>
            <p14:xfrm>
              <a:off x="6382539" y="2850685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C5A8A9D5-F636-62A9-4379-987212BD41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28899" y="274268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0C2C95FC-CAFA-A8F5-531F-1DDA50E2C35F}"/>
                  </a:ext>
                </a:extLst>
              </p14:cNvPr>
              <p14:cNvContentPartPr/>
              <p14:nvPr/>
            </p14:nvContentPartPr>
            <p14:xfrm>
              <a:off x="2133099" y="2738725"/>
              <a:ext cx="998640" cy="30384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0C2C95FC-CAFA-A8F5-531F-1DDA50E2C35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79459" y="2631085"/>
                <a:ext cx="1106280" cy="51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DE805E9-950E-5CBA-7011-1666A2E9A913}"/>
                  </a:ext>
                </a:extLst>
              </p14:cNvPr>
              <p14:cNvContentPartPr/>
              <p14:nvPr/>
            </p14:nvContentPartPr>
            <p14:xfrm>
              <a:off x="1398339" y="3529645"/>
              <a:ext cx="4492800" cy="1648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DE805E9-950E-5CBA-7011-1666A2E9A9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4339" y="3421645"/>
                <a:ext cx="460044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1017C136-FA17-2505-8040-05967C1E618A}"/>
                  </a:ext>
                </a:extLst>
              </p14:cNvPr>
              <p14:cNvContentPartPr/>
              <p14:nvPr/>
            </p14:nvContentPartPr>
            <p14:xfrm>
              <a:off x="1380699" y="3966685"/>
              <a:ext cx="1637280" cy="31860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1017C136-FA17-2505-8040-05967C1E618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26699" y="3859045"/>
                <a:ext cx="1744920" cy="53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DFF5DD45-7EBE-98B5-E8B1-D7C1C3795B28}"/>
                  </a:ext>
                </a:extLst>
              </p14:cNvPr>
              <p14:cNvContentPartPr/>
              <p14:nvPr/>
            </p14:nvContentPartPr>
            <p14:xfrm>
              <a:off x="2274219" y="5090965"/>
              <a:ext cx="2226240" cy="41436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DFF5DD45-7EBE-98B5-E8B1-D7C1C3795B2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20219" y="4982965"/>
                <a:ext cx="233388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6AB294FE-CDC3-5470-14F5-492791FD6B3B}"/>
                  </a:ext>
                </a:extLst>
              </p14:cNvPr>
              <p14:cNvContentPartPr/>
              <p14:nvPr/>
            </p14:nvContentPartPr>
            <p14:xfrm>
              <a:off x="5432139" y="5700445"/>
              <a:ext cx="2597760" cy="171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6AB294FE-CDC3-5470-14F5-492791FD6B3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78499" y="5592805"/>
                <a:ext cx="2705400" cy="38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072" y="307066"/>
            <a:ext cx="463169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Parameters </a:t>
            </a:r>
            <a:r>
              <a:rPr spc="-5" dirty="0"/>
              <a:t>in</a:t>
            </a:r>
            <a:r>
              <a:rPr spc="-20" dirty="0"/>
              <a:t> </a:t>
            </a:r>
            <a:r>
              <a:rPr spc="-5" dirty="0"/>
              <a:t>PSM</a:t>
            </a:r>
            <a:r>
              <a:rPr lang="zh-CN" altLang="en-US" spc="-5" dirty="0"/>
              <a:t>参数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64755" cy="393890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Unlike </a:t>
            </a:r>
            <a:r>
              <a:rPr sz="3200" spc="-5" dirty="0">
                <a:latin typeface="Tahoma"/>
                <a:cs typeface="Tahoma"/>
              </a:rPr>
              <a:t>the usual </a:t>
            </a:r>
            <a:r>
              <a:rPr sz="3200" spc="-10" dirty="0">
                <a:latin typeface="Tahoma"/>
                <a:cs typeface="Tahoma"/>
              </a:rPr>
              <a:t>name-type </a:t>
            </a:r>
            <a:r>
              <a:rPr sz="3200" spc="-5" dirty="0">
                <a:latin typeface="Tahoma"/>
                <a:cs typeface="Tahoma"/>
              </a:rPr>
              <a:t>pairs in  languages </a:t>
            </a: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spc="-5" dirty="0">
                <a:latin typeface="Tahoma"/>
                <a:cs typeface="Tahoma"/>
              </a:rPr>
              <a:t>C, PSM uses mode-  </a:t>
            </a:r>
            <a:r>
              <a:rPr sz="3200" spc="-10" dirty="0">
                <a:latin typeface="Tahoma"/>
                <a:cs typeface="Tahoma"/>
              </a:rPr>
              <a:t>name-type </a:t>
            </a:r>
            <a:r>
              <a:rPr sz="3200" spc="-5" dirty="0">
                <a:latin typeface="Tahoma"/>
                <a:cs typeface="Tahoma"/>
              </a:rPr>
              <a:t>triples, where the </a:t>
            </a:r>
            <a:r>
              <a:rPr lang="en-US" altLang="zh-CN" sz="3600" dirty="0">
                <a:effectLst/>
              </a:rPr>
              <a:t>mode </a:t>
            </a:r>
            <a:r>
              <a:rPr sz="3350" i="1" spc="-969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can  be:</a:t>
            </a:r>
            <a:endParaRPr sz="3200" dirty="0">
              <a:latin typeface="Tahoma"/>
              <a:cs typeface="Tahoma"/>
            </a:endParaRPr>
          </a:p>
          <a:p>
            <a:pPr marL="755650" marR="1049020" lvl="1" indent="-285750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IN = procedure uses </a:t>
            </a:r>
            <a:r>
              <a:rPr sz="2800" spc="-15" dirty="0">
                <a:latin typeface="Tahoma"/>
                <a:cs typeface="Tahoma"/>
              </a:rPr>
              <a:t>value, </a:t>
            </a:r>
            <a:r>
              <a:rPr sz="2800" spc="-5" dirty="0">
                <a:latin typeface="Tahoma"/>
                <a:cs typeface="Tahoma"/>
              </a:rPr>
              <a:t>does not  change </a:t>
            </a:r>
            <a:r>
              <a:rPr sz="2800" spc="-15" dirty="0">
                <a:latin typeface="Tahoma"/>
                <a:cs typeface="Tahoma"/>
              </a:rPr>
              <a:t>value.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OUT = procedure changes, does not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use.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INOUT =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both.</a:t>
            </a:r>
            <a:endParaRPr sz="2800" dirty="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C02C2347-6520-540F-10F9-2052227B294C}"/>
                  </a:ext>
                </a:extLst>
              </p14:cNvPr>
              <p14:cNvContentPartPr/>
              <p14:nvPr/>
            </p14:nvContentPartPr>
            <p14:xfrm>
              <a:off x="6194619" y="2879485"/>
              <a:ext cx="869040" cy="4968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C02C2347-6520-540F-10F9-2052227B29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40619" y="2771485"/>
                <a:ext cx="9766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211928E2-42FE-0CB6-69EA-0EF9199900A0}"/>
                  </a:ext>
                </a:extLst>
              </p14:cNvPr>
              <p14:cNvContentPartPr/>
              <p14:nvPr/>
            </p14:nvContentPartPr>
            <p14:xfrm>
              <a:off x="1084779" y="3135085"/>
              <a:ext cx="3104280" cy="2023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211928E2-42FE-0CB6-69EA-0EF9199900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0779" y="3027445"/>
                <a:ext cx="321192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18A79B69-3DE8-1801-5451-DF7D4E90B3CE}"/>
                  </a:ext>
                </a:extLst>
              </p14:cNvPr>
              <p14:cNvContentPartPr/>
              <p14:nvPr/>
            </p14:nvContentPartPr>
            <p14:xfrm>
              <a:off x="1628739" y="4222285"/>
              <a:ext cx="24516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18A79B69-3DE8-1801-5451-DF7D4E90B3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74739" y="4114645"/>
                <a:ext cx="352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348492EE-5F05-DA39-4016-E5CFA881CF49}"/>
                  </a:ext>
                </a:extLst>
              </p14:cNvPr>
              <p14:cNvContentPartPr/>
              <p14:nvPr/>
            </p14:nvContentPartPr>
            <p14:xfrm>
              <a:off x="1577619" y="5131645"/>
              <a:ext cx="587520" cy="1177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348492EE-5F05-DA39-4016-E5CFA881CF4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23979" y="5024005"/>
                <a:ext cx="69516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EBEDB7FE-F4F8-6AF3-EE35-B455A098E6A1}"/>
                  </a:ext>
                </a:extLst>
              </p14:cNvPr>
              <p14:cNvContentPartPr/>
              <p14:nvPr/>
            </p14:nvContentPartPr>
            <p14:xfrm>
              <a:off x="1442979" y="5638165"/>
              <a:ext cx="1138680" cy="15336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EBEDB7FE-F4F8-6AF3-EE35-B455A098E6A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89339" y="5530525"/>
                <a:ext cx="124632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8B55AA1C-37B3-B986-F1CF-9432E5B1D6C8}"/>
                  </a:ext>
                </a:extLst>
              </p14:cNvPr>
              <p14:cNvContentPartPr/>
              <p14:nvPr/>
            </p14:nvContentPartPr>
            <p14:xfrm>
              <a:off x="3944259" y="4338205"/>
              <a:ext cx="800280" cy="8172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8B55AA1C-37B3-B986-F1CF-9432E5B1D6C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90259" y="4230565"/>
                <a:ext cx="90792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9C997F3A-4781-4940-FE4D-CD7F8195022E}"/>
                  </a:ext>
                </a:extLst>
              </p14:cNvPr>
              <p14:cNvContentPartPr/>
              <p14:nvPr/>
            </p14:nvContentPartPr>
            <p14:xfrm>
              <a:off x="5889699" y="4230925"/>
              <a:ext cx="1391400" cy="12672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9C997F3A-4781-4940-FE4D-CD7F8195022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35699" y="4123285"/>
                <a:ext cx="14990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B2CE334D-7BEA-8991-9E3B-3520CD28FE1D}"/>
                  </a:ext>
                </a:extLst>
              </p14:cNvPr>
              <p14:cNvContentPartPr/>
              <p14:nvPr/>
            </p14:nvContentPartPr>
            <p14:xfrm>
              <a:off x="1595619" y="4659685"/>
              <a:ext cx="844920" cy="8496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B2CE334D-7BEA-8991-9E3B-3520CD28FE1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41619" y="4552045"/>
                <a:ext cx="95256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6C34ECEC-8E26-2C25-6056-7FA9A975ECDD}"/>
                  </a:ext>
                </a:extLst>
              </p14:cNvPr>
              <p14:cNvContentPartPr/>
              <p14:nvPr/>
            </p14:nvContentPartPr>
            <p14:xfrm>
              <a:off x="4437459" y="5154325"/>
              <a:ext cx="1126080" cy="8172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6C34ECEC-8E26-2C25-6056-7FA9A975ECD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83819" y="5046685"/>
                <a:ext cx="123372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D80D3A26-8246-D2DE-A407-48D294A373E5}"/>
                  </a:ext>
                </a:extLst>
              </p14:cNvPr>
              <p14:cNvContentPartPr/>
              <p14:nvPr/>
            </p14:nvContentPartPr>
            <p14:xfrm>
              <a:off x="6068979" y="5200045"/>
              <a:ext cx="1619280" cy="11196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D80D3A26-8246-D2DE-A407-48D294A373E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15339" y="5092405"/>
                <a:ext cx="1726920" cy="327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5864" y="829944"/>
            <a:ext cx="67322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Stored</a:t>
            </a:r>
            <a:r>
              <a:rPr spc="-35" dirty="0"/>
              <a:t> </a:t>
            </a:r>
            <a:r>
              <a:rPr spc="-10" dirty="0"/>
              <a:t>Procedure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34884" cy="3391953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55600" marR="5080" indent="-342900" algn="just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Let’s </a:t>
            </a:r>
            <a:r>
              <a:rPr sz="3200" dirty="0">
                <a:latin typeface="Tahoma"/>
                <a:cs typeface="Tahoma"/>
              </a:rPr>
              <a:t>write a </a:t>
            </a:r>
            <a:r>
              <a:rPr sz="3200" spc="-10" dirty="0">
                <a:latin typeface="Tahoma"/>
                <a:cs typeface="Tahoma"/>
              </a:rPr>
              <a:t>procedure </a:t>
            </a:r>
            <a:r>
              <a:rPr sz="3200" spc="-5" dirty="0">
                <a:latin typeface="Tahoma"/>
                <a:cs typeface="Tahoma"/>
              </a:rPr>
              <a:t>that </a:t>
            </a:r>
            <a:r>
              <a:rPr sz="3200" spc="-10" dirty="0">
                <a:latin typeface="Tahoma"/>
                <a:cs typeface="Tahoma"/>
              </a:rPr>
              <a:t>takes </a:t>
            </a:r>
            <a:r>
              <a:rPr sz="3200" spc="-5" dirty="0">
                <a:latin typeface="Tahoma"/>
                <a:cs typeface="Tahoma"/>
              </a:rPr>
              <a:t>two  arguments</a:t>
            </a:r>
            <a:r>
              <a:rPr lang="zh-CN" altLang="en-US" sz="3200" spc="-5" dirty="0">
                <a:latin typeface="Tahoma"/>
                <a:cs typeface="Tahoma"/>
              </a:rPr>
              <a:t>参数</a:t>
            </a:r>
            <a:r>
              <a:rPr sz="3350" i="1" spc="-85" dirty="0">
                <a:latin typeface="Tahoma"/>
                <a:cs typeface="Tahoma"/>
              </a:rPr>
              <a:t>b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350" i="1" spc="-555" dirty="0">
                <a:latin typeface="Tahoma"/>
                <a:cs typeface="Tahoma"/>
              </a:rPr>
              <a:t>p</a:t>
            </a:r>
            <a:r>
              <a:rPr sz="3200" spc="-555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and adds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tuple  to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 </a:t>
            </a:r>
            <a:r>
              <a:rPr sz="3200" spc="-5" dirty="0">
                <a:latin typeface="Tahoma"/>
                <a:cs typeface="Tahoma"/>
              </a:rPr>
              <a:t>that has bar </a:t>
            </a:r>
            <a:r>
              <a:rPr sz="3200" dirty="0">
                <a:latin typeface="Tahoma"/>
                <a:cs typeface="Tahoma"/>
              </a:rPr>
              <a:t>=  </a:t>
            </a:r>
            <a:r>
              <a:rPr sz="3200" spc="-20" dirty="0">
                <a:latin typeface="Tahoma"/>
                <a:cs typeface="Tahoma"/>
              </a:rPr>
              <a:t>’Joe’’s </a:t>
            </a:r>
            <a:r>
              <a:rPr sz="3200" spc="-55" dirty="0">
                <a:latin typeface="Tahoma"/>
                <a:cs typeface="Tahoma"/>
              </a:rPr>
              <a:t>Bar’, </a:t>
            </a:r>
            <a:r>
              <a:rPr sz="3200" spc="-5" dirty="0">
                <a:latin typeface="Tahoma"/>
                <a:cs typeface="Tahoma"/>
              </a:rPr>
              <a:t>beer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350" i="1" spc="-555" dirty="0">
                <a:latin typeface="Tahoma"/>
                <a:cs typeface="Tahoma"/>
              </a:rPr>
              <a:t>b</a:t>
            </a:r>
            <a:r>
              <a:rPr sz="3200" spc="-555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and price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260" dirty="0">
                <a:latin typeface="Tahoma"/>
                <a:cs typeface="Tahoma"/>
              </a:rPr>
              <a:t> </a:t>
            </a:r>
            <a:r>
              <a:rPr sz="3350" i="1" spc="-555" dirty="0">
                <a:latin typeface="Tahoma"/>
                <a:cs typeface="Tahoma"/>
              </a:rPr>
              <a:t>p</a:t>
            </a:r>
            <a:r>
              <a:rPr sz="3200" spc="-55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755650" marR="676275" lvl="1" indent="-285750" algn="just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Used </a:t>
            </a:r>
            <a:r>
              <a:rPr sz="2800" spc="-10" dirty="0">
                <a:latin typeface="Tahoma"/>
                <a:cs typeface="Tahoma"/>
              </a:rPr>
              <a:t>by </a:t>
            </a:r>
            <a:r>
              <a:rPr sz="2800" spc="-5" dirty="0">
                <a:latin typeface="Tahoma"/>
                <a:cs typeface="Tahoma"/>
              </a:rPr>
              <a:t>Joe to add to his menu </a:t>
            </a:r>
            <a:r>
              <a:rPr sz="2800" spc="-10" dirty="0">
                <a:latin typeface="Tahoma"/>
                <a:cs typeface="Tahoma"/>
              </a:rPr>
              <a:t>more  </a:t>
            </a:r>
            <a:r>
              <a:rPr sz="2800" spc="-40" dirty="0">
                <a:latin typeface="Tahoma"/>
                <a:cs typeface="Tahoma"/>
              </a:rPr>
              <a:t>easily.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8600" y="829944"/>
            <a:ext cx="3606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</a:t>
            </a:r>
            <a:r>
              <a:rPr spc="-65" dirty="0"/>
              <a:t> </a:t>
            </a:r>
            <a:r>
              <a:rPr spc="-10" dirty="0"/>
              <a:t>Procedure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58159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5" dirty="0">
                <a:latin typeface="Tahoma"/>
                <a:cs typeface="Tahoma"/>
              </a:rPr>
              <a:t>CREATE </a:t>
            </a:r>
            <a:r>
              <a:rPr sz="3200" spc="-5" dirty="0">
                <a:latin typeface="Tahoma"/>
                <a:cs typeface="Tahoma"/>
              </a:rPr>
              <a:t>PROCEDURE JoeMenu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(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139" y="2609016"/>
            <a:ext cx="3378200" cy="10763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1485265" algn="l"/>
              </a:tabLst>
            </a:pPr>
            <a:r>
              <a:rPr sz="3200" spc="-5" dirty="0">
                <a:latin typeface="Tahoma"/>
                <a:cs typeface="Tahoma"/>
              </a:rPr>
              <a:t>I</a:t>
            </a:r>
            <a:r>
              <a:rPr sz="3200" dirty="0">
                <a:latin typeface="Tahoma"/>
                <a:cs typeface="Tahoma"/>
              </a:rPr>
              <a:t>N</a:t>
            </a:r>
            <a:r>
              <a:rPr sz="3200" spc="1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	</a:t>
            </a:r>
            <a:r>
              <a:rPr sz="3200" spc="-5" dirty="0">
                <a:latin typeface="Tahoma"/>
                <a:cs typeface="Tahoma"/>
              </a:rPr>
              <a:t>CHAR(20)</a:t>
            </a:r>
            <a:r>
              <a:rPr sz="3200" dirty="0">
                <a:latin typeface="Tahoma"/>
                <a:cs typeface="Tahoma"/>
              </a:rPr>
              <a:t>,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5"/>
              </a:spcBef>
              <a:tabLst>
                <a:tab pos="1485265" algn="l"/>
              </a:tabLst>
            </a:pPr>
            <a:r>
              <a:rPr sz="3200" dirty="0">
                <a:latin typeface="Tahoma"/>
                <a:cs typeface="Tahoma"/>
              </a:rPr>
              <a:t>IN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	</a:t>
            </a:r>
            <a:r>
              <a:rPr sz="3200" spc="-5" dirty="0">
                <a:latin typeface="Tahoma"/>
                <a:cs typeface="Tahoma"/>
              </a:rPr>
              <a:t>REAL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3767454"/>
            <a:ext cx="1816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7240" y="4364791"/>
            <a:ext cx="4606290" cy="10763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20" dirty="0">
                <a:latin typeface="Tahoma"/>
                <a:cs typeface="Tahoma"/>
              </a:rPr>
              <a:t>INSERT INTO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Sells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r>
              <a:rPr sz="3200" spc="-20" dirty="0">
                <a:latin typeface="Tahoma"/>
                <a:cs typeface="Tahoma"/>
              </a:rPr>
              <a:t>VALUES(’Joe’’s </a:t>
            </a:r>
            <a:r>
              <a:rPr sz="3200" spc="-55" dirty="0">
                <a:latin typeface="Tahoma"/>
                <a:cs typeface="Tahoma"/>
              </a:rPr>
              <a:t>Bar’, </a:t>
            </a:r>
            <a:r>
              <a:rPr sz="3200" spc="-30" dirty="0">
                <a:latin typeface="Tahoma"/>
                <a:cs typeface="Tahoma"/>
              </a:rPr>
              <a:t>b,</a:t>
            </a:r>
            <a:r>
              <a:rPr sz="3200" spc="4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p);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66800" y="2667000"/>
            <a:ext cx="3505200" cy="1066800"/>
          </a:xfrm>
          <a:custGeom>
            <a:avLst/>
            <a:gdLst/>
            <a:ahLst/>
            <a:cxnLst/>
            <a:rect l="l" t="t" r="r" b="b"/>
            <a:pathLst>
              <a:path w="3505200" h="1066800">
                <a:moveTo>
                  <a:pt x="0" y="0"/>
                </a:moveTo>
                <a:lnTo>
                  <a:pt x="3505200" y="0"/>
                </a:lnTo>
                <a:lnTo>
                  <a:pt x="35052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2037" y="2662237"/>
            <a:ext cx="3514725" cy="1076325"/>
          </a:xfrm>
          <a:custGeom>
            <a:avLst/>
            <a:gdLst/>
            <a:ahLst/>
            <a:cxnLst/>
            <a:rect l="l" t="t" r="r" b="b"/>
            <a:pathLst>
              <a:path w="3514725" h="1076325">
                <a:moveTo>
                  <a:pt x="3514725" y="1076325"/>
                </a:moveTo>
                <a:lnTo>
                  <a:pt x="0" y="1076325"/>
                </a:lnTo>
                <a:lnTo>
                  <a:pt x="0" y="0"/>
                </a:lnTo>
                <a:lnTo>
                  <a:pt x="3514725" y="0"/>
                </a:lnTo>
                <a:lnTo>
                  <a:pt x="3514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066800"/>
                </a:lnTo>
                <a:lnTo>
                  <a:pt x="4762" y="1066800"/>
                </a:lnTo>
                <a:lnTo>
                  <a:pt x="9525" y="1071562"/>
                </a:lnTo>
                <a:lnTo>
                  <a:pt x="3514725" y="1071562"/>
                </a:lnTo>
                <a:lnTo>
                  <a:pt x="3514725" y="1076325"/>
                </a:lnTo>
                <a:close/>
              </a:path>
              <a:path w="3514725" h="1076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514725" h="1076325">
                <a:moveTo>
                  <a:pt x="3505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505200" y="4762"/>
                </a:lnTo>
                <a:lnTo>
                  <a:pt x="3505200" y="9525"/>
                </a:lnTo>
                <a:close/>
              </a:path>
              <a:path w="3514725" h="1076325">
                <a:moveTo>
                  <a:pt x="3505200" y="1071562"/>
                </a:moveTo>
                <a:lnTo>
                  <a:pt x="3505200" y="4762"/>
                </a:lnTo>
                <a:lnTo>
                  <a:pt x="3509962" y="9525"/>
                </a:lnTo>
                <a:lnTo>
                  <a:pt x="3514725" y="9525"/>
                </a:lnTo>
                <a:lnTo>
                  <a:pt x="3514725" y="1066800"/>
                </a:lnTo>
                <a:lnTo>
                  <a:pt x="3509962" y="1066800"/>
                </a:lnTo>
                <a:lnTo>
                  <a:pt x="3505200" y="1071562"/>
                </a:lnTo>
                <a:close/>
              </a:path>
              <a:path w="3514725" h="1076325">
                <a:moveTo>
                  <a:pt x="3514725" y="9525"/>
                </a:moveTo>
                <a:lnTo>
                  <a:pt x="3509962" y="9525"/>
                </a:lnTo>
                <a:lnTo>
                  <a:pt x="3505200" y="4762"/>
                </a:lnTo>
                <a:lnTo>
                  <a:pt x="3514725" y="4762"/>
                </a:lnTo>
                <a:lnTo>
                  <a:pt x="3514725" y="9525"/>
                </a:lnTo>
                <a:close/>
              </a:path>
              <a:path w="3514725" h="1076325">
                <a:moveTo>
                  <a:pt x="9525" y="1071562"/>
                </a:moveTo>
                <a:lnTo>
                  <a:pt x="4762" y="1066800"/>
                </a:lnTo>
                <a:lnTo>
                  <a:pt x="9525" y="1066800"/>
                </a:lnTo>
                <a:lnTo>
                  <a:pt x="9525" y="1071562"/>
                </a:lnTo>
                <a:close/>
              </a:path>
              <a:path w="3514725" h="1076325">
                <a:moveTo>
                  <a:pt x="3505200" y="1071562"/>
                </a:moveTo>
                <a:lnTo>
                  <a:pt x="9525" y="1071562"/>
                </a:lnTo>
                <a:lnTo>
                  <a:pt x="9525" y="1066800"/>
                </a:lnTo>
                <a:lnTo>
                  <a:pt x="3505200" y="1066800"/>
                </a:lnTo>
                <a:lnTo>
                  <a:pt x="3505200" y="1071562"/>
                </a:lnTo>
                <a:close/>
              </a:path>
              <a:path w="3514725" h="1076325">
                <a:moveTo>
                  <a:pt x="3514725" y="1071562"/>
                </a:moveTo>
                <a:lnTo>
                  <a:pt x="3505200" y="1071562"/>
                </a:lnTo>
                <a:lnTo>
                  <a:pt x="3509962" y="1066800"/>
                </a:lnTo>
                <a:lnTo>
                  <a:pt x="3514725" y="1066800"/>
                </a:lnTo>
                <a:lnTo>
                  <a:pt x="3514725" y="1071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96865" y="2857499"/>
            <a:ext cx="260540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latin typeface="Tahoma"/>
                <a:cs typeface="Tahoma"/>
              </a:rPr>
              <a:t>Parameters </a:t>
            </a:r>
            <a:r>
              <a:rPr sz="2000" spc="-5" dirty="0">
                <a:latin typeface="Tahoma"/>
                <a:cs typeface="Tahoma"/>
              </a:rPr>
              <a:t>are both  </a:t>
            </a:r>
            <a:r>
              <a:rPr sz="2000" spc="-25" dirty="0">
                <a:latin typeface="Tahoma"/>
                <a:cs typeface="Tahoma"/>
              </a:rPr>
              <a:t>read-only, </a:t>
            </a:r>
            <a:r>
              <a:rPr sz="2000" spc="-5" dirty="0">
                <a:latin typeface="Tahoma"/>
                <a:cs typeface="Tahoma"/>
              </a:rPr>
              <a:t>not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changed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2000" y="3027337"/>
            <a:ext cx="687070" cy="177800"/>
          </a:xfrm>
          <a:custGeom>
            <a:avLst/>
            <a:gdLst/>
            <a:ahLst/>
            <a:cxnLst/>
            <a:rect l="l" t="t" r="r" b="b"/>
            <a:pathLst>
              <a:path w="687070" h="177800">
                <a:moveTo>
                  <a:pt x="66116" y="74383"/>
                </a:moveTo>
                <a:lnTo>
                  <a:pt x="0" y="20662"/>
                </a:lnTo>
                <a:lnTo>
                  <a:pt x="82651" y="0"/>
                </a:lnTo>
                <a:lnTo>
                  <a:pt x="76336" y="28409"/>
                </a:lnTo>
                <a:lnTo>
                  <a:pt x="56819" y="28409"/>
                </a:lnTo>
                <a:lnTo>
                  <a:pt x="54762" y="37706"/>
                </a:lnTo>
                <a:lnTo>
                  <a:pt x="73351" y="41837"/>
                </a:lnTo>
                <a:lnTo>
                  <a:pt x="66116" y="74383"/>
                </a:lnTo>
                <a:close/>
              </a:path>
              <a:path w="687070" h="177800">
                <a:moveTo>
                  <a:pt x="73351" y="41837"/>
                </a:moveTo>
                <a:lnTo>
                  <a:pt x="54762" y="37706"/>
                </a:lnTo>
                <a:lnTo>
                  <a:pt x="56819" y="28409"/>
                </a:lnTo>
                <a:lnTo>
                  <a:pt x="75417" y="32542"/>
                </a:lnTo>
                <a:lnTo>
                  <a:pt x="73351" y="41837"/>
                </a:lnTo>
                <a:close/>
              </a:path>
              <a:path w="687070" h="177800">
                <a:moveTo>
                  <a:pt x="75417" y="32542"/>
                </a:moveTo>
                <a:lnTo>
                  <a:pt x="56819" y="28409"/>
                </a:lnTo>
                <a:lnTo>
                  <a:pt x="76336" y="28409"/>
                </a:lnTo>
                <a:lnTo>
                  <a:pt x="75417" y="32542"/>
                </a:lnTo>
                <a:close/>
              </a:path>
              <a:path w="687070" h="177800">
                <a:moveTo>
                  <a:pt x="684771" y="177711"/>
                </a:moveTo>
                <a:lnTo>
                  <a:pt x="73351" y="41837"/>
                </a:lnTo>
                <a:lnTo>
                  <a:pt x="75417" y="32542"/>
                </a:lnTo>
                <a:lnTo>
                  <a:pt x="686828" y="168414"/>
                </a:lnTo>
                <a:lnTo>
                  <a:pt x="684771" y="1777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5800" y="4419600"/>
            <a:ext cx="4724400" cy="1143000"/>
          </a:xfrm>
          <a:custGeom>
            <a:avLst/>
            <a:gdLst/>
            <a:ahLst/>
            <a:cxnLst/>
            <a:rect l="l" t="t" r="r" b="b"/>
            <a:pathLst>
              <a:path w="4724400" h="1143000">
                <a:moveTo>
                  <a:pt x="0" y="0"/>
                </a:moveTo>
                <a:lnTo>
                  <a:pt x="4724400" y="0"/>
                </a:lnTo>
                <a:lnTo>
                  <a:pt x="47244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1037" y="4414837"/>
            <a:ext cx="4733925" cy="1152525"/>
          </a:xfrm>
          <a:custGeom>
            <a:avLst/>
            <a:gdLst/>
            <a:ahLst/>
            <a:cxnLst/>
            <a:rect l="l" t="t" r="r" b="b"/>
            <a:pathLst>
              <a:path w="4733925" h="1152525">
                <a:moveTo>
                  <a:pt x="47339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4733925" y="0"/>
                </a:lnTo>
                <a:lnTo>
                  <a:pt x="4733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4733925" y="1147762"/>
                </a:lnTo>
                <a:lnTo>
                  <a:pt x="4733925" y="1152525"/>
                </a:lnTo>
                <a:close/>
              </a:path>
              <a:path w="47339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733925" h="1152525">
                <a:moveTo>
                  <a:pt x="4724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724400" y="4762"/>
                </a:lnTo>
                <a:lnTo>
                  <a:pt x="4724400" y="9525"/>
                </a:lnTo>
                <a:close/>
              </a:path>
              <a:path w="4733925" h="1152525">
                <a:moveTo>
                  <a:pt x="4724400" y="1147762"/>
                </a:moveTo>
                <a:lnTo>
                  <a:pt x="4724400" y="4762"/>
                </a:lnTo>
                <a:lnTo>
                  <a:pt x="4729162" y="9525"/>
                </a:lnTo>
                <a:lnTo>
                  <a:pt x="4733925" y="9525"/>
                </a:lnTo>
                <a:lnTo>
                  <a:pt x="4733925" y="1143000"/>
                </a:lnTo>
                <a:lnTo>
                  <a:pt x="4729162" y="1143000"/>
                </a:lnTo>
                <a:lnTo>
                  <a:pt x="4724400" y="1147762"/>
                </a:lnTo>
                <a:close/>
              </a:path>
              <a:path w="4733925" h="1152525">
                <a:moveTo>
                  <a:pt x="4733925" y="9525"/>
                </a:moveTo>
                <a:lnTo>
                  <a:pt x="4729162" y="9525"/>
                </a:lnTo>
                <a:lnTo>
                  <a:pt x="4724400" y="4762"/>
                </a:lnTo>
                <a:lnTo>
                  <a:pt x="4733925" y="4762"/>
                </a:lnTo>
                <a:lnTo>
                  <a:pt x="4733925" y="9525"/>
                </a:lnTo>
                <a:close/>
              </a:path>
              <a:path w="47339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4733925" h="1152525">
                <a:moveTo>
                  <a:pt x="47244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4724400" y="1143000"/>
                </a:lnTo>
                <a:lnTo>
                  <a:pt x="4724400" y="1147762"/>
                </a:lnTo>
                <a:close/>
              </a:path>
              <a:path w="4733925" h="1152525">
                <a:moveTo>
                  <a:pt x="4733925" y="1147762"/>
                </a:moveTo>
                <a:lnTo>
                  <a:pt x="4724400" y="1147762"/>
                </a:lnTo>
                <a:lnTo>
                  <a:pt x="4729162" y="1143000"/>
                </a:lnTo>
                <a:lnTo>
                  <a:pt x="4733925" y="1143000"/>
                </a:lnTo>
                <a:lnTo>
                  <a:pt x="47339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11265" y="4610100"/>
            <a:ext cx="19240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 body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---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single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insertion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10200" y="4948326"/>
            <a:ext cx="763270" cy="179705"/>
          </a:xfrm>
          <a:custGeom>
            <a:avLst/>
            <a:gdLst/>
            <a:ahLst/>
            <a:cxnLst/>
            <a:rect l="l" t="t" r="r" b="b"/>
            <a:pathLst>
              <a:path w="763270" h="179704">
                <a:moveTo>
                  <a:pt x="75653" y="146796"/>
                </a:moveTo>
                <a:lnTo>
                  <a:pt x="73786" y="137462"/>
                </a:lnTo>
                <a:lnTo>
                  <a:pt x="761060" y="0"/>
                </a:lnTo>
                <a:lnTo>
                  <a:pt x="762939" y="9347"/>
                </a:lnTo>
                <a:lnTo>
                  <a:pt x="75653" y="146796"/>
                </a:lnTo>
                <a:close/>
              </a:path>
              <a:path w="763270" h="179704">
                <a:moveTo>
                  <a:pt x="82194" y="179489"/>
                </a:moveTo>
                <a:lnTo>
                  <a:pt x="0" y="157073"/>
                </a:lnTo>
                <a:lnTo>
                  <a:pt x="67246" y="104775"/>
                </a:lnTo>
                <a:lnTo>
                  <a:pt x="73786" y="137462"/>
                </a:lnTo>
                <a:lnTo>
                  <a:pt x="55105" y="141198"/>
                </a:lnTo>
                <a:lnTo>
                  <a:pt x="56972" y="150533"/>
                </a:lnTo>
                <a:lnTo>
                  <a:pt x="76401" y="150533"/>
                </a:lnTo>
                <a:lnTo>
                  <a:pt x="82194" y="179489"/>
                </a:lnTo>
                <a:close/>
              </a:path>
              <a:path w="763270" h="179704">
                <a:moveTo>
                  <a:pt x="56972" y="150533"/>
                </a:moveTo>
                <a:lnTo>
                  <a:pt x="55105" y="141198"/>
                </a:lnTo>
                <a:lnTo>
                  <a:pt x="73786" y="137462"/>
                </a:lnTo>
                <a:lnTo>
                  <a:pt x="75653" y="146796"/>
                </a:lnTo>
                <a:lnTo>
                  <a:pt x="56972" y="150533"/>
                </a:lnTo>
                <a:close/>
              </a:path>
              <a:path w="763270" h="179704">
                <a:moveTo>
                  <a:pt x="76401" y="150533"/>
                </a:moveTo>
                <a:lnTo>
                  <a:pt x="56972" y="150533"/>
                </a:lnTo>
                <a:lnTo>
                  <a:pt x="75653" y="146796"/>
                </a:lnTo>
                <a:lnTo>
                  <a:pt x="76401" y="1505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6009E83B-A781-4E09-85B5-487917D2F136}"/>
                  </a:ext>
                </a:extLst>
              </p14:cNvPr>
              <p14:cNvContentPartPr/>
              <p14:nvPr/>
            </p14:nvContentPartPr>
            <p14:xfrm>
              <a:off x="938979" y="4627645"/>
              <a:ext cx="2333160" cy="11592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6009E83B-A781-4E09-85B5-487917D2F1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4979" y="4520005"/>
                <a:ext cx="244080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FF622497-E4DE-7A3E-0CCD-9C64B33C2F92}"/>
                  </a:ext>
                </a:extLst>
              </p14:cNvPr>
              <p14:cNvContentPartPr/>
              <p14:nvPr/>
            </p14:nvContentPartPr>
            <p14:xfrm>
              <a:off x="959139" y="4697485"/>
              <a:ext cx="360" cy="36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FF622497-E4DE-7A3E-0CCD-9C64B33C2F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5499" y="458984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E316D616-E003-45D3-27D5-928165E0AA54}"/>
                  </a:ext>
                </a:extLst>
              </p14:cNvPr>
              <p14:cNvContentPartPr/>
              <p14:nvPr/>
            </p14:nvContentPartPr>
            <p14:xfrm>
              <a:off x="824499" y="5264485"/>
              <a:ext cx="8640" cy="10584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E316D616-E003-45D3-27D5-928165E0AA5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0859" y="5156845"/>
                <a:ext cx="11628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14FED3A3-DE95-A0A3-BCE4-0E44F9831C50}"/>
                  </a:ext>
                </a:extLst>
              </p14:cNvPr>
              <p14:cNvContentPartPr/>
              <p14:nvPr/>
            </p14:nvContentPartPr>
            <p14:xfrm>
              <a:off x="878499" y="5209405"/>
              <a:ext cx="1382040" cy="11592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14FED3A3-DE95-A0A3-BCE4-0E44F9831C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4499" y="5101765"/>
                <a:ext cx="1489680" cy="331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304800"/>
            <a:ext cx="503936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Invoking</a:t>
            </a:r>
            <a:r>
              <a:rPr lang="zh-CN" altLang="en-US" spc="-15" dirty="0"/>
              <a:t>调用</a:t>
            </a:r>
            <a:r>
              <a:rPr spc="-70" dirty="0"/>
              <a:t> </a:t>
            </a:r>
            <a:r>
              <a:rPr spc="-10" dirty="0"/>
              <a:t>Procedures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12949"/>
            <a:ext cx="8415655" cy="3731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1313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Use SQL/PSM statement CALL, with the  name of the desired </a:t>
            </a:r>
            <a:r>
              <a:rPr sz="3200" spc="-10" dirty="0">
                <a:latin typeface="Tahoma"/>
                <a:cs typeface="Tahoma"/>
              </a:rPr>
              <a:t>procedure </a:t>
            </a:r>
            <a:r>
              <a:rPr sz="3200" spc="-5" dirty="0">
                <a:latin typeface="Tahoma"/>
                <a:cs typeface="Tahoma"/>
              </a:rPr>
              <a:t>and  arguments.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CALL JoeMenu(’Moosedrool’,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5.00);</a:t>
            </a:r>
            <a:endParaRPr sz="3200" dirty="0">
              <a:latin typeface="Courier New"/>
              <a:cs typeface="Courier New"/>
            </a:endParaRPr>
          </a:p>
          <a:p>
            <a:pPr marL="355600" marR="21590" indent="-342900">
              <a:lnSpc>
                <a:spcPct val="100000"/>
              </a:lnSpc>
              <a:spcBef>
                <a:spcPts val="10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Functions used in SQL expressions </a:t>
            </a:r>
            <a:r>
              <a:rPr sz="3200" spc="-10" dirty="0">
                <a:latin typeface="Tahoma"/>
                <a:cs typeface="Tahoma"/>
              </a:rPr>
              <a:t>wherever 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200" spc="-5" dirty="0">
                <a:latin typeface="Tahoma"/>
                <a:cs typeface="Tahoma"/>
              </a:rPr>
              <a:t>of their return </a:t>
            </a:r>
            <a:r>
              <a:rPr sz="3200" spc="-15" dirty="0">
                <a:latin typeface="Tahoma"/>
                <a:cs typeface="Tahoma"/>
              </a:rPr>
              <a:t>type </a:t>
            </a:r>
            <a:r>
              <a:rPr sz="3200" spc="-5" dirty="0">
                <a:latin typeface="Tahoma"/>
                <a:cs typeface="Tahoma"/>
              </a:rPr>
              <a:t>is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appropriate.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4705" y="829944"/>
            <a:ext cx="75152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Kinds of PSM statements </a:t>
            </a:r>
            <a:r>
              <a:rPr dirty="0"/>
              <a:t>–</a:t>
            </a:r>
            <a:r>
              <a:rPr spc="-25" dirty="0"/>
              <a:t> </a:t>
            </a:r>
            <a:r>
              <a:rPr spc="-5" dirty="0"/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918450" cy="41633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0325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RETURN &lt;expression&gt; sets the return 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function.</a:t>
            </a:r>
            <a:endParaRPr sz="3200" dirty="0">
              <a:latin typeface="Tahoma"/>
              <a:cs typeface="Tahoma"/>
            </a:endParaRPr>
          </a:p>
          <a:p>
            <a:pPr marL="755650" marR="367665" lvl="1" indent="-28575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Unlike </a:t>
            </a:r>
            <a:r>
              <a:rPr sz="2800" spc="-5" dirty="0">
                <a:latin typeface="Tahoma"/>
                <a:cs typeface="Tahoma"/>
              </a:rPr>
              <a:t>C, </a:t>
            </a:r>
            <a:r>
              <a:rPr sz="2800" spc="-40" dirty="0">
                <a:latin typeface="Tahoma"/>
                <a:cs typeface="Tahoma"/>
              </a:rPr>
              <a:t>etc., </a:t>
            </a:r>
            <a:r>
              <a:rPr sz="2800" spc="-5" dirty="0">
                <a:latin typeface="Tahoma"/>
                <a:cs typeface="Tahoma"/>
              </a:rPr>
              <a:t>RETURN </a:t>
            </a:r>
            <a:r>
              <a:rPr lang="en-US" altLang="zh-CN" sz="3200" dirty="0">
                <a:effectLst/>
              </a:rPr>
              <a:t>does not </a:t>
            </a:r>
            <a:r>
              <a:rPr sz="2900" i="1" spc="-855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terminate</a:t>
            </a:r>
            <a:r>
              <a:rPr lang="zh-CN" altLang="en-US" sz="2800" spc="-5" dirty="0">
                <a:latin typeface="Tahoma"/>
                <a:cs typeface="Tahoma"/>
              </a:rPr>
              <a:t>终止</a:t>
            </a:r>
            <a:r>
              <a:rPr sz="2800" spc="-5" dirty="0">
                <a:latin typeface="Tahoma"/>
                <a:cs typeface="Tahoma"/>
              </a:rPr>
              <a:t>  </a:t>
            </a:r>
            <a:r>
              <a:rPr sz="2800" spc="-10" dirty="0">
                <a:latin typeface="Tahoma"/>
                <a:cs typeface="Tahoma"/>
              </a:rPr>
              <a:t>function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execution.</a:t>
            </a:r>
            <a:endParaRPr sz="2800" dirty="0">
              <a:latin typeface="Tahoma"/>
              <a:cs typeface="Tahoma"/>
            </a:endParaRPr>
          </a:p>
          <a:p>
            <a:pPr marL="355600" marR="1167765" indent="-342900">
              <a:lnSpc>
                <a:spcPct val="100000"/>
              </a:lnSpc>
              <a:spcBef>
                <a:spcPts val="65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DECLARE </a:t>
            </a:r>
            <a:r>
              <a:rPr sz="3200" spc="-5" dirty="0">
                <a:latin typeface="Tahoma"/>
                <a:cs typeface="Tahoma"/>
              </a:rPr>
              <a:t>&lt;name&gt; </a:t>
            </a:r>
            <a:r>
              <a:rPr sz="3200" spc="-10" dirty="0">
                <a:latin typeface="Tahoma"/>
                <a:cs typeface="Tahoma"/>
              </a:rPr>
              <a:t>&lt;type&gt; </a:t>
            </a:r>
            <a:r>
              <a:rPr sz="3200" spc="-5" dirty="0">
                <a:latin typeface="Tahoma"/>
                <a:cs typeface="Tahoma"/>
              </a:rPr>
              <a:t>used to  declare local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variables.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BEGIN </a:t>
            </a:r>
            <a:r>
              <a:rPr sz="3200" dirty="0">
                <a:latin typeface="Tahoma"/>
                <a:cs typeface="Tahoma"/>
              </a:rPr>
              <a:t>. . . </a:t>
            </a:r>
            <a:r>
              <a:rPr sz="3200" spc="-5" dirty="0">
                <a:latin typeface="Tahoma"/>
                <a:cs typeface="Tahoma"/>
              </a:rPr>
              <a:t>END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groups of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statements.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Separate </a:t>
            </a:r>
            <a:r>
              <a:rPr sz="2800" spc="-5" dirty="0">
                <a:latin typeface="Tahoma"/>
                <a:cs typeface="Tahoma"/>
              </a:rPr>
              <a:t>statements </a:t>
            </a:r>
            <a:r>
              <a:rPr sz="2800" spc="-10" dirty="0">
                <a:latin typeface="Tahoma"/>
                <a:cs typeface="Tahoma"/>
              </a:rPr>
              <a:t>by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semicolons.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3590" y="829944"/>
            <a:ext cx="7576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Kinds of PSM Statements </a:t>
            </a:r>
            <a:r>
              <a:rPr dirty="0"/>
              <a:t>–</a:t>
            </a:r>
            <a:r>
              <a:rPr spc="-20" dirty="0"/>
              <a:t> </a:t>
            </a:r>
            <a:r>
              <a:rPr spc="-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31380" cy="2586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ts val="3835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Assignment</a:t>
            </a:r>
            <a:r>
              <a:rPr sz="3200" spc="-1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statements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ts val="3835"/>
              </a:lnSpc>
            </a:pPr>
            <a:r>
              <a:rPr sz="3200" spc="-5" dirty="0">
                <a:latin typeface="Tahoma"/>
                <a:cs typeface="Tahoma"/>
              </a:rPr>
              <a:t>SET </a:t>
            </a:r>
            <a:r>
              <a:rPr sz="3200" spc="-10" dirty="0">
                <a:latin typeface="Tahoma"/>
                <a:cs typeface="Tahoma"/>
              </a:rPr>
              <a:t>&lt;variable&gt;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&lt;expression&gt;;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55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Example: </a:t>
            </a:r>
            <a:r>
              <a:rPr sz="2800" spc="-5" dirty="0">
                <a:latin typeface="Courier New"/>
                <a:cs typeface="Courier New"/>
              </a:rPr>
              <a:t>SET b =</a:t>
            </a:r>
            <a:r>
              <a:rPr sz="280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’Bud’;</a:t>
            </a:r>
            <a:endParaRPr sz="2800" dirty="0">
              <a:latin typeface="Courier New"/>
              <a:cs typeface="Courier New"/>
            </a:endParaRPr>
          </a:p>
          <a:p>
            <a:pPr marL="355600" marR="5080" indent="-342900">
              <a:lnSpc>
                <a:spcPct val="100000"/>
              </a:lnSpc>
              <a:spcBef>
                <a:spcPts val="89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Statement labels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spc="-10" dirty="0">
                <a:latin typeface="Tahoma"/>
                <a:cs typeface="Tahoma"/>
              </a:rPr>
              <a:t>give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statement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label by prefixing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name and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colon.</a:t>
            </a:r>
            <a:endParaRPr sz="32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FC296588-2A3A-7A51-766C-47D27C7F14F6}"/>
                  </a:ext>
                </a:extLst>
              </p14:cNvPr>
              <p14:cNvContentPartPr/>
              <p14:nvPr/>
            </p14:nvContentPartPr>
            <p14:xfrm>
              <a:off x="2742579" y="3128605"/>
              <a:ext cx="2939400" cy="20808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FC296588-2A3A-7A51-766C-47D27C7F14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8579" y="3020605"/>
                <a:ext cx="3047040" cy="423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0195" y="448944"/>
            <a:ext cx="3483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IF</a:t>
            </a:r>
            <a:r>
              <a:rPr spc="-65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631949"/>
            <a:ext cx="8277225" cy="4610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ts val="3835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Simplest</a:t>
            </a:r>
            <a:r>
              <a:rPr sz="3200" spc="-10" dirty="0">
                <a:latin typeface="Tahoma"/>
                <a:cs typeface="Tahoma"/>
              </a:rPr>
              <a:t> form:</a:t>
            </a:r>
            <a:endParaRPr sz="3200">
              <a:latin typeface="Tahoma"/>
              <a:cs typeface="Tahoma"/>
            </a:endParaRPr>
          </a:p>
          <a:p>
            <a:pPr marL="926465">
              <a:lnSpc>
                <a:spcPts val="3835"/>
              </a:lnSpc>
            </a:pPr>
            <a:r>
              <a:rPr sz="3200" spc="-5" dirty="0">
                <a:latin typeface="Tahoma"/>
                <a:cs typeface="Tahoma"/>
              </a:rPr>
              <a:t>IF &lt;condition&gt;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THEN</a:t>
            </a:r>
            <a:endParaRPr sz="3200">
              <a:latin typeface="Tahoma"/>
              <a:cs typeface="Tahoma"/>
            </a:endParaRPr>
          </a:p>
          <a:p>
            <a:pPr marR="504825" algn="ctr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&lt;statements(s)&gt;</a:t>
            </a:r>
            <a:endParaRPr sz="32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END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IF;</a:t>
            </a:r>
            <a:endParaRPr sz="3200">
              <a:latin typeface="Tahoma"/>
              <a:cs typeface="Tahoma"/>
            </a:endParaRPr>
          </a:p>
          <a:p>
            <a:pPr marL="415290" marR="721995" indent="-41529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Add ELSE &lt;statement(s)&gt;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desired, as  IF </a:t>
            </a:r>
            <a:r>
              <a:rPr sz="3200" dirty="0">
                <a:latin typeface="Tahoma"/>
                <a:cs typeface="Tahoma"/>
              </a:rPr>
              <a:t>. . . </a:t>
            </a:r>
            <a:r>
              <a:rPr sz="3200" spc="-5" dirty="0">
                <a:latin typeface="Tahoma"/>
                <a:cs typeface="Tahoma"/>
              </a:rPr>
              <a:t>THEN </a:t>
            </a:r>
            <a:r>
              <a:rPr sz="3200" dirty="0">
                <a:latin typeface="Tahoma"/>
                <a:cs typeface="Tahoma"/>
              </a:rPr>
              <a:t>. . . </a:t>
            </a:r>
            <a:r>
              <a:rPr sz="3200" spc="-5" dirty="0">
                <a:latin typeface="Tahoma"/>
                <a:cs typeface="Tahoma"/>
              </a:rPr>
              <a:t>ELSE </a:t>
            </a:r>
            <a:r>
              <a:rPr sz="3200" dirty="0">
                <a:latin typeface="Tahoma"/>
                <a:cs typeface="Tahoma"/>
              </a:rPr>
              <a:t>. . . </a:t>
            </a:r>
            <a:r>
              <a:rPr sz="3200" spc="-5" dirty="0">
                <a:latin typeface="Tahoma"/>
                <a:cs typeface="Tahoma"/>
              </a:rPr>
              <a:t>END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IF;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Add additional cases by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ELSEIF</a:t>
            </a:r>
            <a:endParaRPr sz="3200">
              <a:latin typeface="Tahoma"/>
              <a:cs typeface="Tahoma"/>
            </a:endParaRPr>
          </a:p>
          <a:p>
            <a:pPr marL="355600" marR="508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&lt;statements(s)&gt;: IF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THEN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ELSEIF </a:t>
            </a:r>
            <a:r>
              <a:rPr sz="3200" dirty="0">
                <a:latin typeface="Tahoma"/>
                <a:cs typeface="Tahoma"/>
              </a:rPr>
              <a:t>…  </a:t>
            </a:r>
            <a:r>
              <a:rPr sz="3200" spc="-5" dirty="0">
                <a:latin typeface="Tahoma"/>
                <a:cs typeface="Tahoma"/>
              </a:rPr>
              <a:t>THEN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ELSEIF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THEN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ELSE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END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IF;</a:t>
            </a:r>
            <a:endParaRPr sz="32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6127F36-287B-C0AF-13CA-9CCB90725A13}"/>
                  </a:ext>
                </a:extLst>
              </p14:cNvPr>
              <p14:cNvContentPartPr/>
              <p14:nvPr/>
            </p14:nvContentPartPr>
            <p14:xfrm>
              <a:off x="1703118" y="2275765"/>
              <a:ext cx="3718440" cy="2167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6127F36-287B-C0AF-13CA-9CCB90725A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9118" y="2168125"/>
                <a:ext cx="382608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E6C9875-6AE5-686E-0D7F-8D0A74E48E6F}"/>
                  </a:ext>
                </a:extLst>
              </p14:cNvPr>
              <p14:cNvContentPartPr/>
              <p14:nvPr/>
            </p14:nvContentPartPr>
            <p14:xfrm>
              <a:off x="1720758" y="3116365"/>
              <a:ext cx="1542240" cy="4269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E6C9875-6AE5-686E-0D7F-8D0A74E48E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7118" y="3008365"/>
                <a:ext cx="1649880" cy="6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1EF9D43F-81EE-2DA2-6F87-EDFE3D6FBF8F}"/>
                  </a:ext>
                </a:extLst>
              </p14:cNvPr>
              <p14:cNvContentPartPr/>
              <p14:nvPr/>
            </p14:nvContentPartPr>
            <p14:xfrm>
              <a:off x="1183278" y="4160725"/>
              <a:ext cx="2125440" cy="36684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1EF9D43F-81EE-2DA2-6F87-EDFE3D6FBF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9278" y="4052725"/>
                <a:ext cx="2233080" cy="58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F19EEB7E-370F-084E-34B8-1563666C5054}"/>
                  </a:ext>
                </a:extLst>
              </p14:cNvPr>
              <p14:cNvContentPartPr/>
              <p14:nvPr/>
            </p14:nvContentPartPr>
            <p14:xfrm>
              <a:off x="1371558" y="4229125"/>
              <a:ext cx="6124320" cy="36252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F19EEB7E-370F-084E-34B8-1563666C505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7918" y="4121485"/>
                <a:ext cx="6231960" cy="5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3E9DFED8-8DB2-F789-553B-21968B500AE4}"/>
                  </a:ext>
                </a:extLst>
              </p14:cNvPr>
              <p14:cNvContentPartPr/>
              <p14:nvPr/>
            </p14:nvContentPartPr>
            <p14:xfrm>
              <a:off x="4338678" y="5421805"/>
              <a:ext cx="4436280" cy="5580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3E9DFED8-8DB2-F789-553B-21968B500AE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85038" y="5313805"/>
                <a:ext cx="454392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37DAD98E-57BD-9974-60EF-98E9FEB7526E}"/>
                  </a:ext>
                </a:extLst>
              </p14:cNvPr>
              <p14:cNvContentPartPr/>
              <p14:nvPr/>
            </p14:nvContentPartPr>
            <p14:xfrm>
              <a:off x="1550478" y="5826805"/>
              <a:ext cx="360" cy="36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37DAD98E-57BD-9974-60EF-98E9FEB7526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96838" y="571880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7E73CAED-D14D-763C-3976-F66911833FA6}"/>
                  </a:ext>
                </a:extLst>
              </p14:cNvPr>
              <p14:cNvContentPartPr/>
              <p14:nvPr/>
            </p14:nvContentPartPr>
            <p14:xfrm>
              <a:off x="1138278" y="5982325"/>
              <a:ext cx="7903800" cy="2487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7E73CAED-D14D-763C-3976-F66911833FA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84638" y="5874685"/>
                <a:ext cx="8011440" cy="46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1654" y="829944"/>
            <a:ext cx="2981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5" dirty="0"/>
              <a:t> </a:t>
            </a:r>
            <a:r>
              <a:rPr spc="-5" dirty="0"/>
              <a:t>IF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936749"/>
            <a:ext cx="8364855" cy="3122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Let’s </a:t>
            </a:r>
            <a:r>
              <a:rPr sz="3200" spc="-15" dirty="0">
                <a:latin typeface="Tahoma"/>
                <a:cs typeface="Tahoma"/>
              </a:rPr>
              <a:t>rate </a:t>
            </a:r>
            <a:r>
              <a:rPr sz="3200" spc="-5" dirty="0">
                <a:latin typeface="Tahoma"/>
                <a:cs typeface="Tahoma"/>
              </a:rPr>
              <a:t>bars by how </a:t>
            </a:r>
            <a:r>
              <a:rPr sz="3200" spc="-10" dirty="0">
                <a:latin typeface="Tahoma"/>
                <a:cs typeface="Tahoma"/>
              </a:rPr>
              <a:t>many </a:t>
            </a:r>
            <a:r>
              <a:rPr sz="3200" spc="-5" dirty="0">
                <a:latin typeface="Tahoma"/>
                <a:cs typeface="Tahoma"/>
              </a:rPr>
              <a:t>customers they  </a:t>
            </a:r>
            <a:r>
              <a:rPr sz="3200" spc="-15" dirty="0">
                <a:latin typeface="Tahoma"/>
                <a:cs typeface="Tahoma"/>
              </a:rPr>
              <a:t>have, </a:t>
            </a:r>
            <a:r>
              <a:rPr sz="3200" spc="-5" dirty="0">
                <a:latin typeface="Tahoma"/>
                <a:cs typeface="Tahoma"/>
              </a:rPr>
              <a:t>based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25" dirty="0">
                <a:solidFill>
                  <a:srgbClr val="CC00CC"/>
                </a:solidFill>
                <a:latin typeface="Tahoma"/>
                <a:cs typeface="Tahoma"/>
              </a:rPr>
              <a:t>Frequents(drinker,bar)</a:t>
            </a:r>
            <a:r>
              <a:rPr sz="3200" spc="-25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&lt;100 customers: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‘unpopular’.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100-199 customers: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40" dirty="0">
                <a:latin typeface="Tahoma"/>
                <a:cs typeface="Tahoma"/>
              </a:rPr>
              <a:t>‘average’.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&gt;= 200 customers: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‘popular’.</a:t>
            </a:r>
            <a:endParaRPr sz="28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Function </a:t>
            </a:r>
            <a:r>
              <a:rPr sz="3200" spc="-10" dirty="0">
                <a:solidFill>
                  <a:srgbClr val="CC6600"/>
                </a:solidFill>
                <a:latin typeface="Tahoma"/>
                <a:cs typeface="Tahoma"/>
              </a:rPr>
              <a:t>Rate(b) </a:t>
            </a:r>
            <a:r>
              <a:rPr sz="3200" spc="-15" dirty="0">
                <a:latin typeface="Tahoma"/>
                <a:cs typeface="Tahoma"/>
              </a:rPr>
              <a:t>rates </a:t>
            </a:r>
            <a:r>
              <a:rPr sz="3200" spc="-5" dirty="0">
                <a:latin typeface="Tahoma"/>
                <a:cs typeface="Tahoma"/>
              </a:rPr>
              <a:t>bar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b.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73530" y="829944"/>
            <a:ext cx="59975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IF</a:t>
            </a:r>
            <a:r>
              <a:rPr spc="-40" dirty="0"/>
              <a:t> </a:t>
            </a:r>
            <a:r>
              <a:rPr spc="-5" dirty="0"/>
              <a:t>(continued)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2739" y="2150109"/>
            <a:ext cx="3350260" cy="902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RETURNS CHAR(10)  </a:t>
            </a:r>
            <a:r>
              <a:rPr sz="2400" spc="-10" dirty="0">
                <a:latin typeface="Tahoma"/>
                <a:cs typeface="Tahoma"/>
              </a:rPr>
              <a:t>DECLARE </a:t>
            </a:r>
            <a:r>
              <a:rPr sz="2400" spc="-5" dirty="0">
                <a:latin typeface="Tahoma"/>
                <a:cs typeface="Tahoma"/>
              </a:rPr>
              <a:t>cust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INTEGER;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239" y="3027679"/>
            <a:ext cx="2076450" cy="90296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latin typeface="Tahoma"/>
                <a:cs typeface="Tahoma"/>
              </a:rPr>
              <a:t>BEGIN</a:t>
            </a:r>
            <a:endParaRPr sz="2400">
              <a:latin typeface="Tahoma"/>
              <a:cs typeface="Tahoma"/>
            </a:endParaRPr>
          </a:p>
          <a:p>
            <a:pPr marL="5842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ahoma"/>
                <a:cs typeface="Tahoma"/>
              </a:rPr>
              <a:t>SET cust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9604" y="3552041"/>
            <a:ext cx="4940300" cy="807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(SELECT COUNT(*) FROM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Frequents</a:t>
            </a:r>
            <a:endParaRPr sz="2400">
              <a:latin typeface="Tahoma"/>
              <a:cs typeface="Tahoma"/>
            </a:endParaRPr>
          </a:p>
          <a:p>
            <a:pPr marL="2540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ahoma"/>
                <a:cs typeface="Tahoma"/>
              </a:rPr>
              <a:t>WHERE bar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5439" y="4429611"/>
            <a:ext cx="5853430" cy="168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IF cust </a:t>
            </a:r>
            <a:r>
              <a:rPr sz="2400" dirty="0">
                <a:latin typeface="Tahoma"/>
                <a:cs typeface="Tahoma"/>
              </a:rPr>
              <a:t>&lt; </a:t>
            </a:r>
            <a:r>
              <a:rPr sz="2400" spc="-5" dirty="0">
                <a:latin typeface="Tahoma"/>
                <a:cs typeface="Tahoma"/>
              </a:rPr>
              <a:t>100 THEN RETURN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’unpopular’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20000"/>
              </a:lnSpc>
            </a:pPr>
            <a:r>
              <a:rPr sz="2400" spc="-5" dirty="0">
                <a:latin typeface="Tahoma"/>
                <a:cs typeface="Tahoma"/>
              </a:rPr>
              <a:t>ELSEIF cust </a:t>
            </a:r>
            <a:r>
              <a:rPr sz="2400" dirty="0">
                <a:latin typeface="Tahoma"/>
                <a:cs typeface="Tahoma"/>
              </a:rPr>
              <a:t>&lt; </a:t>
            </a:r>
            <a:r>
              <a:rPr sz="2400" spc="-5" dirty="0">
                <a:latin typeface="Tahoma"/>
                <a:cs typeface="Tahoma"/>
              </a:rPr>
              <a:t>200 THEN RETURN </a:t>
            </a:r>
            <a:r>
              <a:rPr sz="2400" spc="-15" dirty="0">
                <a:latin typeface="Tahoma"/>
                <a:cs typeface="Tahoma"/>
              </a:rPr>
              <a:t>’average’  </a:t>
            </a:r>
            <a:r>
              <a:rPr sz="2400" spc="-5" dirty="0">
                <a:latin typeface="Tahoma"/>
                <a:cs typeface="Tahoma"/>
              </a:rPr>
              <a:t>ELSE RETURN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’popular’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ahoma"/>
                <a:cs typeface="Tahoma"/>
              </a:rPr>
              <a:t>END IF;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3939" y="6184751"/>
            <a:ext cx="68897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EN</a:t>
            </a:r>
            <a:r>
              <a:rPr sz="2400" dirty="0">
                <a:latin typeface="Tahoma"/>
                <a:cs typeface="Tahoma"/>
              </a:rPr>
              <a:t>D;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24200" y="3422903"/>
            <a:ext cx="5105400" cy="996950"/>
          </a:xfrm>
          <a:custGeom>
            <a:avLst/>
            <a:gdLst/>
            <a:ahLst/>
            <a:cxnLst/>
            <a:rect l="l" t="t" r="r" b="b"/>
            <a:pathLst>
              <a:path w="5105400" h="996950">
                <a:moveTo>
                  <a:pt x="0" y="0"/>
                </a:moveTo>
                <a:lnTo>
                  <a:pt x="5105400" y="0"/>
                </a:lnTo>
                <a:lnTo>
                  <a:pt x="5105400" y="996696"/>
                </a:lnTo>
                <a:lnTo>
                  <a:pt x="0" y="996696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19437" y="3417887"/>
            <a:ext cx="5114925" cy="1006475"/>
          </a:xfrm>
          <a:custGeom>
            <a:avLst/>
            <a:gdLst/>
            <a:ahLst/>
            <a:cxnLst/>
            <a:rect l="l" t="t" r="r" b="b"/>
            <a:pathLst>
              <a:path w="5114925" h="1006475">
                <a:moveTo>
                  <a:pt x="5114925" y="1006475"/>
                </a:moveTo>
                <a:lnTo>
                  <a:pt x="0" y="1006475"/>
                </a:lnTo>
                <a:lnTo>
                  <a:pt x="0" y="0"/>
                </a:lnTo>
                <a:lnTo>
                  <a:pt x="5114925" y="0"/>
                </a:lnTo>
                <a:lnTo>
                  <a:pt x="511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96950"/>
                </a:lnTo>
                <a:lnTo>
                  <a:pt x="4762" y="996950"/>
                </a:lnTo>
                <a:lnTo>
                  <a:pt x="9525" y="1001712"/>
                </a:lnTo>
                <a:lnTo>
                  <a:pt x="5114925" y="1001712"/>
                </a:lnTo>
                <a:lnTo>
                  <a:pt x="5114925" y="1006475"/>
                </a:lnTo>
                <a:close/>
              </a:path>
              <a:path w="5114925" h="100647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114925" h="1006475">
                <a:moveTo>
                  <a:pt x="510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105400" y="4762"/>
                </a:lnTo>
                <a:lnTo>
                  <a:pt x="5105400" y="9525"/>
                </a:lnTo>
                <a:close/>
              </a:path>
              <a:path w="5114925" h="1006475">
                <a:moveTo>
                  <a:pt x="5105400" y="1001712"/>
                </a:moveTo>
                <a:lnTo>
                  <a:pt x="5105400" y="4762"/>
                </a:lnTo>
                <a:lnTo>
                  <a:pt x="5110162" y="9525"/>
                </a:lnTo>
                <a:lnTo>
                  <a:pt x="5114925" y="9525"/>
                </a:lnTo>
                <a:lnTo>
                  <a:pt x="5114925" y="996950"/>
                </a:lnTo>
                <a:lnTo>
                  <a:pt x="5110162" y="996950"/>
                </a:lnTo>
                <a:lnTo>
                  <a:pt x="5105400" y="1001712"/>
                </a:lnTo>
                <a:close/>
              </a:path>
              <a:path w="5114925" h="1006475">
                <a:moveTo>
                  <a:pt x="5114925" y="9525"/>
                </a:moveTo>
                <a:lnTo>
                  <a:pt x="5110162" y="9525"/>
                </a:lnTo>
                <a:lnTo>
                  <a:pt x="5105400" y="4762"/>
                </a:lnTo>
                <a:lnTo>
                  <a:pt x="5114925" y="4762"/>
                </a:lnTo>
                <a:lnTo>
                  <a:pt x="5114925" y="9525"/>
                </a:lnTo>
                <a:close/>
              </a:path>
              <a:path w="5114925" h="1006475">
                <a:moveTo>
                  <a:pt x="9525" y="1001712"/>
                </a:moveTo>
                <a:lnTo>
                  <a:pt x="4762" y="996950"/>
                </a:lnTo>
                <a:lnTo>
                  <a:pt x="9525" y="996950"/>
                </a:lnTo>
                <a:lnTo>
                  <a:pt x="9525" y="1001712"/>
                </a:lnTo>
                <a:close/>
              </a:path>
              <a:path w="5114925" h="1006475">
                <a:moveTo>
                  <a:pt x="5105400" y="1001712"/>
                </a:moveTo>
                <a:lnTo>
                  <a:pt x="9525" y="1001712"/>
                </a:lnTo>
                <a:lnTo>
                  <a:pt x="9525" y="996950"/>
                </a:lnTo>
                <a:lnTo>
                  <a:pt x="5105400" y="996950"/>
                </a:lnTo>
                <a:lnTo>
                  <a:pt x="5105400" y="1001712"/>
                </a:lnTo>
                <a:close/>
              </a:path>
              <a:path w="5114925" h="1006475">
                <a:moveTo>
                  <a:pt x="5114925" y="1001712"/>
                </a:moveTo>
                <a:lnTo>
                  <a:pt x="5105400" y="1001712"/>
                </a:lnTo>
                <a:lnTo>
                  <a:pt x="5110162" y="996950"/>
                </a:lnTo>
                <a:lnTo>
                  <a:pt x="5114925" y="996950"/>
                </a:lnTo>
                <a:lnTo>
                  <a:pt x="5114925" y="10017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8340" y="1784984"/>
            <a:ext cx="73704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4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CREATE </a:t>
            </a:r>
            <a:r>
              <a:rPr sz="2400" spc="-5" dirty="0">
                <a:latin typeface="Tahoma"/>
                <a:cs typeface="Tahoma"/>
              </a:rPr>
              <a:t>FUNCTION </a:t>
            </a:r>
            <a:r>
              <a:rPr sz="2400" spc="-10" dirty="0">
                <a:latin typeface="Tahoma"/>
                <a:cs typeface="Tahoma"/>
              </a:rPr>
              <a:t>Rate </a:t>
            </a:r>
            <a:r>
              <a:rPr sz="2400" spc="-5" dirty="0">
                <a:latin typeface="Tahoma"/>
                <a:cs typeface="Tahoma"/>
              </a:rPr>
              <a:t>(IN </a:t>
            </a:r>
            <a:r>
              <a:rPr sz="2400" dirty="0">
                <a:latin typeface="Tahoma"/>
                <a:cs typeface="Tahoma"/>
              </a:rPr>
              <a:t>b </a:t>
            </a:r>
            <a:r>
              <a:rPr sz="2400" spc="-5" dirty="0">
                <a:latin typeface="Tahoma"/>
                <a:cs typeface="Tahoma"/>
              </a:rPr>
              <a:t>CHAR(20)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  <a:p>
            <a:pPr marR="5080" algn="r">
              <a:lnSpc>
                <a:spcPts val="2160"/>
              </a:lnSpc>
            </a:pPr>
            <a:r>
              <a:rPr sz="2000" spc="-5" dirty="0">
                <a:latin typeface="Tahoma"/>
                <a:cs typeface="Tahoma"/>
              </a:rPr>
              <a:t>Number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of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44665" y="2393949"/>
            <a:ext cx="147193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customers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of  bar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67400" y="2587434"/>
            <a:ext cx="842010" cy="842010"/>
          </a:xfrm>
          <a:custGeom>
            <a:avLst/>
            <a:gdLst/>
            <a:ahLst/>
            <a:cxnLst/>
            <a:rect l="l" t="t" r="r" b="b"/>
            <a:pathLst>
              <a:path w="842009" h="842010">
                <a:moveTo>
                  <a:pt x="57245" y="791051"/>
                </a:moveTo>
                <a:lnTo>
                  <a:pt x="50514" y="784320"/>
                </a:lnTo>
                <a:lnTo>
                  <a:pt x="834834" y="0"/>
                </a:lnTo>
                <a:lnTo>
                  <a:pt x="841565" y="6730"/>
                </a:lnTo>
                <a:lnTo>
                  <a:pt x="57245" y="791051"/>
                </a:lnTo>
                <a:close/>
              </a:path>
              <a:path w="842009" h="842010">
                <a:moveTo>
                  <a:pt x="0" y="841565"/>
                </a:moveTo>
                <a:lnTo>
                  <a:pt x="26936" y="760742"/>
                </a:lnTo>
                <a:lnTo>
                  <a:pt x="50514" y="784320"/>
                </a:lnTo>
                <a:lnTo>
                  <a:pt x="37045" y="797788"/>
                </a:lnTo>
                <a:lnTo>
                  <a:pt x="43776" y="804519"/>
                </a:lnTo>
                <a:lnTo>
                  <a:pt x="70713" y="804519"/>
                </a:lnTo>
                <a:lnTo>
                  <a:pt x="80822" y="814628"/>
                </a:lnTo>
                <a:lnTo>
                  <a:pt x="0" y="841565"/>
                </a:lnTo>
                <a:close/>
              </a:path>
              <a:path w="842009" h="842010">
                <a:moveTo>
                  <a:pt x="43776" y="804519"/>
                </a:moveTo>
                <a:lnTo>
                  <a:pt x="37045" y="797788"/>
                </a:lnTo>
                <a:lnTo>
                  <a:pt x="50514" y="784320"/>
                </a:lnTo>
                <a:lnTo>
                  <a:pt x="57245" y="791051"/>
                </a:lnTo>
                <a:lnTo>
                  <a:pt x="43776" y="804519"/>
                </a:lnTo>
                <a:close/>
              </a:path>
              <a:path w="842009" h="842010">
                <a:moveTo>
                  <a:pt x="70713" y="804519"/>
                </a:moveTo>
                <a:lnTo>
                  <a:pt x="43776" y="804519"/>
                </a:lnTo>
                <a:lnTo>
                  <a:pt x="57245" y="791051"/>
                </a:lnTo>
                <a:lnTo>
                  <a:pt x="70713" y="8045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90600" y="6172200"/>
            <a:ext cx="762000" cy="457200"/>
          </a:xfrm>
          <a:custGeom>
            <a:avLst/>
            <a:gdLst/>
            <a:ahLst/>
            <a:cxnLst/>
            <a:rect l="l" t="t" r="r" b="b"/>
            <a:pathLst>
              <a:path w="762000" h="457200">
                <a:moveTo>
                  <a:pt x="0" y="0"/>
                </a:moveTo>
                <a:lnTo>
                  <a:pt x="762000" y="0"/>
                </a:lnTo>
                <a:lnTo>
                  <a:pt x="7620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99CC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85837" y="6167437"/>
            <a:ext cx="771525" cy="466725"/>
          </a:xfrm>
          <a:custGeom>
            <a:avLst/>
            <a:gdLst/>
            <a:ahLst/>
            <a:cxnLst/>
            <a:rect l="l" t="t" r="r" b="b"/>
            <a:pathLst>
              <a:path w="771525" h="466725">
                <a:moveTo>
                  <a:pt x="7715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771525" y="0"/>
                </a:lnTo>
                <a:lnTo>
                  <a:pt x="771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771525" y="461962"/>
                </a:lnTo>
                <a:lnTo>
                  <a:pt x="771525" y="466725"/>
                </a:lnTo>
                <a:close/>
              </a:path>
              <a:path w="7715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71525" h="466725">
                <a:moveTo>
                  <a:pt x="762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62000" y="4762"/>
                </a:lnTo>
                <a:lnTo>
                  <a:pt x="762000" y="9525"/>
                </a:lnTo>
                <a:close/>
              </a:path>
              <a:path w="771525" h="466725">
                <a:moveTo>
                  <a:pt x="762000" y="461962"/>
                </a:moveTo>
                <a:lnTo>
                  <a:pt x="762000" y="4762"/>
                </a:lnTo>
                <a:lnTo>
                  <a:pt x="766762" y="9525"/>
                </a:lnTo>
                <a:lnTo>
                  <a:pt x="771525" y="9525"/>
                </a:lnTo>
                <a:lnTo>
                  <a:pt x="771525" y="457200"/>
                </a:lnTo>
                <a:lnTo>
                  <a:pt x="766762" y="457200"/>
                </a:lnTo>
                <a:lnTo>
                  <a:pt x="762000" y="461962"/>
                </a:lnTo>
                <a:close/>
              </a:path>
              <a:path w="771525" h="466725">
                <a:moveTo>
                  <a:pt x="771525" y="9525"/>
                </a:moveTo>
                <a:lnTo>
                  <a:pt x="766762" y="9525"/>
                </a:lnTo>
                <a:lnTo>
                  <a:pt x="762000" y="4762"/>
                </a:lnTo>
                <a:lnTo>
                  <a:pt x="771525" y="4762"/>
                </a:lnTo>
                <a:lnTo>
                  <a:pt x="771525" y="9525"/>
                </a:lnTo>
                <a:close/>
              </a:path>
              <a:path w="7715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771525" h="466725">
                <a:moveTo>
                  <a:pt x="7620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762000" y="457200"/>
                </a:lnTo>
                <a:lnTo>
                  <a:pt x="762000" y="461962"/>
                </a:lnTo>
                <a:close/>
              </a:path>
              <a:path w="771525" h="466725">
                <a:moveTo>
                  <a:pt x="771525" y="461962"/>
                </a:moveTo>
                <a:lnTo>
                  <a:pt x="762000" y="461962"/>
                </a:lnTo>
                <a:lnTo>
                  <a:pt x="766762" y="457200"/>
                </a:lnTo>
                <a:lnTo>
                  <a:pt x="771525" y="457200"/>
                </a:lnTo>
                <a:lnTo>
                  <a:pt x="7715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15665" y="6134100"/>
            <a:ext cx="29673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ahoma"/>
                <a:cs typeface="Tahoma"/>
              </a:rPr>
              <a:t>Return </a:t>
            </a:r>
            <a:r>
              <a:rPr sz="2000" spc="-5" dirty="0">
                <a:latin typeface="Tahoma"/>
                <a:cs typeface="Tahoma"/>
              </a:rPr>
              <a:t>occurs here, not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52600" y="6366548"/>
            <a:ext cx="1524635" cy="115570"/>
          </a:xfrm>
          <a:custGeom>
            <a:avLst/>
            <a:gdLst/>
            <a:ahLst/>
            <a:cxnLst/>
            <a:rect l="l" t="t" r="r" b="b"/>
            <a:pathLst>
              <a:path w="1524635" h="115570">
                <a:moveTo>
                  <a:pt x="74206" y="76111"/>
                </a:moveTo>
                <a:lnTo>
                  <a:pt x="0" y="34251"/>
                </a:lnTo>
                <a:lnTo>
                  <a:pt x="78003" y="0"/>
                </a:lnTo>
                <a:lnTo>
                  <a:pt x="76389" y="32346"/>
                </a:lnTo>
                <a:lnTo>
                  <a:pt x="57315" y="32346"/>
                </a:lnTo>
                <a:lnTo>
                  <a:pt x="56845" y="41859"/>
                </a:lnTo>
                <a:lnTo>
                  <a:pt x="75867" y="42810"/>
                </a:lnTo>
                <a:lnTo>
                  <a:pt x="74206" y="76111"/>
                </a:lnTo>
                <a:close/>
              </a:path>
              <a:path w="1524635" h="115570">
                <a:moveTo>
                  <a:pt x="75867" y="42810"/>
                </a:moveTo>
                <a:lnTo>
                  <a:pt x="56845" y="41859"/>
                </a:lnTo>
                <a:lnTo>
                  <a:pt x="57315" y="32346"/>
                </a:lnTo>
                <a:lnTo>
                  <a:pt x="76342" y="33298"/>
                </a:lnTo>
                <a:lnTo>
                  <a:pt x="75867" y="42810"/>
                </a:lnTo>
                <a:close/>
              </a:path>
              <a:path w="1524635" h="115570">
                <a:moveTo>
                  <a:pt x="76342" y="33298"/>
                </a:moveTo>
                <a:lnTo>
                  <a:pt x="57315" y="32346"/>
                </a:lnTo>
                <a:lnTo>
                  <a:pt x="76389" y="32346"/>
                </a:lnTo>
                <a:lnTo>
                  <a:pt x="76342" y="33298"/>
                </a:lnTo>
                <a:close/>
              </a:path>
              <a:path w="1524635" h="115570">
                <a:moveTo>
                  <a:pt x="1523758" y="115214"/>
                </a:moveTo>
                <a:lnTo>
                  <a:pt x="75867" y="42810"/>
                </a:lnTo>
                <a:lnTo>
                  <a:pt x="76342" y="33298"/>
                </a:lnTo>
                <a:lnTo>
                  <a:pt x="1524241" y="105689"/>
                </a:lnTo>
                <a:lnTo>
                  <a:pt x="1523758" y="1152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24000" y="4419600"/>
            <a:ext cx="6019800" cy="1676400"/>
          </a:xfrm>
          <a:custGeom>
            <a:avLst/>
            <a:gdLst/>
            <a:ahLst/>
            <a:cxnLst/>
            <a:rect l="l" t="t" r="r" b="b"/>
            <a:pathLst>
              <a:path w="6019800" h="1676400">
                <a:moveTo>
                  <a:pt x="0" y="0"/>
                </a:moveTo>
                <a:lnTo>
                  <a:pt x="6019800" y="0"/>
                </a:lnTo>
                <a:lnTo>
                  <a:pt x="60198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19237" y="4414837"/>
            <a:ext cx="6029325" cy="1685925"/>
          </a:xfrm>
          <a:custGeom>
            <a:avLst/>
            <a:gdLst/>
            <a:ahLst/>
            <a:cxnLst/>
            <a:rect l="l" t="t" r="r" b="b"/>
            <a:pathLst>
              <a:path w="6029325" h="1685925">
                <a:moveTo>
                  <a:pt x="6029325" y="1685925"/>
                </a:moveTo>
                <a:lnTo>
                  <a:pt x="0" y="1685925"/>
                </a:lnTo>
                <a:lnTo>
                  <a:pt x="0" y="0"/>
                </a:lnTo>
                <a:lnTo>
                  <a:pt x="6029325" y="0"/>
                </a:lnTo>
                <a:lnTo>
                  <a:pt x="6029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76400"/>
                </a:lnTo>
                <a:lnTo>
                  <a:pt x="4762" y="1676400"/>
                </a:lnTo>
                <a:lnTo>
                  <a:pt x="9525" y="1681162"/>
                </a:lnTo>
                <a:lnTo>
                  <a:pt x="6029325" y="1681162"/>
                </a:lnTo>
                <a:lnTo>
                  <a:pt x="6029325" y="1685925"/>
                </a:lnTo>
                <a:close/>
              </a:path>
              <a:path w="6029325" h="1685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029325" h="1685925">
                <a:moveTo>
                  <a:pt x="6019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19800" y="4762"/>
                </a:lnTo>
                <a:lnTo>
                  <a:pt x="6019800" y="9525"/>
                </a:lnTo>
                <a:close/>
              </a:path>
              <a:path w="6029325" h="1685925">
                <a:moveTo>
                  <a:pt x="6019800" y="1681162"/>
                </a:moveTo>
                <a:lnTo>
                  <a:pt x="6019800" y="4762"/>
                </a:lnTo>
                <a:lnTo>
                  <a:pt x="6024562" y="9525"/>
                </a:lnTo>
                <a:lnTo>
                  <a:pt x="6029325" y="9525"/>
                </a:lnTo>
                <a:lnTo>
                  <a:pt x="6029325" y="1676400"/>
                </a:lnTo>
                <a:lnTo>
                  <a:pt x="6024562" y="1676400"/>
                </a:lnTo>
                <a:lnTo>
                  <a:pt x="6019800" y="1681162"/>
                </a:lnTo>
                <a:close/>
              </a:path>
              <a:path w="6029325" h="1685925">
                <a:moveTo>
                  <a:pt x="6029325" y="9525"/>
                </a:moveTo>
                <a:lnTo>
                  <a:pt x="6024562" y="9525"/>
                </a:lnTo>
                <a:lnTo>
                  <a:pt x="6019800" y="4762"/>
                </a:lnTo>
                <a:lnTo>
                  <a:pt x="6029325" y="4762"/>
                </a:lnTo>
                <a:lnTo>
                  <a:pt x="6029325" y="9525"/>
                </a:lnTo>
                <a:close/>
              </a:path>
              <a:path w="6029325" h="1685925">
                <a:moveTo>
                  <a:pt x="9525" y="1681162"/>
                </a:moveTo>
                <a:lnTo>
                  <a:pt x="4762" y="1676400"/>
                </a:lnTo>
                <a:lnTo>
                  <a:pt x="9525" y="1676400"/>
                </a:lnTo>
                <a:lnTo>
                  <a:pt x="9525" y="1681162"/>
                </a:lnTo>
                <a:close/>
              </a:path>
              <a:path w="6029325" h="1685925">
                <a:moveTo>
                  <a:pt x="6019800" y="1681162"/>
                </a:moveTo>
                <a:lnTo>
                  <a:pt x="9525" y="1681162"/>
                </a:lnTo>
                <a:lnTo>
                  <a:pt x="9525" y="1676400"/>
                </a:lnTo>
                <a:lnTo>
                  <a:pt x="6019800" y="1676400"/>
                </a:lnTo>
                <a:lnTo>
                  <a:pt x="6019800" y="1681162"/>
                </a:lnTo>
                <a:close/>
              </a:path>
              <a:path w="6029325" h="1685925">
                <a:moveTo>
                  <a:pt x="6029325" y="1681162"/>
                </a:moveTo>
                <a:lnTo>
                  <a:pt x="6019800" y="1681162"/>
                </a:lnTo>
                <a:lnTo>
                  <a:pt x="6024562" y="1676400"/>
                </a:lnTo>
                <a:lnTo>
                  <a:pt x="6029325" y="1676400"/>
                </a:lnTo>
                <a:lnTo>
                  <a:pt x="6029325" y="1681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608252" y="5746750"/>
            <a:ext cx="8026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Nested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08252" y="6051550"/>
            <a:ext cx="14579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IF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statement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543800" y="5257800"/>
            <a:ext cx="461009" cy="461009"/>
          </a:xfrm>
          <a:custGeom>
            <a:avLst/>
            <a:gdLst/>
            <a:ahLst/>
            <a:cxnLst/>
            <a:rect l="l" t="t" r="r" b="b"/>
            <a:pathLst>
              <a:path w="461009" h="461010">
                <a:moveTo>
                  <a:pt x="26936" y="80822"/>
                </a:moveTo>
                <a:lnTo>
                  <a:pt x="0" y="0"/>
                </a:lnTo>
                <a:lnTo>
                  <a:pt x="80822" y="26936"/>
                </a:lnTo>
                <a:lnTo>
                  <a:pt x="70713" y="37045"/>
                </a:lnTo>
                <a:lnTo>
                  <a:pt x="43776" y="37045"/>
                </a:lnTo>
                <a:lnTo>
                  <a:pt x="37045" y="43776"/>
                </a:lnTo>
                <a:lnTo>
                  <a:pt x="50514" y="57245"/>
                </a:lnTo>
                <a:lnTo>
                  <a:pt x="26936" y="80822"/>
                </a:lnTo>
                <a:close/>
              </a:path>
              <a:path w="461009" h="461010">
                <a:moveTo>
                  <a:pt x="50514" y="57245"/>
                </a:moveTo>
                <a:lnTo>
                  <a:pt x="37045" y="43776"/>
                </a:lnTo>
                <a:lnTo>
                  <a:pt x="43776" y="37045"/>
                </a:lnTo>
                <a:lnTo>
                  <a:pt x="57245" y="50514"/>
                </a:lnTo>
                <a:lnTo>
                  <a:pt x="50514" y="57245"/>
                </a:lnTo>
                <a:close/>
              </a:path>
              <a:path w="461009" h="461010">
                <a:moveTo>
                  <a:pt x="57245" y="50514"/>
                </a:moveTo>
                <a:lnTo>
                  <a:pt x="43776" y="37045"/>
                </a:lnTo>
                <a:lnTo>
                  <a:pt x="70713" y="37045"/>
                </a:lnTo>
                <a:lnTo>
                  <a:pt x="57245" y="50514"/>
                </a:lnTo>
                <a:close/>
              </a:path>
              <a:path w="461009" h="461010">
                <a:moveTo>
                  <a:pt x="453834" y="460565"/>
                </a:moveTo>
                <a:lnTo>
                  <a:pt x="50514" y="57245"/>
                </a:lnTo>
                <a:lnTo>
                  <a:pt x="57245" y="50514"/>
                </a:lnTo>
                <a:lnTo>
                  <a:pt x="460565" y="453834"/>
                </a:lnTo>
                <a:lnTo>
                  <a:pt x="453834" y="4605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415665" y="6438775"/>
            <a:ext cx="3515995" cy="333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one of the RETURN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statements</a:t>
            </a:r>
            <a:endParaRPr sz="20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820B6B63-BDE5-4ACA-C529-6DDB861AB3C0}"/>
                  </a:ext>
                </a:extLst>
              </p14:cNvPr>
              <p14:cNvContentPartPr/>
              <p14:nvPr/>
            </p14:nvContentPartPr>
            <p14:xfrm>
              <a:off x="1647424" y="4579765"/>
              <a:ext cx="316080" cy="6408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820B6B63-BDE5-4ACA-C529-6DDB861AB3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3784" y="4472125"/>
                <a:ext cx="42372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21995D01-4069-F079-E209-43028F6D39B9}"/>
                  </a:ext>
                </a:extLst>
              </p14:cNvPr>
              <p14:cNvContentPartPr/>
              <p14:nvPr/>
            </p14:nvContentPartPr>
            <p14:xfrm>
              <a:off x="3683944" y="4589485"/>
              <a:ext cx="779400" cy="4536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21995D01-4069-F079-E209-43028F6D39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30304" y="4481485"/>
                <a:ext cx="88704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9E3E4180-5054-5028-5654-7138DF9B6064}"/>
                  </a:ext>
                </a:extLst>
              </p14:cNvPr>
              <p14:cNvContentPartPr/>
              <p14:nvPr/>
            </p14:nvContentPartPr>
            <p14:xfrm>
              <a:off x="1693864" y="4966405"/>
              <a:ext cx="947880" cy="10800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9E3E4180-5054-5028-5654-7138DF9B60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0224" y="4858765"/>
                <a:ext cx="105552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113F8D46-C55A-614C-0311-E93A4164697B}"/>
                  </a:ext>
                </a:extLst>
              </p14:cNvPr>
              <p14:cNvContentPartPr/>
              <p14:nvPr/>
            </p14:nvContentPartPr>
            <p14:xfrm>
              <a:off x="4258144" y="5000245"/>
              <a:ext cx="588960" cy="15444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113F8D46-C55A-614C-0311-E93A416469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04144" y="4892605"/>
                <a:ext cx="69660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47376884-59D1-1ABA-57B4-26CDFDD39B5B}"/>
                  </a:ext>
                </a:extLst>
              </p14:cNvPr>
              <p14:cNvContentPartPr/>
              <p14:nvPr/>
            </p14:nvContentPartPr>
            <p14:xfrm>
              <a:off x="1523584" y="5389765"/>
              <a:ext cx="591480" cy="10620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47376884-59D1-1ABA-57B4-26CDFDD39B5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69944" y="5281765"/>
                <a:ext cx="69912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9D92E566-CECE-5C4D-0547-E57C7017BB64}"/>
                  </a:ext>
                </a:extLst>
              </p14:cNvPr>
              <p14:cNvContentPartPr/>
              <p14:nvPr/>
            </p14:nvContentPartPr>
            <p14:xfrm>
              <a:off x="1649224" y="5897365"/>
              <a:ext cx="924840" cy="3780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9D92E566-CECE-5C4D-0547-E57C7017BB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95224" y="5789365"/>
                <a:ext cx="1032480" cy="25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7304" y="829944"/>
            <a:ext cx="1469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Loop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7826"/>
            <a:ext cx="6810375" cy="284988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5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Basic</a:t>
            </a:r>
            <a:r>
              <a:rPr sz="3200" spc="-10" dirty="0">
                <a:latin typeface="Tahoma"/>
                <a:cs typeface="Tahoma"/>
              </a:rPr>
              <a:t> form: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755"/>
              </a:spcBef>
            </a:pPr>
            <a:r>
              <a:rPr sz="3200" spc="-5" dirty="0">
                <a:latin typeface="Tahoma"/>
                <a:cs typeface="Tahoma"/>
              </a:rPr>
              <a:t>&lt;loop name&gt;: </a:t>
            </a:r>
            <a:r>
              <a:rPr sz="3200" spc="-10" dirty="0">
                <a:latin typeface="Tahoma"/>
                <a:cs typeface="Tahoma"/>
              </a:rPr>
              <a:t>LOOP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&lt;statements&gt;</a:t>
            </a:r>
            <a:endParaRPr sz="3200">
              <a:latin typeface="Tahoma"/>
              <a:cs typeface="Tahoma"/>
            </a:endParaRPr>
          </a:p>
          <a:p>
            <a:pPr marL="30099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END</a:t>
            </a:r>
            <a:r>
              <a:rPr sz="3200" spc="-10" dirty="0">
                <a:latin typeface="Tahoma"/>
                <a:cs typeface="Tahoma"/>
              </a:rPr>
              <a:t> LOOP;</a:t>
            </a:r>
            <a:endParaRPr sz="3200">
              <a:latin typeface="Tahoma"/>
              <a:cs typeface="Tahoma"/>
            </a:endParaRPr>
          </a:p>
          <a:p>
            <a:pPr marL="415290" marR="2141220" indent="-415290">
              <a:lnSpc>
                <a:spcPct val="119700"/>
              </a:lnSpc>
              <a:spcBef>
                <a:spcPts val="1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Exit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loop by:  </a:t>
            </a:r>
            <a:r>
              <a:rPr sz="3200" spc="-20" dirty="0">
                <a:latin typeface="Tahoma"/>
                <a:cs typeface="Tahoma"/>
              </a:rPr>
              <a:t>LEAVE </a:t>
            </a:r>
            <a:r>
              <a:rPr sz="3200" spc="-5" dirty="0">
                <a:latin typeface="Tahoma"/>
                <a:cs typeface="Tahoma"/>
              </a:rPr>
              <a:t>&lt;loop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name&gt;</a:t>
            </a:r>
            <a:endParaRPr sz="32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D4E40DAA-A9CC-AAC1-7ECC-762E91C65A78}"/>
                  </a:ext>
                </a:extLst>
              </p14:cNvPr>
              <p14:cNvContentPartPr/>
              <p14:nvPr/>
            </p14:nvContentPartPr>
            <p14:xfrm>
              <a:off x="1237059" y="2777245"/>
              <a:ext cx="6198120" cy="20808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D4E40DAA-A9CC-AAC1-7ECC-762E91C65A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3419" y="2669605"/>
                <a:ext cx="630576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4068B75A-A3F8-FB95-1C31-A141A4678257}"/>
                  </a:ext>
                </a:extLst>
              </p14:cNvPr>
              <p14:cNvContentPartPr/>
              <p14:nvPr/>
            </p14:nvContentPartPr>
            <p14:xfrm>
              <a:off x="3514059" y="3451165"/>
              <a:ext cx="2205720" cy="1224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4068B75A-A3F8-FB95-1C31-A141A46782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60419" y="3343525"/>
                <a:ext cx="231336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14CA9DFD-4A37-F624-4DDC-425E94CC810F}"/>
                  </a:ext>
                </a:extLst>
              </p14:cNvPr>
              <p14:cNvContentPartPr/>
              <p14:nvPr/>
            </p14:nvContentPartPr>
            <p14:xfrm>
              <a:off x="3549699" y="3325525"/>
              <a:ext cx="2442600" cy="108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14CA9DFD-4A37-F624-4DDC-425E94CC810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96059" y="3217885"/>
                <a:ext cx="255024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6B9882D6-8BE3-8BAE-387A-6470FD3689C2}"/>
                  </a:ext>
                </a:extLst>
              </p14:cNvPr>
              <p14:cNvContentPartPr/>
              <p14:nvPr/>
            </p14:nvContentPartPr>
            <p14:xfrm>
              <a:off x="1183419" y="4401565"/>
              <a:ext cx="3571920" cy="24516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6B9882D6-8BE3-8BAE-387A-6470FD3689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9419" y="4293925"/>
                <a:ext cx="3679560" cy="46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6230" y="829944"/>
            <a:ext cx="5971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Exiting </a:t>
            </a:r>
            <a:r>
              <a:rPr dirty="0"/>
              <a:t>a</a:t>
            </a:r>
            <a:r>
              <a:rPr spc="-40" dirty="0"/>
              <a:t> </a:t>
            </a:r>
            <a:r>
              <a:rPr spc="-5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7826"/>
            <a:ext cx="2275205" cy="119253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3200" spc="-5" dirty="0">
                <a:latin typeface="Tahoma"/>
                <a:cs typeface="Tahoma"/>
              </a:rPr>
              <a:t>loop1: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LOOP</a:t>
            </a:r>
            <a:endParaRPr sz="32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755"/>
              </a:spcBef>
            </a:pPr>
            <a:r>
              <a:rPr sz="3200" dirty="0">
                <a:latin typeface="Tahoma"/>
                <a:cs typeface="Tahoma"/>
              </a:rPr>
              <a:t>. .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31740" y="3308350"/>
            <a:ext cx="369125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If this statement is executed </a:t>
            </a:r>
            <a:r>
              <a:rPr sz="2000" dirty="0">
                <a:latin typeface="Tahoma"/>
                <a:cs typeface="Tahoma"/>
              </a:rPr>
              <a:t>. .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91000" y="3467100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6858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685800" h="76200">
                <a:moveTo>
                  <a:pt x="6858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685800" y="33337"/>
                </a:lnTo>
                <a:lnTo>
                  <a:pt x="6858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4540" y="3084956"/>
            <a:ext cx="4379595" cy="231330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926465">
              <a:lnSpc>
                <a:spcPct val="100000"/>
              </a:lnSpc>
              <a:spcBef>
                <a:spcPts val="865"/>
              </a:spcBef>
            </a:pPr>
            <a:r>
              <a:rPr sz="3200" spc="-20" dirty="0">
                <a:latin typeface="Tahoma"/>
                <a:cs typeface="Tahoma"/>
              </a:rPr>
              <a:t>LEAVE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loop1;</a:t>
            </a:r>
            <a:endParaRPr sz="32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. .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3200" spc="-5" dirty="0">
                <a:latin typeface="Tahoma"/>
                <a:cs typeface="Tahoma"/>
              </a:rPr>
              <a:t>END</a:t>
            </a:r>
            <a:r>
              <a:rPr sz="3200" spc="-10" dirty="0">
                <a:latin typeface="Tahoma"/>
                <a:cs typeface="Tahoma"/>
              </a:rPr>
              <a:t> LOOP;</a:t>
            </a:r>
            <a:endParaRPr sz="3200">
              <a:latin typeface="Tahoma"/>
              <a:cs typeface="Tahoma"/>
            </a:endParaRPr>
          </a:p>
          <a:p>
            <a:pPr marL="1901825">
              <a:lnSpc>
                <a:spcPct val="100000"/>
              </a:lnSpc>
              <a:spcBef>
                <a:spcPts val="1790"/>
              </a:spcBef>
            </a:pPr>
            <a:r>
              <a:rPr sz="2000" spc="-5" dirty="0">
                <a:latin typeface="Tahoma"/>
                <a:cs typeface="Tahoma"/>
              </a:rPr>
              <a:t>Control winds </a:t>
            </a:r>
            <a:r>
              <a:rPr sz="2000" dirty="0">
                <a:latin typeface="Tahoma"/>
                <a:cs typeface="Tahoma"/>
              </a:rPr>
              <a:t>up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here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5219700"/>
            <a:ext cx="1600200" cy="76200"/>
          </a:xfrm>
          <a:custGeom>
            <a:avLst/>
            <a:gdLst/>
            <a:ahLst/>
            <a:cxnLst/>
            <a:rect l="l" t="t" r="r" b="b"/>
            <a:pathLst>
              <a:path w="1600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16002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1600200" h="76200">
                <a:moveTo>
                  <a:pt x="16002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1600200" y="33337"/>
                </a:lnTo>
                <a:lnTo>
                  <a:pt x="16002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1879" y="829944"/>
            <a:ext cx="4460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Other Loop</a:t>
            </a:r>
            <a:r>
              <a:rPr spc="-60" dirty="0"/>
              <a:t> </a:t>
            </a:r>
            <a:r>
              <a:rPr spc="-25" dirty="0"/>
              <a:t>Forms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4516755" cy="304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5290" marR="319405" indent="-4152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WHILE &lt;condition&gt;  </a:t>
            </a:r>
            <a:r>
              <a:rPr sz="3200" dirty="0">
                <a:latin typeface="Tahoma"/>
                <a:cs typeface="Tahoma"/>
              </a:rPr>
              <a:t>DO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&lt;statements&gt;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END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WHILE;</a:t>
            </a:r>
            <a:endParaRPr sz="3200">
              <a:latin typeface="Tahoma"/>
              <a:cs typeface="Tahoma"/>
            </a:endParaRPr>
          </a:p>
          <a:p>
            <a:pPr marL="415290" marR="5080" indent="-4152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5" dirty="0">
                <a:latin typeface="Tahoma"/>
                <a:cs typeface="Tahoma"/>
              </a:rPr>
              <a:t>REPEAT </a:t>
            </a:r>
            <a:r>
              <a:rPr sz="3200" spc="-5" dirty="0">
                <a:latin typeface="Tahoma"/>
                <a:cs typeface="Tahoma"/>
              </a:rPr>
              <a:t>&lt;statements&gt;  UNTIL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&lt;condition&gt;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END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REPEAT;</a:t>
            </a:r>
            <a:endParaRPr sz="32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4B1877E4-6546-8F5A-FFBA-0CA3465D5D42}"/>
                  </a:ext>
                </a:extLst>
              </p14:cNvPr>
              <p14:cNvContentPartPr/>
              <p14:nvPr/>
            </p14:nvContentPartPr>
            <p14:xfrm>
              <a:off x="1272699" y="2107645"/>
              <a:ext cx="1174320" cy="1555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4B1877E4-6546-8F5A-FFBA-0CA3465D5D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8699" y="2000005"/>
                <a:ext cx="128196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A90EA943-0ABE-7A01-8661-0C28DC7A3061}"/>
                  </a:ext>
                </a:extLst>
              </p14:cNvPr>
              <p14:cNvContentPartPr/>
              <p14:nvPr/>
            </p14:nvContentPartPr>
            <p14:xfrm>
              <a:off x="1267659" y="2668885"/>
              <a:ext cx="499680" cy="1515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A90EA943-0ABE-7A01-8661-0C28DC7A30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4019" y="2561245"/>
                <a:ext cx="60732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24E00BE4-58D8-15F6-6569-4710694C5457}"/>
                  </a:ext>
                </a:extLst>
              </p14:cNvPr>
              <p14:cNvContentPartPr/>
              <p14:nvPr/>
            </p14:nvContentPartPr>
            <p14:xfrm>
              <a:off x="1228059" y="3238045"/>
              <a:ext cx="2214720" cy="1918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24E00BE4-58D8-15F6-6569-4710694C54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74059" y="3130405"/>
                <a:ext cx="232236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6AA7F3F7-5A8E-442B-81EF-4BFF4163ABD0}"/>
                  </a:ext>
                </a:extLst>
              </p14:cNvPr>
              <p14:cNvContentPartPr/>
              <p14:nvPr/>
            </p14:nvContentPartPr>
            <p14:xfrm>
              <a:off x="1263699" y="3765085"/>
              <a:ext cx="1318680" cy="15408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6AA7F3F7-5A8E-442B-81EF-4BFF4163ABD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09699" y="3657085"/>
                <a:ext cx="142632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2C5A2262-5E84-4E6E-0E94-95B5C7F31FF1}"/>
                  </a:ext>
                </a:extLst>
              </p14:cNvPr>
              <p14:cNvContentPartPr/>
              <p14:nvPr/>
            </p14:nvContentPartPr>
            <p14:xfrm>
              <a:off x="1282059" y="4392565"/>
              <a:ext cx="828360" cy="8244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2C5A2262-5E84-4E6E-0E94-95B5C7F31FF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28059" y="4284565"/>
                <a:ext cx="93600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C5F603BD-8D59-6D36-6079-997E5C5FC354}"/>
                  </a:ext>
                </a:extLst>
              </p14:cNvPr>
              <p14:cNvContentPartPr/>
              <p14:nvPr/>
            </p14:nvContentPartPr>
            <p14:xfrm>
              <a:off x="1147059" y="4826365"/>
              <a:ext cx="2220480" cy="11376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C5F603BD-8D59-6D36-6079-997E5C5FC35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93419" y="4718725"/>
                <a:ext cx="2328120" cy="32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6480" y="552132"/>
            <a:ext cx="70827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Executing Stored</a:t>
            </a:r>
            <a:r>
              <a:rPr spc="-30" dirty="0"/>
              <a:t> </a:t>
            </a:r>
            <a:r>
              <a:rPr spc="-10" dirty="0"/>
              <a:t>Procedures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539" y="1586230"/>
            <a:ext cx="6273165" cy="90424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55600" marR="5080" indent="-342900">
              <a:lnSpc>
                <a:spcPct val="799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Executing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Stored </a:t>
            </a:r>
            <a:r>
              <a:rPr sz="3200" spc="-10" dirty="0">
                <a:latin typeface="Tahoma"/>
                <a:cs typeface="Tahoma"/>
              </a:rPr>
              <a:t>Procedure </a:t>
            </a:r>
            <a:r>
              <a:rPr sz="3200" spc="-5" dirty="0">
                <a:latin typeface="Tahoma"/>
                <a:cs typeface="Tahoma"/>
              </a:rPr>
              <a:t>by  Itself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39" y="3924300"/>
            <a:ext cx="6988809" cy="90424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55600" marR="5080" indent="-342900">
              <a:lnSpc>
                <a:spcPct val="799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Executing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Stored </a:t>
            </a:r>
            <a:r>
              <a:rPr sz="3200" spc="-10" dirty="0">
                <a:latin typeface="Tahoma"/>
                <a:cs typeface="Tahoma"/>
              </a:rPr>
              <a:t>Procedure </a:t>
            </a:r>
            <a:r>
              <a:rPr sz="3200" spc="-5" dirty="0">
                <a:latin typeface="Tahoma"/>
                <a:cs typeface="Tahoma"/>
              </a:rPr>
              <a:t>Within 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20" dirty="0">
                <a:latin typeface="Tahoma"/>
                <a:cs typeface="Tahoma"/>
              </a:rPr>
              <a:t>INSERT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Statement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56397" y="2635885"/>
            <a:ext cx="5450205" cy="11068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83739" y="2907982"/>
            <a:ext cx="27806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EXEC</a:t>
            </a:r>
            <a:r>
              <a:rPr sz="2000" spc="-4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OverdueOrders</a:t>
            </a:r>
            <a:endParaRPr sz="2000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56397" y="4998084"/>
            <a:ext cx="5450205" cy="14116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07539" y="5323522"/>
            <a:ext cx="3239770" cy="62357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65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INSERT INTO Customers  EXEC</a:t>
            </a:r>
            <a:r>
              <a:rPr sz="2000" spc="-35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EmployeeCustomer</a:t>
            </a:r>
            <a:endParaRPr sz="20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4802" y="220980"/>
            <a:ext cx="58305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Using </a:t>
            </a:r>
            <a:r>
              <a:rPr spc="-10" dirty="0"/>
              <a:t>Input</a:t>
            </a:r>
            <a:r>
              <a:rPr spc="-25" dirty="0"/>
              <a:t> Parameters</a:t>
            </a:r>
          </a:p>
        </p:txBody>
      </p:sp>
      <p:sp>
        <p:nvSpPr>
          <p:cNvPr id="3" name="object 3"/>
          <p:cNvSpPr/>
          <p:nvPr/>
        </p:nvSpPr>
        <p:spPr>
          <a:xfrm>
            <a:off x="588009" y="2867660"/>
            <a:ext cx="8044180" cy="39579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9934" y="890575"/>
            <a:ext cx="7520305" cy="57464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96265" indent="-351155">
              <a:lnSpc>
                <a:spcPct val="100000"/>
              </a:lnSpc>
              <a:spcBef>
                <a:spcPts val="77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596900" algn="l"/>
              </a:tabLst>
            </a:pPr>
            <a:r>
              <a:rPr sz="2800" spc="-20" dirty="0">
                <a:latin typeface="Tahoma"/>
                <a:cs typeface="Tahoma"/>
              </a:rPr>
              <a:t>Validate </a:t>
            </a:r>
            <a:r>
              <a:rPr lang="zh-CN" altLang="en-US" sz="2800" spc="-20" dirty="0">
                <a:latin typeface="Tahoma"/>
                <a:cs typeface="Tahoma"/>
              </a:rPr>
              <a:t>验证</a:t>
            </a:r>
            <a:r>
              <a:rPr sz="2800" spc="-5" dirty="0">
                <a:latin typeface="Tahoma"/>
                <a:cs typeface="Tahoma"/>
              </a:rPr>
              <a:t>All Incoming </a:t>
            </a:r>
            <a:r>
              <a:rPr sz="2800" spc="-20" dirty="0">
                <a:latin typeface="Tahoma"/>
                <a:cs typeface="Tahoma"/>
              </a:rPr>
              <a:t>Parameter </a:t>
            </a:r>
            <a:r>
              <a:rPr sz="2800" spc="-25" dirty="0">
                <a:latin typeface="Tahoma"/>
                <a:cs typeface="Tahoma"/>
              </a:rPr>
              <a:t>Values</a:t>
            </a:r>
            <a:r>
              <a:rPr sz="2800" spc="5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First</a:t>
            </a:r>
            <a:endParaRPr sz="2800" dirty="0">
              <a:latin typeface="Tahoma"/>
              <a:cs typeface="Tahoma"/>
            </a:endParaRPr>
          </a:p>
          <a:p>
            <a:pPr marL="588645" marR="779145" indent="-3429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596900" algn="l"/>
              </a:tabLst>
            </a:pPr>
            <a:r>
              <a:rPr sz="2800" spc="-10" dirty="0">
                <a:latin typeface="Tahoma"/>
                <a:cs typeface="Tahoma"/>
              </a:rPr>
              <a:t>Provide </a:t>
            </a:r>
            <a:r>
              <a:rPr sz="2800" spc="-5" dirty="0">
                <a:latin typeface="Tahoma"/>
                <a:cs typeface="Tahoma"/>
              </a:rPr>
              <a:t>Appropriate </a:t>
            </a:r>
            <a:r>
              <a:rPr sz="2800" spc="-10" dirty="0">
                <a:latin typeface="Tahoma"/>
                <a:cs typeface="Tahoma"/>
              </a:rPr>
              <a:t>Default </a:t>
            </a:r>
            <a:r>
              <a:rPr sz="2800" spc="-25" dirty="0">
                <a:latin typeface="Tahoma"/>
                <a:cs typeface="Tahoma"/>
              </a:rPr>
              <a:t>Values </a:t>
            </a:r>
            <a:r>
              <a:rPr sz="2800" spc="-5" dirty="0">
                <a:latin typeface="Tahoma"/>
                <a:cs typeface="Tahoma"/>
              </a:rPr>
              <a:t>and  Include Null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Checks</a:t>
            </a:r>
            <a:endParaRPr sz="2800" dirty="0">
              <a:latin typeface="Tahoma"/>
              <a:cs typeface="Tahoma"/>
            </a:endParaRPr>
          </a:p>
          <a:p>
            <a:pPr marL="257810" marR="1739900" indent="-245110">
              <a:lnSpc>
                <a:spcPts val="1839"/>
              </a:lnSpc>
              <a:spcBef>
                <a:spcPts val="262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CREATE PROCEDURE dbo.[Year to Year Sales]  @BeginningDate DateTime, @EndingDate</a:t>
            </a:r>
            <a:r>
              <a:rPr sz="1600" spc="-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DateTime</a:t>
            </a:r>
            <a:endParaRPr sz="1600" dirty="0">
              <a:latin typeface="Lucida Sans Typewriter"/>
              <a:cs typeface="Lucida Sans Typewriter"/>
            </a:endParaRPr>
          </a:p>
          <a:p>
            <a:pPr marL="12700">
              <a:lnSpc>
                <a:spcPts val="175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AS</a:t>
            </a:r>
            <a:endParaRPr sz="1600" dirty="0">
              <a:latin typeface="Lucida Sans Typewriter"/>
              <a:cs typeface="Lucida Sans Typewriter"/>
            </a:endParaRPr>
          </a:p>
          <a:p>
            <a:pPr marL="12700" marR="1617345">
              <a:lnSpc>
                <a:spcPts val="1839"/>
              </a:lnSpc>
              <a:spcBef>
                <a:spcPts val="9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IF @BeginningDate IS NULL OR @EndingDate IS NULL  BEGIN</a:t>
            </a:r>
            <a:endParaRPr sz="1600" dirty="0">
              <a:latin typeface="Lucida Sans Typewriter"/>
              <a:cs typeface="Lucida Sans Typewriter"/>
            </a:endParaRPr>
          </a:p>
          <a:p>
            <a:pPr marL="380365" marR="1372235">
              <a:lnSpc>
                <a:spcPts val="1839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RAISERROR('NULL values are not allowed', 14, 1)  RETURN</a:t>
            </a:r>
            <a:endParaRPr sz="1600" dirty="0">
              <a:latin typeface="Lucida Sans Typewriter"/>
              <a:cs typeface="Lucida Sans Typewriter"/>
            </a:endParaRPr>
          </a:p>
          <a:p>
            <a:pPr marL="12700">
              <a:lnSpc>
                <a:spcPts val="175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END</a:t>
            </a:r>
            <a:endParaRPr sz="1600" dirty="0">
              <a:latin typeface="Lucida Sans Typewriter"/>
              <a:cs typeface="Lucida Sans Typewriter"/>
            </a:endParaRPr>
          </a:p>
          <a:p>
            <a:pPr marL="12700">
              <a:lnSpc>
                <a:spcPts val="1839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SELECT O.ShippedDate,</a:t>
            </a:r>
            <a:endParaRPr sz="1600" dirty="0">
              <a:latin typeface="Lucida Sans Typewriter"/>
              <a:cs typeface="Lucida Sans Typewriter"/>
            </a:endParaRPr>
          </a:p>
          <a:p>
            <a:pPr marL="870585" marR="5171440">
              <a:lnSpc>
                <a:spcPts val="1839"/>
              </a:lnSpc>
              <a:spcBef>
                <a:spcPts val="9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O.OrderID,  OS.Subtotal,</a:t>
            </a:r>
            <a:endParaRPr sz="1600" dirty="0">
              <a:latin typeface="Lucida Sans Typewriter"/>
              <a:cs typeface="Lucida Sans Typewriter"/>
            </a:endParaRPr>
          </a:p>
          <a:p>
            <a:pPr marL="870585">
              <a:lnSpc>
                <a:spcPts val="175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DATENAME(yy,ShippedDate) AS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Year</a:t>
            </a:r>
            <a:endParaRPr sz="1600" dirty="0">
              <a:latin typeface="Lucida Sans Typewriter"/>
              <a:cs typeface="Lucida Sans Typewriter"/>
            </a:endParaRPr>
          </a:p>
          <a:p>
            <a:pPr marL="380365" marR="1985010" indent="-367665">
              <a:lnSpc>
                <a:spcPts val="1839"/>
              </a:lnSpc>
              <a:spcBef>
                <a:spcPts val="8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FROM ORDERS O INNER JOIN [Order Subtotals] OS  ON O.OrderID =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OS.OrderID</a:t>
            </a:r>
            <a:endParaRPr sz="1600" dirty="0">
              <a:latin typeface="Lucida Sans Typewriter"/>
              <a:cs typeface="Lucida Sans Typewriter"/>
            </a:endParaRPr>
          </a:p>
          <a:p>
            <a:pPr marL="12700">
              <a:lnSpc>
                <a:spcPts val="1789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WHERE O.ShippedDate BETWEEN @BeginningDate AND</a:t>
            </a:r>
            <a:r>
              <a:rPr sz="1600" spc="2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@EndingDate</a:t>
            </a:r>
            <a:endParaRPr sz="1600" dirty="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0605" y="63499"/>
            <a:ext cx="708279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8175" marR="5080" indent="-6261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Executing Stored Procedures  </a:t>
            </a:r>
            <a:r>
              <a:rPr spc="-5" dirty="0"/>
              <a:t>Using </a:t>
            </a:r>
            <a:r>
              <a:rPr spc="-10" dirty="0"/>
              <a:t>Input</a:t>
            </a:r>
            <a:r>
              <a:rPr spc="-15" dirty="0"/>
              <a:t> </a:t>
            </a:r>
            <a:r>
              <a:rPr spc="-25" dirty="0"/>
              <a:t>Parameters</a:t>
            </a:r>
          </a:p>
        </p:txBody>
      </p:sp>
      <p:sp>
        <p:nvSpPr>
          <p:cNvPr id="3" name="object 3"/>
          <p:cNvSpPr/>
          <p:nvPr/>
        </p:nvSpPr>
        <p:spPr>
          <a:xfrm>
            <a:off x="1502410" y="5442584"/>
            <a:ext cx="6367779" cy="14147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2410" y="1924685"/>
            <a:ext cx="6343967" cy="29514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44269" y="1130207"/>
            <a:ext cx="6721475" cy="5528310"/>
          </a:xfrm>
          <a:prstGeom prst="rect">
            <a:avLst/>
          </a:prstGeom>
        </p:spPr>
        <p:txBody>
          <a:bodyPr vert="horz" wrap="square" lIns="0" tIns="26289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20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Passing </a:t>
            </a:r>
            <a:r>
              <a:rPr sz="3200" spc="-30" dirty="0">
                <a:latin typeface="Tahoma"/>
                <a:cs typeface="Tahoma"/>
              </a:rPr>
              <a:t>Values </a:t>
            </a:r>
            <a:r>
              <a:rPr sz="3200" spc="-5" dirty="0">
                <a:latin typeface="Tahoma"/>
                <a:cs typeface="Tahoma"/>
              </a:rPr>
              <a:t>by </a:t>
            </a:r>
            <a:r>
              <a:rPr sz="3200" spc="-20" dirty="0">
                <a:latin typeface="Tahoma"/>
                <a:cs typeface="Tahoma"/>
              </a:rPr>
              <a:t>Parameter</a:t>
            </a:r>
            <a:r>
              <a:rPr sz="3200" spc="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Name</a:t>
            </a:r>
            <a:endParaRPr sz="3200">
              <a:latin typeface="Tahoma"/>
              <a:cs typeface="Tahoma"/>
            </a:endParaRPr>
          </a:p>
          <a:p>
            <a:pPr marL="1066800" marR="2614295" indent="-551180">
              <a:lnSpc>
                <a:spcPts val="2070"/>
              </a:lnSpc>
              <a:spcBef>
                <a:spcPts val="1250"/>
              </a:spcBef>
            </a:pPr>
            <a:r>
              <a:rPr sz="1800" dirty="0">
                <a:latin typeface="Lucida Sans Typewriter"/>
                <a:cs typeface="Lucida Sans Typewriter"/>
              </a:rPr>
              <a:t>EXEC AddCustomer  @CustomerID =</a:t>
            </a:r>
            <a:r>
              <a:rPr sz="1800" spc="-10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'ALFKI',</a:t>
            </a:r>
            <a:endParaRPr sz="1800">
              <a:latin typeface="Lucida Sans Typewriter"/>
              <a:cs typeface="Lucida Sans Typewriter"/>
            </a:endParaRPr>
          </a:p>
          <a:p>
            <a:pPr marL="1066800" marR="271780">
              <a:lnSpc>
                <a:spcPts val="2070"/>
              </a:lnSpc>
            </a:pPr>
            <a:r>
              <a:rPr sz="1800" dirty="0">
                <a:latin typeface="Lucida Sans Typewriter"/>
                <a:cs typeface="Lucida Sans Typewriter"/>
              </a:rPr>
              <a:t>@ContactName = 'Maria Anders',  @CompanyName = 'Alfreds Futterkiste',  @ContactTitle = 'Sales</a:t>
            </a:r>
            <a:r>
              <a:rPr sz="1800" spc="-10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Representative',  @Address = 'Obere Str.</a:t>
            </a:r>
            <a:r>
              <a:rPr sz="1800" spc="-25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57',</a:t>
            </a:r>
            <a:endParaRPr sz="1800">
              <a:latin typeface="Lucida Sans Typewriter"/>
              <a:cs typeface="Lucida Sans Typewriter"/>
            </a:endParaRPr>
          </a:p>
          <a:p>
            <a:pPr marL="1066800" marR="2614295">
              <a:lnSpc>
                <a:spcPts val="2070"/>
              </a:lnSpc>
            </a:pPr>
            <a:r>
              <a:rPr sz="1800" dirty="0">
                <a:latin typeface="Lucida Sans Typewriter"/>
                <a:cs typeface="Lucida Sans Typewriter"/>
              </a:rPr>
              <a:t>@City = 'Berlin',  @PostalCode =</a:t>
            </a:r>
            <a:r>
              <a:rPr sz="1800" spc="-10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'12209',  @Country = 'Germany',  @Phone =</a:t>
            </a:r>
            <a:r>
              <a:rPr sz="1800" spc="-10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'030-0074321'</a:t>
            </a:r>
            <a:endParaRPr sz="1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Lucida Sans Typewriter"/>
              <a:cs typeface="Lucida Sans Typewriter"/>
            </a:endParaRPr>
          </a:p>
          <a:p>
            <a:pPr marL="414655" indent="-402590">
              <a:lnSpc>
                <a:spcPct val="100000"/>
              </a:lnSpc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Passing </a:t>
            </a:r>
            <a:r>
              <a:rPr sz="3200" spc="-30" dirty="0">
                <a:latin typeface="Tahoma"/>
                <a:cs typeface="Tahoma"/>
              </a:rPr>
              <a:t>Values </a:t>
            </a:r>
            <a:r>
              <a:rPr sz="3200" spc="-5" dirty="0">
                <a:latin typeface="Tahoma"/>
                <a:cs typeface="Tahoma"/>
              </a:rPr>
              <a:t>by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Position</a:t>
            </a:r>
            <a:endParaRPr sz="3200">
              <a:latin typeface="Tahoma"/>
              <a:cs typeface="Tahoma"/>
            </a:endParaRPr>
          </a:p>
          <a:p>
            <a:pPr marL="516255" marR="271780">
              <a:lnSpc>
                <a:spcPct val="100000"/>
              </a:lnSpc>
              <a:spcBef>
                <a:spcPts val="855"/>
              </a:spcBef>
            </a:pPr>
            <a:r>
              <a:rPr sz="1800" dirty="0">
                <a:latin typeface="Lucida Sans Typewriter"/>
                <a:cs typeface="Lucida Sans Typewriter"/>
              </a:rPr>
              <a:t>EXEC AddCustomer 'ALFKI2', 'Alfreds  Futterkiste', 'Maria Anders', 'Sales  Representative', 'Obere Str. 57',</a:t>
            </a:r>
            <a:r>
              <a:rPr sz="1800" spc="-10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'Berlin',  NULL, '12209', 'Germany',</a:t>
            </a:r>
            <a:r>
              <a:rPr sz="1800" spc="-45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'030-0074321'</a:t>
            </a:r>
            <a:endParaRPr sz="1800">
              <a:latin typeface="Lucida Sans Typewriter"/>
              <a:cs typeface="Lucida Sans Typewriter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5A0A9C8D-42B0-AC44-6743-FBCB761CA5E6}"/>
                  </a:ext>
                </a:extLst>
              </p14:cNvPr>
              <p14:cNvContentPartPr/>
              <p14:nvPr/>
            </p14:nvContentPartPr>
            <p14:xfrm>
              <a:off x="2223099" y="2284765"/>
              <a:ext cx="2985480" cy="2188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5A0A9C8D-42B0-AC44-6743-FBCB761CA5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9459" y="2176765"/>
                <a:ext cx="309312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6A6D660-11FA-3EDE-10AF-2E136F23AF88}"/>
                  </a:ext>
                </a:extLst>
              </p14:cNvPr>
              <p14:cNvContentPartPr/>
              <p14:nvPr/>
            </p14:nvContentPartPr>
            <p14:xfrm>
              <a:off x="4285179" y="5289685"/>
              <a:ext cx="2040480" cy="1270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6A6D660-11FA-3EDE-10AF-2E136F23AF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31179" y="5182045"/>
                <a:ext cx="2148120" cy="342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29510" marR="5080" indent="-239776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Returning </a:t>
            </a:r>
            <a:r>
              <a:rPr spc="-40" dirty="0"/>
              <a:t>Values </a:t>
            </a:r>
            <a:r>
              <a:rPr spc="-5" dirty="0"/>
              <a:t>Using Output  </a:t>
            </a:r>
            <a:r>
              <a:rPr spc="-25" dirty="0"/>
              <a:t>Parameters</a:t>
            </a:r>
          </a:p>
        </p:txBody>
      </p:sp>
      <p:sp>
        <p:nvSpPr>
          <p:cNvPr id="3" name="object 3"/>
          <p:cNvSpPr/>
          <p:nvPr/>
        </p:nvSpPr>
        <p:spPr>
          <a:xfrm>
            <a:off x="2569210" y="1904047"/>
            <a:ext cx="6291580" cy="4677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60345" y="1991168"/>
            <a:ext cx="5688330" cy="438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1805" marR="1076960" indent="-459105">
              <a:lnSpc>
                <a:spcPct val="110000"/>
              </a:lnSpc>
              <a:spcBef>
                <a:spcPts val="100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CREATE PROCEDURE dbo.MathTutor  @m1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smallint,</a:t>
            </a:r>
            <a:endParaRPr sz="2000">
              <a:latin typeface="Lucida Sans Typewriter"/>
              <a:cs typeface="Lucida Sans Typewriter"/>
            </a:endParaRPr>
          </a:p>
          <a:p>
            <a:pPr marL="471805">
              <a:lnSpc>
                <a:spcPct val="100000"/>
              </a:lnSpc>
              <a:spcBef>
                <a:spcPts val="240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@m2</a:t>
            </a:r>
            <a:r>
              <a:rPr sz="2000" spc="-6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smallint,</a:t>
            </a:r>
            <a:endParaRPr sz="2000">
              <a:latin typeface="Lucida Sans Typewriter"/>
              <a:cs typeface="Lucida Sans Typewriter"/>
            </a:endParaRPr>
          </a:p>
          <a:p>
            <a:pPr marL="471805">
              <a:lnSpc>
                <a:spcPct val="100000"/>
              </a:lnSpc>
              <a:spcBef>
                <a:spcPts val="240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@result smallint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OUTPUT</a:t>
            </a:r>
            <a:endParaRPr sz="20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Lucida Sans Typewriter"/>
                <a:cs typeface="Lucida Sans Typewriter"/>
              </a:rPr>
              <a:t>AS</a:t>
            </a:r>
            <a:endParaRPr sz="2000">
              <a:latin typeface="Lucida Sans Typewriter"/>
              <a:cs typeface="Lucida Sans Typewriter"/>
            </a:endParaRPr>
          </a:p>
          <a:p>
            <a:pPr marL="471805">
              <a:lnSpc>
                <a:spcPct val="100000"/>
              </a:lnSpc>
              <a:spcBef>
                <a:spcPts val="240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SET @result </a:t>
            </a:r>
            <a:r>
              <a:rPr sz="2000" dirty="0">
                <a:latin typeface="Lucida Sans Typewriter"/>
                <a:cs typeface="Lucida Sans Typewriter"/>
              </a:rPr>
              <a:t>= </a:t>
            </a:r>
            <a:r>
              <a:rPr sz="2000" spc="-5" dirty="0">
                <a:latin typeface="Lucida Sans Typewriter"/>
                <a:cs typeface="Lucida Sans Typewriter"/>
              </a:rPr>
              <a:t>@m1*</a:t>
            </a:r>
            <a:r>
              <a:rPr sz="2000" spc="-2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@m2</a:t>
            </a:r>
            <a:endParaRPr sz="2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23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DECLARE @answer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smallint</a:t>
            </a:r>
            <a:endParaRPr sz="2000">
              <a:latin typeface="Lucida Sans Typewriter"/>
              <a:cs typeface="Lucida Sans Typewriter"/>
            </a:endParaRPr>
          </a:p>
          <a:p>
            <a:pPr marL="12700" marR="5080">
              <a:lnSpc>
                <a:spcPct val="11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EXECUTE MathTutor 5,6, @answer OUTPUT  SELECT 'The result is: </a:t>
            </a:r>
            <a:r>
              <a:rPr sz="2000" dirty="0">
                <a:latin typeface="Lucida Sans Typewriter"/>
                <a:cs typeface="Lucida Sans Typewriter"/>
              </a:rPr>
              <a:t>',</a:t>
            </a:r>
            <a:r>
              <a:rPr sz="2000" spc="-5" dirty="0">
                <a:latin typeface="Lucida Sans Typewriter"/>
                <a:cs typeface="Lucida Sans Typewriter"/>
              </a:rPr>
              <a:t> @answer</a:t>
            </a:r>
            <a:endParaRPr sz="2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245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tabLst>
                <a:tab pos="2460625" algn="l"/>
              </a:tabLst>
            </a:pPr>
            <a:r>
              <a:rPr sz="2000" spc="-5" dirty="0">
                <a:latin typeface="Lucida Sans Typewriter"/>
                <a:cs typeface="Lucida Sans Typewriter"/>
              </a:rPr>
              <a:t>The</a:t>
            </a:r>
            <a:r>
              <a:rPr sz="2000" spc="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result</a:t>
            </a:r>
            <a:r>
              <a:rPr sz="2000" spc="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is:	</a:t>
            </a:r>
            <a:r>
              <a:rPr sz="2000" dirty="0">
                <a:latin typeface="Lucida Sans Typewriter"/>
                <a:cs typeface="Lucida Sans Typewriter"/>
              </a:rPr>
              <a:t>30</a:t>
            </a:r>
            <a:endParaRPr sz="2000">
              <a:latin typeface="Lucida Sans Typewriter"/>
              <a:cs typeface="Lucida Sans Typewriter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95600" y="4516437"/>
            <a:ext cx="5410200" cy="0"/>
          </a:xfrm>
          <a:custGeom>
            <a:avLst/>
            <a:gdLst/>
            <a:ahLst/>
            <a:cxnLst/>
            <a:rect l="l" t="t" r="r" b="b"/>
            <a:pathLst>
              <a:path w="5410200">
                <a:moveTo>
                  <a:pt x="0" y="0"/>
                </a:moveTo>
                <a:lnTo>
                  <a:pt x="541020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95600" y="5888037"/>
            <a:ext cx="5351780" cy="0"/>
          </a:xfrm>
          <a:custGeom>
            <a:avLst/>
            <a:gdLst/>
            <a:ahLst/>
            <a:cxnLst/>
            <a:rect l="l" t="t" r="r" b="b"/>
            <a:pathLst>
              <a:path w="5351780">
                <a:moveTo>
                  <a:pt x="0" y="0"/>
                </a:moveTo>
                <a:lnTo>
                  <a:pt x="5351462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5609" y="5314441"/>
            <a:ext cx="2365603" cy="14138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7268" y="5716790"/>
            <a:ext cx="1748307" cy="243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7268" y="5994285"/>
            <a:ext cx="1061999" cy="2401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5609" y="3879341"/>
            <a:ext cx="2365603" cy="14138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7268" y="4281690"/>
            <a:ext cx="1736877" cy="2935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7268" y="4559185"/>
            <a:ext cx="1061999" cy="2401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5609" y="1974342"/>
            <a:ext cx="2365603" cy="141387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1553" y="2376690"/>
            <a:ext cx="1592745" cy="29353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7268" y="2654185"/>
            <a:ext cx="1061999" cy="24019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49AA767A-DE53-13D9-00AD-6EA12C00E65C}"/>
                  </a:ext>
                </a:extLst>
              </p14:cNvPr>
              <p14:cNvContentPartPr/>
              <p14:nvPr/>
            </p14:nvContentPartPr>
            <p14:xfrm>
              <a:off x="7574859" y="4893685"/>
              <a:ext cx="954720" cy="37008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49AA767A-DE53-13D9-00AD-6EA12C00E65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21219" y="4785685"/>
                <a:ext cx="1062360" cy="58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E53A3D1A-22FB-04AE-FFF7-3BDAE527A397}"/>
                  </a:ext>
                </a:extLst>
              </p14:cNvPr>
              <p14:cNvContentPartPr/>
              <p14:nvPr/>
            </p14:nvContentPartPr>
            <p14:xfrm>
              <a:off x="6283899" y="5073325"/>
              <a:ext cx="1009080" cy="6336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E53A3D1A-22FB-04AE-FFF7-3BDAE527A39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30259" y="4965685"/>
                <a:ext cx="111672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2FF5C9DC-3304-62AA-B1F9-7A220626B3BA}"/>
                  </a:ext>
                </a:extLst>
              </p14:cNvPr>
              <p14:cNvContentPartPr/>
              <p14:nvPr/>
            </p14:nvContentPartPr>
            <p14:xfrm>
              <a:off x="2560059" y="2943205"/>
              <a:ext cx="4303440" cy="44820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2FF5C9DC-3304-62AA-B1F9-7A220626B3B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06059" y="2835565"/>
                <a:ext cx="4411080" cy="66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846A3FF0-1333-FD32-B0DE-F7A2E44168E5}"/>
                  </a:ext>
                </a:extLst>
              </p14:cNvPr>
              <p14:cNvContentPartPr/>
              <p14:nvPr/>
            </p14:nvContentPartPr>
            <p14:xfrm>
              <a:off x="2778579" y="5330365"/>
              <a:ext cx="4957560" cy="25488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846A3FF0-1333-FD32-B0DE-F7A2E44168E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24939" y="5222725"/>
                <a:ext cx="5065200" cy="4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19BA213E-BB1D-82B1-4D43-9CFCCF413B1D}"/>
                  </a:ext>
                </a:extLst>
              </p14:cNvPr>
              <p14:cNvContentPartPr/>
              <p14:nvPr/>
            </p14:nvContentPartPr>
            <p14:xfrm>
              <a:off x="6194619" y="5504245"/>
              <a:ext cx="1375200" cy="1908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19BA213E-BB1D-82B1-4D43-9CFCCF413B1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40619" y="5396245"/>
                <a:ext cx="148284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014AD5C5-8028-77C2-3C7F-656F23A28397}"/>
                  </a:ext>
                </a:extLst>
              </p14:cNvPr>
              <p14:cNvContentPartPr/>
              <p14:nvPr/>
            </p14:nvContentPartPr>
            <p14:xfrm>
              <a:off x="3035259" y="6036325"/>
              <a:ext cx="2603880" cy="19584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014AD5C5-8028-77C2-3C7F-656F23A2839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981259" y="5928685"/>
                <a:ext cx="2711520" cy="41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2040" y="829944"/>
            <a:ext cx="1899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Queries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99045" cy="40360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622300" marR="5080" indent="-60960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10" dirty="0">
                <a:latin typeface="Tahoma"/>
                <a:cs typeface="Tahoma"/>
              </a:rPr>
              <a:t>General </a:t>
            </a:r>
            <a:r>
              <a:rPr sz="3200" spc="-20" dirty="0">
                <a:latin typeface="Tahoma"/>
                <a:cs typeface="Tahoma"/>
              </a:rPr>
              <a:t>SELECT-FROM-WHERE </a:t>
            </a:r>
            <a:r>
              <a:rPr sz="3200" spc="-5" dirty="0">
                <a:latin typeface="Tahoma"/>
                <a:cs typeface="Tahoma"/>
              </a:rPr>
              <a:t>queries 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lang="en-US" altLang="zh-CN" sz="3600" dirty="0">
                <a:effectLst/>
              </a:rPr>
              <a:t>not </a:t>
            </a:r>
            <a:r>
              <a:rPr sz="3200" spc="-5" dirty="0">
                <a:latin typeface="Tahoma"/>
                <a:cs typeface="Tahoma"/>
              </a:rPr>
              <a:t>permitted in</a:t>
            </a:r>
            <a:r>
              <a:rPr sz="3200" spc="-54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PSM.</a:t>
            </a:r>
            <a:endParaRPr sz="3200" dirty="0">
              <a:latin typeface="Tahoma"/>
              <a:cs typeface="Tahoma"/>
            </a:endParaRPr>
          </a:p>
          <a:p>
            <a:pPr marL="622300" marR="133350" indent="-6096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There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three </a:t>
            </a:r>
            <a:r>
              <a:rPr sz="3200" spc="-15" dirty="0">
                <a:latin typeface="Tahoma"/>
                <a:cs typeface="Tahoma"/>
              </a:rPr>
              <a:t>ways </a:t>
            </a:r>
            <a:r>
              <a:rPr sz="3200" spc="-5" dirty="0">
                <a:latin typeface="Tahoma"/>
                <a:cs typeface="Tahoma"/>
              </a:rPr>
              <a:t>to get the </a:t>
            </a:r>
            <a:r>
              <a:rPr sz="3200" spc="-15" dirty="0">
                <a:latin typeface="Tahoma"/>
                <a:cs typeface="Tahoma"/>
              </a:rPr>
              <a:t>effect 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query:</a:t>
            </a:r>
            <a:endParaRPr sz="3200" dirty="0">
              <a:latin typeface="Tahoma"/>
              <a:cs typeface="Tahoma"/>
            </a:endParaRPr>
          </a:p>
          <a:p>
            <a:pPr marL="1002665" marR="33782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Queries producing one </a:t>
            </a:r>
            <a:r>
              <a:rPr sz="2800" spc="-15" dirty="0">
                <a:latin typeface="Tahoma"/>
                <a:cs typeface="Tahoma"/>
              </a:rPr>
              <a:t>value </a:t>
            </a:r>
            <a:r>
              <a:rPr sz="2800" spc="-5" dirty="0">
                <a:latin typeface="Tahoma"/>
                <a:cs typeface="Tahoma"/>
              </a:rPr>
              <a:t>can be the  expression in an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assignment.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Single-row SELECT . . .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INTO.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Cursors.</a:t>
            </a:r>
            <a:endParaRPr sz="28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2C63D544-0C9D-E6C1-A33F-6AF8ED071E14}"/>
                  </a:ext>
                </a:extLst>
              </p14:cNvPr>
              <p14:cNvContentPartPr/>
              <p14:nvPr/>
            </p14:nvContentPartPr>
            <p14:xfrm>
              <a:off x="3249099" y="4202125"/>
              <a:ext cx="2954160" cy="28908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2C63D544-0C9D-E6C1-A33F-6AF8ED071E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5099" y="4094485"/>
                <a:ext cx="3061800" cy="50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C43E215E-3B03-A8E0-EDF6-152ECB674DBD}"/>
                  </a:ext>
                </a:extLst>
              </p14:cNvPr>
              <p14:cNvContentPartPr/>
              <p14:nvPr/>
            </p14:nvContentPartPr>
            <p14:xfrm>
              <a:off x="1828899" y="4906645"/>
              <a:ext cx="4802400" cy="4899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C43E215E-3B03-A8E0-EDF6-152ECB674D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4899" y="4799005"/>
                <a:ext cx="4910040" cy="70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1089391-5E5A-AD4F-D45B-DBEEE60C3FFF}"/>
                  </a:ext>
                </a:extLst>
              </p14:cNvPr>
              <p14:cNvContentPartPr/>
              <p14:nvPr/>
            </p14:nvContentPartPr>
            <p14:xfrm>
              <a:off x="1936179" y="5668765"/>
              <a:ext cx="1178640" cy="1407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1089391-5E5A-AD4F-D45B-DBEEE60C3FF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82179" y="5560765"/>
                <a:ext cx="1286280" cy="356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355" y="829944"/>
            <a:ext cx="7019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35" dirty="0"/>
              <a:t> </a:t>
            </a:r>
            <a:r>
              <a:rPr spc="-5" dirty="0"/>
              <a:t>Assignment/Query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992617"/>
            <a:ext cx="8177530" cy="32258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local </a:t>
            </a:r>
            <a:r>
              <a:rPr sz="3200" spc="-10" dirty="0">
                <a:latin typeface="Tahoma"/>
                <a:cs typeface="Tahoma"/>
              </a:rPr>
              <a:t>variable </a:t>
            </a:r>
            <a:r>
              <a:rPr sz="3350" i="1" spc="-85" dirty="0">
                <a:latin typeface="Tahoma"/>
                <a:cs typeface="Tahoma"/>
              </a:rPr>
              <a:t>p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get the price </a:t>
            </a:r>
            <a:r>
              <a:rPr sz="3200" dirty="0">
                <a:latin typeface="Tahoma"/>
                <a:cs typeface="Tahoma"/>
              </a:rPr>
              <a:t>Joe </a:t>
            </a:r>
            <a:r>
              <a:rPr sz="3200" spc="-5" dirty="0">
                <a:latin typeface="Tahoma"/>
                <a:cs typeface="Tahoma"/>
              </a:rPr>
              <a:t>charges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dirty="0">
                <a:latin typeface="Tahoma"/>
                <a:cs typeface="Tahoma"/>
              </a:rPr>
              <a:t>Bud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by: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35"/>
              </a:spcBef>
            </a:pPr>
            <a:r>
              <a:rPr sz="3200" spc="-5" dirty="0">
                <a:latin typeface="Courier New"/>
                <a:cs typeface="Courier New"/>
              </a:rPr>
              <a:t>SET </a:t>
            </a:r>
            <a:r>
              <a:rPr sz="3200" dirty="0">
                <a:latin typeface="Courier New"/>
                <a:cs typeface="Courier New"/>
              </a:rPr>
              <a:t>p = </a:t>
            </a:r>
            <a:r>
              <a:rPr sz="3200" spc="-5" dirty="0">
                <a:latin typeface="Courier New"/>
                <a:cs typeface="Courier New"/>
              </a:rPr>
              <a:t>(SELECT price FROM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Sells</a:t>
            </a:r>
            <a:endParaRPr sz="3200" dirty="0">
              <a:latin typeface="Courier New"/>
              <a:cs typeface="Courier New"/>
            </a:endParaRPr>
          </a:p>
          <a:p>
            <a:pPr marL="1841500" marR="414655" indent="-91440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WHERE bar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’Joe’’s Bar’ AND  beer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’Bud’);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2360" y="829944"/>
            <a:ext cx="43999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SELECT </a:t>
            </a:r>
            <a:r>
              <a:rPr dirty="0"/>
              <a:t>. . .</a:t>
            </a:r>
            <a:r>
              <a:rPr spc="-85" dirty="0"/>
              <a:t> </a:t>
            </a:r>
            <a:r>
              <a:rPr spc="-30" dirty="0"/>
              <a:t>INTO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12949"/>
            <a:ext cx="8255634" cy="3790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5816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Another </a:t>
            </a:r>
            <a:r>
              <a:rPr sz="3200" spc="-20" dirty="0">
                <a:latin typeface="Tahoma"/>
                <a:cs typeface="Tahoma"/>
              </a:rPr>
              <a:t>way </a:t>
            </a:r>
            <a:r>
              <a:rPr sz="3200" spc="-5" dirty="0">
                <a:latin typeface="Tahoma"/>
                <a:cs typeface="Tahoma"/>
              </a:rPr>
              <a:t>to get the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query  that returns one tuple is by placing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CC6600"/>
                </a:solidFill>
                <a:latin typeface="Tahoma"/>
                <a:cs typeface="Tahoma"/>
              </a:rPr>
              <a:t>INTO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spc="-10" dirty="0">
                <a:solidFill>
                  <a:srgbClr val="CC6600"/>
                </a:solidFill>
                <a:latin typeface="Tahoma"/>
                <a:cs typeface="Tahoma"/>
              </a:rPr>
              <a:t>&lt;variable&gt; </a:t>
            </a:r>
            <a:r>
              <a:rPr sz="3200" spc="-5" dirty="0">
                <a:latin typeface="Tahoma"/>
                <a:cs typeface="Tahoma"/>
              </a:rPr>
              <a:t>after the SELECT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SELECT price INTO </a:t>
            </a:r>
            <a:r>
              <a:rPr sz="3200" dirty="0">
                <a:latin typeface="Courier New"/>
                <a:cs typeface="Courier New"/>
              </a:rPr>
              <a:t>p </a:t>
            </a: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Sells</a:t>
            </a:r>
            <a:endParaRPr sz="3200">
              <a:latin typeface="Courier New"/>
              <a:cs typeface="Courier New"/>
            </a:endParaRPr>
          </a:p>
          <a:p>
            <a:pPr marL="1841500" marR="492759" indent="-91440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WHERE bar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’Joe’’s Bar’ AND  beer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’Bud’;</a:t>
            </a:r>
            <a:endParaRPr sz="32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3DF00179-FA6B-2810-BBC0-FF60018070E5}"/>
                  </a:ext>
                </a:extLst>
              </p14:cNvPr>
              <p14:cNvContentPartPr/>
              <p14:nvPr/>
            </p14:nvContentPartPr>
            <p14:xfrm>
              <a:off x="1549899" y="4317325"/>
              <a:ext cx="1091520" cy="864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3DF00179-FA6B-2810-BBC0-FF60018070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5899" y="4209685"/>
                <a:ext cx="119916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E0E8044-39B8-EF54-7831-D21F355DDA74}"/>
                  </a:ext>
                </a:extLst>
              </p14:cNvPr>
              <p14:cNvContentPartPr/>
              <p14:nvPr/>
            </p14:nvContentPartPr>
            <p14:xfrm>
              <a:off x="3155139" y="4239925"/>
              <a:ext cx="1551960" cy="2430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E0E8044-39B8-EF54-7831-D21F355DDA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01499" y="4132285"/>
                <a:ext cx="165960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D3F6B2AE-B654-C4B4-3F49-86E50D0E6B8B}"/>
                  </a:ext>
                </a:extLst>
              </p14:cNvPr>
              <p14:cNvContentPartPr/>
              <p14:nvPr/>
            </p14:nvContentPartPr>
            <p14:xfrm>
              <a:off x="2491299" y="4264045"/>
              <a:ext cx="6112800" cy="24624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D3F6B2AE-B654-C4B4-3F49-86E50D0E6B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37299" y="4156405"/>
                <a:ext cx="6220440" cy="461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2834" y="829944"/>
            <a:ext cx="187896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Cursors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315200" cy="26797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 algn="just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lang="en-US" altLang="zh-CN" sz="3600" dirty="0">
                <a:effectLst/>
              </a:rPr>
              <a:t>cursor</a:t>
            </a:r>
            <a:r>
              <a:rPr sz="3350" i="1" spc="-75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is essentially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tuple-variable</a:t>
            </a:r>
            <a:r>
              <a:rPr lang="zh-CN" altLang="en-US" sz="3200" spc="-15" dirty="0">
                <a:latin typeface="Tahoma"/>
                <a:cs typeface="Tahoma"/>
              </a:rPr>
              <a:t>元组变量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that </a:t>
            </a:r>
            <a:r>
              <a:rPr sz="3200" spc="-10" dirty="0">
                <a:latin typeface="Tahoma"/>
                <a:cs typeface="Tahoma"/>
              </a:rPr>
              <a:t>ranges </a:t>
            </a:r>
            <a:r>
              <a:rPr sz="3200" spc="-15" dirty="0">
                <a:latin typeface="Tahoma"/>
                <a:cs typeface="Tahoma"/>
              </a:rPr>
              <a:t>over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tuples in the result  of some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query.</a:t>
            </a:r>
            <a:endParaRPr sz="3200" dirty="0">
              <a:latin typeface="Tahoma"/>
              <a:cs typeface="Tahoma"/>
            </a:endParaRPr>
          </a:p>
          <a:p>
            <a:pPr marL="414655" indent="-402590" algn="just">
              <a:lnSpc>
                <a:spcPct val="100000"/>
              </a:lnSpc>
              <a:spcBef>
                <a:spcPts val="4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Declare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cursor </a:t>
            </a:r>
            <a:r>
              <a:rPr sz="3350" i="1" spc="-70" dirty="0">
                <a:latin typeface="Tahoma"/>
                <a:cs typeface="Tahoma"/>
              </a:rPr>
              <a:t>c</a:t>
            </a:r>
            <a:r>
              <a:rPr sz="3350" i="1" spc="-30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by: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3200" spc="-15" dirty="0">
                <a:latin typeface="Tahoma"/>
                <a:cs typeface="Tahoma"/>
              </a:rPr>
              <a:t>DECLARE </a:t>
            </a:r>
            <a:r>
              <a:rPr sz="3200" dirty="0">
                <a:latin typeface="Tahoma"/>
                <a:cs typeface="Tahoma"/>
              </a:rPr>
              <a:t>c </a:t>
            </a:r>
            <a:r>
              <a:rPr sz="3200" spc="-5" dirty="0">
                <a:latin typeface="Tahoma"/>
                <a:cs typeface="Tahoma"/>
              </a:rPr>
              <a:t>CURSOR FOR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&lt;query&gt;;</a:t>
            </a:r>
            <a:endParaRPr sz="32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F23D88B8-6B62-9F0E-D89C-B9C74B2242EB}"/>
                  </a:ext>
                </a:extLst>
              </p14:cNvPr>
              <p14:cNvContentPartPr/>
              <p14:nvPr/>
            </p14:nvContentPartPr>
            <p14:xfrm>
              <a:off x="2492019" y="4410205"/>
              <a:ext cx="281880" cy="9144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23D88B8-6B62-9F0E-D89C-B9C74B2242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8379" y="4302565"/>
                <a:ext cx="38952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603EC181-72B5-B664-4E5E-81F238FEE475}"/>
                  </a:ext>
                </a:extLst>
              </p14:cNvPr>
              <p14:cNvContentPartPr/>
              <p14:nvPr/>
            </p14:nvContentPartPr>
            <p14:xfrm>
              <a:off x="5414499" y="4325605"/>
              <a:ext cx="1485720" cy="17496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603EC181-72B5-B664-4E5E-81F238FEE4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60499" y="4217965"/>
                <a:ext cx="1593360" cy="390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2664" y="829944"/>
            <a:ext cx="71393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Opening and Closing</a:t>
            </a:r>
            <a:r>
              <a:rPr spc="-25" dirty="0"/>
              <a:t> </a:t>
            </a:r>
            <a:r>
              <a:rPr spc="-5" dirty="0"/>
              <a:t>Cursors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348855" cy="371411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704215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use cursor </a:t>
            </a:r>
            <a:r>
              <a:rPr sz="3350" i="1" spc="-550" dirty="0">
                <a:latin typeface="Tahoma"/>
                <a:cs typeface="Tahoma"/>
              </a:rPr>
              <a:t>c</a:t>
            </a:r>
            <a:r>
              <a:rPr sz="3200" spc="-550" dirty="0">
                <a:latin typeface="Tahoma"/>
                <a:cs typeface="Tahoma"/>
              </a:rPr>
              <a:t>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must issue the  command: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630"/>
              </a:spcBef>
            </a:pPr>
            <a:r>
              <a:rPr sz="3200" spc="-5" dirty="0">
                <a:latin typeface="Tahoma"/>
                <a:cs typeface="Tahoma"/>
              </a:rPr>
              <a:t>OPEN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c;</a:t>
            </a:r>
            <a:endParaRPr sz="3200" dirty="0">
              <a:latin typeface="Tahoma"/>
              <a:cs typeface="Tahoma"/>
            </a:endParaRPr>
          </a:p>
          <a:p>
            <a:pPr marL="755650" marR="100330" lvl="1" indent="-285750">
              <a:lnSpc>
                <a:spcPts val="3360"/>
              </a:lnSpc>
              <a:spcBef>
                <a:spcPts val="7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 query of </a:t>
            </a:r>
            <a:r>
              <a:rPr sz="2900" i="1" spc="-50" dirty="0">
                <a:latin typeface="Tahoma"/>
                <a:cs typeface="Tahoma"/>
              </a:rPr>
              <a:t>c </a:t>
            </a:r>
            <a:r>
              <a:rPr sz="2800" spc="-5" dirty="0">
                <a:latin typeface="Tahoma"/>
                <a:cs typeface="Tahoma"/>
              </a:rPr>
              <a:t>is </a:t>
            </a:r>
            <a:r>
              <a:rPr sz="2800" spc="-10" dirty="0">
                <a:latin typeface="Tahoma"/>
                <a:cs typeface="Tahoma"/>
              </a:rPr>
              <a:t>evaluated, </a:t>
            </a:r>
            <a:r>
              <a:rPr sz="2800" spc="-5" dirty="0">
                <a:latin typeface="Tahoma"/>
                <a:cs typeface="Tahoma"/>
              </a:rPr>
              <a:t>and </a:t>
            </a:r>
            <a:r>
              <a:rPr sz="2900" i="1" spc="-50" dirty="0">
                <a:latin typeface="Tahoma"/>
                <a:cs typeface="Tahoma"/>
              </a:rPr>
              <a:t>c </a:t>
            </a:r>
            <a:r>
              <a:rPr sz="2800" spc="-5" dirty="0">
                <a:latin typeface="Tahoma"/>
                <a:cs typeface="Tahoma"/>
              </a:rPr>
              <a:t>is set  to point to the first tuple of the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result.</a:t>
            </a:r>
            <a:endParaRPr sz="2800" dirty="0">
              <a:latin typeface="Tahoma"/>
              <a:cs typeface="Tahoma"/>
            </a:endParaRPr>
          </a:p>
          <a:p>
            <a:pPr marL="415290" marR="5080" indent="-415290">
              <a:lnSpc>
                <a:spcPts val="4600"/>
              </a:lnSpc>
              <a:spcBef>
                <a:spcPts val="1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When finished with </a:t>
            </a:r>
            <a:r>
              <a:rPr sz="3350" i="1" spc="-550" dirty="0">
                <a:latin typeface="Tahoma"/>
                <a:cs typeface="Tahoma"/>
              </a:rPr>
              <a:t>c</a:t>
            </a:r>
            <a:r>
              <a:rPr sz="3200" spc="-55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issue command:  </a:t>
            </a:r>
            <a:r>
              <a:rPr sz="3200" spc="-10" dirty="0">
                <a:latin typeface="Tahoma"/>
                <a:cs typeface="Tahoma"/>
              </a:rPr>
              <a:t>CLOSE </a:t>
            </a:r>
            <a:r>
              <a:rPr sz="3200" spc="-5" dirty="0">
                <a:latin typeface="Tahoma"/>
                <a:cs typeface="Tahoma"/>
              </a:rPr>
              <a:t>c;</a:t>
            </a:r>
            <a:endParaRPr sz="32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0B7385E-B52A-4EDF-6E4D-A805B595F1DE}"/>
                  </a:ext>
                </a:extLst>
              </p14:cNvPr>
              <p14:cNvContentPartPr/>
              <p14:nvPr/>
            </p14:nvContentPartPr>
            <p14:xfrm>
              <a:off x="1720899" y="3101605"/>
              <a:ext cx="1370520" cy="1998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0B7385E-B52A-4EDF-6E4D-A805B595F1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7259" y="2993965"/>
                <a:ext cx="147816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915B4E2-28BC-CD81-AB70-070384FB31A2}"/>
                  </a:ext>
                </a:extLst>
              </p14:cNvPr>
              <p14:cNvContentPartPr/>
              <p14:nvPr/>
            </p14:nvContentPartPr>
            <p14:xfrm>
              <a:off x="1243179" y="5292565"/>
              <a:ext cx="1724400" cy="44604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915B4E2-28BC-CD81-AB70-070384FB31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89539" y="5184925"/>
                <a:ext cx="1832040" cy="66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4679" y="457200"/>
            <a:ext cx="658241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Fetching </a:t>
            </a:r>
            <a:r>
              <a:rPr spc="-75" dirty="0"/>
              <a:t>Tuples</a:t>
            </a:r>
            <a:r>
              <a:rPr lang="zh-CN" altLang="en-US" spc="-75" dirty="0"/>
              <a:t>获取元组</a:t>
            </a:r>
            <a:r>
              <a:rPr spc="-75" dirty="0"/>
              <a:t> </a:t>
            </a:r>
            <a:r>
              <a:rPr spc="-10" dirty="0"/>
              <a:t>From </a:t>
            </a:r>
            <a:r>
              <a:rPr dirty="0"/>
              <a:t>a</a:t>
            </a:r>
            <a:r>
              <a:rPr spc="85" dirty="0"/>
              <a:t> </a:t>
            </a:r>
            <a:r>
              <a:rPr spc="-5" dirty="0"/>
              <a:t>Cursor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73925" cy="4219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69265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get the next tuple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5" dirty="0">
                <a:latin typeface="Tahoma"/>
                <a:cs typeface="Tahoma"/>
              </a:rPr>
              <a:t>cursor c,  issue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command: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605"/>
              </a:spcBef>
            </a:pPr>
            <a:r>
              <a:rPr sz="3200" spc="-15" dirty="0">
                <a:latin typeface="Tahoma"/>
                <a:cs typeface="Tahoma"/>
              </a:rPr>
              <a:t>FETCH </a:t>
            </a:r>
            <a:r>
              <a:rPr sz="3200" spc="-5" dirty="0">
                <a:latin typeface="Tahoma"/>
                <a:cs typeface="Tahoma"/>
              </a:rPr>
              <a:t>FROM </a:t>
            </a:r>
            <a:r>
              <a:rPr sz="3200" dirty="0">
                <a:latin typeface="Tahoma"/>
                <a:cs typeface="Tahoma"/>
              </a:rPr>
              <a:t>c </a:t>
            </a:r>
            <a:r>
              <a:rPr sz="3200" spc="-20" dirty="0">
                <a:latin typeface="Tahoma"/>
                <a:cs typeface="Tahoma"/>
              </a:rPr>
              <a:t>INTO </a:t>
            </a:r>
            <a:r>
              <a:rPr sz="3200" spc="-5" dirty="0">
                <a:latin typeface="Tahoma"/>
                <a:cs typeface="Tahoma"/>
              </a:rPr>
              <a:t>x1,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45" dirty="0">
                <a:latin typeface="Tahoma"/>
                <a:cs typeface="Tahoma"/>
              </a:rPr>
              <a:t>x2,…,x</a:t>
            </a:r>
            <a:r>
              <a:rPr sz="3350" i="1" spc="-45" dirty="0">
                <a:latin typeface="Tahoma"/>
                <a:cs typeface="Tahoma"/>
              </a:rPr>
              <a:t>n</a:t>
            </a:r>
            <a:r>
              <a:rPr sz="3200" spc="-45" dirty="0">
                <a:latin typeface="Tahoma"/>
                <a:cs typeface="Tahoma"/>
              </a:rPr>
              <a:t>;</a:t>
            </a:r>
            <a:endParaRPr sz="3200" dirty="0">
              <a:latin typeface="Tahoma"/>
              <a:cs typeface="Tahoma"/>
            </a:endParaRPr>
          </a:p>
          <a:p>
            <a:pPr marL="355600" marR="5080" indent="-342900" algn="just">
              <a:lnSpc>
                <a:spcPts val="3840"/>
              </a:lnSpc>
              <a:spcBef>
                <a:spcPts val="86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</a:t>
            </a:r>
            <a:r>
              <a:rPr sz="3350" i="1" spc="-75" dirty="0">
                <a:latin typeface="Tahoma"/>
                <a:cs typeface="Tahoma"/>
              </a:rPr>
              <a:t>x</a:t>
            </a:r>
            <a:r>
              <a:rPr sz="3200" spc="-75" dirty="0">
                <a:latin typeface="Tahoma"/>
                <a:cs typeface="Tahoma"/>
              </a:rPr>
              <a:t>’s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list of </a:t>
            </a:r>
            <a:r>
              <a:rPr sz="3200" spc="-10" dirty="0">
                <a:latin typeface="Tahoma"/>
                <a:cs typeface="Tahoma"/>
              </a:rPr>
              <a:t>variables, </a:t>
            </a:r>
            <a:r>
              <a:rPr sz="3200" spc="-5" dirty="0">
                <a:latin typeface="Tahoma"/>
                <a:cs typeface="Tahoma"/>
              </a:rPr>
              <a:t>one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5" dirty="0">
                <a:latin typeface="Tahoma"/>
                <a:cs typeface="Tahoma"/>
              </a:rPr>
              <a:t>each component of the tuples </a:t>
            </a:r>
            <a:r>
              <a:rPr sz="3200" spc="-10" dirty="0">
                <a:latin typeface="Tahoma"/>
                <a:cs typeface="Tahoma"/>
              </a:rPr>
              <a:t>referred  </a:t>
            </a:r>
            <a:r>
              <a:rPr sz="3200" spc="-5" dirty="0">
                <a:latin typeface="Tahoma"/>
                <a:cs typeface="Tahoma"/>
              </a:rPr>
              <a:t>to by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550" dirty="0">
                <a:latin typeface="Tahoma"/>
                <a:cs typeface="Tahoma"/>
              </a:rPr>
              <a:t>c</a:t>
            </a:r>
            <a:r>
              <a:rPr sz="3200" spc="-55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55600" marR="348615" indent="-342900" algn="just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c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0" dirty="0">
                <a:latin typeface="Tahoma"/>
                <a:cs typeface="Tahoma"/>
              </a:rPr>
              <a:t>moved </a:t>
            </a:r>
            <a:r>
              <a:rPr sz="3200" spc="-5" dirty="0">
                <a:latin typeface="Tahoma"/>
                <a:cs typeface="Tahoma"/>
              </a:rPr>
              <a:t>automatically to the next  tuple.</a:t>
            </a:r>
            <a:endParaRPr sz="32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8274C4E4-D14D-B053-05C1-88370CEC0088}"/>
                  </a:ext>
                </a:extLst>
              </p14:cNvPr>
              <p14:cNvContentPartPr/>
              <p14:nvPr/>
            </p14:nvContentPartPr>
            <p14:xfrm>
              <a:off x="1730259" y="3209245"/>
              <a:ext cx="6290640" cy="4017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8274C4E4-D14D-B053-05C1-88370CEC00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6259" y="3101245"/>
                <a:ext cx="6398280" cy="61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010" y="829944"/>
            <a:ext cx="69526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Breaking Cursor Loops </a:t>
            </a:r>
            <a:r>
              <a:rPr dirty="0"/>
              <a:t>–</a:t>
            </a:r>
            <a:r>
              <a:rPr spc="-35" dirty="0"/>
              <a:t> </a:t>
            </a:r>
            <a:r>
              <a:rPr spc="-5" dirty="0"/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06945" cy="3537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905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usual </a:t>
            </a:r>
            <a:r>
              <a:rPr sz="3200" spc="-20" dirty="0">
                <a:latin typeface="Tahoma"/>
                <a:cs typeface="Tahoma"/>
              </a:rPr>
              <a:t>way </a:t>
            </a:r>
            <a:r>
              <a:rPr sz="3200" spc="-5" dirty="0">
                <a:latin typeface="Tahoma"/>
                <a:cs typeface="Tahoma"/>
              </a:rPr>
              <a:t>to use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cursor is to  create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loop with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FETCH </a:t>
            </a:r>
            <a:r>
              <a:rPr sz="3200" spc="-5" dirty="0">
                <a:latin typeface="Tahoma"/>
                <a:cs typeface="Tahoma"/>
              </a:rPr>
              <a:t>statement,  and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something with each tuple  </a:t>
            </a:r>
            <a:r>
              <a:rPr sz="3200" spc="-10" dirty="0">
                <a:latin typeface="Tahoma"/>
                <a:cs typeface="Tahoma"/>
              </a:rPr>
              <a:t>fetched.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tricky point is how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get out of the  loop when the cursor has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more  tuples to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deliver.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010" y="829944"/>
            <a:ext cx="69526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Breaking Cursor Loops </a:t>
            </a:r>
            <a:r>
              <a:rPr dirty="0"/>
              <a:t>–</a:t>
            </a:r>
            <a:r>
              <a:rPr spc="-35" dirty="0"/>
              <a:t> </a:t>
            </a:r>
            <a:r>
              <a:rPr spc="-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016750" cy="303339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Each SQL </a:t>
            </a:r>
            <a:r>
              <a:rPr sz="3200" spc="-10" dirty="0">
                <a:latin typeface="Tahoma"/>
                <a:cs typeface="Tahoma"/>
              </a:rPr>
              <a:t>operation </a:t>
            </a:r>
            <a:r>
              <a:rPr sz="3200" spc="-5" dirty="0">
                <a:latin typeface="Tahoma"/>
                <a:cs typeface="Tahoma"/>
              </a:rPr>
              <a:t>returns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lang="en-US" altLang="zh-CN" sz="3600" dirty="0">
                <a:effectLst/>
              </a:rPr>
              <a:t>status</a:t>
            </a:r>
            <a:r>
              <a:rPr sz="3200" spc="-1045" dirty="0">
                <a:latin typeface="Tahoma"/>
                <a:cs typeface="Tahoma"/>
              </a:rPr>
              <a:t>, </a:t>
            </a:r>
            <a:r>
              <a:rPr sz="3200" spc="-99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which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5-digit </a:t>
            </a:r>
            <a:r>
              <a:rPr sz="3200" spc="-10" dirty="0">
                <a:latin typeface="Tahoma"/>
                <a:cs typeface="Tahoma"/>
              </a:rPr>
              <a:t>character</a:t>
            </a:r>
            <a:r>
              <a:rPr sz="3200" spc="-5" dirty="0">
                <a:latin typeface="Tahoma"/>
                <a:cs typeface="Tahoma"/>
              </a:rPr>
              <a:t> string.</a:t>
            </a:r>
            <a:endParaRPr sz="3200" dirty="0">
              <a:latin typeface="Tahoma"/>
              <a:cs typeface="Tahoma"/>
            </a:endParaRPr>
          </a:p>
          <a:p>
            <a:pPr marL="755650" marR="68580" lvl="1" indent="-285750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2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example, 00000 = “Everything </a:t>
            </a:r>
            <a:r>
              <a:rPr sz="2800" spc="-75" dirty="0">
                <a:latin typeface="Tahoma"/>
                <a:cs typeface="Tahoma"/>
              </a:rPr>
              <a:t>OK,”  </a:t>
            </a:r>
            <a:r>
              <a:rPr sz="2800" spc="-5" dirty="0">
                <a:latin typeface="Tahoma"/>
                <a:cs typeface="Tahoma"/>
              </a:rPr>
              <a:t>and 02000 = </a:t>
            </a:r>
            <a:r>
              <a:rPr sz="2800" spc="-25" dirty="0">
                <a:latin typeface="Tahoma"/>
                <a:cs typeface="Tahoma"/>
              </a:rPr>
              <a:t>“Failed </a:t>
            </a:r>
            <a:r>
              <a:rPr sz="2800" spc="-5" dirty="0">
                <a:latin typeface="Tahoma"/>
                <a:cs typeface="Tahoma"/>
              </a:rPr>
              <a:t>to find a</a:t>
            </a:r>
            <a:r>
              <a:rPr sz="2800" spc="60" dirty="0">
                <a:latin typeface="Tahoma"/>
                <a:cs typeface="Tahoma"/>
              </a:rPr>
              <a:t> </a:t>
            </a:r>
            <a:r>
              <a:rPr sz="2800" spc="-45" dirty="0">
                <a:latin typeface="Tahoma"/>
                <a:cs typeface="Tahoma"/>
              </a:rPr>
              <a:t>tuple.”</a:t>
            </a:r>
            <a:endParaRPr sz="2800" dirty="0">
              <a:latin typeface="Tahoma"/>
              <a:cs typeface="Tahoma"/>
            </a:endParaRPr>
          </a:p>
          <a:p>
            <a:pPr marL="355600" marR="2540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spc="-5" dirty="0">
                <a:latin typeface="Tahoma"/>
                <a:cs typeface="Tahoma"/>
              </a:rPr>
              <a:t>PSM,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get the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200" spc="-5" dirty="0">
                <a:latin typeface="Tahoma"/>
                <a:cs typeface="Tahoma"/>
              </a:rPr>
              <a:t>of the  status 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variable </a:t>
            </a:r>
            <a:r>
              <a:rPr sz="3200" spc="-5" dirty="0">
                <a:latin typeface="Tahoma"/>
                <a:cs typeface="Tahoma"/>
              </a:rPr>
              <a:t>called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45" dirty="0">
                <a:latin typeface="Tahoma"/>
                <a:cs typeface="Tahoma"/>
              </a:rPr>
              <a:t>SQLSTATE.</a:t>
            </a:r>
            <a:endParaRPr sz="32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39AD54F0-14BA-DA5A-0E67-85B461463975}"/>
                  </a:ext>
                </a:extLst>
              </p14:cNvPr>
              <p14:cNvContentPartPr/>
              <p14:nvPr/>
            </p14:nvContentPartPr>
            <p14:xfrm>
              <a:off x="3603699" y="2942845"/>
              <a:ext cx="4226400" cy="3686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39AD54F0-14BA-DA5A-0E67-85B4614639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49699" y="2834845"/>
                <a:ext cx="433404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AB32263-B056-110A-C4AE-77F50E0CF2AA}"/>
                  </a:ext>
                </a:extLst>
              </p14:cNvPr>
              <p14:cNvContentPartPr/>
              <p14:nvPr/>
            </p14:nvContentPartPr>
            <p14:xfrm>
              <a:off x="5871699" y="4706125"/>
              <a:ext cx="1547640" cy="1908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AB32263-B056-110A-C4AE-77F50E0CF2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18059" y="4598485"/>
                <a:ext cx="1655280" cy="40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010" y="829944"/>
            <a:ext cx="69526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Breaking Cursor Loops </a:t>
            </a:r>
            <a:r>
              <a:rPr dirty="0"/>
              <a:t>–</a:t>
            </a:r>
            <a:r>
              <a:rPr spc="-35" dirty="0"/>
              <a:t> </a:t>
            </a:r>
            <a:r>
              <a:rPr spc="-5" dirty="0"/>
              <a:t>(3)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414259" cy="3727944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 algn="just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spc="-5" dirty="0">
                <a:latin typeface="Tahoma"/>
                <a:cs typeface="Tahoma"/>
              </a:rPr>
              <a:t>declare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lang="en-US" altLang="zh-CN" sz="3600" dirty="0">
                <a:effectLst/>
              </a:rPr>
              <a:t>condition</a:t>
            </a:r>
            <a:r>
              <a:rPr sz="3200" spc="-1015" dirty="0">
                <a:latin typeface="Tahoma"/>
                <a:cs typeface="Tahoma"/>
              </a:rPr>
              <a:t>,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which is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boolean </a:t>
            </a:r>
            <a:r>
              <a:rPr sz="3200" spc="-10" dirty="0">
                <a:latin typeface="Tahoma"/>
                <a:cs typeface="Tahoma"/>
              </a:rPr>
              <a:t>variable </a:t>
            </a:r>
            <a:r>
              <a:rPr sz="3200" spc="-5" dirty="0">
                <a:latin typeface="Tahoma"/>
                <a:cs typeface="Tahoma"/>
              </a:rPr>
              <a:t>that is true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and only 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0" dirty="0">
                <a:latin typeface="Tahoma"/>
                <a:cs typeface="Tahoma"/>
              </a:rPr>
              <a:t>SQLSTATE </a:t>
            </a:r>
            <a:r>
              <a:rPr sz="3200" spc="-5" dirty="0">
                <a:latin typeface="Tahoma"/>
                <a:cs typeface="Tahoma"/>
              </a:rPr>
              <a:t>has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particular</a:t>
            </a:r>
            <a:r>
              <a:rPr sz="3200" spc="30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value.</a:t>
            </a:r>
            <a:endParaRPr sz="3200" dirty="0">
              <a:latin typeface="Tahoma"/>
              <a:cs typeface="Tahoma"/>
            </a:endParaRPr>
          </a:p>
          <a:p>
            <a:pPr marL="414655" indent="-402590" algn="just">
              <a:lnSpc>
                <a:spcPts val="3765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declare</a:t>
            </a:r>
            <a:r>
              <a:rPr sz="3200" spc="4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condition</a:t>
            </a:r>
            <a:endParaRPr sz="3200" dirty="0">
              <a:latin typeface="Tahoma"/>
              <a:cs typeface="Tahoma"/>
            </a:endParaRPr>
          </a:p>
          <a:p>
            <a:pPr marL="355600" algn="just">
              <a:lnSpc>
                <a:spcPts val="3765"/>
              </a:lnSpc>
            </a:pPr>
            <a:r>
              <a:rPr sz="3200" spc="-5" dirty="0">
                <a:latin typeface="Courier New"/>
                <a:cs typeface="Courier New"/>
              </a:rPr>
              <a:t>NotFound</a:t>
            </a:r>
            <a:r>
              <a:rPr sz="3200" spc="-919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0" dirty="0">
                <a:latin typeface="Tahoma"/>
                <a:cs typeface="Tahoma"/>
              </a:rPr>
              <a:t>represent </a:t>
            </a:r>
            <a:r>
              <a:rPr sz="3200" spc="-5" dirty="0">
                <a:latin typeface="Tahoma"/>
                <a:cs typeface="Tahoma"/>
              </a:rPr>
              <a:t>02000 by: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3200" spc="-5" dirty="0">
                <a:latin typeface="Courier New"/>
                <a:cs typeface="Courier New"/>
              </a:rPr>
              <a:t>DECLARE NotFound CONDITION FOR</a:t>
            </a:r>
            <a:endParaRPr sz="3200" dirty="0">
              <a:latin typeface="Courier New"/>
              <a:cs typeface="Courier New"/>
            </a:endParaRPr>
          </a:p>
          <a:p>
            <a:pPr marL="355600" algn="just">
              <a:lnSpc>
                <a:spcPct val="100000"/>
              </a:lnSpc>
              <a:spcBef>
                <a:spcPts val="875"/>
              </a:spcBef>
            </a:pPr>
            <a:r>
              <a:rPr sz="3200" spc="-5" dirty="0">
                <a:latin typeface="Courier New"/>
                <a:cs typeface="Courier New"/>
              </a:rPr>
              <a:t>SQLSTATE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’02000’;</a:t>
            </a:r>
            <a:endParaRPr sz="3200" dirty="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05E2DECC-FD9B-FF8E-1F6F-FAFD618018CA}"/>
                  </a:ext>
                </a:extLst>
              </p14:cNvPr>
              <p14:cNvContentPartPr/>
              <p14:nvPr/>
            </p14:nvContentPartPr>
            <p14:xfrm>
              <a:off x="932139" y="4703245"/>
              <a:ext cx="1526040" cy="1807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05E2DECC-FD9B-FF8E-1F6F-FAFD618018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8499" y="4595605"/>
                <a:ext cx="163368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1F7F1016-DE86-222A-3E3F-814B1894B9A0}"/>
                  </a:ext>
                </a:extLst>
              </p14:cNvPr>
              <p14:cNvContentPartPr/>
              <p14:nvPr/>
            </p14:nvContentPartPr>
            <p14:xfrm>
              <a:off x="5019939" y="4817365"/>
              <a:ext cx="3268800" cy="864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1F7F1016-DE86-222A-3E3F-814B1894B9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6299" y="4709725"/>
                <a:ext cx="337644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E1483302-44BC-45E4-9E01-33D1F092E1FF}"/>
                  </a:ext>
                </a:extLst>
              </p14:cNvPr>
              <p14:cNvContentPartPr/>
              <p14:nvPr/>
            </p14:nvContentPartPr>
            <p14:xfrm>
              <a:off x="1335699" y="5213365"/>
              <a:ext cx="2233080" cy="2541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E1483302-44BC-45E4-9E01-33D1F092E1F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2059" y="5105725"/>
                <a:ext cx="2340720" cy="46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3</a:t>
            </a:r>
            <a:r>
              <a:rPr sz="1400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6010" y="829944"/>
            <a:ext cx="69526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Breaking Cursor Loops </a:t>
            </a:r>
            <a:r>
              <a:rPr dirty="0"/>
              <a:t>–</a:t>
            </a:r>
            <a:r>
              <a:rPr spc="-35" dirty="0"/>
              <a:t> </a:t>
            </a:r>
            <a:r>
              <a:rPr spc="-5" dirty="0"/>
              <a:t>(4)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74722"/>
            <a:ext cx="6311900" cy="3954779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40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The structure of a cursor loop is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thus: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800" spc="-5" dirty="0">
                <a:latin typeface="Courier New"/>
                <a:cs typeface="Courier New"/>
              </a:rPr>
              <a:t>cursorLoop: LOOP</a:t>
            </a:r>
            <a:endParaRPr sz="2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Courier New"/>
                <a:cs typeface="Courier New"/>
              </a:rPr>
              <a:t>…</a:t>
            </a:r>
            <a:endParaRPr sz="2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ourier New"/>
                <a:cs typeface="Courier New"/>
              </a:rPr>
              <a:t>FETCH c INTO … ;</a:t>
            </a:r>
            <a:endParaRPr sz="2800">
              <a:latin typeface="Courier New"/>
              <a:cs typeface="Courier New"/>
            </a:endParaRPr>
          </a:p>
          <a:p>
            <a:pPr marL="355600" marR="1254760">
              <a:lnSpc>
                <a:spcPts val="3260"/>
              </a:lnSpc>
              <a:spcBef>
                <a:spcPts val="860"/>
              </a:spcBef>
            </a:pPr>
            <a:r>
              <a:rPr sz="2800" spc="-5" dirty="0">
                <a:latin typeface="Courier New"/>
                <a:cs typeface="Courier New"/>
              </a:rPr>
              <a:t>IF NotFound THEN LEAVE  cursorLoop;</a:t>
            </a:r>
            <a:endParaRPr sz="2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Courier New"/>
                <a:cs typeface="Courier New"/>
              </a:rPr>
              <a:t>END IF;</a:t>
            </a:r>
            <a:endParaRPr sz="2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ourier New"/>
                <a:cs typeface="Courier New"/>
              </a:rPr>
              <a:t>…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5977254"/>
            <a:ext cx="194563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ourier New"/>
                <a:cs typeface="Courier New"/>
              </a:rPr>
              <a:t>END</a:t>
            </a:r>
            <a:r>
              <a:rPr sz="2800" spc="-8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LOOP;</a:t>
            </a:r>
            <a:endParaRPr sz="28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B8EE936-9462-5A33-5D32-2485AB9AD554}"/>
                  </a:ext>
                </a:extLst>
              </p14:cNvPr>
              <p14:cNvContentPartPr/>
              <p14:nvPr/>
            </p14:nvContentPartPr>
            <p14:xfrm>
              <a:off x="869139" y="2617405"/>
              <a:ext cx="3259800" cy="2250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B8EE936-9462-5A33-5D32-2485AB9AD5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5499" y="2509405"/>
                <a:ext cx="336744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23B2359-A1B2-D76B-3FCA-CDA160846C75}"/>
                  </a:ext>
                </a:extLst>
              </p14:cNvPr>
              <p14:cNvContentPartPr/>
              <p14:nvPr/>
            </p14:nvContentPartPr>
            <p14:xfrm>
              <a:off x="896139" y="6176365"/>
              <a:ext cx="1858320" cy="15372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23B2359-A1B2-D76B-3FCA-CDA160846C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2499" y="6068725"/>
                <a:ext cx="196596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D0A05BC4-A986-BDDD-AD34-BA69CD13E427}"/>
                  </a:ext>
                </a:extLst>
              </p14:cNvPr>
              <p14:cNvContentPartPr/>
              <p14:nvPr/>
            </p14:nvContentPartPr>
            <p14:xfrm>
              <a:off x="1066419" y="4277005"/>
              <a:ext cx="658080" cy="828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D0A05BC4-A986-BDDD-AD34-BA69CD13E4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2779" y="4169005"/>
                <a:ext cx="76572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93A00320-4CCA-9478-3A7C-2140AD8C1778}"/>
                  </a:ext>
                </a:extLst>
              </p14:cNvPr>
              <p14:cNvContentPartPr/>
              <p14:nvPr/>
            </p14:nvContentPartPr>
            <p14:xfrm>
              <a:off x="1003779" y="5234965"/>
              <a:ext cx="1553400" cy="15588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93A00320-4CCA-9478-3A7C-2140AD8C177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0139" y="5127325"/>
                <a:ext cx="166104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9536536C-F7F3-5740-EF38-FA856C42499B}"/>
                  </a:ext>
                </a:extLst>
              </p14:cNvPr>
              <p14:cNvContentPartPr/>
              <p14:nvPr/>
            </p14:nvContentPartPr>
            <p14:xfrm>
              <a:off x="3603699" y="4192765"/>
              <a:ext cx="1218600" cy="25560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9536536C-F7F3-5740-EF38-FA856C42499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49699" y="4084765"/>
                <a:ext cx="1326240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A87BDB61-F8D0-1D13-D548-7991EA712ED4}"/>
                  </a:ext>
                </a:extLst>
              </p14:cNvPr>
              <p14:cNvContentPartPr/>
              <p14:nvPr/>
            </p14:nvContentPartPr>
            <p14:xfrm>
              <a:off x="1255059" y="3717565"/>
              <a:ext cx="1398240" cy="6588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A87BDB61-F8D0-1D13-D548-7991EA712ED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01059" y="3609925"/>
                <a:ext cx="1505880" cy="281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9839" y="829944"/>
            <a:ext cx="40849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5" dirty="0"/>
              <a:t> </a:t>
            </a:r>
            <a:r>
              <a:rPr spc="-5" dirty="0"/>
              <a:t>Cursor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17105" cy="33420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Let’s </a:t>
            </a:r>
            <a:r>
              <a:rPr sz="3200" dirty="0">
                <a:latin typeface="Tahoma"/>
                <a:cs typeface="Tahoma"/>
              </a:rPr>
              <a:t>write a </a:t>
            </a:r>
            <a:r>
              <a:rPr sz="3200" spc="-10" dirty="0">
                <a:latin typeface="Tahoma"/>
                <a:cs typeface="Tahoma"/>
              </a:rPr>
              <a:t>procedure </a:t>
            </a:r>
            <a:r>
              <a:rPr sz="3200" spc="-5" dirty="0">
                <a:latin typeface="Tahoma"/>
                <a:cs typeface="Tahoma"/>
              </a:rPr>
              <a:t>that examines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and </a:t>
            </a:r>
            <a:r>
              <a:rPr sz="3200" spc="-15" dirty="0">
                <a:latin typeface="Tahoma"/>
                <a:cs typeface="Tahoma"/>
              </a:rPr>
              <a:t>raises </a:t>
            </a:r>
            <a:r>
              <a:rPr sz="3200" spc="-5" dirty="0">
                <a:latin typeface="Tahoma"/>
                <a:cs typeface="Tahoma"/>
              </a:rPr>
              <a:t>by </a:t>
            </a:r>
            <a:r>
              <a:rPr sz="3200" dirty="0">
                <a:latin typeface="Tahoma"/>
                <a:cs typeface="Tahoma"/>
              </a:rPr>
              <a:t>$1  </a:t>
            </a:r>
            <a:r>
              <a:rPr sz="3200" spc="-5" dirty="0">
                <a:latin typeface="Tahoma"/>
                <a:cs typeface="Tahoma"/>
              </a:rPr>
              <a:t>the price of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beers at </a:t>
            </a:r>
            <a:r>
              <a:rPr sz="3200" spc="-25" dirty="0">
                <a:latin typeface="Tahoma"/>
                <a:cs typeface="Tahoma"/>
              </a:rPr>
              <a:t>Joe’s </a:t>
            </a:r>
            <a:r>
              <a:rPr sz="3200" dirty="0">
                <a:latin typeface="Tahoma"/>
                <a:cs typeface="Tahoma"/>
              </a:rPr>
              <a:t>Bar </a:t>
            </a:r>
            <a:r>
              <a:rPr sz="3200" spc="-5" dirty="0">
                <a:latin typeface="Tahoma"/>
                <a:cs typeface="Tahoma"/>
              </a:rPr>
              <a:t>that 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under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$3.</a:t>
            </a:r>
            <a:endParaRPr sz="3200">
              <a:latin typeface="Tahoma"/>
              <a:cs typeface="Tahoma"/>
            </a:endParaRPr>
          </a:p>
          <a:p>
            <a:pPr marL="755650" marR="48196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45" dirty="0">
                <a:latin typeface="Tahoma"/>
                <a:cs typeface="Tahoma"/>
              </a:rPr>
              <a:t>Yes, </a:t>
            </a:r>
            <a:r>
              <a:rPr sz="2800" spc="-5" dirty="0">
                <a:latin typeface="Tahoma"/>
                <a:cs typeface="Tahoma"/>
              </a:rPr>
              <a:t>we could write this as a simple  </a:t>
            </a:r>
            <a:r>
              <a:rPr sz="2800" spc="-30" dirty="0">
                <a:latin typeface="Tahoma"/>
                <a:cs typeface="Tahoma"/>
              </a:rPr>
              <a:t>UPDATE, </a:t>
            </a:r>
            <a:r>
              <a:rPr sz="2800" spc="-5" dirty="0">
                <a:latin typeface="Tahoma"/>
                <a:cs typeface="Tahoma"/>
              </a:rPr>
              <a:t>but the details </a:t>
            </a:r>
            <a:r>
              <a:rPr sz="2800" spc="-10" dirty="0">
                <a:latin typeface="Tahoma"/>
                <a:cs typeface="Tahoma"/>
              </a:rPr>
              <a:t>are </a:t>
            </a:r>
            <a:r>
              <a:rPr sz="2800" spc="-5" dirty="0">
                <a:latin typeface="Tahoma"/>
                <a:cs typeface="Tahoma"/>
              </a:rPr>
              <a:t>instructive  </a:t>
            </a:r>
            <a:r>
              <a:rPr sz="2800" spc="-50" dirty="0">
                <a:latin typeface="Tahoma"/>
                <a:cs typeface="Tahoma"/>
              </a:rPr>
              <a:t>anyway.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4469" y="829944"/>
            <a:ext cx="61950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Needed</a:t>
            </a:r>
            <a:r>
              <a:rPr spc="-60" dirty="0"/>
              <a:t> </a:t>
            </a:r>
            <a:r>
              <a:rPr spc="-10" dirty="0"/>
              <a:t>Declarations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19"/>
            <a:ext cx="538162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latin typeface="Tahoma"/>
                <a:cs typeface="Tahoma"/>
              </a:rPr>
              <a:t>CREATE </a:t>
            </a:r>
            <a:r>
              <a:rPr sz="2800" spc="-5" dirty="0">
                <a:latin typeface="Tahoma"/>
                <a:cs typeface="Tahoma"/>
              </a:rPr>
              <a:t>PROCEDURE JoeGouge(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139" y="2537286"/>
            <a:ext cx="4571365" cy="940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15" dirty="0">
                <a:latin typeface="Tahoma"/>
                <a:cs typeface="Tahoma"/>
              </a:rPr>
              <a:t>DECLARE </a:t>
            </a:r>
            <a:r>
              <a:rPr sz="2800" spc="-5" dirty="0">
                <a:latin typeface="Tahoma"/>
                <a:cs typeface="Tahoma"/>
              </a:rPr>
              <a:t>theBeer CHAR(20);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r>
              <a:rPr sz="2800" spc="-15" dirty="0">
                <a:latin typeface="Tahoma"/>
                <a:cs typeface="Tahoma"/>
              </a:rPr>
              <a:t>DECLARE </a:t>
            </a:r>
            <a:r>
              <a:rPr sz="2800" spc="-5" dirty="0">
                <a:latin typeface="Tahoma"/>
                <a:cs typeface="Tahoma"/>
              </a:rPr>
              <a:t>thePrice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REAL;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7439" y="3462528"/>
            <a:ext cx="5891530" cy="104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5080" indent="-571500">
              <a:lnSpc>
                <a:spcPct val="119900"/>
              </a:lnSpc>
              <a:spcBef>
                <a:spcPts val="100"/>
              </a:spcBef>
            </a:pPr>
            <a:r>
              <a:rPr sz="2800" spc="-15" dirty="0">
                <a:latin typeface="Tahoma"/>
                <a:cs typeface="Tahoma"/>
              </a:rPr>
              <a:t>DECLARE NotFound </a:t>
            </a:r>
            <a:r>
              <a:rPr sz="2800" spc="-5" dirty="0">
                <a:latin typeface="Tahoma"/>
                <a:cs typeface="Tahoma"/>
              </a:rPr>
              <a:t>CONDITION FOR  </a:t>
            </a:r>
            <a:r>
              <a:rPr sz="2800" spc="-45" dirty="0">
                <a:latin typeface="Tahoma"/>
                <a:cs typeface="Tahoma"/>
              </a:rPr>
              <a:t>SQLSTATE</a:t>
            </a:r>
            <a:r>
              <a:rPr sz="2800" spc="-5" dirty="0">
                <a:latin typeface="Tahoma"/>
                <a:cs typeface="Tahoma"/>
              </a:rPr>
              <a:t> ’02000’;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439" y="4572000"/>
            <a:ext cx="39751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Tahoma"/>
                <a:cs typeface="Tahoma"/>
              </a:rPr>
              <a:t>DECLARE </a:t>
            </a:r>
            <a:r>
              <a:rPr sz="2800" spc="-5" dirty="0">
                <a:latin typeface="Tahoma"/>
                <a:cs typeface="Tahoma"/>
              </a:rPr>
              <a:t>c CURSOR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FOR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1639" y="5096336"/>
            <a:ext cx="4932045" cy="940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(SELECT </a:t>
            </a:r>
            <a:r>
              <a:rPr sz="2800" spc="-80" dirty="0">
                <a:latin typeface="Tahoma"/>
                <a:cs typeface="Tahoma"/>
              </a:rPr>
              <a:t>beer, </a:t>
            </a:r>
            <a:r>
              <a:rPr sz="2800" spc="-5" dirty="0">
                <a:latin typeface="Tahoma"/>
                <a:cs typeface="Tahoma"/>
              </a:rPr>
              <a:t>price FROM</a:t>
            </a:r>
            <a:r>
              <a:rPr sz="2800" spc="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Sells</a:t>
            </a:r>
            <a:endParaRPr sz="2800">
              <a:latin typeface="Tahoma"/>
              <a:cs typeface="Tahoma"/>
            </a:endParaRPr>
          </a:p>
          <a:p>
            <a:pPr marL="111125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WHERE bar = </a:t>
            </a:r>
            <a:r>
              <a:rPr sz="2800" spc="-20" dirty="0">
                <a:latin typeface="Tahoma"/>
                <a:cs typeface="Tahoma"/>
              </a:rPr>
              <a:t>’Joe’’s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5" dirty="0">
                <a:latin typeface="Tahoma"/>
                <a:cs typeface="Tahoma"/>
              </a:rPr>
              <a:t>Bar’);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4400" y="2438400"/>
            <a:ext cx="5410200" cy="1066800"/>
          </a:xfrm>
          <a:custGeom>
            <a:avLst/>
            <a:gdLst/>
            <a:ahLst/>
            <a:cxnLst/>
            <a:rect l="l" t="t" r="r" b="b"/>
            <a:pathLst>
              <a:path w="5410200" h="1066800">
                <a:moveTo>
                  <a:pt x="0" y="0"/>
                </a:moveTo>
                <a:lnTo>
                  <a:pt x="5410200" y="0"/>
                </a:lnTo>
                <a:lnTo>
                  <a:pt x="54102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09637" y="2433637"/>
            <a:ext cx="5419725" cy="1076325"/>
          </a:xfrm>
          <a:custGeom>
            <a:avLst/>
            <a:gdLst/>
            <a:ahLst/>
            <a:cxnLst/>
            <a:rect l="l" t="t" r="r" b="b"/>
            <a:pathLst>
              <a:path w="5419725" h="1076325">
                <a:moveTo>
                  <a:pt x="5419725" y="1076325"/>
                </a:moveTo>
                <a:lnTo>
                  <a:pt x="0" y="1076325"/>
                </a:lnTo>
                <a:lnTo>
                  <a:pt x="0" y="0"/>
                </a:lnTo>
                <a:lnTo>
                  <a:pt x="5419725" y="0"/>
                </a:lnTo>
                <a:lnTo>
                  <a:pt x="541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066800"/>
                </a:lnTo>
                <a:lnTo>
                  <a:pt x="4762" y="1066800"/>
                </a:lnTo>
                <a:lnTo>
                  <a:pt x="9525" y="1071562"/>
                </a:lnTo>
                <a:lnTo>
                  <a:pt x="5419725" y="1071562"/>
                </a:lnTo>
                <a:lnTo>
                  <a:pt x="5419725" y="1076325"/>
                </a:lnTo>
                <a:close/>
              </a:path>
              <a:path w="5419725" h="1076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19725" h="1076325">
                <a:moveTo>
                  <a:pt x="541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410200" y="4762"/>
                </a:lnTo>
                <a:lnTo>
                  <a:pt x="5410200" y="9525"/>
                </a:lnTo>
                <a:close/>
              </a:path>
              <a:path w="5419725" h="1076325">
                <a:moveTo>
                  <a:pt x="5410200" y="1071562"/>
                </a:moveTo>
                <a:lnTo>
                  <a:pt x="5410200" y="4762"/>
                </a:lnTo>
                <a:lnTo>
                  <a:pt x="5414962" y="9525"/>
                </a:lnTo>
                <a:lnTo>
                  <a:pt x="5419725" y="9525"/>
                </a:lnTo>
                <a:lnTo>
                  <a:pt x="5419725" y="1066800"/>
                </a:lnTo>
                <a:lnTo>
                  <a:pt x="5414962" y="1066800"/>
                </a:lnTo>
                <a:lnTo>
                  <a:pt x="5410200" y="1071562"/>
                </a:lnTo>
                <a:close/>
              </a:path>
              <a:path w="5419725" h="1076325">
                <a:moveTo>
                  <a:pt x="5419725" y="9525"/>
                </a:moveTo>
                <a:lnTo>
                  <a:pt x="5414962" y="9525"/>
                </a:lnTo>
                <a:lnTo>
                  <a:pt x="5410200" y="4762"/>
                </a:lnTo>
                <a:lnTo>
                  <a:pt x="5419725" y="4762"/>
                </a:lnTo>
                <a:lnTo>
                  <a:pt x="5419725" y="9525"/>
                </a:lnTo>
                <a:close/>
              </a:path>
              <a:path w="5419725" h="1076325">
                <a:moveTo>
                  <a:pt x="9525" y="1071562"/>
                </a:moveTo>
                <a:lnTo>
                  <a:pt x="4762" y="1066800"/>
                </a:lnTo>
                <a:lnTo>
                  <a:pt x="9525" y="1066800"/>
                </a:lnTo>
                <a:lnTo>
                  <a:pt x="9525" y="1071562"/>
                </a:lnTo>
                <a:close/>
              </a:path>
              <a:path w="5419725" h="1076325">
                <a:moveTo>
                  <a:pt x="5410200" y="1071562"/>
                </a:moveTo>
                <a:lnTo>
                  <a:pt x="9525" y="1071562"/>
                </a:lnTo>
                <a:lnTo>
                  <a:pt x="9525" y="1066800"/>
                </a:lnTo>
                <a:lnTo>
                  <a:pt x="5410200" y="1066800"/>
                </a:lnTo>
                <a:lnTo>
                  <a:pt x="5410200" y="1071562"/>
                </a:lnTo>
                <a:close/>
              </a:path>
              <a:path w="5419725" h="1076325">
                <a:moveTo>
                  <a:pt x="5419725" y="1071562"/>
                </a:moveTo>
                <a:lnTo>
                  <a:pt x="5410200" y="1071562"/>
                </a:lnTo>
                <a:lnTo>
                  <a:pt x="5414962" y="1066800"/>
                </a:lnTo>
                <a:lnTo>
                  <a:pt x="5419725" y="1066800"/>
                </a:lnTo>
                <a:lnTo>
                  <a:pt x="5419725" y="1071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012940" y="2241549"/>
            <a:ext cx="187388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ahoma"/>
                <a:cs typeface="Tahoma"/>
              </a:rPr>
              <a:t>Used </a:t>
            </a:r>
            <a:r>
              <a:rPr sz="2000" spc="-5" dirty="0">
                <a:latin typeface="Tahoma"/>
                <a:cs typeface="Tahoma"/>
              </a:rPr>
              <a:t>to hold  beer-price pairs  when fetching  through cursor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24600" y="2890875"/>
            <a:ext cx="610235" cy="109855"/>
          </a:xfrm>
          <a:custGeom>
            <a:avLst/>
            <a:gdLst/>
            <a:ahLst/>
            <a:cxnLst/>
            <a:rect l="l" t="t" r="r" b="b"/>
            <a:pathLst>
              <a:path w="610234" h="109855">
                <a:moveTo>
                  <a:pt x="76206" y="76199"/>
                </a:moveTo>
                <a:lnTo>
                  <a:pt x="75025" y="66750"/>
                </a:lnTo>
                <a:lnTo>
                  <a:pt x="609015" y="0"/>
                </a:lnTo>
                <a:lnTo>
                  <a:pt x="610196" y="9448"/>
                </a:lnTo>
                <a:lnTo>
                  <a:pt x="76206" y="76199"/>
                </a:lnTo>
                <a:close/>
              </a:path>
              <a:path w="610234" h="109855">
                <a:moveTo>
                  <a:pt x="80340" y="109283"/>
                </a:moveTo>
                <a:lnTo>
                  <a:pt x="0" y="80924"/>
                </a:lnTo>
                <a:lnTo>
                  <a:pt x="70891" y="33667"/>
                </a:lnTo>
                <a:lnTo>
                  <a:pt x="75025" y="66750"/>
                </a:lnTo>
                <a:lnTo>
                  <a:pt x="56121" y="69113"/>
                </a:lnTo>
                <a:lnTo>
                  <a:pt x="57302" y="78562"/>
                </a:lnTo>
                <a:lnTo>
                  <a:pt x="76501" y="78562"/>
                </a:lnTo>
                <a:lnTo>
                  <a:pt x="80340" y="109283"/>
                </a:lnTo>
                <a:close/>
              </a:path>
              <a:path w="610234" h="109855">
                <a:moveTo>
                  <a:pt x="57302" y="78562"/>
                </a:moveTo>
                <a:lnTo>
                  <a:pt x="56121" y="69113"/>
                </a:lnTo>
                <a:lnTo>
                  <a:pt x="75025" y="66750"/>
                </a:lnTo>
                <a:lnTo>
                  <a:pt x="76206" y="76199"/>
                </a:lnTo>
                <a:lnTo>
                  <a:pt x="57302" y="78562"/>
                </a:lnTo>
                <a:close/>
              </a:path>
              <a:path w="610234" h="109855">
                <a:moveTo>
                  <a:pt x="76501" y="78562"/>
                </a:moveTo>
                <a:lnTo>
                  <a:pt x="57302" y="78562"/>
                </a:lnTo>
                <a:lnTo>
                  <a:pt x="76206" y="76199"/>
                </a:lnTo>
                <a:lnTo>
                  <a:pt x="76501" y="78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0" y="5105400"/>
            <a:ext cx="5791200" cy="1143000"/>
          </a:xfrm>
          <a:custGeom>
            <a:avLst/>
            <a:gdLst/>
            <a:ahLst/>
            <a:cxnLst/>
            <a:rect l="l" t="t" r="r" b="b"/>
            <a:pathLst>
              <a:path w="5791200" h="1143000">
                <a:moveTo>
                  <a:pt x="0" y="0"/>
                </a:moveTo>
                <a:lnTo>
                  <a:pt x="5791200" y="0"/>
                </a:lnTo>
                <a:lnTo>
                  <a:pt x="57912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19237" y="5100637"/>
            <a:ext cx="5800725" cy="1152525"/>
          </a:xfrm>
          <a:custGeom>
            <a:avLst/>
            <a:gdLst/>
            <a:ahLst/>
            <a:cxnLst/>
            <a:rect l="l" t="t" r="r" b="b"/>
            <a:pathLst>
              <a:path w="5800725" h="1152525">
                <a:moveTo>
                  <a:pt x="5800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5800725" y="0"/>
                </a:lnTo>
                <a:lnTo>
                  <a:pt x="5800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5800725" y="1147762"/>
                </a:lnTo>
                <a:lnTo>
                  <a:pt x="5800725" y="1152525"/>
                </a:lnTo>
                <a:close/>
              </a:path>
              <a:path w="5800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800725" h="1152525">
                <a:moveTo>
                  <a:pt x="5791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791200" y="4762"/>
                </a:lnTo>
                <a:lnTo>
                  <a:pt x="5791200" y="9525"/>
                </a:lnTo>
                <a:close/>
              </a:path>
              <a:path w="5800725" h="1152525">
                <a:moveTo>
                  <a:pt x="5791200" y="1147762"/>
                </a:moveTo>
                <a:lnTo>
                  <a:pt x="5791200" y="4762"/>
                </a:lnTo>
                <a:lnTo>
                  <a:pt x="5795962" y="9525"/>
                </a:lnTo>
                <a:lnTo>
                  <a:pt x="5800725" y="9525"/>
                </a:lnTo>
                <a:lnTo>
                  <a:pt x="5800725" y="1143000"/>
                </a:lnTo>
                <a:lnTo>
                  <a:pt x="5795962" y="1143000"/>
                </a:lnTo>
                <a:lnTo>
                  <a:pt x="5791200" y="1147762"/>
                </a:lnTo>
                <a:close/>
              </a:path>
              <a:path w="5800725" h="1152525">
                <a:moveTo>
                  <a:pt x="5800725" y="9525"/>
                </a:moveTo>
                <a:lnTo>
                  <a:pt x="5795962" y="9525"/>
                </a:lnTo>
                <a:lnTo>
                  <a:pt x="5791200" y="4762"/>
                </a:lnTo>
                <a:lnTo>
                  <a:pt x="5800725" y="4762"/>
                </a:lnTo>
                <a:lnTo>
                  <a:pt x="5800725" y="9525"/>
                </a:lnTo>
                <a:close/>
              </a:path>
              <a:path w="5800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5800725" h="1152525">
                <a:moveTo>
                  <a:pt x="5791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5791200" y="1143000"/>
                </a:lnTo>
                <a:lnTo>
                  <a:pt x="5791200" y="1147762"/>
                </a:lnTo>
                <a:close/>
              </a:path>
              <a:path w="5800725" h="1152525">
                <a:moveTo>
                  <a:pt x="5800725" y="1147762"/>
                </a:moveTo>
                <a:lnTo>
                  <a:pt x="5791200" y="1147762"/>
                </a:lnTo>
                <a:lnTo>
                  <a:pt x="5795962" y="1143000"/>
                </a:lnTo>
                <a:lnTo>
                  <a:pt x="5800725" y="1143000"/>
                </a:lnTo>
                <a:lnTo>
                  <a:pt x="5800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55740" y="4451350"/>
            <a:ext cx="22110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ahoma"/>
                <a:cs typeface="Tahoma"/>
              </a:rPr>
              <a:t>Returns </a:t>
            </a:r>
            <a:r>
              <a:rPr sz="2000" spc="-20" dirty="0">
                <a:latin typeface="Tahoma"/>
                <a:cs typeface="Tahoma"/>
              </a:rPr>
              <a:t>Joe’s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menu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67400" y="4644580"/>
            <a:ext cx="536575" cy="461009"/>
          </a:xfrm>
          <a:custGeom>
            <a:avLst/>
            <a:gdLst/>
            <a:ahLst/>
            <a:cxnLst/>
            <a:rect l="l" t="t" r="r" b="b"/>
            <a:pathLst>
              <a:path w="536575" h="461010">
                <a:moveTo>
                  <a:pt x="60956" y="414844"/>
                </a:moveTo>
                <a:lnTo>
                  <a:pt x="54761" y="407616"/>
                </a:lnTo>
                <a:lnTo>
                  <a:pt x="530301" y="0"/>
                </a:lnTo>
                <a:lnTo>
                  <a:pt x="536498" y="7239"/>
                </a:lnTo>
                <a:lnTo>
                  <a:pt x="60956" y="414844"/>
                </a:lnTo>
                <a:close/>
              </a:path>
              <a:path w="536575" h="461010">
                <a:moveTo>
                  <a:pt x="0" y="460819"/>
                </a:moveTo>
                <a:lnTo>
                  <a:pt x="33058" y="382295"/>
                </a:lnTo>
                <a:lnTo>
                  <a:pt x="54761" y="407616"/>
                </a:lnTo>
                <a:lnTo>
                  <a:pt x="40297" y="420014"/>
                </a:lnTo>
                <a:lnTo>
                  <a:pt x="46494" y="427240"/>
                </a:lnTo>
                <a:lnTo>
                  <a:pt x="71581" y="427240"/>
                </a:lnTo>
                <a:lnTo>
                  <a:pt x="82651" y="440156"/>
                </a:lnTo>
                <a:lnTo>
                  <a:pt x="0" y="460819"/>
                </a:lnTo>
                <a:close/>
              </a:path>
              <a:path w="536575" h="461010">
                <a:moveTo>
                  <a:pt x="46494" y="427240"/>
                </a:moveTo>
                <a:lnTo>
                  <a:pt x="40297" y="420014"/>
                </a:lnTo>
                <a:lnTo>
                  <a:pt x="54761" y="407616"/>
                </a:lnTo>
                <a:lnTo>
                  <a:pt x="60956" y="414844"/>
                </a:lnTo>
                <a:lnTo>
                  <a:pt x="46494" y="427240"/>
                </a:lnTo>
                <a:close/>
              </a:path>
              <a:path w="536575" h="461010">
                <a:moveTo>
                  <a:pt x="71581" y="427240"/>
                </a:moveTo>
                <a:lnTo>
                  <a:pt x="46494" y="427240"/>
                </a:lnTo>
                <a:lnTo>
                  <a:pt x="60956" y="414844"/>
                </a:lnTo>
                <a:lnTo>
                  <a:pt x="71581" y="427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0100" y="525144"/>
            <a:ext cx="5003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spc="-10" dirty="0"/>
              <a:t>Procedure</a:t>
            </a:r>
            <a:r>
              <a:rPr spc="-55" dirty="0"/>
              <a:t> </a:t>
            </a:r>
            <a:r>
              <a:rPr dirty="0"/>
              <a:t>Body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414144"/>
            <a:ext cx="5339715" cy="163195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400" spc="-5" dirty="0">
                <a:latin typeface="Tahoma"/>
                <a:cs typeface="Tahoma"/>
              </a:rPr>
              <a:t>BEGIN</a:t>
            </a:r>
            <a:endParaRPr sz="24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280"/>
              </a:spcBef>
            </a:pPr>
            <a:r>
              <a:rPr sz="2400" spc="-5" dirty="0">
                <a:latin typeface="Tahoma"/>
                <a:cs typeface="Tahoma"/>
              </a:rPr>
              <a:t>OPEN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c;</a:t>
            </a:r>
            <a:endParaRPr sz="24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latin typeface="Tahoma"/>
                <a:cs typeface="Tahoma"/>
              </a:rPr>
              <a:t>menuLoop: </a:t>
            </a:r>
            <a:r>
              <a:rPr sz="2400" spc="-10" dirty="0">
                <a:latin typeface="Tahoma"/>
                <a:cs typeface="Tahoma"/>
              </a:rPr>
              <a:t>LOOP</a:t>
            </a:r>
            <a:endParaRPr sz="24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284"/>
              </a:spcBef>
            </a:pPr>
            <a:r>
              <a:rPr sz="2400" spc="-15" dirty="0">
                <a:latin typeface="Tahoma"/>
                <a:cs typeface="Tahoma"/>
              </a:rPr>
              <a:t>FETCH </a:t>
            </a:r>
            <a:r>
              <a:rPr sz="2400" dirty="0">
                <a:latin typeface="Tahoma"/>
                <a:cs typeface="Tahoma"/>
              </a:rPr>
              <a:t>c </a:t>
            </a:r>
            <a:r>
              <a:rPr sz="2400" spc="-20" dirty="0">
                <a:latin typeface="Tahoma"/>
                <a:cs typeface="Tahoma"/>
              </a:rPr>
              <a:t>INTO </a:t>
            </a:r>
            <a:r>
              <a:rPr sz="2400" spc="-40" dirty="0">
                <a:latin typeface="Tahoma"/>
                <a:cs typeface="Tahoma"/>
              </a:rPr>
              <a:t>theBeer,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thePrice;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5439" y="3069441"/>
            <a:ext cx="611759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IF </a:t>
            </a:r>
            <a:r>
              <a:rPr sz="2400" spc="-10" dirty="0">
                <a:latin typeface="Tahoma"/>
                <a:cs typeface="Tahoma"/>
              </a:rPr>
              <a:t>NotFound </a:t>
            </a:r>
            <a:r>
              <a:rPr sz="2400" spc="-5" dirty="0">
                <a:latin typeface="Tahoma"/>
                <a:cs typeface="Tahoma"/>
              </a:rPr>
              <a:t>THEN </a:t>
            </a:r>
            <a:r>
              <a:rPr sz="2400" spc="-15" dirty="0">
                <a:latin typeface="Tahoma"/>
                <a:cs typeface="Tahoma"/>
              </a:rPr>
              <a:t>LEAVE </a:t>
            </a:r>
            <a:r>
              <a:rPr sz="2400" spc="-5" dirty="0">
                <a:latin typeface="Tahoma"/>
                <a:cs typeface="Tahoma"/>
              </a:rPr>
              <a:t>menuLoop END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IF;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5439" y="3471396"/>
            <a:ext cx="6671945" cy="1574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IF thePrice </a:t>
            </a:r>
            <a:r>
              <a:rPr sz="2400" dirty="0">
                <a:latin typeface="Tahoma"/>
                <a:cs typeface="Tahoma"/>
              </a:rPr>
              <a:t>&lt; </a:t>
            </a:r>
            <a:r>
              <a:rPr sz="2400" spc="-5" dirty="0">
                <a:latin typeface="Tahoma"/>
                <a:cs typeface="Tahoma"/>
              </a:rPr>
              <a:t>3.00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THEN</a:t>
            </a:r>
            <a:endParaRPr sz="2400">
              <a:latin typeface="Tahoma"/>
              <a:cs typeface="Tahoma"/>
            </a:endParaRPr>
          </a:p>
          <a:p>
            <a:pPr marL="380365">
              <a:lnSpc>
                <a:spcPct val="109900"/>
              </a:lnSpc>
            </a:pPr>
            <a:r>
              <a:rPr sz="2400" spc="-25" dirty="0">
                <a:latin typeface="Tahoma"/>
                <a:cs typeface="Tahoma"/>
              </a:rPr>
              <a:t>UPDATE </a:t>
            </a:r>
            <a:r>
              <a:rPr sz="2400" dirty="0">
                <a:latin typeface="Tahoma"/>
                <a:cs typeface="Tahoma"/>
              </a:rPr>
              <a:t>Sells </a:t>
            </a:r>
            <a:r>
              <a:rPr sz="2400" spc="-5" dirty="0">
                <a:latin typeface="Tahoma"/>
                <a:cs typeface="Tahoma"/>
              </a:rPr>
              <a:t>SET price </a:t>
            </a:r>
            <a:r>
              <a:rPr sz="2400" dirty="0">
                <a:latin typeface="Tahoma"/>
                <a:cs typeface="Tahoma"/>
              </a:rPr>
              <a:t>= </a:t>
            </a:r>
            <a:r>
              <a:rPr sz="2400" spc="-5" dirty="0">
                <a:latin typeface="Tahoma"/>
                <a:cs typeface="Tahoma"/>
              </a:rPr>
              <a:t>thePrice </a:t>
            </a:r>
            <a:r>
              <a:rPr sz="2400" dirty="0">
                <a:latin typeface="Tahoma"/>
                <a:cs typeface="Tahoma"/>
              </a:rPr>
              <a:t>+ </a:t>
            </a:r>
            <a:r>
              <a:rPr sz="2400" spc="-5" dirty="0">
                <a:latin typeface="Tahoma"/>
                <a:cs typeface="Tahoma"/>
              </a:rPr>
              <a:t>1.00  WHERE bar </a:t>
            </a:r>
            <a:r>
              <a:rPr sz="2400" dirty="0">
                <a:latin typeface="Tahoma"/>
                <a:cs typeface="Tahoma"/>
              </a:rPr>
              <a:t>= </a:t>
            </a:r>
            <a:r>
              <a:rPr sz="2400" spc="-15" dirty="0">
                <a:latin typeface="Tahoma"/>
                <a:cs typeface="Tahoma"/>
              </a:rPr>
              <a:t>’Joe’’s </a:t>
            </a:r>
            <a:r>
              <a:rPr sz="2400" spc="10" dirty="0">
                <a:latin typeface="Tahoma"/>
                <a:cs typeface="Tahoma"/>
              </a:rPr>
              <a:t>Bar’ </a:t>
            </a:r>
            <a:r>
              <a:rPr sz="2400" spc="-5" dirty="0">
                <a:latin typeface="Tahoma"/>
                <a:cs typeface="Tahoma"/>
              </a:rPr>
              <a:t>AND beer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theBeer;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latin typeface="Tahoma"/>
                <a:cs typeface="Tahoma"/>
              </a:rPr>
              <a:t>END IF;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340" y="5030470"/>
            <a:ext cx="1901189" cy="123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>
              <a:lnSpc>
                <a:spcPct val="1099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END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LOOP;  </a:t>
            </a:r>
            <a:r>
              <a:rPr sz="2400" spc="-10" dirty="0">
                <a:latin typeface="Tahoma"/>
                <a:cs typeface="Tahoma"/>
              </a:rPr>
              <a:t>CLOSE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c;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spc="-5" dirty="0">
                <a:latin typeface="Tahoma"/>
                <a:cs typeface="Tahoma"/>
              </a:rPr>
              <a:t>END;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00200" y="3048000"/>
            <a:ext cx="6248400" cy="457200"/>
          </a:xfrm>
          <a:custGeom>
            <a:avLst/>
            <a:gdLst/>
            <a:ahLst/>
            <a:cxnLst/>
            <a:rect l="l" t="t" r="r" b="b"/>
            <a:pathLst>
              <a:path w="6248400" h="457200">
                <a:moveTo>
                  <a:pt x="0" y="0"/>
                </a:moveTo>
                <a:lnTo>
                  <a:pt x="6248400" y="0"/>
                </a:lnTo>
                <a:lnTo>
                  <a:pt x="6248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95437" y="3043237"/>
            <a:ext cx="6257925" cy="466725"/>
          </a:xfrm>
          <a:custGeom>
            <a:avLst/>
            <a:gdLst/>
            <a:ahLst/>
            <a:cxnLst/>
            <a:rect l="l" t="t" r="r" b="b"/>
            <a:pathLst>
              <a:path w="6257925" h="466725">
                <a:moveTo>
                  <a:pt x="6257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6257925" y="0"/>
                </a:lnTo>
                <a:lnTo>
                  <a:pt x="6257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6257925" y="461962"/>
                </a:lnTo>
                <a:lnTo>
                  <a:pt x="6257925" y="466725"/>
                </a:lnTo>
                <a:close/>
              </a:path>
              <a:path w="6257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257925" h="466725">
                <a:moveTo>
                  <a:pt x="6248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248400" y="4762"/>
                </a:lnTo>
                <a:lnTo>
                  <a:pt x="6248400" y="9525"/>
                </a:lnTo>
                <a:close/>
              </a:path>
              <a:path w="6257925" h="466725">
                <a:moveTo>
                  <a:pt x="6248400" y="461962"/>
                </a:moveTo>
                <a:lnTo>
                  <a:pt x="6248400" y="4762"/>
                </a:lnTo>
                <a:lnTo>
                  <a:pt x="6253162" y="9525"/>
                </a:lnTo>
                <a:lnTo>
                  <a:pt x="6257925" y="9525"/>
                </a:lnTo>
                <a:lnTo>
                  <a:pt x="6257925" y="457200"/>
                </a:lnTo>
                <a:lnTo>
                  <a:pt x="6253162" y="457200"/>
                </a:lnTo>
                <a:lnTo>
                  <a:pt x="6248400" y="461962"/>
                </a:lnTo>
                <a:close/>
              </a:path>
              <a:path w="6257925" h="466725">
                <a:moveTo>
                  <a:pt x="6257925" y="9525"/>
                </a:moveTo>
                <a:lnTo>
                  <a:pt x="6253162" y="9525"/>
                </a:lnTo>
                <a:lnTo>
                  <a:pt x="6248400" y="4762"/>
                </a:lnTo>
                <a:lnTo>
                  <a:pt x="6257925" y="4762"/>
                </a:lnTo>
                <a:lnTo>
                  <a:pt x="6257925" y="9525"/>
                </a:lnTo>
                <a:close/>
              </a:path>
              <a:path w="6257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6257925" h="466725">
                <a:moveTo>
                  <a:pt x="6248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6248400" y="457200"/>
                </a:lnTo>
                <a:lnTo>
                  <a:pt x="6248400" y="461962"/>
                </a:lnTo>
                <a:close/>
              </a:path>
              <a:path w="6257925" h="466725">
                <a:moveTo>
                  <a:pt x="6257925" y="461962"/>
                </a:moveTo>
                <a:lnTo>
                  <a:pt x="6248400" y="461962"/>
                </a:lnTo>
                <a:lnTo>
                  <a:pt x="6253162" y="457200"/>
                </a:lnTo>
                <a:lnTo>
                  <a:pt x="6257925" y="457200"/>
                </a:lnTo>
                <a:lnTo>
                  <a:pt x="6257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92265" y="1790699"/>
            <a:ext cx="213741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Check if the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recent  </a:t>
            </a:r>
            <a:r>
              <a:rPr sz="2000" spc="-10" dirty="0">
                <a:latin typeface="Tahoma"/>
                <a:cs typeface="Tahoma"/>
              </a:rPr>
              <a:t>FETCH failed </a:t>
            </a:r>
            <a:r>
              <a:rPr sz="2000" spc="-5" dirty="0">
                <a:latin typeface="Tahoma"/>
                <a:cs typeface="Tahoma"/>
              </a:rPr>
              <a:t>to  get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tuple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4200" y="2815589"/>
            <a:ext cx="307975" cy="232410"/>
          </a:xfrm>
          <a:custGeom>
            <a:avLst/>
            <a:gdLst/>
            <a:ahLst/>
            <a:cxnLst/>
            <a:rect l="l" t="t" r="r" b="b"/>
            <a:pathLst>
              <a:path w="307975" h="232410">
                <a:moveTo>
                  <a:pt x="63817" y="190500"/>
                </a:moveTo>
                <a:lnTo>
                  <a:pt x="58102" y="182880"/>
                </a:lnTo>
                <a:lnTo>
                  <a:pt x="301942" y="0"/>
                </a:lnTo>
                <a:lnTo>
                  <a:pt x="307657" y="7620"/>
                </a:lnTo>
                <a:lnTo>
                  <a:pt x="63817" y="190500"/>
                </a:lnTo>
                <a:close/>
              </a:path>
              <a:path w="307975" h="232410">
                <a:moveTo>
                  <a:pt x="0" y="232410"/>
                </a:moveTo>
                <a:lnTo>
                  <a:pt x="38100" y="156210"/>
                </a:lnTo>
                <a:lnTo>
                  <a:pt x="58102" y="182880"/>
                </a:lnTo>
                <a:lnTo>
                  <a:pt x="42862" y="194310"/>
                </a:lnTo>
                <a:lnTo>
                  <a:pt x="48577" y="201930"/>
                </a:lnTo>
                <a:lnTo>
                  <a:pt x="72389" y="201930"/>
                </a:lnTo>
                <a:lnTo>
                  <a:pt x="83820" y="217170"/>
                </a:lnTo>
                <a:lnTo>
                  <a:pt x="0" y="232410"/>
                </a:lnTo>
                <a:close/>
              </a:path>
              <a:path w="307975" h="232410">
                <a:moveTo>
                  <a:pt x="48577" y="201930"/>
                </a:moveTo>
                <a:lnTo>
                  <a:pt x="42862" y="194310"/>
                </a:lnTo>
                <a:lnTo>
                  <a:pt x="58102" y="182880"/>
                </a:lnTo>
                <a:lnTo>
                  <a:pt x="63817" y="190500"/>
                </a:lnTo>
                <a:lnTo>
                  <a:pt x="48577" y="201930"/>
                </a:lnTo>
                <a:close/>
              </a:path>
              <a:path w="307975" h="232410">
                <a:moveTo>
                  <a:pt x="72389" y="201930"/>
                </a:moveTo>
                <a:lnTo>
                  <a:pt x="48577" y="201930"/>
                </a:lnTo>
                <a:lnTo>
                  <a:pt x="63817" y="190500"/>
                </a:lnTo>
                <a:lnTo>
                  <a:pt x="72389" y="2019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0200" y="3505200"/>
            <a:ext cx="6858000" cy="1524000"/>
          </a:xfrm>
          <a:custGeom>
            <a:avLst/>
            <a:gdLst/>
            <a:ahLst/>
            <a:cxnLst/>
            <a:rect l="l" t="t" r="r" b="b"/>
            <a:pathLst>
              <a:path w="6858000" h="1524000">
                <a:moveTo>
                  <a:pt x="0" y="0"/>
                </a:moveTo>
                <a:lnTo>
                  <a:pt x="6858000" y="0"/>
                </a:lnTo>
                <a:lnTo>
                  <a:pt x="68580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95437" y="3500437"/>
            <a:ext cx="6867525" cy="1533525"/>
          </a:xfrm>
          <a:custGeom>
            <a:avLst/>
            <a:gdLst/>
            <a:ahLst/>
            <a:cxnLst/>
            <a:rect l="l" t="t" r="r" b="b"/>
            <a:pathLst>
              <a:path w="6867525" h="1533525">
                <a:moveTo>
                  <a:pt x="68675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6867525" y="0"/>
                </a:lnTo>
                <a:lnTo>
                  <a:pt x="6867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6867525" y="1528762"/>
                </a:lnTo>
                <a:lnTo>
                  <a:pt x="6867525" y="1533525"/>
                </a:lnTo>
                <a:close/>
              </a:path>
              <a:path w="68675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867525" h="1533525">
                <a:moveTo>
                  <a:pt x="6858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0" y="4762"/>
                </a:lnTo>
                <a:lnTo>
                  <a:pt x="6858000" y="9525"/>
                </a:lnTo>
                <a:close/>
              </a:path>
              <a:path w="6867525" h="1533525">
                <a:moveTo>
                  <a:pt x="6858000" y="1528762"/>
                </a:moveTo>
                <a:lnTo>
                  <a:pt x="6858000" y="4762"/>
                </a:lnTo>
                <a:lnTo>
                  <a:pt x="6862762" y="9525"/>
                </a:lnTo>
                <a:lnTo>
                  <a:pt x="6867525" y="9525"/>
                </a:lnTo>
                <a:lnTo>
                  <a:pt x="6867525" y="1524000"/>
                </a:lnTo>
                <a:lnTo>
                  <a:pt x="6862762" y="1524000"/>
                </a:lnTo>
                <a:lnTo>
                  <a:pt x="6858000" y="1528762"/>
                </a:lnTo>
                <a:close/>
              </a:path>
              <a:path w="6867525" h="1533525">
                <a:moveTo>
                  <a:pt x="6867525" y="9525"/>
                </a:moveTo>
                <a:lnTo>
                  <a:pt x="6862762" y="9525"/>
                </a:lnTo>
                <a:lnTo>
                  <a:pt x="6858000" y="4762"/>
                </a:lnTo>
                <a:lnTo>
                  <a:pt x="6867525" y="4762"/>
                </a:lnTo>
                <a:lnTo>
                  <a:pt x="6867525" y="9525"/>
                </a:lnTo>
                <a:close/>
              </a:path>
              <a:path w="68675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6867525" h="1533525">
                <a:moveTo>
                  <a:pt x="68580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6858000" y="1524000"/>
                </a:lnTo>
                <a:lnTo>
                  <a:pt x="6858000" y="1528762"/>
                </a:lnTo>
                <a:close/>
              </a:path>
              <a:path w="6867525" h="1533525">
                <a:moveTo>
                  <a:pt x="6867525" y="1528762"/>
                </a:moveTo>
                <a:lnTo>
                  <a:pt x="6858000" y="1528762"/>
                </a:lnTo>
                <a:lnTo>
                  <a:pt x="6862762" y="1524000"/>
                </a:lnTo>
                <a:lnTo>
                  <a:pt x="6867525" y="1524000"/>
                </a:lnTo>
                <a:lnTo>
                  <a:pt x="68675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11065" y="5295900"/>
            <a:ext cx="3430904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If Joe charges less than </a:t>
            </a:r>
            <a:r>
              <a:rPr sz="2000" dirty="0">
                <a:latin typeface="Tahoma"/>
                <a:cs typeface="Tahoma"/>
              </a:rPr>
              <a:t>$3 </a:t>
            </a:r>
            <a:r>
              <a:rPr sz="2000" spc="-10" dirty="0">
                <a:latin typeface="Tahoma"/>
                <a:cs typeface="Tahoma"/>
              </a:rPr>
              <a:t>for  </a:t>
            </a:r>
            <a:r>
              <a:rPr sz="2000" spc="-5" dirty="0">
                <a:latin typeface="Tahoma"/>
                <a:cs typeface="Tahoma"/>
              </a:rPr>
              <a:t>the </a:t>
            </a:r>
            <a:r>
              <a:rPr sz="2000" spc="-60" dirty="0">
                <a:latin typeface="Tahoma"/>
                <a:cs typeface="Tahoma"/>
              </a:rPr>
              <a:t>beer, </a:t>
            </a:r>
            <a:r>
              <a:rPr sz="2000" spc="-10" dirty="0">
                <a:latin typeface="Tahoma"/>
                <a:cs typeface="Tahoma"/>
              </a:rPr>
              <a:t>raise </a:t>
            </a:r>
            <a:r>
              <a:rPr sz="2000" spc="-5" dirty="0">
                <a:latin typeface="Tahoma"/>
                <a:cs typeface="Tahoma"/>
              </a:rPr>
              <a:t>its price at  </a:t>
            </a:r>
            <a:r>
              <a:rPr sz="2000" spc="-20" dirty="0">
                <a:latin typeface="Tahoma"/>
                <a:cs typeface="Tahoma"/>
              </a:rPr>
              <a:t>Joe’s </a:t>
            </a:r>
            <a:r>
              <a:rPr sz="2000" dirty="0">
                <a:latin typeface="Tahoma"/>
                <a:cs typeface="Tahoma"/>
              </a:rPr>
              <a:t>Bar </a:t>
            </a:r>
            <a:r>
              <a:rPr sz="2000" spc="-5" dirty="0">
                <a:latin typeface="Tahoma"/>
                <a:cs typeface="Tahoma"/>
              </a:rPr>
              <a:t>by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$1.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05400" y="5029200"/>
            <a:ext cx="383540" cy="233045"/>
          </a:xfrm>
          <a:custGeom>
            <a:avLst/>
            <a:gdLst/>
            <a:ahLst/>
            <a:cxnLst/>
            <a:rect l="l" t="t" r="r" b="b"/>
            <a:pathLst>
              <a:path w="383539" h="233045">
                <a:moveTo>
                  <a:pt x="45732" y="71869"/>
                </a:moveTo>
                <a:lnTo>
                  <a:pt x="0" y="0"/>
                </a:lnTo>
                <a:lnTo>
                  <a:pt x="84937" y="6527"/>
                </a:lnTo>
                <a:lnTo>
                  <a:pt x="73659" y="25323"/>
                </a:lnTo>
                <a:lnTo>
                  <a:pt x="51460" y="25323"/>
                </a:lnTo>
                <a:lnTo>
                  <a:pt x="46558" y="33489"/>
                </a:lnTo>
                <a:lnTo>
                  <a:pt x="62883" y="43285"/>
                </a:lnTo>
                <a:lnTo>
                  <a:pt x="45732" y="71869"/>
                </a:lnTo>
                <a:close/>
              </a:path>
              <a:path w="383539" h="233045">
                <a:moveTo>
                  <a:pt x="62883" y="43285"/>
                </a:moveTo>
                <a:lnTo>
                  <a:pt x="46558" y="33489"/>
                </a:lnTo>
                <a:lnTo>
                  <a:pt x="51460" y="25323"/>
                </a:lnTo>
                <a:lnTo>
                  <a:pt x="67783" y="35117"/>
                </a:lnTo>
                <a:lnTo>
                  <a:pt x="62883" y="43285"/>
                </a:lnTo>
                <a:close/>
              </a:path>
              <a:path w="383539" h="233045">
                <a:moveTo>
                  <a:pt x="67783" y="35117"/>
                </a:moveTo>
                <a:lnTo>
                  <a:pt x="51460" y="25323"/>
                </a:lnTo>
                <a:lnTo>
                  <a:pt x="73659" y="25323"/>
                </a:lnTo>
                <a:lnTo>
                  <a:pt x="67783" y="35117"/>
                </a:lnTo>
                <a:close/>
              </a:path>
              <a:path w="383539" h="233045">
                <a:moveTo>
                  <a:pt x="378548" y="232689"/>
                </a:moveTo>
                <a:lnTo>
                  <a:pt x="62883" y="43285"/>
                </a:lnTo>
                <a:lnTo>
                  <a:pt x="67783" y="35117"/>
                </a:lnTo>
                <a:lnTo>
                  <a:pt x="383451" y="224510"/>
                </a:lnTo>
                <a:lnTo>
                  <a:pt x="378548" y="2326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4E3B150B-6BD1-8D82-AC1B-76422CD1D8F8}"/>
                  </a:ext>
                </a:extLst>
              </p14:cNvPr>
              <p14:cNvContentPartPr/>
              <p14:nvPr/>
            </p14:nvContentPartPr>
            <p14:xfrm>
              <a:off x="1550619" y="3005485"/>
              <a:ext cx="1087560" cy="26676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4E3B150B-6BD1-8D82-AC1B-76422CD1D8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6979" y="2897485"/>
                <a:ext cx="119520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9CE9C0B4-75E0-9E12-F92A-BEFDD215B76B}"/>
                  </a:ext>
                </a:extLst>
              </p14:cNvPr>
              <p14:cNvContentPartPr/>
              <p14:nvPr/>
            </p14:nvContentPartPr>
            <p14:xfrm>
              <a:off x="1981179" y="3037525"/>
              <a:ext cx="5784840" cy="35496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9CE9C0B4-75E0-9E12-F92A-BEFDD215B7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7539" y="2929525"/>
                <a:ext cx="589248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57D8A510-E9B3-7CAE-C418-D254BF8A0599}"/>
                  </a:ext>
                </a:extLst>
              </p14:cNvPr>
              <p14:cNvContentPartPr/>
              <p14:nvPr/>
            </p14:nvContentPartPr>
            <p14:xfrm>
              <a:off x="1595619" y="2244085"/>
              <a:ext cx="347400" cy="54432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57D8A510-E9B3-7CAE-C418-D254BF8A059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41619" y="2136445"/>
                <a:ext cx="455040" cy="7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7F5A7ECA-CD97-3F36-1585-596E10874ECB}"/>
                  </a:ext>
                </a:extLst>
              </p14:cNvPr>
              <p14:cNvContentPartPr/>
              <p14:nvPr/>
            </p14:nvContentPartPr>
            <p14:xfrm>
              <a:off x="1667259" y="2761045"/>
              <a:ext cx="4327560" cy="15228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7F5A7ECA-CD97-3F36-1585-596E10874EC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13259" y="2653405"/>
                <a:ext cx="4435200" cy="36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标题 77">
            <a:extLst>
              <a:ext uri="{FF2B5EF4-FFF2-40B4-BE49-F238E27FC236}">
                <a16:creationId xmlns:a16="http://schemas.microsoft.com/office/drawing/2014/main" id="{12548E00-A85C-1DC7-E4D9-ACA2AC39C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0" name="图片 79">
            <a:extLst>
              <a:ext uri="{FF2B5EF4-FFF2-40B4-BE49-F238E27FC236}">
                <a16:creationId xmlns:a16="http://schemas.microsoft.com/office/drawing/2014/main" id="{080F08F1-D313-4783-7E05-3B5271D20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6" y="0"/>
            <a:ext cx="885932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7125" y="829944"/>
            <a:ext cx="18103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PL/SQ</a:t>
            </a:r>
            <a:r>
              <a:rPr dirty="0"/>
              <a:t>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2057400"/>
            <a:ext cx="7821295" cy="41197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4066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Oracle </a:t>
            </a:r>
            <a:r>
              <a:rPr sz="3200" spc="-5" dirty="0">
                <a:latin typeface="Tahoma"/>
                <a:cs typeface="Tahoma"/>
              </a:rPr>
              <a:t>uses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variant </a:t>
            </a:r>
            <a:r>
              <a:rPr lang="zh-CN" altLang="en-US" sz="3200" spc="-15" dirty="0">
                <a:latin typeface="Tahoma"/>
                <a:cs typeface="Tahoma"/>
              </a:rPr>
              <a:t>变体</a:t>
            </a:r>
            <a:r>
              <a:rPr sz="3200" spc="-5" dirty="0">
                <a:latin typeface="Tahoma"/>
                <a:cs typeface="Tahoma"/>
              </a:rPr>
              <a:t>of SQL/PSM which 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calls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PL/SQL.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PL/SQL not only allows </a:t>
            </a:r>
            <a:r>
              <a:rPr sz="3200" spc="-10" dirty="0">
                <a:latin typeface="Tahoma"/>
                <a:cs typeface="Tahoma"/>
              </a:rPr>
              <a:t>you </a:t>
            </a:r>
            <a:r>
              <a:rPr sz="3200" spc="-5" dirty="0">
                <a:latin typeface="Tahoma"/>
                <a:cs typeface="Tahoma"/>
              </a:rPr>
              <a:t>to create and  store </a:t>
            </a:r>
            <a:r>
              <a:rPr sz="3200" spc="-10" dirty="0">
                <a:latin typeface="Tahoma"/>
                <a:cs typeface="Tahoma"/>
              </a:rPr>
              <a:t>procedures </a:t>
            </a:r>
            <a:r>
              <a:rPr sz="3200" spc="-5" dirty="0">
                <a:latin typeface="Tahoma"/>
                <a:cs typeface="Tahoma"/>
              </a:rPr>
              <a:t>or </a:t>
            </a:r>
            <a:r>
              <a:rPr sz="3200" spc="-10" dirty="0">
                <a:latin typeface="Tahoma"/>
                <a:cs typeface="Tahoma"/>
              </a:rPr>
              <a:t>functions, </a:t>
            </a:r>
            <a:r>
              <a:rPr sz="3200" spc="-5" dirty="0">
                <a:latin typeface="Tahoma"/>
                <a:cs typeface="Tahoma"/>
              </a:rPr>
              <a:t>but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can  </a:t>
            </a:r>
            <a:r>
              <a:rPr sz="3200" dirty="0">
                <a:latin typeface="Tahoma"/>
                <a:cs typeface="Tahoma"/>
              </a:rPr>
              <a:t>be run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lang="en-US" altLang="zh-CN" sz="3600" dirty="0">
                <a:effectLst/>
              </a:rPr>
              <a:t>generic query interface</a:t>
            </a:r>
            <a:r>
              <a:rPr lang="zh-CN" altLang="en-US" sz="3600" dirty="0">
                <a:effectLst/>
              </a:rPr>
              <a:t>泛型查询接口</a:t>
            </a:r>
            <a:r>
              <a:rPr sz="3200" spc="-5" dirty="0">
                <a:latin typeface="Tahoma"/>
                <a:cs typeface="Tahoma"/>
              </a:rPr>
              <a:t>(sqlplus), </a:t>
            </a: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SQL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statement.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40" dirty="0">
                <a:latin typeface="Tahoma"/>
                <a:cs typeface="Tahoma"/>
              </a:rPr>
              <a:t>Triggers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part of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PL/SQL.</a:t>
            </a:r>
            <a:endParaRPr sz="32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7DF9F660-4725-BF7E-AFA9-27CEE0FA5DA0}"/>
                  </a:ext>
                </a:extLst>
              </p14:cNvPr>
              <p14:cNvContentPartPr/>
              <p14:nvPr/>
            </p14:nvContentPartPr>
            <p14:xfrm>
              <a:off x="3532059" y="4165405"/>
              <a:ext cx="4358520" cy="2275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7DF9F660-4725-BF7E-AFA9-27CEE0FA5D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8059" y="4057405"/>
                <a:ext cx="4466160" cy="44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7739" y="829944"/>
            <a:ext cx="46685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Trigger</a:t>
            </a:r>
            <a:r>
              <a:rPr spc="-35" dirty="0"/>
              <a:t> </a:t>
            </a:r>
            <a:r>
              <a:rPr spc="-15" dirty="0"/>
              <a:t>Differences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92695" cy="3975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98425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Compared with SQL standard triggers,  </a:t>
            </a:r>
            <a:r>
              <a:rPr sz="3200" spc="-15" dirty="0">
                <a:latin typeface="Tahoma"/>
                <a:cs typeface="Tahoma"/>
              </a:rPr>
              <a:t>Oracle </a:t>
            </a:r>
            <a:r>
              <a:rPr sz="3200" spc="-5" dirty="0">
                <a:latin typeface="Tahoma"/>
                <a:cs typeface="Tahoma"/>
              </a:rPr>
              <a:t>has the </a:t>
            </a:r>
            <a:r>
              <a:rPr sz="3200" spc="-10" dirty="0">
                <a:latin typeface="Tahoma"/>
                <a:cs typeface="Tahoma"/>
              </a:rPr>
              <a:t>following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differences: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Action is a PL/SQL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statement.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New/old tuples </a:t>
            </a:r>
            <a:r>
              <a:rPr sz="2800" spc="-10" dirty="0">
                <a:latin typeface="Tahoma"/>
                <a:cs typeface="Tahoma"/>
              </a:rPr>
              <a:t>referenced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automatically.</a:t>
            </a:r>
            <a:endParaRPr sz="2800" dirty="0">
              <a:latin typeface="Tahoma"/>
              <a:cs typeface="Tahoma"/>
            </a:endParaRPr>
          </a:p>
          <a:p>
            <a:pPr marL="1002665" marR="466725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Strong </a:t>
            </a:r>
            <a:r>
              <a:rPr sz="2800" spc="-10" dirty="0">
                <a:latin typeface="Tahoma"/>
                <a:cs typeface="Tahoma"/>
              </a:rPr>
              <a:t>constraints </a:t>
            </a:r>
            <a:r>
              <a:rPr sz="2800" spc="-5" dirty="0">
                <a:latin typeface="Tahoma"/>
                <a:cs typeface="Tahoma"/>
              </a:rPr>
              <a:t>on trigger actions  designed to </a:t>
            </a:r>
            <a:r>
              <a:rPr sz="2800" spc="-10" dirty="0">
                <a:latin typeface="Tahoma"/>
                <a:cs typeface="Tahoma"/>
              </a:rPr>
              <a:t>make </a:t>
            </a:r>
            <a:r>
              <a:rPr sz="2800" spc="-5" dirty="0">
                <a:latin typeface="Tahoma"/>
                <a:cs typeface="Tahoma"/>
              </a:rPr>
              <a:t>certain </a:t>
            </a:r>
            <a:r>
              <a:rPr sz="2800" spc="-15" dirty="0">
                <a:latin typeface="Tahoma"/>
                <a:cs typeface="Tahoma"/>
              </a:rPr>
              <a:t>you </a:t>
            </a:r>
            <a:r>
              <a:rPr sz="2800" spc="5" dirty="0">
                <a:latin typeface="Tahoma"/>
                <a:cs typeface="Tahoma"/>
              </a:rPr>
              <a:t>can’t </a:t>
            </a:r>
            <a:r>
              <a:rPr sz="2800" spc="-10" dirty="0">
                <a:latin typeface="Tahoma"/>
                <a:cs typeface="Tahoma"/>
              </a:rPr>
              <a:t>fire  off </a:t>
            </a:r>
            <a:r>
              <a:rPr sz="2800" spc="-5" dirty="0">
                <a:latin typeface="Tahoma"/>
                <a:cs typeface="Tahoma"/>
              </a:rPr>
              <a:t>an infinite sequence of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triggers.</a:t>
            </a:r>
            <a:endParaRPr sz="2800" dirty="0">
              <a:latin typeface="Tahoma"/>
              <a:cs typeface="Tahoma"/>
            </a:endParaRPr>
          </a:p>
          <a:p>
            <a:pPr marL="62230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dirty="0">
                <a:latin typeface="Tahoma"/>
                <a:cs typeface="Tahoma"/>
              </a:rPr>
              <a:t>See </a:t>
            </a:r>
            <a:r>
              <a:rPr sz="3200" spc="-5" dirty="0">
                <a:latin typeface="Tahoma"/>
                <a:cs typeface="Tahoma"/>
              </a:rPr>
              <a:t>on-line or-triggers.html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document.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1325" y="265112"/>
            <a:ext cx="572135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77035" marR="5080" indent="-166433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What </a:t>
            </a:r>
            <a:r>
              <a:rPr spc="-25" dirty="0"/>
              <a:t>Is </a:t>
            </a:r>
            <a:r>
              <a:rPr dirty="0"/>
              <a:t>a </a:t>
            </a:r>
            <a:r>
              <a:rPr spc="-10" dirty="0"/>
              <a:t>User-defined  </a:t>
            </a:r>
            <a:r>
              <a:rPr spc="-5" dirty="0"/>
              <a:t>Function?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539" y="1779905"/>
            <a:ext cx="6637655" cy="4876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ts val="3829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Scalar Functions</a:t>
            </a:r>
            <a:r>
              <a:rPr lang="zh-CN" altLang="en-US" sz="3200" spc="-5" dirty="0">
                <a:latin typeface="Tahoma"/>
                <a:cs typeface="Tahoma"/>
              </a:rPr>
              <a:t>标量函数</a:t>
            </a:r>
            <a:endParaRPr lang="en-US" sz="3200" dirty="0">
              <a:latin typeface="Tahoma"/>
              <a:cs typeface="Tahoma"/>
            </a:endParaRPr>
          </a:p>
          <a:p>
            <a:pPr marL="755650" lvl="1" indent="-285750">
              <a:lnSpc>
                <a:spcPts val="3350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lang="en-US" sz="2800" spc="-5" dirty="0">
                <a:latin typeface="Tahoma"/>
                <a:cs typeface="Tahoma"/>
              </a:rPr>
              <a:t>Similar to a </a:t>
            </a:r>
            <a:r>
              <a:rPr lang="en-US" sz="2800" spc="-10" dirty="0">
                <a:latin typeface="Tahoma"/>
                <a:cs typeface="Tahoma"/>
              </a:rPr>
              <a:t>built-in</a:t>
            </a:r>
            <a:r>
              <a:rPr lang="en-US" sz="2800" spc="5" dirty="0">
                <a:latin typeface="Tahoma"/>
                <a:cs typeface="Tahoma"/>
              </a:rPr>
              <a:t> </a:t>
            </a:r>
            <a:r>
              <a:rPr lang="en-US" sz="2800" spc="-10" dirty="0">
                <a:latin typeface="Tahoma"/>
                <a:cs typeface="Tahoma"/>
              </a:rPr>
              <a:t>function</a:t>
            </a:r>
            <a:r>
              <a:rPr lang="zh-CN" altLang="en-US" sz="2800" spc="-10" dirty="0">
                <a:latin typeface="Tahoma"/>
                <a:cs typeface="Tahoma"/>
              </a:rPr>
              <a:t>内置函数</a:t>
            </a:r>
            <a:endParaRPr lang="en-US" sz="2800" dirty="0">
              <a:latin typeface="Tahoma"/>
              <a:cs typeface="Tahoma"/>
            </a:endParaRPr>
          </a:p>
          <a:p>
            <a:pPr marL="355600" marR="995680" indent="-342900">
              <a:lnSpc>
                <a:spcPct val="79900"/>
              </a:lnSpc>
              <a:spcBef>
                <a:spcPts val="7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Multi-Statement </a:t>
            </a:r>
            <a:r>
              <a:rPr sz="3200" spc="-45" dirty="0">
                <a:latin typeface="Tahoma"/>
                <a:cs typeface="Tahoma"/>
              </a:rPr>
              <a:t>Table-valued  </a:t>
            </a:r>
            <a:r>
              <a:rPr sz="3200" spc="-5" dirty="0">
                <a:latin typeface="Tahoma"/>
                <a:cs typeface="Tahoma"/>
              </a:rPr>
              <a:t>Functions</a:t>
            </a:r>
            <a:r>
              <a:rPr lang="zh-CN" altLang="en-US" sz="3200" spc="-5" dirty="0">
                <a:latin typeface="Tahoma"/>
                <a:cs typeface="Tahoma"/>
              </a:rPr>
              <a:t>多语句 表值函数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ts val="3340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Content </a:t>
            </a: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a stored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procedure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ts val="3360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5" dirty="0">
                <a:latin typeface="Tahoma"/>
                <a:cs typeface="Tahoma"/>
              </a:rPr>
              <a:t>Referenced </a:t>
            </a:r>
            <a:r>
              <a:rPr sz="2800" spc="-10" dirty="0">
                <a:latin typeface="Tahoma"/>
                <a:cs typeface="Tahoma"/>
              </a:rPr>
              <a:t>like </a:t>
            </a:r>
            <a:r>
              <a:rPr sz="2800" spc="-5" dirty="0">
                <a:latin typeface="Tahoma"/>
                <a:cs typeface="Tahoma"/>
              </a:rPr>
              <a:t>a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view</a:t>
            </a:r>
            <a:endParaRPr sz="2800" dirty="0">
              <a:latin typeface="Tahoma"/>
              <a:cs typeface="Tahoma"/>
            </a:endParaRPr>
          </a:p>
          <a:p>
            <a:pPr marL="414655" indent="-402590">
              <a:lnSpc>
                <a:spcPts val="3829"/>
              </a:lnSpc>
              <a:spcBef>
                <a:spcPts val="1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In-Line </a:t>
            </a:r>
            <a:r>
              <a:rPr sz="3200" spc="-45" dirty="0">
                <a:latin typeface="Tahoma"/>
                <a:cs typeface="Tahoma"/>
              </a:rPr>
              <a:t>Table-valued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Functions</a:t>
            </a:r>
            <a:r>
              <a:rPr lang="zh-CN" altLang="en-US" sz="3200" spc="-5" dirty="0">
                <a:latin typeface="Tahoma"/>
                <a:cs typeface="Tahoma"/>
              </a:rPr>
              <a:t>内联表值函数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ts val="3350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Similar to a view </a:t>
            </a:r>
            <a:r>
              <a:rPr sz="2800" dirty="0">
                <a:latin typeface="Tahoma"/>
                <a:cs typeface="Tahoma"/>
              </a:rPr>
              <a:t>with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parameters</a:t>
            </a:r>
            <a:endParaRPr sz="2800" dirty="0">
              <a:latin typeface="Tahoma"/>
              <a:cs typeface="Tahoma"/>
            </a:endParaRPr>
          </a:p>
          <a:p>
            <a:pPr marL="755015" marR="5080" lvl="1" indent="-285750">
              <a:lnSpc>
                <a:spcPct val="79900"/>
              </a:lnSpc>
              <a:spcBef>
                <a:spcPts val="6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Returns </a:t>
            </a:r>
            <a:r>
              <a:rPr sz="2800" spc="-5" dirty="0">
                <a:latin typeface="Tahoma"/>
                <a:cs typeface="Tahoma"/>
              </a:rPr>
              <a:t>a table as the result of single  SELECT statement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4205" y="634682"/>
            <a:ext cx="78955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Defining </a:t>
            </a:r>
            <a:r>
              <a:rPr spc="-10" dirty="0"/>
              <a:t>User-defined</a:t>
            </a:r>
            <a:r>
              <a:rPr spc="-20" dirty="0"/>
              <a:t> </a:t>
            </a:r>
            <a:r>
              <a:rPr spc="-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6927850" cy="382777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Creating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User-defined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Function</a:t>
            </a:r>
            <a:endParaRPr sz="3200">
              <a:latin typeface="Tahoma"/>
              <a:cs typeface="Tahoma"/>
            </a:endParaRPr>
          </a:p>
          <a:p>
            <a:pPr marL="355600" marR="59182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Creating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Function with Schema  </a:t>
            </a:r>
            <a:r>
              <a:rPr sz="3200" dirty="0">
                <a:latin typeface="Tahoma"/>
                <a:cs typeface="Tahoma"/>
              </a:rPr>
              <a:t>Binding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Setting </a:t>
            </a:r>
            <a:r>
              <a:rPr sz="3200" spc="-10" dirty="0">
                <a:latin typeface="Tahoma"/>
                <a:cs typeface="Tahoma"/>
              </a:rPr>
              <a:t>Permissions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User-defined  Functions</a:t>
            </a:r>
            <a:endParaRPr sz="3200">
              <a:latin typeface="Tahoma"/>
              <a:cs typeface="Tahoma"/>
            </a:endParaRPr>
          </a:p>
          <a:p>
            <a:pPr marL="355600" marR="16954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Altering and Dropping User-defined  Functions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094" y="588644"/>
            <a:ext cx="81318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Creating </a:t>
            </a:r>
            <a:r>
              <a:rPr dirty="0"/>
              <a:t>a </a:t>
            </a:r>
            <a:r>
              <a:rPr spc="-10" dirty="0"/>
              <a:t>User-defined</a:t>
            </a:r>
            <a:r>
              <a:rPr spc="-5" dirty="0"/>
              <a:t> 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273810" y="2188210"/>
            <a:ext cx="6563042" cy="24212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72869" y="2235200"/>
            <a:ext cx="4069715" cy="2219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USE Northwind</a:t>
            </a:r>
            <a:endParaRPr sz="1600">
              <a:latin typeface="Lucida Sans Typewriter"/>
              <a:cs typeface="Lucida Sans Typewriter"/>
            </a:endParaRPr>
          </a:p>
          <a:p>
            <a:pPr marL="257810" marR="618490" indent="-245110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CREATE FUNCTION fn_NewRegion  (@myinput nvarchar(30))  RETURNS</a:t>
            </a:r>
            <a:r>
              <a:rPr sz="1600" spc="-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nvarchar(30)</a:t>
            </a:r>
            <a:endParaRPr sz="16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BEGIN</a:t>
            </a:r>
            <a:endParaRPr sz="1600">
              <a:latin typeface="Lucida Sans Typewriter"/>
              <a:cs typeface="Lucida Sans Typewriter"/>
            </a:endParaRPr>
          </a:p>
          <a:p>
            <a:pPr marL="257810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IF @myinput IS NULL</a:t>
            </a:r>
            <a:endParaRPr sz="1600">
              <a:latin typeface="Lucida Sans Typewriter"/>
              <a:cs typeface="Lucida Sans Typewriter"/>
            </a:endParaRPr>
          </a:p>
          <a:p>
            <a:pPr marL="257810" marR="5080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SET @myinput = 'Not Applicable'  RETURN @myinput</a:t>
            </a:r>
            <a:endParaRPr sz="16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END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9664" y="1571625"/>
            <a:ext cx="2649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100"/>
              </a:spcBef>
              <a:buClr>
                <a:srgbClr val="D50092"/>
              </a:buClr>
              <a:buSzPct val="68750"/>
              <a:buFont typeface="Wingdings"/>
              <a:buChar char=""/>
              <a:tabLst>
                <a:tab pos="292100" algn="l"/>
              </a:tabLst>
            </a:pPr>
            <a:r>
              <a:rPr sz="2400" b="1" spc="-5" dirty="0">
                <a:latin typeface="Arial Narrow"/>
                <a:cs typeface="Arial Narrow"/>
              </a:rPr>
              <a:t>Creating </a:t>
            </a:r>
            <a:r>
              <a:rPr sz="2400" b="1" dirty="0">
                <a:latin typeface="Arial Narrow"/>
                <a:cs typeface="Arial Narrow"/>
              </a:rPr>
              <a:t>a</a:t>
            </a:r>
            <a:r>
              <a:rPr sz="2400" b="1" spc="-7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Function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9664" y="4711700"/>
            <a:ext cx="3383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100"/>
              </a:spcBef>
              <a:buClr>
                <a:srgbClr val="D50092"/>
              </a:buClr>
              <a:buSzPct val="68750"/>
              <a:buFont typeface="Wingdings"/>
              <a:buChar char=""/>
              <a:tabLst>
                <a:tab pos="292100" algn="l"/>
              </a:tabLst>
            </a:pPr>
            <a:r>
              <a:rPr sz="2400" b="1" spc="-5" dirty="0">
                <a:latin typeface="Arial Narrow"/>
                <a:cs typeface="Arial Narrow"/>
              </a:rPr>
              <a:t>Restrictions on</a:t>
            </a:r>
            <a:r>
              <a:rPr sz="2400" b="1" spc="-6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Functions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8824" y="495299"/>
            <a:ext cx="8308976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2770" marR="5080" indent="-10382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Creating </a:t>
            </a:r>
            <a:r>
              <a:rPr dirty="0"/>
              <a:t>a </a:t>
            </a:r>
            <a:r>
              <a:rPr spc="-5" dirty="0"/>
              <a:t>Function with</a:t>
            </a:r>
            <a:r>
              <a:rPr lang="zh-CN" altLang="en-US" spc="-5" dirty="0"/>
              <a:t>  </a:t>
            </a:r>
            <a:r>
              <a:rPr spc="-5" dirty="0"/>
              <a:t>Schema</a:t>
            </a:r>
            <a:r>
              <a:rPr spc="-15" dirty="0"/>
              <a:t> </a:t>
            </a:r>
            <a:r>
              <a:rPr dirty="0"/>
              <a:t>Binding</a:t>
            </a:r>
            <a:r>
              <a:rPr lang="zh-CN" altLang="en-US" dirty="0"/>
              <a:t>架构绑定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613015" cy="4219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4795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Referenced </a:t>
            </a:r>
            <a:r>
              <a:rPr sz="3200" spc="-5" dirty="0">
                <a:latin typeface="Tahoma"/>
                <a:cs typeface="Tahoma"/>
              </a:rPr>
              <a:t>User-defined Functions and  Views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Also Schema </a:t>
            </a:r>
            <a:r>
              <a:rPr sz="3200" dirty="0">
                <a:latin typeface="Tahoma"/>
                <a:cs typeface="Tahoma"/>
              </a:rPr>
              <a:t>Bound</a:t>
            </a: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Objects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Not </a:t>
            </a:r>
            <a:r>
              <a:rPr sz="3200" spc="-15" dirty="0">
                <a:latin typeface="Tahoma"/>
                <a:cs typeface="Tahoma"/>
              </a:rPr>
              <a:t>Referenced </a:t>
            </a:r>
            <a:r>
              <a:rPr sz="3200" spc="-5" dirty="0">
                <a:latin typeface="Tahoma"/>
                <a:cs typeface="Tahoma"/>
              </a:rPr>
              <a:t>with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80" dirty="0">
                <a:latin typeface="Tahoma"/>
                <a:cs typeface="Tahoma"/>
              </a:rPr>
              <a:t>Two-  </a:t>
            </a:r>
            <a:r>
              <a:rPr sz="3200" spc="-20" dirty="0">
                <a:latin typeface="Tahoma"/>
                <a:cs typeface="Tahoma"/>
              </a:rPr>
              <a:t>Part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Name</a:t>
            </a:r>
            <a:endParaRPr sz="3200" dirty="0">
              <a:latin typeface="Tahoma"/>
              <a:cs typeface="Tahoma"/>
            </a:endParaRPr>
          </a:p>
          <a:p>
            <a:pPr marL="355600" marR="96202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Function and Objects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in the  Same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Database</a:t>
            </a:r>
            <a:endParaRPr sz="3200" dirty="0">
              <a:latin typeface="Tahoma"/>
              <a:cs typeface="Tahoma"/>
            </a:endParaRPr>
          </a:p>
          <a:p>
            <a:pPr marL="355600" marR="55244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Have Reference </a:t>
            </a:r>
            <a:r>
              <a:rPr sz="3200" spc="-10" dirty="0">
                <a:latin typeface="Tahoma"/>
                <a:cs typeface="Tahoma"/>
              </a:rPr>
              <a:t>Permission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15" dirty="0">
                <a:latin typeface="Tahoma"/>
                <a:cs typeface="Tahoma"/>
              </a:rPr>
              <a:t>Required  </a:t>
            </a:r>
            <a:r>
              <a:rPr sz="3200" spc="-5" dirty="0">
                <a:latin typeface="Tahoma"/>
                <a:cs typeface="Tahoma"/>
              </a:rPr>
              <a:t>Objects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8300" marR="5080" indent="-13798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Setting </a:t>
            </a:r>
            <a:r>
              <a:rPr spc="-15" dirty="0"/>
              <a:t>Permissions </a:t>
            </a:r>
            <a:r>
              <a:rPr spc="-20" dirty="0"/>
              <a:t>for </a:t>
            </a:r>
            <a:r>
              <a:rPr spc="-15" dirty="0"/>
              <a:t>User-  </a:t>
            </a:r>
            <a:r>
              <a:rPr spc="-5" dirty="0"/>
              <a:t>defined</a:t>
            </a:r>
            <a:r>
              <a:rPr spc="-15" dirty="0"/>
              <a:t> </a:t>
            </a:r>
            <a:r>
              <a:rPr spc="-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7274559" cy="33401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Need </a:t>
            </a:r>
            <a:r>
              <a:rPr sz="3200" spc="-35" dirty="0">
                <a:latin typeface="Tahoma"/>
                <a:cs typeface="Tahoma"/>
              </a:rPr>
              <a:t>CREATE </a:t>
            </a:r>
            <a:r>
              <a:rPr sz="3200" spc="-5" dirty="0">
                <a:latin typeface="Tahoma"/>
                <a:cs typeface="Tahoma"/>
              </a:rPr>
              <a:t>FUNCTION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Permission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Need EXECUTE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Permission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Need REFERENCE </a:t>
            </a:r>
            <a:r>
              <a:rPr sz="3200" spc="-10" dirty="0">
                <a:latin typeface="Tahoma"/>
                <a:cs typeface="Tahoma"/>
              </a:rPr>
              <a:t>Permission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Cited  </a:t>
            </a:r>
            <a:r>
              <a:rPr sz="3200" spc="-55" dirty="0">
                <a:latin typeface="Tahoma"/>
                <a:cs typeface="Tahoma"/>
              </a:rPr>
              <a:t>Tables, </a:t>
            </a:r>
            <a:r>
              <a:rPr sz="3200" spc="-5" dirty="0">
                <a:latin typeface="Tahoma"/>
                <a:cs typeface="Tahoma"/>
              </a:rPr>
              <a:t>Views, or</a:t>
            </a:r>
            <a:r>
              <a:rPr sz="3200" spc="4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Functions</a:t>
            </a:r>
            <a:endParaRPr sz="3200">
              <a:latin typeface="Tahoma"/>
              <a:cs typeface="Tahoma"/>
            </a:endParaRPr>
          </a:p>
          <a:p>
            <a:pPr marL="355600" marR="521334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Must </a:t>
            </a:r>
            <a:r>
              <a:rPr sz="3200" dirty="0">
                <a:latin typeface="Tahoma"/>
                <a:cs typeface="Tahoma"/>
              </a:rPr>
              <a:t>Own </a:t>
            </a:r>
            <a:r>
              <a:rPr sz="3200" spc="-5" dirty="0">
                <a:latin typeface="Tahoma"/>
                <a:cs typeface="Tahoma"/>
              </a:rPr>
              <a:t>the Function to Use in  </a:t>
            </a:r>
            <a:r>
              <a:rPr sz="3200" spc="-35" dirty="0">
                <a:latin typeface="Tahoma"/>
                <a:cs typeface="Tahoma"/>
              </a:rPr>
              <a:t>CREATE </a:t>
            </a:r>
            <a:r>
              <a:rPr sz="3200" spc="-5" dirty="0">
                <a:latin typeface="Tahoma"/>
                <a:cs typeface="Tahoma"/>
              </a:rPr>
              <a:t>or </a:t>
            </a:r>
            <a:r>
              <a:rPr sz="3200" spc="-55" dirty="0">
                <a:latin typeface="Tahoma"/>
                <a:cs typeface="Tahoma"/>
              </a:rPr>
              <a:t>ALTER </a:t>
            </a:r>
            <a:r>
              <a:rPr sz="3200" spc="-40" dirty="0">
                <a:latin typeface="Tahoma"/>
                <a:cs typeface="Tahoma"/>
              </a:rPr>
              <a:t>TABLE</a:t>
            </a:r>
            <a:r>
              <a:rPr sz="3200" spc="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Statement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797" y="587374"/>
            <a:ext cx="82003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Altering and Dropping User-defined</a:t>
            </a:r>
            <a:r>
              <a:rPr sz="3200" spc="-20" dirty="0"/>
              <a:t> </a:t>
            </a:r>
            <a:r>
              <a:rPr sz="3200" spc="-5" dirty="0"/>
              <a:t>Functions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884997" y="2385060"/>
            <a:ext cx="4383405" cy="8782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97697" y="5509259"/>
            <a:ext cx="4065904" cy="5988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9664" y="1723934"/>
            <a:ext cx="6602730" cy="409321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21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Altering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Functions</a:t>
            </a:r>
            <a:endParaRPr sz="3200">
              <a:latin typeface="Tahoma"/>
              <a:cs typeface="Tahoma"/>
            </a:endParaRPr>
          </a:p>
          <a:p>
            <a:pPr marL="866140">
              <a:lnSpc>
                <a:spcPts val="1880"/>
              </a:lnSpc>
              <a:spcBef>
                <a:spcPts val="55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ALTER FUNCTION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dbo.fn_NewRegion</a:t>
            </a:r>
            <a:endParaRPr sz="1600">
              <a:latin typeface="Lucida Sans Typewriter"/>
              <a:cs typeface="Lucida Sans Typewriter"/>
            </a:endParaRPr>
          </a:p>
          <a:p>
            <a:pPr marL="1234440">
              <a:lnSpc>
                <a:spcPts val="188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&lt;New function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content&gt;</a:t>
            </a:r>
            <a:endParaRPr sz="1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800">
              <a:latin typeface="Lucida Sans Typewriter"/>
              <a:cs typeface="Lucida Sans Typewriter"/>
            </a:endParaRPr>
          </a:p>
          <a:p>
            <a:pPr marL="755650" lvl="1" indent="-285750">
              <a:lnSpc>
                <a:spcPct val="100000"/>
              </a:lnSpc>
              <a:spcBef>
                <a:spcPts val="134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Retains </a:t>
            </a:r>
            <a:r>
              <a:rPr sz="2800" spc="-5" dirty="0">
                <a:latin typeface="Tahoma"/>
                <a:cs typeface="Tahoma"/>
              </a:rPr>
              <a:t>assigned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permissions</a:t>
            </a:r>
            <a:endParaRPr sz="2800">
              <a:latin typeface="Tahoma"/>
              <a:cs typeface="Tahoma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Causes the new </a:t>
            </a:r>
            <a:r>
              <a:rPr sz="2800" spc="-10" dirty="0">
                <a:latin typeface="Tahoma"/>
                <a:cs typeface="Tahoma"/>
              </a:rPr>
              <a:t>function </a:t>
            </a:r>
            <a:r>
              <a:rPr sz="2800" spc="-5" dirty="0">
                <a:latin typeface="Tahoma"/>
                <a:cs typeface="Tahoma"/>
              </a:rPr>
              <a:t>definition to  replace existing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definition</a:t>
            </a:r>
            <a:endParaRPr sz="2800">
              <a:latin typeface="Tahoma"/>
              <a:cs typeface="Tahoma"/>
            </a:endParaRPr>
          </a:p>
          <a:p>
            <a:pPr marL="414655" indent="-402590">
              <a:lnSpc>
                <a:spcPts val="3795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Dropping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Functions</a:t>
            </a:r>
            <a:endParaRPr sz="3200">
              <a:latin typeface="Tahoma"/>
              <a:cs typeface="Tahoma"/>
            </a:endParaRPr>
          </a:p>
          <a:p>
            <a:pPr marL="878840">
              <a:lnSpc>
                <a:spcPts val="1875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DROP FUNCTION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dbo.fn_NewRegion</a:t>
            </a:r>
            <a:endParaRPr sz="1600">
              <a:latin typeface="Lucida Sans Typewriter"/>
              <a:cs typeface="Lucida Sans Typewriter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07666699-338F-BA4A-AA76-34B1E729F5A5}"/>
                  </a:ext>
                </a:extLst>
              </p14:cNvPr>
              <p14:cNvContentPartPr/>
              <p14:nvPr/>
            </p14:nvContentPartPr>
            <p14:xfrm>
              <a:off x="1981179" y="2410405"/>
              <a:ext cx="768240" cy="3052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07666699-338F-BA4A-AA76-34B1E729F5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7539" y="2302765"/>
                <a:ext cx="875880" cy="5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F3DDEE62-FC4E-720C-64A6-FD337563DA9A}"/>
                  </a:ext>
                </a:extLst>
              </p14:cNvPr>
              <p14:cNvContentPartPr/>
              <p14:nvPr/>
            </p14:nvContentPartPr>
            <p14:xfrm>
              <a:off x="1981179" y="5375725"/>
              <a:ext cx="1356480" cy="4899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3DDEE62-FC4E-720C-64A6-FD337563DA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7539" y="5267725"/>
                <a:ext cx="1464120" cy="70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864" y="605790"/>
            <a:ext cx="7240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Examples </a:t>
            </a:r>
            <a:r>
              <a:rPr sz="3600" dirty="0"/>
              <a:t>of </a:t>
            </a:r>
            <a:r>
              <a:rPr sz="3600" spc="-10" dirty="0"/>
              <a:t>User-defined</a:t>
            </a:r>
            <a:r>
              <a:rPr sz="3600" spc="-5" dirty="0"/>
              <a:t> Functions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824864" y="1306956"/>
            <a:ext cx="7398384" cy="548513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Scalar User-defined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Function</a:t>
            </a:r>
            <a:endParaRPr sz="3200">
              <a:latin typeface="Tahoma"/>
              <a:cs typeface="Tahoma"/>
            </a:endParaRPr>
          </a:p>
          <a:p>
            <a:pPr marL="355600" marR="1029969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Example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Scalar User-defined  Function</a:t>
            </a:r>
            <a:endParaRPr sz="3200">
              <a:latin typeface="Tahoma"/>
              <a:cs typeface="Tahoma"/>
            </a:endParaRPr>
          </a:p>
          <a:p>
            <a:pPr marL="355600" marR="2971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Multi-Statement </a:t>
            </a:r>
            <a:r>
              <a:rPr sz="3200" spc="-45" dirty="0">
                <a:latin typeface="Tahoma"/>
                <a:cs typeface="Tahoma"/>
              </a:rPr>
              <a:t>Table-valued  </a:t>
            </a:r>
            <a:r>
              <a:rPr sz="3200" spc="-5" dirty="0">
                <a:latin typeface="Tahoma"/>
                <a:cs typeface="Tahoma"/>
              </a:rPr>
              <a:t>Function</a:t>
            </a:r>
            <a:endParaRPr sz="3200">
              <a:latin typeface="Tahoma"/>
              <a:cs typeface="Tahoma"/>
            </a:endParaRPr>
          </a:p>
          <a:p>
            <a:pPr marL="355600" marR="45402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Example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Multi-Statement </a:t>
            </a:r>
            <a:r>
              <a:rPr sz="3200" spc="-65" dirty="0">
                <a:latin typeface="Tahoma"/>
                <a:cs typeface="Tahoma"/>
              </a:rPr>
              <a:t>Table-  </a:t>
            </a:r>
            <a:r>
              <a:rPr sz="3200" spc="-15" dirty="0">
                <a:latin typeface="Tahoma"/>
                <a:cs typeface="Tahoma"/>
              </a:rPr>
              <a:t>valued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Function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In-Line </a:t>
            </a:r>
            <a:r>
              <a:rPr sz="3200" spc="-45" dirty="0">
                <a:latin typeface="Tahoma"/>
                <a:cs typeface="Tahoma"/>
              </a:rPr>
              <a:t>Table-valued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Function</a:t>
            </a:r>
            <a:endParaRPr sz="3200">
              <a:latin typeface="Tahoma"/>
              <a:cs typeface="Tahoma"/>
            </a:endParaRPr>
          </a:p>
          <a:p>
            <a:pPr marL="355600" marR="66040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Example of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In-Line </a:t>
            </a:r>
            <a:r>
              <a:rPr sz="3200" spc="-45" dirty="0">
                <a:latin typeface="Tahoma"/>
                <a:cs typeface="Tahoma"/>
              </a:rPr>
              <a:t>Table-valued  </a:t>
            </a:r>
            <a:r>
              <a:rPr sz="3200" spc="-5" dirty="0">
                <a:latin typeface="Tahoma"/>
                <a:cs typeface="Tahoma"/>
              </a:rPr>
              <a:t>Function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60980" marR="5080" indent="-234696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Using </a:t>
            </a:r>
            <a:r>
              <a:rPr dirty="0"/>
              <a:t>a </a:t>
            </a:r>
            <a:r>
              <a:rPr spc="-5" dirty="0"/>
              <a:t>Scalar </a:t>
            </a:r>
            <a:r>
              <a:rPr spc="-10" dirty="0"/>
              <a:t>User-defined  </a:t>
            </a:r>
            <a:r>
              <a:rPr spc="-5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7605395" cy="275526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RETURNS Clause Specifies Data </a:t>
            </a:r>
            <a:r>
              <a:rPr sz="3200" spc="-80" dirty="0">
                <a:latin typeface="Tahoma"/>
                <a:cs typeface="Tahoma"/>
              </a:rPr>
              <a:t>Type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Function </a:t>
            </a:r>
            <a:r>
              <a:rPr sz="3200" spc="-20" dirty="0">
                <a:latin typeface="Tahoma"/>
                <a:cs typeface="Tahoma"/>
              </a:rPr>
              <a:t>Is </a:t>
            </a:r>
            <a:r>
              <a:rPr sz="3200" spc="-5" dirty="0">
                <a:latin typeface="Tahoma"/>
                <a:cs typeface="Tahoma"/>
              </a:rPr>
              <a:t>Defined Within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BEGIN and  END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Block</a:t>
            </a:r>
            <a:endParaRPr sz="3200">
              <a:latin typeface="Tahoma"/>
              <a:cs typeface="Tahoma"/>
            </a:endParaRPr>
          </a:p>
          <a:p>
            <a:pPr marL="355600" marR="12255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Return </a:t>
            </a:r>
            <a:r>
              <a:rPr sz="3200" spc="-80" dirty="0">
                <a:latin typeface="Tahoma"/>
                <a:cs typeface="Tahoma"/>
              </a:rPr>
              <a:t>Type </a:t>
            </a:r>
            <a:r>
              <a:rPr sz="3200" spc="-20" dirty="0">
                <a:latin typeface="Tahoma"/>
                <a:cs typeface="Tahoma"/>
              </a:rPr>
              <a:t>Is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Data </a:t>
            </a:r>
            <a:r>
              <a:rPr sz="3200" spc="-80" dirty="0">
                <a:latin typeface="Tahoma"/>
                <a:cs typeface="Tahoma"/>
              </a:rPr>
              <a:t>Type </a:t>
            </a:r>
            <a:r>
              <a:rPr sz="3200" spc="-10" dirty="0">
                <a:latin typeface="Tahoma"/>
                <a:cs typeface="Tahoma"/>
              </a:rPr>
              <a:t>Except  </a:t>
            </a:r>
            <a:r>
              <a:rPr sz="3200" spc="-5" dirty="0">
                <a:latin typeface="Tahoma"/>
                <a:cs typeface="Tahoma"/>
              </a:rPr>
              <a:t>text, ntext, image, </a:t>
            </a:r>
            <a:r>
              <a:rPr sz="3200" spc="-65" dirty="0">
                <a:latin typeface="Tahoma"/>
                <a:cs typeface="Tahoma"/>
              </a:rPr>
              <a:t>cursor, </a:t>
            </a:r>
            <a:r>
              <a:rPr sz="3200" spc="-5" dirty="0">
                <a:latin typeface="Tahoma"/>
                <a:cs typeface="Tahoma"/>
              </a:rPr>
              <a:t>or</a:t>
            </a:r>
            <a:r>
              <a:rPr sz="3200" spc="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timestamp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7555" y="323215"/>
            <a:ext cx="7628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Example of </a:t>
            </a:r>
            <a:r>
              <a:rPr sz="3200" dirty="0"/>
              <a:t>a </a:t>
            </a:r>
            <a:r>
              <a:rPr sz="3200" spc="-5" dirty="0"/>
              <a:t>Scalar User-defined</a:t>
            </a:r>
            <a:r>
              <a:rPr sz="3200" spc="-20" dirty="0"/>
              <a:t> </a:t>
            </a:r>
            <a:r>
              <a:rPr sz="3200" spc="-5" dirty="0"/>
              <a:t>Function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876935" y="1516697"/>
            <a:ext cx="7313930" cy="35991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5210" y="5499734"/>
            <a:ext cx="6977380" cy="465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77264" y="846905"/>
            <a:ext cx="6373495" cy="4968875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444500" indent="-279400">
              <a:lnSpc>
                <a:spcPct val="100000"/>
              </a:lnSpc>
              <a:spcBef>
                <a:spcPts val="1764"/>
              </a:spcBef>
              <a:buClr>
                <a:srgbClr val="D50092"/>
              </a:buClr>
              <a:buSzPct val="68750"/>
              <a:buFont typeface="Wingdings"/>
              <a:buChar char=""/>
              <a:tabLst>
                <a:tab pos="444500" algn="l"/>
              </a:tabLst>
            </a:pPr>
            <a:r>
              <a:rPr sz="2400" b="1" spc="-5" dirty="0">
                <a:latin typeface="Arial Narrow"/>
                <a:cs typeface="Arial Narrow"/>
              </a:rPr>
              <a:t>Creating the</a:t>
            </a:r>
            <a:r>
              <a:rPr sz="2400" b="1" spc="-1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Function</a:t>
            </a:r>
            <a:endParaRPr sz="24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CREATE FUNCTION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fn_DateFormat</a:t>
            </a:r>
            <a:endParaRPr sz="1600">
              <a:latin typeface="Lucida Sans Typewriter"/>
              <a:cs typeface="Lucida Sans Typewriter"/>
            </a:endParaRPr>
          </a:p>
          <a:p>
            <a:pPr marL="355600" marR="986155" indent="36766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(@indate datetime, @separator char(1))  RETURNS Nchar(20)</a:t>
            </a:r>
            <a:endParaRPr sz="1600">
              <a:latin typeface="Lucida Sans Typewriter"/>
              <a:cs typeface="Lucida Sans Typewriter"/>
            </a:endParaRPr>
          </a:p>
          <a:p>
            <a:pPr marL="355600" marR="539813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AS  BEGIN</a:t>
            </a:r>
            <a:endParaRPr sz="1600">
              <a:latin typeface="Lucida Sans Typewriter"/>
              <a:cs typeface="Lucida Sans Typewriter"/>
            </a:endParaRPr>
          </a:p>
          <a:p>
            <a:pPr marL="72326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RETURN</a:t>
            </a:r>
            <a:endParaRPr sz="1600">
              <a:latin typeface="Lucida Sans Typewriter"/>
              <a:cs typeface="Lucida Sans Typewriter"/>
            </a:endParaRPr>
          </a:p>
          <a:p>
            <a:pPr marL="72326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CONVERT(Nvarchar(20), datepart(mm,@indate))</a:t>
            </a:r>
            <a:endParaRPr sz="1600">
              <a:latin typeface="Lucida Sans Typewriter"/>
              <a:cs typeface="Lucida Sans Typewriter"/>
            </a:endParaRPr>
          </a:p>
          <a:p>
            <a:pPr marL="72326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+ @separator</a:t>
            </a:r>
            <a:endParaRPr sz="1600">
              <a:latin typeface="Lucida Sans Typewriter"/>
              <a:cs typeface="Lucida Sans Typewriter"/>
            </a:endParaRPr>
          </a:p>
          <a:p>
            <a:pPr marL="72326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+ CONVERT(Nvarchar(20), datepart(dd, @indate))</a:t>
            </a:r>
            <a:endParaRPr sz="1600">
              <a:latin typeface="Lucida Sans Typewriter"/>
              <a:cs typeface="Lucida Sans Typewriter"/>
            </a:endParaRPr>
          </a:p>
          <a:p>
            <a:pPr marL="72326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+ @separator</a:t>
            </a:r>
            <a:endParaRPr sz="1600">
              <a:latin typeface="Lucida Sans Typewriter"/>
              <a:cs typeface="Lucida Sans Typewriter"/>
            </a:endParaRPr>
          </a:p>
          <a:p>
            <a:pPr marL="72326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+ CONVERT(Nvarchar(20), datepart(yy, @indate))</a:t>
            </a:r>
            <a:endParaRPr sz="1600">
              <a:latin typeface="Lucida Sans Typewriter"/>
              <a:cs typeface="Lucida Sans Typewriter"/>
            </a:endParaRPr>
          </a:p>
          <a:p>
            <a:pPr marL="355600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END</a:t>
            </a:r>
            <a:endParaRPr sz="1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Lucida Sans Typewriter"/>
              <a:cs typeface="Lucida Sans Typewriter"/>
            </a:endParaRPr>
          </a:p>
          <a:p>
            <a:pPr marL="444500" indent="-279400">
              <a:lnSpc>
                <a:spcPct val="100000"/>
              </a:lnSpc>
              <a:buClr>
                <a:srgbClr val="D50092"/>
              </a:buClr>
              <a:buSzPct val="68750"/>
              <a:buFont typeface="Wingdings"/>
              <a:buChar char=""/>
              <a:tabLst>
                <a:tab pos="444500" algn="l"/>
              </a:tabLst>
            </a:pPr>
            <a:r>
              <a:rPr sz="2400" b="1" spc="-5" dirty="0">
                <a:latin typeface="Arial Narrow"/>
                <a:cs typeface="Arial Narrow"/>
              </a:rPr>
              <a:t>Calling the</a:t>
            </a:r>
            <a:r>
              <a:rPr sz="2400" b="1" spc="-1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Function</a:t>
            </a:r>
            <a:endParaRPr sz="2400">
              <a:latin typeface="Arial Narrow"/>
              <a:cs typeface="Arial Narrow"/>
            </a:endParaRPr>
          </a:p>
          <a:p>
            <a:pPr marL="179070">
              <a:lnSpc>
                <a:spcPct val="100000"/>
              </a:lnSpc>
              <a:spcBef>
                <a:spcPts val="62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dbo.fn_DateFormat(GETDATE(),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':')</a:t>
            </a:r>
            <a:endParaRPr sz="16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3250" marR="5080" indent="-184912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Using </a:t>
            </a:r>
            <a:r>
              <a:rPr dirty="0"/>
              <a:t>a </a:t>
            </a:r>
            <a:r>
              <a:rPr spc="-5" dirty="0"/>
              <a:t>Multi-Statement</a:t>
            </a:r>
            <a:r>
              <a:rPr spc="-75" dirty="0"/>
              <a:t> </a:t>
            </a:r>
            <a:r>
              <a:rPr spc="-85" dirty="0"/>
              <a:t>Table-  </a:t>
            </a:r>
            <a:r>
              <a:rPr spc="-20" dirty="0"/>
              <a:t>valued</a:t>
            </a:r>
            <a:r>
              <a:rPr spc="-10" dirty="0"/>
              <a:t> </a:t>
            </a:r>
            <a:r>
              <a:rPr spc="-5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3464" y="2560637"/>
            <a:ext cx="6280150" cy="314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BEGIN and END Enclose Multiple  Statements</a:t>
            </a:r>
            <a:endParaRPr sz="3200">
              <a:latin typeface="Tahoma"/>
              <a:cs typeface="Tahoma"/>
            </a:endParaRPr>
          </a:p>
          <a:p>
            <a:pPr marL="355600" marR="12700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RETURNS Clause Specifies table  Data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80" dirty="0">
                <a:latin typeface="Tahoma"/>
                <a:cs typeface="Tahoma"/>
              </a:rPr>
              <a:t>Type</a:t>
            </a:r>
            <a:endParaRPr sz="3200">
              <a:latin typeface="Tahoma"/>
              <a:cs typeface="Tahoma"/>
            </a:endParaRPr>
          </a:p>
          <a:p>
            <a:pPr marL="355600" marR="68453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RETURNS Clause Names and  Defines the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75" dirty="0">
                <a:latin typeface="Tahoma"/>
                <a:cs typeface="Tahoma"/>
              </a:rPr>
              <a:t>Table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5230" y="224790"/>
            <a:ext cx="654812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58645" marR="5080" indent="-1845945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Example of </a:t>
            </a:r>
            <a:r>
              <a:rPr sz="3200" dirty="0"/>
              <a:t>a </a:t>
            </a:r>
            <a:r>
              <a:rPr sz="3200" spc="-5" dirty="0"/>
              <a:t>Multi-Statement </a:t>
            </a:r>
            <a:r>
              <a:rPr sz="3200" spc="-65" dirty="0"/>
              <a:t>Table-  </a:t>
            </a:r>
            <a:r>
              <a:rPr sz="3200" spc="-15" dirty="0"/>
              <a:t>valued</a:t>
            </a:r>
            <a:r>
              <a:rPr sz="3200" spc="-10" dirty="0"/>
              <a:t> </a:t>
            </a:r>
            <a:r>
              <a:rPr sz="3200" spc="-5" dirty="0"/>
              <a:t>Function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227772" y="1897697"/>
            <a:ext cx="6977380" cy="31388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24597" y="5768022"/>
            <a:ext cx="6977380" cy="9544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9664" y="1330324"/>
            <a:ext cx="6840220" cy="5241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Creating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Function</a:t>
            </a:r>
            <a:endParaRPr sz="3200">
              <a:latin typeface="Tahoma"/>
              <a:cs typeface="Tahoma"/>
            </a:endParaRPr>
          </a:p>
          <a:p>
            <a:pPr marL="209550">
              <a:lnSpc>
                <a:spcPts val="1730"/>
              </a:lnSpc>
              <a:spcBef>
                <a:spcPts val="220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CREATE FUNCTION fn_Employees (@length</a:t>
            </a:r>
            <a:r>
              <a:rPr sz="1600" spc="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nvarchar(9))</a:t>
            </a:r>
            <a:endParaRPr sz="1600">
              <a:latin typeface="Lucida Sans Typewriter"/>
              <a:cs typeface="Lucida Sans Typewriter"/>
            </a:endParaRPr>
          </a:p>
          <a:p>
            <a:pPr marL="209550">
              <a:lnSpc>
                <a:spcPts val="1535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RETURNS @fn_Employees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table</a:t>
            </a:r>
            <a:endParaRPr sz="1600">
              <a:latin typeface="Lucida Sans Typewriter"/>
              <a:cs typeface="Lucida Sans Typewriter"/>
            </a:endParaRPr>
          </a:p>
          <a:p>
            <a:pPr marL="577215" marR="1598930">
              <a:lnSpc>
                <a:spcPct val="79900"/>
              </a:lnSpc>
              <a:spcBef>
                <a:spcPts val="1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(EmployeeID int PRIMARY KEY NOT NULL,  [Employee Name] nvarchar(61) NOT</a:t>
            </a:r>
            <a:r>
              <a:rPr sz="1600" spc="-2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NULL)</a:t>
            </a:r>
            <a:endParaRPr sz="1600">
              <a:latin typeface="Lucida Sans Typewriter"/>
              <a:cs typeface="Lucida Sans Typewriter"/>
            </a:endParaRPr>
          </a:p>
          <a:p>
            <a:pPr marL="209550">
              <a:lnSpc>
                <a:spcPts val="134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AS</a:t>
            </a:r>
            <a:endParaRPr sz="1600">
              <a:latin typeface="Lucida Sans Typewriter"/>
              <a:cs typeface="Lucida Sans Typewriter"/>
            </a:endParaRPr>
          </a:p>
          <a:p>
            <a:pPr marL="209550">
              <a:lnSpc>
                <a:spcPts val="1455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BEGIN</a:t>
            </a:r>
            <a:endParaRPr sz="1600">
              <a:latin typeface="Lucida Sans Typewriter"/>
              <a:cs typeface="Lucida Sans Typewriter"/>
            </a:endParaRPr>
          </a:p>
          <a:p>
            <a:pPr marL="577215">
              <a:lnSpc>
                <a:spcPts val="144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IF @length =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'ShortName'</a:t>
            </a:r>
            <a:endParaRPr sz="1600">
              <a:latin typeface="Lucida Sans Typewriter"/>
              <a:cs typeface="Lucida Sans Typewriter"/>
            </a:endParaRPr>
          </a:p>
          <a:p>
            <a:pPr marL="944880" marR="5080">
              <a:lnSpc>
                <a:spcPct val="79900"/>
              </a:lnSpc>
              <a:spcBef>
                <a:spcPts val="18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INSERT @fn_Employees SELECT EmployeeID, LastName  FROM Employees</a:t>
            </a:r>
            <a:endParaRPr sz="1600">
              <a:latin typeface="Lucida Sans Typewriter"/>
              <a:cs typeface="Lucida Sans Typewriter"/>
            </a:endParaRPr>
          </a:p>
          <a:p>
            <a:pPr marL="577215">
              <a:lnSpc>
                <a:spcPts val="1345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ELSE IF @length =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'LongName'</a:t>
            </a:r>
            <a:endParaRPr sz="1600">
              <a:latin typeface="Lucida Sans Typewriter"/>
              <a:cs typeface="Lucida Sans Typewriter"/>
            </a:endParaRPr>
          </a:p>
          <a:p>
            <a:pPr marL="944880" marR="618490">
              <a:lnSpc>
                <a:spcPct val="79900"/>
              </a:lnSpc>
              <a:spcBef>
                <a:spcPts val="19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INSERT @fn_Employees SELECT EmployeeID,  (FirstName + ' ' + LastName) FROM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Employees</a:t>
            </a:r>
            <a:endParaRPr sz="1600">
              <a:latin typeface="Lucida Sans Typewriter"/>
              <a:cs typeface="Lucida Sans Typewriter"/>
            </a:endParaRPr>
          </a:p>
          <a:p>
            <a:pPr marL="209550">
              <a:lnSpc>
                <a:spcPts val="1335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RETURN</a:t>
            </a:r>
            <a:endParaRPr sz="1600">
              <a:latin typeface="Lucida Sans Typewriter"/>
              <a:cs typeface="Lucida Sans Typewriter"/>
            </a:endParaRPr>
          </a:p>
          <a:p>
            <a:pPr marL="209550">
              <a:lnSpc>
                <a:spcPts val="1720"/>
              </a:lnSpc>
            </a:pPr>
            <a:r>
              <a:rPr sz="1600" spc="-5" dirty="0">
                <a:latin typeface="Times New Roman"/>
                <a:cs typeface="Times New Roman"/>
              </a:rPr>
              <a:t>END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414655" indent="-402590">
              <a:lnSpc>
                <a:spcPct val="100000"/>
              </a:lnSpc>
              <a:spcBef>
                <a:spcPts val="11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Calling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Function</a:t>
            </a:r>
            <a:endParaRPr sz="3200">
              <a:latin typeface="Tahoma"/>
              <a:cs typeface="Tahoma"/>
            </a:endParaRPr>
          </a:p>
          <a:p>
            <a:pPr marL="206375">
              <a:lnSpc>
                <a:spcPts val="1914"/>
              </a:lnSpc>
              <a:spcBef>
                <a:spcPts val="63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* FROM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dbo.fn_Employees('LongName')</a:t>
            </a:r>
            <a:endParaRPr sz="1600">
              <a:latin typeface="Lucida Sans Typewriter"/>
              <a:cs typeface="Lucida Sans Typewriter"/>
            </a:endParaRPr>
          </a:p>
          <a:p>
            <a:pPr marL="206375">
              <a:lnSpc>
                <a:spcPts val="1914"/>
              </a:lnSpc>
            </a:pPr>
            <a:r>
              <a:rPr sz="1600" spc="-5" dirty="0">
                <a:latin typeface="Arial Narrow"/>
                <a:cs typeface="Arial Narrow"/>
              </a:rPr>
              <a:t>Or</a:t>
            </a:r>
            <a:endParaRPr sz="1600">
              <a:latin typeface="Arial Narrow"/>
              <a:cs typeface="Arial Narrow"/>
            </a:endParaRPr>
          </a:p>
          <a:p>
            <a:pPr marL="206375">
              <a:lnSpc>
                <a:spcPct val="100000"/>
              </a:lnSpc>
              <a:spcBef>
                <a:spcPts val="1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* FROM</a:t>
            </a:r>
            <a:r>
              <a:rPr sz="1600" spc="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dbo.fn_Employees('ShortName')</a:t>
            </a:r>
            <a:endParaRPr sz="16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60980" marR="5080" indent="-260223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Using </a:t>
            </a:r>
            <a:r>
              <a:rPr dirty="0"/>
              <a:t>an </a:t>
            </a:r>
            <a:r>
              <a:rPr spc="-10" dirty="0"/>
              <a:t>In-Line </a:t>
            </a:r>
            <a:r>
              <a:rPr spc="-60" dirty="0"/>
              <a:t>Table-valued  </a:t>
            </a:r>
            <a:r>
              <a:rPr spc="-5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9664" y="1885949"/>
            <a:ext cx="6957059" cy="3244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Content of the Function </a:t>
            </a:r>
            <a:r>
              <a:rPr sz="3200" spc="-20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SELECT  Statement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Not Use BEGIN and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END</a:t>
            </a:r>
            <a:endParaRPr sz="3200">
              <a:latin typeface="Tahoma"/>
              <a:cs typeface="Tahoma"/>
            </a:endParaRPr>
          </a:p>
          <a:p>
            <a:pPr marL="355600" marR="13779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RETURN Specifies table as the Data  </a:t>
            </a:r>
            <a:r>
              <a:rPr sz="3200" spc="-80" dirty="0">
                <a:latin typeface="Tahoma"/>
                <a:cs typeface="Tahoma"/>
              </a:rPr>
              <a:t>Type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Format </a:t>
            </a:r>
            <a:r>
              <a:rPr sz="3200" spc="-20" dirty="0">
                <a:latin typeface="Tahoma"/>
                <a:cs typeface="Tahoma"/>
              </a:rPr>
              <a:t>Is </a:t>
            </a:r>
            <a:r>
              <a:rPr sz="3200" spc="-5" dirty="0">
                <a:latin typeface="Tahoma"/>
                <a:cs typeface="Tahoma"/>
              </a:rPr>
              <a:t>Defined by the </a:t>
            </a:r>
            <a:r>
              <a:rPr sz="3200" spc="-15" dirty="0">
                <a:latin typeface="Tahoma"/>
                <a:cs typeface="Tahoma"/>
              </a:rPr>
              <a:t>Result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Set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175" y="300037"/>
            <a:ext cx="711708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12900" marR="5080" indent="-16002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 of </a:t>
            </a:r>
            <a:r>
              <a:rPr dirty="0"/>
              <a:t>an </a:t>
            </a:r>
            <a:r>
              <a:rPr spc="-10" dirty="0"/>
              <a:t>In-Line </a:t>
            </a:r>
            <a:r>
              <a:rPr spc="-85" dirty="0"/>
              <a:t>Table-  </a:t>
            </a:r>
            <a:r>
              <a:rPr spc="-20" dirty="0"/>
              <a:t>valued</a:t>
            </a:r>
            <a:r>
              <a:rPr spc="-10" dirty="0"/>
              <a:t> </a:t>
            </a:r>
            <a:r>
              <a:rPr spc="-5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350010" y="2597785"/>
            <a:ext cx="6563042" cy="24244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94764" y="2084975"/>
            <a:ext cx="5069205" cy="253555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279400" indent="-279400">
              <a:lnSpc>
                <a:spcPct val="100000"/>
              </a:lnSpc>
              <a:spcBef>
                <a:spcPts val="1015"/>
              </a:spcBef>
              <a:buClr>
                <a:srgbClr val="D50092"/>
              </a:buClr>
              <a:buSzPct val="68750"/>
              <a:buFont typeface="Wingdings"/>
              <a:buChar char=""/>
              <a:tabLst>
                <a:tab pos="279400" algn="l"/>
              </a:tabLst>
            </a:pPr>
            <a:r>
              <a:rPr sz="2400" b="1" spc="-5" dirty="0">
                <a:latin typeface="Arial Narrow"/>
                <a:cs typeface="Arial Narrow"/>
              </a:rPr>
              <a:t>Creating the</a:t>
            </a:r>
            <a:r>
              <a:rPr sz="2400" b="1" spc="-1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Function</a:t>
            </a:r>
            <a:endParaRPr sz="2400">
              <a:latin typeface="Arial Narrow"/>
              <a:cs typeface="Arial Narrow"/>
            </a:endParaRPr>
          </a:p>
          <a:p>
            <a:pPr marL="534670" indent="-367665">
              <a:lnSpc>
                <a:spcPct val="100000"/>
              </a:lnSpc>
              <a:spcBef>
                <a:spcPts val="60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CREATE FUNCTION fn_CustomerNamesInRegion  ( @RegionParameter nvarchar(30)</a:t>
            </a:r>
            <a:r>
              <a:rPr sz="1600" spc="-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)</a:t>
            </a:r>
            <a:endParaRPr sz="1600">
              <a:latin typeface="Lucida Sans Typewriter"/>
              <a:cs typeface="Lucida Sans Typewriter"/>
            </a:endParaRPr>
          </a:p>
          <a:p>
            <a:pPr marL="166370" marR="3302000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RETURNS</a:t>
            </a:r>
            <a:r>
              <a:rPr sz="1600" spc="-7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table  AS</a:t>
            </a:r>
            <a:endParaRPr sz="1600">
              <a:latin typeface="Lucida Sans Typewriter"/>
              <a:cs typeface="Lucida Sans Typewriter"/>
            </a:endParaRPr>
          </a:p>
          <a:p>
            <a:pPr marL="166370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RETURN (</a:t>
            </a:r>
            <a:endParaRPr sz="1600">
              <a:latin typeface="Lucida Sans Typewriter"/>
              <a:cs typeface="Lucida Sans Typewriter"/>
            </a:endParaRPr>
          </a:p>
          <a:p>
            <a:pPr marL="534670" marR="72834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SELECT CustomerID, CompanyName  FROM Northwind.dbo.Customers  WHERE Region =</a:t>
            </a:r>
            <a:r>
              <a:rPr sz="1600" spc="-3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@RegionParameter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435" y="4595495"/>
            <a:ext cx="12255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)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50010" y="5387022"/>
            <a:ext cx="6563042" cy="465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94764" y="4750950"/>
            <a:ext cx="5681980" cy="95186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279400" indent="-279400">
              <a:lnSpc>
                <a:spcPct val="100000"/>
              </a:lnSpc>
              <a:spcBef>
                <a:spcPts val="1600"/>
              </a:spcBef>
              <a:buClr>
                <a:srgbClr val="D50092"/>
              </a:buClr>
              <a:buSzPct val="68750"/>
              <a:buFont typeface="Wingdings"/>
              <a:buChar char=""/>
              <a:tabLst>
                <a:tab pos="279400" algn="l"/>
              </a:tabLst>
            </a:pPr>
            <a:r>
              <a:rPr sz="2400" b="1" spc="-5" dirty="0">
                <a:latin typeface="Arial Narrow"/>
                <a:cs typeface="Arial Narrow"/>
              </a:rPr>
              <a:t>Calling the Function Using </a:t>
            </a:r>
            <a:r>
              <a:rPr sz="2400" b="1" dirty="0">
                <a:latin typeface="Arial Narrow"/>
                <a:cs typeface="Arial Narrow"/>
              </a:rPr>
              <a:t>a</a:t>
            </a:r>
            <a:r>
              <a:rPr sz="2400" b="1" spc="-1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Parameter</a:t>
            </a:r>
            <a:endParaRPr sz="2400">
              <a:latin typeface="Arial Narrow"/>
              <a:cs typeface="Arial Narrow"/>
            </a:endParaRPr>
          </a:p>
          <a:p>
            <a:pPr marL="166370">
              <a:lnSpc>
                <a:spcPct val="100000"/>
              </a:lnSpc>
              <a:spcBef>
                <a:spcPts val="99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* FROM</a:t>
            </a:r>
            <a:r>
              <a:rPr sz="1600" spc="-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fn_CustomerNamesInRegion(N'WA')</a:t>
            </a:r>
            <a:endParaRPr sz="16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8065" y="829944"/>
            <a:ext cx="20078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SQLPlus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90790" cy="34880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spc="-5" dirty="0">
                <a:latin typeface="Tahoma"/>
                <a:cs typeface="Tahoma"/>
              </a:rPr>
              <a:t>addition to stored procedures, one  can </a:t>
            </a:r>
            <a:r>
              <a:rPr sz="3200" dirty="0">
                <a:latin typeface="Tahoma"/>
                <a:cs typeface="Tahoma"/>
              </a:rPr>
              <a:t>write a </a:t>
            </a:r>
            <a:r>
              <a:rPr sz="3200" spc="-5" dirty="0">
                <a:latin typeface="Tahoma"/>
                <a:cs typeface="Tahoma"/>
              </a:rPr>
              <a:t>PL/SQL statement that looks  </a:t>
            </a: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spc="-5" dirty="0">
                <a:latin typeface="Tahoma"/>
                <a:cs typeface="Tahoma"/>
              </a:rPr>
              <a:t>the body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procedure, </a:t>
            </a:r>
            <a:r>
              <a:rPr sz="3200" spc="-5" dirty="0">
                <a:latin typeface="Tahoma"/>
                <a:cs typeface="Tahoma"/>
              </a:rPr>
              <a:t>but is  </a:t>
            </a:r>
            <a:r>
              <a:rPr sz="3200" spc="-10" dirty="0">
                <a:latin typeface="Tahoma"/>
                <a:cs typeface="Tahoma"/>
              </a:rPr>
              <a:t>executed </a:t>
            </a:r>
            <a:r>
              <a:rPr sz="3200" spc="-5" dirty="0">
                <a:latin typeface="Tahoma"/>
                <a:cs typeface="Tahoma"/>
              </a:rPr>
              <a:t>once, </a:t>
            </a: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SQL statement  </a:t>
            </a:r>
            <a:r>
              <a:rPr sz="3200" spc="-10" dirty="0">
                <a:latin typeface="Tahoma"/>
                <a:cs typeface="Tahoma"/>
              </a:rPr>
              <a:t>typed </a:t>
            </a:r>
            <a:r>
              <a:rPr sz="3200" spc="-5" dirty="0">
                <a:latin typeface="Tahoma"/>
                <a:cs typeface="Tahoma"/>
              </a:rPr>
              <a:t>to the generic </a:t>
            </a:r>
            <a:r>
              <a:rPr sz="3200" spc="-10" dirty="0">
                <a:latin typeface="Tahoma"/>
                <a:cs typeface="Tahoma"/>
              </a:rPr>
              <a:t>interface.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5" dirty="0">
                <a:latin typeface="Tahoma"/>
                <a:cs typeface="Tahoma"/>
              </a:rPr>
              <a:t>Oracle </a:t>
            </a:r>
            <a:r>
              <a:rPr sz="2800" spc="-5" dirty="0">
                <a:latin typeface="Tahoma"/>
                <a:cs typeface="Tahoma"/>
              </a:rPr>
              <a:t>calls the generic </a:t>
            </a:r>
            <a:r>
              <a:rPr sz="2800" spc="-10" dirty="0">
                <a:latin typeface="Tahoma"/>
                <a:cs typeface="Tahoma"/>
              </a:rPr>
              <a:t>interface</a:t>
            </a:r>
            <a:r>
              <a:rPr sz="2800" spc="50" dirty="0">
                <a:latin typeface="Tahoma"/>
                <a:cs typeface="Tahoma"/>
              </a:rPr>
              <a:t> </a:t>
            </a:r>
            <a:r>
              <a:rPr sz="2800" spc="-30" dirty="0">
                <a:latin typeface="Tahoma"/>
                <a:cs typeface="Tahoma"/>
              </a:rPr>
              <a:t>“sqlplus.”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PL/SQL is really the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45" dirty="0">
                <a:latin typeface="Tahoma"/>
                <a:cs typeface="Tahoma"/>
              </a:rPr>
              <a:t>“plus.”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6810" y="829944"/>
            <a:ext cx="68510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Form </a:t>
            </a:r>
            <a:r>
              <a:rPr spc="-5" dirty="0"/>
              <a:t>of PL/SQL</a:t>
            </a:r>
            <a:r>
              <a:rPr spc="-10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29637"/>
            <a:ext cx="5568950" cy="411861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800" spc="-15" dirty="0">
                <a:latin typeface="Tahoma"/>
                <a:cs typeface="Tahoma"/>
              </a:rPr>
              <a:t>DECLARE</a:t>
            </a:r>
            <a:endParaRPr sz="2800">
              <a:latin typeface="Tahoma"/>
              <a:cs typeface="Tahoma"/>
            </a:endParaRPr>
          </a:p>
          <a:p>
            <a:pPr marL="12700" marR="2813685" indent="342900">
              <a:lnSpc>
                <a:spcPts val="4040"/>
              </a:lnSpc>
              <a:spcBef>
                <a:spcPts val="229"/>
              </a:spcBef>
            </a:pPr>
            <a:r>
              <a:rPr sz="2800" spc="-5" dirty="0">
                <a:latin typeface="Tahoma"/>
                <a:cs typeface="Tahoma"/>
              </a:rPr>
              <a:t>&lt;</a:t>
            </a:r>
            <a:r>
              <a:rPr sz="2800" dirty="0">
                <a:latin typeface="Tahoma"/>
                <a:cs typeface="Tahoma"/>
              </a:rPr>
              <a:t>d</a:t>
            </a:r>
            <a:r>
              <a:rPr sz="2800" spc="-5" dirty="0">
                <a:latin typeface="Tahoma"/>
                <a:cs typeface="Tahoma"/>
              </a:rPr>
              <a:t>ecla</a:t>
            </a:r>
            <a:r>
              <a:rPr sz="2800" spc="-55" dirty="0">
                <a:latin typeface="Tahoma"/>
                <a:cs typeface="Tahoma"/>
              </a:rPr>
              <a:t>r</a:t>
            </a:r>
            <a:r>
              <a:rPr sz="2800" spc="-5" dirty="0">
                <a:latin typeface="Tahoma"/>
                <a:cs typeface="Tahoma"/>
              </a:rPr>
              <a:t>ations&gt;  BEGIN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409"/>
              </a:spcBef>
            </a:pPr>
            <a:r>
              <a:rPr sz="2800" spc="-5" dirty="0">
                <a:latin typeface="Tahoma"/>
                <a:cs typeface="Tahoma"/>
              </a:rPr>
              <a:t>&lt;statements&gt;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Tahoma"/>
                <a:cs typeface="Tahoma"/>
              </a:rPr>
              <a:t>END;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run</a:t>
            </a:r>
            <a:endParaRPr sz="2800">
              <a:latin typeface="Tahoma"/>
              <a:cs typeface="Tahoma"/>
            </a:endParaRPr>
          </a:p>
          <a:p>
            <a:pPr marL="363220" indent="-351155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5" dirty="0">
                <a:latin typeface="Tahoma"/>
                <a:cs typeface="Tahoma"/>
              </a:rPr>
              <a:t>DECLARE </a:t>
            </a:r>
            <a:r>
              <a:rPr sz="2800" spc="-5" dirty="0">
                <a:latin typeface="Tahoma"/>
                <a:cs typeface="Tahoma"/>
              </a:rPr>
              <a:t>section is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optional.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1114" y="829944"/>
            <a:ext cx="65417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Form </a:t>
            </a:r>
            <a:r>
              <a:rPr spc="-5" dirty="0"/>
              <a:t>of PL/SQL</a:t>
            </a:r>
            <a:r>
              <a:rPr spc="-15" dirty="0"/>
              <a:t> </a:t>
            </a:r>
            <a:r>
              <a:rPr spc="-10" dirty="0"/>
              <a:t>Procedure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4219"/>
            <a:ext cx="545338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latin typeface="Tahoma"/>
                <a:cs typeface="Tahoma"/>
              </a:rPr>
              <a:t>CREATE </a:t>
            </a:r>
            <a:r>
              <a:rPr sz="2800" spc="-5" dirty="0">
                <a:latin typeface="Tahoma"/>
                <a:cs typeface="Tahoma"/>
              </a:rPr>
              <a:t>OR </a:t>
            </a:r>
            <a:r>
              <a:rPr sz="2800" spc="-15" dirty="0">
                <a:latin typeface="Tahoma"/>
                <a:cs typeface="Tahoma"/>
              </a:rPr>
              <a:t>REPLACE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PROCEDURE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87950" y="2537286"/>
            <a:ext cx="410209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15" dirty="0">
                <a:latin typeface="Tahoma"/>
                <a:cs typeface="Tahoma"/>
              </a:rPr>
              <a:t>A</a:t>
            </a:r>
            <a:r>
              <a:rPr sz="2800" spc="-5" dirty="0">
                <a:latin typeface="Tahoma"/>
                <a:cs typeface="Tahoma"/>
              </a:rPr>
              <a:t>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7439" y="2438908"/>
            <a:ext cx="3982085" cy="15608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Tahoma"/>
                <a:cs typeface="Tahoma"/>
              </a:rPr>
              <a:t>&lt;name&gt;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(&lt;arguments&gt;)</a:t>
            </a:r>
            <a:endParaRPr sz="2800">
              <a:latin typeface="Tahoma"/>
              <a:cs typeface="Tahoma"/>
            </a:endParaRPr>
          </a:p>
          <a:p>
            <a:pPr marL="12700" marR="210185">
              <a:lnSpc>
                <a:spcPct val="119900"/>
              </a:lnSpc>
            </a:pPr>
            <a:r>
              <a:rPr sz="2800" spc="-5" dirty="0">
                <a:latin typeface="Tahoma"/>
                <a:cs typeface="Tahoma"/>
              </a:rPr>
              <a:t>&lt;optional </a:t>
            </a:r>
            <a:r>
              <a:rPr sz="2800" spc="-10" dirty="0">
                <a:latin typeface="Tahoma"/>
                <a:cs typeface="Tahoma"/>
              </a:rPr>
              <a:t>declarations&gt;  </a:t>
            </a:r>
            <a:r>
              <a:rPr sz="2800" spc="-5" dirty="0">
                <a:latin typeface="Tahoma"/>
                <a:cs typeface="Tahoma"/>
              </a:rPr>
              <a:t>BEGIN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7240" y="5097606"/>
            <a:ext cx="524510" cy="940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run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05400" y="25146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0" y="0"/>
                </a:moveTo>
                <a:lnTo>
                  <a:pt x="609600" y="0"/>
                </a:lnTo>
                <a:lnTo>
                  <a:pt x="6096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00637" y="2509837"/>
            <a:ext cx="619125" cy="466725"/>
          </a:xfrm>
          <a:custGeom>
            <a:avLst/>
            <a:gdLst/>
            <a:ahLst/>
            <a:cxnLst/>
            <a:rect l="l" t="t" r="r" b="b"/>
            <a:pathLst>
              <a:path w="619125" h="466725">
                <a:moveTo>
                  <a:pt x="6191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619125" y="461962"/>
                </a:lnTo>
                <a:lnTo>
                  <a:pt x="619125" y="466725"/>
                </a:lnTo>
                <a:close/>
              </a:path>
              <a:path w="6191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4667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466725">
                <a:moveTo>
                  <a:pt x="609600" y="4619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457200"/>
                </a:lnTo>
                <a:lnTo>
                  <a:pt x="614362" y="457200"/>
                </a:lnTo>
                <a:lnTo>
                  <a:pt x="609600" y="461962"/>
                </a:lnTo>
                <a:close/>
              </a:path>
              <a:path w="619125" h="4667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619125" h="466725">
                <a:moveTo>
                  <a:pt x="6096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609600" y="457200"/>
                </a:lnTo>
                <a:lnTo>
                  <a:pt x="609600" y="461962"/>
                </a:lnTo>
                <a:close/>
              </a:path>
              <a:path w="619125" h="466725">
                <a:moveTo>
                  <a:pt x="619125" y="461962"/>
                </a:moveTo>
                <a:lnTo>
                  <a:pt x="609600" y="461962"/>
                </a:lnTo>
                <a:lnTo>
                  <a:pt x="614362" y="457200"/>
                </a:lnTo>
                <a:lnTo>
                  <a:pt x="619125" y="457200"/>
                </a:lnTo>
                <a:lnTo>
                  <a:pt x="6191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16065" y="2552699"/>
            <a:ext cx="142938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Notice AS  needed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here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15000" y="2720784"/>
            <a:ext cx="763270" cy="179705"/>
          </a:xfrm>
          <a:custGeom>
            <a:avLst/>
            <a:gdLst/>
            <a:ahLst/>
            <a:cxnLst/>
            <a:rect l="l" t="t" r="r" b="b"/>
            <a:pathLst>
              <a:path w="763270" h="179705">
                <a:moveTo>
                  <a:pt x="67246" y="74714"/>
                </a:moveTo>
                <a:lnTo>
                  <a:pt x="0" y="22415"/>
                </a:lnTo>
                <a:lnTo>
                  <a:pt x="82194" y="0"/>
                </a:lnTo>
                <a:lnTo>
                  <a:pt x="76401" y="28955"/>
                </a:lnTo>
                <a:lnTo>
                  <a:pt x="56972" y="28955"/>
                </a:lnTo>
                <a:lnTo>
                  <a:pt x="55105" y="38290"/>
                </a:lnTo>
                <a:lnTo>
                  <a:pt x="73786" y="42026"/>
                </a:lnTo>
                <a:lnTo>
                  <a:pt x="67246" y="74714"/>
                </a:lnTo>
                <a:close/>
              </a:path>
              <a:path w="763270" h="179705">
                <a:moveTo>
                  <a:pt x="73786" y="42026"/>
                </a:moveTo>
                <a:lnTo>
                  <a:pt x="55105" y="38290"/>
                </a:lnTo>
                <a:lnTo>
                  <a:pt x="56972" y="28955"/>
                </a:lnTo>
                <a:lnTo>
                  <a:pt x="75653" y="32692"/>
                </a:lnTo>
                <a:lnTo>
                  <a:pt x="73786" y="42026"/>
                </a:lnTo>
                <a:close/>
              </a:path>
              <a:path w="763270" h="179705">
                <a:moveTo>
                  <a:pt x="75653" y="32692"/>
                </a:moveTo>
                <a:lnTo>
                  <a:pt x="56972" y="28955"/>
                </a:lnTo>
                <a:lnTo>
                  <a:pt x="76401" y="28955"/>
                </a:lnTo>
                <a:lnTo>
                  <a:pt x="75653" y="32692"/>
                </a:lnTo>
                <a:close/>
              </a:path>
              <a:path w="763270" h="179705">
                <a:moveTo>
                  <a:pt x="761060" y="179489"/>
                </a:moveTo>
                <a:lnTo>
                  <a:pt x="73786" y="42026"/>
                </a:lnTo>
                <a:lnTo>
                  <a:pt x="75653" y="32692"/>
                </a:lnTo>
                <a:lnTo>
                  <a:pt x="762939" y="170141"/>
                </a:lnTo>
                <a:lnTo>
                  <a:pt x="761060" y="179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5800" y="5251703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0"/>
                </a:moveTo>
                <a:lnTo>
                  <a:pt x="762000" y="0"/>
                </a:lnTo>
                <a:lnTo>
                  <a:pt x="7620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1037" y="5246687"/>
            <a:ext cx="771525" cy="847725"/>
          </a:xfrm>
          <a:custGeom>
            <a:avLst/>
            <a:gdLst/>
            <a:ahLst/>
            <a:cxnLst/>
            <a:rect l="l" t="t" r="r" b="b"/>
            <a:pathLst>
              <a:path w="771525" h="847725">
                <a:moveTo>
                  <a:pt x="771525" y="847725"/>
                </a:moveTo>
                <a:lnTo>
                  <a:pt x="0" y="847725"/>
                </a:lnTo>
                <a:lnTo>
                  <a:pt x="0" y="0"/>
                </a:lnTo>
                <a:lnTo>
                  <a:pt x="771525" y="0"/>
                </a:lnTo>
                <a:lnTo>
                  <a:pt x="771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8200"/>
                </a:lnTo>
                <a:lnTo>
                  <a:pt x="4762" y="838200"/>
                </a:lnTo>
                <a:lnTo>
                  <a:pt x="9525" y="842962"/>
                </a:lnTo>
                <a:lnTo>
                  <a:pt x="771525" y="842962"/>
                </a:lnTo>
                <a:lnTo>
                  <a:pt x="771525" y="847725"/>
                </a:lnTo>
                <a:close/>
              </a:path>
              <a:path w="771525" h="847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71525" h="847725">
                <a:moveTo>
                  <a:pt x="762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62000" y="4762"/>
                </a:lnTo>
                <a:lnTo>
                  <a:pt x="762000" y="9525"/>
                </a:lnTo>
                <a:close/>
              </a:path>
              <a:path w="771525" h="847725">
                <a:moveTo>
                  <a:pt x="762000" y="842962"/>
                </a:moveTo>
                <a:lnTo>
                  <a:pt x="762000" y="4762"/>
                </a:lnTo>
                <a:lnTo>
                  <a:pt x="766762" y="9525"/>
                </a:lnTo>
                <a:lnTo>
                  <a:pt x="771525" y="9525"/>
                </a:lnTo>
                <a:lnTo>
                  <a:pt x="771525" y="838200"/>
                </a:lnTo>
                <a:lnTo>
                  <a:pt x="766762" y="838200"/>
                </a:lnTo>
                <a:lnTo>
                  <a:pt x="762000" y="842962"/>
                </a:lnTo>
                <a:close/>
              </a:path>
              <a:path w="771525" h="847725">
                <a:moveTo>
                  <a:pt x="771525" y="9525"/>
                </a:moveTo>
                <a:lnTo>
                  <a:pt x="766762" y="9525"/>
                </a:lnTo>
                <a:lnTo>
                  <a:pt x="762000" y="4762"/>
                </a:lnTo>
                <a:lnTo>
                  <a:pt x="771525" y="4762"/>
                </a:lnTo>
                <a:lnTo>
                  <a:pt x="771525" y="9525"/>
                </a:lnTo>
                <a:close/>
              </a:path>
              <a:path w="771525" h="847725">
                <a:moveTo>
                  <a:pt x="9525" y="842962"/>
                </a:moveTo>
                <a:lnTo>
                  <a:pt x="4762" y="838200"/>
                </a:lnTo>
                <a:lnTo>
                  <a:pt x="9525" y="838200"/>
                </a:lnTo>
                <a:lnTo>
                  <a:pt x="9525" y="842962"/>
                </a:lnTo>
                <a:close/>
              </a:path>
              <a:path w="771525" h="847725">
                <a:moveTo>
                  <a:pt x="762000" y="842962"/>
                </a:moveTo>
                <a:lnTo>
                  <a:pt x="9525" y="842962"/>
                </a:lnTo>
                <a:lnTo>
                  <a:pt x="9525" y="838200"/>
                </a:lnTo>
                <a:lnTo>
                  <a:pt x="762000" y="838200"/>
                </a:lnTo>
                <a:lnTo>
                  <a:pt x="762000" y="842962"/>
                </a:lnTo>
                <a:close/>
              </a:path>
              <a:path w="771525" h="847725">
                <a:moveTo>
                  <a:pt x="771525" y="842962"/>
                </a:moveTo>
                <a:lnTo>
                  <a:pt x="762000" y="842962"/>
                </a:lnTo>
                <a:lnTo>
                  <a:pt x="766762" y="838200"/>
                </a:lnTo>
                <a:lnTo>
                  <a:pt x="771525" y="838200"/>
                </a:lnTo>
                <a:lnTo>
                  <a:pt x="771525" y="842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07439" y="3974338"/>
            <a:ext cx="4845050" cy="210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57555" indent="571500">
              <a:lnSpc>
                <a:spcPct val="119900"/>
              </a:lnSpc>
              <a:spcBef>
                <a:spcPts val="100"/>
              </a:spcBef>
            </a:pPr>
            <a:r>
              <a:rPr sz="2800" spc="-5" dirty="0">
                <a:latin typeface="Tahoma"/>
                <a:cs typeface="Tahoma"/>
              </a:rPr>
              <a:t>&lt;PL/SQL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statements&gt;  END;</a:t>
            </a:r>
            <a:endParaRPr sz="2800">
              <a:latin typeface="Tahoma"/>
              <a:cs typeface="Tahoma"/>
            </a:endParaRPr>
          </a:p>
          <a:p>
            <a:pPr marL="2244725" marR="5080">
              <a:lnSpc>
                <a:spcPct val="100000"/>
              </a:lnSpc>
              <a:spcBef>
                <a:spcPts val="1100"/>
              </a:spcBef>
            </a:pPr>
            <a:r>
              <a:rPr sz="2000" spc="-5" dirty="0">
                <a:latin typeface="Tahoma"/>
                <a:cs typeface="Tahoma"/>
              </a:rPr>
              <a:t>Needed to store  procedure in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database;  does not really run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it.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47800" y="5475325"/>
            <a:ext cx="1753235" cy="261620"/>
          </a:xfrm>
          <a:custGeom>
            <a:avLst/>
            <a:gdLst/>
            <a:ahLst/>
            <a:cxnLst/>
            <a:rect l="l" t="t" r="r" b="b"/>
            <a:pathLst>
              <a:path w="1753235" h="261620">
                <a:moveTo>
                  <a:pt x="76181" y="228193"/>
                </a:moveTo>
                <a:lnTo>
                  <a:pt x="74948" y="218744"/>
                </a:lnTo>
                <a:lnTo>
                  <a:pt x="1751977" y="0"/>
                </a:lnTo>
                <a:lnTo>
                  <a:pt x="1753222" y="9448"/>
                </a:lnTo>
                <a:lnTo>
                  <a:pt x="76181" y="228193"/>
                </a:lnTo>
                <a:close/>
              </a:path>
              <a:path w="1753235" h="261620">
                <a:moveTo>
                  <a:pt x="80492" y="261251"/>
                </a:moveTo>
                <a:lnTo>
                  <a:pt x="0" y="233324"/>
                </a:lnTo>
                <a:lnTo>
                  <a:pt x="70637" y="185686"/>
                </a:lnTo>
                <a:lnTo>
                  <a:pt x="74948" y="218744"/>
                </a:lnTo>
                <a:lnTo>
                  <a:pt x="56057" y="221208"/>
                </a:lnTo>
                <a:lnTo>
                  <a:pt x="57289" y="230657"/>
                </a:lnTo>
                <a:lnTo>
                  <a:pt x="76502" y="230657"/>
                </a:lnTo>
                <a:lnTo>
                  <a:pt x="80492" y="261251"/>
                </a:lnTo>
                <a:close/>
              </a:path>
              <a:path w="1753235" h="261620">
                <a:moveTo>
                  <a:pt x="57289" y="230657"/>
                </a:moveTo>
                <a:lnTo>
                  <a:pt x="56057" y="221208"/>
                </a:lnTo>
                <a:lnTo>
                  <a:pt x="74948" y="218744"/>
                </a:lnTo>
                <a:lnTo>
                  <a:pt x="76181" y="228193"/>
                </a:lnTo>
                <a:lnTo>
                  <a:pt x="57289" y="230657"/>
                </a:lnTo>
                <a:close/>
              </a:path>
              <a:path w="1753235" h="261620">
                <a:moveTo>
                  <a:pt x="76502" y="230657"/>
                </a:moveTo>
                <a:lnTo>
                  <a:pt x="57289" y="230657"/>
                </a:lnTo>
                <a:lnTo>
                  <a:pt x="76181" y="228193"/>
                </a:lnTo>
                <a:lnTo>
                  <a:pt x="76502" y="230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56</a:t>
            </a:fld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8080" marR="5080" indent="-148463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PL/SQL </a:t>
            </a:r>
            <a:r>
              <a:rPr spc="-10" dirty="0"/>
              <a:t>Declarations </a:t>
            </a:r>
            <a:r>
              <a:rPr spc="-5" dirty="0"/>
              <a:t>and  Assignments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04734" cy="3097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word </a:t>
            </a:r>
            <a:r>
              <a:rPr sz="3200" spc="-15" dirty="0">
                <a:latin typeface="Tahoma"/>
                <a:cs typeface="Tahoma"/>
              </a:rPr>
              <a:t>DECLARE </a:t>
            </a:r>
            <a:r>
              <a:rPr sz="3200" spc="-5" dirty="0">
                <a:latin typeface="Tahoma"/>
                <a:cs typeface="Tahoma"/>
              </a:rPr>
              <a:t>does not appear in  </a:t>
            </a:r>
            <a:r>
              <a:rPr sz="3200" spc="-10" dirty="0">
                <a:latin typeface="Tahoma"/>
                <a:cs typeface="Tahoma"/>
              </a:rPr>
              <a:t>front </a:t>
            </a:r>
            <a:r>
              <a:rPr sz="3200" spc="-5" dirty="0">
                <a:latin typeface="Tahoma"/>
                <a:cs typeface="Tahoma"/>
              </a:rPr>
              <a:t>of each local </a:t>
            </a:r>
            <a:r>
              <a:rPr sz="3200" spc="-10" dirty="0">
                <a:latin typeface="Tahoma"/>
                <a:cs typeface="Tahoma"/>
              </a:rPr>
              <a:t>declaration.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Just use the </a:t>
            </a:r>
            <a:r>
              <a:rPr sz="2800" spc="-10" dirty="0">
                <a:latin typeface="Tahoma"/>
                <a:cs typeface="Tahoma"/>
              </a:rPr>
              <a:t>variable </a:t>
            </a:r>
            <a:r>
              <a:rPr sz="2800" spc="-5" dirty="0">
                <a:latin typeface="Tahoma"/>
                <a:cs typeface="Tahoma"/>
              </a:rPr>
              <a:t>name and </a:t>
            </a:r>
            <a:r>
              <a:rPr sz="2800" dirty="0">
                <a:latin typeface="Tahoma"/>
                <a:cs typeface="Tahoma"/>
              </a:rPr>
              <a:t>its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type.</a:t>
            </a:r>
            <a:endParaRPr sz="2800">
              <a:latin typeface="Tahoma"/>
              <a:cs typeface="Tahoma"/>
            </a:endParaRPr>
          </a:p>
          <a:p>
            <a:pPr marL="355600" marR="21590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There is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word SET in assignments,  and </a:t>
            </a:r>
            <a:r>
              <a:rPr sz="3200" dirty="0">
                <a:latin typeface="Tahoma"/>
                <a:cs typeface="Tahoma"/>
              </a:rPr>
              <a:t>:= </a:t>
            </a:r>
            <a:r>
              <a:rPr sz="3200" spc="-5" dirty="0">
                <a:latin typeface="Tahoma"/>
                <a:cs typeface="Tahoma"/>
              </a:rPr>
              <a:t>is used in place of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=.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2800" spc="-5" dirty="0">
                <a:latin typeface="Tahoma"/>
                <a:cs typeface="Tahoma"/>
              </a:rPr>
              <a:t>: x :=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y;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855" y="829944"/>
            <a:ext cx="7400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PL/SQL </a:t>
            </a:r>
            <a:r>
              <a:rPr spc="-10" dirty="0"/>
              <a:t>Procedure</a:t>
            </a:r>
            <a:r>
              <a:rPr spc="-20" dirty="0"/>
              <a:t> </a:t>
            </a:r>
            <a:r>
              <a:rPr spc="-25" dirty="0"/>
              <a:t>Parameters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81240" cy="3938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182245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There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15" dirty="0">
                <a:latin typeface="Tahoma"/>
                <a:cs typeface="Tahoma"/>
              </a:rPr>
              <a:t>several </a:t>
            </a:r>
            <a:r>
              <a:rPr sz="3200" spc="-10" dirty="0">
                <a:latin typeface="Tahoma"/>
                <a:cs typeface="Tahoma"/>
              </a:rPr>
              <a:t>differences </a:t>
            </a:r>
            <a:r>
              <a:rPr sz="3200" spc="-5" dirty="0">
                <a:latin typeface="Tahoma"/>
                <a:cs typeface="Tahoma"/>
              </a:rPr>
              <a:t>in the  </a:t>
            </a:r>
            <a:r>
              <a:rPr sz="3200" spc="-10" dirty="0">
                <a:latin typeface="Tahoma"/>
                <a:cs typeface="Tahoma"/>
              </a:rPr>
              <a:t>forms </a:t>
            </a:r>
            <a:r>
              <a:rPr sz="3200" spc="-5" dirty="0">
                <a:latin typeface="Tahoma"/>
                <a:cs typeface="Tahoma"/>
              </a:rPr>
              <a:t>of PL/SQL argument or local-  </a:t>
            </a:r>
            <a:r>
              <a:rPr sz="3200" spc="-10" dirty="0">
                <a:latin typeface="Tahoma"/>
                <a:cs typeface="Tahoma"/>
              </a:rPr>
              <a:t>variable declarations, </a:t>
            </a:r>
            <a:r>
              <a:rPr sz="3200" spc="-5" dirty="0">
                <a:latin typeface="Tahoma"/>
                <a:cs typeface="Tahoma"/>
              </a:rPr>
              <a:t>compared with  the SQL/PSM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standard:</a:t>
            </a:r>
            <a:endParaRPr sz="3200">
              <a:latin typeface="Tahoma"/>
              <a:cs typeface="Tahoma"/>
            </a:endParaRPr>
          </a:p>
          <a:p>
            <a:pPr marL="1002665" marR="492125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Order is name-mode-type, not mode-  </a:t>
            </a:r>
            <a:r>
              <a:rPr sz="2800" spc="-10" dirty="0">
                <a:latin typeface="Tahoma"/>
                <a:cs typeface="Tahoma"/>
              </a:rPr>
              <a:t>name-type.</a:t>
            </a:r>
            <a:endParaRPr sz="280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INOUT is replaced </a:t>
            </a:r>
            <a:r>
              <a:rPr sz="2800" spc="-10" dirty="0">
                <a:latin typeface="Tahoma"/>
                <a:cs typeface="Tahoma"/>
              </a:rPr>
              <a:t>by </a:t>
            </a:r>
            <a:r>
              <a:rPr sz="2800" spc="-5" dirty="0">
                <a:latin typeface="Tahoma"/>
                <a:cs typeface="Tahoma"/>
              </a:rPr>
              <a:t>IN OUT in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PL/SQL.</a:t>
            </a:r>
            <a:endParaRPr sz="280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15" dirty="0">
                <a:latin typeface="Tahoma"/>
                <a:cs typeface="Tahoma"/>
              </a:rPr>
              <a:t>Several </a:t>
            </a:r>
            <a:r>
              <a:rPr sz="2800" spc="-5" dirty="0">
                <a:latin typeface="Tahoma"/>
                <a:cs typeface="Tahoma"/>
              </a:rPr>
              <a:t>new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types.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7185" y="829944"/>
            <a:ext cx="33896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PL/SQL</a:t>
            </a:r>
            <a:r>
              <a:rPr spc="-75" dirty="0"/>
              <a:t> </a:t>
            </a:r>
            <a:r>
              <a:rPr spc="-85" dirty="0"/>
              <a:t>Types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759065" cy="40119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6863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spc="-5" dirty="0">
                <a:latin typeface="Tahoma"/>
                <a:cs typeface="Tahoma"/>
              </a:rPr>
              <a:t>addition to the SQL </a:t>
            </a:r>
            <a:r>
              <a:rPr sz="3200" spc="-10" dirty="0">
                <a:latin typeface="Tahoma"/>
                <a:cs typeface="Tahoma"/>
              </a:rPr>
              <a:t>types, </a:t>
            </a:r>
            <a:r>
              <a:rPr sz="3200" spc="-5" dirty="0">
                <a:latin typeface="Tahoma"/>
                <a:cs typeface="Tahoma"/>
              </a:rPr>
              <a:t>NUMBER  can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used to mean INT or REAL, as  appropriate.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ts val="3929"/>
              </a:lnSpc>
              <a:spcBef>
                <a:spcPts val="61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70" dirty="0">
                <a:latin typeface="Tahoma"/>
                <a:cs typeface="Tahoma"/>
              </a:rPr>
              <a:t>You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spc="-15" dirty="0">
                <a:latin typeface="Tahoma"/>
                <a:cs typeface="Tahoma"/>
              </a:rPr>
              <a:t>refer </a:t>
            </a:r>
            <a:r>
              <a:rPr sz="3200" spc="-5" dirty="0">
                <a:latin typeface="Tahoma"/>
                <a:cs typeface="Tahoma"/>
              </a:rPr>
              <a:t>to the </a:t>
            </a:r>
            <a:r>
              <a:rPr sz="3200" spc="-15" dirty="0">
                <a:latin typeface="Tahoma"/>
                <a:cs typeface="Tahoma"/>
              </a:rPr>
              <a:t>type </a:t>
            </a:r>
            <a:r>
              <a:rPr sz="3200" spc="-5" dirty="0">
                <a:latin typeface="Tahoma"/>
                <a:cs typeface="Tahoma"/>
              </a:rPr>
              <a:t>of attribute</a:t>
            </a:r>
            <a:r>
              <a:rPr sz="3200" spc="-130" dirty="0">
                <a:latin typeface="Tahoma"/>
                <a:cs typeface="Tahoma"/>
              </a:rPr>
              <a:t> </a:t>
            </a:r>
            <a:r>
              <a:rPr sz="3350" i="1" spc="-75" dirty="0">
                <a:latin typeface="Tahoma"/>
                <a:cs typeface="Tahoma"/>
              </a:rPr>
              <a:t>x</a:t>
            </a:r>
            <a:endParaRPr sz="3350">
              <a:latin typeface="Tahoma"/>
              <a:cs typeface="Tahoma"/>
            </a:endParaRPr>
          </a:p>
          <a:p>
            <a:pPr marL="355600">
              <a:lnSpc>
                <a:spcPts val="3929"/>
              </a:lnSpc>
            </a:pPr>
            <a:r>
              <a:rPr sz="3200" spc="-5" dirty="0">
                <a:latin typeface="Tahoma"/>
                <a:cs typeface="Tahoma"/>
              </a:rPr>
              <a:t>of relation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by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R.x%TYPE.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Useful </a:t>
            </a:r>
            <a:r>
              <a:rPr sz="2800" spc="-5" dirty="0">
                <a:latin typeface="Tahoma"/>
                <a:cs typeface="Tahoma"/>
              </a:rPr>
              <a:t>to </a:t>
            </a:r>
            <a:r>
              <a:rPr sz="2800" spc="-15" dirty="0">
                <a:latin typeface="Tahoma"/>
                <a:cs typeface="Tahoma"/>
              </a:rPr>
              <a:t>avoid </a:t>
            </a:r>
            <a:r>
              <a:rPr sz="2800" spc="-10" dirty="0">
                <a:latin typeface="Tahoma"/>
                <a:cs typeface="Tahoma"/>
              </a:rPr>
              <a:t>type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mismatches.</a:t>
            </a:r>
            <a:endParaRPr sz="280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5" dirty="0">
                <a:latin typeface="Tahoma"/>
                <a:cs typeface="Tahoma"/>
              </a:rPr>
              <a:t>Also, R%ROWTYPE </a:t>
            </a:r>
            <a:r>
              <a:rPr sz="2800" spc="-5" dirty="0">
                <a:latin typeface="Tahoma"/>
                <a:cs typeface="Tahoma"/>
              </a:rPr>
              <a:t>is a tuple whose  components </a:t>
            </a:r>
            <a:r>
              <a:rPr sz="2800" spc="-15" dirty="0">
                <a:latin typeface="Tahoma"/>
                <a:cs typeface="Tahoma"/>
              </a:rPr>
              <a:t>have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0" dirty="0">
                <a:latin typeface="Tahoma"/>
                <a:cs typeface="Tahoma"/>
              </a:rPr>
              <a:t>types </a:t>
            </a:r>
            <a:r>
              <a:rPr sz="2800" spc="-5" dirty="0">
                <a:latin typeface="Tahoma"/>
                <a:cs typeface="Tahoma"/>
              </a:rPr>
              <a:t>of </a:t>
            </a:r>
            <a:r>
              <a:rPr sz="2800" spc="-65" dirty="0">
                <a:latin typeface="Tahoma"/>
                <a:cs typeface="Tahoma"/>
              </a:rPr>
              <a:t>R’s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attributes.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9179" y="829944"/>
            <a:ext cx="44856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Example:JoeMenu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31734" cy="207454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Recall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0" dirty="0">
                <a:latin typeface="Tahoma"/>
                <a:cs typeface="Tahoma"/>
              </a:rPr>
              <a:t>procedure </a:t>
            </a:r>
            <a:r>
              <a:rPr sz="3200" spc="-10" dirty="0">
                <a:solidFill>
                  <a:srgbClr val="CC6600"/>
                </a:solidFill>
                <a:latin typeface="Tahoma"/>
                <a:cs typeface="Tahoma"/>
              </a:rPr>
              <a:t>JoeMenu(b,p) </a:t>
            </a:r>
            <a:r>
              <a:rPr sz="3200" spc="-5" dirty="0">
                <a:latin typeface="Tahoma"/>
                <a:cs typeface="Tahoma"/>
              </a:rPr>
              <a:t>that  adds beer </a:t>
            </a:r>
            <a:r>
              <a:rPr sz="3350" i="1" spc="-85" dirty="0">
                <a:latin typeface="Tahoma"/>
                <a:cs typeface="Tahoma"/>
              </a:rPr>
              <a:t>b </a:t>
            </a:r>
            <a:r>
              <a:rPr sz="3200" spc="-5" dirty="0">
                <a:latin typeface="Tahoma"/>
                <a:cs typeface="Tahoma"/>
              </a:rPr>
              <a:t>at price </a:t>
            </a:r>
            <a:r>
              <a:rPr sz="3350" i="1" spc="-85" dirty="0">
                <a:latin typeface="Tahoma"/>
                <a:cs typeface="Tahoma"/>
              </a:rPr>
              <a:t>p </a:t>
            </a:r>
            <a:r>
              <a:rPr sz="3200" spc="-5" dirty="0">
                <a:latin typeface="Tahoma"/>
                <a:cs typeface="Tahoma"/>
              </a:rPr>
              <a:t>to the beers  sold by </a:t>
            </a:r>
            <a:r>
              <a:rPr sz="3200" dirty="0">
                <a:latin typeface="Tahoma"/>
                <a:cs typeface="Tahoma"/>
              </a:rPr>
              <a:t>Joe </a:t>
            </a:r>
            <a:r>
              <a:rPr sz="3200" spc="-5" dirty="0">
                <a:latin typeface="Tahoma"/>
                <a:cs typeface="Tahoma"/>
              </a:rPr>
              <a:t>(in relation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Sells).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Here is the PL/SQL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version.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6</a:t>
            </a:r>
            <a:r>
              <a:rPr sz="140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9155" y="829944"/>
            <a:ext cx="7426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Procedure </a:t>
            </a:r>
            <a:r>
              <a:rPr spc="-5" dirty="0"/>
              <a:t>JoeMenu in</a:t>
            </a:r>
            <a:r>
              <a:rPr spc="-20" dirty="0"/>
              <a:t> </a:t>
            </a:r>
            <a:r>
              <a:rPr spc="-5" dirty="0"/>
              <a:t>PL/SQL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78660"/>
            <a:ext cx="719709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latin typeface="Tahoma"/>
                <a:cs typeface="Tahoma"/>
              </a:rPr>
              <a:t>CREATE </a:t>
            </a:r>
            <a:r>
              <a:rPr sz="2800" spc="-5" dirty="0">
                <a:latin typeface="Tahoma"/>
                <a:cs typeface="Tahoma"/>
              </a:rPr>
              <a:t>OR </a:t>
            </a:r>
            <a:r>
              <a:rPr sz="2800" spc="-15" dirty="0">
                <a:latin typeface="Tahoma"/>
                <a:cs typeface="Tahoma"/>
              </a:rPr>
              <a:t>REPLACE </a:t>
            </a:r>
            <a:r>
              <a:rPr sz="2800" spc="-5" dirty="0">
                <a:latin typeface="Tahoma"/>
                <a:cs typeface="Tahoma"/>
              </a:rPr>
              <a:t>PROCEDURE JoeMenu</a:t>
            </a:r>
            <a:r>
              <a:rPr sz="2800" spc="4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9445" y="2458546"/>
            <a:ext cx="2766695" cy="897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dirty="0">
                <a:latin typeface="Tahoma"/>
                <a:cs typeface="Tahoma"/>
              </a:rPr>
              <a:t>S</a:t>
            </a:r>
            <a:r>
              <a:rPr sz="2800" spc="-5" dirty="0">
                <a:latin typeface="Tahoma"/>
                <a:cs typeface="Tahoma"/>
              </a:rPr>
              <a:t>e</a:t>
            </a:r>
            <a:r>
              <a:rPr sz="2800" dirty="0">
                <a:latin typeface="Tahoma"/>
                <a:cs typeface="Tahoma"/>
              </a:rPr>
              <a:t>l</a:t>
            </a:r>
            <a:r>
              <a:rPr sz="2800" spc="-5" dirty="0">
                <a:latin typeface="Tahoma"/>
                <a:cs typeface="Tahoma"/>
              </a:rPr>
              <a:t>ls.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800" spc="-5" dirty="0">
                <a:latin typeface="Tahoma"/>
                <a:cs typeface="Tahoma"/>
              </a:rPr>
              <a:t>eer</a:t>
            </a:r>
            <a:r>
              <a:rPr sz="2800" dirty="0">
                <a:latin typeface="Tahoma"/>
                <a:cs typeface="Tahoma"/>
              </a:rPr>
              <a:t>%</a:t>
            </a:r>
            <a:r>
              <a:rPr sz="2800" spc="-105" dirty="0">
                <a:latin typeface="Tahoma"/>
                <a:cs typeface="Tahoma"/>
              </a:rPr>
              <a:t>T</a:t>
            </a:r>
            <a:r>
              <a:rPr sz="2800" spc="-5" dirty="0">
                <a:latin typeface="Tahoma"/>
                <a:cs typeface="Tahoma"/>
              </a:rPr>
              <a:t>YPE,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r>
              <a:rPr sz="2800" spc="-10" dirty="0">
                <a:latin typeface="Tahoma"/>
                <a:cs typeface="Tahoma"/>
              </a:rPr>
              <a:t>Sells.price%TYPE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2403347"/>
            <a:ext cx="1046480" cy="143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>
              <a:lnSpc>
                <a:spcPct val="109800"/>
              </a:lnSpc>
              <a:spcBef>
                <a:spcPts val="100"/>
              </a:spcBef>
            </a:pP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  p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spc="-5" dirty="0">
                <a:latin typeface="Tahoma"/>
                <a:cs typeface="Tahoma"/>
              </a:rPr>
              <a:t>)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7439" y="3809238"/>
            <a:ext cx="3534410" cy="9626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800" spc="-5" dirty="0">
                <a:latin typeface="Tahoma"/>
                <a:cs typeface="Tahoma"/>
              </a:rPr>
              <a:t>BEGIN</a:t>
            </a:r>
            <a:endParaRPr sz="2800">
              <a:latin typeface="Tahoma"/>
              <a:cs typeface="Tahoma"/>
            </a:endParaRPr>
          </a:p>
          <a:p>
            <a:pPr marL="583565">
              <a:lnSpc>
                <a:spcPct val="100000"/>
              </a:lnSpc>
              <a:spcBef>
                <a:spcPts val="330"/>
              </a:spcBef>
            </a:pPr>
            <a:r>
              <a:rPr sz="2800" spc="-20" dirty="0">
                <a:latin typeface="Tahoma"/>
                <a:cs typeface="Tahoma"/>
              </a:rPr>
              <a:t>INSERT INTO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Sells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7439" y="4746498"/>
            <a:ext cx="4736465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1500">
              <a:lnSpc>
                <a:spcPct val="109800"/>
              </a:lnSpc>
              <a:spcBef>
                <a:spcPts val="100"/>
              </a:spcBef>
            </a:pPr>
            <a:r>
              <a:rPr sz="2800" spc="-20" dirty="0">
                <a:latin typeface="Tahoma"/>
                <a:cs typeface="Tahoma"/>
              </a:rPr>
              <a:t>VALUES </a:t>
            </a:r>
            <a:r>
              <a:rPr sz="2800" spc="-15" dirty="0">
                <a:latin typeface="Tahoma"/>
                <a:cs typeface="Tahoma"/>
              </a:rPr>
              <a:t>(’Joe’’s </a:t>
            </a:r>
            <a:r>
              <a:rPr sz="2800" spc="-50" dirty="0">
                <a:latin typeface="Tahoma"/>
                <a:cs typeface="Tahoma"/>
              </a:rPr>
              <a:t>Bar’, </a:t>
            </a:r>
            <a:r>
              <a:rPr sz="2800" spc="-20" dirty="0">
                <a:latin typeface="Tahoma"/>
                <a:cs typeface="Tahoma"/>
              </a:rPr>
              <a:t>b, </a:t>
            </a:r>
            <a:r>
              <a:rPr sz="2800" spc="-5" dirty="0">
                <a:latin typeface="Tahoma"/>
                <a:cs typeface="Tahoma"/>
              </a:rPr>
              <a:t>p);  END;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5685028"/>
            <a:ext cx="549910" cy="9626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800" spc="-5" dirty="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800" spc="-5" dirty="0">
                <a:latin typeface="Tahoma"/>
                <a:cs typeface="Tahoma"/>
              </a:rPr>
              <a:t>run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28800" y="2438400"/>
            <a:ext cx="2895600" cy="914400"/>
          </a:xfrm>
          <a:custGeom>
            <a:avLst/>
            <a:gdLst/>
            <a:ahLst/>
            <a:cxnLst/>
            <a:rect l="l" t="t" r="r" b="b"/>
            <a:pathLst>
              <a:path w="2895600" h="914400">
                <a:moveTo>
                  <a:pt x="0" y="0"/>
                </a:moveTo>
                <a:lnTo>
                  <a:pt x="2895600" y="0"/>
                </a:lnTo>
                <a:lnTo>
                  <a:pt x="28956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4037" y="2433637"/>
            <a:ext cx="2905125" cy="923925"/>
          </a:xfrm>
          <a:custGeom>
            <a:avLst/>
            <a:gdLst/>
            <a:ahLst/>
            <a:cxnLst/>
            <a:rect l="l" t="t" r="r" b="b"/>
            <a:pathLst>
              <a:path w="2905125" h="923925">
                <a:moveTo>
                  <a:pt x="29051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2905125" y="0"/>
                </a:lnTo>
                <a:lnTo>
                  <a:pt x="2905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2905125" y="919162"/>
                </a:lnTo>
                <a:lnTo>
                  <a:pt x="2905125" y="923925"/>
                </a:lnTo>
                <a:close/>
              </a:path>
              <a:path w="29051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905125" h="923925">
                <a:moveTo>
                  <a:pt x="2895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895600" y="4762"/>
                </a:lnTo>
                <a:lnTo>
                  <a:pt x="2895600" y="9525"/>
                </a:lnTo>
                <a:close/>
              </a:path>
              <a:path w="2905125" h="923925">
                <a:moveTo>
                  <a:pt x="2895600" y="919162"/>
                </a:moveTo>
                <a:lnTo>
                  <a:pt x="2895600" y="4762"/>
                </a:lnTo>
                <a:lnTo>
                  <a:pt x="2900362" y="9525"/>
                </a:lnTo>
                <a:lnTo>
                  <a:pt x="2905125" y="9525"/>
                </a:lnTo>
                <a:lnTo>
                  <a:pt x="2905125" y="914400"/>
                </a:lnTo>
                <a:lnTo>
                  <a:pt x="2900362" y="914400"/>
                </a:lnTo>
                <a:lnTo>
                  <a:pt x="2895600" y="919162"/>
                </a:lnTo>
                <a:close/>
              </a:path>
              <a:path w="2905125" h="923925">
                <a:moveTo>
                  <a:pt x="2905125" y="9525"/>
                </a:moveTo>
                <a:lnTo>
                  <a:pt x="2900362" y="9525"/>
                </a:lnTo>
                <a:lnTo>
                  <a:pt x="2895600" y="4762"/>
                </a:lnTo>
                <a:lnTo>
                  <a:pt x="2905125" y="4762"/>
                </a:lnTo>
                <a:lnTo>
                  <a:pt x="2905125" y="9525"/>
                </a:lnTo>
                <a:close/>
              </a:path>
              <a:path w="29051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2905125" h="923925">
                <a:moveTo>
                  <a:pt x="28956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2895600" y="914400"/>
                </a:lnTo>
                <a:lnTo>
                  <a:pt x="2895600" y="919162"/>
                </a:lnTo>
                <a:close/>
              </a:path>
              <a:path w="2905125" h="923925">
                <a:moveTo>
                  <a:pt x="2905125" y="919162"/>
                </a:moveTo>
                <a:lnTo>
                  <a:pt x="2895600" y="919162"/>
                </a:lnTo>
                <a:lnTo>
                  <a:pt x="2900362" y="914400"/>
                </a:lnTo>
                <a:lnTo>
                  <a:pt x="2905125" y="914400"/>
                </a:lnTo>
                <a:lnTo>
                  <a:pt x="29051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777865" y="3162299"/>
            <a:ext cx="2091055" cy="1248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Notice these </a:t>
            </a:r>
            <a:r>
              <a:rPr sz="2000" spc="-10" dirty="0">
                <a:latin typeface="Tahoma"/>
                <a:cs typeface="Tahoma"/>
              </a:rPr>
              <a:t>types  </a:t>
            </a:r>
            <a:r>
              <a:rPr sz="2000" spc="-5" dirty="0">
                <a:latin typeface="Tahoma"/>
                <a:cs typeface="Tahoma"/>
              </a:rPr>
              <a:t>will </a:t>
            </a:r>
            <a:r>
              <a:rPr sz="2000" dirty="0">
                <a:latin typeface="Tahoma"/>
                <a:cs typeface="Tahoma"/>
              </a:rPr>
              <a:t>be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suitable</a:t>
            </a:r>
            <a:endParaRPr sz="2000">
              <a:latin typeface="Tahoma"/>
              <a:cs typeface="Tahoma"/>
            </a:endParaRPr>
          </a:p>
          <a:p>
            <a:pPr marL="12700" marR="253365">
              <a:lnSpc>
                <a:spcPts val="2400"/>
              </a:lnSpc>
              <a:spcBef>
                <a:spcPts val="80"/>
              </a:spcBef>
            </a:pPr>
            <a:r>
              <a:rPr sz="2000" spc="-10" dirty="0">
                <a:latin typeface="Tahoma"/>
                <a:cs typeface="Tahoma"/>
              </a:rPr>
              <a:t>for </a:t>
            </a:r>
            <a:r>
              <a:rPr sz="2000" spc="-5" dirty="0">
                <a:latin typeface="Tahoma"/>
                <a:cs typeface="Tahoma"/>
              </a:rPr>
              <a:t>the intended  </a:t>
            </a:r>
            <a:r>
              <a:rPr sz="2000" dirty="0">
                <a:latin typeface="Tahoma"/>
                <a:cs typeface="Tahoma"/>
              </a:rPr>
              <a:t>uses </a:t>
            </a:r>
            <a:r>
              <a:rPr sz="2000" spc="-5" dirty="0">
                <a:latin typeface="Tahoma"/>
                <a:cs typeface="Tahoma"/>
              </a:rPr>
              <a:t>of </a:t>
            </a:r>
            <a:r>
              <a:rPr sz="2100" i="1" spc="-20" dirty="0">
                <a:latin typeface="Tahoma"/>
                <a:cs typeface="Tahoma"/>
              </a:rPr>
              <a:t>b</a:t>
            </a:r>
            <a:r>
              <a:rPr sz="2000" spc="-20" dirty="0">
                <a:latin typeface="Tahoma"/>
                <a:cs typeface="Tahoma"/>
              </a:rPr>
              <a:t>and</a:t>
            </a:r>
            <a:r>
              <a:rPr sz="2000" spc="-320" dirty="0">
                <a:latin typeface="Tahoma"/>
                <a:cs typeface="Tahoma"/>
              </a:rPr>
              <a:t> </a:t>
            </a:r>
            <a:r>
              <a:rPr sz="2100" i="1" spc="-355" dirty="0">
                <a:latin typeface="Tahoma"/>
                <a:cs typeface="Tahoma"/>
              </a:rPr>
              <a:t>p</a:t>
            </a:r>
            <a:r>
              <a:rPr sz="2000" spc="-355" dirty="0"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24400" y="2895600"/>
            <a:ext cx="918210" cy="918210"/>
          </a:xfrm>
          <a:custGeom>
            <a:avLst/>
            <a:gdLst/>
            <a:ahLst/>
            <a:cxnLst/>
            <a:rect l="l" t="t" r="r" b="b"/>
            <a:pathLst>
              <a:path w="918210" h="918210">
                <a:moveTo>
                  <a:pt x="26936" y="80822"/>
                </a:moveTo>
                <a:lnTo>
                  <a:pt x="0" y="0"/>
                </a:lnTo>
                <a:lnTo>
                  <a:pt x="80822" y="26936"/>
                </a:lnTo>
                <a:lnTo>
                  <a:pt x="70713" y="37045"/>
                </a:lnTo>
                <a:lnTo>
                  <a:pt x="43776" y="37045"/>
                </a:lnTo>
                <a:lnTo>
                  <a:pt x="37045" y="43776"/>
                </a:lnTo>
                <a:lnTo>
                  <a:pt x="50514" y="57245"/>
                </a:lnTo>
                <a:lnTo>
                  <a:pt x="26936" y="80822"/>
                </a:lnTo>
                <a:close/>
              </a:path>
              <a:path w="918210" h="918210">
                <a:moveTo>
                  <a:pt x="50514" y="57245"/>
                </a:moveTo>
                <a:lnTo>
                  <a:pt x="37045" y="43776"/>
                </a:lnTo>
                <a:lnTo>
                  <a:pt x="43776" y="37045"/>
                </a:lnTo>
                <a:lnTo>
                  <a:pt x="57245" y="50514"/>
                </a:lnTo>
                <a:lnTo>
                  <a:pt x="50514" y="57245"/>
                </a:lnTo>
                <a:close/>
              </a:path>
              <a:path w="918210" h="918210">
                <a:moveTo>
                  <a:pt x="57245" y="50514"/>
                </a:moveTo>
                <a:lnTo>
                  <a:pt x="43776" y="37045"/>
                </a:lnTo>
                <a:lnTo>
                  <a:pt x="70713" y="37045"/>
                </a:lnTo>
                <a:lnTo>
                  <a:pt x="57245" y="50514"/>
                </a:lnTo>
                <a:close/>
              </a:path>
              <a:path w="918210" h="918210">
                <a:moveTo>
                  <a:pt x="911034" y="917765"/>
                </a:moveTo>
                <a:lnTo>
                  <a:pt x="50514" y="57245"/>
                </a:lnTo>
                <a:lnTo>
                  <a:pt x="57245" y="50514"/>
                </a:lnTo>
                <a:lnTo>
                  <a:pt x="917765" y="911034"/>
                </a:lnTo>
                <a:lnTo>
                  <a:pt x="911034" y="917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7569" y="829944"/>
            <a:ext cx="73888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PL/SQL </a:t>
            </a:r>
            <a:r>
              <a:rPr spc="-10" dirty="0"/>
              <a:t>Branching</a:t>
            </a:r>
            <a:r>
              <a:rPr spc="-40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6959600" cy="226758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in SQL/PSM,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but: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Use ELSIF in place of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70" dirty="0">
                <a:latin typeface="Tahoma"/>
                <a:cs typeface="Tahoma"/>
              </a:rPr>
              <a:t>ELSEIF.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Viz.: IF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THEN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ELSIF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THEN </a:t>
            </a:r>
            <a:r>
              <a:rPr sz="3200" dirty="0">
                <a:latin typeface="Tahoma"/>
                <a:cs typeface="Tahoma"/>
              </a:rPr>
              <a:t>…  </a:t>
            </a:r>
            <a:r>
              <a:rPr sz="3200" spc="-5" dirty="0">
                <a:latin typeface="Tahoma"/>
                <a:cs typeface="Tahoma"/>
              </a:rPr>
              <a:t>ELSIF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THEN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ELSE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END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IF;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8135" y="829944"/>
            <a:ext cx="34283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PL/SQL</a:t>
            </a:r>
            <a:r>
              <a:rPr spc="-65" dirty="0"/>
              <a:t> </a:t>
            </a:r>
            <a:r>
              <a:rPr spc="-5" dirty="0"/>
              <a:t>Loops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7599680" cy="32429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LOOP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END </a:t>
            </a:r>
            <a:r>
              <a:rPr sz="3200" spc="-10" dirty="0">
                <a:latin typeface="Tahoma"/>
                <a:cs typeface="Tahoma"/>
              </a:rPr>
              <a:t>LOOP </a:t>
            </a:r>
            <a:r>
              <a:rPr sz="3200" spc="-5" dirty="0">
                <a:latin typeface="Tahoma"/>
                <a:cs typeface="Tahoma"/>
              </a:rPr>
              <a:t>as in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SQL/PSM.</a:t>
            </a:r>
            <a:endParaRPr sz="3200">
              <a:latin typeface="Tahoma"/>
              <a:cs typeface="Tahoma"/>
            </a:endParaRPr>
          </a:p>
          <a:p>
            <a:pPr marL="415290" marR="1029969" indent="-415290">
              <a:lnSpc>
                <a:spcPts val="3829"/>
              </a:lnSpc>
              <a:spcBef>
                <a:spcPts val="9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Instead of </a:t>
            </a:r>
            <a:r>
              <a:rPr sz="3200" spc="-20" dirty="0">
                <a:latin typeface="Tahoma"/>
                <a:cs typeface="Tahoma"/>
              </a:rPr>
              <a:t>LEAVE </a:t>
            </a:r>
            <a:r>
              <a:rPr sz="3200" dirty="0">
                <a:latin typeface="Tahoma"/>
                <a:cs typeface="Tahoma"/>
              </a:rPr>
              <a:t>… , </a:t>
            </a:r>
            <a:r>
              <a:rPr sz="3200" spc="-5" dirty="0">
                <a:latin typeface="Tahoma"/>
                <a:cs typeface="Tahoma"/>
              </a:rPr>
              <a:t>PL/SQL uses  EXIT WHEN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&lt;condition&gt;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And when the condition is that cursor </a:t>
            </a:r>
            <a:r>
              <a:rPr sz="3350" i="1" spc="-70" dirty="0">
                <a:latin typeface="Tahoma"/>
                <a:cs typeface="Tahoma"/>
              </a:rPr>
              <a:t>c  </a:t>
            </a:r>
            <a:r>
              <a:rPr sz="3200" spc="-5" dirty="0">
                <a:latin typeface="Tahoma"/>
                <a:cs typeface="Tahoma"/>
              </a:rPr>
              <a:t>has </a:t>
            </a:r>
            <a:r>
              <a:rPr sz="3200" spc="-10" dirty="0">
                <a:latin typeface="Tahoma"/>
                <a:cs typeface="Tahoma"/>
              </a:rPr>
              <a:t>found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tuple,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dirty="0">
                <a:latin typeface="Tahoma"/>
                <a:cs typeface="Tahoma"/>
              </a:rPr>
              <a:t>write  </a:t>
            </a:r>
            <a:r>
              <a:rPr sz="3200" spc="-10" dirty="0">
                <a:latin typeface="Tahoma"/>
                <a:cs typeface="Tahoma"/>
              </a:rPr>
              <a:t>c%NOTFOUND </a:t>
            </a:r>
            <a:r>
              <a:rPr sz="3200" spc="-5" dirty="0">
                <a:latin typeface="Tahoma"/>
                <a:cs typeface="Tahoma"/>
              </a:rPr>
              <a:t>as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condition.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3029" y="829944"/>
            <a:ext cx="3837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PL/SQL</a:t>
            </a:r>
            <a:r>
              <a:rPr spc="-60" dirty="0"/>
              <a:t> </a:t>
            </a:r>
            <a:r>
              <a:rPr spc="-5" dirty="0"/>
              <a:t>Cursors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566534" cy="2560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02552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0" dirty="0">
                <a:latin typeface="Tahoma"/>
                <a:cs typeface="Tahoma"/>
              </a:rPr>
              <a:t>form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PL/SQL cursor  </a:t>
            </a:r>
            <a:r>
              <a:rPr sz="3200" spc="-10" dirty="0">
                <a:latin typeface="Tahoma"/>
                <a:cs typeface="Tahoma"/>
              </a:rPr>
              <a:t>declaration </a:t>
            </a:r>
            <a:r>
              <a:rPr sz="3200" spc="-5" dirty="0">
                <a:latin typeface="Tahoma"/>
                <a:cs typeface="Tahoma"/>
              </a:rPr>
              <a:t>is:</a:t>
            </a:r>
            <a:endParaRPr sz="3200">
              <a:latin typeface="Tahoma"/>
              <a:cs typeface="Tahoma"/>
            </a:endParaRPr>
          </a:p>
          <a:p>
            <a:pPr marL="913765" algn="ctr">
              <a:lnSpc>
                <a:spcPts val="3829"/>
              </a:lnSpc>
            </a:pPr>
            <a:r>
              <a:rPr sz="3200" spc="-5" dirty="0">
                <a:latin typeface="Tahoma"/>
                <a:cs typeface="Tahoma"/>
              </a:rPr>
              <a:t>CURSOR &lt;name&gt; IS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&lt;query&gt;;</a:t>
            </a:r>
            <a:endParaRPr sz="3200">
              <a:latin typeface="Tahoma"/>
              <a:cs typeface="Tahoma"/>
            </a:endParaRPr>
          </a:p>
          <a:p>
            <a:pPr marL="415290" marR="316865" indent="-41529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10" dirty="0">
                <a:latin typeface="Tahoma"/>
                <a:cs typeface="Tahoma"/>
              </a:rPr>
              <a:t>fetch from </a:t>
            </a:r>
            <a:r>
              <a:rPr sz="3200" spc="-5" dirty="0">
                <a:latin typeface="Tahoma"/>
                <a:cs typeface="Tahoma"/>
              </a:rPr>
              <a:t>cursor c, </a:t>
            </a:r>
            <a:r>
              <a:rPr sz="3200" spc="-10" dirty="0">
                <a:latin typeface="Tahoma"/>
                <a:cs typeface="Tahoma"/>
              </a:rPr>
              <a:t>say:  </a:t>
            </a:r>
            <a:r>
              <a:rPr sz="3200" spc="-15" dirty="0">
                <a:latin typeface="Tahoma"/>
                <a:cs typeface="Tahoma"/>
              </a:rPr>
              <a:t>FETCH </a:t>
            </a:r>
            <a:r>
              <a:rPr sz="3200" dirty="0">
                <a:latin typeface="Tahoma"/>
                <a:cs typeface="Tahoma"/>
              </a:rPr>
              <a:t>c </a:t>
            </a:r>
            <a:r>
              <a:rPr sz="3200" spc="-20" dirty="0">
                <a:latin typeface="Tahoma"/>
                <a:cs typeface="Tahoma"/>
              </a:rPr>
              <a:t>INTO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&lt;variable(s)&gt;;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394" y="829944"/>
            <a:ext cx="7903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JoeGouge() in</a:t>
            </a:r>
            <a:r>
              <a:rPr spc="-20" dirty="0"/>
              <a:t> </a:t>
            </a:r>
            <a:r>
              <a:rPr spc="-5" dirty="0"/>
              <a:t>PL/SQL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74890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Recall </a:t>
            </a: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JoeGouge() </a:t>
            </a:r>
            <a:r>
              <a:rPr sz="3200" spc="-5" dirty="0">
                <a:latin typeface="Tahoma"/>
                <a:cs typeface="Tahoma"/>
              </a:rPr>
              <a:t>sends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cursor  through the </a:t>
            </a:r>
            <a:r>
              <a:rPr sz="3200" spc="-15" dirty="0">
                <a:latin typeface="Tahoma"/>
                <a:cs typeface="Tahoma"/>
              </a:rPr>
              <a:t>Joe’s-Bar </a:t>
            </a:r>
            <a:r>
              <a:rPr sz="3200" spc="-5" dirty="0">
                <a:latin typeface="Tahoma"/>
                <a:cs typeface="Tahoma"/>
              </a:rPr>
              <a:t>portion of Sells,  and </a:t>
            </a:r>
            <a:r>
              <a:rPr sz="3200" spc="-15" dirty="0">
                <a:latin typeface="Tahoma"/>
                <a:cs typeface="Tahoma"/>
              </a:rPr>
              <a:t>raises </a:t>
            </a:r>
            <a:r>
              <a:rPr sz="3200" spc="-5" dirty="0">
                <a:latin typeface="Tahoma"/>
                <a:cs typeface="Tahoma"/>
              </a:rPr>
              <a:t>by </a:t>
            </a:r>
            <a:r>
              <a:rPr sz="3200" dirty="0">
                <a:latin typeface="Tahoma"/>
                <a:cs typeface="Tahoma"/>
              </a:rPr>
              <a:t>$1 </a:t>
            </a:r>
            <a:r>
              <a:rPr sz="3200" spc="-5" dirty="0">
                <a:latin typeface="Tahoma"/>
                <a:cs typeface="Tahoma"/>
              </a:rPr>
              <a:t>the price of each beer  </a:t>
            </a:r>
            <a:r>
              <a:rPr sz="3200" spc="-25" dirty="0">
                <a:latin typeface="Tahoma"/>
                <a:cs typeface="Tahoma"/>
              </a:rPr>
              <a:t>Joe’s </a:t>
            </a:r>
            <a:r>
              <a:rPr sz="3200" dirty="0">
                <a:latin typeface="Tahoma"/>
                <a:cs typeface="Tahoma"/>
              </a:rPr>
              <a:t>Bar </a:t>
            </a:r>
            <a:r>
              <a:rPr sz="3200" spc="-5" dirty="0">
                <a:latin typeface="Tahoma"/>
                <a:cs typeface="Tahoma"/>
              </a:rPr>
              <a:t>sells,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that price </a:t>
            </a:r>
            <a:r>
              <a:rPr sz="3200" spc="-15" dirty="0">
                <a:latin typeface="Tahoma"/>
                <a:cs typeface="Tahoma"/>
              </a:rPr>
              <a:t>was </a:t>
            </a:r>
            <a:r>
              <a:rPr sz="3200" spc="-5" dirty="0">
                <a:latin typeface="Tahoma"/>
                <a:cs typeface="Tahoma"/>
              </a:rPr>
              <a:t>initially  under $3.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784" y="829944"/>
            <a:ext cx="8521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JoeGouge()</a:t>
            </a:r>
            <a:r>
              <a:rPr spc="-35" dirty="0"/>
              <a:t> </a:t>
            </a:r>
            <a:r>
              <a:rPr spc="-10" dirty="0"/>
              <a:t>Declarations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869312"/>
            <a:ext cx="7127240" cy="363347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800" spc="-5" dirty="0">
                <a:latin typeface="Courier New"/>
                <a:cs typeface="Courier New"/>
              </a:rPr>
              <a:t>CREATE OR REPLACE</a:t>
            </a:r>
            <a:r>
              <a:rPr sz="2800" spc="-1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PROCEDURE</a:t>
            </a:r>
            <a:endParaRPr sz="28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Courier New"/>
                <a:cs typeface="Courier New"/>
              </a:rPr>
              <a:t>JoeGouge() AS</a:t>
            </a:r>
            <a:endParaRPr sz="2800">
              <a:latin typeface="Courier New"/>
              <a:cs typeface="Courier New"/>
            </a:endParaRPr>
          </a:p>
          <a:p>
            <a:pPr marL="355600" marR="1217295">
              <a:lnSpc>
                <a:spcPct val="119900"/>
              </a:lnSpc>
            </a:pPr>
            <a:r>
              <a:rPr sz="2800" spc="-5" dirty="0">
                <a:latin typeface="Courier New"/>
                <a:cs typeface="Courier New"/>
              </a:rPr>
              <a:t>theBeer Sells.beer%TYPE;  thePrice Sells.price%TYPE;  CURSOR c IS</a:t>
            </a:r>
            <a:endParaRPr sz="2800">
              <a:latin typeface="Courier New"/>
              <a:cs typeface="Courier New"/>
            </a:endParaRPr>
          </a:p>
          <a:p>
            <a:pPr marL="926465" marR="5080">
              <a:lnSpc>
                <a:spcPct val="119900"/>
              </a:lnSpc>
            </a:pPr>
            <a:r>
              <a:rPr sz="2800" spc="-5" dirty="0">
                <a:latin typeface="Courier New"/>
                <a:cs typeface="Courier New"/>
              </a:rPr>
              <a:t>SELECT beer, price FROM Sells  WHERE bar = ’Joe’’s</a:t>
            </a:r>
            <a:r>
              <a:rPr sz="2800" spc="-1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Bar’;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8405" y="829944"/>
            <a:ext cx="67278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JoeGouge()</a:t>
            </a:r>
            <a:r>
              <a:rPr spc="-35" dirty="0"/>
              <a:t> </a:t>
            </a:r>
            <a:r>
              <a:rPr dirty="0"/>
              <a:t>Body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718944"/>
            <a:ext cx="1470025" cy="8280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400" spc="-5" dirty="0">
                <a:latin typeface="Tahoma"/>
                <a:cs typeface="Tahoma"/>
              </a:rPr>
              <a:t>BEGIN</a:t>
            </a:r>
            <a:endParaRPr sz="24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280"/>
              </a:spcBef>
            </a:pPr>
            <a:r>
              <a:rPr sz="2400" spc="-5" dirty="0">
                <a:latin typeface="Tahoma"/>
                <a:cs typeface="Tahoma"/>
              </a:rPr>
              <a:t>OPEN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439" y="2521585"/>
            <a:ext cx="4996815" cy="82931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2400" spc="-10" dirty="0">
                <a:latin typeface="Tahoma"/>
                <a:cs typeface="Tahoma"/>
              </a:rPr>
              <a:t>LOOP</a:t>
            </a:r>
            <a:endParaRPr sz="2400">
              <a:latin typeface="Tahoma"/>
              <a:cs typeface="Tahoma"/>
            </a:endParaRPr>
          </a:p>
          <a:p>
            <a:pPr marL="583565">
              <a:lnSpc>
                <a:spcPct val="100000"/>
              </a:lnSpc>
              <a:spcBef>
                <a:spcPts val="284"/>
              </a:spcBef>
            </a:pPr>
            <a:r>
              <a:rPr sz="2400" spc="-15" dirty="0">
                <a:latin typeface="Tahoma"/>
                <a:cs typeface="Tahoma"/>
              </a:rPr>
              <a:t>FETCH </a:t>
            </a:r>
            <a:r>
              <a:rPr sz="2400" dirty="0">
                <a:latin typeface="Tahoma"/>
                <a:cs typeface="Tahoma"/>
              </a:rPr>
              <a:t>c </a:t>
            </a:r>
            <a:r>
              <a:rPr sz="2400" spc="-20" dirty="0">
                <a:latin typeface="Tahoma"/>
                <a:cs typeface="Tahoma"/>
              </a:rPr>
              <a:t>INTO </a:t>
            </a:r>
            <a:r>
              <a:rPr sz="2400" spc="-40" dirty="0">
                <a:latin typeface="Tahoma"/>
                <a:cs typeface="Tahoma"/>
              </a:rPr>
              <a:t>theBeer,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thePrice;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1639" y="3374241"/>
            <a:ext cx="380492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EXIT WHEN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c%NOTFOUND;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8939" y="3727450"/>
            <a:ext cx="3331845" cy="82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099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IF thePrice </a:t>
            </a:r>
            <a:r>
              <a:rPr sz="2400" dirty="0">
                <a:latin typeface="Tahoma"/>
                <a:cs typeface="Tahoma"/>
              </a:rPr>
              <a:t>&lt; </a:t>
            </a:r>
            <a:r>
              <a:rPr sz="2400" spc="-5" dirty="0">
                <a:latin typeface="Tahoma"/>
                <a:cs typeface="Tahoma"/>
              </a:rPr>
              <a:t>3.00 THEN  </a:t>
            </a:r>
            <a:r>
              <a:rPr sz="2400" spc="-25" dirty="0">
                <a:latin typeface="Tahoma"/>
                <a:cs typeface="Tahoma"/>
              </a:rPr>
              <a:t>UPDATE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Sells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63975" y="4178151"/>
            <a:ext cx="386778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SET price </a:t>
            </a:r>
            <a:r>
              <a:rPr sz="2400" dirty="0">
                <a:latin typeface="Tahoma"/>
                <a:cs typeface="Tahoma"/>
              </a:rPr>
              <a:t>= </a:t>
            </a:r>
            <a:r>
              <a:rPr sz="2400" spc="-5" dirty="0">
                <a:latin typeface="Tahoma"/>
                <a:cs typeface="Tahoma"/>
              </a:rPr>
              <a:t>thePrice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1.00;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8939" y="4531359"/>
            <a:ext cx="6602095" cy="82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5750">
              <a:lnSpc>
                <a:spcPct val="1099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WHERE bar </a:t>
            </a:r>
            <a:r>
              <a:rPr sz="2400" dirty="0">
                <a:latin typeface="Tahoma"/>
                <a:cs typeface="Tahoma"/>
              </a:rPr>
              <a:t>= </a:t>
            </a:r>
            <a:r>
              <a:rPr sz="2400" spc="-15" dirty="0">
                <a:latin typeface="Tahoma"/>
                <a:cs typeface="Tahoma"/>
              </a:rPr>
              <a:t>’Joe’’s </a:t>
            </a:r>
            <a:r>
              <a:rPr sz="2400" spc="10" dirty="0">
                <a:latin typeface="Tahoma"/>
                <a:cs typeface="Tahoma"/>
              </a:rPr>
              <a:t>Bar’ </a:t>
            </a:r>
            <a:r>
              <a:rPr sz="2400" spc="-5" dirty="0">
                <a:latin typeface="Tahoma"/>
                <a:cs typeface="Tahoma"/>
              </a:rPr>
              <a:t>AND beer </a:t>
            </a:r>
            <a:r>
              <a:rPr sz="2400" dirty="0">
                <a:latin typeface="Tahoma"/>
                <a:cs typeface="Tahoma"/>
              </a:rPr>
              <a:t>= theBeer;  </a:t>
            </a:r>
            <a:r>
              <a:rPr sz="2400" spc="-5" dirty="0">
                <a:latin typeface="Tahoma"/>
                <a:cs typeface="Tahoma"/>
              </a:rPr>
              <a:t>END IF;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4540" y="5335270"/>
            <a:ext cx="1901189" cy="123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>
              <a:lnSpc>
                <a:spcPct val="1099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END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LOOP;  </a:t>
            </a:r>
            <a:r>
              <a:rPr sz="2400" spc="-10" dirty="0">
                <a:latin typeface="Tahoma"/>
                <a:cs typeface="Tahoma"/>
              </a:rPr>
              <a:t>CLOSE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c;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spc="-5" dirty="0">
                <a:latin typeface="Tahoma"/>
                <a:cs typeface="Tahoma"/>
              </a:rPr>
              <a:t>END;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00200" y="3352800"/>
            <a:ext cx="3962400" cy="381000"/>
          </a:xfrm>
          <a:custGeom>
            <a:avLst/>
            <a:gdLst/>
            <a:ahLst/>
            <a:cxnLst/>
            <a:rect l="l" t="t" r="r" b="b"/>
            <a:pathLst>
              <a:path w="3962400" h="381000">
                <a:moveTo>
                  <a:pt x="0" y="0"/>
                </a:moveTo>
                <a:lnTo>
                  <a:pt x="3962400" y="0"/>
                </a:lnTo>
                <a:lnTo>
                  <a:pt x="3962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95437" y="3348037"/>
            <a:ext cx="3971925" cy="390525"/>
          </a:xfrm>
          <a:custGeom>
            <a:avLst/>
            <a:gdLst/>
            <a:ahLst/>
            <a:cxnLst/>
            <a:rect l="l" t="t" r="r" b="b"/>
            <a:pathLst>
              <a:path w="3971925" h="390525">
                <a:moveTo>
                  <a:pt x="39719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3971925" y="0"/>
                </a:lnTo>
                <a:lnTo>
                  <a:pt x="3971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3971925" y="385762"/>
                </a:lnTo>
                <a:lnTo>
                  <a:pt x="3971925" y="390525"/>
                </a:lnTo>
                <a:close/>
              </a:path>
              <a:path w="39719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971925" h="390525">
                <a:moveTo>
                  <a:pt x="3962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962400" y="4762"/>
                </a:lnTo>
                <a:lnTo>
                  <a:pt x="3962400" y="9525"/>
                </a:lnTo>
                <a:close/>
              </a:path>
              <a:path w="3971925" h="390525">
                <a:moveTo>
                  <a:pt x="3962400" y="385762"/>
                </a:moveTo>
                <a:lnTo>
                  <a:pt x="3962400" y="4762"/>
                </a:lnTo>
                <a:lnTo>
                  <a:pt x="3967162" y="9525"/>
                </a:lnTo>
                <a:lnTo>
                  <a:pt x="3971925" y="9525"/>
                </a:lnTo>
                <a:lnTo>
                  <a:pt x="3971925" y="381000"/>
                </a:lnTo>
                <a:lnTo>
                  <a:pt x="3967162" y="381000"/>
                </a:lnTo>
                <a:lnTo>
                  <a:pt x="3962400" y="385762"/>
                </a:lnTo>
                <a:close/>
              </a:path>
              <a:path w="3971925" h="390525">
                <a:moveTo>
                  <a:pt x="3971925" y="9525"/>
                </a:moveTo>
                <a:lnTo>
                  <a:pt x="3967162" y="9525"/>
                </a:lnTo>
                <a:lnTo>
                  <a:pt x="3962400" y="4762"/>
                </a:lnTo>
                <a:lnTo>
                  <a:pt x="3971925" y="4762"/>
                </a:lnTo>
                <a:lnTo>
                  <a:pt x="3971925" y="9525"/>
                </a:lnTo>
                <a:close/>
              </a:path>
              <a:path w="39719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3971925" h="390525">
                <a:moveTo>
                  <a:pt x="39624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3962400" y="381000"/>
                </a:lnTo>
                <a:lnTo>
                  <a:pt x="3962400" y="385762"/>
                </a:lnTo>
                <a:close/>
              </a:path>
              <a:path w="3971925" h="390525">
                <a:moveTo>
                  <a:pt x="3971925" y="385762"/>
                </a:moveTo>
                <a:lnTo>
                  <a:pt x="3962400" y="385762"/>
                </a:lnTo>
                <a:lnTo>
                  <a:pt x="3967162" y="381000"/>
                </a:lnTo>
                <a:lnTo>
                  <a:pt x="3971925" y="381000"/>
                </a:lnTo>
                <a:lnTo>
                  <a:pt x="39719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92265" y="2552699"/>
            <a:ext cx="174942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How PL/SQL  breaks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cursor  loop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62600" y="3271964"/>
            <a:ext cx="991869" cy="253365"/>
          </a:xfrm>
          <a:custGeom>
            <a:avLst/>
            <a:gdLst/>
            <a:ahLst/>
            <a:cxnLst/>
            <a:rect l="l" t="t" r="r" b="b"/>
            <a:pathLst>
              <a:path w="991870" h="253364">
                <a:moveTo>
                  <a:pt x="75322" y="220746"/>
                </a:moveTo>
                <a:lnTo>
                  <a:pt x="73179" y="211462"/>
                </a:lnTo>
                <a:lnTo>
                  <a:pt x="989533" y="0"/>
                </a:lnTo>
                <a:lnTo>
                  <a:pt x="991666" y="9271"/>
                </a:lnTo>
                <a:lnTo>
                  <a:pt x="75322" y="220746"/>
                </a:lnTo>
                <a:close/>
              </a:path>
              <a:path w="991870" h="253364">
                <a:moveTo>
                  <a:pt x="82816" y="253225"/>
                </a:moveTo>
                <a:lnTo>
                  <a:pt x="0" y="233235"/>
                </a:lnTo>
                <a:lnTo>
                  <a:pt x="65684" y="178981"/>
                </a:lnTo>
                <a:lnTo>
                  <a:pt x="73179" y="211462"/>
                </a:lnTo>
                <a:lnTo>
                  <a:pt x="54610" y="215747"/>
                </a:lnTo>
                <a:lnTo>
                  <a:pt x="56756" y="225031"/>
                </a:lnTo>
                <a:lnTo>
                  <a:pt x="76310" y="225031"/>
                </a:lnTo>
                <a:lnTo>
                  <a:pt x="82816" y="253225"/>
                </a:lnTo>
                <a:close/>
              </a:path>
              <a:path w="991870" h="253364">
                <a:moveTo>
                  <a:pt x="56756" y="225031"/>
                </a:moveTo>
                <a:lnTo>
                  <a:pt x="54610" y="215747"/>
                </a:lnTo>
                <a:lnTo>
                  <a:pt x="73179" y="211462"/>
                </a:lnTo>
                <a:lnTo>
                  <a:pt x="75322" y="220746"/>
                </a:lnTo>
                <a:lnTo>
                  <a:pt x="56756" y="225031"/>
                </a:lnTo>
                <a:close/>
              </a:path>
              <a:path w="991870" h="253364">
                <a:moveTo>
                  <a:pt x="76310" y="225031"/>
                </a:moveTo>
                <a:lnTo>
                  <a:pt x="56756" y="225031"/>
                </a:lnTo>
                <a:lnTo>
                  <a:pt x="75322" y="220746"/>
                </a:lnTo>
                <a:lnTo>
                  <a:pt x="76310" y="2250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86200" y="4191000"/>
            <a:ext cx="3886200" cy="381000"/>
          </a:xfrm>
          <a:custGeom>
            <a:avLst/>
            <a:gdLst/>
            <a:ahLst/>
            <a:cxnLst/>
            <a:rect l="l" t="t" r="r" b="b"/>
            <a:pathLst>
              <a:path w="3886200" h="381000">
                <a:moveTo>
                  <a:pt x="0" y="0"/>
                </a:moveTo>
                <a:lnTo>
                  <a:pt x="3886200" y="0"/>
                </a:lnTo>
                <a:lnTo>
                  <a:pt x="388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81437" y="4186237"/>
            <a:ext cx="3895725" cy="390525"/>
          </a:xfrm>
          <a:custGeom>
            <a:avLst/>
            <a:gdLst/>
            <a:ahLst/>
            <a:cxnLst/>
            <a:rect l="l" t="t" r="r" b="b"/>
            <a:pathLst>
              <a:path w="3895725" h="390525">
                <a:moveTo>
                  <a:pt x="3895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3895725" y="0"/>
                </a:lnTo>
                <a:lnTo>
                  <a:pt x="3895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3895725" y="385762"/>
                </a:lnTo>
                <a:lnTo>
                  <a:pt x="3895725" y="390525"/>
                </a:lnTo>
                <a:close/>
              </a:path>
              <a:path w="3895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895725" h="390525">
                <a:moveTo>
                  <a:pt x="3886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886200" y="4762"/>
                </a:lnTo>
                <a:lnTo>
                  <a:pt x="3886200" y="9525"/>
                </a:lnTo>
                <a:close/>
              </a:path>
              <a:path w="3895725" h="390525">
                <a:moveTo>
                  <a:pt x="3886200" y="385762"/>
                </a:moveTo>
                <a:lnTo>
                  <a:pt x="3886200" y="4762"/>
                </a:lnTo>
                <a:lnTo>
                  <a:pt x="3890962" y="9525"/>
                </a:lnTo>
                <a:lnTo>
                  <a:pt x="3895725" y="9525"/>
                </a:lnTo>
                <a:lnTo>
                  <a:pt x="3895725" y="381000"/>
                </a:lnTo>
                <a:lnTo>
                  <a:pt x="3890962" y="381000"/>
                </a:lnTo>
                <a:lnTo>
                  <a:pt x="3886200" y="385762"/>
                </a:lnTo>
                <a:close/>
              </a:path>
              <a:path w="3895725" h="390525">
                <a:moveTo>
                  <a:pt x="3895725" y="9525"/>
                </a:moveTo>
                <a:lnTo>
                  <a:pt x="3890962" y="9525"/>
                </a:lnTo>
                <a:lnTo>
                  <a:pt x="3886200" y="4762"/>
                </a:lnTo>
                <a:lnTo>
                  <a:pt x="3895725" y="4762"/>
                </a:lnTo>
                <a:lnTo>
                  <a:pt x="3895725" y="9525"/>
                </a:lnTo>
                <a:close/>
              </a:path>
              <a:path w="3895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3895725" h="390525">
                <a:moveTo>
                  <a:pt x="3886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3886200" y="381000"/>
                </a:lnTo>
                <a:lnTo>
                  <a:pt x="3886200" y="385762"/>
                </a:lnTo>
                <a:close/>
              </a:path>
              <a:path w="3895725" h="390525">
                <a:moveTo>
                  <a:pt x="3895725" y="385762"/>
                </a:moveTo>
                <a:lnTo>
                  <a:pt x="3886200" y="385762"/>
                </a:lnTo>
                <a:lnTo>
                  <a:pt x="3890962" y="381000"/>
                </a:lnTo>
                <a:lnTo>
                  <a:pt x="3895725" y="381000"/>
                </a:lnTo>
                <a:lnTo>
                  <a:pt x="3895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82465" y="5219700"/>
            <a:ext cx="3897629" cy="1290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Note this is </a:t>
            </a: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SET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clause</a:t>
            </a:r>
            <a:endParaRPr sz="2000">
              <a:latin typeface="Tahoma"/>
              <a:cs typeface="Tahoma"/>
            </a:endParaRPr>
          </a:p>
          <a:p>
            <a:pPr marL="12700" marR="30480">
              <a:lnSpc>
                <a:spcPct val="100000"/>
              </a:lnSpc>
            </a:pPr>
            <a:r>
              <a:rPr sz="2000" spc="-5" dirty="0">
                <a:latin typeface="Tahoma"/>
                <a:cs typeface="Tahoma"/>
              </a:rPr>
              <a:t>in </a:t>
            </a:r>
            <a:r>
              <a:rPr sz="2000" dirty="0">
                <a:latin typeface="Tahoma"/>
                <a:cs typeface="Tahoma"/>
              </a:rPr>
              <a:t>an </a:t>
            </a:r>
            <a:r>
              <a:rPr sz="2000" spc="-20" dirty="0">
                <a:latin typeface="Tahoma"/>
                <a:cs typeface="Tahoma"/>
              </a:rPr>
              <a:t>UPDATE, </a:t>
            </a:r>
            <a:r>
              <a:rPr sz="2000" spc="-5" dirty="0">
                <a:latin typeface="Tahoma"/>
                <a:cs typeface="Tahoma"/>
              </a:rPr>
              <a:t>not </a:t>
            </a:r>
            <a:r>
              <a:rPr sz="2000" dirty="0">
                <a:latin typeface="Tahoma"/>
                <a:cs typeface="Tahoma"/>
              </a:rPr>
              <a:t>an </a:t>
            </a:r>
            <a:r>
              <a:rPr sz="2000" spc="-5" dirty="0">
                <a:latin typeface="Tahoma"/>
                <a:cs typeface="Tahoma"/>
              </a:rPr>
              <a:t>assignment.  PL/SQL </a:t>
            </a:r>
            <a:r>
              <a:rPr sz="2000" dirty="0">
                <a:latin typeface="Tahoma"/>
                <a:cs typeface="Tahoma"/>
              </a:rPr>
              <a:t>uses := </a:t>
            </a:r>
            <a:r>
              <a:rPr sz="2000" spc="-10" dirty="0">
                <a:latin typeface="Tahoma"/>
                <a:cs typeface="Tahoma"/>
              </a:rPr>
              <a:t>for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assignments.</a:t>
            </a:r>
            <a:endParaRPr sz="20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1075"/>
              </a:spcBef>
            </a:pPr>
            <a:r>
              <a:rPr sz="1400" spc="-5" dirty="0">
                <a:latin typeface="Times New Roman"/>
                <a:cs typeface="Times New Roman"/>
              </a:rPr>
              <a:t>6</a:t>
            </a:r>
            <a:r>
              <a:rPr sz="140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797462" y="4572000"/>
            <a:ext cx="612775" cy="537210"/>
          </a:xfrm>
          <a:custGeom>
            <a:avLst/>
            <a:gdLst/>
            <a:ahLst/>
            <a:cxnLst/>
            <a:rect l="l" t="t" r="r" b="b"/>
            <a:pathLst>
              <a:path w="612775" h="537210">
                <a:moveTo>
                  <a:pt x="552251" y="46590"/>
                </a:moveTo>
                <a:lnTo>
                  <a:pt x="530301" y="21501"/>
                </a:lnTo>
                <a:lnTo>
                  <a:pt x="612736" y="0"/>
                </a:lnTo>
                <a:lnTo>
                  <a:pt x="598808" y="34048"/>
                </a:lnTo>
                <a:lnTo>
                  <a:pt x="566585" y="34048"/>
                </a:lnTo>
                <a:lnTo>
                  <a:pt x="552251" y="46590"/>
                </a:lnTo>
                <a:close/>
              </a:path>
              <a:path w="612775" h="537210">
                <a:moveTo>
                  <a:pt x="558521" y="53756"/>
                </a:moveTo>
                <a:lnTo>
                  <a:pt x="552251" y="46590"/>
                </a:lnTo>
                <a:lnTo>
                  <a:pt x="566585" y="34048"/>
                </a:lnTo>
                <a:lnTo>
                  <a:pt x="572858" y="41211"/>
                </a:lnTo>
                <a:lnTo>
                  <a:pt x="558521" y="53756"/>
                </a:lnTo>
                <a:close/>
              </a:path>
              <a:path w="612775" h="537210">
                <a:moveTo>
                  <a:pt x="580478" y="78854"/>
                </a:moveTo>
                <a:lnTo>
                  <a:pt x="558521" y="53756"/>
                </a:lnTo>
                <a:lnTo>
                  <a:pt x="572858" y="41211"/>
                </a:lnTo>
                <a:lnTo>
                  <a:pt x="566585" y="34048"/>
                </a:lnTo>
                <a:lnTo>
                  <a:pt x="598808" y="34048"/>
                </a:lnTo>
                <a:lnTo>
                  <a:pt x="580478" y="78854"/>
                </a:lnTo>
                <a:close/>
              </a:path>
              <a:path w="612775" h="537210">
                <a:moveTo>
                  <a:pt x="6273" y="536981"/>
                </a:moveTo>
                <a:lnTo>
                  <a:pt x="0" y="529818"/>
                </a:lnTo>
                <a:lnTo>
                  <a:pt x="552251" y="46590"/>
                </a:lnTo>
                <a:lnTo>
                  <a:pt x="558521" y="53756"/>
                </a:lnTo>
                <a:lnTo>
                  <a:pt x="6273" y="5369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5779" y="829944"/>
            <a:ext cx="5552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Tuple-Valued </a:t>
            </a:r>
            <a:r>
              <a:rPr spc="-25" dirty="0"/>
              <a:t>Variables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429500" cy="37560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362585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PL/SQL allows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variable </a:t>
            </a:r>
            <a:r>
              <a:rPr sz="3350" i="1" spc="-75" dirty="0">
                <a:latin typeface="Tahoma"/>
                <a:cs typeface="Tahoma"/>
              </a:rPr>
              <a:t>x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tuple</a:t>
            </a:r>
            <a:r>
              <a:rPr sz="3200" spc="-10" dirty="0">
                <a:latin typeface="Tahoma"/>
                <a:cs typeface="Tahoma"/>
              </a:rPr>
              <a:t> type.</a:t>
            </a:r>
            <a:endParaRPr sz="3200">
              <a:latin typeface="Tahoma"/>
              <a:cs typeface="Tahoma"/>
            </a:endParaRPr>
          </a:p>
          <a:p>
            <a:pPr marL="355600" marR="19685" indent="-34290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x </a:t>
            </a:r>
            <a:r>
              <a:rPr sz="3200" spc="-15" dirty="0">
                <a:latin typeface="Tahoma"/>
                <a:cs typeface="Tahoma"/>
              </a:rPr>
              <a:t>R%ROWTYPE </a:t>
            </a:r>
            <a:r>
              <a:rPr sz="3200" spc="-10" dirty="0">
                <a:latin typeface="Tahoma"/>
                <a:cs typeface="Tahoma"/>
              </a:rPr>
              <a:t>gives </a:t>
            </a:r>
            <a:r>
              <a:rPr sz="3350" i="1" spc="-75" dirty="0">
                <a:latin typeface="Tahoma"/>
                <a:cs typeface="Tahoma"/>
              </a:rPr>
              <a:t>x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5" dirty="0">
                <a:latin typeface="Tahoma"/>
                <a:cs typeface="Tahoma"/>
              </a:rPr>
              <a:t>type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spc="-75" dirty="0">
                <a:latin typeface="Tahoma"/>
                <a:cs typeface="Tahoma"/>
              </a:rPr>
              <a:t>R’s  </a:t>
            </a:r>
            <a:r>
              <a:rPr sz="3200" spc="-5" dirty="0">
                <a:latin typeface="Tahoma"/>
                <a:cs typeface="Tahoma"/>
              </a:rPr>
              <a:t>tuples.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3200" spc="-5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350" i="1" spc="-50" dirty="0">
                <a:latin typeface="Tahoma"/>
                <a:cs typeface="Tahoma"/>
              </a:rPr>
              <a:t>R</a:t>
            </a:r>
            <a:r>
              <a:rPr sz="3200" spc="-50" dirty="0">
                <a:latin typeface="Tahoma"/>
                <a:cs typeface="Tahoma"/>
              </a:rPr>
              <a:t>could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either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relation or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65" dirty="0">
                <a:latin typeface="Tahoma"/>
                <a:cs typeface="Tahoma"/>
              </a:rPr>
              <a:t>cursor.</a:t>
            </a:r>
            <a:endParaRPr sz="3200">
              <a:latin typeface="Tahoma"/>
              <a:cs typeface="Tahoma"/>
            </a:endParaRPr>
          </a:p>
          <a:p>
            <a:pPr marL="355600" marR="351155" indent="-342900">
              <a:lnSpc>
                <a:spcPts val="3840"/>
              </a:lnSpc>
              <a:spcBef>
                <a:spcPts val="8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x.a </a:t>
            </a:r>
            <a:r>
              <a:rPr sz="3200" spc="-10" dirty="0">
                <a:latin typeface="Tahoma"/>
                <a:cs typeface="Tahoma"/>
              </a:rPr>
              <a:t>gives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200" spc="-5" dirty="0">
                <a:latin typeface="Tahoma"/>
                <a:cs typeface="Tahoma"/>
              </a:rPr>
              <a:t>of the component 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attribute </a:t>
            </a:r>
            <a:r>
              <a:rPr sz="3350" i="1" spc="-8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in the tuple</a:t>
            </a:r>
            <a:r>
              <a:rPr sz="3200" spc="-425" dirty="0">
                <a:latin typeface="Tahoma"/>
                <a:cs typeface="Tahoma"/>
              </a:rPr>
              <a:t> </a:t>
            </a:r>
            <a:r>
              <a:rPr sz="3350" i="1" spc="-555" dirty="0">
                <a:latin typeface="Tahoma"/>
                <a:cs typeface="Tahoma"/>
              </a:rPr>
              <a:t>x</a:t>
            </a:r>
            <a:r>
              <a:rPr sz="3200" spc="-555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8504" y="448944"/>
            <a:ext cx="51276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85" dirty="0"/>
              <a:t>Tuple</a:t>
            </a:r>
            <a:r>
              <a:rPr spc="-65" dirty="0"/>
              <a:t> </a:t>
            </a:r>
            <a:r>
              <a:rPr spc="-105" dirty="0"/>
              <a:t>Type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438910"/>
            <a:ext cx="7505700" cy="41300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5080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Repeat </a:t>
            </a:r>
            <a:r>
              <a:rPr sz="3200" spc="-5" dirty="0">
                <a:latin typeface="Tahoma"/>
                <a:cs typeface="Tahoma"/>
              </a:rPr>
              <a:t>of JoeGouge() </a:t>
            </a:r>
            <a:r>
              <a:rPr sz="3200" spc="-10" dirty="0">
                <a:latin typeface="Tahoma"/>
                <a:cs typeface="Tahoma"/>
              </a:rPr>
              <a:t>declarations </a:t>
            </a:r>
            <a:r>
              <a:rPr sz="3200" spc="-5" dirty="0">
                <a:latin typeface="Tahoma"/>
                <a:cs typeface="Tahoma"/>
              </a:rPr>
              <a:t>with  </a:t>
            </a:r>
            <a:r>
              <a:rPr sz="3200" spc="-10" dirty="0">
                <a:latin typeface="Tahoma"/>
                <a:cs typeface="Tahoma"/>
              </a:rPr>
              <a:t>variable </a:t>
            </a:r>
            <a:r>
              <a:rPr sz="3350" i="1" spc="-600" dirty="0">
                <a:latin typeface="Tahoma"/>
                <a:cs typeface="Tahoma"/>
              </a:rPr>
              <a:t>bp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spc="-15" dirty="0">
                <a:latin typeface="Tahoma"/>
                <a:cs typeface="Tahoma"/>
              </a:rPr>
              <a:t>type </a:t>
            </a:r>
            <a:r>
              <a:rPr sz="3200" spc="-5" dirty="0">
                <a:latin typeface="Tahoma"/>
                <a:cs typeface="Tahoma"/>
              </a:rPr>
              <a:t>beer-price</a:t>
            </a:r>
            <a:r>
              <a:rPr sz="3200" spc="-35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pairs.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ts val="3760"/>
              </a:lnSpc>
            </a:pPr>
            <a:r>
              <a:rPr sz="3200" spc="-5" dirty="0">
                <a:latin typeface="Courier New"/>
                <a:cs typeface="Courier New"/>
              </a:rPr>
              <a:t>CREATE </a:t>
            </a:r>
            <a:r>
              <a:rPr sz="3200" dirty="0">
                <a:latin typeface="Courier New"/>
                <a:cs typeface="Courier New"/>
              </a:rPr>
              <a:t>OR </a:t>
            </a:r>
            <a:r>
              <a:rPr sz="3200" spc="-5" dirty="0">
                <a:latin typeface="Courier New"/>
                <a:cs typeface="Courier New"/>
              </a:rPr>
              <a:t>REPLACE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PROCEDURE</a:t>
            </a:r>
            <a:endParaRPr sz="3200">
              <a:latin typeface="Courier New"/>
              <a:cs typeface="Courier New"/>
            </a:endParaRPr>
          </a:p>
          <a:p>
            <a:pPr marL="355600" marR="2485390" indent="1485900">
              <a:lnSpc>
                <a:spcPct val="109900"/>
              </a:lnSpc>
              <a:spcBef>
                <a:spcPts val="110"/>
              </a:spcBef>
            </a:pPr>
            <a:r>
              <a:rPr sz="3200" spc="-5" dirty="0">
                <a:latin typeface="Courier New"/>
                <a:cs typeface="Courier New"/>
              </a:rPr>
              <a:t>JoeGouge()</a:t>
            </a:r>
            <a:r>
              <a:rPr sz="3200" spc="-7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AS  </a:t>
            </a:r>
            <a:r>
              <a:rPr sz="3200" spc="-5" dirty="0">
                <a:latin typeface="Courier New"/>
                <a:cs typeface="Courier New"/>
              </a:rPr>
              <a:t>CURSOR </a:t>
            </a:r>
            <a:r>
              <a:rPr sz="3200" dirty="0">
                <a:latin typeface="Courier New"/>
                <a:cs typeface="Courier New"/>
              </a:rPr>
              <a:t>c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IS</a:t>
            </a:r>
            <a:endParaRPr sz="3200">
              <a:latin typeface="Courier New"/>
              <a:cs typeface="Courier New"/>
            </a:endParaRPr>
          </a:p>
          <a:p>
            <a:pPr marL="355600" marR="69850">
              <a:lnSpc>
                <a:spcPct val="109900"/>
              </a:lnSpc>
            </a:pPr>
            <a:r>
              <a:rPr sz="3200" spc="-5" dirty="0">
                <a:latin typeface="Courier New"/>
                <a:cs typeface="Courier New"/>
              </a:rPr>
              <a:t>SELECT beer, price FROM Sells  WHERE bar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’Joe’’s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Bar’;</a:t>
            </a:r>
            <a:endParaRPr sz="32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380"/>
              </a:spcBef>
            </a:pPr>
            <a:r>
              <a:rPr sz="3200" dirty="0">
                <a:latin typeface="Courier New"/>
                <a:cs typeface="Courier New"/>
              </a:rPr>
              <a:t>bp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c%ROWTYPE;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7</a:t>
            </a: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70635" y="801999"/>
            <a:ext cx="6782434" cy="730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" dirty="0"/>
              <a:t>JoeGouge() </a:t>
            </a:r>
            <a:r>
              <a:rPr dirty="0"/>
              <a:t>Body </a:t>
            </a:r>
            <a:r>
              <a:rPr spc="-5" dirty="0"/>
              <a:t>Using</a:t>
            </a:r>
            <a:r>
              <a:rPr spc="-615" dirty="0"/>
              <a:t> </a:t>
            </a:r>
            <a:r>
              <a:rPr sz="4600" i="1" spc="-819" dirty="0">
                <a:latin typeface="Tahoma"/>
                <a:cs typeface="Tahoma"/>
              </a:rPr>
              <a:t>bp</a:t>
            </a:r>
            <a:endParaRPr sz="4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304" y="3776196"/>
            <a:ext cx="107442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b</a:t>
            </a:r>
            <a:r>
              <a:rPr sz="2400" spc="-30" dirty="0">
                <a:latin typeface="Tahoma"/>
                <a:cs typeface="Tahoma"/>
              </a:rPr>
              <a:t>p</a:t>
            </a:r>
            <a:r>
              <a:rPr sz="2400" spc="-5" dirty="0">
                <a:latin typeface="Tahoma"/>
                <a:cs typeface="Tahoma"/>
              </a:rPr>
              <a:t>.p</a:t>
            </a:r>
            <a:r>
              <a:rPr sz="2400" dirty="0">
                <a:latin typeface="Tahoma"/>
                <a:cs typeface="Tahoma"/>
              </a:rPr>
              <a:t>ri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718944"/>
            <a:ext cx="4744720" cy="24358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400" spc="-5" dirty="0">
                <a:latin typeface="Tahoma"/>
                <a:cs typeface="Tahoma"/>
              </a:rPr>
              <a:t>BEGIN</a:t>
            </a:r>
            <a:endParaRPr sz="2400">
              <a:latin typeface="Tahoma"/>
              <a:cs typeface="Tahoma"/>
            </a:endParaRPr>
          </a:p>
          <a:p>
            <a:pPr marL="355600" marR="3280410">
              <a:lnSpc>
                <a:spcPts val="3160"/>
              </a:lnSpc>
              <a:spcBef>
                <a:spcPts val="150"/>
              </a:spcBef>
            </a:pPr>
            <a:r>
              <a:rPr sz="2400" spc="-5" dirty="0">
                <a:latin typeface="Tahoma"/>
                <a:cs typeface="Tahoma"/>
              </a:rPr>
              <a:t>OPEN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c;  </a:t>
            </a:r>
            <a:r>
              <a:rPr sz="2400" spc="-10" dirty="0">
                <a:latin typeface="Tahoma"/>
                <a:cs typeface="Tahoma"/>
              </a:rPr>
              <a:t>LOOP</a:t>
            </a:r>
            <a:endParaRPr sz="24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140"/>
              </a:spcBef>
            </a:pPr>
            <a:r>
              <a:rPr sz="2400" spc="-15" dirty="0">
                <a:latin typeface="Tahoma"/>
                <a:cs typeface="Tahoma"/>
              </a:rPr>
              <a:t>FETCH </a:t>
            </a:r>
            <a:r>
              <a:rPr sz="2400" dirty="0">
                <a:latin typeface="Tahoma"/>
                <a:cs typeface="Tahoma"/>
              </a:rPr>
              <a:t>c </a:t>
            </a:r>
            <a:r>
              <a:rPr sz="2400" spc="-20" dirty="0">
                <a:latin typeface="Tahoma"/>
                <a:cs typeface="Tahoma"/>
              </a:rPr>
              <a:t>INTO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bp;</a:t>
            </a:r>
            <a:endParaRPr sz="2400">
              <a:latin typeface="Tahoma"/>
              <a:cs typeface="Tahoma"/>
            </a:endParaRPr>
          </a:p>
          <a:p>
            <a:pPr marL="926465" marR="5080">
              <a:lnSpc>
                <a:spcPct val="109900"/>
              </a:lnSpc>
              <a:tabLst>
                <a:tab pos="2463800" algn="l"/>
              </a:tabLst>
            </a:pPr>
            <a:r>
              <a:rPr sz="2400" spc="-5" dirty="0">
                <a:latin typeface="Tahoma"/>
                <a:cs typeface="Tahoma"/>
              </a:rPr>
              <a:t>EXIT WHEN </a:t>
            </a:r>
            <a:r>
              <a:rPr sz="2400" spc="-10" dirty="0">
                <a:latin typeface="Tahoma"/>
                <a:cs typeface="Tahoma"/>
              </a:rPr>
              <a:t>c%NOTFOUND;  </a:t>
            </a:r>
            <a:r>
              <a:rPr sz="2400" spc="-5" dirty="0">
                <a:latin typeface="Tahoma"/>
                <a:cs typeface="Tahoma"/>
              </a:rPr>
              <a:t>IF	</a:t>
            </a:r>
            <a:r>
              <a:rPr sz="2400" dirty="0">
                <a:latin typeface="Tahoma"/>
                <a:cs typeface="Tahoma"/>
              </a:rPr>
              <a:t>&lt; </a:t>
            </a:r>
            <a:r>
              <a:rPr sz="2400" spc="-5" dirty="0">
                <a:latin typeface="Tahoma"/>
                <a:cs typeface="Tahoma"/>
              </a:rPr>
              <a:t>3.00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38470" y="4178151"/>
            <a:ext cx="107442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b</a:t>
            </a:r>
            <a:r>
              <a:rPr sz="2400" spc="-30" dirty="0">
                <a:latin typeface="Tahoma"/>
                <a:cs typeface="Tahoma"/>
              </a:rPr>
              <a:t>p</a:t>
            </a:r>
            <a:r>
              <a:rPr sz="2400" spc="-5" dirty="0">
                <a:latin typeface="Tahoma"/>
                <a:cs typeface="Tahoma"/>
              </a:rPr>
              <a:t>.p</a:t>
            </a:r>
            <a:r>
              <a:rPr sz="2400" dirty="0">
                <a:latin typeface="Tahoma"/>
                <a:cs typeface="Tahoma"/>
              </a:rPr>
              <a:t>ri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4689" y="4129404"/>
            <a:ext cx="5664835" cy="82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900"/>
              </a:lnSpc>
              <a:spcBef>
                <a:spcPts val="100"/>
              </a:spcBef>
              <a:tabLst>
                <a:tab pos="4742815" algn="l"/>
              </a:tabLst>
            </a:pPr>
            <a:r>
              <a:rPr sz="2400" spc="-25" dirty="0">
                <a:latin typeface="Tahoma"/>
                <a:cs typeface="Tahoma"/>
              </a:rPr>
              <a:t>UPDATE </a:t>
            </a:r>
            <a:r>
              <a:rPr sz="2400" dirty="0">
                <a:latin typeface="Tahoma"/>
                <a:cs typeface="Tahoma"/>
              </a:rPr>
              <a:t>Sells </a:t>
            </a:r>
            <a:r>
              <a:rPr sz="2400" spc="-5" dirty="0">
                <a:latin typeface="Tahoma"/>
                <a:cs typeface="Tahoma"/>
              </a:rPr>
              <a:t>SET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price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	+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1.00  WHERE bar </a:t>
            </a:r>
            <a:r>
              <a:rPr sz="2400" dirty="0">
                <a:latin typeface="Tahoma"/>
                <a:cs typeface="Tahoma"/>
              </a:rPr>
              <a:t>= </a:t>
            </a:r>
            <a:r>
              <a:rPr sz="2400" spc="-15" dirty="0">
                <a:latin typeface="Tahoma"/>
                <a:cs typeface="Tahoma"/>
              </a:rPr>
              <a:t>’Joe’’s </a:t>
            </a:r>
            <a:r>
              <a:rPr sz="2400" spc="10" dirty="0">
                <a:latin typeface="Tahoma"/>
                <a:cs typeface="Tahoma"/>
              </a:rPr>
              <a:t>Bar’ </a:t>
            </a:r>
            <a:r>
              <a:rPr sz="2400" spc="-5" dirty="0">
                <a:latin typeface="Tahoma"/>
                <a:cs typeface="Tahoma"/>
              </a:rPr>
              <a:t>AND beer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19925" y="4580106"/>
            <a:ext cx="102489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b</a:t>
            </a:r>
            <a:r>
              <a:rPr sz="2400" spc="-30" dirty="0">
                <a:latin typeface="Tahoma"/>
                <a:cs typeface="Tahoma"/>
              </a:rPr>
              <a:t>p</a:t>
            </a:r>
            <a:r>
              <a:rPr sz="2400" spc="-5" dirty="0">
                <a:latin typeface="Tahoma"/>
                <a:cs typeface="Tahoma"/>
              </a:rPr>
              <a:t>.b</a:t>
            </a:r>
            <a:r>
              <a:rPr sz="2400" dirty="0">
                <a:latin typeface="Tahoma"/>
                <a:cs typeface="Tahoma"/>
              </a:rPr>
              <a:t>eer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32115" y="4567554"/>
            <a:ext cx="133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540" y="4933315"/>
            <a:ext cx="1996439" cy="1633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571500">
              <a:lnSpc>
                <a:spcPct val="1099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END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IF;  END LOOP;  </a:t>
            </a:r>
            <a:r>
              <a:rPr sz="2400" spc="-10" dirty="0">
                <a:latin typeface="Tahoma"/>
                <a:cs typeface="Tahoma"/>
              </a:rPr>
              <a:t>CLOSE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c;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spc="-5" dirty="0">
                <a:latin typeface="Tahoma"/>
                <a:cs typeface="Tahoma"/>
              </a:rPr>
              <a:t>END;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81200" y="3733800"/>
            <a:ext cx="1219200" cy="457200"/>
          </a:xfrm>
          <a:custGeom>
            <a:avLst/>
            <a:gdLst/>
            <a:ahLst/>
            <a:cxnLst/>
            <a:rect l="l" t="t" r="r" b="b"/>
            <a:pathLst>
              <a:path w="1219200" h="457200">
                <a:moveTo>
                  <a:pt x="0" y="0"/>
                </a:moveTo>
                <a:lnTo>
                  <a:pt x="1219200" y="0"/>
                </a:lnTo>
                <a:lnTo>
                  <a:pt x="1219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C99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6437" y="3729037"/>
            <a:ext cx="1228725" cy="466725"/>
          </a:xfrm>
          <a:custGeom>
            <a:avLst/>
            <a:gdLst/>
            <a:ahLst/>
            <a:cxnLst/>
            <a:rect l="l" t="t" r="r" b="b"/>
            <a:pathLst>
              <a:path w="1228725" h="466725">
                <a:moveTo>
                  <a:pt x="12287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1228725" y="461962"/>
                </a:lnTo>
                <a:lnTo>
                  <a:pt x="1228725" y="466725"/>
                </a:lnTo>
                <a:close/>
              </a:path>
              <a:path w="12287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4667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466725">
                <a:moveTo>
                  <a:pt x="1219200" y="4619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457200"/>
                </a:lnTo>
                <a:lnTo>
                  <a:pt x="1223962" y="457200"/>
                </a:lnTo>
                <a:lnTo>
                  <a:pt x="1219200" y="461962"/>
                </a:lnTo>
                <a:close/>
              </a:path>
              <a:path w="1228725" h="4667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1228725" h="466725">
                <a:moveTo>
                  <a:pt x="12192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1219200" y="457200"/>
                </a:lnTo>
                <a:lnTo>
                  <a:pt x="1219200" y="461962"/>
                </a:lnTo>
                <a:close/>
              </a:path>
              <a:path w="1228725" h="466725">
                <a:moveTo>
                  <a:pt x="1228725" y="461962"/>
                </a:moveTo>
                <a:lnTo>
                  <a:pt x="1219200" y="461962"/>
                </a:lnTo>
                <a:lnTo>
                  <a:pt x="1223962" y="457200"/>
                </a:lnTo>
                <a:lnTo>
                  <a:pt x="1228725" y="457200"/>
                </a:lnTo>
                <a:lnTo>
                  <a:pt x="12287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86400" y="4114800"/>
            <a:ext cx="1219200" cy="457200"/>
          </a:xfrm>
          <a:custGeom>
            <a:avLst/>
            <a:gdLst/>
            <a:ahLst/>
            <a:cxnLst/>
            <a:rect l="l" t="t" r="r" b="b"/>
            <a:pathLst>
              <a:path w="1219200" h="457200">
                <a:moveTo>
                  <a:pt x="0" y="0"/>
                </a:moveTo>
                <a:lnTo>
                  <a:pt x="1219200" y="0"/>
                </a:lnTo>
                <a:lnTo>
                  <a:pt x="1219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C99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81637" y="4110037"/>
            <a:ext cx="1228725" cy="466725"/>
          </a:xfrm>
          <a:custGeom>
            <a:avLst/>
            <a:gdLst/>
            <a:ahLst/>
            <a:cxnLst/>
            <a:rect l="l" t="t" r="r" b="b"/>
            <a:pathLst>
              <a:path w="1228725" h="466725">
                <a:moveTo>
                  <a:pt x="12287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1228725" y="461962"/>
                </a:lnTo>
                <a:lnTo>
                  <a:pt x="1228725" y="466725"/>
                </a:lnTo>
                <a:close/>
              </a:path>
              <a:path w="12287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4667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466725">
                <a:moveTo>
                  <a:pt x="1219200" y="4619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457200"/>
                </a:lnTo>
                <a:lnTo>
                  <a:pt x="1223962" y="457200"/>
                </a:lnTo>
                <a:lnTo>
                  <a:pt x="1219200" y="461962"/>
                </a:lnTo>
                <a:close/>
              </a:path>
              <a:path w="1228725" h="4667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1228725" h="466725">
                <a:moveTo>
                  <a:pt x="12192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1219200" y="457200"/>
                </a:lnTo>
                <a:lnTo>
                  <a:pt x="1219200" y="461962"/>
                </a:lnTo>
                <a:close/>
              </a:path>
              <a:path w="1228725" h="466725">
                <a:moveTo>
                  <a:pt x="1228725" y="461962"/>
                </a:moveTo>
                <a:lnTo>
                  <a:pt x="1219200" y="461962"/>
                </a:lnTo>
                <a:lnTo>
                  <a:pt x="1223962" y="457200"/>
                </a:lnTo>
                <a:lnTo>
                  <a:pt x="1228725" y="457200"/>
                </a:lnTo>
                <a:lnTo>
                  <a:pt x="12287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34200" y="4572000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0"/>
                </a:moveTo>
                <a:lnTo>
                  <a:pt x="1143000" y="0"/>
                </a:lnTo>
                <a:lnTo>
                  <a:pt x="11430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C99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29437" y="4567237"/>
            <a:ext cx="1152525" cy="466725"/>
          </a:xfrm>
          <a:custGeom>
            <a:avLst/>
            <a:gdLst/>
            <a:ahLst/>
            <a:cxnLst/>
            <a:rect l="l" t="t" r="r" b="b"/>
            <a:pathLst>
              <a:path w="1152525" h="466725">
                <a:moveTo>
                  <a:pt x="11525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1152525" y="461962"/>
                </a:lnTo>
                <a:lnTo>
                  <a:pt x="1152525" y="466725"/>
                </a:lnTo>
                <a:close/>
              </a:path>
              <a:path w="11525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52525" h="466725">
                <a:moveTo>
                  <a:pt x="1143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5"/>
                </a:lnTo>
                <a:close/>
              </a:path>
              <a:path w="1152525" h="466725">
                <a:moveTo>
                  <a:pt x="1143000" y="461962"/>
                </a:moveTo>
                <a:lnTo>
                  <a:pt x="1143000" y="4762"/>
                </a:lnTo>
                <a:lnTo>
                  <a:pt x="1147762" y="9525"/>
                </a:lnTo>
                <a:lnTo>
                  <a:pt x="1152525" y="9525"/>
                </a:lnTo>
                <a:lnTo>
                  <a:pt x="1152525" y="457200"/>
                </a:lnTo>
                <a:lnTo>
                  <a:pt x="1147762" y="457200"/>
                </a:lnTo>
                <a:lnTo>
                  <a:pt x="1143000" y="461962"/>
                </a:lnTo>
                <a:close/>
              </a:path>
              <a:path w="1152525" h="466725">
                <a:moveTo>
                  <a:pt x="1152525" y="9525"/>
                </a:moveTo>
                <a:lnTo>
                  <a:pt x="1147762" y="9525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5"/>
                </a:lnTo>
                <a:close/>
              </a:path>
              <a:path w="11525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1152525" h="466725">
                <a:moveTo>
                  <a:pt x="11430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1143000" y="457200"/>
                </a:lnTo>
                <a:lnTo>
                  <a:pt x="1143000" y="461962"/>
                </a:lnTo>
                <a:close/>
              </a:path>
              <a:path w="1152525" h="466725">
                <a:moveTo>
                  <a:pt x="1152525" y="461962"/>
                </a:moveTo>
                <a:lnTo>
                  <a:pt x="1143000" y="461962"/>
                </a:lnTo>
                <a:lnTo>
                  <a:pt x="1147762" y="457200"/>
                </a:lnTo>
                <a:lnTo>
                  <a:pt x="1152525" y="457200"/>
                </a:lnTo>
                <a:lnTo>
                  <a:pt x="11525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44465" y="5372100"/>
            <a:ext cx="269875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Components of </a:t>
            </a:r>
            <a:r>
              <a:rPr sz="2000" dirty="0">
                <a:latin typeface="Tahoma"/>
                <a:cs typeface="Tahoma"/>
              </a:rPr>
              <a:t>bp </a:t>
            </a:r>
            <a:r>
              <a:rPr sz="2000" spc="-5" dirty="0">
                <a:latin typeface="Tahoma"/>
                <a:cs typeface="Tahoma"/>
              </a:rPr>
              <a:t>are  obtained with </a:t>
            </a: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dot and  the attribute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name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67000" y="4186631"/>
            <a:ext cx="2440305" cy="1075690"/>
          </a:xfrm>
          <a:custGeom>
            <a:avLst/>
            <a:gdLst/>
            <a:ahLst/>
            <a:cxnLst/>
            <a:rect l="l" t="t" r="r" b="b"/>
            <a:pathLst>
              <a:path w="2440304" h="1075689">
                <a:moveTo>
                  <a:pt x="54533" y="69811"/>
                </a:moveTo>
                <a:lnTo>
                  <a:pt x="0" y="4368"/>
                </a:lnTo>
                <a:lnTo>
                  <a:pt x="85077" y="0"/>
                </a:lnTo>
                <a:lnTo>
                  <a:pt x="75053" y="22910"/>
                </a:lnTo>
                <a:lnTo>
                  <a:pt x="54267" y="22910"/>
                </a:lnTo>
                <a:lnTo>
                  <a:pt x="50444" y="31635"/>
                </a:lnTo>
                <a:lnTo>
                  <a:pt x="67895" y="39270"/>
                </a:lnTo>
                <a:lnTo>
                  <a:pt x="54533" y="69811"/>
                </a:lnTo>
                <a:close/>
              </a:path>
              <a:path w="2440304" h="1075689">
                <a:moveTo>
                  <a:pt x="67895" y="39270"/>
                </a:moveTo>
                <a:lnTo>
                  <a:pt x="50444" y="31635"/>
                </a:lnTo>
                <a:lnTo>
                  <a:pt x="54267" y="22910"/>
                </a:lnTo>
                <a:lnTo>
                  <a:pt x="71714" y="30543"/>
                </a:lnTo>
                <a:lnTo>
                  <a:pt x="67895" y="39270"/>
                </a:lnTo>
                <a:close/>
              </a:path>
              <a:path w="2440304" h="1075689">
                <a:moveTo>
                  <a:pt x="71714" y="30543"/>
                </a:moveTo>
                <a:lnTo>
                  <a:pt x="54267" y="22910"/>
                </a:lnTo>
                <a:lnTo>
                  <a:pt x="75053" y="22910"/>
                </a:lnTo>
                <a:lnTo>
                  <a:pt x="71714" y="30543"/>
                </a:lnTo>
                <a:close/>
              </a:path>
              <a:path w="2440304" h="1075689">
                <a:moveTo>
                  <a:pt x="2436495" y="1075537"/>
                </a:moveTo>
                <a:lnTo>
                  <a:pt x="67895" y="39270"/>
                </a:lnTo>
                <a:lnTo>
                  <a:pt x="71714" y="30543"/>
                </a:lnTo>
                <a:lnTo>
                  <a:pt x="2440304" y="1066800"/>
                </a:lnTo>
                <a:lnTo>
                  <a:pt x="2436495" y="10755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62878" y="4572000"/>
            <a:ext cx="245745" cy="687705"/>
          </a:xfrm>
          <a:custGeom>
            <a:avLst/>
            <a:gdLst/>
            <a:ahLst/>
            <a:cxnLst/>
            <a:rect l="l" t="t" r="r" b="b"/>
            <a:pathLst>
              <a:path w="245745" h="687704">
                <a:moveTo>
                  <a:pt x="204503" y="70779"/>
                </a:moveTo>
                <a:lnTo>
                  <a:pt x="172885" y="60236"/>
                </a:lnTo>
                <a:lnTo>
                  <a:pt x="233121" y="0"/>
                </a:lnTo>
                <a:lnTo>
                  <a:pt x="240652" y="52704"/>
                </a:lnTo>
                <a:lnTo>
                  <a:pt x="210527" y="52704"/>
                </a:lnTo>
                <a:lnTo>
                  <a:pt x="204503" y="70779"/>
                </a:lnTo>
                <a:close/>
              </a:path>
              <a:path w="245745" h="687704">
                <a:moveTo>
                  <a:pt x="213547" y="73795"/>
                </a:moveTo>
                <a:lnTo>
                  <a:pt x="204503" y="70779"/>
                </a:lnTo>
                <a:lnTo>
                  <a:pt x="210527" y="52704"/>
                </a:lnTo>
                <a:lnTo>
                  <a:pt x="219570" y="55727"/>
                </a:lnTo>
                <a:lnTo>
                  <a:pt x="213547" y="73795"/>
                </a:lnTo>
                <a:close/>
              </a:path>
              <a:path w="245745" h="687704">
                <a:moveTo>
                  <a:pt x="245173" y="84340"/>
                </a:moveTo>
                <a:lnTo>
                  <a:pt x="213547" y="73795"/>
                </a:lnTo>
                <a:lnTo>
                  <a:pt x="219570" y="55727"/>
                </a:lnTo>
                <a:lnTo>
                  <a:pt x="210527" y="52704"/>
                </a:lnTo>
                <a:lnTo>
                  <a:pt x="240652" y="52704"/>
                </a:lnTo>
                <a:lnTo>
                  <a:pt x="245173" y="84340"/>
                </a:lnTo>
                <a:close/>
              </a:path>
              <a:path w="245745" h="687704">
                <a:moveTo>
                  <a:pt x="9042" y="687311"/>
                </a:moveTo>
                <a:lnTo>
                  <a:pt x="0" y="684288"/>
                </a:lnTo>
                <a:lnTo>
                  <a:pt x="204503" y="70779"/>
                </a:lnTo>
                <a:lnTo>
                  <a:pt x="213547" y="73795"/>
                </a:lnTo>
                <a:lnTo>
                  <a:pt x="9042" y="687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50748" y="5029200"/>
            <a:ext cx="383540" cy="233045"/>
          </a:xfrm>
          <a:custGeom>
            <a:avLst/>
            <a:gdLst/>
            <a:ahLst/>
            <a:cxnLst/>
            <a:rect l="l" t="t" r="r" b="b"/>
            <a:pathLst>
              <a:path w="383540" h="233045">
                <a:moveTo>
                  <a:pt x="315663" y="35119"/>
                </a:moveTo>
                <a:lnTo>
                  <a:pt x="298513" y="6527"/>
                </a:lnTo>
                <a:lnTo>
                  <a:pt x="383451" y="0"/>
                </a:lnTo>
                <a:lnTo>
                  <a:pt x="367332" y="25323"/>
                </a:lnTo>
                <a:lnTo>
                  <a:pt x="331990" y="25323"/>
                </a:lnTo>
                <a:lnTo>
                  <a:pt x="315663" y="35119"/>
                </a:lnTo>
                <a:close/>
              </a:path>
              <a:path w="383540" h="233045">
                <a:moveTo>
                  <a:pt x="320562" y="43288"/>
                </a:moveTo>
                <a:lnTo>
                  <a:pt x="315663" y="35119"/>
                </a:lnTo>
                <a:lnTo>
                  <a:pt x="331990" y="25323"/>
                </a:lnTo>
                <a:lnTo>
                  <a:pt x="336892" y="33489"/>
                </a:lnTo>
                <a:lnTo>
                  <a:pt x="320562" y="43288"/>
                </a:lnTo>
                <a:close/>
              </a:path>
              <a:path w="383540" h="233045">
                <a:moveTo>
                  <a:pt x="337705" y="71869"/>
                </a:moveTo>
                <a:lnTo>
                  <a:pt x="320562" y="43288"/>
                </a:lnTo>
                <a:lnTo>
                  <a:pt x="336892" y="33489"/>
                </a:lnTo>
                <a:lnTo>
                  <a:pt x="331990" y="25323"/>
                </a:lnTo>
                <a:lnTo>
                  <a:pt x="367332" y="25323"/>
                </a:lnTo>
                <a:lnTo>
                  <a:pt x="337705" y="71869"/>
                </a:lnTo>
                <a:close/>
              </a:path>
              <a:path w="383540" h="233045">
                <a:moveTo>
                  <a:pt x="4902" y="232689"/>
                </a:moveTo>
                <a:lnTo>
                  <a:pt x="0" y="224510"/>
                </a:lnTo>
                <a:lnTo>
                  <a:pt x="315663" y="35119"/>
                </a:lnTo>
                <a:lnTo>
                  <a:pt x="320562" y="43288"/>
                </a:lnTo>
                <a:lnTo>
                  <a:pt x="4902" y="2326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6525" y="829944"/>
            <a:ext cx="37909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Embedded</a:t>
            </a:r>
            <a:r>
              <a:rPr spc="-60" dirty="0"/>
              <a:t> </a:t>
            </a:r>
            <a:r>
              <a:rPr spc="-5" dirty="0"/>
              <a:t>SQL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75550" cy="3537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8003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5" dirty="0">
                <a:solidFill>
                  <a:srgbClr val="33CC33"/>
                </a:solidFill>
                <a:latin typeface="Tahoma"/>
                <a:cs typeface="Tahoma"/>
              </a:rPr>
              <a:t>Key 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idea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preprocessor turns SQL  statements into </a:t>
            </a:r>
            <a:r>
              <a:rPr sz="3200" spc="-10" dirty="0">
                <a:latin typeface="Tahoma"/>
                <a:cs typeface="Tahoma"/>
              </a:rPr>
              <a:t>procedure </a:t>
            </a:r>
            <a:r>
              <a:rPr sz="3200" spc="-5" dirty="0">
                <a:latin typeface="Tahoma"/>
                <a:cs typeface="Tahoma"/>
              </a:rPr>
              <a:t>calls that fit  with the surrounding </a:t>
            </a:r>
            <a:r>
              <a:rPr sz="3200" spc="-10" dirty="0">
                <a:latin typeface="Tahoma"/>
                <a:cs typeface="Tahoma"/>
              </a:rPr>
              <a:t>host-language  </a:t>
            </a:r>
            <a:r>
              <a:rPr sz="3200" spc="-5" dirty="0">
                <a:latin typeface="Tahoma"/>
                <a:cs typeface="Tahoma"/>
              </a:rPr>
              <a:t>code.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embedded SQL statements begin  with EXEC SQL, </a:t>
            </a:r>
            <a:r>
              <a:rPr sz="3200" dirty="0">
                <a:latin typeface="Tahoma"/>
                <a:cs typeface="Tahoma"/>
              </a:rPr>
              <a:t>so </a:t>
            </a:r>
            <a:r>
              <a:rPr sz="3200" spc="-5" dirty="0">
                <a:latin typeface="Tahoma"/>
                <a:cs typeface="Tahoma"/>
              </a:rPr>
              <a:t>the preprocessor can  find them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45" dirty="0">
                <a:latin typeface="Tahoma"/>
                <a:cs typeface="Tahoma"/>
              </a:rPr>
              <a:t>easily.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2060" y="829944"/>
            <a:ext cx="4120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Shared</a:t>
            </a:r>
            <a:r>
              <a:rPr spc="-75" dirty="0"/>
              <a:t> </a:t>
            </a:r>
            <a:r>
              <a:rPr spc="-2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0139" y="4656891"/>
            <a:ext cx="1779905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EXEC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SQL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7376159" cy="314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connect SQL and the </a:t>
            </a:r>
            <a:r>
              <a:rPr sz="3200" spc="-10" dirty="0">
                <a:latin typeface="Tahoma"/>
                <a:cs typeface="Tahoma"/>
              </a:rPr>
              <a:t>host-language  program, </a:t>
            </a:r>
            <a:r>
              <a:rPr sz="3200" spc="-5" dirty="0">
                <a:latin typeface="Tahoma"/>
                <a:cs typeface="Tahoma"/>
              </a:rPr>
              <a:t>the two parts must share  some</a:t>
            </a:r>
            <a:r>
              <a:rPr sz="3200" spc="-10" dirty="0">
                <a:latin typeface="Tahoma"/>
                <a:cs typeface="Tahoma"/>
              </a:rPr>
              <a:t> variables.</a:t>
            </a:r>
            <a:endParaRPr sz="3200">
              <a:latin typeface="Tahoma"/>
              <a:cs typeface="Tahoma"/>
            </a:endParaRPr>
          </a:p>
          <a:p>
            <a:pPr marL="355600" marR="55308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Declarations </a:t>
            </a:r>
            <a:r>
              <a:rPr sz="3200" spc="-5" dirty="0">
                <a:latin typeface="Tahoma"/>
                <a:cs typeface="Tahoma"/>
              </a:rPr>
              <a:t>of shared </a:t>
            </a:r>
            <a:r>
              <a:rPr sz="3200" spc="-10" dirty="0">
                <a:latin typeface="Tahoma"/>
                <a:cs typeface="Tahoma"/>
              </a:rPr>
              <a:t>variables are  </a:t>
            </a:r>
            <a:r>
              <a:rPr sz="3200" spc="-15" dirty="0">
                <a:latin typeface="Tahoma"/>
                <a:cs typeface="Tahoma"/>
              </a:rPr>
              <a:t>bracketed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by:</a:t>
            </a:r>
            <a:endParaRPr sz="3200">
              <a:latin typeface="Tahoma"/>
              <a:cs typeface="Tahoma"/>
            </a:endParaRPr>
          </a:p>
          <a:p>
            <a:pPr marL="2261235">
              <a:lnSpc>
                <a:spcPct val="100000"/>
              </a:lnSpc>
              <a:spcBef>
                <a:spcPts val="755"/>
              </a:spcBef>
            </a:pPr>
            <a:r>
              <a:rPr sz="3200" spc="-5" dirty="0">
                <a:latin typeface="Tahoma"/>
                <a:cs typeface="Tahoma"/>
              </a:rPr>
              <a:t>BEGIN </a:t>
            </a:r>
            <a:r>
              <a:rPr sz="3200" spc="-15" dirty="0">
                <a:latin typeface="Tahoma"/>
                <a:cs typeface="Tahoma"/>
              </a:rPr>
              <a:t>DECLARE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SECTION;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8939" y="5229225"/>
            <a:ext cx="54292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Tahoma"/>
                <a:cs typeface="Tahoma"/>
              </a:rPr>
              <a:t>&lt;host-language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declarations&gt;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0139" y="5826561"/>
            <a:ext cx="1779905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EXEC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SQL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13710" y="5814059"/>
            <a:ext cx="45097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END </a:t>
            </a:r>
            <a:r>
              <a:rPr sz="3200" spc="-15" dirty="0">
                <a:latin typeface="Tahoma"/>
                <a:cs typeface="Tahoma"/>
              </a:rPr>
              <a:t>DECLARE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SECTION;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6800" y="4648200"/>
            <a:ext cx="1828800" cy="533400"/>
          </a:xfrm>
          <a:custGeom>
            <a:avLst/>
            <a:gdLst/>
            <a:ahLst/>
            <a:cxnLst/>
            <a:rect l="l" t="t" r="r" b="b"/>
            <a:pathLst>
              <a:path w="1828800" h="533400">
                <a:moveTo>
                  <a:pt x="0" y="0"/>
                </a:moveTo>
                <a:lnTo>
                  <a:pt x="1828800" y="0"/>
                </a:lnTo>
                <a:lnTo>
                  <a:pt x="18288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99CC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62037" y="4643437"/>
            <a:ext cx="1838325" cy="542925"/>
          </a:xfrm>
          <a:custGeom>
            <a:avLst/>
            <a:gdLst/>
            <a:ahLst/>
            <a:cxnLst/>
            <a:rect l="l" t="t" r="r" b="b"/>
            <a:pathLst>
              <a:path w="1838325" h="542925">
                <a:moveTo>
                  <a:pt x="18383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1838325" y="0"/>
                </a:lnTo>
                <a:lnTo>
                  <a:pt x="1838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1838325" y="538162"/>
                </a:lnTo>
                <a:lnTo>
                  <a:pt x="1838325" y="542925"/>
                </a:lnTo>
                <a:close/>
              </a:path>
              <a:path w="18383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38325" h="542925">
                <a:moveTo>
                  <a:pt x="1828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28800" y="4762"/>
                </a:lnTo>
                <a:lnTo>
                  <a:pt x="1828800" y="9525"/>
                </a:lnTo>
                <a:close/>
              </a:path>
              <a:path w="1838325" h="542925">
                <a:moveTo>
                  <a:pt x="1828800" y="538162"/>
                </a:moveTo>
                <a:lnTo>
                  <a:pt x="1828800" y="4762"/>
                </a:lnTo>
                <a:lnTo>
                  <a:pt x="1833562" y="9525"/>
                </a:lnTo>
                <a:lnTo>
                  <a:pt x="1838325" y="9525"/>
                </a:lnTo>
                <a:lnTo>
                  <a:pt x="1838325" y="533400"/>
                </a:lnTo>
                <a:lnTo>
                  <a:pt x="1833562" y="533400"/>
                </a:lnTo>
                <a:lnTo>
                  <a:pt x="1828800" y="538162"/>
                </a:lnTo>
                <a:close/>
              </a:path>
              <a:path w="1838325" h="542925">
                <a:moveTo>
                  <a:pt x="1838325" y="9525"/>
                </a:moveTo>
                <a:lnTo>
                  <a:pt x="1833562" y="9525"/>
                </a:lnTo>
                <a:lnTo>
                  <a:pt x="1828800" y="4762"/>
                </a:lnTo>
                <a:lnTo>
                  <a:pt x="1838325" y="4762"/>
                </a:lnTo>
                <a:lnTo>
                  <a:pt x="1838325" y="9525"/>
                </a:lnTo>
                <a:close/>
              </a:path>
              <a:path w="18383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1838325" h="542925">
                <a:moveTo>
                  <a:pt x="18288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1828800" y="533400"/>
                </a:lnTo>
                <a:lnTo>
                  <a:pt x="1828800" y="538162"/>
                </a:lnTo>
                <a:close/>
              </a:path>
              <a:path w="1838325" h="542925">
                <a:moveTo>
                  <a:pt x="1838325" y="538162"/>
                </a:moveTo>
                <a:lnTo>
                  <a:pt x="1828800" y="538162"/>
                </a:lnTo>
                <a:lnTo>
                  <a:pt x="1833562" y="533400"/>
                </a:lnTo>
                <a:lnTo>
                  <a:pt x="1838325" y="533400"/>
                </a:lnTo>
                <a:lnTo>
                  <a:pt x="18383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6800" y="5791200"/>
            <a:ext cx="1828800" cy="533400"/>
          </a:xfrm>
          <a:custGeom>
            <a:avLst/>
            <a:gdLst/>
            <a:ahLst/>
            <a:cxnLst/>
            <a:rect l="l" t="t" r="r" b="b"/>
            <a:pathLst>
              <a:path w="1828800" h="533400">
                <a:moveTo>
                  <a:pt x="0" y="0"/>
                </a:moveTo>
                <a:lnTo>
                  <a:pt x="1828800" y="0"/>
                </a:lnTo>
                <a:lnTo>
                  <a:pt x="18288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99CC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2037" y="5786437"/>
            <a:ext cx="1838325" cy="542925"/>
          </a:xfrm>
          <a:custGeom>
            <a:avLst/>
            <a:gdLst/>
            <a:ahLst/>
            <a:cxnLst/>
            <a:rect l="l" t="t" r="r" b="b"/>
            <a:pathLst>
              <a:path w="1838325" h="542925">
                <a:moveTo>
                  <a:pt x="18383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1838325" y="0"/>
                </a:lnTo>
                <a:lnTo>
                  <a:pt x="1838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1838325" y="538162"/>
                </a:lnTo>
                <a:lnTo>
                  <a:pt x="1838325" y="542925"/>
                </a:lnTo>
                <a:close/>
              </a:path>
              <a:path w="18383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38325" h="542925">
                <a:moveTo>
                  <a:pt x="1828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28800" y="4762"/>
                </a:lnTo>
                <a:lnTo>
                  <a:pt x="1828800" y="9525"/>
                </a:lnTo>
                <a:close/>
              </a:path>
              <a:path w="1838325" h="542925">
                <a:moveTo>
                  <a:pt x="1828800" y="538162"/>
                </a:moveTo>
                <a:lnTo>
                  <a:pt x="1828800" y="4762"/>
                </a:lnTo>
                <a:lnTo>
                  <a:pt x="1833562" y="9525"/>
                </a:lnTo>
                <a:lnTo>
                  <a:pt x="1838325" y="9525"/>
                </a:lnTo>
                <a:lnTo>
                  <a:pt x="1838325" y="533400"/>
                </a:lnTo>
                <a:lnTo>
                  <a:pt x="1833562" y="533400"/>
                </a:lnTo>
                <a:lnTo>
                  <a:pt x="1828800" y="538162"/>
                </a:lnTo>
                <a:close/>
              </a:path>
              <a:path w="1838325" h="542925">
                <a:moveTo>
                  <a:pt x="1838325" y="9525"/>
                </a:moveTo>
                <a:lnTo>
                  <a:pt x="1833562" y="9525"/>
                </a:lnTo>
                <a:lnTo>
                  <a:pt x="1828800" y="4762"/>
                </a:lnTo>
                <a:lnTo>
                  <a:pt x="1838325" y="4762"/>
                </a:lnTo>
                <a:lnTo>
                  <a:pt x="1838325" y="9525"/>
                </a:lnTo>
                <a:close/>
              </a:path>
              <a:path w="18383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1838325" h="542925">
                <a:moveTo>
                  <a:pt x="18288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1828800" y="533400"/>
                </a:lnTo>
                <a:lnTo>
                  <a:pt x="1828800" y="538162"/>
                </a:lnTo>
                <a:close/>
              </a:path>
              <a:path w="1838325" h="542925">
                <a:moveTo>
                  <a:pt x="1838325" y="538162"/>
                </a:moveTo>
                <a:lnTo>
                  <a:pt x="1828800" y="538162"/>
                </a:lnTo>
                <a:lnTo>
                  <a:pt x="1833562" y="533400"/>
                </a:lnTo>
                <a:lnTo>
                  <a:pt x="1838325" y="533400"/>
                </a:lnTo>
                <a:lnTo>
                  <a:pt x="18383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8739" y="5137150"/>
            <a:ext cx="85026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ahoma"/>
                <a:cs typeface="Tahoma"/>
              </a:rPr>
              <a:t>Always  </a:t>
            </a:r>
            <a:r>
              <a:rPr sz="2000" spc="-5" dirty="0">
                <a:latin typeface="Tahoma"/>
                <a:cs typeface="Tahoma"/>
              </a:rPr>
              <a:t>neede</a:t>
            </a:r>
            <a:r>
              <a:rPr sz="2000" dirty="0">
                <a:latin typeface="Tahoma"/>
                <a:cs typeface="Tahoma"/>
              </a:rPr>
              <a:t>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7466" y="4876800"/>
            <a:ext cx="459740" cy="233045"/>
          </a:xfrm>
          <a:custGeom>
            <a:avLst/>
            <a:gdLst/>
            <a:ahLst/>
            <a:cxnLst/>
            <a:rect l="l" t="t" r="r" b="b"/>
            <a:pathLst>
              <a:path w="459740" h="233045">
                <a:moveTo>
                  <a:pt x="389047" y="29815"/>
                </a:moveTo>
                <a:lnTo>
                  <a:pt x="374142" y="0"/>
                </a:lnTo>
                <a:lnTo>
                  <a:pt x="459333" y="0"/>
                </a:lnTo>
                <a:lnTo>
                  <a:pt x="443361" y="21297"/>
                </a:lnTo>
                <a:lnTo>
                  <a:pt x="406082" y="21297"/>
                </a:lnTo>
                <a:lnTo>
                  <a:pt x="389047" y="29815"/>
                </a:lnTo>
                <a:close/>
              </a:path>
              <a:path w="459740" h="233045">
                <a:moveTo>
                  <a:pt x="393308" y="38339"/>
                </a:moveTo>
                <a:lnTo>
                  <a:pt x="389047" y="29815"/>
                </a:lnTo>
                <a:lnTo>
                  <a:pt x="406082" y="21297"/>
                </a:lnTo>
                <a:lnTo>
                  <a:pt x="410349" y="29819"/>
                </a:lnTo>
                <a:lnTo>
                  <a:pt x="393308" y="38339"/>
                </a:lnTo>
                <a:close/>
              </a:path>
              <a:path w="459740" h="233045">
                <a:moveTo>
                  <a:pt x="408216" y="68160"/>
                </a:moveTo>
                <a:lnTo>
                  <a:pt x="393308" y="38339"/>
                </a:lnTo>
                <a:lnTo>
                  <a:pt x="410349" y="29819"/>
                </a:lnTo>
                <a:lnTo>
                  <a:pt x="406082" y="21297"/>
                </a:lnTo>
                <a:lnTo>
                  <a:pt x="443361" y="21297"/>
                </a:lnTo>
                <a:lnTo>
                  <a:pt x="408216" y="68160"/>
                </a:lnTo>
                <a:close/>
              </a:path>
              <a:path w="459740" h="233045">
                <a:moveTo>
                  <a:pt x="4267" y="232854"/>
                </a:moveTo>
                <a:lnTo>
                  <a:pt x="0" y="224345"/>
                </a:lnTo>
                <a:lnTo>
                  <a:pt x="389047" y="29815"/>
                </a:lnTo>
                <a:lnTo>
                  <a:pt x="393308" y="38339"/>
                </a:lnTo>
                <a:lnTo>
                  <a:pt x="4267" y="2328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6958" y="5787237"/>
            <a:ext cx="460375" cy="309245"/>
          </a:xfrm>
          <a:custGeom>
            <a:avLst/>
            <a:gdLst/>
            <a:ahLst/>
            <a:cxnLst/>
            <a:rect l="l" t="t" r="r" b="b"/>
            <a:pathLst>
              <a:path w="460375" h="309245">
                <a:moveTo>
                  <a:pt x="393801" y="270459"/>
                </a:moveTo>
                <a:lnTo>
                  <a:pt x="0" y="7924"/>
                </a:lnTo>
                <a:lnTo>
                  <a:pt x="5283" y="0"/>
                </a:lnTo>
                <a:lnTo>
                  <a:pt x="399084" y="262534"/>
                </a:lnTo>
                <a:lnTo>
                  <a:pt x="393801" y="270459"/>
                </a:lnTo>
                <a:close/>
              </a:path>
              <a:path w="460375" h="309245">
                <a:moveTo>
                  <a:pt x="443991" y="281025"/>
                </a:moveTo>
                <a:lnTo>
                  <a:pt x="409651" y="281025"/>
                </a:lnTo>
                <a:lnTo>
                  <a:pt x="414934" y="273100"/>
                </a:lnTo>
                <a:lnTo>
                  <a:pt x="399084" y="262534"/>
                </a:lnTo>
                <a:lnTo>
                  <a:pt x="417575" y="234797"/>
                </a:lnTo>
                <a:lnTo>
                  <a:pt x="443991" y="281025"/>
                </a:lnTo>
                <a:close/>
              </a:path>
              <a:path w="460375" h="309245">
                <a:moveTo>
                  <a:pt x="409651" y="281025"/>
                </a:moveTo>
                <a:lnTo>
                  <a:pt x="393801" y="270459"/>
                </a:lnTo>
                <a:lnTo>
                  <a:pt x="399084" y="262534"/>
                </a:lnTo>
                <a:lnTo>
                  <a:pt x="414934" y="273100"/>
                </a:lnTo>
                <a:lnTo>
                  <a:pt x="409651" y="281025"/>
                </a:lnTo>
                <a:close/>
              </a:path>
              <a:path w="460375" h="309245">
                <a:moveTo>
                  <a:pt x="459841" y="308762"/>
                </a:moveTo>
                <a:lnTo>
                  <a:pt x="375310" y="298196"/>
                </a:lnTo>
                <a:lnTo>
                  <a:pt x="393801" y="270459"/>
                </a:lnTo>
                <a:lnTo>
                  <a:pt x="409651" y="281025"/>
                </a:lnTo>
                <a:lnTo>
                  <a:pt x="443991" y="281025"/>
                </a:lnTo>
                <a:lnTo>
                  <a:pt x="459841" y="30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72</a:t>
            </a:fld>
            <a:endParaRPr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1475" y="829944"/>
            <a:ext cx="5861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Use of </a:t>
            </a:r>
            <a:r>
              <a:rPr spc="-10" dirty="0"/>
              <a:t>Shared</a:t>
            </a:r>
            <a:r>
              <a:rPr spc="-60" dirty="0"/>
              <a:t> </a:t>
            </a:r>
            <a:r>
              <a:rPr spc="-25" dirty="0"/>
              <a:t>Variables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72310"/>
            <a:ext cx="7594600" cy="40157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515620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spc="-5" dirty="0">
                <a:latin typeface="Tahoma"/>
                <a:cs typeface="Tahoma"/>
              </a:rPr>
              <a:t>SQL, the shared </a:t>
            </a:r>
            <a:r>
              <a:rPr sz="3200" spc="-10" dirty="0">
                <a:latin typeface="Tahoma"/>
                <a:cs typeface="Tahoma"/>
              </a:rPr>
              <a:t>variables </a:t>
            </a:r>
            <a:r>
              <a:rPr sz="3200" spc="-5" dirty="0">
                <a:latin typeface="Tahoma"/>
                <a:cs typeface="Tahoma"/>
              </a:rPr>
              <a:t>must </a:t>
            </a:r>
            <a:r>
              <a:rPr sz="3200" dirty="0">
                <a:latin typeface="Tahoma"/>
                <a:cs typeface="Tahoma"/>
              </a:rPr>
              <a:t>be  </a:t>
            </a:r>
            <a:r>
              <a:rPr sz="3200" spc="-5" dirty="0">
                <a:latin typeface="Tahoma"/>
                <a:cs typeface="Tahoma"/>
              </a:rPr>
              <a:t>preceded by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colon.</a:t>
            </a:r>
            <a:endParaRPr sz="3200">
              <a:latin typeface="Tahoma"/>
              <a:cs typeface="Tahoma"/>
            </a:endParaRPr>
          </a:p>
          <a:p>
            <a:pPr marL="755650" marR="415925" lvl="1" indent="-285750">
              <a:lnSpc>
                <a:spcPts val="3020"/>
              </a:lnSpc>
              <a:spcBef>
                <a:spcPts val="66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They </a:t>
            </a:r>
            <a:r>
              <a:rPr sz="2800" spc="-10" dirty="0">
                <a:latin typeface="Tahoma"/>
                <a:cs typeface="Tahoma"/>
              </a:rPr>
              <a:t>may </a:t>
            </a:r>
            <a:r>
              <a:rPr sz="2800" spc="-5" dirty="0">
                <a:latin typeface="Tahoma"/>
                <a:cs typeface="Tahoma"/>
              </a:rPr>
              <a:t>be used as constants </a:t>
            </a:r>
            <a:r>
              <a:rPr sz="2800" spc="-10" dirty="0">
                <a:latin typeface="Tahoma"/>
                <a:cs typeface="Tahoma"/>
              </a:rPr>
              <a:t>provided  by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0" dirty="0">
                <a:latin typeface="Tahoma"/>
                <a:cs typeface="Tahoma"/>
              </a:rPr>
              <a:t>host-language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program.</a:t>
            </a:r>
            <a:endParaRPr sz="2800">
              <a:latin typeface="Tahoma"/>
              <a:cs typeface="Tahoma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They </a:t>
            </a:r>
            <a:r>
              <a:rPr sz="2800" spc="-10" dirty="0">
                <a:latin typeface="Tahoma"/>
                <a:cs typeface="Tahoma"/>
              </a:rPr>
              <a:t>may </a:t>
            </a:r>
            <a:r>
              <a:rPr sz="2800" spc="-5" dirty="0">
                <a:latin typeface="Tahoma"/>
                <a:cs typeface="Tahoma"/>
              </a:rPr>
              <a:t>get </a:t>
            </a:r>
            <a:r>
              <a:rPr sz="2800" spc="-15" dirty="0">
                <a:latin typeface="Tahoma"/>
                <a:cs typeface="Tahoma"/>
              </a:rPr>
              <a:t>values from </a:t>
            </a:r>
            <a:r>
              <a:rPr sz="2800" spc="-5" dirty="0">
                <a:latin typeface="Tahoma"/>
                <a:cs typeface="Tahoma"/>
              </a:rPr>
              <a:t>SQL statements  and pass those </a:t>
            </a:r>
            <a:r>
              <a:rPr sz="2800" spc="-15" dirty="0">
                <a:latin typeface="Tahoma"/>
                <a:cs typeface="Tahoma"/>
              </a:rPr>
              <a:t>values </a:t>
            </a:r>
            <a:r>
              <a:rPr sz="2800" spc="-5" dirty="0">
                <a:latin typeface="Tahoma"/>
                <a:cs typeface="Tahoma"/>
              </a:rPr>
              <a:t>to the </a:t>
            </a:r>
            <a:r>
              <a:rPr sz="2800" spc="-10" dirty="0">
                <a:latin typeface="Tahoma"/>
                <a:cs typeface="Tahoma"/>
              </a:rPr>
              <a:t>host-language  program.</a:t>
            </a:r>
            <a:endParaRPr sz="2800">
              <a:latin typeface="Tahoma"/>
              <a:cs typeface="Tahoma"/>
            </a:endParaRPr>
          </a:p>
          <a:p>
            <a:pPr marL="355600" marR="282575" indent="-342900">
              <a:lnSpc>
                <a:spcPts val="346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spc="-5" dirty="0">
                <a:latin typeface="Tahoma"/>
                <a:cs typeface="Tahoma"/>
              </a:rPr>
              <a:t>the host language, shared </a:t>
            </a:r>
            <a:r>
              <a:rPr sz="3200" spc="-10" dirty="0">
                <a:latin typeface="Tahoma"/>
                <a:cs typeface="Tahoma"/>
              </a:rPr>
              <a:t>variables  behave like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other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variable.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4269" y="829944"/>
            <a:ext cx="68554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Looking </a:t>
            </a:r>
            <a:r>
              <a:rPr dirty="0"/>
              <a:t>Up</a:t>
            </a:r>
            <a:r>
              <a:rPr spc="-40" dirty="0"/>
              <a:t> </a:t>
            </a:r>
            <a:r>
              <a:rPr spc="-5" dirty="0"/>
              <a:t>Prices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20305" cy="304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We’ll </a:t>
            </a:r>
            <a:r>
              <a:rPr sz="3200" spc="-5" dirty="0">
                <a:latin typeface="Tahoma"/>
                <a:cs typeface="Tahoma"/>
              </a:rPr>
              <a:t>use </a:t>
            </a:r>
            <a:r>
              <a:rPr sz="3200" dirty="0">
                <a:latin typeface="Tahoma"/>
                <a:cs typeface="Tahoma"/>
              </a:rPr>
              <a:t>C </a:t>
            </a:r>
            <a:r>
              <a:rPr sz="3200" spc="-5" dirty="0">
                <a:latin typeface="Tahoma"/>
                <a:cs typeface="Tahoma"/>
              </a:rPr>
              <a:t>with embedded SQL to  </a:t>
            </a:r>
            <a:r>
              <a:rPr sz="3200" spc="-10" dirty="0">
                <a:latin typeface="Tahoma"/>
                <a:cs typeface="Tahoma"/>
              </a:rPr>
              <a:t>sketch </a:t>
            </a:r>
            <a:r>
              <a:rPr sz="3200" spc="-5" dirty="0">
                <a:latin typeface="Tahoma"/>
                <a:cs typeface="Tahoma"/>
              </a:rPr>
              <a:t>the important parts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function  </a:t>
            </a:r>
            <a:r>
              <a:rPr sz="3200" spc="-5" dirty="0">
                <a:latin typeface="Tahoma"/>
                <a:cs typeface="Tahoma"/>
              </a:rPr>
              <a:t>that obtains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beer and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10" dirty="0">
                <a:latin typeface="Tahoma"/>
                <a:cs typeface="Tahoma"/>
              </a:rPr>
              <a:t>bar, </a:t>
            </a:r>
            <a:r>
              <a:rPr sz="3200" spc="-5" dirty="0">
                <a:latin typeface="Tahoma"/>
                <a:cs typeface="Tahoma"/>
              </a:rPr>
              <a:t>and looks  </a:t>
            </a:r>
            <a:r>
              <a:rPr sz="3200" dirty="0">
                <a:latin typeface="Tahoma"/>
                <a:cs typeface="Tahoma"/>
              </a:rPr>
              <a:t>up </a:t>
            </a:r>
            <a:r>
              <a:rPr sz="3200" spc="-5" dirty="0">
                <a:latin typeface="Tahoma"/>
                <a:cs typeface="Tahoma"/>
              </a:rPr>
              <a:t>the price of that beer at that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bar.</a:t>
            </a:r>
            <a:endParaRPr sz="3200">
              <a:latin typeface="Tahoma"/>
              <a:cs typeface="Tahoma"/>
            </a:endParaRPr>
          </a:p>
          <a:p>
            <a:pPr marL="355600" marR="124079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Assumes database has our usual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9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7</a:t>
            </a:r>
            <a:r>
              <a:rPr sz="1400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7710" y="829944"/>
            <a:ext cx="51485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Example: </a:t>
            </a:r>
            <a:r>
              <a:rPr dirty="0"/>
              <a:t>C </a:t>
            </a:r>
            <a:r>
              <a:rPr spc="-5" dirty="0"/>
              <a:t>Plus</a:t>
            </a:r>
            <a:r>
              <a:rPr spc="-55" dirty="0"/>
              <a:t> </a:t>
            </a:r>
            <a:r>
              <a:rPr spc="-5" dirty="0"/>
              <a:t>SQL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78660"/>
            <a:ext cx="59550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EXEC SQL BEGIN </a:t>
            </a:r>
            <a:r>
              <a:rPr sz="2800" spc="-15" dirty="0">
                <a:latin typeface="Tahoma"/>
                <a:cs typeface="Tahoma"/>
              </a:rPr>
              <a:t>DECLARE </a:t>
            </a:r>
            <a:r>
              <a:rPr sz="2800" spc="-5" dirty="0">
                <a:latin typeface="Tahoma"/>
                <a:cs typeface="Tahoma"/>
              </a:rPr>
              <a:t>SECTION;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8175" y="2458546"/>
            <a:ext cx="3787775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theBar[21],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theBeer[21]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2403347"/>
            <a:ext cx="5616575" cy="14325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430"/>
              </a:spcBef>
              <a:tabLst>
                <a:tab pos="4930775" algn="l"/>
              </a:tabLst>
            </a:pPr>
            <a:r>
              <a:rPr sz="2800" spc="-5" dirty="0">
                <a:latin typeface="Tahoma"/>
                <a:cs typeface="Tahoma"/>
              </a:rPr>
              <a:t>char	;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30"/>
              </a:spcBef>
            </a:pPr>
            <a:r>
              <a:rPr sz="2800" spc="-5" dirty="0">
                <a:latin typeface="Tahoma"/>
                <a:cs typeface="Tahoma"/>
              </a:rPr>
              <a:t>float thePrice;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spc="-5" dirty="0">
                <a:latin typeface="Tahoma"/>
                <a:cs typeface="Tahoma"/>
              </a:rPr>
              <a:t>EXEC SQL END </a:t>
            </a:r>
            <a:r>
              <a:rPr sz="2800" spc="-15" dirty="0">
                <a:latin typeface="Tahoma"/>
                <a:cs typeface="Tahoma"/>
              </a:rPr>
              <a:t>DECLARE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SECTION;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3807967"/>
            <a:ext cx="7023734" cy="96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10100"/>
              </a:lnSpc>
              <a:spcBef>
                <a:spcPts val="100"/>
              </a:spcBef>
            </a:pPr>
            <a:r>
              <a:rPr sz="2800" spc="-5" dirty="0">
                <a:latin typeface="Tahoma"/>
                <a:cs typeface="Tahoma"/>
              </a:rPr>
              <a:t>/* obtain </a:t>
            </a:r>
            <a:r>
              <a:rPr sz="2800" spc="-15" dirty="0">
                <a:latin typeface="Tahoma"/>
                <a:cs typeface="Tahoma"/>
              </a:rPr>
              <a:t>values for </a:t>
            </a:r>
            <a:r>
              <a:rPr sz="2800" spc="-5" dirty="0">
                <a:latin typeface="Tahoma"/>
                <a:cs typeface="Tahoma"/>
              </a:rPr>
              <a:t>theBar and theBeer */  EX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0139" y="4334336"/>
            <a:ext cx="7004050" cy="1364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865"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EC SQL SELECT price </a:t>
            </a:r>
            <a:r>
              <a:rPr sz="2800" spc="-20" dirty="0">
                <a:latin typeface="Tahoma"/>
                <a:cs typeface="Tahoma"/>
              </a:rPr>
              <a:t>INTO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:thePrice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sz="2800" spc="-5" dirty="0">
                <a:latin typeface="Tahoma"/>
                <a:cs typeface="Tahoma"/>
              </a:rPr>
              <a:t>FROM </a:t>
            </a:r>
            <a:r>
              <a:rPr sz="2800" dirty="0">
                <a:latin typeface="Tahoma"/>
                <a:cs typeface="Tahoma"/>
              </a:rPr>
              <a:t>Sells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r>
              <a:rPr sz="2800" spc="-5" dirty="0">
                <a:latin typeface="Tahoma"/>
                <a:cs typeface="Tahoma"/>
              </a:rPr>
              <a:t>WHERE bar = :theBar AND beer =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:theBeer;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7439" y="5726429"/>
            <a:ext cx="51860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/* do something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thePrice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*/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05000" y="2438400"/>
            <a:ext cx="3810000" cy="457200"/>
          </a:xfrm>
          <a:custGeom>
            <a:avLst/>
            <a:gdLst/>
            <a:ahLst/>
            <a:cxnLst/>
            <a:rect l="l" t="t" r="r" b="b"/>
            <a:pathLst>
              <a:path w="3810000" h="457200">
                <a:moveTo>
                  <a:pt x="0" y="0"/>
                </a:moveTo>
                <a:lnTo>
                  <a:pt x="3810000" y="0"/>
                </a:lnTo>
                <a:lnTo>
                  <a:pt x="38100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0237" y="2433637"/>
            <a:ext cx="3819525" cy="466725"/>
          </a:xfrm>
          <a:custGeom>
            <a:avLst/>
            <a:gdLst/>
            <a:ahLst/>
            <a:cxnLst/>
            <a:rect l="l" t="t" r="r" b="b"/>
            <a:pathLst>
              <a:path w="3819525" h="466725">
                <a:moveTo>
                  <a:pt x="38195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3819525" y="0"/>
                </a:lnTo>
                <a:lnTo>
                  <a:pt x="3819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3819525" y="461962"/>
                </a:lnTo>
                <a:lnTo>
                  <a:pt x="3819525" y="466725"/>
                </a:lnTo>
                <a:close/>
              </a:path>
              <a:path w="38195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819525" h="466725">
                <a:moveTo>
                  <a:pt x="3810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810000" y="4762"/>
                </a:lnTo>
                <a:lnTo>
                  <a:pt x="3810000" y="9525"/>
                </a:lnTo>
                <a:close/>
              </a:path>
              <a:path w="3819525" h="466725">
                <a:moveTo>
                  <a:pt x="3810000" y="461962"/>
                </a:moveTo>
                <a:lnTo>
                  <a:pt x="3810000" y="4762"/>
                </a:lnTo>
                <a:lnTo>
                  <a:pt x="3814762" y="9525"/>
                </a:lnTo>
                <a:lnTo>
                  <a:pt x="3819525" y="9525"/>
                </a:lnTo>
                <a:lnTo>
                  <a:pt x="3819525" y="457200"/>
                </a:lnTo>
                <a:lnTo>
                  <a:pt x="3814762" y="457200"/>
                </a:lnTo>
                <a:lnTo>
                  <a:pt x="3810000" y="461962"/>
                </a:lnTo>
                <a:close/>
              </a:path>
              <a:path w="3819525" h="466725">
                <a:moveTo>
                  <a:pt x="3819525" y="9525"/>
                </a:moveTo>
                <a:lnTo>
                  <a:pt x="3814762" y="9525"/>
                </a:lnTo>
                <a:lnTo>
                  <a:pt x="3810000" y="4762"/>
                </a:lnTo>
                <a:lnTo>
                  <a:pt x="3819525" y="4762"/>
                </a:lnTo>
                <a:lnTo>
                  <a:pt x="3819525" y="9525"/>
                </a:lnTo>
                <a:close/>
              </a:path>
              <a:path w="38195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3819525" h="466725">
                <a:moveTo>
                  <a:pt x="38100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3810000" y="457200"/>
                </a:lnTo>
                <a:lnTo>
                  <a:pt x="3810000" y="461962"/>
                </a:lnTo>
                <a:close/>
              </a:path>
              <a:path w="3819525" h="466725">
                <a:moveTo>
                  <a:pt x="3819525" y="461962"/>
                </a:moveTo>
                <a:lnTo>
                  <a:pt x="3810000" y="461962"/>
                </a:lnTo>
                <a:lnTo>
                  <a:pt x="3814762" y="457200"/>
                </a:lnTo>
                <a:lnTo>
                  <a:pt x="3819525" y="457200"/>
                </a:lnTo>
                <a:lnTo>
                  <a:pt x="38195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73265" y="2247899"/>
            <a:ext cx="163068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Note 21-char  </a:t>
            </a:r>
            <a:r>
              <a:rPr sz="2000" spc="-15" dirty="0">
                <a:latin typeface="Tahoma"/>
                <a:cs typeface="Tahoma"/>
              </a:rPr>
              <a:t>arrays </a:t>
            </a:r>
            <a:r>
              <a:rPr sz="2000" spc="-5" dirty="0">
                <a:latin typeface="Tahoma"/>
                <a:cs typeface="Tahoma"/>
              </a:rPr>
              <a:t>needed  </a:t>
            </a:r>
            <a:r>
              <a:rPr sz="2000" spc="-10" dirty="0">
                <a:latin typeface="Tahoma"/>
                <a:cs typeface="Tahoma"/>
              </a:rPr>
              <a:t>for </a:t>
            </a:r>
            <a:r>
              <a:rPr sz="2000" dirty="0">
                <a:latin typeface="Tahoma"/>
                <a:cs typeface="Tahoma"/>
              </a:rPr>
              <a:t>20 </a:t>
            </a:r>
            <a:r>
              <a:rPr sz="2000" spc="-5" dirty="0">
                <a:latin typeface="Tahoma"/>
                <a:cs typeface="Tahoma"/>
              </a:rPr>
              <a:t>chars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+  </a:t>
            </a:r>
            <a:r>
              <a:rPr sz="2000" spc="-5" dirty="0">
                <a:latin typeface="Tahoma"/>
                <a:cs typeface="Tahoma"/>
              </a:rPr>
              <a:t>endmarker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5000" y="2643593"/>
            <a:ext cx="1220470" cy="257175"/>
          </a:xfrm>
          <a:custGeom>
            <a:avLst/>
            <a:gdLst/>
            <a:ahLst/>
            <a:cxnLst/>
            <a:rect l="l" t="t" r="r" b="b"/>
            <a:pathLst>
              <a:path w="1220470" h="257175">
                <a:moveTo>
                  <a:pt x="67868" y="74891"/>
                </a:moveTo>
                <a:lnTo>
                  <a:pt x="0" y="23406"/>
                </a:lnTo>
                <a:lnTo>
                  <a:pt x="81914" y="0"/>
                </a:lnTo>
                <a:lnTo>
                  <a:pt x="76427" y="29260"/>
                </a:lnTo>
                <a:lnTo>
                  <a:pt x="57048" y="29260"/>
                </a:lnTo>
                <a:lnTo>
                  <a:pt x="55295" y="38620"/>
                </a:lnTo>
                <a:lnTo>
                  <a:pt x="74013" y="42130"/>
                </a:lnTo>
                <a:lnTo>
                  <a:pt x="67868" y="74891"/>
                </a:lnTo>
                <a:close/>
              </a:path>
              <a:path w="1220470" h="257175">
                <a:moveTo>
                  <a:pt x="74013" y="42130"/>
                </a:moveTo>
                <a:lnTo>
                  <a:pt x="55295" y="38620"/>
                </a:lnTo>
                <a:lnTo>
                  <a:pt x="57048" y="29260"/>
                </a:lnTo>
                <a:lnTo>
                  <a:pt x="75768" y="32770"/>
                </a:lnTo>
                <a:lnTo>
                  <a:pt x="74013" y="42130"/>
                </a:lnTo>
                <a:close/>
              </a:path>
              <a:path w="1220470" h="257175">
                <a:moveTo>
                  <a:pt x="75768" y="32770"/>
                </a:moveTo>
                <a:lnTo>
                  <a:pt x="57048" y="29260"/>
                </a:lnTo>
                <a:lnTo>
                  <a:pt x="76427" y="29260"/>
                </a:lnTo>
                <a:lnTo>
                  <a:pt x="75768" y="32770"/>
                </a:lnTo>
                <a:close/>
              </a:path>
              <a:path w="1220470" h="257175">
                <a:moveTo>
                  <a:pt x="1218323" y="256692"/>
                </a:moveTo>
                <a:lnTo>
                  <a:pt x="74013" y="42130"/>
                </a:lnTo>
                <a:lnTo>
                  <a:pt x="75768" y="32770"/>
                </a:lnTo>
                <a:lnTo>
                  <a:pt x="1220076" y="247319"/>
                </a:lnTo>
                <a:lnTo>
                  <a:pt x="1218323" y="2566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66800" y="4343400"/>
            <a:ext cx="7146290" cy="1371600"/>
          </a:xfrm>
          <a:custGeom>
            <a:avLst/>
            <a:gdLst/>
            <a:ahLst/>
            <a:cxnLst/>
            <a:rect l="l" t="t" r="r" b="b"/>
            <a:pathLst>
              <a:path w="7146290" h="1371600">
                <a:moveTo>
                  <a:pt x="0" y="0"/>
                </a:moveTo>
                <a:lnTo>
                  <a:pt x="7146035" y="0"/>
                </a:lnTo>
                <a:lnTo>
                  <a:pt x="71460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62037" y="4338637"/>
            <a:ext cx="7155180" cy="1381125"/>
          </a:xfrm>
          <a:custGeom>
            <a:avLst/>
            <a:gdLst/>
            <a:ahLst/>
            <a:cxnLst/>
            <a:rect l="l" t="t" r="r" b="b"/>
            <a:pathLst>
              <a:path w="7155180" h="1381125">
                <a:moveTo>
                  <a:pt x="7154913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7154913" y="0"/>
                </a:lnTo>
                <a:lnTo>
                  <a:pt x="715491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7154913" y="1376362"/>
                </a:lnTo>
                <a:lnTo>
                  <a:pt x="7154913" y="1381125"/>
                </a:lnTo>
                <a:close/>
              </a:path>
              <a:path w="7155180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155180" h="1381125">
                <a:moveTo>
                  <a:pt x="7145388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145388" y="4762"/>
                </a:lnTo>
                <a:lnTo>
                  <a:pt x="7145388" y="9525"/>
                </a:lnTo>
                <a:close/>
              </a:path>
              <a:path w="7155180" h="1381125">
                <a:moveTo>
                  <a:pt x="7145388" y="1376362"/>
                </a:moveTo>
                <a:lnTo>
                  <a:pt x="7145388" y="4762"/>
                </a:lnTo>
                <a:lnTo>
                  <a:pt x="7150150" y="9525"/>
                </a:lnTo>
                <a:lnTo>
                  <a:pt x="7154913" y="9525"/>
                </a:lnTo>
                <a:lnTo>
                  <a:pt x="7154913" y="1371600"/>
                </a:lnTo>
                <a:lnTo>
                  <a:pt x="7150150" y="1371600"/>
                </a:lnTo>
                <a:lnTo>
                  <a:pt x="7145388" y="1376362"/>
                </a:lnTo>
                <a:close/>
              </a:path>
              <a:path w="7155180" h="1381125">
                <a:moveTo>
                  <a:pt x="7154913" y="9525"/>
                </a:moveTo>
                <a:lnTo>
                  <a:pt x="7150150" y="9525"/>
                </a:lnTo>
                <a:lnTo>
                  <a:pt x="7145388" y="4762"/>
                </a:lnTo>
                <a:lnTo>
                  <a:pt x="7154913" y="4762"/>
                </a:lnTo>
                <a:lnTo>
                  <a:pt x="7154913" y="9525"/>
                </a:lnTo>
                <a:close/>
              </a:path>
              <a:path w="7155180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7155180" h="1381125">
                <a:moveTo>
                  <a:pt x="7145388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7145388" y="1371600"/>
                </a:lnTo>
                <a:lnTo>
                  <a:pt x="7145388" y="1376362"/>
                </a:lnTo>
                <a:close/>
              </a:path>
              <a:path w="7155180" h="1381125">
                <a:moveTo>
                  <a:pt x="7154913" y="1376362"/>
                </a:moveTo>
                <a:lnTo>
                  <a:pt x="7145388" y="1376362"/>
                </a:lnTo>
                <a:lnTo>
                  <a:pt x="7150150" y="1371600"/>
                </a:lnTo>
                <a:lnTo>
                  <a:pt x="7154913" y="1371600"/>
                </a:lnTo>
                <a:lnTo>
                  <a:pt x="7154913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923049" y="5905500"/>
            <a:ext cx="1536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Tahoma"/>
                <a:cs typeface="Tahoma"/>
              </a:rPr>
              <a:t>SELECT-INTO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23049" y="6210300"/>
            <a:ext cx="11087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as in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PSM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09779" y="5715000"/>
            <a:ext cx="876300" cy="537845"/>
          </a:xfrm>
          <a:custGeom>
            <a:avLst/>
            <a:gdLst/>
            <a:ahLst/>
            <a:cxnLst/>
            <a:rect l="l" t="t" r="r" b="b"/>
            <a:pathLst>
              <a:path w="876300" h="537845">
                <a:moveTo>
                  <a:pt x="45173" y="72237"/>
                </a:moveTo>
                <a:lnTo>
                  <a:pt x="0" y="0"/>
                </a:lnTo>
                <a:lnTo>
                  <a:pt x="84899" y="7200"/>
                </a:lnTo>
                <a:lnTo>
                  <a:pt x="73581" y="25730"/>
                </a:lnTo>
                <a:lnTo>
                  <a:pt x="51257" y="25730"/>
                </a:lnTo>
                <a:lnTo>
                  <a:pt x="46291" y="33858"/>
                </a:lnTo>
                <a:lnTo>
                  <a:pt x="62550" y="43788"/>
                </a:lnTo>
                <a:lnTo>
                  <a:pt x="45173" y="72237"/>
                </a:lnTo>
                <a:close/>
              </a:path>
              <a:path w="876300" h="537845">
                <a:moveTo>
                  <a:pt x="62550" y="43788"/>
                </a:moveTo>
                <a:lnTo>
                  <a:pt x="46291" y="33858"/>
                </a:lnTo>
                <a:lnTo>
                  <a:pt x="51257" y="25730"/>
                </a:lnTo>
                <a:lnTo>
                  <a:pt x="67515" y="35660"/>
                </a:lnTo>
                <a:lnTo>
                  <a:pt x="62550" y="43788"/>
                </a:lnTo>
                <a:close/>
              </a:path>
              <a:path w="876300" h="537845">
                <a:moveTo>
                  <a:pt x="67515" y="35660"/>
                </a:moveTo>
                <a:lnTo>
                  <a:pt x="51257" y="25730"/>
                </a:lnTo>
                <a:lnTo>
                  <a:pt x="73581" y="25730"/>
                </a:lnTo>
                <a:lnTo>
                  <a:pt x="67515" y="35660"/>
                </a:lnTo>
                <a:close/>
              </a:path>
              <a:path w="876300" h="537845">
                <a:moveTo>
                  <a:pt x="870851" y="537463"/>
                </a:moveTo>
                <a:lnTo>
                  <a:pt x="62550" y="43788"/>
                </a:lnTo>
                <a:lnTo>
                  <a:pt x="67515" y="35660"/>
                </a:lnTo>
                <a:lnTo>
                  <a:pt x="875817" y="529336"/>
                </a:lnTo>
                <a:lnTo>
                  <a:pt x="870851" y="537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2025" y="829944"/>
            <a:ext cx="46799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Embedded</a:t>
            </a:r>
            <a:r>
              <a:rPr spc="-55" dirty="0"/>
              <a:t> </a:t>
            </a:r>
            <a:r>
              <a:rPr spc="-5" dirty="0"/>
              <a:t>Queries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23759" cy="32562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11454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Embedded SQL has the same  limitations as PSM </a:t>
            </a:r>
            <a:r>
              <a:rPr sz="3200" spc="-10" dirty="0">
                <a:latin typeface="Tahoma"/>
                <a:cs typeface="Tahoma"/>
              </a:rPr>
              <a:t>regarding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queries:</a:t>
            </a:r>
            <a:endParaRPr sz="3200">
              <a:latin typeface="Tahoma"/>
              <a:cs typeface="Tahoma"/>
            </a:endParaRPr>
          </a:p>
          <a:p>
            <a:pPr marL="755650" marR="19431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35" dirty="0">
                <a:latin typeface="Tahoma"/>
                <a:cs typeface="Tahoma"/>
              </a:rPr>
              <a:t>SELECT-INTO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a query </a:t>
            </a:r>
            <a:r>
              <a:rPr sz="2800" spc="-10" dirty="0">
                <a:latin typeface="Tahoma"/>
                <a:cs typeface="Tahoma"/>
              </a:rPr>
              <a:t>guaranteed </a:t>
            </a:r>
            <a:r>
              <a:rPr sz="2800" spc="-5" dirty="0">
                <a:latin typeface="Tahoma"/>
                <a:cs typeface="Tahoma"/>
              </a:rPr>
              <a:t>to  produce a single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tuple.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Otherwise, </a:t>
            </a:r>
            <a:r>
              <a:rPr sz="2800" spc="-15" dirty="0">
                <a:latin typeface="Tahoma"/>
                <a:cs typeface="Tahoma"/>
              </a:rPr>
              <a:t>you have </a:t>
            </a:r>
            <a:r>
              <a:rPr sz="2800" spc="-5" dirty="0">
                <a:latin typeface="Tahoma"/>
                <a:cs typeface="Tahoma"/>
              </a:rPr>
              <a:t>to use a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-60" dirty="0">
                <a:latin typeface="Tahoma"/>
                <a:cs typeface="Tahoma"/>
              </a:rPr>
              <a:t>cursor.</a:t>
            </a:r>
            <a:endParaRPr sz="2800">
              <a:latin typeface="Tahoma"/>
              <a:cs typeface="Tahoma"/>
            </a:endParaRPr>
          </a:p>
          <a:p>
            <a:pPr marL="1155065" marR="5080" lvl="2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5" dirty="0">
                <a:latin typeface="Tahoma"/>
                <a:cs typeface="Tahoma"/>
              </a:rPr>
              <a:t>Small syntactic </a:t>
            </a:r>
            <a:r>
              <a:rPr sz="2400" spc="-10" dirty="0">
                <a:latin typeface="Tahoma"/>
                <a:cs typeface="Tahoma"/>
              </a:rPr>
              <a:t>differences, </a:t>
            </a:r>
            <a:r>
              <a:rPr sz="2400" spc="-5" dirty="0">
                <a:latin typeface="Tahoma"/>
                <a:cs typeface="Tahoma"/>
              </a:rPr>
              <a:t>but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10" dirty="0">
                <a:latin typeface="Tahoma"/>
                <a:cs typeface="Tahoma"/>
              </a:rPr>
              <a:t>key </a:t>
            </a:r>
            <a:r>
              <a:rPr sz="2400" spc="-5" dirty="0">
                <a:latin typeface="Tahoma"/>
                <a:cs typeface="Tahoma"/>
              </a:rPr>
              <a:t>ideas  are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same.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8379" y="829944"/>
            <a:ext cx="4587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Cursor</a:t>
            </a:r>
            <a:r>
              <a:rPr spc="-55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931913"/>
            <a:ext cx="7566025" cy="44094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Declare a cursor</a:t>
            </a:r>
            <a:r>
              <a:rPr sz="2800" spc="-180" dirty="0">
                <a:latin typeface="Tahoma"/>
                <a:cs typeface="Tahoma"/>
              </a:rPr>
              <a:t> </a:t>
            </a:r>
            <a:r>
              <a:rPr sz="2900" i="1" spc="-15" dirty="0">
                <a:latin typeface="Tahoma"/>
                <a:cs typeface="Tahoma"/>
              </a:rPr>
              <a:t>c</a:t>
            </a:r>
            <a:r>
              <a:rPr sz="2800" spc="-15" dirty="0">
                <a:latin typeface="Tahoma"/>
                <a:cs typeface="Tahoma"/>
              </a:rPr>
              <a:t>with: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800" spc="-5" dirty="0">
                <a:latin typeface="Tahoma"/>
                <a:cs typeface="Tahoma"/>
              </a:rPr>
              <a:t>EXEC SQL </a:t>
            </a:r>
            <a:r>
              <a:rPr sz="2800" spc="-15" dirty="0">
                <a:latin typeface="Tahoma"/>
                <a:cs typeface="Tahoma"/>
              </a:rPr>
              <a:t>DECLARE </a:t>
            </a:r>
            <a:r>
              <a:rPr sz="2900" i="1" spc="-50" dirty="0">
                <a:latin typeface="Tahoma"/>
                <a:cs typeface="Tahoma"/>
              </a:rPr>
              <a:t>c </a:t>
            </a:r>
            <a:r>
              <a:rPr sz="2800" spc="-5" dirty="0">
                <a:latin typeface="Tahoma"/>
                <a:cs typeface="Tahoma"/>
              </a:rPr>
              <a:t>CURSOR FOR</a:t>
            </a:r>
            <a:r>
              <a:rPr sz="2800" spc="-1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&lt;query&gt;;</a:t>
            </a:r>
            <a:endParaRPr sz="2800">
              <a:latin typeface="Tahoma"/>
              <a:cs typeface="Tahoma"/>
            </a:endParaRPr>
          </a:p>
          <a:p>
            <a:pPr marL="363220" indent="-351155">
              <a:lnSpc>
                <a:spcPct val="100000"/>
              </a:lnSpc>
              <a:spcBef>
                <a:spcPts val="65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Open and close cursor c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with:</a:t>
            </a:r>
            <a:endParaRPr sz="2800">
              <a:latin typeface="Tahoma"/>
              <a:cs typeface="Tahoma"/>
            </a:endParaRPr>
          </a:p>
          <a:p>
            <a:pPr marL="12700" marR="2991485">
              <a:lnSpc>
                <a:spcPct val="119900"/>
              </a:lnSpc>
              <a:spcBef>
                <a:spcPts val="5"/>
              </a:spcBef>
            </a:pPr>
            <a:r>
              <a:rPr sz="2800" spc="-5" dirty="0">
                <a:latin typeface="Tahoma"/>
                <a:cs typeface="Tahoma"/>
              </a:rPr>
              <a:t>EXEC SQL OPEN CURSOR c;  EXEC SQL </a:t>
            </a:r>
            <a:r>
              <a:rPr sz="2800" spc="-10" dirty="0">
                <a:latin typeface="Tahoma"/>
                <a:cs typeface="Tahoma"/>
              </a:rPr>
              <a:t>CLOSE </a:t>
            </a:r>
            <a:r>
              <a:rPr sz="2800" spc="-5" dirty="0">
                <a:latin typeface="Tahoma"/>
                <a:cs typeface="Tahoma"/>
              </a:rPr>
              <a:t>CURSOR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c;</a:t>
            </a:r>
            <a:endParaRPr sz="2800">
              <a:latin typeface="Tahoma"/>
              <a:cs typeface="Tahoma"/>
            </a:endParaRPr>
          </a:p>
          <a:p>
            <a:pPr marL="363220" indent="-351155">
              <a:lnSpc>
                <a:spcPct val="100000"/>
              </a:lnSpc>
              <a:spcBef>
                <a:spcPts val="57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20" dirty="0">
                <a:latin typeface="Tahoma"/>
                <a:cs typeface="Tahoma"/>
              </a:rPr>
              <a:t>Fetch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900" i="1" spc="-50" dirty="0">
                <a:latin typeface="Tahoma"/>
                <a:cs typeface="Tahoma"/>
              </a:rPr>
              <a:t>c</a:t>
            </a:r>
            <a:r>
              <a:rPr sz="2900" i="1" spc="-2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by: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800" spc="-5" dirty="0">
                <a:latin typeface="Tahoma"/>
                <a:cs typeface="Tahoma"/>
              </a:rPr>
              <a:t>EXEC SQL </a:t>
            </a:r>
            <a:r>
              <a:rPr sz="2800" spc="-15" dirty="0">
                <a:latin typeface="Tahoma"/>
                <a:cs typeface="Tahoma"/>
              </a:rPr>
              <a:t>FETCH </a:t>
            </a:r>
            <a:r>
              <a:rPr sz="2800" spc="-5" dirty="0">
                <a:latin typeface="Tahoma"/>
                <a:cs typeface="Tahoma"/>
              </a:rPr>
              <a:t>c </a:t>
            </a:r>
            <a:r>
              <a:rPr sz="2800" spc="-20" dirty="0">
                <a:latin typeface="Tahoma"/>
                <a:cs typeface="Tahoma"/>
              </a:rPr>
              <a:t>INTO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&lt;variable(s)&gt;;</a:t>
            </a:r>
            <a:endParaRPr sz="280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400" spc="-5" dirty="0">
                <a:latin typeface="Tahoma"/>
                <a:cs typeface="Tahoma"/>
              </a:rPr>
              <a:t>Macro </a:t>
            </a:r>
            <a:r>
              <a:rPr sz="2400" spc="-25" dirty="0">
                <a:latin typeface="Tahoma"/>
                <a:cs typeface="Tahoma"/>
              </a:rPr>
              <a:t>NOT </a:t>
            </a:r>
            <a:r>
              <a:rPr sz="2400" spc="-5" dirty="0">
                <a:latin typeface="Tahoma"/>
                <a:cs typeface="Tahoma"/>
              </a:rPr>
              <a:t>FOUND </a:t>
            </a:r>
            <a:r>
              <a:rPr sz="2400" dirty="0">
                <a:latin typeface="Tahoma"/>
                <a:cs typeface="Tahoma"/>
              </a:rPr>
              <a:t>is true if and only if the </a:t>
            </a:r>
            <a:r>
              <a:rPr sz="2400" spc="-15" dirty="0">
                <a:latin typeface="Tahoma"/>
                <a:cs typeface="Tahoma"/>
              </a:rPr>
              <a:t>FETCH  </a:t>
            </a:r>
            <a:r>
              <a:rPr sz="2400" spc="-10" dirty="0">
                <a:latin typeface="Tahoma"/>
                <a:cs typeface="Tahoma"/>
              </a:rPr>
              <a:t>fails </a:t>
            </a:r>
            <a:r>
              <a:rPr sz="2400" dirty="0">
                <a:latin typeface="Tahoma"/>
                <a:cs typeface="Tahoma"/>
              </a:rPr>
              <a:t>to find a</a:t>
            </a:r>
            <a:r>
              <a:rPr sz="2400" spc="-5" dirty="0">
                <a:latin typeface="Tahoma"/>
                <a:cs typeface="Tahoma"/>
              </a:rPr>
              <a:t> tuple.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5244" y="829944"/>
            <a:ext cx="64935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Print </a:t>
            </a:r>
            <a:r>
              <a:rPr spc="-30" dirty="0"/>
              <a:t>Joe’s</a:t>
            </a:r>
            <a:r>
              <a:rPr spc="-45" dirty="0"/>
              <a:t> </a:t>
            </a:r>
            <a:r>
              <a:rPr spc="-5" dirty="0"/>
              <a:t>Menu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604759" cy="304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Let’s </a:t>
            </a:r>
            <a:r>
              <a:rPr sz="3200" dirty="0">
                <a:latin typeface="Tahoma"/>
                <a:cs typeface="Tahoma"/>
              </a:rPr>
              <a:t>write C + </a:t>
            </a:r>
            <a:r>
              <a:rPr sz="3200" spc="-5" dirty="0">
                <a:latin typeface="Tahoma"/>
                <a:cs typeface="Tahoma"/>
              </a:rPr>
              <a:t>SQL to print </a:t>
            </a:r>
            <a:r>
              <a:rPr sz="3200" spc="-25" dirty="0">
                <a:latin typeface="Tahoma"/>
                <a:cs typeface="Tahoma"/>
              </a:rPr>
              <a:t>Joe’s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menu</a:t>
            </a:r>
            <a:endParaRPr sz="3200">
              <a:latin typeface="Tahoma"/>
              <a:cs typeface="Tahoma"/>
            </a:endParaRPr>
          </a:p>
          <a:p>
            <a:pPr marL="355600" marR="5080" algn="just">
              <a:lnSpc>
                <a:spcPct val="100000"/>
              </a:lnSpc>
            </a:pPr>
            <a:r>
              <a:rPr sz="3200" dirty="0">
                <a:latin typeface="Tahoma"/>
                <a:cs typeface="Tahoma"/>
              </a:rPr>
              <a:t>– </a:t>
            </a:r>
            <a:r>
              <a:rPr sz="3200" spc="-5" dirty="0">
                <a:latin typeface="Tahoma"/>
                <a:cs typeface="Tahoma"/>
              </a:rPr>
              <a:t>the list of beer-price pairs that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find  in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 </a:t>
            </a:r>
            <a:r>
              <a:rPr sz="3200" spc="-5" dirty="0">
                <a:latin typeface="Tahoma"/>
                <a:cs typeface="Tahoma"/>
              </a:rPr>
              <a:t>with bar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25" dirty="0">
                <a:latin typeface="Tahoma"/>
                <a:cs typeface="Tahoma"/>
              </a:rPr>
              <a:t>Joe’s  </a:t>
            </a:r>
            <a:r>
              <a:rPr sz="3200" spc="-110" dirty="0">
                <a:latin typeface="Tahoma"/>
                <a:cs typeface="Tahoma"/>
              </a:rPr>
              <a:t>Bar.</a:t>
            </a:r>
            <a:endParaRPr sz="3200">
              <a:latin typeface="Tahoma"/>
              <a:cs typeface="Tahoma"/>
            </a:endParaRPr>
          </a:p>
          <a:p>
            <a:pPr marL="355600" marR="396875" indent="-342900" algn="just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cursor will visit each </a:t>
            </a:r>
            <a:r>
              <a:rPr sz="3200" dirty="0">
                <a:latin typeface="Tahoma"/>
                <a:cs typeface="Tahoma"/>
              </a:rPr>
              <a:t>Sells </a:t>
            </a:r>
            <a:r>
              <a:rPr sz="3200" spc="-5" dirty="0">
                <a:latin typeface="Tahoma"/>
                <a:cs typeface="Tahoma"/>
              </a:rPr>
              <a:t>tuple that  has bar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25" dirty="0">
                <a:latin typeface="Tahoma"/>
                <a:cs typeface="Tahoma"/>
              </a:rPr>
              <a:t>Joe’s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Bar.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3720" y="829944"/>
            <a:ext cx="54971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5" dirty="0"/>
              <a:t> </a:t>
            </a:r>
            <a:r>
              <a:rPr spc="-10" dirty="0"/>
              <a:t>Declarations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7826"/>
            <a:ext cx="6802755" cy="17786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3200" spc="-5" dirty="0">
                <a:latin typeface="Tahoma"/>
                <a:cs typeface="Tahoma"/>
              </a:rPr>
              <a:t>EXEC SQL BEGIN </a:t>
            </a:r>
            <a:r>
              <a:rPr sz="3200" spc="-15" dirty="0">
                <a:latin typeface="Tahoma"/>
                <a:cs typeface="Tahoma"/>
              </a:rPr>
              <a:t>DECLARE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SECTION;</a:t>
            </a:r>
            <a:endParaRPr sz="3200">
              <a:latin typeface="Tahoma"/>
              <a:cs typeface="Tahoma"/>
            </a:endParaRPr>
          </a:p>
          <a:p>
            <a:pPr marL="12700" marR="391795" indent="342900">
              <a:lnSpc>
                <a:spcPts val="4610"/>
              </a:lnSpc>
              <a:spcBef>
                <a:spcPts val="265"/>
              </a:spcBef>
            </a:pPr>
            <a:r>
              <a:rPr sz="3200" spc="-5" dirty="0">
                <a:latin typeface="Tahoma"/>
                <a:cs typeface="Tahoma"/>
              </a:rPr>
              <a:t>char theBeer[21]; float thePrice;  EXEC SQL END </a:t>
            </a:r>
            <a:r>
              <a:rPr sz="3200" spc="-15" dirty="0">
                <a:latin typeface="Tahoma"/>
                <a:cs typeface="Tahoma"/>
              </a:rPr>
              <a:t>DECLARE</a:t>
            </a:r>
            <a:r>
              <a:rPr sz="3200" spc="-5" dirty="0">
                <a:latin typeface="Tahoma"/>
                <a:cs typeface="Tahoma"/>
              </a:rPr>
              <a:t> SECTION;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240" y="3779956"/>
            <a:ext cx="6421120" cy="165988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EXEC SQL </a:t>
            </a:r>
            <a:r>
              <a:rPr sz="3200" spc="-15" dirty="0">
                <a:latin typeface="Tahoma"/>
                <a:cs typeface="Tahoma"/>
              </a:rPr>
              <a:t>DECLARE </a:t>
            </a:r>
            <a:r>
              <a:rPr sz="3200" dirty="0">
                <a:latin typeface="Tahoma"/>
                <a:cs typeface="Tahoma"/>
              </a:rPr>
              <a:t>c </a:t>
            </a:r>
            <a:r>
              <a:rPr sz="3200" spc="-5" dirty="0">
                <a:latin typeface="Tahoma"/>
                <a:cs typeface="Tahoma"/>
              </a:rPr>
              <a:t>CURSOR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FOR</a:t>
            </a:r>
            <a:endParaRPr sz="3200">
              <a:latin typeface="Tahoma"/>
              <a:cs typeface="Tahoma"/>
            </a:endParaRPr>
          </a:p>
          <a:p>
            <a:pPr marL="342900" marR="589280">
              <a:lnSpc>
                <a:spcPts val="4610"/>
              </a:lnSpc>
              <a:spcBef>
                <a:spcPts val="265"/>
              </a:spcBef>
            </a:pPr>
            <a:r>
              <a:rPr sz="3200" spc="-5" dirty="0">
                <a:latin typeface="Tahoma"/>
                <a:cs typeface="Tahoma"/>
              </a:rPr>
              <a:t>SELECT </a:t>
            </a:r>
            <a:r>
              <a:rPr sz="3200" spc="-90" dirty="0">
                <a:latin typeface="Tahoma"/>
                <a:cs typeface="Tahoma"/>
              </a:rPr>
              <a:t>beer, </a:t>
            </a:r>
            <a:r>
              <a:rPr sz="3200" spc="-5" dirty="0">
                <a:latin typeface="Tahoma"/>
                <a:cs typeface="Tahoma"/>
              </a:rPr>
              <a:t>price FROM </a:t>
            </a:r>
            <a:r>
              <a:rPr sz="3200" dirty="0">
                <a:latin typeface="Tahoma"/>
                <a:cs typeface="Tahoma"/>
              </a:rPr>
              <a:t>Sells  </a:t>
            </a:r>
            <a:r>
              <a:rPr sz="3200" spc="-5" dirty="0">
                <a:latin typeface="Tahoma"/>
                <a:cs typeface="Tahoma"/>
              </a:rPr>
              <a:t>WHERE bar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20" dirty="0">
                <a:latin typeface="Tahoma"/>
                <a:cs typeface="Tahoma"/>
              </a:rPr>
              <a:t>’Joe’’s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10" dirty="0">
                <a:latin typeface="Tahoma"/>
                <a:cs typeface="Tahoma"/>
              </a:rPr>
              <a:t>Bar’;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3810000"/>
            <a:ext cx="6553200" cy="1676400"/>
          </a:xfrm>
          <a:custGeom>
            <a:avLst/>
            <a:gdLst/>
            <a:ahLst/>
            <a:cxnLst/>
            <a:rect l="l" t="t" r="r" b="b"/>
            <a:pathLst>
              <a:path w="6553200" h="1676400">
                <a:moveTo>
                  <a:pt x="0" y="0"/>
                </a:moveTo>
                <a:lnTo>
                  <a:pt x="6553200" y="0"/>
                </a:lnTo>
                <a:lnTo>
                  <a:pt x="65532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1037" y="3805237"/>
            <a:ext cx="6562725" cy="1685925"/>
          </a:xfrm>
          <a:custGeom>
            <a:avLst/>
            <a:gdLst/>
            <a:ahLst/>
            <a:cxnLst/>
            <a:rect l="l" t="t" r="r" b="b"/>
            <a:pathLst>
              <a:path w="6562725" h="1685925">
                <a:moveTo>
                  <a:pt x="6562725" y="1685925"/>
                </a:moveTo>
                <a:lnTo>
                  <a:pt x="0" y="1685925"/>
                </a:lnTo>
                <a:lnTo>
                  <a:pt x="0" y="0"/>
                </a:lnTo>
                <a:lnTo>
                  <a:pt x="6562725" y="0"/>
                </a:lnTo>
                <a:lnTo>
                  <a:pt x="6562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76400"/>
                </a:lnTo>
                <a:lnTo>
                  <a:pt x="4762" y="1676400"/>
                </a:lnTo>
                <a:lnTo>
                  <a:pt x="9525" y="1681162"/>
                </a:lnTo>
                <a:lnTo>
                  <a:pt x="6562725" y="1681162"/>
                </a:lnTo>
                <a:lnTo>
                  <a:pt x="6562725" y="1685925"/>
                </a:lnTo>
                <a:close/>
              </a:path>
              <a:path w="6562725" h="1685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562725" h="1685925">
                <a:moveTo>
                  <a:pt x="6553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553200" y="4762"/>
                </a:lnTo>
                <a:lnTo>
                  <a:pt x="6553200" y="9525"/>
                </a:lnTo>
                <a:close/>
              </a:path>
              <a:path w="6562725" h="1685925">
                <a:moveTo>
                  <a:pt x="6553200" y="1681162"/>
                </a:moveTo>
                <a:lnTo>
                  <a:pt x="6553200" y="4762"/>
                </a:lnTo>
                <a:lnTo>
                  <a:pt x="6557962" y="9525"/>
                </a:lnTo>
                <a:lnTo>
                  <a:pt x="6562725" y="9525"/>
                </a:lnTo>
                <a:lnTo>
                  <a:pt x="6562725" y="1676400"/>
                </a:lnTo>
                <a:lnTo>
                  <a:pt x="6557962" y="1676400"/>
                </a:lnTo>
                <a:lnTo>
                  <a:pt x="6553200" y="1681162"/>
                </a:lnTo>
                <a:close/>
              </a:path>
              <a:path w="6562725" h="1685925">
                <a:moveTo>
                  <a:pt x="6562725" y="9525"/>
                </a:moveTo>
                <a:lnTo>
                  <a:pt x="6557962" y="9525"/>
                </a:lnTo>
                <a:lnTo>
                  <a:pt x="6553200" y="4762"/>
                </a:lnTo>
                <a:lnTo>
                  <a:pt x="6562725" y="4762"/>
                </a:lnTo>
                <a:lnTo>
                  <a:pt x="6562725" y="9525"/>
                </a:lnTo>
                <a:close/>
              </a:path>
              <a:path w="6562725" h="1685925">
                <a:moveTo>
                  <a:pt x="9525" y="1681162"/>
                </a:moveTo>
                <a:lnTo>
                  <a:pt x="4762" y="1676400"/>
                </a:lnTo>
                <a:lnTo>
                  <a:pt x="9525" y="1676400"/>
                </a:lnTo>
                <a:lnTo>
                  <a:pt x="9525" y="1681162"/>
                </a:lnTo>
                <a:close/>
              </a:path>
              <a:path w="6562725" h="1685925">
                <a:moveTo>
                  <a:pt x="6553200" y="1681162"/>
                </a:moveTo>
                <a:lnTo>
                  <a:pt x="9525" y="1681162"/>
                </a:lnTo>
                <a:lnTo>
                  <a:pt x="9525" y="1676400"/>
                </a:lnTo>
                <a:lnTo>
                  <a:pt x="6553200" y="1676400"/>
                </a:lnTo>
                <a:lnTo>
                  <a:pt x="6553200" y="1681162"/>
                </a:lnTo>
                <a:close/>
              </a:path>
              <a:path w="6562725" h="1685925">
                <a:moveTo>
                  <a:pt x="6562725" y="1681162"/>
                </a:moveTo>
                <a:lnTo>
                  <a:pt x="6553200" y="1681162"/>
                </a:lnTo>
                <a:lnTo>
                  <a:pt x="6557962" y="1676400"/>
                </a:lnTo>
                <a:lnTo>
                  <a:pt x="6562725" y="1676400"/>
                </a:lnTo>
                <a:lnTo>
                  <a:pt x="6562725" y="1681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01465" y="5753100"/>
            <a:ext cx="313245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 cursor </a:t>
            </a:r>
            <a:r>
              <a:rPr sz="2000" spc="-10" dirty="0">
                <a:latin typeface="Tahoma"/>
                <a:cs typeface="Tahoma"/>
              </a:rPr>
              <a:t>declaration </a:t>
            </a:r>
            <a:r>
              <a:rPr sz="2000" spc="-5" dirty="0">
                <a:latin typeface="Tahoma"/>
                <a:cs typeface="Tahoma"/>
              </a:rPr>
              <a:t>goes  outside the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declare-section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05200" y="5486400"/>
            <a:ext cx="461009" cy="612775"/>
          </a:xfrm>
          <a:custGeom>
            <a:avLst/>
            <a:gdLst/>
            <a:ahLst/>
            <a:cxnLst/>
            <a:rect l="l" t="t" r="r" b="b"/>
            <a:pathLst>
              <a:path w="461010" h="612775">
                <a:moveTo>
                  <a:pt x="15239" y="83820"/>
                </a:moveTo>
                <a:lnTo>
                  <a:pt x="0" y="0"/>
                </a:lnTo>
                <a:lnTo>
                  <a:pt x="76200" y="38100"/>
                </a:lnTo>
                <a:lnTo>
                  <a:pt x="69850" y="42862"/>
                </a:lnTo>
                <a:lnTo>
                  <a:pt x="38100" y="42862"/>
                </a:lnTo>
                <a:lnTo>
                  <a:pt x="30479" y="48577"/>
                </a:lnTo>
                <a:lnTo>
                  <a:pt x="41910" y="63817"/>
                </a:lnTo>
                <a:lnTo>
                  <a:pt x="15239" y="83820"/>
                </a:lnTo>
                <a:close/>
              </a:path>
              <a:path w="461010" h="612775">
                <a:moveTo>
                  <a:pt x="41910" y="63817"/>
                </a:moveTo>
                <a:lnTo>
                  <a:pt x="30479" y="48577"/>
                </a:lnTo>
                <a:lnTo>
                  <a:pt x="38100" y="42862"/>
                </a:lnTo>
                <a:lnTo>
                  <a:pt x="49529" y="58102"/>
                </a:lnTo>
                <a:lnTo>
                  <a:pt x="41910" y="63817"/>
                </a:lnTo>
                <a:close/>
              </a:path>
              <a:path w="461010" h="612775">
                <a:moveTo>
                  <a:pt x="49529" y="58102"/>
                </a:moveTo>
                <a:lnTo>
                  <a:pt x="38100" y="42862"/>
                </a:lnTo>
                <a:lnTo>
                  <a:pt x="69850" y="42862"/>
                </a:lnTo>
                <a:lnTo>
                  <a:pt x="49529" y="58102"/>
                </a:lnTo>
                <a:close/>
              </a:path>
              <a:path w="461010" h="612775">
                <a:moveTo>
                  <a:pt x="453389" y="612457"/>
                </a:moveTo>
                <a:lnTo>
                  <a:pt x="41910" y="63817"/>
                </a:lnTo>
                <a:lnTo>
                  <a:pt x="49529" y="58102"/>
                </a:lnTo>
                <a:lnTo>
                  <a:pt x="461010" y="606742"/>
                </a:lnTo>
                <a:lnTo>
                  <a:pt x="453389" y="6124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79</a:t>
            </a:fld>
            <a:endParaRPr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7480" y="829944"/>
            <a:ext cx="62896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Executable</a:t>
            </a:r>
            <a:r>
              <a:rPr spc="-45" dirty="0"/>
              <a:t> </a:t>
            </a:r>
            <a:r>
              <a:rPr spc="-30" dirty="0"/>
              <a:t>Part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72310"/>
            <a:ext cx="50571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EXEC SQL OPEN CURSOR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240" y="2520751"/>
            <a:ext cx="1461135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while(1</a:t>
            </a:r>
            <a:r>
              <a:rPr sz="3200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2039" y="2508249"/>
            <a:ext cx="22097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{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439" y="3042919"/>
            <a:ext cx="343407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EXEC SQL </a:t>
            </a:r>
            <a:r>
              <a:rPr sz="3200" spc="-15" dirty="0">
                <a:latin typeface="Tahoma"/>
                <a:cs typeface="Tahoma"/>
              </a:rPr>
              <a:t>FETCH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0139" y="4127301"/>
            <a:ext cx="4157979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Tahoma"/>
                <a:cs typeface="Tahoma"/>
              </a:rPr>
              <a:t>if </a:t>
            </a:r>
            <a:r>
              <a:rPr sz="3200" spc="-20" dirty="0">
                <a:latin typeface="Tahoma"/>
                <a:cs typeface="Tahoma"/>
              </a:rPr>
              <a:t>(NOT </a:t>
            </a:r>
            <a:r>
              <a:rPr sz="3200" spc="-5" dirty="0">
                <a:latin typeface="Tahoma"/>
                <a:cs typeface="Tahoma"/>
              </a:rPr>
              <a:t>FOUND)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break;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3578860"/>
            <a:ext cx="8186420" cy="2659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225" algn="ctr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latin typeface="Tahoma"/>
                <a:cs typeface="Tahoma"/>
              </a:rPr>
              <a:t>INTO </a:t>
            </a:r>
            <a:r>
              <a:rPr sz="3200" spc="-50" dirty="0">
                <a:latin typeface="Tahoma"/>
                <a:cs typeface="Tahoma"/>
              </a:rPr>
              <a:t>:theBeer,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:thePrice;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/* </a:t>
            </a:r>
            <a:r>
              <a:rPr sz="3200" spc="-10" dirty="0">
                <a:latin typeface="Tahoma"/>
                <a:cs typeface="Tahoma"/>
              </a:rPr>
              <a:t>format </a:t>
            </a:r>
            <a:r>
              <a:rPr sz="3200" spc="-5" dirty="0">
                <a:latin typeface="Tahoma"/>
                <a:cs typeface="Tahoma"/>
              </a:rPr>
              <a:t>and print </a:t>
            </a:r>
            <a:r>
              <a:rPr sz="3200" dirty="0">
                <a:latin typeface="Tahoma"/>
                <a:cs typeface="Tahoma"/>
              </a:rPr>
              <a:t>theBeer </a:t>
            </a:r>
            <a:r>
              <a:rPr sz="3200" spc="-5" dirty="0">
                <a:latin typeface="Tahoma"/>
                <a:cs typeface="Tahoma"/>
              </a:rPr>
              <a:t>and thePrice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*/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3200" dirty="0">
                <a:latin typeface="Tahoma"/>
                <a:cs typeface="Tahoma"/>
              </a:rPr>
              <a:t>}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3200" spc="-5" dirty="0">
                <a:latin typeface="Tahoma"/>
                <a:cs typeface="Tahoma"/>
              </a:rPr>
              <a:t>EXEC SQL </a:t>
            </a:r>
            <a:r>
              <a:rPr sz="3200" spc="-10" dirty="0">
                <a:latin typeface="Tahoma"/>
                <a:cs typeface="Tahoma"/>
              </a:rPr>
              <a:t>CLOSE </a:t>
            </a:r>
            <a:r>
              <a:rPr sz="3200" spc="-5" dirty="0">
                <a:latin typeface="Tahoma"/>
                <a:cs typeface="Tahoma"/>
              </a:rPr>
              <a:t>CURSOR c;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90600" y="4114800"/>
            <a:ext cx="4343400" cy="533400"/>
          </a:xfrm>
          <a:custGeom>
            <a:avLst/>
            <a:gdLst/>
            <a:ahLst/>
            <a:cxnLst/>
            <a:rect l="l" t="t" r="r" b="b"/>
            <a:pathLst>
              <a:path w="4343400" h="533400">
                <a:moveTo>
                  <a:pt x="0" y="0"/>
                </a:moveTo>
                <a:lnTo>
                  <a:pt x="4343400" y="0"/>
                </a:lnTo>
                <a:lnTo>
                  <a:pt x="434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85837" y="4110037"/>
            <a:ext cx="4352925" cy="542925"/>
          </a:xfrm>
          <a:custGeom>
            <a:avLst/>
            <a:gdLst/>
            <a:ahLst/>
            <a:cxnLst/>
            <a:rect l="l" t="t" r="r" b="b"/>
            <a:pathLst>
              <a:path w="4352925" h="542925">
                <a:moveTo>
                  <a:pt x="43529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4352925" y="0"/>
                </a:lnTo>
                <a:lnTo>
                  <a:pt x="435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4352925" y="538162"/>
                </a:lnTo>
                <a:lnTo>
                  <a:pt x="4352925" y="542925"/>
                </a:lnTo>
                <a:close/>
              </a:path>
              <a:path w="43529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352925" h="542925">
                <a:moveTo>
                  <a:pt x="434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343400" y="4762"/>
                </a:lnTo>
                <a:lnTo>
                  <a:pt x="4343400" y="9525"/>
                </a:lnTo>
                <a:close/>
              </a:path>
              <a:path w="4352925" h="542925">
                <a:moveTo>
                  <a:pt x="4343400" y="538162"/>
                </a:moveTo>
                <a:lnTo>
                  <a:pt x="4343400" y="4762"/>
                </a:lnTo>
                <a:lnTo>
                  <a:pt x="4348162" y="9525"/>
                </a:lnTo>
                <a:lnTo>
                  <a:pt x="4352925" y="9525"/>
                </a:lnTo>
                <a:lnTo>
                  <a:pt x="4352925" y="533400"/>
                </a:lnTo>
                <a:lnTo>
                  <a:pt x="4348162" y="533400"/>
                </a:lnTo>
                <a:lnTo>
                  <a:pt x="4343400" y="538162"/>
                </a:lnTo>
                <a:close/>
              </a:path>
              <a:path w="4352925" h="542925">
                <a:moveTo>
                  <a:pt x="4352925" y="9525"/>
                </a:moveTo>
                <a:lnTo>
                  <a:pt x="4348162" y="9525"/>
                </a:lnTo>
                <a:lnTo>
                  <a:pt x="4343400" y="4762"/>
                </a:lnTo>
                <a:lnTo>
                  <a:pt x="4352925" y="4762"/>
                </a:lnTo>
                <a:lnTo>
                  <a:pt x="4352925" y="9525"/>
                </a:lnTo>
                <a:close/>
              </a:path>
              <a:path w="43529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4352925" h="542925">
                <a:moveTo>
                  <a:pt x="43434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4343400" y="533400"/>
                </a:lnTo>
                <a:lnTo>
                  <a:pt x="4343400" y="538162"/>
                </a:lnTo>
                <a:close/>
              </a:path>
              <a:path w="4352925" h="542925">
                <a:moveTo>
                  <a:pt x="4352925" y="538162"/>
                </a:moveTo>
                <a:lnTo>
                  <a:pt x="4343400" y="538162"/>
                </a:lnTo>
                <a:lnTo>
                  <a:pt x="4348162" y="533400"/>
                </a:lnTo>
                <a:lnTo>
                  <a:pt x="4352925" y="533400"/>
                </a:lnTo>
                <a:lnTo>
                  <a:pt x="43529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08140" y="2317749"/>
            <a:ext cx="128778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 </a:t>
            </a:r>
            <a:r>
              <a:rPr sz="2000" dirty="0">
                <a:latin typeface="Tahoma"/>
                <a:cs typeface="Tahoma"/>
              </a:rPr>
              <a:t>C </a:t>
            </a:r>
            <a:r>
              <a:rPr sz="2000" spc="-5" dirty="0">
                <a:latin typeface="Tahoma"/>
                <a:cs typeface="Tahoma"/>
              </a:rPr>
              <a:t>style  of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breaking  loops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5800" y="2514600"/>
            <a:ext cx="1600200" cy="533400"/>
          </a:xfrm>
          <a:custGeom>
            <a:avLst/>
            <a:gdLst/>
            <a:ahLst/>
            <a:cxnLst/>
            <a:rect l="l" t="t" r="r" b="b"/>
            <a:pathLst>
              <a:path w="1600200" h="533400">
                <a:moveTo>
                  <a:pt x="0" y="0"/>
                </a:moveTo>
                <a:lnTo>
                  <a:pt x="1600200" y="0"/>
                </a:lnTo>
                <a:lnTo>
                  <a:pt x="16002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1037" y="2509837"/>
            <a:ext cx="1609725" cy="542925"/>
          </a:xfrm>
          <a:custGeom>
            <a:avLst/>
            <a:gdLst/>
            <a:ahLst/>
            <a:cxnLst/>
            <a:rect l="l" t="t" r="r" b="b"/>
            <a:pathLst>
              <a:path w="1609725" h="542925">
                <a:moveTo>
                  <a:pt x="16097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1609725" y="538162"/>
                </a:lnTo>
                <a:lnTo>
                  <a:pt x="1609725" y="542925"/>
                </a:lnTo>
                <a:close/>
              </a:path>
              <a:path w="16097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5429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542925">
                <a:moveTo>
                  <a:pt x="1600200" y="5381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533400"/>
                </a:lnTo>
                <a:lnTo>
                  <a:pt x="1604962" y="533400"/>
                </a:lnTo>
                <a:lnTo>
                  <a:pt x="1600200" y="538162"/>
                </a:lnTo>
                <a:close/>
              </a:path>
              <a:path w="1609725" h="5429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1609725" h="542925">
                <a:moveTo>
                  <a:pt x="16002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1600200" y="533400"/>
                </a:lnTo>
                <a:lnTo>
                  <a:pt x="1600200" y="538162"/>
                </a:lnTo>
                <a:close/>
              </a:path>
              <a:path w="1609725" h="542925">
                <a:moveTo>
                  <a:pt x="1609725" y="538162"/>
                </a:moveTo>
                <a:lnTo>
                  <a:pt x="1600200" y="538162"/>
                </a:lnTo>
                <a:lnTo>
                  <a:pt x="1604962" y="533400"/>
                </a:lnTo>
                <a:lnTo>
                  <a:pt x="1609725" y="533400"/>
                </a:lnTo>
                <a:lnTo>
                  <a:pt x="16097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86000" y="2662237"/>
            <a:ext cx="4191635" cy="193040"/>
          </a:xfrm>
          <a:custGeom>
            <a:avLst/>
            <a:gdLst/>
            <a:ahLst/>
            <a:cxnLst/>
            <a:rect l="l" t="t" r="r" b="b"/>
            <a:pathLst>
              <a:path w="4191635" h="193039">
                <a:moveTo>
                  <a:pt x="76322" y="159150"/>
                </a:moveTo>
                <a:lnTo>
                  <a:pt x="75976" y="149637"/>
                </a:lnTo>
                <a:lnTo>
                  <a:pt x="4190822" y="0"/>
                </a:lnTo>
                <a:lnTo>
                  <a:pt x="4191177" y="9525"/>
                </a:lnTo>
                <a:lnTo>
                  <a:pt x="76322" y="159150"/>
                </a:lnTo>
                <a:close/>
              </a:path>
              <a:path w="4191635" h="193039">
                <a:moveTo>
                  <a:pt x="77533" y="192468"/>
                </a:moveTo>
                <a:lnTo>
                  <a:pt x="0" y="157162"/>
                </a:lnTo>
                <a:lnTo>
                  <a:pt x="74764" y="116319"/>
                </a:lnTo>
                <a:lnTo>
                  <a:pt x="75976" y="149637"/>
                </a:lnTo>
                <a:lnTo>
                  <a:pt x="56934" y="150329"/>
                </a:lnTo>
                <a:lnTo>
                  <a:pt x="57289" y="159842"/>
                </a:lnTo>
                <a:lnTo>
                  <a:pt x="76347" y="159842"/>
                </a:lnTo>
                <a:lnTo>
                  <a:pt x="77533" y="192468"/>
                </a:lnTo>
                <a:close/>
              </a:path>
              <a:path w="4191635" h="193039">
                <a:moveTo>
                  <a:pt x="57289" y="159842"/>
                </a:moveTo>
                <a:lnTo>
                  <a:pt x="56934" y="150329"/>
                </a:lnTo>
                <a:lnTo>
                  <a:pt x="75976" y="149637"/>
                </a:lnTo>
                <a:lnTo>
                  <a:pt x="76322" y="159150"/>
                </a:lnTo>
                <a:lnTo>
                  <a:pt x="57289" y="159842"/>
                </a:lnTo>
                <a:close/>
              </a:path>
              <a:path w="4191635" h="193039">
                <a:moveTo>
                  <a:pt x="76347" y="159842"/>
                </a:moveTo>
                <a:lnTo>
                  <a:pt x="57289" y="159842"/>
                </a:lnTo>
                <a:lnTo>
                  <a:pt x="76322" y="159150"/>
                </a:lnTo>
                <a:lnTo>
                  <a:pt x="76347" y="1598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34000" y="2892742"/>
            <a:ext cx="1146810" cy="1527175"/>
          </a:xfrm>
          <a:custGeom>
            <a:avLst/>
            <a:gdLst/>
            <a:ahLst/>
            <a:cxnLst/>
            <a:rect l="l" t="t" r="r" b="b"/>
            <a:pathLst>
              <a:path w="1146810" h="1527175">
                <a:moveTo>
                  <a:pt x="49529" y="1468755"/>
                </a:moveTo>
                <a:lnTo>
                  <a:pt x="41910" y="1463039"/>
                </a:lnTo>
                <a:lnTo>
                  <a:pt x="1139189" y="0"/>
                </a:lnTo>
                <a:lnTo>
                  <a:pt x="1146810" y="5715"/>
                </a:lnTo>
                <a:lnTo>
                  <a:pt x="49529" y="1468755"/>
                </a:lnTo>
                <a:close/>
              </a:path>
              <a:path w="1146810" h="1527175">
                <a:moveTo>
                  <a:pt x="0" y="1526857"/>
                </a:moveTo>
                <a:lnTo>
                  <a:pt x="15239" y="1443037"/>
                </a:lnTo>
                <a:lnTo>
                  <a:pt x="41910" y="1463039"/>
                </a:lnTo>
                <a:lnTo>
                  <a:pt x="30479" y="1478280"/>
                </a:lnTo>
                <a:lnTo>
                  <a:pt x="38100" y="1483995"/>
                </a:lnTo>
                <a:lnTo>
                  <a:pt x="69850" y="1483995"/>
                </a:lnTo>
                <a:lnTo>
                  <a:pt x="76200" y="1488757"/>
                </a:lnTo>
                <a:lnTo>
                  <a:pt x="0" y="1526857"/>
                </a:lnTo>
                <a:close/>
              </a:path>
              <a:path w="1146810" h="1527175">
                <a:moveTo>
                  <a:pt x="38100" y="1483995"/>
                </a:moveTo>
                <a:lnTo>
                  <a:pt x="30479" y="1478280"/>
                </a:lnTo>
                <a:lnTo>
                  <a:pt x="41910" y="1463039"/>
                </a:lnTo>
                <a:lnTo>
                  <a:pt x="49529" y="1468755"/>
                </a:lnTo>
                <a:lnTo>
                  <a:pt x="38100" y="1483995"/>
                </a:lnTo>
                <a:close/>
              </a:path>
              <a:path w="1146810" h="1527175">
                <a:moveTo>
                  <a:pt x="69850" y="1483995"/>
                </a:moveTo>
                <a:lnTo>
                  <a:pt x="38100" y="1483995"/>
                </a:lnTo>
                <a:lnTo>
                  <a:pt x="49529" y="1468755"/>
                </a:lnTo>
                <a:lnTo>
                  <a:pt x="69850" y="1483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80</a:t>
            </a:fld>
            <a:endParaRPr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2920" y="525144"/>
            <a:ext cx="55981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Need </a:t>
            </a:r>
            <a:r>
              <a:rPr spc="-20" dirty="0"/>
              <a:t>for </a:t>
            </a:r>
            <a:r>
              <a:rPr spc="-5" dirty="0"/>
              <a:t>Dynamic</a:t>
            </a:r>
            <a:r>
              <a:rPr spc="-30" dirty="0"/>
              <a:t> </a:t>
            </a:r>
            <a:r>
              <a:rPr spc="-5" dirty="0"/>
              <a:t>SQL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784349"/>
            <a:ext cx="7809230" cy="4354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0957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Most applications use specific queries  and modification statements to </a:t>
            </a:r>
            <a:r>
              <a:rPr sz="3200" spc="-10" dirty="0">
                <a:latin typeface="Tahoma"/>
                <a:cs typeface="Tahoma"/>
              </a:rPr>
              <a:t>interact  </a:t>
            </a:r>
            <a:r>
              <a:rPr sz="3200" spc="-5" dirty="0">
                <a:latin typeface="Tahoma"/>
                <a:cs typeface="Tahoma"/>
              </a:rPr>
              <a:t>with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database.</a:t>
            </a:r>
            <a:endParaRPr sz="320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 DBMS compiles EXEC SQL … statements  into specific procedure calls and produces an  ordinary </a:t>
            </a:r>
            <a:r>
              <a:rPr sz="2800" spc="-10" dirty="0">
                <a:latin typeface="Tahoma"/>
                <a:cs typeface="Tahoma"/>
              </a:rPr>
              <a:t>host-language </a:t>
            </a:r>
            <a:r>
              <a:rPr sz="2800" spc="-15" dirty="0">
                <a:latin typeface="Tahoma"/>
                <a:cs typeface="Tahoma"/>
              </a:rPr>
              <a:t>program </a:t>
            </a:r>
            <a:r>
              <a:rPr sz="2800" spc="-5" dirty="0">
                <a:latin typeface="Tahoma"/>
                <a:cs typeface="Tahoma"/>
              </a:rPr>
              <a:t>that uses a  </a:t>
            </a:r>
            <a:r>
              <a:rPr sz="2800" spc="-40" dirty="0">
                <a:latin typeface="Tahoma"/>
                <a:cs typeface="Tahoma"/>
              </a:rPr>
              <a:t>library.</a:t>
            </a:r>
            <a:endParaRPr sz="2800">
              <a:latin typeface="Tahoma"/>
              <a:cs typeface="Tahoma"/>
            </a:endParaRPr>
          </a:p>
          <a:p>
            <a:pPr marL="355600" marR="15557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What about sqlplus, which </a:t>
            </a:r>
            <a:r>
              <a:rPr sz="3200" spc="5" dirty="0">
                <a:latin typeface="Tahoma"/>
                <a:cs typeface="Tahoma"/>
              </a:rPr>
              <a:t>doesn’t </a:t>
            </a:r>
            <a:r>
              <a:rPr sz="3200" spc="-5" dirty="0">
                <a:latin typeface="Tahoma"/>
                <a:cs typeface="Tahoma"/>
              </a:rPr>
              <a:t>know  what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needs to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until </a:t>
            </a:r>
            <a:r>
              <a:rPr sz="3200" dirty="0">
                <a:latin typeface="Tahoma"/>
                <a:cs typeface="Tahoma"/>
              </a:rPr>
              <a:t>it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runs?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1000" y="829944"/>
            <a:ext cx="33026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Dynamic</a:t>
            </a:r>
            <a:r>
              <a:rPr spc="-65" dirty="0"/>
              <a:t> </a:t>
            </a:r>
            <a:r>
              <a:rPr spc="-5" dirty="0"/>
              <a:t>SQL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6791959" cy="41192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Preparing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query:</a:t>
            </a:r>
            <a:endParaRPr sz="3200">
              <a:latin typeface="Tahoma"/>
              <a:cs typeface="Tahoma"/>
            </a:endParaRPr>
          </a:p>
          <a:p>
            <a:pPr marL="1841500" marR="5080" indent="-1828800">
              <a:lnSpc>
                <a:spcPct val="1197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EXEC SQL </a:t>
            </a:r>
            <a:r>
              <a:rPr sz="3200" spc="-15" dirty="0">
                <a:latin typeface="Tahoma"/>
                <a:cs typeface="Tahoma"/>
              </a:rPr>
              <a:t>PREPARE </a:t>
            </a:r>
            <a:r>
              <a:rPr sz="3200" spc="-10" dirty="0">
                <a:latin typeface="Tahoma"/>
                <a:cs typeface="Tahoma"/>
              </a:rPr>
              <a:t>&lt;query-name&gt;  </a:t>
            </a:r>
            <a:r>
              <a:rPr sz="3200" spc="-5" dirty="0">
                <a:latin typeface="Tahoma"/>
                <a:cs typeface="Tahoma"/>
              </a:rPr>
              <a:t>FROM &lt;text of the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query&gt;;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Executing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5" dirty="0">
                <a:latin typeface="Tahoma"/>
                <a:cs typeface="Tahoma"/>
              </a:rPr>
              <a:t> query: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EXEC SQL EXECUTE </a:t>
            </a:r>
            <a:r>
              <a:rPr sz="3200" spc="-10" dirty="0">
                <a:latin typeface="Tahoma"/>
                <a:cs typeface="Tahoma"/>
              </a:rPr>
              <a:t>&lt;query-name&gt;;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“Prepare”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optimize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query.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Prepare </a:t>
            </a:r>
            <a:r>
              <a:rPr sz="3200" spc="-5" dirty="0">
                <a:latin typeface="Tahoma"/>
                <a:cs typeface="Tahoma"/>
              </a:rPr>
              <a:t>once, </a:t>
            </a:r>
            <a:r>
              <a:rPr sz="3200" spc="-10" dirty="0">
                <a:latin typeface="Tahoma"/>
                <a:cs typeface="Tahoma"/>
              </a:rPr>
              <a:t>execute many </a:t>
            </a:r>
            <a:r>
              <a:rPr sz="3200" spc="-5" dirty="0">
                <a:latin typeface="Tahoma"/>
                <a:cs typeface="Tahoma"/>
              </a:rPr>
              <a:t>times.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8</a:t>
            </a:r>
            <a:r>
              <a:rPr sz="140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1864" y="829944"/>
            <a:ext cx="72402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dirty="0"/>
              <a:t>A </a:t>
            </a:r>
            <a:r>
              <a:rPr spc="-5" dirty="0"/>
              <a:t>Generic</a:t>
            </a:r>
            <a:r>
              <a:rPr spc="-30" dirty="0"/>
              <a:t> </a:t>
            </a:r>
            <a:r>
              <a:rPr spc="-15" dirty="0"/>
              <a:t>Interface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37258"/>
            <a:ext cx="6567170" cy="28346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800" spc="-5" dirty="0">
                <a:latin typeface="Tahoma"/>
                <a:cs typeface="Tahoma"/>
              </a:rPr>
              <a:t>EXEC SQL BEGIN </a:t>
            </a:r>
            <a:r>
              <a:rPr sz="2800" spc="-15" dirty="0">
                <a:latin typeface="Tahoma"/>
                <a:cs typeface="Tahoma"/>
              </a:rPr>
              <a:t>DECLARE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SECTION;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20"/>
              </a:spcBef>
            </a:pPr>
            <a:r>
              <a:rPr sz="2800" spc="-5" dirty="0">
                <a:latin typeface="Tahoma"/>
                <a:cs typeface="Tahoma"/>
              </a:rPr>
              <a:t>char query[MAX_LENGTH];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spc="-5" dirty="0">
                <a:latin typeface="Tahoma"/>
                <a:cs typeface="Tahoma"/>
              </a:rPr>
              <a:t>EXEC SQL END </a:t>
            </a:r>
            <a:r>
              <a:rPr sz="2800" spc="-15" dirty="0">
                <a:latin typeface="Tahoma"/>
                <a:cs typeface="Tahoma"/>
              </a:rPr>
              <a:t>DECLARE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SECTION;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800" spc="-5" dirty="0">
                <a:latin typeface="Tahoma"/>
                <a:cs typeface="Tahoma"/>
              </a:rPr>
              <a:t>while(1) {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20"/>
              </a:spcBef>
            </a:pPr>
            <a:r>
              <a:rPr sz="2800" spc="-5" dirty="0">
                <a:latin typeface="Tahoma"/>
                <a:cs typeface="Tahoma"/>
              </a:rPr>
              <a:t>/* issue SQL&gt; prompt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*/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30"/>
              </a:spcBef>
            </a:pPr>
            <a:r>
              <a:rPr sz="2800" spc="-5" dirty="0">
                <a:latin typeface="Tahoma"/>
                <a:cs typeface="Tahoma"/>
              </a:rPr>
              <a:t>/* </a:t>
            </a:r>
            <a:r>
              <a:rPr sz="2800" spc="-10" dirty="0">
                <a:latin typeface="Tahoma"/>
                <a:cs typeface="Tahoma"/>
              </a:rPr>
              <a:t>read </a:t>
            </a:r>
            <a:r>
              <a:rPr sz="2800" spc="-15" dirty="0">
                <a:latin typeface="Tahoma"/>
                <a:cs typeface="Tahoma"/>
              </a:rPr>
              <a:t>user’s </a:t>
            </a:r>
            <a:r>
              <a:rPr sz="2800" spc="-5" dirty="0">
                <a:latin typeface="Tahoma"/>
                <a:cs typeface="Tahoma"/>
              </a:rPr>
              <a:t>query into </a:t>
            </a:r>
            <a:r>
              <a:rPr sz="2800" spc="-20" dirty="0">
                <a:latin typeface="Tahoma"/>
                <a:cs typeface="Tahoma"/>
              </a:rPr>
              <a:t>array </a:t>
            </a:r>
            <a:r>
              <a:rPr sz="2800" spc="-5" dirty="0">
                <a:latin typeface="Tahoma"/>
                <a:cs typeface="Tahoma"/>
              </a:rPr>
              <a:t>query</a:t>
            </a:r>
            <a:r>
              <a:rPr sz="2800" spc="7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*/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7050" y="4801696"/>
            <a:ext cx="216535" cy="897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q</a:t>
            </a:r>
            <a:endParaRPr sz="28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  <a:spcBef>
                <a:spcPts val="330"/>
              </a:spcBef>
            </a:pPr>
            <a:r>
              <a:rPr sz="2800" spc="-5" dirty="0">
                <a:latin typeface="Tahoma"/>
                <a:cs typeface="Tahoma"/>
              </a:rPr>
              <a:t>q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439" y="4746498"/>
            <a:ext cx="5732145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00"/>
              </a:spcBef>
              <a:tabLst>
                <a:tab pos="3446145" algn="l"/>
                <a:tab pos="3536950" algn="l"/>
              </a:tabLst>
            </a:pPr>
            <a:r>
              <a:rPr sz="2800" spc="-5" dirty="0">
                <a:latin typeface="Tahoma"/>
                <a:cs typeface="Tahoma"/>
              </a:rPr>
              <a:t>EXEC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SQL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PREPARE		</a:t>
            </a:r>
            <a:r>
              <a:rPr sz="2800" spc="-5" dirty="0">
                <a:latin typeface="Tahoma"/>
                <a:cs typeface="Tahoma"/>
              </a:rPr>
              <a:t>FROM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:query;  EXEC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SQL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EXECUTE	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5727700"/>
            <a:ext cx="1962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}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67200" y="4800600"/>
            <a:ext cx="381000" cy="914400"/>
          </a:xfrm>
          <a:custGeom>
            <a:avLst/>
            <a:gdLst/>
            <a:ahLst/>
            <a:cxnLst/>
            <a:rect l="l" t="t" r="r" b="b"/>
            <a:pathLst>
              <a:path w="381000" h="914400">
                <a:moveTo>
                  <a:pt x="0" y="0"/>
                </a:moveTo>
                <a:lnTo>
                  <a:pt x="381000" y="0"/>
                </a:lnTo>
                <a:lnTo>
                  <a:pt x="381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62437" y="4795837"/>
            <a:ext cx="390525" cy="923925"/>
          </a:xfrm>
          <a:custGeom>
            <a:avLst/>
            <a:gdLst/>
            <a:ahLst/>
            <a:cxnLst/>
            <a:rect l="l" t="t" r="r" b="b"/>
            <a:pathLst>
              <a:path w="390525" h="923925">
                <a:moveTo>
                  <a:pt x="390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390525" y="0"/>
                </a:lnTo>
                <a:lnTo>
                  <a:pt x="390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390525" y="919162"/>
                </a:lnTo>
                <a:lnTo>
                  <a:pt x="390525" y="923925"/>
                </a:lnTo>
                <a:close/>
              </a:path>
              <a:path w="390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90525" h="923925">
                <a:moveTo>
                  <a:pt x="381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81000" y="4762"/>
                </a:lnTo>
                <a:lnTo>
                  <a:pt x="381000" y="9525"/>
                </a:lnTo>
                <a:close/>
              </a:path>
              <a:path w="390525" h="923925">
                <a:moveTo>
                  <a:pt x="381000" y="919162"/>
                </a:moveTo>
                <a:lnTo>
                  <a:pt x="381000" y="4762"/>
                </a:lnTo>
                <a:lnTo>
                  <a:pt x="385762" y="9525"/>
                </a:lnTo>
                <a:lnTo>
                  <a:pt x="390525" y="9525"/>
                </a:lnTo>
                <a:lnTo>
                  <a:pt x="390525" y="914400"/>
                </a:lnTo>
                <a:lnTo>
                  <a:pt x="385762" y="914400"/>
                </a:lnTo>
                <a:lnTo>
                  <a:pt x="381000" y="919162"/>
                </a:lnTo>
                <a:close/>
              </a:path>
              <a:path w="390525" h="923925">
                <a:moveTo>
                  <a:pt x="390525" y="9525"/>
                </a:moveTo>
                <a:lnTo>
                  <a:pt x="385762" y="9525"/>
                </a:lnTo>
                <a:lnTo>
                  <a:pt x="381000" y="4762"/>
                </a:lnTo>
                <a:lnTo>
                  <a:pt x="390525" y="4762"/>
                </a:lnTo>
                <a:lnTo>
                  <a:pt x="390525" y="9525"/>
                </a:lnTo>
                <a:close/>
              </a:path>
              <a:path w="390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390525" h="923925">
                <a:moveTo>
                  <a:pt x="381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381000" y="914400"/>
                </a:lnTo>
                <a:lnTo>
                  <a:pt x="381000" y="919162"/>
                </a:lnTo>
                <a:close/>
              </a:path>
              <a:path w="390525" h="923925">
                <a:moveTo>
                  <a:pt x="390525" y="919162"/>
                </a:moveTo>
                <a:lnTo>
                  <a:pt x="381000" y="919162"/>
                </a:lnTo>
                <a:lnTo>
                  <a:pt x="385762" y="914400"/>
                </a:lnTo>
                <a:lnTo>
                  <a:pt x="390525" y="914400"/>
                </a:lnTo>
                <a:lnTo>
                  <a:pt x="390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488940" y="5365750"/>
            <a:ext cx="316039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ahoma"/>
                <a:cs typeface="Tahoma"/>
              </a:rPr>
              <a:t>q </a:t>
            </a:r>
            <a:r>
              <a:rPr sz="2000" spc="-5" dirty="0">
                <a:latin typeface="Tahoma"/>
                <a:cs typeface="Tahoma"/>
              </a:rPr>
              <a:t>is </a:t>
            </a:r>
            <a:r>
              <a:rPr sz="2000" dirty="0">
                <a:latin typeface="Tahoma"/>
                <a:cs typeface="Tahoma"/>
              </a:rPr>
              <a:t>an </a:t>
            </a:r>
            <a:r>
              <a:rPr sz="2000" spc="-5" dirty="0">
                <a:latin typeface="Tahoma"/>
                <a:cs typeface="Tahoma"/>
              </a:rPr>
              <a:t>SQL </a:t>
            </a:r>
            <a:r>
              <a:rPr sz="2000" spc="-10" dirty="0">
                <a:latin typeface="Tahoma"/>
                <a:cs typeface="Tahoma"/>
              </a:rPr>
              <a:t>variable  </a:t>
            </a:r>
            <a:r>
              <a:rPr sz="2000" spc="-5" dirty="0">
                <a:latin typeface="Tahoma"/>
                <a:cs typeface="Tahoma"/>
              </a:rPr>
              <a:t>representing the optimized  </a:t>
            </a:r>
            <a:r>
              <a:rPr sz="2000" spc="-10" dirty="0">
                <a:latin typeface="Tahoma"/>
                <a:cs typeface="Tahoma"/>
              </a:rPr>
              <a:t>form </a:t>
            </a:r>
            <a:r>
              <a:rPr sz="2000" spc="-5" dirty="0">
                <a:latin typeface="Tahoma"/>
                <a:cs typeface="Tahoma"/>
              </a:rPr>
              <a:t>of whatever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statement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88940" y="6280150"/>
            <a:ext cx="22047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is </a:t>
            </a:r>
            <a:r>
              <a:rPr sz="2000" spc="-10" dirty="0">
                <a:latin typeface="Tahoma"/>
                <a:cs typeface="Tahoma"/>
              </a:rPr>
              <a:t>typed </a:t>
            </a:r>
            <a:r>
              <a:rPr sz="2000" spc="-5" dirty="0">
                <a:latin typeface="Tahoma"/>
                <a:cs typeface="Tahoma"/>
              </a:rPr>
              <a:t>into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:query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48200" y="5334000"/>
            <a:ext cx="689610" cy="689610"/>
          </a:xfrm>
          <a:custGeom>
            <a:avLst/>
            <a:gdLst/>
            <a:ahLst/>
            <a:cxnLst/>
            <a:rect l="l" t="t" r="r" b="b"/>
            <a:pathLst>
              <a:path w="689610" h="689610">
                <a:moveTo>
                  <a:pt x="26936" y="80822"/>
                </a:moveTo>
                <a:lnTo>
                  <a:pt x="0" y="0"/>
                </a:lnTo>
                <a:lnTo>
                  <a:pt x="80822" y="26936"/>
                </a:lnTo>
                <a:lnTo>
                  <a:pt x="70713" y="37045"/>
                </a:lnTo>
                <a:lnTo>
                  <a:pt x="43776" y="37045"/>
                </a:lnTo>
                <a:lnTo>
                  <a:pt x="37045" y="43776"/>
                </a:lnTo>
                <a:lnTo>
                  <a:pt x="50514" y="57245"/>
                </a:lnTo>
                <a:lnTo>
                  <a:pt x="26936" y="80822"/>
                </a:lnTo>
                <a:close/>
              </a:path>
              <a:path w="689610" h="689610">
                <a:moveTo>
                  <a:pt x="50514" y="57245"/>
                </a:moveTo>
                <a:lnTo>
                  <a:pt x="37045" y="43776"/>
                </a:lnTo>
                <a:lnTo>
                  <a:pt x="43776" y="37045"/>
                </a:lnTo>
                <a:lnTo>
                  <a:pt x="57245" y="50514"/>
                </a:lnTo>
                <a:lnTo>
                  <a:pt x="50514" y="57245"/>
                </a:lnTo>
                <a:close/>
              </a:path>
              <a:path w="689610" h="689610">
                <a:moveTo>
                  <a:pt x="57245" y="50514"/>
                </a:moveTo>
                <a:lnTo>
                  <a:pt x="43776" y="37045"/>
                </a:lnTo>
                <a:lnTo>
                  <a:pt x="70713" y="37045"/>
                </a:lnTo>
                <a:lnTo>
                  <a:pt x="57245" y="50514"/>
                </a:lnTo>
                <a:close/>
              </a:path>
              <a:path w="689610" h="689610">
                <a:moveTo>
                  <a:pt x="682434" y="689165"/>
                </a:moveTo>
                <a:lnTo>
                  <a:pt x="50514" y="57245"/>
                </a:lnTo>
                <a:lnTo>
                  <a:pt x="57245" y="50514"/>
                </a:lnTo>
                <a:lnTo>
                  <a:pt x="689165" y="682434"/>
                </a:lnTo>
                <a:lnTo>
                  <a:pt x="682434" y="6891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3604" y="829944"/>
            <a:ext cx="47967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Execute-Immediate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96480" cy="2659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286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only going to </a:t>
            </a:r>
            <a:r>
              <a:rPr sz="3200" spc="-10" dirty="0">
                <a:latin typeface="Tahoma"/>
                <a:cs typeface="Tahoma"/>
              </a:rPr>
              <a:t>execute </a:t>
            </a:r>
            <a:r>
              <a:rPr sz="3200" spc="-5" dirty="0">
                <a:latin typeface="Tahoma"/>
                <a:cs typeface="Tahoma"/>
              </a:rPr>
              <a:t>the  query once,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combine the  </a:t>
            </a:r>
            <a:r>
              <a:rPr sz="3200" spc="-15" dirty="0">
                <a:latin typeface="Tahoma"/>
                <a:cs typeface="Tahoma"/>
              </a:rPr>
              <a:t>PREPARE </a:t>
            </a:r>
            <a:r>
              <a:rPr sz="3200" spc="-5" dirty="0">
                <a:latin typeface="Tahoma"/>
                <a:cs typeface="Tahoma"/>
              </a:rPr>
              <a:t>and EXECUTE steps into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one.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Use: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EXEC SQL EXECUTE </a:t>
            </a:r>
            <a:r>
              <a:rPr sz="3200" spc="-25" dirty="0">
                <a:latin typeface="Tahoma"/>
                <a:cs typeface="Tahoma"/>
              </a:rPr>
              <a:t>IMMEDIATE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&lt;text&gt;;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165" y="829944"/>
            <a:ext cx="8281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Generic </a:t>
            </a:r>
            <a:r>
              <a:rPr spc="-15" dirty="0"/>
              <a:t>Interface </a:t>
            </a:r>
            <a:r>
              <a:rPr spc="-5" dirty="0"/>
              <a:t>Again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85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8389" y="3891674"/>
          <a:ext cx="6677657" cy="8707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6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5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5369">
                <a:tc>
                  <a:txBody>
                    <a:bodyPr/>
                    <a:lstStyle/>
                    <a:p>
                      <a:pPr marL="31750">
                        <a:lnSpc>
                          <a:spcPts val="2885"/>
                        </a:lnSpc>
                      </a:pPr>
                      <a:r>
                        <a:rPr sz="2800" spc="-5" dirty="0">
                          <a:latin typeface="Courier New"/>
                          <a:cs typeface="Courier New"/>
                        </a:rPr>
                        <a:t>/*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885"/>
                        </a:lnSpc>
                      </a:pPr>
                      <a:r>
                        <a:rPr sz="2800" dirty="0">
                          <a:latin typeface="Courier New"/>
                          <a:cs typeface="Courier New"/>
                        </a:rPr>
                        <a:t>issue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85"/>
                        </a:lnSpc>
                      </a:pPr>
                      <a:r>
                        <a:rPr sz="2800" spc="-5" dirty="0">
                          <a:latin typeface="Courier New"/>
                          <a:cs typeface="Courier New"/>
                        </a:rPr>
                        <a:t>SQL&gt;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2885"/>
                        </a:lnSpc>
                      </a:pPr>
                      <a:r>
                        <a:rPr sz="2800" dirty="0">
                          <a:latin typeface="Courier New"/>
                          <a:cs typeface="Courier New"/>
                        </a:rPr>
                        <a:t>prompt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885"/>
                        </a:lnSpc>
                      </a:pPr>
                      <a:r>
                        <a:rPr sz="2800" spc="-5" dirty="0">
                          <a:latin typeface="Courier New"/>
                          <a:cs typeface="Courier New"/>
                        </a:rPr>
                        <a:t>*/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369">
                <a:tc>
                  <a:txBody>
                    <a:bodyPr/>
                    <a:lstStyle/>
                    <a:p>
                      <a:pPr marL="31750">
                        <a:lnSpc>
                          <a:spcPts val="3150"/>
                        </a:lnSpc>
                      </a:pPr>
                      <a:r>
                        <a:rPr sz="2800" spc="-5" dirty="0">
                          <a:latin typeface="Courier New"/>
                          <a:cs typeface="Courier New"/>
                        </a:rPr>
                        <a:t>/*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150"/>
                        </a:lnSpc>
                      </a:pPr>
                      <a:r>
                        <a:rPr sz="2800" spc="-5" dirty="0">
                          <a:latin typeface="Courier New"/>
                          <a:cs typeface="Courier New"/>
                        </a:rPr>
                        <a:t>read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50"/>
                        </a:lnSpc>
                      </a:pPr>
                      <a:r>
                        <a:rPr sz="2800" dirty="0">
                          <a:latin typeface="Courier New"/>
                          <a:cs typeface="Courier New"/>
                        </a:rPr>
                        <a:t>user’s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3150"/>
                        </a:lnSpc>
                      </a:pPr>
                      <a:r>
                        <a:rPr sz="2800" dirty="0">
                          <a:latin typeface="Courier New"/>
                          <a:cs typeface="Courier New"/>
                        </a:rPr>
                        <a:t>query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150"/>
                        </a:lnSpc>
                      </a:pPr>
                      <a:r>
                        <a:rPr sz="2800" spc="-5" dirty="0">
                          <a:latin typeface="Courier New"/>
                          <a:cs typeface="Courier New"/>
                        </a:rPr>
                        <a:t>into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150"/>
                        </a:lnSpc>
                      </a:pPr>
                      <a:r>
                        <a:rPr sz="2800" spc="-5" dirty="0">
                          <a:latin typeface="Courier New"/>
                          <a:cs typeface="Courier New"/>
                        </a:rPr>
                        <a:t>array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pc="-5" dirty="0"/>
              <a:t>EXEC SQL BEGIN DECLARE</a:t>
            </a:r>
            <a:r>
              <a:rPr spc="-10" dirty="0"/>
              <a:t> </a:t>
            </a:r>
            <a:r>
              <a:rPr spc="-5" dirty="0"/>
              <a:t>SECTION;</a:t>
            </a:r>
          </a:p>
          <a:p>
            <a:pPr marL="12700" marR="1415415" indent="342900">
              <a:lnSpc>
                <a:spcPct val="106800"/>
              </a:lnSpc>
              <a:spcBef>
                <a:spcPts val="200"/>
              </a:spcBef>
            </a:pPr>
            <a:r>
              <a:rPr spc="-5" dirty="0"/>
              <a:t>char query[MAX_LENGTH];  EXEC SQL END DECLARE</a:t>
            </a:r>
            <a:r>
              <a:rPr spc="-35" dirty="0"/>
              <a:t> </a:t>
            </a:r>
            <a:r>
              <a:rPr spc="-5" dirty="0"/>
              <a:t>SECTION;</a:t>
            </a:r>
          </a:p>
          <a:p>
            <a:pPr marR="5469255" algn="r">
              <a:lnSpc>
                <a:spcPct val="100000"/>
              </a:lnSpc>
              <a:spcBef>
                <a:spcPts val="330"/>
              </a:spcBef>
            </a:pPr>
            <a:r>
              <a:rPr spc="-5" dirty="0"/>
              <a:t>while(1)</a:t>
            </a:r>
            <a:r>
              <a:rPr spc="-85" dirty="0"/>
              <a:t> </a:t>
            </a:r>
            <a:r>
              <a:rPr spc="-5" dirty="0"/>
              <a:t>{</a:t>
            </a:r>
          </a:p>
          <a:p>
            <a:pPr>
              <a:lnSpc>
                <a:spcPct val="100000"/>
              </a:lnSpc>
            </a:pPr>
            <a:endParaRPr sz="3100"/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/>
          </a:p>
          <a:p>
            <a:pPr marR="5553075" algn="r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query</a:t>
            </a:r>
            <a:r>
              <a:rPr spc="-90" dirty="0"/>
              <a:t> </a:t>
            </a:r>
            <a:r>
              <a:rPr spc="-5" dirty="0"/>
              <a:t>*/</a:t>
            </a:r>
          </a:p>
          <a:p>
            <a:pPr marL="355600">
              <a:lnSpc>
                <a:spcPct val="100000"/>
              </a:lnSpc>
              <a:spcBef>
                <a:spcPts val="430"/>
              </a:spcBef>
            </a:pPr>
            <a:r>
              <a:rPr spc="-5" dirty="0"/>
              <a:t>EXEC SQL EXECUTE IMMEDIATE</a:t>
            </a:r>
            <a:r>
              <a:rPr spc="-25" dirty="0"/>
              <a:t> </a:t>
            </a:r>
            <a:r>
              <a:rPr spc="-5" dirty="0"/>
              <a:t>:query;</a:t>
            </a: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pc="-5" dirty="0"/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4414</Words>
  <Application>Microsoft Office PowerPoint</Application>
  <PresentationFormat>全屏显示(4:3)</PresentationFormat>
  <Paragraphs>660</Paragraphs>
  <Slides>85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85</vt:i4>
      </vt:variant>
    </vt:vector>
  </HeadingPairs>
  <TitlesOfParts>
    <vt:vector size="94" baseType="lpstr">
      <vt:lpstr>Arial</vt:lpstr>
      <vt:lpstr>Arial Narrow</vt:lpstr>
      <vt:lpstr>Calibri</vt:lpstr>
      <vt:lpstr>Courier New</vt:lpstr>
      <vt:lpstr>Lucida Sans Typewriter</vt:lpstr>
      <vt:lpstr>Tahoma</vt:lpstr>
      <vt:lpstr>Times New Roman</vt:lpstr>
      <vt:lpstr>Wingdings</vt:lpstr>
      <vt:lpstr>Office Theme</vt:lpstr>
      <vt:lpstr>Real SQL Programming</vt:lpstr>
      <vt:lpstr>SQL in Real Programs</vt:lpstr>
      <vt:lpstr>Options</vt:lpstr>
      <vt:lpstr>Control-of-Flow Language Elements</vt:lpstr>
      <vt:lpstr>Stored Procedures</vt:lpstr>
      <vt:lpstr>Initial Processing of Stored  Procedures</vt:lpstr>
      <vt:lpstr>Advantages of Stored  Procedures</vt:lpstr>
      <vt:lpstr>Basic PSM Form</vt:lpstr>
      <vt:lpstr>Parameters in PSM参数</vt:lpstr>
      <vt:lpstr>Example: Stored Procedure</vt:lpstr>
      <vt:lpstr>The Procedure</vt:lpstr>
      <vt:lpstr>Invoking调用 Procedures</vt:lpstr>
      <vt:lpstr>Kinds of PSM statements – (1)</vt:lpstr>
      <vt:lpstr>Kinds of PSM Statements – (2)</vt:lpstr>
      <vt:lpstr>IF Statements</vt:lpstr>
      <vt:lpstr>Example: IF</vt:lpstr>
      <vt:lpstr>Example: IF (continued)</vt:lpstr>
      <vt:lpstr>Loops</vt:lpstr>
      <vt:lpstr>Example: Exiting a Loop</vt:lpstr>
      <vt:lpstr>Other Loop Forms</vt:lpstr>
      <vt:lpstr>Executing Stored Procedures</vt:lpstr>
      <vt:lpstr>Using Input Parameters</vt:lpstr>
      <vt:lpstr>Executing Stored Procedures  Using Input Parameters</vt:lpstr>
      <vt:lpstr>Returning Values Using Output  Parameters</vt:lpstr>
      <vt:lpstr>Queries</vt:lpstr>
      <vt:lpstr>Example: Assignment/Query</vt:lpstr>
      <vt:lpstr>SELECT . . . INTO</vt:lpstr>
      <vt:lpstr>Cursors</vt:lpstr>
      <vt:lpstr>Opening and Closing Cursors</vt:lpstr>
      <vt:lpstr>Fetching Tuples获取元组 From a Cursor</vt:lpstr>
      <vt:lpstr>Breaking Cursor Loops – (1)</vt:lpstr>
      <vt:lpstr>Breaking Cursor Loops – (2)</vt:lpstr>
      <vt:lpstr>Breaking Cursor Loops – (3)</vt:lpstr>
      <vt:lpstr>Breaking Cursor Loops – (4)</vt:lpstr>
      <vt:lpstr>Example: Cursor</vt:lpstr>
      <vt:lpstr>The Needed Declarations</vt:lpstr>
      <vt:lpstr>The Procedure Body</vt:lpstr>
      <vt:lpstr>PowerPoint 演示文稿</vt:lpstr>
      <vt:lpstr>PL/SQL</vt:lpstr>
      <vt:lpstr>Trigger Differences</vt:lpstr>
      <vt:lpstr>What Is a User-defined  Function?</vt:lpstr>
      <vt:lpstr>Defining User-defined Functions</vt:lpstr>
      <vt:lpstr>Creating a User-defined Function</vt:lpstr>
      <vt:lpstr>Creating a Function with  Schema Binding架构绑定</vt:lpstr>
      <vt:lpstr>Setting Permissions for User-  defined Functions</vt:lpstr>
      <vt:lpstr>Altering and Dropping User-defined Functions</vt:lpstr>
      <vt:lpstr>Examples of User-defined Functions</vt:lpstr>
      <vt:lpstr>Using a Scalar User-defined  Function</vt:lpstr>
      <vt:lpstr>Example of a Scalar User-defined Function</vt:lpstr>
      <vt:lpstr>Using a Multi-Statement Table-  valued Function</vt:lpstr>
      <vt:lpstr>Example of a Multi-Statement Table-  valued Function</vt:lpstr>
      <vt:lpstr>Using an In-Line Table-valued  Function</vt:lpstr>
      <vt:lpstr>Example of an In-Line Table-  valued Function</vt:lpstr>
      <vt:lpstr>SQLPlus</vt:lpstr>
      <vt:lpstr>Form of PL/SQL Statements</vt:lpstr>
      <vt:lpstr>Form of PL/SQL Procedure</vt:lpstr>
      <vt:lpstr>PL/SQL Declarations and  Assignments</vt:lpstr>
      <vt:lpstr>PL/SQL Procedure Parameters</vt:lpstr>
      <vt:lpstr>PL/SQL Types</vt:lpstr>
      <vt:lpstr>Example:JoeMenu</vt:lpstr>
      <vt:lpstr>Procedure JoeMenu in PL/SQL</vt:lpstr>
      <vt:lpstr>PL/SQL Branching Statements</vt:lpstr>
      <vt:lpstr>PL/SQL Loops</vt:lpstr>
      <vt:lpstr>PL/SQL Cursors</vt:lpstr>
      <vt:lpstr>Example: JoeGouge() in PL/SQL</vt:lpstr>
      <vt:lpstr>Example: JoeGouge() Declarations</vt:lpstr>
      <vt:lpstr>Example: JoeGouge() Body</vt:lpstr>
      <vt:lpstr>Tuple-Valued Variables</vt:lpstr>
      <vt:lpstr>Example: Tuple Type</vt:lpstr>
      <vt:lpstr>JoeGouge() Body Using bp</vt:lpstr>
      <vt:lpstr>Embedded SQL</vt:lpstr>
      <vt:lpstr>Shared Variables</vt:lpstr>
      <vt:lpstr>Use of Shared Variables</vt:lpstr>
      <vt:lpstr>Example: Looking Up Prices</vt:lpstr>
      <vt:lpstr>Example: C Plus SQL</vt:lpstr>
      <vt:lpstr>Embedded Queries</vt:lpstr>
      <vt:lpstr>Cursor Statements</vt:lpstr>
      <vt:lpstr>Example: Print Joe’s Menu</vt:lpstr>
      <vt:lpstr>Example: Declarations</vt:lpstr>
      <vt:lpstr>Example: Executable Part</vt:lpstr>
      <vt:lpstr>Need for Dynamic SQL</vt:lpstr>
      <vt:lpstr>Dynamic SQL</vt:lpstr>
      <vt:lpstr>Example: A Generic Interface</vt:lpstr>
      <vt:lpstr>Execute-Immediate</vt:lpstr>
      <vt:lpstr>Example: Generic Interface Again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2</cp:revision>
  <dcterms:created xsi:type="dcterms:W3CDTF">2024-06-19T09:21:15Z</dcterms:created>
  <dcterms:modified xsi:type="dcterms:W3CDTF">2024-06-21T11:55:58Z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2024-06-19T00:00:00Z</vt:filetime>
  </property>
</Properties>
</file>
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9949" y="2506344"/>
            <a:ext cx="48641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65934" y="3821557"/>
            <a:ext cx="5612130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Lucida Sans Typewriter"/>
                <a:cs typeface="Lucida Sans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9854" y="829944"/>
            <a:ext cx="38442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6339" y="1120139"/>
            <a:ext cx="5638800" cy="1376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Lucida Sans Typewriter"/>
                <a:cs typeface="Lucida Sans Typewrite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0" Type="http://schemas.openxmlformats.org/officeDocument/2006/relationships/image" Target="../media/image22.png"/><Relationship Id="rId4" Type="http://schemas.openxmlformats.org/officeDocument/2006/relationships/image" Target="../media/image28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2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4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8.png"/><Relationship Id="rId4" Type="http://schemas.openxmlformats.org/officeDocument/2006/relationships/image" Target="../media/image6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9" Type="http://schemas.openxmlformats.org/officeDocument/2006/relationships/image" Target="../media/image101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42" Type="http://schemas.openxmlformats.org/officeDocument/2006/relationships/image" Target="../media/image104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40" Type="http://schemas.openxmlformats.org/officeDocument/2006/relationships/image" Target="../media/image102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43" Type="http://schemas.openxmlformats.org/officeDocument/2006/relationships/image" Target="../media/image105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png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9" Type="http://schemas.openxmlformats.org/officeDocument/2006/relationships/image" Target="../media/image101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42" Type="http://schemas.openxmlformats.org/officeDocument/2006/relationships/image" Target="../media/image104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41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40" Type="http://schemas.openxmlformats.org/officeDocument/2006/relationships/image" Target="../media/image102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43" Type="http://schemas.openxmlformats.org/officeDocument/2006/relationships/image" Target="../media/image105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png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image" Target="../media/image117.png"/><Relationship Id="rId26" Type="http://schemas.openxmlformats.org/officeDocument/2006/relationships/image" Target="../media/image49.png"/><Relationship Id="rId39" Type="http://schemas.openxmlformats.org/officeDocument/2006/relationships/image" Target="../media/image91.png"/><Relationship Id="rId21" Type="http://schemas.openxmlformats.org/officeDocument/2006/relationships/image" Target="../media/image100.png"/><Relationship Id="rId34" Type="http://schemas.openxmlformats.org/officeDocument/2006/relationships/image" Target="../media/image129.png"/><Relationship Id="rId42" Type="http://schemas.openxmlformats.org/officeDocument/2006/relationships/image" Target="../media/image94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7" Type="http://schemas.openxmlformats.org/officeDocument/2006/relationships/image" Target="../media/image84.png"/><Relationship Id="rId2" Type="http://schemas.openxmlformats.org/officeDocument/2006/relationships/image" Target="../media/image64.png"/><Relationship Id="rId16" Type="http://schemas.openxmlformats.org/officeDocument/2006/relationships/image" Target="../media/image115.png"/><Relationship Id="rId29" Type="http://schemas.openxmlformats.org/officeDocument/2006/relationships/image" Target="../media/image124.png"/><Relationship Id="rId11" Type="http://schemas.openxmlformats.org/officeDocument/2006/relationships/image" Target="../media/image113.png"/><Relationship Id="rId24" Type="http://schemas.openxmlformats.org/officeDocument/2006/relationships/image" Target="../media/image122.png"/><Relationship Id="rId32" Type="http://schemas.openxmlformats.org/officeDocument/2006/relationships/image" Target="../media/image127.png"/><Relationship Id="rId37" Type="http://schemas.openxmlformats.org/officeDocument/2006/relationships/image" Target="../media/image88.png"/><Relationship Id="rId40" Type="http://schemas.openxmlformats.org/officeDocument/2006/relationships/image" Target="../media/image92.png"/><Relationship Id="rId45" Type="http://schemas.openxmlformats.org/officeDocument/2006/relationships/image" Target="../media/image134.png"/><Relationship Id="rId5" Type="http://schemas.openxmlformats.org/officeDocument/2006/relationships/image" Target="../media/image108.png"/><Relationship Id="rId15" Type="http://schemas.openxmlformats.org/officeDocument/2006/relationships/image" Target="../media/image114.png"/><Relationship Id="rId23" Type="http://schemas.openxmlformats.org/officeDocument/2006/relationships/image" Target="../media/image121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49" Type="http://schemas.openxmlformats.org/officeDocument/2006/relationships/image" Target="../media/image135.png"/><Relationship Id="rId10" Type="http://schemas.openxmlformats.org/officeDocument/2006/relationships/image" Target="../media/image112.png"/><Relationship Id="rId19" Type="http://schemas.openxmlformats.org/officeDocument/2006/relationships/image" Target="../media/image118.png"/><Relationship Id="rId31" Type="http://schemas.openxmlformats.org/officeDocument/2006/relationships/image" Target="../media/image126.png"/><Relationship Id="rId44" Type="http://schemas.openxmlformats.org/officeDocument/2006/relationships/image" Target="../media/image96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97.png"/><Relationship Id="rId22" Type="http://schemas.openxmlformats.org/officeDocument/2006/relationships/image" Target="../media/image120.png"/><Relationship Id="rId27" Type="http://schemas.openxmlformats.org/officeDocument/2006/relationships/image" Target="../media/image45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3.png"/><Relationship Id="rId48" Type="http://schemas.openxmlformats.org/officeDocument/2006/relationships/image" Target="../media/image103.png"/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12" Type="http://schemas.openxmlformats.org/officeDocument/2006/relationships/image" Target="../media/image98.png"/><Relationship Id="rId17" Type="http://schemas.openxmlformats.org/officeDocument/2006/relationships/image" Target="../media/image116.png"/><Relationship Id="rId25" Type="http://schemas.openxmlformats.org/officeDocument/2006/relationships/image" Target="../media/image89.png"/><Relationship Id="rId33" Type="http://schemas.openxmlformats.org/officeDocument/2006/relationships/image" Target="../media/image128.png"/><Relationship Id="rId38" Type="http://schemas.openxmlformats.org/officeDocument/2006/relationships/image" Target="../media/image90.png"/><Relationship Id="rId46" Type="http://schemas.openxmlformats.org/officeDocument/2006/relationships/image" Target="../media/image101.png"/><Relationship Id="rId20" Type="http://schemas.openxmlformats.org/officeDocument/2006/relationships/image" Target="../media/image119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/Relationships>
</file>

<file path=ppt/slides/_rels/slide8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18" Type="http://schemas.openxmlformats.org/officeDocument/2006/relationships/image" Target="../media/image117.png"/><Relationship Id="rId26" Type="http://schemas.openxmlformats.org/officeDocument/2006/relationships/image" Target="../media/image49.png"/><Relationship Id="rId39" Type="http://schemas.openxmlformats.org/officeDocument/2006/relationships/image" Target="../media/image91.png"/><Relationship Id="rId21" Type="http://schemas.openxmlformats.org/officeDocument/2006/relationships/image" Target="../media/image100.png"/><Relationship Id="rId34" Type="http://schemas.openxmlformats.org/officeDocument/2006/relationships/image" Target="../media/image129.png"/><Relationship Id="rId42" Type="http://schemas.openxmlformats.org/officeDocument/2006/relationships/image" Target="../media/image94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7" Type="http://schemas.openxmlformats.org/officeDocument/2006/relationships/image" Target="../media/image84.png"/><Relationship Id="rId2" Type="http://schemas.openxmlformats.org/officeDocument/2006/relationships/image" Target="../media/image64.png"/><Relationship Id="rId16" Type="http://schemas.openxmlformats.org/officeDocument/2006/relationships/image" Target="../media/image115.png"/><Relationship Id="rId29" Type="http://schemas.openxmlformats.org/officeDocument/2006/relationships/image" Target="../media/image124.png"/><Relationship Id="rId11" Type="http://schemas.openxmlformats.org/officeDocument/2006/relationships/image" Target="../media/image113.png"/><Relationship Id="rId24" Type="http://schemas.openxmlformats.org/officeDocument/2006/relationships/image" Target="../media/image122.png"/><Relationship Id="rId32" Type="http://schemas.openxmlformats.org/officeDocument/2006/relationships/image" Target="../media/image127.png"/><Relationship Id="rId37" Type="http://schemas.openxmlformats.org/officeDocument/2006/relationships/image" Target="../media/image88.png"/><Relationship Id="rId40" Type="http://schemas.openxmlformats.org/officeDocument/2006/relationships/image" Target="../media/image92.png"/><Relationship Id="rId45" Type="http://schemas.openxmlformats.org/officeDocument/2006/relationships/image" Target="../media/image134.png"/><Relationship Id="rId5" Type="http://schemas.openxmlformats.org/officeDocument/2006/relationships/image" Target="../media/image108.png"/><Relationship Id="rId15" Type="http://schemas.openxmlformats.org/officeDocument/2006/relationships/image" Target="../media/image114.png"/><Relationship Id="rId23" Type="http://schemas.openxmlformats.org/officeDocument/2006/relationships/image" Target="../media/image121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49" Type="http://schemas.openxmlformats.org/officeDocument/2006/relationships/image" Target="../media/image135.png"/><Relationship Id="rId10" Type="http://schemas.openxmlformats.org/officeDocument/2006/relationships/image" Target="../media/image112.png"/><Relationship Id="rId19" Type="http://schemas.openxmlformats.org/officeDocument/2006/relationships/image" Target="../media/image118.png"/><Relationship Id="rId31" Type="http://schemas.openxmlformats.org/officeDocument/2006/relationships/image" Target="../media/image126.png"/><Relationship Id="rId44" Type="http://schemas.openxmlformats.org/officeDocument/2006/relationships/image" Target="../media/image96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97.png"/><Relationship Id="rId22" Type="http://schemas.openxmlformats.org/officeDocument/2006/relationships/image" Target="../media/image120.png"/><Relationship Id="rId27" Type="http://schemas.openxmlformats.org/officeDocument/2006/relationships/image" Target="../media/image45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3.png"/><Relationship Id="rId48" Type="http://schemas.openxmlformats.org/officeDocument/2006/relationships/image" Target="../media/image103.png"/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12" Type="http://schemas.openxmlformats.org/officeDocument/2006/relationships/image" Target="../media/image98.png"/><Relationship Id="rId17" Type="http://schemas.openxmlformats.org/officeDocument/2006/relationships/image" Target="../media/image116.png"/><Relationship Id="rId25" Type="http://schemas.openxmlformats.org/officeDocument/2006/relationships/image" Target="../media/image89.png"/><Relationship Id="rId33" Type="http://schemas.openxmlformats.org/officeDocument/2006/relationships/image" Target="../media/image128.png"/><Relationship Id="rId38" Type="http://schemas.openxmlformats.org/officeDocument/2006/relationships/image" Target="../media/image90.png"/><Relationship Id="rId46" Type="http://schemas.openxmlformats.org/officeDocument/2006/relationships/image" Target="../media/image101.png"/><Relationship Id="rId20" Type="http://schemas.openxmlformats.org/officeDocument/2006/relationships/image" Target="../media/image119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91.png"/><Relationship Id="rId26" Type="http://schemas.openxmlformats.org/officeDocument/2006/relationships/image" Target="../media/image152.png"/><Relationship Id="rId39" Type="http://schemas.openxmlformats.org/officeDocument/2006/relationships/image" Target="../media/image105.png"/><Relationship Id="rId21" Type="http://schemas.openxmlformats.org/officeDocument/2006/relationships/image" Target="../media/image101.png"/><Relationship Id="rId34" Type="http://schemas.openxmlformats.org/officeDocument/2006/relationships/image" Target="../media/image159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03.png"/><Relationship Id="rId25" Type="http://schemas.openxmlformats.org/officeDocument/2006/relationships/image" Target="../media/image151.png"/><Relationship Id="rId33" Type="http://schemas.openxmlformats.org/officeDocument/2006/relationships/image" Target="../media/image158.png"/><Relationship Id="rId38" Type="http://schemas.openxmlformats.org/officeDocument/2006/relationships/image" Target="../media/image116.png"/><Relationship Id="rId2" Type="http://schemas.openxmlformats.org/officeDocument/2006/relationships/image" Target="../media/image64.png"/><Relationship Id="rId16" Type="http://schemas.openxmlformats.org/officeDocument/2006/relationships/image" Target="../media/image92.png"/><Relationship Id="rId20" Type="http://schemas.openxmlformats.org/officeDocument/2006/relationships/image" Target="../media/image90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68.png"/><Relationship Id="rId32" Type="http://schemas.openxmlformats.org/officeDocument/2006/relationships/image" Target="../media/image157.png"/><Relationship Id="rId37" Type="http://schemas.openxmlformats.org/officeDocument/2006/relationships/image" Target="../media/image115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0.png"/><Relationship Id="rId28" Type="http://schemas.openxmlformats.org/officeDocument/2006/relationships/image" Target="../media/image113.png"/><Relationship Id="rId36" Type="http://schemas.openxmlformats.org/officeDocument/2006/relationships/image" Target="../media/image114.png"/><Relationship Id="rId10" Type="http://schemas.openxmlformats.org/officeDocument/2006/relationships/image" Target="../media/image143.png"/><Relationship Id="rId19" Type="http://schemas.openxmlformats.org/officeDocument/2006/relationships/image" Target="../media/image102.png"/><Relationship Id="rId31" Type="http://schemas.openxmlformats.org/officeDocument/2006/relationships/image" Target="../media/image156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49.png"/><Relationship Id="rId27" Type="http://schemas.openxmlformats.org/officeDocument/2006/relationships/image" Target="../media/image153.png"/><Relationship Id="rId30" Type="http://schemas.openxmlformats.org/officeDocument/2006/relationships/image" Target="../media/image155.png"/><Relationship Id="rId35" Type="http://schemas.openxmlformats.org/officeDocument/2006/relationships/image" Target="../media/image160.png"/><Relationship Id="rId8" Type="http://schemas.openxmlformats.org/officeDocument/2006/relationships/image" Target="../media/image141.png"/><Relationship Id="rId3" Type="http://schemas.openxmlformats.org/officeDocument/2006/relationships/image" Target="../media/image136.png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4.png"/><Relationship Id="rId39" Type="http://schemas.openxmlformats.org/officeDocument/2006/relationships/image" Target="../media/image96.png"/><Relationship Id="rId21" Type="http://schemas.openxmlformats.org/officeDocument/2006/relationships/image" Target="../media/image180.png"/><Relationship Id="rId34" Type="http://schemas.openxmlformats.org/officeDocument/2006/relationships/image" Target="../media/image190.png"/><Relationship Id="rId42" Type="http://schemas.openxmlformats.org/officeDocument/2006/relationships/image" Target="../media/image197.png"/><Relationship Id="rId47" Type="http://schemas.openxmlformats.org/officeDocument/2006/relationships/image" Target="../media/image202.png"/><Relationship Id="rId50" Type="http://schemas.openxmlformats.org/officeDocument/2006/relationships/image" Target="../media/image205.png"/><Relationship Id="rId55" Type="http://schemas.openxmlformats.org/officeDocument/2006/relationships/image" Target="../media/image210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9" Type="http://schemas.openxmlformats.org/officeDocument/2006/relationships/image" Target="../media/image186.png"/><Relationship Id="rId11" Type="http://schemas.openxmlformats.org/officeDocument/2006/relationships/image" Target="../media/image170.png"/><Relationship Id="rId24" Type="http://schemas.openxmlformats.org/officeDocument/2006/relationships/image" Target="../media/image138.png"/><Relationship Id="rId32" Type="http://schemas.openxmlformats.org/officeDocument/2006/relationships/image" Target="../media/image111.png"/><Relationship Id="rId37" Type="http://schemas.openxmlformats.org/officeDocument/2006/relationships/image" Target="../media/image193.png"/><Relationship Id="rId40" Type="http://schemas.openxmlformats.org/officeDocument/2006/relationships/image" Target="../media/image195.png"/><Relationship Id="rId45" Type="http://schemas.openxmlformats.org/officeDocument/2006/relationships/image" Target="../media/image200.png"/><Relationship Id="rId53" Type="http://schemas.openxmlformats.org/officeDocument/2006/relationships/image" Target="../media/image208.png"/><Relationship Id="rId58" Type="http://schemas.openxmlformats.org/officeDocument/2006/relationships/image" Target="../media/image105.png"/><Relationship Id="rId5" Type="http://schemas.openxmlformats.org/officeDocument/2006/relationships/image" Target="../media/image164.pn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5.png"/><Relationship Id="rId30" Type="http://schemas.openxmlformats.org/officeDocument/2006/relationships/image" Target="../media/image187.png"/><Relationship Id="rId35" Type="http://schemas.openxmlformats.org/officeDocument/2006/relationships/image" Target="../media/image191.png"/><Relationship Id="rId43" Type="http://schemas.openxmlformats.org/officeDocument/2006/relationships/image" Target="../media/image198.png"/><Relationship Id="rId48" Type="http://schemas.openxmlformats.org/officeDocument/2006/relationships/image" Target="../media/image203.png"/><Relationship Id="rId56" Type="http://schemas.openxmlformats.org/officeDocument/2006/relationships/image" Target="../media/image211.png"/><Relationship Id="rId8" Type="http://schemas.openxmlformats.org/officeDocument/2006/relationships/image" Target="../media/image167.png"/><Relationship Id="rId51" Type="http://schemas.openxmlformats.org/officeDocument/2006/relationships/image" Target="../media/image206.png"/><Relationship Id="rId3" Type="http://schemas.openxmlformats.org/officeDocument/2006/relationships/image" Target="../media/image162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3.png"/><Relationship Id="rId33" Type="http://schemas.openxmlformats.org/officeDocument/2006/relationships/image" Target="../media/image189.png"/><Relationship Id="rId38" Type="http://schemas.openxmlformats.org/officeDocument/2006/relationships/image" Target="../media/image194.png"/><Relationship Id="rId46" Type="http://schemas.openxmlformats.org/officeDocument/2006/relationships/image" Target="../media/image201.png"/><Relationship Id="rId20" Type="http://schemas.openxmlformats.org/officeDocument/2006/relationships/image" Target="../media/image179.png"/><Relationship Id="rId41" Type="http://schemas.openxmlformats.org/officeDocument/2006/relationships/image" Target="../media/image196.png"/><Relationship Id="rId54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26.png"/><Relationship Id="rId36" Type="http://schemas.openxmlformats.org/officeDocument/2006/relationships/image" Target="../media/image192.png"/><Relationship Id="rId49" Type="http://schemas.openxmlformats.org/officeDocument/2006/relationships/image" Target="../media/image204.png"/><Relationship Id="rId57" Type="http://schemas.openxmlformats.org/officeDocument/2006/relationships/image" Target="../media/image212.png"/><Relationship Id="rId10" Type="http://schemas.openxmlformats.org/officeDocument/2006/relationships/image" Target="../media/image169.png"/><Relationship Id="rId31" Type="http://schemas.openxmlformats.org/officeDocument/2006/relationships/image" Target="../media/image188.png"/><Relationship Id="rId44" Type="http://schemas.openxmlformats.org/officeDocument/2006/relationships/image" Target="../media/image199.png"/><Relationship Id="rId52" Type="http://schemas.openxmlformats.org/officeDocument/2006/relationships/image" Target="../media/image207.png"/></Relationships>
</file>

<file path=ppt/slides/_rels/slide8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26" Type="http://schemas.openxmlformats.org/officeDocument/2006/relationships/image" Target="../media/image113.png"/><Relationship Id="rId39" Type="http://schemas.openxmlformats.org/officeDocument/2006/relationships/image" Target="../media/image245.png"/><Relationship Id="rId21" Type="http://schemas.openxmlformats.org/officeDocument/2006/relationships/image" Target="../media/image230.png"/><Relationship Id="rId34" Type="http://schemas.openxmlformats.org/officeDocument/2006/relationships/image" Target="../media/image241.png"/><Relationship Id="rId42" Type="http://schemas.openxmlformats.org/officeDocument/2006/relationships/image" Target="../media/image248.png"/><Relationship Id="rId7" Type="http://schemas.openxmlformats.org/officeDocument/2006/relationships/image" Target="../media/image126.png"/><Relationship Id="rId2" Type="http://schemas.openxmlformats.org/officeDocument/2006/relationships/image" Target="../media/image213.png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29" Type="http://schemas.openxmlformats.org/officeDocument/2006/relationships/image" Target="../media/image236.png"/><Relationship Id="rId41" Type="http://schemas.openxmlformats.org/officeDocument/2006/relationships/image" Target="../media/image2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72.png"/><Relationship Id="rId24" Type="http://schemas.openxmlformats.org/officeDocument/2006/relationships/image" Target="../media/image232.png"/><Relationship Id="rId32" Type="http://schemas.openxmlformats.org/officeDocument/2006/relationships/image" Target="../media/image239.png"/><Relationship Id="rId37" Type="http://schemas.openxmlformats.org/officeDocument/2006/relationships/image" Target="../media/image244.png"/><Relationship Id="rId40" Type="http://schemas.openxmlformats.org/officeDocument/2006/relationships/image" Target="../media/image246.png"/><Relationship Id="rId5" Type="http://schemas.openxmlformats.org/officeDocument/2006/relationships/image" Target="../media/image216.png"/><Relationship Id="rId15" Type="http://schemas.openxmlformats.org/officeDocument/2006/relationships/image" Target="../media/image224.png"/><Relationship Id="rId23" Type="http://schemas.openxmlformats.org/officeDocument/2006/relationships/image" Target="../media/image231.png"/><Relationship Id="rId28" Type="http://schemas.openxmlformats.org/officeDocument/2006/relationships/image" Target="../media/image235.png"/><Relationship Id="rId36" Type="http://schemas.openxmlformats.org/officeDocument/2006/relationships/image" Target="../media/image243.png"/><Relationship Id="rId10" Type="http://schemas.openxmlformats.org/officeDocument/2006/relationships/image" Target="../media/image220.png"/><Relationship Id="rId19" Type="http://schemas.openxmlformats.org/officeDocument/2006/relationships/image" Target="../media/image228.png"/><Relationship Id="rId31" Type="http://schemas.openxmlformats.org/officeDocument/2006/relationships/image" Target="../media/image238.png"/><Relationship Id="rId4" Type="http://schemas.openxmlformats.org/officeDocument/2006/relationships/image" Target="../media/image215.png"/><Relationship Id="rId9" Type="http://schemas.openxmlformats.org/officeDocument/2006/relationships/image" Target="../media/image219.png"/><Relationship Id="rId14" Type="http://schemas.openxmlformats.org/officeDocument/2006/relationships/image" Target="../media/image223.png"/><Relationship Id="rId22" Type="http://schemas.openxmlformats.org/officeDocument/2006/relationships/image" Target="../media/image179.png"/><Relationship Id="rId27" Type="http://schemas.openxmlformats.org/officeDocument/2006/relationships/image" Target="../media/image234.png"/><Relationship Id="rId30" Type="http://schemas.openxmlformats.org/officeDocument/2006/relationships/image" Target="../media/image237.png"/><Relationship Id="rId35" Type="http://schemas.openxmlformats.org/officeDocument/2006/relationships/image" Target="../media/image242.png"/><Relationship Id="rId43" Type="http://schemas.openxmlformats.org/officeDocument/2006/relationships/image" Target="../media/image105.png"/><Relationship Id="rId8" Type="http://schemas.openxmlformats.org/officeDocument/2006/relationships/image" Target="../media/image218.png"/><Relationship Id="rId3" Type="http://schemas.openxmlformats.org/officeDocument/2006/relationships/image" Target="../media/image214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5" Type="http://schemas.openxmlformats.org/officeDocument/2006/relationships/image" Target="../media/image233.png"/><Relationship Id="rId33" Type="http://schemas.openxmlformats.org/officeDocument/2006/relationships/image" Target="../media/image240.png"/><Relationship Id="rId38" Type="http://schemas.openxmlformats.org/officeDocument/2006/relationships/image" Target="../media/image15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13" Type="http://schemas.openxmlformats.org/officeDocument/2006/relationships/image" Target="../media/image260.png"/><Relationship Id="rId18" Type="http://schemas.openxmlformats.org/officeDocument/2006/relationships/image" Target="../media/image265.png"/><Relationship Id="rId26" Type="http://schemas.openxmlformats.org/officeDocument/2006/relationships/image" Target="../media/image273.png"/><Relationship Id="rId3" Type="http://schemas.openxmlformats.org/officeDocument/2006/relationships/image" Target="../media/image250.png"/><Relationship Id="rId21" Type="http://schemas.openxmlformats.org/officeDocument/2006/relationships/image" Target="../media/image268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272.png"/><Relationship Id="rId2" Type="http://schemas.openxmlformats.org/officeDocument/2006/relationships/image" Target="../media/image249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24" Type="http://schemas.openxmlformats.org/officeDocument/2006/relationships/image" Target="../media/image271.png"/><Relationship Id="rId5" Type="http://schemas.openxmlformats.org/officeDocument/2006/relationships/image" Target="../media/image252.png"/><Relationship Id="rId15" Type="http://schemas.openxmlformats.org/officeDocument/2006/relationships/image" Target="../media/image262.png"/><Relationship Id="rId23" Type="http://schemas.openxmlformats.org/officeDocument/2006/relationships/image" Target="../media/image270.png"/><Relationship Id="rId10" Type="http://schemas.openxmlformats.org/officeDocument/2006/relationships/image" Target="../media/image257.png"/><Relationship Id="rId19" Type="http://schemas.openxmlformats.org/officeDocument/2006/relationships/image" Target="../media/image266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69.png"/><Relationship Id="rId27" Type="http://schemas.openxmlformats.org/officeDocument/2006/relationships/image" Target="../media/image27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8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4" Type="http://schemas.openxmlformats.org/officeDocument/2006/relationships/image" Target="../media/image27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 </a:t>
            </a:r>
            <a:r>
              <a:rPr spc="-5" dirty="0"/>
              <a:t>to</a:t>
            </a:r>
            <a:r>
              <a:rPr spc="-35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9900"/>
              </a:lnSpc>
              <a:spcBef>
                <a:spcPts val="100"/>
              </a:spcBef>
            </a:pPr>
            <a:r>
              <a:rPr spc="-15" dirty="0"/>
              <a:t>Select-From-Where </a:t>
            </a:r>
            <a:r>
              <a:rPr spc="-5" dirty="0"/>
              <a:t>Statements  Multirelation Queries  Subqueries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634" y="448944"/>
            <a:ext cx="2539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</a:t>
            </a:r>
            <a:r>
              <a:rPr spc="-80" dirty="0"/>
              <a:t> </a:t>
            </a:r>
            <a:r>
              <a:rPr spc="-5" dirty="0"/>
              <a:t>SQL?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533795"/>
            <a:ext cx="7686675" cy="40735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very-high-level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language.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Say </a:t>
            </a:r>
            <a:r>
              <a:rPr sz="2800" spc="-5" dirty="0">
                <a:latin typeface="Tahoma"/>
                <a:cs typeface="Tahoma"/>
              </a:rPr>
              <a:t>“what to do” </a:t>
            </a:r>
            <a:r>
              <a:rPr sz="2800" spc="-15" dirty="0">
                <a:latin typeface="Tahoma"/>
                <a:cs typeface="Tahoma"/>
              </a:rPr>
              <a:t>rather </a:t>
            </a:r>
            <a:r>
              <a:rPr sz="2800" spc="-5" dirty="0">
                <a:latin typeface="Tahoma"/>
                <a:cs typeface="Tahoma"/>
              </a:rPr>
              <a:t>than “how to do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it.”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Avoid </a:t>
            </a:r>
            <a:r>
              <a:rPr sz="2800" spc="-5" dirty="0">
                <a:latin typeface="Tahoma"/>
                <a:cs typeface="Tahoma"/>
              </a:rPr>
              <a:t>a lot of data-manipulation details  needed in </a:t>
            </a:r>
            <a:r>
              <a:rPr sz="2800" spc="-10" dirty="0">
                <a:latin typeface="Tahoma"/>
                <a:cs typeface="Tahoma"/>
              </a:rPr>
              <a:t>procedural </a:t>
            </a:r>
            <a:r>
              <a:rPr sz="2800" spc="-5" dirty="0">
                <a:latin typeface="Tahoma"/>
                <a:cs typeface="Tahoma"/>
              </a:rPr>
              <a:t>languages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C++ or  </a:t>
            </a:r>
            <a:r>
              <a:rPr sz="2800" spc="-20" dirty="0">
                <a:latin typeface="Tahoma"/>
                <a:cs typeface="Tahoma"/>
              </a:rPr>
              <a:t>Java.</a:t>
            </a:r>
            <a:endParaRPr sz="2800" dirty="0">
              <a:latin typeface="Tahoma"/>
              <a:cs typeface="Tahoma"/>
            </a:endParaRPr>
          </a:p>
          <a:p>
            <a:pPr marL="355600" marR="38925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Database management system figures  out </a:t>
            </a:r>
            <a:r>
              <a:rPr sz="3200" dirty="0">
                <a:latin typeface="Tahoma"/>
                <a:cs typeface="Tahoma"/>
              </a:rPr>
              <a:t>“best”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0" dirty="0">
                <a:latin typeface="Tahoma"/>
                <a:cs typeface="Tahoma"/>
              </a:rPr>
              <a:t>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Called “query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optimization.”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740" y="829944"/>
            <a:ext cx="2128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历</a:t>
            </a:r>
            <a:r>
              <a:rPr spc="5" dirty="0">
                <a:latin typeface="宋体"/>
                <a:cs typeface="宋体"/>
              </a:rPr>
              <a:t>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617544"/>
            <a:ext cx="7428230" cy="283845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75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Structured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Query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spc="-5" dirty="0">
                <a:latin typeface="Tahoma"/>
                <a:cs typeface="Tahoma"/>
              </a:rPr>
              <a:t>Language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dirty="0">
                <a:latin typeface="宋体"/>
                <a:cs typeface="宋体"/>
              </a:rPr>
              <a:t>结构化查询语</a:t>
            </a:r>
            <a:r>
              <a:rPr sz="2600" spc="5" dirty="0">
                <a:latin typeface="宋体"/>
                <a:cs typeface="宋体"/>
              </a:rPr>
              <a:t>言</a:t>
            </a:r>
            <a:endParaRPr sz="26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1974</a:t>
            </a:r>
            <a:r>
              <a:rPr sz="2400" dirty="0">
                <a:latin typeface="宋体"/>
                <a:cs typeface="宋体"/>
              </a:rPr>
              <a:t>年由</a:t>
            </a:r>
            <a:r>
              <a:rPr sz="2400" spc="-10" dirty="0">
                <a:latin typeface="Tahoma"/>
                <a:cs typeface="Tahoma"/>
              </a:rPr>
              <a:t>Boyce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spc="-5" dirty="0">
                <a:latin typeface="Tahoma"/>
                <a:cs typeface="Tahoma"/>
              </a:rPr>
              <a:t>Chamberlin</a:t>
            </a:r>
            <a:r>
              <a:rPr sz="2400" dirty="0">
                <a:latin typeface="宋体"/>
                <a:cs typeface="宋体"/>
              </a:rPr>
              <a:t>提出</a:t>
            </a:r>
            <a:endParaRPr sz="24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1975~1979</a:t>
            </a:r>
            <a:r>
              <a:rPr sz="2400" dirty="0">
                <a:latin typeface="宋体"/>
                <a:cs typeface="宋体"/>
              </a:rPr>
              <a:t>年</a:t>
            </a:r>
            <a:r>
              <a:rPr sz="2400" spc="-5" dirty="0">
                <a:latin typeface="Tahoma"/>
                <a:cs typeface="Tahoma"/>
              </a:rPr>
              <a:t>IBM</a:t>
            </a:r>
            <a:r>
              <a:rPr sz="2400" dirty="0">
                <a:latin typeface="宋体"/>
                <a:cs typeface="宋体"/>
              </a:rPr>
              <a:t>公司实现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目前国际标准</a:t>
            </a:r>
            <a:r>
              <a:rPr sz="2600" spc="-10" dirty="0">
                <a:latin typeface="宋体"/>
                <a:cs typeface="宋体"/>
              </a:rPr>
              <a:t>：</a:t>
            </a:r>
            <a:r>
              <a:rPr sz="2600" spc="-10" dirty="0">
                <a:latin typeface="Tahoma"/>
                <a:cs typeface="Tahoma"/>
              </a:rPr>
              <a:t>ANSI-99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dirty="0">
                <a:latin typeface="宋体"/>
                <a:cs typeface="宋体"/>
              </a:rPr>
              <a:t>标</a:t>
            </a:r>
            <a:r>
              <a:rPr sz="2600" spc="5" dirty="0">
                <a:latin typeface="宋体"/>
                <a:cs typeface="宋体"/>
              </a:rPr>
              <a:t>准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2003</a:t>
            </a:r>
            <a:r>
              <a:rPr sz="2600" dirty="0">
                <a:latin typeface="宋体"/>
                <a:cs typeface="宋体"/>
              </a:rPr>
              <a:t>年添加了</a:t>
            </a:r>
            <a:r>
              <a:rPr sz="2600" spc="-5" dirty="0">
                <a:latin typeface="Tahoma"/>
                <a:cs typeface="Tahoma"/>
              </a:rPr>
              <a:t>XML</a:t>
            </a:r>
            <a:r>
              <a:rPr sz="2600" dirty="0">
                <a:latin typeface="宋体"/>
                <a:cs typeface="宋体"/>
              </a:rPr>
              <a:t>的操作</a:t>
            </a:r>
            <a:r>
              <a:rPr sz="2600" spc="-5" dirty="0">
                <a:latin typeface="Tahoma"/>
                <a:cs typeface="Tahoma"/>
              </a:rPr>
              <a:t>...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3211" y="5943600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7740" y="829944"/>
            <a:ext cx="2128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700212"/>
            <a:ext cx="7931784" cy="3666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85090" indent="-342900">
              <a:lnSpc>
                <a:spcPts val="3390"/>
              </a:lnSpc>
              <a:spcBef>
                <a:spcPts val="360"/>
              </a:spcBef>
              <a:buClr>
                <a:srgbClr val="CC00CC"/>
              </a:buClr>
              <a:buSzPct val="96610"/>
              <a:buFont typeface="Wingdings"/>
              <a:buChar char=""/>
              <a:tabLst>
                <a:tab pos="386080" algn="l"/>
              </a:tabLst>
            </a:pPr>
            <a:r>
              <a:rPr sz="2950" spc="5" dirty="0">
                <a:latin typeface="Tahoma"/>
                <a:cs typeface="Tahoma"/>
              </a:rPr>
              <a:t>SQL</a:t>
            </a:r>
            <a:r>
              <a:rPr sz="2950" spc="20" dirty="0">
                <a:latin typeface="宋体"/>
                <a:cs typeface="宋体"/>
              </a:rPr>
              <a:t>是一种介于关系代数和关系演算之间的</a:t>
            </a:r>
            <a:r>
              <a:rPr sz="2950" spc="15" dirty="0">
                <a:latin typeface="宋体"/>
                <a:cs typeface="宋体"/>
              </a:rPr>
              <a:t>结 </a:t>
            </a:r>
            <a:r>
              <a:rPr sz="2950" spc="20" dirty="0">
                <a:latin typeface="宋体"/>
                <a:cs typeface="宋体"/>
              </a:rPr>
              <a:t>构化查询语言</a:t>
            </a:r>
            <a:r>
              <a:rPr sz="2950" spc="3000" dirty="0">
                <a:latin typeface="宋体"/>
                <a:cs typeface="宋体"/>
              </a:rPr>
              <a:t>。</a:t>
            </a:r>
            <a:endParaRPr sz="2950">
              <a:latin typeface="宋体"/>
              <a:cs typeface="宋体"/>
            </a:endParaRPr>
          </a:p>
          <a:p>
            <a:pPr marL="355600" marR="74930" indent="-342900">
              <a:lnSpc>
                <a:spcPct val="99000"/>
              </a:lnSpc>
              <a:spcBef>
                <a:spcPts val="850"/>
              </a:spcBef>
              <a:buClr>
                <a:srgbClr val="CC00CC"/>
              </a:buClr>
              <a:buSzPct val="96610"/>
              <a:buFont typeface="Wingdings"/>
              <a:buChar char=""/>
              <a:tabLst>
                <a:tab pos="386080" algn="l"/>
              </a:tabLst>
            </a:pPr>
            <a:r>
              <a:rPr sz="2950" spc="5" dirty="0">
                <a:latin typeface="Tahoma"/>
                <a:cs typeface="Tahoma"/>
              </a:rPr>
              <a:t>SQL</a:t>
            </a:r>
            <a:r>
              <a:rPr sz="2950" spc="20" dirty="0">
                <a:latin typeface="宋体"/>
                <a:cs typeface="宋体"/>
              </a:rPr>
              <a:t>语言集数据查询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75" dirty="0">
                <a:latin typeface="Tahoma"/>
                <a:cs typeface="Tahoma"/>
              </a:rPr>
              <a:t> </a:t>
            </a:r>
            <a:r>
              <a:rPr sz="2950" spc="10" dirty="0">
                <a:latin typeface="Tahoma"/>
                <a:cs typeface="Tahoma"/>
              </a:rPr>
              <a:t>Query</a:t>
            </a:r>
            <a:r>
              <a:rPr sz="2950" spc="10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</a:t>
            </a:r>
            <a:r>
              <a:rPr sz="2950" spc="25" dirty="0">
                <a:latin typeface="宋体"/>
                <a:cs typeface="宋体"/>
              </a:rPr>
              <a:t>操 </a:t>
            </a:r>
            <a:r>
              <a:rPr sz="2950" spc="20" dirty="0">
                <a:latin typeface="宋体"/>
                <a:cs typeface="宋体"/>
              </a:rPr>
              <a:t>纵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10" dirty="0">
                <a:latin typeface="Tahoma"/>
                <a:cs typeface="Tahoma"/>
              </a:rPr>
              <a:t> </a:t>
            </a:r>
            <a:r>
              <a:rPr sz="2950" spc="5" dirty="0">
                <a:latin typeface="Tahoma"/>
                <a:cs typeface="Tahoma"/>
              </a:rPr>
              <a:t>Manipulation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、数据定义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  </a:t>
            </a:r>
            <a:r>
              <a:rPr sz="2950" spc="5" dirty="0">
                <a:latin typeface="Tahoma"/>
                <a:cs typeface="Tahoma"/>
              </a:rPr>
              <a:t>Definition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、数据控制</a:t>
            </a:r>
            <a:r>
              <a:rPr sz="2950" spc="10" dirty="0">
                <a:latin typeface="宋体"/>
                <a:cs typeface="宋体"/>
              </a:rPr>
              <a:t>（</a:t>
            </a:r>
            <a:r>
              <a:rPr sz="2950" spc="10" dirty="0">
                <a:latin typeface="Tahoma"/>
                <a:cs typeface="Tahoma"/>
              </a:rPr>
              <a:t>Data</a:t>
            </a:r>
            <a:r>
              <a:rPr sz="2950" spc="-25" dirty="0">
                <a:latin typeface="Tahoma"/>
                <a:cs typeface="Tahoma"/>
              </a:rPr>
              <a:t> </a:t>
            </a:r>
            <a:r>
              <a:rPr sz="2950" spc="5" dirty="0">
                <a:latin typeface="Tahoma"/>
                <a:cs typeface="Tahoma"/>
              </a:rPr>
              <a:t>Control</a:t>
            </a:r>
            <a:r>
              <a:rPr sz="2950" spc="5" dirty="0">
                <a:latin typeface="宋体"/>
                <a:cs typeface="宋体"/>
              </a:rPr>
              <a:t>）</a:t>
            </a:r>
            <a:r>
              <a:rPr sz="2950" spc="20" dirty="0">
                <a:latin typeface="宋体"/>
                <a:cs typeface="宋体"/>
              </a:rPr>
              <a:t>于</a:t>
            </a:r>
            <a:r>
              <a:rPr sz="2950" spc="25" dirty="0">
                <a:latin typeface="宋体"/>
                <a:cs typeface="宋体"/>
              </a:rPr>
              <a:t>一 </a:t>
            </a:r>
            <a:r>
              <a:rPr sz="2950" spc="20" dirty="0">
                <a:latin typeface="宋体"/>
                <a:cs typeface="宋体"/>
              </a:rPr>
              <a:t>体</a:t>
            </a:r>
            <a:r>
              <a:rPr sz="2950" spc="3000" dirty="0">
                <a:latin typeface="宋体"/>
                <a:cs typeface="宋体"/>
              </a:rPr>
              <a:t>。</a:t>
            </a:r>
            <a:endParaRPr sz="2950">
              <a:latin typeface="宋体"/>
              <a:cs typeface="宋体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Tahoma"/>
              <a:buChar char="•"/>
              <a:tabLst>
                <a:tab pos="469900" algn="l"/>
              </a:tabLst>
            </a:pPr>
            <a:r>
              <a:rPr sz="2550" dirty="0">
                <a:latin typeface="宋体"/>
                <a:cs typeface="宋体"/>
              </a:rPr>
              <a:t>关系模型中实体和实体间的联系都用关系来表示，使 得操作符单一，每种操作只使用一个操作符</a:t>
            </a:r>
            <a:r>
              <a:rPr sz="2550" spc="2560" dirty="0">
                <a:latin typeface="宋体"/>
                <a:cs typeface="宋体"/>
              </a:rPr>
              <a:t>。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73211" y="5943600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339" y="829944"/>
            <a:ext cx="2687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的特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39659" cy="31019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面向集合的操作方</a:t>
            </a:r>
            <a:r>
              <a:rPr sz="3200" spc="5" dirty="0">
                <a:latin typeface="宋体"/>
                <a:cs typeface="宋体"/>
              </a:rPr>
              <a:t>式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210"/>
              </a:lnSpc>
              <a:spcBef>
                <a:spcPts val="10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语言采用集合操作方式，查询、插入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dirty="0">
                <a:latin typeface="宋体"/>
                <a:cs typeface="宋体"/>
              </a:rPr>
              <a:t>删除、修改操作的对象都是集合</a:t>
            </a:r>
            <a:r>
              <a:rPr sz="2800" spc="2790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以同一种语法结构提供两种使用方</a:t>
            </a:r>
            <a:r>
              <a:rPr sz="3200" spc="5" dirty="0">
                <a:latin typeface="宋体"/>
                <a:cs typeface="宋体"/>
              </a:rPr>
              <a:t>式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ts val="3279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语言既是自含式语言，又是嵌入式语</a:t>
            </a:r>
            <a:r>
              <a:rPr sz="2800" spc="-5" dirty="0">
                <a:latin typeface="宋体"/>
                <a:cs typeface="宋体"/>
              </a:rPr>
              <a:t>言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279"/>
              </a:lnSpc>
            </a:pPr>
            <a:r>
              <a:rPr sz="2800" dirty="0">
                <a:latin typeface="宋体"/>
                <a:cs typeface="宋体"/>
              </a:rPr>
              <a:t>，而且语法结构基本一</a:t>
            </a:r>
            <a:r>
              <a:rPr sz="2800" spc="-5" dirty="0">
                <a:latin typeface="宋体"/>
                <a:cs typeface="宋体"/>
              </a:rPr>
              <a:t>致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339" y="829944"/>
            <a:ext cx="2687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dirty="0">
                <a:latin typeface="宋体"/>
                <a:cs typeface="宋体"/>
              </a:rPr>
              <a:t>的特</a:t>
            </a:r>
            <a:r>
              <a:rPr spc="5" dirty="0">
                <a:latin typeface="宋体"/>
                <a:cs typeface="宋体"/>
              </a:rPr>
              <a:t>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4162425" cy="11715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02590" marR="83820" indent="-402590" algn="r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02590" algn="l"/>
              </a:tabLst>
            </a:pPr>
            <a:r>
              <a:rPr sz="3200" spc="-5" dirty="0">
                <a:latin typeface="宋体"/>
                <a:cs typeface="宋体"/>
              </a:rPr>
              <a:t>语言简洁，易学易 </a:t>
            </a:r>
            <a:r>
              <a:rPr sz="3200" spc="5" dirty="0">
                <a:latin typeface="宋体"/>
                <a:cs typeface="宋体"/>
              </a:rPr>
              <a:t>用</a:t>
            </a:r>
            <a:endParaRPr sz="3200">
              <a:latin typeface="宋体"/>
              <a:cs typeface="宋体"/>
            </a:endParaRPr>
          </a:p>
          <a:p>
            <a:pPr marL="285750" marR="5080" lvl="1" indent="-285750" algn="r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dirty="0">
                <a:latin typeface="宋体"/>
                <a:cs typeface="宋体"/>
              </a:rPr>
              <a:t>核心功能一共</a:t>
            </a:r>
            <a:r>
              <a:rPr sz="2800" spc="-5" dirty="0">
                <a:latin typeface="Tahoma"/>
                <a:cs typeface="Tahoma"/>
              </a:rPr>
              <a:t>9</a:t>
            </a:r>
            <a:r>
              <a:rPr sz="2800" dirty="0">
                <a:latin typeface="宋体"/>
                <a:cs typeface="宋体"/>
              </a:rPr>
              <a:t>个动</a:t>
            </a:r>
            <a:r>
              <a:rPr sz="2800" spc="-5" dirty="0">
                <a:latin typeface="宋体"/>
                <a:cs typeface="宋体"/>
              </a:rPr>
              <a:t>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972" y="4088129"/>
            <a:ext cx="324904" cy="328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2388" y="4091940"/>
            <a:ext cx="323545" cy="325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35341" y="4088129"/>
            <a:ext cx="320827" cy="315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88769" y="4088129"/>
            <a:ext cx="314007" cy="3257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2388" y="4610100"/>
            <a:ext cx="323545" cy="3251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04837" y="3476625"/>
          <a:ext cx="7921625" cy="2590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sz="2800" b="1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功</a:t>
                      </a:r>
                      <a:r>
                        <a:rPr sz="2800" b="1" spc="-20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能</a:t>
                      </a:r>
                      <a:endParaRPr sz="2800">
                        <a:latin typeface="黑体"/>
                        <a:cs typeface="黑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动</a:t>
                      </a:r>
                      <a:r>
                        <a:rPr sz="2800" b="1" spc="-20" dirty="0">
                          <a:solidFill>
                            <a:srgbClr val="FF0000"/>
                          </a:solidFill>
                          <a:latin typeface="黑体"/>
                          <a:cs typeface="黑体"/>
                        </a:rPr>
                        <a:t>词</a:t>
                      </a:r>
                      <a:endParaRPr sz="2800">
                        <a:latin typeface="黑体"/>
                        <a:cs typeface="黑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SELECT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2800" b="1" spc="-3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DROP</a:t>
                      </a:r>
                      <a:r>
                        <a:rPr sz="2800" b="1" spc="-3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30" dirty="0">
                          <a:latin typeface="Times New Roman"/>
                          <a:cs typeface="Times New Roman"/>
                        </a:rPr>
                        <a:t>ALTER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INSERT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2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GRANT</a:t>
                      </a:r>
                      <a:r>
                        <a:rPr sz="2800" b="1" spc="-10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REVOKE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18972" y="4606290"/>
            <a:ext cx="324904" cy="32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39430" y="4608829"/>
            <a:ext cx="311289" cy="325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2846" y="4607559"/>
            <a:ext cx="320827" cy="3263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8972" y="5125720"/>
            <a:ext cx="324904" cy="3276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388" y="5128259"/>
            <a:ext cx="323545" cy="325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9892" y="5126990"/>
            <a:ext cx="326275" cy="3263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94205" y="5128259"/>
            <a:ext cx="322186" cy="3194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72388" y="5646420"/>
            <a:ext cx="323545" cy="325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8972" y="5643879"/>
            <a:ext cx="324904" cy="3276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9892" y="5643879"/>
            <a:ext cx="328993" cy="3263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90128" y="5643879"/>
            <a:ext cx="311289" cy="3263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725" y="829944"/>
            <a:ext cx="7702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Select-From-Where</a:t>
            </a:r>
            <a:r>
              <a:rPr spc="-1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7439" y="1915287"/>
            <a:ext cx="5960110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953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SELECT </a:t>
            </a:r>
            <a:r>
              <a:rPr sz="3200" spc="-5" dirty="0">
                <a:latin typeface="Tahoma"/>
                <a:cs typeface="Tahoma"/>
              </a:rPr>
              <a:t>desired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  </a:t>
            </a: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one or more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tables</a:t>
            </a:r>
            <a:endParaRPr sz="3200">
              <a:latin typeface="Tahoma"/>
              <a:cs typeface="Tahoma"/>
            </a:endParaRPr>
          </a:p>
          <a:p>
            <a:pPr marL="583565" marR="5080" indent="-571500">
              <a:lnSpc>
                <a:spcPct val="119900"/>
              </a:lnSpc>
            </a:pPr>
            <a:r>
              <a:rPr sz="3200" spc="-5" dirty="0">
                <a:solidFill>
                  <a:srgbClr val="006600"/>
                </a:solidFill>
                <a:latin typeface="Tahoma"/>
                <a:cs typeface="Tahoma"/>
              </a:rPr>
              <a:t>WHERE </a:t>
            </a:r>
            <a:r>
              <a:rPr sz="3200" spc="-5" dirty="0">
                <a:latin typeface="Tahoma"/>
                <a:cs typeface="Tahoma"/>
              </a:rPr>
              <a:t>condition about tuples of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5154" y="829944"/>
            <a:ext cx="5393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Our </a:t>
            </a:r>
            <a:r>
              <a:rPr spc="-10" dirty="0"/>
              <a:t>Running</a:t>
            </a:r>
            <a:r>
              <a:rPr spc="-40" dirty="0"/>
              <a:t> </a:t>
            </a: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8660"/>
            <a:ext cx="6640195" cy="40474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7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All our SQL queries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5" dirty="0">
                <a:latin typeface="Tahoma"/>
                <a:cs typeface="Tahoma"/>
              </a:rPr>
              <a:t>be based on the  following database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schema.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23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Underline indicates </a:t>
            </a:r>
            <a:r>
              <a:rPr sz="2400" spc="-10" dirty="0">
                <a:latin typeface="Tahoma"/>
                <a:cs typeface="Tahoma"/>
              </a:rPr>
              <a:t>key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attributes.</a:t>
            </a:r>
            <a:endParaRPr sz="2400">
              <a:latin typeface="Tahoma"/>
              <a:cs typeface="Tahoma"/>
            </a:endParaRPr>
          </a:p>
          <a:p>
            <a:pPr marL="1841500" marR="230504">
              <a:lnSpc>
                <a:spcPct val="109800"/>
              </a:lnSpc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Beers(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20" dirty="0">
                <a:solidFill>
                  <a:srgbClr val="CC00CC"/>
                </a:solidFill>
                <a:latin typeface="Tahoma"/>
                <a:cs typeface="Tahoma"/>
              </a:rPr>
              <a:t>manf) 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Bars(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addr, license)  Drinkers(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addr, phone)  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Likes(</a:t>
            </a:r>
            <a:r>
              <a:rPr sz="2800" u="heavy" spc="-10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drinker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  Sells(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price)  Frequents(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drinker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255634" cy="271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946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what beers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made 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Anheuser-Busch?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name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/>
          <p:nvPr/>
        </p:nvSpPr>
        <p:spPr>
          <a:xfrm>
            <a:off x="1519237" y="2052637"/>
            <a:ext cx="1990725" cy="2752725"/>
          </a:xfrm>
          <a:custGeom>
            <a:avLst/>
            <a:gdLst/>
            <a:ahLst/>
            <a:cxnLst/>
            <a:rect l="l" t="t" r="r" b="b"/>
            <a:pathLst>
              <a:path w="1990725" h="2752725">
                <a:moveTo>
                  <a:pt x="1990725" y="2752725"/>
                </a:moveTo>
                <a:lnTo>
                  <a:pt x="0" y="2752725"/>
                </a:lnTo>
                <a:lnTo>
                  <a:pt x="0" y="0"/>
                </a:lnTo>
                <a:lnTo>
                  <a:pt x="1990725" y="0"/>
                </a:lnTo>
                <a:lnTo>
                  <a:pt x="1990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743200"/>
                </a:lnTo>
                <a:lnTo>
                  <a:pt x="4762" y="2743200"/>
                </a:lnTo>
                <a:lnTo>
                  <a:pt x="9525" y="2747962"/>
                </a:lnTo>
                <a:lnTo>
                  <a:pt x="1990725" y="2747962"/>
                </a:lnTo>
                <a:lnTo>
                  <a:pt x="1990725" y="2752725"/>
                </a:lnTo>
                <a:close/>
              </a:path>
              <a:path w="1990725" h="2752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90725" h="2752725">
                <a:moveTo>
                  <a:pt x="1981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81200" y="4762"/>
                </a:lnTo>
                <a:lnTo>
                  <a:pt x="1981200" y="9525"/>
                </a:lnTo>
                <a:close/>
              </a:path>
              <a:path w="1990725" h="2752725">
                <a:moveTo>
                  <a:pt x="1981200" y="2747962"/>
                </a:moveTo>
                <a:lnTo>
                  <a:pt x="1981200" y="4762"/>
                </a:lnTo>
                <a:lnTo>
                  <a:pt x="1985962" y="9525"/>
                </a:lnTo>
                <a:lnTo>
                  <a:pt x="1990725" y="9525"/>
                </a:lnTo>
                <a:lnTo>
                  <a:pt x="1990725" y="2743200"/>
                </a:lnTo>
                <a:lnTo>
                  <a:pt x="1985962" y="2743200"/>
                </a:lnTo>
                <a:lnTo>
                  <a:pt x="1981200" y="2747962"/>
                </a:lnTo>
                <a:close/>
              </a:path>
              <a:path w="1990725" h="2752725">
                <a:moveTo>
                  <a:pt x="1990725" y="9525"/>
                </a:moveTo>
                <a:lnTo>
                  <a:pt x="1985962" y="9525"/>
                </a:lnTo>
                <a:lnTo>
                  <a:pt x="1981200" y="4762"/>
                </a:lnTo>
                <a:lnTo>
                  <a:pt x="1990725" y="4762"/>
                </a:lnTo>
                <a:lnTo>
                  <a:pt x="1990725" y="9525"/>
                </a:lnTo>
                <a:close/>
              </a:path>
              <a:path w="1990725" h="2752725">
                <a:moveTo>
                  <a:pt x="9525" y="2747962"/>
                </a:moveTo>
                <a:lnTo>
                  <a:pt x="4762" y="2743200"/>
                </a:lnTo>
                <a:lnTo>
                  <a:pt x="9525" y="2743200"/>
                </a:lnTo>
                <a:lnTo>
                  <a:pt x="9525" y="2747962"/>
                </a:lnTo>
                <a:close/>
              </a:path>
              <a:path w="1990725" h="2752725">
                <a:moveTo>
                  <a:pt x="1981200" y="2747962"/>
                </a:moveTo>
                <a:lnTo>
                  <a:pt x="9525" y="2747962"/>
                </a:lnTo>
                <a:lnTo>
                  <a:pt x="9525" y="2743200"/>
                </a:lnTo>
                <a:lnTo>
                  <a:pt x="1981200" y="2743200"/>
                </a:lnTo>
                <a:lnTo>
                  <a:pt x="1981200" y="2747962"/>
                </a:lnTo>
                <a:close/>
              </a:path>
              <a:path w="1990725" h="2752725">
                <a:moveTo>
                  <a:pt x="1990725" y="2747962"/>
                </a:moveTo>
                <a:lnTo>
                  <a:pt x="1981200" y="2747962"/>
                </a:lnTo>
                <a:lnTo>
                  <a:pt x="1985962" y="2743200"/>
                </a:lnTo>
                <a:lnTo>
                  <a:pt x="1990725" y="2743200"/>
                </a:lnTo>
                <a:lnTo>
                  <a:pt x="1990725" y="2747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0" y="2590800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82064" y="1915287"/>
            <a:ext cx="7423150" cy="420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 marR="553974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name  </a:t>
            </a: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40894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789940">
              <a:lnSpc>
                <a:spcPts val="374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12700" marR="5080">
              <a:lnSpc>
                <a:spcPts val="3360"/>
              </a:lnSpc>
              <a:spcBef>
                <a:spcPts val="10"/>
              </a:spcBef>
            </a:pPr>
            <a:r>
              <a:rPr sz="2800" spc="-5" dirty="0">
                <a:latin typeface="Tahoma"/>
                <a:cs typeface="Tahoma"/>
              </a:rPr>
              <a:t>The answer is a relation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a single attribute,  name, and tuples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name of each beer 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Anheuser-Busch, such 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829944"/>
            <a:ext cx="8255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Meaning of </a:t>
            </a:r>
            <a:r>
              <a:rPr spc="-10" dirty="0"/>
              <a:t>Single-Relation</a:t>
            </a:r>
            <a:r>
              <a:rPr spc="-25" dirty="0"/>
              <a:t> </a:t>
            </a:r>
            <a:r>
              <a:rPr spc="-5" dirty="0"/>
              <a:t>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9515" cy="314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302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Begin </a:t>
            </a:r>
            <a:r>
              <a:rPr sz="3200" spc="-5" dirty="0">
                <a:latin typeface="Tahoma"/>
                <a:cs typeface="Tahoma"/>
              </a:rPr>
              <a:t>with the relation in the FROM  clause.</a:t>
            </a:r>
            <a:endParaRPr sz="3200">
              <a:latin typeface="Tahoma"/>
              <a:cs typeface="Tahoma"/>
            </a:endParaRPr>
          </a:p>
          <a:p>
            <a:pPr marL="355600" marR="7461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the selection indicated by the 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the extended projection indicated  by the 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4035" y="829944"/>
            <a:ext cx="5535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</a:t>
            </a:r>
            <a:r>
              <a:rPr spc="-65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4" name="object 4"/>
          <p:cNvSpPr/>
          <p:nvPr/>
        </p:nvSpPr>
        <p:spPr>
          <a:xfrm>
            <a:off x="1214437" y="1900237"/>
            <a:ext cx="3514725" cy="2905125"/>
          </a:xfrm>
          <a:custGeom>
            <a:avLst/>
            <a:gdLst/>
            <a:ahLst/>
            <a:cxnLst/>
            <a:rect l="l" t="t" r="r" b="b"/>
            <a:pathLst>
              <a:path w="3514725" h="2905125">
                <a:moveTo>
                  <a:pt x="3514725" y="2905125"/>
                </a:moveTo>
                <a:lnTo>
                  <a:pt x="0" y="2905125"/>
                </a:lnTo>
                <a:lnTo>
                  <a:pt x="0" y="0"/>
                </a:lnTo>
                <a:lnTo>
                  <a:pt x="3514725" y="0"/>
                </a:lnTo>
                <a:lnTo>
                  <a:pt x="3514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895600"/>
                </a:lnTo>
                <a:lnTo>
                  <a:pt x="4762" y="2895600"/>
                </a:lnTo>
                <a:lnTo>
                  <a:pt x="9525" y="2900362"/>
                </a:lnTo>
                <a:lnTo>
                  <a:pt x="3514725" y="2900362"/>
                </a:lnTo>
                <a:lnTo>
                  <a:pt x="3514725" y="2905125"/>
                </a:lnTo>
                <a:close/>
              </a:path>
              <a:path w="3514725" h="2905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514725" h="2905125">
                <a:moveTo>
                  <a:pt x="3505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05200" y="4762"/>
                </a:lnTo>
                <a:lnTo>
                  <a:pt x="3505200" y="9525"/>
                </a:lnTo>
                <a:close/>
              </a:path>
              <a:path w="3514725" h="2905125">
                <a:moveTo>
                  <a:pt x="3505200" y="2900362"/>
                </a:moveTo>
                <a:lnTo>
                  <a:pt x="3505200" y="4762"/>
                </a:lnTo>
                <a:lnTo>
                  <a:pt x="3509962" y="9525"/>
                </a:lnTo>
                <a:lnTo>
                  <a:pt x="3514725" y="9525"/>
                </a:lnTo>
                <a:lnTo>
                  <a:pt x="3514725" y="2895600"/>
                </a:lnTo>
                <a:lnTo>
                  <a:pt x="3509962" y="2895600"/>
                </a:lnTo>
                <a:lnTo>
                  <a:pt x="3505200" y="2900362"/>
                </a:lnTo>
                <a:close/>
              </a:path>
              <a:path w="3514725" h="2905125">
                <a:moveTo>
                  <a:pt x="3514725" y="9525"/>
                </a:moveTo>
                <a:lnTo>
                  <a:pt x="3509962" y="9525"/>
                </a:lnTo>
                <a:lnTo>
                  <a:pt x="3505200" y="4762"/>
                </a:lnTo>
                <a:lnTo>
                  <a:pt x="3514725" y="4762"/>
                </a:lnTo>
                <a:lnTo>
                  <a:pt x="3514725" y="9525"/>
                </a:lnTo>
                <a:close/>
              </a:path>
              <a:path w="3514725" h="2905125">
                <a:moveTo>
                  <a:pt x="9525" y="2900362"/>
                </a:moveTo>
                <a:lnTo>
                  <a:pt x="4762" y="2895600"/>
                </a:lnTo>
                <a:lnTo>
                  <a:pt x="9525" y="2895600"/>
                </a:lnTo>
                <a:lnTo>
                  <a:pt x="9525" y="2900362"/>
                </a:lnTo>
                <a:close/>
              </a:path>
              <a:path w="3514725" h="2905125">
                <a:moveTo>
                  <a:pt x="3505200" y="2900362"/>
                </a:moveTo>
                <a:lnTo>
                  <a:pt x="9525" y="2900362"/>
                </a:lnTo>
                <a:lnTo>
                  <a:pt x="9525" y="2895600"/>
                </a:lnTo>
                <a:lnTo>
                  <a:pt x="3505200" y="2895600"/>
                </a:lnTo>
                <a:lnTo>
                  <a:pt x="3505200" y="2900362"/>
                </a:lnTo>
                <a:close/>
              </a:path>
              <a:path w="3514725" h="2905125">
                <a:moveTo>
                  <a:pt x="3514725" y="2900362"/>
                </a:moveTo>
                <a:lnTo>
                  <a:pt x="3505200" y="2900362"/>
                </a:lnTo>
                <a:lnTo>
                  <a:pt x="3509962" y="2895600"/>
                </a:lnTo>
                <a:lnTo>
                  <a:pt x="3514725" y="2895600"/>
                </a:lnTo>
                <a:lnTo>
                  <a:pt x="3514725" y="2900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400" y="3733800"/>
            <a:ext cx="384810" cy="460375"/>
          </a:xfrm>
          <a:custGeom>
            <a:avLst/>
            <a:gdLst/>
            <a:ahLst/>
            <a:cxnLst/>
            <a:rect l="l" t="t" r="r" b="b"/>
            <a:pathLst>
              <a:path w="384810" h="460375">
                <a:moveTo>
                  <a:pt x="19507" y="82930"/>
                </a:moveTo>
                <a:lnTo>
                  <a:pt x="0" y="0"/>
                </a:lnTo>
                <a:lnTo>
                  <a:pt x="78054" y="34150"/>
                </a:lnTo>
                <a:lnTo>
                  <a:pt x="70006" y="40855"/>
                </a:lnTo>
                <a:lnTo>
                  <a:pt x="40246" y="40855"/>
                </a:lnTo>
                <a:lnTo>
                  <a:pt x="32931" y="46951"/>
                </a:lnTo>
                <a:lnTo>
                  <a:pt x="45125" y="61585"/>
                </a:lnTo>
                <a:lnTo>
                  <a:pt x="19507" y="82930"/>
                </a:lnTo>
                <a:close/>
              </a:path>
              <a:path w="384810" h="460375">
                <a:moveTo>
                  <a:pt x="45125" y="61585"/>
                </a:moveTo>
                <a:lnTo>
                  <a:pt x="32931" y="46951"/>
                </a:lnTo>
                <a:lnTo>
                  <a:pt x="40246" y="40855"/>
                </a:lnTo>
                <a:lnTo>
                  <a:pt x="52441" y="55490"/>
                </a:lnTo>
                <a:lnTo>
                  <a:pt x="45125" y="61585"/>
                </a:lnTo>
                <a:close/>
              </a:path>
              <a:path w="384810" h="460375">
                <a:moveTo>
                  <a:pt x="52441" y="55490"/>
                </a:moveTo>
                <a:lnTo>
                  <a:pt x="40246" y="40855"/>
                </a:lnTo>
                <a:lnTo>
                  <a:pt x="70006" y="40855"/>
                </a:lnTo>
                <a:lnTo>
                  <a:pt x="52441" y="55490"/>
                </a:lnTo>
                <a:close/>
              </a:path>
              <a:path w="384810" h="460375">
                <a:moveTo>
                  <a:pt x="377342" y="460248"/>
                </a:moveTo>
                <a:lnTo>
                  <a:pt x="45125" y="61585"/>
                </a:lnTo>
                <a:lnTo>
                  <a:pt x="52441" y="55490"/>
                </a:lnTo>
                <a:lnTo>
                  <a:pt x="384657" y="454151"/>
                </a:lnTo>
                <a:lnTo>
                  <a:pt x="377342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19200" y="1905000"/>
          <a:ext cx="3505200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83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manf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96240">
                        <a:lnSpc>
                          <a:spcPts val="25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Anheuser-Busch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724400" y="3578225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76200"/>
                </a:moveTo>
                <a:lnTo>
                  <a:pt x="1219200" y="0"/>
                </a:lnTo>
                <a:lnTo>
                  <a:pt x="1285875" y="33337"/>
                </a:lnTo>
                <a:lnTo>
                  <a:pt x="1238250" y="33337"/>
                </a:lnTo>
                <a:lnTo>
                  <a:pt x="1238250" y="42862"/>
                </a:lnTo>
                <a:lnTo>
                  <a:pt x="1285875" y="42862"/>
                </a:lnTo>
                <a:lnTo>
                  <a:pt x="1219200" y="76200"/>
                </a:lnTo>
                <a:close/>
              </a:path>
              <a:path w="1295400" h="76200">
                <a:moveTo>
                  <a:pt x="12192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219200" y="33337"/>
                </a:lnTo>
                <a:lnTo>
                  <a:pt x="1219200" y="42862"/>
                </a:lnTo>
                <a:close/>
              </a:path>
              <a:path w="1295400" h="76200">
                <a:moveTo>
                  <a:pt x="1285875" y="42862"/>
                </a:moveTo>
                <a:lnTo>
                  <a:pt x="1238250" y="42862"/>
                </a:lnTo>
                <a:lnTo>
                  <a:pt x="1238250" y="33337"/>
                </a:lnTo>
                <a:lnTo>
                  <a:pt x="1285875" y="33337"/>
                </a:lnTo>
                <a:lnTo>
                  <a:pt x="1295400" y="38100"/>
                </a:lnTo>
                <a:lnTo>
                  <a:pt x="12858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9665" y="3377247"/>
            <a:ext cx="3606165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9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Include t.name  </a:t>
            </a:r>
            <a:r>
              <a:rPr sz="2400" dirty="0">
                <a:latin typeface="Tahoma"/>
                <a:cs typeface="Tahoma"/>
              </a:rPr>
              <a:t>in the </a:t>
            </a:r>
            <a:r>
              <a:rPr sz="2400" spc="-5" dirty="0">
                <a:latin typeface="Tahoma"/>
                <a:cs typeface="Tahoma"/>
              </a:rPr>
              <a:t>result, </a:t>
            </a:r>
            <a:r>
              <a:rPr sz="2400" dirty="0">
                <a:latin typeface="Tahoma"/>
                <a:cs typeface="Tahoma"/>
              </a:rPr>
              <a:t>if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so</a:t>
            </a:r>
            <a:endParaRPr sz="2400">
              <a:latin typeface="Tahoma"/>
              <a:cs typeface="Tahoma"/>
            </a:endParaRPr>
          </a:p>
          <a:p>
            <a:pPr marL="12700" marR="1420495">
              <a:lnSpc>
                <a:spcPct val="100000"/>
              </a:lnSpc>
              <a:spcBef>
                <a:spcPts val="1165"/>
              </a:spcBef>
            </a:pPr>
            <a:r>
              <a:rPr sz="2400" spc="-5" dirty="0">
                <a:latin typeface="Tahoma"/>
                <a:cs typeface="Tahoma"/>
              </a:rPr>
              <a:t>Check </a:t>
            </a:r>
            <a:r>
              <a:rPr sz="2400" dirty="0">
                <a:latin typeface="Tahoma"/>
                <a:cs typeface="Tahoma"/>
              </a:rPr>
              <a:t>if  Anheu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3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-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sc</a:t>
            </a:r>
            <a:r>
              <a:rPr sz="2400" dirty="0">
                <a:latin typeface="Tahoma"/>
                <a:cs typeface="Tahoma"/>
              </a:rPr>
              <a:t>h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5427359"/>
            <a:ext cx="2186940" cy="11379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15"/>
              </a:spcBef>
            </a:pPr>
            <a:r>
              <a:rPr sz="2400" spc="-25" dirty="0">
                <a:latin typeface="Tahoma"/>
                <a:cs typeface="Tahoma"/>
              </a:rPr>
              <a:t>Tuple-variable </a:t>
            </a:r>
            <a:r>
              <a:rPr sz="2500" i="1" spc="-35" dirty="0">
                <a:latin typeface="Tahoma"/>
                <a:cs typeface="Tahoma"/>
              </a:rPr>
              <a:t>t  </a:t>
            </a:r>
            <a:r>
              <a:rPr sz="2400" spc="-5" dirty="0">
                <a:latin typeface="Tahoma"/>
                <a:cs typeface="Tahoma"/>
              </a:rPr>
              <a:t>loops </a:t>
            </a:r>
            <a:r>
              <a:rPr sz="2400" spc="-10" dirty="0">
                <a:latin typeface="Tahoma"/>
                <a:cs typeface="Tahoma"/>
              </a:rPr>
              <a:t>over </a:t>
            </a:r>
            <a:r>
              <a:rPr sz="2400" dirty="0">
                <a:latin typeface="Tahoma"/>
                <a:cs typeface="Tahoma"/>
              </a:rPr>
              <a:t>all  </a:t>
            </a:r>
            <a:r>
              <a:rPr sz="2400" spc="-5" dirty="0">
                <a:latin typeface="Tahoma"/>
                <a:cs typeface="Tahoma"/>
              </a:rPr>
              <a:t>tuples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967" y="3657600"/>
            <a:ext cx="698500" cy="1754505"/>
          </a:xfrm>
          <a:custGeom>
            <a:avLst/>
            <a:gdLst/>
            <a:ahLst/>
            <a:cxnLst/>
            <a:rect l="l" t="t" r="r" b="b"/>
            <a:pathLst>
              <a:path w="698500" h="1754504">
                <a:moveTo>
                  <a:pt x="658030" y="69225"/>
                </a:moveTo>
                <a:lnTo>
                  <a:pt x="626986" y="57073"/>
                </a:lnTo>
                <a:lnTo>
                  <a:pt x="690232" y="0"/>
                </a:lnTo>
                <a:lnTo>
                  <a:pt x="694910" y="51485"/>
                </a:lnTo>
                <a:lnTo>
                  <a:pt x="664971" y="51485"/>
                </a:lnTo>
                <a:lnTo>
                  <a:pt x="658030" y="69225"/>
                </a:lnTo>
                <a:close/>
              </a:path>
              <a:path w="698500" h="1754504">
                <a:moveTo>
                  <a:pt x="666893" y="72695"/>
                </a:moveTo>
                <a:lnTo>
                  <a:pt x="658030" y="69225"/>
                </a:lnTo>
                <a:lnTo>
                  <a:pt x="664971" y="51485"/>
                </a:lnTo>
                <a:lnTo>
                  <a:pt x="673836" y="54952"/>
                </a:lnTo>
                <a:lnTo>
                  <a:pt x="666893" y="72695"/>
                </a:lnTo>
                <a:close/>
              </a:path>
              <a:path w="698500" h="1754504">
                <a:moveTo>
                  <a:pt x="697941" y="84848"/>
                </a:moveTo>
                <a:lnTo>
                  <a:pt x="666893" y="72695"/>
                </a:lnTo>
                <a:lnTo>
                  <a:pt x="673836" y="54952"/>
                </a:lnTo>
                <a:lnTo>
                  <a:pt x="664971" y="51485"/>
                </a:lnTo>
                <a:lnTo>
                  <a:pt x="694910" y="51485"/>
                </a:lnTo>
                <a:lnTo>
                  <a:pt x="697941" y="84848"/>
                </a:lnTo>
                <a:close/>
              </a:path>
              <a:path w="698500" h="1754504">
                <a:moveTo>
                  <a:pt x="8864" y="1754339"/>
                </a:moveTo>
                <a:lnTo>
                  <a:pt x="0" y="1750860"/>
                </a:lnTo>
                <a:lnTo>
                  <a:pt x="658030" y="69225"/>
                </a:lnTo>
                <a:lnTo>
                  <a:pt x="666893" y="72695"/>
                </a:lnTo>
                <a:lnTo>
                  <a:pt x="8864" y="1754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70" y="829944"/>
            <a:ext cx="8379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 </a:t>
            </a:r>
            <a:r>
              <a:rPr spc="-5" dirty="0"/>
              <a:t>Semantics ---</a:t>
            </a:r>
            <a:r>
              <a:rPr spc="-45" dirty="0"/>
              <a:t> </a:t>
            </a:r>
            <a:r>
              <a:rPr spc="-15" dirty="0"/>
              <a:t>General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92617"/>
            <a:ext cx="7697470" cy="36550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Think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350" i="1" spc="-1000" dirty="0">
                <a:solidFill>
                  <a:srgbClr val="FF0066"/>
                </a:solidFill>
                <a:latin typeface="Tahoma"/>
                <a:cs typeface="Tahoma"/>
              </a:rPr>
              <a:t>tuplevariable </a:t>
            </a:r>
            <a:r>
              <a:rPr sz="3200" spc="-5" dirty="0">
                <a:latin typeface="Tahoma"/>
                <a:cs typeface="Tahoma"/>
              </a:rPr>
              <a:t>visiting each  tuple of the relation mentioned in FROM.</a:t>
            </a:r>
            <a:endParaRPr sz="3200">
              <a:latin typeface="Tahoma"/>
              <a:cs typeface="Tahoma"/>
            </a:endParaRPr>
          </a:p>
          <a:p>
            <a:pPr marL="355600" marR="13462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Check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“current” tuple satisfies the 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  <a:p>
            <a:pPr marL="355600" marR="25336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20" dirty="0">
                <a:latin typeface="Tahoma"/>
                <a:cs typeface="Tahoma"/>
              </a:rPr>
              <a:t>so, </a:t>
            </a:r>
            <a:r>
              <a:rPr sz="3200" spc="-5" dirty="0">
                <a:latin typeface="Tahoma"/>
                <a:cs typeface="Tahoma"/>
              </a:rPr>
              <a:t>compute the attributes or  expressions of the SELECT clause using  the components of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4860" y="829944"/>
            <a:ext cx="5034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* </a:t>
            </a:r>
            <a:r>
              <a:rPr spc="-15" dirty="0"/>
              <a:t>In </a:t>
            </a:r>
            <a:r>
              <a:rPr spc="-5" dirty="0"/>
              <a:t>SELECT</a:t>
            </a:r>
            <a:r>
              <a:rPr spc="-50" dirty="0"/>
              <a:t> </a:t>
            </a:r>
            <a:r>
              <a:rPr spc="-5" dirty="0"/>
              <a:t>clauses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60549"/>
            <a:ext cx="8255634" cy="379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0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there is one relation in the FROM  clause, </a:t>
            </a:r>
            <a:r>
              <a:rPr sz="3200" dirty="0">
                <a:latin typeface="Tahoma"/>
                <a:cs typeface="Tahoma"/>
              </a:rPr>
              <a:t>* </a:t>
            </a:r>
            <a:r>
              <a:rPr sz="3200" spc="-5" dirty="0">
                <a:latin typeface="Tahoma"/>
                <a:cs typeface="Tahoma"/>
              </a:rPr>
              <a:t>in the SELECT clause stands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“all attributes of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relation.”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*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429" y="829944"/>
            <a:ext cx="4041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0" dirty="0"/>
              <a:t> </a:t>
            </a:r>
            <a:r>
              <a:rPr spc="-5" dirty="0"/>
              <a:t>Query: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2011680"/>
            <a:ext cx="36804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55265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nam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e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man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2500122"/>
            <a:ext cx="159829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760">
              <a:lnSpc>
                <a:spcPct val="119900"/>
              </a:lnSpc>
              <a:spcBef>
                <a:spcPts val="100"/>
              </a:spcBef>
            </a:pP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2500122"/>
            <a:ext cx="291274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</a:t>
            </a:r>
            <a:endParaRPr sz="3200">
              <a:latin typeface="Tahoma"/>
              <a:cs typeface="Tahoma"/>
            </a:endParaRPr>
          </a:p>
          <a:p>
            <a:pPr marL="393700" algn="just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5437" y="2052637"/>
            <a:ext cx="6105525" cy="3057525"/>
          </a:xfrm>
          <a:custGeom>
            <a:avLst/>
            <a:gdLst/>
            <a:ahLst/>
            <a:cxnLst/>
            <a:rect l="l" t="t" r="r" b="b"/>
            <a:pathLst>
              <a:path w="6105525" h="3057525">
                <a:moveTo>
                  <a:pt x="6105525" y="3057525"/>
                </a:moveTo>
                <a:lnTo>
                  <a:pt x="0" y="30575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0"/>
                </a:lnTo>
                <a:lnTo>
                  <a:pt x="4762" y="3048000"/>
                </a:lnTo>
                <a:lnTo>
                  <a:pt x="9525" y="3052762"/>
                </a:lnTo>
                <a:lnTo>
                  <a:pt x="6105525" y="3052762"/>
                </a:lnTo>
                <a:lnTo>
                  <a:pt x="6105525" y="3057525"/>
                </a:lnTo>
                <a:close/>
              </a:path>
              <a:path w="6105525" h="3057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30575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3048000"/>
                </a:lnTo>
                <a:lnTo>
                  <a:pt x="6100762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3057525">
                <a:moveTo>
                  <a:pt x="9525" y="3052762"/>
                </a:moveTo>
                <a:lnTo>
                  <a:pt x="4762" y="3048000"/>
                </a:lnTo>
                <a:lnTo>
                  <a:pt x="9525" y="3048000"/>
                </a:lnTo>
                <a:lnTo>
                  <a:pt x="9525" y="3052762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9525" y="3052762"/>
                </a:lnTo>
                <a:lnTo>
                  <a:pt x="9525" y="3048000"/>
                </a:lnTo>
                <a:lnTo>
                  <a:pt x="6096000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3052762"/>
                </a:moveTo>
                <a:lnTo>
                  <a:pt x="6096000" y="3052762"/>
                </a:lnTo>
                <a:lnTo>
                  <a:pt x="6100762" y="3048000"/>
                </a:lnTo>
                <a:lnTo>
                  <a:pt x="6105525" y="3048000"/>
                </a:lnTo>
                <a:lnTo>
                  <a:pt x="6105525" y="3052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259080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>
                <a:moveTo>
                  <a:pt x="0" y="0"/>
                </a:moveTo>
                <a:lnTo>
                  <a:pt x="609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2400" y="2057400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539" y="5214620"/>
            <a:ext cx="654939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Now, </a:t>
            </a:r>
            <a:r>
              <a:rPr sz="2800" spc="-5" dirty="0">
                <a:latin typeface="Tahoma"/>
                <a:cs typeface="Tahoma"/>
              </a:rPr>
              <a:t>the result has each of the attributes  of Beers.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5495" y="829944"/>
            <a:ext cx="5033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Renaming</a:t>
            </a:r>
            <a:r>
              <a:rPr spc="-70" dirty="0"/>
              <a:t> </a:t>
            </a:r>
            <a:r>
              <a:rPr spc="-10" dirty="0"/>
              <a:t>Attributes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039734" cy="379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you want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spc="-15" dirty="0">
                <a:latin typeface="Tahoma"/>
                <a:cs typeface="Tahoma"/>
              </a:rPr>
              <a:t>have different  </a:t>
            </a:r>
            <a:r>
              <a:rPr sz="3200" spc="-5" dirty="0">
                <a:latin typeface="Tahoma"/>
                <a:cs typeface="Tahoma"/>
              </a:rPr>
              <a:t>attribute names, use </a:t>
            </a:r>
            <a:r>
              <a:rPr sz="3200" spc="-55" dirty="0">
                <a:latin typeface="Tahoma"/>
                <a:cs typeface="Tahoma"/>
              </a:rPr>
              <a:t>“AS </a:t>
            </a:r>
            <a:r>
              <a:rPr sz="3200" spc="-5" dirty="0">
                <a:latin typeface="Tahoma"/>
                <a:cs typeface="Tahoma"/>
              </a:rPr>
              <a:t>&lt;new name&gt;” to  rename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attribute.</a:t>
            </a:r>
            <a:endParaRPr sz="3200">
              <a:latin typeface="Tahoma"/>
              <a:cs typeface="Tahoma"/>
            </a:endParaRPr>
          </a:p>
          <a:p>
            <a:pPr marL="415290" marR="1007744" indent="-415290" algn="just">
              <a:lnSpc>
                <a:spcPct val="115999"/>
              </a:lnSpc>
              <a:spcBef>
                <a:spcPts val="1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:  </a:t>
            </a:r>
            <a:r>
              <a:rPr sz="3200" spc="-5" dirty="0">
                <a:latin typeface="Courier New"/>
                <a:cs typeface="Courier New"/>
              </a:rPr>
              <a:t>SELECT name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beer, manf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</a:t>
            </a:r>
            <a:endParaRPr sz="3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manf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’Anheuser-Busch’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429" y="829944"/>
            <a:ext cx="4041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0" dirty="0"/>
              <a:t> </a:t>
            </a:r>
            <a:r>
              <a:rPr spc="-5" dirty="0"/>
              <a:t>Query: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2140" y="2011680"/>
            <a:ext cx="937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man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1915287"/>
            <a:ext cx="1598295" cy="294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76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  </a:t>
            </a:r>
            <a:r>
              <a:rPr sz="3200" dirty="0">
                <a:latin typeface="Tahoma"/>
                <a:cs typeface="Tahoma"/>
              </a:rPr>
              <a:t>Bud  Bud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Michelob</a:t>
            </a:r>
            <a:endParaRPr sz="320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2500122"/>
            <a:ext cx="291274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  </a:t>
            </a:r>
            <a:r>
              <a:rPr sz="3200" spc="-5" dirty="0">
                <a:latin typeface="Tahoma"/>
                <a:cs typeface="Tahoma"/>
              </a:rPr>
              <a:t>Anheuse</a:t>
            </a:r>
            <a:r>
              <a:rPr sz="3200" spc="-40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10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usc</a:t>
            </a:r>
            <a:r>
              <a:rPr sz="3200" dirty="0">
                <a:latin typeface="Tahoma"/>
                <a:cs typeface="Tahoma"/>
              </a:rPr>
              <a:t>h</a:t>
            </a:r>
            <a:endParaRPr sz="3200">
              <a:latin typeface="Tahoma"/>
              <a:cs typeface="Tahoma"/>
            </a:endParaRPr>
          </a:p>
          <a:p>
            <a:pPr marL="393700" algn="just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5437" y="2052637"/>
            <a:ext cx="6105525" cy="3057525"/>
          </a:xfrm>
          <a:custGeom>
            <a:avLst/>
            <a:gdLst/>
            <a:ahLst/>
            <a:cxnLst/>
            <a:rect l="l" t="t" r="r" b="b"/>
            <a:pathLst>
              <a:path w="6105525" h="3057525">
                <a:moveTo>
                  <a:pt x="6105525" y="3057525"/>
                </a:moveTo>
                <a:lnTo>
                  <a:pt x="0" y="30575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0"/>
                </a:lnTo>
                <a:lnTo>
                  <a:pt x="4762" y="3048000"/>
                </a:lnTo>
                <a:lnTo>
                  <a:pt x="9525" y="3052762"/>
                </a:lnTo>
                <a:lnTo>
                  <a:pt x="6105525" y="3052762"/>
                </a:lnTo>
                <a:lnTo>
                  <a:pt x="6105525" y="3057525"/>
                </a:lnTo>
                <a:close/>
              </a:path>
              <a:path w="6105525" h="3057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30575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3048000"/>
                </a:lnTo>
                <a:lnTo>
                  <a:pt x="6100762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3057525">
                <a:moveTo>
                  <a:pt x="9525" y="3052762"/>
                </a:moveTo>
                <a:lnTo>
                  <a:pt x="4762" y="3048000"/>
                </a:lnTo>
                <a:lnTo>
                  <a:pt x="9525" y="3048000"/>
                </a:lnTo>
                <a:lnTo>
                  <a:pt x="9525" y="3052762"/>
                </a:lnTo>
                <a:close/>
              </a:path>
              <a:path w="6105525" h="3057525">
                <a:moveTo>
                  <a:pt x="6096000" y="3052762"/>
                </a:moveTo>
                <a:lnTo>
                  <a:pt x="9525" y="3052762"/>
                </a:lnTo>
                <a:lnTo>
                  <a:pt x="9525" y="3048000"/>
                </a:lnTo>
                <a:lnTo>
                  <a:pt x="6096000" y="3048000"/>
                </a:lnTo>
                <a:lnTo>
                  <a:pt x="6096000" y="3052762"/>
                </a:lnTo>
                <a:close/>
              </a:path>
              <a:path w="6105525" h="3057525">
                <a:moveTo>
                  <a:pt x="6105525" y="3052762"/>
                </a:moveTo>
                <a:lnTo>
                  <a:pt x="6096000" y="3052762"/>
                </a:lnTo>
                <a:lnTo>
                  <a:pt x="6100762" y="3048000"/>
                </a:lnTo>
                <a:lnTo>
                  <a:pt x="6105525" y="3048000"/>
                </a:lnTo>
                <a:lnTo>
                  <a:pt x="6105525" y="3052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259080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>
                <a:moveTo>
                  <a:pt x="0" y="0"/>
                </a:moveTo>
                <a:lnTo>
                  <a:pt x="609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2400" y="2057400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809" y="829944"/>
            <a:ext cx="7613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Expressions in SELECT</a:t>
            </a:r>
            <a:r>
              <a:rPr spc="-45" dirty="0"/>
              <a:t> </a:t>
            </a:r>
            <a:r>
              <a:rPr spc="-5" dirty="0"/>
              <a:t>Clauses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2949"/>
            <a:ext cx="7937500" cy="330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expression that </a:t>
            </a:r>
            <a:r>
              <a:rPr sz="3200" spc="-10" dirty="0">
                <a:latin typeface="Tahoma"/>
                <a:cs typeface="Tahoma"/>
              </a:rPr>
              <a:t>makes </a:t>
            </a:r>
            <a:r>
              <a:rPr sz="3200" spc="-5" dirty="0">
                <a:latin typeface="Tahoma"/>
                <a:cs typeface="Tahoma"/>
              </a:rPr>
              <a:t>sense can  appear as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SELECT clause.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bar,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beer,</a:t>
            </a:r>
            <a:endParaRPr sz="3200" dirty="0">
              <a:latin typeface="Courier New"/>
              <a:cs typeface="Courier New"/>
            </a:endParaRPr>
          </a:p>
          <a:p>
            <a:pPr marL="355600" marR="478790" indent="14859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price*114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priceInYen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/>
          <p:nvPr/>
        </p:nvSpPr>
        <p:spPr>
          <a:xfrm>
            <a:off x="1595437" y="1976437"/>
            <a:ext cx="6105525" cy="2447925"/>
          </a:xfrm>
          <a:custGeom>
            <a:avLst/>
            <a:gdLst/>
            <a:ahLst/>
            <a:cxnLst/>
            <a:rect l="l" t="t" r="r" b="b"/>
            <a:pathLst>
              <a:path w="6105525" h="2447925">
                <a:moveTo>
                  <a:pt x="61055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6105525" y="0"/>
                </a:lnTo>
                <a:lnTo>
                  <a:pt x="610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6105525" y="2443162"/>
                </a:lnTo>
                <a:lnTo>
                  <a:pt x="6105525" y="2447925"/>
                </a:lnTo>
                <a:close/>
              </a:path>
              <a:path w="61055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05525" h="2447925">
                <a:moveTo>
                  <a:pt x="609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0" y="4762"/>
                </a:lnTo>
                <a:lnTo>
                  <a:pt x="6096000" y="9525"/>
                </a:lnTo>
                <a:close/>
              </a:path>
              <a:path w="6105525" h="2447925">
                <a:moveTo>
                  <a:pt x="6096000" y="2443162"/>
                </a:moveTo>
                <a:lnTo>
                  <a:pt x="6096000" y="4762"/>
                </a:lnTo>
                <a:lnTo>
                  <a:pt x="6100762" y="9525"/>
                </a:lnTo>
                <a:lnTo>
                  <a:pt x="6105525" y="9525"/>
                </a:lnTo>
                <a:lnTo>
                  <a:pt x="6105525" y="2438400"/>
                </a:lnTo>
                <a:lnTo>
                  <a:pt x="6100762" y="2438400"/>
                </a:lnTo>
                <a:lnTo>
                  <a:pt x="6096000" y="2443162"/>
                </a:lnTo>
                <a:close/>
              </a:path>
              <a:path w="6105525" h="2447925">
                <a:moveTo>
                  <a:pt x="6105525" y="9525"/>
                </a:moveTo>
                <a:lnTo>
                  <a:pt x="6100762" y="9525"/>
                </a:lnTo>
                <a:lnTo>
                  <a:pt x="6096000" y="4762"/>
                </a:lnTo>
                <a:lnTo>
                  <a:pt x="6105525" y="4762"/>
                </a:lnTo>
                <a:lnTo>
                  <a:pt x="6105525" y="9525"/>
                </a:lnTo>
                <a:close/>
              </a:path>
              <a:path w="61055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6105525" h="2447925">
                <a:moveTo>
                  <a:pt x="60960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6096000" y="2438400"/>
                </a:lnTo>
                <a:lnTo>
                  <a:pt x="6096000" y="2443162"/>
                </a:lnTo>
                <a:close/>
              </a:path>
              <a:path w="6105525" h="2447925">
                <a:moveTo>
                  <a:pt x="6105525" y="2443162"/>
                </a:moveTo>
                <a:lnTo>
                  <a:pt x="6096000" y="2443162"/>
                </a:lnTo>
                <a:lnTo>
                  <a:pt x="6100762" y="2438400"/>
                </a:lnTo>
                <a:lnTo>
                  <a:pt x="6105525" y="2438400"/>
                </a:lnTo>
                <a:lnTo>
                  <a:pt x="6105525" y="244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00200" y="1981200"/>
          <a:ext cx="6096000" cy="2438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bar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3200" spc="-2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priceInYen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spc="-25" dirty="0">
                          <a:latin typeface="Tahoma"/>
                          <a:cs typeface="Tahoma"/>
                        </a:rPr>
                        <a:t>Joe’s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Bud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285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25" dirty="0">
                          <a:latin typeface="Tahoma"/>
                          <a:cs typeface="Tahoma"/>
                        </a:rPr>
                        <a:t>Sue’s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Miller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342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79"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879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…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417" y="533400"/>
            <a:ext cx="6019166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Constants</a:t>
            </a:r>
            <a:r>
              <a:rPr lang="zh-CN" altLang="en-US" spc="-5" dirty="0"/>
              <a:t>常量</a:t>
            </a:r>
            <a:r>
              <a:rPr spc="-5" dirty="0"/>
              <a:t> as</a:t>
            </a:r>
            <a:r>
              <a:rPr spc="-40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89149"/>
            <a:ext cx="8194675" cy="339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drinker,</a:t>
            </a:r>
            <a:endParaRPr sz="3200" dirty="0">
              <a:latin typeface="Courier New"/>
              <a:cs typeface="Courier New"/>
            </a:endParaRPr>
          </a:p>
          <a:p>
            <a:pPr marL="355600" marR="5080" indent="14859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’likes Bud’ </a:t>
            </a:r>
            <a:r>
              <a:rPr sz="3200" dirty="0">
                <a:latin typeface="Courier New"/>
                <a:cs typeface="Courier New"/>
              </a:rPr>
              <a:t>AS </a:t>
            </a:r>
            <a:r>
              <a:rPr sz="3200" spc="-5" dirty="0">
                <a:latin typeface="Courier New"/>
                <a:cs typeface="Courier New"/>
              </a:rPr>
              <a:t>whoLikesBud 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Likes</a:t>
            </a:r>
            <a:endParaRPr sz="32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Result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spc="-5" dirty="0"/>
              <a:t>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2011680"/>
            <a:ext cx="4185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0864" algn="l"/>
              </a:tabLst>
            </a:pP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drinker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whoLikesBud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2500122"/>
            <a:ext cx="85471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Sa</a:t>
            </a:r>
            <a:r>
              <a:rPr sz="3200" dirty="0">
                <a:latin typeface="Tahoma"/>
                <a:cs typeface="Tahoma"/>
              </a:rPr>
              <a:t>l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3200" dirty="0">
                <a:latin typeface="Tahoma"/>
                <a:cs typeface="Tahoma"/>
              </a:rPr>
              <a:t>y  </a:t>
            </a:r>
            <a:r>
              <a:rPr sz="3200" spc="-10" dirty="0">
                <a:latin typeface="Tahoma"/>
                <a:cs typeface="Tahoma"/>
              </a:rPr>
              <a:t>Fred</a:t>
            </a:r>
            <a:endParaRPr sz="32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7740" y="2500122"/>
            <a:ext cx="162560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  </a:t>
            </a: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</a:t>
            </a:r>
            <a:endParaRPr sz="3200">
              <a:latin typeface="Tahoma"/>
              <a:cs typeface="Tahoma"/>
            </a:endParaRPr>
          </a:p>
          <a:p>
            <a:pPr marL="266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9237" y="2052637"/>
            <a:ext cx="4886325" cy="2295525"/>
          </a:xfrm>
          <a:custGeom>
            <a:avLst/>
            <a:gdLst/>
            <a:ahLst/>
            <a:cxnLst/>
            <a:rect l="l" t="t" r="r" b="b"/>
            <a:pathLst>
              <a:path w="4886325" h="2295525">
                <a:moveTo>
                  <a:pt x="48863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4886325" y="0"/>
                </a:lnTo>
                <a:lnTo>
                  <a:pt x="488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4886325" y="2290762"/>
                </a:lnTo>
                <a:lnTo>
                  <a:pt x="4886325" y="2295525"/>
                </a:lnTo>
                <a:close/>
              </a:path>
              <a:path w="48863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86325" h="2295525">
                <a:moveTo>
                  <a:pt x="487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76800" y="4762"/>
                </a:lnTo>
                <a:lnTo>
                  <a:pt x="4876800" y="9525"/>
                </a:lnTo>
                <a:close/>
              </a:path>
              <a:path w="4886325" h="2295525">
                <a:moveTo>
                  <a:pt x="4876800" y="2290762"/>
                </a:moveTo>
                <a:lnTo>
                  <a:pt x="4876800" y="4762"/>
                </a:lnTo>
                <a:lnTo>
                  <a:pt x="4881562" y="9525"/>
                </a:lnTo>
                <a:lnTo>
                  <a:pt x="4886325" y="9525"/>
                </a:lnTo>
                <a:lnTo>
                  <a:pt x="4886325" y="2286000"/>
                </a:lnTo>
                <a:lnTo>
                  <a:pt x="4881562" y="2286000"/>
                </a:lnTo>
                <a:lnTo>
                  <a:pt x="4876800" y="2290762"/>
                </a:lnTo>
                <a:close/>
              </a:path>
              <a:path w="4886325" h="2295525">
                <a:moveTo>
                  <a:pt x="4886325" y="9525"/>
                </a:moveTo>
                <a:lnTo>
                  <a:pt x="4881562" y="9525"/>
                </a:lnTo>
                <a:lnTo>
                  <a:pt x="4876800" y="4762"/>
                </a:lnTo>
                <a:lnTo>
                  <a:pt x="4886325" y="4762"/>
                </a:lnTo>
                <a:lnTo>
                  <a:pt x="4886325" y="9525"/>
                </a:lnTo>
                <a:close/>
              </a:path>
              <a:path w="48863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4886325" h="2295525">
                <a:moveTo>
                  <a:pt x="48768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4876800" y="2286000"/>
                </a:lnTo>
                <a:lnTo>
                  <a:pt x="4876800" y="2290762"/>
                </a:lnTo>
                <a:close/>
              </a:path>
              <a:path w="4886325" h="2295525">
                <a:moveTo>
                  <a:pt x="4886325" y="2290762"/>
                </a:moveTo>
                <a:lnTo>
                  <a:pt x="4876800" y="2290762"/>
                </a:lnTo>
                <a:lnTo>
                  <a:pt x="4881562" y="2286000"/>
                </a:lnTo>
                <a:lnTo>
                  <a:pt x="4886325" y="2286000"/>
                </a:lnTo>
                <a:lnTo>
                  <a:pt x="48863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2590800"/>
            <a:ext cx="4876800" cy="0"/>
          </a:xfrm>
          <a:custGeom>
            <a:avLst/>
            <a:gdLst/>
            <a:ahLst/>
            <a:cxnLst/>
            <a:rect l="l" t="t" r="r" b="b"/>
            <a:pathLst>
              <a:path w="4876800">
                <a:moveTo>
                  <a:pt x="0" y="0"/>
                </a:moveTo>
                <a:lnTo>
                  <a:pt x="487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6600" y="20574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8645" y="381000"/>
            <a:ext cx="54267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Information</a:t>
            </a:r>
            <a:r>
              <a:rPr spc="-30" dirty="0"/>
              <a:t> </a:t>
            </a:r>
            <a:r>
              <a:rPr spc="-15" dirty="0"/>
              <a:t>Integration</a:t>
            </a:r>
            <a:r>
              <a:rPr lang="zh-CN" altLang="en-US" spc="-15" dirty="0"/>
              <a:t>集成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4109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often build “data </a:t>
            </a:r>
            <a:r>
              <a:rPr sz="3200" spc="-10" dirty="0">
                <a:latin typeface="Tahoma"/>
                <a:cs typeface="Tahoma"/>
              </a:rPr>
              <a:t>warehouses” from  </a:t>
            </a:r>
            <a:r>
              <a:rPr sz="3200" spc="-5" dirty="0">
                <a:latin typeface="Tahoma"/>
                <a:cs typeface="Tahoma"/>
              </a:rPr>
              <a:t>the data at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40" dirty="0">
                <a:latin typeface="Tahoma"/>
                <a:cs typeface="Tahoma"/>
              </a:rPr>
              <a:t>“sources.”</a:t>
            </a:r>
            <a:endParaRPr sz="3200" dirty="0">
              <a:latin typeface="Tahoma"/>
              <a:cs typeface="Tahoma"/>
            </a:endParaRPr>
          </a:p>
          <a:p>
            <a:pPr marL="355600" marR="2317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each bar has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 relation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Menu(beer,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335915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contribute to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query each bar and insert  the name of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829944"/>
            <a:ext cx="7498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Information </a:t>
            </a:r>
            <a:r>
              <a:rPr spc="-15" dirty="0"/>
              <a:t>Integration </a:t>
            </a:r>
            <a:r>
              <a:rPr spc="-5" dirty="0"/>
              <a:t>---</a:t>
            </a:r>
            <a:r>
              <a:rPr spc="-2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28915" cy="2118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984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instance, at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we </a:t>
            </a:r>
            <a:r>
              <a:rPr sz="3200" spc="-5" dirty="0">
                <a:latin typeface="Tahoma"/>
                <a:cs typeface="Tahoma"/>
              </a:rPr>
              <a:t>can issue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SELECT ’Joe’’s Bar’, beer,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Menu;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355" y="266699"/>
            <a:ext cx="75279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7195" marR="5080" indent="-294449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Complex Conditions in WHERE  Clause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92756"/>
            <a:ext cx="6984365" cy="21336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Boolean </a:t>
            </a:r>
            <a:r>
              <a:rPr sz="3200" spc="-10" dirty="0">
                <a:latin typeface="Tahoma"/>
                <a:cs typeface="Tahoma"/>
              </a:rPr>
              <a:t>operators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OR,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NOT.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Comparisons </a:t>
            </a:r>
            <a:r>
              <a:rPr sz="3200" dirty="0">
                <a:latin typeface="Tahoma"/>
                <a:cs typeface="Tahoma"/>
              </a:rPr>
              <a:t>=, </a:t>
            </a:r>
            <a:r>
              <a:rPr sz="3200" spc="-5" dirty="0">
                <a:latin typeface="Tahoma"/>
                <a:cs typeface="Tahoma"/>
              </a:rPr>
              <a:t>&lt;&gt;, </a:t>
            </a:r>
            <a:r>
              <a:rPr sz="3200" dirty="0">
                <a:latin typeface="Tahoma"/>
                <a:cs typeface="Tahoma"/>
              </a:rPr>
              <a:t>&lt;, &gt;, </a:t>
            </a:r>
            <a:r>
              <a:rPr sz="3200" spc="-5" dirty="0">
                <a:latin typeface="Tahoma"/>
                <a:cs typeface="Tahoma"/>
              </a:rPr>
              <a:t>&lt;=,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&gt;=.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10" dirty="0">
                <a:latin typeface="Tahoma"/>
                <a:cs typeface="Tahoma"/>
              </a:rPr>
              <a:t>many </a:t>
            </a:r>
            <a:r>
              <a:rPr sz="2800" spc="-5" dirty="0">
                <a:latin typeface="Tahoma"/>
                <a:cs typeface="Tahoma"/>
              </a:rPr>
              <a:t>other </a:t>
            </a:r>
            <a:r>
              <a:rPr sz="2800" spc="-10" dirty="0">
                <a:latin typeface="Tahoma"/>
                <a:cs typeface="Tahoma"/>
              </a:rPr>
              <a:t>operators </a:t>
            </a:r>
            <a:r>
              <a:rPr sz="2800" spc="-5" dirty="0">
                <a:latin typeface="Tahoma"/>
                <a:cs typeface="Tahoma"/>
              </a:rPr>
              <a:t>that produce  </a:t>
            </a:r>
            <a:r>
              <a:rPr sz="2800" spc="-15" dirty="0">
                <a:latin typeface="Tahoma"/>
                <a:cs typeface="Tahoma"/>
              </a:rPr>
              <a:t>boolean-valued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430" y="601344"/>
            <a:ext cx="7089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Complex</a:t>
            </a:r>
            <a:r>
              <a:rPr spc="-25" dirty="0"/>
              <a:t> </a:t>
            </a:r>
            <a:r>
              <a:rPr spc="-5" dirty="0"/>
              <a:t>Condition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89149"/>
            <a:ext cx="7926070" cy="388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price 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</a:t>
            </a:r>
            <a:r>
              <a:rPr sz="3200" spc="-5" dirty="0">
                <a:latin typeface="Tahoma"/>
                <a:cs typeface="Tahoma"/>
              </a:rPr>
              <a:t>charges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Bud: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 dirty="0">
              <a:latin typeface="Tahoma"/>
              <a:cs typeface="Tahoma"/>
            </a:endParaRPr>
          </a:p>
          <a:p>
            <a:pPr marL="927100" marR="40640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6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  FROM</a:t>
            </a:r>
            <a:r>
              <a:rPr sz="3200" spc="-3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1841500" marR="162560" indent="-9144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554" y="829944"/>
            <a:ext cx="2294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</a:t>
            </a:r>
            <a:r>
              <a:rPr spc="-30" dirty="0"/>
              <a:t>r</a:t>
            </a:r>
            <a:r>
              <a:rPr spc="-5" dirty="0"/>
              <a:t>edicat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01787"/>
            <a:ext cx="3401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使用</a:t>
            </a:r>
            <a:r>
              <a:rPr sz="3200" spc="-10" dirty="0">
                <a:latin typeface="Tahoma"/>
                <a:cs typeface="Tahoma"/>
              </a:rPr>
              <a:t>W</a:t>
            </a:r>
            <a:r>
              <a:rPr sz="3200" spc="-5" dirty="0">
                <a:latin typeface="Tahoma"/>
                <a:cs typeface="Tahoma"/>
              </a:rPr>
              <a:t>HERE</a:t>
            </a:r>
            <a:r>
              <a:rPr sz="3200" dirty="0">
                <a:latin typeface="宋体"/>
                <a:cs typeface="宋体"/>
              </a:rPr>
              <a:t>子</a:t>
            </a:r>
            <a:r>
              <a:rPr sz="3200" spc="5" dirty="0">
                <a:latin typeface="宋体"/>
                <a:cs typeface="宋体"/>
              </a:rPr>
              <a:t>句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09712" y="2347912"/>
          <a:ext cx="6432550" cy="3627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查询条</a:t>
                      </a:r>
                      <a:r>
                        <a:rPr sz="2800" b="1" spc="-20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件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2800" b="1" spc="-20" dirty="0">
                          <a:solidFill>
                            <a:srgbClr val="0000FF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59510" algn="l"/>
                        </a:tabLst>
                      </a:pP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比	较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=,&gt;,&lt;,&gt;=,&lt;=,!=,&lt;&gt;,!&gt;,!&lt;,NOT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确定范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围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…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800" b="1" spc="-5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…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确定集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合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字符匹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配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LIKE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59510" algn="l"/>
                        </a:tabLst>
                      </a:pP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空	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IS NULL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多重条</a:t>
                      </a:r>
                      <a:r>
                        <a:rPr sz="2800" b="1" spc="-20" dirty="0">
                          <a:solidFill>
                            <a:srgbClr val="660033"/>
                          </a:solidFill>
                          <a:latin typeface="宋体"/>
                          <a:cs typeface="宋体"/>
                        </a:rPr>
                        <a:t>件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660033"/>
                          </a:solidFill>
                          <a:latin typeface="Times New Roman"/>
                          <a:cs typeface="Times New Roman"/>
                        </a:rPr>
                        <a:t>AND,OR,NOT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2190" y="829944"/>
            <a:ext cx="368681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P</a:t>
            </a:r>
            <a:r>
              <a:rPr spc="-5" dirty="0"/>
              <a:t>a</a:t>
            </a:r>
            <a:r>
              <a:rPr spc="-40" dirty="0"/>
              <a:t>t</a:t>
            </a:r>
            <a:r>
              <a:rPr spc="-5" dirty="0"/>
              <a:t>tern</a:t>
            </a:r>
            <a:r>
              <a:rPr dirty="0"/>
              <a:t>s</a:t>
            </a:r>
            <a:r>
              <a:rPr lang="zh-CN" altLang="en-US" dirty="0"/>
              <a:t>模式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154545" cy="3013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condition can compare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string to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pattern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&lt;Attribute&gt; </a:t>
            </a:r>
            <a:r>
              <a:rPr sz="2800" spc="-5" dirty="0">
                <a:latin typeface="Tahoma"/>
                <a:cs typeface="Tahoma"/>
              </a:rPr>
              <a:t>LIKE &lt;pattern&gt;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</a:t>
            </a:r>
            <a:endParaRPr sz="2800" dirty="0">
              <a:latin typeface="Tahoma"/>
              <a:cs typeface="Tahoma"/>
            </a:endParaRPr>
          </a:p>
          <a:p>
            <a:pPr marL="755650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&lt;Attribute&gt; </a:t>
            </a:r>
            <a:r>
              <a:rPr sz="2800" spc="-25" dirty="0">
                <a:latin typeface="Tahoma"/>
                <a:cs typeface="Tahoma"/>
              </a:rPr>
              <a:t>NOT </a:t>
            </a:r>
            <a:r>
              <a:rPr sz="2800" spc="-5" dirty="0">
                <a:latin typeface="Tahoma"/>
                <a:cs typeface="Tahoma"/>
              </a:rPr>
              <a:t>LIKE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&lt;pattern&gt;</a:t>
            </a:r>
            <a:endParaRPr sz="2800" dirty="0">
              <a:latin typeface="Tahoma"/>
              <a:cs typeface="Tahoma"/>
            </a:endParaRPr>
          </a:p>
          <a:p>
            <a:pPr marL="355600" marR="239395" indent="-342900">
              <a:lnSpc>
                <a:spcPts val="3840"/>
              </a:lnSpc>
              <a:spcBef>
                <a:spcPts val="890"/>
              </a:spcBef>
            </a:pPr>
            <a:r>
              <a:rPr sz="3200" spc="-97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Pattern </a:t>
            </a:r>
            <a:r>
              <a:rPr sz="3350" i="1" spc="-97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quoted string with </a:t>
            </a:r>
            <a:r>
              <a:rPr sz="3200" dirty="0">
                <a:latin typeface="Tahoma"/>
                <a:cs typeface="Tahoma"/>
              </a:rPr>
              <a:t>% =  </a:t>
            </a:r>
            <a:r>
              <a:rPr sz="3200" spc="-10" dirty="0">
                <a:latin typeface="Tahoma"/>
                <a:cs typeface="Tahoma"/>
              </a:rPr>
              <a:t>“any </a:t>
            </a:r>
            <a:r>
              <a:rPr sz="3200" spc="-5" dirty="0">
                <a:latin typeface="Tahoma"/>
                <a:cs typeface="Tahoma"/>
              </a:rPr>
              <a:t>string”; </a:t>
            </a:r>
            <a:r>
              <a:rPr sz="3200" dirty="0">
                <a:latin typeface="Tahoma"/>
                <a:cs typeface="Tahoma"/>
              </a:rPr>
              <a:t>_ = </a:t>
            </a:r>
            <a:r>
              <a:rPr sz="3200" spc="-10" dirty="0">
                <a:latin typeface="Tahoma"/>
                <a:cs typeface="Tahoma"/>
              </a:rPr>
              <a:t>“any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character.”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2190" y="829944"/>
            <a:ext cx="2039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P</a:t>
            </a:r>
            <a:r>
              <a:rPr spc="-5" dirty="0"/>
              <a:t>a</a:t>
            </a:r>
            <a:r>
              <a:rPr spc="-40" dirty="0"/>
              <a:t>t</a:t>
            </a:r>
            <a:r>
              <a:rPr spc="-5" dirty="0"/>
              <a:t>tern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379471"/>
            <a:ext cx="6426200" cy="28752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576705" algn="l"/>
              </a:tabLst>
            </a:pPr>
            <a:r>
              <a:rPr sz="2600" dirty="0">
                <a:latin typeface="Tahoma"/>
                <a:cs typeface="Tahoma"/>
              </a:rPr>
              <a:t>%	</a:t>
            </a:r>
            <a:r>
              <a:rPr sz="2600" spc="-5" dirty="0">
                <a:latin typeface="Tahoma"/>
                <a:cs typeface="Tahoma"/>
              </a:rPr>
              <a:t>0~</a:t>
            </a:r>
            <a:r>
              <a:rPr sz="2600" dirty="0">
                <a:latin typeface="宋体"/>
                <a:cs typeface="宋体"/>
              </a:rPr>
              <a:t>任意多个字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1537970" algn="l"/>
              </a:tabLst>
            </a:pPr>
            <a:r>
              <a:rPr sz="2600" dirty="0">
                <a:latin typeface="Tahoma"/>
                <a:cs typeface="Tahoma"/>
              </a:rPr>
              <a:t>_	</a:t>
            </a:r>
            <a:r>
              <a:rPr sz="2600" dirty="0">
                <a:latin typeface="宋体"/>
                <a:cs typeface="宋体"/>
              </a:rPr>
              <a:t>任意单个字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1610360" algn="l"/>
              </a:tabLst>
            </a:pPr>
            <a:r>
              <a:rPr sz="2600" spc="-5" dirty="0">
                <a:latin typeface="Tahoma"/>
                <a:cs typeface="Tahoma"/>
              </a:rPr>
              <a:t>[]	</a:t>
            </a:r>
            <a:r>
              <a:rPr sz="2600" dirty="0">
                <a:latin typeface="宋体"/>
                <a:cs typeface="宋体"/>
              </a:rPr>
              <a:t>集合范围内的任意单个字</a:t>
            </a:r>
            <a:r>
              <a:rPr sz="2600" spc="5" dirty="0">
                <a:latin typeface="宋体"/>
                <a:cs typeface="宋体"/>
              </a:rPr>
              <a:t>符</a:t>
            </a:r>
            <a:endParaRPr sz="2600" dirty="0">
              <a:latin typeface="宋体"/>
              <a:cs typeface="宋体"/>
            </a:endParaRPr>
          </a:p>
          <a:p>
            <a:pPr marL="12700" marR="5080">
              <a:lnSpc>
                <a:spcPct val="119900"/>
              </a:lnSpc>
              <a:tabLst>
                <a:tab pos="1352550" algn="l"/>
                <a:tab pos="1459230" algn="l"/>
                <a:tab pos="1643380" algn="l"/>
              </a:tabLst>
            </a:pPr>
            <a:r>
              <a:rPr sz="2600" spc="-5" dirty="0">
                <a:latin typeface="Tahoma"/>
                <a:cs typeface="Tahoma"/>
              </a:rPr>
              <a:t>[^]			</a:t>
            </a:r>
            <a:r>
              <a:rPr sz="2600" dirty="0">
                <a:latin typeface="宋体"/>
                <a:cs typeface="宋体"/>
              </a:rPr>
              <a:t>不在集合范围内的任意单个字</a:t>
            </a:r>
            <a:r>
              <a:rPr sz="2600" spc="5" dirty="0">
                <a:latin typeface="宋体"/>
                <a:cs typeface="宋体"/>
              </a:rPr>
              <a:t>符 </a:t>
            </a:r>
            <a:r>
              <a:rPr sz="2600" spc="-5" dirty="0">
                <a:latin typeface="Tahoma"/>
                <a:cs typeface="Tahoma"/>
              </a:rPr>
              <a:t>[</a:t>
            </a:r>
            <a:r>
              <a:rPr sz="2600" dirty="0">
                <a:latin typeface="宋体"/>
                <a:cs typeface="宋体"/>
              </a:rPr>
              <a:t>…</a:t>
            </a:r>
            <a:r>
              <a:rPr sz="2600" spc="-5" dirty="0">
                <a:latin typeface="Tahoma"/>
                <a:cs typeface="Tahoma"/>
              </a:rPr>
              <a:t>-</a:t>
            </a:r>
            <a:r>
              <a:rPr sz="2600" dirty="0">
                <a:latin typeface="宋体"/>
                <a:cs typeface="宋体"/>
              </a:rPr>
              <a:t>…</a:t>
            </a:r>
            <a:r>
              <a:rPr sz="2600" dirty="0">
                <a:latin typeface="Tahoma"/>
                <a:cs typeface="Tahoma"/>
              </a:rPr>
              <a:t>]		</a:t>
            </a:r>
            <a:r>
              <a:rPr sz="2600" dirty="0">
                <a:latin typeface="宋体"/>
                <a:cs typeface="宋体"/>
              </a:rPr>
              <a:t>前一字符至后一字符中的任一字符  </a:t>
            </a:r>
            <a:r>
              <a:rPr sz="2600" spc="-5" dirty="0">
                <a:latin typeface="Tahoma"/>
                <a:cs typeface="Tahoma"/>
              </a:rPr>
              <a:t>ESCAPE	</a:t>
            </a:r>
            <a:r>
              <a:rPr sz="2600" dirty="0">
                <a:latin typeface="宋体"/>
                <a:cs typeface="宋体"/>
              </a:rPr>
              <a:t>取消后面通配字符的通配作</a:t>
            </a:r>
            <a:r>
              <a:rPr sz="2600" spc="5" dirty="0">
                <a:latin typeface="宋体"/>
                <a:cs typeface="宋体"/>
              </a:rPr>
              <a:t>用</a:t>
            </a:r>
            <a:endParaRPr sz="26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7329" y="829944"/>
            <a:ext cx="3609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0" dirty="0"/>
              <a:t> </a:t>
            </a:r>
            <a:r>
              <a:rPr spc="-5" dirty="0"/>
              <a:t>LIKE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2012949"/>
            <a:ext cx="7828915" cy="3288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43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addr, phone) </a:t>
            </a:r>
            <a:r>
              <a:rPr sz="3200" spc="-5" dirty="0">
                <a:latin typeface="Tahoma"/>
                <a:cs typeface="Tahoma"/>
              </a:rPr>
              <a:t>find  the drinkers with </a:t>
            </a:r>
            <a:r>
              <a:rPr sz="3200" spc="-10" dirty="0">
                <a:latin typeface="Tahoma"/>
                <a:cs typeface="Tahoma"/>
              </a:rPr>
              <a:t>exchange </a:t>
            </a:r>
            <a:r>
              <a:rPr sz="3200" spc="-5" dirty="0">
                <a:latin typeface="Tahoma"/>
                <a:cs typeface="Tahoma"/>
              </a:rPr>
              <a:t>555: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50" dirty="0">
              <a:latin typeface="Tahoma"/>
              <a:cs typeface="Tahoma"/>
            </a:endParaRPr>
          </a:p>
          <a:p>
            <a:pPr marL="12700" marR="463804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 name  FROM</a:t>
            </a:r>
            <a:r>
              <a:rPr sz="3200" spc="-6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Drinkers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phone LIKE ’%555-_ </a:t>
            </a:r>
            <a:r>
              <a:rPr sz="3200" dirty="0">
                <a:latin typeface="Courier New"/>
                <a:cs typeface="Courier New"/>
              </a:rPr>
              <a:t>_ _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_’;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784" y="829944"/>
            <a:ext cx="115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LIK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39" y="1906777"/>
            <a:ext cx="2333625" cy="322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13970" indent="-63500">
              <a:lnSpc>
                <a:spcPct val="1499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‘baby%’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‘%baby%’ 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‘ba_by’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‘[abc]%’</a:t>
            </a:r>
            <a:endParaRPr sz="28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1675"/>
              </a:spcBef>
            </a:pP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‘[^p]en%’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8275" y="1906777"/>
            <a:ext cx="2512060" cy="322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4515" indent="33655">
              <a:lnSpc>
                <a:spcPct val="1499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‘%baby’ 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‘_en’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‘baby_’</a:t>
            </a:r>
            <a:endParaRPr sz="2800" dirty="0">
              <a:latin typeface="Tahoma"/>
              <a:cs typeface="Tahoma"/>
            </a:endParaRPr>
          </a:p>
          <a:p>
            <a:pPr marL="132715" marR="5080" indent="40005">
              <a:lnSpc>
                <a:spcPts val="5040"/>
              </a:lnSpc>
              <a:spcBef>
                <a:spcPts val="440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‘[a-c]ing’  </a:t>
            </a:r>
            <a:r>
              <a:rPr sz="2800" spc="-10" dirty="0">
                <a:latin typeface="Tahoma"/>
                <a:cs typeface="Tahoma"/>
              </a:rPr>
              <a:t>like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p[^q]en%’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3439" y="5317490"/>
            <a:ext cx="438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‘DB\_Design’ESCAPE ‘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\’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003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7279" y="509905"/>
            <a:ext cx="4408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83915" algn="l"/>
              </a:tabLst>
            </a:pPr>
            <a:r>
              <a:rPr b="1" dirty="0">
                <a:latin typeface="Lucida Sans Typewriter"/>
                <a:cs typeface="Lucida Sans Typewriter"/>
              </a:rPr>
              <a:t>BETWEEN	AND</a:t>
            </a:r>
          </a:p>
        </p:txBody>
      </p:sp>
      <p:sp>
        <p:nvSpPr>
          <p:cNvPr id="4" name="object 4"/>
          <p:cNvSpPr/>
          <p:nvPr/>
        </p:nvSpPr>
        <p:spPr>
          <a:xfrm>
            <a:off x="513397" y="1199197"/>
            <a:ext cx="8104505" cy="1627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1419225"/>
            <a:ext cx="5365750" cy="10922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373380">
              <a:lnSpc>
                <a:spcPts val="2760"/>
              </a:lnSpc>
              <a:spcBef>
                <a:spcPts val="290"/>
              </a:spcBef>
            </a:pPr>
            <a:r>
              <a:rPr sz="2400" b="1" dirty="0">
                <a:latin typeface="Lucida Sans Typewriter"/>
                <a:cs typeface="Lucida Sans Typewriter"/>
              </a:rPr>
              <a:t>SELECT beer beername, price  FROM</a:t>
            </a:r>
            <a:r>
              <a:rPr sz="2400" b="1" spc="-5" dirty="0">
                <a:latin typeface="Lucida Sans Typewriter"/>
                <a:cs typeface="Lucida Sans Typewriter"/>
              </a:rPr>
              <a:t> </a:t>
            </a:r>
            <a:r>
              <a:rPr sz="2400" b="1" dirty="0">
                <a:latin typeface="Lucida Sans Typewriter"/>
                <a:cs typeface="Lucida Sans Typewriter"/>
              </a:rPr>
              <a:t>Sells</a:t>
            </a:r>
            <a:endParaRPr sz="2400">
              <a:latin typeface="Lucida Sans Typewriter"/>
              <a:cs typeface="Lucida Sans Typewriter"/>
            </a:endParaRPr>
          </a:p>
          <a:p>
            <a:pPr marL="12700">
              <a:lnSpc>
                <a:spcPts val="2690"/>
              </a:lnSpc>
            </a:pPr>
            <a:r>
              <a:rPr sz="2400" b="1" dirty="0">
                <a:latin typeface="Lucida Sans Typewriter"/>
                <a:cs typeface="Lucida Sans Typewriter"/>
              </a:rPr>
              <a:t>WHERE price BETWEEN 10 AND</a:t>
            </a:r>
            <a:r>
              <a:rPr sz="2400" b="1" spc="-75" dirty="0">
                <a:latin typeface="Lucida Sans Typewriter"/>
                <a:cs typeface="Lucida Sans Typewriter"/>
              </a:rPr>
              <a:t> </a:t>
            </a:r>
            <a:r>
              <a:rPr sz="2400" b="1" dirty="0">
                <a:latin typeface="Lucida Sans Typewriter"/>
                <a:cs typeface="Lucida Sans Typewriter"/>
              </a:rPr>
              <a:t>20</a:t>
            </a:r>
            <a:endParaRPr sz="24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32597" y="3256597"/>
            <a:ext cx="2948305" cy="58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35683" y="3393960"/>
            <a:ext cx="1329220" cy="2408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51997" y="3256597"/>
            <a:ext cx="3024505" cy="586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4923" y="3393960"/>
            <a:ext cx="662470" cy="2878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32597" y="3713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51997" y="3713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32597" y="4094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1997" y="4094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32597" y="4475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51997" y="4475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2597" y="4856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51997" y="4856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2597" y="5237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51997" y="5237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32597" y="56187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51997" y="56187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32597" y="59997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51997" y="59997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903729" y="3783320"/>
          <a:ext cx="3518535" cy="2578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73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Aniseed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Syrup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Genen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Shouyu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15.5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Pavlova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17.45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Sir 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Rodney’s</a:t>
                      </a:r>
                      <a:r>
                        <a:rPr sz="20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Scones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737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40"/>
                        </a:lnSpc>
                        <a:spcBef>
                          <a:spcPts val="195"/>
                        </a:spcBef>
                        <a:tabLst>
                          <a:tab pos="2850515" algn="l"/>
                        </a:tabLst>
                      </a:pPr>
                      <a:r>
                        <a:rPr sz="2000" b="1" spc="5" dirty="0">
                          <a:latin typeface="Arial"/>
                          <a:cs typeface="Arial"/>
                        </a:rPr>
                        <a:t>…	…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ts val="185"/>
                        </a:lnSpc>
                      </a:pPr>
                      <a:r>
                        <a:rPr sz="1400" dirty="0">
                          <a:latin typeface="宋体"/>
                          <a:cs typeface="宋体"/>
                        </a:rPr>
                        <a:t>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3896169" y="2723197"/>
            <a:ext cx="1262773" cy="7908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8470" y="829944"/>
            <a:ext cx="607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</a:t>
            </a:r>
            <a:r>
              <a:rPr dirty="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1732597"/>
            <a:ext cx="8104505" cy="1703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6397" y="4094797"/>
            <a:ext cx="2948305" cy="586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61388" y="4279150"/>
            <a:ext cx="706920" cy="1938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75797" y="4094797"/>
            <a:ext cx="3024505" cy="586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8883" y="4228985"/>
            <a:ext cx="686600" cy="2440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56397" y="4551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5797" y="4551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6397" y="4932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5797" y="4932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56397" y="5313997"/>
            <a:ext cx="2935605" cy="497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5797" y="5313997"/>
            <a:ext cx="3011805" cy="497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56397" y="5694997"/>
            <a:ext cx="2935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46579" y="4509261"/>
            <a:ext cx="97028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draft  dr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ugh</a:t>
            </a:r>
            <a:r>
              <a:rPr sz="2000" b="1" dirty="0">
                <a:latin typeface="Arial"/>
                <a:cs typeface="Arial"/>
              </a:rPr>
              <a:t>t  </a:t>
            </a:r>
            <a:r>
              <a:rPr sz="2000" b="1" spc="-5" dirty="0">
                <a:latin typeface="Arial"/>
                <a:cs typeface="Arial"/>
              </a:rPr>
              <a:t>draft  dr</a:t>
            </a:r>
            <a:r>
              <a:rPr sz="2000" b="1" spc="-10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ugh</a:t>
            </a:r>
            <a:r>
              <a:rPr sz="2000" b="1" dirty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75797" y="5694997"/>
            <a:ext cx="30118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65979" y="4509261"/>
            <a:ext cx="1101090" cy="155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400"/>
              </a:lnSpc>
              <a:spcBef>
                <a:spcPts val="90"/>
              </a:spcBef>
            </a:pPr>
            <a:r>
              <a:rPr sz="2000" b="1" spc="-20" dirty="0">
                <a:latin typeface="Arial"/>
                <a:cs typeface="Arial"/>
              </a:rPr>
              <a:t>Yanjing  Yanjing  </a:t>
            </a:r>
            <a:r>
              <a:rPr sz="2000" b="1" dirty="0">
                <a:latin typeface="Lucida Sans Typewriter"/>
                <a:cs typeface="Lucida Sans Typewriter"/>
              </a:rPr>
              <a:t>Qingdao  Qingdao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96169" y="3408997"/>
            <a:ext cx="1262773" cy="7908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9A48F9B-B291-DF94-14A7-F883FFB6D0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396" y="1922491"/>
            <a:ext cx="8068801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125" y="829944"/>
            <a:ext cx="30797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NULL</a:t>
            </a:r>
            <a:r>
              <a:rPr spc="-65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2012949"/>
            <a:ext cx="7716520" cy="44230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76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5" dirty="0">
                <a:latin typeface="Tahoma"/>
                <a:cs typeface="Tahoma"/>
              </a:rPr>
              <a:t>Tuples </a:t>
            </a:r>
            <a:r>
              <a:rPr sz="3200" spc="-5" dirty="0">
                <a:latin typeface="Tahoma"/>
                <a:cs typeface="Tahoma"/>
              </a:rPr>
              <a:t>in SQL relations can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NULL  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for </a:t>
            </a:r>
            <a:r>
              <a:rPr sz="3200" spc="-5" dirty="0">
                <a:latin typeface="Tahoma"/>
                <a:cs typeface="Tahoma"/>
              </a:rPr>
              <a:t>one or more components.</a:t>
            </a:r>
            <a:endParaRPr sz="3200" dirty="0">
              <a:latin typeface="Tahoma"/>
              <a:cs typeface="Tahoma"/>
            </a:endParaRPr>
          </a:p>
          <a:p>
            <a:pPr marL="355600" marR="10229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5962650" algn="l"/>
              </a:tabLst>
            </a:pPr>
            <a:r>
              <a:rPr sz="3200" spc="-5" dirty="0">
                <a:latin typeface="Tahoma"/>
                <a:cs typeface="Tahoma"/>
              </a:rPr>
              <a:t>Meanin</a:t>
            </a:r>
            <a:r>
              <a:rPr sz="3200" dirty="0">
                <a:latin typeface="Tahoma"/>
                <a:cs typeface="Tahoma"/>
              </a:rPr>
              <a:t>g</a:t>
            </a:r>
            <a:r>
              <a:rPr sz="3200" spc="-5" dirty="0">
                <a:latin typeface="Tahoma"/>
                <a:cs typeface="Tahoma"/>
              </a:rPr>
              <a:t> depend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 o</a:t>
            </a:r>
            <a:r>
              <a:rPr sz="3200" dirty="0">
                <a:latin typeface="Tahoma"/>
                <a:cs typeface="Tahoma"/>
              </a:rPr>
              <a:t>n</a:t>
            </a:r>
            <a:r>
              <a:rPr sz="3200" spc="-5" dirty="0">
                <a:latin typeface="Tahoma"/>
                <a:cs typeface="Tahoma"/>
              </a:rPr>
              <a:t> context</a:t>
            </a:r>
            <a:r>
              <a:rPr sz="3200" dirty="0">
                <a:latin typeface="Tahoma"/>
                <a:cs typeface="Tahoma"/>
              </a:rPr>
              <a:t>.	</a:t>
            </a:r>
            <a:r>
              <a:rPr sz="3200" spc="-305" dirty="0">
                <a:latin typeface="Tahoma"/>
                <a:cs typeface="Tahoma"/>
              </a:rPr>
              <a:t>T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3200" dirty="0">
                <a:latin typeface="Tahoma"/>
                <a:cs typeface="Tahoma"/>
              </a:rPr>
              <a:t>o  </a:t>
            </a:r>
            <a:r>
              <a:rPr sz="3200" spc="-5" dirty="0">
                <a:latin typeface="Tahoma"/>
                <a:cs typeface="Tahoma"/>
              </a:rPr>
              <a:t>common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cases: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 err="1">
                <a:effectLst/>
              </a:rPr>
              <a:t>Missingvalue</a:t>
            </a:r>
            <a:r>
              <a:rPr sz="2800" spc="-800" dirty="0">
                <a:latin typeface="Tahoma"/>
                <a:cs typeface="Tahoma"/>
              </a:rPr>
              <a:t>: </a:t>
            </a: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we know </a:t>
            </a:r>
            <a:r>
              <a:rPr sz="2800" spc="-25" dirty="0">
                <a:latin typeface="Tahoma"/>
                <a:cs typeface="Tahoma"/>
              </a:rPr>
              <a:t>Joe’s </a:t>
            </a:r>
            <a:r>
              <a:rPr sz="2800" dirty="0">
                <a:latin typeface="Tahoma"/>
                <a:cs typeface="Tahoma"/>
              </a:rPr>
              <a:t>Bar </a:t>
            </a:r>
            <a:r>
              <a:rPr sz="2800" spc="-5" dirty="0">
                <a:latin typeface="Tahoma"/>
                <a:cs typeface="Tahoma"/>
              </a:rPr>
              <a:t>has  some address, but we </a:t>
            </a:r>
            <a:r>
              <a:rPr sz="2800" spc="5" dirty="0">
                <a:latin typeface="Tahoma"/>
                <a:cs typeface="Tahoma"/>
              </a:rPr>
              <a:t>don’t </a:t>
            </a:r>
            <a:r>
              <a:rPr sz="2800" spc="-5" dirty="0">
                <a:latin typeface="Tahoma"/>
                <a:cs typeface="Tahoma"/>
              </a:rPr>
              <a:t>know what </a:t>
            </a:r>
            <a:r>
              <a:rPr sz="2800" dirty="0">
                <a:latin typeface="Tahoma"/>
                <a:cs typeface="Tahoma"/>
              </a:rPr>
              <a:t>it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is.</a:t>
            </a:r>
            <a:endParaRPr sz="2800" dirty="0">
              <a:latin typeface="Tahoma"/>
              <a:cs typeface="Tahoma"/>
            </a:endParaRPr>
          </a:p>
          <a:p>
            <a:pPr marL="755650" marR="622300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09295" algn="l"/>
              </a:tabLst>
            </a:pPr>
            <a:r>
              <a:rPr lang="en-US" altLang="zh-CN" sz="3200" dirty="0">
                <a:effectLst/>
              </a:rPr>
              <a:t>Inapplicable</a:t>
            </a:r>
            <a:r>
              <a:rPr lang="zh-CN" altLang="en-US" sz="3200" dirty="0">
                <a:effectLst/>
              </a:rPr>
              <a:t>不适用</a:t>
            </a:r>
            <a:r>
              <a:rPr sz="2800" spc="-844" dirty="0">
                <a:latin typeface="Tahoma"/>
                <a:cs typeface="Tahoma"/>
              </a:rPr>
              <a:t>: </a:t>
            </a: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of attribute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spouse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an unmarried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person.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9030" y="829944"/>
            <a:ext cx="6885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Comparing </a:t>
            </a:r>
            <a:r>
              <a:rPr spc="-85" dirty="0"/>
              <a:t>NULL’s </a:t>
            </a:r>
            <a:r>
              <a:rPr spc="-5" dirty="0"/>
              <a:t>to</a:t>
            </a:r>
            <a:r>
              <a:rPr spc="55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2012949"/>
            <a:ext cx="7740015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logic of conditions in SQL is really 3-  </a:t>
            </a:r>
            <a:r>
              <a:rPr sz="3200" spc="-15" dirty="0">
                <a:latin typeface="Tahoma"/>
                <a:cs typeface="Tahoma"/>
              </a:rPr>
              <a:t>valued </a:t>
            </a:r>
            <a:r>
              <a:rPr sz="3200" spc="-5" dirty="0">
                <a:latin typeface="Tahoma"/>
                <a:cs typeface="Tahoma"/>
              </a:rPr>
              <a:t>logic: TRUE, </a:t>
            </a:r>
            <a:r>
              <a:rPr sz="3200" spc="-30" dirty="0">
                <a:latin typeface="Tahoma"/>
                <a:cs typeface="Tahoma"/>
              </a:rPr>
              <a:t>FALSE,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UNKNOWN.</a:t>
            </a:r>
            <a:endParaRPr sz="3200" dirty="0">
              <a:latin typeface="Tahoma"/>
              <a:cs typeface="Tahoma"/>
            </a:endParaRPr>
          </a:p>
          <a:p>
            <a:pPr marL="355600" marR="6019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Comparing </a:t>
            </a:r>
            <a:r>
              <a:rPr sz="3200" spc="-15" dirty="0">
                <a:latin typeface="Tahoma"/>
                <a:cs typeface="Tahoma"/>
              </a:rPr>
              <a:t>any value </a:t>
            </a:r>
            <a:r>
              <a:rPr sz="3200" spc="-5" dirty="0">
                <a:latin typeface="Tahoma"/>
                <a:cs typeface="Tahoma"/>
              </a:rPr>
              <a:t>(including NULL  </a:t>
            </a:r>
            <a:r>
              <a:rPr sz="3200" spc="20" dirty="0">
                <a:latin typeface="Tahoma"/>
                <a:cs typeface="Tahoma"/>
              </a:rPr>
              <a:t>itself) </a:t>
            </a:r>
            <a:r>
              <a:rPr sz="3200" spc="-5" dirty="0">
                <a:latin typeface="Tahoma"/>
                <a:cs typeface="Tahoma"/>
              </a:rPr>
              <a:t>with NULL yields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UNKNOWN.</a:t>
            </a:r>
            <a:endParaRPr sz="3200" dirty="0">
              <a:latin typeface="Tahoma"/>
              <a:cs typeface="Tahoma"/>
            </a:endParaRPr>
          </a:p>
          <a:p>
            <a:pPr marL="355600" marR="6908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 is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answer </a:t>
            </a:r>
            <a:r>
              <a:rPr sz="3200" spc="-10" dirty="0">
                <a:latin typeface="Tahoma"/>
                <a:cs typeface="Tahoma"/>
              </a:rPr>
              <a:t>iff </a:t>
            </a:r>
            <a:r>
              <a:rPr sz="3200" spc="-5" dirty="0">
                <a:latin typeface="Tahoma"/>
                <a:cs typeface="Tahoma"/>
              </a:rPr>
              <a:t>the  WHERE clause is TRUE (not </a:t>
            </a:r>
            <a:r>
              <a:rPr sz="3200" spc="-35" dirty="0">
                <a:latin typeface="Tahoma"/>
                <a:cs typeface="Tahoma"/>
              </a:rPr>
              <a:t>FALSE </a:t>
            </a:r>
            <a:r>
              <a:rPr sz="3200" spc="-5" dirty="0">
                <a:latin typeface="Tahoma"/>
                <a:cs typeface="Tahoma"/>
              </a:rPr>
              <a:t>or  UNKNOWN).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600" y="829944"/>
            <a:ext cx="1321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N</a:t>
            </a:r>
            <a:r>
              <a:rPr spc="-5" dirty="0"/>
              <a:t>UL</a:t>
            </a:r>
            <a:r>
              <a:rPr dirty="0"/>
              <a:t>L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E3E4FBC-E061-7C95-2F27-1CFA6A8BE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752600"/>
            <a:ext cx="4248743" cy="134321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FB61E8F-C640-0FB3-4A10-DAA0246C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6839905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5354" y="829944"/>
            <a:ext cx="4733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Three-Valued</a:t>
            </a:r>
            <a:r>
              <a:rPr spc="-85" dirty="0"/>
              <a:t> </a:t>
            </a:r>
            <a:r>
              <a:rPr spc="-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0549"/>
            <a:ext cx="7747000" cy="4650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1940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understand how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OR, and </a:t>
            </a:r>
            <a:r>
              <a:rPr sz="3200" spc="-30" dirty="0">
                <a:latin typeface="Tahoma"/>
                <a:cs typeface="Tahoma"/>
              </a:rPr>
              <a:t>NOT  </a:t>
            </a:r>
            <a:r>
              <a:rPr sz="3200" dirty="0">
                <a:latin typeface="Tahoma"/>
                <a:cs typeface="Tahoma"/>
              </a:rPr>
              <a:t>work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spc="-20" dirty="0">
                <a:latin typeface="Tahoma"/>
                <a:cs typeface="Tahoma"/>
              </a:rPr>
              <a:t>3-valued </a:t>
            </a:r>
            <a:r>
              <a:rPr sz="3200" spc="-5" dirty="0">
                <a:latin typeface="Tahoma"/>
                <a:cs typeface="Tahoma"/>
              </a:rPr>
              <a:t>logic, think of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TRUE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1, </a:t>
            </a:r>
            <a:r>
              <a:rPr sz="3200" spc="-35" dirty="0">
                <a:highlight>
                  <a:srgbClr val="FFFF00"/>
                </a:highlight>
                <a:latin typeface="Tahoma"/>
                <a:cs typeface="Tahoma"/>
              </a:rPr>
              <a:t>FALSE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0, and UNKNOWN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½.</a:t>
            </a:r>
          </a:p>
          <a:p>
            <a:pPr marL="414655" indent="-402590" algn="just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AND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MIN;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OR =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MAX, </a:t>
            </a:r>
            <a:r>
              <a:rPr sz="3200" spc="-235" dirty="0">
                <a:highlight>
                  <a:srgbClr val="FFFF00"/>
                </a:highlight>
                <a:latin typeface="Tahoma"/>
                <a:cs typeface="Tahoma"/>
              </a:rPr>
              <a:t>NOT(</a:t>
            </a:r>
            <a:r>
              <a:rPr sz="3350" i="1" spc="-23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3200" spc="-235" dirty="0">
                <a:highlight>
                  <a:srgbClr val="FFFF00"/>
                </a:highlight>
                <a:latin typeface="Tahoma"/>
                <a:cs typeface="Tahoma"/>
              </a:rPr>
              <a:t>)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19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330" dirty="0">
                <a:highlight>
                  <a:srgbClr val="FFFF00"/>
                </a:highlight>
                <a:latin typeface="Tahoma"/>
                <a:cs typeface="Tahoma"/>
              </a:rPr>
              <a:t>1-</a:t>
            </a:r>
            <a:r>
              <a:rPr sz="3350" i="1" spc="-33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3200" spc="-330" dirty="0">
                <a:highlight>
                  <a:srgbClr val="FFFF00"/>
                </a:highlight>
                <a:latin typeface="Tahoma"/>
                <a:cs typeface="Tahoma"/>
              </a:rPr>
              <a:t>.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TRUE AND </a:t>
            </a:r>
            <a:r>
              <a:rPr sz="3200" spc="-30" dirty="0">
                <a:latin typeface="Tahoma"/>
                <a:cs typeface="Tahoma"/>
              </a:rPr>
              <a:t>(FALSE </a:t>
            </a:r>
            <a:r>
              <a:rPr sz="3200" dirty="0">
                <a:latin typeface="Tahoma"/>
                <a:cs typeface="Tahoma"/>
              </a:rPr>
              <a:t>OR </a:t>
            </a:r>
            <a:r>
              <a:rPr sz="3200" spc="-10" dirty="0">
                <a:latin typeface="Tahoma"/>
                <a:cs typeface="Tahoma"/>
              </a:rPr>
              <a:t>NOT(UNKNOWN)) </a:t>
            </a:r>
            <a:r>
              <a:rPr sz="3200" dirty="0">
                <a:latin typeface="Tahoma"/>
                <a:cs typeface="Tahoma"/>
              </a:rPr>
              <a:t>=  </a:t>
            </a:r>
            <a:r>
              <a:rPr sz="3200" spc="-5" dirty="0">
                <a:latin typeface="Tahoma"/>
                <a:cs typeface="Tahoma"/>
              </a:rPr>
              <a:t>MIN(1, MAX(0, (1 </a:t>
            </a:r>
            <a:r>
              <a:rPr sz="3200" dirty="0">
                <a:latin typeface="Tahoma"/>
                <a:cs typeface="Tahoma"/>
              </a:rPr>
              <a:t>-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spc="-5" dirty="0">
                <a:latin typeface="Tahoma"/>
                <a:cs typeface="Tahoma"/>
              </a:rPr>
              <a:t>)))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MIN(1, MAX(0,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spc="-5" dirty="0">
                <a:latin typeface="Tahoma"/>
                <a:cs typeface="Tahoma"/>
              </a:rPr>
              <a:t>))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MIN(1, </a:t>
            </a:r>
            <a:r>
              <a:rPr sz="3200" spc="5" dirty="0">
                <a:latin typeface="Tahoma"/>
                <a:cs typeface="Tahoma"/>
              </a:rPr>
              <a:t>½ </a:t>
            </a:r>
            <a:r>
              <a:rPr sz="3200" dirty="0">
                <a:latin typeface="Tahoma"/>
                <a:cs typeface="Tahoma"/>
              </a:rPr>
              <a:t>) =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½.</a:t>
            </a:r>
          </a:p>
          <a:p>
            <a:pPr marR="135890" algn="r">
              <a:lnSpc>
                <a:spcPct val="100000"/>
              </a:lnSpc>
              <a:spcBef>
                <a:spcPts val="95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0275" y="829944"/>
            <a:ext cx="4743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Surprising</a:t>
            </a:r>
            <a:r>
              <a:rPr spc="-50" dirty="0"/>
              <a:t> </a:t>
            </a:r>
            <a:r>
              <a:rPr spc="-5" dirty="0">
                <a:solidFill>
                  <a:srgbClr val="33CC33"/>
                </a:solidFill>
              </a:rPr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6449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4015104" algn="l"/>
              </a:tabLst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following	</a:t>
            </a:r>
            <a:r>
              <a:rPr sz="3200" dirty="0">
                <a:latin typeface="Tahoma"/>
                <a:cs typeface="Tahoma"/>
              </a:rPr>
              <a:t>Sells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2500122"/>
            <a:ext cx="96774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  </a:t>
            </a:r>
            <a:r>
              <a:rPr sz="3200" spc="-5" dirty="0">
                <a:latin typeface="Tahoma"/>
                <a:cs typeface="Tahoma"/>
              </a:rPr>
              <a:t>NUL</a:t>
            </a:r>
            <a:r>
              <a:rPr sz="3200" dirty="0">
                <a:latin typeface="Tahoma"/>
                <a:cs typeface="Tahoma"/>
              </a:rPr>
              <a:t>L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2500122"/>
            <a:ext cx="413956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7965" marR="5080">
              <a:lnSpc>
                <a:spcPct val="119900"/>
              </a:lnSpc>
              <a:spcBef>
                <a:spcPts val="100"/>
              </a:spcBef>
              <a:tabLst>
                <a:tab pos="3326765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r	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r 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dirty="0">
                <a:latin typeface="Tahoma"/>
                <a:cs typeface="Tahoma"/>
              </a:rPr>
              <a:t> Bar	Bud</a:t>
            </a:r>
          </a:p>
          <a:p>
            <a:pPr marL="12700" marR="2041525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bar  FROM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7439" y="4935854"/>
            <a:ext cx="71418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WHERE price </a:t>
            </a:r>
            <a:r>
              <a:rPr sz="3200" dirty="0">
                <a:latin typeface="Tahoma"/>
                <a:cs typeface="Tahoma"/>
              </a:rPr>
              <a:t>&lt; </a:t>
            </a:r>
            <a:r>
              <a:rPr sz="3200" spc="-5" dirty="0">
                <a:latin typeface="Tahoma"/>
                <a:cs typeface="Tahoma"/>
              </a:rPr>
              <a:t>2.00 </a:t>
            </a:r>
            <a:r>
              <a:rPr sz="3200" dirty="0">
                <a:latin typeface="Tahoma"/>
                <a:cs typeface="Tahoma"/>
              </a:rPr>
              <a:t>OR </a:t>
            </a:r>
            <a:r>
              <a:rPr sz="3200" spc="-5" dirty="0">
                <a:latin typeface="Tahoma"/>
                <a:cs typeface="Tahoma"/>
              </a:rPr>
              <a:t>price </a:t>
            </a:r>
            <a:r>
              <a:rPr sz="3200" dirty="0">
                <a:latin typeface="Tahoma"/>
                <a:cs typeface="Tahoma"/>
              </a:rPr>
              <a:t>&gt;=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2.00;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09837" y="2662237"/>
            <a:ext cx="4810125" cy="1076325"/>
          </a:xfrm>
          <a:custGeom>
            <a:avLst/>
            <a:gdLst/>
            <a:ahLst/>
            <a:cxnLst/>
            <a:rect l="l" t="t" r="r" b="b"/>
            <a:pathLst>
              <a:path w="4810125" h="1076325">
                <a:moveTo>
                  <a:pt x="48101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4810125" y="0"/>
                </a:lnTo>
                <a:lnTo>
                  <a:pt x="481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4810125" y="1071562"/>
                </a:lnTo>
                <a:lnTo>
                  <a:pt x="4810125" y="1076325"/>
                </a:lnTo>
                <a:close/>
              </a:path>
              <a:path w="48101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10125" h="1076325">
                <a:moveTo>
                  <a:pt x="480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00600" y="4762"/>
                </a:lnTo>
                <a:lnTo>
                  <a:pt x="4800600" y="9525"/>
                </a:lnTo>
                <a:close/>
              </a:path>
              <a:path w="4810125" h="1076325">
                <a:moveTo>
                  <a:pt x="4800600" y="1071562"/>
                </a:moveTo>
                <a:lnTo>
                  <a:pt x="4800600" y="4762"/>
                </a:lnTo>
                <a:lnTo>
                  <a:pt x="4805362" y="9525"/>
                </a:lnTo>
                <a:lnTo>
                  <a:pt x="4810125" y="9525"/>
                </a:lnTo>
                <a:lnTo>
                  <a:pt x="4810125" y="1066800"/>
                </a:lnTo>
                <a:lnTo>
                  <a:pt x="4805362" y="1066800"/>
                </a:lnTo>
                <a:lnTo>
                  <a:pt x="4800600" y="1071562"/>
                </a:lnTo>
                <a:close/>
              </a:path>
              <a:path w="4810125" h="1076325">
                <a:moveTo>
                  <a:pt x="4810125" y="9525"/>
                </a:moveTo>
                <a:lnTo>
                  <a:pt x="4805362" y="9525"/>
                </a:lnTo>
                <a:lnTo>
                  <a:pt x="4800600" y="4762"/>
                </a:lnTo>
                <a:lnTo>
                  <a:pt x="4810125" y="4762"/>
                </a:lnTo>
                <a:lnTo>
                  <a:pt x="4810125" y="9525"/>
                </a:lnTo>
                <a:close/>
              </a:path>
              <a:path w="48101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4810125" h="1076325">
                <a:moveTo>
                  <a:pt x="48006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4800600" y="1066800"/>
                </a:lnTo>
                <a:lnTo>
                  <a:pt x="4800600" y="1071562"/>
                </a:lnTo>
                <a:close/>
              </a:path>
              <a:path w="4810125" h="1076325">
                <a:moveTo>
                  <a:pt x="4810125" y="1071562"/>
                </a:moveTo>
                <a:lnTo>
                  <a:pt x="4800600" y="1071562"/>
                </a:lnTo>
                <a:lnTo>
                  <a:pt x="4805362" y="1066800"/>
                </a:lnTo>
                <a:lnTo>
                  <a:pt x="4810125" y="1066800"/>
                </a:lnTo>
                <a:lnTo>
                  <a:pt x="48101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4600" y="3200400"/>
            <a:ext cx="4800600" cy="0"/>
          </a:xfrm>
          <a:custGeom>
            <a:avLst/>
            <a:gdLst/>
            <a:ahLst/>
            <a:cxnLst/>
            <a:rect l="l" t="t" r="r" b="b"/>
            <a:pathLst>
              <a:path w="4800600">
                <a:moveTo>
                  <a:pt x="0" y="0"/>
                </a:moveTo>
                <a:lnTo>
                  <a:pt x="480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200" y="26670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1200" y="26670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0800" y="5437251"/>
            <a:ext cx="2209800" cy="98425"/>
          </a:xfrm>
          <a:custGeom>
            <a:avLst/>
            <a:gdLst/>
            <a:ahLst/>
            <a:cxnLst/>
            <a:rect l="l" t="t" r="r" b="b"/>
            <a:pathLst>
              <a:path w="22098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1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1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2209800" h="98425">
                <a:moveTo>
                  <a:pt x="2190896" y="49149"/>
                </a:moveTo>
                <a:lnTo>
                  <a:pt x="2121750" y="8813"/>
                </a:lnTo>
                <a:lnTo>
                  <a:pt x="2120480" y="7747"/>
                </a:lnTo>
                <a:lnTo>
                  <a:pt x="2119668" y="6311"/>
                </a:lnTo>
                <a:lnTo>
                  <a:pt x="2119388" y="4673"/>
                </a:lnTo>
                <a:lnTo>
                  <a:pt x="2119680" y="3048"/>
                </a:lnTo>
                <a:lnTo>
                  <a:pt x="2120519" y="1625"/>
                </a:lnTo>
                <a:lnTo>
                  <a:pt x="2121789" y="558"/>
                </a:lnTo>
                <a:lnTo>
                  <a:pt x="2123338" y="0"/>
                </a:lnTo>
                <a:lnTo>
                  <a:pt x="2125002" y="12"/>
                </a:lnTo>
                <a:lnTo>
                  <a:pt x="2126551" y="584"/>
                </a:lnTo>
                <a:lnTo>
                  <a:pt x="2201636" y="44386"/>
                </a:lnTo>
                <a:lnTo>
                  <a:pt x="2200351" y="44386"/>
                </a:lnTo>
                <a:lnTo>
                  <a:pt x="2200351" y="45034"/>
                </a:lnTo>
                <a:lnTo>
                  <a:pt x="2197950" y="45034"/>
                </a:lnTo>
                <a:lnTo>
                  <a:pt x="2190896" y="49149"/>
                </a:lnTo>
                <a:close/>
              </a:path>
              <a:path w="22098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2209800" h="98425">
                <a:moveTo>
                  <a:pt x="21827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2182732" y="44386"/>
                </a:lnTo>
                <a:lnTo>
                  <a:pt x="2190896" y="49149"/>
                </a:lnTo>
                <a:lnTo>
                  <a:pt x="2182732" y="53911"/>
                </a:lnTo>
                <a:close/>
              </a:path>
              <a:path w="2209800" h="98425">
                <a:moveTo>
                  <a:pt x="2201636" y="53911"/>
                </a:moveTo>
                <a:lnTo>
                  <a:pt x="2200351" y="53911"/>
                </a:lnTo>
                <a:lnTo>
                  <a:pt x="2200351" y="44386"/>
                </a:lnTo>
                <a:lnTo>
                  <a:pt x="2201636" y="44386"/>
                </a:lnTo>
                <a:lnTo>
                  <a:pt x="2209800" y="49149"/>
                </a:lnTo>
                <a:lnTo>
                  <a:pt x="2201636" y="53911"/>
                </a:lnTo>
                <a:close/>
              </a:path>
              <a:path w="22098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22098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2209800" h="98425">
                <a:moveTo>
                  <a:pt x="2197950" y="53263"/>
                </a:moveTo>
                <a:lnTo>
                  <a:pt x="2190896" y="49149"/>
                </a:lnTo>
                <a:lnTo>
                  <a:pt x="2197950" y="45034"/>
                </a:lnTo>
                <a:lnTo>
                  <a:pt x="2197950" y="53263"/>
                </a:lnTo>
                <a:close/>
              </a:path>
              <a:path w="2209800" h="98425">
                <a:moveTo>
                  <a:pt x="2200351" y="53263"/>
                </a:moveTo>
                <a:lnTo>
                  <a:pt x="2197950" y="53263"/>
                </a:lnTo>
                <a:lnTo>
                  <a:pt x="2197950" y="45034"/>
                </a:lnTo>
                <a:lnTo>
                  <a:pt x="2200351" y="45034"/>
                </a:lnTo>
                <a:lnTo>
                  <a:pt x="2200351" y="53263"/>
                </a:lnTo>
                <a:close/>
              </a:path>
              <a:path w="22098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2209800" h="98425">
                <a:moveTo>
                  <a:pt x="2123338" y="98298"/>
                </a:moveTo>
                <a:lnTo>
                  <a:pt x="2121789" y="97739"/>
                </a:lnTo>
                <a:lnTo>
                  <a:pt x="2120519" y="96672"/>
                </a:lnTo>
                <a:lnTo>
                  <a:pt x="2119680" y="95250"/>
                </a:lnTo>
                <a:lnTo>
                  <a:pt x="2119388" y="93624"/>
                </a:lnTo>
                <a:lnTo>
                  <a:pt x="2119668" y="91986"/>
                </a:lnTo>
                <a:lnTo>
                  <a:pt x="2120480" y="90550"/>
                </a:lnTo>
                <a:lnTo>
                  <a:pt x="2121750" y="89484"/>
                </a:lnTo>
                <a:lnTo>
                  <a:pt x="2190896" y="49149"/>
                </a:lnTo>
                <a:lnTo>
                  <a:pt x="2197950" y="53263"/>
                </a:lnTo>
                <a:lnTo>
                  <a:pt x="2200351" y="53263"/>
                </a:lnTo>
                <a:lnTo>
                  <a:pt x="2200351" y="53911"/>
                </a:lnTo>
                <a:lnTo>
                  <a:pt x="2201636" y="53911"/>
                </a:lnTo>
                <a:lnTo>
                  <a:pt x="2126551" y="97713"/>
                </a:lnTo>
                <a:lnTo>
                  <a:pt x="2125002" y="98285"/>
                </a:lnTo>
                <a:lnTo>
                  <a:pt x="21233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38800" y="5437251"/>
            <a:ext cx="2209800" cy="98425"/>
          </a:xfrm>
          <a:custGeom>
            <a:avLst/>
            <a:gdLst/>
            <a:ahLst/>
            <a:cxnLst/>
            <a:rect l="l" t="t" r="r" b="b"/>
            <a:pathLst>
              <a:path w="22098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0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0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2209800" h="98425">
                <a:moveTo>
                  <a:pt x="2190896" y="49149"/>
                </a:moveTo>
                <a:lnTo>
                  <a:pt x="2121750" y="8813"/>
                </a:lnTo>
                <a:lnTo>
                  <a:pt x="2120480" y="7747"/>
                </a:lnTo>
                <a:lnTo>
                  <a:pt x="2119668" y="6311"/>
                </a:lnTo>
                <a:lnTo>
                  <a:pt x="2119388" y="4673"/>
                </a:lnTo>
                <a:lnTo>
                  <a:pt x="2119680" y="3048"/>
                </a:lnTo>
                <a:lnTo>
                  <a:pt x="2120519" y="1625"/>
                </a:lnTo>
                <a:lnTo>
                  <a:pt x="2121789" y="558"/>
                </a:lnTo>
                <a:lnTo>
                  <a:pt x="2123338" y="0"/>
                </a:lnTo>
                <a:lnTo>
                  <a:pt x="2125002" y="12"/>
                </a:lnTo>
                <a:lnTo>
                  <a:pt x="2126551" y="584"/>
                </a:lnTo>
                <a:lnTo>
                  <a:pt x="2201636" y="44386"/>
                </a:lnTo>
                <a:lnTo>
                  <a:pt x="2200351" y="44386"/>
                </a:lnTo>
                <a:lnTo>
                  <a:pt x="2200351" y="45034"/>
                </a:lnTo>
                <a:lnTo>
                  <a:pt x="2197950" y="45034"/>
                </a:lnTo>
                <a:lnTo>
                  <a:pt x="2190896" y="49149"/>
                </a:lnTo>
                <a:close/>
              </a:path>
              <a:path w="22098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2209800" h="98425">
                <a:moveTo>
                  <a:pt x="21827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2182732" y="44386"/>
                </a:lnTo>
                <a:lnTo>
                  <a:pt x="2190896" y="49149"/>
                </a:lnTo>
                <a:lnTo>
                  <a:pt x="2182732" y="53911"/>
                </a:lnTo>
                <a:close/>
              </a:path>
              <a:path w="2209800" h="98425">
                <a:moveTo>
                  <a:pt x="2201636" y="53911"/>
                </a:moveTo>
                <a:lnTo>
                  <a:pt x="2200351" y="53911"/>
                </a:lnTo>
                <a:lnTo>
                  <a:pt x="2200351" y="44386"/>
                </a:lnTo>
                <a:lnTo>
                  <a:pt x="2201636" y="44386"/>
                </a:lnTo>
                <a:lnTo>
                  <a:pt x="2209800" y="49149"/>
                </a:lnTo>
                <a:lnTo>
                  <a:pt x="2201636" y="53911"/>
                </a:lnTo>
                <a:close/>
              </a:path>
              <a:path w="22098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22098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2209800" h="98425">
                <a:moveTo>
                  <a:pt x="2197950" y="53263"/>
                </a:moveTo>
                <a:lnTo>
                  <a:pt x="2190896" y="49149"/>
                </a:lnTo>
                <a:lnTo>
                  <a:pt x="2197950" y="45034"/>
                </a:lnTo>
                <a:lnTo>
                  <a:pt x="2197950" y="53263"/>
                </a:lnTo>
                <a:close/>
              </a:path>
              <a:path w="2209800" h="98425">
                <a:moveTo>
                  <a:pt x="2200351" y="53263"/>
                </a:moveTo>
                <a:lnTo>
                  <a:pt x="2197950" y="53263"/>
                </a:lnTo>
                <a:lnTo>
                  <a:pt x="2197950" y="45034"/>
                </a:lnTo>
                <a:lnTo>
                  <a:pt x="2200351" y="45034"/>
                </a:lnTo>
                <a:lnTo>
                  <a:pt x="2200351" y="53263"/>
                </a:lnTo>
                <a:close/>
              </a:path>
              <a:path w="22098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2209800" h="98425">
                <a:moveTo>
                  <a:pt x="2123338" y="98298"/>
                </a:moveTo>
                <a:lnTo>
                  <a:pt x="2121789" y="97739"/>
                </a:lnTo>
                <a:lnTo>
                  <a:pt x="2120519" y="96672"/>
                </a:lnTo>
                <a:lnTo>
                  <a:pt x="2119680" y="95250"/>
                </a:lnTo>
                <a:lnTo>
                  <a:pt x="2119388" y="93624"/>
                </a:lnTo>
                <a:lnTo>
                  <a:pt x="2119668" y="91986"/>
                </a:lnTo>
                <a:lnTo>
                  <a:pt x="2120480" y="90550"/>
                </a:lnTo>
                <a:lnTo>
                  <a:pt x="2121750" y="89484"/>
                </a:lnTo>
                <a:lnTo>
                  <a:pt x="2190896" y="49149"/>
                </a:lnTo>
                <a:lnTo>
                  <a:pt x="2197950" y="53263"/>
                </a:lnTo>
                <a:lnTo>
                  <a:pt x="2200351" y="53263"/>
                </a:lnTo>
                <a:lnTo>
                  <a:pt x="2200351" y="53911"/>
                </a:lnTo>
                <a:lnTo>
                  <a:pt x="2201636" y="53911"/>
                </a:lnTo>
                <a:lnTo>
                  <a:pt x="2126551" y="97713"/>
                </a:lnTo>
                <a:lnTo>
                  <a:pt x="2125002" y="98285"/>
                </a:lnTo>
                <a:lnTo>
                  <a:pt x="21233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98139" y="5518150"/>
            <a:ext cx="45345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1015" algn="l"/>
              </a:tabLst>
            </a:pPr>
            <a:r>
              <a:rPr sz="2400" spc="-5" dirty="0">
                <a:latin typeface="Tahoma"/>
                <a:cs typeface="Tahoma"/>
              </a:rPr>
              <a:t>UNKNOWN	UNKNOWN</a:t>
            </a:r>
            <a:endParaRPr sz="2400">
              <a:latin typeface="Tahoma"/>
              <a:cs typeface="Tahoma"/>
            </a:endParaRPr>
          </a:p>
          <a:p>
            <a:pPr marL="1216025">
              <a:lnSpc>
                <a:spcPct val="100000"/>
              </a:lnSpc>
              <a:spcBef>
                <a:spcPts val="2185"/>
              </a:spcBef>
            </a:pPr>
            <a:r>
              <a:rPr sz="2400" spc="-5" dirty="0">
                <a:latin typeface="Tahoma"/>
                <a:cs typeface="Tahoma"/>
              </a:rPr>
              <a:t>UNKNOWN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7000" y="6046851"/>
            <a:ext cx="5181600" cy="98425"/>
          </a:xfrm>
          <a:custGeom>
            <a:avLst/>
            <a:gdLst/>
            <a:ahLst/>
            <a:cxnLst/>
            <a:rect l="l" t="t" r="r" b="b"/>
            <a:pathLst>
              <a:path w="5181600" h="98425">
                <a:moveTo>
                  <a:pt x="86461" y="98298"/>
                </a:moveTo>
                <a:lnTo>
                  <a:pt x="84797" y="98285"/>
                </a:lnTo>
                <a:lnTo>
                  <a:pt x="83248" y="97713"/>
                </a:lnTo>
                <a:lnTo>
                  <a:pt x="0" y="49149"/>
                </a:lnTo>
                <a:lnTo>
                  <a:pt x="83248" y="584"/>
                </a:lnTo>
                <a:lnTo>
                  <a:pt x="84797" y="12"/>
                </a:lnTo>
                <a:lnTo>
                  <a:pt x="86496" y="12"/>
                </a:lnTo>
                <a:lnTo>
                  <a:pt x="88011" y="558"/>
                </a:lnTo>
                <a:lnTo>
                  <a:pt x="89281" y="1625"/>
                </a:lnTo>
                <a:lnTo>
                  <a:pt x="90119" y="3048"/>
                </a:lnTo>
                <a:lnTo>
                  <a:pt x="90411" y="4673"/>
                </a:lnTo>
                <a:lnTo>
                  <a:pt x="90131" y="6311"/>
                </a:lnTo>
                <a:lnTo>
                  <a:pt x="89319" y="7747"/>
                </a:lnTo>
                <a:lnTo>
                  <a:pt x="88049" y="8813"/>
                </a:lnTo>
                <a:lnTo>
                  <a:pt x="27067" y="44386"/>
                </a:lnTo>
                <a:lnTo>
                  <a:pt x="9448" y="44386"/>
                </a:lnTo>
                <a:lnTo>
                  <a:pt x="9448" y="53911"/>
                </a:lnTo>
                <a:lnTo>
                  <a:pt x="27067" y="53911"/>
                </a:lnTo>
                <a:lnTo>
                  <a:pt x="88049" y="89484"/>
                </a:lnTo>
                <a:lnTo>
                  <a:pt x="89319" y="90550"/>
                </a:lnTo>
                <a:lnTo>
                  <a:pt x="90131" y="91986"/>
                </a:lnTo>
                <a:lnTo>
                  <a:pt x="90411" y="93624"/>
                </a:lnTo>
                <a:lnTo>
                  <a:pt x="90119" y="95250"/>
                </a:lnTo>
                <a:lnTo>
                  <a:pt x="89281" y="96672"/>
                </a:lnTo>
                <a:lnTo>
                  <a:pt x="88011" y="97739"/>
                </a:lnTo>
                <a:lnTo>
                  <a:pt x="86461" y="98298"/>
                </a:lnTo>
                <a:close/>
              </a:path>
              <a:path w="5181600" h="98425">
                <a:moveTo>
                  <a:pt x="5162696" y="49149"/>
                </a:moveTo>
                <a:lnTo>
                  <a:pt x="5093550" y="8813"/>
                </a:lnTo>
                <a:lnTo>
                  <a:pt x="5092280" y="7747"/>
                </a:lnTo>
                <a:lnTo>
                  <a:pt x="5091468" y="6311"/>
                </a:lnTo>
                <a:lnTo>
                  <a:pt x="5091188" y="4673"/>
                </a:lnTo>
                <a:lnTo>
                  <a:pt x="5091480" y="3048"/>
                </a:lnTo>
                <a:lnTo>
                  <a:pt x="5092319" y="1625"/>
                </a:lnTo>
                <a:lnTo>
                  <a:pt x="5093589" y="558"/>
                </a:lnTo>
                <a:lnTo>
                  <a:pt x="5095138" y="0"/>
                </a:lnTo>
                <a:lnTo>
                  <a:pt x="5096802" y="12"/>
                </a:lnTo>
                <a:lnTo>
                  <a:pt x="5098351" y="584"/>
                </a:lnTo>
                <a:lnTo>
                  <a:pt x="5173436" y="44386"/>
                </a:lnTo>
                <a:lnTo>
                  <a:pt x="5172151" y="44386"/>
                </a:lnTo>
                <a:lnTo>
                  <a:pt x="5172151" y="45034"/>
                </a:lnTo>
                <a:lnTo>
                  <a:pt x="5169750" y="45034"/>
                </a:lnTo>
                <a:lnTo>
                  <a:pt x="5162696" y="49149"/>
                </a:lnTo>
                <a:close/>
              </a:path>
              <a:path w="5181600" h="98425">
                <a:moveTo>
                  <a:pt x="27067" y="53911"/>
                </a:moveTo>
                <a:lnTo>
                  <a:pt x="9448" y="53911"/>
                </a:lnTo>
                <a:lnTo>
                  <a:pt x="9448" y="44386"/>
                </a:lnTo>
                <a:lnTo>
                  <a:pt x="27067" y="44386"/>
                </a:lnTo>
                <a:lnTo>
                  <a:pt x="25956" y="45034"/>
                </a:lnTo>
                <a:lnTo>
                  <a:pt x="11849" y="45034"/>
                </a:lnTo>
                <a:lnTo>
                  <a:pt x="11849" y="53263"/>
                </a:lnTo>
                <a:lnTo>
                  <a:pt x="25956" y="53263"/>
                </a:lnTo>
                <a:lnTo>
                  <a:pt x="27067" y="53911"/>
                </a:lnTo>
                <a:close/>
              </a:path>
              <a:path w="5181600" h="98425">
                <a:moveTo>
                  <a:pt x="5154532" y="53911"/>
                </a:moveTo>
                <a:lnTo>
                  <a:pt x="27067" y="53911"/>
                </a:lnTo>
                <a:lnTo>
                  <a:pt x="18903" y="49149"/>
                </a:lnTo>
                <a:lnTo>
                  <a:pt x="27067" y="44386"/>
                </a:lnTo>
                <a:lnTo>
                  <a:pt x="5154532" y="44386"/>
                </a:lnTo>
                <a:lnTo>
                  <a:pt x="5162696" y="49149"/>
                </a:lnTo>
                <a:lnTo>
                  <a:pt x="5154532" y="53911"/>
                </a:lnTo>
                <a:close/>
              </a:path>
              <a:path w="5181600" h="98425">
                <a:moveTo>
                  <a:pt x="5173436" y="53911"/>
                </a:moveTo>
                <a:lnTo>
                  <a:pt x="5172151" y="53911"/>
                </a:lnTo>
                <a:lnTo>
                  <a:pt x="5172151" y="44386"/>
                </a:lnTo>
                <a:lnTo>
                  <a:pt x="5173436" y="44386"/>
                </a:lnTo>
                <a:lnTo>
                  <a:pt x="5181600" y="49149"/>
                </a:lnTo>
                <a:lnTo>
                  <a:pt x="5173436" y="53911"/>
                </a:lnTo>
                <a:close/>
              </a:path>
              <a:path w="5181600" h="98425">
                <a:moveTo>
                  <a:pt x="11849" y="53263"/>
                </a:moveTo>
                <a:lnTo>
                  <a:pt x="11849" y="45034"/>
                </a:lnTo>
                <a:lnTo>
                  <a:pt x="18903" y="49149"/>
                </a:lnTo>
                <a:lnTo>
                  <a:pt x="11849" y="53263"/>
                </a:lnTo>
                <a:close/>
              </a:path>
              <a:path w="5181600" h="98425">
                <a:moveTo>
                  <a:pt x="18903" y="49149"/>
                </a:moveTo>
                <a:lnTo>
                  <a:pt x="11849" y="45034"/>
                </a:lnTo>
                <a:lnTo>
                  <a:pt x="25956" y="45034"/>
                </a:lnTo>
                <a:lnTo>
                  <a:pt x="18903" y="49149"/>
                </a:lnTo>
                <a:close/>
              </a:path>
              <a:path w="5181600" h="98425">
                <a:moveTo>
                  <a:pt x="5169750" y="53263"/>
                </a:moveTo>
                <a:lnTo>
                  <a:pt x="5162696" y="49149"/>
                </a:lnTo>
                <a:lnTo>
                  <a:pt x="5169750" y="45034"/>
                </a:lnTo>
                <a:lnTo>
                  <a:pt x="5169750" y="53263"/>
                </a:lnTo>
                <a:close/>
              </a:path>
              <a:path w="5181600" h="98425">
                <a:moveTo>
                  <a:pt x="5172151" y="53263"/>
                </a:moveTo>
                <a:lnTo>
                  <a:pt x="5169750" y="53263"/>
                </a:lnTo>
                <a:lnTo>
                  <a:pt x="5169750" y="45034"/>
                </a:lnTo>
                <a:lnTo>
                  <a:pt x="5172151" y="45034"/>
                </a:lnTo>
                <a:lnTo>
                  <a:pt x="5172151" y="53263"/>
                </a:lnTo>
                <a:close/>
              </a:path>
              <a:path w="5181600" h="98425">
                <a:moveTo>
                  <a:pt x="25956" y="53263"/>
                </a:moveTo>
                <a:lnTo>
                  <a:pt x="11849" y="53263"/>
                </a:lnTo>
                <a:lnTo>
                  <a:pt x="18903" y="49149"/>
                </a:lnTo>
                <a:lnTo>
                  <a:pt x="25956" y="53263"/>
                </a:lnTo>
                <a:close/>
              </a:path>
              <a:path w="5181600" h="98425">
                <a:moveTo>
                  <a:pt x="5095138" y="98298"/>
                </a:moveTo>
                <a:lnTo>
                  <a:pt x="5093589" y="97739"/>
                </a:lnTo>
                <a:lnTo>
                  <a:pt x="5092319" y="96672"/>
                </a:lnTo>
                <a:lnTo>
                  <a:pt x="5091480" y="95250"/>
                </a:lnTo>
                <a:lnTo>
                  <a:pt x="5091188" y="93624"/>
                </a:lnTo>
                <a:lnTo>
                  <a:pt x="5091468" y="91986"/>
                </a:lnTo>
                <a:lnTo>
                  <a:pt x="5092280" y="90550"/>
                </a:lnTo>
                <a:lnTo>
                  <a:pt x="5093550" y="89484"/>
                </a:lnTo>
                <a:lnTo>
                  <a:pt x="5162696" y="49149"/>
                </a:lnTo>
                <a:lnTo>
                  <a:pt x="5169750" y="53263"/>
                </a:lnTo>
                <a:lnTo>
                  <a:pt x="5172151" y="53263"/>
                </a:lnTo>
                <a:lnTo>
                  <a:pt x="5172151" y="53911"/>
                </a:lnTo>
                <a:lnTo>
                  <a:pt x="5173436" y="53911"/>
                </a:lnTo>
                <a:lnTo>
                  <a:pt x="5098351" y="97713"/>
                </a:lnTo>
                <a:lnTo>
                  <a:pt x="5096802" y="98285"/>
                </a:lnTo>
                <a:lnTo>
                  <a:pt x="5095138" y="982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3339" y="495299"/>
            <a:ext cx="649795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5740" marR="5080" indent="-146367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Reason: </a:t>
            </a:r>
            <a:r>
              <a:rPr spc="-45" dirty="0"/>
              <a:t>2-Valued </a:t>
            </a:r>
            <a:r>
              <a:rPr spc="-10" dirty="0"/>
              <a:t>Laws </a:t>
            </a:r>
            <a:r>
              <a:rPr dirty="0"/>
              <a:t>!=  </a:t>
            </a:r>
            <a:r>
              <a:rPr spc="-45" dirty="0"/>
              <a:t>3-Valued</a:t>
            </a:r>
            <a:r>
              <a:rPr spc="-15" dirty="0"/>
              <a:t> </a:t>
            </a:r>
            <a:r>
              <a:rPr spc="-10" dirty="0"/>
              <a:t>Laws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2050" cy="301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Some </a:t>
            </a:r>
            <a:r>
              <a:rPr sz="3200" spc="-5" dirty="0">
                <a:latin typeface="Tahoma"/>
                <a:cs typeface="Tahoma"/>
              </a:rPr>
              <a:t>common </a:t>
            </a:r>
            <a:r>
              <a:rPr sz="3200" spc="-10" dirty="0">
                <a:latin typeface="Tahoma"/>
                <a:cs typeface="Tahoma"/>
              </a:rPr>
              <a:t>laws, like </a:t>
            </a:r>
            <a:r>
              <a:rPr sz="3200" spc="-5" dirty="0">
                <a:latin typeface="Tahoma"/>
                <a:cs typeface="Tahoma"/>
              </a:rPr>
              <a:t>commutativity  of </a:t>
            </a:r>
            <a:r>
              <a:rPr sz="3200" spc="-20" dirty="0">
                <a:latin typeface="Tahoma"/>
                <a:cs typeface="Tahoma"/>
              </a:rPr>
              <a:t>AND, </a:t>
            </a:r>
            <a:r>
              <a:rPr sz="3200" spc="-5" dirty="0">
                <a:latin typeface="Tahoma"/>
                <a:cs typeface="Tahoma"/>
              </a:rPr>
              <a:t>hold in </a:t>
            </a:r>
            <a:r>
              <a:rPr sz="3200" spc="-20" dirty="0">
                <a:latin typeface="Tahoma"/>
                <a:cs typeface="Tahoma"/>
              </a:rPr>
              <a:t>3-valued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logic.</a:t>
            </a:r>
            <a:endParaRPr sz="3200" dirty="0">
              <a:latin typeface="Tahoma"/>
              <a:cs typeface="Tahoma"/>
            </a:endParaRPr>
          </a:p>
          <a:p>
            <a:pPr marL="301625" marR="36830" indent="-28956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latin typeface="Tahoma"/>
                <a:cs typeface="Tahoma"/>
              </a:rPr>
              <a:t>not others,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lang="en-US" altLang="zh-CN" sz="3600" dirty="0">
                <a:effectLst/>
              </a:rPr>
              <a:t>law of the excluded middle</a:t>
            </a:r>
            <a:r>
              <a:rPr sz="3200" spc="-965" dirty="0">
                <a:latin typeface="Tahoma"/>
                <a:cs typeface="Tahoma"/>
              </a:rPr>
              <a:t>:  </a:t>
            </a:r>
            <a:r>
              <a:rPr sz="3350" i="1" spc="-40" dirty="0">
                <a:latin typeface="Tahoma"/>
                <a:cs typeface="Tahoma"/>
              </a:rPr>
              <a:t>p</a:t>
            </a:r>
            <a:r>
              <a:rPr sz="3200" spc="-40" dirty="0">
                <a:latin typeface="Tahoma"/>
                <a:cs typeface="Tahoma"/>
              </a:rPr>
              <a:t>OR </a:t>
            </a:r>
            <a:r>
              <a:rPr sz="3200" spc="-30" dirty="0">
                <a:latin typeface="Tahoma"/>
                <a:cs typeface="Tahoma"/>
              </a:rPr>
              <a:t>NOT </a:t>
            </a:r>
            <a:r>
              <a:rPr sz="3350" i="1" spc="-55" dirty="0">
                <a:latin typeface="Tahoma"/>
                <a:cs typeface="Tahoma"/>
              </a:rPr>
              <a:t>p</a:t>
            </a:r>
            <a:r>
              <a:rPr sz="3200" spc="-55" dirty="0">
                <a:latin typeface="Tahoma"/>
                <a:cs typeface="Tahoma"/>
              </a:rPr>
              <a:t>=</a:t>
            </a:r>
            <a:r>
              <a:rPr sz="3200" spc="-1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TRUE.</a:t>
            </a:r>
            <a:endParaRPr sz="3200" dirty="0">
              <a:latin typeface="Tahoma"/>
              <a:cs typeface="Tahoma"/>
            </a:endParaRPr>
          </a:p>
          <a:p>
            <a:pPr marL="755650" marR="907415" lvl="1" indent="-28575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When </a:t>
            </a:r>
            <a:r>
              <a:rPr sz="2900" i="1" spc="-40" dirty="0">
                <a:latin typeface="Tahoma"/>
                <a:cs typeface="Tahoma"/>
              </a:rPr>
              <a:t>p</a:t>
            </a:r>
            <a:r>
              <a:rPr sz="2800" spc="-4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UNKNOWN, the left side is  MAX( ½, (1 – ½ )) = ½ !=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1997" y="618373"/>
            <a:ext cx="51022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 err="1"/>
              <a:t>Multirelation</a:t>
            </a:r>
            <a:r>
              <a:rPr spc="-65" dirty="0"/>
              <a:t> </a:t>
            </a:r>
            <a:r>
              <a:rPr spc="-5" dirty="0"/>
              <a:t>Queries</a:t>
            </a:r>
            <a:r>
              <a:rPr lang="zh-CN" altLang="en-US" spc="-5" dirty="0"/>
              <a:t>多关系查询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714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81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Interesting </a:t>
            </a:r>
            <a:r>
              <a:rPr sz="3200" spc="-5" dirty="0">
                <a:latin typeface="Tahoma"/>
                <a:cs typeface="Tahoma"/>
              </a:rPr>
              <a:t>queries often combine data 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more than one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55600" marR="793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address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5" dirty="0">
                <a:latin typeface="Tahoma"/>
                <a:cs typeface="Tahoma"/>
              </a:rPr>
              <a:t>relations in one  query by listing them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in the FROM  clause.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Distinguish attributes of the same name  by “&lt;relation&gt;.&lt;attribute&gt;”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259" y="525144"/>
            <a:ext cx="7778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Joining </a:t>
            </a:r>
            <a:r>
              <a:rPr spc="-140" dirty="0"/>
              <a:t>Two</a:t>
            </a:r>
            <a:r>
              <a:rPr spc="-10"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667510"/>
            <a:ext cx="8175625" cy="437451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relations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, find the beers </a:t>
            </a:r>
            <a:r>
              <a:rPr sz="3200" spc="-10" dirty="0">
                <a:latin typeface="Tahoma"/>
                <a:cs typeface="Tahoma"/>
              </a:rPr>
              <a:t>liked  </a:t>
            </a:r>
            <a:r>
              <a:rPr sz="3200" spc="-5" dirty="0">
                <a:latin typeface="Tahoma"/>
                <a:cs typeface="Tahoma"/>
              </a:rPr>
              <a:t>by at least one person who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25" dirty="0">
                <a:latin typeface="Tahoma"/>
                <a:cs typeface="Tahoma"/>
              </a:rPr>
              <a:t>Joe’s 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</a:t>
            </a:r>
            <a:endParaRPr sz="32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Courier New"/>
                <a:cs typeface="Courier New"/>
              </a:rPr>
              <a:t>FROM Likes,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Frequents</a:t>
            </a:r>
            <a:endParaRPr sz="3200" dirty="0">
              <a:latin typeface="Courier New"/>
              <a:cs typeface="Courier New"/>
            </a:endParaRPr>
          </a:p>
          <a:p>
            <a:pPr marL="927100" marR="983615" indent="-571500">
              <a:lnSpc>
                <a:spcPct val="10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Frequents.drinker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</a:p>
          <a:p>
            <a:pPr marL="1902460">
              <a:lnSpc>
                <a:spcPts val="3454"/>
              </a:lnSpc>
            </a:pPr>
            <a:r>
              <a:rPr sz="3200" spc="-5" dirty="0">
                <a:latin typeface="Courier New"/>
                <a:cs typeface="Courier New"/>
              </a:rPr>
              <a:t>Likes.drinker;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222" y="457200"/>
            <a:ext cx="43757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Formal</a:t>
            </a:r>
            <a:r>
              <a:rPr spc="-65" dirty="0"/>
              <a:t> </a:t>
            </a:r>
            <a:r>
              <a:rPr spc="-5" dirty="0"/>
              <a:t>Semantics</a:t>
            </a:r>
            <a:r>
              <a:rPr lang="zh-CN" altLang="en-US" spc="-5" dirty="0"/>
              <a:t>形式语义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23150" cy="3816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Almost the same as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single-relation  queries:</a:t>
            </a:r>
            <a:endParaRPr sz="3200" dirty="0">
              <a:latin typeface="Tahoma"/>
              <a:cs typeface="Tahoma"/>
            </a:endParaRPr>
          </a:p>
          <a:p>
            <a:pPr marL="1002665" marR="304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Start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product of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relations  in the FROM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clause.</a:t>
            </a:r>
            <a:endParaRPr sz="2800" dirty="0">
              <a:latin typeface="Tahoma"/>
              <a:cs typeface="Tahoma"/>
            </a:endParaRPr>
          </a:p>
          <a:p>
            <a:pPr marL="1002665" marR="45910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Apply the selection condition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 WHERE clause.</a:t>
            </a:r>
            <a:endParaRPr sz="2800" dirty="0">
              <a:latin typeface="Tahoma"/>
              <a:cs typeface="Tahoma"/>
            </a:endParaRPr>
          </a:p>
          <a:p>
            <a:pPr marL="1002665" marR="63436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Project onto the list of attributes and  expressions in the SELECT clause.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035" y="622855"/>
            <a:ext cx="553593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Operational</a:t>
            </a:r>
            <a:r>
              <a:rPr spc="-65" dirty="0"/>
              <a:t> </a:t>
            </a:r>
            <a:r>
              <a:rPr spc="-5" dirty="0"/>
              <a:t>Semantics</a:t>
            </a:r>
            <a:r>
              <a:rPr lang="zh-CN" altLang="en-US" spc="-5" dirty="0"/>
              <a:t>操作语义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4120" cy="392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499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Imagine one </a:t>
            </a:r>
            <a:r>
              <a:rPr sz="3200" spc="-15" dirty="0">
                <a:latin typeface="Tahoma"/>
                <a:cs typeface="Tahoma"/>
              </a:rPr>
              <a:t>tuple-variable for </a:t>
            </a:r>
            <a:r>
              <a:rPr sz="3200" spc="-5" dirty="0">
                <a:latin typeface="Tahoma"/>
                <a:cs typeface="Tahoma"/>
              </a:rPr>
              <a:t>each  relation in the 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  <a:p>
            <a:pPr marL="755650" marR="93662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These </a:t>
            </a:r>
            <a:r>
              <a:rPr sz="2800" spc="-10" dirty="0">
                <a:latin typeface="Tahoma"/>
                <a:cs typeface="Tahoma"/>
              </a:rPr>
              <a:t>tuple-variables </a:t>
            </a:r>
            <a:r>
              <a:rPr sz="2800" spc="-5" dirty="0">
                <a:latin typeface="Tahoma"/>
                <a:cs typeface="Tahoma"/>
              </a:rPr>
              <a:t>visit each  combination of tuples, one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each  relation.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the </a:t>
            </a:r>
            <a:r>
              <a:rPr sz="3200" spc="-15" dirty="0">
                <a:latin typeface="Tahoma"/>
                <a:cs typeface="Tahoma"/>
              </a:rPr>
              <a:t>tuple-variables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pointing to  tuples that </a:t>
            </a:r>
            <a:r>
              <a:rPr sz="3200" spc="-10" dirty="0">
                <a:latin typeface="Tahoma"/>
                <a:cs typeface="Tahoma"/>
              </a:rPr>
              <a:t>satisfy </a:t>
            </a:r>
            <a:r>
              <a:rPr sz="3200" spc="-5" dirty="0">
                <a:latin typeface="Tahoma"/>
                <a:cs typeface="Tahoma"/>
              </a:rPr>
              <a:t>the WHERE clause,  send these tuples to the SELECT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939" y="2012950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1950" y="2012950"/>
            <a:ext cx="463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5540" y="2012950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rin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9050" y="2012950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2744470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8740" y="2744470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5540" y="3110229"/>
            <a:ext cx="647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6190" y="3110229"/>
            <a:ext cx="545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7939" y="3475990"/>
            <a:ext cx="647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9089" y="3475990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9940" y="4573270"/>
            <a:ext cx="692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Li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3689" y="4939029"/>
            <a:ext cx="136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Frequents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14437" y="1900237"/>
            <a:ext cx="2600325" cy="2905125"/>
          </a:xfrm>
          <a:custGeom>
            <a:avLst/>
            <a:gdLst/>
            <a:ahLst/>
            <a:cxnLst/>
            <a:rect l="l" t="t" r="r" b="b"/>
            <a:pathLst>
              <a:path w="2600325" h="2905125">
                <a:moveTo>
                  <a:pt x="2600325" y="2905125"/>
                </a:moveTo>
                <a:lnTo>
                  <a:pt x="0" y="29051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895600"/>
                </a:lnTo>
                <a:lnTo>
                  <a:pt x="4762" y="2895600"/>
                </a:lnTo>
                <a:lnTo>
                  <a:pt x="9525" y="2900362"/>
                </a:lnTo>
                <a:lnTo>
                  <a:pt x="2600325" y="2900362"/>
                </a:lnTo>
                <a:lnTo>
                  <a:pt x="2600325" y="2905125"/>
                </a:lnTo>
                <a:close/>
              </a:path>
              <a:path w="2600325" h="2905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29051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2905125">
                <a:moveTo>
                  <a:pt x="2590800" y="29003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2895600"/>
                </a:lnTo>
                <a:lnTo>
                  <a:pt x="2595562" y="2895600"/>
                </a:lnTo>
                <a:lnTo>
                  <a:pt x="2590800" y="2900362"/>
                </a:lnTo>
                <a:close/>
              </a:path>
              <a:path w="2600325" h="29051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2905125">
                <a:moveTo>
                  <a:pt x="9525" y="2900362"/>
                </a:moveTo>
                <a:lnTo>
                  <a:pt x="4762" y="2895600"/>
                </a:lnTo>
                <a:lnTo>
                  <a:pt x="9525" y="2895600"/>
                </a:lnTo>
                <a:lnTo>
                  <a:pt x="9525" y="2900362"/>
                </a:lnTo>
                <a:close/>
              </a:path>
              <a:path w="2600325" h="2905125">
                <a:moveTo>
                  <a:pt x="2590800" y="2900362"/>
                </a:moveTo>
                <a:lnTo>
                  <a:pt x="9525" y="2900362"/>
                </a:lnTo>
                <a:lnTo>
                  <a:pt x="9525" y="2895600"/>
                </a:lnTo>
                <a:lnTo>
                  <a:pt x="2590800" y="2895600"/>
                </a:lnTo>
                <a:lnTo>
                  <a:pt x="2590800" y="2900362"/>
                </a:lnTo>
                <a:close/>
              </a:path>
              <a:path w="2600325" h="2905125">
                <a:moveTo>
                  <a:pt x="2600325" y="2900362"/>
                </a:moveTo>
                <a:lnTo>
                  <a:pt x="2590800" y="2900362"/>
                </a:lnTo>
                <a:lnTo>
                  <a:pt x="2595562" y="2895600"/>
                </a:lnTo>
                <a:lnTo>
                  <a:pt x="2600325" y="2895600"/>
                </a:lnTo>
                <a:lnTo>
                  <a:pt x="2600325" y="2900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19200" y="2362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19200" y="3505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19200" y="3886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8400" y="1905000"/>
            <a:ext cx="0" cy="2895600"/>
          </a:xfrm>
          <a:custGeom>
            <a:avLst/>
            <a:gdLst/>
            <a:ahLst/>
            <a:cxnLst/>
            <a:rect l="l" t="t" r="r" b="b"/>
            <a:pathLst>
              <a:path h="2895600">
                <a:moveTo>
                  <a:pt x="0" y="0"/>
                </a:moveTo>
                <a:lnTo>
                  <a:pt x="0" y="2895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72037" y="1900237"/>
            <a:ext cx="2600325" cy="2447925"/>
          </a:xfrm>
          <a:custGeom>
            <a:avLst/>
            <a:gdLst/>
            <a:ahLst/>
            <a:cxnLst/>
            <a:rect l="l" t="t" r="r" b="b"/>
            <a:pathLst>
              <a:path w="2600325" h="2447925">
                <a:moveTo>
                  <a:pt x="26003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2600325" y="2443162"/>
                </a:lnTo>
                <a:lnTo>
                  <a:pt x="2600325" y="2447925"/>
                </a:lnTo>
                <a:close/>
              </a:path>
              <a:path w="26003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24479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2447925">
                <a:moveTo>
                  <a:pt x="2590800" y="24431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2438400"/>
                </a:lnTo>
                <a:lnTo>
                  <a:pt x="2595562" y="2438400"/>
                </a:lnTo>
                <a:lnTo>
                  <a:pt x="2590800" y="2443162"/>
                </a:lnTo>
                <a:close/>
              </a:path>
              <a:path w="2600325" h="24479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2600325" h="2447925">
                <a:moveTo>
                  <a:pt x="25908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2590800" y="2438400"/>
                </a:lnTo>
                <a:lnTo>
                  <a:pt x="2590800" y="2443162"/>
                </a:lnTo>
                <a:close/>
              </a:path>
              <a:path w="2600325" h="2447925">
                <a:moveTo>
                  <a:pt x="2600325" y="2443162"/>
                </a:moveTo>
                <a:lnTo>
                  <a:pt x="2590800" y="2443162"/>
                </a:lnTo>
                <a:lnTo>
                  <a:pt x="2595562" y="2438400"/>
                </a:lnTo>
                <a:lnTo>
                  <a:pt x="2600325" y="2438400"/>
                </a:lnTo>
                <a:lnTo>
                  <a:pt x="2600325" y="244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76800" y="2362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76800" y="3124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6800" y="35052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96000" y="1905000"/>
            <a:ext cx="0" cy="2438400"/>
          </a:xfrm>
          <a:custGeom>
            <a:avLst/>
            <a:gdLst/>
            <a:ahLst/>
            <a:cxnLst/>
            <a:rect l="l" t="t" r="r" b="b"/>
            <a:pathLst>
              <a:path h="2438400">
                <a:moveTo>
                  <a:pt x="0" y="0"/>
                </a:moveTo>
                <a:lnTo>
                  <a:pt x="0" y="2438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0479" y="3196640"/>
            <a:ext cx="688975" cy="537210"/>
          </a:xfrm>
          <a:custGeom>
            <a:avLst/>
            <a:gdLst/>
            <a:ahLst/>
            <a:cxnLst/>
            <a:rect l="l" t="t" r="r" b="b"/>
            <a:pathLst>
              <a:path w="688975" h="537210">
                <a:moveTo>
                  <a:pt x="625650" y="494131"/>
                </a:moveTo>
                <a:lnTo>
                  <a:pt x="0" y="7518"/>
                </a:lnTo>
                <a:lnTo>
                  <a:pt x="5841" y="0"/>
                </a:lnTo>
                <a:lnTo>
                  <a:pt x="631496" y="486615"/>
                </a:lnTo>
                <a:lnTo>
                  <a:pt x="625650" y="494131"/>
                </a:lnTo>
                <a:close/>
              </a:path>
              <a:path w="688975" h="537210">
                <a:moveTo>
                  <a:pt x="673738" y="505828"/>
                </a:moveTo>
                <a:lnTo>
                  <a:pt x="640689" y="505828"/>
                </a:lnTo>
                <a:lnTo>
                  <a:pt x="646531" y="498309"/>
                </a:lnTo>
                <a:lnTo>
                  <a:pt x="631496" y="486615"/>
                </a:lnTo>
                <a:lnTo>
                  <a:pt x="651967" y="460298"/>
                </a:lnTo>
                <a:lnTo>
                  <a:pt x="673738" y="505828"/>
                </a:lnTo>
                <a:close/>
              </a:path>
              <a:path w="688975" h="537210">
                <a:moveTo>
                  <a:pt x="640689" y="505828"/>
                </a:moveTo>
                <a:lnTo>
                  <a:pt x="625650" y="494131"/>
                </a:lnTo>
                <a:lnTo>
                  <a:pt x="631496" y="486615"/>
                </a:lnTo>
                <a:lnTo>
                  <a:pt x="646531" y="498309"/>
                </a:lnTo>
                <a:lnTo>
                  <a:pt x="640689" y="505828"/>
                </a:lnTo>
                <a:close/>
              </a:path>
              <a:path w="688975" h="537210">
                <a:moveTo>
                  <a:pt x="688721" y="537159"/>
                </a:moveTo>
                <a:lnTo>
                  <a:pt x="605180" y="520446"/>
                </a:lnTo>
                <a:lnTo>
                  <a:pt x="625650" y="494131"/>
                </a:lnTo>
                <a:lnTo>
                  <a:pt x="640689" y="505828"/>
                </a:lnTo>
                <a:lnTo>
                  <a:pt x="673738" y="505828"/>
                </a:lnTo>
                <a:lnTo>
                  <a:pt x="688721" y="537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67600" y="3195878"/>
            <a:ext cx="459105" cy="169545"/>
          </a:xfrm>
          <a:custGeom>
            <a:avLst/>
            <a:gdLst/>
            <a:ahLst/>
            <a:cxnLst/>
            <a:rect l="l" t="t" r="r" b="b"/>
            <a:pathLst>
              <a:path w="459104" h="169545">
                <a:moveTo>
                  <a:pt x="73795" y="137347"/>
                </a:moveTo>
                <a:lnTo>
                  <a:pt x="70780" y="128306"/>
                </a:lnTo>
                <a:lnTo>
                  <a:pt x="455688" y="0"/>
                </a:lnTo>
                <a:lnTo>
                  <a:pt x="458711" y="9042"/>
                </a:lnTo>
                <a:lnTo>
                  <a:pt x="73795" y="137347"/>
                </a:lnTo>
                <a:close/>
              </a:path>
              <a:path w="459104" h="169545">
                <a:moveTo>
                  <a:pt x="84340" y="168973"/>
                </a:moveTo>
                <a:lnTo>
                  <a:pt x="0" y="156921"/>
                </a:lnTo>
                <a:lnTo>
                  <a:pt x="60236" y="96685"/>
                </a:lnTo>
                <a:lnTo>
                  <a:pt x="70780" y="128306"/>
                </a:lnTo>
                <a:lnTo>
                  <a:pt x="52717" y="134327"/>
                </a:lnTo>
                <a:lnTo>
                  <a:pt x="55727" y="143370"/>
                </a:lnTo>
                <a:lnTo>
                  <a:pt x="75803" y="143370"/>
                </a:lnTo>
                <a:lnTo>
                  <a:pt x="84340" y="168973"/>
                </a:lnTo>
                <a:close/>
              </a:path>
              <a:path w="459104" h="169545">
                <a:moveTo>
                  <a:pt x="55727" y="143370"/>
                </a:moveTo>
                <a:lnTo>
                  <a:pt x="52717" y="134327"/>
                </a:lnTo>
                <a:lnTo>
                  <a:pt x="70780" y="128306"/>
                </a:lnTo>
                <a:lnTo>
                  <a:pt x="73795" y="137347"/>
                </a:lnTo>
                <a:lnTo>
                  <a:pt x="55727" y="143370"/>
                </a:lnTo>
                <a:close/>
              </a:path>
              <a:path w="459104" h="169545">
                <a:moveTo>
                  <a:pt x="75803" y="143370"/>
                </a:moveTo>
                <a:lnTo>
                  <a:pt x="55727" y="143370"/>
                </a:lnTo>
                <a:lnTo>
                  <a:pt x="73795" y="137347"/>
                </a:lnTo>
                <a:lnTo>
                  <a:pt x="75803" y="1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65340" y="5350509"/>
            <a:ext cx="1267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to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output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49161" y="3578872"/>
            <a:ext cx="1147445" cy="1831339"/>
          </a:xfrm>
          <a:custGeom>
            <a:avLst/>
            <a:gdLst/>
            <a:ahLst/>
            <a:cxnLst/>
            <a:rect l="l" t="t" r="r" b="b"/>
            <a:pathLst>
              <a:path w="1147445" h="1831339">
                <a:moveTo>
                  <a:pt x="1102612" y="1769234"/>
                </a:moveTo>
                <a:lnTo>
                  <a:pt x="0" y="5054"/>
                </a:lnTo>
                <a:lnTo>
                  <a:pt x="8077" y="0"/>
                </a:lnTo>
                <a:lnTo>
                  <a:pt x="1110692" y="1764184"/>
                </a:lnTo>
                <a:lnTo>
                  <a:pt x="1102612" y="1769234"/>
                </a:lnTo>
                <a:close/>
              </a:path>
              <a:path w="1147445" h="1831339">
                <a:moveTo>
                  <a:pt x="1142663" y="1785391"/>
                </a:moveTo>
                <a:lnTo>
                  <a:pt x="1112710" y="1785391"/>
                </a:lnTo>
                <a:lnTo>
                  <a:pt x="1120787" y="1780336"/>
                </a:lnTo>
                <a:lnTo>
                  <a:pt x="1110692" y="1764184"/>
                </a:lnTo>
                <a:lnTo>
                  <a:pt x="1138961" y="1746516"/>
                </a:lnTo>
                <a:lnTo>
                  <a:pt x="1142663" y="1785391"/>
                </a:lnTo>
                <a:close/>
              </a:path>
              <a:path w="1147445" h="1831339">
                <a:moveTo>
                  <a:pt x="1112710" y="1785391"/>
                </a:moveTo>
                <a:lnTo>
                  <a:pt x="1102612" y="1769234"/>
                </a:lnTo>
                <a:lnTo>
                  <a:pt x="1110692" y="1764184"/>
                </a:lnTo>
                <a:lnTo>
                  <a:pt x="1120787" y="1780336"/>
                </a:lnTo>
                <a:lnTo>
                  <a:pt x="1112710" y="1785391"/>
                </a:lnTo>
                <a:close/>
              </a:path>
              <a:path w="1147445" h="1831339">
                <a:moveTo>
                  <a:pt x="1147038" y="1831327"/>
                </a:moveTo>
                <a:lnTo>
                  <a:pt x="1074343" y="1786902"/>
                </a:lnTo>
                <a:lnTo>
                  <a:pt x="1102612" y="1769234"/>
                </a:lnTo>
                <a:lnTo>
                  <a:pt x="1112710" y="1785391"/>
                </a:lnTo>
                <a:lnTo>
                  <a:pt x="1142663" y="1785391"/>
                </a:lnTo>
                <a:lnTo>
                  <a:pt x="1147038" y="1831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72865" y="5399722"/>
            <a:ext cx="1613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check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these  are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equal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57400" y="3657600"/>
            <a:ext cx="1908810" cy="1756410"/>
          </a:xfrm>
          <a:custGeom>
            <a:avLst/>
            <a:gdLst/>
            <a:ahLst/>
            <a:cxnLst/>
            <a:rect l="l" t="t" r="r" b="b"/>
            <a:pathLst>
              <a:path w="1908810" h="1756410">
                <a:moveTo>
                  <a:pt x="30276" y="79628"/>
                </a:moveTo>
                <a:lnTo>
                  <a:pt x="0" y="0"/>
                </a:lnTo>
                <a:lnTo>
                  <a:pt x="81876" y="23558"/>
                </a:lnTo>
                <a:lnTo>
                  <a:pt x="71171" y="35191"/>
                </a:lnTo>
                <a:lnTo>
                  <a:pt x="45288" y="35191"/>
                </a:lnTo>
                <a:lnTo>
                  <a:pt x="38836" y="42202"/>
                </a:lnTo>
                <a:lnTo>
                  <a:pt x="52852" y="55097"/>
                </a:lnTo>
                <a:lnTo>
                  <a:pt x="30276" y="79628"/>
                </a:lnTo>
                <a:close/>
              </a:path>
              <a:path w="1908810" h="1756410">
                <a:moveTo>
                  <a:pt x="52852" y="55097"/>
                </a:moveTo>
                <a:lnTo>
                  <a:pt x="38836" y="42202"/>
                </a:lnTo>
                <a:lnTo>
                  <a:pt x="45288" y="35191"/>
                </a:lnTo>
                <a:lnTo>
                  <a:pt x="59304" y="48086"/>
                </a:lnTo>
                <a:lnTo>
                  <a:pt x="52852" y="55097"/>
                </a:lnTo>
                <a:close/>
              </a:path>
              <a:path w="1908810" h="1756410">
                <a:moveTo>
                  <a:pt x="59304" y="48086"/>
                </a:moveTo>
                <a:lnTo>
                  <a:pt x="45288" y="35191"/>
                </a:lnTo>
                <a:lnTo>
                  <a:pt x="71171" y="35191"/>
                </a:lnTo>
                <a:lnTo>
                  <a:pt x="59304" y="48086"/>
                </a:lnTo>
                <a:close/>
              </a:path>
              <a:path w="1908810" h="1756410">
                <a:moveTo>
                  <a:pt x="1901774" y="1756105"/>
                </a:moveTo>
                <a:lnTo>
                  <a:pt x="52852" y="55097"/>
                </a:lnTo>
                <a:lnTo>
                  <a:pt x="59304" y="48086"/>
                </a:lnTo>
                <a:lnTo>
                  <a:pt x="1908225" y="1749094"/>
                </a:lnTo>
                <a:lnTo>
                  <a:pt x="1901774" y="175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53050" y="3505200"/>
            <a:ext cx="189230" cy="1905635"/>
          </a:xfrm>
          <a:custGeom>
            <a:avLst/>
            <a:gdLst/>
            <a:ahLst/>
            <a:cxnLst/>
            <a:rect l="l" t="t" r="r" b="b"/>
            <a:pathLst>
              <a:path w="189229" h="1905635">
                <a:moveTo>
                  <a:pt x="146321" y="75578"/>
                </a:moveTo>
                <a:lnTo>
                  <a:pt x="113093" y="72923"/>
                </a:lnTo>
                <a:lnTo>
                  <a:pt x="157149" y="0"/>
                </a:lnTo>
                <a:lnTo>
                  <a:pt x="180004" y="56591"/>
                </a:lnTo>
                <a:lnTo>
                  <a:pt x="147840" y="56591"/>
                </a:lnTo>
                <a:lnTo>
                  <a:pt x="146321" y="75578"/>
                </a:lnTo>
                <a:close/>
              </a:path>
              <a:path w="189229" h="1905635">
                <a:moveTo>
                  <a:pt x="155821" y="76338"/>
                </a:moveTo>
                <a:lnTo>
                  <a:pt x="146321" y="75578"/>
                </a:lnTo>
                <a:lnTo>
                  <a:pt x="147840" y="56591"/>
                </a:lnTo>
                <a:lnTo>
                  <a:pt x="157340" y="57353"/>
                </a:lnTo>
                <a:lnTo>
                  <a:pt x="155821" y="76338"/>
                </a:lnTo>
                <a:close/>
              </a:path>
              <a:path w="189229" h="1905635">
                <a:moveTo>
                  <a:pt x="189052" y="78994"/>
                </a:moveTo>
                <a:lnTo>
                  <a:pt x="155821" y="76338"/>
                </a:lnTo>
                <a:lnTo>
                  <a:pt x="157340" y="57353"/>
                </a:lnTo>
                <a:lnTo>
                  <a:pt x="147840" y="56591"/>
                </a:lnTo>
                <a:lnTo>
                  <a:pt x="180004" y="56591"/>
                </a:lnTo>
                <a:lnTo>
                  <a:pt x="189052" y="78994"/>
                </a:lnTo>
                <a:close/>
              </a:path>
              <a:path w="189229" h="1905635">
                <a:moveTo>
                  <a:pt x="9499" y="1905380"/>
                </a:moveTo>
                <a:lnTo>
                  <a:pt x="0" y="1904619"/>
                </a:lnTo>
                <a:lnTo>
                  <a:pt x="146321" y="75578"/>
                </a:lnTo>
                <a:lnTo>
                  <a:pt x="155821" y="76338"/>
                </a:lnTo>
                <a:lnTo>
                  <a:pt x="9499" y="1905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01465" y="4332922"/>
            <a:ext cx="943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check  </a:t>
            </a:r>
            <a:r>
              <a:rPr sz="2400" spc="-10" dirty="0">
                <a:latin typeface="Tahoma"/>
                <a:cs typeface="Tahoma"/>
              </a:rPr>
              <a:t>for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Joe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86200" y="3810000"/>
            <a:ext cx="384810" cy="460375"/>
          </a:xfrm>
          <a:custGeom>
            <a:avLst/>
            <a:gdLst/>
            <a:ahLst/>
            <a:cxnLst/>
            <a:rect l="l" t="t" r="r" b="b"/>
            <a:pathLst>
              <a:path w="384810" h="460375">
                <a:moveTo>
                  <a:pt x="19507" y="82930"/>
                </a:moveTo>
                <a:lnTo>
                  <a:pt x="0" y="0"/>
                </a:lnTo>
                <a:lnTo>
                  <a:pt x="78054" y="34150"/>
                </a:lnTo>
                <a:lnTo>
                  <a:pt x="70006" y="40855"/>
                </a:lnTo>
                <a:lnTo>
                  <a:pt x="40246" y="40855"/>
                </a:lnTo>
                <a:lnTo>
                  <a:pt x="32931" y="46951"/>
                </a:lnTo>
                <a:lnTo>
                  <a:pt x="45125" y="61585"/>
                </a:lnTo>
                <a:lnTo>
                  <a:pt x="19507" y="82930"/>
                </a:lnTo>
                <a:close/>
              </a:path>
              <a:path w="384810" h="460375">
                <a:moveTo>
                  <a:pt x="45125" y="61585"/>
                </a:moveTo>
                <a:lnTo>
                  <a:pt x="32931" y="46951"/>
                </a:lnTo>
                <a:lnTo>
                  <a:pt x="40246" y="40855"/>
                </a:lnTo>
                <a:lnTo>
                  <a:pt x="52441" y="55490"/>
                </a:lnTo>
                <a:lnTo>
                  <a:pt x="45125" y="61585"/>
                </a:lnTo>
                <a:close/>
              </a:path>
              <a:path w="384810" h="460375">
                <a:moveTo>
                  <a:pt x="52441" y="55490"/>
                </a:moveTo>
                <a:lnTo>
                  <a:pt x="40246" y="40855"/>
                </a:lnTo>
                <a:lnTo>
                  <a:pt x="70006" y="40855"/>
                </a:lnTo>
                <a:lnTo>
                  <a:pt x="52441" y="55490"/>
                </a:lnTo>
                <a:close/>
              </a:path>
              <a:path w="384810" h="460375">
                <a:moveTo>
                  <a:pt x="377342" y="460248"/>
                </a:moveTo>
                <a:lnTo>
                  <a:pt x="45125" y="61585"/>
                </a:lnTo>
                <a:lnTo>
                  <a:pt x="52441" y="55490"/>
                </a:lnTo>
                <a:lnTo>
                  <a:pt x="384657" y="454151"/>
                </a:lnTo>
                <a:lnTo>
                  <a:pt x="377342" y="460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552" y="152400"/>
            <a:ext cx="563689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Explicit</a:t>
            </a:r>
            <a:r>
              <a:rPr spc="-10" dirty="0"/>
              <a:t> </a:t>
            </a:r>
            <a:r>
              <a:rPr lang="en-US" spc="-55" dirty="0"/>
              <a:t>Tuple-Variables </a:t>
            </a:r>
            <a:r>
              <a:rPr lang="zh-CN" altLang="en-US" spc="-55" dirty="0"/>
              <a:t>显式元组变量</a:t>
            </a:r>
            <a:endParaRPr spc="-5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0852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Sometimes,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needs to use two  copies of the 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55600" marR="1524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Distinguish copies by </a:t>
            </a:r>
            <a:r>
              <a:rPr sz="3200" spc="-10" dirty="0">
                <a:latin typeface="Tahoma"/>
                <a:cs typeface="Tahoma"/>
              </a:rPr>
              <a:t>following </a:t>
            </a:r>
            <a:r>
              <a:rPr sz="3200" spc="-5" dirty="0">
                <a:latin typeface="Tahoma"/>
                <a:cs typeface="Tahoma"/>
              </a:rPr>
              <a:t>the  relation name by the name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tuple-  </a:t>
            </a:r>
            <a:r>
              <a:rPr sz="3200" spc="-10" dirty="0">
                <a:latin typeface="Tahoma"/>
                <a:cs typeface="Tahoma"/>
              </a:rPr>
              <a:t>variable, </a:t>
            </a:r>
            <a:r>
              <a:rPr sz="3200" spc="-5" dirty="0">
                <a:latin typeface="Tahoma"/>
                <a:cs typeface="Tahoma"/>
              </a:rPr>
              <a:t>in the 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  <a:p>
            <a:pPr marL="355600" marR="84581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It’s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option to rename  relations this </a:t>
            </a:r>
            <a:r>
              <a:rPr sz="3200" spc="-90" dirty="0">
                <a:latin typeface="Tahoma"/>
                <a:cs typeface="Tahoma"/>
              </a:rPr>
              <a:t>way, </a:t>
            </a:r>
            <a:r>
              <a:rPr sz="3200" spc="-10" dirty="0">
                <a:latin typeface="Tahoma"/>
                <a:cs typeface="Tahoma"/>
              </a:rPr>
              <a:t>even </a:t>
            </a:r>
            <a:r>
              <a:rPr sz="3200" spc="-5" dirty="0">
                <a:latin typeface="Tahoma"/>
                <a:cs typeface="Tahoma"/>
              </a:rPr>
              <a:t>when not  essential.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060" y="525144"/>
            <a:ext cx="4526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0" dirty="0"/>
              <a:t> </a:t>
            </a:r>
            <a:r>
              <a:rPr spc="-45" dirty="0"/>
              <a:t>Self-Join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743710"/>
            <a:ext cx="7394575" cy="442621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pairs  of beers by the same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Do not produce pairs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dirty="0">
                <a:latin typeface="Tahoma"/>
                <a:cs typeface="Tahoma"/>
              </a:rPr>
              <a:t>(Bud,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Bud).</a:t>
            </a:r>
          </a:p>
          <a:p>
            <a:pPr marL="755650" marR="692785" lvl="1" indent="-285750">
              <a:lnSpc>
                <a:spcPts val="3020"/>
              </a:lnSpc>
              <a:spcBef>
                <a:spcPts val="7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Produce pairs in alphabetic </a:t>
            </a:r>
            <a:r>
              <a:rPr sz="2800" spc="-70" dirty="0">
                <a:latin typeface="Tahoma"/>
                <a:cs typeface="Tahoma"/>
              </a:rPr>
              <a:t>order, </a:t>
            </a:r>
            <a:r>
              <a:rPr sz="2800" spc="-5" dirty="0">
                <a:latin typeface="Tahoma"/>
                <a:cs typeface="Tahoma"/>
              </a:rPr>
              <a:t>e.g.  </a:t>
            </a:r>
            <a:r>
              <a:rPr sz="2800" dirty="0">
                <a:latin typeface="Tahoma"/>
                <a:cs typeface="Tahoma"/>
              </a:rPr>
              <a:t>(Bud, </a:t>
            </a:r>
            <a:r>
              <a:rPr sz="2800" spc="-5" dirty="0">
                <a:latin typeface="Tahoma"/>
                <a:cs typeface="Tahoma"/>
              </a:rPr>
              <a:t>Miller), not </a:t>
            </a:r>
            <a:r>
              <a:rPr sz="2800" spc="-50" dirty="0">
                <a:latin typeface="Tahoma"/>
                <a:cs typeface="Tahoma"/>
              </a:rPr>
              <a:t>(Miller,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Bud).</a:t>
            </a:r>
          </a:p>
          <a:p>
            <a:pPr marL="355600" marR="1294765" indent="127000">
              <a:lnSpc>
                <a:spcPts val="4060"/>
              </a:lnSpc>
              <a:spcBef>
                <a:spcPts val="140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SELECT b1.name, b2.name  FROM Beers b1, Beers</a:t>
            </a:r>
            <a:r>
              <a:rPr sz="3200" spc="-3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b2</a:t>
            </a:r>
          </a:p>
          <a:p>
            <a:pPr marL="926465" marR="446405" indent="-571500">
              <a:lnSpc>
                <a:spcPts val="4220"/>
              </a:lnSpc>
              <a:spcBef>
                <a:spcPts val="35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WHERE b1.manf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b2.manf AND  b1.name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&lt;</a:t>
            </a:r>
            <a:r>
              <a:rPr sz="3200" spc="-15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b2.name;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5330" y="525144"/>
            <a:ext cx="274447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Subqueries</a:t>
            </a:r>
            <a:r>
              <a:rPr lang="zh-CN" altLang="en-US" spc="-5" dirty="0"/>
              <a:t>子查询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708149"/>
            <a:ext cx="7578725" cy="44754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46355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parenthesized </a:t>
            </a:r>
            <a:r>
              <a:rPr sz="3200" spc="-20" dirty="0">
                <a:latin typeface="Tahoma"/>
                <a:cs typeface="Tahoma"/>
              </a:rPr>
              <a:t>SELECT-FROM-WHERE  </a:t>
            </a:r>
            <a:r>
              <a:rPr sz="3200" spc="-5" dirty="0">
                <a:latin typeface="Tahoma"/>
                <a:cs typeface="Tahoma"/>
              </a:rPr>
              <a:t>statement </a:t>
            </a:r>
            <a:r>
              <a:rPr sz="3200" spc="-944" dirty="0">
                <a:latin typeface="Tahoma"/>
                <a:cs typeface="Tahoma"/>
              </a:rPr>
              <a:t>(</a:t>
            </a:r>
            <a:r>
              <a:rPr lang="en-US" altLang="zh-CN" sz="3600" dirty="0">
                <a:effectLst/>
              </a:rPr>
              <a:t>subquery</a:t>
            </a:r>
            <a:r>
              <a:rPr sz="3200" spc="-944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as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number of places, including  FROM and WHERE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clauses.</a:t>
            </a:r>
            <a:endParaRPr sz="3200" dirty="0">
              <a:latin typeface="Tahoma"/>
              <a:cs typeface="Tahoma"/>
            </a:endParaRPr>
          </a:p>
          <a:p>
            <a:pPr marL="355600" marR="522605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in place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in the  FROM clause,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subquery  and then query </a:t>
            </a:r>
            <a:r>
              <a:rPr sz="3200" dirty="0">
                <a:latin typeface="Tahoma"/>
                <a:cs typeface="Tahoma"/>
              </a:rPr>
              <a:t>its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Must use a </a:t>
            </a:r>
            <a:r>
              <a:rPr sz="2800" spc="-10" dirty="0">
                <a:latin typeface="Tahoma"/>
                <a:cs typeface="Tahoma"/>
              </a:rPr>
              <a:t>tuple-variable </a:t>
            </a:r>
            <a:r>
              <a:rPr sz="2800" spc="-5" dirty="0">
                <a:latin typeface="Tahoma"/>
                <a:cs typeface="Tahoma"/>
              </a:rPr>
              <a:t>to name tuples of  the result.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035" y="829944"/>
            <a:ext cx="7059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Subquery in</a:t>
            </a:r>
            <a:r>
              <a:rPr spc="-30" dirty="0"/>
              <a:t> </a:t>
            </a:r>
            <a:r>
              <a:rPr spc="-5" dirty="0"/>
              <a:t>FROM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068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Find the beers </a:t>
            </a:r>
            <a:r>
              <a:rPr sz="3200" spc="-10" dirty="0">
                <a:latin typeface="Tahoma"/>
                <a:cs typeface="Tahoma"/>
              </a:rPr>
              <a:t>liked </a:t>
            </a:r>
            <a:r>
              <a:rPr sz="3200" spc="-5" dirty="0">
                <a:latin typeface="Tahoma"/>
                <a:cs typeface="Tahoma"/>
              </a:rPr>
              <a:t>by at least one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person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2456942"/>
            <a:ext cx="4721225" cy="10896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445"/>
              </a:spcBef>
            </a:pPr>
            <a:r>
              <a:rPr sz="3200" spc="-5" dirty="0">
                <a:latin typeface="Tahoma"/>
                <a:cs typeface="Tahoma"/>
              </a:rPr>
              <a:t>who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622" y="3546602"/>
            <a:ext cx="8072755" cy="237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1468120" indent="-914400">
              <a:lnSpc>
                <a:spcPct val="122800"/>
              </a:lnSpc>
              <a:spcBef>
                <a:spcPts val="95"/>
              </a:spcBef>
            </a:pPr>
            <a:r>
              <a:rPr sz="3200" spc="-5" dirty="0">
                <a:latin typeface="Courier New"/>
                <a:cs typeface="Courier New"/>
              </a:rPr>
              <a:t>FROM Likes,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(SELECT drinker  FROM</a:t>
            </a:r>
            <a:r>
              <a:rPr sz="3200" spc="-1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Frequents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  <a:p>
            <a:pPr marL="12700" marR="5080" indent="914400">
              <a:lnSpc>
                <a:spcPct val="117100"/>
              </a:lnSpc>
              <a:spcBef>
                <a:spcPts val="110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WHERE bar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’Joe’’s Bar’)</a:t>
            </a:r>
            <a:r>
              <a:rPr sz="3200" spc="-5" dirty="0">
                <a:highlight>
                  <a:srgbClr val="FF00FF"/>
                </a:highlight>
                <a:latin typeface="Courier New"/>
                <a:cs typeface="Courier New"/>
              </a:rPr>
              <a:t>JD</a:t>
            </a:r>
            <a:r>
              <a:rPr sz="3200" spc="-5" dirty="0">
                <a:latin typeface="Courier New"/>
                <a:cs typeface="Courier New"/>
              </a:rPr>
              <a:t>  WHERE Likes.drinker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JD.drinker;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4065" y="2705099"/>
            <a:ext cx="204216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Drinkers who  frequent </a:t>
            </a:r>
            <a:r>
              <a:rPr sz="2000" spc="-20" dirty="0">
                <a:latin typeface="Tahoma"/>
                <a:cs typeface="Tahoma"/>
              </a:rPr>
              <a:t>Joe’s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Bar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76800" y="3044151"/>
            <a:ext cx="841375" cy="614045"/>
          </a:xfrm>
          <a:custGeom>
            <a:avLst/>
            <a:gdLst/>
            <a:ahLst/>
            <a:cxnLst/>
            <a:rect l="l" t="t" r="r" b="b"/>
            <a:pathLst>
              <a:path w="841375" h="614045">
                <a:moveTo>
                  <a:pt x="64425" y="572477"/>
                </a:moveTo>
                <a:lnTo>
                  <a:pt x="58826" y="564779"/>
                </a:lnTo>
                <a:lnTo>
                  <a:pt x="835393" y="0"/>
                </a:lnTo>
                <a:lnTo>
                  <a:pt x="841006" y="7696"/>
                </a:lnTo>
                <a:lnTo>
                  <a:pt x="64425" y="572477"/>
                </a:lnTo>
                <a:close/>
              </a:path>
              <a:path w="841375" h="614045">
                <a:moveTo>
                  <a:pt x="0" y="613448"/>
                </a:moveTo>
                <a:lnTo>
                  <a:pt x="39217" y="537819"/>
                </a:lnTo>
                <a:lnTo>
                  <a:pt x="58826" y="564779"/>
                </a:lnTo>
                <a:lnTo>
                  <a:pt x="43421" y="575983"/>
                </a:lnTo>
                <a:lnTo>
                  <a:pt x="49022" y="583679"/>
                </a:lnTo>
                <a:lnTo>
                  <a:pt x="72572" y="583679"/>
                </a:lnTo>
                <a:lnTo>
                  <a:pt x="84035" y="599439"/>
                </a:lnTo>
                <a:lnTo>
                  <a:pt x="0" y="613448"/>
                </a:lnTo>
                <a:close/>
              </a:path>
              <a:path w="841375" h="614045">
                <a:moveTo>
                  <a:pt x="49022" y="583679"/>
                </a:moveTo>
                <a:lnTo>
                  <a:pt x="43421" y="575983"/>
                </a:lnTo>
                <a:lnTo>
                  <a:pt x="58826" y="564779"/>
                </a:lnTo>
                <a:lnTo>
                  <a:pt x="64425" y="572477"/>
                </a:lnTo>
                <a:lnTo>
                  <a:pt x="49022" y="583679"/>
                </a:lnTo>
                <a:close/>
              </a:path>
              <a:path w="841375" h="614045">
                <a:moveTo>
                  <a:pt x="72572" y="583679"/>
                </a:moveTo>
                <a:lnTo>
                  <a:pt x="49022" y="583679"/>
                </a:lnTo>
                <a:lnTo>
                  <a:pt x="64425" y="572477"/>
                </a:lnTo>
                <a:lnTo>
                  <a:pt x="72572" y="583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829944"/>
            <a:ext cx="860424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Subqueries That </a:t>
            </a:r>
            <a:r>
              <a:rPr spc="-15" dirty="0"/>
              <a:t>Return </a:t>
            </a:r>
            <a:r>
              <a:rPr spc="-5" dirty="0"/>
              <a:t>One</a:t>
            </a:r>
            <a:r>
              <a:rPr spc="-30" dirty="0"/>
              <a:t> </a:t>
            </a:r>
            <a:r>
              <a:rPr spc="-85" dirty="0"/>
              <a:t>Tuple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38390" cy="293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subquery is </a:t>
            </a:r>
            <a:r>
              <a:rPr sz="3200" spc="-10" dirty="0">
                <a:latin typeface="Tahoma"/>
                <a:cs typeface="Tahoma"/>
              </a:rPr>
              <a:t>guaranteed </a:t>
            </a:r>
            <a:r>
              <a:rPr sz="3200" spc="-5" dirty="0">
                <a:latin typeface="Tahoma"/>
                <a:cs typeface="Tahoma"/>
              </a:rPr>
              <a:t>to produce  one tuple, then the subquery can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used as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value.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5" dirty="0">
                <a:latin typeface="Tahoma"/>
                <a:cs typeface="Tahoma"/>
              </a:rPr>
              <a:t>Usually, </a:t>
            </a:r>
            <a:r>
              <a:rPr sz="2800" spc="-5" dirty="0">
                <a:latin typeface="Tahoma"/>
                <a:cs typeface="Tahoma"/>
              </a:rPr>
              <a:t>the tuple has one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component.</a:t>
            </a:r>
            <a:endParaRPr sz="2800" dirty="0">
              <a:latin typeface="Tahoma"/>
              <a:cs typeface="Tahoma"/>
            </a:endParaRPr>
          </a:p>
          <a:p>
            <a:pPr marL="755650" marR="3937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 run-time </a:t>
            </a:r>
            <a:r>
              <a:rPr sz="2800" spc="-10" dirty="0">
                <a:latin typeface="Tahoma"/>
                <a:cs typeface="Tahoma"/>
              </a:rPr>
              <a:t>error </a:t>
            </a:r>
            <a:r>
              <a:rPr sz="2800" spc="-5" dirty="0">
                <a:latin typeface="Tahoma"/>
                <a:cs typeface="Tahoma"/>
              </a:rPr>
              <a:t>occurs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spc="-5" dirty="0">
                <a:latin typeface="Tahoma"/>
                <a:cs typeface="Tahoma"/>
              </a:rPr>
              <a:t>is no tuple  or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 one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09" y="829944"/>
            <a:ext cx="7942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65" dirty="0"/>
              <a:t>Single-Tuple</a:t>
            </a:r>
            <a:r>
              <a:rPr spc="-25" dirty="0"/>
              <a:t> </a:t>
            </a:r>
            <a:r>
              <a:rPr spc="-5" dirty="0"/>
              <a:t>Subquery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860549"/>
            <a:ext cx="7826375" cy="3097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3429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Sells(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bar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price)</a:t>
            </a:r>
            <a:r>
              <a:rPr sz="3200" spc="-5" dirty="0">
                <a:latin typeface="Tahoma"/>
                <a:cs typeface="Tahoma"/>
              </a:rPr>
              <a:t>, find the  bars that </a:t>
            </a:r>
            <a:r>
              <a:rPr sz="3200" spc="-10" dirty="0">
                <a:latin typeface="Tahoma"/>
                <a:cs typeface="Tahoma"/>
              </a:rPr>
              <a:t>serve </a:t>
            </a:r>
            <a:r>
              <a:rPr sz="3200" spc="-5" dirty="0">
                <a:latin typeface="Tahoma"/>
                <a:cs typeface="Tahoma"/>
              </a:rPr>
              <a:t>Miller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same price 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5" dirty="0">
                <a:latin typeface="Tahoma"/>
                <a:cs typeface="Tahoma"/>
              </a:rPr>
              <a:t>charges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Bud.</a:t>
            </a: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queries would surely</a:t>
            </a:r>
            <a:r>
              <a:rPr sz="3200" spc="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work: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Find the price Joe charges </a:t>
            </a:r>
            <a:r>
              <a:rPr sz="2800" spc="-15" dirty="0">
                <a:latin typeface="Tahoma"/>
                <a:cs typeface="Tahoma"/>
              </a:rPr>
              <a:t>for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Bud.</a:t>
            </a: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Find the bars that </a:t>
            </a:r>
            <a:r>
              <a:rPr sz="2800" spc="-10" dirty="0">
                <a:latin typeface="Tahoma"/>
                <a:cs typeface="Tahoma"/>
              </a:rPr>
              <a:t>serve </a:t>
            </a:r>
            <a:r>
              <a:rPr sz="2800" spc="-5" dirty="0">
                <a:latin typeface="Tahoma"/>
                <a:cs typeface="Tahoma"/>
              </a:rPr>
              <a:t>Miller at that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price.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880" y="829944"/>
            <a:ext cx="6746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Query </a:t>
            </a:r>
            <a:r>
              <a:rPr dirty="0"/>
              <a:t>+ </a:t>
            </a:r>
            <a:r>
              <a:rPr spc="-5" dirty="0"/>
              <a:t>Subquery</a:t>
            </a:r>
            <a:r>
              <a:rPr spc="-35" dirty="0"/>
              <a:t> </a:t>
            </a: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439" y="1915287"/>
            <a:ext cx="4898390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9715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bar  FROM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</a:p>
          <a:p>
            <a:pPr marL="583565" marR="5080" indent="-5715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beer </a:t>
            </a:r>
            <a:r>
              <a:rPr sz="3200" dirty="0">
                <a:latin typeface="Tahoma"/>
                <a:cs typeface="Tahoma"/>
              </a:rPr>
              <a:t>= ’Miller’ </a:t>
            </a:r>
            <a:r>
              <a:rPr sz="3200" spc="-5" dirty="0">
                <a:latin typeface="Tahoma"/>
                <a:cs typeface="Tahoma"/>
              </a:rPr>
              <a:t>AND  price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7054" y="3778686"/>
            <a:ext cx="459422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(SELECT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price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13335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FROM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Sells</a:t>
            </a:r>
          </a:p>
          <a:p>
            <a:pPr marL="412750" indent="-279400">
              <a:lnSpc>
                <a:spcPct val="119900"/>
              </a:lnSpc>
            </a:pP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WHERE bar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 </a:t>
            </a:r>
            <a:r>
              <a:rPr sz="3200" spc="-20" dirty="0">
                <a:highlight>
                  <a:srgbClr val="FFFF00"/>
                </a:highlight>
                <a:latin typeface="Tahoma"/>
                <a:cs typeface="Tahoma"/>
              </a:rPr>
              <a:t>’Joe’’s </a:t>
            </a:r>
            <a:r>
              <a:rPr sz="3200" spc="10" dirty="0">
                <a:highlight>
                  <a:srgbClr val="FFFF00"/>
                </a:highlight>
                <a:latin typeface="Tahoma"/>
                <a:cs typeface="Tahoma"/>
              </a:rPr>
              <a:t>Bar’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AND beer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=</a:t>
            </a:r>
            <a:r>
              <a:rPr sz="3200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’Bud’);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67037" y="3805237"/>
            <a:ext cx="4810125" cy="2447925"/>
          </a:xfrm>
          <a:custGeom>
            <a:avLst/>
            <a:gdLst/>
            <a:ahLst/>
            <a:cxnLst/>
            <a:rect l="l" t="t" r="r" b="b"/>
            <a:pathLst>
              <a:path w="4810125" h="2447925">
                <a:moveTo>
                  <a:pt x="48101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4810125" y="0"/>
                </a:lnTo>
                <a:lnTo>
                  <a:pt x="481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4810125" y="2443162"/>
                </a:lnTo>
                <a:lnTo>
                  <a:pt x="4810125" y="2447925"/>
                </a:lnTo>
                <a:close/>
              </a:path>
              <a:path w="48101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810125" h="2447925">
                <a:moveTo>
                  <a:pt x="480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800600" y="4762"/>
                </a:lnTo>
                <a:lnTo>
                  <a:pt x="4800600" y="9525"/>
                </a:lnTo>
                <a:close/>
              </a:path>
              <a:path w="4810125" h="2447925">
                <a:moveTo>
                  <a:pt x="4800600" y="2443162"/>
                </a:moveTo>
                <a:lnTo>
                  <a:pt x="4800600" y="4762"/>
                </a:lnTo>
                <a:lnTo>
                  <a:pt x="4805362" y="9525"/>
                </a:lnTo>
                <a:lnTo>
                  <a:pt x="4810125" y="9525"/>
                </a:lnTo>
                <a:lnTo>
                  <a:pt x="4810125" y="2438400"/>
                </a:lnTo>
                <a:lnTo>
                  <a:pt x="4805362" y="2438400"/>
                </a:lnTo>
                <a:lnTo>
                  <a:pt x="4800600" y="2443162"/>
                </a:lnTo>
                <a:close/>
              </a:path>
              <a:path w="4810125" h="2447925">
                <a:moveTo>
                  <a:pt x="4810125" y="9525"/>
                </a:moveTo>
                <a:lnTo>
                  <a:pt x="4805362" y="9525"/>
                </a:lnTo>
                <a:lnTo>
                  <a:pt x="4800600" y="4762"/>
                </a:lnTo>
                <a:lnTo>
                  <a:pt x="4810125" y="4762"/>
                </a:lnTo>
                <a:lnTo>
                  <a:pt x="4810125" y="9525"/>
                </a:lnTo>
                <a:close/>
              </a:path>
              <a:path w="48101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4810125" h="2447925">
                <a:moveTo>
                  <a:pt x="48006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4800600" y="2438400"/>
                </a:lnTo>
                <a:lnTo>
                  <a:pt x="4800600" y="2443162"/>
                </a:lnTo>
                <a:close/>
              </a:path>
              <a:path w="4810125" h="2447925">
                <a:moveTo>
                  <a:pt x="4810125" y="2443162"/>
                </a:moveTo>
                <a:lnTo>
                  <a:pt x="4800600" y="2443162"/>
                </a:lnTo>
                <a:lnTo>
                  <a:pt x="4805362" y="2438400"/>
                </a:lnTo>
                <a:lnTo>
                  <a:pt x="4810125" y="2438400"/>
                </a:lnTo>
                <a:lnTo>
                  <a:pt x="4810125" y="2443162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0065" y="4762500"/>
            <a:ext cx="13684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price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  which Joe  sells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Bud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5571" y="4870932"/>
            <a:ext cx="916305" cy="391795"/>
          </a:xfrm>
          <a:custGeom>
            <a:avLst/>
            <a:gdLst/>
            <a:ahLst/>
            <a:cxnLst/>
            <a:rect l="l" t="t" r="r" b="b"/>
            <a:pathLst>
              <a:path w="916305" h="391795">
                <a:moveTo>
                  <a:pt x="844061" y="30782"/>
                </a:moveTo>
                <a:lnTo>
                  <a:pt x="831240" y="0"/>
                </a:lnTo>
                <a:lnTo>
                  <a:pt x="916228" y="5867"/>
                </a:lnTo>
                <a:lnTo>
                  <a:pt x="901036" y="23456"/>
                </a:lnTo>
                <a:lnTo>
                  <a:pt x="861644" y="23456"/>
                </a:lnTo>
                <a:lnTo>
                  <a:pt x="844061" y="30782"/>
                </a:lnTo>
                <a:close/>
              </a:path>
              <a:path w="916305" h="391795">
                <a:moveTo>
                  <a:pt x="847721" y="39570"/>
                </a:moveTo>
                <a:lnTo>
                  <a:pt x="844061" y="30782"/>
                </a:lnTo>
                <a:lnTo>
                  <a:pt x="861644" y="23456"/>
                </a:lnTo>
                <a:lnTo>
                  <a:pt x="865301" y="32245"/>
                </a:lnTo>
                <a:lnTo>
                  <a:pt x="847721" y="39570"/>
                </a:lnTo>
                <a:close/>
              </a:path>
              <a:path w="916305" h="391795">
                <a:moveTo>
                  <a:pt x="860539" y="70345"/>
                </a:moveTo>
                <a:lnTo>
                  <a:pt x="847721" y="39570"/>
                </a:lnTo>
                <a:lnTo>
                  <a:pt x="865301" y="32245"/>
                </a:lnTo>
                <a:lnTo>
                  <a:pt x="861644" y="23456"/>
                </a:lnTo>
                <a:lnTo>
                  <a:pt x="901036" y="23456"/>
                </a:lnTo>
                <a:lnTo>
                  <a:pt x="860539" y="70345"/>
                </a:lnTo>
                <a:close/>
              </a:path>
              <a:path w="916305" h="391795">
                <a:moveTo>
                  <a:pt x="3657" y="391261"/>
                </a:moveTo>
                <a:lnTo>
                  <a:pt x="0" y="382473"/>
                </a:lnTo>
                <a:lnTo>
                  <a:pt x="844061" y="30782"/>
                </a:lnTo>
                <a:lnTo>
                  <a:pt x="847721" y="39570"/>
                </a:lnTo>
                <a:lnTo>
                  <a:pt x="3657" y="391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635" y="829944"/>
            <a:ext cx="4062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IN</a:t>
            </a:r>
            <a:r>
              <a:rPr spc="-70" dirty="0"/>
              <a:t> </a:t>
            </a:r>
            <a:r>
              <a:rPr spc="-15" dirty="0"/>
              <a:t>Operator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3640" cy="3074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&lt;tuple&gt; </a:t>
            </a:r>
            <a:r>
              <a:rPr sz="3200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(&lt;subquery&gt;) is true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 only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tuple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member of the  relation produced by the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Opposite: &lt;tuple&gt; </a:t>
            </a:r>
            <a:r>
              <a:rPr sz="2800" spc="-25" dirty="0">
                <a:latin typeface="Tahoma"/>
                <a:cs typeface="Tahoma"/>
              </a:rPr>
              <a:t>NOT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(&lt;subquery&gt;).</a:t>
            </a:r>
            <a:endParaRPr sz="2800" dirty="0">
              <a:latin typeface="Tahoma"/>
              <a:cs typeface="Tahoma"/>
            </a:endParaRPr>
          </a:p>
          <a:p>
            <a:pPr marL="355600" marR="41655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IN-expressions can appear in WHERE  clauses.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1014" y="829944"/>
            <a:ext cx="3063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743710"/>
            <a:ext cx="8313420" cy="29984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manf)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, find the name and </a:t>
            </a:r>
            <a:r>
              <a:rPr sz="3200" spc="-10" dirty="0">
                <a:latin typeface="Tahoma"/>
                <a:cs typeface="Tahoma"/>
              </a:rPr>
              <a:t>manufacturer </a:t>
            </a:r>
            <a:r>
              <a:rPr sz="3200" spc="-5" dirty="0">
                <a:latin typeface="Tahoma"/>
                <a:cs typeface="Tahoma"/>
              </a:rPr>
              <a:t>of  each beer that </a:t>
            </a:r>
            <a:r>
              <a:rPr sz="3200" spc="-10" dirty="0">
                <a:latin typeface="Tahoma"/>
                <a:cs typeface="Tahoma"/>
              </a:rPr>
              <a:t>Fred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likes.</a:t>
            </a:r>
            <a:endParaRPr sz="3200" dirty="0">
              <a:latin typeface="Tahoma"/>
              <a:cs typeface="Tahoma"/>
            </a:endParaRPr>
          </a:p>
          <a:p>
            <a:pPr marL="736600">
              <a:lnSpc>
                <a:spcPct val="100000"/>
              </a:lnSpc>
              <a:spcBef>
                <a:spcPts val="309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*</a:t>
            </a:r>
          </a:p>
          <a:p>
            <a:pPr marL="736600" marR="4546600">
              <a:lnSpc>
                <a:spcPct val="109900"/>
              </a:lnSpc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Beers  </a:t>
            </a:r>
            <a:r>
              <a:rPr sz="3200" spc="-5" dirty="0">
                <a:latin typeface="Tahoma"/>
                <a:cs typeface="Tahoma"/>
              </a:rPr>
              <a:t>WHERE name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04640" y="4240331"/>
            <a:ext cx="4243070" cy="15633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Likes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’Fred’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5" y="5299709"/>
            <a:ext cx="325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)</a:t>
            </a:r>
            <a:r>
              <a:rPr sz="3200" dirty="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53840" y="4191000"/>
            <a:ext cx="4419600" cy="1600200"/>
          </a:xfrm>
          <a:custGeom>
            <a:avLst/>
            <a:gdLst/>
            <a:ahLst/>
            <a:cxnLst/>
            <a:rect l="l" t="t" r="r" b="b"/>
            <a:pathLst>
              <a:path w="4419600" h="1600200">
                <a:moveTo>
                  <a:pt x="0" y="0"/>
                </a:moveTo>
                <a:lnTo>
                  <a:pt x="4419600" y="0"/>
                </a:lnTo>
                <a:lnTo>
                  <a:pt x="44196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49712" y="4186237"/>
            <a:ext cx="4429125" cy="1609725"/>
          </a:xfrm>
          <a:custGeom>
            <a:avLst/>
            <a:gdLst/>
            <a:ahLst/>
            <a:cxnLst/>
            <a:rect l="l" t="t" r="r" b="b"/>
            <a:pathLst>
              <a:path w="4429125" h="1609725">
                <a:moveTo>
                  <a:pt x="4429125" y="1609725"/>
                </a:moveTo>
                <a:lnTo>
                  <a:pt x="0" y="1609725"/>
                </a:lnTo>
                <a:lnTo>
                  <a:pt x="0" y="0"/>
                </a:lnTo>
                <a:lnTo>
                  <a:pt x="4429125" y="0"/>
                </a:lnTo>
                <a:lnTo>
                  <a:pt x="442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00200"/>
                </a:lnTo>
                <a:lnTo>
                  <a:pt x="4762" y="1600200"/>
                </a:lnTo>
                <a:lnTo>
                  <a:pt x="9525" y="1604962"/>
                </a:lnTo>
                <a:lnTo>
                  <a:pt x="4429125" y="1604962"/>
                </a:lnTo>
                <a:lnTo>
                  <a:pt x="4429125" y="1609725"/>
                </a:lnTo>
                <a:close/>
              </a:path>
              <a:path w="4429125" h="1609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429125" h="1609725">
                <a:moveTo>
                  <a:pt x="441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19600" y="4762"/>
                </a:lnTo>
                <a:lnTo>
                  <a:pt x="4419600" y="9525"/>
                </a:lnTo>
                <a:close/>
              </a:path>
              <a:path w="4429125" h="1609725">
                <a:moveTo>
                  <a:pt x="4419600" y="1604962"/>
                </a:moveTo>
                <a:lnTo>
                  <a:pt x="4419600" y="4762"/>
                </a:lnTo>
                <a:lnTo>
                  <a:pt x="4424362" y="9525"/>
                </a:lnTo>
                <a:lnTo>
                  <a:pt x="4429125" y="9525"/>
                </a:lnTo>
                <a:lnTo>
                  <a:pt x="4429125" y="1600200"/>
                </a:lnTo>
                <a:lnTo>
                  <a:pt x="4424362" y="1600200"/>
                </a:lnTo>
                <a:lnTo>
                  <a:pt x="4419600" y="1604962"/>
                </a:lnTo>
                <a:close/>
              </a:path>
              <a:path w="4429125" h="1609725">
                <a:moveTo>
                  <a:pt x="4429125" y="9525"/>
                </a:moveTo>
                <a:lnTo>
                  <a:pt x="4424362" y="9525"/>
                </a:lnTo>
                <a:lnTo>
                  <a:pt x="4419600" y="4762"/>
                </a:lnTo>
                <a:lnTo>
                  <a:pt x="4429125" y="4762"/>
                </a:lnTo>
                <a:lnTo>
                  <a:pt x="4429125" y="9525"/>
                </a:lnTo>
                <a:close/>
              </a:path>
              <a:path w="4429125" h="1609725">
                <a:moveTo>
                  <a:pt x="9525" y="1604962"/>
                </a:moveTo>
                <a:lnTo>
                  <a:pt x="4762" y="1600200"/>
                </a:lnTo>
                <a:lnTo>
                  <a:pt x="9525" y="1600200"/>
                </a:lnTo>
                <a:lnTo>
                  <a:pt x="9525" y="1604962"/>
                </a:lnTo>
                <a:close/>
              </a:path>
              <a:path w="4429125" h="1609725">
                <a:moveTo>
                  <a:pt x="4419600" y="1604962"/>
                </a:moveTo>
                <a:lnTo>
                  <a:pt x="9525" y="1604962"/>
                </a:lnTo>
                <a:lnTo>
                  <a:pt x="9525" y="1600200"/>
                </a:lnTo>
                <a:lnTo>
                  <a:pt x="4419600" y="1600200"/>
                </a:lnTo>
                <a:lnTo>
                  <a:pt x="4419600" y="1604962"/>
                </a:lnTo>
                <a:close/>
              </a:path>
              <a:path w="4429125" h="1609725">
                <a:moveTo>
                  <a:pt x="4429125" y="1604962"/>
                </a:moveTo>
                <a:lnTo>
                  <a:pt x="4419600" y="1604962"/>
                </a:lnTo>
                <a:lnTo>
                  <a:pt x="4424362" y="1600200"/>
                </a:lnTo>
                <a:lnTo>
                  <a:pt x="4429125" y="1600200"/>
                </a:lnTo>
                <a:lnTo>
                  <a:pt x="4429125" y="1604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26539" y="4838700"/>
            <a:ext cx="12160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set </a:t>
            </a:r>
            <a:r>
              <a:rPr sz="2000" spc="-5" dirty="0">
                <a:latin typeface="Tahoma"/>
                <a:cs typeface="Tahoma"/>
              </a:rPr>
              <a:t>of  beers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Fred  </a:t>
            </a:r>
            <a:r>
              <a:rPr sz="2000" spc="-10" dirty="0">
                <a:latin typeface="Tahoma"/>
                <a:cs typeface="Tahoma"/>
              </a:rPr>
              <a:t>likes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33598" y="4867884"/>
            <a:ext cx="1221105" cy="471170"/>
          </a:xfrm>
          <a:custGeom>
            <a:avLst/>
            <a:gdLst/>
            <a:ahLst/>
            <a:cxnLst/>
            <a:rect l="l" t="t" r="r" b="b"/>
            <a:pathLst>
              <a:path w="1221104" h="471170">
                <a:moveTo>
                  <a:pt x="1147855" y="31213"/>
                </a:moveTo>
                <a:lnTo>
                  <a:pt x="1136154" y="0"/>
                </a:lnTo>
                <a:lnTo>
                  <a:pt x="1220876" y="8915"/>
                </a:lnTo>
                <a:lnTo>
                  <a:pt x="1206382" y="24523"/>
                </a:lnTo>
                <a:lnTo>
                  <a:pt x="1165694" y="24523"/>
                </a:lnTo>
                <a:lnTo>
                  <a:pt x="1147855" y="31213"/>
                </a:lnTo>
                <a:close/>
              </a:path>
              <a:path w="1221104" h="471170">
                <a:moveTo>
                  <a:pt x="1151197" y="40128"/>
                </a:moveTo>
                <a:lnTo>
                  <a:pt x="1147855" y="31213"/>
                </a:lnTo>
                <a:lnTo>
                  <a:pt x="1165694" y="24523"/>
                </a:lnTo>
                <a:lnTo>
                  <a:pt x="1169035" y="33439"/>
                </a:lnTo>
                <a:lnTo>
                  <a:pt x="1151197" y="40128"/>
                </a:lnTo>
                <a:close/>
              </a:path>
              <a:path w="1221104" h="471170">
                <a:moveTo>
                  <a:pt x="1162900" y="71348"/>
                </a:moveTo>
                <a:lnTo>
                  <a:pt x="1151197" y="40128"/>
                </a:lnTo>
                <a:lnTo>
                  <a:pt x="1169035" y="33439"/>
                </a:lnTo>
                <a:lnTo>
                  <a:pt x="1165694" y="24523"/>
                </a:lnTo>
                <a:lnTo>
                  <a:pt x="1206382" y="24523"/>
                </a:lnTo>
                <a:lnTo>
                  <a:pt x="1162900" y="71348"/>
                </a:lnTo>
                <a:close/>
              </a:path>
              <a:path w="1221104" h="471170">
                <a:moveTo>
                  <a:pt x="3352" y="470573"/>
                </a:moveTo>
                <a:lnTo>
                  <a:pt x="0" y="461657"/>
                </a:lnTo>
                <a:lnTo>
                  <a:pt x="1147855" y="31213"/>
                </a:lnTo>
                <a:lnTo>
                  <a:pt x="1151197" y="40128"/>
                </a:lnTo>
                <a:lnTo>
                  <a:pt x="3352" y="470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" y="829944"/>
            <a:ext cx="8926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Remember </a:t>
            </a:r>
            <a:r>
              <a:rPr spc="-5" dirty="0"/>
              <a:t>These </a:t>
            </a:r>
            <a:r>
              <a:rPr spc="-10" dirty="0"/>
              <a:t>From Lecture</a:t>
            </a:r>
            <a:r>
              <a:rPr spc="10" dirty="0"/>
              <a:t> </a:t>
            </a:r>
            <a:r>
              <a:rPr spc="-5" dirty="0"/>
              <a:t>#1?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7097395" cy="411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18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R,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R.b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S.b;</a:t>
            </a:r>
            <a:endParaRPr sz="3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50" dirty="0">
              <a:latin typeface="Courier New"/>
              <a:cs typeface="Courier New"/>
            </a:endParaRPr>
          </a:p>
          <a:p>
            <a:pPr marL="12700" marR="512572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8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</a:t>
            </a:r>
            <a:r>
              <a:rPr sz="3200" dirty="0">
                <a:latin typeface="Courier New"/>
                <a:cs typeface="Courier New"/>
              </a:rPr>
              <a:t>b IN </a:t>
            </a:r>
            <a:r>
              <a:rPr sz="3200" spc="-5" dirty="0">
                <a:latin typeface="Courier New"/>
                <a:cs typeface="Courier New"/>
              </a:rPr>
              <a:t>(SELECT </a:t>
            </a:r>
            <a:r>
              <a:rPr sz="3200" dirty="0">
                <a:latin typeface="Courier New"/>
                <a:cs typeface="Courier New"/>
              </a:rPr>
              <a:t>b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1557" y="451289"/>
            <a:ext cx="589343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 </a:t>
            </a:r>
            <a:r>
              <a:rPr spc="-5" dirty="0"/>
              <a:t>is </a:t>
            </a:r>
            <a:r>
              <a:rPr dirty="0"/>
              <a:t>a </a:t>
            </a:r>
            <a:r>
              <a:rPr spc="-5" dirty="0"/>
              <a:t>Predicate</a:t>
            </a:r>
            <a:r>
              <a:rPr lang="zh-CN" altLang="en-US" spc="-5" dirty="0"/>
              <a:t>谓语</a:t>
            </a:r>
            <a:r>
              <a:rPr spc="-5" dirty="0"/>
              <a:t> About </a:t>
            </a:r>
            <a:r>
              <a:rPr spc="-100" dirty="0"/>
              <a:t>R’s</a:t>
            </a:r>
            <a:r>
              <a:rPr spc="-60" dirty="0"/>
              <a:t> </a:t>
            </a:r>
            <a:r>
              <a:rPr spc="-75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2464435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  </a:t>
            </a:r>
            <a:r>
              <a:rPr sz="3200" spc="-5" dirty="0">
                <a:latin typeface="Courier New"/>
                <a:cs typeface="Courier New"/>
              </a:rPr>
              <a:t>WHERE </a:t>
            </a:r>
            <a:r>
              <a:rPr sz="3200" dirty="0">
                <a:latin typeface="Courier New"/>
                <a:cs typeface="Courier New"/>
              </a:rPr>
              <a:t>b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59479" y="3210785"/>
            <a:ext cx="414591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(SELECT </a:t>
            </a:r>
            <a:r>
              <a:rPr sz="3200" dirty="0">
                <a:latin typeface="Courier New"/>
                <a:cs typeface="Courier New"/>
              </a:rPr>
              <a:t>b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6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2059" y="3129914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4985384"/>
            <a:ext cx="2003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One </a:t>
            </a:r>
            <a:r>
              <a:rPr sz="2400" spc="-10" dirty="0">
                <a:latin typeface="Tahoma"/>
                <a:cs typeface="Tahoma"/>
              </a:rPr>
              <a:t>loop,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over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tuples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0916" y="3048000"/>
            <a:ext cx="700405" cy="1906905"/>
          </a:xfrm>
          <a:custGeom>
            <a:avLst/>
            <a:gdLst/>
            <a:ahLst/>
            <a:cxnLst/>
            <a:rect l="l" t="t" r="r" b="b"/>
            <a:pathLst>
              <a:path w="700405" h="1906904">
                <a:moveTo>
                  <a:pt x="659993" y="70080"/>
                </a:moveTo>
                <a:lnTo>
                  <a:pt x="628624" y="58788"/>
                </a:lnTo>
                <a:lnTo>
                  <a:pt x="690283" y="0"/>
                </a:lnTo>
                <a:lnTo>
                  <a:pt x="696469" y="52158"/>
                </a:lnTo>
                <a:lnTo>
                  <a:pt x="666445" y="52158"/>
                </a:lnTo>
                <a:lnTo>
                  <a:pt x="659993" y="70080"/>
                </a:lnTo>
                <a:close/>
              </a:path>
              <a:path w="700405" h="1906904">
                <a:moveTo>
                  <a:pt x="668959" y="73307"/>
                </a:moveTo>
                <a:lnTo>
                  <a:pt x="659993" y="70080"/>
                </a:lnTo>
                <a:lnTo>
                  <a:pt x="666445" y="52158"/>
                </a:lnTo>
                <a:lnTo>
                  <a:pt x="675411" y="55384"/>
                </a:lnTo>
                <a:lnTo>
                  <a:pt x="668959" y="73307"/>
                </a:lnTo>
                <a:close/>
              </a:path>
              <a:path w="700405" h="1906904">
                <a:moveTo>
                  <a:pt x="700316" y="84594"/>
                </a:moveTo>
                <a:lnTo>
                  <a:pt x="668959" y="73307"/>
                </a:lnTo>
                <a:lnTo>
                  <a:pt x="675411" y="55384"/>
                </a:lnTo>
                <a:lnTo>
                  <a:pt x="666445" y="52158"/>
                </a:lnTo>
                <a:lnTo>
                  <a:pt x="696469" y="52158"/>
                </a:lnTo>
                <a:lnTo>
                  <a:pt x="700316" y="84594"/>
                </a:lnTo>
                <a:close/>
              </a:path>
              <a:path w="700405" h="1906904">
                <a:moveTo>
                  <a:pt x="8966" y="1906612"/>
                </a:moveTo>
                <a:lnTo>
                  <a:pt x="0" y="1903387"/>
                </a:lnTo>
                <a:lnTo>
                  <a:pt x="659993" y="70080"/>
                </a:lnTo>
                <a:lnTo>
                  <a:pt x="668959" y="73307"/>
                </a:lnTo>
                <a:lnTo>
                  <a:pt x="8966" y="190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49065" y="410432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585" algn="l"/>
              </a:tabLst>
            </a:pPr>
            <a:r>
              <a:rPr sz="2400" dirty="0">
                <a:latin typeface="Tahoma"/>
                <a:cs typeface="Tahoma"/>
              </a:rPr>
              <a:t>a	b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1	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9065" y="483584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3	4</a:t>
            </a:r>
            <a:endParaRPr sz="2400">
              <a:latin typeface="Tahoma"/>
              <a:cs typeface="Tahoma"/>
            </a:endParaRPr>
          </a:p>
          <a:p>
            <a:pPr marL="4635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81437" y="4110037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6200" y="44958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60340" y="407098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2400" dirty="0">
                <a:latin typeface="Tahoma"/>
                <a:cs typeface="Tahoma"/>
              </a:rPr>
              <a:t>b	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2	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0340" y="480250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2	6</a:t>
            </a:r>
            <a:endParaRPr sz="2400">
              <a:latin typeface="Tahoma"/>
              <a:cs typeface="Tahoma"/>
            </a:endParaRPr>
          </a:p>
          <a:p>
            <a:pPr marL="2730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92712" y="4076700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97475" y="44624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16065" y="4180522"/>
            <a:ext cx="2291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1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(1,2) satisfies 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condition;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 is </a:t>
            </a:r>
            <a:r>
              <a:rPr sz="2400" spc="-5" dirty="0">
                <a:latin typeface="Tahoma"/>
                <a:cs typeface="Tahoma"/>
              </a:rPr>
              <a:t>output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once.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58665" y="2199322"/>
            <a:ext cx="1018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Tahoma"/>
                <a:cs typeface="Tahoma"/>
              </a:rPr>
              <a:t>Two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2’s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05200" y="3200400"/>
            <a:ext cx="4114800" cy="533400"/>
          </a:xfrm>
          <a:custGeom>
            <a:avLst/>
            <a:gdLst/>
            <a:ahLst/>
            <a:cxnLst/>
            <a:rect l="l" t="t" r="r" b="b"/>
            <a:pathLst>
              <a:path w="4114800" h="533400">
                <a:moveTo>
                  <a:pt x="0" y="0"/>
                </a:moveTo>
                <a:lnTo>
                  <a:pt x="4114800" y="0"/>
                </a:lnTo>
                <a:lnTo>
                  <a:pt x="4114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00437" y="3195637"/>
            <a:ext cx="4124325" cy="542925"/>
          </a:xfrm>
          <a:custGeom>
            <a:avLst/>
            <a:gdLst/>
            <a:ahLst/>
            <a:cxnLst/>
            <a:rect l="l" t="t" r="r" b="b"/>
            <a:pathLst>
              <a:path w="4124325" h="542925">
                <a:moveTo>
                  <a:pt x="4124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4124325" y="0"/>
                </a:lnTo>
                <a:lnTo>
                  <a:pt x="412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4124325" y="538162"/>
                </a:lnTo>
                <a:lnTo>
                  <a:pt x="4124325" y="542925"/>
                </a:lnTo>
                <a:close/>
              </a:path>
              <a:path w="4124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124325" h="542925">
                <a:moveTo>
                  <a:pt x="411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14800" y="4762"/>
                </a:lnTo>
                <a:lnTo>
                  <a:pt x="4114800" y="9525"/>
                </a:lnTo>
                <a:close/>
              </a:path>
              <a:path w="4124325" h="542925">
                <a:moveTo>
                  <a:pt x="4114800" y="538162"/>
                </a:moveTo>
                <a:lnTo>
                  <a:pt x="4114800" y="4762"/>
                </a:lnTo>
                <a:lnTo>
                  <a:pt x="4119562" y="9525"/>
                </a:lnTo>
                <a:lnTo>
                  <a:pt x="4124325" y="9525"/>
                </a:lnTo>
                <a:lnTo>
                  <a:pt x="4124325" y="533400"/>
                </a:lnTo>
                <a:lnTo>
                  <a:pt x="4119562" y="533400"/>
                </a:lnTo>
                <a:lnTo>
                  <a:pt x="4114800" y="538162"/>
                </a:lnTo>
                <a:close/>
              </a:path>
              <a:path w="4124325" h="542925">
                <a:moveTo>
                  <a:pt x="4124325" y="9525"/>
                </a:moveTo>
                <a:lnTo>
                  <a:pt x="4119562" y="9525"/>
                </a:lnTo>
                <a:lnTo>
                  <a:pt x="4114800" y="4762"/>
                </a:lnTo>
                <a:lnTo>
                  <a:pt x="4124325" y="4762"/>
                </a:lnTo>
                <a:lnTo>
                  <a:pt x="4124325" y="9525"/>
                </a:lnTo>
                <a:close/>
              </a:path>
              <a:path w="4124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4124325" h="542925">
                <a:moveTo>
                  <a:pt x="4114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4114800" y="533400"/>
                </a:lnTo>
                <a:lnTo>
                  <a:pt x="4114800" y="538162"/>
                </a:lnTo>
                <a:close/>
              </a:path>
              <a:path w="4124325" h="542925">
                <a:moveTo>
                  <a:pt x="4124325" y="538162"/>
                </a:moveTo>
                <a:lnTo>
                  <a:pt x="4114800" y="538162"/>
                </a:lnTo>
                <a:lnTo>
                  <a:pt x="4119562" y="533400"/>
                </a:lnTo>
                <a:lnTo>
                  <a:pt x="4124325" y="533400"/>
                </a:lnTo>
                <a:lnTo>
                  <a:pt x="4124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48275" y="2590215"/>
            <a:ext cx="109855" cy="610235"/>
          </a:xfrm>
          <a:custGeom>
            <a:avLst/>
            <a:gdLst/>
            <a:ahLst/>
            <a:cxnLst/>
            <a:rect l="l" t="t" r="r" b="b"/>
            <a:pathLst>
              <a:path w="109854" h="610235">
                <a:moveTo>
                  <a:pt x="66750" y="535158"/>
                </a:moveTo>
                <a:lnTo>
                  <a:pt x="0" y="1181"/>
                </a:lnTo>
                <a:lnTo>
                  <a:pt x="9448" y="0"/>
                </a:lnTo>
                <a:lnTo>
                  <a:pt x="76199" y="533978"/>
                </a:lnTo>
                <a:lnTo>
                  <a:pt x="66750" y="535158"/>
                </a:lnTo>
                <a:close/>
              </a:path>
              <a:path w="109854" h="610235">
                <a:moveTo>
                  <a:pt x="100734" y="554062"/>
                </a:moveTo>
                <a:lnTo>
                  <a:pt x="69113" y="554062"/>
                </a:lnTo>
                <a:lnTo>
                  <a:pt x="78562" y="552881"/>
                </a:lnTo>
                <a:lnTo>
                  <a:pt x="76199" y="533978"/>
                </a:lnTo>
                <a:lnTo>
                  <a:pt x="109283" y="529844"/>
                </a:lnTo>
                <a:lnTo>
                  <a:pt x="100734" y="554062"/>
                </a:lnTo>
                <a:close/>
              </a:path>
              <a:path w="109854" h="610235">
                <a:moveTo>
                  <a:pt x="69113" y="554062"/>
                </a:moveTo>
                <a:lnTo>
                  <a:pt x="66750" y="535158"/>
                </a:lnTo>
                <a:lnTo>
                  <a:pt x="76199" y="533978"/>
                </a:lnTo>
                <a:lnTo>
                  <a:pt x="78562" y="552881"/>
                </a:lnTo>
                <a:lnTo>
                  <a:pt x="69113" y="554062"/>
                </a:lnTo>
                <a:close/>
              </a:path>
              <a:path w="109854" h="610235">
                <a:moveTo>
                  <a:pt x="80924" y="610184"/>
                </a:moveTo>
                <a:lnTo>
                  <a:pt x="33667" y="539292"/>
                </a:lnTo>
                <a:lnTo>
                  <a:pt x="66750" y="535158"/>
                </a:lnTo>
                <a:lnTo>
                  <a:pt x="69113" y="554062"/>
                </a:lnTo>
                <a:lnTo>
                  <a:pt x="100734" y="554062"/>
                </a:lnTo>
                <a:lnTo>
                  <a:pt x="80924" y="610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975" y="829944"/>
            <a:ext cx="82746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This Query </a:t>
            </a:r>
            <a:r>
              <a:rPr spc="-25" dirty="0"/>
              <a:t>Pairs </a:t>
            </a:r>
            <a:r>
              <a:rPr spc="-75" dirty="0"/>
              <a:t>Tuples </a:t>
            </a:r>
            <a:r>
              <a:rPr spc="-15" dirty="0"/>
              <a:t>from </a:t>
            </a:r>
            <a:r>
              <a:rPr spc="-5" dirty="0"/>
              <a:t>R,</a:t>
            </a:r>
            <a:r>
              <a:rPr spc="85" dirty="0"/>
              <a:t> 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3927475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12595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</a:t>
            </a:r>
            <a:r>
              <a:rPr sz="3200" dirty="0">
                <a:latin typeface="Courier New"/>
                <a:cs typeface="Courier New"/>
              </a:rPr>
              <a:t>a  </a:t>
            </a:r>
            <a:r>
              <a:rPr sz="3200" spc="-5" dirty="0">
                <a:latin typeface="Courier New"/>
                <a:cs typeface="Courier New"/>
              </a:rPr>
              <a:t>FROM </a:t>
            </a:r>
            <a:r>
              <a:rPr sz="3200" dirty="0">
                <a:latin typeface="Courier New"/>
                <a:cs typeface="Courier New"/>
              </a:rPr>
              <a:t>R,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R.b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S.b;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985384"/>
            <a:ext cx="2862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Double </a:t>
            </a:r>
            <a:r>
              <a:rPr sz="2400" spc="-10" dirty="0">
                <a:latin typeface="Tahoma"/>
                <a:cs typeface="Tahoma"/>
              </a:rPr>
              <a:t>loop, over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tuples </a:t>
            </a:r>
            <a:r>
              <a:rPr sz="2400" dirty="0">
                <a:latin typeface="Tahoma"/>
                <a:cs typeface="Tahoma"/>
              </a:rPr>
              <a:t>of R and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0916" y="3048000"/>
            <a:ext cx="700405" cy="1906905"/>
          </a:xfrm>
          <a:custGeom>
            <a:avLst/>
            <a:gdLst/>
            <a:ahLst/>
            <a:cxnLst/>
            <a:rect l="l" t="t" r="r" b="b"/>
            <a:pathLst>
              <a:path w="700405" h="1906904">
                <a:moveTo>
                  <a:pt x="659993" y="70080"/>
                </a:moveTo>
                <a:lnTo>
                  <a:pt x="628624" y="58788"/>
                </a:lnTo>
                <a:lnTo>
                  <a:pt x="690283" y="0"/>
                </a:lnTo>
                <a:lnTo>
                  <a:pt x="696469" y="52158"/>
                </a:lnTo>
                <a:lnTo>
                  <a:pt x="666445" y="52158"/>
                </a:lnTo>
                <a:lnTo>
                  <a:pt x="659993" y="70080"/>
                </a:lnTo>
                <a:close/>
              </a:path>
              <a:path w="700405" h="1906904">
                <a:moveTo>
                  <a:pt x="668959" y="73307"/>
                </a:moveTo>
                <a:lnTo>
                  <a:pt x="659993" y="70080"/>
                </a:lnTo>
                <a:lnTo>
                  <a:pt x="666445" y="52158"/>
                </a:lnTo>
                <a:lnTo>
                  <a:pt x="675411" y="55384"/>
                </a:lnTo>
                <a:lnTo>
                  <a:pt x="668959" y="73307"/>
                </a:lnTo>
                <a:close/>
              </a:path>
              <a:path w="700405" h="1906904">
                <a:moveTo>
                  <a:pt x="700316" y="84594"/>
                </a:moveTo>
                <a:lnTo>
                  <a:pt x="668959" y="73307"/>
                </a:lnTo>
                <a:lnTo>
                  <a:pt x="675411" y="55384"/>
                </a:lnTo>
                <a:lnTo>
                  <a:pt x="666445" y="52158"/>
                </a:lnTo>
                <a:lnTo>
                  <a:pt x="696469" y="52158"/>
                </a:lnTo>
                <a:lnTo>
                  <a:pt x="700316" y="84594"/>
                </a:lnTo>
                <a:close/>
              </a:path>
              <a:path w="700405" h="1906904">
                <a:moveTo>
                  <a:pt x="8966" y="1906612"/>
                </a:moveTo>
                <a:lnTo>
                  <a:pt x="0" y="1903387"/>
                </a:lnTo>
                <a:lnTo>
                  <a:pt x="659993" y="70080"/>
                </a:lnTo>
                <a:lnTo>
                  <a:pt x="668959" y="73307"/>
                </a:lnTo>
                <a:lnTo>
                  <a:pt x="8966" y="190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64940" y="410432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585" algn="l"/>
              </a:tabLst>
            </a:pPr>
            <a:r>
              <a:rPr sz="2400" dirty="0">
                <a:latin typeface="Tahoma"/>
                <a:cs typeface="Tahoma"/>
              </a:rPr>
              <a:t>a	b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1	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940" y="4835842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3	4</a:t>
            </a:r>
            <a:endParaRPr sz="2400">
              <a:latin typeface="Tahoma"/>
              <a:cs typeface="Tahoma"/>
            </a:endParaRPr>
          </a:p>
          <a:p>
            <a:pPr marL="4635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7312" y="4110037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2075" y="44958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76215" y="407098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" algn="l"/>
              </a:tabLst>
            </a:pPr>
            <a:r>
              <a:rPr sz="2400" dirty="0">
                <a:latin typeface="Tahoma"/>
                <a:cs typeface="Tahoma"/>
              </a:rPr>
              <a:t>b	c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dirty="0">
                <a:latin typeface="Tahoma"/>
                <a:cs typeface="Tahoma"/>
              </a:rPr>
              <a:t>2	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6215" y="4802504"/>
            <a:ext cx="549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sz="2400" dirty="0">
                <a:latin typeface="Tahoma"/>
                <a:cs typeface="Tahoma"/>
              </a:rPr>
              <a:t>2	6</a:t>
            </a:r>
            <a:endParaRPr sz="2400">
              <a:latin typeface="Tahoma"/>
              <a:cs typeface="Tahoma"/>
            </a:endParaRPr>
          </a:p>
          <a:p>
            <a:pPr marL="27305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08587" y="4076700"/>
            <a:ext cx="695325" cy="1152525"/>
          </a:xfrm>
          <a:custGeom>
            <a:avLst/>
            <a:gdLst/>
            <a:ahLst/>
            <a:cxnLst/>
            <a:rect l="l" t="t" r="r" b="b"/>
            <a:pathLst>
              <a:path w="695325" h="1152525">
                <a:moveTo>
                  <a:pt x="69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95325" y="1147762"/>
                </a:lnTo>
                <a:lnTo>
                  <a:pt x="695325" y="1152525"/>
                </a:lnTo>
                <a:close/>
              </a:path>
              <a:path w="69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1525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143000"/>
                </a:lnTo>
                <a:lnTo>
                  <a:pt x="690562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95325" h="1152525">
                <a:moveTo>
                  <a:pt x="68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85800" y="1143000"/>
                </a:lnTo>
                <a:lnTo>
                  <a:pt x="685800" y="1147762"/>
                </a:lnTo>
                <a:close/>
              </a:path>
              <a:path w="695325" h="1152525">
                <a:moveTo>
                  <a:pt x="695325" y="1147762"/>
                </a:moveTo>
                <a:lnTo>
                  <a:pt x="685800" y="1147762"/>
                </a:lnTo>
                <a:lnTo>
                  <a:pt x="690562" y="1143000"/>
                </a:lnTo>
                <a:lnTo>
                  <a:pt x="695325" y="1143000"/>
                </a:lnTo>
                <a:lnTo>
                  <a:pt x="69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13350" y="44624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16065" y="4180522"/>
            <a:ext cx="235394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(1,2) with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(2,5)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(1,2)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with</a:t>
            </a:r>
            <a:endParaRPr sz="2400">
              <a:latin typeface="Tahoma"/>
              <a:cs typeface="Tahoma"/>
            </a:endParaRPr>
          </a:p>
          <a:p>
            <a:pPr marL="12700" marR="2857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(2,6) both </a:t>
            </a:r>
            <a:r>
              <a:rPr sz="2400" spc="-10" dirty="0">
                <a:latin typeface="Tahoma"/>
                <a:cs typeface="Tahoma"/>
              </a:rPr>
              <a:t>satisfy 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condition;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 is </a:t>
            </a:r>
            <a:r>
              <a:rPr sz="2400" spc="-5" dirty="0">
                <a:latin typeface="Tahoma"/>
                <a:cs typeface="Tahoma"/>
              </a:rPr>
              <a:t>output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twice.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854" y="829944"/>
            <a:ext cx="2320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ORDR</a:t>
            </a:r>
            <a:r>
              <a:rPr spc="-80" dirty="0"/>
              <a:t> </a:t>
            </a:r>
            <a:r>
              <a:rPr dirty="0"/>
              <a:t>BY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1656397"/>
            <a:ext cx="8180705" cy="1551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3397" y="3637597"/>
            <a:ext cx="1729104" cy="5861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6323" y="3774960"/>
            <a:ext cx="1242860" cy="287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3597" y="3637597"/>
            <a:ext cx="3710304" cy="586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06523" y="3774960"/>
            <a:ext cx="1663230" cy="2878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94997" y="3637597"/>
            <a:ext cx="1576705" cy="5861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05068" y="3774960"/>
            <a:ext cx="1338745" cy="2909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42797" y="3637597"/>
            <a:ext cx="1576704" cy="5861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55014" y="3774960"/>
            <a:ext cx="1107986" cy="2878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397" y="40947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13597" y="40947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94997" y="40947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42797" y="40947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3397" y="43995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13597" y="43995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94997" y="43995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43995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3397" y="47043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13597" y="47043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94997" y="47043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42797" y="47043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3397" y="50091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13597" y="50091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94997" y="50091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42797" y="50091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3397" y="53139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13597" y="53139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94997" y="53139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42797" y="53139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3397" y="56187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13597" y="5618797"/>
            <a:ext cx="3946842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94997" y="56187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42797" y="56187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5923597"/>
            <a:ext cx="1716404" cy="421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13597" y="5923597"/>
            <a:ext cx="3697604" cy="421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94997" y="5923597"/>
            <a:ext cx="1564005" cy="421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42797" y="5923597"/>
            <a:ext cx="1564004" cy="421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13397" y="6228397"/>
            <a:ext cx="1716404" cy="4210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13597" y="6228397"/>
            <a:ext cx="36976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94997" y="6228397"/>
            <a:ext cx="1564005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42797" y="6228397"/>
            <a:ext cx="15640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84530" y="4125585"/>
          <a:ext cx="7752080" cy="241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38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1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Cote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Blaye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1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1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263.5000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Ipoh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Coffee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46.0000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Chang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19.0000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9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220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63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20"/>
                        </a:lnSpc>
                      </a:pPr>
                      <a:r>
                        <a:rPr sz="2000" b="1" spc="-15" dirty="0">
                          <a:latin typeface="Arial"/>
                          <a:cs typeface="Arial"/>
                        </a:rPr>
                        <a:t>Vegie-spread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2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43.9000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gridSpan="4"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  <a:tabLst>
                          <a:tab pos="1631314" algn="l"/>
                          <a:tab pos="666051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	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Northwoods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Cranberry</a:t>
                      </a:r>
                      <a:r>
                        <a:rPr sz="20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Sauce2	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40.0000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2">
                <a:tc>
                  <a:txBody>
                    <a:bodyPr/>
                    <a:lstStyle/>
                    <a:p>
                      <a:pPr marL="31750">
                        <a:lnSpc>
                          <a:spcPts val="237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61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375"/>
                        </a:lnSpc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Sirop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d'érable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37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375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28.5000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37">
                <a:tc>
                  <a:txBody>
                    <a:bodyPr/>
                    <a:lstStyle/>
                    <a:p>
                      <a:pPr marL="31750">
                        <a:lnSpc>
                          <a:spcPts val="2075"/>
                        </a:lnSpc>
                      </a:pPr>
                      <a:r>
                        <a:rPr sz="3000" b="1" spc="-465" baseline="-5555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1400" spc="-310" dirty="0">
                          <a:latin typeface="Times New Roman"/>
                          <a:cs typeface="Times New Roman"/>
                        </a:rPr>
                        <a:t>2020</a:t>
                      </a:r>
                      <a:r>
                        <a:rPr sz="140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400" dirty="0">
                          <a:latin typeface="宋体"/>
                          <a:cs typeface="宋体"/>
                        </a:rPr>
                        <a:t>月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sz="1400" spc="5" dirty="0">
                          <a:latin typeface="宋体"/>
                          <a:cs typeface="宋体"/>
                        </a:rPr>
                        <a:t>日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8690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265">
                        <a:lnSpc>
                          <a:spcPts val="222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…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3896169" y="3180397"/>
            <a:ext cx="1262773" cy="7908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C027E11-55BB-DF8C-D0A2-01F83F2466B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8891" y="1581828"/>
            <a:ext cx="7897327" cy="158137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CDE78938-76F7-F601-8AFC-D67E604C1EE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6323" y="348289"/>
            <a:ext cx="2362321" cy="33021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D15C4EDB-A4B9-DE08-9664-47B99783CA1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28376" y="207095"/>
            <a:ext cx="2095608" cy="34291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154" y="829944"/>
            <a:ext cx="4885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Exists</a:t>
            </a:r>
            <a:r>
              <a:rPr spc="-50" dirty="0"/>
              <a:t> </a:t>
            </a:r>
            <a:r>
              <a:rPr spc="-15" dirty="0"/>
              <a:t>Operator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545070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EXISTS(&lt;subquery&gt;) is true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only 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subquery result is not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empty.</a:t>
            </a:r>
            <a:endParaRPr sz="3200" dirty="0">
              <a:latin typeface="Tahoma"/>
              <a:cs typeface="Tahoma"/>
            </a:endParaRPr>
          </a:p>
          <a:p>
            <a:pPr marL="355600" marR="5556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From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</a:t>
            </a:r>
            <a:r>
              <a:rPr sz="3200" spc="25" dirty="0">
                <a:solidFill>
                  <a:srgbClr val="CC00CC"/>
                </a:solidFill>
                <a:latin typeface="Tahoma"/>
                <a:cs typeface="Tahoma"/>
              </a:rPr>
              <a:t>manf) </a:t>
            </a:r>
            <a:r>
              <a:rPr sz="3200" dirty="0">
                <a:latin typeface="Tahoma"/>
                <a:cs typeface="Tahoma"/>
              </a:rPr>
              <a:t>,  </a:t>
            </a:r>
            <a:r>
              <a:rPr sz="3200" spc="-5" dirty="0">
                <a:latin typeface="Tahoma"/>
                <a:cs typeface="Tahoma"/>
              </a:rPr>
              <a:t>find those beers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the unique  beer by their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315" y="829944"/>
            <a:ext cx="181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6251"/>
            <a:ext cx="7569200" cy="39744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10" dirty="0">
                <a:latin typeface="Tahoma"/>
                <a:cs typeface="Tahoma"/>
              </a:rPr>
              <a:t>EXISTS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全称量词</a:t>
            </a:r>
            <a:r>
              <a:rPr sz="2800" spc="-5" dirty="0">
                <a:latin typeface="Symbol"/>
                <a:cs typeface="Symbol"/>
              </a:rPr>
              <a:t></a:t>
            </a:r>
            <a:endParaRPr sz="2800">
              <a:latin typeface="Symbol"/>
              <a:cs typeface="Symbol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580"/>
              </a:spcBef>
              <a:buClr>
                <a:srgbClr val="CC00CC"/>
              </a:buClr>
              <a:buChar char="•"/>
              <a:tabLst>
                <a:tab pos="1155700" algn="l"/>
                <a:tab pos="1840864" algn="l"/>
              </a:tabLst>
            </a:pPr>
            <a:r>
              <a:rPr sz="2400" spc="-5" dirty="0">
                <a:latin typeface="Tahoma"/>
                <a:cs typeface="Tahoma"/>
              </a:rPr>
              <a:t>SQL</a:t>
            </a:r>
            <a:r>
              <a:rPr sz="2400" dirty="0">
                <a:latin typeface="宋体"/>
                <a:cs typeface="宋体"/>
              </a:rPr>
              <a:t>语言中没有全称量词</a:t>
            </a:r>
            <a:r>
              <a:rPr sz="2400" spc="-5" dirty="0">
                <a:latin typeface="Symbol"/>
                <a:cs typeface="Symbol"/>
              </a:rPr>
              <a:t>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但可以进行谓词等 价转换，使用存在量词表示，并进行适当的查询  </a:t>
            </a:r>
            <a:r>
              <a:rPr sz="2400" spc="1200" dirty="0">
                <a:latin typeface="宋体"/>
                <a:cs typeface="宋体"/>
              </a:rPr>
              <a:t>o	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x)P ≡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x (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P</a:t>
            </a:r>
            <a:r>
              <a:rPr sz="2400" spc="5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))</a:t>
            </a:r>
            <a:endParaRPr sz="24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蕴涵逻辑运</a:t>
            </a:r>
            <a:r>
              <a:rPr sz="2800" spc="-5" dirty="0">
                <a:latin typeface="宋体"/>
                <a:cs typeface="宋体"/>
              </a:rPr>
              <a:t>算</a:t>
            </a:r>
            <a:endParaRPr sz="2800">
              <a:latin typeface="宋体"/>
              <a:cs typeface="宋体"/>
            </a:endParaRPr>
          </a:p>
          <a:p>
            <a:pPr marL="1155065" marR="77470" lvl="2" indent="-228600">
              <a:lnSpc>
                <a:spcPts val="2770"/>
              </a:lnSpc>
              <a:spcBef>
                <a:spcPts val="91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QL</a:t>
            </a:r>
            <a:r>
              <a:rPr sz="2400" dirty="0">
                <a:latin typeface="宋体"/>
                <a:cs typeface="宋体"/>
              </a:rPr>
              <a:t>语言中没有蕴涵逻辑运算，但可以进行谓词 等价转换，并进行适当的查询</a:t>
            </a:r>
            <a:r>
              <a:rPr sz="2400" spc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Tahoma"/>
                <a:cs typeface="Tahoma"/>
              </a:rPr>
              <a:t>p → q ≡ 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p </a:t>
            </a:r>
            <a:r>
              <a:rPr sz="2400" dirty="0">
                <a:latin typeface="MS UI Gothic"/>
                <a:cs typeface="MS UI Gothic"/>
              </a:rPr>
              <a:t>∨</a:t>
            </a:r>
            <a:r>
              <a:rPr sz="2400" spc="120" dirty="0">
                <a:latin typeface="MS UI Gothic"/>
                <a:cs typeface="MS UI Gothic"/>
              </a:rPr>
              <a:t> </a:t>
            </a:r>
            <a:r>
              <a:rPr sz="2400" dirty="0">
                <a:latin typeface="Tahoma"/>
                <a:cs typeface="Tahoma"/>
              </a:rPr>
              <a:t>q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315" y="829944"/>
            <a:ext cx="181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6448"/>
            <a:ext cx="7447280" cy="252184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10" dirty="0">
                <a:latin typeface="Tahoma"/>
                <a:cs typeface="Tahoma"/>
              </a:rPr>
              <a:t>EXISTS</a:t>
            </a:r>
            <a:r>
              <a:rPr sz="3200" dirty="0">
                <a:latin typeface="宋体"/>
                <a:cs typeface="宋体"/>
              </a:rPr>
              <a:t>谓词的子查询（续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10" dirty="0">
                <a:latin typeface="Tahoma"/>
                <a:cs typeface="Tahoma"/>
              </a:rPr>
              <a:t>EXISTS</a:t>
            </a:r>
            <a:r>
              <a:rPr sz="2400" dirty="0">
                <a:latin typeface="宋体"/>
                <a:cs typeface="宋体"/>
              </a:rPr>
              <a:t>代表存在量词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2400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Use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Correlated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Subqueries</a:t>
            </a:r>
            <a:r>
              <a:rPr lang="zh-CN" altLang="en-US" sz="2800" spc="-5" dirty="0">
                <a:latin typeface="Tahoma"/>
                <a:cs typeface="Tahoma"/>
              </a:rPr>
              <a:t>关联子查询</a:t>
            </a:r>
            <a:endParaRPr sz="2800" dirty="0">
              <a:latin typeface="Tahoma"/>
              <a:cs typeface="Tahoma"/>
            </a:endParaRPr>
          </a:p>
          <a:p>
            <a:pPr marL="755650" marR="508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Determine Whether Data Exists in a List of  </a:t>
            </a:r>
            <a:r>
              <a:rPr sz="2800" spc="-25" dirty="0">
                <a:latin typeface="Tahoma"/>
                <a:cs typeface="Tahoma"/>
              </a:rPr>
              <a:t>Values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5225" y="829944"/>
            <a:ext cx="4273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0" dirty="0"/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439" y="1915287"/>
            <a:ext cx="4002404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793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 name  FROM </a:t>
            </a:r>
            <a:r>
              <a:rPr sz="3200" dirty="0">
                <a:latin typeface="Tahoma"/>
                <a:cs typeface="Tahoma"/>
              </a:rPr>
              <a:t>Beers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b1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30" dirty="0">
                <a:latin typeface="Tahoma"/>
                <a:cs typeface="Tahoma"/>
              </a:rPr>
              <a:t>NOT </a:t>
            </a:r>
            <a:r>
              <a:rPr sz="3200" spc="-5" dirty="0">
                <a:latin typeface="Tahoma"/>
                <a:cs typeface="Tahoma"/>
              </a:rPr>
              <a:t>EXISTS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639" y="3778686"/>
            <a:ext cx="533590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*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</a:t>
            </a:r>
            <a:endParaRPr sz="3200">
              <a:latin typeface="Tahoma"/>
              <a:cs typeface="Tahoma"/>
            </a:endParaRPr>
          </a:p>
          <a:p>
            <a:pPr marL="914400" indent="-9144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manf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b1.manf AND  name </a:t>
            </a:r>
            <a:r>
              <a:rPr sz="3200" dirty="0">
                <a:latin typeface="Tahoma"/>
                <a:cs typeface="Tahoma"/>
              </a:rPr>
              <a:t>&lt;&gt;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b1.name);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200" y="3810000"/>
            <a:ext cx="5562600" cy="2286000"/>
          </a:xfrm>
          <a:custGeom>
            <a:avLst/>
            <a:gdLst/>
            <a:ahLst/>
            <a:cxnLst/>
            <a:rect l="l" t="t" r="r" b="b"/>
            <a:pathLst>
              <a:path w="5562600" h="2286000">
                <a:moveTo>
                  <a:pt x="0" y="0"/>
                </a:moveTo>
                <a:lnTo>
                  <a:pt x="5562600" y="0"/>
                </a:lnTo>
                <a:lnTo>
                  <a:pt x="55626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5437" y="3805237"/>
            <a:ext cx="5572125" cy="2295525"/>
          </a:xfrm>
          <a:custGeom>
            <a:avLst/>
            <a:gdLst/>
            <a:ahLst/>
            <a:cxnLst/>
            <a:rect l="l" t="t" r="r" b="b"/>
            <a:pathLst>
              <a:path w="5572125" h="2295525">
                <a:moveTo>
                  <a:pt x="55721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5572125" y="0"/>
                </a:lnTo>
                <a:lnTo>
                  <a:pt x="5572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5572125" y="2290762"/>
                </a:lnTo>
                <a:lnTo>
                  <a:pt x="5572125" y="2295525"/>
                </a:lnTo>
                <a:close/>
              </a:path>
              <a:path w="55721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572125" h="2295525">
                <a:moveTo>
                  <a:pt x="5562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562600" y="4762"/>
                </a:lnTo>
                <a:lnTo>
                  <a:pt x="5562600" y="9525"/>
                </a:lnTo>
                <a:close/>
              </a:path>
              <a:path w="5572125" h="2295525">
                <a:moveTo>
                  <a:pt x="5562600" y="2290762"/>
                </a:moveTo>
                <a:lnTo>
                  <a:pt x="5562600" y="4762"/>
                </a:lnTo>
                <a:lnTo>
                  <a:pt x="5567362" y="9525"/>
                </a:lnTo>
                <a:lnTo>
                  <a:pt x="5572125" y="9525"/>
                </a:lnTo>
                <a:lnTo>
                  <a:pt x="5572125" y="2286000"/>
                </a:lnTo>
                <a:lnTo>
                  <a:pt x="5567362" y="2286000"/>
                </a:lnTo>
                <a:lnTo>
                  <a:pt x="5562600" y="2290762"/>
                </a:lnTo>
                <a:close/>
              </a:path>
              <a:path w="5572125" h="2295525">
                <a:moveTo>
                  <a:pt x="5572125" y="9525"/>
                </a:moveTo>
                <a:lnTo>
                  <a:pt x="5567362" y="9525"/>
                </a:lnTo>
                <a:lnTo>
                  <a:pt x="5562600" y="4762"/>
                </a:lnTo>
                <a:lnTo>
                  <a:pt x="5572125" y="4762"/>
                </a:lnTo>
                <a:lnTo>
                  <a:pt x="5572125" y="9525"/>
                </a:lnTo>
                <a:close/>
              </a:path>
              <a:path w="55721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5572125" h="2295525">
                <a:moveTo>
                  <a:pt x="55626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5562600" y="2286000"/>
                </a:lnTo>
                <a:lnTo>
                  <a:pt x="5562600" y="2290762"/>
                </a:lnTo>
                <a:close/>
              </a:path>
              <a:path w="5572125" h="2295525">
                <a:moveTo>
                  <a:pt x="5572125" y="2290762"/>
                </a:moveTo>
                <a:lnTo>
                  <a:pt x="5562600" y="2290762"/>
                </a:lnTo>
                <a:lnTo>
                  <a:pt x="5567362" y="2286000"/>
                </a:lnTo>
                <a:lnTo>
                  <a:pt x="5572125" y="2286000"/>
                </a:lnTo>
                <a:lnTo>
                  <a:pt x="55721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1465" y="3924300"/>
            <a:ext cx="93916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Set of  beers  with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</a:t>
            </a:r>
            <a:r>
              <a:rPr sz="2000" dirty="0">
                <a:latin typeface="Tahoma"/>
                <a:cs typeface="Tahoma"/>
              </a:rPr>
              <a:t>same  </a:t>
            </a:r>
            <a:r>
              <a:rPr sz="2000" spc="-5" dirty="0">
                <a:latin typeface="Tahoma"/>
                <a:cs typeface="Tahoma"/>
              </a:rPr>
              <a:t>manf as  b1, but  not the  </a:t>
            </a:r>
            <a:r>
              <a:rPr sz="2000" dirty="0">
                <a:latin typeface="Tahoma"/>
                <a:cs typeface="Tahoma"/>
              </a:rPr>
              <a:t>same  </a:t>
            </a:r>
            <a:r>
              <a:rPr sz="2000" spc="-5" dirty="0">
                <a:latin typeface="Tahoma"/>
                <a:cs typeface="Tahoma"/>
              </a:rPr>
              <a:t>beer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1488" y="4864747"/>
            <a:ext cx="459105" cy="169545"/>
          </a:xfrm>
          <a:custGeom>
            <a:avLst/>
            <a:gdLst/>
            <a:ahLst/>
            <a:cxnLst/>
            <a:rect l="l" t="t" r="r" b="b"/>
            <a:pathLst>
              <a:path w="459105" h="169545">
                <a:moveTo>
                  <a:pt x="384916" y="31625"/>
                </a:moveTo>
                <a:lnTo>
                  <a:pt x="374370" y="0"/>
                </a:lnTo>
                <a:lnTo>
                  <a:pt x="458711" y="12052"/>
                </a:lnTo>
                <a:lnTo>
                  <a:pt x="445160" y="25603"/>
                </a:lnTo>
                <a:lnTo>
                  <a:pt x="402983" y="25603"/>
                </a:lnTo>
                <a:lnTo>
                  <a:pt x="384916" y="31625"/>
                </a:lnTo>
                <a:close/>
              </a:path>
              <a:path w="459105" h="169545">
                <a:moveTo>
                  <a:pt x="387932" y="40670"/>
                </a:moveTo>
                <a:lnTo>
                  <a:pt x="384916" y="31625"/>
                </a:lnTo>
                <a:lnTo>
                  <a:pt x="402983" y="25603"/>
                </a:lnTo>
                <a:lnTo>
                  <a:pt x="406006" y="34645"/>
                </a:lnTo>
                <a:lnTo>
                  <a:pt x="387932" y="40670"/>
                </a:lnTo>
                <a:close/>
              </a:path>
              <a:path w="459105" h="169545">
                <a:moveTo>
                  <a:pt x="398475" y="72288"/>
                </a:moveTo>
                <a:lnTo>
                  <a:pt x="387932" y="40670"/>
                </a:lnTo>
                <a:lnTo>
                  <a:pt x="406006" y="34645"/>
                </a:lnTo>
                <a:lnTo>
                  <a:pt x="402983" y="25603"/>
                </a:lnTo>
                <a:lnTo>
                  <a:pt x="445160" y="25603"/>
                </a:lnTo>
                <a:lnTo>
                  <a:pt x="398475" y="72288"/>
                </a:lnTo>
                <a:close/>
              </a:path>
              <a:path w="459105" h="169545">
                <a:moveTo>
                  <a:pt x="3022" y="168973"/>
                </a:moveTo>
                <a:lnTo>
                  <a:pt x="0" y="159931"/>
                </a:lnTo>
                <a:lnTo>
                  <a:pt x="384916" y="31625"/>
                </a:lnTo>
                <a:lnTo>
                  <a:pt x="387932" y="40670"/>
                </a:lnTo>
                <a:lnTo>
                  <a:pt x="3022" y="168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49265" y="2019299"/>
            <a:ext cx="352679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874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scope rule: manf </a:t>
            </a:r>
            <a:r>
              <a:rPr sz="2000" spc="-10" dirty="0">
                <a:latin typeface="Tahoma"/>
                <a:cs typeface="Tahoma"/>
              </a:rPr>
              <a:t>refers  </a:t>
            </a:r>
            <a:r>
              <a:rPr sz="2000" spc="-5" dirty="0">
                <a:latin typeface="Tahoma"/>
                <a:cs typeface="Tahoma"/>
              </a:rPr>
              <a:t>to closest nested FROM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with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relation having that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attribute.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86200" y="3043986"/>
            <a:ext cx="2974975" cy="1909445"/>
          </a:xfrm>
          <a:custGeom>
            <a:avLst/>
            <a:gdLst/>
            <a:ahLst/>
            <a:cxnLst/>
            <a:rect l="l" t="t" r="r" b="b"/>
            <a:pathLst>
              <a:path w="2974975" h="1909445">
                <a:moveTo>
                  <a:pt x="66718" y="1871900"/>
                </a:moveTo>
                <a:lnTo>
                  <a:pt x="61579" y="1863883"/>
                </a:lnTo>
                <a:lnTo>
                  <a:pt x="2969234" y="0"/>
                </a:lnTo>
                <a:lnTo>
                  <a:pt x="2974365" y="8026"/>
                </a:lnTo>
                <a:lnTo>
                  <a:pt x="66718" y="1871900"/>
                </a:lnTo>
                <a:close/>
              </a:path>
              <a:path w="2974975" h="1909445">
                <a:moveTo>
                  <a:pt x="0" y="1909013"/>
                </a:moveTo>
                <a:lnTo>
                  <a:pt x="43586" y="1835810"/>
                </a:lnTo>
                <a:lnTo>
                  <a:pt x="61579" y="1863883"/>
                </a:lnTo>
                <a:lnTo>
                  <a:pt x="45542" y="1874164"/>
                </a:lnTo>
                <a:lnTo>
                  <a:pt x="50685" y="1882178"/>
                </a:lnTo>
                <a:lnTo>
                  <a:pt x="73305" y="1882178"/>
                </a:lnTo>
                <a:lnTo>
                  <a:pt x="84709" y="1899970"/>
                </a:lnTo>
                <a:lnTo>
                  <a:pt x="0" y="1909013"/>
                </a:lnTo>
                <a:close/>
              </a:path>
              <a:path w="2974975" h="1909445">
                <a:moveTo>
                  <a:pt x="50685" y="1882178"/>
                </a:moveTo>
                <a:lnTo>
                  <a:pt x="45542" y="1874164"/>
                </a:lnTo>
                <a:lnTo>
                  <a:pt x="61579" y="1863883"/>
                </a:lnTo>
                <a:lnTo>
                  <a:pt x="66718" y="1871900"/>
                </a:lnTo>
                <a:lnTo>
                  <a:pt x="50685" y="1882178"/>
                </a:lnTo>
                <a:close/>
              </a:path>
              <a:path w="2974975" h="1909445">
                <a:moveTo>
                  <a:pt x="73305" y="1882178"/>
                </a:moveTo>
                <a:lnTo>
                  <a:pt x="50685" y="1882178"/>
                </a:lnTo>
                <a:lnTo>
                  <a:pt x="66718" y="1871900"/>
                </a:lnTo>
                <a:lnTo>
                  <a:pt x="73305" y="18821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59065" y="4229100"/>
            <a:ext cx="116776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SQL “not  equals”  </a:t>
            </a:r>
            <a:r>
              <a:rPr sz="2000" spc="-10" dirty="0">
                <a:latin typeface="Tahoma"/>
                <a:cs typeface="Tahoma"/>
              </a:rPr>
              <a:t>operator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91000" y="4872151"/>
            <a:ext cx="3430270" cy="787400"/>
          </a:xfrm>
          <a:custGeom>
            <a:avLst/>
            <a:gdLst/>
            <a:ahLst/>
            <a:cxnLst/>
            <a:rect l="l" t="t" r="r" b="b"/>
            <a:pathLst>
              <a:path w="3430270" h="787400">
                <a:moveTo>
                  <a:pt x="75417" y="754768"/>
                </a:moveTo>
                <a:lnTo>
                  <a:pt x="73351" y="745473"/>
                </a:lnTo>
                <a:lnTo>
                  <a:pt x="3427971" y="0"/>
                </a:lnTo>
                <a:lnTo>
                  <a:pt x="3430028" y="9296"/>
                </a:lnTo>
                <a:lnTo>
                  <a:pt x="75417" y="754768"/>
                </a:lnTo>
                <a:close/>
              </a:path>
              <a:path w="3430270" h="787400">
                <a:moveTo>
                  <a:pt x="82651" y="787311"/>
                </a:moveTo>
                <a:lnTo>
                  <a:pt x="0" y="766648"/>
                </a:lnTo>
                <a:lnTo>
                  <a:pt x="66116" y="712927"/>
                </a:lnTo>
                <a:lnTo>
                  <a:pt x="73351" y="745473"/>
                </a:lnTo>
                <a:lnTo>
                  <a:pt x="54762" y="749604"/>
                </a:lnTo>
                <a:lnTo>
                  <a:pt x="56819" y="758901"/>
                </a:lnTo>
                <a:lnTo>
                  <a:pt x="76336" y="758901"/>
                </a:lnTo>
                <a:lnTo>
                  <a:pt x="82651" y="787311"/>
                </a:lnTo>
                <a:close/>
              </a:path>
              <a:path w="3430270" h="787400">
                <a:moveTo>
                  <a:pt x="56819" y="758901"/>
                </a:moveTo>
                <a:lnTo>
                  <a:pt x="54762" y="749604"/>
                </a:lnTo>
                <a:lnTo>
                  <a:pt x="73351" y="745473"/>
                </a:lnTo>
                <a:lnTo>
                  <a:pt x="75417" y="754768"/>
                </a:lnTo>
                <a:lnTo>
                  <a:pt x="56819" y="758901"/>
                </a:lnTo>
                <a:close/>
              </a:path>
              <a:path w="3430270" h="787400">
                <a:moveTo>
                  <a:pt x="76336" y="758901"/>
                </a:moveTo>
                <a:lnTo>
                  <a:pt x="56819" y="758901"/>
                </a:lnTo>
                <a:lnTo>
                  <a:pt x="75417" y="754768"/>
                </a:lnTo>
                <a:lnTo>
                  <a:pt x="76336" y="758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6479" y="829944"/>
            <a:ext cx="4511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5" dirty="0"/>
              <a:t>Operator</a:t>
            </a:r>
            <a:r>
              <a:rPr spc="-60" dirty="0"/>
              <a:t> </a:t>
            </a:r>
            <a:r>
              <a:rPr spc="-5" dirty="0"/>
              <a:t>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92617"/>
            <a:ext cx="8322945" cy="4518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713740" indent="-342900">
              <a:lnSpc>
                <a:spcPts val="3840"/>
              </a:lnSpc>
              <a:spcBef>
                <a:spcPts val="390"/>
              </a:spcBef>
            </a:pPr>
            <a:r>
              <a:rPr sz="3200" spc="-10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105" dirty="0">
                <a:latin typeface="Tahoma"/>
                <a:cs typeface="Tahoma"/>
              </a:rPr>
              <a:t>x</a:t>
            </a:r>
            <a:r>
              <a:rPr sz="3200" spc="-105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ANY(&lt;subquery&gt;)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boolean  condition that is true </a:t>
            </a:r>
            <a:r>
              <a:rPr sz="3200" spc="-10" dirty="0" err="1">
                <a:latin typeface="Tahoma"/>
                <a:cs typeface="Tahoma"/>
              </a:rPr>
              <a:t>iff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350" i="1" spc="-20" dirty="0">
                <a:latin typeface="Tahoma"/>
                <a:cs typeface="Tahoma"/>
              </a:rPr>
              <a:t>x</a:t>
            </a:r>
            <a:r>
              <a:rPr lang="en-US" sz="3350" i="1" spc="-2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equals </a:t>
            </a:r>
            <a:r>
              <a:rPr sz="3200" spc="-5" dirty="0">
                <a:latin typeface="Tahoma"/>
                <a:cs typeface="Tahoma"/>
              </a:rPr>
              <a:t>at least  one tuple in the subquery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45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</a:t>
            </a:r>
            <a:r>
              <a:rPr sz="2800" spc="-5" dirty="0">
                <a:solidFill>
                  <a:srgbClr val="CC00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ahoma"/>
                <a:cs typeface="Tahoma"/>
              </a:rPr>
              <a:t>= could be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comparison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operator.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350" i="1" spc="-35" dirty="0">
                <a:latin typeface="Tahoma"/>
                <a:cs typeface="Tahoma"/>
              </a:rPr>
              <a:t>x</a:t>
            </a:r>
            <a:r>
              <a:rPr sz="3200" spc="-35" dirty="0">
                <a:latin typeface="Tahoma"/>
                <a:cs typeface="Tahoma"/>
              </a:rPr>
              <a:t>&gt;= </a:t>
            </a:r>
            <a:r>
              <a:rPr sz="3200" spc="-5" dirty="0">
                <a:latin typeface="Tahoma"/>
                <a:cs typeface="Tahoma"/>
              </a:rPr>
              <a:t>ANY(&lt;subquery&gt;) means </a:t>
            </a:r>
            <a:r>
              <a:rPr sz="3350" i="1" spc="-75" dirty="0">
                <a:latin typeface="Tahoma"/>
                <a:cs typeface="Tahoma"/>
              </a:rPr>
              <a:t>x  </a:t>
            </a:r>
            <a:r>
              <a:rPr sz="3200" spc="-5" dirty="0">
                <a:latin typeface="Tahoma"/>
                <a:cs typeface="Tahoma"/>
              </a:rPr>
              <a:t>is not the uniquely smallest tuple produced  by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Note tuples must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one component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only.</a:t>
            </a:r>
            <a:endParaRPr sz="2800" dirty="0">
              <a:latin typeface="Tahoma"/>
              <a:cs typeface="Tahoma"/>
            </a:endParaRPr>
          </a:p>
          <a:p>
            <a:pPr marR="331470" algn="r">
              <a:lnSpc>
                <a:spcPct val="100000"/>
              </a:lnSpc>
              <a:spcBef>
                <a:spcPts val="1660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902" y="829944"/>
            <a:ext cx="6295390" cy="1133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6805" algn="ctr">
              <a:lnSpc>
                <a:spcPts val="5080"/>
              </a:lnSpc>
              <a:spcBef>
                <a:spcPts val="105"/>
              </a:spcBef>
            </a:pPr>
            <a:r>
              <a:rPr sz="4400" spc="-5" dirty="0">
                <a:latin typeface="Tahoma"/>
                <a:cs typeface="Tahoma"/>
              </a:rPr>
              <a:t>ANY</a:t>
            </a:r>
            <a:endParaRPr sz="4400">
              <a:latin typeface="Tahoma"/>
              <a:cs typeface="Tahoma"/>
            </a:endParaRPr>
          </a:p>
          <a:p>
            <a:pPr marL="414655" indent="-402590">
              <a:lnSpc>
                <a:spcPts val="364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ANY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Tahoma"/>
                <a:cs typeface="Tahoma"/>
              </a:rPr>
              <a:t>SOME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4237" y="2389187"/>
          <a:ext cx="7559675" cy="406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含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&gt;=ANY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&lt;=ANY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=	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&lt;&gt;ANY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不等于子查询结果的某个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1817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0515" y="458469"/>
            <a:ext cx="1056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</a:t>
            </a:r>
            <a:r>
              <a:rPr spc="-10" dirty="0"/>
              <a:t>N</a:t>
            </a:r>
            <a:r>
              <a:rPr dirty="0"/>
              <a:t>Y</a:t>
            </a:r>
          </a:p>
        </p:txBody>
      </p:sp>
      <p:sp>
        <p:nvSpPr>
          <p:cNvPr id="4" name="object 4"/>
          <p:cNvSpPr/>
          <p:nvPr/>
        </p:nvSpPr>
        <p:spPr>
          <a:xfrm>
            <a:off x="3596640" y="2025395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009" y="2156460"/>
            <a:ext cx="8082280" cy="198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14197" y="1608772"/>
            <a:ext cx="1769427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81400" y="4539996"/>
            <a:ext cx="4724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8009" y="4671059"/>
            <a:ext cx="8082280" cy="198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03450" y="6038215"/>
            <a:ext cx="21990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AND</a:t>
            </a:r>
            <a:r>
              <a:rPr sz="2800" b="1" spc="-7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男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14197" y="4107497"/>
            <a:ext cx="1769427" cy="562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4540" y="1024510"/>
            <a:ext cx="7781290" cy="503999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ANY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Tahoma"/>
                <a:cs typeface="Tahoma"/>
              </a:rPr>
              <a:t>SOME</a:t>
            </a:r>
            <a:r>
              <a:rPr sz="3200" spc="-5" dirty="0">
                <a:latin typeface="宋体"/>
                <a:cs typeface="宋体"/>
              </a:rPr>
              <a:t>）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  <a:p>
            <a:pPr marL="6261100">
              <a:lnSpc>
                <a:spcPct val="100000"/>
              </a:lnSpc>
              <a:spcBef>
                <a:spcPts val="475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63195">
              <a:lnSpc>
                <a:spcPct val="100000"/>
              </a:lnSpc>
              <a:spcBef>
                <a:spcPts val="177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>
              <a:latin typeface="Lucida Sans Typewriter"/>
              <a:cs typeface="Lucida Sans Typewriter"/>
            </a:endParaRPr>
          </a:p>
          <a:p>
            <a:pPr marL="807720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&lt;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ANY</a:t>
            </a:r>
            <a:endParaRPr sz="2800">
              <a:latin typeface="Lucida Sans Typewriter"/>
              <a:cs typeface="Lucida Sans Typewriter"/>
            </a:endParaRPr>
          </a:p>
          <a:p>
            <a:pPr marL="1451610" marR="1815464">
              <a:lnSpc>
                <a:spcPts val="3350"/>
              </a:lnSpc>
              <a:spcBef>
                <a:spcPts val="12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csrq FROM</a:t>
            </a:r>
            <a:r>
              <a:rPr sz="2800" b="1" spc="-7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  AND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男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  <a:p>
            <a:pPr marL="6261100">
              <a:lnSpc>
                <a:spcPct val="100000"/>
              </a:lnSpc>
              <a:spcBef>
                <a:spcPts val="1485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R="4012565" algn="ctr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-4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>
              <a:latin typeface="Lucida Sans Typewriter"/>
              <a:cs typeface="Lucida Sans Typewriter"/>
            </a:endParaRPr>
          </a:p>
          <a:p>
            <a:pPr marR="3583304" algn="ct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</a:t>
            </a:r>
            <a:r>
              <a:rPr sz="2800" b="1" spc="-2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&lt;</a:t>
            </a:r>
            <a:endParaRPr sz="2800">
              <a:latin typeface="Lucida Sans Typewriter"/>
              <a:cs typeface="Lucida Sans Typewriter"/>
            </a:endParaRPr>
          </a:p>
          <a:p>
            <a:pPr marL="701040" algn="ct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MAX(csrq) FROM</a:t>
            </a:r>
            <a:r>
              <a:rPr sz="2800" b="1" spc="-2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</a:t>
            </a:r>
            <a:endParaRPr sz="28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695" y="829944"/>
            <a:ext cx="4373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5" dirty="0"/>
              <a:t>Operator</a:t>
            </a:r>
            <a:r>
              <a:rPr spc="-55" dirty="0"/>
              <a:t> </a:t>
            </a:r>
            <a:r>
              <a:rPr spc="-5" dirty="0"/>
              <a:t>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615555" cy="4518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56260" indent="-342900" algn="just">
              <a:lnSpc>
                <a:spcPts val="3840"/>
              </a:lnSpc>
              <a:spcBef>
                <a:spcPts val="390"/>
              </a:spcBef>
            </a:pPr>
            <a:r>
              <a:rPr sz="3200" spc="-8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80" dirty="0">
                <a:latin typeface="Tahoma"/>
                <a:cs typeface="Tahoma"/>
              </a:rPr>
              <a:t>x</a:t>
            </a:r>
            <a:r>
              <a:rPr sz="3200" spc="-80" dirty="0">
                <a:latin typeface="Tahoma"/>
                <a:cs typeface="Tahoma"/>
              </a:rPr>
              <a:t>&lt;&gt; </a:t>
            </a:r>
            <a:r>
              <a:rPr sz="3200" spc="-5" dirty="0">
                <a:latin typeface="Tahoma"/>
                <a:cs typeface="Tahoma"/>
              </a:rPr>
              <a:t>ALL(&lt;subquery&gt;) is true </a:t>
            </a:r>
            <a:r>
              <a:rPr sz="3200" spc="-10" dirty="0">
                <a:latin typeface="Tahoma"/>
                <a:cs typeface="Tahoma"/>
              </a:rPr>
              <a:t>iff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tuple </a:t>
            </a:r>
            <a:r>
              <a:rPr sz="3350" i="1" spc="-5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in the relation,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is not  equal to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40" dirty="0">
                <a:latin typeface="Tahoma"/>
                <a:cs typeface="Tahoma"/>
              </a:rPr>
              <a:t>t</a:t>
            </a:r>
            <a:r>
              <a:rPr sz="3200" spc="-54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285750" marR="662940" indent="-285750" algn="r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spc="-5" dirty="0">
                <a:latin typeface="Tahoma"/>
                <a:cs typeface="Tahoma"/>
              </a:rPr>
              <a:t>That is, </a:t>
            </a:r>
            <a:r>
              <a:rPr sz="2900" i="1" spc="-55" dirty="0">
                <a:latin typeface="Tahoma"/>
                <a:cs typeface="Tahoma"/>
              </a:rPr>
              <a:t>x </a:t>
            </a:r>
            <a:r>
              <a:rPr sz="2800" spc="-5" dirty="0">
                <a:latin typeface="Tahoma"/>
                <a:cs typeface="Tahoma"/>
              </a:rPr>
              <a:t>is not in the subquery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result.</a:t>
            </a:r>
            <a:endParaRPr sz="2800" dirty="0">
              <a:latin typeface="Tahoma"/>
              <a:cs typeface="Tahoma"/>
            </a:endParaRPr>
          </a:p>
          <a:p>
            <a:pPr marL="402590" marR="621030" indent="-402590" algn="r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02590" algn="l"/>
              </a:tabLst>
            </a:pPr>
            <a:r>
              <a:rPr sz="3200" dirty="0">
                <a:latin typeface="Tahoma"/>
                <a:cs typeface="Tahoma"/>
              </a:rPr>
              <a:t>&lt;&gt;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comparison </a:t>
            </a:r>
            <a:r>
              <a:rPr sz="3200" spc="-60" dirty="0">
                <a:latin typeface="Tahoma"/>
                <a:cs typeface="Tahoma"/>
              </a:rPr>
              <a:t>operator.</a:t>
            </a:r>
            <a:endParaRPr sz="3200" dirty="0">
              <a:latin typeface="Tahoma"/>
              <a:cs typeface="Tahoma"/>
            </a:endParaRPr>
          </a:p>
          <a:p>
            <a:pPr marL="355600" marR="2159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350" i="1" spc="-35" dirty="0">
                <a:latin typeface="Tahoma"/>
                <a:cs typeface="Tahoma"/>
              </a:rPr>
              <a:t>x</a:t>
            </a:r>
            <a:r>
              <a:rPr sz="3200" spc="-35" dirty="0">
                <a:latin typeface="Tahoma"/>
                <a:cs typeface="Tahoma"/>
              </a:rPr>
              <a:t>&gt;= </a:t>
            </a:r>
            <a:r>
              <a:rPr sz="3200" spc="-5" dirty="0">
                <a:latin typeface="Tahoma"/>
                <a:cs typeface="Tahoma"/>
              </a:rPr>
              <a:t>ALL(&lt;subquery&gt;)  means there is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tuple larger than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in  the subquery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960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477" y="23359"/>
            <a:ext cx="4325620" cy="1857375"/>
          </a:xfrm>
          <a:prstGeom prst="rect">
            <a:avLst/>
          </a:prstGeom>
        </p:spPr>
        <p:txBody>
          <a:bodyPr vert="horz" wrap="square" lIns="0" tIns="401955" rIns="0" bIns="0" rtlCol="0">
            <a:spAutoFit/>
          </a:bodyPr>
          <a:lstStyle/>
          <a:p>
            <a:pPr marR="12065" algn="r">
              <a:lnSpc>
                <a:spcPct val="100000"/>
              </a:lnSpc>
              <a:spcBef>
                <a:spcPts val="3165"/>
              </a:spcBef>
            </a:pPr>
            <a:r>
              <a:rPr sz="4400" spc="-5" dirty="0">
                <a:latin typeface="Tahoma"/>
                <a:cs typeface="Tahoma"/>
              </a:rPr>
              <a:t>AL</a:t>
            </a:r>
            <a:r>
              <a:rPr sz="4400" dirty="0">
                <a:latin typeface="Tahoma"/>
                <a:cs typeface="Tahoma"/>
              </a:rPr>
              <a:t>L</a:t>
            </a:r>
            <a:endParaRPr sz="44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22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带有</a:t>
            </a:r>
            <a:r>
              <a:rPr sz="3200" spc="-5" dirty="0">
                <a:latin typeface="Tahoma"/>
                <a:cs typeface="Tahoma"/>
              </a:rPr>
              <a:t>ALL</a:t>
            </a:r>
            <a:r>
              <a:rPr sz="3200" dirty="0">
                <a:latin typeface="宋体"/>
                <a:cs typeface="宋体"/>
              </a:rPr>
              <a:t>谓词的子查</a:t>
            </a:r>
            <a:r>
              <a:rPr sz="3200" spc="5" dirty="0">
                <a:latin typeface="宋体"/>
                <a:cs typeface="宋体"/>
              </a:rPr>
              <a:t>询</a:t>
            </a:r>
            <a:endParaRPr sz="32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175" y="2339975"/>
          <a:ext cx="7559675" cy="406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谓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词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3200" b="1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含</a:t>
                      </a:r>
                      <a:r>
                        <a:rPr sz="3200" b="1" spc="-10" dirty="0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义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&gt;=ALL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大于等于子查询结果的所有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&lt;=ALL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小于等于子查询结果的所有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51484" algn="l"/>
                        </a:tabLst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=	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等于子查询结果的所有值（无意义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）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&lt;&gt;ALL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不等于子查询结果的所有</a:t>
                      </a:r>
                      <a:r>
                        <a:rPr sz="2800" b="1" spc="-20" dirty="0">
                          <a:latin typeface="宋体"/>
                          <a:cs typeface="宋体"/>
                        </a:rPr>
                        <a:t>值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5439" y="829944"/>
            <a:ext cx="337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8939" y="3572636"/>
            <a:ext cx="4016375" cy="2364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 marL="927100" marR="5080" indent="-9144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price </a:t>
            </a:r>
            <a:r>
              <a:rPr sz="3200" dirty="0">
                <a:latin typeface="Tahoma"/>
                <a:cs typeface="Tahoma"/>
              </a:rPr>
              <a:t>&gt;=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ALL(  SELECT price  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3037" y="4262437"/>
            <a:ext cx="3886200" cy="1752600"/>
          </a:xfrm>
          <a:custGeom>
            <a:avLst/>
            <a:gdLst/>
            <a:ahLst/>
            <a:cxnLst/>
            <a:rect l="l" t="t" r="r" b="b"/>
            <a:pathLst>
              <a:path w="3886200" h="1752600">
                <a:moveTo>
                  <a:pt x="2915412" y="1752600"/>
                </a:moveTo>
                <a:lnTo>
                  <a:pt x="0" y="1752600"/>
                </a:lnTo>
                <a:lnTo>
                  <a:pt x="972312" y="0"/>
                </a:lnTo>
                <a:lnTo>
                  <a:pt x="3886200" y="0"/>
                </a:lnTo>
                <a:lnTo>
                  <a:pt x="2915412" y="1752600"/>
                </a:lnTo>
                <a:close/>
              </a:path>
            </a:pathLst>
          </a:custGeom>
          <a:solidFill>
            <a:srgbClr val="CC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9310" y="4262437"/>
            <a:ext cx="3902710" cy="1762125"/>
          </a:xfrm>
          <a:custGeom>
            <a:avLst/>
            <a:gdLst/>
            <a:ahLst/>
            <a:cxnLst/>
            <a:rect l="l" t="t" r="r" b="b"/>
            <a:pathLst>
              <a:path w="3902710" h="1762125">
                <a:moveTo>
                  <a:pt x="2925546" y="1762125"/>
                </a:moveTo>
                <a:lnTo>
                  <a:pt x="0" y="1762125"/>
                </a:lnTo>
                <a:lnTo>
                  <a:pt x="976833" y="0"/>
                </a:lnTo>
                <a:lnTo>
                  <a:pt x="3902379" y="0"/>
                </a:lnTo>
                <a:lnTo>
                  <a:pt x="3901021" y="2451"/>
                </a:lnTo>
                <a:lnTo>
                  <a:pt x="3890124" y="2451"/>
                </a:lnTo>
                <a:lnTo>
                  <a:pt x="3887561" y="7073"/>
                </a:lnTo>
                <a:lnTo>
                  <a:pt x="983805" y="7073"/>
                </a:lnTo>
                <a:lnTo>
                  <a:pt x="979639" y="9525"/>
                </a:lnTo>
                <a:lnTo>
                  <a:pt x="982446" y="9525"/>
                </a:lnTo>
                <a:lnTo>
                  <a:pt x="16176" y="1752600"/>
                </a:lnTo>
                <a:lnTo>
                  <a:pt x="8089" y="1752600"/>
                </a:lnTo>
                <a:lnTo>
                  <a:pt x="12255" y="1759673"/>
                </a:lnTo>
                <a:lnTo>
                  <a:pt x="2926905" y="1759673"/>
                </a:lnTo>
                <a:lnTo>
                  <a:pt x="2925546" y="1762125"/>
                </a:lnTo>
                <a:close/>
              </a:path>
              <a:path w="3902710" h="1762125">
                <a:moveTo>
                  <a:pt x="2918574" y="1755051"/>
                </a:moveTo>
                <a:lnTo>
                  <a:pt x="3890124" y="2451"/>
                </a:lnTo>
                <a:lnTo>
                  <a:pt x="3894289" y="9525"/>
                </a:lnTo>
                <a:lnTo>
                  <a:pt x="3897099" y="9525"/>
                </a:lnTo>
                <a:lnTo>
                  <a:pt x="2930826" y="1752600"/>
                </a:lnTo>
                <a:lnTo>
                  <a:pt x="2922739" y="1752600"/>
                </a:lnTo>
                <a:lnTo>
                  <a:pt x="2918574" y="1755051"/>
                </a:lnTo>
                <a:close/>
              </a:path>
              <a:path w="3902710" h="1762125">
                <a:moveTo>
                  <a:pt x="3897099" y="9525"/>
                </a:moveTo>
                <a:lnTo>
                  <a:pt x="3894289" y="9525"/>
                </a:lnTo>
                <a:lnTo>
                  <a:pt x="3890124" y="2451"/>
                </a:lnTo>
                <a:lnTo>
                  <a:pt x="3901021" y="2451"/>
                </a:lnTo>
                <a:lnTo>
                  <a:pt x="3897099" y="9525"/>
                </a:lnTo>
                <a:close/>
              </a:path>
              <a:path w="3902710" h="1762125">
                <a:moveTo>
                  <a:pt x="982446" y="9525"/>
                </a:moveTo>
                <a:lnTo>
                  <a:pt x="979639" y="9525"/>
                </a:lnTo>
                <a:lnTo>
                  <a:pt x="983805" y="7073"/>
                </a:lnTo>
                <a:lnTo>
                  <a:pt x="982446" y="9525"/>
                </a:lnTo>
                <a:close/>
              </a:path>
              <a:path w="3902710" h="1762125">
                <a:moveTo>
                  <a:pt x="3886202" y="9525"/>
                </a:moveTo>
                <a:lnTo>
                  <a:pt x="982446" y="9525"/>
                </a:lnTo>
                <a:lnTo>
                  <a:pt x="983805" y="7073"/>
                </a:lnTo>
                <a:lnTo>
                  <a:pt x="3887561" y="7073"/>
                </a:lnTo>
                <a:lnTo>
                  <a:pt x="3886202" y="9525"/>
                </a:lnTo>
                <a:close/>
              </a:path>
              <a:path w="3902710" h="1762125">
                <a:moveTo>
                  <a:pt x="12255" y="1759673"/>
                </a:moveTo>
                <a:lnTo>
                  <a:pt x="8089" y="1752600"/>
                </a:lnTo>
                <a:lnTo>
                  <a:pt x="16176" y="1752600"/>
                </a:lnTo>
                <a:lnTo>
                  <a:pt x="12255" y="1759673"/>
                </a:lnTo>
                <a:close/>
              </a:path>
              <a:path w="3902710" h="1762125">
                <a:moveTo>
                  <a:pt x="2926905" y="1759673"/>
                </a:moveTo>
                <a:lnTo>
                  <a:pt x="12255" y="1759673"/>
                </a:lnTo>
                <a:lnTo>
                  <a:pt x="16176" y="1752600"/>
                </a:lnTo>
                <a:lnTo>
                  <a:pt x="2919933" y="1752600"/>
                </a:lnTo>
                <a:lnTo>
                  <a:pt x="2918574" y="1755051"/>
                </a:lnTo>
                <a:lnTo>
                  <a:pt x="2929468" y="1755051"/>
                </a:lnTo>
                <a:lnTo>
                  <a:pt x="2926905" y="1759673"/>
                </a:lnTo>
                <a:close/>
              </a:path>
              <a:path w="3902710" h="1762125">
                <a:moveTo>
                  <a:pt x="2929468" y="1755051"/>
                </a:moveTo>
                <a:lnTo>
                  <a:pt x="2918574" y="1755051"/>
                </a:lnTo>
                <a:lnTo>
                  <a:pt x="2922739" y="1752600"/>
                </a:lnTo>
                <a:lnTo>
                  <a:pt x="2930826" y="1752600"/>
                </a:lnTo>
                <a:lnTo>
                  <a:pt x="2929468" y="175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2012949"/>
            <a:ext cx="8051800" cy="1861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969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 beer(s) sold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highest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price.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ts val="3729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 dirty="0">
              <a:latin typeface="Tahoma"/>
              <a:cs typeface="Tahoma"/>
            </a:endParaRPr>
          </a:p>
          <a:p>
            <a:pPr marR="5080" algn="r">
              <a:lnSpc>
                <a:spcPts val="2290"/>
              </a:lnSpc>
            </a:pPr>
            <a:r>
              <a:rPr sz="2000" spc="-5" dirty="0">
                <a:latin typeface="Tahoma"/>
                <a:cs typeface="Tahoma"/>
              </a:rPr>
              <a:t>price </a:t>
            </a:r>
            <a:r>
              <a:rPr sz="2000" spc="-10" dirty="0">
                <a:latin typeface="Tahoma"/>
                <a:cs typeface="Tahoma"/>
              </a:rPr>
              <a:t>from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outer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9865" y="3848100"/>
            <a:ext cx="22015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Sells </a:t>
            </a:r>
            <a:r>
              <a:rPr sz="2000" dirty="0">
                <a:latin typeface="Tahoma"/>
                <a:cs typeface="Tahoma"/>
              </a:rPr>
              <a:t>must </a:t>
            </a:r>
            <a:r>
              <a:rPr sz="2000" spc="-5" dirty="0">
                <a:latin typeface="Tahoma"/>
                <a:cs typeface="Tahoma"/>
              </a:rPr>
              <a:t>not </a:t>
            </a:r>
            <a:r>
              <a:rPr sz="2000" dirty="0">
                <a:latin typeface="Tahoma"/>
                <a:cs typeface="Tahoma"/>
              </a:rPr>
              <a:t>be  </a:t>
            </a:r>
            <a:r>
              <a:rPr sz="2000" spc="-5" dirty="0">
                <a:latin typeface="Tahoma"/>
                <a:cs typeface="Tahoma"/>
              </a:rPr>
              <a:t>less than </a:t>
            </a:r>
            <a:r>
              <a:rPr sz="2000" spc="-10" dirty="0">
                <a:latin typeface="Tahoma"/>
                <a:cs typeface="Tahoma"/>
              </a:rPr>
              <a:t>any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price.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10200" y="4567466"/>
            <a:ext cx="1906905" cy="627380"/>
          </a:xfrm>
          <a:custGeom>
            <a:avLst/>
            <a:gdLst/>
            <a:ahLst/>
            <a:cxnLst/>
            <a:rect l="l" t="t" r="r" b="b"/>
            <a:pathLst>
              <a:path w="1906904" h="627379">
                <a:moveTo>
                  <a:pt x="74026" y="595449"/>
                </a:moveTo>
                <a:lnTo>
                  <a:pt x="71121" y="586371"/>
                </a:lnTo>
                <a:lnTo>
                  <a:pt x="1903552" y="0"/>
                </a:lnTo>
                <a:lnTo>
                  <a:pt x="1906447" y="9067"/>
                </a:lnTo>
                <a:lnTo>
                  <a:pt x="74026" y="595449"/>
                </a:lnTo>
                <a:close/>
              </a:path>
              <a:path w="1906904" h="627379">
                <a:moveTo>
                  <a:pt x="84188" y="627202"/>
                </a:moveTo>
                <a:lnTo>
                  <a:pt x="0" y="614133"/>
                </a:lnTo>
                <a:lnTo>
                  <a:pt x="60960" y="554621"/>
                </a:lnTo>
                <a:lnTo>
                  <a:pt x="71121" y="586371"/>
                </a:lnTo>
                <a:lnTo>
                  <a:pt x="52984" y="592175"/>
                </a:lnTo>
                <a:lnTo>
                  <a:pt x="55879" y="601256"/>
                </a:lnTo>
                <a:lnTo>
                  <a:pt x="75884" y="601256"/>
                </a:lnTo>
                <a:lnTo>
                  <a:pt x="84188" y="627202"/>
                </a:lnTo>
                <a:close/>
              </a:path>
              <a:path w="1906904" h="627379">
                <a:moveTo>
                  <a:pt x="55879" y="601256"/>
                </a:moveTo>
                <a:lnTo>
                  <a:pt x="52984" y="592175"/>
                </a:lnTo>
                <a:lnTo>
                  <a:pt x="71121" y="586371"/>
                </a:lnTo>
                <a:lnTo>
                  <a:pt x="74026" y="595449"/>
                </a:lnTo>
                <a:lnTo>
                  <a:pt x="55879" y="601256"/>
                </a:lnTo>
                <a:close/>
              </a:path>
              <a:path w="1906904" h="627379">
                <a:moveTo>
                  <a:pt x="75884" y="601256"/>
                </a:moveTo>
                <a:lnTo>
                  <a:pt x="55879" y="601256"/>
                </a:lnTo>
                <a:lnTo>
                  <a:pt x="74026" y="595449"/>
                </a:lnTo>
                <a:lnTo>
                  <a:pt x="75884" y="601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70625"/>
            <a:ext cx="11817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3529" y="829944"/>
            <a:ext cx="91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AL</a:t>
            </a:r>
            <a:r>
              <a:rPr dirty="0"/>
              <a:t>L</a:t>
            </a:r>
          </a:p>
        </p:txBody>
      </p:sp>
      <p:sp>
        <p:nvSpPr>
          <p:cNvPr id="4" name="object 4"/>
          <p:cNvSpPr/>
          <p:nvPr/>
        </p:nvSpPr>
        <p:spPr>
          <a:xfrm>
            <a:off x="3596640" y="1738883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009" y="1869122"/>
            <a:ext cx="8082280" cy="2243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14197" y="1321435"/>
            <a:ext cx="1769427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12940" y="1366202"/>
            <a:ext cx="153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81400" y="4539996"/>
            <a:ext cx="4724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8009" y="4671059"/>
            <a:ext cx="8082280" cy="19862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03450" y="5612765"/>
            <a:ext cx="5605145" cy="87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MAX(csrq) FROM</a:t>
            </a:r>
            <a:r>
              <a:rPr sz="2800" b="1" spc="-6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</a:t>
            </a:r>
            <a:endParaRPr sz="2800">
              <a:latin typeface="Lucida Sans Typewriter"/>
              <a:cs typeface="Lucida Sans Typewriter"/>
            </a:endParaRPr>
          </a:p>
          <a:p>
            <a:pPr marL="12700">
              <a:lnSpc>
                <a:spcPts val="3354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AND 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女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14197" y="4107497"/>
            <a:ext cx="1769427" cy="5622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6099" y="1757362"/>
            <a:ext cx="7870190" cy="38188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marR="4201795" lvl="0" indent="0" algn="r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SELECT </a:t>
            </a:r>
            <a:r>
              <a:rPr kumimoji="0" lang="en-US" altLang="zh-CN" sz="2800" b="1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*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FROM</a:t>
            </a:r>
            <a:r>
              <a:rPr kumimoji="0" lang="en-US" altLang="zh-CN" sz="2800" b="1" i="0" u="none" strike="noStrike" kern="120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 </a:t>
            </a:r>
            <a:r>
              <a:rPr kumimoji="0" lang="en-US" altLang="zh-CN" sz="2800" b="1" i="0" u="none" strike="noStrike" kern="1200" cap="none" spc="-5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Typewriter"/>
                <a:ea typeface="+mn-ea"/>
                <a:cs typeface="Lucida Sans Typewriter"/>
              </a:rPr>
              <a:t>xs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/>
              <a:ea typeface="+mn-ea"/>
              <a:cs typeface="Lucida Sans Typewriter"/>
            </a:endParaRPr>
          </a:p>
          <a:p>
            <a:pPr marL="1085850">
              <a:lnSpc>
                <a:spcPct val="100000"/>
              </a:lnSpc>
              <a:spcBef>
                <a:spcPts val="590"/>
              </a:spcBef>
            </a:pP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</a:t>
            </a:r>
            <a:r>
              <a:rPr lang="en-US" sz="2800" b="1" dirty="0" err="1">
                <a:solidFill>
                  <a:srgbClr val="0000FF"/>
                </a:solidFill>
                <a:latin typeface="Lucida Sans Typewriter"/>
                <a:cs typeface="Lucida Sans Typewriter"/>
              </a:rPr>
              <a:t>csrq</a:t>
            </a: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lang="en-US"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&gt;=</a:t>
            </a:r>
            <a:r>
              <a:rPr lang="en-US"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ALL</a:t>
            </a:r>
            <a:endParaRPr lang="en-US" sz="2800" dirty="0">
              <a:latin typeface="Lucida Sans Typewriter"/>
              <a:cs typeface="Lucida Sans Typewriter"/>
            </a:endParaRPr>
          </a:p>
          <a:p>
            <a:pPr marL="1729739" marR="1626235">
              <a:lnSpc>
                <a:spcPct val="119600"/>
              </a:lnSpc>
              <a:spcBef>
                <a:spcPts val="10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(SELECT csrq FROM</a:t>
            </a:r>
            <a:r>
              <a:rPr sz="2800" b="1" spc="-7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xs)  AND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xb=‘</a:t>
            </a:r>
            <a:r>
              <a:rPr sz="2800" b="1" dirty="0">
                <a:solidFill>
                  <a:srgbClr val="0000FF"/>
                </a:solidFill>
                <a:latin typeface="宋体"/>
                <a:cs typeface="宋体"/>
              </a:rPr>
              <a:t>女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’</a:t>
            </a:r>
            <a:endParaRPr sz="2800" dirty="0">
              <a:latin typeface="Arial"/>
              <a:cs typeface="Arial"/>
            </a:endParaRPr>
          </a:p>
          <a:p>
            <a:pPr marR="30480" algn="r">
              <a:lnSpc>
                <a:spcPct val="100000"/>
              </a:lnSpc>
              <a:spcBef>
                <a:spcPts val="1850"/>
              </a:spcBef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  <a:p>
            <a:pPr marR="4201795" algn="r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SELECT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* </a:t>
            </a: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FROM</a:t>
            </a:r>
            <a:r>
              <a:rPr sz="2800" b="1" spc="-60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xs</a:t>
            </a:r>
            <a:endParaRPr sz="2800" dirty="0">
              <a:latin typeface="Lucida Sans Typewriter"/>
              <a:cs typeface="Lucida Sans Typewriter"/>
            </a:endParaRPr>
          </a:p>
          <a:p>
            <a:pPr marR="4201795" algn="r">
              <a:lnSpc>
                <a:spcPct val="100000"/>
              </a:lnSpc>
            </a:pPr>
            <a:r>
              <a:rPr sz="2800" b="1" dirty="0">
                <a:solidFill>
                  <a:srgbClr val="0000FF"/>
                </a:solidFill>
                <a:latin typeface="Lucida Sans Typewriter"/>
                <a:cs typeface="Lucida Sans Typewriter"/>
              </a:rPr>
              <a:t>WHERE csrq</a:t>
            </a:r>
            <a:r>
              <a:rPr sz="2800" b="1" spc="-7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Lucida Sans Typewriter"/>
                <a:cs typeface="Lucida Sans Typewriter"/>
              </a:rPr>
              <a:t>&gt;=</a:t>
            </a:r>
            <a:endParaRPr sz="2800" dirty="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75" y="829944"/>
            <a:ext cx="8655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Union, Intersection, and</a:t>
            </a:r>
            <a:r>
              <a:rPr spc="-40" dirty="0"/>
              <a:t> </a:t>
            </a:r>
            <a:r>
              <a:rPr spc="-15" dirty="0"/>
              <a:t>Difference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9350" cy="302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Union, intersection, and </a:t>
            </a:r>
            <a:r>
              <a:rPr sz="3200" spc="-10" dirty="0">
                <a:latin typeface="Tahoma"/>
                <a:cs typeface="Tahoma"/>
              </a:rPr>
              <a:t>difference </a:t>
            </a:r>
            <a:r>
              <a:rPr sz="3200" spc="-5" dirty="0">
                <a:latin typeface="Tahoma"/>
                <a:cs typeface="Tahoma"/>
              </a:rPr>
              <a:t>of  relations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expressed by the </a:t>
            </a:r>
            <a:r>
              <a:rPr sz="3200" spc="-10" dirty="0">
                <a:latin typeface="Tahoma"/>
                <a:cs typeface="Tahoma"/>
              </a:rPr>
              <a:t>following  forms,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10" dirty="0">
                <a:latin typeface="Tahoma"/>
                <a:cs typeface="Tahoma"/>
              </a:rPr>
              <a:t>involving</a:t>
            </a:r>
            <a:r>
              <a:rPr sz="3200" spc="-5" dirty="0">
                <a:latin typeface="Tahoma"/>
                <a:cs typeface="Tahoma"/>
              </a:rPr>
              <a:t> subqueries: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UNION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INTERSECT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(&lt;subquery&gt;) </a:t>
            </a:r>
            <a:r>
              <a:rPr sz="2800" spc="-10" dirty="0">
                <a:latin typeface="Tahoma"/>
                <a:cs typeface="Tahoma"/>
              </a:rPr>
              <a:t>EXCEPT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(&lt;subquery&gt;)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264" y="829944"/>
            <a:ext cx="541147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5" dirty="0"/>
              <a:t>Intersection</a:t>
            </a:r>
            <a:r>
              <a:rPr lang="zh-CN" altLang="en-US" spc="-5" dirty="0"/>
              <a:t>交集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2012949"/>
            <a:ext cx="8095615" cy="293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3873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and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, find  the drinkers and beers such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that:</a:t>
            </a:r>
            <a:endParaRPr sz="3200" dirty="0">
              <a:latin typeface="Tahoma"/>
              <a:cs typeface="Tahoma"/>
            </a:endParaRPr>
          </a:p>
          <a:p>
            <a:pPr marL="1384300" lvl="1" indent="-4572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drinker likes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80" dirty="0">
                <a:latin typeface="Tahoma"/>
                <a:cs typeface="Tahoma"/>
              </a:rPr>
              <a:t>beer,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endParaRPr sz="2800" dirty="0">
              <a:latin typeface="Tahoma"/>
              <a:cs typeface="Tahoma"/>
            </a:endParaRPr>
          </a:p>
          <a:p>
            <a:pPr marL="1383665" marR="5080" lvl="1" indent="-4572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drinker frequents </a:t>
            </a:r>
            <a:r>
              <a:rPr sz="2800" spc="-5" dirty="0">
                <a:latin typeface="Tahoma"/>
                <a:cs typeface="Tahoma"/>
              </a:rPr>
              <a:t>at least one bar that  sells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beer.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795" y="829944"/>
            <a:ext cx="2010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240" y="2025451"/>
            <a:ext cx="4234180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 </a:t>
            </a:r>
            <a:r>
              <a:rPr sz="3200" dirty="0">
                <a:latin typeface="Tahoma"/>
                <a:cs typeface="Tahoma"/>
              </a:rPr>
              <a:t>* </a:t>
            </a: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Likes)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2596514"/>
            <a:ext cx="21024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INTERSECT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3195121"/>
            <a:ext cx="615759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 </a:t>
            </a:r>
            <a:r>
              <a:rPr sz="3200" spc="-60" dirty="0">
                <a:latin typeface="Tahoma"/>
                <a:cs typeface="Tahoma"/>
              </a:rPr>
              <a:t>drinker,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>
              <a:latin typeface="Tahoma"/>
              <a:cs typeface="Tahoma"/>
            </a:endParaRPr>
          </a:p>
          <a:p>
            <a:pPr marL="1270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 Sells,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Frequents</a:t>
            </a:r>
            <a:endParaRPr sz="3200">
              <a:latin typeface="Tahoma"/>
              <a:cs typeface="Tahoma"/>
            </a:endParaRPr>
          </a:p>
          <a:p>
            <a:pPr marL="1270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Frequents.bar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Sells.bar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3200400"/>
            <a:ext cx="6400800" cy="2286000"/>
          </a:xfrm>
          <a:custGeom>
            <a:avLst/>
            <a:gdLst/>
            <a:ahLst/>
            <a:cxnLst/>
            <a:rect l="l" t="t" r="r" b="b"/>
            <a:pathLst>
              <a:path w="6400800" h="2286000">
                <a:moveTo>
                  <a:pt x="0" y="0"/>
                </a:moveTo>
                <a:lnTo>
                  <a:pt x="6400800" y="0"/>
                </a:lnTo>
                <a:lnTo>
                  <a:pt x="6400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1037" y="3195637"/>
            <a:ext cx="6410325" cy="2295525"/>
          </a:xfrm>
          <a:custGeom>
            <a:avLst/>
            <a:gdLst/>
            <a:ahLst/>
            <a:cxnLst/>
            <a:rect l="l" t="t" r="r" b="b"/>
            <a:pathLst>
              <a:path w="6410325" h="2295525">
                <a:moveTo>
                  <a:pt x="64103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6410325" y="0"/>
                </a:lnTo>
                <a:lnTo>
                  <a:pt x="641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6410325" y="2290762"/>
                </a:lnTo>
                <a:lnTo>
                  <a:pt x="6410325" y="2295525"/>
                </a:lnTo>
                <a:close/>
              </a:path>
              <a:path w="64103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10325" h="2295525">
                <a:moveTo>
                  <a:pt x="640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00800" y="4762"/>
                </a:lnTo>
                <a:lnTo>
                  <a:pt x="6400800" y="9525"/>
                </a:lnTo>
                <a:close/>
              </a:path>
              <a:path w="6410325" h="2295525">
                <a:moveTo>
                  <a:pt x="6400800" y="2290762"/>
                </a:moveTo>
                <a:lnTo>
                  <a:pt x="6400800" y="4762"/>
                </a:lnTo>
                <a:lnTo>
                  <a:pt x="6405562" y="9525"/>
                </a:lnTo>
                <a:lnTo>
                  <a:pt x="6410325" y="9525"/>
                </a:lnTo>
                <a:lnTo>
                  <a:pt x="6410325" y="2286000"/>
                </a:lnTo>
                <a:lnTo>
                  <a:pt x="6405562" y="2286000"/>
                </a:lnTo>
                <a:lnTo>
                  <a:pt x="6400800" y="2290762"/>
                </a:lnTo>
                <a:close/>
              </a:path>
              <a:path w="6410325" h="2295525">
                <a:moveTo>
                  <a:pt x="6410325" y="9525"/>
                </a:moveTo>
                <a:lnTo>
                  <a:pt x="6405562" y="9525"/>
                </a:lnTo>
                <a:lnTo>
                  <a:pt x="6400800" y="4762"/>
                </a:lnTo>
                <a:lnTo>
                  <a:pt x="6410325" y="4762"/>
                </a:lnTo>
                <a:lnTo>
                  <a:pt x="6410325" y="9525"/>
                </a:lnTo>
                <a:close/>
              </a:path>
              <a:path w="64103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6410325" h="2295525">
                <a:moveTo>
                  <a:pt x="64008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6400800" y="2286000"/>
                </a:lnTo>
                <a:lnTo>
                  <a:pt x="6400800" y="2290762"/>
                </a:lnTo>
                <a:close/>
              </a:path>
              <a:path w="6410325" h="2295525">
                <a:moveTo>
                  <a:pt x="6410325" y="2290762"/>
                </a:moveTo>
                <a:lnTo>
                  <a:pt x="6400800" y="2290762"/>
                </a:lnTo>
                <a:lnTo>
                  <a:pt x="6405562" y="2286000"/>
                </a:lnTo>
                <a:lnTo>
                  <a:pt x="6410325" y="2286000"/>
                </a:lnTo>
                <a:lnTo>
                  <a:pt x="64103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9865" y="1562099"/>
            <a:ext cx="24485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drinker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frequents 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bar that sells the  </a:t>
            </a:r>
            <a:r>
              <a:rPr sz="2000" spc="-60" dirty="0">
                <a:latin typeface="Tahoma"/>
                <a:cs typeface="Tahoma"/>
              </a:rPr>
              <a:t>beer.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0" y="2434882"/>
            <a:ext cx="842010" cy="765810"/>
          </a:xfrm>
          <a:custGeom>
            <a:avLst/>
            <a:gdLst/>
            <a:ahLst/>
            <a:cxnLst/>
            <a:rect l="l" t="t" r="r" b="b"/>
            <a:pathLst>
              <a:path w="842010" h="765810">
                <a:moveTo>
                  <a:pt x="59586" y="717779"/>
                </a:moveTo>
                <a:lnTo>
                  <a:pt x="53176" y="710727"/>
                </a:lnTo>
                <a:lnTo>
                  <a:pt x="834999" y="0"/>
                </a:lnTo>
                <a:lnTo>
                  <a:pt x="841400" y="7035"/>
                </a:lnTo>
                <a:lnTo>
                  <a:pt x="59586" y="717779"/>
                </a:lnTo>
                <a:close/>
              </a:path>
              <a:path w="842010" h="765810">
                <a:moveTo>
                  <a:pt x="0" y="765517"/>
                </a:moveTo>
                <a:lnTo>
                  <a:pt x="30759" y="686066"/>
                </a:lnTo>
                <a:lnTo>
                  <a:pt x="53176" y="710727"/>
                </a:lnTo>
                <a:lnTo>
                  <a:pt x="39077" y="723544"/>
                </a:lnTo>
                <a:lnTo>
                  <a:pt x="45491" y="730592"/>
                </a:lnTo>
                <a:lnTo>
                  <a:pt x="71234" y="730592"/>
                </a:lnTo>
                <a:lnTo>
                  <a:pt x="82016" y="742454"/>
                </a:lnTo>
                <a:lnTo>
                  <a:pt x="0" y="765517"/>
                </a:lnTo>
                <a:close/>
              </a:path>
              <a:path w="842010" h="765810">
                <a:moveTo>
                  <a:pt x="45491" y="730592"/>
                </a:moveTo>
                <a:lnTo>
                  <a:pt x="39077" y="723544"/>
                </a:lnTo>
                <a:lnTo>
                  <a:pt x="53176" y="710727"/>
                </a:lnTo>
                <a:lnTo>
                  <a:pt x="59586" y="717779"/>
                </a:lnTo>
                <a:lnTo>
                  <a:pt x="45491" y="730592"/>
                </a:lnTo>
                <a:close/>
              </a:path>
              <a:path w="842010" h="765810">
                <a:moveTo>
                  <a:pt x="71234" y="730592"/>
                </a:moveTo>
                <a:lnTo>
                  <a:pt x="45491" y="730592"/>
                </a:lnTo>
                <a:lnTo>
                  <a:pt x="59586" y="717779"/>
                </a:lnTo>
                <a:lnTo>
                  <a:pt x="71234" y="730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5800" y="1981200"/>
            <a:ext cx="4343400" cy="609600"/>
          </a:xfrm>
          <a:custGeom>
            <a:avLst/>
            <a:gdLst/>
            <a:ahLst/>
            <a:cxnLst/>
            <a:rect l="l" t="t" r="r" b="b"/>
            <a:pathLst>
              <a:path w="4343400" h="609600">
                <a:moveTo>
                  <a:pt x="0" y="0"/>
                </a:moveTo>
                <a:lnTo>
                  <a:pt x="4343400" y="0"/>
                </a:lnTo>
                <a:lnTo>
                  <a:pt x="4343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1037" y="1976437"/>
            <a:ext cx="4352925" cy="619125"/>
          </a:xfrm>
          <a:custGeom>
            <a:avLst/>
            <a:gdLst/>
            <a:ahLst/>
            <a:cxnLst/>
            <a:rect l="l" t="t" r="r" b="b"/>
            <a:pathLst>
              <a:path w="4352925" h="619125">
                <a:moveTo>
                  <a:pt x="43529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4352925" y="0"/>
                </a:lnTo>
                <a:lnTo>
                  <a:pt x="435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4352925" y="614362"/>
                </a:lnTo>
                <a:lnTo>
                  <a:pt x="4352925" y="619125"/>
                </a:lnTo>
                <a:close/>
              </a:path>
              <a:path w="43529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52925" h="619125">
                <a:moveTo>
                  <a:pt x="434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43400" y="4762"/>
                </a:lnTo>
                <a:lnTo>
                  <a:pt x="4343400" y="9525"/>
                </a:lnTo>
                <a:close/>
              </a:path>
              <a:path w="4352925" h="619125">
                <a:moveTo>
                  <a:pt x="4343400" y="614362"/>
                </a:moveTo>
                <a:lnTo>
                  <a:pt x="4343400" y="4762"/>
                </a:lnTo>
                <a:lnTo>
                  <a:pt x="4348162" y="9525"/>
                </a:lnTo>
                <a:lnTo>
                  <a:pt x="4352925" y="9525"/>
                </a:lnTo>
                <a:lnTo>
                  <a:pt x="4352925" y="609600"/>
                </a:lnTo>
                <a:lnTo>
                  <a:pt x="4348162" y="609600"/>
                </a:lnTo>
                <a:lnTo>
                  <a:pt x="4343400" y="614362"/>
                </a:lnTo>
                <a:close/>
              </a:path>
              <a:path w="4352925" h="619125">
                <a:moveTo>
                  <a:pt x="4352925" y="9525"/>
                </a:moveTo>
                <a:lnTo>
                  <a:pt x="4348162" y="9525"/>
                </a:lnTo>
                <a:lnTo>
                  <a:pt x="4343400" y="4762"/>
                </a:lnTo>
                <a:lnTo>
                  <a:pt x="4352925" y="4762"/>
                </a:lnTo>
                <a:lnTo>
                  <a:pt x="4352925" y="9525"/>
                </a:lnTo>
                <a:close/>
              </a:path>
              <a:path w="43529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4352925" h="619125">
                <a:moveTo>
                  <a:pt x="43434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4343400" y="609600"/>
                </a:lnTo>
                <a:lnTo>
                  <a:pt x="4343400" y="614362"/>
                </a:lnTo>
                <a:close/>
              </a:path>
              <a:path w="4352925" h="619125">
                <a:moveTo>
                  <a:pt x="4352925" y="614362"/>
                </a:moveTo>
                <a:lnTo>
                  <a:pt x="4343400" y="614362"/>
                </a:lnTo>
                <a:lnTo>
                  <a:pt x="4348162" y="609600"/>
                </a:lnTo>
                <a:lnTo>
                  <a:pt x="4352925" y="609600"/>
                </a:lnTo>
                <a:lnTo>
                  <a:pt x="43529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540" y="233362"/>
            <a:ext cx="16192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trick:  subquery is  really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stored  table.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20380" y="1444701"/>
            <a:ext cx="461009" cy="536575"/>
          </a:xfrm>
          <a:custGeom>
            <a:avLst/>
            <a:gdLst/>
            <a:ahLst/>
            <a:cxnLst/>
            <a:rect l="l" t="t" r="r" b="b"/>
            <a:pathLst>
              <a:path w="461010" h="536575">
                <a:moveTo>
                  <a:pt x="407616" y="481737"/>
                </a:moveTo>
                <a:lnTo>
                  <a:pt x="0" y="6197"/>
                </a:lnTo>
                <a:lnTo>
                  <a:pt x="7238" y="0"/>
                </a:lnTo>
                <a:lnTo>
                  <a:pt x="414844" y="475542"/>
                </a:lnTo>
                <a:lnTo>
                  <a:pt x="407616" y="481737"/>
                </a:lnTo>
                <a:close/>
              </a:path>
              <a:path w="461010" h="536575">
                <a:moveTo>
                  <a:pt x="450745" y="496201"/>
                </a:moveTo>
                <a:lnTo>
                  <a:pt x="420014" y="496201"/>
                </a:lnTo>
                <a:lnTo>
                  <a:pt x="427240" y="490004"/>
                </a:lnTo>
                <a:lnTo>
                  <a:pt x="414844" y="475542"/>
                </a:lnTo>
                <a:lnTo>
                  <a:pt x="440156" y="453847"/>
                </a:lnTo>
                <a:lnTo>
                  <a:pt x="450745" y="496201"/>
                </a:lnTo>
                <a:close/>
              </a:path>
              <a:path w="461010" h="536575">
                <a:moveTo>
                  <a:pt x="420014" y="496201"/>
                </a:moveTo>
                <a:lnTo>
                  <a:pt x="407616" y="481737"/>
                </a:lnTo>
                <a:lnTo>
                  <a:pt x="414844" y="475542"/>
                </a:lnTo>
                <a:lnTo>
                  <a:pt x="427240" y="490004"/>
                </a:lnTo>
                <a:lnTo>
                  <a:pt x="420014" y="496201"/>
                </a:lnTo>
                <a:close/>
              </a:path>
              <a:path w="461010" h="536575">
                <a:moveTo>
                  <a:pt x="460819" y="536498"/>
                </a:moveTo>
                <a:lnTo>
                  <a:pt x="382295" y="503440"/>
                </a:lnTo>
                <a:lnTo>
                  <a:pt x="407616" y="481737"/>
                </a:lnTo>
                <a:lnTo>
                  <a:pt x="420014" y="496201"/>
                </a:lnTo>
                <a:lnTo>
                  <a:pt x="450745" y="496201"/>
                </a:lnTo>
                <a:lnTo>
                  <a:pt x="460819" y="536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995" y="829944"/>
            <a:ext cx="3636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Bag</a:t>
            </a:r>
            <a:r>
              <a:rPr spc="-65" dirty="0"/>
              <a:t> </a:t>
            </a:r>
            <a:r>
              <a:rPr spc="-5" dirty="0"/>
              <a:t>Semantics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31355" cy="29347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22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Although the </a:t>
            </a:r>
            <a:r>
              <a:rPr sz="3200" spc="-20" dirty="0">
                <a:latin typeface="Tahoma"/>
                <a:cs typeface="Tahoma"/>
              </a:rPr>
              <a:t>SELECT-FROM-WHERE  </a:t>
            </a:r>
            <a:r>
              <a:rPr sz="3200" spc="-5" dirty="0">
                <a:latin typeface="Tahoma"/>
                <a:cs typeface="Tahoma"/>
              </a:rPr>
              <a:t>statement uses bag semantics, the  </a:t>
            </a:r>
            <a:r>
              <a:rPr sz="3200" spc="-10" dirty="0">
                <a:latin typeface="Tahoma"/>
                <a:cs typeface="Tahoma"/>
              </a:rPr>
              <a:t>default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union, intersection, and  </a:t>
            </a:r>
            <a:r>
              <a:rPr sz="3200" spc="-10" dirty="0">
                <a:latin typeface="Tahoma"/>
                <a:cs typeface="Tahoma"/>
              </a:rPr>
              <a:t>difference </a:t>
            </a:r>
            <a:r>
              <a:rPr sz="3200" spc="-5" dirty="0">
                <a:latin typeface="Tahoma"/>
                <a:cs typeface="Tahoma"/>
              </a:rPr>
              <a:t>is set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semantics.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That is, duplicates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eliminated as the  </a:t>
            </a:r>
            <a:r>
              <a:rPr sz="2800" spc="-10" dirty="0">
                <a:latin typeface="Tahoma"/>
                <a:cs typeface="Tahoma"/>
              </a:rPr>
              <a:t>operation </a:t>
            </a:r>
            <a:r>
              <a:rPr sz="2800" spc="-5" dirty="0">
                <a:latin typeface="Tahoma"/>
                <a:cs typeface="Tahoma"/>
              </a:rPr>
              <a:t>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applied.</a:t>
            </a:r>
            <a:r>
              <a:rPr lang="zh-CN" altLang="en-US" sz="2800" spc="-5" dirty="0">
                <a:latin typeface="Tahoma"/>
                <a:cs typeface="Tahoma"/>
              </a:rPr>
              <a:t>消除重复项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3735" y="829944"/>
            <a:ext cx="52565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993300"/>
                </a:solidFill>
              </a:rPr>
              <a:t>Motivation</a:t>
            </a:r>
            <a:r>
              <a:rPr spc="-10" dirty="0"/>
              <a:t>:</a:t>
            </a:r>
            <a:r>
              <a:rPr spc="-60" dirty="0"/>
              <a:t> </a:t>
            </a:r>
            <a:r>
              <a:rPr spc="-10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06970" cy="3524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180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doing projection,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easier to  </a:t>
            </a:r>
            <a:r>
              <a:rPr sz="3200" spc="-15" dirty="0">
                <a:latin typeface="Tahoma"/>
                <a:cs typeface="Tahoma"/>
              </a:rPr>
              <a:t>avoid </a:t>
            </a:r>
            <a:r>
              <a:rPr sz="3200" spc="-5" dirty="0">
                <a:latin typeface="Tahoma"/>
                <a:cs typeface="Tahoma"/>
              </a:rPr>
              <a:t>eliminating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duplicates.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Just work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tuple-at-a-time.</a:t>
            </a:r>
            <a:endParaRPr sz="2800" dirty="0">
              <a:latin typeface="Tahoma"/>
              <a:cs typeface="Tahoma"/>
            </a:endParaRPr>
          </a:p>
          <a:p>
            <a:pPr marL="355600" marR="330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intersection or </a:t>
            </a:r>
            <a:r>
              <a:rPr sz="3200" spc="-10" dirty="0">
                <a:latin typeface="Tahoma"/>
                <a:cs typeface="Tahoma"/>
              </a:rPr>
              <a:t>difference,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most  </a:t>
            </a:r>
            <a:r>
              <a:rPr sz="3200" spc="-10" dirty="0">
                <a:latin typeface="Tahoma"/>
                <a:cs typeface="Tahoma"/>
              </a:rPr>
              <a:t>efficient </a:t>
            </a:r>
            <a:r>
              <a:rPr sz="3200" spc="-5" dirty="0">
                <a:latin typeface="Tahoma"/>
                <a:cs typeface="Tahoma"/>
              </a:rPr>
              <a:t>to sort the relations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first.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At </a:t>
            </a:r>
            <a:r>
              <a:rPr sz="2800" spc="-5" dirty="0">
                <a:latin typeface="Tahoma"/>
                <a:cs typeface="Tahoma"/>
              </a:rPr>
              <a:t>that point </a:t>
            </a:r>
            <a:r>
              <a:rPr sz="2800" spc="-15" dirty="0">
                <a:latin typeface="Tahoma"/>
                <a:cs typeface="Tahoma"/>
              </a:rPr>
              <a:t>you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as </a:t>
            </a:r>
            <a:r>
              <a:rPr sz="2800" dirty="0">
                <a:latin typeface="Tahoma"/>
                <a:cs typeface="Tahoma"/>
              </a:rPr>
              <a:t>well </a:t>
            </a:r>
            <a:r>
              <a:rPr sz="2800" spc="-5" dirty="0">
                <a:latin typeface="Tahoma"/>
                <a:cs typeface="Tahoma"/>
              </a:rPr>
              <a:t>eliminate the  duplicates </a:t>
            </a:r>
            <a:r>
              <a:rPr sz="2800" spc="-50" dirty="0">
                <a:latin typeface="Tahoma"/>
                <a:cs typeface="Tahoma"/>
              </a:rPr>
              <a:t>anyway.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959" y="829944"/>
            <a:ext cx="8006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Controlling Duplicate</a:t>
            </a:r>
            <a:r>
              <a:rPr spc="-35" dirty="0"/>
              <a:t> </a:t>
            </a:r>
            <a:r>
              <a:rPr spc="-5" dirty="0"/>
              <a:t>Elimination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62825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443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Force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5" dirty="0">
                <a:latin typeface="Tahoma"/>
                <a:cs typeface="Tahoma"/>
              </a:rPr>
              <a:t>set by  SELECT DISTINCT </a:t>
            </a:r>
            <a:r>
              <a:rPr sz="3200" dirty="0">
                <a:latin typeface="Tahoma"/>
                <a:cs typeface="Tahoma"/>
              </a:rPr>
              <a:t>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Force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5" dirty="0">
                <a:latin typeface="Tahoma"/>
                <a:cs typeface="Tahoma"/>
              </a:rPr>
              <a:t>bag </a:t>
            </a:r>
            <a:r>
              <a:rPr sz="3200" spc="-40" dirty="0">
                <a:latin typeface="Tahoma"/>
                <a:cs typeface="Tahoma"/>
              </a:rPr>
              <a:t>(i.e., </a:t>
            </a:r>
            <a:r>
              <a:rPr sz="3200" spc="10" dirty="0">
                <a:latin typeface="Tahoma"/>
                <a:cs typeface="Tahoma"/>
              </a:rPr>
              <a:t>don’t  </a:t>
            </a:r>
            <a:r>
              <a:rPr sz="3200" spc="-5" dirty="0">
                <a:latin typeface="Tahoma"/>
                <a:cs typeface="Tahoma"/>
              </a:rPr>
              <a:t>eliminate duplicates) by ALL, as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UNION ALL </a:t>
            </a:r>
            <a:r>
              <a:rPr sz="3200" dirty="0">
                <a:latin typeface="Tahoma"/>
                <a:cs typeface="Tahoma"/>
              </a:rPr>
              <a:t>. 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04" y="829944"/>
            <a:ext cx="49498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DISTINCT</a:t>
            </a:r>
            <a:r>
              <a:rPr lang="zh-CN" altLang="en-US" spc="-5" dirty="0"/>
              <a:t>不同的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88225" cy="373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15" dirty="0">
                <a:latin typeface="Tahoma"/>
                <a:cs typeface="Tahoma"/>
              </a:rPr>
              <a:t>different </a:t>
            </a:r>
            <a:r>
              <a:rPr sz="3200" spc="-5" dirty="0">
                <a:latin typeface="Tahoma"/>
                <a:cs typeface="Tahoma"/>
              </a:rPr>
              <a:t>prices charged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beers: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DISTINCT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Sells;</a:t>
            </a:r>
            <a:endParaRPr sz="32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Notice that without </a:t>
            </a:r>
            <a:r>
              <a:rPr sz="3200" spc="-55" dirty="0">
                <a:latin typeface="Tahoma"/>
                <a:cs typeface="Tahoma"/>
              </a:rPr>
              <a:t>DISTINCT, </a:t>
            </a:r>
            <a:r>
              <a:rPr sz="3200" spc="-5" dirty="0">
                <a:latin typeface="Tahoma"/>
                <a:cs typeface="Tahoma"/>
              </a:rPr>
              <a:t>each  price would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listed as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times as  there were bar/beer pairs at that price.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439" y="829944"/>
            <a:ext cx="337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7602220" cy="3778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11175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Using relations </a:t>
            </a:r>
            <a:r>
              <a:rPr sz="2800" spc="-25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bar)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CC00CC"/>
                </a:solidFill>
                <a:latin typeface="Tahoma"/>
                <a:cs typeface="Tahoma"/>
              </a:rPr>
              <a:t>Likes(drinker,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beer)</a:t>
            </a:r>
            <a:r>
              <a:rPr sz="2800" spc="-5" dirty="0">
                <a:latin typeface="Tahoma"/>
                <a:cs typeface="Tahoma"/>
              </a:rPr>
              <a:t>:</a:t>
            </a:r>
            <a:endParaRPr sz="2800" dirty="0">
              <a:latin typeface="Tahoma"/>
              <a:cs typeface="Tahoma"/>
            </a:endParaRPr>
          </a:p>
          <a:p>
            <a:pPr marL="865505" algn="ctr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(SELECT drinker FROM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Frequents)</a:t>
            </a:r>
            <a:endParaRPr sz="2800" dirty="0">
              <a:latin typeface="Courier New"/>
              <a:cs typeface="Courier New"/>
            </a:endParaRPr>
          </a:p>
          <a:p>
            <a:pPr marR="1778000" algn="ctr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EXCEPT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ALL</a:t>
            </a:r>
            <a:endParaRPr sz="2800" dirty="0">
              <a:latin typeface="Courier New"/>
              <a:cs typeface="Courier New"/>
            </a:endParaRPr>
          </a:p>
          <a:p>
            <a:pPr marL="225425" algn="ctr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(SELECT drinker FROM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Likes);</a:t>
            </a:r>
            <a:endParaRPr sz="28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93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Lists drinkers who </a:t>
            </a:r>
            <a:r>
              <a:rPr sz="2800" spc="-10" dirty="0">
                <a:latin typeface="Tahoma"/>
                <a:cs typeface="Tahoma"/>
              </a:rPr>
              <a:t>frequent more </a:t>
            </a:r>
            <a:r>
              <a:rPr sz="2800" spc="-5" dirty="0">
                <a:latin typeface="Tahoma"/>
                <a:cs typeface="Tahoma"/>
              </a:rPr>
              <a:t>bars than  they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beers, and does so as </a:t>
            </a:r>
            <a:r>
              <a:rPr sz="2800" spc="-10" dirty="0">
                <a:latin typeface="Tahoma"/>
                <a:cs typeface="Tahoma"/>
              </a:rPr>
              <a:t>many </a:t>
            </a:r>
            <a:r>
              <a:rPr sz="2800" spc="-5" dirty="0">
                <a:latin typeface="Tahoma"/>
                <a:cs typeface="Tahoma"/>
              </a:rPr>
              <a:t>times as  the </a:t>
            </a:r>
            <a:r>
              <a:rPr sz="2800" spc="-10" dirty="0">
                <a:latin typeface="Tahoma"/>
                <a:cs typeface="Tahoma"/>
              </a:rPr>
              <a:t>difference </a:t>
            </a:r>
            <a:r>
              <a:rPr sz="2800" spc="-5" dirty="0">
                <a:latin typeface="Tahoma"/>
                <a:cs typeface="Tahoma"/>
              </a:rPr>
              <a:t>of those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counts.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829944"/>
            <a:ext cx="594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spc="-70" dirty="0"/>
              <a:t> </a:t>
            </a:r>
            <a:r>
              <a:rPr spc="-5" dirty="0"/>
              <a:t>SERVER</a:t>
            </a:r>
            <a:r>
              <a:rPr dirty="0">
                <a:latin typeface="宋体"/>
                <a:cs typeface="宋体"/>
              </a:rPr>
              <a:t>的补充命</a:t>
            </a:r>
            <a:r>
              <a:rPr spc="5" dirty="0">
                <a:latin typeface="宋体"/>
                <a:cs typeface="宋体"/>
              </a:rPr>
              <a:t>令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24115" cy="38906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TOP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</a:t>
            </a: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选取关系中的前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dirty="0">
                <a:latin typeface="宋体"/>
                <a:cs typeface="宋体"/>
              </a:rPr>
              <a:t>个元</a:t>
            </a:r>
            <a:r>
              <a:rPr sz="2800" spc="-5" dirty="0">
                <a:latin typeface="宋体"/>
                <a:cs typeface="宋体"/>
              </a:rPr>
              <a:t>组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一般和</a:t>
            </a:r>
            <a:r>
              <a:rPr sz="2800" spc="-5" dirty="0">
                <a:latin typeface="Tahoma"/>
                <a:cs typeface="Tahoma"/>
              </a:rPr>
              <a:t>ORDER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BY</a:t>
            </a:r>
            <a:r>
              <a:rPr sz="2800" dirty="0">
                <a:latin typeface="宋体"/>
                <a:cs typeface="宋体"/>
              </a:rPr>
              <a:t>组合使</a:t>
            </a:r>
            <a:r>
              <a:rPr sz="2800" spc="-5" dirty="0">
                <a:latin typeface="宋体"/>
                <a:cs typeface="宋体"/>
              </a:rPr>
              <a:t>用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元组本质是无序的，因此该命令不是标准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 dirty="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latin typeface="Tahoma"/>
                <a:cs typeface="Tahoma"/>
              </a:rPr>
              <a:t>SQL</a:t>
            </a:r>
            <a:r>
              <a:rPr sz="2800" dirty="0">
                <a:latin typeface="宋体"/>
                <a:cs typeface="宋体"/>
              </a:rPr>
              <a:t>命令</a:t>
            </a:r>
            <a:r>
              <a:rPr sz="2800" spc="2790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基本格式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155065" marR="76327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15" dirty="0">
                <a:latin typeface="Tahoma"/>
                <a:cs typeface="Tahoma"/>
              </a:rPr>
              <a:t>[TOP </a:t>
            </a:r>
            <a:r>
              <a:rPr sz="2400" dirty="0">
                <a:latin typeface="Tahoma"/>
                <a:cs typeface="Tahoma"/>
              </a:rPr>
              <a:t>n] </a:t>
            </a:r>
            <a:r>
              <a:rPr sz="2400" spc="-5" dirty="0">
                <a:latin typeface="Tahoma"/>
                <a:cs typeface="Tahoma"/>
              </a:rPr>
              <a:t>[PERCENT] [WITH TIES]  FROM</a:t>
            </a:r>
            <a:r>
              <a:rPr sz="2400" spc="-5" dirty="0">
                <a:latin typeface="宋体"/>
                <a:cs typeface="宋体"/>
              </a:rPr>
              <a:t>…</a:t>
            </a:r>
            <a:endParaRPr sz="2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9564" y="829944"/>
            <a:ext cx="594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</a:t>
            </a:r>
            <a:r>
              <a:rPr spc="-70" dirty="0"/>
              <a:t> </a:t>
            </a:r>
            <a:r>
              <a:rPr spc="-5" dirty="0"/>
              <a:t>SERVER</a:t>
            </a:r>
            <a:r>
              <a:rPr dirty="0">
                <a:latin typeface="宋体"/>
                <a:cs typeface="宋体"/>
              </a:rPr>
              <a:t>的补充命</a:t>
            </a:r>
            <a:r>
              <a:rPr spc="5" dirty="0">
                <a:latin typeface="宋体"/>
                <a:cs typeface="宋体"/>
              </a:rPr>
              <a:t>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6688"/>
            <a:ext cx="7056120" cy="370014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46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TOP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</a:t>
            </a:r>
            <a:endParaRPr sz="3200">
              <a:latin typeface="Tahoma"/>
              <a:cs typeface="Tahoma"/>
            </a:endParaRPr>
          </a:p>
          <a:p>
            <a:pPr marL="1021715" marR="412750" indent="-95250">
              <a:lnSpc>
                <a:spcPts val="3160"/>
              </a:lnSpc>
              <a:spcBef>
                <a:spcPts val="140"/>
              </a:spcBef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25" dirty="0">
                <a:latin typeface="Tahoma"/>
                <a:cs typeface="Tahoma"/>
              </a:rPr>
              <a:t>TOP </a:t>
            </a:r>
            <a:r>
              <a:rPr sz="2400" dirty="0">
                <a:latin typeface="Tahoma"/>
                <a:cs typeface="Tahoma"/>
              </a:rPr>
              <a:t>5 </a:t>
            </a:r>
            <a:r>
              <a:rPr sz="2400" spc="-5" dirty="0">
                <a:latin typeface="Tahoma"/>
                <a:cs typeface="Tahoma"/>
              </a:rPr>
              <a:t>orderid, productid, quantity  FROM [order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details]</a:t>
            </a:r>
            <a:endParaRPr sz="2400">
              <a:latin typeface="Tahoma"/>
              <a:cs typeface="Tahoma"/>
            </a:endParaRPr>
          </a:p>
          <a:p>
            <a:pPr marL="1021715">
              <a:lnSpc>
                <a:spcPct val="100000"/>
              </a:lnSpc>
              <a:spcBef>
                <a:spcPts val="140"/>
              </a:spcBef>
            </a:pPr>
            <a:r>
              <a:rPr sz="2400" spc="-5" dirty="0">
                <a:latin typeface="Tahoma"/>
                <a:cs typeface="Tahoma"/>
              </a:rPr>
              <a:t>ORDER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quantity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DESC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ahoma"/>
              <a:cs typeface="Tahoma"/>
            </a:endParaRPr>
          </a:p>
          <a:p>
            <a:pPr marL="1155065" marR="5080" indent="-228600">
              <a:lnSpc>
                <a:spcPts val="2590"/>
              </a:lnSpc>
            </a:pPr>
            <a:r>
              <a:rPr sz="2400" spc="-5" dirty="0">
                <a:latin typeface="Tahoma"/>
                <a:cs typeface="Tahoma"/>
              </a:rPr>
              <a:t>SELECT </a:t>
            </a:r>
            <a:r>
              <a:rPr sz="2400" spc="-25" dirty="0">
                <a:latin typeface="Tahoma"/>
                <a:cs typeface="Tahoma"/>
              </a:rPr>
              <a:t>TOP </a:t>
            </a:r>
            <a:r>
              <a:rPr sz="2400" dirty="0">
                <a:latin typeface="Tahoma"/>
                <a:cs typeface="Tahoma"/>
              </a:rPr>
              <a:t>5 </a:t>
            </a:r>
            <a:r>
              <a:rPr sz="2400" spc="-5" dirty="0">
                <a:latin typeface="Tahoma"/>
                <a:cs typeface="Tahoma"/>
              </a:rPr>
              <a:t>WITH TIES orderid, productid,  quantity</a:t>
            </a:r>
            <a:endParaRPr sz="2400">
              <a:latin typeface="Tahoma"/>
              <a:cs typeface="Tahoma"/>
            </a:endParaRPr>
          </a:p>
          <a:p>
            <a:pPr marL="1021715" marR="2590165">
              <a:lnSpc>
                <a:spcPts val="316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FROM [order details]  ORDER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-5" dirty="0">
                <a:latin typeface="Tahoma"/>
                <a:cs typeface="Tahoma"/>
              </a:rPr>
              <a:t>quantity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DESC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11311" y="5972555"/>
            <a:ext cx="896111" cy="867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6290054"/>
            <a:ext cx="11817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" dirty="0">
                <a:latin typeface="Times New Roman"/>
                <a:cs typeface="Times New Roman"/>
              </a:rPr>
              <a:t>2020</a:t>
            </a:r>
            <a:r>
              <a:rPr sz="1400" dirty="0">
                <a:latin typeface="宋体"/>
                <a:cs typeface="宋体"/>
              </a:rPr>
              <a:t>年</a:t>
            </a:r>
            <a:r>
              <a:rPr sz="1400" spc="-5" dirty="0">
                <a:latin typeface="Times New Roman"/>
                <a:cs typeface="Times New Roman"/>
              </a:rPr>
              <a:t>9</a:t>
            </a:r>
            <a:r>
              <a:rPr sz="1400" dirty="0">
                <a:latin typeface="宋体"/>
                <a:cs typeface="宋体"/>
              </a:rPr>
              <a:t>月</a:t>
            </a:r>
            <a:r>
              <a:rPr sz="1400" spc="-5" dirty="0">
                <a:latin typeface="Times New Roman"/>
                <a:cs typeface="Times New Roman"/>
              </a:rPr>
              <a:t>23</a:t>
            </a:r>
            <a:r>
              <a:rPr sz="1400" spc="5" dirty="0">
                <a:latin typeface="宋体"/>
                <a:cs typeface="宋体"/>
              </a:rPr>
              <a:t>日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762000"/>
            <a:ext cx="40595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Join</a:t>
            </a:r>
            <a:r>
              <a:rPr spc="-75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7134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3812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</a:t>
            </a:r>
            <a:r>
              <a:rPr sz="3200" spc="-10" dirty="0">
                <a:latin typeface="Tahoma"/>
                <a:cs typeface="Tahoma"/>
              </a:rPr>
              <a:t>provides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5" dirty="0">
                <a:latin typeface="Tahoma"/>
                <a:cs typeface="Tahoma"/>
              </a:rPr>
              <a:t>versions of (bag)  joins.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These expressions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stand-alone  queries or used in place of relations in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6985" y="829944"/>
            <a:ext cx="6590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Products </a:t>
            </a:r>
            <a:r>
              <a:rPr spc="-5" dirty="0"/>
              <a:t>and </a:t>
            </a:r>
            <a:r>
              <a:rPr spc="-15" dirty="0"/>
              <a:t>Natural</a:t>
            </a:r>
            <a:r>
              <a:rPr spc="-20" dirty="0"/>
              <a:t> </a:t>
            </a:r>
            <a:r>
              <a:rPr spc="-5" dirty="0"/>
              <a:t>Joins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29637"/>
            <a:ext cx="7608570" cy="407034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76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Natural</a:t>
            </a:r>
            <a:r>
              <a:rPr sz="2800" spc="-5" dirty="0">
                <a:latin typeface="Tahoma"/>
                <a:cs typeface="Tahoma"/>
              </a:rPr>
              <a:t> join: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Tahoma"/>
                <a:cs typeface="Tahoma"/>
              </a:rPr>
              <a:t>R </a:t>
            </a:r>
            <a:r>
              <a:rPr sz="2800" spc="-30" dirty="0">
                <a:latin typeface="Tahoma"/>
                <a:cs typeface="Tahoma"/>
              </a:rPr>
              <a:t>NATURAL </a:t>
            </a:r>
            <a:r>
              <a:rPr sz="2800" spc="-5" dirty="0">
                <a:latin typeface="Tahoma"/>
                <a:cs typeface="Tahoma"/>
              </a:rPr>
              <a:t>JOIN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S;</a:t>
            </a:r>
            <a:endParaRPr sz="2800" dirty="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Product: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Tahoma"/>
                <a:cs typeface="Tahoma"/>
              </a:rPr>
              <a:t>R </a:t>
            </a:r>
            <a:r>
              <a:rPr sz="2800" spc="-10" dirty="0">
                <a:latin typeface="Tahoma"/>
                <a:cs typeface="Tahoma"/>
              </a:rPr>
              <a:t>CROSS </a:t>
            </a:r>
            <a:r>
              <a:rPr sz="2800" spc="-5" dirty="0">
                <a:latin typeface="Tahoma"/>
                <a:cs typeface="Tahoma"/>
              </a:rPr>
              <a:t>JOIN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S;</a:t>
            </a:r>
            <a:r>
              <a:rPr lang="zh-CN" altLang="en-US" sz="2800" dirty="0">
                <a:latin typeface="Tahoma"/>
                <a:cs typeface="Tahoma"/>
              </a:rPr>
              <a:t>笛卡尔积</a:t>
            </a:r>
            <a:endParaRPr lang="en-US" altLang="zh-CN"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</a:t>
            </a:r>
            <a:endParaRPr sz="28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Likes NATURAL JOIN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Sells;</a:t>
            </a:r>
            <a:endParaRPr sz="28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93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Relations </a:t>
            </a:r>
            <a:r>
              <a:rPr sz="2800" spc="-5" dirty="0">
                <a:latin typeface="Tahoma"/>
                <a:cs typeface="Tahoma"/>
              </a:rPr>
              <a:t>can be parenthesized subqueries, as  </a:t>
            </a:r>
            <a:r>
              <a:rPr sz="2800" dirty="0">
                <a:latin typeface="Tahoma"/>
                <a:cs typeface="Tahoma"/>
              </a:rPr>
              <a:t>well.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7870" y="525144"/>
            <a:ext cx="2588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Theta</a:t>
            </a:r>
            <a:r>
              <a:rPr spc="-65" dirty="0"/>
              <a:t> </a:t>
            </a:r>
            <a:r>
              <a:rPr spc="-5" dirty="0"/>
              <a:t>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1756"/>
            <a:ext cx="7933690" cy="446814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 JOIN S ON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&lt;condition&gt;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using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addr)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Drinkers JOIN Frequents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ON</a:t>
            </a:r>
          </a:p>
          <a:p>
            <a:pPr marR="584200" algn="ctr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name </a:t>
            </a:r>
            <a:r>
              <a:rPr sz="3200" dirty="0">
                <a:highlight>
                  <a:srgbClr val="FFFF00"/>
                </a:highlight>
                <a:latin typeface="Courier New"/>
                <a:cs typeface="Courier New"/>
              </a:rPr>
              <a:t>=</a:t>
            </a:r>
            <a:r>
              <a:rPr sz="3200" spc="-20" dirty="0"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Courier New"/>
                <a:cs typeface="Courier New"/>
              </a:rPr>
              <a:t>drinker;</a:t>
            </a:r>
            <a:endParaRPr sz="3200" dirty="0">
              <a:highlight>
                <a:srgbClr val="FFFF00"/>
              </a:highlight>
              <a:latin typeface="Courier New"/>
              <a:cs typeface="Courier New"/>
            </a:endParaRPr>
          </a:p>
          <a:p>
            <a:pPr marL="355600" marR="466090">
              <a:lnSpc>
                <a:spcPct val="95600"/>
              </a:lnSpc>
              <a:spcBef>
                <a:spcPts val="1085"/>
              </a:spcBef>
            </a:pPr>
            <a:r>
              <a:rPr sz="3200" spc="-10" dirty="0">
                <a:latin typeface="Tahoma"/>
                <a:cs typeface="Tahoma"/>
              </a:rPr>
              <a:t>gives </a:t>
            </a:r>
            <a:r>
              <a:rPr sz="3200" dirty="0">
                <a:latin typeface="Tahoma"/>
                <a:cs typeface="Tahoma"/>
              </a:rPr>
              <a:t>us all </a:t>
            </a:r>
            <a:r>
              <a:rPr sz="3200" spc="-685" dirty="0">
                <a:latin typeface="Tahoma"/>
                <a:cs typeface="Tahoma"/>
              </a:rPr>
              <a:t>(</a:t>
            </a:r>
            <a:r>
              <a:rPr sz="3350" i="1" spc="-685" dirty="0">
                <a:latin typeface="Tahoma"/>
                <a:cs typeface="Tahoma"/>
              </a:rPr>
              <a:t>d,a,d,b</a:t>
            </a:r>
            <a:r>
              <a:rPr sz="3200" spc="-685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quadruples such  that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350" i="1" spc="-85" dirty="0">
                <a:latin typeface="Tahoma"/>
                <a:cs typeface="Tahoma"/>
              </a:rPr>
              <a:t>d </a:t>
            </a:r>
            <a:r>
              <a:rPr sz="3200" spc="-10" dirty="0">
                <a:latin typeface="Tahoma"/>
                <a:cs typeface="Tahoma"/>
              </a:rPr>
              <a:t>lives </a:t>
            </a:r>
            <a:r>
              <a:rPr sz="3200" spc="-5" dirty="0">
                <a:latin typeface="Tahoma"/>
                <a:cs typeface="Tahoma"/>
              </a:rPr>
              <a:t>at address </a:t>
            </a:r>
            <a:r>
              <a:rPr sz="3350" i="1" spc="-8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and  </a:t>
            </a:r>
            <a:r>
              <a:rPr sz="3200" spc="-10" dirty="0">
                <a:latin typeface="Tahoma"/>
                <a:cs typeface="Tahoma"/>
              </a:rPr>
              <a:t>frequents </a:t>
            </a:r>
            <a:r>
              <a:rPr sz="3200" spc="-5" dirty="0">
                <a:latin typeface="Tahoma"/>
                <a:cs typeface="Tahoma"/>
              </a:rPr>
              <a:t>bar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b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432" y="99060"/>
            <a:ext cx="4582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  <a:r>
              <a:rPr spc="-55" dirty="0"/>
              <a:t> </a:t>
            </a:r>
            <a:r>
              <a:rPr spc="-5" dirty="0"/>
              <a:t>Database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935736"/>
            <a:ext cx="6815328" cy="5844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1827" y="803674"/>
            <a:ext cx="58858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4800" baseline="-3472" dirty="0">
                <a:latin typeface="宋体"/>
                <a:cs typeface="宋体"/>
              </a:rPr>
              <a:t>连</a:t>
            </a:r>
            <a:r>
              <a:rPr sz="4800" spc="-3547" baseline="-3472" dirty="0">
                <a:latin typeface="宋体"/>
                <a:cs typeface="宋体"/>
              </a:rPr>
              <a:t>接</a:t>
            </a:r>
            <a:r>
              <a:rPr sz="1700" spc="-240" dirty="0">
                <a:latin typeface="Lucida Sans Typewriter"/>
                <a:cs typeface="Lucida Sans Typewriter"/>
              </a:rPr>
              <a:t>SEL</a:t>
            </a:r>
            <a:r>
              <a:rPr sz="4800" spc="-3734" baseline="-3472" dirty="0">
                <a:latin typeface="宋体"/>
                <a:cs typeface="宋体"/>
              </a:rPr>
              <a:t>查</a:t>
            </a:r>
            <a:r>
              <a:rPr sz="1700" spc="-200" dirty="0">
                <a:latin typeface="Lucida Sans Typewriter"/>
                <a:cs typeface="Lucida Sans Typewriter"/>
              </a:rPr>
              <a:t>ECT</a:t>
            </a:r>
            <a:r>
              <a:rPr sz="4800" spc="-2385" baseline="-3472" dirty="0">
                <a:latin typeface="宋体"/>
                <a:cs typeface="宋体"/>
              </a:rPr>
              <a:t>询</a:t>
            </a:r>
            <a:r>
              <a:rPr sz="1700" spc="-5" dirty="0">
                <a:latin typeface="Lucida Sans Typewriter"/>
                <a:cs typeface="Lucida Sans Typewriter"/>
              </a:rPr>
              <a:t>buyer_name,</a:t>
            </a:r>
            <a:r>
              <a:rPr sz="170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sales.buyer_id,</a:t>
            </a:r>
            <a:r>
              <a:rPr sz="170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qty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64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Inner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 dirty="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41148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3600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36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4730" y="2196465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2568" y="2514968"/>
            <a:ext cx="1105852" cy="4903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4638" y="2629738"/>
            <a:ext cx="904963" cy="240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94816" y="2514968"/>
            <a:ext cx="1013675" cy="4903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87996" y="262973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92288" y="2514968"/>
            <a:ext cx="714514" cy="4903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9437" y="2632913"/>
            <a:ext cx="357250" cy="236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22568" y="2889084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22568" y="31883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22568" y="34876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22568" y="3786975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94816" y="2889084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4816" y="31883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94816" y="34876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4816" y="3786975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92288" y="2889084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92288" y="31883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92288" y="34876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92288" y="3786975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2568" y="4086275"/>
            <a:ext cx="1088466" cy="4295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59130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94816" y="4086275"/>
            <a:ext cx="1013675" cy="4295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93559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92288" y="4086275"/>
            <a:ext cx="714514" cy="42952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91030" y="4118978"/>
            <a:ext cx="47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3395">
              <a:lnSpc>
                <a:spcPts val="1390"/>
              </a:lnSpc>
              <a:spcBef>
                <a:spcPts val="105"/>
              </a:spcBef>
              <a:tabLst>
                <a:tab pos="2185670" algn="l"/>
              </a:tabLst>
            </a:pPr>
            <a:r>
              <a:rPr spc="-5" dirty="0"/>
              <a:t>FROM</a:t>
            </a:r>
            <a:r>
              <a:rPr spc="15" dirty="0"/>
              <a:t> </a:t>
            </a:r>
            <a:r>
              <a:rPr spc="-5" dirty="0"/>
              <a:t>buyers	INNER JOIN</a:t>
            </a:r>
            <a:r>
              <a:rPr spc="-15" dirty="0"/>
              <a:t> </a:t>
            </a:r>
            <a:r>
              <a:rPr spc="-5" dirty="0"/>
              <a:t>sales</a:t>
            </a:r>
          </a:p>
          <a:p>
            <a:pPr marL="323850" indent="-285750">
              <a:lnSpc>
                <a:spcPts val="2710"/>
              </a:lnSpc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4200" spc="-2190" baseline="-13888" dirty="0">
                <a:latin typeface="宋体"/>
                <a:cs typeface="宋体"/>
              </a:rPr>
              <a:t>自</a:t>
            </a:r>
            <a:r>
              <a:rPr sz="1700" spc="-300" dirty="0"/>
              <a:t>ON</a:t>
            </a:r>
            <a:r>
              <a:rPr sz="4200" spc="-1777" baseline="-13888" dirty="0">
                <a:latin typeface="宋体"/>
                <a:cs typeface="宋体"/>
              </a:rPr>
              <a:t>然</a:t>
            </a:r>
            <a:r>
              <a:rPr sz="1700" spc="-434" dirty="0"/>
              <a:t>bu</a:t>
            </a:r>
            <a:r>
              <a:rPr sz="4200" spc="-2902" baseline="-13888" dirty="0">
                <a:latin typeface="宋体"/>
                <a:cs typeface="宋体"/>
              </a:rPr>
              <a:t>连</a:t>
            </a:r>
            <a:r>
              <a:rPr sz="1700" spc="-60" dirty="0"/>
              <a:t>ye</a:t>
            </a:r>
            <a:r>
              <a:rPr sz="4200" spc="-4027" baseline="-13888" dirty="0">
                <a:latin typeface="宋体"/>
                <a:cs typeface="宋体"/>
              </a:rPr>
              <a:t>接</a:t>
            </a:r>
            <a:r>
              <a:rPr sz="1700" spc="-5" dirty="0"/>
              <a:t>rs.buyer_id</a:t>
            </a:r>
            <a:r>
              <a:rPr sz="1700" spc="-10" dirty="0"/>
              <a:t> </a:t>
            </a:r>
            <a:r>
              <a:rPr sz="1700" dirty="0"/>
              <a:t>=</a:t>
            </a:r>
            <a:r>
              <a:rPr sz="1700" spc="-5" dirty="0"/>
              <a:t> sales.buyer_id</a:t>
            </a:r>
            <a:endParaRPr sz="1700" dirty="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12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目标列中的属性可能需要加表前缀</a:t>
            </a:r>
            <a:r>
              <a:rPr sz="2400" spc="254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233679">
              <a:lnSpc>
                <a:spcPct val="100000"/>
              </a:lnSpc>
              <a:spcBef>
                <a:spcPts val="220"/>
              </a:spcBef>
            </a:pPr>
            <a:r>
              <a:rPr sz="1800" b="1" spc="-5" dirty="0">
                <a:latin typeface="Arial"/>
                <a:cs typeface="Arial"/>
              </a:rPr>
              <a:t>buyers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3397" y="2514968"/>
            <a:ext cx="1537195" cy="4903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467" y="2629738"/>
            <a:ext cx="1240929" cy="2401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3397" y="2889084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3397" y="31883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34876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3397" y="3786975"/>
            <a:ext cx="1537195" cy="42952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34387" y="2514968"/>
            <a:ext cx="1105852" cy="49032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36457" y="2629738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34387" y="2889084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4387" y="31883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34387" y="34876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4387" y="3786975"/>
            <a:ext cx="1088466" cy="4295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93090" y="2946690"/>
          <a:ext cx="7769859" cy="1131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01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Adam Barr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Sean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Chai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Eva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Corets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86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Erin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O’Melia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1934210" y="4097972"/>
            <a:ext cx="5277167" cy="243554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33850" y="4198302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51797" y="4537709"/>
            <a:ext cx="1487805" cy="4972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53867" y="4656289"/>
            <a:ext cx="1240929" cy="24016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51797" y="4918709"/>
            <a:ext cx="1487805" cy="4210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5223509"/>
            <a:ext cx="1487805" cy="421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5528309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833109"/>
            <a:ext cx="1487805" cy="43529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23397" y="4537709"/>
            <a:ext cx="1106805" cy="4972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25467" y="465628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13997" y="4537709"/>
            <a:ext cx="802004" cy="4972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1147" y="4659464"/>
            <a:ext cx="357250" cy="23699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23397" y="4918709"/>
            <a:ext cx="1106805" cy="4210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5223509"/>
            <a:ext cx="1106805" cy="4210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5528309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833109"/>
            <a:ext cx="1106805" cy="43529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13997" y="4918709"/>
            <a:ext cx="802004" cy="4210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5223509"/>
            <a:ext cx="802004" cy="4210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5528309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833109"/>
            <a:ext cx="802004" cy="4352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51797" y="6152197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323397" y="6152197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13997" y="6152197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50539" y="4966155"/>
            <a:ext cx="120015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7699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69484" y="4966155"/>
            <a:ext cx="13843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12740" y="4966155"/>
            <a:ext cx="47752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7670" y="887094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 buyers </a:t>
            </a:r>
            <a:r>
              <a:rPr sz="1700" dirty="0">
                <a:latin typeface="Lucida Sans Typewriter"/>
                <a:cs typeface="Lucida Sans Typewriter"/>
              </a:rPr>
              <a:t>,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8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WHERE 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64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Inner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41148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3600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3600"/>
            <a:ext cx="2438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4730" y="2196465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2568" y="2514968"/>
            <a:ext cx="1105852" cy="4903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4638" y="2629738"/>
            <a:ext cx="904963" cy="240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94816" y="2514968"/>
            <a:ext cx="1013675" cy="4903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87996" y="262973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92288" y="2514968"/>
            <a:ext cx="714514" cy="4903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9437" y="2632913"/>
            <a:ext cx="357250" cy="236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22568" y="2889084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22568" y="31883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22568" y="3487673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22568" y="3786975"/>
            <a:ext cx="1088466" cy="4155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94816" y="2889084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4816" y="31883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94816" y="3487673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4816" y="3786975"/>
            <a:ext cx="1013675" cy="4155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92288" y="2889084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92288" y="31883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92288" y="3487673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92288" y="3786975"/>
            <a:ext cx="714514" cy="4155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2568" y="4086275"/>
            <a:ext cx="1088466" cy="4295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59130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94816" y="4086275"/>
            <a:ext cx="1013675" cy="42952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93559" y="4118978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92288" y="4086275"/>
            <a:ext cx="714514" cy="42952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091030" y="4118978"/>
            <a:ext cx="47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17675" y="2196465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3397" y="2514968"/>
            <a:ext cx="1537195" cy="49032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467" y="2629738"/>
            <a:ext cx="1240929" cy="24016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3397" y="2889084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3397" y="31883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3397" y="3487673"/>
            <a:ext cx="1537195" cy="415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3397" y="3786975"/>
            <a:ext cx="1537195" cy="42952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34387" y="2514968"/>
            <a:ext cx="1105852" cy="49032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36457" y="2629738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34387" y="2889084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4387" y="31883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34387" y="3487673"/>
            <a:ext cx="1088466" cy="4155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4387" y="3786975"/>
            <a:ext cx="1088466" cy="4295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593090" y="2946690"/>
          <a:ext cx="7769859" cy="1131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01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Adam Barr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764"/>
                        </a:lnSpc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Sean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Chai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Eva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Corets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86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Erin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O’Melia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1839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252729" algn="r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895"/>
                        </a:lnSpc>
                        <a:spcBef>
                          <a:spcPts val="130"/>
                        </a:spcBef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1934210" y="4097972"/>
            <a:ext cx="5277167" cy="243554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33850" y="4198302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951797" y="4537709"/>
            <a:ext cx="1487805" cy="4972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53867" y="4656289"/>
            <a:ext cx="1240929" cy="24016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51797" y="4918709"/>
            <a:ext cx="1487805" cy="4210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5223509"/>
            <a:ext cx="1487805" cy="421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5528309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833109"/>
            <a:ext cx="1487805" cy="43529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23397" y="4537709"/>
            <a:ext cx="1106805" cy="4972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25467" y="465628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13997" y="4537709"/>
            <a:ext cx="802004" cy="4972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21147" y="4659464"/>
            <a:ext cx="357250" cy="23699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23397" y="4918709"/>
            <a:ext cx="1106805" cy="4210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5223509"/>
            <a:ext cx="1106805" cy="4210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5528309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833109"/>
            <a:ext cx="1106805" cy="43529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13997" y="4918709"/>
            <a:ext cx="802004" cy="4210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5223509"/>
            <a:ext cx="802004" cy="4210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5528309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833109"/>
            <a:ext cx="802004" cy="4352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51797" y="6152197"/>
            <a:ext cx="1487805" cy="4210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323397" y="6152197"/>
            <a:ext cx="1106805" cy="4210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13997" y="6152197"/>
            <a:ext cx="802004" cy="4210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50539" y="4966155"/>
            <a:ext cx="120015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7699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69484" y="4966155"/>
            <a:ext cx="13843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12740" y="4966155"/>
            <a:ext cx="477520" cy="148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53259" y="978218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  <a:tabLst>
                <a:tab pos="1834514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</a:t>
            </a:r>
            <a:r>
              <a:rPr sz="1700" spc="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	LEFT OUTER JOIN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 dirty="0">
              <a:latin typeface="Lucida Sans Typewriter"/>
              <a:cs typeface="Lucida Sans Typewriter"/>
            </a:endParaRPr>
          </a:p>
          <a:p>
            <a:pPr marL="273050">
              <a:lnSpc>
                <a:spcPts val="1800"/>
              </a:lnSpc>
            </a:pPr>
            <a:r>
              <a:rPr sz="1700" dirty="0">
                <a:latin typeface="Lucida Sans Typewriter"/>
                <a:cs typeface="Lucida Sans Typewriter"/>
              </a:rPr>
              <a:t>ON </a:t>
            </a:r>
            <a:r>
              <a:rPr sz="1700" spc="-5" dirty="0">
                <a:latin typeface="Lucida Sans Typewriter"/>
                <a:cs typeface="Lucida Sans Typewriter"/>
              </a:rPr>
              <a:t>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 dirty="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19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Outer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3884676"/>
            <a:ext cx="2438400" cy="1754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2076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2076"/>
            <a:ext cx="2438400" cy="175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69150" y="2077402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2197" y="2402649"/>
            <a:ext cx="1106805" cy="4973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4267" y="252122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2797" y="2402649"/>
            <a:ext cx="1030604" cy="49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5977" y="252122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7197" y="2402649"/>
            <a:ext cx="725804" cy="4973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25307" y="252440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2197" y="2783789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52197" y="3088690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2197" y="3393605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2197" y="3698506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42797" y="2783789"/>
            <a:ext cx="1030604" cy="4211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42797" y="3088690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3393605"/>
            <a:ext cx="1030604" cy="4211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797" y="3698506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57197" y="2783789"/>
            <a:ext cx="725804" cy="4211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57197" y="3088690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57197" y="3393605"/>
            <a:ext cx="725804" cy="4211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57197" y="3698506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52197" y="4003421"/>
            <a:ext cx="1106805" cy="4354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982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42797" y="4003421"/>
            <a:ext cx="1030604" cy="43540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507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57197" y="4003421"/>
            <a:ext cx="725804" cy="4354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43240" y="2750845"/>
            <a:ext cx="47752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65250" y="2077402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7197" y="2402649"/>
            <a:ext cx="1564005" cy="4973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9267" y="2521229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7197" y="2783789"/>
            <a:ext cx="1564005" cy="42111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7197" y="3088690"/>
            <a:ext cx="1564005" cy="4211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7197" y="3393605"/>
            <a:ext cx="1564005" cy="42111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7197" y="3698519"/>
            <a:ext cx="1564005" cy="4354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5940" y="2750845"/>
            <a:ext cx="1200150" cy="1252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26000"/>
              </a:lnSpc>
              <a:spcBef>
                <a:spcPts val="80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84997" y="2402649"/>
            <a:ext cx="1106805" cy="4973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7067" y="2521229"/>
            <a:ext cx="904963" cy="24016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84997" y="2783789"/>
            <a:ext cx="1106805" cy="4211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84997" y="3088690"/>
            <a:ext cx="1106805" cy="42111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84997" y="3393605"/>
            <a:ext cx="1106805" cy="4211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84997" y="3698519"/>
            <a:ext cx="1106805" cy="4354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31085" y="2750845"/>
            <a:ext cx="138430" cy="12522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884997" y="4017721"/>
            <a:ext cx="5374005" cy="25554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133850" y="3906863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51797" y="4246397"/>
            <a:ext cx="1487805" cy="49734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3867" y="4364977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462753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4932438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237353"/>
            <a:ext cx="1487805" cy="42111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51797" y="5542267"/>
            <a:ext cx="1487805" cy="43540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323397" y="4246397"/>
            <a:ext cx="1106805" cy="49734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25467" y="4364977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13997" y="4246397"/>
            <a:ext cx="802004" cy="49734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20207" y="4368152"/>
            <a:ext cx="357250" cy="23699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462753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4932438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237353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23397" y="5542267"/>
            <a:ext cx="1106805" cy="435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462753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4932438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237353"/>
            <a:ext cx="802004" cy="42111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13997" y="5542267"/>
            <a:ext cx="802004" cy="43540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951797" y="586145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323397" y="586145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13997" y="586145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951797" y="6166370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23397" y="6166370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3997" y="6166370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50539" y="4675617"/>
            <a:ext cx="120015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Sean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554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3936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77670" y="887094"/>
            <a:ext cx="49726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  <a:tabLst>
                <a:tab pos="1704339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SELECT buyer_name, sales.buyer_id, qty  FROM</a:t>
            </a:r>
            <a:r>
              <a:rPr sz="1700" spc="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	RIGHT OUTER JOIN</a:t>
            </a:r>
            <a:r>
              <a:rPr sz="1700" spc="-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</a:t>
            </a:r>
            <a:endParaRPr sz="1700">
              <a:latin typeface="Lucida Sans Typewriter"/>
              <a:cs typeface="Lucida Sans Typewriter"/>
            </a:endParaRPr>
          </a:p>
          <a:p>
            <a:pPr marL="273050">
              <a:lnSpc>
                <a:spcPts val="1800"/>
              </a:lnSpc>
            </a:pPr>
            <a:r>
              <a:rPr sz="1700" dirty="0">
                <a:latin typeface="Lucida Sans Typewriter"/>
                <a:cs typeface="Lucida Sans Typewriter"/>
              </a:rPr>
              <a:t>ON </a:t>
            </a:r>
            <a:r>
              <a:rPr sz="1700" spc="-5" dirty="0">
                <a:latin typeface="Lucida Sans Typewriter"/>
                <a:cs typeface="Lucida Sans Typewriter"/>
              </a:rPr>
              <a:t>buyers.buyer_id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sales.buyer_id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19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</a:t>
            </a:r>
            <a:r>
              <a:rPr sz="3000" b="1" dirty="0">
                <a:latin typeface="Arial Narrow"/>
                <a:cs typeface="Arial Narrow"/>
              </a:rPr>
              <a:t>Outer</a:t>
            </a:r>
            <a:r>
              <a:rPr sz="3000" b="1" spc="-7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3884676"/>
            <a:ext cx="2438400" cy="1754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800" y="2132076"/>
            <a:ext cx="182880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000" y="2132076"/>
            <a:ext cx="2438400" cy="1752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69150" y="2077402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52197" y="2402649"/>
            <a:ext cx="1106805" cy="4973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54267" y="252122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2797" y="2402649"/>
            <a:ext cx="1030604" cy="49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5977" y="252122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7197" y="2402649"/>
            <a:ext cx="725804" cy="4973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25307" y="252440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52197" y="2783789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52197" y="3088690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2197" y="3393605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2197" y="3698506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42797" y="2783789"/>
            <a:ext cx="1030604" cy="4211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42797" y="3088690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2797" y="3393605"/>
            <a:ext cx="1030604" cy="4211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797" y="3698506"/>
            <a:ext cx="1030604" cy="4211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57197" y="2783789"/>
            <a:ext cx="725804" cy="4211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57197" y="3088690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57197" y="3393605"/>
            <a:ext cx="725804" cy="4211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57197" y="3698506"/>
            <a:ext cx="725804" cy="4211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52197" y="4003421"/>
            <a:ext cx="1106805" cy="4354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982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42797" y="4003421"/>
            <a:ext cx="1030604" cy="43540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550784" y="2750845"/>
            <a:ext cx="13843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57197" y="4003421"/>
            <a:ext cx="725804" cy="4354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43240" y="2750845"/>
            <a:ext cx="477520" cy="15570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65250" y="2077402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7197" y="2402649"/>
            <a:ext cx="1564005" cy="4973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9267" y="2521229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7197" y="2783789"/>
            <a:ext cx="1564005" cy="42111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7197" y="3088690"/>
            <a:ext cx="1564005" cy="4211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7197" y="3393605"/>
            <a:ext cx="1564005" cy="42111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7197" y="3698519"/>
            <a:ext cx="1564005" cy="4354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5940" y="2750845"/>
            <a:ext cx="1200150" cy="12522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26000"/>
              </a:lnSpc>
              <a:spcBef>
                <a:spcPts val="80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84997" y="2402649"/>
            <a:ext cx="1106805" cy="4973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7067" y="2521229"/>
            <a:ext cx="904963" cy="24016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84997" y="2783789"/>
            <a:ext cx="1106805" cy="4211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84997" y="3088690"/>
            <a:ext cx="1106805" cy="42111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84997" y="3393605"/>
            <a:ext cx="1106805" cy="4211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84997" y="3698519"/>
            <a:ext cx="1106805" cy="4354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31085" y="2750845"/>
            <a:ext cx="138430" cy="12522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884997" y="4017721"/>
            <a:ext cx="5374005" cy="25554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133850" y="3906863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51797" y="4246397"/>
            <a:ext cx="1487805" cy="49734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3867" y="4364977"/>
            <a:ext cx="1240929" cy="2401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51797" y="462753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1797" y="4932438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1797" y="5237353"/>
            <a:ext cx="1487805" cy="42111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51797" y="5542267"/>
            <a:ext cx="1487805" cy="43540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323397" y="4246397"/>
            <a:ext cx="1106805" cy="49734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25467" y="4364977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13997" y="4246397"/>
            <a:ext cx="802004" cy="49734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20207" y="4368152"/>
            <a:ext cx="357250" cy="23699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23397" y="462753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323397" y="4932438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23397" y="5237353"/>
            <a:ext cx="1106805" cy="4211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23397" y="5542267"/>
            <a:ext cx="1106805" cy="435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13997" y="462753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13997" y="4932438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13997" y="5237353"/>
            <a:ext cx="802004" cy="42111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13997" y="5542267"/>
            <a:ext cx="802004" cy="43540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951797" y="5861456"/>
            <a:ext cx="1487805" cy="421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323397" y="5861456"/>
            <a:ext cx="1106805" cy="421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13997" y="5861456"/>
            <a:ext cx="802004" cy="42111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951797" y="6166370"/>
            <a:ext cx="1487805" cy="4211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323397" y="6166370"/>
            <a:ext cx="1106805" cy="4211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3997" y="6166370"/>
            <a:ext cx="802004" cy="42111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50539" y="4675617"/>
            <a:ext cx="120015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sz="1600" b="1" spc="-5" dirty="0">
                <a:latin typeface="Arial"/>
                <a:cs typeface="Arial"/>
              </a:rPr>
              <a:t>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1600" b="1" spc="-5" dirty="0">
                <a:latin typeface="Arial"/>
                <a:cs typeface="Arial"/>
              </a:rPr>
              <a:t>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Sean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Chai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554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393690" y="4675617"/>
            <a:ext cx="566420" cy="179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4"/>
              </a:lnSpc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NULL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440" y="266382"/>
            <a:ext cx="27711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Using Cross</a:t>
            </a:r>
            <a:r>
              <a:rPr sz="3000" b="1" spc="-55" dirty="0">
                <a:latin typeface="Arial Narrow"/>
                <a:cs typeface="Arial Narrow"/>
              </a:rPr>
              <a:t> </a:t>
            </a:r>
            <a:r>
              <a:rPr sz="3000" b="1" dirty="0">
                <a:latin typeface="Arial Narrow"/>
                <a:cs typeface="Arial Narrow"/>
              </a:rPr>
              <a:t>Joins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0010" y="816610"/>
            <a:ext cx="6482079" cy="12052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7670" y="887094"/>
            <a:ext cx="288988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2875" marR="5080" indent="-130175">
              <a:lnSpc>
                <a:spcPts val="1839"/>
              </a:lnSpc>
              <a:spcBef>
                <a:spcPts val="330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buyer_name, qty  FROM</a:t>
            </a:r>
            <a:r>
              <a:rPr sz="1700" spc="-15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buyers</a:t>
            </a:r>
            <a:endParaRPr sz="1700">
              <a:latin typeface="Lucida Sans Typewriter"/>
              <a:cs typeface="Lucida Sans Typewriter"/>
            </a:endParaRPr>
          </a:p>
          <a:p>
            <a:pPr marL="142875">
              <a:lnSpc>
                <a:spcPts val="18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CROSS JOIN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sales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29400" y="2272283"/>
            <a:ext cx="167640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19950" y="2231390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es</a:t>
            </a:r>
            <a:r>
              <a:rPr sz="1800" b="1" dirty="0">
                <a:latin typeface="Arial"/>
                <a:cs typeface="Arial"/>
              </a:rPr>
              <a:t>u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33197" y="2556510"/>
            <a:ext cx="1500504" cy="433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30822" y="2637624"/>
            <a:ext cx="1240929" cy="2401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33197" y="2861310"/>
            <a:ext cx="1500504" cy="43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33197" y="3166110"/>
            <a:ext cx="1500504" cy="4337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33197" y="3470909"/>
            <a:ext cx="1500504" cy="4337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3197" y="3775709"/>
            <a:ext cx="1500504" cy="4479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04797" y="2556510"/>
            <a:ext cx="814704" cy="433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11007" y="2640799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04797" y="2861310"/>
            <a:ext cx="814704" cy="4337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04797" y="3166110"/>
            <a:ext cx="814704" cy="433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04797" y="3470909"/>
            <a:ext cx="814704" cy="433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04797" y="3775709"/>
            <a:ext cx="814704" cy="4479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33197" y="4094797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04797" y="4094797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33197" y="4399597"/>
            <a:ext cx="14878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04797" y="4399597"/>
            <a:ext cx="802004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33197" y="4690109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04797" y="4690109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33197" y="4994909"/>
            <a:ext cx="1487804" cy="421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04797" y="4994909"/>
            <a:ext cx="802004" cy="4210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33197" y="5299709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04797" y="5299709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33197" y="5604509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904797" y="5604509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33197" y="5895022"/>
            <a:ext cx="1487804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04797" y="5895022"/>
            <a:ext cx="802004" cy="421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33197" y="6152197"/>
            <a:ext cx="1487804" cy="4210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04797" y="6152197"/>
            <a:ext cx="802004" cy="421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631940" y="2827845"/>
            <a:ext cx="1899920" cy="3622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580"/>
              </a:spcBef>
              <a:tabLst>
                <a:tab pos="156908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15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  <a:tabLst>
                <a:tab pos="1682114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5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  <a:tabLst>
                <a:tab pos="156908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37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535"/>
              </a:spcBef>
              <a:tabLst>
                <a:tab pos="158051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	</a:t>
            </a:r>
            <a:r>
              <a:rPr sz="1600" b="1" spc="-50" dirty="0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1434465" algn="l"/>
              </a:tabLst>
            </a:pPr>
            <a:r>
              <a:rPr sz="1600" b="1" spc="-5" dirty="0">
                <a:latin typeface="Arial"/>
                <a:cs typeface="Arial"/>
              </a:rPr>
              <a:t>Adam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Barr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Sean Chai	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1773555" algn="l"/>
              </a:tabLst>
            </a:pPr>
            <a:r>
              <a:rPr sz="1600" b="1" spc="-5" dirty="0">
                <a:latin typeface="Arial"/>
                <a:cs typeface="Arial"/>
              </a:rPr>
              <a:t>Sean Chai	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Sean Chai	37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671955" algn="l"/>
              </a:tabLst>
            </a:pPr>
            <a:r>
              <a:rPr sz="1600" b="1" spc="-5" dirty="0">
                <a:latin typeface="Arial"/>
                <a:cs typeface="Arial"/>
              </a:rPr>
              <a:t>Sean Chai	</a:t>
            </a: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434465" algn="l"/>
              </a:tabLst>
            </a:pPr>
            <a:r>
              <a:rPr sz="1600" b="1" spc="-5" dirty="0">
                <a:latin typeface="Arial"/>
                <a:cs typeface="Arial"/>
              </a:rPr>
              <a:t>Sean Chai	1003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660525" algn="l"/>
              </a:tabLst>
            </a:pPr>
            <a:r>
              <a:rPr sz="1600" b="1" spc="-5" dirty="0">
                <a:latin typeface="Arial"/>
                <a:cs typeface="Arial"/>
              </a:rPr>
              <a:t>Eva Corets	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17039" algn="l"/>
              </a:tabLst>
            </a:pPr>
            <a:r>
              <a:rPr sz="1600" b="1" spc="-5" dirty="0">
                <a:latin typeface="Arial"/>
                <a:cs typeface="Arial"/>
              </a:rPr>
              <a:t>...	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57600" y="2272283"/>
            <a:ext cx="2438400" cy="17526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502150" y="2231390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61397" y="2556510"/>
            <a:ext cx="1060767" cy="4337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05682" y="2637624"/>
            <a:ext cx="904963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75797" y="2556510"/>
            <a:ext cx="971867" cy="43370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24527" y="2637624"/>
            <a:ext cx="811618" cy="23762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13997" y="2556510"/>
            <a:ext cx="814705" cy="4337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20207" y="2640799"/>
            <a:ext cx="357250" cy="23699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61397" y="2861310"/>
            <a:ext cx="1043305" cy="4337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61397" y="3166110"/>
            <a:ext cx="1043305" cy="43370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61397" y="3470909"/>
            <a:ext cx="1043305" cy="4337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61397" y="3775709"/>
            <a:ext cx="1043305" cy="4337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75797" y="2861310"/>
            <a:ext cx="967105" cy="43370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75797" y="3166110"/>
            <a:ext cx="967105" cy="4337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75797" y="3470909"/>
            <a:ext cx="967105" cy="4337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75797" y="3775709"/>
            <a:ext cx="967105" cy="4337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13997" y="2861310"/>
            <a:ext cx="814705" cy="4337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313997" y="3166110"/>
            <a:ext cx="814705" cy="4337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313997" y="3470909"/>
            <a:ext cx="814705" cy="4337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13997" y="3775709"/>
            <a:ext cx="814705" cy="4337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61397" y="4080509"/>
            <a:ext cx="1043305" cy="4337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969384" y="2827845"/>
            <a:ext cx="13843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475797" y="4080509"/>
            <a:ext cx="967105" cy="4337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845684" y="2827845"/>
            <a:ext cx="13843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313997" y="4080509"/>
            <a:ext cx="814705" cy="4337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372100" y="2827845"/>
            <a:ext cx="477520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62000" y="2272283"/>
            <a:ext cx="2209800" cy="17526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479550" y="2231390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bu</a:t>
            </a:r>
            <a:r>
              <a:rPr sz="1800" b="1" spc="-5" dirty="0">
                <a:latin typeface="Arial"/>
                <a:cs typeface="Arial"/>
              </a:rPr>
              <a:t>yer</a:t>
            </a:r>
            <a:r>
              <a:rPr sz="1800" b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89597" y="2556510"/>
            <a:ext cx="1060767" cy="4337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33882" y="2637624"/>
            <a:ext cx="904963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89597" y="2861310"/>
            <a:ext cx="1043304" cy="4337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9597" y="3166110"/>
            <a:ext cx="1030605" cy="4210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9597" y="3470909"/>
            <a:ext cx="1030605" cy="4210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9597" y="3775709"/>
            <a:ext cx="1030605" cy="42100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997585" y="2827210"/>
            <a:ext cx="138430" cy="12458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03997" y="2556510"/>
            <a:ext cx="1500505" cy="433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01622" y="2637624"/>
            <a:ext cx="1240929" cy="2401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503997" y="2861310"/>
            <a:ext cx="1500505" cy="43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503997" y="3166110"/>
            <a:ext cx="1487805" cy="4210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03997" y="3470909"/>
            <a:ext cx="1487805" cy="4210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503997" y="3775709"/>
            <a:ext cx="1487805" cy="421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02739" y="2827210"/>
            <a:ext cx="12001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4295">
              <a:lnSpc>
                <a:spcPct val="125099"/>
              </a:lnSpc>
              <a:spcBef>
                <a:spcPts val="105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360" y="829944"/>
            <a:ext cx="1737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Joining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7010" y="829944"/>
            <a:ext cx="3158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Tahoma"/>
                <a:cs typeface="Tahoma"/>
              </a:rPr>
              <a:t>More </a:t>
            </a:r>
            <a:r>
              <a:rPr sz="4400" spc="-5" dirty="0">
                <a:latin typeface="Tahoma"/>
                <a:cs typeface="Tahoma"/>
              </a:rPr>
              <a:t>Than</a:t>
            </a:r>
            <a:r>
              <a:rPr sz="4400" spc="-40" dirty="0">
                <a:latin typeface="Tahoma"/>
                <a:cs typeface="Tahoma"/>
              </a:rPr>
              <a:t> </a:t>
            </a:r>
            <a:r>
              <a:rPr sz="4400" spc="-2310" dirty="0">
                <a:latin typeface="Tahoma"/>
                <a:cs typeface="Tahoma"/>
              </a:rPr>
              <a:t>T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0095" y="829944"/>
            <a:ext cx="245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ahoma"/>
                <a:cs typeface="Tahoma"/>
              </a:rPr>
              <a:t>wo</a:t>
            </a:r>
            <a:r>
              <a:rPr sz="4400" spc="-90" dirty="0">
                <a:latin typeface="Tahoma"/>
                <a:cs typeface="Tahoma"/>
              </a:rPr>
              <a:t> </a:t>
            </a:r>
            <a:r>
              <a:rPr sz="4400" spc="-85" dirty="0">
                <a:latin typeface="Tahoma"/>
                <a:cs typeface="Tahoma"/>
              </a:rPr>
              <a:t>Tables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0010" y="816610"/>
            <a:ext cx="6482079" cy="1811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77670" y="890269"/>
            <a:ext cx="406971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buyer_name, prod_name,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qty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0225" y="1109344"/>
            <a:ext cx="137350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</a:t>
            </a:r>
            <a:r>
              <a:rPr sz="1600" spc="-7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buyers</a:t>
            </a:r>
            <a:endParaRPr sz="1600" dirty="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0225" y="1328419"/>
            <a:ext cx="19862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INNER JOIN</a:t>
            </a:r>
            <a:r>
              <a:rPr sz="1600" spc="-6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sales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2779" y="1547494"/>
            <a:ext cx="43148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ON buyers.buyer_id =</a:t>
            </a:r>
            <a:r>
              <a:rPr sz="1600" spc="-2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sales.buyer_id</a:t>
            </a:r>
            <a:endParaRPr sz="1600" dirty="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0225" y="1766569"/>
            <a:ext cx="4314825" cy="48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INNER JOIN produce</a:t>
            </a:r>
            <a:endParaRPr sz="1600" dirty="0">
              <a:latin typeface="Lucida Sans Typewriter"/>
              <a:cs typeface="Lucida Sans Typewriter"/>
            </a:endParaRPr>
          </a:p>
          <a:p>
            <a:pPr marL="135255">
              <a:lnSpc>
                <a:spcPts val="182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ON sales.prod_id =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produce.prod_id</a:t>
            </a:r>
            <a:endParaRPr sz="1600" dirty="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04872" y="4383023"/>
            <a:ext cx="2392679" cy="1720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42176" y="2513076"/>
            <a:ext cx="1496568" cy="17205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01211" y="2513076"/>
            <a:ext cx="2392680" cy="1720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3627" y="2513076"/>
            <a:ext cx="2394204" cy="17205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107720" y="2461894"/>
            <a:ext cx="82613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produce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72707" y="2717558"/>
            <a:ext cx="1003617" cy="37172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65886" y="2773908"/>
            <a:ext cx="811618" cy="237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95388" y="2717558"/>
            <a:ext cx="1387614" cy="3717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88567" y="2773908"/>
            <a:ext cx="1147584" cy="2376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72707" y="2973082"/>
            <a:ext cx="951585" cy="396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72707" y="3241065"/>
            <a:ext cx="951585" cy="42806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72707" y="3540226"/>
            <a:ext cx="951585" cy="42806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72707" y="3839374"/>
            <a:ext cx="951585" cy="42806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395388" y="2973082"/>
            <a:ext cx="1387614" cy="384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95388" y="3241065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95388" y="3540226"/>
            <a:ext cx="1387614" cy="41536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95388" y="3839374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72707" y="4138536"/>
            <a:ext cx="951585" cy="42806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934339" y="2942437"/>
            <a:ext cx="138430" cy="1490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95388" y="4138536"/>
            <a:ext cx="1387614" cy="4153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494130" y="2943402"/>
            <a:ext cx="871855" cy="14897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Apples  Pears  Oranges  Bananas  Peaches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9597" y="2717558"/>
            <a:ext cx="1105852" cy="3724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1667" y="2773908"/>
            <a:ext cx="904963" cy="24016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9597" y="2973082"/>
            <a:ext cx="938885" cy="384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9597" y="3241065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9597" y="3540226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9597" y="3839374"/>
            <a:ext cx="938885" cy="4153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51230" y="2943402"/>
            <a:ext cx="138430" cy="11906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12278" y="2717558"/>
            <a:ext cx="1462405" cy="37242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14347" y="2773908"/>
            <a:ext cx="1240929" cy="2401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12278" y="2973082"/>
            <a:ext cx="1462405" cy="384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12278" y="3241065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412278" y="3540226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12278" y="3839374"/>
            <a:ext cx="1462405" cy="41536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11020" y="2943402"/>
            <a:ext cx="1200150" cy="119062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just">
              <a:lnSpc>
                <a:spcPct val="120500"/>
              </a:lnSpc>
              <a:spcBef>
                <a:spcPts val="15"/>
              </a:spcBef>
            </a:pPr>
            <a:r>
              <a:rPr sz="1600" b="1" spc="-5" dirty="0">
                <a:latin typeface="Arial"/>
                <a:cs typeface="Arial"/>
              </a:rPr>
              <a:t>Adam Barr  Sean Chai  Eva Corets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05344" y="2461894"/>
            <a:ext cx="36798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7855" algn="l"/>
              </a:tabLst>
            </a:pPr>
            <a:r>
              <a:rPr sz="1600" b="1" spc="-5" dirty="0">
                <a:latin typeface="Arial"/>
                <a:cs typeface="Arial"/>
              </a:rPr>
              <a:t>buyers	sales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31578" y="2717558"/>
            <a:ext cx="1105852" cy="3724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33647" y="2773908"/>
            <a:ext cx="904963" cy="24016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31578" y="2973082"/>
            <a:ext cx="1088466" cy="3842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31578" y="3241065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31578" y="3540226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31578" y="3839374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403826" y="2717558"/>
            <a:ext cx="1013675" cy="37172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97006" y="2773908"/>
            <a:ext cx="811618" cy="23762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403826" y="2973082"/>
            <a:ext cx="1026375" cy="3969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03826" y="3241065"/>
            <a:ext cx="1026375" cy="42806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03826" y="3540226"/>
            <a:ext cx="1026375" cy="42806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403826" y="3839374"/>
            <a:ext cx="1026375" cy="42806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431578" y="4138536"/>
            <a:ext cx="1088466" cy="41536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68140" y="2943402"/>
            <a:ext cx="138430" cy="1489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403826" y="4138536"/>
            <a:ext cx="1026375" cy="42806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802924" y="2942437"/>
            <a:ext cx="138430" cy="1490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301297" y="2717558"/>
            <a:ext cx="789304" cy="37242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08447" y="2777083"/>
            <a:ext cx="357250" cy="2369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297" y="2973082"/>
            <a:ext cx="789304" cy="3842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01297" y="3241065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01297" y="3540226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301297" y="3839374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01297" y="4138536"/>
            <a:ext cx="789304" cy="41536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438140" y="2943402"/>
            <a:ext cx="477520" cy="14897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09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89597" y="4138536"/>
            <a:ext cx="3930434" cy="235987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549347" y="4406404"/>
            <a:ext cx="646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Result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403826" y="4437697"/>
            <a:ext cx="3120466" cy="207341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534107" y="4662068"/>
            <a:ext cx="2115248" cy="40133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636177" y="4733023"/>
            <a:ext cx="1240929" cy="24016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534107" y="4947196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534107" y="5246344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34107" y="5545505"/>
            <a:ext cx="2115248" cy="41536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534107" y="5844654"/>
            <a:ext cx="2115248" cy="42938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534107" y="6157836"/>
            <a:ext cx="2115248" cy="41536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632849" y="4916830"/>
            <a:ext cx="1200150" cy="15354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Adam Barr  Erin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O’Melia  Adam Barr  Eva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Corets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533150" y="4662068"/>
            <a:ext cx="1354137" cy="40133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626330" y="4733023"/>
            <a:ext cx="1147584" cy="23762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533150" y="4947196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33150" y="5246344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33150" y="5545505"/>
            <a:ext cx="1333080" cy="41536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33150" y="5844654"/>
            <a:ext cx="1333080" cy="429387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533150" y="6157836"/>
            <a:ext cx="1333080" cy="41536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631893" y="4916830"/>
            <a:ext cx="849630" cy="15354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Apples  Pears  Pears  Oranges  Peaches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756262" y="4662068"/>
            <a:ext cx="783069" cy="40133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63412" y="4736198"/>
            <a:ext cx="357250" cy="2369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756262" y="4947196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756262" y="5246344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56262" y="5545505"/>
            <a:ext cx="783069" cy="415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56262" y="5844654"/>
            <a:ext cx="783069" cy="42938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756262" y="6157836"/>
            <a:ext cx="783069" cy="41536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5886754" y="4916830"/>
            <a:ext cx="477520" cy="15354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35"/>
              </a:spcBef>
            </a:pPr>
            <a:r>
              <a:rPr sz="1600" b="1" spc="-5" dirty="0">
                <a:latin typeface="Arial"/>
                <a:cs typeface="Arial"/>
              </a:rPr>
              <a:t>37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34"/>
              </a:spcBef>
            </a:pPr>
            <a:r>
              <a:rPr sz="1600" b="1" spc="-5" dirty="0">
                <a:latin typeface="Arial"/>
                <a:cs typeface="Arial"/>
              </a:rPr>
              <a:t>1003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90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95"/>
              </a:spcBef>
            </a:pPr>
            <a:r>
              <a:rPr sz="1600" b="1" spc="-95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7042150" y="1431607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70" y="829944"/>
            <a:ext cx="1737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Joining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9020" y="829944"/>
            <a:ext cx="2433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ahoma"/>
                <a:cs typeface="Tahoma"/>
              </a:rPr>
              <a:t>a </a:t>
            </a:r>
            <a:r>
              <a:rPr sz="4400" spc="-100" dirty="0">
                <a:latin typeface="Tahoma"/>
                <a:cs typeface="Tahoma"/>
              </a:rPr>
              <a:t>Table</a:t>
            </a:r>
            <a:r>
              <a:rPr sz="4400" spc="-60" dirty="0">
                <a:latin typeface="Tahoma"/>
                <a:cs typeface="Tahoma"/>
              </a:rPr>
              <a:t> </a:t>
            </a:r>
            <a:r>
              <a:rPr sz="4400" spc="-1140" dirty="0">
                <a:latin typeface="Tahoma"/>
                <a:cs typeface="Tahoma"/>
              </a:rPr>
              <a:t>to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0010" y="816610"/>
            <a:ext cx="6423342" cy="1811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7670" y="890269"/>
            <a:ext cx="46824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a.buyer_id AS buyer1,</a:t>
            </a:r>
            <a:r>
              <a:rPr sz="1600" spc="-2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a.prod_id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3000" y="1109344"/>
            <a:ext cx="25990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,b.buyer_id AS</a:t>
            </a:r>
            <a:r>
              <a:rPr sz="1600" spc="-5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buyer2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0225" y="1328419"/>
            <a:ext cx="18637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sales AS</a:t>
            </a:r>
            <a:r>
              <a:rPr sz="1600" spc="-6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7670" y="1547494"/>
            <a:ext cx="3702050" cy="70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JOIN sales AS b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 marR="5080" indent="245110">
              <a:lnSpc>
                <a:spcPts val="1730"/>
              </a:lnSpc>
              <a:spcBef>
                <a:spcPts val="114"/>
              </a:spcBef>
              <a:tabLst>
                <a:tab pos="86995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ON a.prod_id = b.prod_id  WHERE	a.buyer_id &gt;</a:t>
            </a:r>
            <a:r>
              <a:rPr sz="1600" spc="-5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b.buyer_id</a:t>
            </a:r>
            <a:endParaRPr sz="1600" dirty="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47459" y="2743200"/>
            <a:ext cx="1810512" cy="1737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951" y="2743200"/>
            <a:ext cx="2415540" cy="1737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9167" y="5082540"/>
            <a:ext cx="2417063" cy="12085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97637" y="2764790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74422" y="3086735"/>
            <a:ext cx="1105852" cy="4937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76492" y="3203409"/>
            <a:ext cx="904963" cy="2401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56272" y="3086735"/>
            <a:ext cx="1022527" cy="4937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49452" y="3203409"/>
            <a:ext cx="811618" cy="2376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62582" y="3086735"/>
            <a:ext cx="733120" cy="50643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69732" y="3206584"/>
            <a:ext cx="357250" cy="23699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74422" y="3464268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4422" y="3766286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74422" y="4068317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74422" y="4370349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56272" y="3464268"/>
            <a:ext cx="1022527" cy="4182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56272" y="3766286"/>
            <a:ext cx="1022527" cy="4182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6272" y="4068317"/>
            <a:ext cx="1022527" cy="4182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56272" y="4370349"/>
            <a:ext cx="1022527" cy="4182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62582" y="3464268"/>
            <a:ext cx="720420" cy="41823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62582" y="3766286"/>
            <a:ext cx="720420" cy="4182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62582" y="4068317"/>
            <a:ext cx="720420" cy="4182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62582" y="4370349"/>
            <a:ext cx="720420" cy="41823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4422" y="4672380"/>
            <a:ext cx="1098054" cy="4323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56272" y="4672380"/>
            <a:ext cx="1022527" cy="4323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62582" y="4672380"/>
            <a:ext cx="720420" cy="43238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77887" y="2764790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sales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60997" y="3086735"/>
            <a:ext cx="1105852" cy="49373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3067" y="3203409"/>
            <a:ext cx="904963" cy="2401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42847" y="3086735"/>
            <a:ext cx="1022527" cy="49373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36027" y="3203409"/>
            <a:ext cx="811618" cy="23762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49157" y="3086735"/>
            <a:ext cx="733120" cy="50643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56307" y="3206584"/>
            <a:ext cx="357250" cy="23699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60997" y="3464268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0997" y="3766286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0997" y="4068317"/>
            <a:ext cx="1098054" cy="4182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0997" y="4370349"/>
            <a:ext cx="1098054" cy="4182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42847" y="3464268"/>
            <a:ext cx="1022527" cy="4182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42847" y="3766286"/>
            <a:ext cx="1022527" cy="4182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42847" y="4068317"/>
            <a:ext cx="1022527" cy="4182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42847" y="4370349"/>
            <a:ext cx="1022527" cy="4182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49157" y="3464268"/>
            <a:ext cx="720420" cy="4182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49157" y="3766286"/>
            <a:ext cx="720420" cy="41823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49157" y="4068317"/>
            <a:ext cx="720420" cy="41823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49157" y="4370349"/>
            <a:ext cx="720420" cy="4182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60997" y="4672380"/>
            <a:ext cx="1098054" cy="4323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342847" y="4672380"/>
            <a:ext cx="1022527" cy="43238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49157" y="4672380"/>
            <a:ext cx="720420" cy="43238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342072" y="4988559"/>
            <a:ext cx="6836092" cy="12480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783590" y="3523143"/>
          <a:ext cx="7841614" cy="1871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67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52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9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9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4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0861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1003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1003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2080"/>
                        </a:lnSpc>
                        <a:spcBef>
                          <a:spcPts val="5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Result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54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3154997" y="5440997"/>
            <a:ext cx="1022362" cy="49367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57067" y="5557037"/>
            <a:ext cx="701370" cy="2408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54997" y="5818466"/>
            <a:ext cx="1022362" cy="4181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3558540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061155" y="5440997"/>
            <a:ext cx="1097876" cy="49367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154335" y="5557672"/>
            <a:ext cx="811618" cy="23762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42839" y="5440997"/>
            <a:ext cx="1035062" cy="50637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144909" y="5557037"/>
            <a:ext cx="713879" cy="2408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061155" y="5818466"/>
            <a:ext cx="1110576" cy="43088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502162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042839" y="5818466"/>
            <a:ext cx="1022362" cy="41818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446382" y="5845454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914197" y="1337310"/>
            <a:ext cx="1462404" cy="56229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184265" y="829944"/>
            <a:ext cx="2014220" cy="901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05"/>
              </a:lnSpc>
              <a:spcBef>
                <a:spcPts val="105"/>
              </a:spcBef>
            </a:pPr>
            <a:r>
              <a:rPr sz="4400" spc="-5" dirty="0">
                <a:latin typeface="Tahoma"/>
                <a:cs typeface="Tahoma"/>
              </a:rPr>
              <a:t>Itself</a:t>
            </a:r>
            <a:endParaRPr sz="4400">
              <a:latin typeface="Tahoma"/>
              <a:cs typeface="Tahoma"/>
            </a:endParaRPr>
          </a:p>
          <a:p>
            <a:pPr marL="869950">
              <a:lnSpc>
                <a:spcPts val="1885"/>
              </a:lnSpc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0035" y="370205"/>
            <a:ext cx="60121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Evaluating </a:t>
            </a:r>
            <a:r>
              <a:rPr sz="3200" dirty="0"/>
              <a:t>a </a:t>
            </a:r>
            <a:r>
              <a:rPr sz="3200" spc="-5" dirty="0"/>
              <a:t>Correlated</a:t>
            </a:r>
            <a:r>
              <a:rPr sz="3200" spc="-40" dirty="0"/>
              <a:t> </a:t>
            </a:r>
            <a:r>
              <a:rPr sz="3200" spc="-5" dirty="0"/>
              <a:t>Subquery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029200" y="5638800"/>
            <a:ext cx="16002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4191000"/>
            <a:ext cx="7543800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96640" y="1370075"/>
            <a:ext cx="4724400" cy="612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36209" y="5788659"/>
            <a:ext cx="2938780" cy="7099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94704" y="5921375"/>
            <a:ext cx="17748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/>
                <a:cs typeface="Arial"/>
              </a:rPr>
              <a:t>Back to Step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934" y="1673860"/>
            <a:ext cx="8072755" cy="23561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6594" y="2025014"/>
            <a:ext cx="5623560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240" marR="2218055" indent="-130175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latin typeface="Lucida Sans Typewriter"/>
                <a:cs typeface="Lucida Sans Typewriter"/>
              </a:rPr>
              <a:t>SELECT orderid, customerid  FROM orders </a:t>
            </a:r>
            <a:r>
              <a:rPr sz="1700" dirty="0">
                <a:latin typeface="Lucida Sans Typewriter"/>
                <a:cs typeface="Lucida Sans Typewriter"/>
              </a:rPr>
              <a:t>AS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or1</a:t>
            </a:r>
            <a:endParaRPr sz="1700">
              <a:latin typeface="Lucida Sans Typewriter"/>
              <a:cs typeface="Lucida Sans Typewriter"/>
            </a:endParaRPr>
          </a:p>
          <a:p>
            <a:pPr marL="142240">
              <a:lnSpc>
                <a:spcPct val="1000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WHERE </a:t>
            </a:r>
            <a:r>
              <a:rPr sz="1700" dirty="0">
                <a:latin typeface="Lucida Sans Typewriter"/>
                <a:cs typeface="Lucida Sans Typewriter"/>
              </a:rPr>
              <a:t>20 &lt; </a:t>
            </a:r>
            <a:r>
              <a:rPr sz="1700" spc="-5" dirty="0">
                <a:latin typeface="Lucida Sans Typewriter"/>
                <a:cs typeface="Lucida Sans Typewriter"/>
              </a:rPr>
              <a:t>(SELECT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quantity</a:t>
            </a:r>
            <a:endParaRPr sz="1700">
              <a:latin typeface="Lucida Sans Typewriter"/>
              <a:cs typeface="Lucida Sans Typewriter"/>
            </a:endParaRPr>
          </a:p>
          <a:p>
            <a:pPr marL="1704975" marR="5080">
              <a:lnSpc>
                <a:spcPct val="100000"/>
              </a:lnSpc>
            </a:pPr>
            <a:r>
              <a:rPr sz="1700" spc="-5" dirty="0">
                <a:latin typeface="Lucida Sans Typewriter"/>
                <a:cs typeface="Lucida Sans Typewriter"/>
              </a:rPr>
              <a:t>FROM [order details] </a:t>
            </a:r>
            <a:r>
              <a:rPr sz="1700" dirty="0">
                <a:latin typeface="Lucida Sans Typewriter"/>
                <a:cs typeface="Lucida Sans Typewriter"/>
              </a:rPr>
              <a:t>AS od  </a:t>
            </a:r>
            <a:r>
              <a:rPr sz="1700" spc="-5" dirty="0">
                <a:latin typeface="Lucida Sans Typewriter"/>
                <a:cs typeface="Lucida Sans Typewriter"/>
              </a:rPr>
              <a:t>WHERE or1.orderid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1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od.orderid</a:t>
            </a:r>
            <a:endParaRPr sz="1700">
              <a:latin typeface="Lucida Sans Typewriter"/>
              <a:cs typeface="Lucida Sans Typewriter"/>
            </a:endParaRPr>
          </a:p>
          <a:p>
            <a:pPr marL="1835150">
              <a:lnSpc>
                <a:spcPct val="100000"/>
              </a:lnSpc>
              <a:tabLst>
                <a:tab pos="2485390" algn="l"/>
              </a:tabLst>
            </a:pPr>
            <a:r>
              <a:rPr sz="1700" spc="-5" dirty="0">
                <a:latin typeface="Lucida Sans Typewriter"/>
                <a:cs typeface="Lucida Sans Typewriter"/>
              </a:rPr>
              <a:t>AND	od.productid </a:t>
            </a:r>
            <a:r>
              <a:rPr sz="1700" dirty="0">
                <a:latin typeface="Lucida Sans Typewriter"/>
                <a:cs typeface="Lucida Sans Typewriter"/>
              </a:rPr>
              <a:t>=</a:t>
            </a:r>
            <a:r>
              <a:rPr sz="1700" spc="-20" dirty="0">
                <a:latin typeface="Lucida Sans Typewriter"/>
                <a:cs typeface="Lucida Sans Typewriter"/>
              </a:rPr>
              <a:t> </a:t>
            </a:r>
            <a:r>
              <a:rPr sz="1700" spc="-5" dirty="0">
                <a:latin typeface="Lucida Sans Typewriter"/>
                <a:cs typeface="Lucida Sans Typewriter"/>
              </a:rPr>
              <a:t>23)</a:t>
            </a:r>
            <a:endParaRPr sz="17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37160" y="5313997"/>
            <a:ext cx="686066" cy="6775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097" y="892810"/>
            <a:ext cx="3838892" cy="9544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9497" y="1083970"/>
            <a:ext cx="3037674" cy="2697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0925" y="1361465"/>
            <a:ext cx="2752877" cy="2665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4797" y="970597"/>
            <a:ext cx="584517" cy="5845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9417" y="1067930"/>
            <a:ext cx="291160" cy="3644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85372" y="1581785"/>
            <a:ext cx="3823017" cy="9544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24488" y="1776120"/>
            <a:ext cx="3268179" cy="2665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13693" y="2047265"/>
            <a:ext cx="2482684" cy="2697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28197" y="1656397"/>
            <a:ext cx="584517" cy="5845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47386" y="1753730"/>
            <a:ext cx="322021" cy="3644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1809" y="4020184"/>
            <a:ext cx="3929379" cy="9544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0925" y="4214520"/>
            <a:ext cx="2962744" cy="2665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0290" y="4488840"/>
            <a:ext cx="2561424" cy="2665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4797" y="4094797"/>
            <a:ext cx="584517" cy="58451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3384" y="4193222"/>
            <a:ext cx="301942" cy="3622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17097" y="4401184"/>
            <a:ext cx="3991292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46052" y="4592345"/>
            <a:ext cx="3430104" cy="26653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56847" y="4866665"/>
            <a:ext cx="2979254" cy="2697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75797" y="4475797"/>
            <a:ext cx="584517" cy="58451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73130" y="4558995"/>
            <a:ext cx="364451" cy="39273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18997" y="2875597"/>
            <a:ext cx="1462404" cy="5622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46950" y="29698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4219"/>
            <a:ext cx="7576184" cy="181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4769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Correlated Subqueries Can Produce the Same  </a:t>
            </a:r>
            <a:r>
              <a:rPr sz="2800" spc="-10" dirty="0">
                <a:latin typeface="Tahoma"/>
                <a:cs typeface="Tahoma"/>
              </a:rPr>
              <a:t>Result </a:t>
            </a:r>
            <a:r>
              <a:rPr sz="2800" spc="-5" dirty="0">
                <a:latin typeface="Tahoma"/>
                <a:cs typeface="Tahoma"/>
              </a:rPr>
              <a:t>as a JOIN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Clause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Joins Let the Query Optimizer Determine How  to Correlate Data Most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Efficiently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81400" y="3771900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16062" y="451538"/>
            <a:ext cx="61042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Mimicking </a:t>
            </a:r>
            <a:r>
              <a:rPr dirty="0"/>
              <a:t>a JOIN</a:t>
            </a:r>
            <a:r>
              <a:rPr spc="-65" dirty="0"/>
              <a:t> </a:t>
            </a:r>
            <a:r>
              <a:rPr spc="-5" dirty="0"/>
              <a:t>Clause</a:t>
            </a:r>
            <a:r>
              <a:rPr lang="zh-CN" altLang="en-US" spc="-5" dirty="0"/>
              <a:t>从句</a:t>
            </a:r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588009" y="4131309"/>
            <a:ext cx="8082280" cy="2418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4222115"/>
            <a:ext cx="522922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SELECT DISTINCT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t1.type</a:t>
            </a:r>
            <a:endParaRPr sz="2000">
              <a:latin typeface="Lucida Sans Typewriter"/>
              <a:cs typeface="Lucida Sans Typewriter"/>
            </a:endParaRPr>
          </a:p>
          <a:p>
            <a:pPr marL="165100" marR="245364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FROM titles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6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t1  </a:t>
            </a:r>
            <a:r>
              <a:rPr sz="2000" spc="-5" dirty="0">
                <a:latin typeface="Lucida Sans Typewriter"/>
                <a:cs typeface="Lucida Sans Typewriter"/>
              </a:rPr>
              <a:t>WHERE t1.type</a:t>
            </a:r>
            <a:r>
              <a:rPr sz="2000" spc="-40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IN</a:t>
            </a:r>
            <a:endParaRPr sz="2000">
              <a:latin typeface="Lucida Sans Typewriter"/>
              <a:cs typeface="Lucida Sans Typewriter"/>
            </a:endParaRPr>
          </a:p>
          <a:p>
            <a:pPr marL="777875" marR="1841500" indent="-3060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(SELECT t2.type  FROM titles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6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t2</a:t>
            </a:r>
            <a:endParaRPr sz="2000">
              <a:latin typeface="Lucida Sans Typewriter"/>
              <a:cs typeface="Lucida Sans Typewriter"/>
            </a:endParaRPr>
          </a:p>
          <a:p>
            <a:pPr marL="777875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WHERE t1.pub_id </a:t>
            </a:r>
            <a:r>
              <a:rPr sz="2000" dirty="0">
                <a:latin typeface="Lucida Sans Typewriter"/>
                <a:cs typeface="Lucida Sans Typewriter"/>
              </a:rPr>
              <a:t>&lt;&gt;</a:t>
            </a:r>
            <a:r>
              <a:rPr sz="2000" spc="-2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t2.pub_id)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14197" y="3751897"/>
            <a:ext cx="1462404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42150" y="38461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0" y="4660391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96640" y="2286000"/>
            <a:ext cx="47244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2839" y="614680"/>
            <a:ext cx="6878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Mimicking </a:t>
            </a:r>
            <a:r>
              <a:rPr dirty="0"/>
              <a:t>a </a:t>
            </a:r>
            <a:r>
              <a:rPr spc="-25" dirty="0"/>
              <a:t>HAVING</a:t>
            </a:r>
            <a:r>
              <a:rPr spc="-50" dirty="0"/>
              <a:t> </a:t>
            </a:r>
            <a:r>
              <a:rPr spc="-5" dirty="0"/>
              <a:t>Clause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9664" y="1444307"/>
            <a:ext cx="607885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Subquery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Same </a:t>
            </a:r>
            <a:r>
              <a:rPr sz="2800" spc="-10" dirty="0">
                <a:latin typeface="Tahoma"/>
                <a:cs typeface="Tahoma"/>
              </a:rPr>
              <a:t>Result </a:t>
            </a:r>
            <a:r>
              <a:rPr sz="2800" spc="-5" dirty="0">
                <a:latin typeface="Tahoma"/>
                <a:cs typeface="Tahoma"/>
              </a:rPr>
              <a:t>As a  </a:t>
            </a:r>
            <a:r>
              <a:rPr sz="2800" spc="-20" dirty="0">
                <a:latin typeface="Tahoma"/>
                <a:cs typeface="Tahoma"/>
              </a:rPr>
              <a:t>HAVING</a:t>
            </a:r>
            <a:r>
              <a:rPr sz="2800" spc="-5" dirty="0">
                <a:latin typeface="Tahoma"/>
                <a:cs typeface="Tahoma"/>
              </a:rPr>
              <a:t> Clause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664" y="3918267"/>
            <a:ext cx="569087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Using a </a:t>
            </a:r>
            <a:r>
              <a:rPr sz="2800" spc="-20" dirty="0">
                <a:latin typeface="Tahoma"/>
                <a:cs typeface="Tahoma"/>
              </a:rPr>
              <a:t>HAVING </a:t>
            </a:r>
            <a:r>
              <a:rPr sz="2800" spc="-5" dirty="0">
                <a:latin typeface="Tahoma"/>
                <a:cs typeface="Tahoma"/>
              </a:rPr>
              <a:t>Clause Without a  Subquery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8009" y="2416810"/>
            <a:ext cx="8082280" cy="1494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5669" y="2510789"/>
            <a:ext cx="41922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t1.type, t1.title,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225" y="2754630"/>
            <a:ext cx="713359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titles AS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tabLst>
                <a:tab pos="503682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WHERE t1.price &gt; (</a:t>
            </a:r>
            <a:r>
              <a:rPr sz="1600" spc="6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SELECT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AVG(t2.price)	FROM titles AS</a:t>
            </a:r>
            <a:r>
              <a:rPr sz="1600" spc="-6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t2</a:t>
            </a:r>
            <a:endParaRPr sz="1600">
              <a:latin typeface="Lucida Sans Typewriter"/>
              <a:cs typeface="Lucida Sans Typewriter"/>
            </a:endParaRPr>
          </a:p>
          <a:p>
            <a:pPr marL="24638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t1.type = t2.type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009" y="4791709"/>
            <a:ext cx="8082280" cy="17418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4885689"/>
            <a:ext cx="41922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t1.type, t1.title,</a:t>
            </a:r>
            <a:r>
              <a:rPr sz="1600" spc="-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225" y="5129529"/>
            <a:ext cx="554037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titles AS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</a:t>
            </a:r>
            <a:endParaRPr sz="1600">
              <a:latin typeface="Lucida Sans Typewriter"/>
              <a:cs typeface="Lucida Sans Typewriter"/>
            </a:endParaRPr>
          </a:p>
          <a:p>
            <a:pPr marL="12700" marR="5080">
              <a:lnSpc>
                <a:spcPct val="100000"/>
              </a:lnSpc>
              <a:tabLst>
                <a:tab pos="307594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INNER JOIN titles</a:t>
            </a:r>
            <a:r>
              <a:rPr sz="1600" spc="3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AS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t2	ON t1.type = t2.type  GROUP BY t1.type, t1.title,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t1.price</a:t>
            </a:r>
            <a:endParaRPr sz="1600">
              <a:latin typeface="Lucida Sans Typewriter"/>
              <a:cs typeface="Lucida Sans Typewriter"/>
            </a:endParaRPr>
          </a:p>
          <a:p>
            <a:pPr marL="13525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HAVING t1.price &gt;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AVG(t2.price)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4197" y="2367597"/>
            <a:ext cx="1462404" cy="562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42150" y="24618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14197" y="4742497"/>
            <a:ext cx="1462404" cy="5622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042150" y="48367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3505200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4414" y="495299"/>
            <a:ext cx="70758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0615" marR="5080" indent="-109791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Correlated</a:t>
            </a:r>
            <a:r>
              <a:rPr spc="-65" dirty="0"/>
              <a:t> </a:t>
            </a:r>
            <a:r>
              <a:rPr spc="-5" dirty="0"/>
              <a:t>Subquery  in </a:t>
            </a:r>
            <a:r>
              <a:rPr dirty="0"/>
              <a:t>a </a:t>
            </a:r>
            <a:r>
              <a:rPr spc="-25" dirty="0"/>
              <a:t>HAVING</a:t>
            </a:r>
            <a:r>
              <a:rPr spc="-35" dirty="0"/>
              <a:t> </a:t>
            </a:r>
            <a:r>
              <a:rPr spc="-5" dirty="0"/>
              <a:t>Clause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5838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Correlated Subquery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20" dirty="0">
                <a:latin typeface="Tahoma"/>
                <a:cs typeface="Tahoma"/>
              </a:rPr>
              <a:t>HAVING  </a:t>
            </a:r>
            <a:r>
              <a:rPr sz="3200" spc="-5" dirty="0">
                <a:latin typeface="Tahoma"/>
                <a:cs typeface="Tahoma"/>
              </a:rPr>
              <a:t>Clause 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Outer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009" y="3820159"/>
            <a:ext cx="8082280" cy="2418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3910965"/>
            <a:ext cx="461708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4757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SELECT t1.type  FROM titles </a:t>
            </a:r>
            <a:r>
              <a:rPr sz="2000" dirty="0">
                <a:latin typeface="Lucida Sans Typewriter"/>
                <a:cs typeface="Lucida Sans Typewriter"/>
              </a:rPr>
              <a:t>t1  </a:t>
            </a:r>
            <a:r>
              <a:rPr sz="2000" spc="-5" dirty="0">
                <a:latin typeface="Lucida Sans Typewriter"/>
                <a:cs typeface="Lucida Sans Typewriter"/>
              </a:rPr>
              <a:t>GROUP </a:t>
            </a:r>
            <a:r>
              <a:rPr sz="2000" dirty="0">
                <a:latin typeface="Lucida Sans Typewriter"/>
                <a:cs typeface="Lucida Sans Typewriter"/>
              </a:rPr>
              <a:t>BY</a:t>
            </a:r>
            <a:r>
              <a:rPr sz="2000" spc="-6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t1.type</a:t>
            </a:r>
            <a:endParaRPr sz="2000">
              <a:latin typeface="Lucida Sans Typewriter"/>
              <a:cs typeface="Lucida Sans Typewriter"/>
            </a:endParaRPr>
          </a:p>
          <a:p>
            <a:pPr marL="471170" marR="5080" indent="-459105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HAVING MAX(t1.advance) </a:t>
            </a:r>
            <a:r>
              <a:rPr sz="2000" dirty="0">
                <a:latin typeface="Lucida Sans Typewriter"/>
                <a:cs typeface="Lucida Sans Typewriter"/>
              </a:rPr>
              <a:t>&gt;= </a:t>
            </a:r>
            <a:r>
              <a:rPr sz="2000" spc="-5" dirty="0">
                <a:latin typeface="Lucida Sans Typewriter"/>
                <a:cs typeface="Lucida Sans Typewriter"/>
              </a:rPr>
              <a:t>ALL  (SELECT </a:t>
            </a:r>
            <a:r>
              <a:rPr sz="2000" dirty="0">
                <a:latin typeface="Lucida Sans Typewriter"/>
                <a:cs typeface="Lucida Sans Typewriter"/>
              </a:rPr>
              <a:t>2 * </a:t>
            </a:r>
            <a:r>
              <a:rPr sz="2000" spc="-5" dirty="0">
                <a:latin typeface="Lucida Sans Typewriter"/>
                <a:cs typeface="Lucida Sans Typewriter"/>
              </a:rPr>
              <a:t>AVG(t2.advance)  FROM titles</a:t>
            </a:r>
            <a:r>
              <a:rPr sz="2000" spc="-15" dirty="0">
                <a:latin typeface="Lucida Sans Typewriter"/>
                <a:cs typeface="Lucida Sans Typewriter"/>
              </a:rPr>
              <a:t> </a:t>
            </a:r>
            <a:r>
              <a:rPr sz="2000" dirty="0">
                <a:latin typeface="Lucida Sans Typewriter"/>
                <a:cs typeface="Lucida Sans Typewriter"/>
              </a:rPr>
              <a:t>t2</a:t>
            </a:r>
            <a:endParaRPr sz="2000">
              <a:latin typeface="Lucida Sans Typewriter"/>
              <a:cs typeface="Lucida Sans Typewriter"/>
            </a:endParaRPr>
          </a:p>
          <a:p>
            <a:pPr marL="4711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WHERE t1.type </a:t>
            </a:r>
            <a:r>
              <a:rPr sz="2000" dirty="0">
                <a:latin typeface="Lucida Sans Typewriter"/>
                <a:cs typeface="Lucida Sans Typewriter"/>
              </a:rPr>
              <a:t>=</a:t>
            </a:r>
            <a:r>
              <a:rPr sz="2000" spc="-2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t2.type)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4712208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7589" y="489584"/>
            <a:ext cx="70688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3045" marR="5080" indent="-2760345">
              <a:lnSpc>
                <a:spcPct val="100000"/>
              </a:lnSpc>
              <a:spcBef>
                <a:spcPts val="100"/>
              </a:spcBef>
              <a:tabLst>
                <a:tab pos="2061845" algn="l"/>
              </a:tabLst>
            </a:pPr>
            <a:r>
              <a:rPr sz="3600" spc="-5" dirty="0"/>
              <a:t>Using</a:t>
            </a:r>
            <a:r>
              <a:rPr sz="3600" spc="10" dirty="0"/>
              <a:t> </a:t>
            </a:r>
            <a:r>
              <a:rPr sz="3600" spc="-5" dirty="0"/>
              <a:t>the	EXISTS and </a:t>
            </a:r>
            <a:r>
              <a:rPr sz="3600" spc="-30" dirty="0"/>
              <a:t>NOT</a:t>
            </a:r>
            <a:r>
              <a:rPr sz="3600" spc="-90" dirty="0"/>
              <a:t> </a:t>
            </a:r>
            <a:r>
              <a:rPr sz="3600" spc="-5" dirty="0"/>
              <a:t>EXISTS  Clauses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583565" y="1703705"/>
            <a:ext cx="7584440" cy="2933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83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with Correlated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Subqueries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79900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Determine Whether Data Exists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Values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60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Server Process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ts val="280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Outer query tests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the existence of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rows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ts val="2715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Inner </a:t>
            </a:r>
            <a:r>
              <a:rPr sz="2800" spc="-5" dirty="0">
                <a:latin typeface="Tahoma"/>
                <a:cs typeface="Tahoma"/>
              </a:rPr>
              <a:t>query returns TRUE or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FALSE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ts val="304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 data 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produced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009" y="4994909"/>
            <a:ext cx="8082280" cy="1741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669" y="5088890"/>
            <a:ext cx="333438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marR="5080" indent="-1225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lastname, employeeid  FROM employees AS</a:t>
            </a:r>
            <a:r>
              <a:rPr sz="1600" spc="-1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225" y="5576570"/>
            <a:ext cx="590804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WHERE EXISTS (SELECT * FROM orders AS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</a:t>
            </a:r>
            <a:endParaRPr sz="1600">
              <a:latin typeface="Lucida Sans Typewriter"/>
              <a:cs typeface="Lucida Sans Typewriter"/>
            </a:endParaRPr>
          </a:p>
          <a:p>
            <a:pPr marL="1973580" marR="5080" indent="-122555">
              <a:lnSpc>
                <a:spcPct val="100000"/>
              </a:lnSpc>
              <a:tabLst>
                <a:tab pos="2585720" algn="l"/>
              </a:tabLst>
            </a:pPr>
            <a:r>
              <a:rPr sz="1600" spc="-5" dirty="0">
                <a:latin typeface="Lucida Sans Typewriter"/>
                <a:cs typeface="Lucida Sans Typewriter"/>
              </a:rPr>
              <a:t>WHERE e.employeeid = o.employeeid  AND	o.orderdate =</a:t>
            </a:r>
            <a:r>
              <a:rPr sz="1600" spc="-2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'9/5/2020')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14197" y="4844097"/>
            <a:ext cx="1462404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42150" y="4938395"/>
            <a:ext cx="115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Example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4565</Words>
  <Application>Microsoft Office PowerPoint</Application>
  <PresentationFormat>全屏显示(4:3)</PresentationFormat>
  <Paragraphs>961</Paragraphs>
  <Slides>93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106" baseType="lpstr">
      <vt:lpstr>MS UI Gothic</vt:lpstr>
      <vt:lpstr>黑体</vt:lpstr>
      <vt:lpstr>宋体</vt:lpstr>
      <vt:lpstr>Arial</vt:lpstr>
      <vt:lpstr>Arial Narrow</vt:lpstr>
      <vt:lpstr>Calibri</vt:lpstr>
      <vt:lpstr>Courier New</vt:lpstr>
      <vt:lpstr>Lucida Sans Typewriter</vt:lpstr>
      <vt:lpstr>Symbol</vt:lpstr>
      <vt:lpstr>Tahoma</vt:lpstr>
      <vt:lpstr>Times New Roman</vt:lpstr>
      <vt:lpstr>Wingdings</vt:lpstr>
      <vt:lpstr>Office Theme</vt:lpstr>
      <vt:lpstr>Introduction to SQL</vt:lpstr>
      <vt:lpstr>Why SQL?</vt:lpstr>
      <vt:lpstr>SQL历史</vt:lpstr>
      <vt:lpstr>SQL特点</vt:lpstr>
      <vt:lpstr>SQL的特点</vt:lpstr>
      <vt:lpstr>SQL的特点</vt:lpstr>
      <vt:lpstr>Select-From-Where Statements</vt:lpstr>
      <vt:lpstr>Our Running Example</vt:lpstr>
      <vt:lpstr>Example</vt:lpstr>
      <vt:lpstr>Result of Query</vt:lpstr>
      <vt:lpstr>Meaning of Single-Relation Query</vt:lpstr>
      <vt:lpstr>Operational Semantics</vt:lpstr>
      <vt:lpstr>Operational Semantics --- General</vt:lpstr>
      <vt:lpstr>* In SELECT clauses</vt:lpstr>
      <vt:lpstr>Result of Query:</vt:lpstr>
      <vt:lpstr>Renaming Attributes</vt:lpstr>
      <vt:lpstr>Result of Query:</vt:lpstr>
      <vt:lpstr>Expressions in SELECT Clauses</vt:lpstr>
      <vt:lpstr>Result of Query</vt:lpstr>
      <vt:lpstr>Example: Constants常量 as Expressions</vt:lpstr>
      <vt:lpstr>Result of Query</vt:lpstr>
      <vt:lpstr>Example: Information Integration集成</vt:lpstr>
      <vt:lpstr>Information Integration --- (2)</vt:lpstr>
      <vt:lpstr>Complex Conditions in WHERE  Clause</vt:lpstr>
      <vt:lpstr>Example: Complex Condition</vt:lpstr>
      <vt:lpstr>predicate</vt:lpstr>
      <vt:lpstr>Patterns模式</vt:lpstr>
      <vt:lpstr>Patterns</vt:lpstr>
      <vt:lpstr>Example: LIKE</vt:lpstr>
      <vt:lpstr>LIKE</vt:lpstr>
      <vt:lpstr>BETWEEN AND</vt:lpstr>
      <vt:lpstr>IN</vt:lpstr>
      <vt:lpstr>NULL Values</vt:lpstr>
      <vt:lpstr>Comparing NULL’s to Values</vt:lpstr>
      <vt:lpstr>NULL</vt:lpstr>
      <vt:lpstr>Three-Valued Logic</vt:lpstr>
      <vt:lpstr>Surprising Example</vt:lpstr>
      <vt:lpstr>Reason: 2-Valued Laws !=  3-Valued Laws</vt:lpstr>
      <vt:lpstr>Multirelation Queries多关系查询</vt:lpstr>
      <vt:lpstr>Example: Joining Two Relations</vt:lpstr>
      <vt:lpstr>Formal Semantics形式语义</vt:lpstr>
      <vt:lpstr>Operational Semantics操作语义</vt:lpstr>
      <vt:lpstr>Example</vt:lpstr>
      <vt:lpstr>Explicit Tuple-Variables 显式元组变量</vt:lpstr>
      <vt:lpstr>Example: Self-Join</vt:lpstr>
      <vt:lpstr>Subqueries子查询</vt:lpstr>
      <vt:lpstr>Example: Subquery in FROM</vt:lpstr>
      <vt:lpstr>Subqueries That Return One Tuple</vt:lpstr>
      <vt:lpstr>Example: Single-Tuple Subquery</vt:lpstr>
      <vt:lpstr>Query + Subquery Solution</vt:lpstr>
      <vt:lpstr>The IN Operator</vt:lpstr>
      <vt:lpstr>Example: IN</vt:lpstr>
      <vt:lpstr>Remember These From Lecture #1?</vt:lpstr>
      <vt:lpstr>IN is a Predicate谓语 About R’s Tuples</vt:lpstr>
      <vt:lpstr>This Query Pairs Tuples from R, S</vt:lpstr>
      <vt:lpstr>ORDR BY</vt:lpstr>
      <vt:lpstr>The Exists Operator</vt:lpstr>
      <vt:lpstr>EXISTS</vt:lpstr>
      <vt:lpstr>EXISTS</vt:lpstr>
      <vt:lpstr>Example: EXISTS</vt:lpstr>
      <vt:lpstr>The Operator ANY</vt:lpstr>
      <vt:lpstr>PowerPoint 演示文稿</vt:lpstr>
      <vt:lpstr>ANY</vt:lpstr>
      <vt:lpstr>The Operator ALL</vt:lpstr>
      <vt:lpstr>PowerPoint 演示文稿</vt:lpstr>
      <vt:lpstr>Example: ALL</vt:lpstr>
      <vt:lpstr>ALL</vt:lpstr>
      <vt:lpstr>Union, Intersection, and Difference</vt:lpstr>
      <vt:lpstr>Example: Intersection交集</vt:lpstr>
      <vt:lpstr>Solution</vt:lpstr>
      <vt:lpstr>Bag Semantics</vt:lpstr>
      <vt:lpstr>Motivation: Efficiency</vt:lpstr>
      <vt:lpstr>Controlling Duplicate Elimination</vt:lpstr>
      <vt:lpstr>Example: DISTINCT不同的</vt:lpstr>
      <vt:lpstr>Example: ALL</vt:lpstr>
      <vt:lpstr>SQL SERVER的补充命令</vt:lpstr>
      <vt:lpstr>SQL SERVER的补充命令</vt:lpstr>
      <vt:lpstr>Join Expressions</vt:lpstr>
      <vt:lpstr>Products and Natural Joins</vt:lpstr>
      <vt:lpstr>Theta Join</vt:lpstr>
      <vt:lpstr>Example Database</vt:lpstr>
      <vt:lpstr>Using Inner Joins</vt:lpstr>
      <vt:lpstr>Using Inner Joins</vt:lpstr>
      <vt:lpstr>Using Outer Joins</vt:lpstr>
      <vt:lpstr>Using Outer Joins</vt:lpstr>
      <vt:lpstr>Using Cross Joins</vt:lpstr>
      <vt:lpstr>Joining</vt:lpstr>
      <vt:lpstr>Joining</vt:lpstr>
      <vt:lpstr>Evaluating a Correlated Subquery</vt:lpstr>
      <vt:lpstr>Mimicking a JOIN Clause从句</vt:lpstr>
      <vt:lpstr>Mimicking a HAVING Clause</vt:lpstr>
      <vt:lpstr>Using a Correlated Subquery  in a HAVING Clause</vt:lpstr>
      <vt:lpstr>Using the EXISTS and NOT EXISTS  Clauses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2</cp:revision>
  <dcterms:created xsi:type="dcterms:W3CDTF">2024-06-18T10:53:31Z</dcterms:created>
  <dcterms:modified xsi:type="dcterms:W3CDTF">2024-06-23T13:50:17Z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2024-06-18T00:00:00Z</vt:filetime>
  </property>
</Properties>
</file>
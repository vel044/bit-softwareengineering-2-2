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5T06:28:32.3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2002 450,'136'0,"78"0,121 0,142 0,260 1,1271-6,-1693-1,-159-1,-145 5,-11 2,0 0,1 0,-1 0,0 0,0 0,0 0,0 0,0 0,0 0,0 0,0 0,0 0,0 0,0 0,0-1,0 1,0 0,0 0,0 0,0 0,0 0,0 0,1 0,-1 0,0 0,0 0,0 0,0 0,0 0,0 0,0 0,0-1,0 1,0 0,0 0,0 0,0 0,0 0,0 0,0 0,0 0,0 0,-1 0,1 0,0 0,0 0,0 0,0 0,0 0,0-1,0 1,0 0,0 0,0 0,0 0,0 0,0 0,0 0,0 0,0 0,0 0,0 0,0 0,-1 0,1 0,0 0,0 0,0 0,0 0,-34-6,-175-8,-210 1,-161-3,-96-11,-35-18,38-11,80-11,126 3,147 11,145 16,168 35,0 0,0 0,0-1,-9-4,16 7,0 0,0-1,-1 1,1 0,0 0,0 0,0 0,0 0,-1-1,1 1,0 0,0 0,0 0,0 0,0-1,0 1,0 0,-1 0,1 0,0-1,0 1,0 0,0 0,0-1,0 1,0 0,0 0,0 0,0-1,0 1,0 0,0 0,0 0,1-1,-1 1,0 0,0 0,0 0,0-1,0 1,0 0,0 0,1 0,-1-1,0 1,0 0,0 0,0 0,1 0,-1 0,0 0,0 0,0-1,1 1,-1 0,0 0,0 0,0 0,1 0,-1 0,0 0,0 0,0 0,1 0,-1 0,0 0,0 0,1 0,-1 0,18-2,-1 1,34 0,170 14,118 16,93 4,82 1,97-6,1256 5,-4-43,-1761 9,236-1,-138 6,-195-3,1-1,-1 1,0 0,0 1,1-1,4 3,-10-4,1 0,-1 1,1-1,-1 0,0 0,1 0,-1 0,0 1,0-1,1 0,-1 0,0 1,1-1,-1 0,0 1,0-1,0 0,1 1,-1-1,0 0,0 1,0-1,0 1,0-1,0 0,0 1,1-1,-1 0,0 1,0-1,-1 1,1-1,0 0,0 1,0-1,0 0,0 1,0-1,0 1,-1-1,1 0,0 1,0-1,0 0,-1 1,1-1,0 0,-1 1,-3 2,0 0,0 0,-1 0,1 0,-1-1,-5 3,-61 23,-171 50,-482 107,305-107,-49-1,-1425 90,1580-163,-7-4,318 0,15 0,29-2,185-10,135-5,116 1,82 3,2176-6,-2614 19,-92 1,-28 0,-5-1,-61 4,40-3,-251 12,-183 3,-192-1,-183-3,-119-5,-851-7,4-35,1209 7,182-4,170-4,174 19,60 16,1 0,-1 0,1-1,-1 0,1 0,-1 0,-2-2,6 4,-1 0,1-1,0 1,0 0,-1 0,1-1,0 1,0 0,0-1,-1 1,1 0,0-1,0 1,0 0,0-1,0 1,0 0,0-1,0 1,0 0,0-1,0 1,0 0,0-1,0 1,0 0,0-1,0 1,0 0,0-1,0 1,0 0,1-1,-1 1,0 0,0-1,0 1,1 0,-1 0,0-1,0 1,1 0,-1 0,1-1,2-1,0 1,0-1,1 1,-1-1,1 1,6-1,31-6,66-2,171-1,116 6,1110 5,-447 2,-512-2,-54 10,-90 7,-92 0,-105-3,-143-8,-59-6,0 0,1 0,-1 1,0-1,0 1,0-1,1 1,-1 0,0 0,2 1,-8 2,-12 2,-59 10,-218 30,-172 22,-132 16,-1777 135,2064-208,164-10,137-1,22 0,32-2,258-15,236-12,168-4,107 2,465-2,3 38,-614 23,-140 19,-143 0,-271-31,152 13,-248-30,-28-3,-73-12,-118-7,161 19,-264-19,-1096-12,1204 32,191 3,-182-7,156 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0600" y="495299"/>
            <a:ext cx="716280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2142172"/>
            <a:ext cx="4737100" cy="404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150" y="2506344"/>
            <a:ext cx="6235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Entity-Relationship</a:t>
            </a:r>
            <a:r>
              <a:rPr spc="-55" dirty="0"/>
              <a:t> </a:t>
            </a:r>
            <a:r>
              <a:rPr spc="-5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00" y="3821557"/>
            <a:ext cx="8610600" cy="1802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0" marR="1866900" algn="ctr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E/R </a:t>
            </a:r>
            <a:r>
              <a:rPr sz="3200" spc="-10" dirty="0">
                <a:latin typeface="Tahoma"/>
                <a:cs typeface="Tahoma"/>
              </a:rPr>
              <a:t>Diagrams</a:t>
            </a:r>
            <a:endParaRPr lang="en-US" sz="3200" spc="-10" dirty="0">
              <a:latin typeface="Tahoma"/>
              <a:cs typeface="Tahoma"/>
            </a:endParaRPr>
          </a:p>
          <a:p>
            <a:pPr marL="1873250" marR="1866900" algn="ctr">
              <a:lnSpc>
                <a:spcPct val="119900"/>
              </a:lnSpc>
              <a:spcBef>
                <a:spcPts val="100"/>
              </a:spcBef>
            </a:pPr>
            <a:r>
              <a:rPr sz="3200" spc="-35" dirty="0">
                <a:latin typeface="Tahoma"/>
                <a:cs typeface="Tahoma"/>
              </a:rPr>
              <a:t>Weak </a:t>
            </a:r>
            <a:r>
              <a:rPr sz="3200" spc="-10" dirty="0">
                <a:latin typeface="Tahoma"/>
                <a:cs typeface="Tahoma"/>
              </a:rPr>
              <a:t>Entity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</a:t>
            </a:r>
            <a:r>
              <a:rPr lang="en-US" altLang="zh-CN" sz="3200" spc="-5" dirty="0">
                <a:latin typeface="Tahoma"/>
                <a:cs typeface="Tahoma"/>
              </a:rPr>
              <a:t>t</a:t>
            </a:r>
            <a:r>
              <a:rPr lang="zh-CN" altLang="en-US" sz="3200" spc="-5" dirty="0">
                <a:latin typeface="Tahoma"/>
                <a:cs typeface="Tahoma"/>
              </a:rPr>
              <a:t>弱实体集合</a:t>
            </a:r>
            <a:endParaRPr sz="3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Converting </a:t>
            </a:r>
            <a:r>
              <a:rPr sz="3200" spc="-5" dirty="0">
                <a:latin typeface="Tahoma"/>
                <a:cs typeface="Tahoma"/>
              </a:rPr>
              <a:t>E/R </a:t>
            </a:r>
            <a:r>
              <a:rPr sz="3200" spc="-10" dirty="0">
                <a:latin typeface="Tahoma"/>
                <a:cs typeface="Tahoma"/>
              </a:rPr>
              <a:t>Diagrams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Relations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9285" y="829944"/>
            <a:ext cx="5346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Purpose of E/R</a:t>
            </a:r>
            <a:r>
              <a:rPr spc="-45" dirty="0"/>
              <a:t> </a:t>
            </a:r>
            <a:r>
              <a:rPr spc="-5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2900" y="1917327"/>
            <a:ext cx="8458200" cy="41017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2486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E/R model allows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sketch  </a:t>
            </a:r>
            <a:r>
              <a:rPr sz="3200" spc="-5" dirty="0">
                <a:latin typeface="Tahoma"/>
                <a:cs typeface="Tahoma"/>
              </a:rPr>
              <a:t>database schema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designs.</a:t>
            </a:r>
            <a:r>
              <a:rPr lang="zh-CN" altLang="en-US" sz="3200" spc="-5" dirty="0">
                <a:latin typeface="Tahoma"/>
                <a:cs typeface="Tahoma"/>
              </a:rPr>
              <a:t>简述模式设计</a:t>
            </a:r>
            <a:endParaRPr sz="3200" dirty="0">
              <a:latin typeface="Tahoma"/>
              <a:cs typeface="Tahoma"/>
            </a:endParaRPr>
          </a:p>
          <a:p>
            <a:pPr marL="755650" marR="123888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Includes some </a:t>
            </a:r>
            <a:r>
              <a:rPr sz="2800" spc="-10" dirty="0">
                <a:latin typeface="Tahoma"/>
                <a:cs typeface="Tahoma"/>
              </a:rPr>
              <a:t>constraints</a:t>
            </a:r>
            <a:r>
              <a:rPr lang="zh-CN" altLang="en-US" sz="2800" spc="-10" dirty="0">
                <a:latin typeface="Tahoma"/>
                <a:cs typeface="Tahoma"/>
              </a:rPr>
              <a:t>约束</a:t>
            </a:r>
            <a:r>
              <a:rPr sz="2800" spc="-10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but not  </a:t>
            </a:r>
            <a:r>
              <a:rPr sz="2800" spc="-10" dirty="0">
                <a:latin typeface="Tahoma"/>
                <a:cs typeface="Tahoma"/>
              </a:rPr>
              <a:t>operations.</a:t>
            </a:r>
            <a:r>
              <a:rPr lang="zh-CN" altLang="en-US" sz="2800" spc="-10" dirty="0">
                <a:latin typeface="Tahoma"/>
                <a:cs typeface="Tahoma"/>
              </a:rPr>
              <a:t>操作</a:t>
            </a:r>
            <a:endParaRPr sz="2800" dirty="0">
              <a:latin typeface="Tahoma"/>
              <a:cs typeface="Tahoma"/>
            </a:endParaRPr>
          </a:p>
          <a:p>
            <a:pPr marL="301625" marR="824865" indent="-28956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Designs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pictures called</a:t>
            </a:r>
            <a:r>
              <a:rPr lang="en-US" sz="3200" spc="-5" dirty="0">
                <a:latin typeface="Tahoma"/>
                <a:cs typeface="Tahoma"/>
              </a:rPr>
              <a:t> </a:t>
            </a:r>
            <a:r>
              <a:rPr lang="en-US" altLang="zh-CN" sz="3200" dirty="0">
                <a:effectLst/>
              </a:rPr>
              <a:t>entity relationship diagrams.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CC9900"/>
                </a:solidFill>
                <a:latin typeface="Tahoma"/>
                <a:cs typeface="Tahoma"/>
              </a:rPr>
              <a:t>Later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0" dirty="0">
                <a:latin typeface="Tahoma"/>
                <a:cs typeface="Tahoma"/>
              </a:rPr>
              <a:t>convert </a:t>
            </a:r>
            <a:r>
              <a:rPr sz="3200" spc="-5" dirty="0">
                <a:latin typeface="Tahoma"/>
                <a:cs typeface="Tahoma"/>
              </a:rPr>
              <a:t>E/R designs to relational  </a:t>
            </a:r>
            <a:r>
              <a:rPr sz="3200" dirty="0">
                <a:latin typeface="Tahoma"/>
                <a:cs typeface="Tahoma"/>
              </a:rPr>
              <a:t>DB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designs.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0914" y="829944"/>
            <a:ext cx="4662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Framework </a:t>
            </a:r>
            <a:r>
              <a:rPr spc="-20" dirty="0"/>
              <a:t>for</a:t>
            </a:r>
            <a:r>
              <a:rPr spc="-30" dirty="0"/>
              <a:t> </a:t>
            </a:r>
            <a:r>
              <a:rPr spc="-5" dirty="0"/>
              <a:t>E/R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882130" cy="37306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Design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serious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business.</a:t>
            </a:r>
            <a:endParaRPr sz="3200" dirty="0">
              <a:latin typeface="Tahoma"/>
              <a:cs typeface="Tahoma"/>
            </a:endParaRPr>
          </a:p>
          <a:p>
            <a:pPr marL="355600" marR="412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“boss” knows they </a:t>
            </a:r>
            <a:r>
              <a:rPr sz="3200" spc="-10" dirty="0">
                <a:latin typeface="Tahoma"/>
                <a:cs typeface="Tahoma"/>
              </a:rPr>
              <a:t>want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database, but they </a:t>
            </a:r>
            <a:r>
              <a:rPr sz="3200" spc="10" dirty="0">
                <a:latin typeface="Tahoma"/>
                <a:cs typeface="Tahoma"/>
              </a:rPr>
              <a:t>don’t </a:t>
            </a:r>
            <a:r>
              <a:rPr sz="3200" spc="-5" dirty="0">
                <a:latin typeface="Tahoma"/>
                <a:cs typeface="Tahoma"/>
              </a:rPr>
              <a:t>know what  they </a:t>
            </a:r>
            <a:r>
              <a:rPr sz="3200" spc="-10" dirty="0">
                <a:latin typeface="Tahoma"/>
                <a:cs typeface="Tahoma"/>
              </a:rPr>
              <a:t>want </a:t>
            </a:r>
            <a:r>
              <a:rPr sz="3200" spc="-5" dirty="0">
                <a:latin typeface="Tahoma"/>
                <a:cs typeface="Tahoma"/>
              </a:rPr>
              <a:t>in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it.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Sketching</a:t>
            </a:r>
            <a:r>
              <a:rPr lang="en-US" sz="3200" spc="-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components is </a:t>
            </a:r>
            <a:r>
              <a:rPr sz="3200" dirty="0">
                <a:latin typeface="Tahoma"/>
                <a:cs typeface="Tahoma"/>
              </a:rPr>
              <a:t>an  </a:t>
            </a:r>
            <a:r>
              <a:rPr sz="3200" spc="-10" dirty="0">
                <a:latin typeface="Tahoma"/>
                <a:cs typeface="Tahoma"/>
              </a:rPr>
              <a:t>efficient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develop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working  database.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1200" y="829944"/>
            <a:ext cx="2642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Entity</a:t>
            </a:r>
            <a:r>
              <a:rPr spc="-75" dirty="0"/>
              <a:t> </a:t>
            </a:r>
            <a:r>
              <a:rPr spc="-5" dirty="0"/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20623"/>
            <a:ext cx="8089265" cy="3534301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r>
              <a:rPr lang="en-US" altLang="zh-CN" sz="3200" dirty="0">
                <a:effectLst/>
              </a:rPr>
              <a:t>1.Entity= “thing” or object.</a:t>
            </a:r>
          </a:p>
          <a:p>
            <a:r>
              <a:rPr lang="en-US" altLang="zh-CN" sz="3200" dirty="0"/>
              <a:t>2.</a:t>
            </a:r>
            <a:r>
              <a:rPr lang="en-US" altLang="zh-CN" sz="3200" dirty="0">
                <a:effectLst/>
              </a:rPr>
              <a:t>Entityset= collection of similar entities.</a:t>
            </a:r>
          </a:p>
          <a:p>
            <a:r>
              <a:rPr lang="en-US" altLang="zh-CN" sz="3200" dirty="0">
                <a:effectLst/>
              </a:rPr>
              <a:t>Similar to a class in object-oriented languages.</a:t>
            </a:r>
          </a:p>
          <a:p>
            <a:r>
              <a:rPr lang="en-US" altLang="zh-CN" sz="3200" dirty="0"/>
              <a:t>3.</a:t>
            </a:r>
            <a:r>
              <a:rPr lang="en-US" altLang="zh-CN" sz="3200" dirty="0">
                <a:effectLst/>
              </a:rPr>
              <a:t>Attribute= property of (the entities of) an entity set.</a:t>
            </a:r>
          </a:p>
          <a:p>
            <a:r>
              <a:rPr lang="en-US" altLang="zh-CN" sz="3200" dirty="0">
                <a:effectLst/>
              </a:rPr>
              <a:t>Attributes are simple values, e.g. integers or character strings, not structs, sets,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9089" y="829944"/>
            <a:ext cx="33864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E/R</a:t>
            </a:r>
            <a:r>
              <a:rPr spc="-65" dirty="0"/>
              <a:t> </a:t>
            </a:r>
            <a:r>
              <a:rPr spc="-15" dirty="0"/>
              <a:t>Diagrams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6433185" cy="206248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entity-relationship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diagram: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Entity </a:t>
            </a:r>
            <a:r>
              <a:rPr sz="2800" spc="-5" dirty="0">
                <a:latin typeface="Tahoma"/>
                <a:cs typeface="Tahoma"/>
              </a:rPr>
              <a:t>set 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rectangle.</a:t>
            </a:r>
            <a:endParaRPr sz="28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Attribute </a:t>
            </a:r>
            <a:r>
              <a:rPr sz="2800" spc="-5" dirty="0">
                <a:latin typeface="Tahoma"/>
                <a:cs typeface="Tahoma"/>
              </a:rPr>
              <a:t>= </a:t>
            </a:r>
            <a:r>
              <a:rPr sz="2800" spc="-20" dirty="0">
                <a:latin typeface="Tahoma"/>
                <a:cs typeface="Tahoma"/>
              </a:rPr>
              <a:t>oval,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a line to the  rectangle representing </a:t>
            </a:r>
            <a:r>
              <a:rPr sz="2800" dirty="0">
                <a:latin typeface="Tahoma"/>
                <a:cs typeface="Tahoma"/>
              </a:rPr>
              <a:t>its </a:t>
            </a:r>
            <a:r>
              <a:rPr sz="2800" spc="-10" dirty="0">
                <a:latin typeface="Tahoma"/>
                <a:cs typeface="Tahoma"/>
              </a:rPr>
              <a:t>entity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set.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338637" y="1138237"/>
            <a:ext cx="3133725" cy="2295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29944"/>
            <a:ext cx="2306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4061459"/>
            <a:ext cx="7550784" cy="1816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Entity </a:t>
            </a:r>
            <a:r>
              <a:rPr sz="2800" spc="-5" dirty="0">
                <a:latin typeface="Tahoma"/>
                <a:cs typeface="Tahoma"/>
              </a:rPr>
              <a:t>set </a:t>
            </a:r>
            <a:r>
              <a:rPr sz="2800" spc="-5" dirty="0">
                <a:solidFill>
                  <a:srgbClr val="009900"/>
                </a:solidFill>
                <a:latin typeface="Tahoma"/>
                <a:cs typeface="Tahoma"/>
              </a:rPr>
              <a:t>Beers </a:t>
            </a:r>
            <a:r>
              <a:rPr sz="2800" spc="-5" dirty="0">
                <a:latin typeface="Tahoma"/>
                <a:cs typeface="Tahoma"/>
              </a:rPr>
              <a:t>has two attributes, </a:t>
            </a:r>
            <a:r>
              <a:rPr sz="2800" spc="-5" dirty="0">
                <a:solidFill>
                  <a:srgbClr val="FFFF00"/>
                </a:solidFill>
                <a:latin typeface="Tahoma"/>
                <a:cs typeface="Tahoma"/>
              </a:rPr>
              <a:t>name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FFFF00"/>
                </a:solidFill>
                <a:latin typeface="Tahoma"/>
                <a:cs typeface="Tahoma"/>
              </a:rPr>
              <a:t> manf </a:t>
            </a:r>
            <a:r>
              <a:rPr sz="2800" spc="-10" dirty="0">
                <a:latin typeface="Tahoma"/>
                <a:cs typeface="Tahoma"/>
              </a:rPr>
              <a:t>(manufacturer).</a:t>
            </a:r>
            <a:endParaRPr sz="2800" dirty="0">
              <a:latin typeface="Tahoma"/>
              <a:cs typeface="Tahoma"/>
            </a:endParaRPr>
          </a:p>
          <a:p>
            <a:pPr marL="355600" marR="520700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Each </a:t>
            </a:r>
            <a:r>
              <a:rPr sz="2800" spc="-5" dirty="0">
                <a:solidFill>
                  <a:srgbClr val="009900"/>
                </a:solidFill>
                <a:latin typeface="Tahoma"/>
                <a:cs typeface="Tahoma"/>
              </a:rPr>
              <a:t>Beers </a:t>
            </a:r>
            <a:r>
              <a:rPr sz="2800" spc="-10" dirty="0">
                <a:latin typeface="Tahoma"/>
                <a:cs typeface="Tahoma"/>
              </a:rPr>
              <a:t>entity </a:t>
            </a:r>
            <a:r>
              <a:rPr sz="2800" spc="-5" dirty="0">
                <a:latin typeface="Tahoma"/>
                <a:cs typeface="Tahoma"/>
              </a:rPr>
              <a:t>has </a:t>
            </a:r>
            <a:r>
              <a:rPr sz="2800" spc="-15" dirty="0">
                <a:latin typeface="Tahoma"/>
                <a:cs typeface="Tahoma"/>
              </a:rPr>
              <a:t>values for </a:t>
            </a:r>
            <a:r>
              <a:rPr sz="2800" spc="-5" dirty="0">
                <a:latin typeface="Tahoma"/>
                <a:cs typeface="Tahoma"/>
              </a:rPr>
              <a:t>these two  attributes, e.g. </a:t>
            </a:r>
            <a:r>
              <a:rPr sz="2800" dirty="0">
                <a:latin typeface="Tahoma"/>
                <a:cs typeface="Tahoma"/>
              </a:rPr>
              <a:t>(Bud,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Anheuser-Busch)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2584" y="26987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6399" y="1251318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617627" y="1251229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129" y="829944"/>
            <a:ext cx="3254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8080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032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solidFill>
                  <a:srgbClr val="FF0066"/>
                </a:solidFill>
                <a:latin typeface="Tahoma"/>
                <a:cs typeface="Tahoma"/>
              </a:rPr>
              <a:t>relationship </a:t>
            </a:r>
            <a:r>
              <a:rPr sz="3200" spc="-5" dirty="0">
                <a:latin typeface="Tahoma"/>
                <a:cs typeface="Tahoma"/>
              </a:rPr>
              <a:t>connects two or more 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It is represented by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diamond, with  lines to each of the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involved.</a:t>
            </a:r>
            <a:r>
              <a:rPr lang="en-US" sz="3200" spc="-15" dirty="0">
                <a:latin typeface="Tahoma"/>
                <a:cs typeface="Tahoma"/>
              </a:rPr>
              <a:t> 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223898" y="1764725"/>
            <a:ext cx="6029201" cy="4505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39" y="829944"/>
            <a:ext cx="5709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539" y="5594350"/>
            <a:ext cx="113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Drin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1804" y="5709196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2554" y="5709196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2984" y="27749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3630" y="2774950"/>
            <a:ext cx="61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954" y="1746796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467" y="3651796"/>
            <a:ext cx="93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license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1004" y="1746796"/>
            <a:ext cx="4480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6815" algn="l"/>
                <a:tab pos="3783965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	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064" y="4610100"/>
            <a:ext cx="10604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Note:  license </a:t>
            </a:r>
            <a:r>
              <a:rPr sz="2000" dirty="0">
                <a:latin typeface="Tahoma"/>
                <a:cs typeface="Tahoma"/>
              </a:rPr>
              <a:t>=  </a:t>
            </a:r>
            <a:r>
              <a:rPr sz="2000" spc="-60" dirty="0">
                <a:latin typeface="Tahoma"/>
                <a:cs typeface="Tahoma"/>
              </a:rPr>
              <a:t>beer, </a:t>
            </a:r>
            <a:r>
              <a:rPr sz="2000" spc="-10" dirty="0">
                <a:latin typeface="Tahoma"/>
                <a:cs typeface="Tahoma"/>
              </a:rPr>
              <a:t>full,  </a:t>
            </a:r>
            <a:r>
              <a:rPr sz="2000" spc="-5" dirty="0">
                <a:latin typeface="Tahoma"/>
                <a:cs typeface="Tahoma"/>
              </a:rPr>
              <a:t>none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2960370" y="2778836"/>
            <a:ext cx="632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5740" y="2699384"/>
            <a:ext cx="1957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Bars sell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some  beers.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73525" y="4260850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Li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55740" y="3834447"/>
            <a:ext cx="168148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0"/>
              </a:spcBef>
            </a:pPr>
            <a:r>
              <a:rPr sz="2400" spc="-5" dirty="0">
                <a:latin typeface="Tahoma"/>
                <a:cs typeface="Tahoma"/>
              </a:rPr>
              <a:t>Drinkers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like  </a:t>
            </a:r>
            <a:r>
              <a:rPr sz="2400" spc="-5" dirty="0">
                <a:latin typeface="Tahoma"/>
                <a:cs typeface="Tahoma"/>
              </a:rPr>
              <a:t>some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beers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1614" y="4260850"/>
            <a:ext cx="1360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Frequents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5740" y="4977447"/>
            <a:ext cx="2367915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0"/>
              </a:spcBef>
            </a:pPr>
            <a:r>
              <a:rPr sz="2400" spc="-5" dirty="0">
                <a:latin typeface="Tahoma"/>
                <a:cs typeface="Tahoma"/>
              </a:rPr>
              <a:t>Drinkers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frequent  some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bars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6354" y="829944"/>
            <a:ext cx="3971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Relationship</a:t>
            </a:r>
            <a:r>
              <a:rPr spc="-85" dirty="0"/>
              <a:t> </a:t>
            </a:r>
            <a:r>
              <a:rPr dirty="0"/>
              <a:t>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9200" cy="35007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3116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current </a:t>
            </a:r>
            <a:r>
              <a:rPr sz="3200" spc="-15" dirty="0">
                <a:latin typeface="Tahoma"/>
                <a:cs typeface="Tahoma"/>
              </a:rPr>
              <a:t>“value”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is  the set of entities that belong to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it.</a:t>
            </a:r>
            <a:endParaRPr sz="3200" dirty="0">
              <a:latin typeface="Tahoma"/>
              <a:cs typeface="Tahoma"/>
            </a:endParaRPr>
          </a:p>
          <a:p>
            <a:pPr marL="755650" marR="148145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the set of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bars in our  database.</a:t>
            </a:r>
            <a:endParaRPr sz="2800" dirty="0">
              <a:latin typeface="Tahoma"/>
              <a:cs typeface="Tahoma"/>
            </a:endParaRPr>
          </a:p>
          <a:p>
            <a:pPr marL="301625" marR="5080" indent="-28956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“value”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relationship is</a:t>
            </a:r>
            <a:r>
              <a:rPr lang="en-US" sz="3200" spc="-5" dirty="0">
                <a:latin typeface="Tahoma"/>
                <a:cs typeface="Tahoma"/>
              </a:rPr>
              <a:t> </a:t>
            </a:r>
            <a:r>
              <a:rPr lang="en-US" altLang="zh-CN" sz="3200" spc="-5" dirty="0">
                <a:latin typeface="Tahoma"/>
                <a:cs typeface="Tahoma"/>
              </a:rPr>
              <a:t>a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lang="en-US" altLang="zh-CN" sz="3200" dirty="0" err="1">
                <a:effectLst/>
              </a:rPr>
              <a:t>relationshipset</a:t>
            </a:r>
            <a:r>
              <a:rPr sz="3200" spc="-1030" dirty="0">
                <a:latin typeface="Tahoma"/>
                <a:cs typeface="Tahoma"/>
              </a:rPr>
              <a:t>,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set of tuples with one component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each related </a:t>
            </a:r>
            <a:r>
              <a:rPr sz="3200" spc="-10" dirty="0">
                <a:latin typeface="Tahoma"/>
                <a:cs typeface="Tahoma"/>
              </a:rPr>
              <a:t>entity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829944"/>
            <a:ext cx="6427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Relationship</a:t>
            </a:r>
            <a:r>
              <a:rPr spc="-65" dirty="0"/>
              <a:t> </a:t>
            </a:r>
            <a:r>
              <a:rPr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744334" cy="2238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relationship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Sells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might 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relationship set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like: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50" dirty="0">
              <a:latin typeface="Tahoma"/>
              <a:cs typeface="Tahoma"/>
            </a:endParaRPr>
          </a:p>
          <a:p>
            <a:pPr marL="2130425">
              <a:lnSpc>
                <a:spcPct val="100000"/>
              </a:lnSpc>
              <a:spcBef>
                <a:spcPts val="5"/>
              </a:spcBef>
              <a:tabLst>
                <a:tab pos="3958590" algn="l"/>
              </a:tabLst>
            </a:pP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Bar	Beer</a:t>
            </a:r>
            <a:endParaRPr sz="2400" dirty="0">
              <a:latin typeface="Tahoma"/>
              <a:cs typeface="Tahoma"/>
            </a:endParaRPr>
          </a:p>
          <a:p>
            <a:pPr marL="2130425">
              <a:lnSpc>
                <a:spcPct val="100000"/>
              </a:lnSpc>
              <a:tabLst>
                <a:tab pos="3958590" algn="l"/>
              </a:tabLst>
            </a:pPr>
            <a:r>
              <a:rPr sz="2400" spc="-20" dirty="0">
                <a:latin typeface="Tahoma"/>
                <a:cs typeface="Tahoma"/>
              </a:rPr>
              <a:t>Joe’s</a:t>
            </a:r>
            <a:r>
              <a:rPr sz="2400" dirty="0">
                <a:latin typeface="Tahoma"/>
                <a:cs typeface="Tahoma"/>
              </a:rPr>
              <a:t> Bar	Bud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82264" y="4225607"/>
            <a:ext cx="12617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</a:t>
            </a:r>
            <a:r>
              <a:rPr sz="2400" dirty="0">
                <a:latin typeface="Tahoma"/>
                <a:cs typeface="Tahoma"/>
              </a:rPr>
              <a:t>Bar  </a:t>
            </a:r>
            <a:r>
              <a:rPr sz="2400" spc="-20" dirty="0">
                <a:latin typeface="Tahoma"/>
                <a:cs typeface="Tahoma"/>
              </a:rPr>
              <a:t>Sue’s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Bar  </a:t>
            </a:r>
            <a:r>
              <a:rPr sz="2400" spc="-20" dirty="0">
                <a:latin typeface="Tahoma"/>
                <a:cs typeface="Tahoma"/>
              </a:rPr>
              <a:t>Sue’s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Bar  </a:t>
            </a:r>
            <a:r>
              <a:rPr sz="2400" spc="-20" dirty="0">
                <a:latin typeface="Tahoma"/>
                <a:cs typeface="Tahoma"/>
              </a:rPr>
              <a:t>Sue’s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1065" y="4225607"/>
            <a:ext cx="13081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Miller  Bud  </a:t>
            </a:r>
            <a:r>
              <a:rPr sz="2400" spc="-25" dirty="0">
                <a:latin typeface="Tahoma"/>
                <a:cs typeface="Tahoma"/>
              </a:rPr>
              <a:t>Pete’s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Ale  Bud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38437" y="3424237"/>
            <a:ext cx="3438525" cy="2371725"/>
          </a:xfrm>
          <a:custGeom>
            <a:avLst/>
            <a:gdLst/>
            <a:ahLst/>
            <a:cxnLst/>
            <a:rect l="l" t="t" r="r" b="b"/>
            <a:pathLst>
              <a:path w="3438525" h="2371725">
                <a:moveTo>
                  <a:pt x="3438525" y="2371725"/>
                </a:moveTo>
                <a:lnTo>
                  <a:pt x="0" y="2371725"/>
                </a:lnTo>
                <a:lnTo>
                  <a:pt x="0" y="0"/>
                </a:lnTo>
                <a:lnTo>
                  <a:pt x="3438525" y="0"/>
                </a:lnTo>
                <a:lnTo>
                  <a:pt x="3438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362200"/>
                </a:lnTo>
                <a:lnTo>
                  <a:pt x="4762" y="2362200"/>
                </a:lnTo>
                <a:lnTo>
                  <a:pt x="9525" y="2366962"/>
                </a:lnTo>
                <a:lnTo>
                  <a:pt x="3438525" y="2366962"/>
                </a:lnTo>
                <a:lnTo>
                  <a:pt x="3438525" y="2371725"/>
                </a:lnTo>
                <a:close/>
              </a:path>
              <a:path w="3438525" h="2371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38525" h="2371725">
                <a:moveTo>
                  <a:pt x="3429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429000" y="4762"/>
                </a:lnTo>
                <a:lnTo>
                  <a:pt x="3429000" y="9525"/>
                </a:lnTo>
                <a:close/>
              </a:path>
              <a:path w="3438525" h="2371725">
                <a:moveTo>
                  <a:pt x="3429000" y="2366962"/>
                </a:moveTo>
                <a:lnTo>
                  <a:pt x="3429000" y="4762"/>
                </a:lnTo>
                <a:lnTo>
                  <a:pt x="3433762" y="9525"/>
                </a:lnTo>
                <a:lnTo>
                  <a:pt x="3438525" y="9525"/>
                </a:lnTo>
                <a:lnTo>
                  <a:pt x="3438525" y="2362200"/>
                </a:lnTo>
                <a:lnTo>
                  <a:pt x="3433762" y="2362200"/>
                </a:lnTo>
                <a:lnTo>
                  <a:pt x="3429000" y="2366962"/>
                </a:lnTo>
                <a:close/>
              </a:path>
              <a:path w="3438525" h="2371725">
                <a:moveTo>
                  <a:pt x="3438525" y="9525"/>
                </a:moveTo>
                <a:lnTo>
                  <a:pt x="3433762" y="9525"/>
                </a:lnTo>
                <a:lnTo>
                  <a:pt x="3429000" y="4762"/>
                </a:lnTo>
                <a:lnTo>
                  <a:pt x="3438525" y="4762"/>
                </a:lnTo>
                <a:lnTo>
                  <a:pt x="3438525" y="9525"/>
                </a:lnTo>
                <a:close/>
              </a:path>
              <a:path w="3438525" h="2371725">
                <a:moveTo>
                  <a:pt x="9525" y="2366962"/>
                </a:moveTo>
                <a:lnTo>
                  <a:pt x="4762" y="2362200"/>
                </a:lnTo>
                <a:lnTo>
                  <a:pt x="9525" y="2362200"/>
                </a:lnTo>
                <a:lnTo>
                  <a:pt x="9525" y="2366962"/>
                </a:lnTo>
                <a:close/>
              </a:path>
              <a:path w="3438525" h="2371725">
                <a:moveTo>
                  <a:pt x="3429000" y="2366962"/>
                </a:moveTo>
                <a:lnTo>
                  <a:pt x="9525" y="2366962"/>
                </a:lnTo>
                <a:lnTo>
                  <a:pt x="9525" y="2362200"/>
                </a:lnTo>
                <a:lnTo>
                  <a:pt x="3429000" y="2362200"/>
                </a:lnTo>
                <a:lnTo>
                  <a:pt x="3429000" y="2366962"/>
                </a:lnTo>
                <a:close/>
              </a:path>
              <a:path w="3438525" h="2371725">
                <a:moveTo>
                  <a:pt x="3438525" y="2366962"/>
                </a:moveTo>
                <a:lnTo>
                  <a:pt x="3429000" y="2366962"/>
                </a:lnTo>
                <a:lnTo>
                  <a:pt x="3433762" y="2362200"/>
                </a:lnTo>
                <a:lnTo>
                  <a:pt x="3438525" y="2362200"/>
                </a:lnTo>
                <a:lnTo>
                  <a:pt x="3438525" y="2366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3200" y="3886200"/>
            <a:ext cx="3429000" cy="0"/>
          </a:xfrm>
          <a:custGeom>
            <a:avLst/>
            <a:gdLst/>
            <a:ahLst/>
            <a:cxnLst/>
            <a:rect l="l" t="t" r="r" b="b"/>
            <a:pathLst>
              <a:path w="3429000">
                <a:moveTo>
                  <a:pt x="0" y="0"/>
                </a:moveTo>
                <a:lnTo>
                  <a:pt x="3429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19600" y="3429000"/>
            <a:ext cx="0" cy="2362200"/>
          </a:xfrm>
          <a:custGeom>
            <a:avLst/>
            <a:gdLst/>
            <a:ahLst/>
            <a:cxnLst/>
            <a:rect l="l" t="t" r="r" b="b"/>
            <a:pathLst>
              <a:path h="2362200">
                <a:moveTo>
                  <a:pt x="0" y="0"/>
                </a:moveTo>
                <a:lnTo>
                  <a:pt x="0" y="2362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6988" y="685800"/>
            <a:ext cx="683387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Multiway</a:t>
            </a:r>
            <a:r>
              <a:rPr lang="zh-CN" altLang="en-US" spc="-15" dirty="0"/>
              <a:t>多路</a:t>
            </a: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74915" cy="395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87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Sometimes,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relationship that  connects more than two </a:t>
            </a:r>
            <a:r>
              <a:rPr sz="3200" spc="-10" dirty="0">
                <a:latin typeface="Tahoma"/>
                <a:cs typeface="Tahoma"/>
              </a:rPr>
              <a:t>entity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355600" marR="6381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that drinkers will only drink  certain beers at certain bars.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Our </a:t>
            </a:r>
            <a:r>
              <a:rPr sz="2800" spc="-10" dirty="0">
                <a:latin typeface="Tahoma"/>
                <a:cs typeface="Tahoma"/>
              </a:rPr>
              <a:t>three </a:t>
            </a:r>
            <a:r>
              <a:rPr sz="2800" spc="-5" dirty="0">
                <a:latin typeface="Tahoma"/>
                <a:cs typeface="Tahoma"/>
              </a:rPr>
              <a:t>binary relationships 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Likes</a:t>
            </a:r>
            <a:r>
              <a:rPr sz="2800" spc="-10" dirty="0">
                <a:latin typeface="Tahoma"/>
                <a:cs typeface="Tahoma"/>
              </a:rPr>
              <a:t>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Sells</a:t>
            </a:r>
            <a:r>
              <a:rPr sz="2800" spc="-5" dirty="0">
                <a:latin typeface="Tahoma"/>
                <a:cs typeface="Tahoma"/>
              </a:rPr>
              <a:t>,  and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Frequents </a:t>
            </a:r>
            <a:r>
              <a:rPr sz="2800" spc="-5" dirty="0">
                <a:latin typeface="Tahoma"/>
                <a:cs typeface="Tahoma"/>
              </a:rPr>
              <a:t>do not allow us to </a:t>
            </a:r>
            <a:r>
              <a:rPr sz="2800" spc="-10" dirty="0">
                <a:latin typeface="Tahoma"/>
                <a:cs typeface="Tahoma"/>
              </a:rPr>
              <a:t>make </a:t>
            </a:r>
            <a:r>
              <a:rPr sz="2800" spc="-5" dirty="0">
                <a:latin typeface="Tahoma"/>
                <a:cs typeface="Tahoma"/>
              </a:rPr>
              <a:t>this  distinction.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a </a:t>
            </a:r>
            <a:r>
              <a:rPr sz="2800" spc="-20" dirty="0">
                <a:latin typeface="Tahoma"/>
                <a:cs typeface="Tahoma"/>
              </a:rPr>
              <a:t>3-way </a:t>
            </a:r>
            <a:r>
              <a:rPr sz="2800" spc="-5" dirty="0">
                <a:latin typeface="Tahoma"/>
                <a:cs typeface="Tahoma"/>
              </a:rPr>
              <a:t>relationship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would.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00037" y="1595437"/>
            <a:ext cx="7781925" cy="4733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344" y="525144"/>
            <a:ext cx="71799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65" dirty="0"/>
              <a:t>3-Way</a:t>
            </a:r>
            <a:r>
              <a:rPr spc="-5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1329" y="2660650"/>
            <a:ext cx="61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8884" y="26987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8240" y="5289550"/>
            <a:ext cx="113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Drin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7843" y="1670062"/>
            <a:ext cx="2149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9715" algn="l"/>
              </a:tabLst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6043" y="1746262"/>
            <a:ext cx="218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1615" algn="l"/>
              </a:tabLst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2509443" y="58610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4893" y="5861062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98" y="2736862"/>
            <a:ext cx="93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license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0909" y="3613150"/>
            <a:ext cx="159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Preferences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0335" y="829944"/>
            <a:ext cx="6323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65" dirty="0"/>
              <a:t>Typical </a:t>
            </a:r>
            <a:r>
              <a:rPr spc="-10" dirty="0"/>
              <a:t>Relationship</a:t>
            </a:r>
            <a:r>
              <a:rPr spc="-5" dirty="0"/>
              <a:t> </a:t>
            </a:r>
            <a:r>
              <a:rPr dirty="0"/>
              <a:t>Set</a:t>
            </a:r>
          </a:p>
        </p:txBody>
      </p:sp>
      <p:sp>
        <p:nvSpPr>
          <p:cNvPr id="3" name="object 3"/>
          <p:cNvSpPr/>
          <p:nvPr/>
        </p:nvSpPr>
        <p:spPr>
          <a:xfrm>
            <a:off x="2357437" y="2281237"/>
            <a:ext cx="5267325" cy="3057525"/>
          </a:xfrm>
          <a:custGeom>
            <a:avLst/>
            <a:gdLst/>
            <a:ahLst/>
            <a:cxnLst/>
            <a:rect l="l" t="t" r="r" b="b"/>
            <a:pathLst>
              <a:path w="5267325" h="3057525">
                <a:moveTo>
                  <a:pt x="5267325" y="3057525"/>
                </a:moveTo>
                <a:lnTo>
                  <a:pt x="0" y="3057525"/>
                </a:lnTo>
                <a:lnTo>
                  <a:pt x="0" y="0"/>
                </a:lnTo>
                <a:lnTo>
                  <a:pt x="5267325" y="0"/>
                </a:lnTo>
                <a:lnTo>
                  <a:pt x="5267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048000"/>
                </a:lnTo>
                <a:lnTo>
                  <a:pt x="4762" y="3048000"/>
                </a:lnTo>
                <a:lnTo>
                  <a:pt x="9525" y="3052762"/>
                </a:lnTo>
                <a:lnTo>
                  <a:pt x="5267325" y="3052762"/>
                </a:lnTo>
                <a:lnTo>
                  <a:pt x="5267325" y="3057525"/>
                </a:lnTo>
                <a:close/>
              </a:path>
              <a:path w="5267325" h="3057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267325" h="3057525">
                <a:moveTo>
                  <a:pt x="5257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257800" y="4762"/>
                </a:lnTo>
                <a:lnTo>
                  <a:pt x="5257800" y="9525"/>
                </a:lnTo>
                <a:close/>
              </a:path>
              <a:path w="5267325" h="3057525">
                <a:moveTo>
                  <a:pt x="5257800" y="3052762"/>
                </a:moveTo>
                <a:lnTo>
                  <a:pt x="5257800" y="4762"/>
                </a:lnTo>
                <a:lnTo>
                  <a:pt x="5262562" y="9525"/>
                </a:lnTo>
                <a:lnTo>
                  <a:pt x="5267325" y="9525"/>
                </a:lnTo>
                <a:lnTo>
                  <a:pt x="5267325" y="3048000"/>
                </a:lnTo>
                <a:lnTo>
                  <a:pt x="5262562" y="3048000"/>
                </a:lnTo>
                <a:lnTo>
                  <a:pt x="5257800" y="3052762"/>
                </a:lnTo>
                <a:close/>
              </a:path>
              <a:path w="5267325" h="3057525">
                <a:moveTo>
                  <a:pt x="5267325" y="9525"/>
                </a:moveTo>
                <a:lnTo>
                  <a:pt x="5262562" y="9525"/>
                </a:lnTo>
                <a:lnTo>
                  <a:pt x="5257800" y="4762"/>
                </a:lnTo>
                <a:lnTo>
                  <a:pt x="5267325" y="4762"/>
                </a:lnTo>
                <a:lnTo>
                  <a:pt x="5267325" y="9525"/>
                </a:lnTo>
                <a:close/>
              </a:path>
              <a:path w="5267325" h="3057525">
                <a:moveTo>
                  <a:pt x="9525" y="3052762"/>
                </a:moveTo>
                <a:lnTo>
                  <a:pt x="4762" y="3048000"/>
                </a:lnTo>
                <a:lnTo>
                  <a:pt x="9525" y="3048000"/>
                </a:lnTo>
                <a:lnTo>
                  <a:pt x="9525" y="3052762"/>
                </a:lnTo>
                <a:close/>
              </a:path>
              <a:path w="5267325" h="3057525">
                <a:moveTo>
                  <a:pt x="5257800" y="3052762"/>
                </a:moveTo>
                <a:lnTo>
                  <a:pt x="9525" y="3052762"/>
                </a:lnTo>
                <a:lnTo>
                  <a:pt x="9525" y="3048000"/>
                </a:lnTo>
                <a:lnTo>
                  <a:pt x="5257800" y="3048000"/>
                </a:lnTo>
                <a:lnTo>
                  <a:pt x="5257800" y="3052762"/>
                </a:lnTo>
                <a:close/>
              </a:path>
              <a:path w="5267325" h="3057525">
                <a:moveTo>
                  <a:pt x="5267325" y="3052762"/>
                </a:moveTo>
                <a:lnTo>
                  <a:pt x="5257800" y="3052762"/>
                </a:lnTo>
                <a:lnTo>
                  <a:pt x="5262562" y="3048000"/>
                </a:lnTo>
                <a:lnTo>
                  <a:pt x="5267325" y="3048000"/>
                </a:lnTo>
                <a:lnTo>
                  <a:pt x="5267325" y="3052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62200" y="2286000"/>
          <a:ext cx="5257800" cy="3047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341"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9900"/>
                          </a:solidFill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5" dirty="0">
                          <a:solidFill>
                            <a:srgbClr val="CC9900"/>
                          </a:solidFill>
                          <a:latin typeface="Tahoma"/>
                          <a:cs typeface="Tahoma"/>
                        </a:rPr>
                        <a:t>Drinker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9900"/>
                          </a:solidFill>
                          <a:latin typeface="Tahoma"/>
                          <a:cs typeface="Tahoma"/>
                        </a:rPr>
                        <a:t>Beer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Ann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Ann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Ann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78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Pete’s</a:t>
                      </a:r>
                      <a:r>
                        <a:rPr sz="24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Ale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Bob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Bob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Cal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69">
                <a:tc>
                  <a:txBody>
                    <a:bodyPr/>
                    <a:lstStyle/>
                    <a:p>
                      <a:pPr marL="151130">
                        <a:lnSpc>
                          <a:spcPts val="287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Cal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Lite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2880" y="829944"/>
            <a:ext cx="6238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Many-Many</a:t>
            </a:r>
            <a:r>
              <a:rPr spc="-80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2050" cy="39889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2453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Focus: </a:t>
            </a:r>
            <a:r>
              <a:rPr sz="3200" spc="-5" dirty="0">
                <a:solidFill>
                  <a:srgbClr val="FF0066"/>
                </a:solidFill>
                <a:latin typeface="Tahoma"/>
                <a:cs typeface="Tahoma"/>
              </a:rPr>
              <a:t>binary </a:t>
            </a:r>
            <a:r>
              <a:rPr sz="3200" spc="-5" dirty="0">
                <a:latin typeface="Tahoma"/>
                <a:cs typeface="Tahoma"/>
              </a:rPr>
              <a:t>relationships, such as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between </a:t>
            </a:r>
            <a:r>
              <a:rPr sz="3200" dirty="0">
                <a:solidFill>
                  <a:srgbClr val="009900"/>
                </a:solidFill>
                <a:latin typeface="Tahoma"/>
                <a:cs typeface="Tahoma"/>
              </a:rPr>
              <a:t>Bars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009900"/>
                </a:solidFill>
                <a:latin typeface="Tahoma"/>
                <a:cs typeface="Tahoma"/>
              </a:rPr>
              <a:t>Beers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55600" marR="5080" indent="-342900" algn="just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many-many relationship</a:t>
            </a:r>
            <a:r>
              <a:rPr lang="zh-CN" altLang="en-US" sz="3600" dirty="0">
                <a:effectLst/>
              </a:rPr>
              <a:t>多对多关系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of either set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connected to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entities of the other set.</a:t>
            </a:r>
            <a:endParaRPr sz="3200" dirty="0">
              <a:latin typeface="Tahoma"/>
              <a:cs typeface="Tahoma"/>
            </a:endParaRPr>
          </a:p>
          <a:p>
            <a:pPr marL="755650" marR="87630" lvl="1" indent="-285750" algn="just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5" dirty="0">
                <a:latin typeface="Tahoma"/>
                <a:cs typeface="Tahoma"/>
              </a:rPr>
              <a:t>a bar sells </a:t>
            </a:r>
            <a:r>
              <a:rPr sz="2800" spc="-10" dirty="0">
                <a:latin typeface="Tahoma"/>
                <a:cs typeface="Tahoma"/>
              </a:rPr>
              <a:t>many </a:t>
            </a:r>
            <a:r>
              <a:rPr sz="2800" spc="-5" dirty="0">
                <a:latin typeface="Tahoma"/>
                <a:cs typeface="Tahoma"/>
              </a:rPr>
              <a:t>beers; a beer is sold  </a:t>
            </a:r>
            <a:r>
              <a:rPr sz="2800" spc="-10" dirty="0">
                <a:latin typeface="Tahoma"/>
                <a:cs typeface="Tahoma"/>
              </a:rPr>
              <a:t>by many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bars.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95437" y="2281237"/>
            <a:ext cx="1152525" cy="252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695" y="829944"/>
            <a:ext cx="2848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</a:t>
            </a:r>
            <a:r>
              <a:rPr spc="-55" dirty="0"/>
              <a:t> </a:t>
            </a:r>
            <a:r>
              <a:rPr spc="-10" dirty="0"/>
              <a:t>Pictures: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39264" y="5171122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5" dirty="0">
                <a:latin typeface="Tahoma"/>
                <a:cs typeface="Tahoma"/>
              </a:rPr>
              <a:t>n</a:t>
            </a:r>
            <a:r>
              <a:rPr sz="2400" spc="-55" dirty="0">
                <a:latin typeface="Tahoma"/>
                <a:cs typeface="Tahoma"/>
              </a:rPr>
              <a:t>y</a:t>
            </a:r>
            <a:r>
              <a:rPr sz="2400" spc="-5" dirty="0">
                <a:latin typeface="Tahoma"/>
                <a:cs typeface="Tahoma"/>
              </a:rPr>
              <a:t>-m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6550" y="829944"/>
            <a:ext cx="5931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Many-One</a:t>
            </a:r>
            <a:r>
              <a:rPr spc="-60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73950" cy="34618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r>
              <a:rPr lang="en-US" altLang="zh-CN" sz="3200" dirty="0">
                <a:effectLst/>
              </a:rPr>
              <a:t>Some binary relationships are many-one from one entity set to another.</a:t>
            </a:r>
          </a:p>
          <a:p>
            <a:r>
              <a:rPr lang="en-US" altLang="zh-CN" sz="3200" dirty="0">
                <a:effectLst/>
                <a:highlight>
                  <a:srgbClr val="FFFF00"/>
                </a:highlight>
              </a:rPr>
              <a:t>Each </a:t>
            </a:r>
            <a:r>
              <a:rPr lang="en-US" altLang="zh-CN" sz="3200" dirty="0">
                <a:effectLst/>
              </a:rPr>
              <a:t>entity of the first set is connected to at most one entity of the second set.</a:t>
            </a:r>
          </a:p>
          <a:p>
            <a:r>
              <a:rPr lang="en-US" altLang="zh-CN" sz="3200" dirty="0">
                <a:effectLst/>
              </a:rPr>
              <a:t>But an entity of the second set can be connected to zero, one, or many entities of the first 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695" y="829944"/>
            <a:ext cx="2848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</a:t>
            </a:r>
            <a:r>
              <a:rPr spc="-55" dirty="0"/>
              <a:t> </a:t>
            </a:r>
            <a:r>
              <a:rPr spc="-10" dirty="0"/>
              <a:t>Pictures:</a:t>
            </a:r>
          </a:p>
        </p:txBody>
      </p:sp>
      <p:sp>
        <p:nvSpPr>
          <p:cNvPr id="3" name="object 3"/>
          <p:cNvSpPr/>
          <p:nvPr/>
        </p:nvSpPr>
        <p:spPr>
          <a:xfrm>
            <a:off x="3805237" y="2281237"/>
            <a:ext cx="1228725" cy="1151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05237" y="4567237"/>
            <a:ext cx="238125" cy="237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5237" y="3652837"/>
            <a:ext cx="1228725" cy="694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49065" y="5171440"/>
            <a:ext cx="1360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ahoma"/>
                <a:cs typeface="Tahoma"/>
              </a:rPr>
              <a:t>many-one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555" y="829944"/>
            <a:ext cx="8137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Many-One</a:t>
            </a:r>
            <a:r>
              <a:rPr spc="-4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4909" cy="3173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95680" indent="-342900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solidFill>
                  <a:srgbClr val="CC00CC"/>
                </a:solidFill>
                <a:latin typeface="Tahoma"/>
                <a:cs typeface="Tahoma"/>
              </a:rPr>
              <a:t>Favorite</a:t>
            </a:r>
            <a:r>
              <a:rPr sz="3200" spc="-25" dirty="0">
                <a:latin typeface="Tahoma"/>
                <a:cs typeface="Tahoma"/>
              </a:rPr>
              <a:t>,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solidFill>
                  <a:srgbClr val="009900"/>
                </a:solidFill>
                <a:latin typeface="Tahoma"/>
                <a:cs typeface="Tahoma"/>
              </a:rPr>
              <a:t>Drinkers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dirty="0">
                <a:solidFill>
                  <a:srgbClr val="009900"/>
                </a:solidFill>
                <a:latin typeface="Tahoma"/>
                <a:cs typeface="Tahoma"/>
              </a:rPr>
              <a:t>Beers </a:t>
            </a:r>
            <a:r>
              <a:rPr sz="3200" spc="-5" dirty="0">
                <a:latin typeface="Tahoma"/>
                <a:cs typeface="Tahoma"/>
              </a:rPr>
              <a:t>is  </a:t>
            </a:r>
            <a:r>
              <a:rPr sz="3200" spc="-15" dirty="0">
                <a:latin typeface="Tahoma"/>
                <a:cs typeface="Tahoma"/>
              </a:rPr>
              <a:t>many-one.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200" spc="-5" dirty="0">
                <a:latin typeface="Tahoma"/>
                <a:cs typeface="Tahoma"/>
              </a:rPr>
              <a:t>has at </a:t>
            </a:r>
            <a:r>
              <a:rPr sz="3200" spc="-5" dirty="0" err="1">
                <a:latin typeface="Tahoma"/>
                <a:cs typeface="Tahoma"/>
              </a:rPr>
              <a:t>mo</a:t>
            </a:r>
            <a:r>
              <a:rPr lang="en-US" sz="3200" spc="-5" dirty="0">
                <a:latin typeface="Tahoma"/>
                <a:cs typeface="Tahoma"/>
              </a:rPr>
              <a:t> </a:t>
            </a:r>
            <a:r>
              <a:rPr sz="3200" spc="-5" dirty="0" err="1">
                <a:latin typeface="Tahoma"/>
                <a:cs typeface="Tahoma"/>
              </a:rPr>
              <a:t>st</a:t>
            </a:r>
            <a:r>
              <a:rPr sz="3200" spc="-5" dirty="0">
                <a:latin typeface="Tahoma"/>
                <a:cs typeface="Tahoma"/>
              </a:rPr>
              <a:t> one </a:t>
            </a:r>
            <a:r>
              <a:rPr sz="3200" spc="-15" dirty="0">
                <a:latin typeface="Tahoma"/>
                <a:cs typeface="Tahoma"/>
              </a:rPr>
              <a:t>favorite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beer.</a:t>
            </a:r>
            <a:endParaRPr sz="3200" dirty="0">
              <a:latin typeface="Tahoma"/>
              <a:cs typeface="Tahoma"/>
            </a:endParaRPr>
          </a:p>
          <a:p>
            <a:pPr marL="355600" marR="5029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a </a:t>
            </a:r>
            <a:r>
              <a:rPr sz="3200" spc="-5" dirty="0">
                <a:latin typeface="Tahoma"/>
                <a:cs typeface="Tahoma"/>
              </a:rPr>
              <a:t>beer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favorite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5" dirty="0">
                <a:latin typeface="Tahoma"/>
                <a:cs typeface="Tahoma"/>
              </a:rPr>
              <a:t>any  </a:t>
            </a:r>
            <a:r>
              <a:rPr sz="3200" spc="-5" dirty="0">
                <a:latin typeface="Tahoma"/>
                <a:cs typeface="Tahoma"/>
              </a:rPr>
              <a:t>number of drinkers, including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zero.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504" y="601344"/>
            <a:ext cx="56349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One-One</a:t>
            </a:r>
            <a:r>
              <a:rPr spc="-60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687817"/>
            <a:ext cx="8277859" cy="39471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70230" indent="-342900" algn="just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15" dirty="0">
                <a:latin typeface="Tahoma"/>
                <a:cs typeface="Tahoma"/>
              </a:rPr>
              <a:t>In a one-</a:t>
            </a:r>
            <a:r>
              <a:rPr lang="en-US" sz="3200" spc="-15" dirty="0" err="1">
                <a:latin typeface="Tahoma"/>
                <a:cs typeface="Tahoma"/>
              </a:rPr>
              <a:t>onerelationship</a:t>
            </a:r>
            <a:r>
              <a:rPr lang="en-US" sz="3200" spc="-15" dirty="0">
                <a:latin typeface="Tahoma"/>
                <a:cs typeface="Tahoma"/>
              </a:rPr>
              <a:t>, each entity of  either entity set is related to at </a:t>
            </a:r>
            <a:r>
              <a:rPr lang="en-US" sz="3200" spc="-15" dirty="0">
                <a:highlight>
                  <a:srgbClr val="FFFF00"/>
                </a:highlight>
                <a:latin typeface="Tahoma"/>
                <a:cs typeface="Tahoma"/>
              </a:rPr>
              <a:t>most one  </a:t>
            </a:r>
            <a:r>
              <a:rPr lang="en-US" sz="3200" spc="-15" dirty="0">
                <a:latin typeface="Tahoma"/>
                <a:cs typeface="Tahoma"/>
              </a:rPr>
              <a:t>entity of the other set.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0" dirty="0">
                <a:latin typeface="Tahoma"/>
                <a:cs typeface="Tahoma"/>
              </a:rPr>
              <a:t>Relationship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Best-seller </a:t>
            </a:r>
            <a:r>
              <a:rPr sz="3200" spc="-5" dirty="0">
                <a:latin typeface="Tahoma"/>
                <a:cs typeface="Tahoma"/>
              </a:rPr>
              <a:t>between 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 </a:t>
            </a:r>
            <a:r>
              <a:rPr sz="3200" spc="-10" dirty="0">
                <a:solidFill>
                  <a:srgbClr val="009900"/>
                </a:solidFill>
                <a:latin typeface="Tahoma"/>
                <a:cs typeface="Tahoma"/>
              </a:rPr>
              <a:t>Manfs </a:t>
            </a:r>
            <a:r>
              <a:rPr sz="3200" spc="-10" dirty="0">
                <a:latin typeface="Tahoma"/>
                <a:cs typeface="Tahoma"/>
              </a:rPr>
              <a:t>(manufacturer)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009900"/>
                </a:solidFill>
                <a:latin typeface="Tahoma"/>
                <a:cs typeface="Tahoma"/>
              </a:rPr>
              <a:t>Beers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755650" marR="43497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 beer cannot be made </a:t>
            </a:r>
            <a:r>
              <a:rPr sz="2800" spc="-10" dirty="0">
                <a:latin typeface="Tahoma"/>
                <a:cs typeface="Tahoma"/>
              </a:rPr>
              <a:t>by more </a:t>
            </a:r>
            <a:r>
              <a:rPr sz="2800" spc="-5" dirty="0">
                <a:latin typeface="Tahoma"/>
                <a:cs typeface="Tahoma"/>
              </a:rPr>
              <a:t>than one  </a:t>
            </a:r>
            <a:r>
              <a:rPr sz="2800" spc="-40" dirty="0">
                <a:latin typeface="Tahoma"/>
                <a:cs typeface="Tahoma"/>
              </a:rPr>
              <a:t>manufacturer, </a:t>
            </a:r>
            <a:r>
              <a:rPr sz="2800" spc="-5" dirty="0">
                <a:latin typeface="Tahoma"/>
                <a:cs typeface="Tahoma"/>
              </a:rPr>
              <a:t>and no </a:t>
            </a:r>
            <a:r>
              <a:rPr sz="2800" spc="-10" dirty="0">
                <a:latin typeface="Tahoma"/>
                <a:cs typeface="Tahoma"/>
              </a:rPr>
              <a:t>manufacturer </a:t>
            </a:r>
            <a:r>
              <a:rPr sz="2800" spc="-5" dirty="0">
                <a:latin typeface="Tahoma"/>
                <a:cs typeface="Tahoma"/>
              </a:rPr>
              <a:t>can </a:t>
            </a:r>
            <a:r>
              <a:rPr sz="2800" spc="-15" dirty="0">
                <a:latin typeface="Tahoma"/>
                <a:cs typeface="Tahoma"/>
              </a:rPr>
              <a:t>have 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 one </a:t>
            </a:r>
            <a:r>
              <a:rPr sz="2800" spc="-10" dirty="0">
                <a:latin typeface="Tahoma"/>
                <a:cs typeface="Tahoma"/>
              </a:rPr>
              <a:t>best-seller </a:t>
            </a:r>
            <a:r>
              <a:rPr sz="2800" spc="-5" dirty="0">
                <a:latin typeface="Tahoma"/>
                <a:cs typeface="Tahoma"/>
              </a:rPr>
              <a:t>(assume no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ties).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695" y="829944"/>
            <a:ext cx="2848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</a:t>
            </a:r>
            <a:r>
              <a:rPr spc="-55" dirty="0"/>
              <a:t> </a:t>
            </a:r>
            <a:r>
              <a:rPr spc="-10" dirty="0"/>
              <a:t>Pictures:</a:t>
            </a:r>
          </a:p>
        </p:txBody>
      </p:sp>
      <p:sp>
        <p:nvSpPr>
          <p:cNvPr id="3" name="object 3"/>
          <p:cNvSpPr/>
          <p:nvPr/>
        </p:nvSpPr>
        <p:spPr>
          <a:xfrm>
            <a:off x="6091237" y="2281237"/>
            <a:ext cx="1152525" cy="237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1237" y="2738437"/>
            <a:ext cx="1152525" cy="1151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06465" y="5171440"/>
            <a:ext cx="112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one-one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9850" y="829944"/>
            <a:ext cx="64643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Representing</a:t>
            </a:r>
            <a:r>
              <a:rPr spc="5" dirty="0"/>
              <a:t> </a:t>
            </a:r>
            <a:r>
              <a:rPr spc="-10" dirty="0"/>
              <a:t>“Multiplicity”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23150" cy="4146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622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Show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many-one </a:t>
            </a:r>
            <a:r>
              <a:rPr sz="3200" spc="-5" dirty="0">
                <a:latin typeface="Tahoma"/>
                <a:cs typeface="Tahoma"/>
              </a:rPr>
              <a:t>relationship by </a:t>
            </a:r>
            <a:r>
              <a:rPr sz="3200" dirty="0">
                <a:latin typeface="Tahoma"/>
                <a:cs typeface="Tahoma"/>
              </a:rPr>
              <a:t>an  </a:t>
            </a:r>
            <a:r>
              <a:rPr sz="3200" spc="-5" dirty="0">
                <a:latin typeface="Tahoma"/>
                <a:cs typeface="Tahoma"/>
              </a:rPr>
              <a:t>arrow entering the “one”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side.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solidFill>
                  <a:srgbClr val="3333CC"/>
                </a:solidFill>
                <a:latin typeface="Tahoma"/>
                <a:cs typeface="Tahoma"/>
              </a:rPr>
              <a:t>Remember</a:t>
            </a:r>
            <a:r>
              <a:rPr sz="2800" spc="-10" dirty="0">
                <a:latin typeface="Tahoma"/>
                <a:cs typeface="Tahoma"/>
              </a:rPr>
              <a:t>: Like </a:t>
            </a:r>
            <a:r>
              <a:rPr sz="2800" spc="-5" dirty="0">
                <a:latin typeface="Tahoma"/>
                <a:cs typeface="Tahoma"/>
              </a:rPr>
              <a:t>a </a:t>
            </a:r>
            <a:r>
              <a:rPr sz="2800" spc="-10" dirty="0">
                <a:latin typeface="Tahoma"/>
                <a:cs typeface="Tahoma"/>
              </a:rPr>
              <a:t>functional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dependency.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Show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one-one relationship by arrows  entering both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>
              <a:latin typeface="Tahoma"/>
              <a:cs typeface="Tahoma"/>
            </a:endParaRPr>
          </a:p>
          <a:p>
            <a:pPr marL="355600" marR="1828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solidFill>
                  <a:srgbClr val="33CC33"/>
                </a:solidFill>
                <a:latin typeface="Tahoma"/>
                <a:cs typeface="Tahoma"/>
              </a:rPr>
              <a:t>Rounded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arrow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“exactly </a:t>
            </a:r>
            <a:r>
              <a:rPr sz="3200" spc="-65" dirty="0">
                <a:latin typeface="Tahoma"/>
                <a:cs typeface="Tahoma"/>
              </a:rPr>
              <a:t>one,” </a:t>
            </a:r>
            <a:r>
              <a:rPr sz="3200" spc="-45" dirty="0">
                <a:latin typeface="Tahoma"/>
                <a:cs typeface="Tahoma"/>
              </a:rPr>
              <a:t>i.e., 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of the first set is related to  exactly one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of the target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555" y="829944"/>
            <a:ext cx="8137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Many-One</a:t>
            </a:r>
            <a:r>
              <a:rPr spc="-4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3" name="object 3"/>
          <p:cNvSpPr/>
          <p:nvPr/>
        </p:nvSpPr>
        <p:spPr>
          <a:xfrm>
            <a:off x="1371600" y="2819400"/>
            <a:ext cx="1066800" cy="838200"/>
          </a:xfrm>
          <a:custGeom>
            <a:avLst/>
            <a:gdLst/>
            <a:ahLst/>
            <a:cxnLst/>
            <a:rect l="l" t="t" r="r" b="b"/>
            <a:pathLst>
              <a:path w="1066800" h="838200">
                <a:moveTo>
                  <a:pt x="0" y="0"/>
                </a:moveTo>
                <a:lnTo>
                  <a:pt x="1066800" y="0"/>
                </a:lnTo>
                <a:lnTo>
                  <a:pt x="1066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66837" y="2814637"/>
            <a:ext cx="1076325" cy="847725"/>
          </a:xfrm>
          <a:custGeom>
            <a:avLst/>
            <a:gdLst/>
            <a:ahLst/>
            <a:cxnLst/>
            <a:rect l="l" t="t" r="r" b="b"/>
            <a:pathLst>
              <a:path w="1076325" h="847725">
                <a:moveTo>
                  <a:pt x="1076325" y="847725"/>
                </a:moveTo>
                <a:lnTo>
                  <a:pt x="0" y="8477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1076325" y="842962"/>
                </a:lnTo>
                <a:lnTo>
                  <a:pt x="1076325" y="847725"/>
                </a:lnTo>
                <a:close/>
              </a:path>
              <a:path w="1076325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8477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838200"/>
                </a:lnTo>
                <a:lnTo>
                  <a:pt x="1071562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1066800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842962"/>
                </a:moveTo>
                <a:lnTo>
                  <a:pt x="1066800" y="842962"/>
                </a:lnTo>
                <a:lnTo>
                  <a:pt x="1071562" y="838200"/>
                </a:lnTo>
                <a:lnTo>
                  <a:pt x="1076325" y="838200"/>
                </a:lnTo>
                <a:lnTo>
                  <a:pt x="1076325" y="842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36039" y="3041650"/>
            <a:ext cx="113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Drin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0" y="2819400"/>
            <a:ext cx="1066800" cy="838200"/>
          </a:xfrm>
          <a:custGeom>
            <a:avLst/>
            <a:gdLst/>
            <a:ahLst/>
            <a:cxnLst/>
            <a:rect l="l" t="t" r="r" b="b"/>
            <a:pathLst>
              <a:path w="1066800" h="838200">
                <a:moveTo>
                  <a:pt x="0" y="0"/>
                </a:moveTo>
                <a:lnTo>
                  <a:pt x="1066800" y="0"/>
                </a:lnTo>
                <a:lnTo>
                  <a:pt x="1066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29237" y="2814637"/>
            <a:ext cx="1076325" cy="847725"/>
          </a:xfrm>
          <a:custGeom>
            <a:avLst/>
            <a:gdLst/>
            <a:ahLst/>
            <a:cxnLst/>
            <a:rect l="l" t="t" r="r" b="b"/>
            <a:pathLst>
              <a:path w="1076325" h="847725">
                <a:moveTo>
                  <a:pt x="1076325" y="847725"/>
                </a:moveTo>
                <a:lnTo>
                  <a:pt x="0" y="8477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1076325" y="842962"/>
                </a:lnTo>
                <a:lnTo>
                  <a:pt x="1076325" y="847725"/>
                </a:lnTo>
                <a:close/>
              </a:path>
              <a:path w="1076325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8477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838200"/>
                </a:lnTo>
                <a:lnTo>
                  <a:pt x="1071562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1066800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842962"/>
                </a:moveTo>
                <a:lnTo>
                  <a:pt x="1066800" y="842962"/>
                </a:lnTo>
                <a:lnTo>
                  <a:pt x="1071562" y="838200"/>
                </a:lnTo>
                <a:lnTo>
                  <a:pt x="1076325" y="838200"/>
                </a:lnTo>
                <a:lnTo>
                  <a:pt x="1076325" y="842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4000" y="3041650"/>
            <a:ext cx="1066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6600" y="2667000"/>
            <a:ext cx="1371600" cy="1219200"/>
          </a:xfrm>
          <a:custGeom>
            <a:avLst/>
            <a:gdLst/>
            <a:ahLst/>
            <a:cxnLst/>
            <a:rect l="l" t="t" r="r" b="b"/>
            <a:pathLst>
              <a:path w="1371600" h="1219200">
                <a:moveTo>
                  <a:pt x="685800" y="1219200"/>
                </a:moveTo>
                <a:lnTo>
                  <a:pt x="0" y="609600"/>
                </a:lnTo>
                <a:lnTo>
                  <a:pt x="685800" y="0"/>
                </a:lnTo>
                <a:lnTo>
                  <a:pt x="1371600" y="609600"/>
                </a:lnTo>
                <a:lnTo>
                  <a:pt x="685800" y="121920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9437" y="2660624"/>
            <a:ext cx="1386205" cy="1232535"/>
          </a:xfrm>
          <a:custGeom>
            <a:avLst/>
            <a:gdLst/>
            <a:ahLst/>
            <a:cxnLst/>
            <a:rect l="l" t="t" r="r" b="b"/>
            <a:pathLst>
              <a:path w="1386204" h="1232535">
                <a:moveTo>
                  <a:pt x="692962" y="1231950"/>
                </a:moveTo>
                <a:lnTo>
                  <a:pt x="0" y="615975"/>
                </a:lnTo>
                <a:lnTo>
                  <a:pt x="692962" y="0"/>
                </a:lnTo>
                <a:lnTo>
                  <a:pt x="704135" y="9931"/>
                </a:lnTo>
                <a:lnTo>
                  <a:pt x="689800" y="9931"/>
                </a:lnTo>
                <a:lnTo>
                  <a:pt x="692962" y="12742"/>
                </a:lnTo>
                <a:lnTo>
                  <a:pt x="18326" y="612419"/>
                </a:lnTo>
                <a:lnTo>
                  <a:pt x="10325" y="612419"/>
                </a:lnTo>
                <a:lnTo>
                  <a:pt x="10325" y="619531"/>
                </a:lnTo>
                <a:lnTo>
                  <a:pt x="18326" y="619531"/>
                </a:lnTo>
                <a:lnTo>
                  <a:pt x="692962" y="1219208"/>
                </a:lnTo>
                <a:lnTo>
                  <a:pt x="689800" y="1222019"/>
                </a:lnTo>
                <a:lnTo>
                  <a:pt x="704135" y="1222019"/>
                </a:lnTo>
                <a:lnTo>
                  <a:pt x="692962" y="1231950"/>
                </a:lnTo>
                <a:close/>
              </a:path>
              <a:path w="1386204" h="1232535">
                <a:moveTo>
                  <a:pt x="692962" y="12742"/>
                </a:moveTo>
                <a:lnTo>
                  <a:pt x="689800" y="9931"/>
                </a:lnTo>
                <a:lnTo>
                  <a:pt x="696125" y="9931"/>
                </a:lnTo>
                <a:lnTo>
                  <a:pt x="692962" y="12742"/>
                </a:lnTo>
                <a:close/>
              </a:path>
              <a:path w="1386204" h="1232535">
                <a:moveTo>
                  <a:pt x="1371600" y="615975"/>
                </a:moveTo>
                <a:lnTo>
                  <a:pt x="692962" y="12742"/>
                </a:lnTo>
                <a:lnTo>
                  <a:pt x="696125" y="9931"/>
                </a:lnTo>
                <a:lnTo>
                  <a:pt x="704135" y="9931"/>
                </a:lnTo>
                <a:lnTo>
                  <a:pt x="1381925" y="612419"/>
                </a:lnTo>
                <a:lnTo>
                  <a:pt x="1375600" y="612419"/>
                </a:lnTo>
                <a:lnTo>
                  <a:pt x="1371600" y="615975"/>
                </a:lnTo>
                <a:close/>
              </a:path>
              <a:path w="1386204" h="1232535">
                <a:moveTo>
                  <a:pt x="10325" y="619531"/>
                </a:moveTo>
                <a:lnTo>
                  <a:pt x="10325" y="612419"/>
                </a:lnTo>
                <a:lnTo>
                  <a:pt x="14325" y="615975"/>
                </a:lnTo>
                <a:lnTo>
                  <a:pt x="10325" y="619531"/>
                </a:lnTo>
                <a:close/>
              </a:path>
              <a:path w="1386204" h="1232535">
                <a:moveTo>
                  <a:pt x="14325" y="615975"/>
                </a:moveTo>
                <a:lnTo>
                  <a:pt x="10325" y="612419"/>
                </a:lnTo>
                <a:lnTo>
                  <a:pt x="18326" y="612419"/>
                </a:lnTo>
                <a:lnTo>
                  <a:pt x="14325" y="615975"/>
                </a:lnTo>
                <a:close/>
              </a:path>
              <a:path w="1386204" h="1232535">
                <a:moveTo>
                  <a:pt x="1375600" y="619531"/>
                </a:moveTo>
                <a:lnTo>
                  <a:pt x="1371600" y="615975"/>
                </a:lnTo>
                <a:lnTo>
                  <a:pt x="1375600" y="612419"/>
                </a:lnTo>
                <a:lnTo>
                  <a:pt x="1375600" y="619531"/>
                </a:lnTo>
                <a:close/>
              </a:path>
              <a:path w="1386204" h="1232535">
                <a:moveTo>
                  <a:pt x="1381925" y="619531"/>
                </a:moveTo>
                <a:lnTo>
                  <a:pt x="1375600" y="619531"/>
                </a:lnTo>
                <a:lnTo>
                  <a:pt x="1375600" y="612419"/>
                </a:lnTo>
                <a:lnTo>
                  <a:pt x="1381925" y="612419"/>
                </a:lnTo>
                <a:lnTo>
                  <a:pt x="1385925" y="615975"/>
                </a:lnTo>
                <a:lnTo>
                  <a:pt x="1381925" y="619531"/>
                </a:lnTo>
                <a:close/>
              </a:path>
              <a:path w="1386204" h="1232535">
                <a:moveTo>
                  <a:pt x="18326" y="619531"/>
                </a:moveTo>
                <a:lnTo>
                  <a:pt x="10325" y="619531"/>
                </a:lnTo>
                <a:lnTo>
                  <a:pt x="14325" y="615975"/>
                </a:lnTo>
                <a:lnTo>
                  <a:pt x="18326" y="619531"/>
                </a:lnTo>
                <a:close/>
              </a:path>
              <a:path w="1386204" h="1232535">
                <a:moveTo>
                  <a:pt x="704135" y="1222019"/>
                </a:moveTo>
                <a:lnTo>
                  <a:pt x="696125" y="1222019"/>
                </a:lnTo>
                <a:lnTo>
                  <a:pt x="692962" y="1219208"/>
                </a:lnTo>
                <a:lnTo>
                  <a:pt x="1371600" y="615975"/>
                </a:lnTo>
                <a:lnTo>
                  <a:pt x="1375600" y="619531"/>
                </a:lnTo>
                <a:lnTo>
                  <a:pt x="1381925" y="619531"/>
                </a:lnTo>
                <a:lnTo>
                  <a:pt x="704135" y="1222019"/>
                </a:lnTo>
                <a:close/>
              </a:path>
              <a:path w="1386204" h="1232535">
                <a:moveTo>
                  <a:pt x="696125" y="1222019"/>
                </a:moveTo>
                <a:lnTo>
                  <a:pt x="689800" y="1222019"/>
                </a:lnTo>
                <a:lnTo>
                  <a:pt x="692962" y="1219208"/>
                </a:lnTo>
                <a:lnTo>
                  <a:pt x="696125" y="12220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16325" y="3079750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Li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6600" y="4343400"/>
            <a:ext cx="1371600" cy="1219200"/>
          </a:xfrm>
          <a:custGeom>
            <a:avLst/>
            <a:gdLst/>
            <a:ahLst/>
            <a:cxnLst/>
            <a:rect l="l" t="t" r="r" b="b"/>
            <a:pathLst>
              <a:path w="1371600" h="1219200">
                <a:moveTo>
                  <a:pt x="685800" y="1219200"/>
                </a:moveTo>
                <a:lnTo>
                  <a:pt x="0" y="609600"/>
                </a:lnTo>
                <a:lnTo>
                  <a:pt x="685800" y="0"/>
                </a:lnTo>
                <a:lnTo>
                  <a:pt x="1371600" y="609600"/>
                </a:lnTo>
                <a:lnTo>
                  <a:pt x="685800" y="121920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69437" y="4337024"/>
            <a:ext cx="1386205" cy="1232535"/>
          </a:xfrm>
          <a:custGeom>
            <a:avLst/>
            <a:gdLst/>
            <a:ahLst/>
            <a:cxnLst/>
            <a:rect l="l" t="t" r="r" b="b"/>
            <a:pathLst>
              <a:path w="1386204" h="1232535">
                <a:moveTo>
                  <a:pt x="692962" y="1231950"/>
                </a:moveTo>
                <a:lnTo>
                  <a:pt x="0" y="615975"/>
                </a:lnTo>
                <a:lnTo>
                  <a:pt x="692962" y="0"/>
                </a:lnTo>
                <a:lnTo>
                  <a:pt x="704135" y="9931"/>
                </a:lnTo>
                <a:lnTo>
                  <a:pt x="689800" y="9931"/>
                </a:lnTo>
                <a:lnTo>
                  <a:pt x="692962" y="12742"/>
                </a:lnTo>
                <a:lnTo>
                  <a:pt x="18326" y="612419"/>
                </a:lnTo>
                <a:lnTo>
                  <a:pt x="10325" y="612419"/>
                </a:lnTo>
                <a:lnTo>
                  <a:pt x="10325" y="619531"/>
                </a:lnTo>
                <a:lnTo>
                  <a:pt x="18326" y="619531"/>
                </a:lnTo>
                <a:lnTo>
                  <a:pt x="692962" y="1219208"/>
                </a:lnTo>
                <a:lnTo>
                  <a:pt x="689800" y="1222019"/>
                </a:lnTo>
                <a:lnTo>
                  <a:pt x="704135" y="1222019"/>
                </a:lnTo>
                <a:lnTo>
                  <a:pt x="692962" y="1231950"/>
                </a:lnTo>
                <a:close/>
              </a:path>
              <a:path w="1386204" h="1232535">
                <a:moveTo>
                  <a:pt x="692962" y="12742"/>
                </a:moveTo>
                <a:lnTo>
                  <a:pt x="689800" y="9931"/>
                </a:lnTo>
                <a:lnTo>
                  <a:pt x="696125" y="9931"/>
                </a:lnTo>
                <a:lnTo>
                  <a:pt x="692962" y="12742"/>
                </a:lnTo>
                <a:close/>
              </a:path>
              <a:path w="1386204" h="1232535">
                <a:moveTo>
                  <a:pt x="1371600" y="615975"/>
                </a:moveTo>
                <a:lnTo>
                  <a:pt x="692962" y="12742"/>
                </a:lnTo>
                <a:lnTo>
                  <a:pt x="696125" y="9931"/>
                </a:lnTo>
                <a:lnTo>
                  <a:pt x="704135" y="9931"/>
                </a:lnTo>
                <a:lnTo>
                  <a:pt x="1381925" y="612419"/>
                </a:lnTo>
                <a:lnTo>
                  <a:pt x="1375600" y="612419"/>
                </a:lnTo>
                <a:lnTo>
                  <a:pt x="1371600" y="615975"/>
                </a:lnTo>
                <a:close/>
              </a:path>
              <a:path w="1386204" h="1232535">
                <a:moveTo>
                  <a:pt x="10325" y="619531"/>
                </a:moveTo>
                <a:lnTo>
                  <a:pt x="10325" y="612419"/>
                </a:lnTo>
                <a:lnTo>
                  <a:pt x="14325" y="615975"/>
                </a:lnTo>
                <a:lnTo>
                  <a:pt x="10325" y="619531"/>
                </a:lnTo>
                <a:close/>
              </a:path>
              <a:path w="1386204" h="1232535">
                <a:moveTo>
                  <a:pt x="14325" y="615975"/>
                </a:moveTo>
                <a:lnTo>
                  <a:pt x="10325" y="612419"/>
                </a:lnTo>
                <a:lnTo>
                  <a:pt x="18326" y="612419"/>
                </a:lnTo>
                <a:lnTo>
                  <a:pt x="14325" y="615975"/>
                </a:lnTo>
                <a:close/>
              </a:path>
              <a:path w="1386204" h="1232535">
                <a:moveTo>
                  <a:pt x="1375600" y="619531"/>
                </a:moveTo>
                <a:lnTo>
                  <a:pt x="1371600" y="615975"/>
                </a:lnTo>
                <a:lnTo>
                  <a:pt x="1375600" y="612419"/>
                </a:lnTo>
                <a:lnTo>
                  <a:pt x="1375600" y="619531"/>
                </a:lnTo>
                <a:close/>
              </a:path>
              <a:path w="1386204" h="1232535">
                <a:moveTo>
                  <a:pt x="1381925" y="619531"/>
                </a:moveTo>
                <a:lnTo>
                  <a:pt x="1375600" y="619531"/>
                </a:lnTo>
                <a:lnTo>
                  <a:pt x="1375600" y="612419"/>
                </a:lnTo>
                <a:lnTo>
                  <a:pt x="1381925" y="612419"/>
                </a:lnTo>
                <a:lnTo>
                  <a:pt x="1385925" y="615975"/>
                </a:lnTo>
                <a:lnTo>
                  <a:pt x="1381925" y="619531"/>
                </a:lnTo>
                <a:close/>
              </a:path>
              <a:path w="1386204" h="1232535">
                <a:moveTo>
                  <a:pt x="18326" y="619531"/>
                </a:moveTo>
                <a:lnTo>
                  <a:pt x="10325" y="619531"/>
                </a:lnTo>
                <a:lnTo>
                  <a:pt x="14325" y="615975"/>
                </a:lnTo>
                <a:lnTo>
                  <a:pt x="18326" y="619531"/>
                </a:lnTo>
                <a:close/>
              </a:path>
              <a:path w="1386204" h="1232535">
                <a:moveTo>
                  <a:pt x="704135" y="1222019"/>
                </a:moveTo>
                <a:lnTo>
                  <a:pt x="696125" y="1222019"/>
                </a:lnTo>
                <a:lnTo>
                  <a:pt x="692962" y="1219208"/>
                </a:lnTo>
                <a:lnTo>
                  <a:pt x="1371600" y="615975"/>
                </a:lnTo>
                <a:lnTo>
                  <a:pt x="1375600" y="619531"/>
                </a:lnTo>
                <a:lnTo>
                  <a:pt x="1381925" y="619531"/>
                </a:lnTo>
                <a:lnTo>
                  <a:pt x="704135" y="1222019"/>
                </a:lnTo>
                <a:close/>
              </a:path>
              <a:path w="1386204" h="1232535">
                <a:moveTo>
                  <a:pt x="696125" y="1222019"/>
                </a:moveTo>
                <a:lnTo>
                  <a:pt x="689800" y="1222019"/>
                </a:lnTo>
                <a:lnTo>
                  <a:pt x="692962" y="1219208"/>
                </a:lnTo>
                <a:lnTo>
                  <a:pt x="696125" y="12220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20109" y="4756150"/>
            <a:ext cx="1084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Favorite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38400" y="32766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8200" y="32766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34399" y="3655009"/>
            <a:ext cx="846455" cy="1301115"/>
          </a:xfrm>
          <a:custGeom>
            <a:avLst/>
            <a:gdLst/>
            <a:ahLst/>
            <a:cxnLst/>
            <a:rect l="l" t="t" r="r" b="b"/>
            <a:pathLst>
              <a:path w="846454" h="1301114">
                <a:moveTo>
                  <a:pt x="838200" y="1300581"/>
                </a:moveTo>
                <a:lnTo>
                  <a:pt x="0" y="5181"/>
                </a:lnTo>
                <a:lnTo>
                  <a:pt x="8000" y="0"/>
                </a:lnTo>
                <a:lnTo>
                  <a:pt x="846201" y="1295400"/>
                </a:lnTo>
                <a:lnTo>
                  <a:pt x="838200" y="1300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43996" y="3657600"/>
            <a:ext cx="690245" cy="1297940"/>
          </a:xfrm>
          <a:custGeom>
            <a:avLst/>
            <a:gdLst/>
            <a:ahLst/>
            <a:cxnLst/>
            <a:rect l="l" t="t" r="r" b="b"/>
            <a:pathLst>
              <a:path w="690245" h="1297939">
                <a:moveTo>
                  <a:pt x="650143" y="65116"/>
                </a:moveTo>
                <a:lnTo>
                  <a:pt x="620674" y="49517"/>
                </a:lnTo>
                <a:lnTo>
                  <a:pt x="690003" y="0"/>
                </a:lnTo>
                <a:lnTo>
                  <a:pt x="688880" y="48285"/>
                </a:lnTo>
                <a:lnTo>
                  <a:pt x="659053" y="48285"/>
                </a:lnTo>
                <a:lnTo>
                  <a:pt x="650143" y="65116"/>
                </a:lnTo>
                <a:close/>
              </a:path>
              <a:path w="690245" h="1297939">
                <a:moveTo>
                  <a:pt x="658558" y="69570"/>
                </a:moveTo>
                <a:lnTo>
                  <a:pt x="650143" y="65116"/>
                </a:lnTo>
                <a:lnTo>
                  <a:pt x="659053" y="48285"/>
                </a:lnTo>
                <a:lnTo>
                  <a:pt x="667473" y="52730"/>
                </a:lnTo>
                <a:lnTo>
                  <a:pt x="658558" y="69570"/>
                </a:lnTo>
                <a:close/>
              </a:path>
              <a:path w="690245" h="1297939">
                <a:moveTo>
                  <a:pt x="688022" y="85166"/>
                </a:moveTo>
                <a:lnTo>
                  <a:pt x="658558" y="69570"/>
                </a:lnTo>
                <a:lnTo>
                  <a:pt x="667473" y="52730"/>
                </a:lnTo>
                <a:lnTo>
                  <a:pt x="659053" y="48285"/>
                </a:lnTo>
                <a:lnTo>
                  <a:pt x="688880" y="48285"/>
                </a:lnTo>
                <a:lnTo>
                  <a:pt x="688022" y="85166"/>
                </a:lnTo>
                <a:close/>
              </a:path>
              <a:path w="690245" h="1297939">
                <a:moveTo>
                  <a:pt x="8407" y="1297622"/>
                </a:moveTo>
                <a:lnTo>
                  <a:pt x="0" y="1293177"/>
                </a:lnTo>
                <a:lnTo>
                  <a:pt x="650143" y="65116"/>
                </a:lnTo>
                <a:lnTo>
                  <a:pt x="658558" y="69570"/>
                </a:lnTo>
                <a:lnTo>
                  <a:pt x="8407" y="1297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488940" y="4528184"/>
            <a:ext cx="33470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Notice: two relationships  connect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same entity  sets, but are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different.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509" y="829944"/>
            <a:ext cx="7840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One-One</a:t>
            </a:r>
            <a:r>
              <a:rPr spc="-4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75525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65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Consider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Best-seller </a:t>
            </a:r>
            <a:r>
              <a:rPr sz="3200" spc="-5" dirty="0">
                <a:latin typeface="Tahoma"/>
                <a:cs typeface="Tahoma"/>
              </a:rPr>
              <a:t>between </a:t>
            </a:r>
            <a:r>
              <a:rPr sz="3200" spc="-10" dirty="0">
                <a:solidFill>
                  <a:srgbClr val="009900"/>
                </a:solidFill>
                <a:latin typeface="Tahoma"/>
                <a:cs typeface="Tahoma"/>
              </a:rPr>
              <a:t>Manfs 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009900"/>
                </a:solidFill>
                <a:latin typeface="Tahoma"/>
                <a:cs typeface="Tahoma"/>
              </a:rPr>
              <a:t>Beers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55600" marR="14351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Some </a:t>
            </a:r>
            <a:r>
              <a:rPr sz="3200" spc="-5" dirty="0">
                <a:latin typeface="Tahoma"/>
                <a:cs typeface="Tahoma"/>
              </a:rPr>
              <a:t>beers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not the </a:t>
            </a:r>
            <a:r>
              <a:rPr sz="3200" spc="-10" dirty="0">
                <a:latin typeface="Tahoma"/>
                <a:cs typeface="Tahoma"/>
              </a:rPr>
              <a:t>best-seller </a:t>
            </a:r>
            <a:r>
              <a:rPr sz="3200" spc="-5" dirty="0">
                <a:latin typeface="Tahoma"/>
                <a:cs typeface="Tahoma"/>
              </a:rPr>
              <a:t>of 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40" dirty="0">
                <a:latin typeface="Tahoma"/>
                <a:cs typeface="Tahoma"/>
              </a:rPr>
              <a:t>manufacturer, </a:t>
            </a:r>
            <a:r>
              <a:rPr sz="3200" dirty="0">
                <a:latin typeface="Tahoma"/>
                <a:cs typeface="Tahoma"/>
              </a:rPr>
              <a:t>so a </a:t>
            </a:r>
            <a:r>
              <a:rPr sz="3200" spc="-5" dirty="0">
                <a:latin typeface="Tahoma"/>
                <a:cs typeface="Tahoma"/>
              </a:rPr>
              <a:t>rounded arrow  to </a:t>
            </a:r>
            <a:r>
              <a:rPr sz="3200" spc="-10" dirty="0">
                <a:solidFill>
                  <a:srgbClr val="009900"/>
                </a:solidFill>
                <a:latin typeface="Tahoma"/>
                <a:cs typeface="Tahoma"/>
              </a:rPr>
              <a:t>Manfs </a:t>
            </a:r>
            <a:r>
              <a:rPr sz="3200" spc="-5" dirty="0">
                <a:latin typeface="Tahoma"/>
                <a:cs typeface="Tahoma"/>
              </a:rPr>
              <a:t>would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inappropriate.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a </a:t>
            </a:r>
            <a:r>
              <a:rPr sz="3200" spc="-5" dirty="0">
                <a:latin typeface="Tahoma"/>
                <a:cs typeface="Tahoma"/>
              </a:rPr>
              <a:t>beer </a:t>
            </a:r>
            <a:r>
              <a:rPr sz="3200" spc="-10" dirty="0">
                <a:latin typeface="Tahoma"/>
                <a:cs typeface="Tahoma"/>
              </a:rPr>
              <a:t>manufacturer </a:t>
            </a:r>
            <a:r>
              <a:rPr sz="3200" spc="-5" dirty="0">
                <a:latin typeface="Tahoma"/>
                <a:cs typeface="Tahoma"/>
              </a:rPr>
              <a:t>has to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45" dirty="0">
                <a:latin typeface="Tahoma"/>
                <a:cs typeface="Tahoma"/>
              </a:rPr>
              <a:t>best-seller.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366837" y="2660624"/>
            <a:ext cx="5038725" cy="1458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4239" y="829944"/>
            <a:ext cx="4795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 </a:t>
            </a:r>
            <a:r>
              <a:rPr spc="-5" dirty="0"/>
              <a:t>the E/R</a:t>
            </a:r>
            <a:r>
              <a:rPr spc="-50" dirty="0"/>
              <a:t> </a:t>
            </a:r>
            <a:r>
              <a:rPr spc="-15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4789" y="3041650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</a:t>
            </a:r>
            <a:r>
              <a:rPr sz="2400" spc="-30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0684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6004" y="2897504"/>
            <a:ext cx="732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spc="-5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-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625465" y="4180522"/>
            <a:ext cx="26663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manufacturer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has  </a:t>
            </a:r>
            <a:r>
              <a:rPr sz="2400" spc="-5" dirty="0">
                <a:latin typeface="Tahoma"/>
                <a:cs typeface="Tahoma"/>
              </a:rPr>
              <a:t>exactly </a:t>
            </a:r>
            <a:r>
              <a:rPr sz="2400" dirty="0">
                <a:latin typeface="Tahoma"/>
                <a:cs typeface="Tahoma"/>
              </a:rPr>
              <a:t>one </a:t>
            </a:r>
            <a:r>
              <a:rPr sz="2400" spc="-5" dirty="0">
                <a:latin typeface="Tahoma"/>
                <a:cs typeface="Tahoma"/>
              </a:rPr>
              <a:t>best  </a:t>
            </a:r>
            <a:r>
              <a:rPr sz="2400" spc="-50" dirty="0">
                <a:latin typeface="Tahoma"/>
                <a:cs typeface="Tahoma"/>
              </a:rPr>
              <a:t>seller.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3064" y="4180522"/>
            <a:ext cx="24993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beer </a:t>
            </a:r>
            <a:r>
              <a:rPr sz="2400" dirty="0">
                <a:latin typeface="Tahoma"/>
                <a:cs typeface="Tahoma"/>
              </a:rPr>
              <a:t>is the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best-  </a:t>
            </a:r>
            <a:r>
              <a:rPr sz="2400" dirty="0">
                <a:latin typeface="Tahoma"/>
                <a:cs typeface="Tahoma"/>
              </a:rPr>
              <a:t>seller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dirty="0">
                <a:latin typeface="Tahoma"/>
                <a:cs typeface="Tahoma"/>
              </a:rPr>
              <a:t>0 or 1  </a:t>
            </a:r>
            <a:r>
              <a:rPr sz="2400" spc="-30" dirty="0">
                <a:latin typeface="Tahoma"/>
                <a:cs typeface="Tahoma"/>
              </a:rPr>
              <a:t>manufacturer.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3175" y="829944"/>
            <a:ext cx="65982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Attributes </a:t>
            </a:r>
            <a:r>
              <a:rPr dirty="0"/>
              <a:t>on</a:t>
            </a:r>
            <a:r>
              <a:rPr spc="-70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80275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4960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Sometimes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useful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attach </a:t>
            </a:r>
            <a:r>
              <a:rPr sz="3200" dirty="0">
                <a:latin typeface="Tahoma"/>
                <a:cs typeface="Tahoma"/>
              </a:rPr>
              <a:t>an  </a:t>
            </a:r>
            <a:r>
              <a:rPr sz="3200" spc="-5" dirty="0">
                <a:latin typeface="Tahoma"/>
                <a:cs typeface="Tahoma"/>
              </a:rPr>
              <a:t>attribute to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relationship.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Think of this attribute 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property </a:t>
            </a:r>
            <a:r>
              <a:rPr sz="3200" spc="-5" dirty="0">
                <a:latin typeface="Tahoma"/>
                <a:cs typeface="Tahoma"/>
              </a:rPr>
              <a:t>of  tuples in the relationship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1689" marR="5080" indent="-1198245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5" dirty="0"/>
              <a:t>Attribute </a:t>
            </a:r>
            <a:r>
              <a:rPr dirty="0"/>
              <a:t>on  </a:t>
            </a:r>
            <a:r>
              <a:rPr spc="-10" dirty="0"/>
              <a:t>Relationship</a:t>
            </a:r>
          </a:p>
        </p:txBody>
      </p:sp>
      <p:sp>
        <p:nvSpPr>
          <p:cNvPr id="3" name="object 3"/>
          <p:cNvSpPr/>
          <p:nvPr/>
        </p:nvSpPr>
        <p:spPr>
          <a:xfrm>
            <a:off x="1371600" y="2819400"/>
            <a:ext cx="1066800" cy="838200"/>
          </a:xfrm>
          <a:custGeom>
            <a:avLst/>
            <a:gdLst/>
            <a:ahLst/>
            <a:cxnLst/>
            <a:rect l="l" t="t" r="r" b="b"/>
            <a:pathLst>
              <a:path w="1066800" h="838200">
                <a:moveTo>
                  <a:pt x="0" y="0"/>
                </a:moveTo>
                <a:lnTo>
                  <a:pt x="1066800" y="0"/>
                </a:lnTo>
                <a:lnTo>
                  <a:pt x="1066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66837" y="2814637"/>
            <a:ext cx="1076325" cy="847725"/>
          </a:xfrm>
          <a:custGeom>
            <a:avLst/>
            <a:gdLst/>
            <a:ahLst/>
            <a:cxnLst/>
            <a:rect l="l" t="t" r="r" b="b"/>
            <a:pathLst>
              <a:path w="1076325" h="847725">
                <a:moveTo>
                  <a:pt x="1076325" y="847725"/>
                </a:moveTo>
                <a:lnTo>
                  <a:pt x="0" y="8477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1076325" y="842962"/>
                </a:lnTo>
                <a:lnTo>
                  <a:pt x="1076325" y="847725"/>
                </a:lnTo>
                <a:close/>
              </a:path>
              <a:path w="1076325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8477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838200"/>
                </a:lnTo>
                <a:lnTo>
                  <a:pt x="1071562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1066800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842962"/>
                </a:moveTo>
                <a:lnTo>
                  <a:pt x="1066800" y="842962"/>
                </a:lnTo>
                <a:lnTo>
                  <a:pt x="1071562" y="838200"/>
                </a:lnTo>
                <a:lnTo>
                  <a:pt x="1076325" y="838200"/>
                </a:lnTo>
                <a:lnTo>
                  <a:pt x="1076325" y="842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1600" y="3041650"/>
            <a:ext cx="1066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Bars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0" y="2819400"/>
            <a:ext cx="1066800" cy="838200"/>
          </a:xfrm>
          <a:custGeom>
            <a:avLst/>
            <a:gdLst/>
            <a:ahLst/>
            <a:cxnLst/>
            <a:rect l="l" t="t" r="r" b="b"/>
            <a:pathLst>
              <a:path w="1066800" h="838200">
                <a:moveTo>
                  <a:pt x="0" y="0"/>
                </a:moveTo>
                <a:lnTo>
                  <a:pt x="1066800" y="0"/>
                </a:lnTo>
                <a:lnTo>
                  <a:pt x="1066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29237" y="2814637"/>
            <a:ext cx="1076325" cy="847725"/>
          </a:xfrm>
          <a:custGeom>
            <a:avLst/>
            <a:gdLst/>
            <a:ahLst/>
            <a:cxnLst/>
            <a:rect l="l" t="t" r="r" b="b"/>
            <a:pathLst>
              <a:path w="1076325" h="847725">
                <a:moveTo>
                  <a:pt x="1076325" y="847725"/>
                </a:moveTo>
                <a:lnTo>
                  <a:pt x="0" y="8477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1076325" y="842962"/>
                </a:lnTo>
                <a:lnTo>
                  <a:pt x="1076325" y="847725"/>
                </a:lnTo>
                <a:close/>
              </a:path>
              <a:path w="1076325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8477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838200"/>
                </a:lnTo>
                <a:lnTo>
                  <a:pt x="1071562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1076325" h="847725">
                <a:moveTo>
                  <a:pt x="1066800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1066800" y="838200"/>
                </a:lnTo>
                <a:lnTo>
                  <a:pt x="1066800" y="842962"/>
                </a:lnTo>
                <a:close/>
              </a:path>
              <a:path w="1076325" h="847725">
                <a:moveTo>
                  <a:pt x="1076325" y="842962"/>
                </a:moveTo>
                <a:lnTo>
                  <a:pt x="1066800" y="842962"/>
                </a:lnTo>
                <a:lnTo>
                  <a:pt x="1071562" y="838200"/>
                </a:lnTo>
                <a:lnTo>
                  <a:pt x="1076325" y="838200"/>
                </a:lnTo>
                <a:lnTo>
                  <a:pt x="1076325" y="842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4000" y="3041650"/>
            <a:ext cx="1066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6600" y="2667000"/>
            <a:ext cx="1371600" cy="1219200"/>
          </a:xfrm>
          <a:custGeom>
            <a:avLst/>
            <a:gdLst/>
            <a:ahLst/>
            <a:cxnLst/>
            <a:rect l="l" t="t" r="r" b="b"/>
            <a:pathLst>
              <a:path w="1371600" h="1219200">
                <a:moveTo>
                  <a:pt x="685800" y="1219200"/>
                </a:moveTo>
                <a:lnTo>
                  <a:pt x="0" y="609600"/>
                </a:lnTo>
                <a:lnTo>
                  <a:pt x="685800" y="0"/>
                </a:lnTo>
                <a:lnTo>
                  <a:pt x="1371600" y="609600"/>
                </a:lnTo>
                <a:lnTo>
                  <a:pt x="685800" y="121920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9437" y="2660624"/>
            <a:ext cx="1386205" cy="1232535"/>
          </a:xfrm>
          <a:custGeom>
            <a:avLst/>
            <a:gdLst/>
            <a:ahLst/>
            <a:cxnLst/>
            <a:rect l="l" t="t" r="r" b="b"/>
            <a:pathLst>
              <a:path w="1386204" h="1232535">
                <a:moveTo>
                  <a:pt x="692962" y="1231950"/>
                </a:moveTo>
                <a:lnTo>
                  <a:pt x="0" y="615975"/>
                </a:lnTo>
                <a:lnTo>
                  <a:pt x="692962" y="0"/>
                </a:lnTo>
                <a:lnTo>
                  <a:pt x="704135" y="9931"/>
                </a:lnTo>
                <a:lnTo>
                  <a:pt x="689800" y="9931"/>
                </a:lnTo>
                <a:lnTo>
                  <a:pt x="692962" y="12742"/>
                </a:lnTo>
                <a:lnTo>
                  <a:pt x="18326" y="612419"/>
                </a:lnTo>
                <a:lnTo>
                  <a:pt x="10325" y="612419"/>
                </a:lnTo>
                <a:lnTo>
                  <a:pt x="10325" y="619531"/>
                </a:lnTo>
                <a:lnTo>
                  <a:pt x="18326" y="619531"/>
                </a:lnTo>
                <a:lnTo>
                  <a:pt x="692962" y="1219208"/>
                </a:lnTo>
                <a:lnTo>
                  <a:pt x="689800" y="1222019"/>
                </a:lnTo>
                <a:lnTo>
                  <a:pt x="704135" y="1222019"/>
                </a:lnTo>
                <a:lnTo>
                  <a:pt x="692962" y="1231950"/>
                </a:lnTo>
                <a:close/>
              </a:path>
              <a:path w="1386204" h="1232535">
                <a:moveTo>
                  <a:pt x="692962" y="12742"/>
                </a:moveTo>
                <a:lnTo>
                  <a:pt x="689800" y="9931"/>
                </a:lnTo>
                <a:lnTo>
                  <a:pt x="696125" y="9931"/>
                </a:lnTo>
                <a:lnTo>
                  <a:pt x="692962" y="12742"/>
                </a:lnTo>
                <a:close/>
              </a:path>
              <a:path w="1386204" h="1232535">
                <a:moveTo>
                  <a:pt x="1371600" y="615975"/>
                </a:moveTo>
                <a:lnTo>
                  <a:pt x="692962" y="12742"/>
                </a:lnTo>
                <a:lnTo>
                  <a:pt x="696125" y="9931"/>
                </a:lnTo>
                <a:lnTo>
                  <a:pt x="704135" y="9931"/>
                </a:lnTo>
                <a:lnTo>
                  <a:pt x="1381925" y="612419"/>
                </a:lnTo>
                <a:lnTo>
                  <a:pt x="1375600" y="612419"/>
                </a:lnTo>
                <a:lnTo>
                  <a:pt x="1371600" y="615975"/>
                </a:lnTo>
                <a:close/>
              </a:path>
              <a:path w="1386204" h="1232535">
                <a:moveTo>
                  <a:pt x="10325" y="619531"/>
                </a:moveTo>
                <a:lnTo>
                  <a:pt x="10325" y="612419"/>
                </a:lnTo>
                <a:lnTo>
                  <a:pt x="14325" y="615975"/>
                </a:lnTo>
                <a:lnTo>
                  <a:pt x="10325" y="619531"/>
                </a:lnTo>
                <a:close/>
              </a:path>
              <a:path w="1386204" h="1232535">
                <a:moveTo>
                  <a:pt x="14325" y="615975"/>
                </a:moveTo>
                <a:lnTo>
                  <a:pt x="10325" y="612419"/>
                </a:lnTo>
                <a:lnTo>
                  <a:pt x="18326" y="612419"/>
                </a:lnTo>
                <a:lnTo>
                  <a:pt x="14325" y="615975"/>
                </a:lnTo>
                <a:close/>
              </a:path>
              <a:path w="1386204" h="1232535">
                <a:moveTo>
                  <a:pt x="1375600" y="619531"/>
                </a:moveTo>
                <a:lnTo>
                  <a:pt x="1371600" y="615975"/>
                </a:lnTo>
                <a:lnTo>
                  <a:pt x="1375600" y="612419"/>
                </a:lnTo>
                <a:lnTo>
                  <a:pt x="1375600" y="619531"/>
                </a:lnTo>
                <a:close/>
              </a:path>
              <a:path w="1386204" h="1232535">
                <a:moveTo>
                  <a:pt x="1381925" y="619531"/>
                </a:moveTo>
                <a:lnTo>
                  <a:pt x="1375600" y="619531"/>
                </a:lnTo>
                <a:lnTo>
                  <a:pt x="1375600" y="612419"/>
                </a:lnTo>
                <a:lnTo>
                  <a:pt x="1381925" y="612419"/>
                </a:lnTo>
                <a:lnTo>
                  <a:pt x="1385925" y="615975"/>
                </a:lnTo>
                <a:lnTo>
                  <a:pt x="1381925" y="619531"/>
                </a:lnTo>
                <a:close/>
              </a:path>
              <a:path w="1386204" h="1232535">
                <a:moveTo>
                  <a:pt x="18326" y="619531"/>
                </a:moveTo>
                <a:lnTo>
                  <a:pt x="10325" y="619531"/>
                </a:lnTo>
                <a:lnTo>
                  <a:pt x="14325" y="615975"/>
                </a:lnTo>
                <a:lnTo>
                  <a:pt x="18326" y="619531"/>
                </a:lnTo>
                <a:close/>
              </a:path>
              <a:path w="1386204" h="1232535">
                <a:moveTo>
                  <a:pt x="704135" y="1222019"/>
                </a:moveTo>
                <a:lnTo>
                  <a:pt x="696125" y="1222019"/>
                </a:lnTo>
                <a:lnTo>
                  <a:pt x="692962" y="1219208"/>
                </a:lnTo>
                <a:lnTo>
                  <a:pt x="1371600" y="615975"/>
                </a:lnTo>
                <a:lnTo>
                  <a:pt x="1375600" y="619531"/>
                </a:lnTo>
                <a:lnTo>
                  <a:pt x="1381925" y="619531"/>
                </a:lnTo>
                <a:lnTo>
                  <a:pt x="704135" y="1222019"/>
                </a:lnTo>
                <a:close/>
              </a:path>
              <a:path w="1386204" h="1232535">
                <a:moveTo>
                  <a:pt x="696125" y="1222019"/>
                </a:moveTo>
                <a:lnTo>
                  <a:pt x="689800" y="1222019"/>
                </a:lnTo>
                <a:lnTo>
                  <a:pt x="692962" y="1219208"/>
                </a:lnTo>
                <a:lnTo>
                  <a:pt x="696125" y="12220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46170" y="3079750"/>
            <a:ext cx="632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</a:p>
        </p:txBody>
      </p:sp>
      <p:sp>
        <p:nvSpPr>
          <p:cNvPr id="12" name="object 12"/>
          <p:cNvSpPr/>
          <p:nvPr/>
        </p:nvSpPr>
        <p:spPr>
          <a:xfrm>
            <a:off x="4724400" y="3276600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8200" y="3271837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38400" y="32766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200" y="42672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457200" y="533400"/>
                </a:moveTo>
                <a:lnTo>
                  <a:pt x="399850" y="531322"/>
                </a:lnTo>
                <a:lnTo>
                  <a:pt x="344626" y="525254"/>
                </a:lnTo>
                <a:lnTo>
                  <a:pt x="291956" y="515448"/>
                </a:lnTo>
                <a:lnTo>
                  <a:pt x="242269" y="502151"/>
                </a:lnTo>
                <a:lnTo>
                  <a:pt x="195993" y="485616"/>
                </a:lnTo>
                <a:lnTo>
                  <a:pt x="153556" y="466091"/>
                </a:lnTo>
                <a:lnTo>
                  <a:pt x="115387" y="443826"/>
                </a:lnTo>
                <a:lnTo>
                  <a:pt x="81915" y="419071"/>
                </a:lnTo>
                <a:lnTo>
                  <a:pt x="53568" y="392077"/>
                </a:lnTo>
                <a:lnTo>
                  <a:pt x="13963" y="332368"/>
                </a:lnTo>
                <a:lnTo>
                  <a:pt x="0" y="266700"/>
                </a:lnTo>
                <a:lnTo>
                  <a:pt x="3562" y="233245"/>
                </a:lnTo>
                <a:lnTo>
                  <a:pt x="30775" y="170307"/>
                </a:lnTo>
                <a:lnTo>
                  <a:pt x="81915" y="114328"/>
                </a:lnTo>
                <a:lnTo>
                  <a:pt x="115387" y="89573"/>
                </a:lnTo>
                <a:lnTo>
                  <a:pt x="153556" y="67308"/>
                </a:lnTo>
                <a:lnTo>
                  <a:pt x="195993" y="47783"/>
                </a:lnTo>
                <a:lnTo>
                  <a:pt x="242269" y="31248"/>
                </a:lnTo>
                <a:lnTo>
                  <a:pt x="291956" y="17951"/>
                </a:lnTo>
                <a:lnTo>
                  <a:pt x="344626" y="8145"/>
                </a:lnTo>
                <a:lnTo>
                  <a:pt x="399850" y="2077"/>
                </a:lnTo>
                <a:lnTo>
                  <a:pt x="457200" y="0"/>
                </a:lnTo>
                <a:lnTo>
                  <a:pt x="514549" y="2077"/>
                </a:lnTo>
                <a:lnTo>
                  <a:pt x="569773" y="8145"/>
                </a:lnTo>
                <a:lnTo>
                  <a:pt x="622443" y="17951"/>
                </a:lnTo>
                <a:lnTo>
                  <a:pt x="672130" y="31248"/>
                </a:lnTo>
                <a:lnTo>
                  <a:pt x="718406" y="47783"/>
                </a:lnTo>
                <a:lnTo>
                  <a:pt x="760843" y="67308"/>
                </a:lnTo>
                <a:lnTo>
                  <a:pt x="799012" y="89573"/>
                </a:lnTo>
                <a:lnTo>
                  <a:pt x="832484" y="114328"/>
                </a:lnTo>
                <a:lnTo>
                  <a:pt x="860831" y="141322"/>
                </a:lnTo>
                <a:lnTo>
                  <a:pt x="900436" y="201031"/>
                </a:lnTo>
                <a:lnTo>
                  <a:pt x="914400" y="266700"/>
                </a:lnTo>
                <a:lnTo>
                  <a:pt x="910837" y="300154"/>
                </a:lnTo>
                <a:lnTo>
                  <a:pt x="883624" y="363092"/>
                </a:lnTo>
                <a:lnTo>
                  <a:pt x="832484" y="419071"/>
                </a:lnTo>
                <a:lnTo>
                  <a:pt x="799012" y="443826"/>
                </a:lnTo>
                <a:lnTo>
                  <a:pt x="760843" y="466091"/>
                </a:lnTo>
                <a:lnTo>
                  <a:pt x="718406" y="485616"/>
                </a:lnTo>
                <a:lnTo>
                  <a:pt x="672130" y="502151"/>
                </a:lnTo>
                <a:lnTo>
                  <a:pt x="622443" y="515448"/>
                </a:lnTo>
                <a:lnTo>
                  <a:pt x="569773" y="525254"/>
                </a:lnTo>
                <a:lnTo>
                  <a:pt x="514549" y="531322"/>
                </a:lnTo>
                <a:lnTo>
                  <a:pt x="457200" y="5334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0437" y="4262437"/>
            <a:ext cx="923925" cy="542290"/>
          </a:xfrm>
          <a:custGeom>
            <a:avLst/>
            <a:gdLst/>
            <a:ahLst/>
            <a:cxnLst/>
            <a:rect l="l" t="t" r="r" b="b"/>
            <a:pathLst>
              <a:path w="923925" h="542289">
                <a:moveTo>
                  <a:pt x="508952" y="1270"/>
                </a:moveTo>
                <a:lnTo>
                  <a:pt x="414896" y="1270"/>
                </a:lnTo>
                <a:lnTo>
                  <a:pt x="426605" y="0"/>
                </a:lnTo>
                <a:lnTo>
                  <a:pt x="497382" y="0"/>
                </a:lnTo>
                <a:lnTo>
                  <a:pt x="508952" y="1270"/>
                </a:lnTo>
                <a:close/>
              </a:path>
              <a:path w="923925" h="542289">
                <a:moveTo>
                  <a:pt x="531977" y="539750"/>
                </a:moveTo>
                <a:lnTo>
                  <a:pt x="391871" y="539750"/>
                </a:lnTo>
                <a:lnTo>
                  <a:pt x="358038" y="535939"/>
                </a:lnTo>
                <a:lnTo>
                  <a:pt x="346928" y="533395"/>
                </a:lnTo>
                <a:lnTo>
                  <a:pt x="335978" y="532129"/>
                </a:lnTo>
                <a:lnTo>
                  <a:pt x="325120" y="529589"/>
                </a:lnTo>
                <a:lnTo>
                  <a:pt x="314363" y="528320"/>
                </a:lnTo>
                <a:lnTo>
                  <a:pt x="252425" y="513079"/>
                </a:lnTo>
                <a:lnTo>
                  <a:pt x="242557" y="509270"/>
                </a:lnTo>
                <a:lnTo>
                  <a:pt x="232829" y="506729"/>
                </a:lnTo>
                <a:lnTo>
                  <a:pt x="223253" y="502920"/>
                </a:lnTo>
                <a:lnTo>
                  <a:pt x="186474" y="488950"/>
                </a:lnTo>
                <a:lnTo>
                  <a:pt x="160566" y="476250"/>
                </a:lnTo>
                <a:lnTo>
                  <a:pt x="152273" y="472439"/>
                </a:lnTo>
                <a:lnTo>
                  <a:pt x="144170" y="468629"/>
                </a:lnTo>
                <a:lnTo>
                  <a:pt x="136232" y="463550"/>
                </a:lnTo>
                <a:lnTo>
                  <a:pt x="128485" y="458470"/>
                </a:lnTo>
                <a:lnTo>
                  <a:pt x="120916" y="454660"/>
                </a:lnTo>
                <a:lnTo>
                  <a:pt x="86144" y="429260"/>
                </a:lnTo>
                <a:lnTo>
                  <a:pt x="79692" y="422910"/>
                </a:lnTo>
                <a:lnTo>
                  <a:pt x="73533" y="417829"/>
                </a:lnTo>
                <a:lnTo>
                  <a:pt x="67602" y="412750"/>
                </a:lnTo>
                <a:lnTo>
                  <a:pt x="61899" y="406400"/>
                </a:lnTo>
                <a:lnTo>
                  <a:pt x="56413" y="401320"/>
                </a:lnTo>
                <a:lnTo>
                  <a:pt x="51155" y="394970"/>
                </a:lnTo>
                <a:lnTo>
                  <a:pt x="24625" y="358139"/>
                </a:lnTo>
                <a:lnTo>
                  <a:pt x="7327" y="318770"/>
                </a:lnTo>
                <a:lnTo>
                  <a:pt x="5397" y="312420"/>
                </a:lnTo>
                <a:lnTo>
                  <a:pt x="0" y="270510"/>
                </a:lnTo>
                <a:lnTo>
                  <a:pt x="152" y="264160"/>
                </a:lnTo>
                <a:lnTo>
                  <a:pt x="7378" y="222250"/>
                </a:lnTo>
                <a:lnTo>
                  <a:pt x="9588" y="215900"/>
                </a:lnTo>
                <a:lnTo>
                  <a:pt x="12077" y="208279"/>
                </a:lnTo>
                <a:lnTo>
                  <a:pt x="32575" y="170179"/>
                </a:lnTo>
                <a:lnTo>
                  <a:pt x="46227" y="152400"/>
                </a:lnTo>
                <a:lnTo>
                  <a:pt x="51244" y="146050"/>
                </a:lnTo>
                <a:lnTo>
                  <a:pt x="56502" y="140970"/>
                </a:lnTo>
                <a:lnTo>
                  <a:pt x="61988" y="134620"/>
                </a:lnTo>
                <a:lnTo>
                  <a:pt x="67703" y="129539"/>
                </a:lnTo>
                <a:lnTo>
                  <a:pt x="73533" y="123189"/>
                </a:lnTo>
                <a:lnTo>
                  <a:pt x="86042" y="113029"/>
                </a:lnTo>
                <a:lnTo>
                  <a:pt x="92710" y="107950"/>
                </a:lnTo>
                <a:lnTo>
                  <a:pt x="128562" y="82550"/>
                </a:lnTo>
                <a:lnTo>
                  <a:pt x="144246" y="73660"/>
                </a:lnTo>
                <a:lnTo>
                  <a:pt x="152361" y="68579"/>
                </a:lnTo>
                <a:lnTo>
                  <a:pt x="195503" y="49529"/>
                </a:lnTo>
                <a:lnTo>
                  <a:pt x="232905" y="35560"/>
                </a:lnTo>
                <a:lnTo>
                  <a:pt x="242633" y="31750"/>
                </a:lnTo>
                <a:lnTo>
                  <a:pt x="252501" y="29210"/>
                </a:lnTo>
                <a:lnTo>
                  <a:pt x="262496" y="25400"/>
                </a:lnTo>
                <a:lnTo>
                  <a:pt x="303809" y="15239"/>
                </a:lnTo>
                <a:lnTo>
                  <a:pt x="314439" y="13970"/>
                </a:lnTo>
                <a:lnTo>
                  <a:pt x="325196" y="11429"/>
                </a:lnTo>
                <a:lnTo>
                  <a:pt x="336054" y="10160"/>
                </a:lnTo>
                <a:lnTo>
                  <a:pt x="347027" y="7620"/>
                </a:lnTo>
                <a:lnTo>
                  <a:pt x="403339" y="1270"/>
                </a:lnTo>
                <a:lnTo>
                  <a:pt x="520509" y="1270"/>
                </a:lnTo>
                <a:lnTo>
                  <a:pt x="576961" y="7620"/>
                </a:lnTo>
                <a:lnTo>
                  <a:pt x="582453" y="8889"/>
                </a:lnTo>
                <a:lnTo>
                  <a:pt x="438607" y="8889"/>
                </a:lnTo>
                <a:lnTo>
                  <a:pt x="426961" y="10160"/>
                </a:lnTo>
                <a:lnTo>
                  <a:pt x="415531" y="10160"/>
                </a:lnTo>
                <a:lnTo>
                  <a:pt x="404050" y="11429"/>
                </a:lnTo>
                <a:lnTo>
                  <a:pt x="392798" y="11429"/>
                </a:lnTo>
                <a:lnTo>
                  <a:pt x="381482" y="12700"/>
                </a:lnTo>
                <a:lnTo>
                  <a:pt x="370344" y="13970"/>
                </a:lnTo>
                <a:lnTo>
                  <a:pt x="359308" y="15239"/>
                </a:lnTo>
                <a:lnTo>
                  <a:pt x="348373" y="17779"/>
                </a:lnTo>
                <a:lnTo>
                  <a:pt x="337540" y="19050"/>
                </a:lnTo>
                <a:lnTo>
                  <a:pt x="326821" y="20320"/>
                </a:lnTo>
                <a:lnTo>
                  <a:pt x="316217" y="22860"/>
                </a:lnTo>
                <a:lnTo>
                  <a:pt x="305714" y="25400"/>
                </a:lnTo>
                <a:lnTo>
                  <a:pt x="295351" y="26670"/>
                </a:lnTo>
                <a:lnTo>
                  <a:pt x="285102" y="29210"/>
                </a:lnTo>
                <a:lnTo>
                  <a:pt x="274980" y="31750"/>
                </a:lnTo>
                <a:lnTo>
                  <a:pt x="264998" y="35560"/>
                </a:lnTo>
                <a:lnTo>
                  <a:pt x="255142" y="38100"/>
                </a:lnTo>
                <a:lnTo>
                  <a:pt x="245440" y="40639"/>
                </a:lnTo>
                <a:lnTo>
                  <a:pt x="235864" y="44450"/>
                </a:lnTo>
                <a:lnTo>
                  <a:pt x="226440" y="46989"/>
                </a:lnTo>
                <a:lnTo>
                  <a:pt x="217170" y="50800"/>
                </a:lnTo>
                <a:lnTo>
                  <a:pt x="208038" y="54610"/>
                </a:lnTo>
                <a:lnTo>
                  <a:pt x="199085" y="57150"/>
                </a:lnTo>
                <a:lnTo>
                  <a:pt x="190271" y="60960"/>
                </a:lnTo>
                <a:lnTo>
                  <a:pt x="181635" y="64770"/>
                </a:lnTo>
                <a:lnTo>
                  <a:pt x="173164" y="69850"/>
                </a:lnTo>
                <a:lnTo>
                  <a:pt x="164871" y="73660"/>
                </a:lnTo>
                <a:lnTo>
                  <a:pt x="156743" y="77470"/>
                </a:lnTo>
                <a:lnTo>
                  <a:pt x="148793" y="82550"/>
                </a:lnTo>
                <a:lnTo>
                  <a:pt x="141033" y="86360"/>
                </a:lnTo>
                <a:lnTo>
                  <a:pt x="133451" y="91439"/>
                </a:lnTo>
                <a:lnTo>
                  <a:pt x="126060" y="95250"/>
                </a:lnTo>
                <a:lnTo>
                  <a:pt x="118872" y="100329"/>
                </a:lnTo>
                <a:lnTo>
                  <a:pt x="111874" y="105410"/>
                </a:lnTo>
                <a:lnTo>
                  <a:pt x="105067" y="110489"/>
                </a:lnTo>
                <a:lnTo>
                  <a:pt x="98475" y="115570"/>
                </a:lnTo>
                <a:lnTo>
                  <a:pt x="92087" y="120650"/>
                </a:lnTo>
                <a:lnTo>
                  <a:pt x="85915" y="125729"/>
                </a:lnTo>
                <a:lnTo>
                  <a:pt x="79946" y="130810"/>
                </a:lnTo>
                <a:lnTo>
                  <a:pt x="74206" y="135889"/>
                </a:lnTo>
                <a:lnTo>
                  <a:pt x="68681" y="140970"/>
                </a:lnTo>
                <a:lnTo>
                  <a:pt x="63385" y="147320"/>
                </a:lnTo>
                <a:lnTo>
                  <a:pt x="58305" y="152400"/>
                </a:lnTo>
                <a:lnTo>
                  <a:pt x="53466" y="158750"/>
                </a:lnTo>
                <a:lnTo>
                  <a:pt x="48869" y="163829"/>
                </a:lnTo>
                <a:lnTo>
                  <a:pt x="44500" y="170179"/>
                </a:lnTo>
                <a:lnTo>
                  <a:pt x="40373" y="175260"/>
                </a:lnTo>
                <a:lnTo>
                  <a:pt x="36499" y="181610"/>
                </a:lnTo>
                <a:lnTo>
                  <a:pt x="32867" y="187960"/>
                </a:lnTo>
                <a:lnTo>
                  <a:pt x="29476" y="194310"/>
                </a:lnTo>
                <a:lnTo>
                  <a:pt x="26352" y="199389"/>
                </a:lnTo>
                <a:lnTo>
                  <a:pt x="23482" y="205739"/>
                </a:lnTo>
                <a:lnTo>
                  <a:pt x="20866" y="212089"/>
                </a:lnTo>
                <a:lnTo>
                  <a:pt x="18516" y="218439"/>
                </a:lnTo>
                <a:lnTo>
                  <a:pt x="16433" y="224789"/>
                </a:lnTo>
                <a:lnTo>
                  <a:pt x="14617" y="231139"/>
                </a:lnTo>
                <a:lnTo>
                  <a:pt x="13068" y="237489"/>
                </a:lnTo>
                <a:lnTo>
                  <a:pt x="12016" y="243839"/>
                </a:lnTo>
                <a:lnTo>
                  <a:pt x="11836" y="243839"/>
                </a:lnTo>
                <a:lnTo>
                  <a:pt x="10807" y="251460"/>
                </a:lnTo>
                <a:lnTo>
                  <a:pt x="10096" y="257810"/>
                </a:lnTo>
                <a:lnTo>
                  <a:pt x="9664" y="264160"/>
                </a:lnTo>
                <a:lnTo>
                  <a:pt x="9738" y="278129"/>
                </a:lnTo>
                <a:lnTo>
                  <a:pt x="10109" y="284479"/>
                </a:lnTo>
                <a:lnTo>
                  <a:pt x="10833" y="290829"/>
                </a:lnTo>
                <a:lnTo>
                  <a:pt x="11836" y="297179"/>
                </a:lnTo>
                <a:lnTo>
                  <a:pt x="13106" y="303529"/>
                </a:lnTo>
                <a:lnTo>
                  <a:pt x="14655" y="309879"/>
                </a:lnTo>
                <a:lnTo>
                  <a:pt x="16484" y="316229"/>
                </a:lnTo>
                <a:lnTo>
                  <a:pt x="18580" y="322579"/>
                </a:lnTo>
                <a:lnTo>
                  <a:pt x="20929" y="328929"/>
                </a:lnTo>
                <a:lnTo>
                  <a:pt x="23545" y="335279"/>
                </a:lnTo>
                <a:lnTo>
                  <a:pt x="26428" y="341629"/>
                </a:lnTo>
                <a:lnTo>
                  <a:pt x="29565" y="347979"/>
                </a:lnTo>
                <a:lnTo>
                  <a:pt x="32943" y="354329"/>
                </a:lnTo>
                <a:lnTo>
                  <a:pt x="36575" y="360679"/>
                </a:lnTo>
                <a:lnTo>
                  <a:pt x="37292" y="360679"/>
                </a:lnTo>
                <a:lnTo>
                  <a:pt x="40462" y="365760"/>
                </a:lnTo>
                <a:lnTo>
                  <a:pt x="44589" y="372110"/>
                </a:lnTo>
                <a:lnTo>
                  <a:pt x="48958" y="377189"/>
                </a:lnTo>
                <a:lnTo>
                  <a:pt x="53568" y="383539"/>
                </a:lnTo>
                <a:lnTo>
                  <a:pt x="58407" y="388620"/>
                </a:lnTo>
                <a:lnTo>
                  <a:pt x="63474" y="394970"/>
                </a:lnTo>
                <a:lnTo>
                  <a:pt x="68770" y="400050"/>
                </a:lnTo>
                <a:lnTo>
                  <a:pt x="74295" y="405129"/>
                </a:lnTo>
                <a:lnTo>
                  <a:pt x="80048" y="411479"/>
                </a:lnTo>
                <a:lnTo>
                  <a:pt x="86004" y="416560"/>
                </a:lnTo>
                <a:lnTo>
                  <a:pt x="92176" y="421639"/>
                </a:lnTo>
                <a:lnTo>
                  <a:pt x="98564" y="426720"/>
                </a:lnTo>
                <a:lnTo>
                  <a:pt x="105155" y="431800"/>
                </a:lnTo>
                <a:lnTo>
                  <a:pt x="111963" y="436879"/>
                </a:lnTo>
                <a:lnTo>
                  <a:pt x="118960" y="441960"/>
                </a:lnTo>
                <a:lnTo>
                  <a:pt x="126149" y="445770"/>
                </a:lnTo>
                <a:lnTo>
                  <a:pt x="133540" y="450850"/>
                </a:lnTo>
                <a:lnTo>
                  <a:pt x="141109" y="455929"/>
                </a:lnTo>
                <a:lnTo>
                  <a:pt x="142995" y="455929"/>
                </a:lnTo>
                <a:lnTo>
                  <a:pt x="148882" y="459739"/>
                </a:lnTo>
                <a:lnTo>
                  <a:pt x="156819" y="463550"/>
                </a:lnTo>
                <a:lnTo>
                  <a:pt x="164947" y="468629"/>
                </a:lnTo>
                <a:lnTo>
                  <a:pt x="173253" y="472439"/>
                </a:lnTo>
                <a:lnTo>
                  <a:pt x="181724" y="476250"/>
                </a:lnTo>
                <a:lnTo>
                  <a:pt x="190360" y="480060"/>
                </a:lnTo>
                <a:lnTo>
                  <a:pt x="199161" y="483870"/>
                </a:lnTo>
                <a:lnTo>
                  <a:pt x="208127" y="487679"/>
                </a:lnTo>
                <a:lnTo>
                  <a:pt x="217246" y="491489"/>
                </a:lnTo>
                <a:lnTo>
                  <a:pt x="226517" y="494029"/>
                </a:lnTo>
                <a:lnTo>
                  <a:pt x="235940" y="497839"/>
                </a:lnTo>
                <a:lnTo>
                  <a:pt x="245516" y="500379"/>
                </a:lnTo>
                <a:lnTo>
                  <a:pt x="255219" y="504189"/>
                </a:lnTo>
                <a:lnTo>
                  <a:pt x="265074" y="506729"/>
                </a:lnTo>
                <a:lnTo>
                  <a:pt x="275056" y="509270"/>
                </a:lnTo>
                <a:lnTo>
                  <a:pt x="285178" y="511810"/>
                </a:lnTo>
                <a:lnTo>
                  <a:pt x="295427" y="514350"/>
                </a:lnTo>
                <a:lnTo>
                  <a:pt x="305790" y="516889"/>
                </a:lnTo>
                <a:lnTo>
                  <a:pt x="316280" y="519429"/>
                </a:lnTo>
                <a:lnTo>
                  <a:pt x="326885" y="520700"/>
                </a:lnTo>
                <a:lnTo>
                  <a:pt x="337616" y="523239"/>
                </a:lnTo>
                <a:lnTo>
                  <a:pt x="348437" y="524510"/>
                </a:lnTo>
                <a:lnTo>
                  <a:pt x="359384" y="525779"/>
                </a:lnTo>
                <a:lnTo>
                  <a:pt x="370420" y="527050"/>
                </a:lnTo>
                <a:lnTo>
                  <a:pt x="381558" y="528320"/>
                </a:lnTo>
                <a:lnTo>
                  <a:pt x="392798" y="529589"/>
                </a:lnTo>
                <a:lnTo>
                  <a:pt x="404113" y="530860"/>
                </a:lnTo>
                <a:lnTo>
                  <a:pt x="415467" y="530860"/>
                </a:lnTo>
                <a:lnTo>
                  <a:pt x="427037" y="532129"/>
                </a:lnTo>
                <a:lnTo>
                  <a:pt x="450202" y="532129"/>
                </a:lnTo>
                <a:lnTo>
                  <a:pt x="461962" y="533395"/>
                </a:lnTo>
                <a:lnTo>
                  <a:pt x="576897" y="533400"/>
                </a:lnTo>
                <a:lnTo>
                  <a:pt x="565810" y="535939"/>
                </a:lnTo>
                <a:lnTo>
                  <a:pt x="531977" y="539750"/>
                </a:lnTo>
                <a:close/>
              </a:path>
              <a:path w="923925" h="542289">
                <a:moveTo>
                  <a:pt x="912126" y="245110"/>
                </a:moveTo>
                <a:lnTo>
                  <a:pt x="910818" y="237489"/>
                </a:lnTo>
                <a:lnTo>
                  <a:pt x="909269" y="231139"/>
                </a:lnTo>
                <a:lnTo>
                  <a:pt x="907440" y="224789"/>
                </a:lnTo>
                <a:lnTo>
                  <a:pt x="905344" y="218439"/>
                </a:lnTo>
                <a:lnTo>
                  <a:pt x="902995" y="212089"/>
                </a:lnTo>
                <a:lnTo>
                  <a:pt x="900379" y="205739"/>
                </a:lnTo>
                <a:lnTo>
                  <a:pt x="897496" y="199389"/>
                </a:lnTo>
                <a:lnTo>
                  <a:pt x="894359" y="194310"/>
                </a:lnTo>
                <a:lnTo>
                  <a:pt x="890981" y="187960"/>
                </a:lnTo>
                <a:lnTo>
                  <a:pt x="887349" y="181610"/>
                </a:lnTo>
                <a:lnTo>
                  <a:pt x="883462" y="175260"/>
                </a:lnTo>
                <a:lnTo>
                  <a:pt x="879335" y="170179"/>
                </a:lnTo>
                <a:lnTo>
                  <a:pt x="874966" y="163829"/>
                </a:lnTo>
                <a:lnTo>
                  <a:pt x="870356" y="158750"/>
                </a:lnTo>
                <a:lnTo>
                  <a:pt x="865517" y="152400"/>
                </a:lnTo>
                <a:lnTo>
                  <a:pt x="860450" y="147320"/>
                </a:lnTo>
                <a:lnTo>
                  <a:pt x="855154" y="140970"/>
                </a:lnTo>
                <a:lnTo>
                  <a:pt x="849629" y="135889"/>
                </a:lnTo>
                <a:lnTo>
                  <a:pt x="843876" y="130810"/>
                </a:lnTo>
                <a:lnTo>
                  <a:pt x="837920" y="125729"/>
                </a:lnTo>
                <a:lnTo>
                  <a:pt x="831748" y="120650"/>
                </a:lnTo>
                <a:lnTo>
                  <a:pt x="825360" y="115570"/>
                </a:lnTo>
                <a:lnTo>
                  <a:pt x="818769" y="110489"/>
                </a:lnTo>
                <a:lnTo>
                  <a:pt x="811961" y="105410"/>
                </a:lnTo>
                <a:lnTo>
                  <a:pt x="804964" y="100329"/>
                </a:lnTo>
                <a:lnTo>
                  <a:pt x="797775" y="95250"/>
                </a:lnTo>
                <a:lnTo>
                  <a:pt x="790384" y="91439"/>
                </a:lnTo>
                <a:lnTo>
                  <a:pt x="782815" y="86360"/>
                </a:lnTo>
                <a:lnTo>
                  <a:pt x="775042" y="82550"/>
                </a:lnTo>
                <a:lnTo>
                  <a:pt x="767105" y="77470"/>
                </a:lnTo>
                <a:lnTo>
                  <a:pt x="758977" y="73660"/>
                </a:lnTo>
                <a:lnTo>
                  <a:pt x="750671" y="69850"/>
                </a:lnTo>
                <a:lnTo>
                  <a:pt x="742200" y="64770"/>
                </a:lnTo>
                <a:lnTo>
                  <a:pt x="733564" y="60960"/>
                </a:lnTo>
                <a:lnTo>
                  <a:pt x="724763" y="57150"/>
                </a:lnTo>
                <a:lnTo>
                  <a:pt x="715797" y="54610"/>
                </a:lnTo>
                <a:lnTo>
                  <a:pt x="706678" y="50800"/>
                </a:lnTo>
                <a:lnTo>
                  <a:pt x="697407" y="46989"/>
                </a:lnTo>
                <a:lnTo>
                  <a:pt x="687984" y="44450"/>
                </a:lnTo>
                <a:lnTo>
                  <a:pt x="678408" y="40639"/>
                </a:lnTo>
                <a:lnTo>
                  <a:pt x="668705" y="38100"/>
                </a:lnTo>
                <a:lnTo>
                  <a:pt x="658850" y="35560"/>
                </a:lnTo>
                <a:lnTo>
                  <a:pt x="648868" y="31750"/>
                </a:lnTo>
                <a:lnTo>
                  <a:pt x="638746" y="29210"/>
                </a:lnTo>
                <a:lnTo>
                  <a:pt x="628497" y="26670"/>
                </a:lnTo>
                <a:lnTo>
                  <a:pt x="618134" y="25400"/>
                </a:lnTo>
                <a:lnTo>
                  <a:pt x="607644" y="22860"/>
                </a:lnTo>
                <a:lnTo>
                  <a:pt x="597039" y="20320"/>
                </a:lnTo>
                <a:lnTo>
                  <a:pt x="586308" y="19050"/>
                </a:lnTo>
                <a:lnTo>
                  <a:pt x="575475" y="17779"/>
                </a:lnTo>
                <a:lnTo>
                  <a:pt x="564540" y="15239"/>
                </a:lnTo>
                <a:lnTo>
                  <a:pt x="553504" y="13970"/>
                </a:lnTo>
                <a:lnTo>
                  <a:pt x="542366" y="12700"/>
                </a:lnTo>
                <a:lnTo>
                  <a:pt x="531126" y="11429"/>
                </a:lnTo>
                <a:lnTo>
                  <a:pt x="519874" y="11429"/>
                </a:lnTo>
                <a:lnTo>
                  <a:pt x="508393" y="10160"/>
                </a:lnTo>
                <a:lnTo>
                  <a:pt x="496963" y="10160"/>
                </a:lnTo>
                <a:lnTo>
                  <a:pt x="485317" y="8889"/>
                </a:lnTo>
                <a:lnTo>
                  <a:pt x="582453" y="8889"/>
                </a:lnTo>
                <a:lnTo>
                  <a:pt x="587946" y="10160"/>
                </a:lnTo>
                <a:lnTo>
                  <a:pt x="598804" y="11429"/>
                </a:lnTo>
                <a:lnTo>
                  <a:pt x="609561" y="13970"/>
                </a:lnTo>
                <a:lnTo>
                  <a:pt x="620191" y="15239"/>
                </a:lnTo>
                <a:lnTo>
                  <a:pt x="661504" y="25400"/>
                </a:lnTo>
                <a:lnTo>
                  <a:pt x="671499" y="29210"/>
                </a:lnTo>
                <a:lnTo>
                  <a:pt x="681367" y="31750"/>
                </a:lnTo>
                <a:lnTo>
                  <a:pt x="691095" y="35560"/>
                </a:lnTo>
                <a:lnTo>
                  <a:pt x="737450" y="53339"/>
                </a:lnTo>
                <a:lnTo>
                  <a:pt x="771651" y="69850"/>
                </a:lnTo>
                <a:lnTo>
                  <a:pt x="779754" y="73660"/>
                </a:lnTo>
                <a:lnTo>
                  <a:pt x="787692" y="78739"/>
                </a:lnTo>
                <a:lnTo>
                  <a:pt x="795439" y="82550"/>
                </a:lnTo>
                <a:lnTo>
                  <a:pt x="803008" y="87629"/>
                </a:lnTo>
                <a:lnTo>
                  <a:pt x="837780" y="113029"/>
                </a:lnTo>
                <a:lnTo>
                  <a:pt x="844232" y="118110"/>
                </a:lnTo>
                <a:lnTo>
                  <a:pt x="850391" y="123189"/>
                </a:lnTo>
                <a:lnTo>
                  <a:pt x="856322" y="129539"/>
                </a:lnTo>
                <a:lnTo>
                  <a:pt x="862025" y="134620"/>
                </a:lnTo>
                <a:lnTo>
                  <a:pt x="867511" y="140970"/>
                </a:lnTo>
                <a:lnTo>
                  <a:pt x="872769" y="146050"/>
                </a:lnTo>
                <a:lnTo>
                  <a:pt x="877798" y="152400"/>
                </a:lnTo>
                <a:lnTo>
                  <a:pt x="882586" y="158750"/>
                </a:lnTo>
                <a:lnTo>
                  <a:pt x="887133" y="163829"/>
                </a:lnTo>
                <a:lnTo>
                  <a:pt x="891438" y="170179"/>
                </a:lnTo>
                <a:lnTo>
                  <a:pt x="911910" y="209550"/>
                </a:lnTo>
                <a:lnTo>
                  <a:pt x="914400" y="215900"/>
                </a:lnTo>
                <a:lnTo>
                  <a:pt x="916597" y="222250"/>
                </a:lnTo>
                <a:lnTo>
                  <a:pt x="918527" y="228600"/>
                </a:lnTo>
                <a:lnTo>
                  <a:pt x="921512" y="242570"/>
                </a:lnTo>
                <a:lnTo>
                  <a:pt x="921687" y="243839"/>
                </a:lnTo>
                <a:lnTo>
                  <a:pt x="912088" y="243839"/>
                </a:lnTo>
                <a:lnTo>
                  <a:pt x="912126" y="245110"/>
                </a:lnTo>
                <a:close/>
              </a:path>
              <a:path w="923925" h="542289">
                <a:moveTo>
                  <a:pt x="11798" y="245110"/>
                </a:moveTo>
                <a:lnTo>
                  <a:pt x="11836" y="243839"/>
                </a:lnTo>
                <a:lnTo>
                  <a:pt x="12016" y="243839"/>
                </a:lnTo>
                <a:lnTo>
                  <a:pt x="11798" y="245110"/>
                </a:lnTo>
                <a:close/>
              </a:path>
              <a:path w="923925" h="542289">
                <a:moveTo>
                  <a:pt x="923759" y="278129"/>
                </a:moveTo>
                <a:lnTo>
                  <a:pt x="914247" y="278129"/>
                </a:lnTo>
                <a:lnTo>
                  <a:pt x="914400" y="270510"/>
                </a:lnTo>
                <a:lnTo>
                  <a:pt x="914247" y="264160"/>
                </a:lnTo>
                <a:lnTo>
                  <a:pt x="913815" y="257810"/>
                </a:lnTo>
                <a:lnTo>
                  <a:pt x="913091" y="251460"/>
                </a:lnTo>
                <a:lnTo>
                  <a:pt x="912088" y="243839"/>
                </a:lnTo>
                <a:lnTo>
                  <a:pt x="921687" y="243839"/>
                </a:lnTo>
                <a:lnTo>
                  <a:pt x="922566" y="250189"/>
                </a:lnTo>
                <a:lnTo>
                  <a:pt x="923315" y="256539"/>
                </a:lnTo>
                <a:lnTo>
                  <a:pt x="923772" y="264160"/>
                </a:lnTo>
                <a:lnTo>
                  <a:pt x="923925" y="270510"/>
                </a:lnTo>
                <a:lnTo>
                  <a:pt x="923759" y="278129"/>
                </a:lnTo>
                <a:close/>
              </a:path>
              <a:path w="923925" h="542289">
                <a:moveTo>
                  <a:pt x="9738" y="278129"/>
                </a:moveTo>
                <a:lnTo>
                  <a:pt x="9664" y="276860"/>
                </a:lnTo>
                <a:lnTo>
                  <a:pt x="9738" y="278129"/>
                </a:lnTo>
                <a:close/>
              </a:path>
              <a:path w="923925" h="542289">
                <a:moveTo>
                  <a:pt x="898461" y="360679"/>
                </a:moveTo>
                <a:lnTo>
                  <a:pt x="887349" y="360679"/>
                </a:lnTo>
                <a:lnTo>
                  <a:pt x="891057" y="354329"/>
                </a:lnTo>
                <a:lnTo>
                  <a:pt x="894448" y="347979"/>
                </a:lnTo>
                <a:lnTo>
                  <a:pt x="897572" y="341629"/>
                </a:lnTo>
                <a:lnTo>
                  <a:pt x="900442" y="335279"/>
                </a:lnTo>
                <a:lnTo>
                  <a:pt x="903058" y="328929"/>
                </a:lnTo>
                <a:lnTo>
                  <a:pt x="905408" y="322579"/>
                </a:lnTo>
                <a:lnTo>
                  <a:pt x="907491" y="316229"/>
                </a:lnTo>
                <a:lnTo>
                  <a:pt x="909307" y="309879"/>
                </a:lnTo>
                <a:lnTo>
                  <a:pt x="910856" y="303529"/>
                </a:lnTo>
                <a:lnTo>
                  <a:pt x="912126" y="297179"/>
                </a:lnTo>
                <a:lnTo>
                  <a:pt x="913117" y="290829"/>
                </a:lnTo>
                <a:lnTo>
                  <a:pt x="913828" y="284479"/>
                </a:lnTo>
                <a:lnTo>
                  <a:pt x="914260" y="276860"/>
                </a:lnTo>
                <a:lnTo>
                  <a:pt x="914247" y="278129"/>
                </a:lnTo>
                <a:lnTo>
                  <a:pt x="923759" y="278129"/>
                </a:lnTo>
                <a:lnTo>
                  <a:pt x="923302" y="284479"/>
                </a:lnTo>
                <a:lnTo>
                  <a:pt x="922540" y="292100"/>
                </a:lnTo>
                <a:lnTo>
                  <a:pt x="920165" y="306070"/>
                </a:lnTo>
                <a:lnTo>
                  <a:pt x="918476" y="312420"/>
                </a:lnTo>
                <a:lnTo>
                  <a:pt x="916546" y="320039"/>
                </a:lnTo>
                <a:lnTo>
                  <a:pt x="914336" y="326389"/>
                </a:lnTo>
                <a:lnTo>
                  <a:pt x="911847" y="332739"/>
                </a:lnTo>
                <a:lnTo>
                  <a:pt x="909091" y="339089"/>
                </a:lnTo>
                <a:lnTo>
                  <a:pt x="906056" y="345439"/>
                </a:lnTo>
                <a:lnTo>
                  <a:pt x="902766" y="353060"/>
                </a:lnTo>
                <a:lnTo>
                  <a:pt x="899223" y="359410"/>
                </a:lnTo>
                <a:lnTo>
                  <a:pt x="898461" y="360679"/>
                </a:lnTo>
                <a:close/>
              </a:path>
              <a:path w="923925" h="542289">
                <a:moveTo>
                  <a:pt x="37292" y="360679"/>
                </a:moveTo>
                <a:lnTo>
                  <a:pt x="36575" y="360679"/>
                </a:lnTo>
                <a:lnTo>
                  <a:pt x="36499" y="359410"/>
                </a:lnTo>
                <a:lnTo>
                  <a:pt x="37292" y="360679"/>
                </a:lnTo>
                <a:close/>
              </a:path>
              <a:path w="923925" h="542289">
                <a:moveTo>
                  <a:pt x="800400" y="455929"/>
                </a:moveTo>
                <a:lnTo>
                  <a:pt x="782815" y="455929"/>
                </a:lnTo>
                <a:lnTo>
                  <a:pt x="790473" y="450850"/>
                </a:lnTo>
                <a:lnTo>
                  <a:pt x="797864" y="445770"/>
                </a:lnTo>
                <a:lnTo>
                  <a:pt x="805052" y="441960"/>
                </a:lnTo>
                <a:lnTo>
                  <a:pt x="812050" y="436879"/>
                </a:lnTo>
                <a:lnTo>
                  <a:pt x="818857" y="431800"/>
                </a:lnTo>
                <a:lnTo>
                  <a:pt x="825449" y="426720"/>
                </a:lnTo>
                <a:lnTo>
                  <a:pt x="831837" y="421639"/>
                </a:lnTo>
                <a:lnTo>
                  <a:pt x="838009" y="416560"/>
                </a:lnTo>
                <a:lnTo>
                  <a:pt x="843978" y="411479"/>
                </a:lnTo>
                <a:lnTo>
                  <a:pt x="849718" y="405129"/>
                </a:lnTo>
                <a:lnTo>
                  <a:pt x="855243" y="400050"/>
                </a:lnTo>
                <a:lnTo>
                  <a:pt x="860539" y="394970"/>
                </a:lnTo>
                <a:lnTo>
                  <a:pt x="865619" y="388620"/>
                </a:lnTo>
                <a:lnTo>
                  <a:pt x="870458" y="383539"/>
                </a:lnTo>
                <a:lnTo>
                  <a:pt x="875055" y="377189"/>
                </a:lnTo>
                <a:lnTo>
                  <a:pt x="879424" y="372110"/>
                </a:lnTo>
                <a:lnTo>
                  <a:pt x="883551" y="365760"/>
                </a:lnTo>
                <a:lnTo>
                  <a:pt x="887425" y="359410"/>
                </a:lnTo>
                <a:lnTo>
                  <a:pt x="887349" y="360679"/>
                </a:lnTo>
                <a:lnTo>
                  <a:pt x="898461" y="360679"/>
                </a:lnTo>
                <a:lnTo>
                  <a:pt x="895413" y="365760"/>
                </a:lnTo>
                <a:lnTo>
                  <a:pt x="891349" y="370839"/>
                </a:lnTo>
                <a:lnTo>
                  <a:pt x="887044" y="377189"/>
                </a:lnTo>
                <a:lnTo>
                  <a:pt x="882497" y="383539"/>
                </a:lnTo>
                <a:lnTo>
                  <a:pt x="877697" y="389889"/>
                </a:lnTo>
                <a:lnTo>
                  <a:pt x="872680" y="394970"/>
                </a:lnTo>
                <a:lnTo>
                  <a:pt x="867422" y="401320"/>
                </a:lnTo>
                <a:lnTo>
                  <a:pt x="861936" y="406400"/>
                </a:lnTo>
                <a:lnTo>
                  <a:pt x="856221" y="412750"/>
                </a:lnTo>
                <a:lnTo>
                  <a:pt x="850391" y="417829"/>
                </a:lnTo>
                <a:lnTo>
                  <a:pt x="844143" y="424179"/>
                </a:lnTo>
                <a:lnTo>
                  <a:pt x="837882" y="429260"/>
                </a:lnTo>
                <a:lnTo>
                  <a:pt x="831214" y="434339"/>
                </a:lnTo>
                <a:lnTo>
                  <a:pt x="824445" y="439420"/>
                </a:lnTo>
                <a:lnTo>
                  <a:pt x="817460" y="444500"/>
                </a:lnTo>
                <a:lnTo>
                  <a:pt x="810285" y="449579"/>
                </a:lnTo>
                <a:lnTo>
                  <a:pt x="802919" y="454660"/>
                </a:lnTo>
                <a:lnTo>
                  <a:pt x="800400" y="455929"/>
                </a:lnTo>
                <a:close/>
              </a:path>
              <a:path w="923925" h="542289">
                <a:moveTo>
                  <a:pt x="142995" y="455929"/>
                </a:moveTo>
                <a:lnTo>
                  <a:pt x="141109" y="455929"/>
                </a:lnTo>
                <a:lnTo>
                  <a:pt x="141033" y="454660"/>
                </a:lnTo>
                <a:lnTo>
                  <a:pt x="142995" y="455929"/>
                </a:lnTo>
                <a:close/>
              </a:path>
              <a:path w="923925" h="542289">
                <a:moveTo>
                  <a:pt x="576897" y="533400"/>
                </a:moveTo>
                <a:lnTo>
                  <a:pt x="461962" y="533395"/>
                </a:lnTo>
                <a:lnTo>
                  <a:pt x="473722" y="532129"/>
                </a:lnTo>
                <a:lnTo>
                  <a:pt x="496887" y="532129"/>
                </a:lnTo>
                <a:lnTo>
                  <a:pt x="508457" y="530860"/>
                </a:lnTo>
                <a:lnTo>
                  <a:pt x="519811" y="530860"/>
                </a:lnTo>
                <a:lnTo>
                  <a:pt x="531202" y="529589"/>
                </a:lnTo>
                <a:lnTo>
                  <a:pt x="542442" y="528320"/>
                </a:lnTo>
                <a:lnTo>
                  <a:pt x="553580" y="527050"/>
                </a:lnTo>
                <a:lnTo>
                  <a:pt x="564616" y="525779"/>
                </a:lnTo>
                <a:lnTo>
                  <a:pt x="575551" y="524510"/>
                </a:lnTo>
                <a:lnTo>
                  <a:pt x="586384" y="523239"/>
                </a:lnTo>
                <a:lnTo>
                  <a:pt x="597103" y="520700"/>
                </a:lnTo>
                <a:lnTo>
                  <a:pt x="607707" y="519429"/>
                </a:lnTo>
                <a:lnTo>
                  <a:pt x="618210" y="516889"/>
                </a:lnTo>
                <a:lnTo>
                  <a:pt x="628573" y="514350"/>
                </a:lnTo>
                <a:lnTo>
                  <a:pt x="638822" y="511810"/>
                </a:lnTo>
                <a:lnTo>
                  <a:pt x="648944" y="509270"/>
                </a:lnTo>
                <a:lnTo>
                  <a:pt x="658926" y="506729"/>
                </a:lnTo>
                <a:lnTo>
                  <a:pt x="668782" y="504189"/>
                </a:lnTo>
                <a:lnTo>
                  <a:pt x="678484" y="500379"/>
                </a:lnTo>
                <a:lnTo>
                  <a:pt x="688060" y="497839"/>
                </a:lnTo>
                <a:lnTo>
                  <a:pt x="697484" y="494029"/>
                </a:lnTo>
                <a:lnTo>
                  <a:pt x="706754" y="491489"/>
                </a:lnTo>
                <a:lnTo>
                  <a:pt x="715886" y="487679"/>
                </a:lnTo>
                <a:lnTo>
                  <a:pt x="724839" y="483870"/>
                </a:lnTo>
                <a:lnTo>
                  <a:pt x="733653" y="480060"/>
                </a:lnTo>
                <a:lnTo>
                  <a:pt x="742289" y="476250"/>
                </a:lnTo>
                <a:lnTo>
                  <a:pt x="750760" y="472439"/>
                </a:lnTo>
                <a:lnTo>
                  <a:pt x="759053" y="468629"/>
                </a:lnTo>
                <a:lnTo>
                  <a:pt x="767181" y="463550"/>
                </a:lnTo>
                <a:lnTo>
                  <a:pt x="775131" y="459739"/>
                </a:lnTo>
                <a:lnTo>
                  <a:pt x="782891" y="454660"/>
                </a:lnTo>
                <a:lnTo>
                  <a:pt x="782815" y="455929"/>
                </a:lnTo>
                <a:lnTo>
                  <a:pt x="800400" y="455929"/>
                </a:lnTo>
                <a:lnTo>
                  <a:pt x="795362" y="458470"/>
                </a:lnTo>
                <a:lnTo>
                  <a:pt x="787603" y="463550"/>
                </a:lnTo>
                <a:lnTo>
                  <a:pt x="779678" y="468629"/>
                </a:lnTo>
                <a:lnTo>
                  <a:pt x="771563" y="472439"/>
                </a:lnTo>
                <a:lnTo>
                  <a:pt x="763270" y="476250"/>
                </a:lnTo>
                <a:lnTo>
                  <a:pt x="754811" y="481329"/>
                </a:lnTo>
                <a:lnTo>
                  <a:pt x="737374" y="488950"/>
                </a:lnTo>
                <a:lnTo>
                  <a:pt x="719289" y="496570"/>
                </a:lnTo>
                <a:lnTo>
                  <a:pt x="710018" y="500379"/>
                </a:lnTo>
                <a:lnTo>
                  <a:pt x="700595" y="502920"/>
                </a:lnTo>
                <a:lnTo>
                  <a:pt x="691007" y="506729"/>
                </a:lnTo>
                <a:lnTo>
                  <a:pt x="681291" y="509270"/>
                </a:lnTo>
                <a:lnTo>
                  <a:pt x="671423" y="513079"/>
                </a:lnTo>
                <a:lnTo>
                  <a:pt x="598728" y="530860"/>
                </a:lnTo>
                <a:lnTo>
                  <a:pt x="576897" y="533400"/>
                </a:lnTo>
                <a:close/>
              </a:path>
              <a:path w="923925" h="542289">
                <a:moveTo>
                  <a:pt x="509028" y="541020"/>
                </a:moveTo>
                <a:lnTo>
                  <a:pt x="414972" y="541020"/>
                </a:lnTo>
                <a:lnTo>
                  <a:pt x="403415" y="539750"/>
                </a:lnTo>
                <a:lnTo>
                  <a:pt x="520585" y="539750"/>
                </a:lnTo>
                <a:lnTo>
                  <a:pt x="509028" y="541020"/>
                </a:lnTo>
                <a:close/>
              </a:path>
              <a:path w="923925" h="542289">
                <a:moveTo>
                  <a:pt x="485597" y="542289"/>
                </a:moveTo>
                <a:lnTo>
                  <a:pt x="438264" y="542289"/>
                </a:lnTo>
                <a:lnTo>
                  <a:pt x="426542" y="541020"/>
                </a:lnTo>
                <a:lnTo>
                  <a:pt x="497319" y="541020"/>
                </a:lnTo>
                <a:lnTo>
                  <a:pt x="485597" y="542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62400" y="38862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16939" y="4337062"/>
            <a:ext cx="6398260" cy="163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9085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price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Price </a:t>
            </a:r>
            <a:r>
              <a:rPr sz="2400" dirty="0">
                <a:latin typeface="Tahoma"/>
                <a:cs typeface="Tahoma"/>
              </a:rPr>
              <a:t>is a </a:t>
            </a:r>
            <a:r>
              <a:rPr sz="2400" spc="-5" dirty="0">
                <a:latin typeface="Tahoma"/>
                <a:cs typeface="Tahoma"/>
              </a:rPr>
              <a:t>function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both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bar </a:t>
            </a:r>
            <a:r>
              <a:rPr sz="2400" dirty="0">
                <a:latin typeface="Tahoma"/>
                <a:cs typeface="Tahoma"/>
              </a:rPr>
              <a:t>and the </a:t>
            </a:r>
            <a:r>
              <a:rPr sz="2400" spc="-70" dirty="0">
                <a:latin typeface="Tahoma"/>
                <a:cs typeface="Tahoma"/>
              </a:rPr>
              <a:t>beer,  </a:t>
            </a:r>
            <a:r>
              <a:rPr sz="2400" dirty="0">
                <a:latin typeface="Tahoma"/>
                <a:cs typeface="Tahoma"/>
              </a:rPr>
              <a:t>not of one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alone.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10405"/>
            <a:ext cx="716280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275" marR="5080" indent="-282575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Equivalent Diagrams </a:t>
            </a:r>
            <a:r>
              <a:rPr lang="zh-CN" altLang="en-US" spc="-15" dirty="0"/>
              <a:t>等价图</a:t>
            </a:r>
            <a:r>
              <a:rPr spc="-5" dirty="0"/>
              <a:t>Without  </a:t>
            </a:r>
            <a:r>
              <a:rPr spc="-10" dirty="0"/>
              <a:t>Attributes </a:t>
            </a:r>
            <a:r>
              <a:rPr dirty="0"/>
              <a:t>on</a:t>
            </a:r>
            <a:r>
              <a:rPr spc="-45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717" y="2895600"/>
            <a:ext cx="7568565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Create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representing </a:t>
            </a:r>
            <a:r>
              <a:rPr sz="3200" spc="-15" dirty="0">
                <a:latin typeface="Tahoma"/>
                <a:cs typeface="Tahoma"/>
              </a:rPr>
              <a:t>values  </a:t>
            </a:r>
            <a:r>
              <a:rPr sz="3200" spc="-5" dirty="0">
                <a:latin typeface="Tahoma"/>
                <a:cs typeface="Tahoma"/>
              </a:rPr>
              <a:t>of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attribute.</a:t>
            </a:r>
            <a:endParaRPr sz="3200" dirty="0">
              <a:latin typeface="Tahoma"/>
              <a:cs typeface="Tahoma"/>
            </a:endParaRPr>
          </a:p>
          <a:p>
            <a:pPr marL="355600" marR="42037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Make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participate in the  </a:t>
            </a:r>
            <a:r>
              <a:rPr sz="3200" spc="-10" dirty="0">
                <a:latin typeface="Tahoma"/>
                <a:cs typeface="Tahoma"/>
              </a:rPr>
              <a:t>relationship.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366837" y="2660624"/>
            <a:ext cx="5038725" cy="34395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85" marR="5080" indent="70485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Removing </a:t>
            </a:r>
            <a:r>
              <a:rPr dirty="0"/>
              <a:t>an  </a:t>
            </a:r>
            <a:r>
              <a:rPr spc="-15" dirty="0"/>
              <a:t>Attribute from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8930" y="3041650"/>
            <a:ext cx="61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0684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6170" y="3079750"/>
            <a:ext cx="632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3625138" y="5632462"/>
            <a:ext cx="674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7270" y="4489450"/>
            <a:ext cx="81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Pri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8940" y="4187825"/>
            <a:ext cx="2995930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Note </a:t>
            </a:r>
            <a:r>
              <a:rPr sz="2000" spc="-10" dirty="0">
                <a:latin typeface="Tahoma"/>
                <a:cs typeface="Tahoma"/>
              </a:rPr>
              <a:t>convention</a:t>
            </a:r>
            <a:r>
              <a:rPr lang="zh-CN" altLang="en-US" sz="2000" spc="-10" dirty="0">
                <a:latin typeface="Tahoma"/>
                <a:cs typeface="Tahoma"/>
              </a:rPr>
              <a:t>约定</a:t>
            </a:r>
            <a:r>
              <a:rPr sz="2000" spc="-10" dirty="0">
                <a:latin typeface="Tahoma"/>
                <a:cs typeface="Tahoma"/>
              </a:rPr>
              <a:t>: </a:t>
            </a:r>
            <a:r>
              <a:rPr sz="2000" spc="-5" dirty="0">
                <a:latin typeface="Tahoma"/>
                <a:cs typeface="Tahoma"/>
              </a:rPr>
              <a:t>arrow  </a:t>
            </a:r>
            <a:r>
              <a:rPr sz="2000" spc="-10" dirty="0">
                <a:latin typeface="Tahoma"/>
                <a:cs typeface="Tahoma"/>
              </a:rPr>
              <a:t>from multiway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relationship</a:t>
            </a:r>
            <a:endParaRPr sz="2000" dirty="0">
              <a:latin typeface="Tahoma"/>
              <a:cs typeface="Tahoma"/>
            </a:endParaRPr>
          </a:p>
          <a:p>
            <a:pPr marL="12700" marR="45720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= “all </a:t>
            </a:r>
            <a:r>
              <a:rPr sz="2000" spc="-5" dirty="0">
                <a:latin typeface="Tahoma"/>
                <a:cs typeface="Tahoma"/>
              </a:rPr>
              <a:t>other </a:t>
            </a:r>
            <a:r>
              <a:rPr sz="2000" spc="-10" dirty="0">
                <a:latin typeface="Tahoma"/>
                <a:cs typeface="Tahoma"/>
              </a:rPr>
              <a:t>entity </a:t>
            </a:r>
            <a:r>
              <a:rPr sz="2000" spc="-5" dirty="0">
                <a:latin typeface="Tahoma"/>
                <a:cs typeface="Tahoma"/>
              </a:rPr>
              <a:t>sets  together determine </a:t>
            </a:r>
            <a:r>
              <a:rPr sz="2000" dirty="0">
                <a:latin typeface="Tahoma"/>
                <a:cs typeface="Tahoma"/>
              </a:rPr>
              <a:t>a  </a:t>
            </a:r>
            <a:r>
              <a:rPr sz="2000" spc="-5" dirty="0">
                <a:latin typeface="Tahoma"/>
                <a:cs typeface="Tahoma"/>
              </a:rPr>
              <a:t>unique one of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these.”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3345" y="829944"/>
            <a:ext cx="133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R</a:t>
            </a:r>
            <a:r>
              <a:rPr spc="-5" dirty="0"/>
              <a:t>ole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46315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zh-CN" sz="3200" dirty="0">
                <a:effectLst/>
              </a:rPr>
              <a:t>Sometimes an entity set appears more than once in a relationship.</a:t>
            </a:r>
          </a:p>
          <a:p>
            <a:endParaRPr lang="en-US" altLang="zh-CN" sz="3200" dirty="0">
              <a:effectLst/>
            </a:endParaRPr>
          </a:p>
          <a:p>
            <a:r>
              <a:rPr lang="en-US" altLang="zh-CN" sz="3200" dirty="0">
                <a:effectLst/>
              </a:rPr>
              <a:t>Label the edges between the relationship and the entity set with names called </a:t>
            </a:r>
            <a:r>
              <a:rPr lang="en-US" altLang="zh-CN" sz="3200" dirty="0">
                <a:effectLst/>
                <a:highlight>
                  <a:srgbClr val="FFFF00"/>
                </a:highlight>
              </a:rPr>
              <a:t>roles</a:t>
            </a:r>
            <a:r>
              <a:rPr lang="en-US" altLang="zh-CN" sz="3200" dirty="0"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33800" y="4419600"/>
            <a:ext cx="1295400" cy="914400"/>
          </a:xfrm>
          <a:custGeom>
            <a:avLst/>
            <a:gdLst/>
            <a:ahLst/>
            <a:cxnLst/>
            <a:rect l="l" t="t" r="r" b="b"/>
            <a:pathLst>
              <a:path w="1295400" h="914400">
                <a:moveTo>
                  <a:pt x="0" y="0"/>
                </a:moveTo>
                <a:lnTo>
                  <a:pt x="1295400" y="0"/>
                </a:lnTo>
                <a:lnTo>
                  <a:pt x="1295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29037" y="4414837"/>
            <a:ext cx="1304925" cy="923925"/>
          </a:xfrm>
          <a:custGeom>
            <a:avLst/>
            <a:gdLst/>
            <a:ahLst/>
            <a:cxnLst/>
            <a:rect l="l" t="t" r="r" b="b"/>
            <a:pathLst>
              <a:path w="1304925" h="923925">
                <a:moveTo>
                  <a:pt x="13049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304925" y="919162"/>
                </a:lnTo>
                <a:lnTo>
                  <a:pt x="1304925" y="923925"/>
                </a:lnTo>
                <a:close/>
              </a:path>
              <a:path w="13049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9239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923925">
                <a:moveTo>
                  <a:pt x="1295400" y="9191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914400"/>
                </a:lnTo>
                <a:lnTo>
                  <a:pt x="1300162" y="914400"/>
                </a:lnTo>
                <a:lnTo>
                  <a:pt x="1295400" y="919162"/>
                </a:lnTo>
                <a:close/>
              </a:path>
              <a:path w="1304925" h="9239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304925" h="923925">
                <a:moveTo>
                  <a:pt x="12954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295400" y="914400"/>
                </a:lnTo>
                <a:lnTo>
                  <a:pt x="1295400" y="919162"/>
                </a:lnTo>
                <a:close/>
              </a:path>
              <a:path w="1304925" h="923925">
                <a:moveTo>
                  <a:pt x="1304925" y="919162"/>
                </a:moveTo>
                <a:lnTo>
                  <a:pt x="1295400" y="919162"/>
                </a:lnTo>
                <a:lnTo>
                  <a:pt x="1300162" y="914400"/>
                </a:lnTo>
                <a:lnTo>
                  <a:pt x="1304925" y="914400"/>
                </a:lnTo>
                <a:lnTo>
                  <a:pt x="13049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33800" y="4679950"/>
            <a:ext cx="129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Drinkers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57600" y="2819400"/>
            <a:ext cx="1447800" cy="1143000"/>
          </a:xfrm>
          <a:custGeom>
            <a:avLst/>
            <a:gdLst/>
            <a:ahLst/>
            <a:cxnLst/>
            <a:rect l="l" t="t" r="r" b="b"/>
            <a:pathLst>
              <a:path w="1447800" h="1143000">
                <a:moveTo>
                  <a:pt x="723900" y="1143000"/>
                </a:moveTo>
                <a:lnTo>
                  <a:pt x="0" y="571500"/>
                </a:lnTo>
                <a:lnTo>
                  <a:pt x="723900" y="0"/>
                </a:lnTo>
                <a:lnTo>
                  <a:pt x="1447800" y="571500"/>
                </a:lnTo>
                <a:lnTo>
                  <a:pt x="723900" y="114300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49916" y="2813329"/>
            <a:ext cx="1463675" cy="1155700"/>
          </a:xfrm>
          <a:custGeom>
            <a:avLst/>
            <a:gdLst/>
            <a:ahLst/>
            <a:cxnLst/>
            <a:rect l="l" t="t" r="r" b="b"/>
            <a:pathLst>
              <a:path w="1463675" h="1155700">
                <a:moveTo>
                  <a:pt x="731583" y="1155141"/>
                </a:moveTo>
                <a:lnTo>
                  <a:pt x="0" y="577570"/>
                </a:lnTo>
                <a:lnTo>
                  <a:pt x="731583" y="0"/>
                </a:lnTo>
                <a:lnTo>
                  <a:pt x="744002" y="9804"/>
                </a:lnTo>
                <a:lnTo>
                  <a:pt x="728637" y="9804"/>
                </a:lnTo>
                <a:lnTo>
                  <a:pt x="731583" y="12130"/>
                </a:lnTo>
                <a:lnTo>
                  <a:pt x="20088" y="573836"/>
                </a:lnTo>
                <a:lnTo>
                  <a:pt x="10629" y="573836"/>
                </a:lnTo>
                <a:lnTo>
                  <a:pt x="10629" y="581304"/>
                </a:lnTo>
                <a:lnTo>
                  <a:pt x="20088" y="581304"/>
                </a:lnTo>
                <a:lnTo>
                  <a:pt x="731583" y="1143010"/>
                </a:lnTo>
                <a:lnTo>
                  <a:pt x="728637" y="1145336"/>
                </a:lnTo>
                <a:lnTo>
                  <a:pt x="744002" y="1145336"/>
                </a:lnTo>
                <a:lnTo>
                  <a:pt x="731583" y="1155141"/>
                </a:lnTo>
                <a:close/>
              </a:path>
              <a:path w="1463675" h="1155700">
                <a:moveTo>
                  <a:pt x="731583" y="12130"/>
                </a:moveTo>
                <a:lnTo>
                  <a:pt x="728637" y="9804"/>
                </a:lnTo>
                <a:lnTo>
                  <a:pt x="734529" y="9804"/>
                </a:lnTo>
                <a:lnTo>
                  <a:pt x="731583" y="12130"/>
                </a:lnTo>
                <a:close/>
              </a:path>
              <a:path w="1463675" h="1155700">
                <a:moveTo>
                  <a:pt x="1447807" y="577570"/>
                </a:moveTo>
                <a:lnTo>
                  <a:pt x="731583" y="12130"/>
                </a:lnTo>
                <a:lnTo>
                  <a:pt x="734529" y="9804"/>
                </a:lnTo>
                <a:lnTo>
                  <a:pt x="744002" y="9804"/>
                </a:lnTo>
                <a:lnTo>
                  <a:pt x="1458437" y="573836"/>
                </a:lnTo>
                <a:lnTo>
                  <a:pt x="1452537" y="573836"/>
                </a:lnTo>
                <a:lnTo>
                  <a:pt x="1447807" y="577570"/>
                </a:lnTo>
                <a:close/>
              </a:path>
              <a:path w="1463675" h="1155700">
                <a:moveTo>
                  <a:pt x="10629" y="581304"/>
                </a:moveTo>
                <a:lnTo>
                  <a:pt x="10629" y="573836"/>
                </a:lnTo>
                <a:lnTo>
                  <a:pt x="15359" y="577570"/>
                </a:lnTo>
                <a:lnTo>
                  <a:pt x="10629" y="581304"/>
                </a:lnTo>
                <a:close/>
              </a:path>
              <a:path w="1463675" h="1155700">
                <a:moveTo>
                  <a:pt x="15359" y="577570"/>
                </a:moveTo>
                <a:lnTo>
                  <a:pt x="10629" y="573836"/>
                </a:lnTo>
                <a:lnTo>
                  <a:pt x="20088" y="573836"/>
                </a:lnTo>
                <a:lnTo>
                  <a:pt x="15359" y="577570"/>
                </a:lnTo>
                <a:close/>
              </a:path>
              <a:path w="1463675" h="1155700">
                <a:moveTo>
                  <a:pt x="1452537" y="581304"/>
                </a:moveTo>
                <a:lnTo>
                  <a:pt x="1447807" y="577570"/>
                </a:lnTo>
                <a:lnTo>
                  <a:pt x="1452537" y="573836"/>
                </a:lnTo>
                <a:lnTo>
                  <a:pt x="1452537" y="581304"/>
                </a:lnTo>
                <a:close/>
              </a:path>
              <a:path w="1463675" h="1155700">
                <a:moveTo>
                  <a:pt x="1458437" y="581304"/>
                </a:moveTo>
                <a:lnTo>
                  <a:pt x="1452537" y="581304"/>
                </a:lnTo>
                <a:lnTo>
                  <a:pt x="1452537" y="573836"/>
                </a:lnTo>
                <a:lnTo>
                  <a:pt x="1458437" y="573836"/>
                </a:lnTo>
                <a:lnTo>
                  <a:pt x="1463167" y="577570"/>
                </a:lnTo>
                <a:lnTo>
                  <a:pt x="1458437" y="581304"/>
                </a:lnTo>
                <a:close/>
              </a:path>
              <a:path w="1463675" h="1155700">
                <a:moveTo>
                  <a:pt x="20088" y="581304"/>
                </a:moveTo>
                <a:lnTo>
                  <a:pt x="10629" y="581304"/>
                </a:lnTo>
                <a:lnTo>
                  <a:pt x="15359" y="577570"/>
                </a:lnTo>
                <a:lnTo>
                  <a:pt x="20088" y="581304"/>
                </a:lnTo>
                <a:close/>
              </a:path>
              <a:path w="1463675" h="1155700">
                <a:moveTo>
                  <a:pt x="744002" y="1145336"/>
                </a:moveTo>
                <a:lnTo>
                  <a:pt x="734529" y="1145336"/>
                </a:lnTo>
                <a:lnTo>
                  <a:pt x="731583" y="1143010"/>
                </a:lnTo>
                <a:lnTo>
                  <a:pt x="1447807" y="577570"/>
                </a:lnTo>
                <a:lnTo>
                  <a:pt x="1452537" y="581304"/>
                </a:lnTo>
                <a:lnTo>
                  <a:pt x="1458437" y="581304"/>
                </a:lnTo>
                <a:lnTo>
                  <a:pt x="744002" y="1145336"/>
                </a:lnTo>
                <a:close/>
              </a:path>
              <a:path w="1463675" h="1155700">
                <a:moveTo>
                  <a:pt x="734529" y="1145336"/>
                </a:moveTo>
                <a:lnTo>
                  <a:pt x="728637" y="1145336"/>
                </a:lnTo>
                <a:lnTo>
                  <a:pt x="731583" y="1143010"/>
                </a:lnTo>
                <a:lnTo>
                  <a:pt x="734529" y="1145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62070" y="3194050"/>
            <a:ext cx="10394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Married</a:t>
            </a:r>
          </a:p>
        </p:txBody>
      </p:sp>
      <p:sp>
        <p:nvSpPr>
          <p:cNvPr id="8" name="object 8"/>
          <p:cNvSpPr/>
          <p:nvPr/>
        </p:nvSpPr>
        <p:spPr>
          <a:xfrm>
            <a:off x="3424326" y="3386137"/>
            <a:ext cx="309880" cy="1498600"/>
          </a:xfrm>
          <a:custGeom>
            <a:avLst/>
            <a:gdLst/>
            <a:ahLst/>
            <a:cxnLst/>
            <a:rect l="l" t="t" r="r" b="b"/>
            <a:pathLst>
              <a:path w="309879" h="1498600">
                <a:moveTo>
                  <a:pt x="213436" y="12700"/>
                </a:moveTo>
                <a:lnTo>
                  <a:pt x="193116" y="12700"/>
                </a:lnTo>
                <a:lnTo>
                  <a:pt x="198958" y="0"/>
                </a:lnTo>
                <a:lnTo>
                  <a:pt x="218770" y="0"/>
                </a:lnTo>
                <a:lnTo>
                  <a:pt x="213436" y="12700"/>
                </a:lnTo>
                <a:close/>
              </a:path>
              <a:path w="309879" h="1498600">
                <a:moveTo>
                  <a:pt x="188391" y="25400"/>
                </a:moveTo>
                <a:lnTo>
                  <a:pt x="176923" y="25400"/>
                </a:lnTo>
                <a:lnTo>
                  <a:pt x="182346" y="12700"/>
                </a:lnTo>
                <a:lnTo>
                  <a:pt x="193649" y="12700"/>
                </a:lnTo>
                <a:lnTo>
                  <a:pt x="188391" y="25400"/>
                </a:lnTo>
                <a:close/>
              </a:path>
              <a:path w="309879" h="1498600">
                <a:moveTo>
                  <a:pt x="178295" y="38100"/>
                </a:moveTo>
                <a:lnTo>
                  <a:pt x="166217" y="38100"/>
                </a:lnTo>
                <a:lnTo>
                  <a:pt x="171538" y="25400"/>
                </a:lnTo>
                <a:lnTo>
                  <a:pt x="183514" y="25400"/>
                </a:lnTo>
                <a:lnTo>
                  <a:pt x="178295" y="38100"/>
                </a:lnTo>
                <a:close/>
              </a:path>
              <a:path w="309879" h="1498600">
                <a:moveTo>
                  <a:pt x="163220" y="50800"/>
                </a:moveTo>
                <a:lnTo>
                  <a:pt x="155701" y="50800"/>
                </a:lnTo>
                <a:lnTo>
                  <a:pt x="160934" y="38100"/>
                </a:lnTo>
                <a:lnTo>
                  <a:pt x="168338" y="38100"/>
                </a:lnTo>
                <a:lnTo>
                  <a:pt x="163220" y="50800"/>
                </a:lnTo>
                <a:close/>
              </a:path>
              <a:path w="309879" h="1498600">
                <a:moveTo>
                  <a:pt x="158229" y="63500"/>
                </a:moveTo>
                <a:lnTo>
                  <a:pt x="145402" y="63500"/>
                </a:lnTo>
                <a:lnTo>
                  <a:pt x="150520" y="50800"/>
                </a:lnTo>
                <a:lnTo>
                  <a:pt x="163309" y="50800"/>
                </a:lnTo>
                <a:lnTo>
                  <a:pt x="158229" y="63500"/>
                </a:lnTo>
                <a:close/>
              </a:path>
              <a:path w="309879" h="1498600">
                <a:moveTo>
                  <a:pt x="138607" y="88900"/>
                </a:moveTo>
                <a:lnTo>
                  <a:pt x="130327" y="88900"/>
                </a:lnTo>
                <a:lnTo>
                  <a:pt x="135293" y="76200"/>
                </a:lnTo>
                <a:lnTo>
                  <a:pt x="140322" y="63500"/>
                </a:lnTo>
                <a:lnTo>
                  <a:pt x="153352" y="63500"/>
                </a:lnTo>
                <a:lnTo>
                  <a:pt x="148348" y="76200"/>
                </a:lnTo>
                <a:lnTo>
                  <a:pt x="143510" y="76200"/>
                </a:lnTo>
                <a:lnTo>
                  <a:pt x="138607" y="88900"/>
                </a:lnTo>
                <a:close/>
              </a:path>
              <a:path w="309879" h="1498600">
                <a:moveTo>
                  <a:pt x="115062" y="139700"/>
                </a:moveTo>
                <a:lnTo>
                  <a:pt x="106362" y="139700"/>
                </a:lnTo>
                <a:lnTo>
                  <a:pt x="111036" y="127000"/>
                </a:lnTo>
                <a:lnTo>
                  <a:pt x="115760" y="114300"/>
                </a:lnTo>
                <a:lnTo>
                  <a:pt x="120561" y="101600"/>
                </a:lnTo>
                <a:lnTo>
                  <a:pt x="125412" y="88900"/>
                </a:lnTo>
                <a:lnTo>
                  <a:pt x="138658" y="88900"/>
                </a:lnTo>
                <a:lnTo>
                  <a:pt x="133794" y="101600"/>
                </a:lnTo>
                <a:lnTo>
                  <a:pt x="129082" y="101600"/>
                </a:lnTo>
                <a:lnTo>
                  <a:pt x="124320" y="114300"/>
                </a:lnTo>
                <a:lnTo>
                  <a:pt x="119672" y="127000"/>
                </a:lnTo>
                <a:lnTo>
                  <a:pt x="115062" y="139700"/>
                </a:lnTo>
                <a:close/>
              </a:path>
              <a:path w="309879" h="1498600">
                <a:moveTo>
                  <a:pt x="144157" y="1333500"/>
                </a:moveTo>
                <a:lnTo>
                  <a:pt x="129730" y="1333500"/>
                </a:lnTo>
                <a:lnTo>
                  <a:pt x="123774" y="1320800"/>
                </a:lnTo>
                <a:lnTo>
                  <a:pt x="106489" y="1282700"/>
                </a:lnTo>
                <a:lnTo>
                  <a:pt x="90182" y="1244600"/>
                </a:lnTo>
                <a:lnTo>
                  <a:pt x="74917" y="1193800"/>
                </a:lnTo>
                <a:lnTo>
                  <a:pt x="70078" y="1181100"/>
                </a:lnTo>
                <a:lnTo>
                  <a:pt x="56349" y="1143000"/>
                </a:lnTo>
                <a:lnTo>
                  <a:pt x="47891" y="1104900"/>
                </a:lnTo>
                <a:lnTo>
                  <a:pt x="43891" y="1092200"/>
                </a:lnTo>
                <a:lnTo>
                  <a:pt x="40030" y="1079500"/>
                </a:lnTo>
                <a:lnTo>
                  <a:pt x="36334" y="1066800"/>
                </a:lnTo>
                <a:lnTo>
                  <a:pt x="32791" y="1041400"/>
                </a:lnTo>
                <a:lnTo>
                  <a:pt x="29400" y="1028700"/>
                </a:lnTo>
                <a:lnTo>
                  <a:pt x="26187" y="1016000"/>
                </a:lnTo>
                <a:lnTo>
                  <a:pt x="23139" y="1003300"/>
                </a:lnTo>
                <a:lnTo>
                  <a:pt x="20256" y="977900"/>
                </a:lnTo>
                <a:lnTo>
                  <a:pt x="17551" y="965200"/>
                </a:lnTo>
                <a:lnTo>
                  <a:pt x="15024" y="952500"/>
                </a:lnTo>
                <a:lnTo>
                  <a:pt x="12687" y="927100"/>
                </a:lnTo>
                <a:lnTo>
                  <a:pt x="10528" y="914400"/>
                </a:lnTo>
                <a:lnTo>
                  <a:pt x="8559" y="901700"/>
                </a:lnTo>
                <a:lnTo>
                  <a:pt x="6781" y="876300"/>
                </a:lnTo>
                <a:lnTo>
                  <a:pt x="5194" y="863600"/>
                </a:lnTo>
                <a:lnTo>
                  <a:pt x="3810" y="850900"/>
                </a:lnTo>
                <a:lnTo>
                  <a:pt x="2641" y="825500"/>
                </a:lnTo>
                <a:lnTo>
                  <a:pt x="1663" y="812800"/>
                </a:lnTo>
                <a:lnTo>
                  <a:pt x="901" y="800100"/>
                </a:lnTo>
                <a:lnTo>
                  <a:pt x="355" y="774700"/>
                </a:lnTo>
                <a:lnTo>
                  <a:pt x="25" y="762000"/>
                </a:lnTo>
                <a:lnTo>
                  <a:pt x="0" y="723900"/>
                </a:lnTo>
                <a:lnTo>
                  <a:pt x="241" y="711200"/>
                </a:lnTo>
                <a:lnTo>
                  <a:pt x="660" y="685800"/>
                </a:lnTo>
                <a:lnTo>
                  <a:pt x="1231" y="673100"/>
                </a:lnTo>
                <a:lnTo>
                  <a:pt x="1955" y="660400"/>
                </a:lnTo>
                <a:lnTo>
                  <a:pt x="2844" y="635000"/>
                </a:lnTo>
                <a:lnTo>
                  <a:pt x="3873" y="622300"/>
                </a:lnTo>
                <a:lnTo>
                  <a:pt x="5054" y="596900"/>
                </a:lnTo>
                <a:lnTo>
                  <a:pt x="6388" y="584200"/>
                </a:lnTo>
                <a:lnTo>
                  <a:pt x="7874" y="571500"/>
                </a:lnTo>
                <a:lnTo>
                  <a:pt x="9486" y="546100"/>
                </a:lnTo>
                <a:lnTo>
                  <a:pt x="11239" y="533400"/>
                </a:lnTo>
                <a:lnTo>
                  <a:pt x="13131" y="520700"/>
                </a:lnTo>
                <a:lnTo>
                  <a:pt x="15163" y="495300"/>
                </a:lnTo>
                <a:lnTo>
                  <a:pt x="17322" y="482600"/>
                </a:lnTo>
                <a:lnTo>
                  <a:pt x="19608" y="469900"/>
                </a:lnTo>
                <a:lnTo>
                  <a:pt x="22021" y="457200"/>
                </a:lnTo>
                <a:lnTo>
                  <a:pt x="24561" y="431800"/>
                </a:lnTo>
                <a:lnTo>
                  <a:pt x="27216" y="419100"/>
                </a:lnTo>
                <a:lnTo>
                  <a:pt x="29984" y="406400"/>
                </a:lnTo>
                <a:lnTo>
                  <a:pt x="32880" y="393700"/>
                </a:lnTo>
                <a:lnTo>
                  <a:pt x="35877" y="368300"/>
                </a:lnTo>
                <a:lnTo>
                  <a:pt x="39001" y="355600"/>
                </a:lnTo>
                <a:lnTo>
                  <a:pt x="42214" y="342900"/>
                </a:lnTo>
                <a:lnTo>
                  <a:pt x="45542" y="330200"/>
                </a:lnTo>
                <a:lnTo>
                  <a:pt x="48971" y="317500"/>
                </a:lnTo>
                <a:lnTo>
                  <a:pt x="52501" y="292100"/>
                </a:lnTo>
                <a:lnTo>
                  <a:pt x="63665" y="254000"/>
                </a:lnTo>
                <a:lnTo>
                  <a:pt x="75641" y="215900"/>
                </a:lnTo>
                <a:lnTo>
                  <a:pt x="88366" y="177800"/>
                </a:lnTo>
                <a:lnTo>
                  <a:pt x="101752" y="139700"/>
                </a:lnTo>
                <a:lnTo>
                  <a:pt x="115100" y="139700"/>
                </a:lnTo>
                <a:lnTo>
                  <a:pt x="110528" y="152400"/>
                </a:lnTo>
                <a:lnTo>
                  <a:pt x="106045" y="165100"/>
                </a:lnTo>
                <a:lnTo>
                  <a:pt x="101663" y="165100"/>
                </a:lnTo>
                <a:lnTo>
                  <a:pt x="97294" y="177800"/>
                </a:lnTo>
                <a:lnTo>
                  <a:pt x="93014" y="190500"/>
                </a:lnTo>
                <a:lnTo>
                  <a:pt x="88823" y="203200"/>
                </a:lnTo>
                <a:lnTo>
                  <a:pt x="84696" y="215900"/>
                </a:lnTo>
                <a:lnTo>
                  <a:pt x="80657" y="228600"/>
                </a:lnTo>
                <a:lnTo>
                  <a:pt x="76695" y="241300"/>
                </a:lnTo>
                <a:lnTo>
                  <a:pt x="72821" y="254000"/>
                </a:lnTo>
                <a:lnTo>
                  <a:pt x="69037" y="266700"/>
                </a:lnTo>
                <a:lnTo>
                  <a:pt x="65341" y="292100"/>
                </a:lnTo>
                <a:lnTo>
                  <a:pt x="61734" y="304800"/>
                </a:lnTo>
                <a:lnTo>
                  <a:pt x="58229" y="317500"/>
                </a:lnTo>
                <a:lnTo>
                  <a:pt x="54825" y="330200"/>
                </a:lnTo>
                <a:lnTo>
                  <a:pt x="51511" y="342900"/>
                </a:lnTo>
                <a:lnTo>
                  <a:pt x="48310" y="355600"/>
                </a:lnTo>
                <a:lnTo>
                  <a:pt x="45212" y="368300"/>
                </a:lnTo>
                <a:lnTo>
                  <a:pt x="42227" y="393700"/>
                </a:lnTo>
                <a:lnTo>
                  <a:pt x="39357" y="406400"/>
                </a:lnTo>
                <a:lnTo>
                  <a:pt x="36601" y="419100"/>
                </a:lnTo>
                <a:lnTo>
                  <a:pt x="33947" y="431800"/>
                </a:lnTo>
                <a:lnTo>
                  <a:pt x="31432" y="457200"/>
                </a:lnTo>
                <a:lnTo>
                  <a:pt x="29032" y="469900"/>
                </a:lnTo>
                <a:lnTo>
                  <a:pt x="26758" y="482600"/>
                </a:lnTo>
                <a:lnTo>
                  <a:pt x="24612" y="508000"/>
                </a:lnTo>
                <a:lnTo>
                  <a:pt x="22593" y="520700"/>
                </a:lnTo>
                <a:lnTo>
                  <a:pt x="20713" y="533400"/>
                </a:lnTo>
                <a:lnTo>
                  <a:pt x="18961" y="546100"/>
                </a:lnTo>
                <a:lnTo>
                  <a:pt x="17348" y="571500"/>
                </a:lnTo>
                <a:lnTo>
                  <a:pt x="15887" y="584200"/>
                </a:lnTo>
                <a:lnTo>
                  <a:pt x="14554" y="596900"/>
                </a:lnTo>
                <a:lnTo>
                  <a:pt x="13373" y="622300"/>
                </a:lnTo>
                <a:lnTo>
                  <a:pt x="12344" y="635000"/>
                </a:lnTo>
                <a:lnTo>
                  <a:pt x="11468" y="660400"/>
                </a:lnTo>
                <a:lnTo>
                  <a:pt x="10744" y="673100"/>
                </a:lnTo>
                <a:lnTo>
                  <a:pt x="10172" y="685800"/>
                </a:lnTo>
                <a:lnTo>
                  <a:pt x="9766" y="711200"/>
                </a:lnTo>
                <a:lnTo>
                  <a:pt x="9525" y="723900"/>
                </a:lnTo>
                <a:lnTo>
                  <a:pt x="9550" y="762000"/>
                </a:lnTo>
                <a:lnTo>
                  <a:pt x="9880" y="774700"/>
                </a:lnTo>
                <a:lnTo>
                  <a:pt x="10426" y="787400"/>
                </a:lnTo>
                <a:lnTo>
                  <a:pt x="11175" y="812800"/>
                </a:lnTo>
                <a:lnTo>
                  <a:pt x="12141" y="825500"/>
                </a:lnTo>
                <a:lnTo>
                  <a:pt x="13322" y="850900"/>
                </a:lnTo>
                <a:lnTo>
                  <a:pt x="14693" y="863600"/>
                </a:lnTo>
                <a:lnTo>
                  <a:pt x="16268" y="876300"/>
                </a:lnTo>
                <a:lnTo>
                  <a:pt x="18034" y="901700"/>
                </a:lnTo>
                <a:lnTo>
                  <a:pt x="19989" y="914400"/>
                </a:lnTo>
                <a:lnTo>
                  <a:pt x="22136" y="927100"/>
                </a:lnTo>
                <a:lnTo>
                  <a:pt x="24460" y="952500"/>
                </a:lnTo>
                <a:lnTo>
                  <a:pt x="26974" y="965200"/>
                </a:lnTo>
                <a:lnTo>
                  <a:pt x="29654" y="977900"/>
                </a:lnTo>
                <a:lnTo>
                  <a:pt x="32524" y="1003300"/>
                </a:lnTo>
                <a:lnTo>
                  <a:pt x="34029" y="1003300"/>
                </a:lnTo>
                <a:lnTo>
                  <a:pt x="35547" y="1016000"/>
                </a:lnTo>
                <a:lnTo>
                  <a:pt x="38747" y="1028700"/>
                </a:lnTo>
                <a:lnTo>
                  <a:pt x="42113" y="1041400"/>
                </a:lnTo>
                <a:lnTo>
                  <a:pt x="45631" y="1066800"/>
                </a:lnTo>
                <a:lnTo>
                  <a:pt x="49314" y="1079500"/>
                </a:lnTo>
                <a:lnTo>
                  <a:pt x="53136" y="1092200"/>
                </a:lnTo>
                <a:lnTo>
                  <a:pt x="57124" y="1104900"/>
                </a:lnTo>
                <a:lnTo>
                  <a:pt x="61239" y="1117600"/>
                </a:lnTo>
                <a:lnTo>
                  <a:pt x="65506" y="1143000"/>
                </a:lnTo>
                <a:lnTo>
                  <a:pt x="69913" y="1155700"/>
                </a:lnTo>
                <a:lnTo>
                  <a:pt x="74460" y="1168400"/>
                </a:lnTo>
                <a:lnTo>
                  <a:pt x="79133" y="1181100"/>
                </a:lnTo>
                <a:lnTo>
                  <a:pt x="83934" y="1193800"/>
                </a:lnTo>
                <a:lnTo>
                  <a:pt x="88861" y="1206500"/>
                </a:lnTo>
                <a:lnTo>
                  <a:pt x="93903" y="1219200"/>
                </a:lnTo>
                <a:lnTo>
                  <a:pt x="99060" y="1231900"/>
                </a:lnTo>
                <a:lnTo>
                  <a:pt x="104343" y="1244600"/>
                </a:lnTo>
                <a:lnTo>
                  <a:pt x="109727" y="1257300"/>
                </a:lnTo>
                <a:lnTo>
                  <a:pt x="115227" y="1270000"/>
                </a:lnTo>
                <a:lnTo>
                  <a:pt x="120815" y="1282700"/>
                </a:lnTo>
                <a:lnTo>
                  <a:pt x="126517" y="1295400"/>
                </a:lnTo>
                <a:lnTo>
                  <a:pt x="132295" y="1308100"/>
                </a:lnTo>
                <a:lnTo>
                  <a:pt x="138188" y="1320800"/>
                </a:lnTo>
                <a:lnTo>
                  <a:pt x="144157" y="1333500"/>
                </a:lnTo>
                <a:close/>
              </a:path>
              <a:path w="309879" h="1498600">
                <a:moveTo>
                  <a:pt x="34029" y="1003300"/>
                </a:moveTo>
                <a:lnTo>
                  <a:pt x="32524" y="1003300"/>
                </a:lnTo>
                <a:lnTo>
                  <a:pt x="32512" y="990600"/>
                </a:lnTo>
                <a:lnTo>
                  <a:pt x="34029" y="1003300"/>
                </a:lnTo>
                <a:close/>
              </a:path>
              <a:path w="309879" h="1498600">
                <a:moveTo>
                  <a:pt x="175183" y="1384300"/>
                </a:moveTo>
                <a:lnTo>
                  <a:pt x="160845" y="1384300"/>
                </a:lnTo>
                <a:lnTo>
                  <a:pt x="154457" y="1371600"/>
                </a:lnTo>
                <a:lnTo>
                  <a:pt x="148145" y="1358900"/>
                </a:lnTo>
                <a:lnTo>
                  <a:pt x="141909" y="1346200"/>
                </a:lnTo>
                <a:lnTo>
                  <a:pt x="135775" y="1333500"/>
                </a:lnTo>
                <a:lnTo>
                  <a:pt x="144106" y="1333500"/>
                </a:lnTo>
                <a:lnTo>
                  <a:pt x="150202" y="1346200"/>
                </a:lnTo>
                <a:lnTo>
                  <a:pt x="156337" y="1358900"/>
                </a:lnTo>
                <a:lnTo>
                  <a:pt x="162496" y="1358900"/>
                </a:lnTo>
                <a:lnTo>
                  <a:pt x="168833" y="1371600"/>
                </a:lnTo>
                <a:lnTo>
                  <a:pt x="175183" y="1384300"/>
                </a:lnTo>
                <a:close/>
              </a:path>
              <a:path w="309879" h="1498600">
                <a:moveTo>
                  <a:pt x="194602" y="1409700"/>
                </a:moveTo>
                <a:lnTo>
                  <a:pt x="180479" y="1409700"/>
                </a:lnTo>
                <a:lnTo>
                  <a:pt x="173862" y="1397000"/>
                </a:lnTo>
                <a:lnTo>
                  <a:pt x="167322" y="1384300"/>
                </a:lnTo>
                <a:lnTo>
                  <a:pt x="175107" y="1384300"/>
                </a:lnTo>
                <a:lnTo>
                  <a:pt x="181597" y="1397000"/>
                </a:lnTo>
                <a:lnTo>
                  <a:pt x="187985" y="1397000"/>
                </a:lnTo>
                <a:lnTo>
                  <a:pt x="194602" y="1409700"/>
                </a:lnTo>
                <a:close/>
              </a:path>
              <a:path w="309879" h="1498600">
                <a:moveTo>
                  <a:pt x="214477" y="1435100"/>
                </a:moveTo>
                <a:lnTo>
                  <a:pt x="200748" y="1435100"/>
                </a:lnTo>
                <a:lnTo>
                  <a:pt x="193928" y="1422400"/>
                </a:lnTo>
                <a:lnTo>
                  <a:pt x="187172" y="1409700"/>
                </a:lnTo>
                <a:lnTo>
                  <a:pt x="194513" y="1409700"/>
                </a:lnTo>
                <a:lnTo>
                  <a:pt x="201180" y="1422400"/>
                </a:lnTo>
                <a:lnTo>
                  <a:pt x="207695" y="1422400"/>
                </a:lnTo>
                <a:lnTo>
                  <a:pt x="214477" y="1435100"/>
                </a:lnTo>
                <a:close/>
              </a:path>
              <a:path w="309879" h="1498600">
                <a:moveTo>
                  <a:pt x="297799" y="1473200"/>
                </a:moveTo>
                <a:lnTo>
                  <a:pt x="253809" y="1473200"/>
                </a:lnTo>
                <a:lnTo>
                  <a:pt x="257848" y="1460500"/>
                </a:lnTo>
                <a:lnTo>
                  <a:pt x="241008" y="1451650"/>
                </a:lnTo>
                <a:lnTo>
                  <a:pt x="251104" y="1422400"/>
                </a:lnTo>
                <a:lnTo>
                  <a:pt x="297799" y="1473200"/>
                </a:lnTo>
                <a:close/>
              </a:path>
              <a:path w="309879" h="1498600">
                <a:moveTo>
                  <a:pt x="227926" y="1447800"/>
                </a:moveTo>
                <a:lnTo>
                  <a:pt x="214579" y="1447800"/>
                </a:lnTo>
                <a:lnTo>
                  <a:pt x="207632" y="1435100"/>
                </a:lnTo>
                <a:lnTo>
                  <a:pt x="221056" y="1435100"/>
                </a:lnTo>
                <a:lnTo>
                  <a:pt x="227926" y="1447800"/>
                </a:lnTo>
                <a:close/>
              </a:path>
              <a:path w="309879" h="1498600">
                <a:moveTo>
                  <a:pt x="236677" y="1464197"/>
                </a:moveTo>
                <a:lnTo>
                  <a:pt x="229641" y="1460500"/>
                </a:lnTo>
                <a:lnTo>
                  <a:pt x="228638" y="1460500"/>
                </a:lnTo>
                <a:lnTo>
                  <a:pt x="221576" y="1447800"/>
                </a:lnTo>
                <a:lnTo>
                  <a:pt x="233679" y="1447800"/>
                </a:lnTo>
                <a:lnTo>
                  <a:pt x="241008" y="1451650"/>
                </a:lnTo>
                <a:lnTo>
                  <a:pt x="236677" y="1464197"/>
                </a:lnTo>
                <a:close/>
              </a:path>
              <a:path w="309879" h="1498600">
                <a:moveTo>
                  <a:pt x="253809" y="1473200"/>
                </a:moveTo>
                <a:lnTo>
                  <a:pt x="236677" y="1464197"/>
                </a:lnTo>
                <a:lnTo>
                  <a:pt x="241008" y="1451650"/>
                </a:lnTo>
                <a:lnTo>
                  <a:pt x="257848" y="1460500"/>
                </a:lnTo>
                <a:lnTo>
                  <a:pt x="253809" y="1473200"/>
                </a:lnTo>
                <a:close/>
              </a:path>
              <a:path w="309879" h="1498600">
                <a:moveTo>
                  <a:pt x="224802" y="1498600"/>
                </a:moveTo>
                <a:lnTo>
                  <a:pt x="236677" y="1464197"/>
                </a:lnTo>
                <a:lnTo>
                  <a:pt x="253809" y="1473200"/>
                </a:lnTo>
                <a:lnTo>
                  <a:pt x="297799" y="1473200"/>
                </a:lnTo>
                <a:lnTo>
                  <a:pt x="309473" y="1485900"/>
                </a:lnTo>
                <a:lnTo>
                  <a:pt x="224802" y="149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12339" y="4139247"/>
            <a:ext cx="1169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husband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29200" y="3386137"/>
            <a:ext cx="309880" cy="1498600"/>
          </a:xfrm>
          <a:custGeom>
            <a:avLst/>
            <a:gdLst/>
            <a:ahLst/>
            <a:cxnLst/>
            <a:rect l="l" t="t" r="r" b="b"/>
            <a:pathLst>
              <a:path w="309879" h="1498600">
                <a:moveTo>
                  <a:pt x="116357" y="12700"/>
                </a:moveTo>
                <a:lnTo>
                  <a:pt x="96037" y="12700"/>
                </a:lnTo>
                <a:lnTo>
                  <a:pt x="90703" y="0"/>
                </a:lnTo>
                <a:lnTo>
                  <a:pt x="110515" y="0"/>
                </a:lnTo>
                <a:lnTo>
                  <a:pt x="116357" y="12700"/>
                </a:lnTo>
                <a:close/>
              </a:path>
              <a:path w="309879" h="1498600">
                <a:moveTo>
                  <a:pt x="132549" y="25400"/>
                </a:moveTo>
                <a:lnTo>
                  <a:pt x="121081" y="25400"/>
                </a:lnTo>
                <a:lnTo>
                  <a:pt x="115824" y="12700"/>
                </a:lnTo>
                <a:lnTo>
                  <a:pt x="127126" y="12700"/>
                </a:lnTo>
                <a:lnTo>
                  <a:pt x="132549" y="25400"/>
                </a:lnTo>
                <a:close/>
              </a:path>
              <a:path w="309879" h="1498600">
                <a:moveTo>
                  <a:pt x="143255" y="38100"/>
                </a:moveTo>
                <a:lnTo>
                  <a:pt x="131178" y="38100"/>
                </a:lnTo>
                <a:lnTo>
                  <a:pt x="125958" y="25400"/>
                </a:lnTo>
                <a:lnTo>
                  <a:pt x="137934" y="25400"/>
                </a:lnTo>
                <a:lnTo>
                  <a:pt x="143255" y="38100"/>
                </a:lnTo>
                <a:close/>
              </a:path>
              <a:path w="309879" h="1498600">
                <a:moveTo>
                  <a:pt x="153771" y="50800"/>
                </a:moveTo>
                <a:lnTo>
                  <a:pt x="146253" y="50800"/>
                </a:lnTo>
                <a:lnTo>
                  <a:pt x="141135" y="38100"/>
                </a:lnTo>
                <a:lnTo>
                  <a:pt x="148539" y="38100"/>
                </a:lnTo>
                <a:lnTo>
                  <a:pt x="153771" y="50800"/>
                </a:lnTo>
                <a:close/>
              </a:path>
              <a:path w="309879" h="1498600">
                <a:moveTo>
                  <a:pt x="164071" y="63500"/>
                </a:moveTo>
                <a:lnTo>
                  <a:pt x="151244" y="63500"/>
                </a:lnTo>
                <a:lnTo>
                  <a:pt x="146164" y="50800"/>
                </a:lnTo>
                <a:lnTo>
                  <a:pt x="158953" y="50800"/>
                </a:lnTo>
                <a:lnTo>
                  <a:pt x="164071" y="63500"/>
                </a:lnTo>
                <a:close/>
              </a:path>
              <a:path w="309879" h="1498600">
                <a:moveTo>
                  <a:pt x="179146" y="88900"/>
                </a:moveTo>
                <a:lnTo>
                  <a:pt x="170865" y="88900"/>
                </a:lnTo>
                <a:lnTo>
                  <a:pt x="165963" y="76200"/>
                </a:lnTo>
                <a:lnTo>
                  <a:pt x="161124" y="76200"/>
                </a:lnTo>
                <a:lnTo>
                  <a:pt x="156121" y="63500"/>
                </a:lnTo>
                <a:lnTo>
                  <a:pt x="169151" y="63500"/>
                </a:lnTo>
                <a:lnTo>
                  <a:pt x="174180" y="76200"/>
                </a:lnTo>
                <a:lnTo>
                  <a:pt x="179146" y="88900"/>
                </a:lnTo>
                <a:close/>
              </a:path>
              <a:path w="309879" h="1498600">
                <a:moveTo>
                  <a:pt x="203111" y="139700"/>
                </a:moveTo>
                <a:lnTo>
                  <a:pt x="194411" y="139700"/>
                </a:lnTo>
                <a:lnTo>
                  <a:pt x="189776" y="127000"/>
                </a:lnTo>
                <a:lnTo>
                  <a:pt x="185115" y="114300"/>
                </a:lnTo>
                <a:lnTo>
                  <a:pt x="180390" y="101600"/>
                </a:lnTo>
                <a:lnTo>
                  <a:pt x="175679" y="101600"/>
                </a:lnTo>
                <a:lnTo>
                  <a:pt x="170814" y="88900"/>
                </a:lnTo>
                <a:lnTo>
                  <a:pt x="184061" y="88900"/>
                </a:lnTo>
                <a:lnTo>
                  <a:pt x="188912" y="101600"/>
                </a:lnTo>
                <a:lnTo>
                  <a:pt x="193713" y="114300"/>
                </a:lnTo>
                <a:lnTo>
                  <a:pt x="198437" y="127000"/>
                </a:lnTo>
                <a:lnTo>
                  <a:pt x="203111" y="139700"/>
                </a:lnTo>
                <a:close/>
              </a:path>
              <a:path w="309879" h="1498600">
                <a:moveTo>
                  <a:pt x="286334" y="1003300"/>
                </a:moveTo>
                <a:lnTo>
                  <a:pt x="276948" y="1003300"/>
                </a:lnTo>
                <a:lnTo>
                  <a:pt x="279831" y="977900"/>
                </a:lnTo>
                <a:lnTo>
                  <a:pt x="282511" y="965200"/>
                </a:lnTo>
                <a:lnTo>
                  <a:pt x="285026" y="952500"/>
                </a:lnTo>
                <a:lnTo>
                  <a:pt x="287350" y="927100"/>
                </a:lnTo>
                <a:lnTo>
                  <a:pt x="289496" y="914400"/>
                </a:lnTo>
                <a:lnTo>
                  <a:pt x="291452" y="901700"/>
                </a:lnTo>
                <a:lnTo>
                  <a:pt x="293217" y="876300"/>
                </a:lnTo>
                <a:lnTo>
                  <a:pt x="294792" y="863600"/>
                </a:lnTo>
                <a:lnTo>
                  <a:pt x="296163" y="850900"/>
                </a:lnTo>
                <a:lnTo>
                  <a:pt x="297332" y="825500"/>
                </a:lnTo>
                <a:lnTo>
                  <a:pt x="298297" y="812800"/>
                </a:lnTo>
                <a:lnTo>
                  <a:pt x="299046" y="787400"/>
                </a:lnTo>
                <a:lnTo>
                  <a:pt x="299592" y="774700"/>
                </a:lnTo>
                <a:lnTo>
                  <a:pt x="299923" y="762000"/>
                </a:lnTo>
                <a:lnTo>
                  <a:pt x="299948" y="723900"/>
                </a:lnTo>
                <a:lnTo>
                  <a:pt x="299707" y="711200"/>
                </a:lnTo>
                <a:lnTo>
                  <a:pt x="299300" y="685800"/>
                </a:lnTo>
                <a:lnTo>
                  <a:pt x="298729" y="673100"/>
                </a:lnTo>
                <a:lnTo>
                  <a:pt x="298005" y="660400"/>
                </a:lnTo>
                <a:lnTo>
                  <a:pt x="297129" y="635000"/>
                </a:lnTo>
                <a:lnTo>
                  <a:pt x="296087" y="622300"/>
                </a:lnTo>
                <a:lnTo>
                  <a:pt x="294919" y="596900"/>
                </a:lnTo>
                <a:lnTo>
                  <a:pt x="293585" y="584200"/>
                </a:lnTo>
                <a:lnTo>
                  <a:pt x="292125" y="571500"/>
                </a:lnTo>
                <a:lnTo>
                  <a:pt x="290512" y="546100"/>
                </a:lnTo>
                <a:lnTo>
                  <a:pt x="288759" y="533400"/>
                </a:lnTo>
                <a:lnTo>
                  <a:pt x="286880" y="520700"/>
                </a:lnTo>
                <a:lnTo>
                  <a:pt x="284861" y="508000"/>
                </a:lnTo>
                <a:lnTo>
                  <a:pt x="282714" y="482600"/>
                </a:lnTo>
                <a:lnTo>
                  <a:pt x="280441" y="469900"/>
                </a:lnTo>
                <a:lnTo>
                  <a:pt x="278041" y="457200"/>
                </a:lnTo>
                <a:lnTo>
                  <a:pt x="275513" y="431800"/>
                </a:lnTo>
                <a:lnTo>
                  <a:pt x="272872" y="419100"/>
                </a:lnTo>
                <a:lnTo>
                  <a:pt x="270116" y="406400"/>
                </a:lnTo>
                <a:lnTo>
                  <a:pt x="267233" y="393700"/>
                </a:lnTo>
                <a:lnTo>
                  <a:pt x="264248" y="368300"/>
                </a:lnTo>
                <a:lnTo>
                  <a:pt x="261150" y="355600"/>
                </a:lnTo>
                <a:lnTo>
                  <a:pt x="257949" y="342900"/>
                </a:lnTo>
                <a:lnTo>
                  <a:pt x="254647" y="330200"/>
                </a:lnTo>
                <a:lnTo>
                  <a:pt x="251231" y="317500"/>
                </a:lnTo>
                <a:lnTo>
                  <a:pt x="247726" y="304800"/>
                </a:lnTo>
                <a:lnTo>
                  <a:pt x="244119" y="292100"/>
                </a:lnTo>
                <a:lnTo>
                  <a:pt x="240423" y="266700"/>
                </a:lnTo>
                <a:lnTo>
                  <a:pt x="236639" y="254000"/>
                </a:lnTo>
                <a:lnTo>
                  <a:pt x="232765" y="241300"/>
                </a:lnTo>
                <a:lnTo>
                  <a:pt x="228803" y="228600"/>
                </a:lnTo>
                <a:lnTo>
                  <a:pt x="224764" y="215900"/>
                </a:lnTo>
                <a:lnTo>
                  <a:pt x="220637" y="203200"/>
                </a:lnTo>
                <a:lnTo>
                  <a:pt x="216433" y="190500"/>
                </a:lnTo>
                <a:lnTo>
                  <a:pt x="212166" y="177800"/>
                </a:lnTo>
                <a:lnTo>
                  <a:pt x="207810" y="165100"/>
                </a:lnTo>
                <a:lnTo>
                  <a:pt x="203428" y="165100"/>
                </a:lnTo>
                <a:lnTo>
                  <a:pt x="198920" y="152400"/>
                </a:lnTo>
                <a:lnTo>
                  <a:pt x="194373" y="139700"/>
                </a:lnTo>
                <a:lnTo>
                  <a:pt x="207721" y="139700"/>
                </a:lnTo>
                <a:lnTo>
                  <a:pt x="212255" y="152400"/>
                </a:lnTo>
                <a:lnTo>
                  <a:pt x="225425" y="190500"/>
                </a:lnTo>
                <a:lnTo>
                  <a:pt x="237909" y="228600"/>
                </a:lnTo>
                <a:lnTo>
                  <a:pt x="249618" y="266700"/>
                </a:lnTo>
                <a:lnTo>
                  <a:pt x="260502" y="317500"/>
                </a:lnTo>
                <a:lnTo>
                  <a:pt x="263931" y="330200"/>
                </a:lnTo>
                <a:lnTo>
                  <a:pt x="267258" y="342900"/>
                </a:lnTo>
                <a:lnTo>
                  <a:pt x="270471" y="355600"/>
                </a:lnTo>
                <a:lnTo>
                  <a:pt x="273596" y="368300"/>
                </a:lnTo>
                <a:lnTo>
                  <a:pt x="276593" y="393700"/>
                </a:lnTo>
                <a:lnTo>
                  <a:pt x="279488" y="406400"/>
                </a:lnTo>
                <a:lnTo>
                  <a:pt x="282257" y="419100"/>
                </a:lnTo>
                <a:lnTo>
                  <a:pt x="284911" y="431800"/>
                </a:lnTo>
                <a:lnTo>
                  <a:pt x="287451" y="457200"/>
                </a:lnTo>
                <a:lnTo>
                  <a:pt x="289864" y="469900"/>
                </a:lnTo>
                <a:lnTo>
                  <a:pt x="292150" y="482600"/>
                </a:lnTo>
                <a:lnTo>
                  <a:pt x="294309" y="495300"/>
                </a:lnTo>
                <a:lnTo>
                  <a:pt x="296341" y="520700"/>
                </a:lnTo>
                <a:lnTo>
                  <a:pt x="298234" y="533400"/>
                </a:lnTo>
                <a:lnTo>
                  <a:pt x="299986" y="546100"/>
                </a:lnTo>
                <a:lnTo>
                  <a:pt x="301599" y="571500"/>
                </a:lnTo>
                <a:lnTo>
                  <a:pt x="303085" y="584200"/>
                </a:lnTo>
                <a:lnTo>
                  <a:pt x="304419" y="596900"/>
                </a:lnTo>
                <a:lnTo>
                  <a:pt x="305600" y="622300"/>
                </a:lnTo>
                <a:lnTo>
                  <a:pt x="306628" y="635000"/>
                </a:lnTo>
                <a:lnTo>
                  <a:pt x="307517" y="660400"/>
                </a:lnTo>
                <a:lnTo>
                  <a:pt x="308241" y="673100"/>
                </a:lnTo>
                <a:lnTo>
                  <a:pt x="308813" y="685800"/>
                </a:lnTo>
                <a:lnTo>
                  <a:pt x="309232" y="711200"/>
                </a:lnTo>
                <a:lnTo>
                  <a:pt x="309473" y="723900"/>
                </a:lnTo>
                <a:lnTo>
                  <a:pt x="309448" y="762000"/>
                </a:lnTo>
                <a:lnTo>
                  <a:pt x="309117" y="774700"/>
                </a:lnTo>
                <a:lnTo>
                  <a:pt x="308571" y="800100"/>
                </a:lnTo>
                <a:lnTo>
                  <a:pt x="307809" y="812800"/>
                </a:lnTo>
                <a:lnTo>
                  <a:pt x="306832" y="825500"/>
                </a:lnTo>
                <a:lnTo>
                  <a:pt x="305663" y="850900"/>
                </a:lnTo>
                <a:lnTo>
                  <a:pt x="304279" y="863600"/>
                </a:lnTo>
                <a:lnTo>
                  <a:pt x="302691" y="876300"/>
                </a:lnTo>
                <a:lnTo>
                  <a:pt x="300913" y="901700"/>
                </a:lnTo>
                <a:lnTo>
                  <a:pt x="298945" y="914400"/>
                </a:lnTo>
                <a:lnTo>
                  <a:pt x="296786" y="927100"/>
                </a:lnTo>
                <a:lnTo>
                  <a:pt x="294449" y="952500"/>
                </a:lnTo>
                <a:lnTo>
                  <a:pt x="291922" y="965200"/>
                </a:lnTo>
                <a:lnTo>
                  <a:pt x="289217" y="977900"/>
                </a:lnTo>
                <a:lnTo>
                  <a:pt x="286334" y="1003300"/>
                </a:lnTo>
                <a:close/>
              </a:path>
              <a:path w="309879" h="1498600">
                <a:moveTo>
                  <a:pt x="179743" y="1333500"/>
                </a:moveTo>
                <a:lnTo>
                  <a:pt x="165315" y="1333500"/>
                </a:lnTo>
                <a:lnTo>
                  <a:pt x="171335" y="1320800"/>
                </a:lnTo>
                <a:lnTo>
                  <a:pt x="177203" y="1308100"/>
                </a:lnTo>
                <a:lnTo>
                  <a:pt x="182994" y="1295400"/>
                </a:lnTo>
                <a:lnTo>
                  <a:pt x="188683" y="1282700"/>
                </a:lnTo>
                <a:lnTo>
                  <a:pt x="194284" y="1270000"/>
                </a:lnTo>
                <a:lnTo>
                  <a:pt x="199771" y="1257300"/>
                </a:lnTo>
                <a:lnTo>
                  <a:pt x="205155" y="1244600"/>
                </a:lnTo>
                <a:lnTo>
                  <a:pt x="210426" y="1231900"/>
                </a:lnTo>
                <a:lnTo>
                  <a:pt x="215595" y="1219200"/>
                </a:lnTo>
                <a:lnTo>
                  <a:pt x="220637" y="1206500"/>
                </a:lnTo>
                <a:lnTo>
                  <a:pt x="225564" y="1193800"/>
                </a:lnTo>
                <a:lnTo>
                  <a:pt x="230365" y="1181100"/>
                </a:lnTo>
                <a:lnTo>
                  <a:pt x="235038" y="1168400"/>
                </a:lnTo>
                <a:lnTo>
                  <a:pt x="239572" y="1155700"/>
                </a:lnTo>
                <a:lnTo>
                  <a:pt x="243979" y="1143000"/>
                </a:lnTo>
                <a:lnTo>
                  <a:pt x="248246" y="1117600"/>
                </a:lnTo>
                <a:lnTo>
                  <a:pt x="252374" y="1104900"/>
                </a:lnTo>
                <a:lnTo>
                  <a:pt x="256349" y="1092200"/>
                </a:lnTo>
                <a:lnTo>
                  <a:pt x="260172" y="1079500"/>
                </a:lnTo>
                <a:lnTo>
                  <a:pt x="263855" y="1066800"/>
                </a:lnTo>
                <a:lnTo>
                  <a:pt x="267373" y="1041400"/>
                </a:lnTo>
                <a:lnTo>
                  <a:pt x="270738" y="1028700"/>
                </a:lnTo>
                <a:lnTo>
                  <a:pt x="273938" y="1016000"/>
                </a:lnTo>
                <a:lnTo>
                  <a:pt x="276961" y="990600"/>
                </a:lnTo>
                <a:lnTo>
                  <a:pt x="276948" y="1003300"/>
                </a:lnTo>
                <a:lnTo>
                  <a:pt x="286334" y="1003300"/>
                </a:lnTo>
                <a:lnTo>
                  <a:pt x="283286" y="1016000"/>
                </a:lnTo>
                <a:lnTo>
                  <a:pt x="280073" y="1028700"/>
                </a:lnTo>
                <a:lnTo>
                  <a:pt x="276682" y="1041400"/>
                </a:lnTo>
                <a:lnTo>
                  <a:pt x="273138" y="1066800"/>
                </a:lnTo>
                <a:lnTo>
                  <a:pt x="269443" y="1079500"/>
                </a:lnTo>
                <a:lnTo>
                  <a:pt x="265582" y="1092200"/>
                </a:lnTo>
                <a:lnTo>
                  <a:pt x="261581" y="1104900"/>
                </a:lnTo>
                <a:lnTo>
                  <a:pt x="257416" y="1130300"/>
                </a:lnTo>
                <a:lnTo>
                  <a:pt x="244106" y="1168400"/>
                </a:lnTo>
                <a:lnTo>
                  <a:pt x="234556" y="1193800"/>
                </a:lnTo>
                <a:lnTo>
                  <a:pt x="229590" y="1219200"/>
                </a:lnTo>
                <a:lnTo>
                  <a:pt x="213969" y="1257300"/>
                </a:lnTo>
                <a:lnTo>
                  <a:pt x="197319" y="1295400"/>
                </a:lnTo>
                <a:lnTo>
                  <a:pt x="185699" y="1320800"/>
                </a:lnTo>
                <a:lnTo>
                  <a:pt x="179743" y="1333500"/>
                </a:lnTo>
                <a:close/>
              </a:path>
              <a:path w="309879" h="1498600">
                <a:moveTo>
                  <a:pt x="148628" y="1384300"/>
                </a:moveTo>
                <a:lnTo>
                  <a:pt x="134289" y="1384300"/>
                </a:lnTo>
                <a:lnTo>
                  <a:pt x="140703" y="1371600"/>
                </a:lnTo>
                <a:lnTo>
                  <a:pt x="146977" y="1358900"/>
                </a:lnTo>
                <a:lnTo>
                  <a:pt x="153136" y="1358900"/>
                </a:lnTo>
                <a:lnTo>
                  <a:pt x="159308" y="1346200"/>
                </a:lnTo>
                <a:lnTo>
                  <a:pt x="165366" y="1333500"/>
                </a:lnTo>
                <a:lnTo>
                  <a:pt x="173697" y="1333500"/>
                </a:lnTo>
                <a:lnTo>
                  <a:pt x="167563" y="1346200"/>
                </a:lnTo>
                <a:lnTo>
                  <a:pt x="161328" y="1358900"/>
                </a:lnTo>
                <a:lnTo>
                  <a:pt x="155016" y="1371600"/>
                </a:lnTo>
                <a:lnTo>
                  <a:pt x="148628" y="1384300"/>
                </a:lnTo>
                <a:close/>
              </a:path>
              <a:path w="309879" h="1498600">
                <a:moveTo>
                  <a:pt x="128993" y="1409700"/>
                </a:moveTo>
                <a:lnTo>
                  <a:pt x="114871" y="1409700"/>
                </a:lnTo>
                <a:lnTo>
                  <a:pt x="121488" y="1397000"/>
                </a:lnTo>
                <a:lnTo>
                  <a:pt x="127876" y="1397000"/>
                </a:lnTo>
                <a:lnTo>
                  <a:pt x="134365" y="1384300"/>
                </a:lnTo>
                <a:lnTo>
                  <a:pt x="142151" y="1384300"/>
                </a:lnTo>
                <a:lnTo>
                  <a:pt x="135610" y="1397000"/>
                </a:lnTo>
                <a:lnTo>
                  <a:pt x="128993" y="1409700"/>
                </a:lnTo>
                <a:close/>
              </a:path>
              <a:path w="309879" h="1498600">
                <a:moveTo>
                  <a:pt x="108724" y="1435100"/>
                </a:moveTo>
                <a:lnTo>
                  <a:pt x="94996" y="1435100"/>
                </a:lnTo>
                <a:lnTo>
                  <a:pt x="101777" y="1422400"/>
                </a:lnTo>
                <a:lnTo>
                  <a:pt x="108292" y="1422400"/>
                </a:lnTo>
                <a:lnTo>
                  <a:pt x="114960" y="1409700"/>
                </a:lnTo>
                <a:lnTo>
                  <a:pt x="122300" y="1409700"/>
                </a:lnTo>
                <a:lnTo>
                  <a:pt x="115544" y="1422400"/>
                </a:lnTo>
                <a:lnTo>
                  <a:pt x="108724" y="1435100"/>
                </a:lnTo>
                <a:close/>
              </a:path>
              <a:path w="309879" h="1498600">
                <a:moveTo>
                  <a:pt x="84670" y="1498600"/>
                </a:moveTo>
                <a:lnTo>
                  <a:pt x="0" y="1485900"/>
                </a:lnTo>
                <a:lnTo>
                  <a:pt x="58369" y="1422400"/>
                </a:lnTo>
                <a:lnTo>
                  <a:pt x="68465" y="1451650"/>
                </a:lnTo>
                <a:lnTo>
                  <a:pt x="51625" y="1460500"/>
                </a:lnTo>
                <a:lnTo>
                  <a:pt x="55664" y="1473200"/>
                </a:lnTo>
                <a:lnTo>
                  <a:pt x="75903" y="1473200"/>
                </a:lnTo>
                <a:lnTo>
                  <a:pt x="84670" y="1498600"/>
                </a:lnTo>
                <a:close/>
              </a:path>
              <a:path w="309879" h="1498600">
                <a:moveTo>
                  <a:pt x="94894" y="1447800"/>
                </a:moveTo>
                <a:lnTo>
                  <a:pt x="81546" y="1447800"/>
                </a:lnTo>
                <a:lnTo>
                  <a:pt x="88417" y="1435100"/>
                </a:lnTo>
                <a:lnTo>
                  <a:pt x="101841" y="1435100"/>
                </a:lnTo>
                <a:lnTo>
                  <a:pt x="94894" y="1447800"/>
                </a:lnTo>
                <a:close/>
              </a:path>
              <a:path w="309879" h="1498600">
                <a:moveTo>
                  <a:pt x="72796" y="1464197"/>
                </a:moveTo>
                <a:lnTo>
                  <a:pt x="68465" y="1451650"/>
                </a:lnTo>
                <a:lnTo>
                  <a:pt x="75793" y="1447800"/>
                </a:lnTo>
                <a:lnTo>
                  <a:pt x="87896" y="1447800"/>
                </a:lnTo>
                <a:lnTo>
                  <a:pt x="80835" y="1460500"/>
                </a:lnTo>
                <a:lnTo>
                  <a:pt x="79832" y="1460500"/>
                </a:lnTo>
                <a:lnTo>
                  <a:pt x="72796" y="1464197"/>
                </a:lnTo>
                <a:close/>
              </a:path>
              <a:path w="309879" h="1498600">
                <a:moveTo>
                  <a:pt x="55664" y="1473200"/>
                </a:moveTo>
                <a:lnTo>
                  <a:pt x="51625" y="1460500"/>
                </a:lnTo>
                <a:lnTo>
                  <a:pt x="68465" y="1451650"/>
                </a:lnTo>
                <a:lnTo>
                  <a:pt x="72796" y="1464197"/>
                </a:lnTo>
                <a:lnTo>
                  <a:pt x="55664" y="1473200"/>
                </a:lnTo>
                <a:close/>
              </a:path>
              <a:path w="309879" h="1498600">
                <a:moveTo>
                  <a:pt x="75903" y="1473200"/>
                </a:moveTo>
                <a:lnTo>
                  <a:pt x="55664" y="1473200"/>
                </a:lnTo>
                <a:lnTo>
                  <a:pt x="72796" y="1464197"/>
                </a:lnTo>
                <a:lnTo>
                  <a:pt x="75903" y="147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65140" y="4139247"/>
            <a:ext cx="57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25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75889" y="742765"/>
            <a:ext cx="5890895" cy="11976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10" dirty="0"/>
              <a:t> </a:t>
            </a:r>
            <a:r>
              <a:rPr spc="-20" dirty="0"/>
              <a:t>Roles</a:t>
            </a:r>
          </a:p>
          <a:p>
            <a:pPr marL="3724275">
              <a:lnSpc>
                <a:spcPct val="100000"/>
              </a:lnSpc>
              <a:spcBef>
                <a:spcPts val="375"/>
              </a:spcBef>
            </a:pPr>
            <a:r>
              <a:rPr sz="2400" spc="-5" dirty="0"/>
              <a:t>Relationship</a:t>
            </a:r>
            <a:r>
              <a:rPr sz="2400" spc="-75" dirty="0"/>
              <a:t> </a:t>
            </a:r>
            <a:r>
              <a:rPr sz="2400" spc="-5" dirty="0"/>
              <a:t>Set</a:t>
            </a:r>
            <a:endParaRPr sz="2400" dirty="0"/>
          </a:p>
        </p:txBody>
      </p:sp>
      <p:sp>
        <p:nvSpPr>
          <p:cNvPr id="13" name="object 13"/>
          <p:cNvSpPr txBox="1"/>
          <p:nvPr/>
        </p:nvSpPr>
        <p:spPr>
          <a:xfrm>
            <a:off x="6158865" y="2280920"/>
            <a:ext cx="2453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spc="-5" dirty="0">
                <a:solidFill>
                  <a:srgbClr val="CC9900"/>
                </a:solidFill>
                <a:latin typeface="Tahoma"/>
                <a:cs typeface="Tahoma"/>
              </a:rPr>
              <a:t>H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u</a:t>
            </a:r>
            <a:r>
              <a:rPr sz="2400" spc="-5" dirty="0">
                <a:solidFill>
                  <a:srgbClr val="CC9900"/>
                </a:solidFill>
                <a:latin typeface="Tahoma"/>
                <a:cs typeface="Tahoma"/>
              </a:rPr>
              <a:t>sb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and	Wi</a:t>
            </a:r>
            <a:r>
              <a:rPr sz="2400" spc="-25" dirty="0">
                <a:solidFill>
                  <a:srgbClr val="CC9900"/>
                </a:solidFill>
                <a:latin typeface="Tahoma"/>
                <a:cs typeface="Tahoma"/>
              </a:rPr>
              <a:t>f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1840864" algn="l"/>
              </a:tabLst>
            </a:pPr>
            <a:r>
              <a:rPr sz="2400" dirty="0">
                <a:latin typeface="Tahoma"/>
                <a:cs typeface="Tahoma"/>
              </a:rPr>
              <a:t>Bob	Ann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8865" y="3012440"/>
            <a:ext cx="478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Joe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7665" y="3012440"/>
            <a:ext cx="525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15037" y="2330894"/>
            <a:ext cx="2752725" cy="1483995"/>
          </a:xfrm>
          <a:custGeom>
            <a:avLst/>
            <a:gdLst/>
            <a:ahLst/>
            <a:cxnLst/>
            <a:rect l="l" t="t" r="r" b="b"/>
            <a:pathLst>
              <a:path w="2752725" h="1483995">
                <a:moveTo>
                  <a:pt x="2752725" y="1483868"/>
                </a:moveTo>
                <a:lnTo>
                  <a:pt x="0" y="1483868"/>
                </a:lnTo>
                <a:lnTo>
                  <a:pt x="0" y="0"/>
                </a:lnTo>
                <a:lnTo>
                  <a:pt x="2752725" y="0"/>
                </a:lnTo>
                <a:lnTo>
                  <a:pt x="2752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74343"/>
                </a:lnTo>
                <a:lnTo>
                  <a:pt x="4762" y="1474343"/>
                </a:lnTo>
                <a:lnTo>
                  <a:pt x="9525" y="1479105"/>
                </a:lnTo>
                <a:lnTo>
                  <a:pt x="2752725" y="1479105"/>
                </a:lnTo>
                <a:lnTo>
                  <a:pt x="2752725" y="1483868"/>
                </a:lnTo>
                <a:close/>
              </a:path>
              <a:path w="2752725" h="148399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52725" h="1483995">
                <a:moveTo>
                  <a:pt x="2743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43200" y="4762"/>
                </a:lnTo>
                <a:lnTo>
                  <a:pt x="2743200" y="9525"/>
                </a:lnTo>
                <a:close/>
              </a:path>
              <a:path w="2752725" h="1483995">
                <a:moveTo>
                  <a:pt x="2743200" y="1479105"/>
                </a:moveTo>
                <a:lnTo>
                  <a:pt x="2743200" y="4762"/>
                </a:lnTo>
                <a:lnTo>
                  <a:pt x="2747962" y="9525"/>
                </a:lnTo>
                <a:lnTo>
                  <a:pt x="2752725" y="9525"/>
                </a:lnTo>
                <a:lnTo>
                  <a:pt x="2752725" y="1474343"/>
                </a:lnTo>
                <a:lnTo>
                  <a:pt x="2747962" y="1474343"/>
                </a:lnTo>
                <a:lnTo>
                  <a:pt x="2743200" y="1479105"/>
                </a:lnTo>
                <a:close/>
              </a:path>
              <a:path w="2752725" h="1483995">
                <a:moveTo>
                  <a:pt x="2752725" y="9525"/>
                </a:moveTo>
                <a:lnTo>
                  <a:pt x="2747962" y="9525"/>
                </a:lnTo>
                <a:lnTo>
                  <a:pt x="2743200" y="4762"/>
                </a:lnTo>
                <a:lnTo>
                  <a:pt x="2752725" y="4762"/>
                </a:lnTo>
                <a:lnTo>
                  <a:pt x="2752725" y="9525"/>
                </a:lnTo>
                <a:close/>
              </a:path>
              <a:path w="2752725" h="1483995">
                <a:moveTo>
                  <a:pt x="9525" y="1479105"/>
                </a:moveTo>
                <a:lnTo>
                  <a:pt x="4762" y="1474343"/>
                </a:lnTo>
                <a:lnTo>
                  <a:pt x="9525" y="1474343"/>
                </a:lnTo>
                <a:lnTo>
                  <a:pt x="9525" y="1479105"/>
                </a:lnTo>
                <a:close/>
              </a:path>
              <a:path w="2752725" h="1483995">
                <a:moveTo>
                  <a:pt x="2743200" y="1479105"/>
                </a:moveTo>
                <a:lnTo>
                  <a:pt x="9525" y="1479105"/>
                </a:lnTo>
                <a:lnTo>
                  <a:pt x="9525" y="1474343"/>
                </a:lnTo>
                <a:lnTo>
                  <a:pt x="2743200" y="1474343"/>
                </a:lnTo>
                <a:lnTo>
                  <a:pt x="2743200" y="1479105"/>
                </a:lnTo>
                <a:close/>
              </a:path>
              <a:path w="2752725" h="1483995">
                <a:moveTo>
                  <a:pt x="2752725" y="1479105"/>
                </a:moveTo>
                <a:lnTo>
                  <a:pt x="2743200" y="1479105"/>
                </a:lnTo>
                <a:lnTo>
                  <a:pt x="2747962" y="1474343"/>
                </a:lnTo>
                <a:lnTo>
                  <a:pt x="2752725" y="1474343"/>
                </a:lnTo>
                <a:lnTo>
                  <a:pt x="2752725" y="1479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19800" y="272364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7600" y="23622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5889" y="829944"/>
            <a:ext cx="37928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20" dirty="0"/>
              <a:t>Roles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0" y="4419600"/>
            <a:ext cx="1295400" cy="914400"/>
          </a:xfrm>
          <a:custGeom>
            <a:avLst/>
            <a:gdLst/>
            <a:ahLst/>
            <a:cxnLst/>
            <a:rect l="l" t="t" r="r" b="b"/>
            <a:pathLst>
              <a:path w="1295400" h="914400">
                <a:moveTo>
                  <a:pt x="0" y="0"/>
                </a:moveTo>
                <a:lnTo>
                  <a:pt x="1295400" y="0"/>
                </a:lnTo>
                <a:lnTo>
                  <a:pt x="1295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3237" y="4414837"/>
            <a:ext cx="1304925" cy="923925"/>
          </a:xfrm>
          <a:custGeom>
            <a:avLst/>
            <a:gdLst/>
            <a:ahLst/>
            <a:cxnLst/>
            <a:rect l="l" t="t" r="r" b="b"/>
            <a:pathLst>
              <a:path w="1304925" h="923925">
                <a:moveTo>
                  <a:pt x="13049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304925" y="919162"/>
                </a:lnTo>
                <a:lnTo>
                  <a:pt x="1304925" y="923925"/>
                </a:lnTo>
                <a:close/>
              </a:path>
              <a:path w="13049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9239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923925">
                <a:moveTo>
                  <a:pt x="1295400" y="9191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914400"/>
                </a:lnTo>
                <a:lnTo>
                  <a:pt x="1300162" y="914400"/>
                </a:lnTo>
                <a:lnTo>
                  <a:pt x="1295400" y="919162"/>
                </a:lnTo>
                <a:close/>
              </a:path>
              <a:path w="1304925" h="9239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304925" h="923925">
                <a:moveTo>
                  <a:pt x="12954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295400" y="914400"/>
                </a:lnTo>
                <a:lnTo>
                  <a:pt x="1295400" y="919162"/>
                </a:lnTo>
                <a:close/>
              </a:path>
              <a:path w="1304925" h="923925">
                <a:moveTo>
                  <a:pt x="1304925" y="919162"/>
                </a:moveTo>
                <a:lnTo>
                  <a:pt x="1295400" y="919162"/>
                </a:lnTo>
                <a:lnTo>
                  <a:pt x="1300162" y="914400"/>
                </a:lnTo>
                <a:lnTo>
                  <a:pt x="1304925" y="914400"/>
                </a:lnTo>
                <a:lnTo>
                  <a:pt x="13049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48000" y="4679950"/>
            <a:ext cx="129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Drinkers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71800" y="2895600"/>
            <a:ext cx="1447800" cy="1143000"/>
          </a:xfrm>
          <a:custGeom>
            <a:avLst/>
            <a:gdLst/>
            <a:ahLst/>
            <a:cxnLst/>
            <a:rect l="l" t="t" r="r" b="b"/>
            <a:pathLst>
              <a:path w="1447800" h="1143000">
                <a:moveTo>
                  <a:pt x="723900" y="1143000"/>
                </a:moveTo>
                <a:lnTo>
                  <a:pt x="0" y="571500"/>
                </a:lnTo>
                <a:lnTo>
                  <a:pt x="723900" y="0"/>
                </a:lnTo>
                <a:lnTo>
                  <a:pt x="1447800" y="571500"/>
                </a:lnTo>
                <a:lnTo>
                  <a:pt x="723900" y="114300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64116" y="2889529"/>
            <a:ext cx="1463675" cy="1155700"/>
          </a:xfrm>
          <a:custGeom>
            <a:avLst/>
            <a:gdLst/>
            <a:ahLst/>
            <a:cxnLst/>
            <a:rect l="l" t="t" r="r" b="b"/>
            <a:pathLst>
              <a:path w="1463675" h="1155700">
                <a:moveTo>
                  <a:pt x="731583" y="1155141"/>
                </a:moveTo>
                <a:lnTo>
                  <a:pt x="0" y="577570"/>
                </a:lnTo>
                <a:lnTo>
                  <a:pt x="731583" y="0"/>
                </a:lnTo>
                <a:lnTo>
                  <a:pt x="744002" y="9804"/>
                </a:lnTo>
                <a:lnTo>
                  <a:pt x="728637" y="9804"/>
                </a:lnTo>
                <a:lnTo>
                  <a:pt x="731583" y="12130"/>
                </a:lnTo>
                <a:lnTo>
                  <a:pt x="20088" y="573836"/>
                </a:lnTo>
                <a:lnTo>
                  <a:pt x="10629" y="573836"/>
                </a:lnTo>
                <a:lnTo>
                  <a:pt x="10629" y="581304"/>
                </a:lnTo>
                <a:lnTo>
                  <a:pt x="20088" y="581304"/>
                </a:lnTo>
                <a:lnTo>
                  <a:pt x="731583" y="1143010"/>
                </a:lnTo>
                <a:lnTo>
                  <a:pt x="728637" y="1145336"/>
                </a:lnTo>
                <a:lnTo>
                  <a:pt x="744002" y="1145336"/>
                </a:lnTo>
                <a:lnTo>
                  <a:pt x="731583" y="1155141"/>
                </a:lnTo>
                <a:close/>
              </a:path>
              <a:path w="1463675" h="1155700">
                <a:moveTo>
                  <a:pt x="731583" y="12130"/>
                </a:moveTo>
                <a:lnTo>
                  <a:pt x="728637" y="9804"/>
                </a:lnTo>
                <a:lnTo>
                  <a:pt x="734529" y="9804"/>
                </a:lnTo>
                <a:lnTo>
                  <a:pt x="731583" y="12130"/>
                </a:lnTo>
                <a:close/>
              </a:path>
              <a:path w="1463675" h="1155700">
                <a:moveTo>
                  <a:pt x="1447807" y="577570"/>
                </a:moveTo>
                <a:lnTo>
                  <a:pt x="731583" y="12130"/>
                </a:lnTo>
                <a:lnTo>
                  <a:pt x="734529" y="9804"/>
                </a:lnTo>
                <a:lnTo>
                  <a:pt x="744002" y="9804"/>
                </a:lnTo>
                <a:lnTo>
                  <a:pt x="1458437" y="573836"/>
                </a:lnTo>
                <a:lnTo>
                  <a:pt x="1452537" y="573836"/>
                </a:lnTo>
                <a:lnTo>
                  <a:pt x="1447807" y="577570"/>
                </a:lnTo>
                <a:close/>
              </a:path>
              <a:path w="1463675" h="1155700">
                <a:moveTo>
                  <a:pt x="10629" y="581304"/>
                </a:moveTo>
                <a:lnTo>
                  <a:pt x="10629" y="573836"/>
                </a:lnTo>
                <a:lnTo>
                  <a:pt x="15359" y="577570"/>
                </a:lnTo>
                <a:lnTo>
                  <a:pt x="10629" y="581304"/>
                </a:lnTo>
                <a:close/>
              </a:path>
              <a:path w="1463675" h="1155700">
                <a:moveTo>
                  <a:pt x="15359" y="577570"/>
                </a:moveTo>
                <a:lnTo>
                  <a:pt x="10629" y="573836"/>
                </a:lnTo>
                <a:lnTo>
                  <a:pt x="20088" y="573836"/>
                </a:lnTo>
                <a:lnTo>
                  <a:pt x="15359" y="577570"/>
                </a:lnTo>
                <a:close/>
              </a:path>
              <a:path w="1463675" h="1155700">
                <a:moveTo>
                  <a:pt x="1452537" y="581304"/>
                </a:moveTo>
                <a:lnTo>
                  <a:pt x="1447807" y="577570"/>
                </a:lnTo>
                <a:lnTo>
                  <a:pt x="1452537" y="573836"/>
                </a:lnTo>
                <a:lnTo>
                  <a:pt x="1452537" y="581304"/>
                </a:lnTo>
                <a:close/>
              </a:path>
              <a:path w="1463675" h="1155700">
                <a:moveTo>
                  <a:pt x="1458437" y="581304"/>
                </a:moveTo>
                <a:lnTo>
                  <a:pt x="1452537" y="581304"/>
                </a:lnTo>
                <a:lnTo>
                  <a:pt x="1452537" y="573836"/>
                </a:lnTo>
                <a:lnTo>
                  <a:pt x="1458437" y="573836"/>
                </a:lnTo>
                <a:lnTo>
                  <a:pt x="1463167" y="577570"/>
                </a:lnTo>
                <a:lnTo>
                  <a:pt x="1458437" y="581304"/>
                </a:lnTo>
                <a:close/>
              </a:path>
              <a:path w="1463675" h="1155700">
                <a:moveTo>
                  <a:pt x="20088" y="581304"/>
                </a:moveTo>
                <a:lnTo>
                  <a:pt x="10629" y="581304"/>
                </a:lnTo>
                <a:lnTo>
                  <a:pt x="15359" y="577570"/>
                </a:lnTo>
                <a:lnTo>
                  <a:pt x="20088" y="581304"/>
                </a:lnTo>
                <a:close/>
              </a:path>
              <a:path w="1463675" h="1155700">
                <a:moveTo>
                  <a:pt x="744002" y="1145336"/>
                </a:moveTo>
                <a:lnTo>
                  <a:pt x="734529" y="1145336"/>
                </a:lnTo>
                <a:lnTo>
                  <a:pt x="731583" y="1143010"/>
                </a:lnTo>
                <a:lnTo>
                  <a:pt x="1447807" y="577570"/>
                </a:lnTo>
                <a:lnTo>
                  <a:pt x="1452537" y="581304"/>
                </a:lnTo>
                <a:lnTo>
                  <a:pt x="1458437" y="581304"/>
                </a:lnTo>
                <a:lnTo>
                  <a:pt x="744002" y="1145336"/>
                </a:lnTo>
                <a:close/>
              </a:path>
              <a:path w="1463675" h="1155700">
                <a:moveTo>
                  <a:pt x="734529" y="1145336"/>
                </a:moveTo>
                <a:lnTo>
                  <a:pt x="728637" y="1145336"/>
                </a:lnTo>
                <a:lnTo>
                  <a:pt x="731583" y="1143010"/>
                </a:lnTo>
                <a:lnTo>
                  <a:pt x="734529" y="1145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55950" y="3270250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12339" y="413924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1740" y="413924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3665" y="1590040"/>
            <a:ext cx="2179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Relationship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5065" y="2322829"/>
            <a:ext cx="103187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rgbClr val="CC9900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u</a:t>
            </a:r>
            <a:r>
              <a:rPr sz="2400" spc="-5" dirty="0">
                <a:solidFill>
                  <a:srgbClr val="CC9900"/>
                </a:solidFill>
                <a:latin typeface="Tahoma"/>
                <a:cs typeface="Tahoma"/>
              </a:rPr>
              <a:t>ddy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1  </a:t>
            </a:r>
            <a:r>
              <a:rPr sz="2400" dirty="0">
                <a:latin typeface="Tahoma"/>
                <a:cs typeface="Tahoma"/>
              </a:rPr>
              <a:t>Bob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2405" y="2322829"/>
            <a:ext cx="103187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rgbClr val="CC9900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u</a:t>
            </a:r>
            <a:r>
              <a:rPr sz="2400" spc="-5" dirty="0">
                <a:solidFill>
                  <a:srgbClr val="CC9900"/>
                </a:solidFill>
                <a:latin typeface="Tahoma"/>
                <a:cs typeface="Tahoma"/>
              </a:rPr>
              <a:t>ddy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2  </a:t>
            </a:r>
            <a:r>
              <a:rPr sz="2400" dirty="0">
                <a:latin typeface="Tahoma"/>
                <a:cs typeface="Tahoma"/>
              </a:rPr>
              <a:t>Ann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5065" y="3053715"/>
            <a:ext cx="5486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Joe  Ann  Joe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6215" y="3053715"/>
            <a:ext cx="5867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Sue  </a:t>
            </a:r>
            <a:r>
              <a:rPr sz="2400" dirty="0">
                <a:latin typeface="Tahoma"/>
                <a:cs typeface="Tahoma"/>
              </a:rPr>
              <a:t>Bob  Moe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91237" y="2357437"/>
            <a:ext cx="2752725" cy="2295525"/>
          </a:xfrm>
          <a:custGeom>
            <a:avLst/>
            <a:gdLst/>
            <a:ahLst/>
            <a:cxnLst/>
            <a:rect l="l" t="t" r="r" b="b"/>
            <a:pathLst>
              <a:path w="2752725" h="2295525">
                <a:moveTo>
                  <a:pt x="27527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2752725" y="0"/>
                </a:lnTo>
                <a:lnTo>
                  <a:pt x="2752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2752725" y="2290762"/>
                </a:lnTo>
                <a:lnTo>
                  <a:pt x="2752725" y="2295525"/>
                </a:lnTo>
                <a:close/>
              </a:path>
              <a:path w="27527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52725" h="2295525">
                <a:moveTo>
                  <a:pt x="2743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43200" y="4762"/>
                </a:lnTo>
                <a:lnTo>
                  <a:pt x="2743200" y="9525"/>
                </a:lnTo>
                <a:close/>
              </a:path>
              <a:path w="2752725" h="2295525">
                <a:moveTo>
                  <a:pt x="2743200" y="2290762"/>
                </a:moveTo>
                <a:lnTo>
                  <a:pt x="2743200" y="4762"/>
                </a:lnTo>
                <a:lnTo>
                  <a:pt x="2747962" y="9525"/>
                </a:lnTo>
                <a:lnTo>
                  <a:pt x="2752725" y="9525"/>
                </a:lnTo>
                <a:lnTo>
                  <a:pt x="2752725" y="2286000"/>
                </a:lnTo>
                <a:lnTo>
                  <a:pt x="2747962" y="2286000"/>
                </a:lnTo>
                <a:lnTo>
                  <a:pt x="2743200" y="2290762"/>
                </a:lnTo>
                <a:close/>
              </a:path>
              <a:path w="2752725" h="2295525">
                <a:moveTo>
                  <a:pt x="2752725" y="9525"/>
                </a:moveTo>
                <a:lnTo>
                  <a:pt x="2747962" y="9525"/>
                </a:lnTo>
                <a:lnTo>
                  <a:pt x="2743200" y="4762"/>
                </a:lnTo>
                <a:lnTo>
                  <a:pt x="2752725" y="4762"/>
                </a:lnTo>
                <a:lnTo>
                  <a:pt x="2752725" y="9525"/>
                </a:lnTo>
                <a:close/>
              </a:path>
              <a:path w="27527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2752725" h="2295525">
                <a:moveTo>
                  <a:pt x="27432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2743200" y="2286000"/>
                </a:lnTo>
                <a:lnTo>
                  <a:pt x="2743200" y="2290762"/>
                </a:lnTo>
                <a:close/>
              </a:path>
              <a:path w="2752725" h="2295525">
                <a:moveTo>
                  <a:pt x="2752725" y="2290762"/>
                </a:moveTo>
                <a:lnTo>
                  <a:pt x="2743200" y="2290762"/>
                </a:lnTo>
                <a:lnTo>
                  <a:pt x="2747962" y="2286000"/>
                </a:lnTo>
                <a:lnTo>
                  <a:pt x="2752725" y="2286000"/>
                </a:lnTo>
                <a:lnTo>
                  <a:pt x="27527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96000" y="274320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7600" y="23622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40034" y="3502329"/>
            <a:ext cx="466090" cy="1447800"/>
          </a:xfrm>
          <a:custGeom>
            <a:avLst/>
            <a:gdLst/>
            <a:ahLst/>
            <a:cxnLst/>
            <a:rect l="l" t="t" r="r" b="b"/>
            <a:pathLst>
              <a:path w="466089" h="1447800">
                <a:moveTo>
                  <a:pt x="412292" y="508000"/>
                </a:moveTo>
                <a:lnTo>
                  <a:pt x="403517" y="508000"/>
                </a:lnTo>
                <a:lnTo>
                  <a:pt x="398424" y="495300"/>
                </a:lnTo>
                <a:lnTo>
                  <a:pt x="393153" y="482600"/>
                </a:lnTo>
                <a:lnTo>
                  <a:pt x="387692" y="469900"/>
                </a:lnTo>
                <a:lnTo>
                  <a:pt x="382041" y="457200"/>
                </a:lnTo>
                <a:lnTo>
                  <a:pt x="370192" y="431800"/>
                </a:lnTo>
                <a:lnTo>
                  <a:pt x="357657" y="406400"/>
                </a:lnTo>
                <a:lnTo>
                  <a:pt x="344474" y="381000"/>
                </a:lnTo>
                <a:lnTo>
                  <a:pt x="330682" y="368300"/>
                </a:lnTo>
                <a:lnTo>
                  <a:pt x="316293" y="342900"/>
                </a:lnTo>
                <a:lnTo>
                  <a:pt x="301383" y="317500"/>
                </a:lnTo>
                <a:lnTo>
                  <a:pt x="285965" y="292100"/>
                </a:lnTo>
                <a:lnTo>
                  <a:pt x="270078" y="266700"/>
                </a:lnTo>
                <a:lnTo>
                  <a:pt x="253771" y="241300"/>
                </a:lnTo>
                <a:lnTo>
                  <a:pt x="237070" y="215900"/>
                </a:lnTo>
                <a:lnTo>
                  <a:pt x="220027" y="190500"/>
                </a:lnTo>
                <a:lnTo>
                  <a:pt x="202679" y="165100"/>
                </a:lnTo>
                <a:lnTo>
                  <a:pt x="185051" y="139700"/>
                </a:lnTo>
                <a:lnTo>
                  <a:pt x="149136" y="101600"/>
                </a:lnTo>
                <a:lnTo>
                  <a:pt x="112610" y="50800"/>
                </a:lnTo>
                <a:lnTo>
                  <a:pt x="75768" y="0"/>
                </a:lnTo>
                <a:lnTo>
                  <a:pt x="83362" y="0"/>
                </a:lnTo>
                <a:lnTo>
                  <a:pt x="120230" y="38100"/>
                </a:lnTo>
                <a:lnTo>
                  <a:pt x="156806" y="88900"/>
                </a:lnTo>
                <a:lnTo>
                  <a:pt x="192773" y="139700"/>
                </a:lnTo>
                <a:lnTo>
                  <a:pt x="227825" y="190500"/>
                </a:lnTo>
                <a:lnTo>
                  <a:pt x="261670" y="241300"/>
                </a:lnTo>
                <a:lnTo>
                  <a:pt x="293979" y="292100"/>
                </a:lnTo>
                <a:lnTo>
                  <a:pt x="309473" y="304800"/>
                </a:lnTo>
                <a:lnTo>
                  <a:pt x="338924" y="355600"/>
                </a:lnTo>
                <a:lnTo>
                  <a:pt x="366090" y="406400"/>
                </a:lnTo>
                <a:lnTo>
                  <a:pt x="390639" y="457200"/>
                </a:lnTo>
                <a:lnTo>
                  <a:pt x="407162" y="495300"/>
                </a:lnTo>
                <a:lnTo>
                  <a:pt x="412292" y="508000"/>
                </a:lnTo>
                <a:close/>
              </a:path>
              <a:path w="466089" h="1447800">
                <a:moveTo>
                  <a:pt x="458774" y="660400"/>
                </a:moveTo>
                <a:lnTo>
                  <a:pt x="449389" y="660400"/>
                </a:lnTo>
                <a:lnTo>
                  <a:pt x="447281" y="647700"/>
                </a:lnTo>
                <a:lnTo>
                  <a:pt x="444944" y="635000"/>
                </a:lnTo>
                <a:lnTo>
                  <a:pt x="442340" y="622300"/>
                </a:lnTo>
                <a:lnTo>
                  <a:pt x="439496" y="609600"/>
                </a:lnTo>
                <a:lnTo>
                  <a:pt x="436410" y="596900"/>
                </a:lnTo>
                <a:lnTo>
                  <a:pt x="433082" y="584200"/>
                </a:lnTo>
                <a:lnTo>
                  <a:pt x="429526" y="571500"/>
                </a:lnTo>
                <a:lnTo>
                  <a:pt x="425729" y="558800"/>
                </a:lnTo>
                <a:lnTo>
                  <a:pt x="421716" y="546100"/>
                </a:lnTo>
                <a:lnTo>
                  <a:pt x="417499" y="546100"/>
                </a:lnTo>
                <a:lnTo>
                  <a:pt x="413029" y="533400"/>
                </a:lnTo>
                <a:lnTo>
                  <a:pt x="408355" y="520700"/>
                </a:lnTo>
                <a:lnTo>
                  <a:pt x="403491" y="508000"/>
                </a:lnTo>
                <a:lnTo>
                  <a:pt x="417207" y="508000"/>
                </a:lnTo>
                <a:lnTo>
                  <a:pt x="430720" y="546100"/>
                </a:lnTo>
                <a:lnTo>
                  <a:pt x="442239" y="584200"/>
                </a:lnTo>
                <a:lnTo>
                  <a:pt x="451637" y="622300"/>
                </a:lnTo>
                <a:lnTo>
                  <a:pt x="456653" y="647700"/>
                </a:lnTo>
                <a:lnTo>
                  <a:pt x="458774" y="660400"/>
                </a:lnTo>
                <a:close/>
              </a:path>
              <a:path w="466089" h="1447800">
                <a:moveTo>
                  <a:pt x="421741" y="558800"/>
                </a:moveTo>
                <a:lnTo>
                  <a:pt x="417474" y="546100"/>
                </a:lnTo>
                <a:lnTo>
                  <a:pt x="421716" y="546100"/>
                </a:lnTo>
                <a:lnTo>
                  <a:pt x="421741" y="558800"/>
                </a:lnTo>
                <a:close/>
              </a:path>
              <a:path w="466089" h="1447800">
                <a:moveTo>
                  <a:pt x="463499" y="787400"/>
                </a:moveTo>
                <a:lnTo>
                  <a:pt x="452691" y="787400"/>
                </a:lnTo>
                <a:lnTo>
                  <a:pt x="454037" y="774700"/>
                </a:lnTo>
                <a:lnTo>
                  <a:pt x="455066" y="774700"/>
                </a:lnTo>
                <a:lnTo>
                  <a:pt x="455815" y="762000"/>
                </a:lnTo>
                <a:lnTo>
                  <a:pt x="456247" y="749300"/>
                </a:lnTo>
                <a:lnTo>
                  <a:pt x="456387" y="736600"/>
                </a:lnTo>
                <a:lnTo>
                  <a:pt x="456234" y="723900"/>
                </a:lnTo>
                <a:lnTo>
                  <a:pt x="455777" y="711200"/>
                </a:lnTo>
                <a:lnTo>
                  <a:pt x="455053" y="698500"/>
                </a:lnTo>
                <a:lnTo>
                  <a:pt x="454037" y="685800"/>
                </a:lnTo>
                <a:lnTo>
                  <a:pt x="452754" y="673100"/>
                </a:lnTo>
                <a:lnTo>
                  <a:pt x="451205" y="673100"/>
                </a:lnTo>
                <a:lnTo>
                  <a:pt x="449376" y="660400"/>
                </a:lnTo>
                <a:lnTo>
                  <a:pt x="460628" y="660400"/>
                </a:lnTo>
                <a:lnTo>
                  <a:pt x="462216" y="673100"/>
                </a:lnTo>
                <a:lnTo>
                  <a:pt x="465302" y="711200"/>
                </a:lnTo>
                <a:lnTo>
                  <a:pt x="465912" y="736600"/>
                </a:lnTo>
                <a:lnTo>
                  <a:pt x="465772" y="749300"/>
                </a:lnTo>
                <a:lnTo>
                  <a:pt x="465315" y="762000"/>
                </a:lnTo>
                <a:lnTo>
                  <a:pt x="464553" y="774700"/>
                </a:lnTo>
                <a:lnTo>
                  <a:pt x="463499" y="787400"/>
                </a:lnTo>
                <a:close/>
              </a:path>
              <a:path w="466089" h="1447800">
                <a:moveTo>
                  <a:pt x="441007" y="889000"/>
                </a:moveTo>
                <a:lnTo>
                  <a:pt x="428205" y="889000"/>
                </a:lnTo>
                <a:lnTo>
                  <a:pt x="432003" y="876300"/>
                </a:lnTo>
                <a:lnTo>
                  <a:pt x="435533" y="863600"/>
                </a:lnTo>
                <a:lnTo>
                  <a:pt x="438759" y="863600"/>
                </a:lnTo>
                <a:lnTo>
                  <a:pt x="441794" y="850900"/>
                </a:lnTo>
                <a:lnTo>
                  <a:pt x="444525" y="838200"/>
                </a:lnTo>
                <a:lnTo>
                  <a:pt x="446989" y="825500"/>
                </a:lnTo>
                <a:lnTo>
                  <a:pt x="449186" y="812800"/>
                </a:lnTo>
                <a:lnTo>
                  <a:pt x="451091" y="800100"/>
                </a:lnTo>
                <a:lnTo>
                  <a:pt x="452704" y="787400"/>
                </a:lnTo>
                <a:lnTo>
                  <a:pt x="462127" y="787400"/>
                </a:lnTo>
                <a:lnTo>
                  <a:pt x="456285" y="825500"/>
                </a:lnTo>
                <a:lnTo>
                  <a:pt x="447928" y="863600"/>
                </a:lnTo>
                <a:lnTo>
                  <a:pt x="444601" y="876300"/>
                </a:lnTo>
                <a:lnTo>
                  <a:pt x="441007" y="889000"/>
                </a:lnTo>
                <a:close/>
              </a:path>
              <a:path w="466089" h="1447800">
                <a:moveTo>
                  <a:pt x="409041" y="965200"/>
                </a:moveTo>
                <a:lnTo>
                  <a:pt x="395071" y="965200"/>
                </a:lnTo>
                <a:lnTo>
                  <a:pt x="400532" y="952500"/>
                </a:lnTo>
                <a:lnTo>
                  <a:pt x="405726" y="939800"/>
                </a:lnTo>
                <a:lnTo>
                  <a:pt x="410654" y="939800"/>
                </a:lnTo>
                <a:lnTo>
                  <a:pt x="415442" y="927100"/>
                </a:lnTo>
                <a:lnTo>
                  <a:pt x="419938" y="914400"/>
                </a:lnTo>
                <a:lnTo>
                  <a:pt x="424205" y="901700"/>
                </a:lnTo>
                <a:lnTo>
                  <a:pt x="428231" y="889000"/>
                </a:lnTo>
                <a:lnTo>
                  <a:pt x="437172" y="889000"/>
                </a:lnTo>
                <a:lnTo>
                  <a:pt x="433082" y="901700"/>
                </a:lnTo>
                <a:lnTo>
                  <a:pt x="428739" y="914400"/>
                </a:lnTo>
                <a:lnTo>
                  <a:pt x="424167" y="927100"/>
                </a:lnTo>
                <a:lnTo>
                  <a:pt x="419353" y="939800"/>
                </a:lnTo>
                <a:lnTo>
                  <a:pt x="414312" y="952500"/>
                </a:lnTo>
                <a:lnTo>
                  <a:pt x="409041" y="965200"/>
                </a:lnTo>
                <a:close/>
              </a:path>
              <a:path w="466089" h="1447800">
                <a:moveTo>
                  <a:pt x="397878" y="977900"/>
                </a:moveTo>
                <a:lnTo>
                  <a:pt x="389445" y="977900"/>
                </a:lnTo>
                <a:lnTo>
                  <a:pt x="395109" y="965200"/>
                </a:lnTo>
                <a:lnTo>
                  <a:pt x="403555" y="965200"/>
                </a:lnTo>
                <a:lnTo>
                  <a:pt x="397878" y="977900"/>
                </a:lnTo>
                <a:close/>
              </a:path>
              <a:path w="466089" h="1447800">
                <a:moveTo>
                  <a:pt x="366255" y="1041400"/>
                </a:moveTo>
                <a:lnTo>
                  <a:pt x="351370" y="1041400"/>
                </a:lnTo>
                <a:lnTo>
                  <a:pt x="358241" y="1028700"/>
                </a:lnTo>
                <a:lnTo>
                  <a:pt x="364883" y="1016000"/>
                </a:lnTo>
                <a:lnTo>
                  <a:pt x="371297" y="1016000"/>
                </a:lnTo>
                <a:lnTo>
                  <a:pt x="377583" y="1003300"/>
                </a:lnTo>
                <a:lnTo>
                  <a:pt x="383628" y="990600"/>
                </a:lnTo>
                <a:lnTo>
                  <a:pt x="389470" y="977900"/>
                </a:lnTo>
                <a:lnTo>
                  <a:pt x="397852" y="977900"/>
                </a:lnTo>
                <a:lnTo>
                  <a:pt x="391934" y="990600"/>
                </a:lnTo>
                <a:lnTo>
                  <a:pt x="385813" y="1003300"/>
                </a:lnTo>
                <a:lnTo>
                  <a:pt x="379488" y="1016000"/>
                </a:lnTo>
                <a:lnTo>
                  <a:pt x="372973" y="1028700"/>
                </a:lnTo>
                <a:lnTo>
                  <a:pt x="366255" y="1041400"/>
                </a:lnTo>
                <a:close/>
              </a:path>
              <a:path w="466089" h="1447800">
                <a:moveTo>
                  <a:pt x="6730" y="1447800"/>
                </a:moveTo>
                <a:lnTo>
                  <a:pt x="0" y="1435100"/>
                </a:lnTo>
                <a:lnTo>
                  <a:pt x="41617" y="1397000"/>
                </a:lnTo>
                <a:lnTo>
                  <a:pt x="82918" y="1358900"/>
                </a:lnTo>
                <a:lnTo>
                  <a:pt x="123583" y="1320800"/>
                </a:lnTo>
                <a:lnTo>
                  <a:pt x="143586" y="1295400"/>
                </a:lnTo>
                <a:lnTo>
                  <a:pt x="163309" y="1270000"/>
                </a:lnTo>
                <a:lnTo>
                  <a:pt x="182740" y="1257300"/>
                </a:lnTo>
                <a:lnTo>
                  <a:pt x="201802" y="1231900"/>
                </a:lnTo>
                <a:lnTo>
                  <a:pt x="220497" y="1206500"/>
                </a:lnTo>
                <a:lnTo>
                  <a:pt x="238747" y="1193800"/>
                </a:lnTo>
                <a:lnTo>
                  <a:pt x="256539" y="1168400"/>
                </a:lnTo>
                <a:lnTo>
                  <a:pt x="273837" y="1143000"/>
                </a:lnTo>
                <a:lnTo>
                  <a:pt x="290588" y="1130300"/>
                </a:lnTo>
                <a:lnTo>
                  <a:pt x="306755" y="1104900"/>
                </a:lnTo>
                <a:lnTo>
                  <a:pt x="322313" y="1079500"/>
                </a:lnTo>
                <a:lnTo>
                  <a:pt x="337210" y="1066800"/>
                </a:lnTo>
                <a:lnTo>
                  <a:pt x="351421" y="1041400"/>
                </a:lnTo>
                <a:lnTo>
                  <a:pt x="359346" y="1041400"/>
                </a:lnTo>
                <a:lnTo>
                  <a:pt x="345020" y="1066800"/>
                </a:lnTo>
                <a:lnTo>
                  <a:pt x="329996" y="1092200"/>
                </a:lnTo>
                <a:lnTo>
                  <a:pt x="314337" y="1117600"/>
                </a:lnTo>
                <a:lnTo>
                  <a:pt x="298056" y="1130300"/>
                </a:lnTo>
                <a:lnTo>
                  <a:pt x="281203" y="1155700"/>
                </a:lnTo>
                <a:lnTo>
                  <a:pt x="263817" y="1181100"/>
                </a:lnTo>
                <a:lnTo>
                  <a:pt x="245935" y="1193800"/>
                </a:lnTo>
                <a:lnTo>
                  <a:pt x="227609" y="1219200"/>
                </a:lnTo>
                <a:lnTo>
                  <a:pt x="208851" y="1244600"/>
                </a:lnTo>
                <a:lnTo>
                  <a:pt x="189712" y="1257300"/>
                </a:lnTo>
                <a:lnTo>
                  <a:pt x="170243" y="1282700"/>
                </a:lnTo>
                <a:lnTo>
                  <a:pt x="150456" y="1295400"/>
                </a:lnTo>
                <a:lnTo>
                  <a:pt x="130416" y="1320800"/>
                </a:lnTo>
                <a:lnTo>
                  <a:pt x="89687" y="1358900"/>
                </a:lnTo>
                <a:lnTo>
                  <a:pt x="48361" y="1409700"/>
                </a:lnTo>
                <a:lnTo>
                  <a:pt x="6730" y="1447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85454" y="3502190"/>
            <a:ext cx="466725" cy="1453515"/>
          </a:xfrm>
          <a:custGeom>
            <a:avLst/>
            <a:gdLst/>
            <a:ahLst/>
            <a:cxnLst/>
            <a:rect l="l" t="t" r="r" b="b"/>
            <a:pathLst>
              <a:path w="466725" h="1453514">
                <a:moveTo>
                  <a:pt x="416428" y="1380972"/>
                </a:moveTo>
                <a:lnTo>
                  <a:pt x="404213" y="1380972"/>
                </a:lnTo>
                <a:lnTo>
                  <a:pt x="389456" y="1362887"/>
                </a:lnTo>
                <a:lnTo>
                  <a:pt x="357071" y="1323771"/>
                </a:lnTo>
                <a:lnTo>
                  <a:pt x="321613" y="1281074"/>
                </a:lnTo>
                <a:lnTo>
                  <a:pt x="284046" y="1235367"/>
                </a:lnTo>
                <a:lnTo>
                  <a:pt x="245298" y="1187145"/>
                </a:lnTo>
                <a:lnTo>
                  <a:pt x="206322" y="1136967"/>
                </a:lnTo>
                <a:lnTo>
                  <a:pt x="168082" y="1085342"/>
                </a:lnTo>
                <a:lnTo>
                  <a:pt x="131519" y="1032802"/>
                </a:lnTo>
                <a:lnTo>
                  <a:pt x="105776" y="993127"/>
                </a:lnTo>
                <a:lnTo>
                  <a:pt x="81887" y="953427"/>
                </a:lnTo>
                <a:lnTo>
                  <a:pt x="60285" y="913955"/>
                </a:lnTo>
                <a:lnTo>
                  <a:pt x="41362" y="874890"/>
                </a:lnTo>
                <a:lnTo>
                  <a:pt x="25512" y="836472"/>
                </a:lnTo>
                <a:lnTo>
                  <a:pt x="13155" y="798880"/>
                </a:lnTo>
                <a:lnTo>
                  <a:pt x="2830" y="750430"/>
                </a:lnTo>
                <a:lnTo>
                  <a:pt x="0" y="704227"/>
                </a:lnTo>
                <a:lnTo>
                  <a:pt x="163" y="692785"/>
                </a:lnTo>
                <a:lnTo>
                  <a:pt x="3706" y="647077"/>
                </a:lnTo>
                <a:lnTo>
                  <a:pt x="11669" y="601421"/>
                </a:lnTo>
                <a:lnTo>
                  <a:pt x="23709" y="555802"/>
                </a:lnTo>
                <a:lnTo>
                  <a:pt x="39533" y="510247"/>
                </a:lnTo>
                <a:lnTo>
                  <a:pt x="58799" y="464743"/>
                </a:lnTo>
                <a:lnTo>
                  <a:pt x="87298" y="407885"/>
                </a:lnTo>
                <a:lnTo>
                  <a:pt x="113206" y="362470"/>
                </a:lnTo>
                <a:lnTo>
                  <a:pt x="141552" y="317093"/>
                </a:lnTo>
                <a:lnTo>
                  <a:pt x="172045" y="271729"/>
                </a:lnTo>
                <a:lnTo>
                  <a:pt x="204366" y="226402"/>
                </a:lnTo>
                <a:lnTo>
                  <a:pt x="238199" y="181089"/>
                </a:lnTo>
                <a:lnTo>
                  <a:pt x="273264" y="135775"/>
                </a:lnTo>
                <a:lnTo>
                  <a:pt x="309230" y="90500"/>
                </a:lnTo>
                <a:lnTo>
                  <a:pt x="340950" y="51244"/>
                </a:lnTo>
                <a:lnTo>
                  <a:pt x="382649" y="0"/>
                </a:lnTo>
                <a:lnTo>
                  <a:pt x="390040" y="6019"/>
                </a:lnTo>
                <a:lnTo>
                  <a:pt x="353175" y="51257"/>
                </a:lnTo>
                <a:lnTo>
                  <a:pt x="316629" y="96494"/>
                </a:lnTo>
                <a:lnTo>
                  <a:pt x="280727" y="141706"/>
                </a:lnTo>
                <a:lnTo>
                  <a:pt x="245762" y="186880"/>
                </a:lnTo>
                <a:lnTo>
                  <a:pt x="212022" y="232054"/>
                </a:lnTo>
                <a:lnTo>
                  <a:pt x="179833" y="277215"/>
                </a:lnTo>
                <a:lnTo>
                  <a:pt x="149500" y="322338"/>
                </a:lnTo>
                <a:lnTo>
                  <a:pt x="121320" y="367449"/>
                </a:lnTo>
                <a:lnTo>
                  <a:pt x="95614" y="412521"/>
                </a:lnTo>
                <a:lnTo>
                  <a:pt x="72688" y="457530"/>
                </a:lnTo>
                <a:lnTo>
                  <a:pt x="52843" y="502513"/>
                </a:lnTo>
                <a:lnTo>
                  <a:pt x="36343" y="547458"/>
                </a:lnTo>
                <a:lnTo>
                  <a:pt x="23533" y="592353"/>
                </a:lnTo>
                <a:lnTo>
                  <a:pt x="14703" y="637184"/>
                </a:lnTo>
                <a:lnTo>
                  <a:pt x="10127" y="681977"/>
                </a:lnTo>
                <a:lnTo>
                  <a:pt x="9524" y="704354"/>
                </a:lnTo>
                <a:lnTo>
                  <a:pt x="9677" y="715784"/>
                </a:lnTo>
                <a:lnTo>
                  <a:pt x="10101" y="726554"/>
                </a:lnTo>
                <a:lnTo>
                  <a:pt x="10955" y="737946"/>
                </a:lnTo>
                <a:lnTo>
                  <a:pt x="12271" y="749134"/>
                </a:lnTo>
                <a:lnTo>
                  <a:pt x="14117" y="760857"/>
                </a:lnTo>
                <a:lnTo>
                  <a:pt x="16374" y="772401"/>
                </a:lnTo>
                <a:lnTo>
                  <a:pt x="19127" y="784275"/>
                </a:lnTo>
                <a:lnTo>
                  <a:pt x="22325" y="796290"/>
                </a:lnTo>
                <a:lnTo>
                  <a:pt x="25957" y="808456"/>
                </a:lnTo>
                <a:lnTo>
                  <a:pt x="29996" y="820737"/>
                </a:lnTo>
                <a:lnTo>
                  <a:pt x="34442" y="833145"/>
                </a:lnTo>
                <a:lnTo>
                  <a:pt x="39321" y="845756"/>
                </a:lnTo>
                <a:lnTo>
                  <a:pt x="44487" y="858278"/>
                </a:lnTo>
                <a:lnTo>
                  <a:pt x="50090" y="871067"/>
                </a:lnTo>
                <a:lnTo>
                  <a:pt x="55957" y="883780"/>
                </a:lnTo>
                <a:lnTo>
                  <a:pt x="62191" y="896645"/>
                </a:lnTo>
                <a:lnTo>
                  <a:pt x="68749" y="909574"/>
                </a:lnTo>
                <a:lnTo>
                  <a:pt x="75606" y="922566"/>
                </a:lnTo>
                <a:lnTo>
                  <a:pt x="82749" y="935609"/>
                </a:lnTo>
                <a:lnTo>
                  <a:pt x="90145" y="948677"/>
                </a:lnTo>
                <a:lnTo>
                  <a:pt x="97844" y="961847"/>
                </a:lnTo>
                <a:lnTo>
                  <a:pt x="105720" y="974928"/>
                </a:lnTo>
                <a:lnTo>
                  <a:pt x="113847" y="988072"/>
                </a:lnTo>
                <a:lnTo>
                  <a:pt x="122214" y="1001268"/>
                </a:lnTo>
                <a:lnTo>
                  <a:pt x="139432" y="1027493"/>
                </a:lnTo>
                <a:lnTo>
                  <a:pt x="157396" y="1053769"/>
                </a:lnTo>
                <a:lnTo>
                  <a:pt x="175819" y="1079779"/>
                </a:lnTo>
                <a:lnTo>
                  <a:pt x="194703" y="1105623"/>
                </a:lnTo>
                <a:lnTo>
                  <a:pt x="213913" y="1131201"/>
                </a:lnTo>
                <a:lnTo>
                  <a:pt x="233327" y="1156462"/>
                </a:lnTo>
                <a:lnTo>
                  <a:pt x="252771" y="1181239"/>
                </a:lnTo>
                <a:lnTo>
                  <a:pt x="272205" y="1205598"/>
                </a:lnTo>
                <a:lnTo>
                  <a:pt x="291430" y="1229347"/>
                </a:lnTo>
                <a:lnTo>
                  <a:pt x="328968" y="1275016"/>
                </a:lnTo>
                <a:lnTo>
                  <a:pt x="396835" y="1356868"/>
                </a:lnTo>
                <a:lnTo>
                  <a:pt x="411618" y="1374978"/>
                </a:lnTo>
                <a:lnTo>
                  <a:pt x="416428" y="1380972"/>
                </a:lnTo>
                <a:close/>
              </a:path>
              <a:path w="466725" h="1453514">
                <a:moveTo>
                  <a:pt x="353175" y="51257"/>
                </a:moveTo>
                <a:close/>
              </a:path>
              <a:path w="466725" h="1453514">
                <a:moveTo>
                  <a:pt x="316634" y="96494"/>
                </a:moveTo>
                <a:close/>
              </a:path>
              <a:path w="466725" h="1453514">
                <a:moveTo>
                  <a:pt x="280731" y="141706"/>
                </a:moveTo>
                <a:close/>
              </a:path>
              <a:path w="466725" h="1453514">
                <a:moveTo>
                  <a:pt x="263116" y="164287"/>
                </a:moveTo>
                <a:close/>
              </a:path>
              <a:path w="466725" h="1453514">
                <a:moveTo>
                  <a:pt x="245762" y="186880"/>
                </a:moveTo>
                <a:close/>
              </a:path>
              <a:path w="466725" h="1453514">
                <a:moveTo>
                  <a:pt x="228712" y="209473"/>
                </a:moveTo>
                <a:close/>
              </a:path>
              <a:path w="466725" h="1453514">
                <a:moveTo>
                  <a:pt x="212024" y="232054"/>
                </a:moveTo>
                <a:close/>
              </a:path>
              <a:path w="466725" h="1453514">
                <a:moveTo>
                  <a:pt x="195729" y="254635"/>
                </a:moveTo>
                <a:close/>
              </a:path>
              <a:path w="466725" h="1453514">
                <a:moveTo>
                  <a:pt x="179833" y="277215"/>
                </a:moveTo>
                <a:close/>
              </a:path>
              <a:path w="466725" h="1453514">
                <a:moveTo>
                  <a:pt x="164412" y="299783"/>
                </a:moveTo>
                <a:close/>
              </a:path>
              <a:path w="466725" h="1453514">
                <a:moveTo>
                  <a:pt x="149502" y="322338"/>
                </a:moveTo>
                <a:close/>
              </a:path>
              <a:path w="466725" h="1453514">
                <a:moveTo>
                  <a:pt x="135126" y="344893"/>
                </a:moveTo>
                <a:close/>
              </a:path>
              <a:path w="466725" h="1453514">
                <a:moveTo>
                  <a:pt x="121321" y="367449"/>
                </a:moveTo>
                <a:close/>
              </a:path>
              <a:path w="466725" h="1453514">
                <a:moveTo>
                  <a:pt x="108138" y="389991"/>
                </a:moveTo>
                <a:close/>
              </a:path>
              <a:path w="466725" h="1453514">
                <a:moveTo>
                  <a:pt x="95616" y="412521"/>
                </a:moveTo>
                <a:close/>
              </a:path>
              <a:path w="466725" h="1453514">
                <a:moveTo>
                  <a:pt x="83792" y="435038"/>
                </a:moveTo>
                <a:close/>
              </a:path>
              <a:path w="466725" h="1453514">
                <a:moveTo>
                  <a:pt x="78176" y="446221"/>
                </a:moveTo>
                <a:close/>
              </a:path>
              <a:path w="466725" h="1453514">
                <a:moveTo>
                  <a:pt x="78154" y="446265"/>
                </a:moveTo>
                <a:close/>
              </a:path>
              <a:path w="466725" h="1453514">
                <a:moveTo>
                  <a:pt x="72693" y="457530"/>
                </a:moveTo>
                <a:close/>
              </a:path>
              <a:path w="466725" h="1453514">
                <a:moveTo>
                  <a:pt x="67435" y="468782"/>
                </a:moveTo>
                <a:close/>
              </a:path>
              <a:path w="466725" h="1453514">
                <a:moveTo>
                  <a:pt x="62368" y="480021"/>
                </a:moveTo>
                <a:close/>
              </a:path>
              <a:path w="466725" h="1453514">
                <a:moveTo>
                  <a:pt x="57497" y="491274"/>
                </a:moveTo>
                <a:close/>
              </a:path>
              <a:path w="466725" h="1453514">
                <a:moveTo>
                  <a:pt x="52843" y="502513"/>
                </a:moveTo>
                <a:close/>
              </a:path>
              <a:path w="466725" h="1453514">
                <a:moveTo>
                  <a:pt x="48385" y="513753"/>
                </a:moveTo>
                <a:close/>
              </a:path>
              <a:path w="466725" h="1453514">
                <a:moveTo>
                  <a:pt x="44156" y="524992"/>
                </a:moveTo>
                <a:close/>
              </a:path>
              <a:path w="466725" h="1453514">
                <a:moveTo>
                  <a:pt x="40143" y="536232"/>
                </a:moveTo>
                <a:close/>
              </a:path>
              <a:path w="466725" h="1453514">
                <a:moveTo>
                  <a:pt x="36345" y="547458"/>
                </a:moveTo>
                <a:close/>
              </a:path>
              <a:path w="466725" h="1453514">
                <a:moveTo>
                  <a:pt x="32789" y="558685"/>
                </a:moveTo>
                <a:close/>
              </a:path>
              <a:path w="466725" h="1453514">
                <a:moveTo>
                  <a:pt x="29475" y="569868"/>
                </a:moveTo>
                <a:close/>
              </a:path>
              <a:path w="466725" h="1453514">
                <a:moveTo>
                  <a:pt x="29463" y="569912"/>
                </a:moveTo>
                <a:close/>
              </a:path>
              <a:path w="466725" h="1453514">
                <a:moveTo>
                  <a:pt x="26379" y="581126"/>
                </a:moveTo>
                <a:close/>
              </a:path>
              <a:path w="466725" h="1453514">
                <a:moveTo>
                  <a:pt x="23553" y="592268"/>
                </a:moveTo>
                <a:close/>
              </a:path>
              <a:path w="466725" h="1453514">
                <a:moveTo>
                  <a:pt x="23533" y="592353"/>
                </a:moveTo>
                <a:close/>
              </a:path>
              <a:path w="466725" h="1453514">
                <a:moveTo>
                  <a:pt x="20944" y="603567"/>
                </a:moveTo>
                <a:close/>
              </a:path>
              <a:path w="466725" h="1453514">
                <a:moveTo>
                  <a:pt x="18603" y="614768"/>
                </a:moveTo>
                <a:close/>
              </a:path>
              <a:path w="466725" h="1453514">
                <a:moveTo>
                  <a:pt x="16521" y="625983"/>
                </a:moveTo>
                <a:close/>
              </a:path>
              <a:path w="466725" h="1453514">
                <a:moveTo>
                  <a:pt x="14703" y="637184"/>
                </a:moveTo>
                <a:close/>
              </a:path>
              <a:path w="466725" h="1453514">
                <a:moveTo>
                  <a:pt x="13142" y="648385"/>
                </a:moveTo>
                <a:close/>
              </a:path>
              <a:path w="466725" h="1453514">
                <a:moveTo>
                  <a:pt x="11871" y="659489"/>
                </a:moveTo>
                <a:close/>
              </a:path>
              <a:path w="466725" h="1453514">
                <a:moveTo>
                  <a:pt x="11862" y="659587"/>
                </a:moveTo>
                <a:close/>
              </a:path>
              <a:path w="466725" h="1453514">
                <a:moveTo>
                  <a:pt x="10848" y="670788"/>
                </a:moveTo>
                <a:close/>
              </a:path>
              <a:path w="466725" h="1453514">
                <a:moveTo>
                  <a:pt x="10127" y="681977"/>
                </a:moveTo>
                <a:close/>
              </a:path>
              <a:path w="466725" h="1453514">
                <a:moveTo>
                  <a:pt x="9668" y="715543"/>
                </a:moveTo>
                <a:close/>
              </a:path>
              <a:path w="466725" h="1453514">
                <a:moveTo>
                  <a:pt x="429921" y="1397939"/>
                </a:moveTo>
                <a:lnTo>
                  <a:pt x="417828" y="1397939"/>
                </a:lnTo>
                <a:lnTo>
                  <a:pt x="404188" y="1380947"/>
                </a:lnTo>
                <a:lnTo>
                  <a:pt x="416428" y="1380972"/>
                </a:lnTo>
                <a:lnTo>
                  <a:pt x="425295" y="1392021"/>
                </a:lnTo>
                <a:lnTo>
                  <a:pt x="429921" y="1397939"/>
                </a:lnTo>
                <a:close/>
              </a:path>
              <a:path w="466725" h="1453514">
                <a:moveTo>
                  <a:pt x="442124" y="1413751"/>
                </a:moveTo>
                <a:lnTo>
                  <a:pt x="430198" y="1413751"/>
                </a:lnTo>
                <a:lnTo>
                  <a:pt x="417790" y="1397901"/>
                </a:lnTo>
                <a:lnTo>
                  <a:pt x="429921" y="1397939"/>
                </a:lnTo>
                <a:lnTo>
                  <a:pt x="437741" y="1407947"/>
                </a:lnTo>
                <a:lnTo>
                  <a:pt x="442124" y="1413751"/>
                </a:lnTo>
                <a:close/>
              </a:path>
              <a:path w="466725" h="1453514">
                <a:moveTo>
                  <a:pt x="452907" y="1428318"/>
                </a:moveTo>
                <a:lnTo>
                  <a:pt x="441196" y="1428318"/>
                </a:lnTo>
                <a:lnTo>
                  <a:pt x="430147" y="1413687"/>
                </a:lnTo>
                <a:lnTo>
                  <a:pt x="442124" y="1413751"/>
                </a:lnTo>
                <a:lnTo>
                  <a:pt x="448867" y="1422679"/>
                </a:lnTo>
                <a:lnTo>
                  <a:pt x="452907" y="1428318"/>
                </a:lnTo>
                <a:close/>
              </a:path>
              <a:path w="466725" h="1453514">
                <a:moveTo>
                  <a:pt x="462127" y="1441577"/>
                </a:moveTo>
                <a:lnTo>
                  <a:pt x="450695" y="1441577"/>
                </a:lnTo>
                <a:lnTo>
                  <a:pt x="441120" y="1428229"/>
                </a:lnTo>
                <a:lnTo>
                  <a:pt x="452907" y="1428318"/>
                </a:lnTo>
                <a:lnTo>
                  <a:pt x="458531" y="1436166"/>
                </a:lnTo>
                <a:lnTo>
                  <a:pt x="462127" y="1441577"/>
                </a:lnTo>
                <a:close/>
              </a:path>
              <a:path w="466725" h="1453514">
                <a:moveTo>
                  <a:pt x="458582" y="1453451"/>
                </a:moveTo>
                <a:lnTo>
                  <a:pt x="450594" y="1441437"/>
                </a:lnTo>
                <a:lnTo>
                  <a:pt x="450695" y="1441577"/>
                </a:lnTo>
                <a:lnTo>
                  <a:pt x="462127" y="1441577"/>
                </a:lnTo>
                <a:lnTo>
                  <a:pt x="466507" y="1448168"/>
                </a:lnTo>
                <a:lnTo>
                  <a:pt x="458582" y="1453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2785" y="829944"/>
            <a:ext cx="2679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Subclasses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613650" cy="34836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4004"/>
              </a:lnSpc>
              <a:spcBef>
                <a:spcPts val="114"/>
              </a:spcBef>
            </a:pPr>
            <a:r>
              <a:rPr lang="en-US" altLang="zh-CN" sz="3200" dirty="0">
                <a:effectLst/>
              </a:rPr>
              <a:t>Subclass= </a:t>
            </a:r>
            <a:r>
              <a:rPr sz="3200" spc="-5" dirty="0">
                <a:latin typeface="Tahoma"/>
                <a:cs typeface="Tahoma"/>
              </a:rPr>
              <a:t>special case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0" dirty="0">
                <a:latin typeface="Tahoma"/>
                <a:cs typeface="Tahoma"/>
              </a:rPr>
              <a:t>fewer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entities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ts val="3825"/>
              </a:lnSpc>
            </a:pP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more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properties.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Ales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kind of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beer.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Not </a:t>
            </a:r>
            <a:r>
              <a:rPr sz="2800" spc="-10" dirty="0">
                <a:latin typeface="Tahoma"/>
                <a:cs typeface="Tahoma"/>
              </a:rPr>
              <a:t>every </a:t>
            </a:r>
            <a:r>
              <a:rPr sz="2800" spc="-5" dirty="0">
                <a:latin typeface="Tahoma"/>
                <a:cs typeface="Tahoma"/>
              </a:rPr>
              <a:t>beer is an ale, but some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are.</a:t>
            </a:r>
            <a:endParaRPr sz="2800" dirty="0">
              <a:latin typeface="Tahoma"/>
              <a:cs typeface="Tahoma"/>
            </a:endParaRPr>
          </a:p>
          <a:p>
            <a:pPr marL="732155" marR="213995" lvl="1" indent="-26289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Let us suppose that in addition to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lang="en-US" altLang="zh-CN" sz="2800" spc="-5" dirty="0">
                <a:latin typeface="Tahoma"/>
                <a:cs typeface="Tahoma"/>
              </a:rPr>
              <a:t>properties</a:t>
            </a:r>
            <a:r>
              <a:rPr sz="2800" spc="-455" dirty="0">
                <a:latin typeface="Tahoma"/>
                <a:cs typeface="Tahoma"/>
              </a:rPr>
              <a:t>(</a:t>
            </a:r>
            <a:r>
              <a:rPr lang="en-US" altLang="zh-CN" sz="2800" spc="-5" dirty="0">
                <a:latin typeface="Tahoma"/>
                <a:cs typeface="Tahoma"/>
              </a:rPr>
              <a:t>attributes</a:t>
            </a:r>
            <a:r>
              <a:rPr sz="2800" spc="-4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 relationships) of  beers, ales also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the attribute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CC9900"/>
                </a:solidFill>
                <a:latin typeface="Tahoma"/>
                <a:cs typeface="Tahoma"/>
              </a:rPr>
              <a:t>color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239" y="829944"/>
            <a:ext cx="6828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Subclasses in E/R</a:t>
            </a:r>
            <a:r>
              <a:rPr spc="-30" dirty="0"/>
              <a:t> </a:t>
            </a:r>
            <a:r>
              <a:rPr spc="-15" dirty="0"/>
              <a:t>Diagrams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6459220" cy="27082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Assume subclasses </a:t>
            </a:r>
            <a:r>
              <a:rPr sz="3200" spc="-10" dirty="0">
                <a:latin typeface="Tahoma"/>
                <a:cs typeface="Tahoma"/>
              </a:rPr>
              <a:t>form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tree.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40" dirty="0">
                <a:latin typeface="Tahoma"/>
                <a:cs typeface="Tahoma"/>
              </a:rPr>
              <a:t>I.e., </a:t>
            </a:r>
            <a:r>
              <a:rPr sz="2800" spc="-5" dirty="0">
                <a:latin typeface="Tahoma"/>
                <a:cs typeface="Tahoma"/>
              </a:rPr>
              <a:t>no multiple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inheritance.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Isa </a:t>
            </a:r>
            <a:r>
              <a:rPr sz="3200" spc="-5" dirty="0">
                <a:latin typeface="Tahoma"/>
                <a:cs typeface="Tahoma"/>
              </a:rPr>
              <a:t>triangles indicate </a:t>
            </a:r>
            <a:r>
              <a:rPr lang="zh-CN" altLang="en-US" sz="3200" spc="-5" dirty="0">
                <a:latin typeface="Tahoma"/>
                <a:cs typeface="Tahoma"/>
              </a:rPr>
              <a:t>表示</a:t>
            </a:r>
            <a:r>
              <a:rPr sz="3200" spc="-5" dirty="0">
                <a:latin typeface="Tahoma"/>
                <a:cs typeface="Tahoma"/>
              </a:rPr>
              <a:t>the subclass  </a:t>
            </a:r>
            <a:r>
              <a:rPr sz="3200" spc="-10" dirty="0">
                <a:latin typeface="Tahoma"/>
                <a:cs typeface="Tahoma"/>
              </a:rPr>
              <a:t>relationship.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Point </a:t>
            </a:r>
            <a:r>
              <a:rPr sz="2800" spc="-5" dirty="0">
                <a:latin typeface="Tahoma"/>
                <a:cs typeface="Tahoma"/>
              </a:rPr>
              <a:t>to the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superclass.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205037" y="2586037"/>
            <a:ext cx="3971785" cy="2981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4695" y="829944"/>
            <a:ext cx="5134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Subclasses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8084" y="28130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7145" y="4946650"/>
            <a:ext cx="575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Ales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19220" y="4013834"/>
            <a:ext cx="39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42375" y="2736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8325" y="2736862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8379" y="4985029"/>
            <a:ext cx="676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olor</a:t>
            </a:r>
            <a:endParaRPr sz="24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F1E86493-7EBB-FC1C-7FB8-C280BB60DF42}"/>
                  </a:ext>
                </a:extLst>
              </p14:cNvPr>
              <p14:cNvContentPartPr/>
              <p14:nvPr/>
            </p14:nvContentPartPr>
            <p14:xfrm>
              <a:off x="2793699" y="3907991"/>
              <a:ext cx="2950920" cy="4143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F1E86493-7EBB-FC1C-7FB8-C280BB60DF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0059" y="3799991"/>
                <a:ext cx="3058560" cy="63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820388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E/R Vs. </a:t>
            </a:r>
            <a:r>
              <a:rPr spc="-10" dirty="0"/>
              <a:t>Object-Oriented</a:t>
            </a:r>
            <a:r>
              <a:rPr lang="zh-CN" altLang="en-US" spc="-10" dirty="0"/>
              <a:t>面向对象</a:t>
            </a:r>
            <a:r>
              <a:rPr spc="-25" dirty="0"/>
              <a:t> </a:t>
            </a:r>
            <a:r>
              <a:rPr spc="-5" dirty="0"/>
              <a:t>Subclasses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14795"/>
            <a:ext cx="7717155" cy="406521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20" dirty="0">
                <a:latin typeface="Tahoma"/>
                <a:cs typeface="Tahoma"/>
              </a:rPr>
              <a:t>OO, </a:t>
            </a:r>
            <a:r>
              <a:rPr sz="3200" spc="-5" dirty="0">
                <a:latin typeface="Tahoma"/>
                <a:cs typeface="Tahoma"/>
              </a:rPr>
              <a:t>objects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in one class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only.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Subclasses inherit</a:t>
            </a:r>
            <a:r>
              <a:rPr lang="zh-CN" altLang="en-US" sz="2800" spc="-5" dirty="0">
                <a:latin typeface="Tahoma"/>
                <a:cs typeface="Tahoma"/>
              </a:rPr>
              <a:t>继承自</a:t>
            </a:r>
            <a:r>
              <a:rPr sz="2800" spc="-15" dirty="0">
                <a:latin typeface="Tahoma"/>
                <a:cs typeface="Tahoma"/>
              </a:rPr>
              <a:t>from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superclasses.</a:t>
            </a:r>
            <a:endParaRPr sz="2800" dirty="0">
              <a:latin typeface="Tahoma"/>
              <a:cs typeface="Tahoma"/>
            </a:endParaRPr>
          </a:p>
          <a:p>
            <a:pPr marL="301625" marR="1021080" indent="-289560">
              <a:lnSpc>
                <a:spcPts val="3840"/>
              </a:lnSpc>
              <a:spcBef>
                <a:spcPts val="89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10" dirty="0">
                <a:latin typeface="Tahoma"/>
                <a:cs typeface="Tahoma"/>
              </a:rPr>
              <a:t>contrast</a:t>
            </a:r>
            <a:r>
              <a:rPr lang="zh-CN" altLang="en-US" sz="3200" spc="-10" dirty="0">
                <a:latin typeface="Tahoma"/>
                <a:cs typeface="Tahoma"/>
              </a:rPr>
              <a:t>相反</a:t>
            </a:r>
            <a:r>
              <a:rPr sz="3200" spc="-1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E/R entities </a:t>
            </a:r>
            <a:r>
              <a:rPr sz="3200" spc="-15" dirty="0">
                <a:latin typeface="Tahoma"/>
                <a:cs typeface="Tahoma"/>
              </a:rPr>
              <a:t>have</a:t>
            </a:r>
            <a:r>
              <a:rPr sz="3200" spc="-1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representatives</a:t>
            </a:r>
            <a:r>
              <a:rPr lang="zh-CN" altLang="en-US" sz="3600" dirty="0">
                <a:effectLst/>
              </a:rPr>
              <a:t>代表</a:t>
            </a:r>
            <a:r>
              <a:rPr lang="en-US" altLang="zh-CN" sz="3600" dirty="0">
                <a:effectLst/>
              </a:rPr>
              <a:t> </a:t>
            </a:r>
            <a:r>
              <a:rPr sz="3350" i="1" spc="-115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350" i="1" spc="-97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subclasses to which they  belong.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 algn="just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solidFill>
                  <a:srgbClr val="3333CC"/>
                </a:solidFill>
                <a:latin typeface="Tahoma"/>
                <a:cs typeface="Tahoma"/>
              </a:rPr>
              <a:t>Rule</a:t>
            </a:r>
            <a:r>
              <a:rPr sz="2800" spc="-10" dirty="0">
                <a:latin typeface="Tahoma"/>
                <a:cs typeface="Tahoma"/>
              </a:rPr>
              <a:t>: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entity </a:t>
            </a:r>
            <a:r>
              <a:rPr lang="en-US" altLang="zh-CN" sz="3200" dirty="0" err="1">
                <a:effectLst/>
              </a:rPr>
              <a:t>eis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represented in a subclass,  then </a:t>
            </a:r>
            <a:r>
              <a:rPr lang="en-US" altLang="zh-CN" sz="3200" dirty="0" err="1">
                <a:effectLst/>
              </a:rPr>
              <a:t>eis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represented in the superclass (and  </a:t>
            </a:r>
            <a:r>
              <a:rPr sz="2800" spc="-10" dirty="0">
                <a:latin typeface="Tahoma"/>
                <a:cs typeface="Tahoma"/>
              </a:rPr>
              <a:t>recursively </a:t>
            </a:r>
            <a:r>
              <a:rPr sz="2800" spc="-5" dirty="0">
                <a:latin typeface="Tahoma"/>
                <a:cs typeface="Tahoma"/>
              </a:rPr>
              <a:t>up the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tree).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205037" y="2586037"/>
            <a:ext cx="3971785" cy="2981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2240" marR="5080" indent="-260604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5" dirty="0"/>
              <a:t>Representatives </a:t>
            </a:r>
            <a:r>
              <a:rPr spc="-5" dirty="0"/>
              <a:t>of  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8084" y="28130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7145" y="4946650"/>
            <a:ext cx="575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Ales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2375" y="2736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398325" y="2736862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8379" y="4985029"/>
            <a:ext cx="676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olor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9220" y="3723322"/>
            <a:ext cx="3166745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0710">
              <a:lnSpc>
                <a:spcPts val="2585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Pete’s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Ale</a:t>
            </a:r>
          </a:p>
          <a:p>
            <a:pPr marL="12700">
              <a:lnSpc>
                <a:spcPts val="2585"/>
              </a:lnSpc>
            </a:pPr>
            <a:r>
              <a:rPr sz="2400" spc="-5" dirty="0">
                <a:latin typeface="Tahoma"/>
                <a:cs typeface="Tahoma"/>
              </a:rPr>
              <a:t>isa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245" y="829944"/>
            <a:ext cx="1160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K</a:t>
            </a:r>
            <a:r>
              <a:rPr spc="-5" dirty="0"/>
              <a:t>ey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066280" cy="400875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2413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key </a:t>
            </a:r>
            <a:r>
              <a:rPr sz="3350" i="1" spc="-844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set of attributes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one 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such that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two entities in  this set agree </a:t>
            </a:r>
            <a:r>
              <a:rPr sz="3200" dirty="0">
                <a:latin typeface="Tahoma"/>
                <a:cs typeface="Tahoma"/>
              </a:rPr>
              <a:t>on all </a:t>
            </a:r>
            <a:r>
              <a:rPr sz="3200" spc="-5" dirty="0">
                <a:latin typeface="Tahoma"/>
                <a:cs typeface="Tahoma"/>
              </a:rPr>
              <a:t>the attributes of 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85" dirty="0">
                <a:latin typeface="Tahoma"/>
                <a:cs typeface="Tahoma"/>
              </a:rPr>
              <a:t>key.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It is allowed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two entities to agree on  some, but not all, of the </a:t>
            </a:r>
            <a:r>
              <a:rPr sz="2800" spc="-15" dirty="0">
                <a:latin typeface="Tahoma"/>
                <a:cs typeface="Tahoma"/>
              </a:rPr>
              <a:t>key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attributes.</a:t>
            </a:r>
            <a:endParaRPr sz="2800" dirty="0">
              <a:latin typeface="Tahoma"/>
              <a:cs typeface="Tahoma"/>
            </a:endParaRPr>
          </a:p>
          <a:p>
            <a:pPr marL="355600" marR="40576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must designate</a:t>
            </a:r>
            <a:r>
              <a:rPr lang="zh-CN" altLang="en-US" sz="3200" spc="-5" dirty="0">
                <a:latin typeface="Tahoma"/>
                <a:cs typeface="Tahoma"/>
              </a:rPr>
              <a:t>指定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key for </a:t>
            </a:r>
            <a:r>
              <a:rPr sz="3200" spc="-10" dirty="0">
                <a:latin typeface="Tahoma"/>
                <a:cs typeface="Tahoma"/>
              </a:rPr>
              <a:t>every  entity </a:t>
            </a:r>
            <a:r>
              <a:rPr sz="3200" spc="-5" dirty="0">
                <a:latin typeface="Tahoma"/>
                <a:cs typeface="Tahoma"/>
              </a:rPr>
              <a:t>set.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7700" y="829944"/>
            <a:ext cx="5309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Keys </a:t>
            </a:r>
            <a:r>
              <a:rPr spc="-5" dirty="0"/>
              <a:t>in E/R</a:t>
            </a:r>
            <a:r>
              <a:rPr spc="-20" dirty="0"/>
              <a:t> </a:t>
            </a:r>
            <a:r>
              <a:rPr spc="-15" dirty="0"/>
              <a:t>Diagrams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449820" cy="2675732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Underline the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attribute(s).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5" dirty="0">
                <a:latin typeface="Tahoma"/>
                <a:cs typeface="Tahoma"/>
              </a:rPr>
              <a:t>Isa </a:t>
            </a:r>
            <a:r>
              <a:rPr sz="3200" spc="-45" dirty="0">
                <a:latin typeface="Tahoma"/>
                <a:cs typeface="Tahoma"/>
              </a:rPr>
              <a:t>hierarchy</a:t>
            </a:r>
            <a:r>
              <a:rPr lang="zh-CN" altLang="en-US" sz="3200" spc="-45" dirty="0">
                <a:latin typeface="Tahoma"/>
                <a:cs typeface="Tahoma"/>
              </a:rPr>
              <a:t>体系</a:t>
            </a:r>
            <a:r>
              <a:rPr sz="3200" spc="-4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only the </a:t>
            </a:r>
            <a:r>
              <a:rPr sz="3200" spc="-10" dirty="0">
                <a:highlight>
                  <a:srgbClr val="FFFF00"/>
                </a:highlight>
                <a:latin typeface="Tahoma"/>
                <a:cs typeface="Tahoma"/>
              </a:rPr>
              <a:t>root entity 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set </a:t>
            </a:r>
            <a:r>
              <a:rPr sz="3200" spc="-5" dirty="0">
                <a:latin typeface="Tahoma"/>
                <a:cs typeface="Tahoma"/>
              </a:rPr>
              <a:t>has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85" dirty="0">
                <a:latin typeface="Tahoma"/>
                <a:cs typeface="Tahoma"/>
              </a:rPr>
              <a:t>key,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must </a:t>
            </a:r>
            <a:r>
              <a:rPr sz="3200" spc="-10" dirty="0">
                <a:latin typeface="Tahoma"/>
                <a:cs typeface="Tahoma"/>
              </a:rPr>
              <a:t>serve </a:t>
            </a:r>
            <a:r>
              <a:rPr sz="3200" spc="-5" dirty="0">
                <a:latin typeface="Tahoma"/>
                <a:cs typeface="Tahoma"/>
              </a:rPr>
              <a:t>as the  </a:t>
            </a:r>
            <a:r>
              <a:rPr sz="3200" spc="-15" dirty="0">
                <a:latin typeface="Tahoma"/>
                <a:cs typeface="Tahoma"/>
              </a:rPr>
              <a:t>key for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entities in the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45" dirty="0">
                <a:latin typeface="Tahoma"/>
                <a:cs typeface="Tahoma"/>
              </a:rPr>
              <a:t>hierarchy.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128837" y="2586037"/>
            <a:ext cx="4047985" cy="2981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255" y="829944"/>
            <a:ext cx="7858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5" dirty="0">
                <a:solidFill>
                  <a:srgbClr val="CC9900"/>
                </a:solidFill>
              </a:rPr>
              <a:t>name </a:t>
            </a:r>
            <a:r>
              <a:rPr spc="-5" dirty="0"/>
              <a:t>is </a:t>
            </a:r>
            <a:r>
              <a:rPr spc="-45" dirty="0"/>
              <a:t>Key </a:t>
            </a:r>
            <a:r>
              <a:rPr spc="-20" dirty="0"/>
              <a:t>for</a:t>
            </a:r>
            <a:r>
              <a:rPr spc="15" dirty="0"/>
              <a:t> </a:t>
            </a:r>
            <a:r>
              <a:rPr dirty="0">
                <a:solidFill>
                  <a:srgbClr val="009900"/>
                </a:solidFill>
              </a:rPr>
              <a:t>Beers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8084" y="28130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7145" y="4946650"/>
            <a:ext cx="575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Ales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9220" y="4013834"/>
            <a:ext cx="39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204643" y="2736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8325" y="2736862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8379" y="4985029"/>
            <a:ext cx="676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olor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66951" y="2281237"/>
            <a:ext cx="4886210" cy="1838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9944" y="829944"/>
            <a:ext cx="74841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a </a:t>
            </a:r>
            <a:r>
              <a:rPr spc="-10" dirty="0"/>
              <a:t>Multi-attribute</a:t>
            </a:r>
            <a:r>
              <a:rPr spc="-35" dirty="0"/>
              <a:t> </a:t>
            </a:r>
            <a:r>
              <a:rPr spc="-45" dirty="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6303" y="2280196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08109" y="2355862"/>
            <a:ext cx="1060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nu</a:t>
            </a:r>
            <a:r>
              <a:rPr sz="2400" spc="-5" dirty="0">
                <a:latin typeface="Tahoma"/>
                <a:cs typeface="Tahoma"/>
              </a:rPr>
              <a:t>mb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4183303" y="2280196"/>
            <a:ext cx="777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hours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30443" y="2280196"/>
            <a:ext cx="721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oom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064" y="3460750"/>
            <a:ext cx="6595745" cy="193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70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Courses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 dirty="0">
              <a:latin typeface="Tahoma"/>
              <a:cs typeface="Tahoma"/>
            </a:endParaRPr>
          </a:p>
          <a:p>
            <a:pPr marL="203200" marR="5080" indent="-190500">
              <a:lnSpc>
                <a:spcPct val="100000"/>
              </a:lnSpc>
              <a:buFont typeface="Times New Roman"/>
              <a:buChar char="•"/>
              <a:tabLst>
                <a:tab pos="195580" algn="l"/>
              </a:tabLst>
            </a:pPr>
            <a:r>
              <a:rPr sz="2400" spc="-5" dirty="0">
                <a:latin typeface="Tahoma"/>
                <a:cs typeface="Tahoma"/>
              </a:rPr>
              <a:t>Note </a:t>
            </a:r>
            <a:r>
              <a:rPr sz="2400" dirty="0">
                <a:latin typeface="Tahoma"/>
                <a:cs typeface="Tahoma"/>
              </a:rPr>
              <a:t>that </a:t>
            </a:r>
            <a:r>
              <a:rPr sz="2400" dirty="0">
                <a:solidFill>
                  <a:srgbClr val="CC9900"/>
                </a:solidFill>
                <a:latin typeface="Tahoma"/>
                <a:cs typeface="Tahoma"/>
              </a:rPr>
              <a:t>hours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solidFill>
                  <a:srgbClr val="CC9900"/>
                </a:solidFill>
                <a:latin typeface="Tahoma"/>
                <a:cs typeface="Tahoma"/>
              </a:rPr>
              <a:t>room </a:t>
            </a:r>
            <a:r>
              <a:rPr sz="2400" spc="-5" dirty="0">
                <a:latin typeface="Tahoma"/>
                <a:cs typeface="Tahoma"/>
              </a:rPr>
              <a:t>could also </a:t>
            </a:r>
            <a:r>
              <a:rPr sz="2400" spc="-10" dirty="0">
                <a:latin typeface="Tahoma"/>
                <a:cs typeface="Tahoma"/>
              </a:rPr>
              <a:t>serve </a:t>
            </a:r>
            <a:r>
              <a:rPr sz="2400" dirty="0">
                <a:latin typeface="Tahoma"/>
                <a:cs typeface="Tahoma"/>
              </a:rPr>
              <a:t>as a  </a:t>
            </a:r>
            <a:r>
              <a:rPr sz="2400" spc="-65" dirty="0">
                <a:latin typeface="Tahoma"/>
                <a:cs typeface="Tahoma"/>
              </a:rPr>
              <a:t>key, </a:t>
            </a:r>
            <a:r>
              <a:rPr sz="2400" spc="-5" dirty="0">
                <a:latin typeface="Tahoma"/>
                <a:cs typeface="Tahoma"/>
              </a:rPr>
              <a:t>but we must select </a:t>
            </a:r>
            <a:r>
              <a:rPr sz="2400" dirty="0">
                <a:latin typeface="Tahoma"/>
                <a:cs typeface="Tahoma"/>
              </a:rPr>
              <a:t>only one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key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200" y="829944"/>
            <a:ext cx="4165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Weak </a:t>
            </a:r>
            <a:r>
              <a:rPr spc="-10" dirty="0"/>
              <a:t>Entity</a:t>
            </a:r>
            <a:r>
              <a:rPr spc="-25" dirty="0"/>
              <a:t> </a:t>
            </a:r>
            <a:r>
              <a:rPr spc="-5" dirty="0"/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8470" y="1828800"/>
            <a:ext cx="8227060" cy="40376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0002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latin typeface="Tahoma"/>
                <a:cs typeface="Tahoma"/>
              </a:rPr>
              <a:t>Occasionally, </a:t>
            </a:r>
            <a:r>
              <a:rPr sz="3200" spc="-5" dirty="0">
                <a:latin typeface="Tahoma"/>
                <a:cs typeface="Tahoma"/>
              </a:rPr>
              <a:t>entities of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 need “help” to </a:t>
            </a:r>
            <a:r>
              <a:rPr sz="3200" spc="-10" dirty="0">
                <a:latin typeface="Tahoma"/>
                <a:cs typeface="Tahoma"/>
              </a:rPr>
              <a:t>identify </a:t>
            </a:r>
            <a:r>
              <a:rPr sz="3200" spc="-5" dirty="0">
                <a:latin typeface="Tahoma"/>
                <a:cs typeface="Tahoma"/>
              </a:rPr>
              <a:t>them </a:t>
            </a:r>
            <a:r>
              <a:rPr sz="3200" spc="-35" dirty="0">
                <a:latin typeface="Tahoma"/>
                <a:cs typeface="Tahoma"/>
              </a:rPr>
              <a:t>uniquely.</a:t>
            </a:r>
            <a:r>
              <a:rPr lang="zh-CN" altLang="en-US" sz="3200" spc="-35" dirty="0">
                <a:latin typeface="Tahoma"/>
                <a:cs typeface="Tahoma"/>
              </a:rPr>
              <a:t>唯一地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10" dirty="0">
                <a:latin typeface="Tahoma"/>
                <a:cs typeface="Tahoma"/>
              </a:rPr>
              <a:t>Entity </a:t>
            </a:r>
            <a:r>
              <a:rPr lang="en-US" sz="3200" spc="-5" dirty="0">
                <a:latin typeface="Tahoma"/>
                <a:cs typeface="Tahoma"/>
              </a:rPr>
              <a:t>set </a:t>
            </a:r>
            <a:r>
              <a:rPr lang="en-US" sz="3350" i="1" spc="-85" dirty="0">
                <a:latin typeface="Tahoma"/>
                <a:cs typeface="Tahoma"/>
              </a:rPr>
              <a:t>E </a:t>
            </a:r>
            <a:r>
              <a:rPr lang="en-US" sz="3200" spc="-5" dirty="0">
                <a:latin typeface="Tahoma"/>
                <a:cs typeface="Tahoma"/>
              </a:rPr>
              <a:t>is said to </a:t>
            </a:r>
            <a:r>
              <a:rPr lang="en-US" sz="3200" dirty="0">
                <a:latin typeface="Tahoma"/>
                <a:cs typeface="Tahoma"/>
              </a:rPr>
              <a:t>be </a:t>
            </a:r>
            <a:r>
              <a:rPr lang="en-US" altLang="zh-CN" sz="3600" dirty="0">
                <a:effectLst/>
              </a:rPr>
              <a:t>weak </a:t>
            </a:r>
            <a:r>
              <a:rPr lang="en-US" sz="3350" i="1" spc="-96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lang="en-US" sz="3200" dirty="0">
                <a:latin typeface="Tahoma"/>
                <a:cs typeface="Tahoma"/>
              </a:rPr>
              <a:t>if </a:t>
            </a:r>
            <a:r>
              <a:rPr lang="en-US" sz="3200" spc="-5" dirty="0">
                <a:latin typeface="Tahoma"/>
                <a:cs typeface="Tahoma"/>
              </a:rPr>
              <a:t>in  order to </a:t>
            </a:r>
            <a:r>
              <a:rPr lang="en-US" sz="3200" spc="-10" dirty="0">
                <a:latin typeface="Tahoma"/>
                <a:cs typeface="Tahoma"/>
              </a:rPr>
              <a:t>identify </a:t>
            </a:r>
            <a:r>
              <a:rPr lang="en-US" sz="3200" spc="-5" dirty="0">
                <a:latin typeface="Tahoma"/>
                <a:cs typeface="Tahoma"/>
              </a:rPr>
              <a:t>entities of </a:t>
            </a:r>
            <a:r>
              <a:rPr lang="en-US" sz="3350" i="1" spc="-85" dirty="0">
                <a:latin typeface="Tahoma"/>
                <a:cs typeface="Tahoma"/>
              </a:rPr>
              <a:t>E </a:t>
            </a:r>
            <a:r>
              <a:rPr lang="en-US" sz="3200" spc="-35" dirty="0">
                <a:latin typeface="Tahoma"/>
                <a:cs typeface="Tahoma"/>
              </a:rPr>
              <a:t>uniquely,  </a:t>
            </a:r>
            <a:r>
              <a:rPr lang="en-US" sz="3200" dirty="0">
                <a:latin typeface="Tahoma"/>
                <a:cs typeface="Tahoma"/>
              </a:rPr>
              <a:t>we </a:t>
            </a:r>
            <a:r>
              <a:rPr lang="en-US" sz="3200" spc="-5" dirty="0">
                <a:latin typeface="Tahoma"/>
                <a:cs typeface="Tahoma"/>
              </a:rPr>
              <a:t>need to </a:t>
            </a:r>
            <a:r>
              <a:rPr lang="en-US" sz="3200" spc="-10" dirty="0">
                <a:latin typeface="Tahoma"/>
                <a:cs typeface="Tahoma"/>
              </a:rPr>
              <a:t>follow </a:t>
            </a:r>
            <a:r>
              <a:rPr lang="en-US" sz="3200" spc="-5" dirty="0">
                <a:latin typeface="Tahoma"/>
                <a:cs typeface="Tahoma"/>
              </a:rPr>
              <a:t>one or more </a:t>
            </a:r>
            <a:r>
              <a:rPr lang="en-US" sz="3200" spc="-25" dirty="0">
                <a:latin typeface="Tahoma"/>
                <a:cs typeface="Tahoma"/>
              </a:rPr>
              <a:t>many-  </a:t>
            </a:r>
            <a:r>
              <a:rPr lang="en-US" sz="3200" spc="-5" dirty="0">
                <a:latin typeface="Tahoma"/>
                <a:cs typeface="Tahoma"/>
              </a:rPr>
              <a:t>one relationships </a:t>
            </a:r>
            <a:r>
              <a:rPr lang="en-US" sz="3200" spc="-10" dirty="0">
                <a:latin typeface="Tahoma"/>
                <a:cs typeface="Tahoma"/>
              </a:rPr>
              <a:t>from </a:t>
            </a:r>
            <a:r>
              <a:rPr lang="en-US" sz="3350" i="1" spc="-85" dirty="0">
                <a:latin typeface="Tahoma"/>
                <a:cs typeface="Tahoma"/>
              </a:rPr>
              <a:t>E </a:t>
            </a:r>
            <a:r>
              <a:rPr lang="en-US" sz="3200" spc="-5" dirty="0">
                <a:latin typeface="Tahoma"/>
                <a:cs typeface="Tahoma"/>
              </a:rPr>
              <a:t>and include  the </a:t>
            </a:r>
            <a:r>
              <a:rPr lang="en-US" sz="3200" spc="-15" dirty="0">
                <a:latin typeface="Tahoma"/>
                <a:cs typeface="Tahoma"/>
              </a:rPr>
              <a:t>key </a:t>
            </a:r>
            <a:r>
              <a:rPr lang="en-US" sz="3200" spc="-5" dirty="0">
                <a:latin typeface="Tahoma"/>
                <a:cs typeface="Tahoma"/>
              </a:rPr>
              <a:t>of the related entities </a:t>
            </a:r>
            <a:r>
              <a:rPr lang="en-US" sz="3200" spc="-10" dirty="0">
                <a:latin typeface="Tahoma"/>
                <a:cs typeface="Tahoma"/>
              </a:rPr>
              <a:t>from </a:t>
            </a:r>
            <a:r>
              <a:rPr lang="en-US" sz="3200" spc="-5" dirty="0">
                <a:latin typeface="Tahoma"/>
                <a:cs typeface="Tahoma"/>
              </a:rPr>
              <a:t>the  connected </a:t>
            </a:r>
            <a:r>
              <a:rPr lang="en-US" sz="3200" spc="-10" dirty="0">
                <a:latin typeface="Tahoma"/>
                <a:cs typeface="Tahoma"/>
              </a:rPr>
              <a:t>entity </a:t>
            </a:r>
            <a:r>
              <a:rPr lang="en-US" sz="3200" spc="-5" dirty="0">
                <a:latin typeface="Tahoma"/>
                <a:cs typeface="Tahoma"/>
              </a:rPr>
              <a:t>sets.</a:t>
            </a:r>
            <a:endParaRPr lang="en-US"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6205" y="829944"/>
            <a:ext cx="6371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45" dirty="0"/>
              <a:t>Weak </a:t>
            </a:r>
            <a:r>
              <a:rPr spc="-10" dirty="0"/>
              <a:t>Entity</a:t>
            </a:r>
            <a:r>
              <a:rPr spc="-20" dirty="0"/>
              <a:t> </a:t>
            </a:r>
            <a:r>
              <a:rPr dirty="0"/>
              <a:t>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2012949"/>
            <a:ext cx="8527415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CC9900"/>
                </a:solidFill>
                <a:latin typeface="Tahoma"/>
                <a:cs typeface="Tahoma"/>
              </a:rPr>
              <a:t>name </a:t>
            </a:r>
            <a:r>
              <a:rPr sz="3200" spc="-5" dirty="0">
                <a:latin typeface="Tahoma"/>
                <a:cs typeface="Tahoma"/>
              </a:rPr>
              <a:t>is almost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key for </a:t>
            </a:r>
            <a:r>
              <a:rPr sz="3200" spc="-10" dirty="0">
                <a:latin typeface="Tahoma"/>
                <a:cs typeface="Tahoma"/>
              </a:rPr>
              <a:t>football players, </a:t>
            </a:r>
            <a:r>
              <a:rPr sz="3200" spc="-5" dirty="0">
                <a:latin typeface="Tahoma"/>
                <a:cs typeface="Tahoma"/>
              </a:rPr>
              <a:t>but  there might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two with the 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name.</a:t>
            </a:r>
            <a:endParaRPr sz="3200" dirty="0">
              <a:latin typeface="Tahoma"/>
              <a:cs typeface="Tahoma"/>
            </a:endParaRPr>
          </a:p>
          <a:p>
            <a:pPr marL="355600" marR="30353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CC9900"/>
                </a:solidFill>
                <a:latin typeface="Tahoma"/>
                <a:cs typeface="Tahoma"/>
              </a:rPr>
              <a:t>number </a:t>
            </a:r>
            <a:r>
              <a:rPr sz="3200" spc="-5" dirty="0">
                <a:latin typeface="Tahoma"/>
                <a:cs typeface="Tahoma"/>
              </a:rPr>
              <a:t>is certainly not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85" dirty="0">
                <a:latin typeface="Tahoma"/>
                <a:cs typeface="Tahoma"/>
              </a:rPr>
              <a:t>key, </a:t>
            </a:r>
            <a:r>
              <a:rPr sz="3200" spc="-5" dirty="0">
                <a:latin typeface="Tahoma"/>
                <a:cs typeface="Tahoma"/>
              </a:rPr>
              <a:t>since </a:t>
            </a:r>
            <a:r>
              <a:rPr sz="3200" spc="-10" dirty="0">
                <a:latin typeface="Tahoma"/>
                <a:cs typeface="Tahoma"/>
              </a:rPr>
              <a:t>players 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two teams could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the same </a:t>
            </a:r>
            <a:r>
              <a:rPr sz="3200" spc="-65" dirty="0">
                <a:latin typeface="Tahoma"/>
                <a:cs typeface="Tahoma"/>
              </a:rPr>
              <a:t>number.</a:t>
            </a:r>
            <a:endParaRPr sz="3200" dirty="0">
              <a:latin typeface="Tahoma"/>
              <a:cs typeface="Tahoma"/>
            </a:endParaRPr>
          </a:p>
          <a:p>
            <a:pPr marL="355600" marR="469900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5" dirty="0">
                <a:solidFill>
                  <a:srgbClr val="CC9900"/>
                </a:solidFill>
                <a:latin typeface="Tahoma"/>
                <a:cs typeface="Tahoma"/>
              </a:rPr>
              <a:t>number</a:t>
            </a:r>
            <a:r>
              <a:rPr sz="3200" spc="-5" dirty="0">
                <a:latin typeface="Tahoma"/>
                <a:cs typeface="Tahoma"/>
              </a:rPr>
              <a:t>, together with the team </a:t>
            </a:r>
            <a:r>
              <a:rPr sz="3200" spc="-5" dirty="0">
                <a:solidFill>
                  <a:srgbClr val="CC9900"/>
                </a:solidFill>
                <a:latin typeface="Tahoma"/>
                <a:cs typeface="Tahoma"/>
              </a:rPr>
              <a:t>name </a:t>
            </a:r>
            <a:r>
              <a:rPr sz="3200" spc="-5" dirty="0">
                <a:latin typeface="Tahoma"/>
                <a:cs typeface="Tahoma"/>
              </a:rPr>
              <a:t> related to the </a:t>
            </a:r>
            <a:r>
              <a:rPr sz="3200" spc="-15" dirty="0">
                <a:latin typeface="Tahoma"/>
                <a:cs typeface="Tahoma"/>
              </a:rPr>
              <a:t>player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Plays-on </a:t>
            </a:r>
            <a:r>
              <a:rPr sz="3200" spc="-5" dirty="0">
                <a:latin typeface="Tahoma"/>
                <a:cs typeface="Tahoma"/>
              </a:rPr>
              <a:t>should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unique.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38237" y="1900237"/>
            <a:ext cx="5876925" cy="2295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014" y="829944"/>
            <a:ext cx="4077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 </a:t>
            </a:r>
            <a:r>
              <a:rPr spc="-5" dirty="0"/>
              <a:t>E/R</a:t>
            </a:r>
            <a:r>
              <a:rPr spc="-50" dirty="0"/>
              <a:t> </a:t>
            </a:r>
            <a:r>
              <a:rPr spc="-15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4385" y="3041650"/>
            <a:ext cx="977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Players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6304" y="3041650"/>
            <a:ext cx="885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4325" y="2897504"/>
            <a:ext cx="8197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Pl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ys</a:t>
            </a:r>
            <a:r>
              <a:rPr sz="2400" dirty="0">
                <a:latin typeface="Tahoma"/>
                <a:cs typeface="Tahoma"/>
              </a:rPr>
              <a:t>-  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251877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1909" y="1974862"/>
            <a:ext cx="41167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6610" algn="l"/>
              </a:tabLst>
            </a:pPr>
            <a:r>
              <a:rPr sz="2400" dirty="0">
                <a:latin typeface="Tahoma"/>
                <a:cs typeface="Tahoma"/>
              </a:rPr>
              <a:t>nu</a:t>
            </a:r>
            <a:r>
              <a:rPr sz="2400" spc="-5" dirty="0">
                <a:latin typeface="Tahoma"/>
                <a:cs typeface="Tahoma"/>
              </a:rPr>
              <a:t>mb</a:t>
            </a:r>
            <a:r>
              <a:rPr sz="2400" dirty="0">
                <a:latin typeface="Tahoma"/>
                <a:cs typeface="Tahoma"/>
              </a:rPr>
              <a:t>er	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4104322"/>
            <a:ext cx="8150860" cy="200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4425" marR="2673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Note: must be rounded </a:t>
            </a:r>
            <a:r>
              <a:rPr lang="zh-CN" altLang="en-US" sz="2400" spc="-5" dirty="0">
                <a:latin typeface="Tahoma"/>
                <a:cs typeface="Tahoma"/>
              </a:rPr>
              <a:t>全面的</a:t>
            </a:r>
            <a:r>
              <a:rPr sz="2400" spc="-5" dirty="0">
                <a:latin typeface="Tahoma"/>
                <a:cs typeface="Tahoma"/>
              </a:rPr>
              <a:t> because each </a:t>
            </a:r>
            <a:r>
              <a:rPr sz="2400" spc="-10" dirty="0">
                <a:latin typeface="Tahoma"/>
                <a:cs typeface="Tahoma"/>
              </a:rPr>
              <a:t>player </a:t>
            </a:r>
            <a:r>
              <a:rPr sz="2400" spc="-5" dirty="0">
                <a:latin typeface="Tahoma"/>
                <a:cs typeface="Tahoma"/>
              </a:rPr>
              <a:t>needs  </a:t>
            </a:r>
            <a:r>
              <a:rPr sz="2400" dirty="0">
                <a:latin typeface="Tahoma"/>
                <a:cs typeface="Tahoma"/>
              </a:rPr>
              <a:t>a team to help </a:t>
            </a:r>
            <a:r>
              <a:rPr sz="2400" spc="-5" dirty="0">
                <a:latin typeface="Tahoma"/>
                <a:cs typeface="Tahoma"/>
              </a:rPr>
              <a:t>with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key.</a:t>
            </a:r>
            <a:endParaRPr sz="2400" dirty="0">
              <a:latin typeface="Tahoma"/>
              <a:cs typeface="Tahoma"/>
            </a:endParaRPr>
          </a:p>
          <a:p>
            <a:pPr marL="246379" indent="-233679">
              <a:lnSpc>
                <a:spcPts val="2990"/>
              </a:lnSpc>
              <a:spcBef>
                <a:spcPts val="1195"/>
              </a:spcBef>
              <a:buChar char="•"/>
              <a:tabLst>
                <a:tab pos="246379" algn="l"/>
              </a:tabLst>
            </a:pPr>
            <a:r>
              <a:rPr sz="2400" spc="-5" dirty="0">
                <a:latin typeface="Tahoma"/>
                <a:cs typeface="Tahoma"/>
              </a:rPr>
              <a:t>Double diamond</a:t>
            </a:r>
            <a:r>
              <a:rPr lang="zh-CN" altLang="en-US" sz="2400" spc="-5" dirty="0">
                <a:latin typeface="Tahoma"/>
                <a:cs typeface="Tahoma"/>
              </a:rPr>
              <a:t>菱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lang="en-US" altLang="zh-CN" sz="2800" dirty="0">
                <a:effectLst/>
              </a:rPr>
              <a:t>supporting </a:t>
            </a:r>
            <a:r>
              <a:rPr sz="2500" i="1" spc="-5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many-one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relationship.</a:t>
            </a:r>
            <a:endParaRPr sz="2400" dirty="0">
              <a:latin typeface="Tahoma"/>
              <a:cs typeface="Tahoma"/>
            </a:endParaRPr>
          </a:p>
          <a:p>
            <a:pPr marL="246379" indent="-233679">
              <a:lnSpc>
                <a:spcPts val="2870"/>
              </a:lnSpc>
              <a:buChar char="•"/>
              <a:tabLst>
                <a:tab pos="246379" algn="l"/>
              </a:tabLst>
            </a:pPr>
            <a:r>
              <a:rPr sz="2400" spc="-5" dirty="0">
                <a:latin typeface="Tahoma"/>
                <a:cs typeface="Tahoma"/>
              </a:rPr>
              <a:t>Double rectangle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weak entity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set.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7375" y="829944"/>
            <a:ext cx="5429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Weak </a:t>
            </a:r>
            <a:r>
              <a:rPr spc="-20" dirty="0"/>
              <a:t>Entity-Set</a:t>
            </a:r>
            <a:r>
              <a:rPr spc="-25" dirty="0"/>
              <a:t> </a:t>
            </a:r>
            <a:r>
              <a:rPr spc="-10" dirty="0"/>
              <a:t>Rules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51700" cy="3792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5849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weak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has one or more  </a:t>
            </a:r>
            <a:r>
              <a:rPr sz="3200" spc="-15" dirty="0">
                <a:latin typeface="Tahoma"/>
                <a:cs typeface="Tahoma"/>
              </a:rPr>
              <a:t>many-one </a:t>
            </a:r>
            <a:r>
              <a:rPr sz="3200" spc="-5" dirty="0">
                <a:latin typeface="Tahoma"/>
                <a:cs typeface="Tahoma"/>
              </a:rPr>
              <a:t>relationships to other  (supporting)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755650" marR="24828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Not </a:t>
            </a:r>
            <a:r>
              <a:rPr sz="2800" spc="-10" dirty="0">
                <a:latin typeface="Tahoma"/>
                <a:cs typeface="Tahoma"/>
              </a:rPr>
              <a:t>every </a:t>
            </a:r>
            <a:r>
              <a:rPr sz="2800" spc="-15" dirty="0">
                <a:latin typeface="Tahoma"/>
                <a:cs typeface="Tahoma"/>
              </a:rPr>
              <a:t>many-one </a:t>
            </a:r>
            <a:r>
              <a:rPr sz="2800" spc="-5" dirty="0">
                <a:latin typeface="Tahoma"/>
                <a:cs typeface="Tahoma"/>
              </a:rPr>
              <a:t>relationship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a  weak </a:t>
            </a:r>
            <a:r>
              <a:rPr sz="2800" spc="-10" dirty="0">
                <a:latin typeface="Tahoma"/>
                <a:cs typeface="Tahoma"/>
              </a:rPr>
              <a:t>entity </a:t>
            </a:r>
            <a:r>
              <a:rPr sz="2800" spc="-5" dirty="0">
                <a:latin typeface="Tahoma"/>
                <a:cs typeface="Tahoma"/>
              </a:rPr>
              <a:t>set need be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supporting.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supporting relationships must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a  rounded </a:t>
            </a:r>
            <a:r>
              <a:rPr sz="2800" spc="-10" dirty="0">
                <a:latin typeface="Tahoma"/>
                <a:cs typeface="Tahoma"/>
              </a:rPr>
              <a:t>arrow (entity </a:t>
            </a:r>
            <a:r>
              <a:rPr sz="2800" spc="-5" dirty="0">
                <a:latin typeface="Tahoma"/>
                <a:cs typeface="Tahoma"/>
              </a:rPr>
              <a:t>at the “one” end is  </a:t>
            </a:r>
            <a:r>
              <a:rPr sz="2800" spc="-10" dirty="0">
                <a:latin typeface="Tahoma"/>
                <a:cs typeface="Tahoma"/>
              </a:rPr>
              <a:t>guaranteed).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3955" y="829944"/>
            <a:ext cx="6816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Weak </a:t>
            </a:r>
            <a:r>
              <a:rPr spc="-20" dirty="0"/>
              <a:t>Entity-Set </a:t>
            </a:r>
            <a:r>
              <a:rPr spc="-10" dirty="0"/>
              <a:t>Rules </a:t>
            </a:r>
            <a:r>
              <a:rPr dirty="0"/>
              <a:t>–</a:t>
            </a:r>
            <a:r>
              <a:rPr spc="1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70775" cy="28732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key for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weak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is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own  underlined attributes and the </a:t>
            </a:r>
            <a:r>
              <a:rPr sz="3200" spc="-10" dirty="0">
                <a:latin typeface="Tahoma"/>
                <a:cs typeface="Tahoma"/>
              </a:rPr>
              <a:t>keys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the supporting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755650" marR="13970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10" dirty="0">
                <a:latin typeface="Tahoma"/>
                <a:cs typeface="Tahoma"/>
              </a:rPr>
              <a:t>(player) </a:t>
            </a:r>
            <a:r>
              <a:rPr sz="2800" spc="-5" dirty="0">
                <a:solidFill>
                  <a:srgbClr val="CC9900"/>
                </a:solidFill>
                <a:latin typeface="Tahoma"/>
                <a:cs typeface="Tahoma"/>
              </a:rPr>
              <a:t>number </a:t>
            </a:r>
            <a:r>
              <a:rPr sz="2800" spc="-5" dirty="0">
                <a:latin typeface="Tahoma"/>
                <a:cs typeface="Tahoma"/>
              </a:rPr>
              <a:t>and (team) </a:t>
            </a:r>
            <a:r>
              <a:rPr sz="2800" spc="-5" dirty="0">
                <a:solidFill>
                  <a:srgbClr val="CC9900"/>
                </a:solidFill>
                <a:latin typeface="Tahoma"/>
                <a:cs typeface="Tahoma"/>
              </a:rPr>
              <a:t>name </a:t>
            </a:r>
            <a:r>
              <a:rPr sz="2800" spc="-5" dirty="0">
                <a:latin typeface="Tahoma"/>
                <a:cs typeface="Tahoma"/>
              </a:rPr>
              <a:t>is  a </a:t>
            </a:r>
            <a:r>
              <a:rPr sz="2800" spc="-15" dirty="0">
                <a:latin typeface="Tahoma"/>
                <a:cs typeface="Tahoma"/>
              </a:rPr>
              <a:t>key for </a:t>
            </a:r>
            <a:r>
              <a:rPr sz="2800" spc="-10" dirty="0">
                <a:solidFill>
                  <a:srgbClr val="009900"/>
                </a:solidFill>
                <a:latin typeface="Tahoma"/>
                <a:cs typeface="Tahoma"/>
              </a:rPr>
              <a:t>Players </a:t>
            </a:r>
            <a:r>
              <a:rPr sz="2800" spc="-5" dirty="0">
                <a:latin typeface="Tahoma"/>
                <a:cs typeface="Tahoma"/>
              </a:rPr>
              <a:t>in the previous</a:t>
            </a:r>
            <a:r>
              <a:rPr lang="zh-CN" altLang="en-US" sz="2800" spc="-5" dirty="0">
                <a:latin typeface="Tahoma"/>
                <a:cs typeface="Tahoma"/>
              </a:rPr>
              <a:t>上一个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example.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220" y="829944"/>
            <a:ext cx="46075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Design</a:t>
            </a:r>
            <a:r>
              <a:rPr spc="-55" dirty="0"/>
              <a:t> </a:t>
            </a:r>
            <a:r>
              <a:rPr spc="-50" dirty="0"/>
              <a:t>Techniques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584315" cy="22675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20" dirty="0">
                <a:latin typeface="Tahoma"/>
                <a:cs typeface="Tahoma"/>
              </a:rPr>
              <a:t>Avoid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redundancy.</a:t>
            </a:r>
            <a:r>
              <a:rPr lang="zh-CN" altLang="en-US" sz="3200" spc="-30" dirty="0">
                <a:latin typeface="Tahoma"/>
                <a:cs typeface="Tahoma"/>
              </a:rPr>
              <a:t>冗余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Limit the use of weak </a:t>
            </a:r>
            <a:r>
              <a:rPr sz="3200" spc="-10" dirty="0">
                <a:latin typeface="Tahoma"/>
                <a:cs typeface="Tahoma"/>
              </a:rPr>
              <a:t>entity</a:t>
            </a:r>
            <a:r>
              <a:rPr sz="3200" spc="-5" dirty="0">
                <a:latin typeface="Tahoma"/>
                <a:cs typeface="Tahoma"/>
              </a:rPr>
              <a:t> sets.</a:t>
            </a:r>
            <a:endParaRPr sz="3200" dirty="0">
              <a:latin typeface="Tahoma"/>
              <a:cs typeface="Tahoma"/>
            </a:endParaRPr>
          </a:p>
          <a:p>
            <a:pPr marL="622300" marR="231775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10" dirty="0">
                <a:latin typeface="Tahoma"/>
                <a:cs typeface="Tahoma"/>
              </a:rPr>
              <a:t>Don’t </a:t>
            </a:r>
            <a:r>
              <a:rPr sz="3200" spc="-5" dirty="0">
                <a:latin typeface="Tahoma"/>
                <a:cs typeface="Tahoma"/>
              </a:rPr>
              <a:t>use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when </a:t>
            </a:r>
            <a:r>
              <a:rPr sz="3200" dirty="0">
                <a:latin typeface="Tahoma"/>
                <a:cs typeface="Tahoma"/>
              </a:rPr>
              <a:t>an  </a:t>
            </a:r>
            <a:r>
              <a:rPr sz="3200" spc="-5" dirty="0">
                <a:latin typeface="Tahoma"/>
                <a:cs typeface="Tahoma"/>
              </a:rPr>
              <a:t>attribute will</a:t>
            </a:r>
            <a:r>
              <a:rPr sz="3200" spc="-15" dirty="0">
                <a:latin typeface="Tahoma"/>
                <a:cs typeface="Tahoma"/>
              </a:rPr>
              <a:t> do.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875" y="829944"/>
            <a:ext cx="5302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Avoiding</a:t>
            </a:r>
            <a:r>
              <a:rPr spc="-90" dirty="0"/>
              <a:t> </a:t>
            </a:r>
            <a:r>
              <a:rPr spc="-10" dirty="0"/>
              <a:t>Redundancy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54900" cy="398955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211454" indent="-342900">
              <a:lnSpc>
                <a:spcPts val="3840"/>
              </a:lnSpc>
              <a:spcBef>
                <a:spcPts val="390"/>
              </a:spcBef>
            </a:pPr>
            <a:r>
              <a:rPr sz="3200" spc="-111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Redundancy </a:t>
            </a:r>
            <a:r>
              <a:rPr sz="335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0" dirty="0">
                <a:latin typeface="Tahoma"/>
                <a:cs typeface="Tahoma"/>
              </a:rPr>
              <a:t>saying </a:t>
            </a:r>
            <a:r>
              <a:rPr sz="3200" spc="-5" dirty="0">
                <a:latin typeface="Tahoma"/>
                <a:cs typeface="Tahoma"/>
              </a:rPr>
              <a:t>the same thing  in two (or more) </a:t>
            </a:r>
            <a:r>
              <a:rPr sz="3200" spc="-15" dirty="0">
                <a:latin typeface="Tahoma"/>
                <a:cs typeface="Tahoma"/>
              </a:rPr>
              <a:t>different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ways.</a:t>
            </a:r>
            <a:endParaRPr sz="3200" dirty="0">
              <a:latin typeface="Tahoma"/>
              <a:cs typeface="Tahoma"/>
            </a:endParaRPr>
          </a:p>
          <a:p>
            <a:pPr marL="355600" marR="29591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latin typeface="Tahoma"/>
                <a:cs typeface="Tahoma"/>
              </a:rPr>
              <a:t>Wastes </a:t>
            </a:r>
            <a:r>
              <a:rPr sz="3200" spc="-5" dirty="0">
                <a:latin typeface="Tahoma"/>
                <a:cs typeface="Tahoma"/>
              </a:rPr>
              <a:t>space and (more importantly)  </a:t>
            </a:r>
            <a:r>
              <a:rPr sz="3200" spc="-10" dirty="0">
                <a:latin typeface="Tahoma"/>
                <a:cs typeface="Tahoma"/>
              </a:rPr>
              <a:t>encourages </a:t>
            </a:r>
            <a:r>
              <a:rPr sz="3200" spc="-25" dirty="0">
                <a:latin typeface="Tahoma"/>
                <a:cs typeface="Tahoma"/>
              </a:rPr>
              <a:t>inconsistency.</a:t>
            </a:r>
            <a:r>
              <a:rPr lang="zh-CN" altLang="en-US" sz="3200" spc="-25" dirty="0">
                <a:latin typeface="Tahoma"/>
                <a:cs typeface="Tahoma"/>
              </a:rPr>
              <a:t>助长矛盾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90" dirty="0">
                <a:latin typeface="Tahoma"/>
                <a:cs typeface="Tahoma"/>
              </a:rPr>
              <a:t>Two </a:t>
            </a:r>
            <a:r>
              <a:rPr sz="2800" spc="-5" dirty="0">
                <a:latin typeface="Tahoma"/>
                <a:cs typeface="Tahoma"/>
              </a:rPr>
              <a:t>representations of the same </a:t>
            </a:r>
            <a:r>
              <a:rPr sz="2800" spc="-15" dirty="0">
                <a:latin typeface="Tahoma"/>
                <a:cs typeface="Tahoma"/>
              </a:rPr>
              <a:t>fact  </a:t>
            </a:r>
            <a:r>
              <a:rPr sz="2800" spc="-5" dirty="0">
                <a:latin typeface="Tahoma"/>
                <a:cs typeface="Tahoma"/>
              </a:rPr>
              <a:t>become inconsistent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we change one and  </a:t>
            </a:r>
            <a:r>
              <a:rPr sz="2800" spc="-10" dirty="0">
                <a:latin typeface="Tahoma"/>
                <a:cs typeface="Tahoma"/>
              </a:rPr>
              <a:t>forget </a:t>
            </a:r>
            <a:r>
              <a:rPr sz="2800" spc="-5" dirty="0">
                <a:latin typeface="Tahoma"/>
                <a:cs typeface="Tahoma"/>
              </a:rPr>
              <a:t>to change the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other.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Recall </a:t>
            </a:r>
            <a:r>
              <a:rPr sz="2800" spc="-5" dirty="0">
                <a:latin typeface="Tahoma"/>
                <a:cs typeface="Tahoma"/>
              </a:rPr>
              <a:t>anomalies </a:t>
            </a:r>
            <a:r>
              <a:rPr lang="zh-CN" altLang="en-US" sz="2800" spc="-5" dirty="0">
                <a:latin typeface="Tahoma"/>
                <a:cs typeface="Tahoma"/>
              </a:rPr>
              <a:t>召回异常</a:t>
            </a:r>
            <a:r>
              <a:rPr sz="2800" spc="-5" dirty="0">
                <a:latin typeface="Tahoma"/>
                <a:cs typeface="Tahoma"/>
              </a:rPr>
              <a:t>due to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FD’s.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1366837" y="1900237"/>
            <a:ext cx="5876925" cy="1992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7320" y="829944"/>
            <a:ext cx="3769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Good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285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7190" y="3041650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</a:t>
            </a:r>
            <a:r>
              <a:rPr sz="2400" spc="-30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495" y="3079750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ManfBy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8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5213984"/>
            <a:ext cx="5071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This design </a:t>
            </a:r>
            <a:r>
              <a:rPr sz="2400" spc="-10" dirty="0">
                <a:latin typeface="Tahoma"/>
                <a:cs typeface="Tahoma"/>
              </a:rPr>
              <a:t>gives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address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each  manufacturer exactly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once.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48716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5493" y="1974862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1366837" y="1900237"/>
            <a:ext cx="5876925" cy="27520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4485" y="829944"/>
            <a:ext cx="3415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spc="5" dirty="0"/>
              <a:t>Bad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285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7190" y="3041650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</a:t>
            </a:r>
            <a:r>
              <a:rPr sz="2400" spc="-30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495" y="3079750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ManfBy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8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16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916939" y="4184662"/>
            <a:ext cx="6172200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manf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ahoma"/>
                <a:cs typeface="Tahoma"/>
              </a:rPr>
              <a:t>This design states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manufacturer </a:t>
            </a:r>
            <a:r>
              <a:rPr sz="2400" dirty="0">
                <a:latin typeface="Tahoma"/>
                <a:cs typeface="Tahoma"/>
              </a:rPr>
              <a:t>of a </a:t>
            </a:r>
            <a:r>
              <a:rPr sz="2400" spc="-5" dirty="0">
                <a:latin typeface="Tahoma"/>
                <a:cs typeface="Tahoma"/>
              </a:rPr>
              <a:t>beer  twice: </a:t>
            </a:r>
            <a:r>
              <a:rPr sz="2400" dirty="0">
                <a:latin typeface="Tahoma"/>
                <a:cs typeface="Tahoma"/>
              </a:rPr>
              <a:t>as an </a:t>
            </a:r>
            <a:r>
              <a:rPr sz="2400" spc="-5" dirty="0">
                <a:latin typeface="Tahoma"/>
                <a:cs typeface="Tahoma"/>
              </a:rPr>
              <a:t>attribute </a:t>
            </a:r>
            <a:r>
              <a:rPr sz="2400" dirty="0">
                <a:latin typeface="Tahoma"/>
                <a:cs typeface="Tahoma"/>
              </a:rPr>
              <a:t>and as a </a:t>
            </a:r>
            <a:r>
              <a:rPr sz="2400" spc="-5" dirty="0">
                <a:latin typeface="Tahoma"/>
                <a:cs typeface="Tahoma"/>
              </a:rPr>
              <a:t>related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entity.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5493" y="1974862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671637" y="1900237"/>
            <a:ext cx="4429061" cy="1762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4485" y="829944"/>
            <a:ext cx="3415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spc="5" dirty="0"/>
              <a:t>Bad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4685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3097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680584"/>
            <a:ext cx="66249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This design repeats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10" dirty="0">
                <a:latin typeface="Tahoma"/>
                <a:cs typeface="Tahoma"/>
              </a:rPr>
              <a:t>manufacturer’s </a:t>
            </a:r>
            <a:r>
              <a:rPr sz="2400" spc="-5" dirty="0">
                <a:latin typeface="Tahoma"/>
                <a:cs typeface="Tahoma"/>
              </a:rPr>
              <a:t>address  once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spc="-5" dirty="0">
                <a:latin typeface="Tahoma"/>
                <a:cs typeface="Tahoma"/>
              </a:rPr>
              <a:t>each beer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loses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address </a:t>
            </a:r>
            <a:r>
              <a:rPr sz="2400" dirty="0">
                <a:latin typeface="Tahoma"/>
                <a:cs typeface="Tahoma"/>
              </a:rPr>
              <a:t>if </a:t>
            </a:r>
            <a:r>
              <a:rPr sz="2400" spc="-5" dirty="0">
                <a:latin typeface="Tahoma"/>
                <a:cs typeface="Tahoma"/>
              </a:rPr>
              <a:t>there  are temporarily </a:t>
            </a:r>
            <a:r>
              <a:rPr sz="2400" dirty="0">
                <a:latin typeface="Tahoma"/>
                <a:cs typeface="Tahoma"/>
              </a:rPr>
              <a:t>no </a:t>
            </a:r>
            <a:r>
              <a:rPr sz="2400" spc="-5" dirty="0">
                <a:latin typeface="Tahoma"/>
                <a:cs typeface="Tahoma"/>
              </a:rPr>
              <a:t>beers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manufacturer.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3226993" y="1974862"/>
            <a:ext cx="2738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2240" algn="l"/>
              </a:tabLst>
            </a:pPr>
            <a:r>
              <a:rPr sz="2400" spc="-5" dirty="0">
                <a:latin typeface="Tahoma"/>
                <a:cs typeface="Tahoma"/>
              </a:rPr>
              <a:t>manf	manfAddr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067" y="634540"/>
            <a:ext cx="80638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Entity </a:t>
            </a:r>
            <a:r>
              <a:rPr spc="-5" dirty="0"/>
              <a:t>Sets </a:t>
            </a:r>
            <a:r>
              <a:rPr spc="-40" dirty="0"/>
              <a:t>Versus</a:t>
            </a:r>
            <a:r>
              <a:rPr lang="zh-CN" altLang="en-US" spc="-40" dirty="0"/>
              <a:t>对比</a:t>
            </a:r>
            <a:r>
              <a:rPr spc="-10" dirty="0"/>
              <a:t>Attributes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1259" cy="2901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65024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should </a:t>
            </a:r>
            <a:r>
              <a:rPr sz="3200" spc="-10" dirty="0">
                <a:latin typeface="Tahoma"/>
                <a:cs typeface="Tahoma"/>
              </a:rPr>
              <a:t>satisfy </a:t>
            </a:r>
            <a:r>
              <a:rPr sz="3200" spc="-5" dirty="0">
                <a:latin typeface="Tahoma"/>
                <a:cs typeface="Tahoma"/>
              </a:rPr>
              <a:t>at least  one of the </a:t>
            </a:r>
            <a:r>
              <a:rPr sz="3200" spc="-10" dirty="0">
                <a:latin typeface="Tahoma"/>
                <a:cs typeface="Tahoma"/>
              </a:rPr>
              <a:t>following</a:t>
            </a:r>
            <a:r>
              <a:rPr sz="3200" spc="-5" dirty="0">
                <a:latin typeface="Tahoma"/>
                <a:cs typeface="Tahoma"/>
              </a:rPr>
              <a:t> conditions:</a:t>
            </a:r>
            <a:endParaRPr sz="3200" dirty="0">
              <a:latin typeface="Tahoma"/>
              <a:cs typeface="Tahoma"/>
            </a:endParaRPr>
          </a:p>
          <a:p>
            <a:pPr marL="1002665" marR="508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It is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 the name of something; </a:t>
            </a:r>
            <a:r>
              <a:rPr sz="2800" dirty="0">
                <a:latin typeface="Tahoma"/>
                <a:cs typeface="Tahoma"/>
              </a:rPr>
              <a:t>it  </a:t>
            </a:r>
            <a:r>
              <a:rPr sz="2800" spc="-5" dirty="0">
                <a:latin typeface="Tahoma"/>
                <a:cs typeface="Tahoma"/>
              </a:rPr>
              <a:t>has at least one </a:t>
            </a:r>
            <a:r>
              <a:rPr sz="2800" spc="-10" dirty="0">
                <a:latin typeface="Tahoma"/>
                <a:cs typeface="Tahoma"/>
              </a:rPr>
              <a:t>nonkey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attribute.</a:t>
            </a:r>
            <a:endParaRPr sz="2800" dirty="0">
              <a:latin typeface="Tahoma"/>
              <a:cs typeface="Tahoma"/>
            </a:endParaRPr>
          </a:p>
          <a:p>
            <a:pPr marL="1002665" marR="177800" lvl="1" indent="-53340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It is the </a:t>
            </a:r>
            <a:r>
              <a:rPr sz="2800" spc="-10" dirty="0">
                <a:latin typeface="Tahoma"/>
                <a:cs typeface="Tahoma"/>
              </a:rPr>
              <a:t>“many” </a:t>
            </a:r>
            <a:r>
              <a:rPr sz="2800" spc="-5" dirty="0">
                <a:latin typeface="Tahoma"/>
                <a:cs typeface="Tahoma"/>
              </a:rPr>
              <a:t>in a </a:t>
            </a:r>
            <a:r>
              <a:rPr sz="2800" spc="-15" dirty="0">
                <a:latin typeface="Tahoma"/>
                <a:cs typeface="Tahoma"/>
              </a:rPr>
              <a:t>many-one </a:t>
            </a:r>
            <a:r>
              <a:rPr sz="2800" spc="-5" dirty="0">
                <a:latin typeface="Tahoma"/>
                <a:cs typeface="Tahoma"/>
              </a:rPr>
              <a:t>or </a:t>
            </a:r>
            <a:r>
              <a:rPr sz="2800" spc="-20" dirty="0">
                <a:latin typeface="Tahoma"/>
                <a:cs typeface="Tahoma"/>
              </a:rPr>
              <a:t>many-  </a:t>
            </a:r>
            <a:r>
              <a:rPr sz="2800" spc="-10" dirty="0">
                <a:latin typeface="Tahoma"/>
                <a:cs typeface="Tahoma"/>
              </a:rPr>
              <a:t>many</a:t>
            </a:r>
            <a:r>
              <a:rPr sz="2800" spc="-5" dirty="0">
                <a:latin typeface="Tahoma"/>
                <a:cs typeface="Tahoma"/>
              </a:rPr>
              <a:t> relationship.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1366837" y="1900237"/>
            <a:ext cx="5876925" cy="1992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7320" y="829944"/>
            <a:ext cx="3769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Good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285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7190" y="3041650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</a:t>
            </a:r>
            <a:r>
              <a:rPr sz="2400" spc="-30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495" y="3079750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ManfBy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8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4451984"/>
            <a:ext cx="66782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29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52400" algn="l"/>
              </a:tabLst>
            </a:pPr>
            <a:r>
              <a:rPr sz="2400" spc="-10" dirty="0">
                <a:solidFill>
                  <a:srgbClr val="009900"/>
                </a:solidFill>
                <a:latin typeface="Tahoma"/>
                <a:cs typeface="Tahoma"/>
              </a:rPr>
              <a:t>Manfs </a:t>
            </a:r>
            <a:r>
              <a:rPr sz="2400" spc="-5" dirty="0">
                <a:latin typeface="Tahoma"/>
                <a:cs typeface="Tahoma"/>
              </a:rPr>
              <a:t>deserves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be </a:t>
            </a:r>
            <a:r>
              <a:rPr sz="2400" dirty="0">
                <a:latin typeface="Tahoma"/>
                <a:cs typeface="Tahoma"/>
              </a:rPr>
              <a:t>an </a:t>
            </a:r>
            <a:r>
              <a:rPr sz="2400" spc="-5" dirty="0">
                <a:latin typeface="Tahoma"/>
                <a:cs typeface="Tahoma"/>
              </a:rPr>
              <a:t>entity set because </a:t>
            </a:r>
            <a:r>
              <a:rPr sz="2400" dirty="0">
                <a:latin typeface="Tahoma"/>
                <a:cs typeface="Tahoma"/>
              </a:rPr>
              <a:t>of  the </a:t>
            </a:r>
            <a:r>
              <a:rPr sz="2400" spc="-5" dirty="0" err="1">
                <a:latin typeface="Tahoma"/>
                <a:cs typeface="Tahoma"/>
              </a:rPr>
              <a:t>nonkey</a:t>
            </a:r>
            <a:r>
              <a:rPr sz="2400" spc="-5" dirty="0">
                <a:latin typeface="Tahoma"/>
                <a:cs typeface="Tahoma"/>
              </a:rPr>
              <a:t> attribute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CC9900"/>
                </a:solidFill>
                <a:latin typeface="Tahoma"/>
                <a:cs typeface="Tahoma"/>
              </a:rPr>
              <a:t>addr</a:t>
            </a:r>
            <a:r>
              <a:rPr sz="2400" spc="-5" dirty="0"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buSzPct val="95833"/>
              <a:buChar char="•"/>
              <a:tabLst>
                <a:tab pos="152400" algn="l"/>
              </a:tabLst>
            </a:pPr>
            <a:r>
              <a:rPr sz="2400" dirty="0">
                <a:solidFill>
                  <a:srgbClr val="009900"/>
                </a:solidFill>
                <a:latin typeface="Tahoma"/>
                <a:cs typeface="Tahoma"/>
              </a:rPr>
              <a:t>Beers </a:t>
            </a:r>
            <a:r>
              <a:rPr sz="2400" spc="-5" dirty="0">
                <a:latin typeface="Tahoma"/>
                <a:cs typeface="Tahoma"/>
              </a:rPr>
              <a:t>deserves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be </a:t>
            </a:r>
            <a:r>
              <a:rPr sz="2400" dirty="0">
                <a:latin typeface="Tahoma"/>
                <a:cs typeface="Tahoma"/>
              </a:rPr>
              <a:t>an </a:t>
            </a:r>
            <a:r>
              <a:rPr sz="2400" spc="-5" dirty="0">
                <a:latin typeface="Tahoma"/>
                <a:cs typeface="Tahoma"/>
              </a:rPr>
              <a:t>entity set because </a:t>
            </a:r>
            <a:r>
              <a:rPr sz="2400" dirty="0">
                <a:latin typeface="Tahoma"/>
                <a:cs typeface="Tahoma"/>
              </a:rPr>
              <a:t>it is  the </a:t>
            </a:r>
            <a:r>
              <a:rPr sz="2400" spc="-10" dirty="0">
                <a:latin typeface="Tahoma"/>
                <a:cs typeface="Tahoma"/>
              </a:rPr>
              <a:t>“many” </a:t>
            </a:r>
            <a:r>
              <a:rPr sz="2400" dirty="0">
                <a:latin typeface="Tahoma"/>
                <a:cs typeface="Tahoma"/>
              </a:rPr>
              <a:t>of the </a:t>
            </a:r>
            <a:r>
              <a:rPr sz="2400" spc="-15" dirty="0">
                <a:latin typeface="Tahoma"/>
                <a:cs typeface="Tahoma"/>
              </a:rPr>
              <a:t>many-one </a:t>
            </a:r>
            <a:r>
              <a:rPr sz="2400" spc="-5" dirty="0">
                <a:latin typeface="Tahoma"/>
                <a:cs typeface="Tahoma"/>
              </a:rPr>
              <a:t>relationship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ManfBy</a:t>
            </a:r>
            <a:r>
              <a:rPr sz="2400" spc="-5" dirty="0"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48716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5493" y="1974862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7320" y="829944"/>
            <a:ext cx="3769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Good</a:t>
            </a:r>
          </a:p>
        </p:txBody>
      </p:sp>
      <p:sp>
        <p:nvSpPr>
          <p:cNvPr id="3" name="object 3"/>
          <p:cNvSpPr/>
          <p:nvPr/>
        </p:nvSpPr>
        <p:spPr>
          <a:xfrm>
            <a:off x="2357437" y="1900237"/>
            <a:ext cx="2524125" cy="1762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4680584"/>
            <a:ext cx="63233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There </a:t>
            </a:r>
            <a:r>
              <a:rPr sz="2400" dirty="0">
                <a:latin typeface="Tahoma"/>
                <a:cs typeface="Tahoma"/>
              </a:rPr>
              <a:t>is no need to </a:t>
            </a:r>
            <a:r>
              <a:rPr sz="2400" spc="-10" dirty="0">
                <a:latin typeface="Tahoma"/>
                <a:cs typeface="Tahoma"/>
              </a:rPr>
              <a:t>make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manufacturer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  </a:t>
            </a:r>
            <a:r>
              <a:rPr sz="2400" spc="-5" dirty="0">
                <a:latin typeface="Tahoma"/>
                <a:cs typeface="Tahoma"/>
              </a:rPr>
              <a:t>entity set, because we </a:t>
            </a:r>
            <a:r>
              <a:rPr sz="2400" spc="-10" dirty="0">
                <a:latin typeface="Tahoma"/>
                <a:cs typeface="Tahoma"/>
              </a:rPr>
              <a:t>record </a:t>
            </a:r>
            <a:r>
              <a:rPr sz="2400" dirty="0">
                <a:latin typeface="Tahoma"/>
                <a:cs typeface="Tahoma"/>
              </a:rPr>
              <a:t>nothing </a:t>
            </a:r>
            <a:r>
              <a:rPr sz="2400" spc="-5" dirty="0">
                <a:latin typeface="Tahoma"/>
                <a:cs typeface="Tahoma"/>
              </a:rPr>
              <a:t>about  manufacturers besides </a:t>
            </a:r>
            <a:r>
              <a:rPr sz="2400" dirty="0">
                <a:latin typeface="Tahoma"/>
                <a:cs typeface="Tahoma"/>
              </a:rPr>
              <a:t>their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433243" y="1974862"/>
            <a:ext cx="234061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 marR="36195" algn="ctr">
              <a:lnSpc>
                <a:spcPct val="100000"/>
              </a:lnSpc>
              <a:spcBef>
                <a:spcPts val="2020"/>
              </a:spcBef>
            </a:pPr>
            <a:r>
              <a:rPr sz="2400" dirty="0">
                <a:latin typeface="Tahoma"/>
                <a:cs typeface="Tahoma"/>
              </a:rPr>
              <a:t>Beers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366837" y="1900237"/>
            <a:ext cx="5038725" cy="1992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4485" y="829944"/>
            <a:ext cx="3415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spc="5" dirty="0"/>
              <a:t>Bad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285" y="30416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7190" y="3041650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</a:t>
            </a:r>
            <a:r>
              <a:rPr sz="2400" spc="-30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495" y="3079750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ManfBy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88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16939" y="4680584"/>
            <a:ext cx="65798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Since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manufacturer </a:t>
            </a:r>
            <a:r>
              <a:rPr sz="2400" dirty="0">
                <a:latin typeface="Tahoma"/>
                <a:cs typeface="Tahoma"/>
              </a:rPr>
              <a:t>is nothing </a:t>
            </a:r>
            <a:r>
              <a:rPr sz="2400" spc="-5" dirty="0">
                <a:latin typeface="Tahoma"/>
                <a:cs typeface="Tahoma"/>
              </a:rPr>
              <a:t>but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name,  </a:t>
            </a:r>
            <a:r>
              <a:rPr sz="2400" dirty="0">
                <a:latin typeface="Tahoma"/>
                <a:cs typeface="Tahoma"/>
              </a:rPr>
              <a:t>and is not at the </a:t>
            </a:r>
            <a:r>
              <a:rPr sz="2400" spc="-10" dirty="0">
                <a:latin typeface="Tahoma"/>
                <a:cs typeface="Tahoma"/>
              </a:rPr>
              <a:t>“many” </a:t>
            </a:r>
            <a:r>
              <a:rPr sz="2400" dirty="0">
                <a:latin typeface="Tahoma"/>
                <a:cs typeface="Tahoma"/>
              </a:rPr>
              <a:t>end of </a:t>
            </a:r>
            <a:r>
              <a:rPr sz="2400" spc="-10" dirty="0">
                <a:latin typeface="Tahoma"/>
                <a:cs typeface="Tahoma"/>
              </a:rPr>
              <a:t>any </a:t>
            </a:r>
            <a:r>
              <a:rPr sz="2400" spc="-5" dirty="0">
                <a:latin typeface="Tahoma"/>
                <a:cs typeface="Tahoma"/>
              </a:rPr>
              <a:t>relationship,  </a:t>
            </a:r>
            <a:r>
              <a:rPr sz="2400" dirty="0">
                <a:latin typeface="Tahoma"/>
                <a:cs typeface="Tahoma"/>
              </a:rPr>
              <a:t>it </a:t>
            </a:r>
            <a:r>
              <a:rPr sz="2400" spc="-5" dirty="0">
                <a:latin typeface="Tahoma"/>
                <a:cs typeface="Tahoma"/>
              </a:rPr>
              <a:t>should </a:t>
            </a:r>
            <a:r>
              <a:rPr sz="2400" dirty="0">
                <a:latin typeface="Tahoma"/>
                <a:cs typeface="Tahoma"/>
              </a:rPr>
              <a:t>not </a:t>
            </a:r>
            <a:r>
              <a:rPr sz="2400" spc="-5" dirty="0">
                <a:latin typeface="Tahoma"/>
                <a:cs typeface="Tahoma"/>
              </a:rPr>
              <a:t>be </a:t>
            </a:r>
            <a:r>
              <a:rPr sz="2400" dirty="0">
                <a:latin typeface="Tahoma"/>
                <a:cs typeface="Tahoma"/>
              </a:rPr>
              <a:t>an </a:t>
            </a:r>
            <a:r>
              <a:rPr sz="2400" spc="-5" dirty="0">
                <a:latin typeface="Tahoma"/>
                <a:cs typeface="Tahoma"/>
              </a:rPr>
              <a:t>entity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set.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1243" y="1974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829944"/>
            <a:ext cx="7844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" dirty="0"/>
              <a:t>Don’t </a:t>
            </a:r>
            <a:r>
              <a:rPr spc="-10" dirty="0"/>
              <a:t>Overuse </a:t>
            </a:r>
            <a:r>
              <a:rPr spc="-45" dirty="0"/>
              <a:t>Weak </a:t>
            </a:r>
            <a:r>
              <a:rPr spc="-10" dirty="0"/>
              <a:t>Entity</a:t>
            </a:r>
            <a:r>
              <a:rPr spc="-15" dirty="0"/>
              <a:t> </a:t>
            </a:r>
            <a:r>
              <a:rPr spc="-5" dirty="0"/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2012949"/>
            <a:ext cx="8346440" cy="395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581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Beginning database designers often doubt  that </a:t>
            </a:r>
            <a:r>
              <a:rPr sz="3200" spc="-10" dirty="0">
                <a:latin typeface="Tahoma"/>
                <a:cs typeface="Tahoma"/>
              </a:rPr>
              <a:t>anything </a:t>
            </a:r>
            <a:r>
              <a:rPr sz="3200" spc="-5" dirty="0">
                <a:latin typeface="Tahoma"/>
                <a:cs typeface="Tahoma"/>
              </a:rPr>
              <a:t>could </a:t>
            </a:r>
            <a:r>
              <a:rPr sz="3200" dirty="0">
                <a:latin typeface="Tahoma"/>
                <a:cs typeface="Tahoma"/>
              </a:rPr>
              <a:t>be a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by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itself.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They </a:t>
            </a:r>
            <a:r>
              <a:rPr sz="2800" spc="-10" dirty="0">
                <a:latin typeface="Tahoma"/>
                <a:cs typeface="Tahoma"/>
              </a:rPr>
              <a:t>make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10" dirty="0">
                <a:latin typeface="Tahoma"/>
                <a:cs typeface="Tahoma"/>
              </a:rPr>
              <a:t>entity </a:t>
            </a:r>
            <a:r>
              <a:rPr sz="2800" spc="-5" dirty="0">
                <a:latin typeface="Tahoma"/>
                <a:cs typeface="Tahoma"/>
              </a:rPr>
              <a:t>sets weak, supported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dirty="0">
                <a:latin typeface="Tahoma"/>
                <a:cs typeface="Tahoma"/>
              </a:rPr>
              <a:t>all  </a:t>
            </a:r>
            <a:r>
              <a:rPr sz="2800" spc="-5" dirty="0">
                <a:latin typeface="Tahoma"/>
                <a:cs typeface="Tahoma"/>
              </a:rPr>
              <a:t>other </a:t>
            </a:r>
            <a:r>
              <a:rPr sz="2800" spc="-10" dirty="0">
                <a:latin typeface="Tahoma"/>
                <a:cs typeface="Tahoma"/>
              </a:rPr>
              <a:t>entity </a:t>
            </a:r>
            <a:r>
              <a:rPr sz="2800" spc="-5" dirty="0">
                <a:latin typeface="Tahoma"/>
                <a:cs typeface="Tahoma"/>
              </a:rPr>
              <a:t>sets to which they </a:t>
            </a:r>
            <a:r>
              <a:rPr sz="2800" spc="-10" dirty="0">
                <a:latin typeface="Tahoma"/>
                <a:cs typeface="Tahoma"/>
              </a:rPr>
              <a:t>are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linked.</a:t>
            </a:r>
            <a:endParaRPr sz="2800" dirty="0">
              <a:latin typeface="Tahoma"/>
              <a:cs typeface="Tahoma"/>
            </a:endParaRPr>
          </a:p>
          <a:p>
            <a:pPr marL="355600" marR="23495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45" dirty="0">
                <a:latin typeface="Tahoma"/>
                <a:cs typeface="Tahoma"/>
              </a:rPr>
              <a:t>reality,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usually create unique </a:t>
            </a:r>
            <a:r>
              <a:rPr sz="3200" spc="-30" dirty="0">
                <a:latin typeface="Tahoma"/>
                <a:cs typeface="Tahoma"/>
              </a:rPr>
              <a:t>ID’s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755650" marR="98044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Examples include social-security numbers,  automobile </a:t>
            </a:r>
            <a:r>
              <a:rPr sz="2800" spc="-25" dirty="0">
                <a:latin typeface="Tahoma"/>
                <a:cs typeface="Tahoma"/>
              </a:rPr>
              <a:t>VIN’s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etc.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950" marR="5080" indent="-165862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When </a:t>
            </a:r>
            <a:r>
              <a:rPr dirty="0"/>
              <a:t>Do </a:t>
            </a:r>
            <a:r>
              <a:rPr spc="-85" dirty="0"/>
              <a:t>We </a:t>
            </a:r>
            <a:r>
              <a:rPr spc="-5" dirty="0"/>
              <a:t>Need </a:t>
            </a:r>
            <a:r>
              <a:rPr spc="-45" dirty="0"/>
              <a:t>Weak  </a:t>
            </a:r>
            <a:r>
              <a:rPr spc="-10" dirty="0"/>
              <a:t>Entity</a:t>
            </a:r>
            <a:r>
              <a:rPr spc="-15" dirty="0"/>
              <a:t> </a:t>
            </a:r>
            <a:r>
              <a:rPr spc="-5" dirty="0"/>
              <a:t>Sets?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5870" cy="3537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2232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usual reason is that there is </a:t>
            </a:r>
            <a:r>
              <a:rPr sz="3200" dirty="0">
                <a:latin typeface="Tahoma"/>
                <a:cs typeface="Tahoma"/>
              </a:rPr>
              <a:t>no  </a:t>
            </a:r>
            <a:r>
              <a:rPr sz="3200" spc="-5" dirty="0">
                <a:latin typeface="Tahoma"/>
                <a:cs typeface="Tahoma"/>
              </a:rPr>
              <a:t>global authority capable of creating  unique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ID’s.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unlikely </a:t>
            </a:r>
            <a:r>
              <a:rPr sz="3200" spc="-5" dirty="0">
                <a:latin typeface="Tahoma"/>
                <a:cs typeface="Tahoma"/>
              </a:rPr>
              <a:t>that there could  </a:t>
            </a:r>
            <a:r>
              <a:rPr sz="3200" dirty="0">
                <a:latin typeface="Tahoma"/>
                <a:cs typeface="Tahoma"/>
              </a:rPr>
              <a:t>be an </a:t>
            </a:r>
            <a:r>
              <a:rPr sz="3200" spc="-5" dirty="0">
                <a:latin typeface="Tahoma"/>
                <a:cs typeface="Tahoma"/>
              </a:rPr>
              <a:t>agreement to assign unique  </a:t>
            </a:r>
            <a:r>
              <a:rPr sz="3200" spc="-15" dirty="0">
                <a:latin typeface="Tahoma"/>
                <a:cs typeface="Tahoma"/>
              </a:rPr>
              <a:t>player </a:t>
            </a:r>
            <a:r>
              <a:rPr sz="3200" spc="-5" dirty="0">
                <a:latin typeface="Tahoma"/>
                <a:cs typeface="Tahoma"/>
              </a:rPr>
              <a:t>numbers across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10" dirty="0">
                <a:latin typeface="Tahoma"/>
                <a:cs typeface="Tahoma"/>
              </a:rPr>
              <a:t>football </a:t>
            </a:r>
            <a:r>
              <a:rPr sz="3200" spc="-5" dirty="0">
                <a:latin typeface="Tahoma"/>
                <a:cs typeface="Tahoma"/>
              </a:rPr>
              <a:t>teams  in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world.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5475" y="829944"/>
            <a:ext cx="78936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From </a:t>
            </a:r>
            <a:r>
              <a:rPr spc="-5" dirty="0"/>
              <a:t>E/R </a:t>
            </a:r>
            <a:r>
              <a:rPr spc="-15" dirty="0"/>
              <a:t>Diagrams </a:t>
            </a:r>
            <a:r>
              <a:rPr spc="-5" dirty="0"/>
              <a:t>to</a:t>
            </a:r>
            <a:r>
              <a:rPr dirty="0"/>
              <a:t> </a:t>
            </a:r>
            <a:r>
              <a:rPr spc="-15" dirty="0"/>
              <a:t>Relations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6752590" cy="322008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</a:t>
            </a:r>
            <a:r>
              <a:rPr sz="3200" dirty="0">
                <a:latin typeface="Tahoma"/>
                <a:cs typeface="Tahoma"/>
              </a:rPr>
              <a:t>-&gt;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Attributes -&gt;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attributes.</a:t>
            </a:r>
            <a:endParaRPr sz="2800" dirty="0">
              <a:latin typeface="Tahoma"/>
              <a:cs typeface="Tahoma"/>
            </a:endParaRPr>
          </a:p>
          <a:p>
            <a:pPr marL="355600" marR="4902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Relationships </a:t>
            </a:r>
            <a:r>
              <a:rPr sz="3200" dirty="0">
                <a:latin typeface="Tahoma"/>
                <a:cs typeface="Tahoma"/>
              </a:rPr>
              <a:t>-&gt; </a:t>
            </a:r>
            <a:r>
              <a:rPr sz="3200" spc="-5" dirty="0">
                <a:latin typeface="Tahoma"/>
                <a:cs typeface="Tahoma"/>
              </a:rPr>
              <a:t>relations whose  attributes </a:t>
            </a:r>
            <a:r>
              <a:rPr sz="3200" spc="-10" dirty="0">
                <a:latin typeface="Tahoma"/>
                <a:cs typeface="Tahoma"/>
              </a:rPr>
              <a:t>are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only: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keys </a:t>
            </a:r>
            <a:r>
              <a:rPr sz="2800" spc="-5" dirty="0">
                <a:latin typeface="Tahoma"/>
                <a:cs typeface="Tahoma"/>
              </a:rPr>
              <a:t>of the connected </a:t>
            </a:r>
            <a:r>
              <a:rPr sz="2800" spc="-10" dirty="0">
                <a:latin typeface="Tahoma"/>
                <a:cs typeface="Tahoma"/>
              </a:rPr>
              <a:t>entity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sets.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Attributes </a:t>
            </a:r>
            <a:r>
              <a:rPr sz="2800" spc="-5" dirty="0">
                <a:latin typeface="Tahoma"/>
                <a:cs typeface="Tahoma"/>
              </a:rPr>
              <a:t>of the relationship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itself.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586037" y="2281237"/>
            <a:ext cx="3133725" cy="2295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635" y="829944"/>
            <a:ext cx="5332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Entity </a:t>
            </a:r>
            <a:r>
              <a:rPr dirty="0"/>
              <a:t>Set -&gt;</a:t>
            </a:r>
            <a:r>
              <a:rPr spc="-70" dirty="0"/>
              <a:t> </a:t>
            </a:r>
            <a:r>
              <a:rPr spc="-15" dirty="0"/>
              <a:t>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5521959"/>
            <a:ext cx="534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0389" algn="l"/>
              </a:tabLst>
            </a:pPr>
            <a:r>
              <a:rPr sz="3200" spc="-10" dirty="0">
                <a:latin typeface="Tahoma"/>
                <a:cs typeface="Tahoma"/>
              </a:rPr>
              <a:t>Relation: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9984" y="38417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799" y="2394318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865027" y="2394229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62037" y="1519237"/>
            <a:ext cx="6181725" cy="41248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564" y="525144"/>
            <a:ext cx="5944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Relationship </a:t>
            </a:r>
            <a:r>
              <a:rPr dirty="0"/>
              <a:t>-&gt;</a:t>
            </a:r>
            <a:r>
              <a:rPr spc="-65" dirty="0"/>
              <a:t> </a:t>
            </a:r>
            <a:r>
              <a:rPr spc="-15" dirty="0"/>
              <a:t>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3009" y="3689350"/>
            <a:ext cx="1084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Favorite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6245" y="5061584"/>
            <a:ext cx="10394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Married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355340" y="4561522"/>
            <a:ext cx="57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25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1594396"/>
            <a:ext cx="6904990" cy="152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8844">
              <a:lnSpc>
                <a:spcPct val="100000"/>
              </a:lnSpc>
              <a:spcBef>
                <a:spcPts val="100"/>
              </a:spcBef>
              <a:tabLst>
                <a:tab pos="2436495" algn="l"/>
                <a:tab pos="4728845" algn="l"/>
                <a:tab pos="6208395" algn="l"/>
              </a:tabLst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a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r	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1574165">
              <a:lnSpc>
                <a:spcPts val="2470"/>
              </a:lnSpc>
              <a:tabLst>
                <a:tab pos="3473450" algn="l"/>
                <a:tab pos="5261610" algn="l"/>
              </a:tabLst>
            </a:pPr>
            <a:r>
              <a:rPr sz="2400" spc="-5" dirty="0">
                <a:latin typeface="Tahoma"/>
                <a:cs typeface="Tahoma"/>
              </a:rPr>
              <a:t>Drinkers	</a:t>
            </a:r>
            <a:r>
              <a:rPr sz="2400" spc="-10" dirty="0">
                <a:latin typeface="Tahoma"/>
                <a:cs typeface="Tahoma"/>
              </a:rPr>
              <a:t>Likes	</a:t>
            </a:r>
            <a:r>
              <a:rPr sz="2400" dirty="0">
                <a:latin typeface="Tahoma"/>
                <a:cs typeface="Tahoma"/>
              </a:rPr>
              <a:t>Beers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470"/>
              </a:lnSpc>
            </a:pPr>
            <a:r>
              <a:rPr sz="2400" spc="-5" dirty="0">
                <a:latin typeface="Tahoma"/>
                <a:cs typeface="Tahoma"/>
              </a:rPr>
              <a:t>husband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0050" y="3918584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dd</a:t>
            </a:r>
            <a:r>
              <a:rPr sz="2400" dirty="0">
                <a:latin typeface="Tahoma"/>
                <a:cs typeface="Tahoma"/>
              </a:rPr>
              <a:t>ies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5464" y="318992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3339" y="314864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25465" y="3977957"/>
            <a:ext cx="3342640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 marR="330835" indent="-15875">
              <a:lnSpc>
                <a:spcPct val="113700"/>
              </a:lnSpc>
              <a:spcBef>
                <a:spcPts val="100"/>
              </a:spcBef>
            </a:pPr>
            <a:r>
              <a:rPr sz="2400" spc="-3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beer)  </a:t>
            </a:r>
            <a:r>
              <a:rPr sz="2400" spc="-35" dirty="0">
                <a:solidFill>
                  <a:srgbClr val="CC00CC"/>
                </a:solidFill>
                <a:latin typeface="Tahoma"/>
                <a:cs typeface="Tahoma"/>
              </a:rPr>
              <a:t>Favorite(drinker,</a:t>
            </a:r>
            <a:r>
              <a:rPr sz="2400" spc="-1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endParaRPr sz="2400" dirty="0">
              <a:latin typeface="Tahoma"/>
              <a:cs typeface="Tahoma"/>
            </a:endParaRPr>
          </a:p>
          <a:p>
            <a:pPr marL="44450" marR="5080" indent="-15875">
              <a:lnSpc>
                <a:spcPct val="125000"/>
              </a:lnSpc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Buddies(name1, name2)  Married(husband,</a:t>
            </a:r>
            <a:r>
              <a:rPr sz="2400" spc="-1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CC00CC"/>
                </a:solidFill>
                <a:latin typeface="Tahoma"/>
                <a:cs typeface="Tahoma"/>
              </a:rPr>
              <a:t>wife)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4225" y="829944"/>
            <a:ext cx="503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Combining</a:t>
            </a:r>
            <a:r>
              <a:rPr spc="-40" dirty="0"/>
              <a:t> </a:t>
            </a:r>
            <a:r>
              <a:rPr spc="-15" dirty="0"/>
              <a:t>Relations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38830"/>
            <a:ext cx="7339965" cy="35985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68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OK </a:t>
            </a:r>
            <a:r>
              <a:rPr sz="3200" spc="-5" dirty="0">
                <a:latin typeface="Tahoma"/>
                <a:cs typeface="Tahoma"/>
              </a:rPr>
              <a:t>to combine into one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The relation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an </a:t>
            </a:r>
            <a:r>
              <a:rPr sz="2800" spc="-15" dirty="0">
                <a:latin typeface="Tahoma"/>
                <a:cs typeface="Tahoma"/>
              </a:rPr>
              <a:t>entity-set</a:t>
            </a:r>
            <a:r>
              <a:rPr sz="2800" spc="-165" dirty="0">
                <a:latin typeface="Tahoma"/>
                <a:cs typeface="Tahoma"/>
              </a:rPr>
              <a:t> </a:t>
            </a:r>
            <a:r>
              <a:rPr sz="2900" i="1" spc="-60" dirty="0">
                <a:latin typeface="Tahoma"/>
                <a:cs typeface="Tahoma"/>
              </a:rPr>
              <a:t>E</a:t>
            </a:r>
            <a:endParaRPr sz="2900" dirty="0">
              <a:latin typeface="Tahoma"/>
              <a:cs typeface="Tahoma"/>
            </a:endParaRPr>
          </a:p>
          <a:p>
            <a:pPr marL="1002665" marR="5080" lvl="1" indent="-533400">
              <a:lnSpc>
                <a:spcPts val="336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The relations </a:t>
            </a:r>
            <a:r>
              <a:rPr sz="2800" spc="-15" dirty="0">
                <a:latin typeface="Tahoma"/>
                <a:cs typeface="Tahoma"/>
              </a:rPr>
              <a:t>for many-one </a:t>
            </a:r>
            <a:r>
              <a:rPr sz="2800" spc="-5" dirty="0">
                <a:latin typeface="Tahoma"/>
                <a:cs typeface="Tahoma"/>
              </a:rPr>
              <a:t>relationships  of which </a:t>
            </a:r>
            <a:r>
              <a:rPr sz="2900" i="1" spc="-60" dirty="0">
                <a:latin typeface="Tahoma"/>
                <a:cs typeface="Tahoma"/>
              </a:rPr>
              <a:t>E </a:t>
            </a:r>
            <a:r>
              <a:rPr sz="2800" spc="-5" dirty="0">
                <a:latin typeface="Tahoma"/>
                <a:cs typeface="Tahoma"/>
              </a:rPr>
              <a:t>is the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“many.”</a:t>
            </a:r>
            <a:endParaRPr sz="2800" dirty="0">
              <a:latin typeface="Tahoma"/>
              <a:cs typeface="Tahoma"/>
            </a:endParaRPr>
          </a:p>
          <a:p>
            <a:pPr marL="622300" marR="53975" indent="-609600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addr)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Favorite(drinker,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 </a:t>
            </a:r>
            <a:r>
              <a:rPr sz="3200" spc="-5" dirty="0">
                <a:latin typeface="Tahoma"/>
                <a:cs typeface="Tahoma"/>
              </a:rPr>
              <a:t>combine to  </a:t>
            </a:r>
            <a:r>
              <a:rPr sz="3200" spc="-10" dirty="0">
                <a:latin typeface="Tahoma"/>
                <a:cs typeface="Tahoma"/>
              </a:rPr>
              <a:t>make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Drinker1(name,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addr,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r>
              <a:rPr sz="3200" spc="-1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40" y="829944"/>
            <a:ext cx="8631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Risk with </a:t>
            </a:r>
            <a:r>
              <a:rPr spc="-20" dirty="0"/>
              <a:t>Many-Many</a:t>
            </a:r>
            <a:r>
              <a:rPr spc="-55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142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2450465" algn="l"/>
              </a:tabLst>
            </a:pPr>
            <a:r>
              <a:rPr sz="3200" spc="-5" dirty="0">
                <a:latin typeface="Tahoma"/>
                <a:cs typeface="Tahoma"/>
              </a:rPr>
              <a:t>Combining Drinkers with </a:t>
            </a:r>
            <a:r>
              <a:rPr sz="3200" spc="-10" dirty="0">
                <a:latin typeface="Tahoma"/>
                <a:cs typeface="Tahoma"/>
              </a:rPr>
              <a:t>Likes </a:t>
            </a:r>
            <a:r>
              <a:rPr sz="3200" spc="-5" dirty="0">
                <a:latin typeface="Tahoma"/>
                <a:cs typeface="Tahoma"/>
              </a:rPr>
              <a:t>would </a:t>
            </a:r>
            <a:r>
              <a:rPr sz="3200" dirty="0">
                <a:latin typeface="Tahoma"/>
                <a:cs typeface="Tahoma"/>
              </a:rPr>
              <a:t>be  a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mistake.	</a:t>
            </a:r>
            <a:r>
              <a:rPr sz="3200" spc="-5" dirty="0">
                <a:latin typeface="Tahoma"/>
                <a:cs typeface="Tahoma"/>
              </a:rPr>
              <a:t>It leads to </a:t>
            </a:r>
            <a:r>
              <a:rPr sz="3200" spc="-30" dirty="0">
                <a:latin typeface="Tahoma"/>
                <a:cs typeface="Tahoma"/>
              </a:rPr>
              <a:t>redundancy,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as: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2637" y="3348037"/>
            <a:ext cx="4352925" cy="1304925"/>
          </a:xfrm>
          <a:custGeom>
            <a:avLst/>
            <a:gdLst/>
            <a:ahLst/>
            <a:cxnLst/>
            <a:rect l="l" t="t" r="r" b="b"/>
            <a:pathLst>
              <a:path w="4352925" h="1304925">
                <a:moveTo>
                  <a:pt x="43529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4352925" y="0"/>
                </a:lnTo>
                <a:lnTo>
                  <a:pt x="435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4352925" y="1300162"/>
                </a:lnTo>
                <a:lnTo>
                  <a:pt x="4352925" y="1304925"/>
                </a:lnTo>
                <a:close/>
              </a:path>
              <a:path w="43529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52925" h="1304925">
                <a:moveTo>
                  <a:pt x="434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43400" y="4762"/>
                </a:lnTo>
                <a:lnTo>
                  <a:pt x="4343400" y="9525"/>
                </a:lnTo>
                <a:close/>
              </a:path>
              <a:path w="4352925" h="1304925">
                <a:moveTo>
                  <a:pt x="4343400" y="1300162"/>
                </a:moveTo>
                <a:lnTo>
                  <a:pt x="4343400" y="4762"/>
                </a:lnTo>
                <a:lnTo>
                  <a:pt x="4348162" y="9525"/>
                </a:lnTo>
                <a:lnTo>
                  <a:pt x="4352925" y="9525"/>
                </a:lnTo>
                <a:lnTo>
                  <a:pt x="4352925" y="1295400"/>
                </a:lnTo>
                <a:lnTo>
                  <a:pt x="4348162" y="1295400"/>
                </a:lnTo>
                <a:lnTo>
                  <a:pt x="4343400" y="1300162"/>
                </a:lnTo>
                <a:close/>
              </a:path>
              <a:path w="4352925" h="1304925">
                <a:moveTo>
                  <a:pt x="4352925" y="9525"/>
                </a:moveTo>
                <a:lnTo>
                  <a:pt x="4348162" y="9525"/>
                </a:lnTo>
                <a:lnTo>
                  <a:pt x="4343400" y="4762"/>
                </a:lnTo>
                <a:lnTo>
                  <a:pt x="4352925" y="4762"/>
                </a:lnTo>
                <a:lnTo>
                  <a:pt x="4352925" y="9525"/>
                </a:lnTo>
                <a:close/>
              </a:path>
              <a:path w="43529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4352925" h="1304925">
                <a:moveTo>
                  <a:pt x="43434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4343400" y="1295400"/>
                </a:lnTo>
                <a:lnTo>
                  <a:pt x="4343400" y="1300162"/>
                </a:lnTo>
                <a:close/>
              </a:path>
              <a:path w="4352925" h="1304925">
                <a:moveTo>
                  <a:pt x="4352925" y="1300162"/>
                </a:moveTo>
                <a:lnTo>
                  <a:pt x="4343400" y="1300162"/>
                </a:lnTo>
                <a:lnTo>
                  <a:pt x="4348162" y="1295400"/>
                </a:lnTo>
                <a:lnTo>
                  <a:pt x="4352925" y="1295400"/>
                </a:lnTo>
                <a:lnTo>
                  <a:pt x="43529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7400" y="3430438"/>
          <a:ext cx="4343399" cy="109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903"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69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addr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084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beer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Sally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26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123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Maple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831">
                <a:tc>
                  <a:txBody>
                    <a:bodyPr/>
                    <a:lstStyle/>
                    <a:p>
                      <a:pPr marL="151130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Sally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279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123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Maple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119513" y="3352800"/>
            <a:ext cx="1990572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77464" y="5475922"/>
            <a:ext cx="16694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Redundancy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8894" y="829944"/>
            <a:ext cx="6506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Handling </a:t>
            </a:r>
            <a:r>
              <a:rPr spc="-45" dirty="0"/>
              <a:t>Weak </a:t>
            </a:r>
            <a:r>
              <a:rPr spc="-10" dirty="0"/>
              <a:t>Entity</a:t>
            </a:r>
            <a:r>
              <a:rPr dirty="0"/>
              <a:t> </a:t>
            </a:r>
            <a:r>
              <a:rPr spc="-5" dirty="0"/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18375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Relation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weak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 must  include attributes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complete </a:t>
            </a:r>
            <a:r>
              <a:rPr sz="3200" spc="-15" dirty="0">
                <a:latin typeface="Tahoma"/>
                <a:cs typeface="Tahoma"/>
              </a:rPr>
              <a:t>key  </a:t>
            </a:r>
            <a:r>
              <a:rPr sz="3200" spc="-5" dirty="0">
                <a:latin typeface="Tahoma"/>
                <a:cs typeface="Tahoma"/>
              </a:rPr>
              <a:t>(including those belonging to other  </a:t>
            </a:r>
            <a:r>
              <a:rPr sz="3200" spc="-10" dirty="0">
                <a:latin typeface="Tahoma"/>
                <a:cs typeface="Tahoma"/>
              </a:rPr>
              <a:t>entity </a:t>
            </a:r>
            <a:r>
              <a:rPr sz="3200" spc="-5" dirty="0">
                <a:latin typeface="Tahoma"/>
                <a:cs typeface="Tahoma"/>
              </a:rPr>
              <a:t>sets), as well as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own, </a:t>
            </a:r>
            <a:r>
              <a:rPr sz="3200" spc="-10" dirty="0">
                <a:latin typeface="Tahoma"/>
                <a:cs typeface="Tahoma"/>
              </a:rPr>
              <a:t>nonkey  </a:t>
            </a:r>
            <a:r>
              <a:rPr sz="3200" spc="-5" dirty="0">
                <a:latin typeface="Tahoma"/>
                <a:cs typeface="Tahoma"/>
              </a:rPr>
              <a:t>attributes.</a:t>
            </a:r>
            <a:endParaRPr sz="3200" dirty="0">
              <a:latin typeface="Tahoma"/>
              <a:cs typeface="Tahoma"/>
            </a:endParaRPr>
          </a:p>
          <a:p>
            <a:pPr marL="355600" marR="6096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supporting relationship is redundant  and yields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relation (unless </a:t>
            </a:r>
            <a:r>
              <a:rPr sz="3350" i="1" spc="-409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has  attributes).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452526" y="2001400"/>
            <a:ext cx="5876925" cy="1763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410" y="266699"/>
            <a:ext cx="715581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86990" marR="5080" indent="-257429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45" dirty="0"/>
              <a:t>Weak </a:t>
            </a:r>
            <a:r>
              <a:rPr spc="-10" dirty="0"/>
              <a:t>Entity </a:t>
            </a:r>
            <a:r>
              <a:rPr dirty="0"/>
              <a:t>Set -&gt;  </a:t>
            </a:r>
            <a:r>
              <a:rPr spc="-15" dirty="0"/>
              <a:t>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0235" y="3003550"/>
            <a:ext cx="88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Logins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3854" y="3003550"/>
            <a:ext cx="77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o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0495" y="3004184"/>
            <a:ext cx="307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043" y="2051062"/>
            <a:ext cx="4277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265" algn="l"/>
              </a:tabLst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	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0664" y="3951922"/>
            <a:ext cx="52139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Hosts(hostName, location)  Logins(loginName, hostName, </a:t>
            </a:r>
            <a:r>
              <a:rPr sz="2400" spc="-40" dirty="0">
                <a:solidFill>
                  <a:srgbClr val="CC00CC"/>
                </a:solidFill>
                <a:latin typeface="Tahoma"/>
                <a:cs typeface="Tahoma"/>
              </a:rPr>
              <a:t>billTo)  </a:t>
            </a:r>
            <a:r>
              <a:rPr sz="2400" strike="sngStrike" spc="-5" dirty="0">
                <a:solidFill>
                  <a:srgbClr val="CC00CC"/>
                </a:solidFill>
                <a:latin typeface="Tahoma"/>
                <a:cs typeface="Tahoma"/>
              </a:rPr>
              <a:t>At(loginName, hostName,</a:t>
            </a:r>
            <a:r>
              <a:rPr sz="2400" strike="sngStrike" spc="-1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trike="sngStrike" spc="-5" dirty="0">
                <a:solidFill>
                  <a:srgbClr val="CC00CC"/>
                </a:solidFill>
                <a:latin typeface="Tahoma"/>
                <a:cs typeface="Tahoma"/>
              </a:rPr>
              <a:t>hostName2)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2865" y="5399722"/>
            <a:ext cx="242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Must be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same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91000" y="5105400"/>
            <a:ext cx="156845" cy="307340"/>
          </a:xfrm>
          <a:custGeom>
            <a:avLst/>
            <a:gdLst/>
            <a:ahLst/>
            <a:cxnLst/>
            <a:rect l="l" t="t" r="r" b="b"/>
            <a:pathLst>
              <a:path w="156845" h="307339">
                <a:moveTo>
                  <a:pt x="0" y="85191"/>
                </a:moveTo>
                <a:lnTo>
                  <a:pt x="0" y="0"/>
                </a:lnTo>
                <a:lnTo>
                  <a:pt x="65315" y="48983"/>
                </a:lnTo>
                <a:lnTo>
                  <a:pt x="29819" y="48983"/>
                </a:lnTo>
                <a:lnTo>
                  <a:pt x="21297" y="53251"/>
                </a:lnTo>
                <a:lnTo>
                  <a:pt x="29815" y="70286"/>
                </a:lnTo>
                <a:lnTo>
                  <a:pt x="0" y="85191"/>
                </a:lnTo>
                <a:close/>
              </a:path>
              <a:path w="156845" h="307339">
                <a:moveTo>
                  <a:pt x="29815" y="70286"/>
                </a:moveTo>
                <a:lnTo>
                  <a:pt x="21297" y="53251"/>
                </a:lnTo>
                <a:lnTo>
                  <a:pt x="29819" y="48983"/>
                </a:lnTo>
                <a:lnTo>
                  <a:pt x="38339" y="66025"/>
                </a:lnTo>
                <a:lnTo>
                  <a:pt x="29815" y="70286"/>
                </a:lnTo>
                <a:close/>
              </a:path>
              <a:path w="156845" h="307339">
                <a:moveTo>
                  <a:pt x="38339" y="66025"/>
                </a:moveTo>
                <a:lnTo>
                  <a:pt x="29819" y="48983"/>
                </a:lnTo>
                <a:lnTo>
                  <a:pt x="65315" y="48983"/>
                </a:lnTo>
                <a:lnTo>
                  <a:pt x="68160" y="51117"/>
                </a:lnTo>
                <a:lnTo>
                  <a:pt x="38339" y="66025"/>
                </a:lnTo>
                <a:close/>
              </a:path>
              <a:path w="156845" h="307339">
                <a:moveTo>
                  <a:pt x="148145" y="306933"/>
                </a:moveTo>
                <a:lnTo>
                  <a:pt x="29815" y="70286"/>
                </a:lnTo>
                <a:lnTo>
                  <a:pt x="38339" y="66025"/>
                </a:lnTo>
                <a:lnTo>
                  <a:pt x="156654" y="302666"/>
                </a:lnTo>
                <a:lnTo>
                  <a:pt x="148145" y="306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29745" y="5105400"/>
            <a:ext cx="156845" cy="307340"/>
          </a:xfrm>
          <a:custGeom>
            <a:avLst/>
            <a:gdLst/>
            <a:ahLst/>
            <a:cxnLst/>
            <a:rect l="l" t="t" r="r" b="b"/>
            <a:pathLst>
              <a:path w="156845" h="307339">
                <a:moveTo>
                  <a:pt x="118314" y="66025"/>
                </a:moveTo>
                <a:lnTo>
                  <a:pt x="88493" y="51117"/>
                </a:lnTo>
                <a:lnTo>
                  <a:pt x="156654" y="0"/>
                </a:lnTo>
                <a:lnTo>
                  <a:pt x="156654" y="48983"/>
                </a:lnTo>
                <a:lnTo>
                  <a:pt x="126834" y="48983"/>
                </a:lnTo>
                <a:lnTo>
                  <a:pt x="118314" y="66025"/>
                </a:lnTo>
                <a:close/>
              </a:path>
              <a:path w="156845" h="307339">
                <a:moveTo>
                  <a:pt x="126838" y="70286"/>
                </a:moveTo>
                <a:lnTo>
                  <a:pt x="118314" y="66025"/>
                </a:lnTo>
                <a:lnTo>
                  <a:pt x="126834" y="48983"/>
                </a:lnTo>
                <a:lnTo>
                  <a:pt x="135356" y="53251"/>
                </a:lnTo>
                <a:lnTo>
                  <a:pt x="126838" y="70286"/>
                </a:lnTo>
                <a:close/>
              </a:path>
              <a:path w="156845" h="307339">
                <a:moveTo>
                  <a:pt x="156654" y="85191"/>
                </a:moveTo>
                <a:lnTo>
                  <a:pt x="126838" y="70286"/>
                </a:lnTo>
                <a:lnTo>
                  <a:pt x="135356" y="53251"/>
                </a:lnTo>
                <a:lnTo>
                  <a:pt x="126834" y="48983"/>
                </a:lnTo>
                <a:lnTo>
                  <a:pt x="156654" y="48983"/>
                </a:lnTo>
                <a:lnTo>
                  <a:pt x="156654" y="85191"/>
                </a:lnTo>
                <a:close/>
              </a:path>
              <a:path w="156845" h="307339">
                <a:moveTo>
                  <a:pt x="8508" y="306933"/>
                </a:moveTo>
                <a:lnTo>
                  <a:pt x="0" y="302666"/>
                </a:lnTo>
                <a:lnTo>
                  <a:pt x="118314" y="66025"/>
                </a:lnTo>
                <a:lnTo>
                  <a:pt x="126838" y="70286"/>
                </a:lnTo>
                <a:lnTo>
                  <a:pt x="8508" y="306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1837" y="3003829"/>
            <a:ext cx="716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</a:t>
            </a:r>
            <a:r>
              <a:rPr sz="2400" spc="-25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o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5526722"/>
            <a:ext cx="25844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At </a:t>
            </a:r>
            <a:r>
              <a:rPr sz="2400" spc="-5" dirty="0">
                <a:latin typeface="Tahoma"/>
                <a:cs typeface="Tahoma"/>
              </a:rPr>
              <a:t>becomes part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  </a:t>
            </a:r>
            <a:r>
              <a:rPr sz="2400" spc="-5" dirty="0">
                <a:latin typeface="Tahoma"/>
                <a:cs typeface="Tahoma"/>
              </a:rPr>
              <a:t>Logins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02855" y="5003800"/>
            <a:ext cx="461009" cy="536575"/>
          </a:xfrm>
          <a:custGeom>
            <a:avLst/>
            <a:gdLst/>
            <a:ahLst/>
            <a:cxnLst/>
            <a:rect l="l" t="t" r="r" b="b"/>
            <a:pathLst>
              <a:path w="461009" h="536575">
                <a:moveTo>
                  <a:pt x="407616" y="54761"/>
                </a:moveTo>
                <a:lnTo>
                  <a:pt x="382295" y="33058"/>
                </a:lnTo>
                <a:lnTo>
                  <a:pt x="460819" y="0"/>
                </a:lnTo>
                <a:lnTo>
                  <a:pt x="450745" y="40297"/>
                </a:lnTo>
                <a:lnTo>
                  <a:pt x="420014" y="40297"/>
                </a:lnTo>
                <a:lnTo>
                  <a:pt x="407616" y="54761"/>
                </a:lnTo>
                <a:close/>
              </a:path>
              <a:path w="461009" h="536575">
                <a:moveTo>
                  <a:pt x="414844" y="60956"/>
                </a:moveTo>
                <a:lnTo>
                  <a:pt x="407616" y="54761"/>
                </a:lnTo>
                <a:lnTo>
                  <a:pt x="420014" y="40297"/>
                </a:lnTo>
                <a:lnTo>
                  <a:pt x="427240" y="46494"/>
                </a:lnTo>
                <a:lnTo>
                  <a:pt x="414844" y="60956"/>
                </a:lnTo>
                <a:close/>
              </a:path>
              <a:path w="461009" h="536575">
                <a:moveTo>
                  <a:pt x="440156" y="82651"/>
                </a:moveTo>
                <a:lnTo>
                  <a:pt x="414844" y="60956"/>
                </a:lnTo>
                <a:lnTo>
                  <a:pt x="427240" y="46494"/>
                </a:lnTo>
                <a:lnTo>
                  <a:pt x="420014" y="40297"/>
                </a:lnTo>
                <a:lnTo>
                  <a:pt x="450745" y="40297"/>
                </a:lnTo>
                <a:lnTo>
                  <a:pt x="440156" y="82651"/>
                </a:lnTo>
                <a:close/>
              </a:path>
              <a:path w="461009" h="536575">
                <a:moveTo>
                  <a:pt x="7238" y="536498"/>
                </a:moveTo>
                <a:lnTo>
                  <a:pt x="0" y="530301"/>
                </a:lnTo>
                <a:lnTo>
                  <a:pt x="407616" y="54761"/>
                </a:lnTo>
                <a:lnTo>
                  <a:pt x="414844" y="60956"/>
                </a:lnTo>
                <a:lnTo>
                  <a:pt x="7238" y="536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2526" y="4460519"/>
            <a:ext cx="995680" cy="1447800"/>
          </a:xfrm>
          <a:custGeom>
            <a:avLst/>
            <a:gdLst/>
            <a:ahLst/>
            <a:cxnLst/>
            <a:rect l="l" t="t" r="r" b="b"/>
            <a:pathLst>
              <a:path w="995680" h="1447800">
                <a:moveTo>
                  <a:pt x="920521" y="63500"/>
                </a:moveTo>
                <a:lnTo>
                  <a:pt x="917727" y="0"/>
                </a:lnTo>
                <a:lnTo>
                  <a:pt x="995273" y="25400"/>
                </a:lnTo>
                <a:lnTo>
                  <a:pt x="937894" y="25400"/>
                </a:lnTo>
                <a:lnTo>
                  <a:pt x="938428" y="38100"/>
                </a:lnTo>
                <a:lnTo>
                  <a:pt x="970356" y="38100"/>
                </a:lnTo>
                <a:lnTo>
                  <a:pt x="920521" y="63500"/>
                </a:lnTo>
                <a:close/>
              </a:path>
              <a:path w="995680" h="1447800">
                <a:moveTo>
                  <a:pt x="919403" y="38100"/>
                </a:moveTo>
                <a:lnTo>
                  <a:pt x="855726" y="38100"/>
                </a:lnTo>
                <a:lnTo>
                  <a:pt x="878865" y="25400"/>
                </a:lnTo>
                <a:lnTo>
                  <a:pt x="918844" y="25400"/>
                </a:lnTo>
                <a:lnTo>
                  <a:pt x="919403" y="38100"/>
                </a:lnTo>
                <a:close/>
              </a:path>
              <a:path w="995680" h="1447800">
                <a:moveTo>
                  <a:pt x="970356" y="38100"/>
                </a:moveTo>
                <a:lnTo>
                  <a:pt x="938428" y="38100"/>
                </a:lnTo>
                <a:lnTo>
                  <a:pt x="937894" y="25400"/>
                </a:lnTo>
                <a:lnTo>
                  <a:pt x="995273" y="25400"/>
                </a:lnTo>
                <a:lnTo>
                  <a:pt x="970356" y="38100"/>
                </a:lnTo>
                <a:close/>
              </a:path>
              <a:path w="995680" h="1447800">
                <a:moveTo>
                  <a:pt x="834059" y="50800"/>
                </a:moveTo>
                <a:lnTo>
                  <a:pt x="763955" y="50800"/>
                </a:lnTo>
                <a:lnTo>
                  <a:pt x="786752" y="38100"/>
                </a:lnTo>
                <a:lnTo>
                  <a:pt x="857034" y="38100"/>
                </a:lnTo>
                <a:lnTo>
                  <a:pt x="834059" y="50800"/>
                </a:lnTo>
                <a:close/>
              </a:path>
              <a:path w="995680" h="1447800">
                <a:moveTo>
                  <a:pt x="765924" y="63500"/>
                </a:moveTo>
                <a:lnTo>
                  <a:pt x="718718" y="63500"/>
                </a:lnTo>
                <a:lnTo>
                  <a:pt x="741273" y="50800"/>
                </a:lnTo>
                <a:lnTo>
                  <a:pt x="788631" y="50800"/>
                </a:lnTo>
                <a:lnTo>
                  <a:pt x="765924" y="63500"/>
                </a:lnTo>
                <a:close/>
              </a:path>
              <a:path w="995680" h="1447800">
                <a:moveTo>
                  <a:pt x="698804" y="76200"/>
                </a:moveTo>
                <a:lnTo>
                  <a:pt x="674039" y="76200"/>
                </a:lnTo>
                <a:lnTo>
                  <a:pt x="696302" y="63500"/>
                </a:lnTo>
                <a:lnTo>
                  <a:pt x="721144" y="63500"/>
                </a:lnTo>
                <a:lnTo>
                  <a:pt x="698804" y="76200"/>
                </a:lnTo>
                <a:close/>
              </a:path>
              <a:path w="995680" h="1447800">
                <a:moveTo>
                  <a:pt x="654773" y="88900"/>
                </a:moveTo>
                <a:lnTo>
                  <a:pt x="629983" y="88900"/>
                </a:lnTo>
                <a:lnTo>
                  <a:pt x="651929" y="76200"/>
                </a:lnTo>
                <a:lnTo>
                  <a:pt x="676795" y="76200"/>
                </a:lnTo>
                <a:lnTo>
                  <a:pt x="654773" y="88900"/>
                </a:lnTo>
                <a:close/>
              </a:path>
              <a:path w="995680" h="1447800">
                <a:moveTo>
                  <a:pt x="590016" y="114300"/>
                </a:moveTo>
                <a:lnTo>
                  <a:pt x="565315" y="114300"/>
                </a:lnTo>
                <a:lnTo>
                  <a:pt x="608228" y="88900"/>
                </a:lnTo>
                <a:lnTo>
                  <a:pt x="633082" y="88900"/>
                </a:lnTo>
                <a:lnTo>
                  <a:pt x="611416" y="101600"/>
                </a:lnTo>
                <a:lnTo>
                  <a:pt x="590016" y="114300"/>
                </a:lnTo>
                <a:close/>
              </a:path>
              <a:path w="995680" h="1447800">
                <a:moveTo>
                  <a:pt x="527088" y="139700"/>
                </a:moveTo>
                <a:lnTo>
                  <a:pt x="502577" y="139700"/>
                </a:lnTo>
                <a:lnTo>
                  <a:pt x="544169" y="114300"/>
                </a:lnTo>
                <a:lnTo>
                  <a:pt x="568909" y="114300"/>
                </a:lnTo>
                <a:lnTo>
                  <a:pt x="547839" y="127000"/>
                </a:lnTo>
                <a:lnTo>
                  <a:pt x="527088" y="139700"/>
                </a:lnTo>
                <a:close/>
              </a:path>
              <a:path w="995680" h="1447800">
                <a:moveTo>
                  <a:pt x="370560" y="215900"/>
                </a:moveTo>
                <a:lnTo>
                  <a:pt x="365480" y="215900"/>
                </a:lnTo>
                <a:lnTo>
                  <a:pt x="384162" y="203200"/>
                </a:lnTo>
                <a:lnTo>
                  <a:pt x="403174" y="190500"/>
                </a:lnTo>
                <a:lnTo>
                  <a:pt x="442099" y="165100"/>
                </a:lnTo>
                <a:lnTo>
                  <a:pt x="482155" y="139700"/>
                </a:lnTo>
                <a:lnTo>
                  <a:pt x="506653" y="139700"/>
                </a:lnTo>
                <a:lnTo>
                  <a:pt x="486308" y="152400"/>
                </a:lnTo>
                <a:lnTo>
                  <a:pt x="466293" y="165100"/>
                </a:lnTo>
                <a:lnTo>
                  <a:pt x="446557" y="177800"/>
                </a:lnTo>
                <a:lnTo>
                  <a:pt x="427101" y="190500"/>
                </a:lnTo>
                <a:lnTo>
                  <a:pt x="408025" y="190500"/>
                </a:lnTo>
                <a:lnTo>
                  <a:pt x="389089" y="203200"/>
                </a:lnTo>
                <a:lnTo>
                  <a:pt x="370560" y="215900"/>
                </a:lnTo>
                <a:close/>
              </a:path>
              <a:path w="995680" h="1447800">
                <a:moveTo>
                  <a:pt x="31432" y="609600"/>
                </a:moveTo>
                <a:lnTo>
                  <a:pt x="22390" y="609600"/>
                </a:lnTo>
                <a:lnTo>
                  <a:pt x="25222" y="596900"/>
                </a:lnTo>
                <a:lnTo>
                  <a:pt x="28206" y="584200"/>
                </a:lnTo>
                <a:lnTo>
                  <a:pt x="34683" y="571500"/>
                </a:lnTo>
                <a:lnTo>
                  <a:pt x="41681" y="558800"/>
                </a:lnTo>
                <a:lnTo>
                  <a:pt x="49339" y="533400"/>
                </a:lnTo>
                <a:lnTo>
                  <a:pt x="57594" y="520700"/>
                </a:lnTo>
                <a:lnTo>
                  <a:pt x="66421" y="508000"/>
                </a:lnTo>
                <a:lnTo>
                  <a:pt x="75818" y="495300"/>
                </a:lnTo>
                <a:lnTo>
                  <a:pt x="85775" y="469900"/>
                </a:lnTo>
                <a:lnTo>
                  <a:pt x="96278" y="457200"/>
                </a:lnTo>
                <a:lnTo>
                  <a:pt x="107315" y="444500"/>
                </a:lnTo>
                <a:lnTo>
                  <a:pt x="118872" y="431800"/>
                </a:lnTo>
                <a:lnTo>
                  <a:pt x="130937" y="419100"/>
                </a:lnTo>
                <a:lnTo>
                  <a:pt x="143510" y="393700"/>
                </a:lnTo>
                <a:lnTo>
                  <a:pt x="184086" y="355600"/>
                </a:lnTo>
                <a:lnTo>
                  <a:pt x="213423" y="330200"/>
                </a:lnTo>
                <a:lnTo>
                  <a:pt x="244487" y="304800"/>
                </a:lnTo>
                <a:lnTo>
                  <a:pt x="260642" y="279400"/>
                </a:lnTo>
                <a:lnTo>
                  <a:pt x="294119" y="254000"/>
                </a:lnTo>
                <a:lnTo>
                  <a:pt x="329095" y="228600"/>
                </a:lnTo>
                <a:lnTo>
                  <a:pt x="347116" y="215900"/>
                </a:lnTo>
                <a:lnTo>
                  <a:pt x="370636" y="215900"/>
                </a:lnTo>
                <a:lnTo>
                  <a:pt x="352348" y="228600"/>
                </a:lnTo>
                <a:lnTo>
                  <a:pt x="334479" y="241300"/>
                </a:lnTo>
                <a:lnTo>
                  <a:pt x="316966" y="254000"/>
                </a:lnTo>
                <a:lnTo>
                  <a:pt x="299821" y="266700"/>
                </a:lnTo>
                <a:lnTo>
                  <a:pt x="283032" y="279400"/>
                </a:lnTo>
                <a:lnTo>
                  <a:pt x="266649" y="292100"/>
                </a:lnTo>
                <a:lnTo>
                  <a:pt x="250647" y="304800"/>
                </a:lnTo>
                <a:lnTo>
                  <a:pt x="235051" y="317500"/>
                </a:lnTo>
                <a:lnTo>
                  <a:pt x="219887" y="330200"/>
                </a:lnTo>
                <a:lnTo>
                  <a:pt x="205155" y="342900"/>
                </a:lnTo>
                <a:lnTo>
                  <a:pt x="190855" y="355600"/>
                </a:lnTo>
                <a:lnTo>
                  <a:pt x="177012" y="381000"/>
                </a:lnTo>
                <a:lnTo>
                  <a:pt x="163626" y="393700"/>
                </a:lnTo>
                <a:lnTo>
                  <a:pt x="150736" y="406400"/>
                </a:lnTo>
                <a:lnTo>
                  <a:pt x="138315" y="419100"/>
                </a:lnTo>
                <a:lnTo>
                  <a:pt x="126403" y="431800"/>
                </a:lnTo>
                <a:lnTo>
                  <a:pt x="114998" y="444500"/>
                </a:lnTo>
                <a:lnTo>
                  <a:pt x="104114" y="469900"/>
                </a:lnTo>
                <a:lnTo>
                  <a:pt x="93751" y="482600"/>
                </a:lnTo>
                <a:lnTo>
                  <a:pt x="83947" y="495300"/>
                </a:lnTo>
                <a:lnTo>
                  <a:pt x="74688" y="508000"/>
                </a:lnTo>
                <a:lnTo>
                  <a:pt x="70383" y="520700"/>
                </a:lnTo>
                <a:lnTo>
                  <a:pt x="66065" y="520700"/>
                </a:lnTo>
                <a:lnTo>
                  <a:pt x="57886" y="546100"/>
                </a:lnTo>
                <a:lnTo>
                  <a:pt x="50355" y="558800"/>
                </a:lnTo>
                <a:lnTo>
                  <a:pt x="43434" y="571500"/>
                </a:lnTo>
                <a:lnTo>
                  <a:pt x="37109" y="596900"/>
                </a:lnTo>
                <a:lnTo>
                  <a:pt x="34226" y="596900"/>
                </a:lnTo>
                <a:lnTo>
                  <a:pt x="31432" y="609600"/>
                </a:lnTo>
                <a:close/>
              </a:path>
              <a:path w="995680" h="1447800">
                <a:moveTo>
                  <a:pt x="66001" y="533400"/>
                </a:moveTo>
                <a:lnTo>
                  <a:pt x="66065" y="520700"/>
                </a:lnTo>
                <a:lnTo>
                  <a:pt x="70383" y="520700"/>
                </a:lnTo>
                <a:lnTo>
                  <a:pt x="66001" y="533400"/>
                </a:lnTo>
                <a:close/>
              </a:path>
              <a:path w="995680" h="1447800">
                <a:moveTo>
                  <a:pt x="24066" y="635000"/>
                </a:moveTo>
                <a:lnTo>
                  <a:pt x="14871" y="635000"/>
                </a:lnTo>
                <a:lnTo>
                  <a:pt x="17221" y="622300"/>
                </a:lnTo>
                <a:lnTo>
                  <a:pt x="19723" y="609600"/>
                </a:lnTo>
                <a:lnTo>
                  <a:pt x="28841" y="609600"/>
                </a:lnTo>
                <a:lnTo>
                  <a:pt x="26365" y="622300"/>
                </a:lnTo>
                <a:lnTo>
                  <a:pt x="24066" y="635000"/>
                </a:lnTo>
                <a:close/>
              </a:path>
              <a:path w="995680" h="1447800">
                <a:moveTo>
                  <a:pt x="19964" y="647700"/>
                </a:moveTo>
                <a:lnTo>
                  <a:pt x="10680" y="647700"/>
                </a:lnTo>
                <a:lnTo>
                  <a:pt x="12700" y="635000"/>
                </a:lnTo>
                <a:lnTo>
                  <a:pt x="21958" y="635000"/>
                </a:lnTo>
                <a:lnTo>
                  <a:pt x="19964" y="647700"/>
                </a:lnTo>
                <a:close/>
              </a:path>
              <a:path w="995680" h="1447800">
                <a:moveTo>
                  <a:pt x="15049" y="673100"/>
                </a:moveTo>
                <a:lnTo>
                  <a:pt x="5651" y="673100"/>
                </a:lnTo>
                <a:lnTo>
                  <a:pt x="7162" y="660400"/>
                </a:lnTo>
                <a:lnTo>
                  <a:pt x="8839" y="647700"/>
                </a:lnTo>
                <a:lnTo>
                  <a:pt x="19977" y="647700"/>
                </a:lnTo>
                <a:lnTo>
                  <a:pt x="18160" y="660400"/>
                </a:lnTo>
                <a:lnTo>
                  <a:pt x="16535" y="660400"/>
                </a:lnTo>
                <a:lnTo>
                  <a:pt x="15049" y="673100"/>
                </a:lnTo>
                <a:close/>
              </a:path>
              <a:path w="995680" h="1447800">
                <a:moveTo>
                  <a:pt x="9791" y="723900"/>
                </a:moveTo>
                <a:lnTo>
                  <a:pt x="279" y="723900"/>
                </a:lnTo>
                <a:lnTo>
                  <a:pt x="723" y="711200"/>
                </a:lnTo>
                <a:lnTo>
                  <a:pt x="1358" y="698500"/>
                </a:lnTo>
                <a:lnTo>
                  <a:pt x="2171" y="698500"/>
                </a:lnTo>
                <a:lnTo>
                  <a:pt x="3162" y="685800"/>
                </a:lnTo>
                <a:lnTo>
                  <a:pt x="4318" y="673100"/>
                </a:lnTo>
                <a:lnTo>
                  <a:pt x="15062" y="673100"/>
                </a:lnTo>
                <a:lnTo>
                  <a:pt x="13741" y="685800"/>
                </a:lnTo>
                <a:lnTo>
                  <a:pt x="12611" y="685800"/>
                </a:lnTo>
                <a:lnTo>
                  <a:pt x="11645" y="698500"/>
                </a:lnTo>
                <a:lnTo>
                  <a:pt x="10845" y="711200"/>
                </a:lnTo>
                <a:lnTo>
                  <a:pt x="10236" y="711200"/>
                </a:lnTo>
                <a:lnTo>
                  <a:pt x="9791" y="723900"/>
                </a:lnTo>
                <a:close/>
              </a:path>
              <a:path w="995680" h="1447800">
                <a:moveTo>
                  <a:pt x="93014" y="1257300"/>
                </a:moveTo>
                <a:lnTo>
                  <a:pt x="79832" y="1257300"/>
                </a:lnTo>
                <a:lnTo>
                  <a:pt x="75666" y="1244600"/>
                </a:lnTo>
                <a:lnTo>
                  <a:pt x="63690" y="1206500"/>
                </a:lnTo>
                <a:lnTo>
                  <a:pt x="56146" y="1168400"/>
                </a:lnTo>
                <a:lnTo>
                  <a:pt x="52514" y="1155700"/>
                </a:lnTo>
                <a:lnTo>
                  <a:pt x="42227" y="1117600"/>
                </a:lnTo>
                <a:lnTo>
                  <a:pt x="32893" y="1079500"/>
                </a:lnTo>
                <a:lnTo>
                  <a:pt x="29997" y="1054100"/>
                </a:lnTo>
                <a:lnTo>
                  <a:pt x="27216" y="1041400"/>
                </a:lnTo>
                <a:lnTo>
                  <a:pt x="24561" y="1028700"/>
                </a:lnTo>
                <a:lnTo>
                  <a:pt x="22021" y="1016000"/>
                </a:lnTo>
                <a:lnTo>
                  <a:pt x="19608" y="1003300"/>
                </a:lnTo>
                <a:lnTo>
                  <a:pt x="17322" y="977900"/>
                </a:lnTo>
                <a:lnTo>
                  <a:pt x="15163" y="965200"/>
                </a:lnTo>
                <a:lnTo>
                  <a:pt x="13144" y="952500"/>
                </a:lnTo>
                <a:lnTo>
                  <a:pt x="11239" y="939800"/>
                </a:lnTo>
                <a:lnTo>
                  <a:pt x="9486" y="914400"/>
                </a:lnTo>
                <a:lnTo>
                  <a:pt x="7874" y="901700"/>
                </a:lnTo>
                <a:lnTo>
                  <a:pt x="6388" y="889000"/>
                </a:lnTo>
                <a:lnTo>
                  <a:pt x="5067" y="876300"/>
                </a:lnTo>
                <a:lnTo>
                  <a:pt x="3873" y="850900"/>
                </a:lnTo>
                <a:lnTo>
                  <a:pt x="2844" y="838200"/>
                </a:lnTo>
                <a:lnTo>
                  <a:pt x="1955" y="825500"/>
                </a:lnTo>
                <a:lnTo>
                  <a:pt x="1231" y="800100"/>
                </a:lnTo>
                <a:lnTo>
                  <a:pt x="660" y="787400"/>
                </a:lnTo>
                <a:lnTo>
                  <a:pt x="241" y="774700"/>
                </a:lnTo>
                <a:lnTo>
                  <a:pt x="0" y="749300"/>
                </a:lnTo>
                <a:lnTo>
                  <a:pt x="0" y="723900"/>
                </a:lnTo>
                <a:lnTo>
                  <a:pt x="9525" y="723900"/>
                </a:lnTo>
                <a:lnTo>
                  <a:pt x="9525" y="749300"/>
                </a:lnTo>
                <a:lnTo>
                  <a:pt x="9766" y="774700"/>
                </a:lnTo>
                <a:lnTo>
                  <a:pt x="10172" y="787400"/>
                </a:lnTo>
                <a:lnTo>
                  <a:pt x="10744" y="800100"/>
                </a:lnTo>
                <a:lnTo>
                  <a:pt x="11468" y="825500"/>
                </a:lnTo>
                <a:lnTo>
                  <a:pt x="12344" y="838200"/>
                </a:lnTo>
                <a:lnTo>
                  <a:pt x="13373" y="850900"/>
                </a:lnTo>
                <a:lnTo>
                  <a:pt x="14554" y="863600"/>
                </a:lnTo>
                <a:lnTo>
                  <a:pt x="15887" y="889000"/>
                </a:lnTo>
                <a:lnTo>
                  <a:pt x="17348" y="901700"/>
                </a:lnTo>
                <a:lnTo>
                  <a:pt x="18961" y="914400"/>
                </a:lnTo>
                <a:lnTo>
                  <a:pt x="20713" y="939800"/>
                </a:lnTo>
                <a:lnTo>
                  <a:pt x="22593" y="952500"/>
                </a:lnTo>
                <a:lnTo>
                  <a:pt x="24612" y="965200"/>
                </a:lnTo>
                <a:lnTo>
                  <a:pt x="26758" y="977900"/>
                </a:lnTo>
                <a:lnTo>
                  <a:pt x="29032" y="1003300"/>
                </a:lnTo>
                <a:lnTo>
                  <a:pt x="31432" y="1016000"/>
                </a:lnTo>
                <a:lnTo>
                  <a:pt x="33959" y="1028700"/>
                </a:lnTo>
                <a:lnTo>
                  <a:pt x="36601" y="1041400"/>
                </a:lnTo>
                <a:lnTo>
                  <a:pt x="39357" y="1054100"/>
                </a:lnTo>
                <a:lnTo>
                  <a:pt x="42227" y="1079500"/>
                </a:lnTo>
                <a:lnTo>
                  <a:pt x="45212" y="1092200"/>
                </a:lnTo>
                <a:lnTo>
                  <a:pt x="48310" y="1104900"/>
                </a:lnTo>
                <a:lnTo>
                  <a:pt x="51511" y="1117600"/>
                </a:lnTo>
                <a:lnTo>
                  <a:pt x="54825" y="1130300"/>
                </a:lnTo>
                <a:lnTo>
                  <a:pt x="58229" y="1143000"/>
                </a:lnTo>
                <a:lnTo>
                  <a:pt x="61734" y="1155700"/>
                </a:lnTo>
                <a:lnTo>
                  <a:pt x="65341" y="1168400"/>
                </a:lnTo>
                <a:lnTo>
                  <a:pt x="69037" y="1181100"/>
                </a:lnTo>
                <a:lnTo>
                  <a:pt x="72821" y="1193800"/>
                </a:lnTo>
                <a:lnTo>
                  <a:pt x="76695" y="1206500"/>
                </a:lnTo>
                <a:lnTo>
                  <a:pt x="80657" y="1219200"/>
                </a:lnTo>
                <a:lnTo>
                  <a:pt x="84696" y="1231900"/>
                </a:lnTo>
                <a:lnTo>
                  <a:pt x="88811" y="1244600"/>
                </a:lnTo>
                <a:lnTo>
                  <a:pt x="93014" y="1257300"/>
                </a:lnTo>
                <a:close/>
              </a:path>
              <a:path w="995680" h="1447800">
                <a:moveTo>
                  <a:pt x="124320" y="1333500"/>
                </a:moveTo>
                <a:lnTo>
                  <a:pt x="111074" y="1333500"/>
                </a:lnTo>
                <a:lnTo>
                  <a:pt x="106400" y="1320800"/>
                </a:lnTo>
                <a:lnTo>
                  <a:pt x="92786" y="1282700"/>
                </a:lnTo>
                <a:lnTo>
                  <a:pt x="84074" y="1257300"/>
                </a:lnTo>
                <a:lnTo>
                  <a:pt x="92989" y="1257300"/>
                </a:lnTo>
                <a:lnTo>
                  <a:pt x="97282" y="1270000"/>
                </a:lnTo>
                <a:lnTo>
                  <a:pt x="101638" y="1282700"/>
                </a:lnTo>
                <a:lnTo>
                  <a:pt x="106045" y="1295400"/>
                </a:lnTo>
                <a:lnTo>
                  <a:pt x="110528" y="1308100"/>
                </a:lnTo>
                <a:lnTo>
                  <a:pt x="115036" y="1308100"/>
                </a:lnTo>
                <a:lnTo>
                  <a:pt x="119672" y="1320800"/>
                </a:lnTo>
                <a:lnTo>
                  <a:pt x="124320" y="1333500"/>
                </a:lnTo>
                <a:close/>
              </a:path>
              <a:path w="995680" h="1447800">
                <a:moveTo>
                  <a:pt x="138607" y="1358900"/>
                </a:moveTo>
                <a:lnTo>
                  <a:pt x="125463" y="1358900"/>
                </a:lnTo>
                <a:lnTo>
                  <a:pt x="120599" y="1346200"/>
                </a:lnTo>
                <a:lnTo>
                  <a:pt x="115811" y="1333500"/>
                </a:lnTo>
                <a:lnTo>
                  <a:pt x="124282" y="1333500"/>
                </a:lnTo>
                <a:lnTo>
                  <a:pt x="129032" y="1346200"/>
                </a:lnTo>
                <a:lnTo>
                  <a:pt x="133743" y="1346200"/>
                </a:lnTo>
                <a:lnTo>
                  <a:pt x="138607" y="1358900"/>
                </a:lnTo>
                <a:close/>
              </a:path>
              <a:path w="995680" h="1447800">
                <a:moveTo>
                  <a:pt x="153289" y="1384300"/>
                </a:moveTo>
                <a:lnTo>
                  <a:pt x="140373" y="1384300"/>
                </a:lnTo>
                <a:lnTo>
                  <a:pt x="135343" y="1371600"/>
                </a:lnTo>
                <a:lnTo>
                  <a:pt x="130378" y="1358900"/>
                </a:lnTo>
                <a:lnTo>
                  <a:pt x="138557" y="1358900"/>
                </a:lnTo>
                <a:lnTo>
                  <a:pt x="143459" y="1371600"/>
                </a:lnTo>
                <a:lnTo>
                  <a:pt x="148285" y="1371600"/>
                </a:lnTo>
                <a:lnTo>
                  <a:pt x="153289" y="1384300"/>
                </a:lnTo>
                <a:close/>
              </a:path>
              <a:path w="995680" h="1447800">
                <a:moveTo>
                  <a:pt x="163245" y="1397000"/>
                </a:moveTo>
                <a:lnTo>
                  <a:pt x="150583" y="1397000"/>
                </a:lnTo>
                <a:lnTo>
                  <a:pt x="145453" y="1384300"/>
                </a:lnTo>
                <a:lnTo>
                  <a:pt x="158165" y="1384300"/>
                </a:lnTo>
                <a:lnTo>
                  <a:pt x="163245" y="1397000"/>
                </a:lnTo>
                <a:close/>
              </a:path>
              <a:path w="995680" h="1447800">
                <a:moveTo>
                  <a:pt x="173304" y="1409700"/>
                </a:moveTo>
                <a:lnTo>
                  <a:pt x="161010" y="1409700"/>
                </a:lnTo>
                <a:lnTo>
                  <a:pt x="155765" y="1397000"/>
                </a:lnTo>
                <a:lnTo>
                  <a:pt x="168160" y="1397000"/>
                </a:lnTo>
                <a:lnTo>
                  <a:pt x="173304" y="1409700"/>
                </a:lnTo>
                <a:close/>
              </a:path>
              <a:path w="995680" h="1447800">
                <a:moveTo>
                  <a:pt x="183426" y="1422400"/>
                </a:moveTo>
                <a:lnTo>
                  <a:pt x="171615" y="1422400"/>
                </a:lnTo>
                <a:lnTo>
                  <a:pt x="166293" y="1409700"/>
                </a:lnTo>
                <a:lnTo>
                  <a:pt x="178219" y="1409700"/>
                </a:lnTo>
                <a:lnTo>
                  <a:pt x="183426" y="1422400"/>
                </a:lnTo>
                <a:close/>
              </a:path>
              <a:path w="995680" h="1447800">
                <a:moveTo>
                  <a:pt x="198628" y="1435100"/>
                </a:moveTo>
                <a:lnTo>
                  <a:pt x="182435" y="1435100"/>
                </a:lnTo>
                <a:lnTo>
                  <a:pt x="176999" y="1422400"/>
                </a:lnTo>
                <a:lnTo>
                  <a:pt x="193344" y="1422400"/>
                </a:lnTo>
                <a:lnTo>
                  <a:pt x="198628" y="1435100"/>
                </a:lnTo>
                <a:close/>
              </a:path>
              <a:path w="995680" h="1447800">
                <a:moveTo>
                  <a:pt x="228587" y="1447800"/>
                </a:moveTo>
                <a:lnTo>
                  <a:pt x="199047" y="1447800"/>
                </a:lnTo>
                <a:lnTo>
                  <a:pt x="193459" y="1435100"/>
                </a:lnTo>
                <a:lnTo>
                  <a:pt x="223240" y="1435100"/>
                </a:lnTo>
                <a:lnTo>
                  <a:pt x="228587" y="1447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8171" y="4719751"/>
            <a:ext cx="1374140" cy="314325"/>
          </a:xfrm>
          <a:custGeom>
            <a:avLst/>
            <a:gdLst/>
            <a:ahLst/>
            <a:cxnLst/>
            <a:rect l="l" t="t" r="r" b="b"/>
            <a:pathLst>
              <a:path w="1374139" h="314325">
                <a:moveTo>
                  <a:pt x="1371600" y="314096"/>
                </a:moveTo>
                <a:lnTo>
                  <a:pt x="0" y="9296"/>
                </a:lnTo>
                <a:lnTo>
                  <a:pt x="2057" y="0"/>
                </a:lnTo>
                <a:lnTo>
                  <a:pt x="1373657" y="304800"/>
                </a:lnTo>
                <a:lnTo>
                  <a:pt x="1371600" y="314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24600" y="2890837"/>
            <a:ext cx="1528762" cy="618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03809" y="3003918"/>
            <a:ext cx="1069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location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610" y="601344"/>
            <a:ext cx="75107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Subclasses: </a:t>
            </a:r>
            <a:r>
              <a:rPr spc="-10" dirty="0"/>
              <a:t>Three</a:t>
            </a:r>
            <a:r>
              <a:rPr spc="-50" dirty="0"/>
              <a:t> </a:t>
            </a:r>
            <a:r>
              <a:rPr spc="-5" dirty="0"/>
              <a:t>Approaches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3534" y="1916417"/>
            <a:ext cx="8738065" cy="3748462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49605" marR="5080" indent="-649605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AutoNum type="arabicPeriod"/>
              <a:tabLst>
                <a:tab pos="649605" algn="l"/>
              </a:tabLst>
            </a:pPr>
            <a:r>
              <a:rPr lang="en-US" altLang="zh-CN" sz="3600" dirty="0">
                <a:effectLst/>
              </a:rPr>
              <a:t>Object-oriented</a:t>
            </a:r>
            <a:r>
              <a:rPr lang="en-US" altLang="zh-CN" sz="3350" i="1" spc="-107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lang="en-US" sz="3200" spc="-1070" dirty="0">
                <a:latin typeface="Tahoma"/>
                <a:cs typeface="Tahoma"/>
              </a:rPr>
              <a:t>:</a:t>
            </a:r>
            <a:r>
              <a:rPr lang="en-US" sz="3200" spc="-5" dirty="0">
                <a:latin typeface="Tahoma"/>
                <a:cs typeface="Tahoma"/>
              </a:rPr>
              <a:t> One relation per subset</a:t>
            </a:r>
            <a:r>
              <a:rPr lang="zh-CN" altLang="en-US" sz="3200" spc="-5" dirty="0">
                <a:latin typeface="Tahoma"/>
                <a:cs typeface="Tahoma"/>
              </a:rPr>
              <a:t>子集</a:t>
            </a:r>
            <a:r>
              <a:rPr lang="en-US" sz="3200" spc="-5" dirty="0">
                <a:latin typeface="Tahoma"/>
                <a:cs typeface="Tahoma"/>
              </a:rPr>
              <a:t> of  subclasses, with </a:t>
            </a:r>
            <a:r>
              <a:rPr lang="en-US" sz="3200" dirty="0">
                <a:latin typeface="Tahoma"/>
                <a:cs typeface="Tahoma"/>
              </a:rPr>
              <a:t>all </a:t>
            </a:r>
            <a:r>
              <a:rPr lang="en-US" sz="3200" spc="-15" dirty="0">
                <a:latin typeface="Tahoma"/>
                <a:cs typeface="Tahoma"/>
              </a:rPr>
              <a:t>relevant</a:t>
            </a:r>
            <a:r>
              <a:rPr lang="en-US" sz="3200" spc="-20" dirty="0">
                <a:latin typeface="Tahoma"/>
                <a:cs typeface="Tahoma"/>
              </a:rPr>
              <a:t> </a:t>
            </a:r>
            <a:r>
              <a:rPr lang="en-US" sz="3200" spc="-5" dirty="0">
                <a:latin typeface="Tahoma"/>
                <a:cs typeface="Tahoma"/>
              </a:rPr>
              <a:t>attributes.</a:t>
            </a:r>
            <a:endParaRPr lang="en-US" sz="3200" dirty="0">
              <a:latin typeface="Tahoma"/>
              <a:cs typeface="Tahoma"/>
            </a:endParaRPr>
          </a:p>
          <a:p>
            <a:pPr marL="649605" marR="44450" indent="-649605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49605" algn="l"/>
              </a:tabLst>
            </a:pPr>
            <a:r>
              <a:rPr lang="en-US" altLang="zh-CN" sz="3600" dirty="0" err="1">
                <a:effectLst/>
              </a:rPr>
              <a:t>Usenulls</a:t>
            </a:r>
            <a:r>
              <a:rPr lang="en-US" altLang="zh-CN" sz="3600" dirty="0">
                <a:effectLst/>
              </a:rPr>
              <a:t> </a:t>
            </a:r>
            <a:r>
              <a:rPr lang="en-US" sz="3200" spc="-805" dirty="0">
                <a:latin typeface="Tahoma"/>
                <a:cs typeface="Tahoma"/>
              </a:rPr>
              <a:t>: </a:t>
            </a:r>
            <a:r>
              <a:rPr lang="en-US" sz="3200" spc="-5" dirty="0">
                <a:latin typeface="Tahoma"/>
                <a:cs typeface="Tahoma"/>
              </a:rPr>
              <a:t>One relation; entities </a:t>
            </a:r>
            <a:r>
              <a:rPr lang="en-US" sz="3200" spc="-15" dirty="0">
                <a:latin typeface="Tahoma"/>
                <a:cs typeface="Tahoma"/>
              </a:rPr>
              <a:t>have </a:t>
            </a:r>
            <a:r>
              <a:rPr lang="en-US" sz="3200" spc="-5" dirty="0">
                <a:latin typeface="Tahoma"/>
                <a:cs typeface="Tahoma"/>
              </a:rPr>
              <a:t>NULL  in attributes that </a:t>
            </a:r>
            <a:r>
              <a:rPr lang="en-US" sz="3200" spc="10" dirty="0">
                <a:latin typeface="Tahoma"/>
                <a:cs typeface="Tahoma"/>
              </a:rPr>
              <a:t>don’t </a:t>
            </a:r>
            <a:r>
              <a:rPr lang="en-US" sz="3200" spc="-5" dirty="0">
                <a:latin typeface="Tahoma"/>
                <a:cs typeface="Tahoma"/>
              </a:rPr>
              <a:t>belong to</a:t>
            </a:r>
            <a:r>
              <a:rPr lang="en-US" sz="3200" spc="-35" dirty="0">
                <a:latin typeface="Tahoma"/>
                <a:cs typeface="Tahoma"/>
              </a:rPr>
              <a:t> </a:t>
            </a:r>
            <a:r>
              <a:rPr lang="en-US" sz="3200" spc="-5" dirty="0">
                <a:latin typeface="Tahoma"/>
                <a:cs typeface="Tahoma"/>
              </a:rPr>
              <a:t>them.</a:t>
            </a:r>
            <a:endParaRPr lang="en-US" sz="3200" dirty="0">
              <a:latin typeface="Tahoma"/>
              <a:cs typeface="Tahoma"/>
            </a:endParaRPr>
          </a:p>
          <a:p>
            <a:pPr marL="648970" indent="-636905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AutoNum type="arabicPeriod"/>
              <a:tabLst>
                <a:tab pos="649605" algn="l"/>
              </a:tabLst>
            </a:pPr>
            <a:r>
              <a:rPr lang="en-US" altLang="zh-CN" sz="3600" dirty="0">
                <a:effectLst/>
              </a:rPr>
              <a:t>E/</a:t>
            </a:r>
            <a:r>
              <a:rPr lang="en-US" altLang="zh-CN" sz="3600" dirty="0" err="1">
                <a:effectLst/>
              </a:rPr>
              <a:t>Rstyle</a:t>
            </a:r>
            <a:r>
              <a:rPr lang="en-US" sz="3200" spc="-840" dirty="0">
                <a:latin typeface="Tahoma"/>
                <a:cs typeface="Tahoma"/>
              </a:rPr>
              <a:t>:     </a:t>
            </a:r>
            <a:r>
              <a:rPr lang="en-US" sz="3200" spc="-5" dirty="0">
                <a:latin typeface="Tahoma"/>
                <a:cs typeface="Tahoma"/>
              </a:rPr>
              <a:t>One relation </a:t>
            </a:r>
            <a:r>
              <a:rPr lang="en-US" sz="3200" spc="-15" dirty="0">
                <a:latin typeface="Tahoma"/>
                <a:cs typeface="Tahoma"/>
              </a:rPr>
              <a:t>for </a:t>
            </a:r>
            <a:r>
              <a:rPr lang="en-US" sz="3200" spc="-5" dirty="0">
                <a:latin typeface="Tahoma"/>
                <a:cs typeface="Tahoma"/>
              </a:rPr>
              <a:t>each</a:t>
            </a:r>
            <a:r>
              <a:rPr lang="en-US" sz="3200" spc="35" dirty="0">
                <a:latin typeface="Tahoma"/>
                <a:cs typeface="Tahoma"/>
              </a:rPr>
              <a:t> </a:t>
            </a:r>
            <a:r>
              <a:rPr lang="en-US" sz="3200" spc="-5" dirty="0">
                <a:latin typeface="Tahoma"/>
                <a:cs typeface="Tahoma"/>
              </a:rPr>
              <a:t>subclass:</a:t>
            </a:r>
            <a:endParaRPr lang="en-US" sz="3200" dirty="0">
              <a:latin typeface="Tahoma"/>
              <a:cs typeface="Tahoma"/>
            </a:endParaRPr>
          </a:p>
          <a:p>
            <a:pPr marL="1056640" lvl="1" indent="-534035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"/>
              <a:tabLst>
                <a:tab pos="1056640" algn="l"/>
                <a:tab pos="1057275" algn="l"/>
              </a:tabLst>
            </a:pPr>
            <a:r>
              <a:rPr lang="en-US" sz="2800" spc="-30" dirty="0">
                <a:latin typeface="Tahoma"/>
                <a:cs typeface="Tahoma"/>
              </a:rPr>
              <a:t>Key</a:t>
            </a:r>
            <a:r>
              <a:rPr lang="en-US" sz="2800" spc="-5" dirty="0">
                <a:latin typeface="Tahoma"/>
                <a:cs typeface="Tahoma"/>
              </a:rPr>
              <a:t> attribute(s).</a:t>
            </a:r>
            <a:endParaRPr lang="en-US" sz="2800" dirty="0">
              <a:latin typeface="Tahoma"/>
              <a:cs typeface="Tahoma"/>
            </a:endParaRPr>
          </a:p>
          <a:p>
            <a:pPr marL="1056640" lvl="1" indent="-53403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1056640" algn="l"/>
                <a:tab pos="1057275" algn="l"/>
              </a:tabLst>
            </a:pPr>
            <a:r>
              <a:rPr lang="en-US" sz="2800" spc="-10" dirty="0">
                <a:latin typeface="Tahoma"/>
                <a:cs typeface="Tahoma"/>
              </a:rPr>
              <a:t>Attributes </a:t>
            </a:r>
            <a:r>
              <a:rPr lang="en-US" sz="2800" spc="-5" dirty="0">
                <a:latin typeface="Tahoma"/>
                <a:cs typeface="Tahoma"/>
              </a:rPr>
              <a:t>of that</a:t>
            </a:r>
            <a:r>
              <a:rPr lang="en-US" sz="2800" spc="10" dirty="0">
                <a:latin typeface="Tahoma"/>
                <a:cs typeface="Tahoma"/>
              </a:rPr>
              <a:t> </a:t>
            </a:r>
            <a:r>
              <a:rPr lang="en-US" sz="2800" spc="-5" dirty="0">
                <a:latin typeface="Tahoma"/>
                <a:cs typeface="Tahoma"/>
              </a:rPr>
              <a:t>subclass.</a:t>
            </a:r>
            <a:endParaRPr lang="en-US"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205037" y="2586037"/>
            <a:ext cx="4124325" cy="2981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990" y="829944"/>
            <a:ext cx="7780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Subclass </a:t>
            </a:r>
            <a:r>
              <a:rPr dirty="0"/>
              <a:t>-&gt;</a:t>
            </a:r>
            <a:r>
              <a:rPr spc="-20" dirty="0"/>
              <a:t> </a:t>
            </a:r>
            <a:r>
              <a:rPr spc="-15" dirty="0"/>
              <a:t>Relations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8084" y="2813050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7145" y="4946650"/>
            <a:ext cx="575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Ales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19220" y="4013834"/>
            <a:ext cx="39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2375" y="273686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na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4627" y="2775229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000" y="4947196"/>
            <a:ext cx="676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olor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864" y="829944"/>
            <a:ext cx="3938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Object-Oriented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6064" y="2276475"/>
            <a:ext cx="5271136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name		</a:t>
            </a:r>
            <a:r>
              <a:rPr sz="2400" spc="-5" dirty="0" err="1">
                <a:solidFill>
                  <a:srgbClr val="CC00CC"/>
                </a:solidFill>
                <a:latin typeface="Tahoma"/>
                <a:cs typeface="Tahoma"/>
              </a:rPr>
              <a:t>manf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endParaRPr lang="en-US" sz="2400" spc="-5" dirty="0">
              <a:solidFill>
                <a:srgbClr val="CC00CC"/>
              </a:solidFill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Anheu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-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sc</a:t>
            </a:r>
            <a:r>
              <a:rPr sz="2400" dirty="0">
                <a:latin typeface="Tahoma"/>
                <a:cs typeface="Tahoma"/>
              </a:rPr>
              <a:t>h</a:t>
            </a:r>
            <a:r>
              <a:rPr lang="en-US" sz="2400" dirty="0">
                <a:latin typeface="Tahoma"/>
                <a:cs typeface="Tahoma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dirty="0">
                <a:latin typeface="Tahoma"/>
                <a:cs typeface="Tahoma"/>
              </a:rPr>
              <a:t>Beers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01465" y="3739515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1664" y="3739515"/>
            <a:ext cx="1811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name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mm</a:t>
            </a:r>
            <a:r>
              <a:rPr sz="2400" dirty="0">
                <a:latin typeface="Tahoma"/>
                <a:cs typeface="Tahoma"/>
              </a:rPr>
              <a:t>er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ew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6215" y="4105275"/>
            <a:ext cx="80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ete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9265" y="3739515"/>
            <a:ext cx="6769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olor  </a:t>
            </a:r>
            <a:r>
              <a:rPr sz="2400" spc="-5" dirty="0">
                <a:latin typeface="Tahoma"/>
                <a:cs typeface="Tahoma"/>
              </a:rPr>
              <a:t>dark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38437" y="2281237"/>
            <a:ext cx="3667125" cy="771525"/>
          </a:xfrm>
          <a:custGeom>
            <a:avLst/>
            <a:gdLst/>
            <a:ahLst/>
            <a:cxnLst/>
            <a:rect l="l" t="t" r="r" b="b"/>
            <a:pathLst>
              <a:path w="3667125" h="771525">
                <a:moveTo>
                  <a:pt x="36671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3667125" y="0"/>
                </a:lnTo>
                <a:lnTo>
                  <a:pt x="3667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3667125" y="766762"/>
                </a:lnTo>
                <a:lnTo>
                  <a:pt x="3667125" y="771525"/>
                </a:lnTo>
                <a:close/>
              </a:path>
              <a:path w="36671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667125" h="771525">
                <a:moveTo>
                  <a:pt x="3657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657600" y="4762"/>
                </a:lnTo>
                <a:lnTo>
                  <a:pt x="3657600" y="9525"/>
                </a:lnTo>
                <a:close/>
              </a:path>
              <a:path w="3667125" h="771525">
                <a:moveTo>
                  <a:pt x="3657600" y="766762"/>
                </a:moveTo>
                <a:lnTo>
                  <a:pt x="3657600" y="4762"/>
                </a:lnTo>
                <a:lnTo>
                  <a:pt x="3662362" y="9525"/>
                </a:lnTo>
                <a:lnTo>
                  <a:pt x="3667125" y="9525"/>
                </a:lnTo>
                <a:lnTo>
                  <a:pt x="3667125" y="762000"/>
                </a:lnTo>
                <a:lnTo>
                  <a:pt x="3662362" y="762000"/>
                </a:lnTo>
                <a:lnTo>
                  <a:pt x="3657600" y="766762"/>
                </a:lnTo>
                <a:close/>
              </a:path>
              <a:path w="3667125" h="771525">
                <a:moveTo>
                  <a:pt x="3667125" y="9525"/>
                </a:moveTo>
                <a:lnTo>
                  <a:pt x="3662362" y="9525"/>
                </a:lnTo>
                <a:lnTo>
                  <a:pt x="3657600" y="4762"/>
                </a:lnTo>
                <a:lnTo>
                  <a:pt x="3667125" y="4762"/>
                </a:lnTo>
                <a:lnTo>
                  <a:pt x="3667125" y="9525"/>
                </a:lnTo>
                <a:close/>
              </a:path>
              <a:path w="36671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3667125" h="771525">
                <a:moveTo>
                  <a:pt x="36576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3657600" y="762000"/>
                </a:lnTo>
                <a:lnTo>
                  <a:pt x="3657600" y="766762"/>
                </a:lnTo>
                <a:close/>
              </a:path>
              <a:path w="3667125" h="771525">
                <a:moveTo>
                  <a:pt x="3667125" y="766762"/>
                </a:moveTo>
                <a:lnTo>
                  <a:pt x="3657600" y="766762"/>
                </a:lnTo>
                <a:lnTo>
                  <a:pt x="3662362" y="762000"/>
                </a:lnTo>
                <a:lnTo>
                  <a:pt x="3667125" y="762000"/>
                </a:lnTo>
                <a:lnTo>
                  <a:pt x="36671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43200" y="2667000"/>
            <a:ext cx="3657600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1400" y="22860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4037" y="3729037"/>
            <a:ext cx="4581525" cy="771525"/>
          </a:xfrm>
          <a:custGeom>
            <a:avLst/>
            <a:gdLst/>
            <a:ahLst/>
            <a:cxnLst/>
            <a:rect l="l" t="t" r="r" b="b"/>
            <a:pathLst>
              <a:path w="4581525" h="771525">
                <a:moveTo>
                  <a:pt x="45815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4581525" y="0"/>
                </a:lnTo>
                <a:lnTo>
                  <a:pt x="458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4581525" y="766762"/>
                </a:lnTo>
                <a:lnTo>
                  <a:pt x="4581525" y="771525"/>
                </a:lnTo>
                <a:close/>
              </a:path>
              <a:path w="45815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81525" h="771525">
                <a:moveTo>
                  <a:pt x="457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0" y="4762"/>
                </a:lnTo>
                <a:lnTo>
                  <a:pt x="4572000" y="9525"/>
                </a:lnTo>
                <a:close/>
              </a:path>
              <a:path w="4581525" h="771525">
                <a:moveTo>
                  <a:pt x="4572000" y="766762"/>
                </a:moveTo>
                <a:lnTo>
                  <a:pt x="4572000" y="4762"/>
                </a:lnTo>
                <a:lnTo>
                  <a:pt x="4576762" y="9525"/>
                </a:lnTo>
                <a:lnTo>
                  <a:pt x="4581525" y="9525"/>
                </a:lnTo>
                <a:lnTo>
                  <a:pt x="4581525" y="762000"/>
                </a:lnTo>
                <a:lnTo>
                  <a:pt x="4576762" y="762000"/>
                </a:lnTo>
                <a:lnTo>
                  <a:pt x="4572000" y="766762"/>
                </a:lnTo>
                <a:close/>
              </a:path>
              <a:path w="4581525" h="771525">
                <a:moveTo>
                  <a:pt x="4581525" y="9525"/>
                </a:moveTo>
                <a:lnTo>
                  <a:pt x="4576762" y="9525"/>
                </a:lnTo>
                <a:lnTo>
                  <a:pt x="4572000" y="4762"/>
                </a:lnTo>
                <a:lnTo>
                  <a:pt x="4581525" y="4762"/>
                </a:lnTo>
                <a:lnTo>
                  <a:pt x="4581525" y="9525"/>
                </a:lnTo>
                <a:close/>
              </a:path>
              <a:path w="45815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4581525" h="771525">
                <a:moveTo>
                  <a:pt x="45720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4572000" y="762000"/>
                </a:lnTo>
                <a:lnTo>
                  <a:pt x="4572000" y="766762"/>
                </a:lnTo>
                <a:close/>
              </a:path>
              <a:path w="4581525" h="771525">
                <a:moveTo>
                  <a:pt x="4581525" y="766762"/>
                </a:moveTo>
                <a:lnTo>
                  <a:pt x="4572000" y="766762"/>
                </a:lnTo>
                <a:lnTo>
                  <a:pt x="4576762" y="762000"/>
                </a:lnTo>
                <a:lnTo>
                  <a:pt x="4581525" y="762000"/>
                </a:lnTo>
                <a:lnTo>
                  <a:pt x="45815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8800" y="41148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0000" y="37338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7800" y="37338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17139" y="4471034"/>
            <a:ext cx="4059554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Ales</a:t>
            </a:r>
          </a:p>
          <a:p>
            <a:pPr>
              <a:lnSpc>
                <a:spcPct val="100000"/>
              </a:lnSpc>
            </a:pPr>
            <a:endParaRPr sz="395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Good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spc="-5" dirty="0">
                <a:latin typeface="Tahoma"/>
                <a:cs typeface="Tahoma"/>
              </a:rPr>
              <a:t>queries </a:t>
            </a:r>
            <a:r>
              <a:rPr sz="2400" spc="-10" dirty="0">
                <a:latin typeface="Tahoma"/>
                <a:cs typeface="Tahoma"/>
              </a:rPr>
              <a:t>like </a:t>
            </a:r>
            <a:r>
              <a:rPr sz="2400" dirty="0">
                <a:latin typeface="Tahoma"/>
                <a:cs typeface="Tahoma"/>
              </a:rPr>
              <a:t>“find the  </a:t>
            </a:r>
            <a:r>
              <a:rPr sz="2400" spc="-5" dirty="0">
                <a:latin typeface="Tahoma"/>
                <a:cs typeface="Tahoma"/>
              </a:rPr>
              <a:t>color </a:t>
            </a:r>
            <a:r>
              <a:rPr sz="2400" dirty="0">
                <a:latin typeface="Tahoma"/>
                <a:cs typeface="Tahoma"/>
              </a:rPr>
              <a:t>of ales </a:t>
            </a:r>
            <a:r>
              <a:rPr sz="2400" spc="-5" dirty="0">
                <a:latin typeface="Tahoma"/>
                <a:cs typeface="Tahoma"/>
              </a:rPr>
              <a:t>made by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Pete’s.”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5359" y="829944"/>
            <a:ext cx="2266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E/R</a:t>
            </a:r>
            <a:r>
              <a:rPr spc="-70" dirty="0"/>
              <a:t> </a:t>
            </a:r>
            <a:r>
              <a:rPr spc="-15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76412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na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6340" y="1776412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9637" y="1747837"/>
            <a:ext cx="4810125" cy="1152525"/>
          </a:xfrm>
          <a:custGeom>
            <a:avLst/>
            <a:gdLst/>
            <a:ahLst/>
            <a:cxnLst/>
            <a:rect l="l" t="t" r="r" b="b"/>
            <a:pathLst>
              <a:path w="4810125" h="1152525">
                <a:moveTo>
                  <a:pt x="48101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4810125" y="0"/>
                </a:lnTo>
                <a:lnTo>
                  <a:pt x="481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4810125" y="1147762"/>
                </a:lnTo>
                <a:lnTo>
                  <a:pt x="4810125" y="1152525"/>
                </a:lnTo>
                <a:close/>
              </a:path>
              <a:path w="48101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10125" h="1152525">
                <a:moveTo>
                  <a:pt x="480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00600" y="4762"/>
                </a:lnTo>
                <a:lnTo>
                  <a:pt x="4800600" y="9525"/>
                </a:lnTo>
                <a:close/>
              </a:path>
              <a:path w="4810125" h="1152525">
                <a:moveTo>
                  <a:pt x="4800600" y="1147762"/>
                </a:moveTo>
                <a:lnTo>
                  <a:pt x="4800600" y="4762"/>
                </a:lnTo>
                <a:lnTo>
                  <a:pt x="4805362" y="9525"/>
                </a:lnTo>
                <a:lnTo>
                  <a:pt x="4810125" y="9525"/>
                </a:lnTo>
                <a:lnTo>
                  <a:pt x="4810125" y="1143000"/>
                </a:lnTo>
                <a:lnTo>
                  <a:pt x="4805362" y="1143000"/>
                </a:lnTo>
                <a:lnTo>
                  <a:pt x="4800600" y="1147762"/>
                </a:lnTo>
                <a:close/>
              </a:path>
              <a:path w="4810125" h="1152525">
                <a:moveTo>
                  <a:pt x="4810125" y="9525"/>
                </a:moveTo>
                <a:lnTo>
                  <a:pt x="4805362" y="9525"/>
                </a:lnTo>
                <a:lnTo>
                  <a:pt x="4800600" y="4762"/>
                </a:lnTo>
                <a:lnTo>
                  <a:pt x="4810125" y="4762"/>
                </a:lnTo>
                <a:lnTo>
                  <a:pt x="4810125" y="9525"/>
                </a:lnTo>
                <a:close/>
              </a:path>
              <a:path w="48101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4810125" h="1152525">
                <a:moveTo>
                  <a:pt x="48006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4800600" y="1143000"/>
                </a:lnTo>
                <a:lnTo>
                  <a:pt x="4800600" y="1147762"/>
                </a:lnTo>
                <a:close/>
              </a:path>
              <a:path w="4810125" h="1152525">
                <a:moveTo>
                  <a:pt x="4810125" y="1147762"/>
                </a:moveTo>
                <a:lnTo>
                  <a:pt x="4800600" y="1147762"/>
                </a:lnTo>
                <a:lnTo>
                  <a:pt x="4805362" y="1143000"/>
                </a:lnTo>
                <a:lnTo>
                  <a:pt x="4810125" y="1143000"/>
                </a:lnTo>
                <a:lnTo>
                  <a:pt x="48101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9637" y="3576637"/>
            <a:ext cx="3209925" cy="771525"/>
          </a:xfrm>
          <a:custGeom>
            <a:avLst/>
            <a:gdLst/>
            <a:ahLst/>
            <a:cxnLst/>
            <a:rect l="l" t="t" r="r" b="b"/>
            <a:pathLst>
              <a:path w="3209925" h="771525">
                <a:moveTo>
                  <a:pt x="32099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3209925" y="0"/>
                </a:lnTo>
                <a:lnTo>
                  <a:pt x="3209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3209925" y="766762"/>
                </a:lnTo>
                <a:lnTo>
                  <a:pt x="3209925" y="771525"/>
                </a:lnTo>
                <a:close/>
              </a:path>
              <a:path w="32099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209925" h="771525">
                <a:moveTo>
                  <a:pt x="3200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200400" y="4762"/>
                </a:lnTo>
                <a:lnTo>
                  <a:pt x="3200400" y="9525"/>
                </a:lnTo>
                <a:close/>
              </a:path>
              <a:path w="3209925" h="771525">
                <a:moveTo>
                  <a:pt x="3200400" y="766762"/>
                </a:moveTo>
                <a:lnTo>
                  <a:pt x="3200400" y="4762"/>
                </a:lnTo>
                <a:lnTo>
                  <a:pt x="3205162" y="9525"/>
                </a:lnTo>
                <a:lnTo>
                  <a:pt x="3209925" y="9525"/>
                </a:lnTo>
                <a:lnTo>
                  <a:pt x="3209925" y="762000"/>
                </a:lnTo>
                <a:lnTo>
                  <a:pt x="3205162" y="762000"/>
                </a:lnTo>
                <a:lnTo>
                  <a:pt x="3200400" y="766762"/>
                </a:lnTo>
                <a:close/>
              </a:path>
              <a:path w="3209925" h="771525">
                <a:moveTo>
                  <a:pt x="3209925" y="9525"/>
                </a:moveTo>
                <a:lnTo>
                  <a:pt x="3205162" y="9525"/>
                </a:lnTo>
                <a:lnTo>
                  <a:pt x="3200400" y="4762"/>
                </a:lnTo>
                <a:lnTo>
                  <a:pt x="3209925" y="4762"/>
                </a:lnTo>
                <a:lnTo>
                  <a:pt x="3209925" y="9525"/>
                </a:lnTo>
                <a:close/>
              </a:path>
              <a:path w="32099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3209925" h="771525">
                <a:moveTo>
                  <a:pt x="32004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3200400" y="762000"/>
                </a:lnTo>
                <a:lnTo>
                  <a:pt x="3200400" y="766762"/>
                </a:lnTo>
                <a:close/>
              </a:path>
              <a:path w="3209925" h="771525">
                <a:moveTo>
                  <a:pt x="3209925" y="766762"/>
                </a:moveTo>
                <a:lnTo>
                  <a:pt x="3200400" y="766762"/>
                </a:lnTo>
                <a:lnTo>
                  <a:pt x="3205162" y="762000"/>
                </a:lnTo>
                <a:lnTo>
                  <a:pt x="3209925" y="762000"/>
                </a:lnTo>
                <a:lnTo>
                  <a:pt x="32099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4400" y="2133600"/>
            <a:ext cx="4800600" cy="0"/>
          </a:xfrm>
          <a:custGeom>
            <a:avLst/>
            <a:gdLst/>
            <a:ahLst/>
            <a:cxnLst/>
            <a:rect l="l" t="t" r="r" b="b"/>
            <a:pathLst>
              <a:path w="4800600">
                <a:moveTo>
                  <a:pt x="0" y="0"/>
                </a:moveTo>
                <a:lnTo>
                  <a:pt x="480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5600" y="17526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3962400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>
                <a:moveTo>
                  <a:pt x="0" y="0"/>
                </a:moveTo>
                <a:lnTo>
                  <a:pt x="3200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1800" y="35814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993139" y="2142172"/>
            <a:ext cx="4737100" cy="4083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7380">
              <a:lnSpc>
                <a:spcPct val="100000"/>
              </a:lnSpc>
              <a:spcBef>
                <a:spcPts val="100"/>
              </a:spcBef>
              <a:tabLst>
                <a:tab pos="1936114" algn="l"/>
              </a:tabLst>
            </a:pPr>
            <a:r>
              <a:rPr spc="10" dirty="0"/>
              <a:t>B</a:t>
            </a:r>
            <a:r>
              <a:rPr dirty="0"/>
              <a:t>ud	Anheu</a:t>
            </a:r>
            <a:r>
              <a:rPr spc="-5" dirty="0"/>
              <a:t>s</a:t>
            </a:r>
            <a:r>
              <a:rPr dirty="0"/>
              <a:t>e</a:t>
            </a:r>
            <a:r>
              <a:rPr spc="-30" dirty="0"/>
              <a:t>r</a:t>
            </a:r>
            <a:r>
              <a:rPr spc="-5" dirty="0"/>
              <a:t>-</a:t>
            </a:r>
            <a:r>
              <a:rPr spc="10" dirty="0"/>
              <a:t>B</a:t>
            </a:r>
            <a:r>
              <a:rPr dirty="0"/>
              <a:t>u</a:t>
            </a:r>
            <a:r>
              <a:rPr spc="-5" dirty="0"/>
              <a:t>sc</a:t>
            </a:r>
            <a:r>
              <a:rPr dirty="0"/>
              <a:t>h  </a:t>
            </a:r>
            <a:r>
              <a:rPr spc="-5" dirty="0" err="1"/>
              <a:t>Summerbrew</a:t>
            </a:r>
            <a:r>
              <a:rPr spc="330" dirty="0"/>
              <a:t> </a:t>
            </a:r>
            <a:r>
              <a:rPr spc="-25" dirty="0"/>
              <a:t>Pete’s</a:t>
            </a:r>
            <a:r>
              <a:rPr lang="en-US" spc="-25" dirty="0"/>
              <a:t> </a:t>
            </a:r>
          </a:p>
          <a:p>
            <a:pPr marL="12700" marR="627380">
              <a:lnSpc>
                <a:spcPct val="100000"/>
              </a:lnSpc>
              <a:spcBef>
                <a:spcPts val="100"/>
              </a:spcBef>
              <a:tabLst>
                <a:tab pos="1936114" algn="l"/>
              </a:tabLst>
            </a:pPr>
            <a:r>
              <a:rPr dirty="0"/>
              <a:t>Beers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 dirty="0"/>
          </a:p>
          <a:p>
            <a:pPr marL="12700">
              <a:lnSpc>
                <a:spcPct val="100000"/>
              </a:lnSpc>
              <a:tabLst>
                <a:tab pos="2317115" algn="l"/>
              </a:tabLst>
            </a:pPr>
            <a:r>
              <a:rPr spc="-5" dirty="0">
                <a:solidFill>
                  <a:srgbClr val="CC00CC"/>
                </a:solidFill>
              </a:rPr>
              <a:t>name	color</a:t>
            </a:r>
          </a:p>
          <a:p>
            <a:pPr marL="12700">
              <a:lnSpc>
                <a:spcPts val="2880"/>
              </a:lnSpc>
              <a:spcBef>
                <a:spcPts val="5"/>
              </a:spcBef>
              <a:tabLst>
                <a:tab pos="2273300" algn="l"/>
              </a:tabLst>
            </a:pPr>
            <a:r>
              <a:rPr spc="-5" dirty="0"/>
              <a:t>Summerbrew	dark</a:t>
            </a:r>
            <a:endParaRPr lang="en-US" spc="-5" dirty="0"/>
          </a:p>
          <a:p>
            <a:pPr marL="12700">
              <a:lnSpc>
                <a:spcPts val="2880"/>
              </a:lnSpc>
              <a:spcBef>
                <a:spcPts val="5"/>
              </a:spcBef>
              <a:tabLst>
                <a:tab pos="2273300" algn="l"/>
              </a:tabLst>
            </a:pPr>
            <a:r>
              <a:rPr lang="en-US" spc="-5" dirty="0"/>
              <a:t> </a:t>
            </a:r>
            <a:r>
              <a:rPr dirty="0"/>
              <a:t>Ales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/>
          </a:p>
          <a:p>
            <a:pPr marL="1459865" marR="508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Good </a:t>
            </a:r>
            <a:r>
              <a:rPr spc="-10" dirty="0"/>
              <a:t>for </a:t>
            </a:r>
            <a:r>
              <a:rPr spc="-5" dirty="0"/>
              <a:t>queries </a:t>
            </a:r>
            <a:r>
              <a:rPr spc="-10" dirty="0"/>
              <a:t>like  </a:t>
            </a:r>
            <a:r>
              <a:rPr dirty="0"/>
              <a:t>“find all </a:t>
            </a:r>
            <a:r>
              <a:rPr spc="-5" dirty="0"/>
              <a:t>beers (including  ales) made by</a:t>
            </a:r>
            <a:r>
              <a:rPr spc="-30" dirty="0"/>
              <a:t> </a:t>
            </a:r>
            <a:r>
              <a:rPr spc="-50" dirty="0"/>
              <a:t>Pete’s.”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67</a:t>
            </a:fld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4685" y="829944"/>
            <a:ext cx="2755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</a:t>
            </a:r>
            <a:r>
              <a:rPr spc="-65" dirty="0"/>
              <a:t> </a:t>
            </a:r>
            <a:r>
              <a:rPr spc="-5" dirty="0"/>
              <a:t>Nulls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9264" y="2655887"/>
            <a:ext cx="772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na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  </a:t>
            </a:r>
            <a:r>
              <a:rPr sz="2400" dirty="0">
                <a:latin typeface="Tahoma"/>
                <a:cs typeface="Tahoma"/>
              </a:rPr>
              <a:t>Bud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565" y="2655887"/>
            <a:ext cx="2190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39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manf  </a:t>
            </a:r>
            <a:r>
              <a:rPr sz="2400" dirty="0">
                <a:latin typeface="Tahoma"/>
                <a:cs typeface="Tahoma"/>
              </a:rPr>
              <a:t>Anheu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-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sc</a:t>
            </a:r>
            <a:r>
              <a:rPr sz="2400" dirty="0">
                <a:latin typeface="Tahoma"/>
                <a:cs typeface="Tahoma"/>
              </a:rPr>
              <a:t>h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7515" y="2655887"/>
            <a:ext cx="772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olor  </a:t>
            </a:r>
            <a:r>
              <a:rPr sz="2400" spc="-5" dirty="0">
                <a:latin typeface="Tahoma"/>
                <a:cs typeface="Tahoma"/>
              </a:rPr>
              <a:t>NULL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9264" y="3387407"/>
            <a:ext cx="1811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mm</a:t>
            </a:r>
            <a:r>
              <a:rPr sz="2400" dirty="0">
                <a:latin typeface="Tahoma"/>
                <a:cs typeface="Tahoma"/>
              </a:rPr>
              <a:t>er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ew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7515" y="3387407"/>
            <a:ext cx="615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ark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58565" y="3387407"/>
            <a:ext cx="1497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Pete’s</a:t>
            </a:r>
            <a:endParaRPr sz="2400">
              <a:latin typeface="Tahoma"/>
              <a:cs typeface="Tahoma"/>
            </a:endParaRPr>
          </a:p>
          <a:p>
            <a:pPr marL="736600">
              <a:lnSpc>
                <a:spcPct val="100000"/>
              </a:lnSpc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95437" y="2662237"/>
            <a:ext cx="6181725" cy="1152525"/>
          </a:xfrm>
          <a:custGeom>
            <a:avLst/>
            <a:gdLst/>
            <a:ahLst/>
            <a:cxnLst/>
            <a:rect l="l" t="t" r="r" b="b"/>
            <a:pathLst>
              <a:path w="6181725" h="1152525">
                <a:moveTo>
                  <a:pt x="6181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181725" y="0"/>
                </a:lnTo>
                <a:lnTo>
                  <a:pt x="618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181725" y="1147762"/>
                </a:lnTo>
                <a:lnTo>
                  <a:pt x="6181725" y="1152525"/>
                </a:lnTo>
                <a:close/>
              </a:path>
              <a:path w="6181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81725" h="1152525">
                <a:moveTo>
                  <a:pt x="617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172200" y="4762"/>
                </a:lnTo>
                <a:lnTo>
                  <a:pt x="6172200" y="9525"/>
                </a:lnTo>
                <a:close/>
              </a:path>
              <a:path w="6181725" h="1152525">
                <a:moveTo>
                  <a:pt x="6172200" y="1147762"/>
                </a:moveTo>
                <a:lnTo>
                  <a:pt x="6172200" y="4762"/>
                </a:lnTo>
                <a:lnTo>
                  <a:pt x="6176962" y="9525"/>
                </a:lnTo>
                <a:lnTo>
                  <a:pt x="6181725" y="9525"/>
                </a:lnTo>
                <a:lnTo>
                  <a:pt x="6181725" y="1143000"/>
                </a:lnTo>
                <a:lnTo>
                  <a:pt x="6176962" y="1143000"/>
                </a:lnTo>
                <a:lnTo>
                  <a:pt x="6172200" y="1147762"/>
                </a:lnTo>
                <a:close/>
              </a:path>
              <a:path w="6181725" h="1152525">
                <a:moveTo>
                  <a:pt x="6181725" y="9525"/>
                </a:moveTo>
                <a:lnTo>
                  <a:pt x="6176962" y="9525"/>
                </a:lnTo>
                <a:lnTo>
                  <a:pt x="6172200" y="4762"/>
                </a:lnTo>
                <a:lnTo>
                  <a:pt x="6181725" y="4762"/>
                </a:lnTo>
                <a:lnTo>
                  <a:pt x="6181725" y="9525"/>
                </a:lnTo>
                <a:close/>
              </a:path>
              <a:path w="6181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181725" h="1152525">
                <a:moveTo>
                  <a:pt x="6172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172200" y="1143000"/>
                </a:lnTo>
                <a:lnTo>
                  <a:pt x="6172200" y="1147762"/>
                </a:lnTo>
                <a:close/>
              </a:path>
              <a:path w="6181725" h="1152525">
                <a:moveTo>
                  <a:pt x="6181725" y="1147762"/>
                </a:moveTo>
                <a:lnTo>
                  <a:pt x="6172200" y="1147762"/>
                </a:lnTo>
                <a:lnTo>
                  <a:pt x="6176962" y="1143000"/>
                </a:lnTo>
                <a:lnTo>
                  <a:pt x="6181725" y="1143000"/>
                </a:lnTo>
                <a:lnTo>
                  <a:pt x="6181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0200" y="304800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57600" y="26670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05600" y="26670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36139" y="4893959"/>
            <a:ext cx="4734560" cy="7721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20"/>
              </a:spcBef>
            </a:pPr>
            <a:r>
              <a:rPr sz="2400" spc="-10" dirty="0">
                <a:latin typeface="Tahoma"/>
                <a:cs typeface="Tahoma"/>
              </a:rPr>
              <a:t>Saves </a:t>
            </a:r>
            <a:r>
              <a:rPr sz="2400" spc="-5" dirty="0">
                <a:latin typeface="Tahoma"/>
                <a:cs typeface="Tahoma"/>
              </a:rPr>
              <a:t>space unless there are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500" i="1" spc="-615" dirty="0">
                <a:latin typeface="Tahoma"/>
                <a:cs typeface="Tahoma"/>
              </a:rPr>
              <a:t>lots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attributes </a:t>
            </a:r>
            <a:r>
              <a:rPr sz="2400" dirty="0">
                <a:latin typeface="Tahoma"/>
                <a:cs typeface="Tahoma"/>
              </a:rPr>
              <a:t>that </a:t>
            </a:r>
            <a:r>
              <a:rPr sz="2400" spc="-5" dirty="0">
                <a:latin typeface="Tahoma"/>
                <a:cs typeface="Tahoma"/>
              </a:rPr>
              <a:t>are </a:t>
            </a:r>
            <a:r>
              <a:rPr sz="2400" dirty="0">
                <a:latin typeface="Tahoma"/>
                <a:cs typeface="Tahoma"/>
              </a:rPr>
              <a:t>usually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NULL.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8500" y="816927"/>
            <a:ext cx="2667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97062"/>
            <a:ext cx="7335520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设计图书馆管理的数据库，包含以下信 息：图书名称、</a:t>
            </a:r>
            <a:r>
              <a:rPr sz="3200" spc="-5" dirty="0">
                <a:latin typeface="宋体"/>
                <a:cs typeface="宋体"/>
              </a:rPr>
              <a:t>ISBN（International  Standard</a:t>
            </a:r>
            <a:r>
              <a:rPr sz="3200" spc="-25" dirty="0">
                <a:latin typeface="宋体"/>
                <a:cs typeface="宋体"/>
              </a:rPr>
              <a:t> </a:t>
            </a:r>
            <a:r>
              <a:rPr sz="3200" spc="-5" dirty="0">
                <a:latin typeface="宋体"/>
                <a:cs typeface="宋体"/>
              </a:rPr>
              <a:t>Book</a:t>
            </a:r>
            <a:r>
              <a:rPr sz="3200" spc="-25" dirty="0">
                <a:latin typeface="宋体"/>
                <a:cs typeface="宋体"/>
              </a:rPr>
              <a:t> </a:t>
            </a:r>
            <a:r>
              <a:rPr sz="3200" spc="-5" dirty="0">
                <a:latin typeface="宋体"/>
                <a:cs typeface="宋体"/>
              </a:rPr>
              <a:t>Number，</a:t>
            </a:r>
            <a:r>
              <a:rPr sz="3200" dirty="0">
                <a:latin typeface="宋体"/>
                <a:cs typeface="宋体"/>
              </a:rPr>
              <a:t>国际标准书</a:t>
            </a:r>
            <a:r>
              <a:rPr sz="3200" spc="5" dirty="0">
                <a:latin typeface="宋体"/>
                <a:cs typeface="宋体"/>
              </a:rPr>
              <a:t>号</a:t>
            </a:r>
            <a:endParaRPr sz="3200" dirty="0">
              <a:latin typeface="宋体"/>
              <a:cs typeface="宋体"/>
            </a:endParaRPr>
          </a:p>
          <a:p>
            <a:pPr marL="355600" marR="63500" algn="just">
              <a:lnSpc>
                <a:spcPct val="100000"/>
              </a:lnSpc>
            </a:pPr>
            <a:r>
              <a:rPr sz="3200" dirty="0">
                <a:latin typeface="宋体"/>
                <a:cs typeface="宋体"/>
              </a:rPr>
              <a:t>）、图书类别、书条形码（条形码可以 唯一的对应一本书）、是否已经出借、 学生的信息（学号、姓名、班级、性别 等）、学生已经借阅的图书、借书时</a:t>
            </a:r>
            <a:r>
              <a:rPr sz="3200" spc="5" dirty="0">
                <a:latin typeface="宋体"/>
                <a:cs typeface="宋体"/>
              </a:rPr>
              <a:t>间</a:t>
            </a:r>
            <a:endParaRPr sz="3200" dirty="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宋体"/>
                <a:cs typeface="宋体"/>
              </a:rPr>
              <a:t>、还书时间、图书证号码</a:t>
            </a:r>
            <a:r>
              <a:rPr sz="3200" spc="5" dirty="0">
                <a:latin typeface="宋体"/>
                <a:cs typeface="宋体"/>
              </a:rPr>
              <a:t>。</a:t>
            </a:r>
            <a:endParaRPr sz="32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3987" y="499744"/>
            <a:ext cx="1143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宋体"/>
                <a:cs typeface="宋体"/>
              </a:rPr>
              <a:t>需</a:t>
            </a:r>
            <a:r>
              <a:rPr spc="5" dirty="0">
                <a:latin typeface="宋体"/>
                <a:cs typeface="宋体"/>
              </a:rPr>
              <a:t>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052" y="1480185"/>
            <a:ext cx="7578090" cy="471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dirty="0">
                <a:latin typeface="宋体"/>
                <a:cs typeface="宋体"/>
              </a:rPr>
              <a:t>其中语义有：每位同学的学号就是图书证号</a:t>
            </a:r>
            <a:r>
              <a:rPr sz="2800" spc="-5" dirty="0">
                <a:latin typeface="宋体"/>
                <a:cs typeface="宋体"/>
              </a:rPr>
              <a:t>码</a:t>
            </a:r>
            <a:endParaRPr sz="2800">
              <a:latin typeface="宋体"/>
              <a:cs typeface="宋体"/>
            </a:endParaRPr>
          </a:p>
          <a:p>
            <a:pPr marL="355600" marR="5080">
              <a:lnSpc>
                <a:spcPct val="99900"/>
              </a:lnSpc>
            </a:pPr>
            <a:r>
              <a:rPr sz="2800" dirty="0">
                <a:latin typeface="宋体"/>
                <a:cs typeface="宋体"/>
              </a:rPr>
              <a:t>，每位同学最多可以借阅</a:t>
            </a:r>
            <a:r>
              <a:rPr sz="2800" spc="-5" dirty="0">
                <a:latin typeface="宋体"/>
                <a:cs typeface="宋体"/>
              </a:rPr>
              <a:t>5</a:t>
            </a:r>
            <a:r>
              <a:rPr sz="2800" dirty="0">
                <a:latin typeface="宋体"/>
                <a:cs typeface="宋体"/>
              </a:rPr>
              <a:t>本图书，要登记</a:t>
            </a:r>
            <a:r>
              <a:rPr sz="2800" spc="-5" dirty="0">
                <a:latin typeface="宋体"/>
                <a:cs typeface="宋体"/>
              </a:rPr>
              <a:t>学 </a:t>
            </a:r>
            <a:r>
              <a:rPr sz="2800" dirty="0">
                <a:latin typeface="宋体"/>
                <a:cs typeface="宋体"/>
              </a:rPr>
              <a:t>生借阅的具体书（即同时登记</a:t>
            </a:r>
            <a:r>
              <a:rPr sz="2800" spc="-5" dirty="0">
                <a:latin typeface="宋体"/>
                <a:cs typeface="宋体"/>
              </a:rPr>
              <a:t>ISBN</a:t>
            </a:r>
            <a:r>
              <a:rPr sz="2800" dirty="0">
                <a:latin typeface="宋体"/>
                <a:cs typeface="宋体"/>
              </a:rPr>
              <a:t>和条形码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dirty="0">
                <a:latin typeface="宋体"/>
                <a:cs typeface="宋体"/>
              </a:rPr>
              <a:t>每本书有若干册，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宋体"/>
                <a:cs typeface="宋体"/>
              </a:rPr>
              <a:t>相同，但条形码不同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355600" marR="22860" algn="just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latin typeface="宋体"/>
                <a:cs typeface="宋体"/>
              </a:rPr>
              <a:t>，当归还图书时需要把该借阅信息作为历史</a:t>
            </a:r>
            <a:r>
              <a:rPr sz="2800" spc="-5" dirty="0">
                <a:latin typeface="宋体"/>
                <a:cs typeface="宋体"/>
              </a:rPr>
              <a:t>信 </a:t>
            </a:r>
            <a:r>
              <a:rPr sz="2800" dirty="0">
                <a:latin typeface="宋体"/>
                <a:cs typeface="宋体"/>
              </a:rPr>
              <a:t>息保存起来，借书期限为一个月（不续借</a:t>
            </a:r>
            <a:r>
              <a:rPr sz="2800" spc="-5" dirty="0">
                <a:latin typeface="宋体"/>
                <a:cs typeface="宋体"/>
              </a:rPr>
              <a:t>），  </a:t>
            </a:r>
            <a:r>
              <a:rPr sz="2800" dirty="0">
                <a:latin typeface="宋体"/>
                <a:cs typeface="宋体"/>
              </a:rPr>
              <a:t>如果学生未能借到书，可以进行预约登记，</a:t>
            </a:r>
            <a:r>
              <a:rPr sz="2800" spc="-5" dirty="0">
                <a:latin typeface="宋体"/>
                <a:cs typeface="宋体"/>
              </a:rPr>
              <a:t>一 </a:t>
            </a:r>
            <a:r>
              <a:rPr sz="2800" dirty="0">
                <a:latin typeface="宋体"/>
                <a:cs typeface="宋体"/>
              </a:rPr>
              <a:t>旦有预约的图书归还，数据库将自动使用电</a:t>
            </a:r>
            <a:r>
              <a:rPr sz="2800" spc="-5" dirty="0">
                <a:latin typeface="宋体"/>
                <a:cs typeface="宋体"/>
              </a:rPr>
              <a:t>子 </a:t>
            </a:r>
            <a:r>
              <a:rPr sz="2800" dirty="0">
                <a:latin typeface="宋体"/>
                <a:cs typeface="宋体"/>
              </a:rPr>
              <a:t>邮件通知预约学生来借书（假设数据库系统</a:t>
            </a:r>
            <a:r>
              <a:rPr sz="2800" spc="-5" dirty="0">
                <a:latin typeface="宋体"/>
                <a:cs typeface="宋体"/>
              </a:rPr>
              <a:t>中 </a:t>
            </a:r>
            <a:r>
              <a:rPr sz="2800" dirty="0">
                <a:latin typeface="宋体"/>
                <a:cs typeface="宋体"/>
              </a:rPr>
              <a:t>有函数</a:t>
            </a:r>
            <a:r>
              <a:rPr sz="2800" spc="-5" dirty="0">
                <a:latin typeface="宋体"/>
                <a:cs typeface="宋体"/>
              </a:rPr>
              <a:t>mailto(</a:t>
            </a:r>
            <a:r>
              <a:rPr sz="2800" spc="-5" dirty="0">
                <a:latin typeface="Times New Roman"/>
                <a:cs typeface="Times New Roman"/>
              </a:rPr>
              <a:t>email</a:t>
            </a:r>
            <a:r>
              <a:rPr sz="2800" spc="-5" dirty="0">
                <a:latin typeface="宋体"/>
                <a:cs typeface="宋体"/>
              </a:rPr>
              <a:t>_address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text</a:t>
            </a:r>
            <a:r>
              <a:rPr sz="2800" spc="-5" dirty="0">
                <a:latin typeface="宋体"/>
                <a:cs typeface="宋体"/>
              </a:rPr>
              <a:t>)），</a:t>
            </a:r>
            <a:r>
              <a:rPr sz="2800" dirty="0">
                <a:latin typeface="宋体"/>
                <a:cs typeface="宋体"/>
              </a:rPr>
              <a:t>当借</a:t>
            </a:r>
            <a:r>
              <a:rPr sz="2800" spc="-5" dirty="0">
                <a:latin typeface="宋体"/>
                <a:cs typeface="宋体"/>
              </a:rPr>
              <a:t>书 </a:t>
            </a:r>
            <a:r>
              <a:rPr sz="2800" dirty="0">
                <a:latin typeface="宋体"/>
                <a:cs typeface="宋体"/>
              </a:rPr>
              <a:t>完毕，删除预约信息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2733</Words>
  <Application>Microsoft Office PowerPoint</Application>
  <PresentationFormat>全屏显示(4:3)</PresentationFormat>
  <Paragraphs>508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6" baseType="lpstr">
      <vt:lpstr>宋体</vt:lpstr>
      <vt:lpstr>Calibri</vt:lpstr>
      <vt:lpstr>Tahoma</vt:lpstr>
      <vt:lpstr>Times New Roman</vt:lpstr>
      <vt:lpstr>Wingdings</vt:lpstr>
      <vt:lpstr>Office Theme</vt:lpstr>
      <vt:lpstr>Entity-Relationship Model</vt:lpstr>
      <vt:lpstr>Purpose of E/R Model</vt:lpstr>
      <vt:lpstr>Framework for E/R</vt:lpstr>
      <vt:lpstr>Entity Sets</vt:lpstr>
      <vt:lpstr>E/R Diagrams</vt:lpstr>
      <vt:lpstr>Example:</vt:lpstr>
      <vt:lpstr>Relationships</vt:lpstr>
      <vt:lpstr>Example: Relationships</vt:lpstr>
      <vt:lpstr>Relationship Set</vt:lpstr>
      <vt:lpstr>Example: Relationship Set</vt:lpstr>
      <vt:lpstr>Multiway多路Relationships</vt:lpstr>
      <vt:lpstr>Example: 3-Way Relationship</vt:lpstr>
      <vt:lpstr>A Typical Relationship Set</vt:lpstr>
      <vt:lpstr>Many-Many Relationships</vt:lpstr>
      <vt:lpstr>In Pictures:</vt:lpstr>
      <vt:lpstr>Many-One Relationships</vt:lpstr>
      <vt:lpstr>In Pictures:</vt:lpstr>
      <vt:lpstr>Example: Many-One Relationship</vt:lpstr>
      <vt:lpstr>One-One Relationships</vt:lpstr>
      <vt:lpstr>In Pictures:</vt:lpstr>
      <vt:lpstr>Representing “Multiplicity”</vt:lpstr>
      <vt:lpstr>Example: Many-One Relationship</vt:lpstr>
      <vt:lpstr>Example: One-One Relationship</vt:lpstr>
      <vt:lpstr>In the E/R Diagram</vt:lpstr>
      <vt:lpstr>Attributes on Relationships</vt:lpstr>
      <vt:lpstr>Example: Attribute on  Relationship</vt:lpstr>
      <vt:lpstr>Equivalent Diagrams 等价图Without  Attributes on Relationships</vt:lpstr>
      <vt:lpstr>Example: Removing an  Attribute from a Relationship</vt:lpstr>
      <vt:lpstr>Roles</vt:lpstr>
      <vt:lpstr>Example: Roles Relationship Set</vt:lpstr>
      <vt:lpstr>Example: Roles</vt:lpstr>
      <vt:lpstr>Subclasses</vt:lpstr>
      <vt:lpstr>Subclasses in E/R Diagrams</vt:lpstr>
      <vt:lpstr>Example: Subclasses</vt:lpstr>
      <vt:lpstr>E/R Vs. Object-Oriented面向对象 Subclasses</vt:lpstr>
      <vt:lpstr>Example: Representatives of  Entities</vt:lpstr>
      <vt:lpstr>Keys</vt:lpstr>
      <vt:lpstr>Keys in E/R Diagrams</vt:lpstr>
      <vt:lpstr>Example: name is Key for Beers</vt:lpstr>
      <vt:lpstr>Example: a Multi-attribute Key</vt:lpstr>
      <vt:lpstr>Weak Entity Sets</vt:lpstr>
      <vt:lpstr>Example: Weak Entity Set</vt:lpstr>
      <vt:lpstr>In E/R Diagrams</vt:lpstr>
      <vt:lpstr>Weak Entity-Set Rules</vt:lpstr>
      <vt:lpstr>Weak Entity-Set Rules – (2)</vt:lpstr>
      <vt:lpstr>Design Techniques</vt:lpstr>
      <vt:lpstr>Avoiding Redundancy</vt:lpstr>
      <vt:lpstr>Example: Good</vt:lpstr>
      <vt:lpstr>Example: Bad</vt:lpstr>
      <vt:lpstr>Example: Bad</vt:lpstr>
      <vt:lpstr>Entity Sets Versus对比Attributes</vt:lpstr>
      <vt:lpstr>Example: Good</vt:lpstr>
      <vt:lpstr>Example: Good</vt:lpstr>
      <vt:lpstr>Example: Bad</vt:lpstr>
      <vt:lpstr>Don’t Overuse Weak Entity Sets</vt:lpstr>
      <vt:lpstr>When Do We Need Weak  Entity Sets?</vt:lpstr>
      <vt:lpstr>From E/R Diagrams to Relations</vt:lpstr>
      <vt:lpstr>Entity Set -&gt; Relation</vt:lpstr>
      <vt:lpstr>Relationship -&gt; Relation</vt:lpstr>
      <vt:lpstr>Combining Relations</vt:lpstr>
      <vt:lpstr>Risk with Many-Many Relationships</vt:lpstr>
      <vt:lpstr>Handling Weak Entity Sets</vt:lpstr>
      <vt:lpstr>Example: Weak Entity Set -&gt;  Relation</vt:lpstr>
      <vt:lpstr>Subclasses: Three Approaches</vt:lpstr>
      <vt:lpstr>Example: Subclass -&gt; Relations</vt:lpstr>
      <vt:lpstr>Object-Oriented</vt:lpstr>
      <vt:lpstr>E/R Style</vt:lpstr>
      <vt:lpstr>Using Nulls</vt:lpstr>
      <vt:lpstr>Homework</vt:lpstr>
      <vt:lpstr>需求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3</cp:revision>
  <dcterms:created xsi:type="dcterms:W3CDTF">2024-06-14T11:28:53Z</dcterms:created>
  <dcterms:modified xsi:type="dcterms:W3CDTF">2024-06-15T07:48:50Z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2024-06-14T00:00:00Z</vt:filetime>
  </property>
</Properties>
</file>
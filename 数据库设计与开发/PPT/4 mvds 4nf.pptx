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6858000" type="screen4x3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52" y="7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8T08:50:54.35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27,'13'-8,"8"-4,51 6,48 11,71 10,87 14,52 3,29 4,-21 9,-26-3,-40-9,-58-10,-62-9,-47-7,-42-5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8T08:50:55.55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0,'91'4,"0"4,118 25,-152-23,218 40,80 15,802 115,14-93,-1085-86,95-10,-162 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8T08:50:56.17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0 127,'4'0,"23"0,62-4,74-2,87 0,26-7,20-1,25 2,7 2,-25 3,-45 4,-61 1,-55-3,-53-9,-36-2,-28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8T08:50:57.37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1,'138'9,"-77"-2,766 94,5 28,-718-111,-63-10,79 2,-110-10,1-1,0-1,-1 0,1-2,-1 0,27-10,-23 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8T10:03:21.50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886 1143,'429'6,"172"-2,416-54,-124 4,-259 24,736-17,-1219 40,279 38,517 67,778 79,-1318-131,1518 131,185-30,-957-83,-265-18,2 23,-37 24,233 60,-476-66,1059 124,-760-146,-5-32,101-24,-9-49,-715 12,-136 10,199-19,-316 25,0-1,-1-1,31-10,-49 13,-1 0,1-1,-1 0,0 0,0 0,-1-1,1-1,-1 1,0-1,-1 0,1-1,-1 1,7-11,-11 14,-1 1,0-1,1 0,-1 0,0 0,-1 0,1 0,0 0,-1 0,0 0,1 0,-1 0,0 0,-1 0,0-4,0 2,-1-1,1 1,-1 0,-1 0,1 0,-1 1,1-1,-5-4,-6-6,0 1,-1 0,-29-22,-88-63,-249-143,269 184,-2 5,-3 4,-122-33,-94 1,-595-60,-20 60,-200-9,-148-11,541 55,-831-27,895 46,-1377-13,17 41,1148 3,-1844-3,2814 19,77 9,65 10,113 17,126 21,102 4,143-4,174-14,216-18,151-18,130-26,836-50,20-37,-823 30,-93 11,-165 17,-231 18,-265 24,-254 18,-278-10,-105-21,-1 1,0-1,0 2,-1-1,1 1,0-1,-1 2,7 4,-11-8,-1 1,1 0,0-1,-1 1,1 0,0 0,-1 0,1 0,-1-1,1 1,-1 0,0 0,1 0,-1 0,0 0,0 0,0 0,0 0,1 0,-1 0,-1 0,1 0,0 0,0 0,0 0,0 0,-1 0,1 0,0 0,-1 0,1 0,-1 0,0 1,-2 2,-1 0,0 0,0 0,0 0,0-1,0 1,-1-1,-7 4,-27 12,-2-1,0-2,-56 14,-324 66,-229 4,-179-14,-112-22,-156-20,-116-20,-1294-18,1-68,1449 3,199-6,227 8,224 13,194 14,162 19,43 7,8 1,12 1,0 1,1 0,19 1,148 8,110 11,111 4,85-3,106-4,129-9,98-5,109-4,151-1,-1011 3,4394 11,-3580 6,-167 1,-180-1,-182-4,-164-5,-154-5,-31-2,-11 0,-111 1,-145-6,-159-11,-126-13,-156-4,-209 4,-181 6,-172 8,-83 5,-88 2,-101-10,-109-31,-2486-241,39-193,2847 304,214 16,224 18,233 28,223 32,194 34,158 50,0 0,0-1,0 1,0 0,0-1,0 1,1 0,-1-1,0 1,0-1,0 1,1-1,-1 0,0 1,1-1,-1 0,0 1,1-1,-1-1,2 2,1-1,-1 1,1 0,-1-1,0 1,1 0,-1 0,1 0,-1 0,1 0,-1 1,3-1,130 23,109 27,85 21,86 10,92 0,721 45,22-67,-601-46,700 25,-825-10,-122 0,-129 0,-115 0,-152-27,1 1,-1-1,0 1,0 0,0 0,0 1,0 0,0 0,-1 0,5 4,-8-7,0 1,-1 0,1 0,-1-1,0 1,1 0,-1 0,0-1,1 1,-1 0,0 0,0 0,0 0,1-1,-1 1,0 0,0 0,0 0,-1 0,1 0,0-1,0 1,0 0,-1 1,0 1,-1-1,0 1,0-1,1 0,-1 1,0-1,-1 0,1 0,0 0,-5 2,-16 10,-2-1,1-1,-29 8,-182 57,-94 4,-110 9,-106 15,-807 133,-369 70,1273-217,119-23,119-23,186-40,0 2,-28 10,51-17,0 0,1 1,-1-1,0 0,0 1,1-1,-1 1,0-1,0 1,1-1,-1 1,1 0,-1-1,1 1,-1 0,1-1,-1 1,1 0,-1 1,1-2,0 1,0 0,1-1,-1 1,0-1,0 1,1-1,-1 1,0-1,1 1,-1-1,0 1,1-1,-1 1,1-1,-1 0,1 1,-1-1,1 1,-1-1,1 0,-1 0,1 1,0-1,12 4,0 0,0 0,0-2,23 3,135 4,92-11,130-12,130-11,167-11,188-7,148 1,1353-37,-384 13,-1117 35,-187 8,-207 8,-209 6,-211 6,-53 2,-15 1,-187-1,-292 1,-251 2,-182-1,-197 0,-124 0,239 1,-1749-5,1637-14,149-18,194-14,202-8,198 6,179 17,153 25,35 9,0 0,0 0,0 0,0 0,0 0,0 0,1 0,-1-1,0 1,0 0,0 0,0 0,0 0,0 0,0 0,0 0,0 0,0-1,0 1,0 0,0 0,0 0,0 0,0 0,0 0,0 0,0 0,0-1,0 1,-1 0,92 4,94 3,64 1,66-2,64-7,63-11,1353-127,-1493 95,-244 35,70-21,-125 29,1-1,0 1,0-1,0 0,-1 0,1 0,0 0,4-4,-8 5,1 1,-1-1,0 1,1-1,-1 1,0-1,0 1,1-1,-1 1,0-1,0 1,0-1,0 1,0-1,0 1,0-1,0 1,0-1,0 1,0-1,0 0,0 1,0-1,0 1,0-1,-1 1,1-1,0 1,0-1,-1 1,1-1,0 1,-1 0,1-1,0 1,-1-1,1 1,-1 0,1-1,-1 1,1 0,-1 0,0-1,-5-2,-1-1,1 1,-1 0,0 1,-12-3,-80-14,-237-13,-165 8,-114 9,-1896 18,1683 4,391-8,167-10,259 10,-1-1,1 0,0 0,-13-5,13-1,11 7,0 1,0 0,0-1,0 1,0 0,0-1,0 1,0-1,0 1,0 0,0-1,0 1,0 0,0-1,0 1,1 0,-1-1,0 1,0 0,0-1,1 1,-1 0,0-1,0 1,1 0,10-7,1 1,0 0,0 1,0 1,0 0,22-4,260-52,160-7,128-4,1148-82,-1273 116,282-24,-65 5,-94 10,-113 7,-126 9,-115 9,-83 8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62074" y="2506344"/>
            <a:ext cx="641985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95145" y="3821557"/>
            <a:ext cx="5553709" cy="1195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83765" y="829944"/>
            <a:ext cx="4776469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24000" y="2633781"/>
            <a:ext cx="6172200" cy="17132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150859" y="6290054"/>
            <a:ext cx="254634" cy="223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Multivalued</a:t>
            </a:r>
            <a:r>
              <a:rPr spc="-60" dirty="0"/>
              <a:t> </a:t>
            </a:r>
            <a:r>
              <a:rPr spc="-5" dirty="0"/>
              <a:t>Dependencies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57580">
              <a:lnSpc>
                <a:spcPct val="119900"/>
              </a:lnSpc>
              <a:spcBef>
                <a:spcPts val="100"/>
              </a:spcBef>
            </a:pPr>
            <a:r>
              <a:rPr spc="-15" dirty="0"/>
              <a:t>Fourth </a:t>
            </a:r>
            <a:r>
              <a:rPr spc="-5" dirty="0"/>
              <a:t>Normal </a:t>
            </a:r>
            <a:r>
              <a:rPr spc="-20" dirty="0"/>
              <a:t>Form  </a:t>
            </a:r>
            <a:r>
              <a:rPr spc="-10" dirty="0"/>
              <a:t>Reasoning </a:t>
            </a:r>
            <a:r>
              <a:rPr spc="-5" dirty="0"/>
              <a:t>About </a:t>
            </a:r>
            <a:r>
              <a:rPr spc="-30" dirty="0"/>
              <a:t>FD’s </a:t>
            </a:r>
            <a:r>
              <a:rPr dirty="0"/>
              <a:t>+</a:t>
            </a:r>
            <a:r>
              <a:rPr spc="-30" dirty="0"/>
              <a:t> </a:t>
            </a:r>
            <a:r>
              <a:rPr spc="-25" dirty="0"/>
              <a:t>MVD’s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8077" y="457200"/>
            <a:ext cx="43478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Definition of</a:t>
            </a:r>
            <a:r>
              <a:rPr spc="-65" dirty="0"/>
              <a:t> </a:t>
            </a:r>
            <a:r>
              <a:rPr dirty="0"/>
              <a:t>MVD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1364" y="1386350"/>
            <a:ext cx="7621270" cy="501445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28295" marR="5080" indent="-316230">
              <a:lnSpc>
                <a:spcPts val="3840"/>
              </a:lnSpc>
              <a:spcBef>
                <a:spcPts val="3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2000" dirty="0">
                <a:latin typeface="Tahoma"/>
                <a:cs typeface="Tahoma"/>
              </a:rPr>
              <a:t>A </a:t>
            </a:r>
            <a:r>
              <a:rPr lang="en-US" sz="2000" spc="-5" dirty="0" err="1">
                <a:latin typeface="Tahoma"/>
                <a:cs typeface="Tahoma"/>
              </a:rPr>
              <a:t>multivalueddependency</a:t>
            </a:r>
            <a:r>
              <a:rPr sz="2400" i="1" spc="-80" dirty="0">
                <a:solidFill>
                  <a:srgbClr val="FF0066"/>
                </a:solidFill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(MVD)</a:t>
            </a:r>
            <a:r>
              <a:rPr lang="zh-CN" altLang="en-US" sz="2000" spc="-5" dirty="0">
                <a:latin typeface="Tahoma"/>
                <a:cs typeface="Tahoma"/>
              </a:rPr>
              <a:t>多值依赖</a:t>
            </a:r>
            <a:r>
              <a:rPr sz="2000" spc="-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on </a:t>
            </a:r>
            <a:r>
              <a:rPr sz="2400" i="1" spc="-565" dirty="0">
                <a:latin typeface="Tahoma"/>
                <a:cs typeface="Tahoma"/>
              </a:rPr>
              <a:t>R</a:t>
            </a:r>
            <a:r>
              <a:rPr sz="2000" spc="-565" dirty="0">
                <a:latin typeface="Tahoma"/>
                <a:cs typeface="Tahoma"/>
              </a:rPr>
              <a:t>, </a:t>
            </a:r>
            <a:r>
              <a:rPr sz="2000" spc="-565" dirty="0">
                <a:solidFill>
                  <a:srgbClr val="3333CC"/>
                </a:solidFill>
                <a:latin typeface="Tahoma"/>
                <a:cs typeface="Tahoma"/>
              </a:rPr>
              <a:t> </a:t>
            </a:r>
            <a:r>
              <a:rPr sz="2400" i="1" spc="-65" dirty="0">
                <a:solidFill>
                  <a:srgbClr val="3333CC"/>
                </a:solidFill>
                <a:latin typeface="Tahoma"/>
                <a:cs typeface="Tahoma"/>
              </a:rPr>
              <a:t>X</a:t>
            </a:r>
            <a:r>
              <a:rPr sz="2000" spc="-65" dirty="0">
                <a:solidFill>
                  <a:srgbClr val="3333CC"/>
                </a:solidFill>
                <a:latin typeface="Tahoma"/>
                <a:cs typeface="Tahoma"/>
              </a:rPr>
              <a:t>-&gt;-&gt;</a:t>
            </a:r>
            <a:r>
              <a:rPr sz="2400" i="1" spc="-65" dirty="0">
                <a:solidFill>
                  <a:srgbClr val="3333CC"/>
                </a:solidFill>
                <a:latin typeface="Tahoma"/>
                <a:cs typeface="Tahoma"/>
              </a:rPr>
              <a:t>Y</a:t>
            </a:r>
            <a:r>
              <a:rPr sz="2000" spc="-65" dirty="0">
                <a:latin typeface="Tahoma"/>
                <a:cs typeface="Tahoma"/>
              </a:rPr>
              <a:t>, </a:t>
            </a:r>
            <a:r>
              <a:rPr sz="2000" spc="-10" dirty="0">
                <a:latin typeface="Tahoma"/>
                <a:cs typeface="Tahoma"/>
              </a:rPr>
              <a:t>says </a:t>
            </a:r>
            <a:r>
              <a:rPr sz="2000" spc="-5" dirty="0">
                <a:latin typeface="Tahoma"/>
                <a:cs typeface="Tahoma"/>
              </a:rPr>
              <a:t>that </a:t>
            </a:r>
            <a:r>
              <a:rPr sz="2000" dirty="0">
                <a:latin typeface="Tahoma"/>
                <a:cs typeface="Tahoma"/>
              </a:rPr>
              <a:t>if </a:t>
            </a:r>
            <a:r>
              <a:rPr sz="2000" spc="-5" dirty="0">
                <a:latin typeface="Tahoma"/>
                <a:cs typeface="Tahoma"/>
              </a:rPr>
              <a:t>two tuples of </a:t>
            </a:r>
            <a:r>
              <a:rPr sz="2400" i="1" spc="-90" dirty="0">
                <a:latin typeface="Tahoma"/>
                <a:cs typeface="Tahoma"/>
              </a:rPr>
              <a:t>R  </a:t>
            </a:r>
            <a:r>
              <a:rPr sz="2000" spc="-5" dirty="0">
                <a:latin typeface="Tahoma"/>
                <a:cs typeface="Tahoma"/>
              </a:rPr>
              <a:t>agree </a:t>
            </a:r>
            <a:r>
              <a:rPr sz="2000" dirty="0">
                <a:latin typeface="Tahoma"/>
                <a:cs typeface="Tahoma"/>
              </a:rPr>
              <a:t>on all </a:t>
            </a:r>
            <a:r>
              <a:rPr sz="2000" spc="-5" dirty="0">
                <a:latin typeface="Tahoma"/>
                <a:cs typeface="Tahoma"/>
              </a:rPr>
              <a:t>the attributes of </a:t>
            </a:r>
            <a:r>
              <a:rPr sz="2400" i="1" spc="-560" dirty="0">
                <a:latin typeface="Tahoma"/>
                <a:cs typeface="Tahoma"/>
              </a:rPr>
              <a:t>X</a:t>
            </a:r>
            <a:r>
              <a:rPr sz="2000" spc="-560" dirty="0">
                <a:latin typeface="Tahoma"/>
                <a:cs typeface="Tahoma"/>
              </a:rPr>
              <a:t>, </a:t>
            </a:r>
            <a:r>
              <a:rPr sz="2000" spc="-5" dirty="0">
                <a:latin typeface="Tahoma"/>
                <a:cs typeface="Tahoma"/>
              </a:rPr>
              <a:t>then  their components in </a:t>
            </a:r>
            <a:r>
              <a:rPr sz="2400" i="1" spc="-85" dirty="0">
                <a:latin typeface="Tahoma"/>
                <a:cs typeface="Tahoma"/>
              </a:rPr>
              <a:t>Y </a:t>
            </a:r>
            <a:r>
              <a:rPr sz="2000" spc="-10" dirty="0">
                <a:latin typeface="Tahoma"/>
                <a:cs typeface="Tahoma"/>
              </a:rPr>
              <a:t>may </a:t>
            </a:r>
            <a:r>
              <a:rPr sz="2000" dirty="0">
                <a:latin typeface="Tahoma"/>
                <a:cs typeface="Tahoma"/>
              </a:rPr>
              <a:t>be  </a:t>
            </a:r>
            <a:r>
              <a:rPr sz="2000" spc="-10" dirty="0">
                <a:latin typeface="Tahoma"/>
                <a:cs typeface="Tahoma"/>
              </a:rPr>
              <a:t>swapped, </a:t>
            </a:r>
            <a:r>
              <a:rPr sz="2000" spc="-5" dirty="0">
                <a:latin typeface="Tahoma"/>
                <a:cs typeface="Tahoma"/>
              </a:rPr>
              <a:t>and the result will </a:t>
            </a:r>
            <a:r>
              <a:rPr sz="2000" dirty="0">
                <a:latin typeface="Tahoma"/>
                <a:cs typeface="Tahoma"/>
              </a:rPr>
              <a:t>be </a:t>
            </a:r>
            <a:r>
              <a:rPr sz="2000" spc="-5" dirty="0">
                <a:latin typeface="Tahoma"/>
                <a:cs typeface="Tahoma"/>
              </a:rPr>
              <a:t>two  tuples that </a:t>
            </a:r>
            <a:r>
              <a:rPr sz="2000" spc="-10" dirty="0">
                <a:latin typeface="Tahoma"/>
                <a:cs typeface="Tahoma"/>
              </a:rPr>
              <a:t>are </a:t>
            </a:r>
            <a:r>
              <a:rPr sz="2000" spc="-5" dirty="0">
                <a:latin typeface="Tahoma"/>
                <a:cs typeface="Tahoma"/>
              </a:rPr>
              <a:t>also in the</a:t>
            </a:r>
            <a:r>
              <a:rPr sz="2000" spc="-1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relation.</a:t>
            </a:r>
            <a:endParaRPr sz="2000" dirty="0">
              <a:latin typeface="Tahoma"/>
              <a:cs typeface="Tahoma"/>
            </a:endParaRPr>
          </a:p>
          <a:p>
            <a:pPr marL="414655" indent="-402590">
              <a:lnSpc>
                <a:spcPts val="3929"/>
              </a:lnSpc>
              <a:spcBef>
                <a:spcPts val="4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2000" spc="-45" dirty="0">
                <a:latin typeface="Tahoma"/>
                <a:cs typeface="Tahoma"/>
              </a:rPr>
              <a:t>i.e., </a:t>
            </a:r>
            <a:r>
              <a:rPr sz="2000" spc="-15" dirty="0">
                <a:latin typeface="Tahoma"/>
                <a:cs typeface="Tahoma"/>
              </a:rPr>
              <a:t>for </a:t>
            </a:r>
            <a:r>
              <a:rPr sz="2000" spc="-5" dirty="0">
                <a:latin typeface="Tahoma"/>
                <a:cs typeface="Tahoma"/>
              </a:rPr>
              <a:t>each </a:t>
            </a:r>
            <a:r>
              <a:rPr sz="2000" spc="-15" dirty="0">
                <a:latin typeface="Tahoma"/>
                <a:cs typeface="Tahoma"/>
              </a:rPr>
              <a:t>value </a:t>
            </a:r>
            <a:r>
              <a:rPr sz="2000" spc="-5" dirty="0">
                <a:latin typeface="Tahoma"/>
                <a:cs typeface="Tahoma"/>
              </a:rPr>
              <a:t>of </a:t>
            </a:r>
            <a:r>
              <a:rPr sz="2400" i="1" spc="-560" dirty="0">
                <a:latin typeface="Tahoma"/>
                <a:cs typeface="Tahoma"/>
              </a:rPr>
              <a:t>X</a:t>
            </a:r>
            <a:r>
              <a:rPr sz="2000" spc="-560" dirty="0">
                <a:latin typeface="Tahoma"/>
                <a:cs typeface="Tahoma"/>
              </a:rPr>
              <a:t>, </a:t>
            </a:r>
            <a:r>
              <a:rPr sz="2000" spc="-5" dirty="0">
                <a:latin typeface="Tahoma"/>
                <a:cs typeface="Tahoma"/>
              </a:rPr>
              <a:t>the </a:t>
            </a:r>
            <a:r>
              <a:rPr sz="2000" spc="-15" dirty="0">
                <a:latin typeface="Tahoma"/>
                <a:cs typeface="Tahoma"/>
              </a:rPr>
              <a:t>values </a:t>
            </a:r>
            <a:r>
              <a:rPr sz="2000" spc="-5" dirty="0">
                <a:latin typeface="Tahoma"/>
                <a:cs typeface="Tahoma"/>
              </a:rPr>
              <a:t>of</a:t>
            </a:r>
            <a:r>
              <a:rPr sz="2000" spc="-254" dirty="0">
                <a:latin typeface="Tahoma"/>
                <a:cs typeface="Tahoma"/>
              </a:rPr>
              <a:t> </a:t>
            </a:r>
            <a:r>
              <a:rPr sz="2400" i="1" spc="-85" dirty="0">
                <a:latin typeface="Tahoma"/>
                <a:cs typeface="Tahoma"/>
              </a:rPr>
              <a:t>Y</a:t>
            </a:r>
            <a:endParaRPr sz="2400" dirty="0">
              <a:latin typeface="Tahoma"/>
              <a:cs typeface="Tahoma"/>
            </a:endParaRPr>
          </a:p>
          <a:p>
            <a:pPr marL="355600">
              <a:lnSpc>
                <a:spcPts val="3929"/>
              </a:lnSpc>
            </a:pPr>
            <a:r>
              <a:rPr sz="2000" spc="-10" dirty="0">
                <a:latin typeface="Tahoma"/>
                <a:cs typeface="Tahoma"/>
              </a:rPr>
              <a:t>are </a:t>
            </a:r>
            <a:r>
              <a:rPr sz="2000" spc="-5" dirty="0">
                <a:latin typeface="Tahoma"/>
                <a:cs typeface="Tahoma"/>
              </a:rPr>
              <a:t>independent of the </a:t>
            </a:r>
            <a:r>
              <a:rPr sz="2000" spc="-15" dirty="0">
                <a:latin typeface="Tahoma"/>
                <a:cs typeface="Tahoma"/>
              </a:rPr>
              <a:t>values </a:t>
            </a:r>
            <a:r>
              <a:rPr sz="2000" spc="-5" dirty="0">
                <a:latin typeface="Tahoma"/>
                <a:cs typeface="Tahoma"/>
              </a:rPr>
              <a:t>of</a:t>
            </a:r>
            <a:r>
              <a:rPr sz="2000" spc="-204" dirty="0">
                <a:latin typeface="Tahoma"/>
                <a:cs typeface="Tahoma"/>
              </a:rPr>
              <a:t> </a:t>
            </a:r>
            <a:r>
              <a:rPr sz="2400" i="1" spc="-630" dirty="0">
                <a:latin typeface="Tahoma"/>
                <a:cs typeface="Tahoma"/>
              </a:rPr>
              <a:t>R</a:t>
            </a:r>
            <a:r>
              <a:rPr sz="2000" spc="-630" dirty="0">
                <a:latin typeface="Tahoma"/>
                <a:cs typeface="Tahoma"/>
              </a:rPr>
              <a:t>-</a:t>
            </a:r>
            <a:r>
              <a:rPr sz="2400" i="1" spc="-630" dirty="0">
                <a:latin typeface="Tahoma"/>
                <a:cs typeface="Tahoma"/>
              </a:rPr>
              <a:t>X</a:t>
            </a:r>
            <a:r>
              <a:rPr sz="2000" spc="-630" dirty="0">
                <a:latin typeface="Tahoma"/>
                <a:cs typeface="Tahoma"/>
              </a:rPr>
              <a:t>-</a:t>
            </a:r>
            <a:r>
              <a:rPr sz="2400" i="1" spc="-630" dirty="0">
                <a:latin typeface="Tahoma"/>
                <a:cs typeface="Tahoma"/>
              </a:rPr>
              <a:t>Y</a:t>
            </a:r>
            <a:r>
              <a:rPr sz="2000" spc="-630" dirty="0">
                <a:latin typeface="Tahoma"/>
                <a:cs typeface="Tahoma"/>
              </a:rPr>
              <a:t>.</a:t>
            </a:r>
            <a:endParaRPr lang="en-US" sz="2000" spc="-630" dirty="0">
              <a:latin typeface="Tahoma"/>
              <a:cs typeface="Tahoma"/>
            </a:endParaRPr>
          </a:p>
          <a:p>
            <a:pPr marL="355600">
              <a:lnSpc>
                <a:spcPts val="3929"/>
              </a:lnSpc>
            </a:pPr>
            <a:r>
              <a:rPr lang="zh-CN" altLang="en-US" sz="2000" b="0" i="0" dirty="0">
                <a:solidFill>
                  <a:srgbClr val="4D4D4D"/>
                </a:solidFill>
                <a:effectLst/>
                <a:latin typeface="-apple-system"/>
              </a:rPr>
              <a:t>设</a:t>
            </a:r>
            <a:r>
              <a:rPr lang="en-US" altLang="zh-CN" sz="2000" b="0" i="0" dirty="0">
                <a:solidFill>
                  <a:srgbClr val="4D4D4D"/>
                </a:solidFill>
                <a:effectLst/>
                <a:latin typeface="-apple-system"/>
              </a:rPr>
              <a:t>R(U)</a:t>
            </a:r>
            <a:r>
              <a:rPr lang="zh-CN" altLang="en-US" sz="2000" b="0" i="0" dirty="0">
                <a:solidFill>
                  <a:srgbClr val="4D4D4D"/>
                </a:solidFill>
                <a:effectLst/>
                <a:latin typeface="-apple-system"/>
              </a:rPr>
              <a:t>是属性集</a:t>
            </a:r>
            <a:r>
              <a:rPr lang="en-US" altLang="zh-CN" sz="2000" b="0" i="0" dirty="0">
                <a:solidFill>
                  <a:srgbClr val="4D4D4D"/>
                </a:solidFill>
                <a:effectLst/>
                <a:latin typeface="-apple-system"/>
              </a:rPr>
              <a:t>U</a:t>
            </a:r>
            <a:r>
              <a:rPr lang="zh-CN" altLang="en-US" sz="2000" b="0" i="0" dirty="0">
                <a:solidFill>
                  <a:srgbClr val="4D4D4D"/>
                </a:solidFill>
                <a:effectLst/>
                <a:latin typeface="-apple-system"/>
              </a:rPr>
              <a:t>上的一个关系模式。</a:t>
            </a:r>
            <a:r>
              <a:rPr lang="en-US" altLang="zh-CN" sz="2000" b="0" i="0" dirty="0">
                <a:solidFill>
                  <a:srgbClr val="4D4D4D"/>
                </a:solidFill>
                <a:effectLst/>
                <a:latin typeface="-apple-system"/>
              </a:rPr>
              <a:t>X</a:t>
            </a:r>
            <a:r>
              <a:rPr lang="zh-CN" altLang="en-US" sz="2000" b="0" i="0" dirty="0">
                <a:solidFill>
                  <a:srgbClr val="4D4D4D"/>
                </a:solidFill>
                <a:effectLst/>
                <a:latin typeface="-apple-system"/>
              </a:rPr>
              <a:t>，</a:t>
            </a:r>
            <a:r>
              <a:rPr lang="en-US" altLang="zh-CN" sz="2000" b="0" i="0" dirty="0">
                <a:solidFill>
                  <a:srgbClr val="4D4D4D"/>
                </a:solidFill>
                <a:effectLst/>
                <a:latin typeface="-apple-system"/>
              </a:rPr>
              <a:t>Y</a:t>
            </a:r>
            <a:r>
              <a:rPr lang="zh-CN" altLang="en-US" sz="2000" b="0" i="0" dirty="0">
                <a:solidFill>
                  <a:srgbClr val="4D4D4D"/>
                </a:solidFill>
                <a:effectLst/>
                <a:latin typeface="-apple-system"/>
              </a:rPr>
              <a:t>，</a:t>
            </a:r>
            <a:r>
              <a:rPr lang="en-US" altLang="zh-CN" sz="2000" b="0" i="0" dirty="0">
                <a:solidFill>
                  <a:srgbClr val="4D4D4D"/>
                </a:solidFill>
                <a:effectLst/>
                <a:latin typeface="-apple-system"/>
              </a:rPr>
              <a:t>Z</a:t>
            </a:r>
            <a:r>
              <a:rPr lang="zh-CN" altLang="en-US" sz="2000" b="0" i="0" dirty="0">
                <a:solidFill>
                  <a:srgbClr val="4D4D4D"/>
                </a:solidFill>
                <a:effectLst/>
                <a:latin typeface="-apple-system"/>
              </a:rPr>
              <a:t>是</a:t>
            </a:r>
            <a:r>
              <a:rPr lang="en-US" altLang="zh-CN" sz="2000" b="0" i="0" dirty="0">
                <a:solidFill>
                  <a:srgbClr val="4D4D4D"/>
                </a:solidFill>
                <a:effectLst/>
                <a:latin typeface="-apple-system"/>
              </a:rPr>
              <a:t>U</a:t>
            </a:r>
            <a:r>
              <a:rPr lang="zh-CN" altLang="en-US" sz="2000" b="0" i="0" dirty="0">
                <a:solidFill>
                  <a:srgbClr val="4D4D4D"/>
                </a:solidFill>
                <a:effectLst/>
                <a:latin typeface="-apple-system"/>
              </a:rPr>
              <a:t>的子集</a:t>
            </a:r>
            <a:r>
              <a:rPr lang="en-US" altLang="zh-CN" sz="2000" b="0" i="0" dirty="0">
                <a:solidFill>
                  <a:srgbClr val="4D4D4D"/>
                </a:solidFill>
                <a:effectLst/>
                <a:latin typeface="-apple-system"/>
              </a:rPr>
              <a:t>,</a:t>
            </a:r>
            <a:r>
              <a:rPr lang="zh-CN" altLang="en-US" sz="2000" b="0" i="0" dirty="0">
                <a:solidFill>
                  <a:srgbClr val="4D4D4D"/>
                </a:solidFill>
                <a:effectLst/>
                <a:latin typeface="-apple-system"/>
              </a:rPr>
              <a:t>并且</a:t>
            </a:r>
            <a:r>
              <a:rPr lang="en-US" altLang="zh-CN" sz="2000" b="0" i="0" dirty="0">
                <a:solidFill>
                  <a:srgbClr val="4D4D4D"/>
                </a:solidFill>
                <a:effectLst/>
                <a:latin typeface="-apple-system"/>
              </a:rPr>
              <a:t>Z=U-X-Y</a:t>
            </a:r>
            <a:r>
              <a:rPr lang="zh-CN" altLang="en-US" sz="2000" b="0" i="0" dirty="0">
                <a:solidFill>
                  <a:srgbClr val="4D4D4D"/>
                </a:solidFill>
                <a:effectLst/>
                <a:latin typeface="-apple-system"/>
              </a:rPr>
              <a:t>。关系模式</a:t>
            </a:r>
            <a:r>
              <a:rPr lang="en-US" altLang="zh-CN" sz="2000" b="0" i="0" dirty="0">
                <a:solidFill>
                  <a:srgbClr val="4D4D4D"/>
                </a:solidFill>
                <a:effectLst/>
                <a:latin typeface="-apple-system"/>
              </a:rPr>
              <a:t>R(U)</a:t>
            </a:r>
            <a:r>
              <a:rPr lang="zh-CN" altLang="en-US" sz="2000" b="0" i="0" dirty="0">
                <a:solidFill>
                  <a:srgbClr val="4D4D4D"/>
                </a:solidFill>
                <a:effectLst/>
                <a:latin typeface="-apple-system"/>
              </a:rPr>
              <a:t>中多值依赖</a:t>
            </a:r>
            <a:r>
              <a:rPr lang="en-US" altLang="zh-CN" sz="2000" b="0" i="0" dirty="0">
                <a:solidFill>
                  <a:srgbClr val="4D4D4D"/>
                </a:solidFill>
                <a:effectLst/>
                <a:latin typeface="-apple-system"/>
              </a:rPr>
              <a:t>X→→Y</a:t>
            </a:r>
            <a:r>
              <a:rPr lang="zh-CN" altLang="en-US" sz="2000" b="0" i="0" dirty="0">
                <a:solidFill>
                  <a:srgbClr val="4D4D4D"/>
                </a:solidFill>
                <a:effectLst/>
                <a:latin typeface="-apple-system"/>
              </a:rPr>
              <a:t>成立，当且仅当对</a:t>
            </a:r>
            <a:r>
              <a:rPr lang="en-US" altLang="zh-CN" sz="2000" b="0" i="0" dirty="0">
                <a:solidFill>
                  <a:srgbClr val="4D4D4D"/>
                </a:solidFill>
                <a:effectLst/>
                <a:latin typeface="-apple-system"/>
              </a:rPr>
              <a:t>R(U)</a:t>
            </a:r>
            <a:r>
              <a:rPr lang="zh-CN" altLang="en-US" sz="2000" b="0" i="0" dirty="0">
                <a:solidFill>
                  <a:srgbClr val="4D4D4D"/>
                </a:solidFill>
                <a:effectLst/>
                <a:latin typeface="-apple-system"/>
              </a:rPr>
              <a:t>的任一关系</a:t>
            </a:r>
            <a:r>
              <a:rPr lang="en-US" altLang="zh-CN" sz="2000" b="0" i="0" dirty="0">
                <a:solidFill>
                  <a:srgbClr val="4D4D4D"/>
                </a:solidFill>
                <a:effectLst/>
                <a:latin typeface="-apple-system"/>
              </a:rPr>
              <a:t>r,</a:t>
            </a:r>
            <a:r>
              <a:rPr lang="zh-CN" altLang="en-US" sz="2000" b="0" i="0" dirty="0">
                <a:solidFill>
                  <a:srgbClr val="4D4D4D"/>
                </a:solidFill>
                <a:effectLst/>
                <a:latin typeface="-apple-system"/>
              </a:rPr>
              <a:t>给定的一对</a:t>
            </a:r>
            <a:r>
              <a:rPr lang="en-US" altLang="zh-CN" sz="2000" b="0" i="0" dirty="0">
                <a:solidFill>
                  <a:srgbClr val="4D4D4D"/>
                </a:solidFill>
                <a:effectLst/>
                <a:latin typeface="-apple-system"/>
              </a:rPr>
              <a:t>(x</a:t>
            </a:r>
            <a:r>
              <a:rPr lang="zh-CN" altLang="en-US" sz="2000" b="0" i="0" dirty="0">
                <a:solidFill>
                  <a:srgbClr val="4D4D4D"/>
                </a:solidFill>
                <a:effectLst/>
                <a:latin typeface="-apple-system"/>
              </a:rPr>
              <a:t>，</a:t>
            </a:r>
            <a:r>
              <a:rPr lang="en-US" altLang="zh-CN" sz="2000" b="0" i="0" dirty="0">
                <a:solidFill>
                  <a:srgbClr val="4D4D4D"/>
                </a:solidFill>
                <a:effectLst/>
                <a:latin typeface="-apple-system"/>
              </a:rPr>
              <a:t>z)</a:t>
            </a:r>
            <a:r>
              <a:rPr lang="zh-CN" altLang="en-US" sz="2000" b="0" i="0" dirty="0">
                <a:solidFill>
                  <a:srgbClr val="4D4D4D"/>
                </a:solidFill>
                <a:effectLst/>
                <a:latin typeface="-apple-system"/>
              </a:rPr>
              <a:t>值有一组</a:t>
            </a:r>
            <a:r>
              <a:rPr lang="en-US" altLang="zh-CN" sz="2000" b="0" i="0" dirty="0">
                <a:solidFill>
                  <a:srgbClr val="4D4D4D"/>
                </a:solidFill>
                <a:effectLst/>
                <a:latin typeface="-apple-system"/>
              </a:rPr>
              <a:t>Y</a:t>
            </a:r>
            <a:r>
              <a:rPr lang="zh-CN" altLang="en-US" sz="2000" b="0" i="0" dirty="0">
                <a:solidFill>
                  <a:srgbClr val="4D4D4D"/>
                </a:solidFill>
                <a:effectLst/>
                <a:latin typeface="-apple-system"/>
              </a:rPr>
              <a:t>的值，这组值仅仅决定于</a:t>
            </a:r>
            <a:r>
              <a:rPr lang="en-US" altLang="zh-CN" sz="2000" b="0" i="0" dirty="0">
                <a:solidFill>
                  <a:srgbClr val="4D4D4D"/>
                </a:solidFill>
                <a:effectLst/>
                <a:latin typeface="-apple-system"/>
              </a:rPr>
              <a:t>x</a:t>
            </a:r>
            <a:r>
              <a:rPr lang="zh-CN" altLang="en-US" sz="2000" b="0" i="0" dirty="0">
                <a:solidFill>
                  <a:srgbClr val="4D4D4D"/>
                </a:solidFill>
                <a:effectLst/>
                <a:latin typeface="-apple-system"/>
              </a:rPr>
              <a:t>值而与</a:t>
            </a:r>
            <a:r>
              <a:rPr lang="en-US" altLang="zh-CN" sz="2000" b="0" i="0" dirty="0">
                <a:solidFill>
                  <a:srgbClr val="4D4D4D"/>
                </a:solidFill>
                <a:effectLst/>
                <a:latin typeface="-apple-system"/>
              </a:rPr>
              <a:t>z</a:t>
            </a:r>
            <a:r>
              <a:rPr lang="zh-CN" altLang="en-US" sz="2000" b="0" i="0" dirty="0">
                <a:solidFill>
                  <a:srgbClr val="4D4D4D"/>
                </a:solidFill>
                <a:effectLst/>
                <a:latin typeface="-apple-system"/>
              </a:rPr>
              <a:t>值无关。</a:t>
            </a:r>
            <a:endParaRPr sz="20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9710" y="601344"/>
            <a:ext cx="362457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</a:t>
            </a:r>
            <a:r>
              <a:rPr spc="-75" dirty="0"/>
              <a:t> </a:t>
            </a:r>
            <a:r>
              <a:rPr dirty="0"/>
              <a:t>MVD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12140" y="1620012"/>
            <a:ext cx="7889240" cy="442214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Drinkers(name, </a:t>
            </a:r>
            <a:r>
              <a:rPr sz="3200" spc="-90" dirty="0">
                <a:solidFill>
                  <a:srgbClr val="CC00CC"/>
                </a:solidFill>
                <a:latin typeface="Tahoma"/>
                <a:cs typeface="Tahoma"/>
              </a:rPr>
              <a:t>addr,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phones,</a:t>
            </a:r>
            <a:r>
              <a:rPr sz="3200" spc="55" dirty="0">
                <a:solidFill>
                  <a:srgbClr val="CC00CC"/>
                </a:solidFill>
                <a:latin typeface="Tahoma"/>
                <a:cs typeface="Tahoma"/>
              </a:rPr>
              <a:t>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beersLiked)</a:t>
            </a:r>
            <a:endParaRPr sz="3200" dirty="0">
              <a:latin typeface="Tahoma"/>
              <a:cs typeface="Tahoma"/>
            </a:endParaRPr>
          </a:p>
          <a:p>
            <a:pPr marL="355600" marR="637540" indent="-342900">
              <a:lnSpc>
                <a:spcPts val="3460"/>
              </a:lnSpc>
              <a:spcBef>
                <a:spcPts val="81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A </a:t>
            </a:r>
            <a:r>
              <a:rPr sz="3200" spc="-15" dirty="0">
                <a:latin typeface="Tahoma"/>
                <a:cs typeface="Tahoma"/>
              </a:rPr>
              <a:t>drinker’s </a:t>
            </a:r>
            <a:r>
              <a:rPr sz="3200" spc="-5" dirty="0">
                <a:latin typeface="Tahoma"/>
                <a:cs typeface="Tahoma"/>
              </a:rPr>
              <a:t>phones </a:t>
            </a:r>
            <a:r>
              <a:rPr sz="3200" spc="-10" dirty="0">
                <a:latin typeface="Tahoma"/>
                <a:cs typeface="Tahoma"/>
              </a:rPr>
              <a:t>are </a:t>
            </a:r>
            <a:r>
              <a:rPr sz="3200" spc="-5" dirty="0">
                <a:latin typeface="Tahoma"/>
                <a:cs typeface="Tahoma"/>
              </a:rPr>
              <a:t>independent of  the beers they</a:t>
            </a:r>
            <a:r>
              <a:rPr sz="3200" spc="-10" dirty="0">
                <a:latin typeface="Tahoma"/>
                <a:cs typeface="Tahoma"/>
              </a:rPr>
              <a:t> like.</a:t>
            </a:r>
            <a:endParaRPr sz="3200" dirty="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26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solidFill>
                  <a:srgbClr val="3366FF"/>
                </a:solidFill>
                <a:latin typeface="Tahoma"/>
                <a:cs typeface="Tahoma"/>
              </a:rPr>
              <a:t>name-&gt;-&gt;phones </a:t>
            </a:r>
            <a:r>
              <a:rPr sz="2800" spc="-5" dirty="0">
                <a:latin typeface="Tahoma"/>
                <a:cs typeface="Tahoma"/>
              </a:rPr>
              <a:t>and </a:t>
            </a:r>
            <a:r>
              <a:rPr sz="2800" spc="-5" dirty="0">
                <a:solidFill>
                  <a:srgbClr val="3366FF"/>
                </a:solidFill>
                <a:latin typeface="Tahoma"/>
                <a:cs typeface="Tahoma"/>
              </a:rPr>
              <a:t>name</a:t>
            </a:r>
            <a:r>
              <a:rPr sz="2800" spc="-30" dirty="0">
                <a:solidFill>
                  <a:srgbClr val="3366FF"/>
                </a:solidFill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3366FF"/>
                </a:solidFill>
                <a:latin typeface="Tahoma"/>
                <a:cs typeface="Tahoma"/>
              </a:rPr>
              <a:t>-&gt;-&gt;beersLiked</a:t>
            </a:r>
            <a:r>
              <a:rPr sz="2800" spc="-5" dirty="0">
                <a:latin typeface="Tahoma"/>
                <a:cs typeface="Tahoma"/>
              </a:rPr>
              <a:t>.</a:t>
            </a:r>
            <a:endParaRPr sz="2800" dirty="0">
              <a:latin typeface="Tahoma"/>
              <a:cs typeface="Tahoma"/>
            </a:endParaRPr>
          </a:p>
          <a:p>
            <a:pPr marL="355600" marR="81915" indent="-342900">
              <a:lnSpc>
                <a:spcPts val="3460"/>
              </a:lnSpc>
              <a:spcBef>
                <a:spcPts val="819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Thus, each of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15" dirty="0">
                <a:latin typeface="Tahoma"/>
                <a:cs typeface="Tahoma"/>
              </a:rPr>
              <a:t>drinker’s </a:t>
            </a:r>
            <a:r>
              <a:rPr sz="3200" spc="-5" dirty="0">
                <a:latin typeface="Tahoma"/>
                <a:cs typeface="Tahoma"/>
              </a:rPr>
              <a:t>phones appears  with each of the beers they </a:t>
            </a:r>
            <a:r>
              <a:rPr sz="3200" spc="-10" dirty="0">
                <a:latin typeface="Tahoma"/>
                <a:cs typeface="Tahoma"/>
              </a:rPr>
              <a:t>like </a:t>
            </a:r>
            <a:r>
              <a:rPr sz="3200" spc="-5" dirty="0">
                <a:latin typeface="Tahoma"/>
                <a:cs typeface="Tahoma"/>
              </a:rPr>
              <a:t>in </a:t>
            </a:r>
            <a:r>
              <a:rPr sz="3200" dirty="0">
                <a:latin typeface="Tahoma"/>
                <a:cs typeface="Tahoma"/>
              </a:rPr>
              <a:t>all  </a:t>
            </a:r>
            <a:r>
              <a:rPr sz="3200" spc="-5" dirty="0">
                <a:latin typeface="Tahoma"/>
                <a:cs typeface="Tahoma"/>
              </a:rPr>
              <a:t>combinations.</a:t>
            </a:r>
            <a:endParaRPr sz="3200" dirty="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31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This repetition is </a:t>
            </a:r>
            <a:r>
              <a:rPr sz="3200" spc="-10" dirty="0">
                <a:latin typeface="Tahoma"/>
                <a:cs typeface="Tahoma"/>
              </a:rPr>
              <a:t>unlike </a:t>
            </a:r>
            <a:r>
              <a:rPr sz="3200" dirty="0">
                <a:latin typeface="Tahoma"/>
                <a:cs typeface="Tahoma"/>
              </a:rPr>
              <a:t>FD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spc="-30" dirty="0">
                <a:latin typeface="Tahoma"/>
                <a:cs typeface="Tahoma"/>
              </a:rPr>
              <a:t>redundancy.</a:t>
            </a:r>
            <a:endParaRPr sz="3200" dirty="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32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solidFill>
                  <a:srgbClr val="00CC99"/>
                </a:solidFill>
                <a:latin typeface="Tahoma"/>
                <a:cs typeface="Tahoma"/>
              </a:rPr>
              <a:t>name-&gt;addr </a:t>
            </a:r>
            <a:r>
              <a:rPr sz="2800" spc="-5" dirty="0">
                <a:latin typeface="Tahoma"/>
                <a:cs typeface="Tahoma"/>
              </a:rPr>
              <a:t>is the only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FD.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1334" y="861694"/>
            <a:ext cx="8100695" cy="634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65" dirty="0"/>
              <a:t>Tuples </a:t>
            </a:r>
            <a:r>
              <a:rPr sz="4000" spc="-10" dirty="0"/>
              <a:t>Implied by</a:t>
            </a:r>
            <a:r>
              <a:rPr sz="4000" spc="40" dirty="0"/>
              <a:t> </a:t>
            </a:r>
            <a:r>
              <a:rPr sz="4000" spc="-5" dirty="0">
                <a:solidFill>
                  <a:srgbClr val="3366FF"/>
                </a:solidFill>
              </a:rPr>
              <a:t>name-&gt;-&gt;phones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748665" y="2046922"/>
            <a:ext cx="24612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If we </a:t>
            </a:r>
            <a:r>
              <a:rPr sz="2400" spc="-15" dirty="0">
                <a:latin typeface="Tahoma"/>
                <a:cs typeface="Tahoma"/>
              </a:rPr>
              <a:t>have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tuples: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4864" y="5019040"/>
            <a:ext cx="62833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Then these tuples must also be </a:t>
            </a:r>
            <a:r>
              <a:rPr sz="2400" dirty="0">
                <a:latin typeface="Tahoma"/>
                <a:cs typeface="Tahoma"/>
              </a:rPr>
              <a:t>in the</a:t>
            </a:r>
            <a:r>
              <a:rPr sz="2400" spc="4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relation</a:t>
            </a:r>
            <a:r>
              <a:rPr sz="2400" spc="-5" dirty="0"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95400" y="3276600"/>
            <a:ext cx="4724400" cy="0"/>
          </a:xfrm>
          <a:custGeom>
            <a:avLst/>
            <a:gdLst/>
            <a:ahLst/>
            <a:cxnLst/>
            <a:rect l="l" t="t" r="r" b="b"/>
            <a:pathLst>
              <a:path w="4724400">
                <a:moveTo>
                  <a:pt x="0" y="0"/>
                </a:moveTo>
                <a:lnTo>
                  <a:pt x="47244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347469" y="2895600"/>
          <a:ext cx="4638040" cy="19811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8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21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3195">
                <a:tc>
                  <a:txBody>
                    <a:bodyPr/>
                    <a:lstStyle/>
                    <a:p>
                      <a:pPr marL="115570">
                        <a:lnSpc>
                          <a:spcPts val="2785"/>
                        </a:lnSpc>
                        <a:spcBef>
                          <a:spcPts val="285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name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3619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785"/>
                        </a:lnSpc>
                        <a:spcBef>
                          <a:spcPts val="285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addr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361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67005">
                        <a:lnSpc>
                          <a:spcPts val="2785"/>
                        </a:lnSpc>
                        <a:spcBef>
                          <a:spcPts val="285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phones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361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ts val="2785"/>
                        </a:lnSpc>
                        <a:spcBef>
                          <a:spcPts val="285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beersLiked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36195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115570">
                        <a:lnSpc>
                          <a:spcPts val="2780"/>
                        </a:lnSpc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sue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7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a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67005">
                        <a:lnSpc>
                          <a:spcPts val="2780"/>
                        </a:lnSpc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p1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ts val="2780"/>
                        </a:lnSpc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b1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588">
                <a:tc>
                  <a:txBody>
                    <a:bodyPr/>
                    <a:lstStyle/>
                    <a:p>
                      <a:pPr marL="115570">
                        <a:lnSpc>
                          <a:spcPts val="2875"/>
                        </a:lnSpc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sue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875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a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67005">
                        <a:lnSpc>
                          <a:spcPts val="2875"/>
                        </a:lnSpc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p2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ts val="2875"/>
                        </a:lnSpc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b2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588">
                <a:tc>
                  <a:txBody>
                    <a:bodyPr/>
                    <a:lstStyle/>
                    <a:p>
                      <a:pPr marL="115570">
                        <a:lnSpc>
                          <a:spcPts val="2785"/>
                        </a:lnSpc>
                        <a:spcBef>
                          <a:spcPts val="200"/>
                        </a:spcBef>
                      </a:pPr>
                      <a:r>
                        <a:rPr sz="2400" spc="-5" dirty="0">
                          <a:solidFill>
                            <a:srgbClr val="CC00CC"/>
                          </a:solidFill>
                          <a:latin typeface="Tahoma"/>
                          <a:cs typeface="Tahoma"/>
                        </a:rPr>
                        <a:t>sue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785"/>
                        </a:lnSpc>
                        <a:spcBef>
                          <a:spcPts val="200"/>
                        </a:spcBef>
                      </a:pPr>
                      <a:r>
                        <a:rPr sz="2400" dirty="0">
                          <a:solidFill>
                            <a:srgbClr val="CC00CC"/>
                          </a:solidFill>
                          <a:latin typeface="Tahoma"/>
                          <a:cs typeface="Tahoma"/>
                        </a:rPr>
                        <a:t>a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67005">
                        <a:lnSpc>
                          <a:spcPts val="2785"/>
                        </a:lnSpc>
                        <a:spcBef>
                          <a:spcPts val="200"/>
                        </a:spcBef>
                      </a:pPr>
                      <a:r>
                        <a:rPr sz="2400" spc="-5" dirty="0">
                          <a:solidFill>
                            <a:srgbClr val="CC00CC"/>
                          </a:solidFill>
                          <a:latin typeface="Tahoma"/>
                          <a:cs typeface="Tahoma"/>
                        </a:rPr>
                        <a:t>p2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ts val="2785"/>
                        </a:lnSpc>
                        <a:spcBef>
                          <a:spcPts val="200"/>
                        </a:spcBef>
                      </a:pPr>
                      <a:r>
                        <a:rPr sz="2400" spc="-5" dirty="0">
                          <a:solidFill>
                            <a:srgbClr val="CC00CC"/>
                          </a:solidFill>
                          <a:latin typeface="Tahoma"/>
                          <a:cs typeface="Tahoma"/>
                        </a:rPr>
                        <a:t>b1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7067">
                <a:tc>
                  <a:txBody>
                    <a:bodyPr/>
                    <a:lstStyle/>
                    <a:p>
                      <a:pPr marL="115570">
                        <a:lnSpc>
                          <a:spcPts val="2875"/>
                        </a:lnSpc>
                      </a:pPr>
                      <a:r>
                        <a:rPr sz="2400" spc="-5" dirty="0">
                          <a:solidFill>
                            <a:srgbClr val="CC00CC"/>
                          </a:solidFill>
                          <a:latin typeface="Tahoma"/>
                          <a:cs typeface="Tahoma"/>
                        </a:rPr>
                        <a:t>sue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875"/>
                        </a:lnSpc>
                      </a:pPr>
                      <a:r>
                        <a:rPr sz="2400" dirty="0">
                          <a:solidFill>
                            <a:srgbClr val="CC00CC"/>
                          </a:solidFill>
                          <a:latin typeface="Tahoma"/>
                          <a:cs typeface="Tahoma"/>
                        </a:rPr>
                        <a:t>a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67005">
                        <a:lnSpc>
                          <a:spcPts val="2875"/>
                        </a:lnSpc>
                      </a:pPr>
                      <a:r>
                        <a:rPr sz="2400" spc="-5" dirty="0">
                          <a:solidFill>
                            <a:srgbClr val="CC00CC"/>
                          </a:solidFill>
                          <a:latin typeface="Tahoma"/>
                          <a:cs typeface="Tahoma"/>
                        </a:rPr>
                        <a:t>p1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ts val="2875"/>
                        </a:lnSpc>
                      </a:pPr>
                      <a:r>
                        <a:rPr sz="2400" spc="-5" dirty="0">
                          <a:solidFill>
                            <a:srgbClr val="CC00CC"/>
                          </a:solidFill>
                          <a:latin typeface="Tahoma"/>
                          <a:cs typeface="Tahoma"/>
                        </a:rPr>
                        <a:t>b2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4</a:t>
            </a:fld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23060" y="801999"/>
            <a:ext cx="6077585" cy="7302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" dirty="0"/>
              <a:t>Picture </a:t>
            </a:r>
            <a:r>
              <a:rPr spc="-5" dirty="0"/>
              <a:t>of </a:t>
            </a:r>
            <a:r>
              <a:rPr dirty="0"/>
              <a:t>MVD</a:t>
            </a:r>
            <a:r>
              <a:rPr spc="-325" dirty="0"/>
              <a:t> </a:t>
            </a:r>
            <a:r>
              <a:rPr sz="4600" i="1" spc="-95" dirty="0">
                <a:solidFill>
                  <a:srgbClr val="3333CC"/>
                </a:solidFill>
                <a:latin typeface="Tahoma"/>
                <a:cs typeface="Tahoma"/>
              </a:rPr>
              <a:t>X</a:t>
            </a:r>
            <a:r>
              <a:rPr spc="-95" dirty="0">
                <a:solidFill>
                  <a:srgbClr val="3333CC"/>
                </a:solidFill>
              </a:rPr>
              <a:t>-&gt;-&gt;</a:t>
            </a:r>
            <a:r>
              <a:rPr sz="4600" i="1" spc="-95" dirty="0">
                <a:solidFill>
                  <a:srgbClr val="3333CC"/>
                </a:solidFill>
                <a:latin typeface="Tahoma"/>
                <a:cs typeface="Tahoma"/>
              </a:rPr>
              <a:t>Y</a:t>
            </a:r>
            <a:endParaRPr sz="4600" dirty="0">
              <a:latin typeface="Tahoma"/>
              <a:cs typeface="Tahom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828800" y="2819400"/>
            <a:ext cx="1295400" cy="0"/>
          </a:xfrm>
          <a:custGeom>
            <a:avLst/>
            <a:gdLst/>
            <a:ahLst/>
            <a:cxnLst/>
            <a:rect l="l" t="t" r="r" b="b"/>
            <a:pathLst>
              <a:path w="1295400">
                <a:moveTo>
                  <a:pt x="0" y="0"/>
                </a:moveTo>
                <a:lnTo>
                  <a:pt x="12954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828800" y="3657600"/>
            <a:ext cx="1295400" cy="0"/>
          </a:xfrm>
          <a:custGeom>
            <a:avLst/>
            <a:gdLst/>
            <a:ahLst/>
            <a:cxnLst/>
            <a:rect l="l" t="t" r="r" b="b"/>
            <a:pathLst>
              <a:path w="1295400">
                <a:moveTo>
                  <a:pt x="0" y="0"/>
                </a:moveTo>
                <a:lnTo>
                  <a:pt x="12954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953000" y="3657600"/>
            <a:ext cx="1295400" cy="0"/>
          </a:xfrm>
          <a:custGeom>
            <a:avLst/>
            <a:gdLst/>
            <a:ahLst/>
            <a:cxnLst/>
            <a:rect l="l" t="t" r="r" b="b"/>
            <a:pathLst>
              <a:path w="1295400">
                <a:moveTo>
                  <a:pt x="0" y="0"/>
                </a:moveTo>
                <a:lnTo>
                  <a:pt x="12954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429000" y="3657600"/>
            <a:ext cx="1295400" cy="0"/>
          </a:xfrm>
          <a:custGeom>
            <a:avLst/>
            <a:gdLst/>
            <a:ahLst/>
            <a:cxnLst/>
            <a:rect l="l" t="t" r="r" b="b"/>
            <a:pathLst>
              <a:path w="1295400">
                <a:moveTo>
                  <a:pt x="0" y="0"/>
                </a:moveTo>
                <a:lnTo>
                  <a:pt x="12954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953000" y="2819400"/>
            <a:ext cx="1295400" cy="0"/>
          </a:xfrm>
          <a:custGeom>
            <a:avLst/>
            <a:gdLst/>
            <a:ahLst/>
            <a:cxnLst/>
            <a:rect l="l" t="t" r="r" b="b"/>
            <a:pathLst>
              <a:path w="1295400">
                <a:moveTo>
                  <a:pt x="0" y="0"/>
                </a:moveTo>
                <a:lnTo>
                  <a:pt x="12954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429000" y="2819400"/>
            <a:ext cx="1295400" cy="0"/>
          </a:xfrm>
          <a:custGeom>
            <a:avLst/>
            <a:gdLst/>
            <a:ahLst/>
            <a:cxnLst/>
            <a:rect l="l" t="t" r="r" b="b"/>
            <a:pathLst>
              <a:path w="1295400">
                <a:moveTo>
                  <a:pt x="0" y="0"/>
                </a:moveTo>
                <a:lnTo>
                  <a:pt x="12954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328719" y="2260614"/>
            <a:ext cx="32067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i="1" spc="-60" dirty="0">
                <a:latin typeface="Tahoma"/>
                <a:cs typeface="Tahoma"/>
              </a:rPr>
              <a:t>X</a:t>
            </a:r>
            <a:endParaRPr sz="25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28919" y="2260614"/>
            <a:ext cx="31877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i="1" spc="-60" dirty="0">
                <a:latin typeface="Tahoma"/>
                <a:cs typeface="Tahoma"/>
              </a:rPr>
              <a:t>Y</a:t>
            </a:r>
            <a:endParaRPr sz="25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49215" y="2275840"/>
            <a:ext cx="8705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others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20264" y="3008629"/>
            <a:ext cx="2694305" cy="1122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equal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350">
              <a:latin typeface="Tahoma"/>
              <a:cs typeface="Tahoma"/>
            </a:endParaRPr>
          </a:p>
          <a:p>
            <a:pPr marL="1403350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e</a:t>
            </a:r>
            <a:r>
              <a:rPr sz="2400" spc="-25" dirty="0">
                <a:latin typeface="Tahoma"/>
                <a:cs typeface="Tahoma"/>
              </a:rPr>
              <a:t>x</a:t>
            </a:r>
            <a:r>
              <a:rPr sz="2400" spc="-5" dirty="0">
                <a:latin typeface="Tahoma"/>
                <a:cs typeface="Tahoma"/>
              </a:rPr>
              <a:t>c</a:t>
            </a:r>
            <a:r>
              <a:rPr sz="2400" dirty="0">
                <a:latin typeface="Tahoma"/>
                <a:cs typeface="Tahoma"/>
              </a:rPr>
              <a:t>han</a:t>
            </a:r>
            <a:r>
              <a:rPr sz="2400" spc="-5" dirty="0">
                <a:latin typeface="Tahoma"/>
                <a:cs typeface="Tahoma"/>
              </a:rPr>
              <a:t>g</a:t>
            </a:r>
            <a:r>
              <a:rPr sz="2400" dirty="0">
                <a:latin typeface="Tahoma"/>
                <a:cs typeface="Tahoma"/>
              </a:rPr>
              <a:t>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476500" y="2819400"/>
            <a:ext cx="76200" cy="228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476500" y="3429000"/>
            <a:ext cx="76200" cy="228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695700" y="2819400"/>
            <a:ext cx="76200" cy="838200"/>
          </a:xfrm>
          <a:custGeom>
            <a:avLst/>
            <a:gdLst/>
            <a:ahLst/>
            <a:cxnLst/>
            <a:rect l="l" t="t" r="r" b="b"/>
            <a:pathLst>
              <a:path w="76200" h="838200">
                <a:moveTo>
                  <a:pt x="33337" y="76200"/>
                </a:moveTo>
                <a:lnTo>
                  <a:pt x="0" y="76200"/>
                </a:lnTo>
                <a:lnTo>
                  <a:pt x="38100" y="0"/>
                </a:lnTo>
                <a:lnTo>
                  <a:pt x="66675" y="57150"/>
                </a:lnTo>
                <a:lnTo>
                  <a:pt x="33337" y="57150"/>
                </a:lnTo>
                <a:lnTo>
                  <a:pt x="33337" y="76200"/>
                </a:lnTo>
                <a:close/>
              </a:path>
              <a:path w="76200" h="838200">
                <a:moveTo>
                  <a:pt x="42862" y="838200"/>
                </a:moveTo>
                <a:lnTo>
                  <a:pt x="33337" y="838200"/>
                </a:lnTo>
                <a:lnTo>
                  <a:pt x="33337" y="57150"/>
                </a:lnTo>
                <a:lnTo>
                  <a:pt x="42862" y="57150"/>
                </a:lnTo>
                <a:lnTo>
                  <a:pt x="42862" y="838200"/>
                </a:lnTo>
                <a:close/>
              </a:path>
              <a:path w="76200" h="838200">
                <a:moveTo>
                  <a:pt x="76200" y="76200"/>
                </a:moveTo>
                <a:lnTo>
                  <a:pt x="42862" y="76200"/>
                </a:lnTo>
                <a:lnTo>
                  <a:pt x="42862" y="57150"/>
                </a:lnTo>
                <a:lnTo>
                  <a:pt x="66675" y="57150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381500" y="2819400"/>
            <a:ext cx="76200" cy="838200"/>
          </a:xfrm>
          <a:custGeom>
            <a:avLst/>
            <a:gdLst/>
            <a:ahLst/>
            <a:cxnLst/>
            <a:rect l="l" t="t" r="r" b="b"/>
            <a:pathLst>
              <a:path w="76200" h="838200">
                <a:moveTo>
                  <a:pt x="42862" y="781050"/>
                </a:moveTo>
                <a:lnTo>
                  <a:pt x="33337" y="781050"/>
                </a:lnTo>
                <a:lnTo>
                  <a:pt x="33337" y="0"/>
                </a:lnTo>
                <a:lnTo>
                  <a:pt x="42862" y="0"/>
                </a:lnTo>
                <a:lnTo>
                  <a:pt x="42862" y="781050"/>
                </a:lnTo>
                <a:close/>
              </a:path>
              <a:path w="76200" h="838200">
                <a:moveTo>
                  <a:pt x="38100" y="838200"/>
                </a:moveTo>
                <a:lnTo>
                  <a:pt x="0" y="762000"/>
                </a:lnTo>
                <a:lnTo>
                  <a:pt x="33337" y="762000"/>
                </a:lnTo>
                <a:lnTo>
                  <a:pt x="33337" y="781050"/>
                </a:lnTo>
                <a:lnTo>
                  <a:pt x="66675" y="781050"/>
                </a:lnTo>
                <a:lnTo>
                  <a:pt x="38100" y="838200"/>
                </a:lnTo>
                <a:close/>
              </a:path>
              <a:path w="76200" h="838200">
                <a:moveTo>
                  <a:pt x="66675" y="781050"/>
                </a:moveTo>
                <a:lnTo>
                  <a:pt x="42862" y="781050"/>
                </a:lnTo>
                <a:lnTo>
                  <a:pt x="42862" y="762000"/>
                </a:lnTo>
                <a:lnTo>
                  <a:pt x="76200" y="762000"/>
                </a:lnTo>
                <a:lnTo>
                  <a:pt x="66675" y="781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5</a:t>
            </a:fld>
            <a:endParaRPr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8" name="墨迹 17">
                <a:extLst>
                  <a:ext uri="{FF2B5EF4-FFF2-40B4-BE49-F238E27FC236}">
                    <a16:creationId xmlns:a16="http://schemas.microsoft.com/office/drawing/2014/main" id="{03C3F555-167A-F5BE-9F49-06B3C72580AA}"/>
                  </a:ext>
                </a:extLst>
              </p14:cNvPr>
              <p14:cNvContentPartPr/>
              <p14:nvPr/>
            </p14:nvContentPartPr>
            <p14:xfrm>
              <a:off x="1999179" y="3244511"/>
              <a:ext cx="1022760" cy="102600"/>
            </p14:xfrm>
          </p:contentPart>
        </mc:Choice>
        <mc:Fallback>
          <p:pic>
            <p:nvPicPr>
              <p:cNvPr id="18" name="墨迹 17">
                <a:extLst>
                  <a:ext uri="{FF2B5EF4-FFF2-40B4-BE49-F238E27FC236}">
                    <a16:creationId xmlns:a16="http://schemas.microsoft.com/office/drawing/2014/main" id="{03C3F555-167A-F5BE-9F49-06B3C72580A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45179" y="3136871"/>
                <a:ext cx="1130400" cy="31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9" name="墨迹 18">
                <a:extLst>
                  <a:ext uri="{FF2B5EF4-FFF2-40B4-BE49-F238E27FC236}">
                    <a16:creationId xmlns:a16="http://schemas.microsoft.com/office/drawing/2014/main" id="{6B104058-7887-EC18-9E4A-0045E3C951BC}"/>
                  </a:ext>
                </a:extLst>
              </p14:cNvPr>
              <p14:cNvContentPartPr/>
              <p14:nvPr/>
            </p14:nvContentPartPr>
            <p14:xfrm>
              <a:off x="3316779" y="4006991"/>
              <a:ext cx="1329480" cy="158040"/>
            </p14:xfrm>
          </p:contentPart>
        </mc:Choice>
        <mc:Fallback>
          <p:pic>
            <p:nvPicPr>
              <p:cNvPr id="19" name="墨迹 18">
                <a:extLst>
                  <a:ext uri="{FF2B5EF4-FFF2-40B4-BE49-F238E27FC236}">
                    <a16:creationId xmlns:a16="http://schemas.microsoft.com/office/drawing/2014/main" id="{6B104058-7887-EC18-9E4A-0045E3C951B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63139" y="3898991"/>
                <a:ext cx="1437120" cy="37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0" name="墨迹 19">
                <a:extLst>
                  <a:ext uri="{FF2B5EF4-FFF2-40B4-BE49-F238E27FC236}">
                    <a16:creationId xmlns:a16="http://schemas.microsoft.com/office/drawing/2014/main" id="{B73CEFB3-A335-D43B-2A23-06B063C9101B}"/>
                  </a:ext>
                </a:extLst>
              </p14:cNvPr>
              <p14:cNvContentPartPr/>
              <p14:nvPr/>
            </p14:nvContentPartPr>
            <p14:xfrm>
              <a:off x="3773979" y="4078271"/>
              <a:ext cx="1015920" cy="45720"/>
            </p14:xfrm>
          </p:contentPart>
        </mc:Choice>
        <mc:Fallback>
          <p:pic>
            <p:nvPicPr>
              <p:cNvPr id="20" name="墨迹 19">
                <a:extLst>
                  <a:ext uri="{FF2B5EF4-FFF2-40B4-BE49-F238E27FC236}">
                    <a16:creationId xmlns:a16="http://schemas.microsoft.com/office/drawing/2014/main" id="{B73CEFB3-A335-D43B-2A23-06B063C9101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719979" y="3970271"/>
                <a:ext cx="1123560" cy="26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1" name="墨迹 20">
                <a:extLst>
                  <a:ext uri="{FF2B5EF4-FFF2-40B4-BE49-F238E27FC236}">
                    <a16:creationId xmlns:a16="http://schemas.microsoft.com/office/drawing/2014/main" id="{ABE344B3-A4DD-4D1A-562A-ECDA02401D50}"/>
                  </a:ext>
                </a:extLst>
              </p14:cNvPr>
              <p14:cNvContentPartPr/>
              <p14:nvPr/>
            </p14:nvContentPartPr>
            <p14:xfrm>
              <a:off x="5056299" y="2420111"/>
              <a:ext cx="845280" cy="101880"/>
            </p14:xfrm>
          </p:contentPart>
        </mc:Choice>
        <mc:Fallback>
          <p:pic>
            <p:nvPicPr>
              <p:cNvPr id="21" name="墨迹 20">
                <a:extLst>
                  <a:ext uri="{FF2B5EF4-FFF2-40B4-BE49-F238E27FC236}">
                    <a16:creationId xmlns:a16="http://schemas.microsoft.com/office/drawing/2014/main" id="{ABE344B3-A4DD-4D1A-562A-ECDA02401D5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002299" y="2312471"/>
                <a:ext cx="952920" cy="317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37229" y="829944"/>
            <a:ext cx="26695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MVD</a:t>
            </a:r>
            <a:r>
              <a:rPr spc="-90" dirty="0"/>
              <a:t> </a:t>
            </a:r>
            <a:r>
              <a:rPr spc="-10" dirty="0"/>
              <a:t>Rules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59740" y="1919458"/>
            <a:ext cx="8187690" cy="4092146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6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0" dirty="0">
                <a:latin typeface="Tahoma"/>
                <a:cs typeface="Tahoma"/>
              </a:rPr>
              <a:t>Every </a:t>
            </a:r>
            <a:r>
              <a:rPr sz="3200" dirty="0">
                <a:latin typeface="Tahoma"/>
                <a:cs typeface="Tahoma"/>
              </a:rPr>
              <a:t>FD </a:t>
            </a:r>
            <a:r>
              <a:rPr sz="3200" spc="-5" dirty="0">
                <a:latin typeface="Tahoma"/>
                <a:cs typeface="Tahoma"/>
              </a:rPr>
              <a:t>is </a:t>
            </a:r>
            <a:r>
              <a:rPr sz="3200" dirty="0">
                <a:latin typeface="Tahoma"/>
                <a:cs typeface="Tahoma"/>
              </a:rPr>
              <a:t>an MVD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spc="-840" dirty="0">
                <a:latin typeface="Tahoma"/>
                <a:cs typeface="Tahoma"/>
              </a:rPr>
              <a:t>(</a:t>
            </a:r>
            <a:r>
              <a:rPr lang="en-US" altLang="zh-CN" sz="3600" dirty="0">
                <a:effectLst/>
              </a:rPr>
              <a:t>promotion</a:t>
            </a:r>
            <a:r>
              <a:rPr sz="3200" spc="-840" dirty="0">
                <a:latin typeface="Tahoma"/>
                <a:cs typeface="Tahoma"/>
              </a:rPr>
              <a:t>).</a:t>
            </a:r>
            <a:endParaRPr sz="3200" dirty="0">
              <a:latin typeface="Tahoma"/>
              <a:cs typeface="Tahoma"/>
            </a:endParaRPr>
          </a:p>
          <a:p>
            <a:pPr marL="755650" marR="720725" lvl="1" indent="-285750">
              <a:lnSpc>
                <a:spcPts val="3360"/>
              </a:lnSpc>
              <a:spcBef>
                <a:spcPts val="75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If </a:t>
            </a:r>
            <a:r>
              <a:rPr sz="2900" i="1" spc="-250" dirty="0">
                <a:solidFill>
                  <a:srgbClr val="00CC99"/>
                </a:solidFill>
                <a:latin typeface="Tahoma"/>
                <a:cs typeface="Tahoma"/>
              </a:rPr>
              <a:t>X</a:t>
            </a:r>
            <a:r>
              <a:rPr sz="2800" spc="-250" dirty="0">
                <a:solidFill>
                  <a:srgbClr val="00CC99"/>
                </a:solidFill>
                <a:latin typeface="Tahoma"/>
                <a:cs typeface="Tahoma"/>
              </a:rPr>
              <a:t>-&gt;</a:t>
            </a:r>
            <a:r>
              <a:rPr sz="2900" i="1" spc="-250" dirty="0">
                <a:solidFill>
                  <a:srgbClr val="00CC99"/>
                </a:solidFill>
                <a:latin typeface="Tahoma"/>
                <a:cs typeface="Tahoma"/>
              </a:rPr>
              <a:t>Y</a:t>
            </a:r>
            <a:r>
              <a:rPr sz="2800" spc="-250" dirty="0">
                <a:latin typeface="Tahoma"/>
                <a:cs typeface="Tahoma"/>
              </a:rPr>
              <a:t>, </a:t>
            </a:r>
            <a:r>
              <a:rPr sz="2800" spc="-5" dirty="0">
                <a:latin typeface="Tahoma"/>
                <a:cs typeface="Tahoma"/>
              </a:rPr>
              <a:t>then swapping </a:t>
            </a:r>
            <a:r>
              <a:rPr sz="2900" i="1" spc="-60" dirty="0">
                <a:latin typeface="Tahoma"/>
                <a:cs typeface="Tahoma"/>
              </a:rPr>
              <a:t>Y</a:t>
            </a:r>
            <a:r>
              <a:rPr sz="2800" spc="-60" dirty="0">
                <a:latin typeface="Tahoma"/>
                <a:cs typeface="Tahoma"/>
              </a:rPr>
              <a:t>’s </a:t>
            </a:r>
            <a:r>
              <a:rPr sz="2800" spc="-5" dirty="0">
                <a:latin typeface="Tahoma"/>
                <a:cs typeface="Tahoma"/>
              </a:rPr>
              <a:t>between two  tuples that agree on </a:t>
            </a:r>
            <a:r>
              <a:rPr sz="2900" i="1" spc="-65" dirty="0">
                <a:latin typeface="Tahoma"/>
                <a:cs typeface="Tahoma"/>
              </a:rPr>
              <a:t>X </a:t>
            </a:r>
            <a:r>
              <a:rPr sz="2800" spc="5" dirty="0">
                <a:latin typeface="Tahoma"/>
                <a:cs typeface="Tahoma"/>
              </a:rPr>
              <a:t>doesn’t </a:t>
            </a:r>
            <a:r>
              <a:rPr sz="2800" spc="-5" dirty="0">
                <a:latin typeface="Tahoma"/>
                <a:cs typeface="Tahoma"/>
              </a:rPr>
              <a:t>change the  tuples.</a:t>
            </a:r>
            <a:endParaRPr sz="2800" dirty="0">
              <a:latin typeface="Tahoma"/>
              <a:cs typeface="Tahoma"/>
            </a:endParaRPr>
          </a:p>
          <a:p>
            <a:pPr marL="755650" marR="422275" lvl="1" indent="-285750">
              <a:lnSpc>
                <a:spcPts val="336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10" dirty="0">
                <a:latin typeface="Tahoma"/>
                <a:cs typeface="Tahoma"/>
              </a:rPr>
              <a:t>Therefore, </a:t>
            </a:r>
            <a:r>
              <a:rPr sz="2800" spc="-5" dirty="0">
                <a:latin typeface="Tahoma"/>
                <a:cs typeface="Tahoma"/>
              </a:rPr>
              <a:t>the “new” tuples </a:t>
            </a:r>
            <a:r>
              <a:rPr sz="2800" spc="-10" dirty="0">
                <a:latin typeface="Tahoma"/>
                <a:cs typeface="Tahoma"/>
              </a:rPr>
              <a:t>are </a:t>
            </a:r>
            <a:r>
              <a:rPr sz="2800" spc="-5" dirty="0">
                <a:latin typeface="Tahoma"/>
                <a:cs typeface="Tahoma"/>
              </a:rPr>
              <a:t>surely in the  relation, and we know</a:t>
            </a:r>
            <a:r>
              <a:rPr sz="2800" spc="-170" dirty="0">
                <a:latin typeface="Tahoma"/>
                <a:cs typeface="Tahoma"/>
              </a:rPr>
              <a:t> </a:t>
            </a:r>
            <a:r>
              <a:rPr sz="2900" i="1" spc="-180" dirty="0">
                <a:solidFill>
                  <a:srgbClr val="3333CC"/>
                </a:solidFill>
                <a:latin typeface="Tahoma"/>
                <a:cs typeface="Tahoma"/>
              </a:rPr>
              <a:t>X</a:t>
            </a:r>
            <a:r>
              <a:rPr sz="2800" spc="-180" dirty="0">
                <a:solidFill>
                  <a:srgbClr val="3333CC"/>
                </a:solidFill>
                <a:latin typeface="Tahoma"/>
                <a:cs typeface="Tahoma"/>
              </a:rPr>
              <a:t>-&gt;-&gt;</a:t>
            </a:r>
            <a:r>
              <a:rPr sz="2900" i="1" spc="-180" dirty="0">
                <a:solidFill>
                  <a:srgbClr val="3333CC"/>
                </a:solidFill>
                <a:latin typeface="Tahoma"/>
                <a:cs typeface="Tahoma"/>
              </a:rPr>
              <a:t>Y</a:t>
            </a:r>
            <a:r>
              <a:rPr sz="2800" spc="-180" dirty="0">
                <a:latin typeface="Tahoma"/>
                <a:cs typeface="Tahoma"/>
              </a:rPr>
              <a:t>.</a:t>
            </a:r>
            <a:endParaRPr sz="2800" dirty="0">
              <a:latin typeface="Tahoma"/>
              <a:cs typeface="Tahoma"/>
            </a:endParaRPr>
          </a:p>
          <a:p>
            <a:pPr marL="355600" marR="5080" indent="-342900">
              <a:lnSpc>
                <a:spcPts val="3840"/>
              </a:lnSpc>
              <a:spcBef>
                <a:spcPts val="785"/>
              </a:spcBef>
            </a:pPr>
            <a:r>
              <a:rPr sz="3200" spc="-1025" dirty="0">
                <a:solidFill>
                  <a:srgbClr val="CC00CC"/>
                </a:solidFill>
                <a:latin typeface="Wingdings"/>
                <a:cs typeface="Wingdings"/>
              </a:rPr>
              <a:t></a:t>
            </a:r>
            <a:r>
              <a:rPr lang="en-US" altLang="zh-CN" sz="3600" dirty="0">
                <a:effectLst/>
              </a:rPr>
              <a:t>Complementation</a:t>
            </a:r>
            <a:r>
              <a:rPr sz="3200" spc="-1025" dirty="0">
                <a:latin typeface="Tahoma"/>
                <a:cs typeface="Tahoma"/>
              </a:rPr>
              <a:t>: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If </a:t>
            </a:r>
            <a:r>
              <a:rPr sz="3350" i="1" spc="-204" dirty="0">
                <a:solidFill>
                  <a:srgbClr val="3333CC"/>
                </a:solidFill>
                <a:latin typeface="Tahoma"/>
                <a:cs typeface="Tahoma"/>
              </a:rPr>
              <a:t>X</a:t>
            </a:r>
            <a:r>
              <a:rPr sz="3200" spc="-204" dirty="0">
                <a:solidFill>
                  <a:srgbClr val="3333CC"/>
                </a:solidFill>
                <a:latin typeface="Tahoma"/>
                <a:cs typeface="Tahoma"/>
              </a:rPr>
              <a:t>-&gt;-&gt;</a:t>
            </a:r>
            <a:r>
              <a:rPr sz="3350" i="1" spc="-204" dirty="0">
                <a:solidFill>
                  <a:srgbClr val="3333CC"/>
                </a:solidFill>
                <a:latin typeface="Tahoma"/>
                <a:cs typeface="Tahoma"/>
              </a:rPr>
              <a:t>Y</a:t>
            </a:r>
            <a:r>
              <a:rPr sz="3200" spc="-204" dirty="0">
                <a:latin typeface="Tahoma"/>
                <a:cs typeface="Tahoma"/>
              </a:rPr>
              <a:t>, </a:t>
            </a:r>
            <a:r>
              <a:rPr sz="3200" spc="-5" dirty="0">
                <a:latin typeface="Tahoma"/>
                <a:cs typeface="Tahoma"/>
              </a:rPr>
              <a:t>and </a:t>
            </a:r>
            <a:r>
              <a:rPr sz="3350" i="1" spc="-85" dirty="0">
                <a:latin typeface="Tahoma"/>
                <a:cs typeface="Tahoma"/>
              </a:rPr>
              <a:t>Z </a:t>
            </a:r>
            <a:r>
              <a:rPr sz="3200" spc="-5" dirty="0">
                <a:latin typeface="Tahoma"/>
                <a:cs typeface="Tahoma"/>
              </a:rPr>
              <a:t>is </a:t>
            </a:r>
            <a:r>
              <a:rPr sz="3200" dirty="0">
                <a:latin typeface="Tahoma"/>
                <a:cs typeface="Tahoma"/>
              </a:rPr>
              <a:t>all  </a:t>
            </a:r>
            <a:r>
              <a:rPr sz="3200" spc="-5" dirty="0">
                <a:latin typeface="Tahoma"/>
                <a:cs typeface="Tahoma"/>
              </a:rPr>
              <a:t>the other attributes, then</a:t>
            </a:r>
            <a:r>
              <a:rPr sz="3200" spc="-220" dirty="0">
                <a:latin typeface="Tahoma"/>
                <a:cs typeface="Tahoma"/>
              </a:rPr>
              <a:t> </a:t>
            </a:r>
            <a:r>
              <a:rPr sz="3350" i="1" spc="-204" dirty="0">
                <a:solidFill>
                  <a:srgbClr val="3333CC"/>
                </a:solidFill>
                <a:latin typeface="Tahoma"/>
                <a:cs typeface="Tahoma"/>
              </a:rPr>
              <a:t>X</a:t>
            </a:r>
            <a:r>
              <a:rPr sz="3200" spc="-204" dirty="0">
                <a:solidFill>
                  <a:srgbClr val="3333CC"/>
                </a:solidFill>
                <a:latin typeface="Tahoma"/>
                <a:cs typeface="Tahoma"/>
              </a:rPr>
              <a:t>-&gt;-&gt;</a:t>
            </a:r>
            <a:r>
              <a:rPr sz="3350" i="1" spc="-204" dirty="0">
                <a:solidFill>
                  <a:srgbClr val="3333CC"/>
                </a:solidFill>
                <a:latin typeface="Tahoma"/>
                <a:cs typeface="Tahoma"/>
              </a:rPr>
              <a:t>Z</a:t>
            </a:r>
            <a:r>
              <a:rPr sz="3200" spc="-204" dirty="0">
                <a:latin typeface="Tahoma"/>
                <a:cs typeface="Tahoma"/>
              </a:rPr>
              <a:t>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03095" y="304800"/>
            <a:ext cx="5337810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Splitting </a:t>
            </a:r>
            <a:r>
              <a:rPr spc="10" dirty="0"/>
              <a:t>Doesn’t</a:t>
            </a:r>
            <a:r>
              <a:rPr spc="-45" dirty="0"/>
              <a:t> </a:t>
            </a:r>
            <a:r>
              <a:rPr spc="-5" dirty="0"/>
              <a:t>Hold</a:t>
            </a:r>
            <a:r>
              <a:rPr lang="zh-CN" altLang="en-US" spc="-5" dirty="0"/>
              <a:t>拆分不成立</a:t>
            </a:r>
            <a:endParaRPr spc="-5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566659" cy="3049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59385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0" dirty="0">
                <a:latin typeface="Tahoma"/>
                <a:cs typeface="Tahoma"/>
              </a:rPr>
              <a:t>Like </a:t>
            </a:r>
            <a:r>
              <a:rPr sz="3200" spc="-25" dirty="0">
                <a:latin typeface="Tahoma"/>
                <a:cs typeface="Tahoma"/>
              </a:rPr>
              <a:t>FD’s, </a:t>
            </a:r>
            <a:r>
              <a:rPr sz="3200" dirty="0">
                <a:latin typeface="Tahoma"/>
                <a:cs typeface="Tahoma"/>
              </a:rPr>
              <a:t>we </a:t>
            </a:r>
            <a:r>
              <a:rPr sz="3200" spc="-5" dirty="0">
                <a:latin typeface="Tahoma"/>
                <a:cs typeface="Tahoma"/>
              </a:rPr>
              <a:t>cannot </a:t>
            </a:r>
            <a:r>
              <a:rPr sz="3200" spc="-10" dirty="0">
                <a:latin typeface="Tahoma"/>
                <a:cs typeface="Tahoma"/>
              </a:rPr>
              <a:t>generally </a:t>
            </a:r>
            <a:r>
              <a:rPr sz="3200" spc="-5" dirty="0">
                <a:latin typeface="Tahoma"/>
                <a:cs typeface="Tahoma"/>
              </a:rPr>
              <a:t>split the  left side of </a:t>
            </a:r>
            <a:r>
              <a:rPr sz="3200" dirty="0">
                <a:latin typeface="Tahoma"/>
                <a:cs typeface="Tahoma"/>
              </a:rPr>
              <a:t>an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20" dirty="0">
                <a:latin typeface="Tahoma"/>
                <a:cs typeface="Tahoma"/>
              </a:rPr>
              <a:t>MVD.</a:t>
            </a:r>
            <a:endParaRPr sz="3200" dirty="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But </a:t>
            </a:r>
            <a:r>
              <a:rPr sz="3200" spc="-10" dirty="0">
                <a:latin typeface="Tahoma"/>
                <a:cs typeface="Tahoma"/>
              </a:rPr>
              <a:t>unlike </a:t>
            </a:r>
            <a:r>
              <a:rPr sz="3200" spc="-25" dirty="0">
                <a:latin typeface="Tahoma"/>
                <a:cs typeface="Tahoma"/>
              </a:rPr>
              <a:t>FD’s, </a:t>
            </a:r>
            <a:r>
              <a:rPr sz="3200" dirty="0">
                <a:latin typeface="Tahoma"/>
                <a:cs typeface="Tahoma"/>
              </a:rPr>
              <a:t>we </a:t>
            </a:r>
            <a:r>
              <a:rPr sz="3200" spc="-5" dirty="0">
                <a:latin typeface="Tahoma"/>
                <a:cs typeface="Tahoma"/>
              </a:rPr>
              <a:t>cannot split the  right side either </a:t>
            </a:r>
            <a:r>
              <a:rPr sz="3200" dirty="0">
                <a:latin typeface="Tahoma"/>
                <a:cs typeface="Tahoma"/>
              </a:rPr>
              <a:t>--- </a:t>
            </a:r>
            <a:r>
              <a:rPr sz="3200" spc="-5" dirty="0">
                <a:latin typeface="Tahoma"/>
                <a:cs typeface="Tahoma"/>
              </a:rPr>
              <a:t>sometimes </a:t>
            </a:r>
            <a:r>
              <a:rPr sz="3200" spc="-10" dirty="0">
                <a:latin typeface="Tahoma"/>
                <a:cs typeface="Tahoma"/>
              </a:rPr>
              <a:t>you </a:t>
            </a:r>
            <a:r>
              <a:rPr sz="3200" spc="-15" dirty="0">
                <a:latin typeface="Tahoma"/>
                <a:cs typeface="Tahoma"/>
              </a:rPr>
              <a:t>have  </a:t>
            </a:r>
            <a:r>
              <a:rPr sz="3200" spc="-5" dirty="0">
                <a:latin typeface="Tahoma"/>
                <a:cs typeface="Tahoma"/>
              </a:rPr>
              <a:t>to </a:t>
            </a:r>
            <a:r>
              <a:rPr sz="3200" spc="-15" dirty="0">
                <a:latin typeface="Tahoma"/>
                <a:cs typeface="Tahoma"/>
              </a:rPr>
              <a:t>leave several </a:t>
            </a:r>
            <a:r>
              <a:rPr sz="3200" spc="-5" dirty="0">
                <a:latin typeface="Tahoma"/>
                <a:cs typeface="Tahoma"/>
              </a:rPr>
              <a:t>attributes </a:t>
            </a:r>
            <a:r>
              <a:rPr sz="3200" dirty="0">
                <a:latin typeface="Tahoma"/>
                <a:cs typeface="Tahoma"/>
              </a:rPr>
              <a:t>on </a:t>
            </a:r>
            <a:r>
              <a:rPr sz="3200" spc="-5" dirty="0">
                <a:latin typeface="Tahoma"/>
                <a:cs typeface="Tahoma"/>
              </a:rPr>
              <a:t>the right  side.</a:t>
            </a:r>
            <a:r>
              <a:rPr lang="zh-CN" altLang="en-US" sz="3200" spc="-5" dirty="0">
                <a:latin typeface="Tahoma"/>
                <a:cs typeface="Tahoma"/>
              </a:rPr>
              <a:t>右侧也不能分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775" y="829944"/>
            <a:ext cx="86804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Multiattribute Right</a:t>
            </a:r>
            <a:r>
              <a:rPr spc="-45" dirty="0"/>
              <a:t> </a:t>
            </a:r>
            <a:r>
              <a:rPr spc="-5" dirty="0"/>
              <a:t>Sides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590790" cy="36347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510665" indent="-3429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Drinkers(name, areaCode, phone,  beersLiked,</a:t>
            </a:r>
            <a:r>
              <a:rPr sz="3200" spc="-10" dirty="0">
                <a:solidFill>
                  <a:srgbClr val="CC00CC"/>
                </a:solidFill>
                <a:latin typeface="Tahoma"/>
                <a:cs typeface="Tahoma"/>
              </a:rPr>
              <a:t>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manf)</a:t>
            </a:r>
            <a:endParaRPr sz="3200" dirty="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A </a:t>
            </a:r>
            <a:r>
              <a:rPr sz="3200" spc="-10" dirty="0">
                <a:latin typeface="Tahoma"/>
                <a:cs typeface="Tahoma"/>
              </a:rPr>
              <a:t>drinker </a:t>
            </a:r>
            <a:r>
              <a:rPr sz="3200" spc="-5" dirty="0">
                <a:latin typeface="Tahoma"/>
                <a:cs typeface="Tahoma"/>
              </a:rPr>
              <a:t>can </a:t>
            </a:r>
            <a:r>
              <a:rPr sz="3200" spc="-15" dirty="0">
                <a:latin typeface="Tahoma"/>
                <a:cs typeface="Tahoma"/>
              </a:rPr>
              <a:t>have several </a:t>
            </a:r>
            <a:r>
              <a:rPr sz="3200" spc="-5" dirty="0">
                <a:latin typeface="Tahoma"/>
                <a:cs typeface="Tahoma"/>
              </a:rPr>
              <a:t>phones, with  the number divided between areaCode  and phone (last </a:t>
            </a:r>
            <a:r>
              <a:rPr sz="3200" dirty="0">
                <a:latin typeface="Tahoma"/>
                <a:cs typeface="Tahoma"/>
              </a:rPr>
              <a:t>7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digits).</a:t>
            </a:r>
            <a:endParaRPr sz="3200" dirty="0">
              <a:latin typeface="Tahoma"/>
              <a:cs typeface="Tahoma"/>
            </a:endParaRPr>
          </a:p>
          <a:p>
            <a:pPr marL="355600" marR="487045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A </a:t>
            </a:r>
            <a:r>
              <a:rPr sz="3200" spc="-10" dirty="0">
                <a:latin typeface="Tahoma"/>
                <a:cs typeface="Tahoma"/>
              </a:rPr>
              <a:t>drinker </a:t>
            </a:r>
            <a:r>
              <a:rPr sz="3200" spc="-5" dirty="0">
                <a:latin typeface="Tahoma"/>
                <a:cs typeface="Tahoma"/>
              </a:rPr>
              <a:t>can </a:t>
            </a:r>
            <a:r>
              <a:rPr sz="3200" spc="-10" dirty="0">
                <a:latin typeface="Tahoma"/>
                <a:cs typeface="Tahoma"/>
              </a:rPr>
              <a:t>like </a:t>
            </a:r>
            <a:r>
              <a:rPr sz="3200" spc="-15" dirty="0">
                <a:latin typeface="Tahoma"/>
                <a:cs typeface="Tahoma"/>
              </a:rPr>
              <a:t>several </a:t>
            </a:r>
            <a:r>
              <a:rPr sz="3200" spc="-5" dirty="0">
                <a:latin typeface="Tahoma"/>
                <a:cs typeface="Tahoma"/>
              </a:rPr>
              <a:t>beers, each  with </a:t>
            </a:r>
            <a:r>
              <a:rPr sz="3200" dirty="0">
                <a:latin typeface="Tahoma"/>
                <a:cs typeface="Tahoma"/>
              </a:rPr>
              <a:t>its </a:t>
            </a:r>
            <a:r>
              <a:rPr sz="3200" spc="-5" dirty="0">
                <a:latin typeface="Tahoma"/>
                <a:cs typeface="Tahoma"/>
              </a:rPr>
              <a:t>own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spc="-40" dirty="0">
                <a:latin typeface="Tahoma"/>
                <a:cs typeface="Tahoma"/>
              </a:rPr>
              <a:t>manufacturer.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0" dirty="0">
                <a:solidFill>
                  <a:srgbClr val="33CC33"/>
                </a:solidFill>
              </a:rPr>
              <a:t> </a:t>
            </a:r>
            <a:r>
              <a:rPr spc="-5" dirty="0"/>
              <a:t>Continued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6874509" cy="3633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Since the areaCode-phone  combinations </a:t>
            </a:r>
            <a:r>
              <a:rPr sz="3200" spc="-15" dirty="0">
                <a:latin typeface="Tahoma"/>
                <a:cs typeface="Tahoma"/>
              </a:rPr>
              <a:t>for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10" dirty="0">
                <a:latin typeface="Tahoma"/>
                <a:cs typeface="Tahoma"/>
              </a:rPr>
              <a:t>drinker are  </a:t>
            </a:r>
            <a:r>
              <a:rPr sz="3200" spc="-5" dirty="0">
                <a:latin typeface="Tahoma"/>
                <a:cs typeface="Tahoma"/>
              </a:rPr>
              <a:t>independent of the beersLiked-manf  combinations, </a:t>
            </a:r>
            <a:r>
              <a:rPr sz="3200" dirty="0">
                <a:latin typeface="Tahoma"/>
                <a:cs typeface="Tahoma"/>
              </a:rPr>
              <a:t>we </a:t>
            </a:r>
            <a:r>
              <a:rPr sz="3200" spc="-5" dirty="0">
                <a:latin typeface="Tahoma"/>
                <a:cs typeface="Tahoma"/>
              </a:rPr>
              <a:t>expect that the  </a:t>
            </a:r>
            <a:r>
              <a:rPr sz="3200" spc="-10" dirty="0">
                <a:latin typeface="Tahoma"/>
                <a:cs typeface="Tahoma"/>
              </a:rPr>
              <a:t>following </a:t>
            </a:r>
            <a:r>
              <a:rPr sz="3200" spc="-25" dirty="0">
                <a:latin typeface="Tahoma"/>
                <a:cs typeface="Tahoma"/>
              </a:rPr>
              <a:t>MVD’s</a:t>
            </a:r>
            <a:r>
              <a:rPr sz="3200" spc="-5" dirty="0">
                <a:latin typeface="Tahoma"/>
                <a:cs typeface="Tahoma"/>
              </a:rPr>
              <a:t> hold:</a:t>
            </a:r>
            <a:endParaRPr sz="3200" dirty="0">
              <a:latin typeface="Tahoma"/>
              <a:cs typeface="Tahoma"/>
            </a:endParaRPr>
          </a:p>
          <a:p>
            <a:pPr marL="926465" marR="850900">
              <a:lnSpc>
                <a:spcPts val="4600"/>
              </a:lnSpc>
              <a:spcBef>
                <a:spcPts val="275"/>
              </a:spcBef>
            </a:pPr>
            <a:r>
              <a:rPr sz="3200" spc="-5" dirty="0">
                <a:solidFill>
                  <a:srgbClr val="3333CC"/>
                </a:solidFill>
                <a:latin typeface="Tahoma"/>
                <a:cs typeface="Tahoma"/>
              </a:rPr>
              <a:t>name </a:t>
            </a:r>
            <a:r>
              <a:rPr sz="3200" dirty="0">
                <a:solidFill>
                  <a:srgbClr val="3333CC"/>
                </a:solidFill>
                <a:latin typeface="Tahoma"/>
                <a:cs typeface="Tahoma"/>
              </a:rPr>
              <a:t>-&gt;-&gt; </a:t>
            </a:r>
            <a:r>
              <a:rPr sz="3200" spc="-5" dirty="0">
                <a:solidFill>
                  <a:srgbClr val="3333CC"/>
                </a:solidFill>
                <a:latin typeface="Tahoma"/>
                <a:cs typeface="Tahoma"/>
              </a:rPr>
              <a:t>areaCode phone  name </a:t>
            </a:r>
            <a:r>
              <a:rPr sz="3200" dirty="0">
                <a:solidFill>
                  <a:srgbClr val="3333CC"/>
                </a:solidFill>
                <a:latin typeface="Tahoma"/>
                <a:cs typeface="Tahoma"/>
              </a:rPr>
              <a:t>-&gt;-&gt; </a:t>
            </a:r>
            <a:r>
              <a:rPr sz="3200" spc="-5" dirty="0">
                <a:solidFill>
                  <a:srgbClr val="3333CC"/>
                </a:solidFill>
                <a:latin typeface="Tahoma"/>
                <a:cs typeface="Tahoma"/>
              </a:rPr>
              <a:t>beersLiked</a:t>
            </a:r>
            <a:r>
              <a:rPr sz="3200" spc="-70" dirty="0">
                <a:solidFill>
                  <a:srgbClr val="3333CC"/>
                </a:solidFill>
                <a:latin typeface="Tahoma"/>
                <a:cs typeface="Tahoma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Tahoma"/>
                <a:cs typeface="Tahoma"/>
              </a:rPr>
              <a:t>manf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53689" y="829944"/>
            <a:ext cx="34366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Example</a:t>
            </a:r>
            <a:r>
              <a:rPr spc="-65" dirty="0"/>
              <a:t> </a:t>
            </a:r>
            <a:r>
              <a:rPr spc="-5" dirty="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8665" y="2123122"/>
            <a:ext cx="60109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Here </a:t>
            </a:r>
            <a:r>
              <a:rPr sz="2400" dirty="0">
                <a:latin typeface="Tahoma"/>
                <a:cs typeface="Tahoma"/>
              </a:rPr>
              <a:t>is </a:t>
            </a:r>
            <a:r>
              <a:rPr sz="2400" spc="-5" dirty="0">
                <a:latin typeface="Tahoma"/>
                <a:cs typeface="Tahoma"/>
              </a:rPr>
              <a:t>possible data satisfying these </a:t>
            </a:r>
            <a:r>
              <a:rPr sz="2400" spc="-20" dirty="0">
                <a:latin typeface="Tahoma"/>
                <a:cs typeface="Tahoma"/>
              </a:rPr>
              <a:t>MVD’s: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8665" y="5094922"/>
            <a:ext cx="783780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But </a:t>
            </a:r>
            <a:r>
              <a:rPr sz="2400" spc="-5" dirty="0">
                <a:latin typeface="Tahoma"/>
                <a:cs typeface="Tahoma"/>
              </a:rPr>
              <a:t>we cannot </a:t>
            </a:r>
            <a:r>
              <a:rPr sz="2400" spc="-10" dirty="0">
                <a:latin typeface="Tahoma"/>
                <a:cs typeface="Tahoma"/>
              </a:rPr>
              <a:t>swap </a:t>
            </a:r>
            <a:r>
              <a:rPr sz="2400" spc="-5" dirty="0">
                <a:latin typeface="Tahoma"/>
                <a:cs typeface="Tahoma"/>
              </a:rPr>
              <a:t>area codes </a:t>
            </a:r>
            <a:r>
              <a:rPr sz="2400" dirty="0">
                <a:latin typeface="Tahoma"/>
                <a:cs typeface="Tahoma"/>
              </a:rPr>
              <a:t>or </a:t>
            </a:r>
            <a:r>
              <a:rPr sz="2400" spc="-5" dirty="0">
                <a:latin typeface="Tahoma"/>
                <a:cs typeface="Tahoma"/>
              </a:rPr>
              <a:t>phones by themselves.  That is, </a:t>
            </a:r>
            <a:r>
              <a:rPr sz="2400" dirty="0">
                <a:latin typeface="Tahoma"/>
                <a:cs typeface="Tahoma"/>
              </a:rPr>
              <a:t>neither </a:t>
            </a:r>
            <a:r>
              <a:rPr sz="2400" spc="-5" dirty="0">
                <a:solidFill>
                  <a:srgbClr val="3333CC"/>
                </a:solidFill>
                <a:latin typeface="Tahoma"/>
                <a:cs typeface="Tahoma"/>
              </a:rPr>
              <a:t>name-&gt;-&gt;areaCode </a:t>
            </a:r>
            <a:r>
              <a:rPr sz="2400" dirty="0">
                <a:latin typeface="Tahoma"/>
                <a:cs typeface="Tahoma"/>
              </a:rPr>
              <a:t>nor </a:t>
            </a:r>
            <a:r>
              <a:rPr sz="2400" spc="-5" dirty="0">
                <a:solidFill>
                  <a:srgbClr val="3333CC"/>
                </a:solidFill>
                <a:latin typeface="Tahoma"/>
                <a:cs typeface="Tahoma"/>
              </a:rPr>
              <a:t>name-&gt;-&gt;phone  </a:t>
            </a:r>
            <a:r>
              <a:rPr sz="2400" spc="-5" dirty="0">
                <a:latin typeface="Tahoma"/>
                <a:cs typeface="Tahoma"/>
              </a:rPr>
              <a:t>holds </a:t>
            </a:r>
            <a:r>
              <a:rPr sz="2400" spc="-10" dirty="0">
                <a:latin typeface="Tahoma"/>
                <a:cs typeface="Tahoma"/>
              </a:rPr>
              <a:t>for </a:t>
            </a:r>
            <a:r>
              <a:rPr sz="2400" dirty="0">
                <a:latin typeface="Tahoma"/>
                <a:cs typeface="Tahoma"/>
              </a:rPr>
              <a:t>this </a:t>
            </a:r>
            <a:r>
              <a:rPr sz="2400" spc="-5" dirty="0">
                <a:latin typeface="Tahoma"/>
                <a:cs typeface="Tahoma"/>
              </a:rPr>
              <a:t>relation.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81037" y="2890837"/>
            <a:ext cx="7400925" cy="1914525"/>
          </a:xfrm>
          <a:custGeom>
            <a:avLst/>
            <a:gdLst/>
            <a:ahLst/>
            <a:cxnLst/>
            <a:rect l="l" t="t" r="r" b="b"/>
            <a:pathLst>
              <a:path w="7400925" h="1914525">
                <a:moveTo>
                  <a:pt x="7400925" y="1914525"/>
                </a:moveTo>
                <a:lnTo>
                  <a:pt x="0" y="1914525"/>
                </a:lnTo>
                <a:lnTo>
                  <a:pt x="0" y="0"/>
                </a:lnTo>
                <a:lnTo>
                  <a:pt x="7400925" y="0"/>
                </a:lnTo>
                <a:lnTo>
                  <a:pt x="7400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905000"/>
                </a:lnTo>
                <a:lnTo>
                  <a:pt x="4762" y="1905000"/>
                </a:lnTo>
                <a:lnTo>
                  <a:pt x="9525" y="1909762"/>
                </a:lnTo>
                <a:lnTo>
                  <a:pt x="7400925" y="1909762"/>
                </a:lnTo>
                <a:lnTo>
                  <a:pt x="7400925" y="1914525"/>
                </a:lnTo>
                <a:close/>
              </a:path>
              <a:path w="7400925" h="1914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7400925" h="1914525">
                <a:moveTo>
                  <a:pt x="7391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7391400" y="4762"/>
                </a:lnTo>
                <a:lnTo>
                  <a:pt x="7391400" y="9525"/>
                </a:lnTo>
                <a:close/>
              </a:path>
              <a:path w="7400925" h="1914525">
                <a:moveTo>
                  <a:pt x="7391400" y="1909762"/>
                </a:moveTo>
                <a:lnTo>
                  <a:pt x="7391400" y="4762"/>
                </a:lnTo>
                <a:lnTo>
                  <a:pt x="7396162" y="9525"/>
                </a:lnTo>
                <a:lnTo>
                  <a:pt x="7400925" y="9525"/>
                </a:lnTo>
                <a:lnTo>
                  <a:pt x="7400925" y="1905000"/>
                </a:lnTo>
                <a:lnTo>
                  <a:pt x="7396162" y="1905000"/>
                </a:lnTo>
                <a:lnTo>
                  <a:pt x="7391400" y="1909762"/>
                </a:lnTo>
                <a:close/>
              </a:path>
              <a:path w="7400925" h="1914525">
                <a:moveTo>
                  <a:pt x="7400925" y="9525"/>
                </a:moveTo>
                <a:lnTo>
                  <a:pt x="7396162" y="9525"/>
                </a:lnTo>
                <a:lnTo>
                  <a:pt x="7391400" y="4762"/>
                </a:lnTo>
                <a:lnTo>
                  <a:pt x="7400925" y="4762"/>
                </a:lnTo>
                <a:lnTo>
                  <a:pt x="7400925" y="9525"/>
                </a:lnTo>
                <a:close/>
              </a:path>
              <a:path w="7400925" h="1914525">
                <a:moveTo>
                  <a:pt x="9525" y="1909762"/>
                </a:moveTo>
                <a:lnTo>
                  <a:pt x="4762" y="1905000"/>
                </a:lnTo>
                <a:lnTo>
                  <a:pt x="9525" y="1905000"/>
                </a:lnTo>
                <a:lnTo>
                  <a:pt x="9525" y="1909762"/>
                </a:lnTo>
                <a:close/>
              </a:path>
              <a:path w="7400925" h="1914525">
                <a:moveTo>
                  <a:pt x="7391400" y="1909762"/>
                </a:moveTo>
                <a:lnTo>
                  <a:pt x="9525" y="1909762"/>
                </a:lnTo>
                <a:lnTo>
                  <a:pt x="9525" y="1905000"/>
                </a:lnTo>
                <a:lnTo>
                  <a:pt x="7391400" y="1905000"/>
                </a:lnTo>
                <a:lnTo>
                  <a:pt x="7391400" y="1909762"/>
                </a:lnTo>
                <a:close/>
              </a:path>
              <a:path w="7400925" h="1914525">
                <a:moveTo>
                  <a:pt x="7400925" y="1909762"/>
                </a:moveTo>
                <a:lnTo>
                  <a:pt x="7391400" y="1909762"/>
                </a:lnTo>
                <a:lnTo>
                  <a:pt x="7396162" y="1905000"/>
                </a:lnTo>
                <a:lnTo>
                  <a:pt x="7400925" y="1905000"/>
                </a:lnTo>
                <a:lnTo>
                  <a:pt x="7400925" y="1909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85800" y="3276600"/>
            <a:ext cx="7391400" cy="0"/>
          </a:xfrm>
          <a:custGeom>
            <a:avLst/>
            <a:gdLst/>
            <a:ahLst/>
            <a:cxnLst/>
            <a:rect l="l" t="t" r="r" b="b"/>
            <a:pathLst>
              <a:path w="7391400">
                <a:moveTo>
                  <a:pt x="0" y="0"/>
                </a:moveTo>
                <a:lnTo>
                  <a:pt x="73914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91832" y="2866558"/>
          <a:ext cx="7346949" cy="19340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2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42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6831">
                <a:tc>
                  <a:txBody>
                    <a:bodyPr/>
                    <a:lstStyle/>
                    <a:p>
                      <a:pPr marL="69215">
                        <a:lnSpc>
                          <a:spcPts val="2785"/>
                        </a:lnSpc>
                      </a:pPr>
                      <a:r>
                        <a:rPr sz="2400" spc="-5" dirty="0">
                          <a:solidFill>
                            <a:srgbClr val="FF0066"/>
                          </a:solidFill>
                          <a:latin typeface="Tahoma"/>
                          <a:cs typeface="Tahoma"/>
                        </a:rPr>
                        <a:t>name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ts val="2785"/>
                        </a:lnSpc>
                      </a:pPr>
                      <a:r>
                        <a:rPr sz="2400" spc="-5" dirty="0">
                          <a:solidFill>
                            <a:srgbClr val="FF0066"/>
                          </a:solidFill>
                          <a:latin typeface="Tahoma"/>
                          <a:cs typeface="Tahoma"/>
                        </a:rPr>
                        <a:t>areaCode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3530">
                        <a:lnSpc>
                          <a:spcPts val="2785"/>
                        </a:lnSpc>
                      </a:pPr>
                      <a:r>
                        <a:rPr sz="2400" spc="-5" dirty="0">
                          <a:solidFill>
                            <a:srgbClr val="FF0066"/>
                          </a:solidFill>
                          <a:latin typeface="Tahoma"/>
                          <a:cs typeface="Tahoma"/>
                        </a:rPr>
                        <a:t>phone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27329">
                        <a:lnSpc>
                          <a:spcPts val="2785"/>
                        </a:lnSpc>
                      </a:pPr>
                      <a:r>
                        <a:rPr sz="2400" spc="-5" dirty="0">
                          <a:solidFill>
                            <a:srgbClr val="FF0066"/>
                          </a:solidFill>
                          <a:latin typeface="Tahoma"/>
                          <a:cs typeface="Tahoma"/>
                        </a:rPr>
                        <a:t>beersLiked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27965">
                        <a:lnSpc>
                          <a:spcPts val="2785"/>
                        </a:lnSpc>
                      </a:pPr>
                      <a:r>
                        <a:rPr sz="2400" spc="-5" dirty="0">
                          <a:solidFill>
                            <a:srgbClr val="FF0066"/>
                          </a:solidFill>
                          <a:latin typeface="Tahoma"/>
                          <a:cs typeface="Tahoma"/>
                        </a:rPr>
                        <a:t>manf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marL="69215">
                        <a:lnSpc>
                          <a:spcPts val="2780"/>
                        </a:lnSpc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Sue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ts val="2780"/>
                        </a:lnSpc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650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3530">
                        <a:lnSpc>
                          <a:spcPts val="2780"/>
                        </a:lnSpc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555-1111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27329">
                        <a:lnSpc>
                          <a:spcPts val="27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Bud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27965">
                        <a:lnSpc>
                          <a:spcPts val="2780"/>
                        </a:lnSpc>
                      </a:pPr>
                      <a:r>
                        <a:rPr sz="2400" spc="-10" dirty="0">
                          <a:latin typeface="Tahoma"/>
                          <a:cs typeface="Tahoma"/>
                        </a:rPr>
                        <a:t>A.B.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69215">
                        <a:lnSpc>
                          <a:spcPts val="2780"/>
                        </a:lnSpc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Sue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ts val="2780"/>
                        </a:lnSpc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650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3530">
                        <a:lnSpc>
                          <a:spcPts val="2780"/>
                        </a:lnSpc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555-1111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27329">
                        <a:lnSpc>
                          <a:spcPts val="2780"/>
                        </a:lnSpc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WickedAle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27965">
                        <a:lnSpc>
                          <a:spcPts val="2780"/>
                        </a:lnSpc>
                      </a:pPr>
                      <a:r>
                        <a:rPr sz="2400" spc="-25" dirty="0">
                          <a:latin typeface="Tahoma"/>
                          <a:cs typeface="Tahoma"/>
                        </a:rPr>
                        <a:t>Pete’s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69215">
                        <a:lnSpc>
                          <a:spcPts val="2780"/>
                        </a:lnSpc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Sue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ts val="2780"/>
                        </a:lnSpc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415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3530">
                        <a:lnSpc>
                          <a:spcPts val="2780"/>
                        </a:lnSpc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555-9999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27329">
                        <a:lnSpc>
                          <a:spcPts val="27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Bud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27965">
                        <a:lnSpc>
                          <a:spcPts val="2780"/>
                        </a:lnSpc>
                      </a:pPr>
                      <a:r>
                        <a:rPr sz="2400" spc="-10" dirty="0">
                          <a:latin typeface="Tahoma"/>
                          <a:cs typeface="Tahoma"/>
                        </a:rPr>
                        <a:t>A.B.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9929">
                <a:tc>
                  <a:txBody>
                    <a:bodyPr/>
                    <a:lstStyle/>
                    <a:p>
                      <a:pPr marL="69215">
                        <a:lnSpc>
                          <a:spcPts val="2875"/>
                        </a:lnSpc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Sue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ts val="2875"/>
                        </a:lnSpc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415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3530">
                        <a:lnSpc>
                          <a:spcPts val="2875"/>
                        </a:lnSpc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555-9999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27329">
                        <a:lnSpc>
                          <a:spcPts val="2875"/>
                        </a:lnSpc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WickedAle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27965">
                        <a:lnSpc>
                          <a:spcPts val="2875"/>
                        </a:lnSpc>
                      </a:pPr>
                      <a:r>
                        <a:rPr sz="2400" spc="-25" dirty="0">
                          <a:latin typeface="Tahoma"/>
                          <a:cs typeface="Tahoma"/>
                        </a:rPr>
                        <a:t>Pete’s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10</a:t>
            </a:fld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77720" y="829944"/>
            <a:ext cx="49885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Fourth </a:t>
            </a:r>
            <a:r>
              <a:rPr spc="-5" dirty="0"/>
              <a:t>Normal</a:t>
            </a:r>
            <a:r>
              <a:rPr spc="-55" dirty="0"/>
              <a:t> </a:t>
            </a:r>
            <a:r>
              <a:rPr spc="-30" dirty="0"/>
              <a:t>Form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606665" cy="40252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The redundancy that comes </a:t>
            </a:r>
            <a:r>
              <a:rPr sz="3200" spc="-10" dirty="0">
                <a:latin typeface="Tahoma"/>
                <a:cs typeface="Tahoma"/>
              </a:rPr>
              <a:t>from </a:t>
            </a:r>
            <a:r>
              <a:rPr sz="3200" spc="-25" dirty="0">
                <a:latin typeface="Tahoma"/>
                <a:cs typeface="Tahoma"/>
              </a:rPr>
              <a:t>MVD’s  </a:t>
            </a:r>
            <a:r>
              <a:rPr sz="3200" spc="-5" dirty="0">
                <a:latin typeface="Tahoma"/>
                <a:cs typeface="Tahoma"/>
              </a:rPr>
              <a:t>is not </a:t>
            </a:r>
            <a:r>
              <a:rPr sz="3200" spc="-15" dirty="0">
                <a:latin typeface="Tahoma"/>
                <a:cs typeface="Tahoma"/>
              </a:rPr>
              <a:t>removable </a:t>
            </a:r>
            <a:r>
              <a:rPr sz="3200" spc="-5" dirty="0">
                <a:latin typeface="Tahoma"/>
                <a:cs typeface="Tahoma"/>
              </a:rPr>
              <a:t>by </a:t>
            </a:r>
            <a:r>
              <a:rPr sz="3200" spc="-10" dirty="0">
                <a:latin typeface="Tahoma"/>
                <a:cs typeface="Tahoma"/>
              </a:rPr>
              <a:t>putting </a:t>
            </a:r>
            <a:r>
              <a:rPr sz="3200" spc="-5" dirty="0">
                <a:latin typeface="Tahoma"/>
                <a:cs typeface="Tahoma"/>
              </a:rPr>
              <a:t>the  database schema in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90" dirty="0">
                <a:latin typeface="Tahoma"/>
                <a:cs typeface="Tahoma"/>
              </a:rPr>
              <a:t>BCNF.</a:t>
            </a:r>
            <a:endParaRPr sz="3200" dirty="0">
              <a:latin typeface="Tahoma"/>
              <a:cs typeface="Tahoma"/>
            </a:endParaRPr>
          </a:p>
          <a:p>
            <a:pPr marL="355600" marR="178435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There is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stronger normal </a:t>
            </a:r>
            <a:r>
              <a:rPr sz="3200" spc="-10" dirty="0">
                <a:latin typeface="Tahoma"/>
                <a:cs typeface="Tahoma"/>
              </a:rPr>
              <a:t>form, </a:t>
            </a:r>
            <a:r>
              <a:rPr sz="3200" spc="-5" dirty="0">
                <a:latin typeface="Tahoma"/>
                <a:cs typeface="Tahoma"/>
              </a:rPr>
              <a:t>called  </a:t>
            </a:r>
            <a:r>
              <a:rPr sz="3200" spc="-114" dirty="0">
                <a:highlight>
                  <a:srgbClr val="FFFF00"/>
                </a:highlight>
                <a:latin typeface="Tahoma"/>
                <a:cs typeface="Tahoma"/>
              </a:rPr>
              <a:t>4NF</a:t>
            </a:r>
            <a:r>
              <a:rPr sz="3200" spc="-114" dirty="0">
                <a:latin typeface="Tahoma"/>
                <a:cs typeface="Tahoma"/>
              </a:rPr>
              <a:t>, </a:t>
            </a:r>
            <a:r>
              <a:rPr sz="3200" spc="-5" dirty="0">
                <a:latin typeface="Tahoma"/>
                <a:cs typeface="Tahoma"/>
              </a:rPr>
              <a:t>that (intuitively) treats </a:t>
            </a:r>
            <a:r>
              <a:rPr sz="3200" spc="-25" dirty="0">
                <a:latin typeface="Tahoma"/>
                <a:cs typeface="Tahoma"/>
              </a:rPr>
              <a:t>MVD’s </a:t>
            </a:r>
            <a:r>
              <a:rPr sz="3200" spc="-5" dirty="0">
                <a:latin typeface="Tahoma"/>
                <a:cs typeface="Tahoma"/>
              </a:rPr>
              <a:t>as  </a:t>
            </a:r>
            <a:r>
              <a:rPr sz="3200" spc="-30" dirty="0">
                <a:latin typeface="Tahoma"/>
                <a:cs typeface="Tahoma"/>
              </a:rPr>
              <a:t>FD’s </a:t>
            </a:r>
            <a:r>
              <a:rPr sz="3200" spc="-5" dirty="0">
                <a:latin typeface="Tahoma"/>
                <a:cs typeface="Tahoma"/>
              </a:rPr>
              <a:t>when </a:t>
            </a:r>
            <a:r>
              <a:rPr sz="3200" dirty="0">
                <a:latin typeface="Tahoma"/>
                <a:cs typeface="Tahoma"/>
              </a:rPr>
              <a:t>it </a:t>
            </a:r>
            <a:r>
              <a:rPr sz="3200" spc="-5" dirty="0">
                <a:latin typeface="Tahoma"/>
                <a:cs typeface="Tahoma"/>
              </a:rPr>
              <a:t>comes to decomposition,  but not when determining </a:t>
            </a:r>
            <a:r>
              <a:rPr sz="3200" spc="-10" dirty="0">
                <a:latin typeface="Tahoma"/>
                <a:cs typeface="Tahoma"/>
              </a:rPr>
              <a:t>keys </a:t>
            </a:r>
            <a:r>
              <a:rPr sz="3200" spc="-5" dirty="0">
                <a:latin typeface="Tahoma"/>
                <a:cs typeface="Tahoma"/>
              </a:rPr>
              <a:t>of the  relation.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13050" y="829944"/>
            <a:ext cx="35179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4NF</a:t>
            </a:r>
            <a:r>
              <a:rPr spc="-60" dirty="0"/>
              <a:t> </a:t>
            </a:r>
            <a:r>
              <a:rPr spc="-5" dirty="0"/>
              <a:t>Definition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92617"/>
            <a:ext cx="7517130" cy="3994683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594995" marR="259079" indent="-582930">
              <a:lnSpc>
                <a:spcPts val="3840"/>
              </a:lnSpc>
              <a:spcBef>
                <a:spcPts val="390"/>
              </a:spcBef>
              <a:buClr>
                <a:srgbClr val="CC00CC"/>
              </a:buClr>
              <a:buFont typeface="Wingdings"/>
              <a:buChar char=""/>
              <a:tabLst>
                <a:tab pos="621665" algn="l"/>
                <a:tab pos="622300" algn="l"/>
              </a:tabLst>
            </a:pPr>
            <a:r>
              <a:rPr dirty="0"/>
              <a:t>	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relation </a:t>
            </a:r>
            <a:r>
              <a:rPr sz="3350" i="1" spc="-90" dirty="0">
                <a:latin typeface="Tahoma"/>
                <a:cs typeface="Tahoma"/>
              </a:rPr>
              <a:t>R </a:t>
            </a:r>
            <a:r>
              <a:rPr sz="3200" spc="-5" dirty="0">
                <a:latin typeface="Tahoma"/>
                <a:cs typeface="Tahoma"/>
              </a:rPr>
              <a:t>is in </a:t>
            </a:r>
            <a:r>
              <a:rPr lang="en-US" altLang="zh-CN" sz="3600" dirty="0">
                <a:effectLst/>
              </a:rPr>
              <a:t>4NF </a:t>
            </a:r>
            <a:r>
              <a:rPr sz="3350" i="1" spc="-844" dirty="0">
                <a:solidFill>
                  <a:srgbClr val="33CC33"/>
                </a:solidFill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if: </a:t>
            </a:r>
            <a:r>
              <a:rPr sz="3200" spc="-5" dirty="0">
                <a:highlight>
                  <a:srgbClr val="FFFF00"/>
                </a:highlight>
                <a:latin typeface="Tahoma"/>
                <a:cs typeface="Tahoma"/>
              </a:rPr>
              <a:t>whenever </a:t>
            </a:r>
            <a:r>
              <a:rPr sz="3200" spc="-5" dirty="0">
                <a:solidFill>
                  <a:srgbClr val="3333CC"/>
                </a:solidFill>
                <a:highlight>
                  <a:srgbClr val="FFFF00"/>
                </a:highlight>
                <a:latin typeface="Tahoma"/>
                <a:cs typeface="Tahoma"/>
              </a:rPr>
              <a:t> </a:t>
            </a:r>
            <a:r>
              <a:rPr sz="3350" i="1" spc="-70" dirty="0">
                <a:solidFill>
                  <a:srgbClr val="3333CC"/>
                </a:solidFill>
                <a:highlight>
                  <a:srgbClr val="FFFF00"/>
                </a:highlight>
                <a:latin typeface="Tahoma"/>
                <a:cs typeface="Tahoma"/>
              </a:rPr>
              <a:t>X</a:t>
            </a:r>
            <a:r>
              <a:rPr sz="3200" spc="-70" dirty="0">
                <a:solidFill>
                  <a:srgbClr val="3333CC"/>
                </a:solidFill>
                <a:highlight>
                  <a:srgbClr val="FFFF00"/>
                </a:highlight>
                <a:latin typeface="Tahoma"/>
                <a:cs typeface="Tahoma"/>
              </a:rPr>
              <a:t>-&gt;-&gt;</a:t>
            </a:r>
            <a:r>
              <a:rPr sz="3350" i="1" spc="-70" dirty="0">
                <a:solidFill>
                  <a:srgbClr val="3333CC"/>
                </a:solidFill>
                <a:highlight>
                  <a:srgbClr val="FFFF00"/>
                </a:highlight>
                <a:latin typeface="Tahoma"/>
                <a:cs typeface="Tahoma"/>
              </a:rPr>
              <a:t>Y </a:t>
            </a:r>
            <a:r>
              <a:rPr sz="3200" spc="-5" dirty="0">
                <a:highlight>
                  <a:srgbClr val="FFFF00"/>
                </a:highlight>
                <a:latin typeface="Tahoma"/>
                <a:cs typeface="Tahoma"/>
              </a:rPr>
              <a:t>is </a:t>
            </a:r>
            <a:r>
              <a:rPr sz="3200" dirty="0">
                <a:highlight>
                  <a:srgbClr val="FFFF00"/>
                </a:highlight>
                <a:latin typeface="Tahoma"/>
                <a:cs typeface="Tahoma"/>
              </a:rPr>
              <a:t>a </a:t>
            </a:r>
            <a:r>
              <a:rPr sz="3200" spc="-5" dirty="0">
                <a:highlight>
                  <a:srgbClr val="FFFF00"/>
                </a:highlight>
                <a:latin typeface="Tahoma"/>
                <a:cs typeface="Tahoma"/>
              </a:rPr>
              <a:t>nontrivial </a:t>
            </a:r>
            <a:r>
              <a:rPr sz="3200" spc="-20" dirty="0">
                <a:highlight>
                  <a:srgbClr val="FFFF00"/>
                </a:highlight>
                <a:latin typeface="Tahoma"/>
                <a:cs typeface="Tahoma"/>
              </a:rPr>
              <a:t>MVD, </a:t>
            </a:r>
            <a:r>
              <a:rPr sz="3200" spc="-5" dirty="0">
                <a:highlight>
                  <a:srgbClr val="FFFF00"/>
                </a:highlight>
                <a:latin typeface="Tahoma"/>
                <a:cs typeface="Tahoma"/>
              </a:rPr>
              <a:t>then </a:t>
            </a:r>
            <a:r>
              <a:rPr sz="3350" i="1" spc="-85" dirty="0">
                <a:highlight>
                  <a:srgbClr val="FFFF00"/>
                </a:highlight>
                <a:latin typeface="Tahoma"/>
                <a:cs typeface="Tahoma"/>
              </a:rPr>
              <a:t>X  </a:t>
            </a:r>
            <a:r>
              <a:rPr sz="3200" spc="-5" dirty="0">
                <a:highlight>
                  <a:srgbClr val="FFFF00"/>
                </a:highlight>
                <a:latin typeface="Tahoma"/>
                <a:cs typeface="Tahoma"/>
              </a:rPr>
              <a:t>is </a:t>
            </a:r>
            <a:r>
              <a:rPr sz="3200" dirty="0">
                <a:highlight>
                  <a:srgbClr val="FFFF00"/>
                </a:highlight>
                <a:latin typeface="Tahoma"/>
                <a:cs typeface="Tahoma"/>
              </a:rPr>
              <a:t>a</a:t>
            </a:r>
            <a:r>
              <a:rPr sz="3200" spc="-10" dirty="0">
                <a:highlight>
                  <a:srgbClr val="FFFF00"/>
                </a:highlight>
                <a:latin typeface="Tahoma"/>
                <a:cs typeface="Tahoma"/>
              </a:rPr>
              <a:t> </a:t>
            </a:r>
            <a:r>
              <a:rPr sz="3200" spc="-5" dirty="0">
                <a:highlight>
                  <a:srgbClr val="FFFF00"/>
                </a:highlight>
                <a:latin typeface="Tahoma"/>
                <a:cs typeface="Tahoma"/>
              </a:rPr>
              <a:t>superkey.</a:t>
            </a:r>
            <a:endParaRPr sz="3200" dirty="0">
              <a:highlight>
                <a:srgbClr val="FFFF00"/>
              </a:highlight>
              <a:latin typeface="Tahoma"/>
              <a:cs typeface="Tahoma"/>
            </a:endParaRPr>
          </a:p>
          <a:p>
            <a:pPr marL="979805" lvl="1" indent="-510540">
              <a:lnSpc>
                <a:spcPct val="100000"/>
              </a:lnSpc>
              <a:spcBef>
                <a:spcPts val="445"/>
              </a:spcBef>
              <a:buClr>
                <a:srgbClr val="CC00CC"/>
              </a:buClr>
              <a:buSzPct val="96551"/>
              <a:buFont typeface="Wingdings"/>
              <a:buChar char=""/>
              <a:tabLst>
                <a:tab pos="979169" algn="l"/>
                <a:tab pos="980440" algn="l"/>
              </a:tabLst>
            </a:pPr>
            <a:r>
              <a:rPr lang="en-US" altLang="zh-CN" sz="3200" dirty="0" err="1">
                <a:effectLst/>
              </a:rPr>
              <a:t>NontrivialMVD</a:t>
            </a:r>
            <a:r>
              <a:rPr lang="zh-CN" altLang="en-US" sz="3200" dirty="0">
                <a:effectLst/>
              </a:rPr>
              <a:t>非平凡</a:t>
            </a:r>
            <a:r>
              <a:rPr lang="en-US" altLang="zh-CN" sz="3200" dirty="0">
                <a:effectLst/>
              </a:rPr>
              <a:t> </a:t>
            </a:r>
            <a:r>
              <a:rPr sz="2900" i="1" spc="-900" dirty="0">
                <a:solidFill>
                  <a:srgbClr val="FF0066"/>
                </a:solidFill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means that:</a:t>
            </a:r>
            <a:endParaRPr sz="2800" dirty="0">
              <a:latin typeface="Tahoma"/>
              <a:cs typeface="Tahoma"/>
            </a:endParaRPr>
          </a:p>
          <a:p>
            <a:pPr marL="1363980" lvl="2" indent="-457834">
              <a:lnSpc>
                <a:spcPct val="100000"/>
              </a:lnSpc>
              <a:spcBef>
                <a:spcPts val="455"/>
              </a:spcBef>
              <a:buClr>
                <a:srgbClr val="CC00CC"/>
              </a:buClr>
              <a:buAutoNum type="arabicPeriod"/>
              <a:tabLst>
                <a:tab pos="1364615" algn="l"/>
              </a:tabLst>
            </a:pPr>
            <a:r>
              <a:rPr sz="2500" i="1" spc="-60" dirty="0">
                <a:latin typeface="Tahoma"/>
                <a:cs typeface="Tahoma"/>
              </a:rPr>
              <a:t>Y </a:t>
            </a:r>
            <a:r>
              <a:rPr sz="2400" dirty="0">
                <a:latin typeface="Tahoma"/>
                <a:cs typeface="Tahoma"/>
              </a:rPr>
              <a:t>is not a </a:t>
            </a:r>
            <a:r>
              <a:rPr sz="2400" spc="-5" dirty="0">
                <a:latin typeface="Tahoma"/>
                <a:cs typeface="Tahoma"/>
              </a:rPr>
              <a:t>subset </a:t>
            </a:r>
            <a:r>
              <a:rPr sz="2400" dirty="0">
                <a:latin typeface="Tahoma"/>
                <a:cs typeface="Tahoma"/>
              </a:rPr>
              <a:t>of </a:t>
            </a:r>
            <a:r>
              <a:rPr sz="2500" i="1" spc="-415" dirty="0">
                <a:latin typeface="Tahoma"/>
                <a:cs typeface="Tahoma"/>
              </a:rPr>
              <a:t>X</a:t>
            </a:r>
            <a:r>
              <a:rPr sz="2400" spc="-415" dirty="0">
                <a:latin typeface="Tahoma"/>
                <a:cs typeface="Tahoma"/>
              </a:rPr>
              <a:t>,</a:t>
            </a:r>
            <a:r>
              <a:rPr sz="2400" spc="-17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and</a:t>
            </a:r>
          </a:p>
          <a:p>
            <a:pPr marL="1363980" lvl="2" indent="-457834">
              <a:lnSpc>
                <a:spcPct val="100000"/>
              </a:lnSpc>
              <a:spcBef>
                <a:spcPts val="455"/>
              </a:spcBef>
              <a:buClr>
                <a:srgbClr val="CC00CC"/>
              </a:buClr>
              <a:buAutoNum type="arabicPeriod"/>
              <a:tabLst>
                <a:tab pos="1364615" algn="l"/>
              </a:tabLst>
            </a:pPr>
            <a:r>
              <a:rPr sz="2500" i="1" spc="-60" dirty="0">
                <a:latin typeface="Tahoma"/>
                <a:cs typeface="Tahoma"/>
              </a:rPr>
              <a:t>X </a:t>
            </a:r>
            <a:r>
              <a:rPr sz="2400" dirty="0">
                <a:latin typeface="Tahoma"/>
                <a:cs typeface="Tahoma"/>
              </a:rPr>
              <a:t>and </a:t>
            </a:r>
            <a:r>
              <a:rPr sz="2500" i="1" spc="-60" dirty="0">
                <a:latin typeface="Tahoma"/>
                <a:cs typeface="Tahoma"/>
              </a:rPr>
              <a:t>Y </a:t>
            </a:r>
            <a:r>
              <a:rPr sz="2400" spc="-5" dirty="0">
                <a:latin typeface="Tahoma"/>
                <a:cs typeface="Tahoma"/>
              </a:rPr>
              <a:t>are </a:t>
            </a:r>
            <a:r>
              <a:rPr sz="2400" dirty="0">
                <a:latin typeface="Tahoma"/>
                <a:cs typeface="Tahoma"/>
              </a:rPr>
              <a:t>not, </a:t>
            </a:r>
            <a:r>
              <a:rPr sz="2400" spc="-40" dirty="0">
                <a:latin typeface="Tahoma"/>
                <a:cs typeface="Tahoma"/>
              </a:rPr>
              <a:t>together, </a:t>
            </a:r>
            <a:r>
              <a:rPr sz="2400" dirty="0">
                <a:latin typeface="Tahoma"/>
                <a:cs typeface="Tahoma"/>
              </a:rPr>
              <a:t>all the</a:t>
            </a:r>
            <a:r>
              <a:rPr sz="2400" spc="-13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attributes.</a:t>
            </a:r>
            <a:endParaRPr sz="2400" dirty="0">
              <a:latin typeface="Tahoma"/>
              <a:cs typeface="Tahoma"/>
            </a:endParaRPr>
          </a:p>
          <a:p>
            <a:pPr marL="1002665" marR="5080" lvl="1" indent="-533400">
              <a:lnSpc>
                <a:spcPct val="100000"/>
              </a:lnSpc>
              <a:spcBef>
                <a:spcPts val="650"/>
              </a:spcBef>
              <a:buClr>
                <a:srgbClr val="CC00CC"/>
              </a:buClr>
              <a:buFont typeface="Wingdings"/>
              <a:buChar char=""/>
              <a:tabLst>
                <a:tab pos="1002665" algn="l"/>
                <a:tab pos="1003300" algn="l"/>
              </a:tabLst>
            </a:pPr>
            <a:r>
              <a:rPr sz="2800" spc="-5" dirty="0">
                <a:latin typeface="Tahoma"/>
                <a:cs typeface="Tahoma"/>
              </a:rPr>
              <a:t>Note that the definition of</a:t>
            </a:r>
            <a:endParaRPr lang="en-US" sz="2800" spc="-5" dirty="0">
              <a:latin typeface="Tahoma"/>
              <a:cs typeface="Tahoma"/>
            </a:endParaRPr>
          </a:p>
          <a:p>
            <a:pPr marL="1002665" marR="5080" lvl="1" indent="-533400">
              <a:lnSpc>
                <a:spcPct val="100000"/>
              </a:lnSpc>
              <a:spcBef>
                <a:spcPts val="650"/>
              </a:spcBef>
              <a:buClr>
                <a:srgbClr val="CC00CC"/>
              </a:buClr>
              <a:buFont typeface="Wingdings"/>
              <a:buChar char=""/>
              <a:tabLst>
                <a:tab pos="1002665" algn="l"/>
                <a:tab pos="1003300" algn="l"/>
              </a:tabLst>
            </a:pPr>
            <a:r>
              <a:rPr sz="2800" spc="-5" dirty="0">
                <a:latin typeface="Tahoma"/>
                <a:cs typeface="Tahoma"/>
              </a:rPr>
              <a:t>“superkey” still  depends on </a:t>
            </a:r>
            <a:r>
              <a:rPr sz="2800" spc="-30" dirty="0">
                <a:latin typeface="Tahoma"/>
                <a:cs typeface="Tahoma"/>
              </a:rPr>
              <a:t>FD’s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5" dirty="0">
                <a:latin typeface="Tahoma"/>
                <a:cs typeface="Tahoma"/>
              </a:rPr>
              <a:t>only.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26970" y="829944"/>
            <a:ext cx="42900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BCNF </a:t>
            </a:r>
            <a:r>
              <a:rPr spc="-40" dirty="0"/>
              <a:t>Versus</a:t>
            </a:r>
            <a:r>
              <a:rPr spc="-65" dirty="0"/>
              <a:t> </a:t>
            </a:r>
            <a:r>
              <a:rPr spc="-5" dirty="0"/>
              <a:t>4NF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92617"/>
            <a:ext cx="7457440" cy="410591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55600" marR="5080" indent="-342900">
              <a:lnSpc>
                <a:spcPts val="3840"/>
              </a:lnSpc>
              <a:spcBef>
                <a:spcPts val="3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0" dirty="0">
                <a:latin typeface="Tahoma"/>
                <a:cs typeface="Tahoma"/>
              </a:rPr>
              <a:t>Remember </a:t>
            </a:r>
            <a:r>
              <a:rPr sz="3200" spc="-5" dirty="0">
                <a:latin typeface="Tahoma"/>
                <a:cs typeface="Tahoma"/>
              </a:rPr>
              <a:t>that </a:t>
            </a:r>
            <a:r>
              <a:rPr sz="3200" spc="-10" dirty="0">
                <a:latin typeface="Tahoma"/>
                <a:cs typeface="Tahoma"/>
              </a:rPr>
              <a:t>every </a:t>
            </a:r>
            <a:r>
              <a:rPr sz="3200" dirty="0">
                <a:latin typeface="Tahoma"/>
                <a:cs typeface="Tahoma"/>
              </a:rPr>
              <a:t>FD </a:t>
            </a:r>
            <a:r>
              <a:rPr sz="3350" i="1" spc="-105" dirty="0">
                <a:solidFill>
                  <a:srgbClr val="00CC99"/>
                </a:solidFill>
                <a:latin typeface="Tahoma"/>
                <a:cs typeface="Tahoma"/>
              </a:rPr>
              <a:t>X</a:t>
            </a:r>
            <a:r>
              <a:rPr sz="3200" spc="-105" dirty="0">
                <a:solidFill>
                  <a:srgbClr val="00CC99"/>
                </a:solidFill>
                <a:latin typeface="Tahoma"/>
                <a:cs typeface="Tahoma"/>
              </a:rPr>
              <a:t>-&gt;</a:t>
            </a:r>
            <a:r>
              <a:rPr sz="3350" i="1" spc="-105" dirty="0">
                <a:solidFill>
                  <a:srgbClr val="00CC99"/>
                </a:solidFill>
                <a:latin typeface="Tahoma"/>
                <a:cs typeface="Tahoma"/>
              </a:rPr>
              <a:t>Y </a:t>
            </a:r>
            <a:r>
              <a:rPr sz="3200" spc="-5" dirty="0">
                <a:latin typeface="Tahoma"/>
                <a:cs typeface="Tahoma"/>
              </a:rPr>
              <a:t>is also  </a:t>
            </a:r>
            <a:r>
              <a:rPr sz="3200" dirty="0">
                <a:latin typeface="Tahoma"/>
                <a:cs typeface="Tahoma"/>
              </a:rPr>
              <a:t>an </a:t>
            </a:r>
            <a:r>
              <a:rPr sz="3200" spc="-20" dirty="0">
                <a:latin typeface="Tahoma"/>
                <a:cs typeface="Tahoma"/>
              </a:rPr>
              <a:t>MVD,</a:t>
            </a:r>
            <a:r>
              <a:rPr sz="3200" spc="-229" dirty="0">
                <a:latin typeface="Tahoma"/>
                <a:cs typeface="Tahoma"/>
              </a:rPr>
              <a:t> </a:t>
            </a:r>
            <a:r>
              <a:rPr sz="3350" i="1" spc="-204" dirty="0">
                <a:solidFill>
                  <a:srgbClr val="3333CC"/>
                </a:solidFill>
                <a:latin typeface="Tahoma"/>
                <a:cs typeface="Tahoma"/>
              </a:rPr>
              <a:t>X</a:t>
            </a:r>
            <a:r>
              <a:rPr sz="3200" spc="-204" dirty="0">
                <a:solidFill>
                  <a:srgbClr val="3333CC"/>
                </a:solidFill>
                <a:latin typeface="Tahoma"/>
                <a:cs typeface="Tahoma"/>
              </a:rPr>
              <a:t>-&gt;-&gt;</a:t>
            </a:r>
            <a:r>
              <a:rPr sz="3350" i="1" spc="-204" dirty="0">
                <a:solidFill>
                  <a:srgbClr val="3333CC"/>
                </a:solidFill>
                <a:latin typeface="Tahoma"/>
                <a:cs typeface="Tahoma"/>
              </a:rPr>
              <a:t>Y</a:t>
            </a:r>
            <a:r>
              <a:rPr sz="3200" spc="-204" dirty="0">
                <a:latin typeface="Tahoma"/>
                <a:cs typeface="Tahoma"/>
              </a:rPr>
              <a:t>.</a:t>
            </a:r>
            <a:endParaRPr sz="3200" dirty="0">
              <a:latin typeface="Tahoma"/>
              <a:cs typeface="Tahoma"/>
            </a:endParaRPr>
          </a:p>
          <a:p>
            <a:pPr marL="355600" marR="594995" indent="-342900">
              <a:lnSpc>
                <a:spcPts val="384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Thus, </a:t>
            </a:r>
            <a:r>
              <a:rPr sz="3200" dirty="0">
                <a:latin typeface="Tahoma"/>
                <a:cs typeface="Tahoma"/>
              </a:rPr>
              <a:t>if </a:t>
            </a:r>
            <a:r>
              <a:rPr sz="3350" i="1" spc="-90" dirty="0">
                <a:latin typeface="Tahoma"/>
                <a:cs typeface="Tahoma"/>
              </a:rPr>
              <a:t>R </a:t>
            </a:r>
            <a:r>
              <a:rPr sz="3200" spc="-5" dirty="0">
                <a:latin typeface="Tahoma"/>
                <a:cs typeface="Tahoma"/>
              </a:rPr>
              <a:t>is in </a:t>
            </a:r>
            <a:r>
              <a:rPr sz="3200" spc="-114" dirty="0">
                <a:latin typeface="Tahoma"/>
                <a:cs typeface="Tahoma"/>
              </a:rPr>
              <a:t>4NF, </a:t>
            </a:r>
            <a:r>
              <a:rPr sz="3200" dirty="0">
                <a:latin typeface="Tahoma"/>
                <a:cs typeface="Tahoma"/>
              </a:rPr>
              <a:t>it </a:t>
            </a:r>
            <a:r>
              <a:rPr sz="3200" spc="-5" dirty="0">
                <a:latin typeface="Tahoma"/>
                <a:cs typeface="Tahoma"/>
              </a:rPr>
              <a:t>is certainly in  </a:t>
            </a:r>
            <a:r>
              <a:rPr sz="3200" spc="-90" dirty="0">
                <a:latin typeface="Tahoma"/>
                <a:cs typeface="Tahoma"/>
              </a:rPr>
              <a:t>BCNF.</a:t>
            </a:r>
            <a:endParaRPr sz="3200" dirty="0">
              <a:latin typeface="Tahoma"/>
              <a:cs typeface="Tahoma"/>
            </a:endParaRPr>
          </a:p>
          <a:p>
            <a:pPr marL="755650" marR="617220" lvl="1" indent="-285750">
              <a:lnSpc>
                <a:spcPct val="100000"/>
              </a:lnSpc>
              <a:spcBef>
                <a:spcPts val="54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Because </a:t>
            </a:r>
            <a:r>
              <a:rPr sz="2800" spc="-15" dirty="0">
                <a:latin typeface="Tahoma"/>
                <a:cs typeface="Tahoma"/>
              </a:rPr>
              <a:t>any </a:t>
            </a:r>
            <a:r>
              <a:rPr sz="2800" spc="-5" dirty="0">
                <a:latin typeface="Tahoma"/>
                <a:cs typeface="Tahoma"/>
              </a:rPr>
              <a:t>BCNF violation is a 4NF  violation (after </a:t>
            </a:r>
            <a:r>
              <a:rPr sz="2800" spc="-10" dirty="0">
                <a:latin typeface="Tahoma"/>
                <a:cs typeface="Tahoma"/>
              </a:rPr>
              <a:t>conversion </a:t>
            </a:r>
            <a:r>
              <a:rPr sz="2800" spc="-5" dirty="0">
                <a:latin typeface="Tahoma"/>
                <a:cs typeface="Tahoma"/>
              </a:rPr>
              <a:t>to an</a:t>
            </a:r>
            <a:r>
              <a:rPr sz="2800" spc="1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MVD).</a:t>
            </a:r>
            <a:endParaRPr sz="2800" dirty="0">
              <a:latin typeface="Tahoma"/>
              <a:cs typeface="Tahoma"/>
            </a:endParaRPr>
          </a:p>
          <a:p>
            <a:pPr marL="355600" marR="207010" indent="-342900">
              <a:lnSpc>
                <a:spcPts val="3840"/>
              </a:lnSpc>
              <a:spcBef>
                <a:spcPts val="8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But </a:t>
            </a:r>
            <a:r>
              <a:rPr sz="3350" i="1" spc="-90" dirty="0">
                <a:latin typeface="Tahoma"/>
                <a:cs typeface="Tahoma"/>
              </a:rPr>
              <a:t>R </a:t>
            </a:r>
            <a:r>
              <a:rPr sz="3200" spc="-5" dirty="0">
                <a:latin typeface="Tahoma"/>
                <a:cs typeface="Tahoma"/>
              </a:rPr>
              <a:t>could </a:t>
            </a:r>
            <a:r>
              <a:rPr sz="3200" dirty="0">
                <a:latin typeface="Tahoma"/>
                <a:cs typeface="Tahoma"/>
              </a:rPr>
              <a:t>be </a:t>
            </a:r>
            <a:r>
              <a:rPr sz="3200" spc="-5" dirty="0">
                <a:latin typeface="Tahoma"/>
                <a:cs typeface="Tahoma"/>
              </a:rPr>
              <a:t>in </a:t>
            </a:r>
            <a:r>
              <a:rPr sz="3200" dirty="0">
                <a:latin typeface="Tahoma"/>
                <a:cs typeface="Tahoma"/>
              </a:rPr>
              <a:t>BCNF </a:t>
            </a:r>
            <a:r>
              <a:rPr sz="3200" spc="-5" dirty="0">
                <a:latin typeface="Tahoma"/>
                <a:cs typeface="Tahoma"/>
              </a:rPr>
              <a:t>and not </a:t>
            </a:r>
            <a:r>
              <a:rPr sz="3200" spc="-114" dirty="0">
                <a:latin typeface="Tahoma"/>
                <a:cs typeface="Tahoma"/>
              </a:rPr>
              <a:t>4NF,  </a:t>
            </a:r>
            <a:r>
              <a:rPr sz="3200" spc="-5" dirty="0">
                <a:latin typeface="Tahoma"/>
                <a:cs typeface="Tahoma"/>
              </a:rPr>
              <a:t>because </a:t>
            </a:r>
            <a:r>
              <a:rPr sz="3200" spc="-25" dirty="0">
                <a:latin typeface="Tahoma"/>
                <a:cs typeface="Tahoma"/>
              </a:rPr>
              <a:t>MVD’s </a:t>
            </a:r>
            <a:r>
              <a:rPr sz="3200" spc="-10" dirty="0">
                <a:latin typeface="Tahoma"/>
                <a:cs typeface="Tahoma"/>
              </a:rPr>
              <a:t>are “invisible” </a:t>
            </a:r>
            <a:r>
              <a:rPr sz="3200" spc="-5" dirty="0">
                <a:latin typeface="Tahoma"/>
                <a:cs typeface="Tahoma"/>
              </a:rPr>
              <a:t>to</a:t>
            </a:r>
            <a:r>
              <a:rPr sz="3200" spc="35" dirty="0">
                <a:latin typeface="Tahoma"/>
                <a:cs typeface="Tahoma"/>
              </a:rPr>
              <a:t> </a:t>
            </a:r>
            <a:r>
              <a:rPr sz="3200" spc="-90" dirty="0">
                <a:latin typeface="Tahoma"/>
                <a:cs typeface="Tahoma"/>
              </a:rPr>
              <a:t>BCNF.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1314" y="829944"/>
            <a:ext cx="58813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Decomposition and</a:t>
            </a:r>
            <a:r>
              <a:rPr spc="-40" dirty="0"/>
              <a:t> </a:t>
            </a:r>
            <a:r>
              <a:rPr spc="-5" dirty="0"/>
              <a:t>4NF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92617"/>
            <a:ext cx="7548245" cy="253682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622300" marR="5080" indent="-609600">
              <a:lnSpc>
                <a:spcPts val="3840"/>
              </a:lnSpc>
              <a:spcBef>
                <a:spcPts val="390"/>
              </a:spcBef>
              <a:buClr>
                <a:srgbClr val="CC00CC"/>
              </a:buClr>
              <a:buFont typeface="Wingdings"/>
              <a:buChar char=""/>
              <a:tabLst>
                <a:tab pos="621665" algn="l"/>
                <a:tab pos="622300" algn="l"/>
              </a:tabLst>
            </a:pPr>
            <a:r>
              <a:rPr sz="3200" spc="-5" dirty="0">
                <a:latin typeface="Tahoma"/>
                <a:cs typeface="Tahoma"/>
              </a:rPr>
              <a:t>If </a:t>
            </a:r>
            <a:r>
              <a:rPr sz="3350" i="1" spc="-70" dirty="0">
                <a:solidFill>
                  <a:srgbClr val="3333CC"/>
                </a:solidFill>
                <a:latin typeface="Tahoma"/>
                <a:cs typeface="Tahoma"/>
              </a:rPr>
              <a:t>X</a:t>
            </a:r>
            <a:r>
              <a:rPr sz="3200" spc="-70" dirty="0">
                <a:solidFill>
                  <a:srgbClr val="3333CC"/>
                </a:solidFill>
                <a:latin typeface="Tahoma"/>
                <a:cs typeface="Tahoma"/>
              </a:rPr>
              <a:t>-&gt;-&gt;</a:t>
            </a:r>
            <a:r>
              <a:rPr sz="3350" i="1" spc="-70" dirty="0">
                <a:solidFill>
                  <a:srgbClr val="3333CC"/>
                </a:solidFill>
                <a:latin typeface="Tahoma"/>
                <a:cs typeface="Tahoma"/>
              </a:rPr>
              <a:t>Y </a:t>
            </a:r>
            <a:r>
              <a:rPr sz="3200" spc="-5" dirty="0">
                <a:latin typeface="Tahoma"/>
                <a:cs typeface="Tahoma"/>
              </a:rPr>
              <a:t>is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4NF violation </a:t>
            </a:r>
            <a:r>
              <a:rPr sz="3200" spc="-15" dirty="0">
                <a:latin typeface="Tahoma"/>
                <a:cs typeface="Tahoma"/>
              </a:rPr>
              <a:t>for  </a:t>
            </a:r>
            <a:r>
              <a:rPr sz="3200" spc="-5" dirty="0">
                <a:latin typeface="Tahoma"/>
                <a:cs typeface="Tahoma"/>
              </a:rPr>
              <a:t>relation </a:t>
            </a:r>
            <a:r>
              <a:rPr sz="3350" i="1" spc="-565" dirty="0">
                <a:latin typeface="Tahoma"/>
                <a:cs typeface="Tahoma"/>
              </a:rPr>
              <a:t>R</a:t>
            </a:r>
            <a:r>
              <a:rPr sz="3200" spc="-565" dirty="0">
                <a:latin typeface="Tahoma"/>
                <a:cs typeface="Tahoma"/>
              </a:rPr>
              <a:t>, </a:t>
            </a:r>
            <a:r>
              <a:rPr sz="3200" dirty="0">
                <a:latin typeface="Tahoma"/>
                <a:cs typeface="Tahoma"/>
              </a:rPr>
              <a:t>we </a:t>
            </a:r>
            <a:r>
              <a:rPr sz="3200" spc="-5" dirty="0">
                <a:latin typeface="Tahoma"/>
                <a:cs typeface="Tahoma"/>
              </a:rPr>
              <a:t>can decompose </a:t>
            </a:r>
            <a:r>
              <a:rPr sz="3350" i="1" spc="-90" dirty="0">
                <a:latin typeface="Tahoma"/>
                <a:cs typeface="Tahoma"/>
              </a:rPr>
              <a:t>R  </a:t>
            </a:r>
            <a:r>
              <a:rPr sz="3200" spc="-5" dirty="0">
                <a:latin typeface="Tahoma"/>
                <a:cs typeface="Tahoma"/>
              </a:rPr>
              <a:t>using the same technique as </a:t>
            </a:r>
            <a:r>
              <a:rPr sz="3200" spc="-15" dirty="0">
                <a:latin typeface="Tahoma"/>
                <a:cs typeface="Tahoma"/>
              </a:rPr>
              <a:t>for</a:t>
            </a:r>
            <a:r>
              <a:rPr sz="3200" spc="-5" dirty="0">
                <a:latin typeface="Tahoma"/>
                <a:cs typeface="Tahoma"/>
              </a:rPr>
              <a:t> </a:t>
            </a:r>
            <a:r>
              <a:rPr sz="3200" spc="-90" dirty="0">
                <a:latin typeface="Tahoma"/>
                <a:cs typeface="Tahoma"/>
              </a:rPr>
              <a:t>BCNF.</a:t>
            </a:r>
            <a:endParaRPr sz="3200" dirty="0">
              <a:latin typeface="Tahoma"/>
              <a:cs typeface="Tahoma"/>
            </a:endParaRPr>
          </a:p>
          <a:p>
            <a:pPr marL="979805" lvl="1" indent="-534035">
              <a:lnSpc>
                <a:spcPct val="100000"/>
              </a:lnSpc>
              <a:spcBef>
                <a:spcPts val="445"/>
              </a:spcBef>
              <a:buClr>
                <a:srgbClr val="CC00CC"/>
              </a:buClr>
              <a:buAutoNum type="arabicPeriod"/>
              <a:tabLst>
                <a:tab pos="980440" algn="l"/>
              </a:tabLst>
            </a:pPr>
            <a:r>
              <a:rPr sz="2900" i="1" spc="-605" dirty="0">
                <a:latin typeface="Tahoma"/>
                <a:cs typeface="Tahoma"/>
              </a:rPr>
              <a:t>XY </a:t>
            </a:r>
            <a:r>
              <a:rPr sz="2800" spc="-5" dirty="0">
                <a:latin typeface="Tahoma"/>
                <a:cs typeface="Tahoma"/>
              </a:rPr>
              <a:t>is one of the decomposed</a:t>
            </a:r>
            <a:r>
              <a:rPr sz="2800" spc="-3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relations.</a:t>
            </a:r>
            <a:endParaRPr sz="2800" dirty="0">
              <a:latin typeface="Tahoma"/>
              <a:cs typeface="Tahoma"/>
            </a:endParaRPr>
          </a:p>
          <a:p>
            <a:pPr marL="1003300" lvl="1" indent="-533400">
              <a:lnSpc>
                <a:spcPct val="100000"/>
              </a:lnSpc>
              <a:spcBef>
                <a:spcPts val="550"/>
              </a:spcBef>
              <a:buClr>
                <a:srgbClr val="CC00CC"/>
              </a:buClr>
              <a:buAutoNum type="arabicPeriod"/>
              <a:tabLst>
                <a:tab pos="1002665" algn="l"/>
                <a:tab pos="1003300" algn="l"/>
              </a:tabLst>
            </a:pPr>
            <a:r>
              <a:rPr sz="2800" spc="-5" dirty="0">
                <a:latin typeface="Tahoma"/>
                <a:cs typeface="Tahoma"/>
              </a:rPr>
              <a:t>All but </a:t>
            </a:r>
            <a:r>
              <a:rPr sz="2900" i="1" spc="-45" dirty="0">
                <a:latin typeface="Tahoma"/>
                <a:cs typeface="Tahoma"/>
              </a:rPr>
              <a:t>Y</a:t>
            </a:r>
            <a:r>
              <a:rPr sz="2800" spc="-45" dirty="0">
                <a:latin typeface="Tahoma"/>
                <a:cs typeface="Tahoma"/>
              </a:rPr>
              <a:t>– </a:t>
            </a:r>
            <a:r>
              <a:rPr sz="2900" i="1" spc="-65" dirty="0">
                <a:latin typeface="Tahoma"/>
                <a:cs typeface="Tahoma"/>
              </a:rPr>
              <a:t>X </a:t>
            </a:r>
            <a:r>
              <a:rPr sz="2800" spc="-5" dirty="0">
                <a:latin typeface="Tahoma"/>
                <a:cs typeface="Tahoma"/>
              </a:rPr>
              <a:t>is the</a:t>
            </a:r>
            <a:r>
              <a:rPr sz="2800" spc="-300" dirty="0">
                <a:latin typeface="Tahoma"/>
                <a:cs typeface="Tahoma"/>
              </a:rPr>
              <a:t> </a:t>
            </a:r>
            <a:r>
              <a:rPr sz="2800" spc="-70" dirty="0">
                <a:latin typeface="Tahoma"/>
                <a:cs typeface="Tahoma"/>
              </a:rPr>
              <a:t>other.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8055" y="829944"/>
            <a:ext cx="72485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4NF</a:t>
            </a:r>
            <a:r>
              <a:rPr spc="-30" dirty="0"/>
              <a:t> </a:t>
            </a:r>
            <a:r>
              <a:rPr spc="-5" dirty="0"/>
              <a:t>Decomposition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58380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Drinkers(</a:t>
            </a:r>
            <a:r>
              <a:rPr sz="3200" u="heavy" spc="-5" dirty="0">
                <a:solidFill>
                  <a:srgbClr val="CC00CC"/>
                </a:solidFill>
                <a:uFill>
                  <a:solidFill>
                    <a:srgbClr val="CC00CC"/>
                  </a:solidFill>
                </a:uFill>
                <a:latin typeface="Tahoma"/>
                <a:cs typeface="Tahoma"/>
              </a:rPr>
              <a:t>name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, addr, </a:t>
            </a:r>
            <a:r>
              <a:rPr sz="3200" u="heavy" spc="-5" dirty="0">
                <a:solidFill>
                  <a:srgbClr val="CC00CC"/>
                </a:solidFill>
                <a:uFill>
                  <a:solidFill>
                    <a:srgbClr val="CC00CC"/>
                  </a:solidFill>
                </a:uFill>
                <a:latin typeface="Tahoma"/>
                <a:cs typeface="Tahoma"/>
              </a:rPr>
              <a:t>phones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,</a:t>
            </a:r>
            <a:r>
              <a:rPr sz="3200" spc="-35" dirty="0">
                <a:solidFill>
                  <a:srgbClr val="CC00CC"/>
                </a:solidFill>
                <a:latin typeface="Tahoma"/>
                <a:cs typeface="Tahoma"/>
              </a:rPr>
              <a:t> </a:t>
            </a:r>
            <a:r>
              <a:rPr sz="3200" u="heavy" spc="-5" dirty="0">
                <a:solidFill>
                  <a:srgbClr val="CC00CC"/>
                </a:solidFill>
                <a:uFill>
                  <a:solidFill>
                    <a:srgbClr val="CC00CC"/>
                  </a:solidFill>
                </a:uFill>
                <a:latin typeface="Tahoma"/>
                <a:cs typeface="Tahoma"/>
              </a:rPr>
              <a:t>beersLiked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)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2500122"/>
            <a:ext cx="1254125" cy="1195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900"/>
              </a:lnSpc>
              <a:spcBef>
                <a:spcPts val="100"/>
              </a:spcBef>
            </a:pPr>
            <a:r>
              <a:rPr sz="3200" spc="-5" dirty="0">
                <a:latin typeface="Tahoma"/>
                <a:cs typeface="Tahoma"/>
              </a:rPr>
              <a:t>FD:  MVD</a:t>
            </a:r>
            <a:r>
              <a:rPr sz="3200" spc="-114" dirty="0">
                <a:latin typeface="Tahoma"/>
                <a:cs typeface="Tahoma"/>
              </a:rPr>
              <a:t>’</a:t>
            </a:r>
            <a:r>
              <a:rPr sz="3200" spc="-5" dirty="0">
                <a:latin typeface="Tahoma"/>
                <a:cs typeface="Tahoma"/>
              </a:rPr>
              <a:t>s</a:t>
            </a:r>
            <a:r>
              <a:rPr sz="3200" dirty="0">
                <a:latin typeface="Tahoma"/>
                <a:cs typeface="Tahoma"/>
              </a:rPr>
              <a:t>: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93339" y="2500122"/>
            <a:ext cx="4076700" cy="1779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23570">
              <a:lnSpc>
                <a:spcPct val="119900"/>
              </a:lnSpc>
              <a:spcBef>
                <a:spcPts val="100"/>
              </a:spcBef>
            </a:pPr>
            <a:r>
              <a:rPr sz="3200" spc="-5" dirty="0">
                <a:solidFill>
                  <a:srgbClr val="00CC99"/>
                </a:solidFill>
                <a:latin typeface="Tahoma"/>
                <a:cs typeface="Tahoma"/>
              </a:rPr>
              <a:t>name </a:t>
            </a:r>
            <a:r>
              <a:rPr sz="3200" dirty="0">
                <a:solidFill>
                  <a:srgbClr val="00CC99"/>
                </a:solidFill>
                <a:latin typeface="Tahoma"/>
                <a:cs typeface="Tahoma"/>
              </a:rPr>
              <a:t>-&gt; </a:t>
            </a:r>
            <a:r>
              <a:rPr sz="3200" spc="-5" dirty="0">
                <a:solidFill>
                  <a:srgbClr val="00CC99"/>
                </a:solidFill>
                <a:latin typeface="Tahoma"/>
                <a:cs typeface="Tahoma"/>
              </a:rPr>
              <a:t>addr  </a:t>
            </a:r>
            <a:r>
              <a:rPr sz="3200" spc="-5" dirty="0">
                <a:solidFill>
                  <a:srgbClr val="3333CC"/>
                </a:solidFill>
                <a:latin typeface="Tahoma"/>
                <a:cs typeface="Tahoma"/>
              </a:rPr>
              <a:t>name </a:t>
            </a:r>
            <a:r>
              <a:rPr sz="3200" dirty="0">
                <a:solidFill>
                  <a:srgbClr val="3333CC"/>
                </a:solidFill>
                <a:latin typeface="Tahoma"/>
                <a:cs typeface="Tahoma"/>
              </a:rPr>
              <a:t>-&gt;-&gt;</a:t>
            </a:r>
            <a:r>
              <a:rPr sz="3200" spc="-60" dirty="0">
                <a:solidFill>
                  <a:srgbClr val="3333CC"/>
                </a:solidFill>
                <a:latin typeface="Tahoma"/>
                <a:cs typeface="Tahoma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Tahoma"/>
                <a:cs typeface="Tahoma"/>
              </a:rPr>
              <a:t>phones</a:t>
            </a:r>
            <a:endParaRPr sz="32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solidFill>
                  <a:srgbClr val="3333CC"/>
                </a:solidFill>
                <a:latin typeface="Tahoma"/>
                <a:cs typeface="Tahoma"/>
              </a:rPr>
              <a:t>name </a:t>
            </a:r>
            <a:r>
              <a:rPr sz="3200" dirty="0">
                <a:solidFill>
                  <a:srgbClr val="3333CC"/>
                </a:solidFill>
                <a:latin typeface="Tahoma"/>
                <a:cs typeface="Tahoma"/>
              </a:rPr>
              <a:t>-&gt;-&gt;</a:t>
            </a:r>
            <a:r>
              <a:rPr sz="3200" spc="-75" dirty="0">
                <a:solidFill>
                  <a:srgbClr val="3333CC"/>
                </a:solidFill>
                <a:latin typeface="Tahoma"/>
                <a:cs typeface="Tahoma"/>
              </a:rPr>
              <a:t> </a:t>
            </a:r>
            <a:r>
              <a:rPr sz="3200" spc="-5" dirty="0">
                <a:solidFill>
                  <a:srgbClr val="3333CC"/>
                </a:solidFill>
                <a:latin typeface="Tahoma"/>
                <a:cs typeface="Tahoma"/>
              </a:rPr>
              <a:t>beersLiked</a:t>
            </a:r>
            <a:endParaRPr sz="32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4540" y="4255896"/>
            <a:ext cx="6817359" cy="119507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35" dirty="0">
                <a:latin typeface="Tahoma"/>
                <a:cs typeface="Tahoma"/>
              </a:rPr>
              <a:t>Key </a:t>
            </a:r>
            <a:r>
              <a:rPr sz="3200" spc="-5" dirty="0">
                <a:latin typeface="Tahoma"/>
                <a:cs typeface="Tahoma"/>
              </a:rPr>
              <a:t>is </a:t>
            </a: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{name, phones,</a:t>
            </a:r>
            <a:r>
              <a:rPr sz="3200" spc="5" dirty="0">
                <a:solidFill>
                  <a:srgbClr val="33CC33"/>
                </a:solidFill>
                <a:latin typeface="Tahoma"/>
                <a:cs typeface="Tahoma"/>
              </a:rPr>
              <a:t> </a:t>
            </a: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beersLiked}</a:t>
            </a:r>
            <a:r>
              <a:rPr sz="3200" spc="-5" dirty="0">
                <a:latin typeface="Tahoma"/>
                <a:cs typeface="Tahoma"/>
              </a:rPr>
              <a:t>.</a:t>
            </a:r>
            <a:endParaRPr sz="3200" dirty="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All </a:t>
            </a:r>
            <a:r>
              <a:rPr sz="3200" spc="-5" dirty="0">
                <a:latin typeface="Tahoma"/>
                <a:cs typeface="Tahoma"/>
              </a:rPr>
              <a:t>dependencies violate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spc="-114" dirty="0">
                <a:latin typeface="Tahoma"/>
                <a:cs typeface="Tahoma"/>
              </a:rPr>
              <a:t>4NF.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0" dirty="0">
                <a:solidFill>
                  <a:srgbClr val="33CC33"/>
                </a:solidFill>
              </a:rPr>
              <a:t> </a:t>
            </a:r>
            <a:r>
              <a:rPr spc="-5" dirty="0"/>
              <a:t>Continued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916556"/>
            <a:ext cx="7719695" cy="365696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622300" indent="-609600">
              <a:lnSpc>
                <a:spcPct val="100000"/>
              </a:lnSpc>
              <a:spcBef>
                <a:spcPts val="865"/>
              </a:spcBef>
              <a:buClr>
                <a:srgbClr val="CC00CC"/>
              </a:buClr>
              <a:buFont typeface="Wingdings"/>
              <a:buChar char=""/>
              <a:tabLst>
                <a:tab pos="621665" algn="l"/>
                <a:tab pos="622300" algn="l"/>
              </a:tabLst>
            </a:pPr>
            <a:r>
              <a:rPr sz="3200" spc="-5" dirty="0">
                <a:latin typeface="Tahoma"/>
                <a:cs typeface="Tahoma"/>
              </a:rPr>
              <a:t>Decompose using </a:t>
            </a:r>
            <a:r>
              <a:rPr sz="3200" spc="-5" dirty="0">
                <a:solidFill>
                  <a:srgbClr val="00CC99"/>
                </a:solidFill>
                <a:latin typeface="Tahoma"/>
                <a:cs typeface="Tahoma"/>
              </a:rPr>
              <a:t>name </a:t>
            </a:r>
            <a:r>
              <a:rPr sz="3200" dirty="0">
                <a:solidFill>
                  <a:srgbClr val="00CC99"/>
                </a:solidFill>
                <a:latin typeface="Tahoma"/>
                <a:cs typeface="Tahoma"/>
              </a:rPr>
              <a:t>-&gt;</a:t>
            </a:r>
            <a:r>
              <a:rPr sz="3200" spc="-10" dirty="0">
                <a:solidFill>
                  <a:srgbClr val="00CC99"/>
                </a:solidFill>
                <a:latin typeface="Tahoma"/>
                <a:cs typeface="Tahoma"/>
              </a:rPr>
              <a:t> </a:t>
            </a:r>
            <a:r>
              <a:rPr sz="3200" spc="-5" dirty="0">
                <a:solidFill>
                  <a:srgbClr val="00CC99"/>
                </a:solidFill>
                <a:latin typeface="Tahoma"/>
                <a:cs typeface="Tahoma"/>
              </a:rPr>
              <a:t>addr</a:t>
            </a:r>
            <a:r>
              <a:rPr sz="3200" spc="-5" dirty="0">
                <a:latin typeface="Tahoma"/>
                <a:cs typeface="Tahoma"/>
              </a:rPr>
              <a:t>:</a:t>
            </a:r>
            <a:endParaRPr sz="3200" dirty="0">
              <a:latin typeface="Tahoma"/>
              <a:cs typeface="Tahoma"/>
            </a:endParaRPr>
          </a:p>
          <a:p>
            <a:pPr marL="622300" indent="-609600">
              <a:lnSpc>
                <a:spcPct val="100000"/>
              </a:lnSpc>
              <a:spcBef>
                <a:spcPts val="765"/>
              </a:spcBef>
              <a:buAutoNum type="arabicPeriod"/>
              <a:tabLst>
                <a:tab pos="621665" algn="l"/>
                <a:tab pos="622300" algn="l"/>
              </a:tabLst>
            </a:pP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Drinkers1(</a:t>
            </a:r>
            <a:r>
              <a:rPr sz="3200" u="heavy" spc="-5" dirty="0">
                <a:solidFill>
                  <a:srgbClr val="CC00CC"/>
                </a:solidFill>
                <a:uFill>
                  <a:solidFill>
                    <a:srgbClr val="CC00CC"/>
                  </a:solidFill>
                </a:uFill>
                <a:latin typeface="Tahoma"/>
                <a:cs typeface="Tahoma"/>
              </a:rPr>
              <a:t>name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,</a:t>
            </a:r>
            <a:r>
              <a:rPr sz="3200" spc="-10" dirty="0">
                <a:solidFill>
                  <a:srgbClr val="CC00CC"/>
                </a:solidFill>
                <a:latin typeface="Tahoma"/>
                <a:cs typeface="Tahoma"/>
              </a:rPr>
              <a:t>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addr)</a:t>
            </a:r>
            <a:endParaRPr sz="3200" dirty="0">
              <a:latin typeface="Tahoma"/>
              <a:cs typeface="Tahoma"/>
            </a:endParaRPr>
          </a:p>
          <a:p>
            <a:pPr marL="1003300" lvl="1" indent="-53340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"/>
              <a:tabLst>
                <a:tab pos="1002665" algn="l"/>
                <a:tab pos="1003300" algn="l"/>
              </a:tabLst>
            </a:pPr>
            <a:r>
              <a:rPr sz="2800" spc="-10" dirty="0">
                <a:latin typeface="Tahoma"/>
                <a:cs typeface="Tahoma"/>
              </a:rPr>
              <a:t>In </a:t>
            </a:r>
            <a:r>
              <a:rPr sz="2800" spc="-5" dirty="0">
                <a:latin typeface="Tahoma"/>
                <a:cs typeface="Tahoma"/>
              </a:rPr>
              <a:t>4NF; only dependency is </a:t>
            </a:r>
            <a:r>
              <a:rPr sz="2800" spc="-5" dirty="0">
                <a:solidFill>
                  <a:srgbClr val="00CC99"/>
                </a:solidFill>
                <a:latin typeface="Tahoma"/>
                <a:cs typeface="Tahoma"/>
              </a:rPr>
              <a:t>name </a:t>
            </a:r>
            <a:r>
              <a:rPr sz="2800" spc="-10" dirty="0">
                <a:solidFill>
                  <a:srgbClr val="00CC99"/>
                </a:solidFill>
                <a:latin typeface="Tahoma"/>
                <a:cs typeface="Tahoma"/>
              </a:rPr>
              <a:t>-&gt;</a:t>
            </a:r>
            <a:r>
              <a:rPr sz="2800" spc="40" dirty="0">
                <a:solidFill>
                  <a:srgbClr val="00CC99"/>
                </a:solidFill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00CC99"/>
                </a:solidFill>
                <a:latin typeface="Tahoma"/>
                <a:cs typeface="Tahoma"/>
              </a:rPr>
              <a:t>addr</a:t>
            </a:r>
            <a:r>
              <a:rPr sz="2800" spc="-5" dirty="0">
                <a:latin typeface="Tahoma"/>
                <a:cs typeface="Tahoma"/>
              </a:rPr>
              <a:t>.</a:t>
            </a:r>
            <a:endParaRPr sz="2800" dirty="0">
              <a:latin typeface="Tahoma"/>
              <a:cs typeface="Tahoma"/>
            </a:endParaRPr>
          </a:p>
          <a:p>
            <a:pPr marL="622300" indent="-609600">
              <a:lnSpc>
                <a:spcPct val="100000"/>
              </a:lnSpc>
              <a:spcBef>
                <a:spcPts val="765"/>
              </a:spcBef>
              <a:buAutoNum type="arabicPeriod"/>
              <a:tabLst>
                <a:tab pos="621665" algn="l"/>
                <a:tab pos="622300" algn="l"/>
              </a:tabLst>
            </a:pP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Drinkers2(</a:t>
            </a:r>
            <a:r>
              <a:rPr sz="3200" u="heavy" spc="-5" dirty="0">
                <a:solidFill>
                  <a:srgbClr val="CC00CC"/>
                </a:solidFill>
                <a:uFill>
                  <a:solidFill>
                    <a:srgbClr val="CC00CC"/>
                  </a:solidFill>
                </a:uFill>
                <a:latin typeface="Tahoma"/>
                <a:cs typeface="Tahoma"/>
              </a:rPr>
              <a:t>name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, </a:t>
            </a:r>
            <a:r>
              <a:rPr sz="3200" u="heavy" spc="-5" dirty="0">
                <a:solidFill>
                  <a:srgbClr val="CC00CC"/>
                </a:solidFill>
                <a:uFill>
                  <a:solidFill>
                    <a:srgbClr val="CC00CC"/>
                  </a:solidFill>
                </a:uFill>
                <a:latin typeface="Tahoma"/>
                <a:cs typeface="Tahoma"/>
              </a:rPr>
              <a:t>phones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,</a:t>
            </a:r>
            <a:r>
              <a:rPr sz="3200" spc="-25" dirty="0">
                <a:solidFill>
                  <a:srgbClr val="CC00CC"/>
                </a:solidFill>
                <a:latin typeface="Tahoma"/>
                <a:cs typeface="Tahoma"/>
              </a:rPr>
              <a:t> </a:t>
            </a:r>
            <a:r>
              <a:rPr sz="3200" u="heavy" spc="-5" dirty="0">
                <a:solidFill>
                  <a:srgbClr val="CC00CC"/>
                </a:solidFill>
                <a:uFill>
                  <a:solidFill>
                    <a:srgbClr val="CC00CC"/>
                  </a:solidFill>
                </a:uFill>
                <a:latin typeface="Tahoma"/>
                <a:cs typeface="Tahoma"/>
              </a:rPr>
              <a:t>beersLiked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)</a:t>
            </a:r>
            <a:endParaRPr sz="3200" dirty="0">
              <a:latin typeface="Tahoma"/>
              <a:cs typeface="Tahoma"/>
            </a:endParaRPr>
          </a:p>
          <a:p>
            <a:pPr marL="1003300" marR="7620" lvl="1" indent="-53340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"/>
              <a:tabLst>
                <a:tab pos="1002665" algn="l"/>
                <a:tab pos="1003300" algn="l"/>
                <a:tab pos="2951480" algn="l"/>
                <a:tab pos="5793740" algn="l"/>
              </a:tabLst>
            </a:pPr>
            <a:r>
              <a:rPr sz="2800" spc="-5" dirty="0">
                <a:latin typeface="Tahoma"/>
                <a:cs typeface="Tahoma"/>
              </a:rPr>
              <a:t>Not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in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105" dirty="0">
                <a:latin typeface="Tahoma"/>
                <a:cs typeface="Tahoma"/>
              </a:rPr>
              <a:t>4NF.	</a:t>
            </a:r>
            <a:r>
              <a:rPr sz="2800" spc="-25" dirty="0">
                <a:latin typeface="Tahoma"/>
                <a:cs typeface="Tahoma"/>
              </a:rPr>
              <a:t>MVD’s </a:t>
            </a:r>
            <a:r>
              <a:rPr sz="2800" spc="-5" dirty="0">
                <a:solidFill>
                  <a:srgbClr val="3333CC"/>
                </a:solidFill>
                <a:latin typeface="Tahoma"/>
                <a:cs typeface="Tahoma"/>
              </a:rPr>
              <a:t>name </a:t>
            </a:r>
            <a:r>
              <a:rPr sz="2800" spc="-10" dirty="0">
                <a:solidFill>
                  <a:srgbClr val="3333CC"/>
                </a:solidFill>
                <a:latin typeface="Tahoma"/>
                <a:cs typeface="Tahoma"/>
              </a:rPr>
              <a:t>-&gt;-&gt; </a:t>
            </a:r>
            <a:r>
              <a:rPr sz="2800" spc="-5" dirty="0">
                <a:solidFill>
                  <a:srgbClr val="3333CC"/>
                </a:solidFill>
                <a:latin typeface="Tahoma"/>
                <a:cs typeface="Tahoma"/>
              </a:rPr>
              <a:t>phones </a:t>
            </a:r>
            <a:r>
              <a:rPr sz="2800" spc="-5" dirty="0">
                <a:latin typeface="Tahoma"/>
                <a:cs typeface="Tahoma"/>
              </a:rPr>
              <a:t>and </a:t>
            </a:r>
            <a:r>
              <a:rPr sz="2800" spc="-5" dirty="0">
                <a:solidFill>
                  <a:srgbClr val="3333CC"/>
                </a:solidFill>
                <a:latin typeface="Tahoma"/>
                <a:cs typeface="Tahoma"/>
              </a:rPr>
              <a:t> name </a:t>
            </a:r>
            <a:r>
              <a:rPr sz="2800" spc="-10" dirty="0">
                <a:solidFill>
                  <a:srgbClr val="3333CC"/>
                </a:solidFill>
                <a:latin typeface="Tahoma"/>
                <a:cs typeface="Tahoma"/>
              </a:rPr>
              <a:t>-&gt;-&gt;</a:t>
            </a:r>
            <a:r>
              <a:rPr sz="2800" spc="25" dirty="0">
                <a:solidFill>
                  <a:srgbClr val="3333CC"/>
                </a:solidFill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3333CC"/>
                </a:solidFill>
                <a:latin typeface="Tahoma"/>
                <a:cs typeface="Tahoma"/>
              </a:rPr>
              <a:t>beersLiked</a:t>
            </a:r>
            <a:r>
              <a:rPr sz="2800" spc="15" dirty="0">
                <a:solidFill>
                  <a:srgbClr val="3333CC"/>
                </a:solidFill>
                <a:latin typeface="Tahoma"/>
                <a:cs typeface="Tahoma"/>
              </a:rPr>
              <a:t> </a:t>
            </a:r>
            <a:r>
              <a:rPr sz="2800" spc="-45" dirty="0">
                <a:latin typeface="Tahoma"/>
                <a:cs typeface="Tahoma"/>
              </a:rPr>
              <a:t>apply.	</a:t>
            </a:r>
            <a:r>
              <a:rPr sz="2800" spc="-5" dirty="0">
                <a:latin typeface="Tahoma"/>
                <a:cs typeface="Tahoma"/>
              </a:rPr>
              <a:t>No </a:t>
            </a:r>
            <a:r>
              <a:rPr sz="2800" spc="-25" dirty="0">
                <a:latin typeface="Tahoma"/>
                <a:cs typeface="Tahoma"/>
              </a:rPr>
              <a:t>FD’s, </a:t>
            </a:r>
            <a:r>
              <a:rPr sz="2800" spc="-5" dirty="0">
                <a:latin typeface="Tahoma"/>
                <a:cs typeface="Tahoma"/>
              </a:rPr>
              <a:t>so  </a:t>
            </a:r>
            <a:r>
              <a:rPr sz="2800" dirty="0">
                <a:latin typeface="Tahoma"/>
                <a:cs typeface="Tahoma"/>
              </a:rPr>
              <a:t>all </a:t>
            </a:r>
            <a:r>
              <a:rPr sz="2800" spc="-10" dirty="0">
                <a:latin typeface="Tahoma"/>
                <a:cs typeface="Tahoma"/>
              </a:rPr>
              <a:t>three </a:t>
            </a:r>
            <a:r>
              <a:rPr sz="2800" spc="-5" dirty="0">
                <a:latin typeface="Tahoma"/>
                <a:cs typeface="Tahoma"/>
              </a:rPr>
              <a:t>attributes </a:t>
            </a:r>
            <a:r>
              <a:rPr sz="2800" spc="-15" dirty="0">
                <a:latin typeface="Tahoma"/>
                <a:cs typeface="Tahoma"/>
              </a:rPr>
              <a:t>form </a:t>
            </a:r>
            <a:r>
              <a:rPr sz="2800" spc="-5" dirty="0">
                <a:latin typeface="Tahoma"/>
                <a:cs typeface="Tahoma"/>
              </a:rPr>
              <a:t>the</a:t>
            </a:r>
            <a:r>
              <a:rPr sz="2800" spc="20" dirty="0">
                <a:latin typeface="Tahoma"/>
                <a:cs typeface="Tahoma"/>
              </a:rPr>
              <a:t> </a:t>
            </a:r>
            <a:r>
              <a:rPr sz="2800" spc="-75" dirty="0">
                <a:latin typeface="Tahoma"/>
                <a:cs typeface="Tahoma"/>
              </a:rPr>
              <a:t>key.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3255" y="829944"/>
            <a:ext cx="78581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Decompose</a:t>
            </a:r>
            <a:r>
              <a:rPr spc="-20" dirty="0"/>
              <a:t> </a:t>
            </a:r>
            <a:r>
              <a:rPr spc="-10" dirty="0"/>
              <a:t>Drinkers2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6482715" cy="25126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Either </a:t>
            </a:r>
            <a:r>
              <a:rPr sz="3200" dirty="0">
                <a:latin typeface="Tahoma"/>
                <a:cs typeface="Tahoma"/>
              </a:rPr>
              <a:t>MVD </a:t>
            </a:r>
            <a:r>
              <a:rPr sz="3200" spc="-5" dirty="0">
                <a:solidFill>
                  <a:srgbClr val="3333CC"/>
                </a:solidFill>
                <a:latin typeface="Tahoma"/>
                <a:cs typeface="Tahoma"/>
              </a:rPr>
              <a:t>name </a:t>
            </a:r>
            <a:r>
              <a:rPr sz="3200" dirty="0">
                <a:solidFill>
                  <a:srgbClr val="3333CC"/>
                </a:solidFill>
                <a:latin typeface="Tahoma"/>
                <a:cs typeface="Tahoma"/>
              </a:rPr>
              <a:t>-&gt;-&gt; </a:t>
            </a:r>
            <a:r>
              <a:rPr sz="3200" spc="-5" dirty="0">
                <a:solidFill>
                  <a:srgbClr val="3333CC"/>
                </a:solidFill>
                <a:latin typeface="Tahoma"/>
                <a:cs typeface="Tahoma"/>
              </a:rPr>
              <a:t>phones </a:t>
            </a:r>
            <a:r>
              <a:rPr sz="3200" spc="-5" dirty="0">
                <a:latin typeface="Tahoma"/>
                <a:cs typeface="Tahoma"/>
              </a:rPr>
              <a:t>or </a:t>
            </a:r>
            <a:r>
              <a:rPr sz="3200" spc="-5" dirty="0">
                <a:solidFill>
                  <a:srgbClr val="3333CC"/>
                </a:solidFill>
                <a:latin typeface="Tahoma"/>
                <a:cs typeface="Tahoma"/>
              </a:rPr>
              <a:t> name </a:t>
            </a:r>
            <a:r>
              <a:rPr sz="3200" dirty="0">
                <a:solidFill>
                  <a:srgbClr val="3333CC"/>
                </a:solidFill>
                <a:latin typeface="Tahoma"/>
                <a:cs typeface="Tahoma"/>
              </a:rPr>
              <a:t>-&gt;-&gt; </a:t>
            </a:r>
            <a:r>
              <a:rPr sz="3200" spc="-5" dirty="0">
                <a:solidFill>
                  <a:srgbClr val="3333CC"/>
                </a:solidFill>
                <a:latin typeface="Tahoma"/>
                <a:cs typeface="Tahoma"/>
              </a:rPr>
              <a:t>beersLiked </a:t>
            </a:r>
            <a:r>
              <a:rPr sz="3200" spc="-5" dirty="0">
                <a:latin typeface="Tahoma"/>
                <a:cs typeface="Tahoma"/>
              </a:rPr>
              <a:t>tells </a:t>
            </a:r>
            <a:r>
              <a:rPr sz="3200" dirty="0">
                <a:latin typeface="Tahoma"/>
                <a:cs typeface="Tahoma"/>
              </a:rPr>
              <a:t>us </a:t>
            </a:r>
            <a:r>
              <a:rPr sz="3200" spc="-5" dirty="0">
                <a:latin typeface="Tahoma"/>
                <a:cs typeface="Tahoma"/>
              </a:rPr>
              <a:t>to  decompose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to:</a:t>
            </a:r>
            <a:endParaRPr sz="3200" dirty="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solidFill>
                  <a:srgbClr val="CC00CC"/>
                </a:solidFill>
                <a:latin typeface="Tahoma"/>
                <a:cs typeface="Tahoma"/>
              </a:rPr>
              <a:t>Drinkers3(</a:t>
            </a:r>
            <a:r>
              <a:rPr sz="2800" u="heavy" spc="-5" dirty="0">
                <a:solidFill>
                  <a:srgbClr val="CC00CC"/>
                </a:solidFill>
                <a:uFill>
                  <a:solidFill>
                    <a:srgbClr val="CC00CC"/>
                  </a:solidFill>
                </a:uFill>
                <a:latin typeface="Tahoma"/>
                <a:cs typeface="Tahoma"/>
              </a:rPr>
              <a:t>name</a:t>
            </a:r>
            <a:r>
              <a:rPr sz="2800" spc="-5" dirty="0">
                <a:solidFill>
                  <a:srgbClr val="CC00CC"/>
                </a:solidFill>
                <a:latin typeface="Tahoma"/>
                <a:cs typeface="Tahoma"/>
              </a:rPr>
              <a:t>, </a:t>
            </a:r>
            <a:r>
              <a:rPr sz="2800" u="heavy" spc="-5" dirty="0">
                <a:solidFill>
                  <a:srgbClr val="CC00CC"/>
                </a:solidFill>
                <a:uFill>
                  <a:solidFill>
                    <a:srgbClr val="CC00CC"/>
                  </a:solidFill>
                </a:uFill>
                <a:latin typeface="Tahoma"/>
                <a:cs typeface="Tahoma"/>
              </a:rPr>
              <a:t>phones</a:t>
            </a:r>
            <a:r>
              <a:rPr sz="2800" spc="-5" dirty="0">
                <a:solidFill>
                  <a:srgbClr val="CC00CC"/>
                </a:solidFill>
                <a:latin typeface="Tahoma"/>
                <a:cs typeface="Tahoma"/>
              </a:rPr>
              <a:t>)</a:t>
            </a:r>
            <a:endParaRPr sz="2800" dirty="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solidFill>
                  <a:srgbClr val="CC00CC"/>
                </a:solidFill>
                <a:latin typeface="Tahoma"/>
                <a:cs typeface="Tahoma"/>
              </a:rPr>
              <a:t>Drinkers4(</a:t>
            </a:r>
            <a:r>
              <a:rPr sz="2800" u="heavy" spc="-5" dirty="0">
                <a:solidFill>
                  <a:srgbClr val="CC00CC"/>
                </a:solidFill>
                <a:uFill>
                  <a:solidFill>
                    <a:srgbClr val="CC00CC"/>
                  </a:solidFill>
                </a:uFill>
                <a:latin typeface="Tahoma"/>
                <a:cs typeface="Tahoma"/>
              </a:rPr>
              <a:t>name</a:t>
            </a:r>
            <a:r>
              <a:rPr sz="2800" spc="-5" dirty="0">
                <a:solidFill>
                  <a:srgbClr val="CC00CC"/>
                </a:solidFill>
                <a:latin typeface="Tahoma"/>
                <a:cs typeface="Tahoma"/>
              </a:rPr>
              <a:t>,</a:t>
            </a:r>
            <a:r>
              <a:rPr sz="2800" spc="-10" dirty="0">
                <a:solidFill>
                  <a:srgbClr val="CC00CC"/>
                </a:solidFill>
                <a:latin typeface="Tahoma"/>
                <a:cs typeface="Tahoma"/>
              </a:rPr>
              <a:t> </a:t>
            </a:r>
            <a:r>
              <a:rPr sz="2800" u="heavy" spc="-5" dirty="0">
                <a:solidFill>
                  <a:srgbClr val="CC00CC"/>
                </a:solidFill>
                <a:uFill>
                  <a:solidFill>
                    <a:srgbClr val="CC00CC"/>
                  </a:solidFill>
                </a:uFill>
                <a:latin typeface="Tahoma"/>
                <a:cs typeface="Tahoma"/>
              </a:rPr>
              <a:t>beersLiked</a:t>
            </a:r>
            <a:r>
              <a:rPr sz="2800" spc="-5" dirty="0">
                <a:solidFill>
                  <a:srgbClr val="CC00CC"/>
                </a:solidFill>
                <a:latin typeface="Tahoma"/>
                <a:cs typeface="Tahoma"/>
              </a:rPr>
              <a:t>)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0094" y="829944"/>
            <a:ext cx="76244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Reasoning </a:t>
            </a:r>
            <a:r>
              <a:rPr spc="-5" dirty="0"/>
              <a:t>About </a:t>
            </a:r>
            <a:r>
              <a:rPr spc="-35" dirty="0"/>
              <a:t>MVD’s </a:t>
            </a:r>
            <a:r>
              <a:rPr dirty="0"/>
              <a:t>+</a:t>
            </a:r>
            <a:r>
              <a:rPr spc="25" dirty="0"/>
              <a:t> </a:t>
            </a:r>
            <a:r>
              <a:rPr spc="-40" dirty="0"/>
              <a:t>FD’s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296150" cy="304990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55600" marR="180975" indent="-342900" algn="just">
              <a:lnSpc>
                <a:spcPts val="3840"/>
              </a:lnSpc>
              <a:spcBef>
                <a:spcPts val="229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3366FF"/>
                </a:solidFill>
                <a:latin typeface="Tahoma"/>
                <a:cs typeface="Tahoma"/>
              </a:rPr>
              <a:t>Problem</a:t>
            </a:r>
            <a:r>
              <a:rPr sz="3200" spc="-5" dirty="0">
                <a:latin typeface="Tahoma"/>
                <a:cs typeface="Tahoma"/>
              </a:rPr>
              <a:t>: </a:t>
            </a:r>
            <a:r>
              <a:rPr sz="3200" spc="-10" dirty="0">
                <a:latin typeface="Tahoma"/>
                <a:cs typeface="Tahoma"/>
              </a:rPr>
              <a:t>given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set of </a:t>
            </a:r>
            <a:r>
              <a:rPr sz="3200" spc="-25" dirty="0">
                <a:latin typeface="Tahoma"/>
                <a:cs typeface="Tahoma"/>
              </a:rPr>
              <a:t>MVD’s </a:t>
            </a:r>
            <a:r>
              <a:rPr sz="3200" spc="-5" dirty="0">
                <a:latin typeface="Tahoma"/>
                <a:cs typeface="Tahoma"/>
              </a:rPr>
              <a:t>and/or  </a:t>
            </a:r>
            <a:r>
              <a:rPr sz="3200" spc="-30" dirty="0">
                <a:latin typeface="Tahoma"/>
                <a:cs typeface="Tahoma"/>
              </a:rPr>
              <a:t>FD’s </a:t>
            </a:r>
            <a:r>
              <a:rPr sz="3200" spc="-5" dirty="0">
                <a:latin typeface="Tahoma"/>
                <a:cs typeface="Tahoma"/>
              </a:rPr>
              <a:t>that hold </a:t>
            </a:r>
            <a:r>
              <a:rPr sz="3200" spc="-15" dirty="0">
                <a:latin typeface="Tahoma"/>
                <a:cs typeface="Tahoma"/>
              </a:rPr>
              <a:t>for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relation </a:t>
            </a:r>
            <a:r>
              <a:rPr sz="3350" i="1" spc="-565" dirty="0">
                <a:latin typeface="Tahoma"/>
                <a:cs typeface="Tahoma"/>
              </a:rPr>
              <a:t>R</a:t>
            </a:r>
            <a:r>
              <a:rPr sz="3200" spc="-565" dirty="0">
                <a:latin typeface="Tahoma"/>
                <a:cs typeface="Tahoma"/>
              </a:rPr>
              <a:t>, </a:t>
            </a:r>
            <a:r>
              <a:rPr sz="3200" spc="-5" dirty="0">
                <a:latin typeface="Tahoma"/>
                <a:cs typeface="Tahoma"/>
              </a:rPr>
              <a:t>does </a:t>
            </a:r>
            <a:r>
              <a:rPr sz="3200" dirty="0">
                <a:latin typeface="Tahoma"/>
                <a:cs typeface="Tahoma"/>
              </a:rPr>
              <a:t>a  </a:t>
            </a:r>
            <a:r>
              <a:rPr sz="3200" spc="-5" dirty="0">
                <a:latin typeface="Tahoma"/>
                <a:cs typeface="Tahoma"/>
              </a:rPr>
              <a:t>certain </a:t>
            </a:r>
            <a:r>
              <a:rPr sz="3200" dirty="0">
                <a:latin typeface="Tahoma"/>
                <a:cs typeface="Tahoma"/>
              </a:rPr>
              <a:t>FD </a:t>
            </a:r>
            <a:r>
              <a:rPr sz="3200" spc="-5" dirty="0">
                <a:latin typeface="Tahoma"/>
                <a:cs typeface="Tahoma"/>
              </a:rPr>
              <a:t>or </a:t>
            </a:r>
            <a:r>
              <a:rPr sz="3200" dirty="0">
                <a:latin typeface="Tahoma"/>
                <a:cs typeface="Tahoma"/>
              </a:rPr>
              <a:t>MVD </a:t>
            </a:r>
            <a:r>
              <a:rPr sz="3200" spc="-5" dirty="0">
                <a:latin typeface="Tahoma"/>
                <a:cs typeface="Tahoma"/>
              </a:rPr>
              <a:t>also hold in</a:t>
            </a:r>
            <a:r>
              <a:rPr sz="3200" spc="-235" dirty="0">
                <a:latin typeface="Tahoma"/>
                <a:cs typeface="Tahoma"/>
              </a:rPr>
              <a:t> </a:t>
            </a:r>
            <a:r>
              <a:rPr sz="3350" i="1" spc="-65" dirty="0">
                <a:latin typeface="Tahoma"/>
                <a:cs typeface="Tahoma"/>
              </a:rPr>
              <a:t>R</a:t>
            </a:r>
            <a:r>
              <a:rPr sz="3200" spc="-65" dirty="0">
                <a:latin typeface="Tahoma"/>
                <a:cs typeface="Tahoma"/>
              </a:rPr>
              <a:t>?</a:t>
            </a:r>
            <a:endParaRPr sz="3200" dirty="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64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996600"/>
                </a:solidFill>
                <a:latin typeface="Tahoma"/>
                <a:cs typeface="Tahoma"/>
              </a:rPr>
              <a:t>Solution</a:t>
            </a:r>
            <a:r>
              <a:rPr sz="3200" spc="-5" dirty="0">
                <a:latin typeface="Tahoma"/>
                <a:cs typeface="Tahoma"/>
              </a:rPr>
              <a:t>: Use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tableau to explore </a:t>
            </a:r>
            <a:r>
              <a:rPr sz="3200" dirty="0">
                <a:latin typeface="Tahoma"/>
                <a:cs typeface="Tahoma"/>
              </a:rPr>
              <a:t>all  </a:t>
            </a:r>
            <a:r>
              <a:rPr sz="3200" spc="-10" dirty="0">
                <a:latin typeface="Tahoma"/>
                <a:cs typeface="Tahoma"/>
              </a:rPr>
              <a:t>inferences from </a:t>
            </a:r>
            <a:r>
              <a:rPr sz="3200" spc="-5" dirty="0">
                <a:latin typeface="Tahoma"/>
                <a:cs typeface="Tahoma"/>
              </a:rPr>
              <a:t>the </a:t>
            </a:r>
            <a:r>
              <a:rPr sz="3200" spc="-10" dirty="0">
                <a:latin typeface="Tahoma"/>
                <a:cs typeface="Tahoma"/>
              </a:rPr>
              <a:t>given </a:t>
            </a:r>
            <a:r>
              <a:rPr sz="3200" spc="-5" dirty="0">
                <a:latin typeface="Tahoma"/>
                <a:cs typeface="Tahoma"/>
              </a:rPr>
              <a:t>set, to see </a:t>
            </a:r>
            <a:r>
              <a:rPr sz="3200" dirty="0">
                <a:latin typeface="Tahoma"/>
                <a:cs typeface="Tahoma"/>
              </a:rPr>
              <a:t>if  </a:t>
            </a:r>
            <a:r>
              <a:rPr sz="3200" spc="-10" dirty="0">
                <a:latin typeface="Tahoma"/>
                <a:cs typeface="Tahoma"/>
              </a:rPr>
              <a:t>you </a:t>
            </a:r>
            <a:r>
              <a:rPr sz="3200" spc="-5" dirty="0">
                <a:latin typeface="Tahoma"/>
                <a:cs typeface="Tahoma"/>
              </a:rPr>
              <a:t>can </a:t>
            </a:r>
            <a:r>
              <a:rPr sz="3200" spc="-15" dirty="0">
                <a:latin typeface="Tahoma"/>
                <a:cs typeface="Tahoma"/>
              </a:rPr>
              <a:t>prove </a:t>
            </a:r>
            <a:r>
              <a:rPr sz="3200" spc="-5" dirty="0">
                <a:latin typeface="Tahoma"/>
                <a:cs typeface="Tahoma"/>
              </a:rPr>
              <a:t>the target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spc="-30" dirty="0">
                <a:latin typeface="Tahoma"/>
                <a:cs typeface="Tahoma"/>
              </a:rPr>
              <a:t>dependency.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29814" y="829944"/>
            <a:ext cx="44850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Why </a:t>
            </a:r>
            <a:r>
              <a:rPr dirty="0"/>
              <a:t>Do </a:t>
            </a:r>
            <a:r>
              <a:rPr spc="-85" dirty="0"/>
              <a:t>We</a:t>
            </a:r>
            <a:r>
              <a:rPr spc="-70" dirty="0"/>
              <a:t> </a:t>
            </a:r>
            <a:r>
              <a:rPr spc="-10" dirty="0"/>
              <a:t>Care?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363459" cy="34397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22300" marR="934085" indent="-6096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AutoNum type="arabicPeriod"/>
              <a:tabLst>
                <a:tab pos="621665" algn="l"/>
                <a:tab pos="622300" algn="l"/>
              </a:tabLst>
            </a:pPr>
            <a:r>
              <a:rPr sz="3200" spc="-5" dirty="0">
                <a:latin typeface="Tahoma"/>
                <a:cs typeface="Tahoma"/>
              </a:rPr>
              <a:t>4NF technically </a:t>
            </a:r>
            <a:r>
              <a:rPr sz="3200" spc="-10" dirty="0">
                <a:latin typeface="Tahoma"/>
                <a:cs typeface="Tahoma"/>
              </a:rPr>
              <a:t>requires </a:t>
            </a:r>
            <a:r>
              <a:rPr sz="3200" dirty="0">
                <a:latin typeface="Tahoma"/>
                <a:cs typeface="Tahoma"/>
              </a:rPr>
              <a:t>an MVD  </a:t>
            </a:r>
            <a:r>
              <a:rPr sz="3200" spc="-5" dirty="0">
                <a:latin typeface="Tahoma"/>
                <a:cs typeface="Tahoma"/>
              </a:rPr>
              <a:t>violation.</a:t>
            </a:r>
            <a:endParaRPr sz="3200" dirty="0">
              <a:latin typeface="Tahoma"/>
              <a:cs typeface="Tahoma"/>
            </a:endParaRPr>
          </a:p>
          <a:p>
            <a:pPr marL="1002665" marR="5080" lvl="1" indent="-53340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1002665" algn="l"/>
                <a:tab pos="1003300" algn="l"/>
              </a:tabLst>
            </a:pPr>
            <a:r>
              <a:rPr sz="2800" spc="-5" dirty="0">
                <a:latin typeface="Tahoma"/>
                <a:cs typeface="Tahoma"/>
              </a:rPr>
              <a:t>Need to </a:t>
            </a:r>
            <a:r>
              <a:rPr sz="2800" spc="-10" dirty="0">
                <a:latin typeface="Tahoma"/>
                <a:cs typeface="Tahoma"/>
              </a:rPr>
              <a:t>infer </a:t>
            </a:r>
            <a:r>
              <a:rPr sz="2800" spc="-25" dirty="0">
                <a:latin typeface="Tahoma"/>
                <a:cs typeface="Tahoma"/>
              </a:rPr>
              <a:t>MVD’s </a:t>
            </a:r>
            <a:r>
              <a:rPr sz="2800" spc="-15" dirty="0">
                <a:latin typeface="Tahoma"/>
                <a:cs typeface="Tahoma"/>
              </a:rPr>
              <a:t>from </a:t>
            </a:r>
            <a:r>
              <a:rPr sz="2800" spc="-10" dirty="0">
                <a:latin typeface="Tahoma"/>
                <a:cs typeface="Tahoma"/>
              </a:rPr>
              <a:t>given </a:t>
            </a:r>
            <a:r>
              <a:rPr sz="2800" spc="-30" dirty="0">
                <a:latin typeface="Tahoma"/>
                <a:cs typeface="Tahoma"/>
              </a:rPr>
              <a:t>FD’s </a:t>
            </a:r>
            <a:r>
              <a:rPr sz="2800" spc="-5" dirty="0">
                <a:latin typeface="Tahoma"/>
                <a:cs typeface="Tahoma"/>
              </a:rPr>
              <a:t>and  </a:t>
            </a:r>
            <a:r>
              <a:rPr sz="2800" spc="-25" dirty="0">
                <a:latin typeface="Tahoma"/>
                <a:cs typeface="Tahoma"/>
              </a:rPr>
              <a:t>MVD’s </a:t>
            </a:r>
            <a:r>
              <a:rPr sz="2800" spc="-5" dirty="0">
                <a:latin typeface="Tahoma"/>
                <a:cs typeface="Tahoma"/>
              </a:rPr>
              <a:t>that </a:t>
            </a:r>
            <a:r>
              <a:rPr sz="2800" spc="-10" dirty="0">
                <a:latin typeface="Tahoma"/>
                <a:cs typeface="Tahoma"/>
              </a:rPr>
              <a:t>may </a:t>
            </a:r>
            <a:r>
              <a:rPr sz="2800" spc="-5" dirty="0">
                <a:latin typeface="Tahoma"/>
                <a:cs typeface="Tahoma"/>
              </a:rPr>
              <a:t>not be violations  themselves.</a:t>
            </a:r>
            <a:endParaRPr sz="2800" dirty="0">
              <a:latin typeface="Tahoma"/>
              <a:cs typeface="Tahoma"/>
            </a:endParaRPr>
          </a:p>
          <a:p>
            <a:pPr marL="622300" marR="643255" indent="-6096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AutoNum type="arabicPeriod"/>
              <a:tabLst>
                <a:tab pos="621665" algn="l"/>
                <a:tab pos="622300" algn="l"/>
              </a:tabLst>
            </a:pPr>
            <a:r>
              <a:rPr sz="3200" spc="-5" dirty="0">
                <a:latin typeface="Tahoma"/>
                <a:cs typeface="Tahoma"/>
              </a:rPr>
              <a:t>When </a:t>
            </a:r>
            <a:r>
              <a:rPr sz="3200" dirty="0">
                <a:latin typeface="Tahoma"/>
                <a:cs typeface="Tahoma"/>
              </a:rPr>
              <a:t>we </a:t>
            </a:r>
            <a:r>
              <a:rPr sz="3200" spc="-5" dirty="0">
                <a:latin typeface="Tahoma"/>
                <a:cs typeface="Tahoma"/>
              </a:rPr>
              <a:t>decompose, </a:t>
            </a:r>
            <a:r>
              <a:rPr sz="3200" dirty="0">
                <a:latin typeface="Tahoma"/>
                <a:cs typeface="Tahoma"/>
              </a:rPr>
              <a:t>we </a:t>
            </a:r>
            <a:r>
              <a:rPr sz="3200" spc="-5" dirty="0">
                <a:latin typeface="Tahoma"/>
                <a:cs typeface="Tahoma"/>
              </a:rPr>
              <a:t>need to  project </a:t>
            </a:r>
            <a:r>
              <a:rPr sz="3200" spc="-30" dirty="0">
                <a:latin typeface="Tahoma"/>
                <a:cs typeface="Tahoma"/>
              </a:rPr>
              <a:t>FD’s </a:t>
            </a:r>
            <a:r>
              <a:rPr sz="3200" dirty="0">
                <a:latin typeface="Tahoma"/>
                <a:cs typeface="Tahoma"/>
              </a:rPr>
              <a:t>+</a:t>
            </a:r>
            <a:r>
              <a:rPr sz="3200" spc="5" dirty="0">
                <a:latin typeface="Tahoma"/>
                <a:cs typeface="Tahoma"/>
              </a:rPr>
              <a:t> </a:t>
            </a:r>
            <a:r>
              <a:rPr sz="3200" spc="-20" dirty="0">
                <a:latin typeface="Tahoma"/>
                <a:cs typeface="Tahoma"/>
              </a:rPr>
              <a:t>MVD’s.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4105" y="723899"/>
            <a:ext cx="6955790" cy="1367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37894" marR="5080" indent="-925194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Chasing </a:t>
            </a:r>
            <a:r>
              <a:rPr dirty="0"/>
              <a:t>a </a:t>
            </a:r>
            <a:r>
              <a:rPr spc="-75" dirty="0"/>
              <a:t>Tableau  </a:t>
            </a:r>
            <a:r>
              <a:rPr dirty="0"/>
              <a:t>With </a:t>
            </a:r>
            <a:r>
              <a:rPr spc="-35" dirty="0"/>
              <a:t>MVD’s </a:t>
            </a:r>
            <a:r>
              <a:rPr spc="-5" dirty="0"/>
              <a:t>and</a:t>
            </a:r>
            <a:r>
              <a:rPr dirty="0"/>
              <a:t> </a:t>
            </a:r>
            <a:r>
              <a:rPr spc="-40" dirty="0"/>
              <a:t>FD’s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353310"/>
            <a:ext cx="7562215" cy="334137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355600" marR="996315" indent="-342900">
              <a:lnSpc>
                <a:spcPts val="3450"/>
              </a:lnSpc>
              <a:spcBef>
                <a:spcPts val="54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65" dirty="0">
                <a:latin typeface="Tahoma"/>
                <a:cs typeface="Tahoma"/>
              </a:rPr>
              <a:t>To </a:t>
            </a:r>
            <a:r>
              <a:rPr sz="3200" spc="-5" dirty="0">
                <a:latin typeface="Tahoma"/>
                <a:cs typeface="Tahoma"/>
              </a:rPr>
              <a:t>apply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30" dirty="0">
                <a:latin typeface="Tahoma"/>
                <a:cs typeface="Tahoma"/>
              </a:rPr>
              <a:t>FD, </a:t>
            </a:r>
            <a:r>
              <a:rPr sz="3200" spc="-5" dirty="0">
                <a:latin typeface="Tahoma"/>
                <a:cs typeface="Tahoma"/>
              </a:rPr>
              <a:t>equate symbols, as  </a:t>
            </a:r>
            <a:r>
              <a:rPr sz="3200" spc="-10" dirty="0">
                <a:latin typeface="Tahoma"/>
                <a:cs typeface="Tahoma"/>
              </a:rPr>
              <a:t>before.</a:t>
            </a:r>
            <a:endParaRPr sz="3200" dirty="0">
              <a:latin typeface="Tahoma"/>
              <a:cs typeface="Tahoma"/>
            </a:endParaRPr>
          </a:p>
          <a:p>
            <a:pPr marL="355600" marR="61594" indent="-342900">
              <a:lnSpc>
                <a:spcPts val="3450"/>
              </a:lnSpc>
              <a:spcBef>
                <a:spcPts val="7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65" dirty="0">
                <a:latin typeface="Tahoma"/>
                <a:cs typeface="Tahoma"/>
              </a:rPr>
              <a:t>To </a:t>
            </a:r>
            <a:r>
              <a:rPr sz="3200" spc="-5" dirty="0">
                <a:latin typeface="Tahoma"/>
                <a:cs typeface="Tahoma"/>
              </a:rPr>
              <a:t>apply </a:t>
            </a:r>
            <a:r>
              <a:rPr sz="3200" dirty="0">
                <a:latin typeface="Tahoma"/>
                <a:cs typeface="Tahoma"/>
              </a:rPr>
              <a:t>an </a:t>
            </a:r>
            <a:r>
              <a:rPr sz="3200" spc="-20" dirty="0">
                <a:latin typeface="Tahoma"/>
                <a:cs typeface="Tahoma"/>
              </a:rPr>
              <a:t>MVD, </a:t>
            </a:r>
            <a:r>
              <a:rPr sz="3200" spc="-10" dirty="0">
                <a:latin typeface="Tahoma"/>
                <a:cs typeface="Tahoma"/>
              </a:rPr>
              <a:t>generate </a:t>
            </a:r>
            <a:r>
              <a:rPr sz="3200" spc="-5" dirty="0">
                <a:latin typeface="Tahoma"/>
                <a:cs typeface="Tahoma"/>
              </a:rPr>
              <a:t>one or both  of the tuples </a:t>
            </a:r>
            <a:r>
              <a:rPr sz="3200" dirty="0">
                <a:latin typeface="Tahoma"/>
                <a:cs typeface="Tahoma"/>
              </a:rPr>
              <a:t>we </a:t>
            </a:r>
            <a:r>
              <a:rPr sz="3200" spc="-5" dirty="0">
                <a:latin typeface="Tahoma"/>
                <a:cs typeface="Tahoma"/>
              </a:rPr>
              <a:t>know must also </a:t>
            </a:r>
            <a:r>
              <a:rPr sz="3200" dirty="0">
                <a:latin typeface="Tahoma"/>
                <a:cs typeface="Tahoma"/>
              </a:rPr>
              <a:t>be </a:t>
            </a:r>
            <a:r>
              <a:rPr sz="3200" spc="-5" dirty="0">
                <a:latin typeface="Tahoma"/>
                <a:cs typeface="Tahoma"/>
              </a:rPr>
              <a:t>in  the relation represented by the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tableau.</a:t>
            </a:r>
            <a:endParaRPr sz="3200" dirty="0">
              <a:latin typeface="Tahoma"/>
              <a:cs typeface="Tahoma"/>
            </a:endParaRPr>
          </a:p>
          <a:p>
            <a:pPr marL="355600" marR="5080" indent="-342900">
              <a:lnSpc>
                <a:spcPts val="3460"/>
              </a:lnSpc>
              <a:spcBef>
                <a:spcPts val="77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5" dirty="0">
                <a:latin typeface="Tahoma"/>
                <a:cs typeface="Tahoma"/>
              </a:rPr>
              <a:t>We’ll prove: </a:t>
            </a:r>
            <a:r>
              <a:rPr sz="3200" dirty="0">
                <a:latin typeface="Tahoma"/>
                <a:cs typeface="Tahoma"/>
              </a:rPr>
              <a:t>if </a:t>
            </a:r>
            <a:r>
              <a:rPr sz="3200" spc="-10" dirty="0">
                <a:solidFill>
                  <a:srgbClr val="3333CC"/>
                </a:solidFill>
                <a:latin typeface="Tahoma"/>
                <a:cs typeface="Tahoma"/>
              </a:rPr>
              <a:t>A-&gt;-&gt;BC </a:t>
            </a:r>
            <a:r>
              <a:rPr sz="3200" spc="-5" dirty="0">
                <a:latin typeface="Tahoma"/>
                <a:cs typeface="Tahoma"/>
              </a:rPr>
              <a:t>and </a:t>
            </a:r>
            <a:r>
              <a:rPr sz="3200" spc="-5" dirty="0">
                <a:solidFill>
                  <a:srgbClr val="00CC99"/>
                </a:solidFill>
                <a:latin typeface="Tahoma"/>
                <a:cs typeface="Tahoma"/>
              </a:rPr>
              <a:t>D-&gt;C</a:t>
            </a:r>
            <a:r>
              <a:rPr sz="3200" spc="-5" dirty="0">
                <a:latin typeface="Tahoma"/>
                <a:cs typeface="Tahoma"/>
              </a:rPr>
              <a:t>, then </a:t>
            </a:r>
            <a:r>
              <a:rPr sz="3200" spc="-5" dirty="0">
                <a:solidFill>
                  <a:srgbClr val="00CC99"/>
                </a:solidFill>
                <a:latin typeface="Tahoma"/>
                <a:cs typeface="Tahoma"/>
              </a:rPr>
              <a:t> </a:t>
            </a:r>
            <a:r>
              <a:rPr sz="3200" spc="-20" dirty="0">
                <a:solidFill>
                  <a:srgbClr val="00CC99"/>
                </a:solidFill>
                <a:latin typeface="Tahoma"/>
                <a:cs typeface="Tahoma"/>
              </a:rPr>
              <a:t>A-&gt;C</a:t>
            </a:r>
            <a:r>
              <a:rPr sz="3200" spc="-20" dirty="0">
                <a:latin typeface="Tahoma"/>
                <a:cs typeface="Tahoma"/>
              </a:rPr>
              <a:t>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12620" y="829944"/>
            <a:ext cx="53193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The </a:t>
            </a:r>
            <a:r>
              <a:rPr spc="-75" dirty="0"/>
              <a:t>Tableau </a:t>
            </a:r>
            <a:r>
              <a:rPr spc="-20" dirty="0"/>
              <a:t>for</a:t>
            </a:r>
            <a:r>
              <a:rPr spc="25" dirty="0"/>
              <a:t> </a:t>
            </a:r>
            <a:r>
              <a:rPr spc="-30" dirty="0">
                <a:solidFill>
                  <a:srgbClr val="00CC99"/>
                </a:solidFill>
              </a:rPr>
              <a:t>A-&gt;C</a:t>
            </a:r>
          </a:p>
        </p:txBody>
      </p:sp>
      <p:sp>
        <p:nvSpPr>
          <p:cNvPr id="3" name="object 3"/>
          <p:cNvSpPr/>
          <p:nvPr/>
        </p:nvSpPr>
        <p:spPr>
          <a:xfrm>
            <a:off x="1524000" y="3200400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86740" y="1764017"/>
            <a:ext cx="7023100" cy="137541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  <a:tabLst>
                <a:tab pos="3531235" algn="l"/>
              </a:tabLst>
            </a:pPr>
            <a:r>
              <a:rPr sz="3200" spc="-5" dirty="0">
                <a:solidFill>
                  <a:srgbClr val="3366FF"/>
                </a:solidFill>
                <a:latin typeface="Tahoma"/>
                <a:cs typeface="Tahoma"/>
              </a:rPr>
              <a:t>Goal</a:t>
            </a:r>
            <a:r>
              <a:rPr sz="3200" spc="-5" dirty="0">
                <a:latin typeface="Tahoma"/>
                <a:cs typeface="Tahoma"/>
              </a:rPr>
              <a:t>: </a:t>
            </a:r>
            <a:r>
              <a:rPr sz="3200" spc="-15" dirty="0">
                <a:latin typeface="Tahoma"/>
                <a:cs typeface="Tahoma"/>
              </a:rPr>
              <a:t>prove</a:t>
            </a:r>
            <a:r>
              <a:rPr sz="3200" spc="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that</a:t>
            </a:r>
            <a:r>
              <a:rPr sz="3200" spc="-204" dirty="0">
                <a:latin typeface="Tahoma"/>
                <a:cs typeface="Tahoma"/>
              </a:rPr>
              <a:t> </a:t>
            </a:r>
            <a:r>
              <a:rPr sz="3350" i="1" spc="-545" dirty="0">
                <a:latin typeface="Tahoma"/>
                <a:cs typeface="Tahoma"/>
              </a:rPr>
              <a:t>c</a:t>
            </a:r>
            <a:r>
              <a:rPr sz="3075" spc="-817" baseline="-17615" dirty="0">
                <a:latin typeface="Tahoma"/>
                <a:cs typeface="Tahoma"/>
              </a:rPr>
              <a:t>1	</a:t>
            </a:r>
            <a:r>
              <a:rPr sz="3200" dirty="0">
                <a:latin typeface="Tahoma"/>
                <a:cs typeface="Tahoma"/>
              </a:rPr>
              <a:t>=</a:t>
            </a:r>
            <a:r>
              <a:rPr sz="3200" spc="-220" dirty="0">
                <a:latin typeface="Tahoma"/>
                <a:cs typeface="Tahoma"/>
              </a:rPr>
              <a:t> </a:t>
            </a:r>
            <a:r>
              <a:rPr sz="3350" i="1" spc="-365" dirty="0">
                <a:latin typeface="Tahoma"/>
                <a:cs typeface="Tahoma"/>
              </a:rPr>
              <a:t>c</a:t>
            </a:r>
            <a:r>
              <a:rPr sz="3075" spc="-547" baseline="-17615" dirty="0">
                <a:latin typeface="Tahoma"/>
                <a:cs typeface="Tahoma"/>
              </a:rPr>
              <a:t>2</a:t>
            </a:r>
            <a:r>
              <a:rPr sz="3200" spc="-365" dirty="0">
                <a:latin typeface="Tahoma"/>
                <a:cs typeface="Tahoma"/>
              </a:rPr>
              <a:t>.</a:t>
            </a:r>
            <a:endParaRPr sz="3200">
              <a:latin typeface="Tahoma"/>
              <a:cs typeface="Tahoma"/>
            </a:endParaRPr>
          </a:p>
          <a:p>
            <a:pPr marL="1077595">
              <a:lnSpc>
                <a:spcPct val="100000"/>
              </a:lnSpc>
              <a:spcBef>
                <a:spcPts val="2570"/>
              </a:spcBef>
              <a:tabLst>
                <a:tab pos="2906395" algn="l"/>
                <a:tab pos="4735195" algn="l"/>
                <a:tab pos="6563995" algn="l"/>
              </a:tabLst>
            </a:pPr>
            <a:r>
              <a:rPr sz="3350" i="1" spc="-90" dirty="0">
                <a:latin typeface="Tahoma"/>
                <a:cs typeface="Tahoma"/>
              </a:rPr>
              <a:t>A	B	C	</a:t>
            </a:r>
            <a:r>
              <a:rPr sz="3350" i="1" spc="-100" dirty="0">
                <a:latin typeface="Tahoma"/>
                <a:cs typeface="Tahoma"/>
              </a:rPr>
              <a:t>D</a:t>
            </a:r>
            <a:endParaRPr sz="335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52037" y="3113788"/>
            <a:ext cx="396875" cy="1778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4399"/>
              </a:lnSpc>
              <a:spcBef>
                <a:spcPts val="100"/>
              </a:spcBef>
            </a:pPr>
            <a:r>
              <a:rPr sz="3350" i="1" spc="-80" dirty="0">
                <a:latin typeface="Tahoma"/>
                <a:cs typeface="Tahoma"/>
              </a:rPr>
              <a:t>a  a  a</a:t>
            </a:r>
            <a:endParaRPr sz="335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55437" y="3113788"/>
            <a:ext cx="471805" cy="1778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 algn="just">
              <a:lnSpc>
                <a:spcPct val="114399"/>
              </a:lnSpc>
              <a:spcBef>
                <a:spcPts val="100"/>
              </a:spcBef>
            </a:pPr>
            <a:r>
              <a:rPr sz="3350" i="1" spc="-550" dirty="0">
                <a:latin typeface="Tahoma"/>
                <a:cs typeface="Tahoma"/>
              </a:rPr>
              <a:t>b</a:t>
            </a:r>
            <a:r>
              <a:rPr sz="3075" spc="-825" baseline="-17615" dirty="0">
                <a:latin typeface="Tahoma"/>
                <a:cs typeface="Tahoma"/>
              </a:rPr>
              <a:t>1  </a:t>
            </a:r>
            <a:r>
              <a:rPr sz="3350" i="1" spc="-550" dirty="0">
                <a:latin typeface="Tahoma"/>
                <a:cs typeface="Tahoma"/>
              </a:rPr>
              <a:t>b</a:t>
            </a:r>
            <a:r>
              <a:rPr sz="3075" spc="-825" baseline="-17615" dirty="0">
                <a:latin typeface="Tahoma"/>
                <a:cs typeface="Tahoma"/>
              </a:rPr>
              <a:t>2  </a:t>
            </a:r>
            <a:r>
              <a:rPr sz="3350" i="1" spc="-550" dirty="0">
                <a:latin typeface="Tahoma"/>
                <a:cs typeface="Tahoma"/>
              </a:rPr>
              <a:t>b</a:t>
            </a:r>
            <a:r>
              <a:rPr sz="3075" spc="-825" baseline="-17615" dirty="0">
                <a:latin typeface="Tahoma"/>
                <a:cs typeface="Tahoma"/>
              </a:rPr>
              <a:t>2</a:t>
            </a:r>
            <a:endParaRPr sz="3075" baseline="-17615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13037" y="3113788"/>
            <a:ext cx="471805" cy="1778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 algn="just">
              <a:lnSpc>
                <a:spcPct val="114399"/>
              </a:lnSpc>
              <a:spcBef>
                <a:spcPts val="100"/>
              </a:spcBef>
            </a:pPr>
            <a:r>
              <a:rPr sz="3350" i="1" spc="-550" dirty="0">
                <a:latin typeface="Tahoma"/>
                <a:cs typeface="Tahoma"/>
              </a:rPr>
              <a:t>d</a:t>
            </a:r>
            <a:r>
              <a:rPr sz="3075" spc="-825" baseline="-17615" dirty="0">
                <a:latin typeface="Tahoma"/>
                <a:cs typeface="Tahoma"/>
              </a:rPr>
              <a:t>1  </a:t>
            </a:r>
            <a:r>
              <a:rPr sz="3350" i="1" spc="-550" dirty="0">
                <a:latin typeface="Tahoma"/>
                <a:cs typeface="Tahoma"/>
              </a:rPr>
              <a:t>d</a:t>
            </a:r>
            <a:r>
              <a:rPr sz="3075" spc="-825" baseline="-17615" dirty="0">
                <a:latin typeface="Tahoma"/>
                <a:cs typeface="Tahoma"/>
              </a:rPr>
              <a:t>2  </a:t>
            </a:r>
            <a:r>
              <a:rPr sz="3350" i="1" spc="-550" dirty="0">
                <a:latin typeface="Tahoma"/>
                <a:cs typeface="Tahoma"/>
              </a:rPr>
              <a:t>d</a:t>
            </a:r>
            <a:r>
              <a:rPr sz="3075" spc="-825" baseline="-17615" dirty="0">
                <a:latin typeface="Tahoma"/>
                <a:cs typeface="Tahoma"/>
              </a:rPr>
              <a:t>1</a:t>
            </a:r>
            <a:endParaRPr sz="3075" baseline="-17615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3394" y="5747384"/>
            <a:ext cx="3599179" cy="760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84">
              <a:lnSpc>
                <a:spcPts val="283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Use </a:t>
            </a:r>
            <a:r>
              <a:rPr sz="2400" spc="-10" dirty="0">
                <a:solidFill>
                  <a:srgbClr val="3333CC"/>
                </a:solidFill>
                <a:latin typeface="Tahoma"/>
                <a:cs typeface="Tahoma"/>
              </a:rPr>
              <a:t>A-&gt;-&gt;BC </a:t>
            </a:r>
            <a:r>
              <a:rPr sz="2400" spc="-5" dirty="0">
                <a:latin typeface="Tahoma"/>
                <a:cs typeface="Tahoma"/>
              </a:rPr>
              <a:t>(first</a:t>
            </a:r>
            <a:r>
              <a:rPr sz="2400" spc="-20" dirty="0">
                <a:latin typeface="Tahoma"/>
                <a:cs typeface="Tahoma"/>
              </a:rPr>
              <a:t> row’s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ts val="2950"/>
              </a:lnSpc>
            </a:pPr>
            <a:r>
              <a:rPr sz="2500" i="1" spc="-70" dirty="0">
                <a:latin typeface="Tahoma"/>
                <a:cs typeface="Tahoma"/>
              </a:rPr>
              <a:t>D </a:t>
            </a:r>
            <a:r>
              <a:rPr sz="2400" spc="-5" dirty="0">
                <a:latin typeface="Tahoma"/>
                <a:cs typeface="Tahoma"/>
              </a:rPr>
              <a:t>with second </a:t>
            </a:r>
            <a:r>
              <a:rPr sz="2400" spc="-20" dirty="0">
                <a:latin typeface="Tahoma"/>
                <a:cs typeface="Tahoma"/>
              </a:rPr>
              <a:t>row’s</a:t>
            </a:r>
            <a:r>
              <a:rPr sz="2400" spc="-160" dirty="0">
                <a:latin typeface="Tahoma"/>
                <a:cs typeface="Tahoma"/>
              </a:rPr>
              <a:t> </a:t>
            </a:r>
            <a:r>
              <a:rPr sz="2500" i="1" spc="-265" dirty="0">
                <a:latin typeface="Tahoma"/>
                <a:cs typeface="Tahoma"/>
              </a:rPr>
              <a:t>BC</a:t>
            </a:r>
            <a:r>
              <a:rPr sz="2400" spc="-265" dirty="0">
                <a:latin typeface="Tahoma"/>
                <a:cs typeface="Tahoma"/>
              </a:rPr>
              <a:t>).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91069" y="4953000"/>
            <a:ext cx="388620" cy="840740"/>
          </a:xfrm>
          <a:custGeom>
            <a:avLst/>
            <a:gdLst/>
            <a:ahLst/>
            <a:cxnLst/>
            <a:rect l="l" t="t" r="r" b="b"/>
            <a:pathLst>
              <a:path w="388619" h="840739">
                <a:moveTo>
                  <a:pt x="349454" y="67399"/>
                </a:moveTo>
                <a:lnTo>
                  <a:pt x="319112" y="53606"/>
                </a:lnTo>
                <a:lnTo>
                  <a:pt x="385330" y="0"/>
                </a:lnTo>
                <a:lnTo>
                  <a:pt x="387182" y="50050"/>
                </a:lnTo>
                <a:lnTo>
                  <a:pt x="357339" y="50050"/>
                </a:lnTo>
                <a:lnTo>
                  <a:pt x="349454" y="67399"/>
                </a:lnTo>
                <a:close/>
              </a:path>
              <a:path w="388619" h="840739">
                <a:moveTo>
                  <a:pt x="358130" y="71343"/>
                </a:moveTo>
                <a:lnTo>
                  <a:pt x="349454" y="67399"/>
                </a:lnTo>
                <a:lnTo>
                  <a:pt x="357339" y="50050"/>
                </a:lnTo>
                <a:lnTo>
                  <a:pt x="366014" y="54000"/>
                </a:lnTo>
                <a:lnTo>
                  <a:pt x="358130" y="71343"/>
                </a:lnTo>
                <a:close/>
              </a:path>
              <a:path w="388619" h="840739">
                <a:moveTo>
                  <a:pt x="388480" y="85140"/>
                </a:moveTo>
                <a:lnTo>
                  <a:pt x="358130" y="71343"/>
                </a:lnTo>
                <a:lnTo>
                  <a:pt x="366014" y="54000"/>
                </a:lnTo>
                <a:lnTo>
                  <a:pt x="357339" y="50050"/>
                </a:lnTo>
                <a:lnTo>
                  <a:pt x="387182" y="50050"/>
                </a:lnTo>
                <a:lnTo>
                  <a:pt x="388480" y="85140"/>
                </a:lnTo>
                <a:close/>
              </a:path>
              <a:path w="388619" h="840739">
                <a:moveTo>
                  <a:pt x="8661" y="840168"/>
                </a:moveTo>
                <a:lnTo>
                  <a:pt x="0" y="836231"/>
                </a:lnTo>
                <a:lnTo>
                  <a:pt x="349454" y="67399"/>
                </a:lnTo>
                <a:lnTo>
                  <a:pt x="358130" y="71343"/>
                </a:lnTo>
                <a:lnTo>
                  <a:pt x="8661" y="8401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284237" y="3113788"/>
            <a:ext cx="967740" cy="1778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>
              <a:lnSpc>
                <a:spcPct val="114599"/>
              </a:lnSpc>
              <a:spcBef>
                <a:spcPts val="95"/>
              </a:spcBef>
              <a:tabLst>
                <a:tab pos="570865" algn="l"/>
              </a:tabLst>
            </a:pPr>
            <a:r>
              <a:rPr sz="3350" i="1" spc="-545" dirty="0">
                <a:latin typeface="Tahoma"/>
                <a:cs typeface="Tahoma"/>
              </a:rPr>
              <a:t>c</a:t>
            </a:r>
            <a:r>
              <a:rPr sz="3075" spc="-817" baseline="-17615" dirty="0">
                <a:latin typeface="Tahoma"/>
                <a:cs typeface="Tahoma"/>
              </a:rPr>
              <a:t>1	</a:t>
            </a:r>
            <a:r>
              <a:rPr sz="5025" i="1" spc="-817" baseline="-13266" dirty="0">
                <a:latin typeface="Tahoma"/>
                <a:cs typeface="Tahoma"/>
              </a:rPr>
              <a:t>c</a:t>
            </a:r>
            <a:r>
              <a:rPr sz="3075" spc="-817" baseline="-39295" dirty="0">
                <a:latin typeface="Tahoma"/>
                <a:cs typeface="Tahoma"/>
              </a:rPr>
              <a:t>2  </a:t>
            </a:r>
            <a:r>
              <a:rPr sz="3350" i="1" spc="-545" dirty="0">
                <a:latin typeface="Tahoma"/>
                <a:cs typeface="Tahoma"/>
              </a:rPr>
              <a:t>c</a:t>
            </a:r>
            <a:r>
              <a:rPr sz="3075" spc="-817" baseline="-17615" dirty="0">
                <a:latin typeface="Tahoma"/>
                <a:cs typeface="Tahoma"/>
              </a:rPr>
              <a:t>2</a:t>
            </a:r>
            <a:endParaRPr sz="3075" baseline="-17615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570"/>
              </a:spcBef>
            </a:pPr>
            <a:r>
              <a:rPr sz="3350" i="1" spc="-545" dirty="0">
                <a:latin typeface="Tahoma"/>
                <a:cs typeface="Tahoma"/>
              </a:rPr>
              <a:t>c</a:t>
            </a:r>
            <a:r>
              <a:rPr sz="3075" spc="-817" baseline="-17615" dirty="0">
                <a:latin typeface="Tahoma"/>
                <a:cs typeface="Tahoma"/>
              </a:rPr>
              <a:t>2</a:t>
            </a:r>
            <a:endParaRPr sz="3075" baseline="-17615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330278" y="3349828"/>
            <a:ext cx="312420" cy="387350"/>
          </a:xfrm>
          <a:custGeom>
            <a:avLst/>
            <a:gdLst/>
            <a:ahLst/>
            <a:cxnLst/>
            <a:rect l="l" t="t" r="r" b="b"/>
            <a:pathLst>
              <a:path w="312420" h="387350">
                <a:moveTo>
                  <a:pt x="7442" y="386943"/>
                </a:moveTo>
                <a:lnTo>
                  <a:pt x="0" y="381000"/>
                </a:lnTo>
                <a:lnTo>
                  <a:pt x="304800" y="0"/>
                </a:lnTo>
                <a:lnTo>
                  <a:pt x="312242" y="5943"/>
                </a:lnTo>
                <a:lnTo>
                  <a:pt x="7442" y="3869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828665" y="5475922"/>
            <a:ext cx="3173095" cy="112585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38100" marR="30480">
              <a:lnSpc>
                <a:spcPts val="2880"/>
              </a:lnSpc>
              <a:spcBef>
                <a:spcPts val="195"/>
              </a:spcBef>
            </a:pPr>
            <a:r>
              <a:rPr sz="2400" spc="-5" dirty="0">
                <a:latin typeface="Tahoma"/>
                <a:cs typeface="Tahoma"/>
              </a:rPr>
              <a:t>Use </a:t>
            </a:r>
            <a:r>
              <a:rPr sz="2400" spc="-5" dirty="0">
                <a:solidFill>
                  <a:srgbClr val="00CC99"/>
                </a:solidFill>
                <a:latin typeface="Tahoma"/>
                <a:cs typeface="Tahoma"/>
              </a:rPr>
              <a:t>D-&gt;C </a:t>
            </a:r>
            <a:r>
              <a:rPr sz="2400" spc="-5" dirty="0">
                <a:latin typeface="Tahoma"/>
                <a:cs typeface="Tahoma"/>
              </a:rPr>
              <a:t>(first </a:t>
            </a:r>
            <a:r>
              <a:rPr sz="2400" dirty="0">
                <a:latin typeface="Tahoma"/>
                <a:cs typeface="Tahoma"/>
              </a:rPr>
              <a:t>and  </a:t>
            </a:r>
            <a:r>
              <a:rPr sz="2400" spc="-5" dirty="0">
                <a:latin typeface="Tahoma"/>
                <a:cs typeface="Tahoma"/>
              </a:rPr>
              <a:t>third row agree </a:t>
            </a:r>
            <a:r>
              <a:rPr sz="2400" dirty="0">
                <a:latin typeface="Tahoma"/>
                <a:cs typeface="Tahoma"/>
              </a:rPr>
              <a:t>on </a:t>
            </a:r>
            <a:r>
              <a:rPr sz="2500" i="1" spc="-420" dirty="0">
                <a:latin typeface="Tahoma"/>
                <a:cs typeface="Tahoma"/>
              </a:rPr>
              <a:t>D</a:t>
            </a:r>
            <a:r>
              <a:rPr sz="2400" spc="-420" dirty="0">
                <a:latin typeface="Tahoma"/>
                <a:cs typeface="Tahoma"/>
              </a:rPr>
              <a:t>,  </a:t>
            </a:r>
            <a:r>
              <a:rPr sz="2400" spc="-10" dirty="0">
                <a:latin typeface="Tahoma"/>
                <a:cs typeface="Tahoma"/>
              </a:rPr>
              <a:t>therefore </a:t>
            </a:r>
            <a:r>
              <a:rPr sz="2400" spc="-5" dirty="0">
                <a:latin typeface="Tahoma"/>
                <a:cs typeface="Tahoma"/>
              </a:rPr>
              <a:t>agree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380" dirty="0">
                <a:latin typeface="Tahoma"/>
                <a:cs typeface="Tahoma"/>
              </a:rPr>
              <a:t>o</a:t>
            </a:r>
            <a:r>
              <a:rPr sz="2100" spc="-569" baseline="19841" dirty="0">
                <a:latin typeface="Times New Roman"/>
                <a:cs typeface="Times New Roman"/>
              </a:rPr>
              <a:t>2</a:t>
            </a:r>
            <a:r>
              <a:rPr sz="2400" spc="-380" dirty="0">
                <a:latin typeface="Tahoma"/>
                <a:cs typeface="Tahoma"/>
              </a:rPr>
              <a:t>n</a:t>
            </a:r>
            <a:r>
              <a:rPr sz="2100" spc="-569" baseline="19841" dirty="0">
                <a:latin typeface="Times New Roman"/>
                <a:cs typeface="Times New Roman"/>
              </a:rPr>
              <a:t>1</a:t>
            </a:r>
            <a:r>
              <a:rPr sz="2100" spc="502" baseline="19841" dirty="0">
                <a:latin typeface="Times New Roman"/>
                <a:cs typeface="Times New Roman"/>
              </a:rPr>
              <a:t> </a:t>
            </a:r>
            <a:r>
              <a:rPr sz="2500" i="1" spc="-30" dirty="0">
                <a:latin typeface="Tahoma"/>
                <a:cs typeface="Tahoma"/>
              </a:rPr>
              <a:t>C</a:t>
            </a:r>
            <a:r>
              <a:rPr sz="2400" spc="-30" dirty="0">
                <a:latin typeface="Tahoma"/>
                <a:cs typeface="Tahoma"/>
              </a:rPr>
              <a:t>).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779147" y="3810000"/>
            <a:ext cx="550545" cy="1602105"/>
          </a:xfrm>
          <a:custGeom>
            <a:avLst/>
            <a:gdLst/>
            <a:ahLst/>
            <a:cxnLst/>
            <a:rect l="l" t="t" r="r" b="b"/>
            <a:pathLst>
              <a:path w="550545" h="1602104">
                <a:moveTo>
                  <a:pt x="0" y="84340"/>
                </a:moveTo>
                <a:lnTo>
                  <a:pt x="12052" y="0"/>
                </a:lnTo>
                <a:lnTo>
                  <a:pt x="64770" y="52717"/>
                </a:lnTo>
                <a:lnTo>
                  <a:pt x="34645" y="52717"/>
                </a:lnTo>
                <a:lnTo>
                  <a:pt x="25603" y="55727"/>
                </a:lnTo>
                <a:lnTo>
                  <a:pt x="31625" y="73795"/>
                </a:lnTo>
                <a:lnTo>
                  <a:pt x="0" y="84340"/>
                </a:lnTo>
                <a:close/>
              </a:path>
              <a:path w="550545" h="1602104">
                <a:moveTo>
                  <a:pt x="31625" y="73795"/>
                </a:moveTo>
                <a:lnTo>
                  <a:pt x="25603" y="55727"/>
                </a:lnTo>
                <a:lnTo>
                  <a:pt x="34645" y="52717"/>
                </a:lnTo>
                <a:lnTo>
                  <a:pt x="40666" y="70780"/>
                </a:lnTo>
                <a:lnTo>
                  <a:pt x="31625" y="73795"/>
                </a:lnTo>
                <a:close/>
              </a:path>
              <a:path w="550545" h="1602104">
                <a:moveTo>
                  <a:pt x="40666" y="70780"/>
                </a:moveTo>
                <a:lnTo>
                  <a:pt x="34645" y="52717"/>
                </a:lnTo>
                <a:lnTo>
                  <a:pt x="64770" y="52717"/>
                </a:lnTo>
                <a:lnTo>
                  <a:pt x="72288" y="60236"/>
                </a:lnTo>
                <a:lnTo>
                  <a:pt x="40666" y="70780"/>
                </a:lnTo>
                <a:close/>
              </a:path>
              <a:path w="550545" h="1602104">
                <a:moveTo>
                  <a:pt x="540931" y="1601711"/>
                </a:moveTo>
                <a:lnTo>
                  <a:pt x="31625" y="73795"/>
                </a:lnTo>
                <a:lnTo>
                  <a:pt x="40666" y="70780"/>
                </a:lnTo>
                <a:lnTo>
                  <a:pt x="549973" y="1598688"/>
                </a:lnTo>
                <a:lnTo>
                  <a:pt x="540931" y="16017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76259" y="6270625"/>
            <a:ext cx="20383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Times New Roman"/>
                <a:cs typeface="Times New Roman"/>
              </a:rPr>
              <a:t>2</a:t>
            </a:r>
            <a:r>
              <a:rPr sz="1400" dirty="0">
                <a:latin typeface="Times New Roman"/>
                <a:cs typeface="Times New Roman"/>
              </a:rPr>
              <a:t>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8295" y="829944"/>
            <a:ext cx="84874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</a:t>
            </a:r>
            <a:r>
              <a:rPr spc="-55" dirty="0"/>
              <a:t>Transitive </a:t>
            </a:r>
            <a:r>
              <a:rPr spc="-10" dirty="0"/>
              <a:t>Law </a:t>
            </a:r>
            <a:r>
              <a:rPr spc="-20" dirty="0"/>
              <a:t>for</a:t>
            </a:r>
            <a:r>
              <a:rPr spc="20" dirty="0"/>
              <a:t> </a:t>
            </a:r>
            <a:r>
              <a:rPr spc="-35" dirty="0"/>
              <a:t>MVD’s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1914795"/>
            <a:ext cx="7305040" cy="2492375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If </a:t>
            </a:r>
            <a:r>
              <a:rPr sz="3200" spc="-15" dirty="0">
                <a:solidFill>
                  <a:srgbClr val="3333CC"/>
                </a:solidFill>
                <a:latin typeface="Tahoma"/>
                <a:cs typeface="Tahoma"/>
              </a:rPr>
              <a:t>A-&gt;-&gt;B </a:t>
            </a:r>
            <a:r>
              <a:rPr sz="3200" spc="-5" dirty="0">
                <a:latin typeface="Tahoma"/>
                <a:cs typeface="Tahoma"/>
              </a:rPr>
              <a:t>and </a:t>
            </a:r>
            <a:r>
              <a:rPr sz="3200" dirty="0">
                <a:solidFill>
                  <a:srgbClr val="3333CC"/>
                </a:solidFill>
                <a:latin typeface="Tahoma"/>
                <a:cs typeface="Tahoma"/>
              </a:rPr>
              <a:t>B-&gt;-&gt;C</a:t>
            </a:r>
            <a:r>
              <a:rPr sz="3200" dirty="0">
                <a:latin typeface="Tahoma"/>
                <a:cs typeface="Tahoma"/>
              </a:rPr>
              <a:t>, </a:t>
            </a:r>
            <a:r>
              <a:rPr sz="3200" spc="-5" dirty="0">
                <a:latin typeface="Tahoma"/>
                <a:cs typeface="Tahoma"/>
              </a:rPr>
              <a:t>then </a:t>
            </a:r>
            <a:r>
              <a:rPr sz="3200" spc="-15" dirty="0">
                <a:solidFill>
                  <a:srgbClr val="3333CC"/>
                </a:solidFill>
                <a:latin typeface="Tahoma"/>
                <a:cs typeface="Tahoma"/>
              </a:rPr>
              <a:t>A-&gt;-&gt;C</a:t>
            </a:r>
            <a:r>
              <a:rPr sz="3200" spc="-15" dirty="0">
                <a:latin typeface="Tahoma"/>
                <a:cs typeface="Tahoma"/>
              </a:rPr>
              <a:t>.</a:t>
            </a:r>
            <a:endParaRPr sz="3200" dirty="0">
              <a:latin typeface="Tahoma"/>
              <a:cs typeface="Tahoma"/>
            </a:endParaRPr>
          </a:p>
          <a:p>
            <a:pPr marL="755650" marR="5080" lvl="1" indent="-285750">
              <a:lnSpc>
                <a:spcPts val="3360"/>
              </a:lnSpc>
              <a:spcBef>
                <a:spcPts val="78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Obvious </a:t>
            </a:r>
            <a:r>
              <a:rPr sz="2800" spc="-15" dirty="0">
                <a:latin typeface="Tahoma"/>
                <a:cs typeface="Tahoma"/>
              </a:rPr>
              <a:t>from </a:t>
            </a:r>
            <a:r>
              <a:rPr sz="2800" spc="-5" dirty="0">
                <a:latin typeface="Tahoma"/>
                <a:cs typeface="Tahoma"/>
              </a:rPr>
              <a:t>the complementation rule </a:t>
            </a:r>
            <a:r>
              <a:rPr sz="2800" dirty="0">
                <a:latin typeface="Tahoma"/>
                <a:cs typeface="Tahoma"/>
              </a:rPr>
              <a:t>if  </a:t>
            </a:r>
            <a:r>
              <a:rPr sz="2800" spc="-5" dirty="0">
                <a:latin typeface="Tahoma"/>
                <a:cs typeface="Tahoma"/>
              </a:rPr>
              <a:t>the Schema is</a:t>
            </a:r>
            <a:r>
              <a:rPr sz="2800" spc="-180" dirty="0">
                <a:latin typeface="Tahoma"/>
                <a:cs typeface="Tahoma"/>
              </a:rPr>
              <a:t> </a:t>
            </a:r>
            <a:r>
              <a:rPr sz="2900" i="1" spc="-810" dirty="0">
                <a:latin typeface="Tahoma"/>
                <a:cs typeface="Tahoma"/>
              </a:rPr>
              <a:t>ABC</a:t>
            </a:r>
            <a:r>
              <a:rPr sz="2800" spc="-810" dirty="0">
                <a:latin typeface="Tahoma"/>
                <a:cs typeface="Tahoma"/>
              </a:rPr>
              <a:t>.</a:t>
            </a:r>
            <a:endParaRPr sz="2800" dirty="0">
              <a:latin typeface="Tahoma"/>
              <a:cs typeface="Tahoma"/>
            </a:endParaRPr>
          </a:p>
          <a:p>
            <a:pPr marL="755650" marR="190500" lvl="1" indent="-285750">
              <a:lnSpc>
                <a:spcPts val="336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Tahoma"/>
                <a:cs typeface="Tahoma"/>
              </a:rPr>
              <a:t>But it </a:t>
            </a:r>
            <a:r>
              <a:rPr sz="2800" spc="-5" dirty="0">
                <a:latin typeface="Tahoma"/>
                <a:cs typeface="Tahoma"/>
              </a:rPr>
              <a:t>holds no </a:t>
            </a:r>
            <a:r>
              <a:rPr sz="2800" spc="-10" dirty="0">
                <a:latin typeface="Tahoma"/>
                <a:cs typeface="Tahoma"/>
              </a:rPr>
              <a:t>matter </a:t>
            </a:r>
            <a:r>
              <a:rPr sz="2800" spc="-5" dirty="0">
                <a:latin typeface="Tahoma"/>
                <a:cs typeface="Tahoma"/>
              </a:rPr>
              <a:t>what the schema;  </a:t>
            </a:r>
            <a:r>
              <a:rPr sz="2800" spc="10" dirty="0">
                <a:latin typeface="Tahoma"/>
                <a:cs typeface="Tahoma"/>
              </a:rPr>
              <a:t>we’ll </a:t>
            </a:r>
            <a:r>
              <a:rPr sz="2800" spc="-5" dirty="0">
                <a:latin typeface="Tahoma"/>
                <a:cs typeface="Tahoma"/>
              </a:rPr>
              <a:t>assume</a:t>
            </a:r>
            <a:r>
              <a:rPr sz="2800" spc="-200" dirty="0">
                <a:latin typeface="Tahoma"/>
                <a:cs typeface="Tahoma"/>
              </a:rPr>
              <a:t> </a:t>
            </a:r>
            <a:r>
              <a:rPr sz="2900" i="1" spc="-880" dirty="0">
                <a:latin typeface="Tahoma"/>
                <a:cs typeface="Tahoma"/>
              </a:rPr>
              <a:t>ABCD</a:t>
            </a:r>
            <a:r>
              <a:rPr sz="2800" spc="-880" dirty="0">
                <a:latin typeface="Tahoma"/>
                <a:cs typeface="Tahoma"/>
              </a:rPr>
              <a:t>.</a:t>
            </a:r>
            <a:endParaRPr sz="2800" dirty="0">
              <a:latin typeface="Tahoma"/>
              <a:cs typeface="Tahom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5C3540DD-461B-CD63-7CC7-B872A44B7A34}"/>
                  </a:ext>
                </a:extLst>
              </p14:cNvPr>
              <p14:cNvContentPartPr/>
              <p14:nvPr/>
            </p14:nvContentPartPr>
            <p14:xfrm>
              <a:off x="75339" y="754031"/>
              <a:ext cx="9454320" cy="94752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5C3540DD-461B-CD63-7CC7-B872A44B7A3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699" y="646031"/>
                <a:ext cx="9561960" cy="1163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07819" y="829944"/>
            <a:ext cx="59289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The </a:t>
            </a:r>
            <a:r>
              <a:rPr spc="-75" dirty="0"/>
              <a:t>Tableau </a:t>
            </a:r>
            <a:r>
              <a:rPr spc="-20" dirty="0"/>
              <a:t>for</a:t>
            </a:r>
            <a:r>
              <a:rPr spc="20" dirty="0"/>
              <a:t> </a:t>
            </a:r>
            <a:r>
              <a:rPr spc="-20" dirty="0">
                <a:solidFill>
                  <a:srgbClr val="3333CC"/>
                </a:solidFill>
              </a:rPr>
              <a:t>A-&gt;-&gt;C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524000" y="2633781"/>
          <a:ext cx="6172833" cy="17126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6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6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13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85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618">
                <a:tc>
                  <a:txBody>
                    <a:bodyPr/>
                    <a:lstStyle/>
                    <a:p>
                      <a:pPr marL="140335">
                        <a:lnSpc>
                          <a:spcPts val="3875"/>
                        </a:lnSpc>
                      </a:pPr>
                      <a:r>
                        <a:rPr sz="3350" i="1" dirty="0">
                          <a:latin typeface="Tahoma"/>
                          <a:cs typeface="Tahoma"/>
                        </a:rPr>
                        <a:t>A</a:t>
                      </a:r>
                      <a:endParaRPr sz="33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875"/>
                        </a:lnSpc>
                      </a:pPr>
                      <a:r>
                        <a:rPr sz="3350" i="1" dirty="0">
                          <a:latin typeface="Tahoma"/>
                          <a:cs typeface="Tahoma"/>
                        </a:rPr>
                        <a:t>B</a:t>
                      </a:r>
                      <a:endParaRPr sz="33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3875"/>
                        </a:lnSpc>
                      </a:pPr>
                      <a:r>
                        <a:rPr sz="3350" i="1" dirty="0">
                          <a:latin typeface="Tahoma"/>
                          <a:cs typeface="Tahoma"/>
                        </a:rPr>
                        <a:t>C</a:t>
                      </a:r>
                      <a:endParaRPr sz="33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4139" algn="r">
                        <a:lnSpc>
                          <a:spcPts val="3875"/>
                        </a:lnSpc>
                      </a:pPr>
                      <a:r>
                        <a:rPr sz="3350" i="1" dirty="0">
                          <a:latin typeface="Tahoma"/>
                          <a:cs typeface="Tahoma"/>
                        </a:rPr>
                        <a:t>D</a:t>
                      </a:r>
                      <a:endParaRPr sz="33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105">
                <a:tc>
                  <a:txBody>
                    <a:bodyPr/>
                    <a:lstStyle/>
                    <a:p>
                      <a:pPr marL="140335">
                        <a:lnSpc>
                          <a:spcPct val="100000"/>
                        </a:lnSpc>
                      </a:pPr>
                      <a:r>
                        <a:rPr sz="3350" i="1" dirty="0">
                          <a:latin typeface="Tahoma"/>
                          <a:cs typeface="Tahoma"/>
                        </a:rPr>
                        <a:t>a</a:t>
                      </a:r>
                      <a:endParaRPr sz="33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3350" i="1" spc="-550" dirty="0">
                          <a:latin typeface="Tahoma"/>
                          <a:cs typeface="Tahoma"/>
                        </a:rPr>
                        <a:t>b</a:t>
                      </a:r>
                      <a:r>
                        <a:rPr sz="3075" spc="-825" baseline="-17615" dirty="0">
                          <a:latin typeface="Tahoma"/>
                          <a:cs typeface="Tahoma"/>
                        </a:rPr>
                        <a:t>1</a:t>
                      </a:r>
                      <a:endParaRPr sz="3075" baseline="-17615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3655" algn="ctr">
                        <a:lnSpc>
                          <a:spcPct val="100000"/>
                        </a:lnSpc>
                      </a:pPr>
                      <a:r>
                        <a:rPr sz="3350" i="1" spc="-545" dirty="0">
                          <a:latin typeface="Tahoma"/>
                          <a:cs typeface="Tahoma"/>
                        </a:rPr>
                        <a:t>c</a:t>
                      </a:r>
                      <a:r>
                        <a:rPr sz="3075" spc="-817" baseline="-17615" dirty="0">
                          <a:latin typeface="Tahoma"/>
                          <a:cs typeface="Tahoma"/>
                        </a:rPr>
                        <a:t>1</a:t>
                      </a:r>
                      <a:endParaRPr sz="3075" baseline="-17615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41605" algn="r">
                        <a:lnSpc>
                          <a:spcPct val="100000"/>
                        </a:lnSpc>
                      </a:pPr>
                      <a:r>
                        <a:rPr sz="3350" i="1" spc="-1030" dirty="0">
                          <a:latin typeface="Tahoma"/>
                          <a:cs typeface="Tahoma"/>
                        </a:rPr>
                        <a:t>d</a:t>
                      </a:r>
                      <a:r>
                        <a:rPr sz="3075" baseline="-17615" dirty="0">
                          <a:latin typeface="Tahoma"/>
                          <a:cs typeface="Tahoma"/>
                        </a:rPr>
                        <a:t>1</a:t>
                      </a:r>
                      <a:endParaRPr sz="3075" baseline="-17615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888">
                <a:tc>
                  <a:txBody>
                    <a:bodyPr/>
                    <a:lstStyle/>
                    <a:p>
                      <a:pPr marL="14033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3350" i="1" dirty="0">
                          <a:latin typeface="Tahoma"/>
                          <a:cs typeface="Tahoma"/>
                        </a:rPr>
                        <a:t>a</a:t>
                      </a:r>
                      <a:endParaRPr sz="3350">
                        <a:latin typeface="Tahoma"/>
                        <a:cs typeface="Tahoma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3350" i="1" spc="-550" dirty="0">
                          <a:latin typeface="Tahoma"/>
                          <a:cs typeface="Tahoma"/>
                        </a:rPr>
                        <a:t>b</a:t>
                      </a:r>
                      <a:r>
                        <a:rPr sz="3075" spc="-825" baseline="-17615" dirty="0">
                          <a:latin typeface="Tahoma"/>
                          <a:cs typeface="Tahoma"/>
                        </a:rPr>
                        <a:t>2</a:t>
                      </a:r>
                      <a:endParaRPr sz="3075" baseline="-17615">
                        <a:latin typeface="Tahoma"/>
                        <a:cs typeface="Tahoma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R="33655"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3350" i="1" spc="-545" dirty="0">
                          <a:latin typeface="Tahoma"/>
                          <a:cs typeface="Tahoma"/>
                        </a:rPr>
                        <a:t>c</a:t>
                      </a:r>
                      <a:r>
                        <a:rPr sz="3075" spc="-817" baseline="-17615" dirty="0">
                          <a:latin typeface="Tahoma"/>
                          <a:cs typeface="Tahoma"/>
                        </a:rPr>
                        <a:t>2</a:t>
                      </a:r>
                      <a:endParaRPr sz="3075" baseline="-17615">
                        <a:latin typeface="Tahoma"/>
                        <a:cs typeface="Tahoma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R="141605" algn="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3350" i="1" spc="-1030" dirty="0">
                          <a:latin typeface="Tahoma"/>
                          <a:cs typeface="Tahoma"/>
                        </a:rPr>
                        <a:t>d</a:t>
                      </a:r>
                      <a:r>
                        <a:rPr sz="3075" baseline="-17615" dirty="0">
                          <a:latin typeface="Tahoma"/>
                          <a:cs typeface="Tahoma"/>
                        </a:rPr>
                        <a:t>2</a:t>
                      </a:r>
                      <a:endParaRPr sz="3075" baseline="-17615">
                        <a:latin typeface="Tahoma"/>
                        <a:cs typeface="Tahoma"/>
                      </a:endParaRPr>
                    </a:p>
                  </a:txBody>
                  <a:tcPr marL="0" marR="0" marT="254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599440" y="1764017"/>
            <a:ext cx="5446395" cy="5384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</a:pPr>
            <a:r>
              <a:rPr sz="3200" spc="-5" dirty="0">
                <a:solidFill>
                  <a:srgbClr val="3366FF"/>
                </a:solidFill>
                <a:latin typeface="Tahoma"/>
                <a:cs typeface="Tahoma"/>
              </a:rPr>
              <a:t>Goal</a:t>
            </a:r>
            <a:r>
              <a:rPr sz="3200" spc="-5" dirty="0">
                <a:latin typeface="Tahoma"/>
                <a:cs typeface="Tahoma"/>
              </a:rPr>
              <a:t>: </a:t>
            </a:r>
            <a:r>
              <a:rPr sz="3200" spc="-10" dirty="0">
                <a:latin typeface="Tahoma"/>
                <a:cs typeface="Tahoma"/>
              </a:rPr>
              <a:t>derive </a:t>
            </a:r>
            <a:r>
              <a:rPr sz="3200" spc="-5" dirty="0">
                <a:latin typeface="Tahoma"/>
                <a:cs typeface="Tahoma"/>
              </a:rPr>
              <a:t>tuple</a:t>
            </a:r>
            <a:r>
              <a:rPr sz="3200" dirty="0">
                <a:latin typeface="Tahoma"/>
                <a:cs typeface="Tahoma"/>
              </a:rPr>
              <a:t> </a:t>
            </a:r>
            <a:r>
              <a:rPr sz="3200" spc="-640" dirty="0">
                <a:latin typeface="Tahoma"/>
                <a:cs typeface="Tahoma"/>
              </a:rPr>
              <a:t>(</a:t>
            </a:r>
            <a:r>
              <a:rPr sz="3350" i="1" spc="-640" dirty="0">
                <a:latin typeface="Tahoma"/>
                <a:cs typeface="Tahoma"/>
              </a:rPr>
              <a:t>a,b</a:t>
            </a:r>
            <a:r>
              <a:rPr sz="3075" spc="-960" baseline="-17615" dirty="0">
                <a:latin typeface="Tahoma"/>
                <a:cs typeface="Tahoma"/>
              </a:rPr>
              <a:t>1</a:t>
            </a:r>
            <a:r>
              <a:rPr sz="3350" i="1" spc="-640" dirty="0">
                <a:latin typeface="Tahoma"/>
                <a:cs typeface="Tahoma"/>
              </a:rPr>
              <a:t>,c</a:t>
            </a:r>
            <a:r>
              <a:rPr sz="3075" spc="-960" baseline="-17615" dirty="0">
                <a:latin typeface="Tahoma"/>
                <a:cs typeface="Tahoma"/>
              </a:rPr>
              <a:t>2</a:t>
            </a:r>
            <a:r>
              <a:rPr sz="3350" i="1" spc="-640" dirty="0">
                <a:latin typeface="Tahoma"/>
                <a:cs typeface="Tahoma"/>
              </a:rPr>
              <a:t>,d</a:t>
            </a:r>
            <a:r>
              <a:rPr sz="3075" spc="-960" baseline="-17615" dirty="0">
                <a:latin typeface="Tahoma"/>
                <a:cs typeface="Tahoma"/>
              </a:rPr>
              <a:t>1</a:t>
            </a:r>
            <a:r>
              <a:rPr sz="3200" spc="-640" dirty="0">
                <a:latin typeface="Tahoma"/>
                <a:cs typeface="Tahoma"/>
              </a:rPr>
              <a:t>).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7340" y="5732159"/>
            <a:ext cx="3924300" cy="77216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>
              <a:lnSpc>
                <a:spcPts val="2880"/>
              </a:lnSpc>
              <a:spcBef>
                <a:spcPts val="315"/>
              </a:spcBef>
            </a:pPr>
            <a:r>
              <a:rPr sz="2400" spc="-5" dirty="0">
                <a:latin typeface="Tahoma"/>
                <a:cs typeface="Tahoma"/>
              </a:rPr>
              <a:t>Use </a:t>
            </a:r>
            <a:r>
              <a:rPr sz="2400" spc="-15" dirty="0">
                <a:solidFill>
                  <a:srgbClr val="3333CC"/>
                </a:solidFill>
                <a:latin typeface="Tahoma"/>
                <a:cs typeface="Tahoma"/>
              </a:rPr>
              <a:t>A-&gt;-&gt;B </a:t>
            </a:r>
            <a:r>
              <a:rPr sz="2400" dirty="0">
                <a:latin typeface="Tahoma"/>
                <a:cs typeface="Tahoma"/>
              </a:rPr>
              <a:t>to </a:t>
            </a:r>
            <a:r>
              <a:rPr sz="2400" spc="-10" dirty="0">
                <a:latin typeface="Tahoma"/>
                <a:cs typeface="Tahoma"/>
              </a:rPr>
              <a:t>swap </a:t>
            </a:r>
            <a:r>
              <a:rPr sz="2500" i="1" spc="-60" dirty="0">
                <a:latin typeface="Tahoma"/>
                <a:cs typeface="Tahoma"/>
              </a:rPr>
              <a:t>B </a:t>
            </a:r>
            <a:r>
              <a:rPr sz="2400" spc="-10" dirty="0">
                <a:latin typeface="Tahoma"/>
                <a:cs typeface="Tahoma"/>
              </a:rPr>
              <a:t>from  </a:t>
            </a:r>
            <a:r>
              <a:rPr sz="2400" dirty="0">
                <a:latin typeface="Tahoma"/>
                <a:cs typeface="Tahoma"/>
              </a:rPr>
              <a:t>the </a:t>
            </a:r>
            <a:r>
              <a:rPr sz="2400" spc="-5" dirty="0">
                <a:latin typeface="Tahoma"/>
                <a:cs typeface="Tahoma"/>
              </a:rPr>
              <a:t>first row </a:t>
            </a:r>
            <a:r>
              <a:rPr sz="2400" dirty="0">
                <a:latin typeface="Tahoma"/>
                <a:cs typeface="Tahoma"/>
              </a:rPr>
              <a:t>into the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second.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519402" y="4800600"/>
            <a:ext cx="250190" cy="839469"/>
          </a:xfrm>
          <a:custGeom>
            <a:avLst/>
            <a:gdLst/>
            <a:ahLst/>
            <a:cxnLst/>
            <a:rect l="l" t="t" r="r" b="b"/>
            <a:pathLst>
              <a:path w="250189" h="839470">
                <a:moveTo>
                  <a:pt x="208552" y="72259"/>
                </a:moveTo>
                <a:lnTo>
                  <a:pt x="176390" y="63487"/>
                </a:lnTo>
                <a:lnTo>
                  <a:pt x="233197" y="0"/>
                </a:lnTo>
                <a:lnTo>
                  <a:pt x="243977" y="53886"/>
                </a:lnTo>
                <a:lnTo>
                  <a:pt x="213563" y="53886"/>
                </a:lnTo>
                <a:lnTo>
                  <a:pt x="208552" y="72259"/>
                </a:lnTo>
                <a:close/>
              </a:path>
              <a:path w="250189" h="839470">
                <a:moveTo>
                  <a:pt x="217745" y="74767"/>
                </a:moveTo>
                <a:lnTo>
                  <a:pt x="208552" y="72259"/>
                </a:lnTo>
                <a:lnTo>
                  <a:pt x="213563" y="53886"/>
                </a:lnTo>
                <a:lnTo>
                  <a:pt x="222757" y="56387"/>
                </a:lnTo>
                <a:lnTo>
                  <a:pt x="217745" y="74767"/>
                </a:lnTo>
                <a:close/>
              </a:path>
              <a:path w="250189" h="839470">
                <a:moveTo>
                  <a:pt x="249910" y="83540"/>
                </a:moveTo>
                <a:lnTo>
                  <a:pt x="217745" y="74767"/>
                </a:lnTo>
                <a:lnTo>
                  <a:pt x="222757" y="56387"/>
                </a:lnTo>
                <a:lnTo>
                  <a:pt x="213563" y="53886"/>
                </a:lnTo>
                <a:lnTo>
                  <a:pt x="243977" y="53886"/>
                </a:lnTo>
                <a:lnTo>
                  <a:pt x="249910" y="83540"/>
                </a:lnTo>
                <a:close/>
              </a:path>
              <a:path w="250189" h="839470">
                <a:moveTo>
                  <a:pt x="9194" y="839457"/>
                </a:moveTo>
                <a:lnTo>
                  <a:pt x="0" y="836942"/>
                </a:lnTo>
                <a:lnTo>
                  <a:pt x="208552" y="72259"/>
                </a:lnTo>
                <a:lnTo>
                  <a:pt x="217745" y="74767"/>
                </a:lnTo>
                <a:lnTo>
                  <a:pt x="9194" y="8394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652037" y="4277347"/>
            <a:ext cx="396875" cy="10718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105"/>
              </a:spcBef>
            </a:pPr>
            <a:r>
              <a:rPr sz="3350" i="1" spc="-80" dirty="0">
                <a:latin typeface="Tahoma"/>
                <a:cs typeface="Tahoma"/>
              </a:rPr>
              <a:t>a  a</a:t>
            </a:r>
            <a:endParaRPr sz="335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55437" y="4277347"/>
            <a:ext cx="471805" cy="10718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30480">
              <a:lnSpc>
                <a:spcPts val="4200"/>
              </a:lnSpc>
              <a:spcBef>
                <a:spcPts val="105"/>
              </a:spcBef>
            </a:pPr>
            <a:r>
              <a:rPr sz="3350" i="1" spc="-550" dirty="0">
                <a:latin typeface="Tahoma"/>
                <a:cs typeface="Tahoma"/>
              </a:rPr>
              <a:t>b</a:t>
            </a:r>
            <a:r>
              <a:rPr sz="3075" spc="-825" baseline="-17615" dirty="0">
                <a:latin typeface="Tahoma"/>
                <a:cs typeface="Tahoma"/>
              </a:rPr>
              <a:t>1  </a:t>
            </a:r>
            <a:r>
              <a:rPr sz="3350" i="1" spc="-550" dirty="0">
                <a:latin typeface="Tahoma"/>
                <a:cs typeface="Tahoma"/>
              </a:rPr>
              <a:t>b</a:t>
            </a:r>
            <a:r>
              <a:rPr sz="3075" spc="-825" baseline="-17615" dirty="0">
                <a:latin typeface="Tahoma"/>
                <a:cs typeface="Tahoma"/>
              </a:rPr>
              <a:t>1</a:t>
            </a:r>
            <a:endParaRPr sz="3075" baseline="-17615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84237" y="4277347"/>
            <a:ext cx="434340" cy="10718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30480">
              <a:lnSpc>
                <a:spcPts val="4200"/>
              </a:lnSpc>
              <a:spcBef>
                <a:spcPts val="105"/>
              </a:spcBef>
            </a:pPr>
            <a:r>
              <a:rPr sz="3350" i="1" spc="-545" dirty="0">
                <a:latin typeface="Tahoma"/>
                <a:cs typeface="Tahoma"/>
              </a:rPr>
              <a:t>c</a:t>
            </a:r>
            <a:r>
              <a:rPr sz="3075" spc="-817" baseline="-17615" dirty="0">
                <a:latin typeface="Tahoma"/>
                <a:cs typeface="Tahoma"/>
              </a:rPr>
              <a:t>2  </a:t>
            </a:r>
            <a:r>
              <a:rPr sz="3350" i="1" spc="-545" dirty="0">
                <a:latin typeface="Tahoma"/>
                <a:cs typeface="Tahoma"/>
              </a:rPr>
              <a:t>c</a:t>
            </a:r>
            <a:r>
              <a:rPr sz="3075" spc="-817" baseline="-17615" dirty="0">
                <a:latin typeface="Tahoma"/>
                <a:cs typeface="Tahoma"/>
              </a:rPr>
              <a:t>2</a:t>
            </a:r>
            <a:endParaRPr sz="3075" baseline="-17615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13037" y="4277347"/>
            <a:ext cx="471805" cy="10718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30480">
              <a:lnSpc>
                <a:spcPts val="4200"/>
              </a:lnSpc>
              <a:spcBef>
                <a:spcPts val="105"/>
              </a:spcBef>
            </a:pPr>
            <a:r>
              <a:rPr sz="3350" i="1" spc="-550" dirty="0">
                <a:latin typeface="Tahoma"/>
                <a:cs typeface="Tahoma"/>
              </a:rPr>
              <a:t>d</a:t>
            </a:r>
            <a:r>
              <a:rPr sz="3075" spc="-825" baseline="-17615" dirty="0">
                <a:latin typeface="Tahoma"/>
                <a:cs typeface="Tahoma"/>
              </a:rPr>
              <a:t>2  </a:t>
            </a:r>
            <a:r>
              <a:rPr sz="3350" i="1" spc="-550" dirty="0">
                <a:latin typeface="Tahoma"/>
                <a:cs typeface="Tahoma"/>
              </a:rPr>
              <a:t>d</a:t>
            </a:r>
            <a:r>
              <a:rPr sz="3075" spc="-825" baseline="-17615" dirty="0">
                <a:latin typeface="Tahoma"/>
                <a:cs typeface="Tahoma"/>
              </a:rPr>
              <a:t>1</a:t>
            </a:r>
            <a:endParaRPr sz="3075" baseline="-17615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38065" y="5689296"/>
            <a:ext cx="3935729" cy="77216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38100" marR="30480">
              <a:lnSpc>
                <a:spcPts val="2880"/>
              </a:lnSpc>
              <a:spcBef>
                <a:spcPts val="315"/>
              </a:spcBef>
            </a:pPr>
            <a:r>
              <a:rPr sz="2400" spc="-5" dirty="0">
                <a:latin typeface="Tahoma"/>
                <a:cs typeface="Tahoma"/>
              </a:rPr>
              <a:t>Use </a:t>
            </a:r>
            <a:r>
              <a:rPr sz="2400" spc="-5" dirty="0">
                <a:solidFill>
                  <a:srgbClr val="3333CC"/>
                </a:solidFill>
                <a:latin typeface="Tahoma"/>
                <a:cs typeface="Tahoma"/>
              </a:rPr>
              <a:t>B-&gt;-&gt;C </a:t>
            </a:r>
            <a:r>
              <a:rPr sz="2400" dirty="0">
                <a:latin typeface="Tahoma"/>
                <a:cs typeface="Tahoma"/>
              </a:rPr>
              <a:t>to </a:t>
            </a:r>
            <a:r>
              <a:rPr sz="2400" spc="-10" dirty="0">
                <a:latin typeface="Tahoma"/>
                <a:cs typeface="Tahoma"/>
              </a:rPr>
              <a:t>swap </a:t>
            </a:r>
            <a:r>
              <a:rPr sz="2500" i="1" spc="-65" dirty="0">
                <a:latin typeface="Tahoma"/>
                <a:cs typeface="Tahoma"/>
              </a:rPr>
              <a:t>C </a:t>
            </a:r>
            <a:r>
              <a:rPr sz="2400" spc="-10" dirty="0">
                <a:latin typeface="Tahoma"/>
                <a:cs typeface="Tahoma"/>
              </a:rPr>
              <a:t>from  </a:t>
            </a:r>
            <a:r>
              <a:rPr sz="2400" dirty="0">
                <a:latin typeface="Tahoma"/>
                <a:cs typeface="Tahoma"/>
              </a:rPr>
              <a:t>the </a:t>
            </a:r>
            <a:r>
              <a:rPr sz="2400" spc="-5" dirty="0">
                <a:latin typeface="Tahoma"/>
                <a:cs typeface="Tahoma"/>
              </a:rPr>
              <a:t>third row </a:t>
            </a:r>
            <a:r>
              <a:rPr sz="2400" dirty="0">
                <a:latin typeface="Tahoma"/>
                <a:cs typeface="Tahoma"/>
              </a:rPr>
              <a:t>into the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spc="-180" dirty="0">
                <a:latin typeface="Tahoma"/>
                <a:cs typeface="Tahoma"/>
              </a:rPr>
              <a:t>firs</a:t>
            </a:r>
            <a:r>
              <a:rPr sz="2100" spc="-270" baseline="-23809" dirty="0">
                <a:latin typeface="Times New Roman"/>
                <a:cs typeface="Times New Roman"/>
              </a:rPr>
              <a:t>2</a:t>
            </a:r>
            <a:r>
              <a:rPr sz="2400" spc="-180" dirty="0">
                <a:latin typeface="Tahoma"/>
                <a:cs typeface="Tahoma"/>
              </a:rPr>
              <a:t>t</a:t>
            </a:r>
            <a:r>
              <a:rPr sz="2100" spc="-270" baseline="-23809" dirty="0">
                <a:latin typeface="Times New Roman"/>
                <a:cs typeface="Times New Roman"/>
              </a:rPr>
              <a:t>3</a:t>
            </a:r>
            <a:r>
              <a:rPr sz="2400" spc="-180" dirty="0">
                <a:latin typeface="Tahoma"/>
                <a:cs typeface="Tahoma"/>
              </a:rPr>
              <a:t>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620000" y="5181600"/>
            <a:ext cx="233045" cy="459740"/>
          </a:xfrm>
          <a:custGeom>
            <a:avLst/>
            <a:gdLst/>
            <a:ahLst/>
            <a:cxnLst/>
            <a:rect l="l" t="t" r="r" b="b"/>
            <a:pathLst>
              <a:path w="233045" h="459739">
                <a:moveTo>
                  <a:pt x="0" y="85191"/>
                </a:moveTo>
                <a:lnTo>
                  <a:pt x="0" y="0"/>
                </a:lnTo>
                <a:lnTo>
                  <a:pt x="65315" y="48983"/>
                </a:lnTo>
                <a:lnTo>
                  <a:pt x="29819" y="48983"/>
                </a:lnTo>
                <a:lnTo>
                  <a:pt x="21297" y="53251"/>
                </a:lnTo>
                <a:lnTo>
                  <a:pt x="29815" y="70286"/>
                </a:lnTo>
                <a:lnTo>
                  <a:pt x="0" y="85191"/>
                </a:lnTo>
                <a:close/>
              </a:path>
              <a:path w="233045" h="459739">
                <a:moveTo>
                  <a:pt x="29815" y="70286"/>
                </a:moveTo>
                <a:lnTo>
                  <a:pt x="21297" y="53251"/>
                </a:lnTo>
                <a:lnTo>
                  <a:pt x="29819" y="48983"/>
                </a:lnTo>
                <a:lnTo>
                  <a:pt x="38339" y="66025"/>
                </a:lnTo>
                <a:lnTo>
                  <a:pt x="29815" y="70286"/>
                </a:lnTo>
                <a:close/>
              </a:path>
              <a:path w="233045" h="459739">
                <a:moveTo>
                  <a:pt x="38339" y="66025"/>
                </a:moveTo>
                <a:lnTo>
                  <a:pt x="29819" y="48983"/>
                </a:lnTo>
                <a:lnTo>
                  <a:pt x="65315" y="48983"/>
                </a:lnTo>
                <a:lnTo>
                  <a:pt x="68160" y="51117"/>
                </a:lnTo>
                <a:lnTo>
                  <a:pt x="38339" y="66025"/>
                </a:lnTo>
                <a:close/>
              </a:path>
              <a:path w="233045" h="459739">
                <a:moveTo>
                  <a:pt x="224345" y="459333"/>
                </a:moveTo>
                <a:lnTo>
                  <a:pt x="29815" y="70286"/>
                </a:lnTo>
                <a:lnTo>
                  <a:pt x="38339" y="66025"/>
                </a:lnTo>
                <a:lnTo>
                  <a:pt x="232854" y="455066"/>
                </a:lnTo>
                <a:lnTo>
                  <a:pt x="224345" y="4593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5630" y="829944"/>
            <a:ext cx="79527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Rules </a:t>
            </a:r>
            <a:r>
              <a:rPr spc="-20" dirty="0"/>
              <a:t>for </a:t>
            </a:r>
            <a:r>
              <a:rPr spc="-15" dirty="0"/>
              <a:t>Inferring </a:t>
            </a:r>
            <a:r>
              <a:rPr spc="-35" dirty="0"/>
              <a:t>MVD’s </a:t>
            </a:r>
            <a:r>
              <a:rPr dirty="0"/>
              <a:t>+</a:t>
            </a:r>
            <a:r>
              <a:rPr spc="55" dirty="0"/>
              <a:t> </a:t>
            </a:r>
            <a:r>
              <a:rPr spc="-40" dirty="0"/>
              <a:t>FD’s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14795"/>
            <a:ext cx="7389495" cy="300101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Start with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tableau of two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rows.</a:t>
            </a:r>
            <a:endParaRPr sz="3200" dirty="0">
              <a:latin typeface="Tahoma"/>
              <a:cs typeface="Tahoma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These </a:t>
            </a:r>
            <a:r>
              <a:rPr sz="2800" spc="-10" dirty="0">
                <a:latin typeface="Tahoma"/>
                <a:cs typeface="Tahoma"/>
              </a:rPr>
              <a:t>rows </a:t>
            </a:r>
            <a:r>
              <a:rPr sz="2800" spc="-5" dirty="0">
                <a:latin typeface="Tahoma"/>
                <a:cs typeface="Tahoma"/>
              </a:rPr>
              <a:t>agree on the attributes of the  left side of the dependency to be</a:t>
            </a:r>
            <a:r>
              <a:rPr sz="2800" spc="5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inferred.</a:t>
            </a:r>
            <a:endParaRPr sz="2800" dirty="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And they disagree on </a:t>
            </a:r>
            <a:r>
              <a:rPr sz="2800" dirty="0">
                <a:latin typeface="Tahoma"/>
                <a:cs typeface="Tahoma"/>
              </a:rPr>
              <a:t>all </a:t>
            </a:r>
            <a:r>
              <a:rPr sz="2800" spc="-5" dirty="0">
                <a:latin typeface="Tahoma"/>
                <a:cs typeface="Tahoma"/>
              </a:rPr>
              <a:t>other attributes.</a:t>
            </a:r>
            <a:endParaRPr sz="2800" dirty="0">
              <a:latin typeface="Tahoma"/>
              <a:cs typeface="Tahoma"/>
            </a:endParaRPr>
          </a:p>
          <a:p>
            <a:pPr marL="755650" marR="398145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Use unsubscripted </a:t>
            </a:r>
            <a:r>
              <a:rPr sz="2800" spc="-10" dirty="0">
                <a:latin typeface="Tahoma"/>
                <a:cs typeface="Tahoma"/>
              </a:rPr>
              <a:t>variables </a:t>
            </a:r>
            <a:r>
              <a:rPr sz="2800" spc="-5" dirty="0">
                <a:latin typeface="Tahoma"/>
                <a:cs typeface="Tahoma"/>
              </a:rPr>
              <a:t>where they  agree, subscripts where they disagree.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9477" y="457200"/>
            <a:ext cx="734504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>
                <a:solidFill>
                  <a:srgbClr val="996600"/>
                </a:solidFill>
              </a:rPr>
              <a:t>Inference</a:t>
            </a:r>
            <a:r>
              <a:rPr lang="zh-CN" altLang="en-US" spc="-15" dirty="0">
                <a:solidFill>
                  <a:srgbClr val="996600"/>
                </a:solidFill>
              </a:rPr>
              <a:t>推理</a:t>
            </a:r>
            <a:r>
              <a:rPr spc="-15" dirty="0"/>
              <a:t>: </a:t>
            </a:r>
            <a:r>
              <a:rPr spc="-5" dirty="0"/>
              <a:t>Applying </a:t>
            </a:r>
            <a:r>
              <a:rPr dirty="0"/>
              <a:t>a</a:t>
            </a:r>
            <a:r>
              <a:rPr spc="-35" dirty="0"/>
              <a:t> </a:t>
            </a:r>
            <a:r>
              <a:rPr dirty="0"/>
              <a:t>FD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291070" cy="293941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55600" marR="93980" indent="-342900" algn="just">
              <a:lnSpc>
                <a:spcPts val="3840"/>
              </a:lnSpc>
              <a:spcBef>
                <a:spcPts val="229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Apply </a:t>
            </a:r>
            <a:r>
              <a:rPr sz="3200" dirty="0">
                <a:latin typeface="Tahoma"/>
                <a:cs typeface="Tahoma"/>
              </a:rPr>
              <a:t>a FD </a:t>
            </a:r>
            <a:r>
              <a:rPr sz="3200" spc="-30" dirty="0">
                <a:solidFill>
                  <a:srgbClr val="00CC99"/>
                </a:solidFill>
                <a:latin typeface="Tahoma"/>
                <a:cs typeface="Tahoma"/>
              </a:rPr>
              <a:t>X-&gt;Y </a:t>
            </a:r>
            <a:r>
              <a:rPr sz="3200" spc="-5" dirty="0">
                <a:latin typeface="Tahoma"/>
                <a:cs typeface="Tahoma"/>
              </a:rPr>
              <a:t>by finding rows that  agree </a:t>
            </a:r>
            <a:r>
              <a:rPr sz="3200" dirty="0">
                <a:latin typeface="Tahoma"/>
                <a:cs typeface="Tahoma"/>
              </a:rPr>
              <a:t>on all </a:t>
            </a:r>
            <a:r>
              <a:rPr sz="3200" spc="-5" dirty="0">
                <a:latin typeface="Tahoma"/>
                <a:cs typeface="Tahoma"/>
              </a:rPr>
              <a:t>attributes of </a:t>
            </a:r>
            <a:r>
              <a:rPr sz="3350" i="1" spc="-560" dirty="0">
                <a:latin typeface="Tahoma"/>
                <a:cs typeface="Tahoma"/>
              </a:rPr>
              <a:t>X</a:t>
            </a:r>
            <a:r>
              <a:rPr sz="3200" spc="-560" dirty="0">
                <a:latin typeface="Tahoma"/>
                <a:cs typeface="Tahoma"/>
              </a:rPr>
              <a:t>. </a:t>
            </a:r>
            <a:r>
              <a:rPr sz="3200" spc="-20" dirty="0">
                <a:latin typeface="Tahoma"/>
                <a:cs typeface="Tahoma"/>
              </a:rPr>
              <a:t>Force </a:t>
            </a:r>
            <a:r>
              <a:rPr sz="3200" spc="-5" dirty="0">
                <a:latin typeface="Tahoma"/>
                <a:cs typeface="Tahoma"/>
              </a:rPr>
              <a:t>the  rows to agree </a:t>
            </a:r>
            <a:r>
              <a:rPr sz="3200" dirty="0">
                <a:latin typeface="Tahoma"/>
                <a:cs typeface="Tahoma"/>
              </a:rPr>
              <a:t>on all </a:t>
            </a:r>
            <a:r>
              <a:rPr sz="3200" spc="-5" dirty="0">
                <a:latin typeface="Tahoma"/>
                <a:cs typeface="Tahoma"/>
              </a:rPr>
              <a:t>attributes of</a:t>
            </a:r>
            <a:r>
              <a:rPr sz="3200" spc="-265" dirty="0">
                <a:latin typeface="Tahoma"/>
                <a:cs typeface="Tahoma"/>
              </a:rPr>
              <a:t> </a:t>
            </a:r>
            <a:r>
              <a:rPr sz="3350" i="1" spc="-560" dirty="0">
                <a:latin typeface="Tahoma"/>
                <a:cs typeface="Tahoma"/>
              </a:rPr>
              <a:t>Y</a:t>
            </a:r>
            <a:r>
              <a:rPr sz="3200" spc="-560" dirty="0">
                <a:latin typeface="Tahoma"/>
                <a:cs typeface="Tahoma"/>
              </a:rPr>
              <a:t>.</a:t>
            </a:r>
            <a:endParaRPr sz="3200" dirty="0">
              <a:latin typeface="Tahoma"/>
              <a:cs typeface="Tahoma"/>
            </a:endParaRPr>
          </a:p>
          <a:p>
            <a:pPr marL="755650" lvl="1" indent="-285750" algn="just">
              <a:lnSpc>
                <a:spcPct val="100000"/>
              </a:lnSpc>
              <a:spcBef>
                <a:spcPts val="54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10" dirty="0">
                <a:latin typeface="Tahoma"/>
                <a:cs typeface="Tahoma"/>
              </a:rPr>
              <a:t>Replace </a:t>
            </a:r>
            <a:r>
              <a:rPr sz="2800" spc="-5" dirty="0">
                <a:latin typeface="Tahoma"/>
                <a:cs typeface="Tahoma"/>
              </a:rPr>
              <a:t>one </a:t>
            </a:r>
            <a:r>
              <a:rPr sz="2800" spc="-10" dirty="0">
                <a:latin typeface="Tahoma"/>
                <a:cs typeface="Tahoma"/>
              </a:rPr>
              <a:t>variable by </a:t>
            </a:r>
            <a:r>
              <a:rPr sz="2800" spc="-5" dirty="0">
                <a:latin typeface="Tahoma"/>
                <a:cs typeface="Tahoma"/>
              </a:rPr>
              <a:t>the</a:t>
            </a:r>
            <a:r>
              <a:rPr sz="2800" spc="25" dirty="0">
                <a:latin typeface="Tahoma"/>
                <a:cs typeface="Tahoma"/>
              </a:rPr>
              <a:t> </a:t>
            </a:r>
            <a:r>
              <a:rPr sz="2800" spc="-70" dirty="0">
                <a:latin typeface="Tahoma"/>
                <a:cs typeface="Tahoma"/>
              </a:rPr>
              <a:t>other.</a:t>
            </a:r>
            <a:endParaRPr sz="2800" dirty="0">
              <a:latin typeface="Tahoma"/>
              <a:cs typeface="Tahoma"/>
            </a:endParaRPr>
          </a:p>
          <a:p>
            <a:pPr marL="755650" marR="5080" lvl="1" indent="-285750" algn="just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If the replaced </a:t>
            </a:r>
            <a:r>
              <a:rPr sz="2800" spc="-10" dirty="0">
                <a:latin typeface="Tahoma"/>
                <a:cs typeface="Tahoma"/>
              </a:rPr>
              <a:t>variable </a:t>
            </a:r>
            <a:r>
              <a:rPr sz="2800" spc="-5" dirty="0">
                <a:latin typeface="Tahoma"/>
                <a:cs typeface="Tahoma"/>
              </a:rPr>
              <a:t>is part of the goal  tuple, replace </a:t>
            </a:r>
            <a:r>
              <a:rPr sz="2800" dirty="0">
                <a:latin typeface="Tahoma"/>
                <a:cs typeface="Tahoma"/>
              </a:rPr>
              <a:t>it </a:t>
            </a:r>
            <a:r>
              <a:rPr sz="2800" spc="-10" dirty="0">
                <a:latin typeface="Tahoma"/>
                <a:cs typeface="Tahoma"/>
              </a:rPr>
              <a:t>there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too.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57935" y="829944"/>
            <a:ext cx="66287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>
                <a:solidFill>
                  <a:srgbClr val="996600"/>
                </a:solidFill>
              </a:rPr>
              <a:t>Inference</a:t>
            </a:r>
            <a:r>
              <a:rPr spc="-15" dirty="0"/>
              <a:t>: </a:t>
            </a:r>
            <a:r>
              <a:rPr spc="-5" dirty="0"/>
              <a:t>Applying </a:t>
            </a:r>
            <a:r>
              <a:rPr dirty="0"/>
              <a:t>a</a:t>
            </a:r>
            <a:r>
              <a:rPr spc="-35" dirty="0"/>
              <a:t> </a:t>
            </a:r>
            <a:r>
              <a:rPr dirty="0"/>
              <a:t>MVD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531100" cy="236664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55600" marR="668655" indent="-342900">
              <a:lnSpc>
                <a:spcPts val="3840"/>
              </a:lnSpc>
              <a:spcBef>
                <a:spcPts val="229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Apply </a:t>
            </a:r>
            <a:r>
              <a:rPr sz="3200" dirty="0">
                <a:latin typeface="Tahoma"/>
                <a:cs typeface="Tahoma"/>
              </a:rPr>
              <a:t>a MVD </a:t>
            </a:r>
            <a:r>
              <a:rPr sz="3200" spc="-20" dirty="0">
                <a:solidFill>
                  <a:srgbClr val="3333CC"/>
                </a:solidFill>
                <a:latin typeface="Tahoma"/>
                <a:cs typeface="Tahoma"/>
              </a:rPr>
              <a:t>X-&gt;-&gt;Y </a:t>
            </a:r>
            <a:r>
              <a:rPr sz="3200" spc="-5" dirty="0">
                <a:latin typeface="Tahoma"/>
                <a:cs typeface="Tahoma"/>
              </a:rPr>
              <a:t>by finding two  rows that agree in</a:t>
            </a:r>
            <a:r>
              <a:rPr sz="3200" spc="-225" dirty="0">
                <a:latin typeface="Tahoma"/>
                <a:cs typeface="Tahoma"/>
              </a:rPr>
              <a:t> </a:t>
            </a:r>
            <a:r>
              <a:rPr sz="3350" i="1" spc="-560" dirty="0">
                <a:latin typeface="Tahoma"/>
                <a:cs typeface="Tahoma"/>
              </a:rPr>
              <a:t>X</a:t>
            </a:r>
            <a:r>
              <a:rPr sz="3200" spc="-560" dirty="0">
                <a:latin typeface="Tahoma"/>
                <a:cs typeface="Tahoma"/>
              </a:rPr>
              <a:t>.</a:t>
            </a:r>
            <a:endParaRPr sz="3200">
              <a:latin typeface="Tahoma"/>
              <a:cs typeface="Tahoma"/>
            </a:endParaRPr>
          </a:p>
          <a:p>
            <a:pPr marL="755650" marR="5080" lvl="1" indent="-285750">
              <a:lnSpc>
                <a:spcPts val="3360"/>
              </a:lnSpc>
              <a:spcBef>
                <a:spcPts val="65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Add to the tableau one or both </a:t>
            </a:r>
            <a:r>
              <a:rPr sz="2800" spc="-10" dirty="0">
                <a:latin typeface="Tahoma"/>
                <a:cs typeface="Tahoma"/>
              </a:rPr>
              <a:t>rows </a:t>
            </a:r>
            <a:r>
              <a:rPr sz="2800" spc="-5" dirty="0">
                <a:latin typeface="Tahoma"/>
                <a:cs typeface="Tahoma"/>
              </a:rPr>
              <a:t>that  </a:t>
            </a:r>
            <a:r>
              <a:rPr sz="2800" spc="-10" dirty="0">
                <a:latin typeface="Tahoma"/>
                <a:cs typeface="Tahoma"/>
              </a:rPr>
              <a:t>are formed by </a:t>
            </a:r>
            <a:r>
              <a:rPr sz="2800" spc="-5" dirty="0">
                <a:latin typeface="Tahoma"/>
                <a:cs typeface="Tahoma"/>
              </a:rPr>
              <a:t>swapping the </a:t>
            </a:r>
            <a:r>
              <a:rPr sz="2900" i="1" spc="-85" dirty="0">
                <a:latin typeface="Tahoma"/>
                <a:cs typeface="Tahoma"/>
              </a:rPr>
              <a:t>Y</a:t>
            </a:r>
            <a:r>
              <a:rPr sz="2800" spc="-85" dirty="0">
                <a:latin typeface="Tahoma"/>
                <a:cs typeface="Tahoma"/>
              </a:rPr>
              <a:t>-components  </a:t>
            </a:r>
            <a:r>
              <a:rPr sz="2800" spc="-5" dirty="0">
                <a:latin typeface="Tahoma"/>
                <a:cs typeface="Tahoma"/>
              </a:rPr>
              <a:t>of these two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rows.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30475" y="829944"/>
            <a:ext cx="40836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>
                <a:solidFill>
                  <a:srgbClr val="996600"/>
                </a:solidFill>
              </a:rPr>
              <a:t>Inference</a:t>
            </a:r>
            <a:r>
              <a:rPr spc="-15" dirty="0"/>
              <a:t>:</a:t>
            </a:r>
            <a:r>
              <a:rPr spc="-55" dirty="0"/>
              <a:t> </a:t>
            </a:r>
            <a:r>
              <a:rPr spc="-5" dirty="0"/>
              <a:t>Goals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88340" y="1860549"/>
            <a:ext cx="7588884" cy="40252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26746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65" dirty="0">
                <a:latin typeface="Tahoma"/>
                <a:cs typeface="Tahoma"/>
              </a:rPr>
              <a:t>To </a:t>
            </a:r>
            <a:r>
              <a:rPr sz="3200" spc="-5" dirty="0">
                <a:latin typeface="Tahoma"/>
                <a:cs typeface="Tahoma"/>
              </a:rPr>
              <a:t>test whether </a:t>
            </a:r>
            <a:r>
              <a:rPr sz="3200" dirty="0">
                <a:solidFill>
                  <a:srgbClr val="00CC99"/>
                </a:solidFill>
                <a:latin typeface="Tahoma"/>
                <a:cs typeface="Tahoma"/>
              </a:rPr>
              <a:t>U-&gt;V </a:t>
            </a:r>
            <a:r>
              <a:rPr sz="3200" spc="-5" dirty="0">
                <a:latin typeface="Tahoma"/>
                <a:cs typeface="Tahoma"/>
              </a:rPr>
              <a:t>holds, </a:t>
            </a:r>
            <a:r>
              <a:rPr sz="3200" dirty="0">
                <a:latin typeface="Tahoma"/>
                <a:cs typeface="Tahoma"/>
              </a:rPr>
              <a:t>we  </a:t>
            </a:r>
            <a:r>
              <a:rPr sz="3200" spc="-5" dirty="0">
                <a:latin typeface="Tahoma"/>
                <a:cs typeface="Tahoma"/>
              </a:rPr>
              <a:t>succeed by </a:t>
            </a:r>
            <a:r>
              <a:rPr sz="3200" spc="-10" dirty="0">
                <a:latin typeface="Tahoma"/>
                <a:cs typeface="Tahoma"/>
              </a:rPr>
              <a:t>inferring </a:t>
            </a:r>
            <a:r>
              <a:rPr sz="3200" spc="-5" dirty="0">
                <a:latin typeface="Tahoma"/>
                <a:cs typeface="Tahoma"/>
              </a:rPr>
              <a:t>that the two  </a:t>
            </a:r>
            <a:r>
              <a:rPr sz="3200" spc="-10" dirty="0">
                <a:latin typeface="Tahoma"/>
                <a:cs typeface="Tahoma"/>
              </a:rPr>
              <a:t>variables </a:t>
            </a:r>
            <a:r>
              <a:rPr sz="3200" spc="-5" dirty="0">
                <a:latin typeface="Tahoma"/>
                <a:cs typeface="Tahoma"/>
              </a:rPr>
              <a:t>in each column of </a:t>
            </a:r>
            <a:r>
              <a:rPr sz="3200" dirty="0">
                <a:latin typeface="Tahoma"/>
                <a:cs typeface="Tahoma"/>
              </a:rPr>
              <a:t>V </a:t>
            </a:r>
            <a:r>
              <a:rPr sz="3200" spc="-10" dirty="0">
                <a:latin typeface="Tahoma"/>
                <a:cs typeface="Tahoma"/>
              </a:rPr>
              <a:t>are  </a:t>
            </a:r>
            <a:r>
              <a:rPr sz="3200" spc="-5" dirty="0">
                <a:latin typeface="Tahoma"/>
                <a:cs typeface="Tahoma"/>
              </a:rPr>
              <a:t>actually the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same.</a:t>
            </a:r>
            <a:endParaRPr sz="320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If </a:t>
            </a:r>
            <a:r>
              <a:rPr sz="3200" dirty="0">
                <a:latin typeface="Tahoma"/>
                <a:cs typeface="Tahoma"/>
              </a:rPr>
              <a:t>we </a:t>
            </a:r>
            <a:r>
              <a:rPr sz="3200" spc="-10" dirty="0">
                <a:latin typeface="Tahoma"/>
                <a:cs typeface="Tahoma"/>
              </a:rPr>
              <a:t>are </a:t>
            </a:r>
            <a:r>
              <a:rPr sz="3200" spc="-5" dirty="0">
                <a:latin typeface="Tahoma"/>
                <a:cs typeface="Tahoma"/>
              </a:rPr>
              <a:t>testing </a:t>
            </a:r>
            <a:r>
              <a:rPr sz="3200" spc="-5" dirty="0">
                <a:solidFill>
                  <a:srgbClr val="3333CC"/>
                </a:solidFill>
                <a:latin typeface="Tahoma"/>
                <a:cs typeface="Tahoma"/>
              </a:rPr>
              <a:t>U-&gt;-&gt;V</a:t>
            </a:r>
            <a:r>
              <a:rPr sz="3200" spc="-5" dirty="0">
                <a:latin typeface="Tahoma"/>
                <a:cs typeface="Tahoma"/>
              </a:rPr>
              <a:t>, </a:t>
            </a:r>
            <a:r>
              <a:rPr sz="3200" dirty="0">
                <a:latin typeface="Tahoma"/>
                <a:cs typeface="Tahoma"/>
              </a:rPr>
              <a:t>we </a:t>
            </a:r>
            <a:r>
              <a:rPr sz="3200" spc="-5" dirty="0">
                <a:latin typeface="Tahoma"/>
                <a:cs typeface="Tahoma"/>
              </a:rPr>
              <a:t>succeed </a:t>
            </a:r>
            <a:r>
              <a:rPr sz="3200" dirty="0">
                <a:latin typeface="Tahoma"/>
                <a:cs typeface="Tahoma"/>
              </a:rPr>
              <a:t>if  we </a:t>
            </a:r>
            <a:r>
              <a:rPr sz="3200" spc="-10" dirty="0">
                <a:latin typeface="Tahoma"/>
                <a:cs typeface="Tahoma"/>
              </a:rPr>
              <a:t>infer </a:t>
            </a:r>
            <a:r>
              <a:rPr sz="3200" spc="-5" dirty="0">
                <a:latin typeface="Tahoma"/>
                <a:cs typeface="Tahoma"/>
              </a:rPr>
              <a:t>in the tableau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10" dirty="0">
                <a:latin typeface="Tahoma"/>
                <a:cs typeface="Tahoma"/>
              </a:rPr>
              <a:t>row </a:t>
            </a:r>
            <a:r>
              <a:rPr sz="3200" spc="-5" dirty="0">
                <a:latin typeface="Tahoma"/>
                <a:cs typeface="Tahoma"/>
              </a:rPr>
              <a:t>that is the  original two rows with the components  of </a:t>
            </a:r>
            <a:r>
              <a:rPr sz="3200" dirty="0">
                <a:latin typeface="Tahoma"/>
                <a:cs typeface="Tahoma"/>
              </a:rPr>
              <a:t>V</a:t>
            </a:r>
            <a:r>
              <a:rPr sz="3200" spc="-10" dirty="0">
                <a:latin typeface="Tahoma"/>
                <a:cs typeface="Tahoma"/>
              </a:rPr>
              <a:t> swapped.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4225" y="829944"/>
            <a:ext cx="50361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>
                <a:solidFill>
                  <a:srgbClr val="996600"/>
                </a:solidFill>
              </a:rPr>
              <a:t>Inference</a:t>
            </a:r>
            <a:r>
              <a:rPr spc="-15" dirty="0"/>
              <a:t>:</a:t>
            </a:r>
            <a:r>
              <a:rPr spc="-45" dirty="0"/>
              <a:t> </a:t>
            </a:r>
            <a:r>
              <a:rPr spc="-5" dirty="0"/>
              <a:t>Endgame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773670" cy="41700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274955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Apply </a:t>
            </a:r>
            <a:r>
              <a:rPr sz="3200" dirty="0">
                <a:latin typeface="Tahoma"/>
                <a:cs typeface="Tahoma"/>
              </a:rPr>
              <a:t>all </a:t>
            </a:r>
            <a:r>
              <a:rPr sz="3200" spc="-5" dirty="0">
                <a:latin typeface="Tahoma"/>
                <a:cs typeface="Tahoma"/>
              </a:rPr>
              <a:t>the </a:t>
            </a:r>
            <a:r>
              <a:rPr sz="3200" spc="-10" dirty="0">
                <a:latin typeface="Tahoma"/>
                <a:cs typeface="Tahoma"/>
              </a:rPr>
              <a:t>given </a:t>
            </a:r>
            <a:r>
              <a:rPr sz="3200" spc="-30" dirty="0">
                <a:latin typeface="Tahoma"/>
                <a:cs typeface="Tahoma"/>
              </a:rPr>
              <a:t>FD’s </a:t>
            </a:r>
            <a:r>
              <a:rPr sz="3200" spc="-5" dirty="0">
                <a:latin typeface="Tahoma"/>
                <a:cs typeface="Tahoma"/>
              </a:rPr>
              <a:t>and </a:t>
            </a:r>
            <a:r>
              <a:rPr sz="3200" spc="-25" dirty="0">
                <a:latin typeface="Tahoma"/>
                <a:cs typeface="Tahoma"/>
              </a:rPr>
              <a:t>MVD’s </a:t>
            </a:r>
            <a:r>
              <a:rPr sz="3200" spc="-5" dirty="0">
                <a:latin typeface="Tahoma"/>
                <a:cs typeface="Tahoma"/>
              </a:rPr>
              <a:t>until  </a:t>
            </a:r>
            <a:r>
              <a:rPr sz="3200" dirty="0">
                <a:latin typeface="Tahoma"/>
                <a:cs typeface="Tahoma"/>
              </a:rPr>
              <a:t>we </a:t>
            </a:r>
            <a:r>
              <a:rPr sz="3200" spc="-5" dirty="0">
                <a:latin typeface="Tahoma"/>
                <a:cs typeface="Tahoma"/>
              </a:rPr>
              <a:t>cannot change the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tableau.</a:t>
            </a:r>
            <a:endParaRPr sz="3200" dirty="0">
              <a:latin typeface="Tahoma"/>
              <a:cs typeface="Tahoma"/>
            </a:endParaRPr>
          </a:p>
          <a:p>
            <a:pPr marL="355600" marR="2055495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If </a:t>
            </a:r>
            <a:r>
              <a:rPr sz="3200" dirty="0">
                <a:latin typeface="Tahoma"/>
                <a:cs typeface="Tahoma"/>
              </a:rPr>
              <a:t>we </a:t>
            </a:r>
            <a:r>
              <a:rPr sz="3200" spc="-5" dirty="0">
                <a:latin typeface="Tahoma"/>
                <a:cs typeface="Tahoma"/>
              </a:rPr>
              <a:t>meet the goal, then the  dependency is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inferred.</a:t>
            </a:r>
            <a:endParaRPr sz="3200" dirty="0">
              <a:latin typeface="Tahoma"/>
              <a:cs typeface="Tahoma"/>
            </a:endParaRPr>
          </a:p>
          <a:p>
            <a:pPr marL="355600" marR="1530985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If not, then the final tableau is </a:t>
            </a:r>
            <a:r>
              <a:rPr sz="3200" dirty="0">
                <a:latin typeface="Tahoma"/>
                <a:cs typeface="Tahoma"/>
              </a:rPr>
              <a:t>a  </a:t>
            </a:r>
            <a:r>
              <a:rPr sz="3200" spc="-5" dirty="0">
                <a:latin typeface="Tahoma"/>
                <a:cs typeface="Tahoma"/>
              </a:rPr>
              <a:t>counterexample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relation.</a:t>
            </a:r>
            <a:endParaRPr sz="3200" dirty="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Satisfies </a:t>
            </a:r>
            <a:r>
              <a:rPr sz="2800" dirty="0">
                <a:latin typeface="Tahoma"/>
                <a:cs typeface="Tahoma"/>
              </a:rPr>
              <a:t>all </a:t>
            </a:r>
            <a:r>
              <a:rPr sz="2800" spc="-10" dirty="0">
                <a:latin typeface="Tahoma"/>
                <a:cs typeface="Tahoma"/>
              </a:rPr>
              <a:t>given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dependencies.</a:t>
            </a:r>
            <a:endParaRPr sz="2800" dirty="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Original two </a:t>
            </a:r>
            <a:r>
              <a:rPr sz="2800" spc="-10" dirty="0">
                <a:latin typeface="Tahoma"/>
                <a:cs typeface="Tahoma"/>
              </a:rPr>
              <a:t>rows </a:t>
            </a:r>
            <a:r>
              <a:rPr sz="2800" spc="-5" dirty="0">
                <a:latin typeface="Tahoma"/>
                <a:cs typeface="Tahoma"/>
              </a:rPr>
              <a:t>violate target</a:t>
            </a:r>
            <a:r>
              <a:rPr sz="2800" spc="20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dependency.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</TotalTime>
  <Words>1547</Words>
  <Application>Microsoft Office PowerPoint</Application>
  <PresentationFormat>全屏显示(4:3)</PresentationFormat>
  <Paragraphs>216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4" baseType="lpstr">
      <vt:lpstr>-apple-system</vt:lpstr>
      <vt:lpstr>Calibri</vt:lpstr>
      <vt:lpstr>Tahoma</vt:lpstr>
      <vt:lpstr>Times New Roman</vt:lpstr>
      <vt:lpstr>Wingdings</vt:lpstr>
      <vt:lpstr>Office Theme</vt:lpstr>
      <vt:lpstr>Multivalued Dependencies</vt:lpstr>
      <vt:lpstr>Definition of MVD</vt:lpstr>
      <vt:lpstr>Example: MVD</vt:lpstr>
      <vt:lpstr>Tuples Implied by name-&gt;-&gt;phones</vt:lpstr>
      <vt:lpstr>Picture of MVD X-&gt;-&gt;Y</vt:lpstr>
      <vt:lpstr>MVD Rules</vt:lpstr>
      <vt:lpstr>Splitting Doesn’t Hold拆分不成立</vt:lpstr>
      <vt:lpstr>Example: Multiattribute Right Sides</vt:lpstr>
      <vt:lpstr>Example Continued</vt:lpstr>
      <vt:lpstr>Example Data</vt:lpstr>
      <vt:lpstr>Fourth Normal Form</vt:lpstr>
      <vt:lpstr>4NF Definition</vt:lpstr>
      <vt:lpstr>BCNF Versus 4NF</vt:lpstr>
      <vt:lpstr>Decomposition and 4NF</vt:lpstr>
      <vt:lpstr>Example: 4NF Decomposition</vt:lpstr>
      <vt:lpstr>Example Continued</vt:lpstr>
      <vt:lpstr>Example: Decompose Drinkers2</vt:lpstr>
      <vt:lpstr>Reasoning About MVD’s + FD’s</vt:lpstr>
      <vt:lpstr>Why Do We Care?</vt:lpstr>
      <vt:lpstr>Example: Chasing a Tableau  With MVD’s and FD’s</vt:lpstr>
      <vt:lpstr>The Tableau for A-&gt;C</vt:lpstr>
      <vt:lpstr>Example: Transitive Law for MVD’s</vt:lpstr>
      <vt:lpstr>The Tableau for A-&gt;-&gt;C</vt:lpstr>
      <vt:lpstr>Rules for Inferring MVD’s + FD’s</vt:lpstr>
      <vt:lpstr>Inference推理: Applying a FD</vt:lpstr>
      <vt:lpstr>Inference: Applying a MVD</vt:lpstr>
      <vt:lpstr>Inference: Goals</vt:lpstr>
      <vt:lpstr>Inference: Endgame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- Vel</cp:lastModifiedBy>
  <cp:revision>2</cp:revision>
  <dcterms:created xsi:type="dcterms:W3CDTF">2024-06-16T09:17:04Z</dcterms:created>
  <dcterms:modified xsi:type="dcterms:W3CDTF">2024-06-18T10:13:01Z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2020-09-23T00:00:00Z</vt:filetime>
  </property>
  <property fmtid="{D5CDD505-2E9C-101B-9397-08002B2CF9AE}" pid="3" name="Creator">
    <vt:lpwstr>WPS 演示</vt:lpwstr>
  </property>
  <property fmtid="{D5CDD505-2E9C-101B-9397-08002B2CF9AE}" pid="4" name="LastSaved">
    <vt:filetime>2024-06-16T00:00:00Z</vt:filetime>
  </property>
</Properties>
</file>
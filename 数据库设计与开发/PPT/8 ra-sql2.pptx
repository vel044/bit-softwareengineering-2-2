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sldSz cx="9144000" cy="6858000" type="screen4x3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52" y="4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4:56:41.83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436 300,'146'2,"181"-5,-263-3,0-2,85-24,123-49,-5 1,-236 73,0 2,1 0,-1 2,39 2,-11 4,75 14,-51-9,0-2,105-8,-61 0,-76 2,340 16,-175-8,-44-4,-137 0,0 3,38 11,-44-10,5 3,-1 1,55 29,-54-24,82 38,169 55,-224-91,0-4,2-2,0-2,118 3,-20-17,136 7,249 11,-175-54,-330 33,131-33,-48 8,-108 28,0 1,-1 1,1 1,30 2,62 16,11 2,349-13,-338-8,-245 0,-82-3,-78-7,-70-9,-71-13,-840-100,535 53,309 36,79 6,85 9,174 20,-131-12,170 19,0 2,0 2,-1 1,-39 9,-125 41,171-44,-337 84,284-79,-1-3,-142 0,-715-18,837 4,-167-28,231 24,-49-16,66 15,22 8,0 0,0 0,0 0,0 0,0 0,0 0,0 0,0 0,0 0,0 0,0 0,0 0,0-1,0 1,0 0,0 0,0 0,0 0,0 0,0 0,0 0,0 0,0 0,0 0,13 3,55 20,-1 2,-2 4,64 36,-90-45,2-2,1-1,0-3,86 19,179 7,-132-22,296 33,-2-42,-453-10,413-27,-316 16,194-49,-194 33,2 5,0 5,231-6,306 27,-356 8,332-6,-553-11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5:26:58.58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1 623,'41'0,"461"-20,-411 6,146-42,-176 36,-31 10,0 1,58-9,-19 10,175-11,-195 16,79-15,-1 0,826-18,217 71,-839-23,395 27,-603-25,175 42,-252-45,215 51,-203-51,0-3,93 0,-105-8,0 2,-1 2,0 2,68 18,-34-5,111 12,86-8,-214-18,156 10,564 53,-368-19,284 39,-119-9,-299-47,-450-34,75 3,-57-4,-261-37,257 12,1-8,-276-101,39-34,6 3,-56-2,-10 28,-173-1,544 132,-1 4,-91 5,63 1,-1735-14,331 91,663 41,716-95,104-17,-62 10,0-3,-113-1,192-9,14-2,0 0,0 0,0 0,0 0,0 0,0 1,0-1,0 0,0 0,0 0,0 0,0 0,0 0,0 1,0-1,0 0,0 0,0 0,0 0,0 0,0 1,0-1,0 0,0 0,0 0,0 0,0 0,0 0,0 1,0-1,0 0,0 0,0 0,0 0,1 0,-1 0,0 0,0 1,0-1,0 0,0 0,0 0,0 0,1 0,-1 0,29 17,-18-11,103 46,149 47,147 37,289 75,31-36,129-58,6-52,23 1,-588-36,-130-13,280 34,862 66,-1193-114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5:27:01.97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3749 725,'-47'-41,"-13"1,-101-50,92 54,-664-327,664 333,-121-35,159 59,1 2,-1 1,0 1,0 1,-43 5,39-1,0-2,1-2,-59-7,15-8,-1 4,-83-2,-244 14,193 1,-96 20,271-18,-130 18,-60 5,-70-20,295-6,-10 0,45 5,93 12,71 4,157 19,4 24,259 122,-130-32,-449-144,16 4,82 33,120 83,-150-73,286 151,-366-195,-3-2,-1 1,0 1,21 17,-39-26,-9-4,-86-35,18 5,-823-259,448 160,282 78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5:24:54.82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1 232,'4'-17,"10"-14,6-6,9 3,0-1,-2 6,4 7,0 8,4 6,0 5,2 2,-4 6,-9 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5:24:57.24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524 0,'368'0,"963"9,-1010-1,917 18,7-36,-1151 7,-86 3,-5-1,0 1,0 0,1-1,-1 2,0-1,1 0,-1 1,4 0,-13 6,-21 7,-231 90,190-80,-759 261,-33-60,808-215,-1-2,0-3,0-2,0-2,-96-11,27-10,13 2,-131-4,-45 30,154-2,-9-7,-167-23,128 8,-635-35,464 32,324 17,35 1,57 0,-63 1,169-2,79-6,608-41,-2 0,9 40,-825 11,-1 2,0 1,0 2,74 23,-82-19,-7-4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5:25:03.02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1,'4'0,"6"0,22 8,49 12,56 6,60 21,60 18,46 11,26-7,4-7,-38-14,-60-15,-71-14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5:25:07.22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1 108,'750'14,"-343"6,118 1,96-4,57-7,1004-18,-14-71,-1260 45,-115 6,389-12,573 73,-877 15,-3 22,-270-50,-62-12,0 2,0 1,-2 3,58 26,5 18,178 131,-266-177,15 9,0-2,47 22,-67-36,-7-4,0 1,0 0,0 0,0 0,0 0,5 5,-9-7,0 0,0 0,0 0,0 1,0-1,1 0,-1 0,0 0,0 1,0-1,0 0,0 0,0 0,0 1,0-1,0 0,0 0,0 1,0-1,0 0,0 0,0 0,-1 1,1-1,0 0,0 0,0 0,0 1,0-1,0 0,0 0,-1 0,1 1,0-1,0 0,0 0,0 0,-1 0,1 0,0 0,0 1,0-1,-1 0,1 0,0 0,-1 0,-29 7,-115-1,-144-3,-151 1,-136 8,-109 7,-749 46,547-22,104-12,40-9,69-8,98-7,104-4,107-7,108-3,-9-6,225 10,-99-4,95 5,-87-16,17 1,44 10,1-3,-75-21,126 26,-1-1,0 2,0 1,0 0,-39 1,16 3,-1-2,1-3,-60-11,-126-41,53 11,-223-20,349 58,38 5,25 3,114 13,93 10,106 3,95 5,79-5,104-21,2202-152,-2103 81,-42 2,-55 10,-88 14,-98 13,-103 12,62 11,-269 13,-95-7,-1 0,1 1,-1 0,0 1,14 8,-19-8,0-1,0-1,1 1,-1-1,1-1,0 0,0 0,-1-1,1 0,0-1,0 0,12-2,36 0,0 1,0 4,94 15,407 121,-270-61,428 80,-491-119,1-9,265-1,455-59,-911 27,1 2,0 1,0 2,0 2,38 8,150 55,-209-62,-19-7,-25-12,-2 0,-408-201,372 183,36 18,-37-23,1-2,-72-30,15 8,82 39,-1 2,-1 2,0 2,-1 2,-1 2,0 1,-1 3,-54-3,94 11,-161-15,137 11,1-2,-1-1,-43-17,51 14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5:25:15.11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0 399,'83'0,"456"-19,-132-38,-14 1,-260 43,134 5,-102 21,-20 0,393-9,-309-5,612-13,-6 0,-3 40,-659-13,602 27,399-40,-496-2,-542 2,752 10,-134-12,-449-4,-27-8,-120 4,337-50,-407 46,376-81,-3 0,-387 85,82 2,74 10,-82 2,-128-4,1130-1,-657-14,-315 8,-140 6,-35 0,-23 0,-386 12,195-2,-58 6,-82 1,234-10,-217 38,190-14,81-15,-1-2,-1-4,-83 3,-1582-16,1695 4,25 2,8 0,26 7,212 46,-201-48,227 47,73 2,58-4,619 41,2-33,-733-43,270 43,-522-55,0 1,32 12,-29-8,-4-2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5:25:51.69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0 339,'89'-2,"124"-20,82-34,-197 30,136-55,-19 4,-187 67,31-16,21-7,-73 31,-1 1,0 0,1 0,-1 1,1 0,-1 0,1 1,-1-1,1 1,-1 1,1-1,-1 1,0 0,6 4,12 5,0 2,24 16,-20-11,78 51,27 16,-122-79,1 1,-1 0,-1 1,1 0,-1 1,-1 0,1 1,-1 0,13 19,-21-28,-1 0,1 0,-1 0,1 0,0-1,-1 1,0 0,1 0,-1 0,1 0,-1 0,0 0,0 0,0 0,0 1,1-1,-1 0,-1 0,1 0,0 0,0 0,0 0,0 0,-1 0,1 0,0 0,-1 0,1 0,-1 0,0 0,1-1,-2 3,-1-1,0 0,-1 0,1-1,0 1,-1-1,1 1,-1-1,1 0,-5 0,-130 25,-180 11,-115-26,407-14,0 0,0-2,1 0,0-2,0-1,-30-14,-5-6,-69-45,86 44,25 15,-35-18,47 29,0 1,1-1,-1 1,0 0,0 1,0 0,0 0,0 0,0 0,0 1,-7 0,-108 16,116-15,0 0,-1 0,1 1,0-1,0 1,0 0,-7 5,11-7,0 1,0 0,0 0,0 0,0-1,0 1,0 0,0 0,0 0,0 1,0-1,1 0,-1 0,0 0,1 0,-1 1,1-1,0 0,-1 1,1-1,0 0,0 1,0-1,0 0,0 1,0-1,0 0,0 1,0-1,1 0,-1 1,0-1,1 0,0 2,3 4,1 0,-1-1,1 1,0-1,1 0,-1 0,1-1,0 0,1 0,9 6,14 7,35 14,-35-17,87 52,-82-45,2-1,0-1,47 16,-6-9,101 31,-141-48,-1-2,73 7,-72-14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5:32:23.63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1 100,'192'1,"70"7,104 3,2885 20,-2704-44,184-1,-345 25,-242-4,175 14,34 27,-36-4,850 68,-617-80,349 16,122 47,-707-59,-236-31,0-5,84-9,492-37,11 40,-421 7,-14-2,821-10,504-2,-1269 13,-222 1,-64-1,22-1,-24-2,-9-3,-19-6,-65-16,-227-50,45 27,-66 5,-60 10,-1036-29,379 44,-394-15,864 5,-831-30,-267 58,980 6,-547-2,-599-14,-60 1,1408 13,475-1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5:35:55.96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7206 96,'0'0,"0"-1,0 1,-1-1,1 1,0-1,0 1,0-1,0 1,-1-1,1 1,0-1,0 1,-1 0,1-1,0 1,-1-1,1 1,0 0,-1-1,1 1,-1 0,1-1,-1 1,1 0,0 0,-1 0,1-1,-2 1,-19-3,15 2,-338-10,244 11,45 0,-1045 2,671 10,-175 1,37-25,135 0,-365-26,130 3,-843 41,1479-5,-223 14,209-9,-1 1,1 3,-64 22,76-19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5:36:08.53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0,'17'0,"69"0,312 0,381 4,354 10,208 3,199 11,129 1,60 12,0-1,-101 14,-212 15,-220 21,-288-5,-290-8,-245-18,-191-18,-126-16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5:36:10.15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1,'409'0,"56"1,218 2,160 2,101 0,-90-1,1140 7,-26 27,-1373-11,-190 7,-155-1,-168-20,1-3,0-4,115-6,149-41,-188 10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5:37:21.30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1679 276,'10'-1,"-1"0,0 0,0-1,0 0,15-7,6 0,473-108,-443 104,52-7,217-10,-149 13,99-7,-19 1,322 16,-363 9,404 11,67 0,-647-13,40-1,83 11,125 21,72 9,-6 23,-19-2,-319-59,311 44,-2-21,338-13,1146-18,-1542 3,718 14,-61-3,-717-9,-141 0,-59 0,-18-2,-82-5,-131 5,144 4,-412 23,0 25,54-6,-511 11,559-68,133 0,27 8,-452-2,169 16,-232 7,69-4,513-10,115-1,-7 0,-92 11,-90 33,-85 14,75-27,-503 82,271-40,350-57,-405 56,-620 72,1125-142,-209 14,216-15,0-2,0 0,-24-5,-77-30,-133-49,-788-213,817 238,207 56,0-1,0-2,-30-14,47 21,-1 0,1 0,0 0,-1 0,1-1,0 1,-1 0,1 0,0 0,-1 0,1-1,0 1,0 0,-1 0,1-1,0 1,0 0,0-1,-1 1,1 0,0 0,0-1,0 1,0 0,0-1,0 1,0 0,0-1,-1 1,1 0,0-1,0 1,1 0,-1-1,0 1,0-1,0 1,0 0,0 0,0-1,0 1,2-2,0 1,0 1,0-1,0 0,0 0,-1 1,1-1,0 1,0 0,4-1,141-3,130 10,80 2,1376 92,-1004-12,-13 45,-479-70,-47-1,81 20,-244-77,0-2,1-1,0-2,-1 0,55-9,-73 8,-6 0,20-3,-17-4,-6 7,-1 1,1-1,0 0,0 0,0 1,-1-1,1 0,-1 0,1 1,0-1,-1 0,1 1,-1-1,1 1,-1-1,-1 0,-10-9,0 2,0 0,-27-13,-134-52,-112-16,-133-3,-138 13,-105 18,-1813-31,2135 90,131 2,136 0,135-3,-33 1,233-12,147-8,106-1,117 2,2110-13,-1512 24,-848 7,-121 3,-93 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5:38:27.00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1,'450'28,"-286"-13,805 58,304-20,-170-49,-994-7,114-17,-211 18,-1-1,1 0,-1-1,0 0,0 0,0-1,14-10,-20 12,-1 1,0 0,1-1,0 1,0 1,-1-1,9-1,-9 3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5:38:34.58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2176 547,'2'2,"0"0,-1-1,1 1,0-1,1 0,-1 1,0-1,4 1,14 7,255 176,-173-112,247 159,-263-180,3-4,108 40,-68-37,11 5,222 57,301 20,-406-85,597 98,152 27,-931-159,127 4,-100-11,657 29,655-38,-1388 3,-18 0,0-1,0 0,0 0,-1 0,1-1,0 0,0-1,9-2,-17 3,0 1,1 0,-1 0,0 0,0 0,1 0,-1-1,0 1,0 0,1 0,-1-1,0 1,0 0,0 0,1-1,-1 1,0 0,0 0,0-1,0 1,0 0,0-1,1 1,-1 0,0-1,0 1,0 0,0 0,0-1,0 0,-12-15,-11-2,-48-30,-112-56,-383-147,-33 59,339 128,-3 11,-526-34,412 69,-588-48,491 4,10-29,319 49,136 40,0-2,0 1,-13-9,21 12,1 0,0 0,-1 0,1 0,0 0,-1 0,1 0,0-1,0 1,-1 0,1 0,0 0,0-1,-1 1,1 0,0 0,0-1,-1 1,1 0,0 0,0-1,0 1,0 0,0-1,-1 1,1 0,0-1,0 1,0 0,0-1,0 1,0 0,0-1,0 1,0 0,0-1,0 1,0 0,1-1,-1 1,0 0,0-1,0 1,0 0,0 0,1-1,-1 1,0 0,0 0,0-1,1 1,-1 0,0 0,0-1,1 1,-1 0,0 0,1 0,-1 0,1-1,6-1,0 0,0 0,0 0,13 0,79-7,416-10,-415 16,748-25,556-44,410-45,201-30,-138 5,-199 20,-228 30,-265 30,-310 26,-306 19,-273 15,-291 2,0 0,0 1,0-1,0 1,0 0,10 3,-15-4,0 0,0 0,0 1,0-1,0 0,0 0,0 0,0 0,1 0,-1 0,0 1,0-1,0 0,0 0,0 0,0 0,0 0,0 0,0 1,0-1,0 0,0 0,0 0,0 0,0 0,0 1,-1-1,1 0,0 0,0 0,0 0,0 0,0 0,0 0,0 1,0-1,0 0,0 0,-1 0,1 0,0 0,0 0,0 0,0 0,0 0,0 0,-1 0,1 0,0 0,0 1,0-1,-18 6,-206 31,-267 19,-236 18,-189 4,-136-4,-133-11,-2708 56,-965-82,3961-38,205-1,214 0,192 0,165 3,116 0,9 2,35 5,173 19,182 5,201-4,171-11,136-17,96-18,268-14,1970-34,-2779 66,-310 7,-128-6,0 2,33 7,-31 1,-20-10,0-1,-1 1,1-1,-1 1,0-1,1 1,-1-1,1 1,-1-1,0 1,1 0,-1-1,0 1,0 0,1-1,-1 1,0 0,0 0,0-1,0 2,-1 0,0 1,0-1,-1 1,1-1,0 0,-1 1,0-1,1 0,-1 0,0 0,0-1,0 1,0 0,-1-1,1 1,-3 1,-45 24,-1-2,-84 28,-302 93,-182 31,-201 37,-154 22,-86 2,-2252 398,2438-483,230-35,259-37,372-78,0 0,1 1,-1 1,-11 6,24-11,0 0,-1 0,1 0,0 0,0 0,-1 1,1-1,0 0,0 0,0 0,-1 0,1 0,0 1,0-1,0 0,0 0,-1 0,1 0,0 1,0-1,0 0,0 0,0 1,0-1,0 0,-1 0,1 1,0-1,0 0,0 0,0 1,0-1,0 0,0 0,0 1,0-1,1 0,-1 0,0 0,0 1,0-1,0 0,0 0,0 1,1-1,19 6,17-3,42-3,130-10,464-47,289-47,194-37,847-119,598-74,-1932 249,-277 31,-299 39,-77 11,-22 3,-263 30,-362 46,-348 47,-253 36,-126 13,-3688 410,4831-557,-633 73,274-27,235-27,142-24,543-55,-178 22,418-36,217-15,232-10,3110-139,-3556 198,-230 11,-233 5,-125 0,-13 1,-67 0,-353 0,-315-4,-200-11,-150-18,-49-19,64-17,182-4,242 2,260 5,383 62,1-1,0 0,0-1,0-1,-13-8,25 13,0 0,1 0,-1 0,1-1,0 1,-1 0,1-1,0 1,0 0,0-1,-1-2,2 4,-1-1,1 0,0 0,0 1,0-1,0 0,0 0,-1 0,2 1,-1-1,0 0,0 0,0 1,0-1,0 0,1 0,-1 1,0-1,1 0,0-1,2-1,0 0,1 0,-1 0,1 0,0 0,-1 1,1 0,0 0,1 0,-1 0,5-1,19-6,43-8,342-33,211 14,148 15,1332 44,-16 119,-1487-73,-164-4,-160-17,-169-26,-100-19,-13-3,-48-7,-94-16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5:41:30.19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1,'152'2,"68"11,126 16,100 8,102 5,90 1,77 1,4071 79,-4515-123,-212 1,88 12,-118-8,-1 2,0 1,0 1,42 20,101 63,-6-2,-129-74,0-1,69 19,-66-25,-1-2,1-1,1-2,-1-2,64-5,-56-3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5:41:31.49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1 900,'47'-3,"-21"-1,135-18,126-13,137-4,181 3,211 6,229 3,180 2,108-6,41-3,-125 0,-228 3,-143 2,1171-57,-258 10,-1279 56,-142-1,11-27,-12-21,25-3,504-28,-887 100,113-14,-40 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5:41:33.60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21960 272,'-30'0,"0"-2,-57-10,3-1,-183-20,-66-4,-66-1,-73 3,-90 9,-77 7,-1478-17,-1826 15,3721 25,-1241 24,10 34,939-29,-1238 39,360-34,868-18,-2478 19,1038-120,1654 53,93-1,86 5,78 10,54 14,-1 0,0 0,0 0,0-1,0 1,0 0,0 0,0 0,0 0,0 0,0 0,0 0,0 0,0 0,0 0,0 0,0 0,0 0,0-1,0 1,0 0,0 0,0 0,0 0,0 0,0 0,0 0,0 0,0 0,0 0,0 0,0-1,0 1,0 0,0 0,0 0,0 0,0 0,0 0,0 0,0 0,0 0,0 0,0 0,0 0,26 5,148 48,214 50,290 21,237-7,217-25,136-28,816-18,1-47,-689-15,-53-5,-61 0,-76 8,-137 11,-171 18,-193 16,-200 7,-178 3,-278-34,83 26,-90-16,-41-17,1-1,-1 1,1 0,-1 0,0 0,1 0,-1 1,0-1,0 0,0 0,0 1,0-1,0 0,1 4,-2-4,0 0,0 0,0 0,0 0,0 0,0 0,0 0,0 0,-1 0,1-1,0 1,-1 0,1 0,-1 0,1 0,-1 0,1 0,-1-1,1 1,-1 0,0-1,0 1,1 0,-2 0,-4 4,-1-1,1 0,-1 0,-14 5,-196 61,-182 27,-202 21,-173-1,-151-16,-119-17,-69-20,-50-22,-1120-6,-9-30,1472-5,124 0,198-1,181 1,155 0,135 2,26 0,8 1,106 26,151 21,165 9,193-5,205-12,173-13,121-12,64-9,76-6,2635-8,-2988 2,-43 2,-218-1,-226 1,-233 2,-177 1,-15 0,-45 4,-207 16,-190 4,-138-1,-133-5,-138-3,-120-4,-99-3,-2427-9,2400-14,56-9,76-4,114 4,122 4,126 6,116 5,119 5,111 5,209-2,1 1,0 4,-87 19,122-20,-1 0,-22 12,37-16,-1 0,1 0,0 1,-1-1,1 1,0 0,0-1,0 1,0 0,0 0,-2 4,4-5,0 0,-1 0,1 0,0 0,0 0,0 0,0 0,0 0,0 0,0 0,0 0,1 0,-1 0,0 0,1-1,-1 1,0 0,1 0,-1 0,1 0,-1-1,1 1,0 0,-1 0,1-1,0 1,-1 0,1-1,0 1,0-1,0 1,0-1,-1 0,1 1,1-1,8 5,-1-1,1 0,0-1,0 0,19 2,142 12,126-8,121-13,180-36,73-45,-620 78,818-108,144-3,131 10,1687-57,-4 105,-1982 57,-164 10,-185 6,-186 2,-164-2,-135-10,-9-1,-27 3,-139 2,-135-2,-957 27,703-23,-133 0,-107 0,-78-3,-108-2,-2166-19,2244-8,157-15,182-8,156 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5:41:39.68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1,'34'0,"-1"2,55 10,152 28,190 32,208 29,147 12,3420 228,-3500-330,-82-10,-67-7,-90-4,-94-1,-96-1,-90-1,-156 10,45-10,-54 4,-21 9,0 0,0 0,1-1,-1 1,0 0,0 0,0 0,0 0,1-1,-1 1,0 0,0 0,0 0,0-1,0 1,0 0,0 0,0 0,0-1,0 1,0 0,0 0,0-1,0 1,0 0,0 0,0 0,0-1,0 1,0 0,0 0,0-1,0 1,0 0,0 0,0 0,-1-1,1 1,0 0,0 0,0 0,0 0,0-1,-1 1,1 0,0 0,-8-4,0 1,0 0,0 1,0-1,0 1,-15-1,-160-20,-99 0,-109 3,-116 3,-90 3,-56 4,-71 3,-1555-45,5-72,1977 99,240 20,18 3,0-3,0 0,-68-21,91 18,16 8,-1-1,1 1,0 0,0 0,0 0,0 0,0-1,0 1,0 0,0 0,0 0,0 0,0-1,0 1,0 0,0 0,0 0,0 0,0 0,0-1,1 1,-1 0,0 0,0 0,0 0,0 0,0-1,0 1,0 0,0 0,1 0,-1 0,0 0,0 0,0 0,0-1,0 1,1 0,-1 0,0 0,0 0,0 0,0 0,1 0,-1 0,0 0,0 0,0 0,0 0,0 0,1 0,-1 0,0 0,0 0,0 0,0 0,1 1,17-2,0 1,30 4,139 18,123 11,117 2,145 0,113-3,108-9,131-7,1527-8,1-61,-1704 22,-154 5,-168 6,-135 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5:41:41.80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75,'0'-1,"0"1,0-1,0 1,0-1,0 0,0 1,0-1,1 1,-1-1,0 1,0-1,1 1,-1-1,0 1,1-1,-1 1,0-1,1 1,-1 0,1-1,-1 1,0-1,1 1,-1 0,1 0,-1-1,1 1,0 0,0-1,33-5,111-5,133 2,114 3,102 2,102 3,85 4,116 2,2838 13,-3149-17,-130-1,25-1,2607 0,-1709 2,-514-27,-639 15,58-2,274 13,-422 2,41 7,20 2,-90-11,87 5,139-12,-192 2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21T05:41:42.79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1,'277'0,"77"4,156 1,155 0,181 1,161 5,173 5,162 1,79-3,2939-15,-3139-19,-170 1,-213 2,-227 6,-182 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040890" y="2506344"/>
            <a:ext cx="5062219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33525" y="3821557"/>
            <a:ext cx="6076950" cy="17799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53794" y="495299"/>
            <a:ext cx="6836410" cy="13677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4540" y="2012949"/>
            <a:ext cx="6859905" cy="3686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150859" y="6290054"/>
            <a:ext cx="254634" cy="223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customXml" Target="../ink/ink3.xml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26" Type="http://schemas.openxmlformats.org/officeDocument/2006/relationships/image" Target="../media/image30.png"/><Relationship Id="rId39" Type="http://schemas.openxmlformats.org/officeDocument/2006/relationships/image" Target="../media/image43.png"/><Relationship Id="rId21" Type="http://schemas.openxmlformats.org/officeDocument/2006/relationships/image" Target="../media/image25.png"/><Relationship Id="rId34" Type="http://schemas.openxmlformats.org/officeDocument/2006/relationships/image" Target="../media/image38.png"/><Relationship Id="rId42" Type="http://schemas.openxmlformats.org/officeDocument/2006/relationships/image" Target="../media/image46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9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24" Type="http://schemas.openxmlformats.org/officeDocument/2006/relationships/image" Target="../media/image28.png"/><Relationship Id="rId32" Type="http://schemas.openxmlformats.org/officeDocument/2006/relationships/image" Target="../media/image36.png"/><Relationship Id="rId37" Type="http://schemas.openxmlformats.org/officeDocument/2006/relationships/image" Target="../media/image41.png"/><Relationship Id="rId40" Type="http://schemas.openxmlformats.org/officeDocument/2006/relationships/image" Target="../media/image44.png"/><Relationship Id="rId45" Type="http://schemas.openxmlformats.org/officeDocument/2006/relationships/image" Target="../media/image49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28" Type="http://schemas.openxmlformats.org/officeDocument/2006/relationships/image" Target="../media/image32.png"/><Relationship Id="rId36" Type="http://schemas.openxmlformats.org/officeDocument/2006/relationships/image" Target="../media/image40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31" Type="http://schemas.openxmlformats.org/officeDocument/2006/relationships/image" Target="../media/image35.png"/><Relationship Id="rId44" Type="http://schemas.openxmlformats.org/officeDocument/2006/relationships/image" Target="../media/image48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Relationship Id="rId27" Type="http://schemas.openxmlformats.org/officeDocument/2006/relationships/image" Target="../media/image31.png"/><Relationship Id="rId30" Type="http://schemas.openxmlformats.org/officeDocument/2006/relationships/image" Target="../media/image34.png"/><Relationship Id="rId35" Type="http://schemas.openxmlformats.org/officeDocument/2006/relationships/image" Target="../media/image39.png"/><Relationship Id="rId43" Type="http://schemas.openxmlformats.org/officeDocument/2006/relationships/image" Target="../media/image47.png"/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5" Type="http://schemas.openxmlformats.org/officeDocument/2006/relationships/image" Target="../media/image29.png"/><Relationship Id="rId33" Type="http://schemas.openxmlformats.org/officeDocument/2006/relationships/image" Target="../media/image37.png"/><Relationship Id="rId38" Type="http://schemas.openxmlformats.org/officeDocument/2006/relationships/image" Target="../media/image42.png"/><Relationship Id="rId20" Type="http://schemas.openxmlformats.org/officeDocument/2006/relationships/image" Target="../media/image24.png"/><Relationship Id="rId41" Type="http://schemas.openxmlformats.org/officeDocument/2006/relationships/image" Target="../media/image45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3" Type="http://schemas.openxmlformats.org/officeDocument/2006/relationships/image" Target="../media/image50.png"/><Relationship Id="rId7" Type="http://schemas.openxmlformats.org/officeDocument/2006/relationships/image" Target="../media/image52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11" Type="http://schemas.openxmlformats.org/officeDocument/2006/relationships/image" Target="../media/image54.png"/><Relationship Id="rId5" Type="http://schemas.openxmlformats.org/officeDocument/2006/relationships/image" Target="../media/image51.png"/><Relationship Id="rId10" Type="http://schemas.openxmlformats.org/officeDocument/2006/relationships/customXml" Target="../ink/ink8.xml"/><Relationship Id="rId4" Type="http://schemas.openxmlformats.org/officeDocument/2006/relationships/customXml" Target="../ink/ink5.xml"/><Relationship Id="rId9" Type="http://schemas.openxmlformats.org/officeDocument/2006/relationships/image" Target="../media/image5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7.png"/><Relationship Id="rId18" Type="http://schemas.openxmlformats.org/officeDocument/2006/relationships/image" Target="../media/image72.png"/><Relationship Id="rId26" Type="http://schemas.openxmlformats.org/officeDocument/2006/relationships/image" Target="../media/image80.png"/><Relationship Id="rId21" Type="http://schemas.openxmlformats.org/officeDocument/2006/relationships/image" Target="../media/image75.png"/><Relationship Id="rId34" Type="http://schemas.openxmlformats.org/officeDocument/2006/relationships/image" Target="../media/image88.png"/><Relationship Id="rId7" Type="http://schemas.openxmlformats.org/officeDocument/2006/relationships/image" Target="../media/image61.png"/><Relationship Id="rId12" Type="http://schemas.openxmlformats.org/officeDocument/2006/relationships/image" Target="../media/image66.png"/><Relationship Id="rId17" Type="http://schemas.openxmlformats.org/officeDocument/2006/relationships/image" Target="../media/image71.png"/><Relationship Id="rId25" Type="http://schemas.openxmlformats.org/officeDocument/2006/relationships/image" Target="../media/image79.png"/><Relationship Id="rId33" Type="http://schemas.openxmlformats.org/officeDocument/2006/relationships/image" Target="../media/image87.png"/><Relationship Id="rId2" Type="http://schemas.openxmlformats.org/officeDocument/2006/relationships/image" Target="../media/image56.png"/><Relationship Id="rId16" Type="http://schemas.openxmlformats.org/officeDocument/2006/relationships/image" Target="../media/image70.png"/><Relationship Id="rId20" Type="http://schemas.openxmlformats.org/officeDocument/2006/relationships/image" Target="../media/image74.png"/><Relationship Id="rId29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11" Type="http://schemas.openxmlformats.org/officeDocument/2006/relationships/image" Target="../media/image65.png"/><Relationship Id="rId24" Type="http://schemas.openxmlformats.org/officeDocument/2006/relationships/image" Target="../media/image78.png"/><Relationship Id="rId32" Type="http://schemas.openxmlformats.org/officeDocument/2006/relationships/image" Target="../media/image86.png"/><Relationship Id="rId37" Type="http://schemas.openxmlformats.org/officeDocument/2006/relationships/image" Target="../media/image91.png"/><Relationship Id="rId5" Type="http://schemas.openxmlformats.org/officeDocument/2006/relationships/image" Target="../media/image59.png"/><Relationship Id="rId15" Type="http://schemas.openxmlformats.org/officeDocument/2006/relationships/image" Target="../media/image69.png"/><Relationship Id="rId23" Type="http://schemas.openxmlformats.org/officeDocument/2006/relationships/image" Target="../media/image77.png"/><Relationship Id="rId28" Type="http://schemas.openxmlformats.org/officeDocument/2006/relationships/image" Target="../media/image82.png"/><Relationship Id="rId36" Type="http://schemas.openxmlformats.org/officeDocument/2006/relationships/image" Target="../media/image90.png"/><Relationship Id="rId10" Type="http://schemas.openxmlformats.org/officeDocument/2006/relationships/image" Target="../media/image64.png"/><Relationship Id="rId19" Type="http://schemas.openxmlformats.org/officeDocument/2006/relationships/image" Target="../media/image73.png"/><Relationship Id="rId31" Type="http://schemas.openxmlformats.org/officeDocument/2006/relationships/image" Target="../media/image85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Relationship Id="rId14" Type="http://schemas.openxmlformats.org/officeDocument/2006/relationships/image" Target="../media/image68.png"/><Relationship Id="rId22" Type="http://schemas.openxmlformats.org/officeDocument/2006/relationships/image" Target="../media/image76.png"/><Relationship Id="rId27" Type="http://schemas.openxmlformats.org/officeDocument/2006/relationships/image" Target="../media/image81.png"/><Relationship Id="rId30" Type="http://schemas.openxmlformats.org/officeDocument/2006/relationships/image" Target="../media/image84.png"/><Relationship Id="rId35" Type="http://schemas.openxmlformats.org/officeDocument/2006/relationships/image" Target="../media/image89.png"/><Relationship Id="rId8" Type="http://schemas.openxmlformats.org/officeDocument/2006/relationships/image" Target="../media/image62.png"/><Relationship Id="rId3" Type="http://schemas.openxmlformats.org/officeDocument/2006/relationships/image" Target="../media/image57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5.png"/><Relationship Id="rId4" Type="http://schemas.openxmlformats.org/officeDocument/2006/relationships/customXml" Target="../ink/ink1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7.png"/><Relationship Id="rId4" Type="http://schemas.openxmlformats.org/officeDocument/2006/relationships/customXml" Target="../ink/ink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0.png"/><Relationship Id="rId4" Type="http://schemas.openxmlformats.org/officeDocument/2006/relationships/customXml" Target="../ink/ink1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7" Type="http://schemas.openxmlformats.org/officeDocument/2006/relationships/image" Target="../media/image103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9.xml"/><Relationship Id="rId5" Type="http://schemas.openxmlformats.org/officeDocument/2006/relationships/image" Target="../media/image102.png"/><Relationship Id="rId4" Type="http://schemas.openxmlformats.org/officeDocument/2006/relationships/customXml" Target="../ink/ink18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7" Type="http://schemas.openxmlformats.org/officeDocument/2006/relationships/image" Target="../media/image106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2.xml"/><Relationship Id="rId5" Type="http://schemas.openxmlformats.org/officeDocument/2006/relationships/image" Target="../media/image105.png"/><Relationship Id="rId4" Type="http://schemas.openxmlformats.org/officeDocument/2006/relationships/customXml" Target="../ink/ink2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66134" y="2506344"/>
            <a:ext cx="24117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>
                <a:latin typeface="Tahoma"/>
                <a:cs typeface="Tahoma"/>
              </a:rPr>
              <a:t>More</a:t>
            </a:r>
            <a:r>
              <a:rPr sz="4400" spc="-75" dirty="0">
                <a:latin typeface="Tahoma"/>
                <a:cs typeface="Tahoma"/>
              </a:rPr>
              <a:t> </a:t>
            </a:r>
            <a:r>
              <a:rPr sz="4400" spc="-5" dirty="0">
                <a:latin typeface="Tahoma"/>
                <a:cs typeface="Tahoma"/>
              </a:rPr>
              <a:t>SQL</a:t>
            </a:r>
            <a:endParaRPr sz="44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9900"/>
              </a:lnSpc>
              <a:spcBef>
                <a:spcPts val="100"/>
              </a:spcBef>
            </a:pPr>
            <a:r>
              <a:rPr spc="-5" dirty="0"/>
              <a:t>Extended </a:t>
            </a:r>
            <a:r>
              <a:rPr spc="-10" dirty="0"/>
              <a:t>Relational Algebra  </a:t>
            </a:r>
            <a:r>
              <a:rPr spc="-5" dirty="0"/>
              <a:t>Outerjoins,</a:t>
            </a:r>
            <a:r>
              <a:rPr spc="-50" dirty="0"/>
              <a:t> </a:t>
            </a:r>
            <a:r>
              <a:rPr spc="-5" dirty="0"/>
              <a:t>Grouping/Aggregation  Insert/Delete/Update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42135" y="829944"/>
            <a:ext cx="54603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The Extended</a:t>
            </a:r>
            <a:r>
              <a:rPr spc="-55" dirty="0"/>
              <a:t> </a:t>
            </a:r>
            <a:r>
              <a:rPr spc="-15" dirty="0"/>
              <a:t>Algebra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82135" y="1855977"/>
            <a:ext cx="8080375" cy="3860031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66040">
              <a:lnSpc>
                <a:spcPct val="100000"/>
              </a:lnSpc>
              <a:spcBef>
                <a:spcPts val="1060"/>
              </a:spcBef>
            </a:pPr>
            <a:r>
              <a:rPr sz="4000" spc="-5" dirty="0">
                <a:latin typeface="Lucida Sans Unicode"/>
                <a:cs typeface="Lucida Sans Unicode"/>
              </a:rPr>
              <a:t>δ </a:t>
            </a:r>
            <a:r>
              <a:rPr sz="3200" dirty="0">
                <a:latin typeface="Tahoma"/>
                <a:cs typeface="Tahoma"/>
              </a:rPr>
              <a:t>= </a:t>
            </a:r>
            <a:r>
              <a:rPr sz="3200" spc="-5" dirty="0">
                <a:latin typeface="Tahoma"/>
                <a:cs typeface="Tahoma"/>
              </a:rPr>
              <a:t>eliminate</a:t>
            </a:r>
            <a:r>
              <a:rPr lang="zh-CN" altLang="en-US" sz="3200" spc="-5" dirty="0">
                <a:latin typeface="Tahoma"/>
                <a:cs typeface="Tahoma"/>
              </a:rPr>
              <a:t>消除 </a:t>
            </a:r>
            <a:r>
              <a:rPr sz="3200" spc="-5" dirty="0">
                <a:latin typeface="Tahoma"/>
                <a:cs typeface="Tahoma"/>
              </a:rPr>
              <a:t>duplicates</a:t>
            </a:r>
            <a:r>
              <a:rPr lang="zh-CN" altLang="en-US" sz="3200" spc="-5" dirty="0">
                <a:latin typeface="Tahoma"/>
                <a:cs typeface="Tahoma"/>
              </a:rPr>
              <a:t>重复项 </a:t>
            </a:r>
            <a:r>
              <a:rPr sz="3200" spc="-10" dirty="0">
                <a:latin typeface="Tahoma"/>
                <a:cs typeface="Tahoma"/>
              </a:rPr>
              <a:t>from</a:t>
            </a:r>
            <a:r>
              <a:rPr sz="3200" spc="-28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bags.</a:t>
            </a:r>
            <a:endParaRPr sz="3200" dirty="0">
              <a:latin typeface="Tahoma"/>
              <a:cs typeface="Tahoma"/>
            </a:endParaRPr>
          </a:p>
          <a:p>
            <a:pPr marL="66040">
              <a:lnSpc>
                <a:spcPct val="100000"/>
              </a:lnSpc>
              <a:spcBef>
                <a:spcPts val="960"/>
              </a:spcBef>
            </a:pPr>
            <a:r>
              <a:rPr sz="4000" spc="-5" dirty="0">
                <a:latin typeface="Lucida Sans Unicode"/>
                <a:cs typeface="Lucida Sans Unicode"/>
              </a:rPr>
              <a:t>τ </a:t>
            </a:r>
            <a:r>
              <a:rPr sz="3200" dirty="0">
                <a:latin typeface="Tahoma"/>
                <a:cs typeface="Tahoma"/>
              </a:rPr>
              <a:t>= </a:t>
            </a:r>
            <a:r>
              <a:rPr sz="3200" spc="-5" dirty="0">
                <a:latin typeface="Tahoma"/>
                <a:cs typeface="Tahoma"/>
              </a:rPr>
              <a:t>sort</a:t>
            </a:r>
            <a:r>
              <a:rPr sz="3200" spc="-27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tuples.</a:t>
            </a:r>
            <a:endParaRPr sz="3200" dirty="0">
              <a:latin typeface="Tahoma"/>
              <a:cs typeface="Tahoma"/>
            </a:endParaRPr>
          </a:p>
          <a:p>
            <a:pPr marL="66040">
              <a:lnSpc>
                <a:spcPct val="100000"/>
              </a:lnSpc>
              <a:spcBef>
                <a:spcPts val="960"/>
              </a:spcBef>
            </a:pPr>
            <a:r>
              <a:rPr sz="4000" spc="-5" dirty="0">
                <a:latin typeface="Lucida Sans Unicode"/>
                <a:cs typeface="Lucida Sans Unicode"/>
              </a:rPr>
              <a:t>γ </a:t>
            </a:r>
            <a:r>
              <a:rPr sz="3200" dirty="0">
                <a:latin typeface="Tahoma"/>
                <a:cs typeface="Tahoma"/>
              </a:rPr>
              <a:t>= </a:t>
            </a:r>
            <a:r>
              <a:rPr sz="3200" spc="-5" dirty="0">
                <a:latin typeface="Tahoma"/>
                <a:cs typeface="Tahoma"/>
              </a:rPr>
              <a:t>grouping and</a:t>
            </a:r>
            <a:r>
              <a:rPr sz="3200" spc="-28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aggregation.</a:t>
            </a:r>
            <a:endParaRPr sz="3200" dirty="0">
              <a:latin typeface="Tahoma"/>
              <a:cs typeface="Tahoma"/>
            </a:endParaRPr>
          </a:p>
          <a:p>
            <a:pPr marL="675640" marR="5080" indent="-663575">
              <a:lnSpc>
                <a:spcPts val="3840"/>
              </a:lnSpc>
              <a:spcBef>
                <a:spcPts val="1170"/>
              </a:spcBef>
            </a:pPr>
            <a:r>
              <a:rPr lang="en-US" altLang="zh-CN" sz="3600" dirty="0" err="1">
                <a:effectLst/>
              </a:rPr>
              <a:t>Outerjoin</a:t>
            </a:r>
            <a:r>
              <a:rPr sz="3200" spc="-930" dirty="0">
                <a:latin typeface="Tahoma"/>
                <a:cs typeface="Tahoma"/>
              </a:rPr>
              <a:t>: </a:t>
            </a:r>
            <a:r>
              <a:rPr sz="3200" spc="-15" dirty="0">
                <a:latin typeface="Tahoma"/>
                <a:cs typeface="Tahoma"/>
              </a:rPr>
              <a:t>avoids </a:t>
            </a:r>
            <a:r>
              <a:rPr sz="3200" spc="-5" dirty="0">
                <a:latin typeface="Tahoma"/>
                <a:cs typeface="Tahoma"/>
              </a:rPr>
              <a:t>“</a:t>
            </a:r>
            <a:r>
              <a:rPr sz="3200" spc="-5" dirty="0">
                <a:solidFill>
                  <a:srgbClr val="FF0066"/>
                </a:solidFill>
                <a:latin typeface="Tahoma"/>
                <a:cs typeface="Tahoma"/>
              </a:rPr>
              <a:t>dangling tuples</a:t>
            </a:r>
            <a:r>
              <a:rPr sz="3200" spc="-5" dirty="0">
                <a:latin typeface="Tahoma"/>
                <a:cs typeface="Tahoma"/>
              </a:rPr>
              <a:t>” </a:t>
            </a:r>
            <a:r>
              <a:rPr sz="3200" dirty="0">
                <a:latin typeface="Tahoma"/>
                <a:cs typeface="Tahoma"/>
              </a:rPr>
              <a:t>= </a:t>
            </a:r>
            <a:r>
              <a:rPr sz="3200" spc="-5" dirty="0">
                <a:latin typeface="Tahoma"/>
                <a:cs typeface="Tahoma"/>
              </a:rPr>
              <a:t>tuples  that </a:t>
            </a:r>
            <a:r>
              <a:rPr sz="3200" dirty="0">
                <a:latin typeface="Tahoma"/>
                <a:cs typeface="Tahoma"/>
              </a:rPr>
              <a:t>do </a:t>
            </a:r>
            <a:r>
              <a:rPr sz="3200" spc="-5" dirty="0">
                <a:latin typeface="Tahoma"/>
                <a:cs typeface="Tahoma"/>
              </a:rPr>
              <a:t>not join with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anything.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78025" y="829944"/>
            <a:ext cx="51879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Duplicate</a:t>
            </a:r>
            <a:r>
              <a:rPr spc="-50" dirty="0"/>
              <a:t> </a:t>
            </a:r>
            <a:r>
              <a:rPr spc="-5" dirty="0"/>
              <a:t>Elimination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813865"/>
            <a:ext cx="7220584" cy="2399375"/>
          </a:xfrm>
          <a:prstGeom prst="rect">
            <a:avLst/>
          </a:prstGeom>
        </p:spPr>
        <p:txBody>
          <a:bodyPr vert="horz" wrap="square" lIns="0" tIns="176530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13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R1 :=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4000" spc="-5" dirty="0">
                <a:latin typeface="Lucida Sans Unicode"/>
                <a:cs typeface="Lucida Sans Unicode"/>
              </a:rPr>
              <a:t>δ</a:t>
            </a:r>
            <a:r>
              <a:rPr sz="3200" spc="-5" dirty="0">
                <a:latin typeface="Tahoma"/>
                <a:cs typeface="Tahoma"/>
              </a:rPr>
              <a:t>(R2).</a:t>
            </a:r>
            <a:r>
              <a:rPr lang="zh-CN" altLang="en-US" sz="3200" spc="-5" dirty="0">
                <a:latin typeface="Tahoma"/>
                <a:cs typeface="Tahoma"/>
              </a:rPr>
              <a:t>消除重复项</a:t>
            </a:r>
            <a:endParaRPr sz="3200" dirty="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104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R1 </a:t>
            </a:r>
            <a:r>
              <a:rPr sz="3200" spc="-5" dirty="0">
                <a:latin typeface="Tahoma"/>
                <a:cs typeface="Tahoma"/>
              </a:rPr>
              <a:t>consists</a:t>
            </a:r>
            <a:r>
              <a:rPr lang="zh-CN" altLang="en-US" sz="3200" spc="-5" dirty="0">
                <a:latin typeface="Tahoma"/>
                <a:cs typeface="Tahoma"/>
              </a:rPr>
              <a:t>由 组成</a:t>
            </a:r>
            <a:r>
              <a:rPr sz="3200" spc="-5" dirty="0">
                <a:latin typeface="Tahoma"/>
                <a:cs typeface="Tahoma"/>
              </a:rPr>
              <a:t>of one copy of each tuple  that appears in </a:t>
            </a:r>
            <a:r>
              <a:rPr sz="3200" dirty="0">
                <a:latin typeface="Tahoma"/>
                <a:cs typeface="Tahoma"/>
              </a:rPr>
              <a:t>R2 </a:t>
            </a:r>
            <a:r>
              <a:rPr sz="3200" spc="-5" dirty="0">
                <a:latin typeface="Tahoma"/>
                <a:cs typeface="Tahoma"/>
              </a:rPr>
              <a:t>one or more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times.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0569" y="829944"/>
            <a:ext cx="76434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Duplicate</a:t>
            </a:r>
            <a:r>
              <a:rPr spc="-25" dirty="0"/>
              <a:t> </a:t>
            </a:r>
            <a:r>
              <a:rPr spc="-5" dirty="0"/>
              <a:t>Elimination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05864" y="2198687"/>
            <a:ext cx="11226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08660" algn="l"/>
              </a:tabLst>
            </a:pP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R =	(</a:t>
            </a:r>
            <a:r>
              <a:rPr sz="2400" spc="-45" dirty="0">
                <a:solidFill>
                  <a:srgbClr val="CC00CC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A</a:t>
            </a:r>
            <a:endParaRPr sz="2400">
              <a:latin typeface="Tahoma"/>
              <a:cs typeface="Tahoma"/>
            </a:endParaRPr>
          </a:p>
          <a:p>
            <a:pPr marR="20955" algn="r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1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34664" y="2198687"/>
            <a:ext cx="41719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B</a:t>
            </a:r>
            <a:r>
              <a:rPr sz="2400" spc="-100" dirty="0">
                <a:solidFill>
                  <a:srgbClr val="CC00CC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)  </a:t>
            </a:r>
            <a:r>
              <a:rPr sz="2400" dirty="0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20264" y="2930207"/>
            <a:ext cx="19240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3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1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34664" y="2930207"/>
            <a:ext cx="19240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4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052637" y="2205037"/>
            <a:ext cx="1228725" cy="1533525"/>
          </a:xfrm>
          <a:custGeom>
            <a:avLst/>
            <a:gdLst/>
            <a:ahLst/>
            <a:cxnLst/>
            <a:rect l="l" t="t" r="r" b="b"/>
            <a:pathLst>
              <a:path w="1228725" h="1533525">
                <a:moveTo>
                  <a:pt x="1228725" y="1533525"/>
                </a:moveTo>
                <a:lnTo>
                  <a:pt x="0" y="1533525"/>
                </a:lnTo>
                <a:lnTo>
                  <a:pt x="0" y="0"/>
                </a:lnTo>
                <a:lnTo>
                  <a:pt x="1228725" y="0"/>
                </a:lnTo>
                <a:lnTo>
                  <a:pt x="1228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524000"/>
                </a:lnTo>
                <a:lnTo>
                  <a:pt x="4762" y="1524000"/>
                </a:lnTo>
                <a:lnTo>
                  <a:pt x="9525" y="1528762"/>
                </a:lnTo>
                <a:lnTo>
                  <a:pt x="1228725" y="1528762"/>
                </a:lnTo>
                <a:lnTo>
                  <a:pt x="1228725" y="1533525"/>
                </a:lnTo>
                <a:close/>
              </a:path>
              <a:path w="1228725" h="1533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228725" h="1533525">
                <a:moveTo>
                  <a:pt x="1219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19200" y="4762"/>
                </a:lnTo>
                <a:lnTo>
                  <a:pt x="1219200" y="9525"/>
                </a:lnTo>
                <a:close/>
              </a:path>
              <a:path w="1228725" h="1533525">
                <a:moveTo>
                  <a:pt x="1219200" y="1528762"/>
                </a:moveTo>
                <a:lnTo>
                  <a:pt x="1219200" y="4762"/>
                </a:lnTo>
                <a:lnTo>
                  <a:pt x="1223962" y="9525"/>
                </a:lnTo>
                <a:lnTo>
                  <a:pt x="1228725" y="9525"/>
                </a:lnTo>
                <a:lnTo>
                  <a:pt x="1228725" y="1524000"/>
                </a:lnTo>
                <a:lnTo>
                  <a:pt x="1223962" y="1524000"/>
                </a:lnTo>
                <a:lnTo>
                  <a:pt x="1219200" y="1528762"/>
                </a:lnTo>
                <a:close/>
              </a:path>
              <a:path w="1228725" h="1533525">
                <a:moveTo>
                  <a:pt x="1228725" y="9525"/>
                </a:moveTo>
                <a:lnTo>
                  <a:pt x="1223962" y="9525"/>
                </a:lnTo>
                <a:lnTo>
                  <a:pt x="1219200" y="4762"/>
                </a:lnTo>
                <a:lnTo>
                  <a:pt x="1228725" y="4762"/>
                </a:lnTo>
                <a:lnTo>
                  <a:pt x="1228725" y="9525"/>
                </a:lnTo>
                <a:close/>
              </a:path>
              <a:path w="1228725" h="1533525">
                <a:moveTo>
                  <a:pt x="9525" y="1528762"/>
                </a:moveTo>
                <a:lnTo>
                  <a:pt x="4762" y="1524000"/>
                </a:lnTo>
                <a:lnTo>
                  <a:pt x="9525" y="1524000"/>
                </a:lnTo>
                <a:lnTo>
                  <a:pt x="9525" y="1528762"/>
                </a:lnTo>
                <a:close/>
              </a:path>
              <a:path w="1228725" h="1533525">
                <a:moveTo>
                  <a:pt x="1219200" y="1528762"/>
                </a:moveTo>
                <a:lnTo>
                  <a:pt x="9525" y="1528762"/>
                </a:lnTo>
                <a:lnTo>
                  <a:pt x="9525" y="1524000"/>
                </a:lnTo>
                <a:lnTo>
                  <a:pt x="1219200" y="1524000"/>
                </a:lnTo>
                <a:lnTo>
                  <a:pt x="1219200" y="1528762"/>
                </a:lnTo>
                <a:close/>
              </a:path>
              <a:path w="1228725" h="1533525">
                <a:moveTo>
                  <a:pt x="1228725" y="1528762"/>
                </a:moveTo>
                <a:lnTo>
                  <a:pt x="1219200" y="1528762"/>
                </a:lnTo>
                <a:lnTo>
                  <a:pt x="1223962" y="1524000"/>
                </a:lnTo>
                <a:lnTo>
                  <a:pt x="1228725" y="1524000"/>
                </a:lnTo>
                <a:lnTo>
                  <a:pt x="1228725" y="1528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057400" y="2590800"/>
            <a:ext cx="1219200" cy="0"/>
          </a:xfrm>
          <a:custGeom>
            <a:avLst/>
            <a:gdLst/>
            <a:ahLst/>
            <a:cxnLst/>
            <a:rect l="l" t="t" r="r" b="b"/>
            <a:pathLst>
              <a:path w="1219200">
                <a:moveTo>
                  <a:pt x="0" y="0"/>
                </a:moveTo>
                <a:lnTo>
                  <a:pt x="12192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667000" y="2209800"/>
            <a:ext cx="0" cy="1524000"/>
          </a:xfrm>
          <a:custGeom>
            <a:avLst/>
            <a:gdLst/>
            <a:ahLst/>
            <a:cxnLst/>
            <a:rect l="l" t="t" r="r" b="b"/>
            <a:pathLst>
              <a:path h="1524000">
                <a:moveTo>
                  <a:pt x="0" y="0"/>
                </a:moveTo>
                <a:lnTo>
                  <a:pt x="0" y="1524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297939" y="4148772"/>
            <a:ext cx="100584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Lucida Sans Unicode"/>
                <a:cs typeface="Lucida Sans Unicode"/>
              </a:rPr>
              <a:t>δ</a:t>
            </a:r>
            <a:r>
              <a:rPr sz="2400" spc="-5" dirty="0">
                <a:latin typeface="Tahoma"/>
                <a:cs typeface="Tahoma"/>
              </a:rPr>
              <a:t>(R)</a:t>
            </a:r>
            <a:r>
              <a:rPr sz="2400" spc="-7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=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26739" y="4251007"/>
            <a:ext cx="208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A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41140" y="4251007"/>
            <a:ext cx="20510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B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126739" y="4664392"/>
            <a:ext cx="19240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1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3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41140" y="4664392"/>
            <a:ext cx="19240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4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059112" y="4229100"/>
            <a:ext cx="1228725" cy="1152525"/>
          </a:xfrm>
          <a:custGeom>
            <a:avLst/>
            <a:gdLst/>
            <a:ahLst/>
            <a:cxnLst/>
            <a:rect l="l" t="t" r="r" b="b"/>
            <a:pathLst>
              <a:path w="1228725" h="1152525">
                <a:moveTo>
                  <a:pt x="1228725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1228725" y="0"/>
                </a:lnTo>
                <a:lnTo>
                  <a:pt x="1228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1228725" y="1147762"/>
                </a:lnTo>
                <a:lnTo>
                  <a:pt x="1228725" y="1152525"/>
                </a:lnTo>
                <a:close/>
              </a:path>
              <a:path w="1228725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228725" h="1152525">
                <a:moveTo>
                  <a:pt x="1219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19200" y="4762"/>
                </a:lnTo>
                <a:lnTo>
                  <a:pt x="1219200" y="9525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1219200" y="4762"/>
                </a:lnTo>
                <a:lnTo>
                  <a:pt x="1223962" y="9525"/>
                </a:lnTo>
                <a:lnTo>
                  <a:pt x="1228725" y="9525"/>
                </a:lnTo>
                <a:lnTo>
                  <a:pt x="1228725" y="1143000"/>
                </a:lnTo>
                <a:lnTo>
                  <a:pt x="1223962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9525"/>
                </a:moveTo>
                <a:lnTo>
                  <a:pt x="1223962" y="9525"/>
                </a:lnTo>
                <a:lnTo>
                  <a:pt x="1219200" y="4762"/>
                </a:lnTo>
                <a:lnTo>
                  <a:pt x="1228725" y="4762"/>
                </a:lnTo>
                <a:lnTo>
                  <a:pt x="1228725" y="9525"/>
                </a:lnTo>
                <a:close/>
              </a:path>
              <a:path w="1228725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1219200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1147762"/>
                </a:moveTo>
                <a:lnTo>
                  <a:pt x="1219200" y="1147762"/>
                </a:lnTo>
                <a:lnTo>
                  <a:pt x="1223962" y="1143000"/>
                </a:lnTo>
                <a:lnTo>
                  <a:pt x="1228725" y="1143000"/>
                </a:lnTo>
                <a:lnTo>
                  <a:pt x="1228725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063875" y="4614862"/>
            <a:ext cx="1219200" cy="0"/>
          </a:xfrm>
          <a:custGeom>
            <a:avLst/>
            <a:gdLst/>
            <a:ahLst/>
            <a:cxnLst/>
            <a:rect l="l" t="t" r="r" b="b"/>
            <a:pathLst>
              <a:path w="1219200">
                <a:moveTo>
                  <a:pt x="0" y="0"/>
                </a:moveTo>
                <a:lnTo>
                  <a:pt x="12192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673475" y="4233862"/>
            <a:ext cx="0" cy="1143000"/>
          </a:xfrm>
          <a:custGeom>
            <a:avLst/>
            <a:gdLst/>
            <a:ahLst/>
            <a:cxnLst/>
            <a:rect l="l" t="t" r="r" b="b"/>
            <a:pathLst>
              <a:path h="1143000">
                <a:moveTo>
                  <a:pt x="0" y="0"/>
                </a:moveTo>
                <a:lnTo>
                  <a:pt x="0" y="1143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4</a:t>
            </a:fld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3634" y="829944"/>
            <a:ext cx="177736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Sorting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39140" y="1701500"/>
            <a:ext cx="7594600" cy="406146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388620" indent="-351155">
              <a:lnSpc>
                <a:spcPct val="100000"/>
              </a:lnSpc>
              <a:spcBef>
                <a:spcPts val="1105"/>
              </a:spcBef>
              <a:buClr>
                <a:srgbClr val="CC00CC"/>
              </a:buClr>
              <a:buSzPct val="96428"/>
              <a:buFont typeface="Wingdings"/>
              <a:buChar char=""/>
              <a:tabLst>
                <a:tab pos="389255" algn="l"/>
              </a:tabLst>
            </a:pPr>
            <a:r>
              <a:rPr sz="2800" spc="-5" dirty="0">
                <a:latin typeface="Tahoma"/>
                <a:cs typeface="Tahoma"/>
              </a:rPr>
              <a:t>R1 := </a:t>
            </a:r>
            <a:r>
              <a:rPr sz="3600" spc="-85" dirty="0">
                <a:latin typeface="Lucida Sans Unicode"/>
                <a:cs typeface="Lucida Sans Unicode"/>
              </a:rPr>
              <a:t>τ</a:t>
            </a:r>
            <a:r>
              <a:rPr sz="2850" i="1" spc="-127" baseline="-16081" dirty="0">
                <a:latin typeface="Tahoma"/>
                <a:cs typeface="Tahoma"/>
              </a:rPr>
              <a:t>L</a:t>
            </a:r>
            <a:r>
              <a:rPr sz="2850" i="1" spc="-457" baseline="-16081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(R2).</a:t>
            </a:r>
            <a:endParaRPr sz="2800" dirty="0">
              <a:latin typeface="Tahoma"/>
              <a:cs typeface="Tahoma"/>
            </a:endParaRPr>
          </a:p>
          <a:p>
            <a:pPr marL="760730" lvl="1" indent="-266065">
              <a:lnSpc>
                <a:spcPct val="100000"/>
              </a:lnSpc>
              <a:spcBef>
                <a:spcPts val="725"/>
              </a:spcBef>
              <a:buClr>
                <a:srgbClr val="CC00CC"/>
              </a:buClr>
              <a:buSzPct val="96000"/>
              <a:buFont typeface="Wingdings"/>
              <a:buChar char=""/>
              <a:tabLst>
                <a:tab pos="761365" algn="l"/>
              </a:tabLst>
            </a:pPr>
            <a:r>
              <a:rPr sz="2500" i="1" spc="-50" dirty="0">
                <a:latin typeface="Tahoma"/>
                <a:cs typeface="Tahoma"/>
              </a:rPr>
              <a:t>L </a:t>
            </a:r>
            <a:r>
              <a:rPr sz="2400" dirty="0">
                <a:latin typeface="Tahoma"/>
                <a:cs typeface="Tahoma"/>
              </a:rPr>
              <a:t>is a </a:t>
            </a:r>
            <a:r>
              <a:rPr sz="2400" spc="-5" dirty="0">
                <a:latin typeface="Tahoma"/>
                <a:cs typeface="Tahoma"/>
              </a:rPr>
              <a:t>list </a:t>
            </a:r>
            <a:r>
              <a:rPr sz="2400" dirty="0">
                <a:latin typeface="Tahoma"/>
                <a:cs typeface="Tahoma"/>
              </a:rPr>
              <a:t>of </a:t>
            </a:r>
            <a:r>
              <a:rPr sz="2400" spc="-5" dirty="0">
                <a:latin typeface="Tahoma"/>
                <a:cs typeface="Tahoma"/>
              </a:rPr>
              <a:t>some </a:t>
            </a:r>
            <a:r>
              <a:rPr sz="2400" dirty="0">
                <a:latin typeface="Tahoma"/>
                <a:cs typeface="Tahoma"/>
              </a:rPr>
              <a:t>of the </a:t>
            </a:r>
            <a:r>
              <a:rPr sz="2400" spc="-5" dirty="0">
                <a:latin typeface="Tahoma"/>
                <a:cs typeface="Tahoma"/>
              </a:rPr>
              <a:t>attributes </a:t>
            </a:r>
            <a:r>
              <a:rPr sz="2400" dirty="0">
                <a:latin typeface="Tahoma"/>
                <a:cs typeface="Tahoma"/>
              </a:rPr>
              <a:t>of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R2.</a:t>
            </a:r>
            <a:endParaRPr sz="2400" dirty="0">
              <a:latin typeface="Tahoma"/>
              <a:cs typeface="Tahoma"/>
            </a:endParaRPr>
          </a:p>
          <a:p>
            <a:pPr marL="381000" marR="365760" indent="-342900">
              <a:lnSpc>
                <a:spcPts val="3360"/>
              </a:lnSpc>
              <a:spcBef>
                <a:spcPts val="765"/>
              </a:spcBef>
              <a:buClr>
                <a:srgbClr val="CC00CC"/>
              </a:buClr>
              <a:buSzPct val="96428"/>
              <a:buFont typeface="Wingdings"/>
              <a:buChar char=""/>
              <a:tabLst>
                <a:tab pos="389255" algn="l"/>
              </a:tabLst>
            </a:pPr>
            <a:r>
              <a:rPr sz="2800" spc="-5" dirty="0">
                <a:latin typeface="Tahoma"/>
                <a:cs typeface="Tahoma"/>
              </a:rPr>
              <a:t>R1 is the list of tuples of R2 sorted first on  the </a:t>
            </a:r>
            <a:r>
              <a:rPr sz="2800" spc="-15" dirty="0">
                <a:latin typeface="Tahoma"/>
                <a:cs typeface="Tahoma"/>
              </a:rPr>
              <a:t>value </a:t>
            </a:r>
            <a:r>
              <a:rPr sz="2800" spc="-5" dirty="0">
                <a:latin typeface="Tahoma"/>
                <a:cs typeface="Tahoma"/>
              </a:rPr>
              <a:t>of the first attribute on </a:t>
            </a:r>
            <a:r>
              <a:rPr sz="2900" i="1" spc="-475" dirty="0">
                <a:latin typeface="Tahoma"/>
                <a:cs typeface="Tahoma"/>
              </a:rPr>
              <a:t>L</a:t>
            </a:r>
            <a:r>
              <a:rPr sz="2800" spc="-475" dirty="0">
                <a:latin typeface="Tahoma"/>
                <a:cs typeface="Tahoma"/>
              </a:rPr>
              <a:t>, </a:t>
            </a:r>
            <a:r>
              <a:rPr sz="2800" spc="-5" dirty="0">
                <a:latin typeface="Tahoma"/>
                <a:cs typeface="Tahoma"/>
              </a:rPr>
              <a:t>then on  the second attribute of </a:t>
            </a:r>
            <a:r>
              <a:rPr sz="2900" i="1" spc="-475" dirty="0">
                <a:latin typeface="Tahoma"/>
                <a:cs typeface="Tahoma"/>
              </a:rPr>
              <a:t>L</a:t>
            </a:r>
            <a:r>
              <a:rPr sz="2800" spc="-475" dirty="0">
                <a:latin typeface="Tahoma"/>
                <a:cs typeface="Tahoma"/>
              </a:rPr>
              <a:t>, </a:t>
            </a:r>
            <a:r>
              <a:rPr sz="2800" spc="-5" dirty="0">
                <a:latin typeface="Tahoma"/>
                <a:cs typeface="Tahoma"/>
              </a:rPr>
              <a:t>and so</a:t>
            </a:r>
            <a:r>
              <a:rPr sz="2800" spc="-9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on.</a:t>
            </a:r>
            <a:endParaRPr sz="2800" dirty="0">
              <a:latin typeface="Tahoma"/>
              <a:cs typeface="Tahoma"/>
            </a:endParaRPr>
          </a:p>
          <a:p>
            <a:pPr marL="781050" lvl="1" indent="-285750">
              <a:lnSpc>
                <a:spcPct val="100000"/>
              </a:lnSpc>
              <a:spcBef>
                <a:spcPts val="459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400" spc="-5" dirty="0">
                <a:latin typeface="Tahoma"/>
                <a:cs typeface="Tahoma"/>
              </a:rPr>
              <a:t>Break </a:t>
            </a:r>
            <a:r>
              <a:rPr sz="2400" dirty="0">
                <a:latin typeface="Tahoma"/>
                <a:cs typeface="Tahoma"/>
              </a:rPr>
              <a:t>ties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arbitrarily.</a:t>
            </a:r>
            <a:endParaRPr sz="2400" dirty="0">
              <a:latin typeface="Tahoma"/>
              <a:cs typeface="Tahoma"/>
            </a:endParaRPr>
          </a:p>
          <a:p>
            <a:pPr marL="381000" marR="30480" indent="-342900">
              <a:lnSpc>
                <a:spcPct val="105800"/>
              </a:lnSpc>
              <a:spcBef>
                <a:spcPts val="360"/>
              </a:spcBef>
              <a:buClr>
                <a:srgbClr val="CC00CC"/>
              </a:buClr>
              <a:buSzPct val="97222"/>
              <a:buFont typeface="Wingdings"/>
              <a:buChar char=""/>
              <a:tabLst>
                <a:tab pos="490220" algn="l"/>
              </a:tabLst>
            </a:pPr>
            <a:r>
              <a:rPr sz="3600" dirty="0">
                <a:latin typeface="Lucida Sans Unicode"/>
                <a:cs typeface="Lucida Sans Unicode"/>
              </a:rPr>
              <a:t>τ </a:t>
            </a:r>
            <a:r>
              <a:rPr sz="2800" spc="-5" dirty="0">
                <a:latin typeface="Tahoma"/>
                <a:cs typeface="Tahoma"/>
              </a:rPr>
              <a:t>is the only </a:t>
            </a:r>
            <a:r>
              <a:rPr sz="2800" spc="-10" dirty="0">
                <a:latin typeface="Tahoma"/>
                <a:cs typeface="Tahoma"/>
              </a:rPr>
              <a:t>operator </a:t>
            </a:r>
            <a:r>
              <a:rPr sz="2800" spc="-5" dirty="0">
                <a:latin typeface="Tahoma"/>
                <a:cs typeface="Tahoma"/>
              </a:rPr>
              <a:t>whose result is</a:t>
            </a:r>
            <a:r>
              <a:rPr sz="2800" spc="-23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neither  a set nor a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bag.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55545" y="829944"/>
            <a:ext cx="42329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</a:t>
            </a:r>
            <a:r>
              <a:rPr spc="-50" dirty="0"/>
              <a:t> </a:t>
            </a:r>
            <a:r>
              <a:rPr spc="-5" dirty="0"/>
              <a:t>Sorting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10664" y="2198687"/>
            <a:ext cx="11169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08660" algn="l"/>
              </a:tabLst>
            </a:pP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R =	(</a:t>
            </a:r>
            <a:r>
              <a:rPr sz="2400" spc="-90" dirty="0">
                <a:solidFill>
                  <a:srgbClr val="CC00CC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A</a:t>
            </a:r>
            <a:endParaRPr sz="2400">
              <a:latin typeface="Tahoma"/>
              <a:cs typeface="Tahoma"/>
            </a:endParaRPr>
          </a:p>
          <a:p>
            <a:pPr marR="15240" algn="r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1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39465" y="2198687"/>
            <a:ext cx="41719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B</a:t>
            </a:r>
            <a:r>
              <a:rPr sz="2400" spc="-100" dirty="0">
                <a:solidFill>
                  <a:srgbClr val="CC00CC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)  </a:t>
            </a:r>
            <a:r>
              <a:rPr sz="2400" dirty="0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25064" y="2930207"/>
            <a:ext cx="19240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3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5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39465" y="2930207"/>
            <a:ext cx="19240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4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85264" y="3953510"/>
            <a:ext cx="3926204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200" spc="-70" dirty="0">
                <a:latin typeface="Lucida Sans Unicode"/>
                <a:cs typeface="Lucida Sans Unicode"/>
              </a:rPr>
              <a:t>τ</a:t>
            </a:r>
            <a:r>
              <a:rPr sz="2400" i="1" spc="-104" baseline="-17361" dirty="0">
                <a:latin typeface="Tahoma"/>
                <a:cs typeface="Tahoma"/>
              </a:rPr>
              <a:t>B </a:t>
            </a:r>
            <a:r>
              <a:rPr sz="2400" dirty="0">
                <a:latin typeface="Tahoma"/>
                <a:cs typeface="Tahoma"/>
              </a:rPr>
              <a:t>(R) = </a:t>
            </a:r>
            <a:r>
              <a:rPr sz="2400" spc="-5" dirty="0">
                <a:latin typeface="Tahoma"/>
                <a:cs typeface="Tahoma"/>
              </a:rPr>
              <a:t>[(5,2), (1,2),</a:t>
            </a:r>
            <a:r>
              <a:rPr sz="2400" spc="-22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(3,4)]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57437" y="2205037"/>
            <a:ext cx="1228725" cy="1457325"/>
          </a:xfrm>
          <a:custGeom>
            <a:avLst/>
            <a:gdLst/>
            <a:ahLst/>
            <a:cxnLst/>
            <a:rect l="l" t="t" r="r" b="b"/>
            <a:pathLst>
              <a:path w="1228725" h="1457325">
                <a:moveTo>
                  <a:pt x="1228725" y="1457325"/>
                </a:moveTo>
                <a:lnTo>
                  <a:pt x="0" y="1457325"/>
                </a:lnTo>
                <a:lnTo>
                  <a:pt x="0" y="0"/>
                </a:lnTo>
                <a:lnTo>
                  <a:pt x="1228725" y="0"/>
                </a:lnTo>
                <a:lnTo>
                  <a:pt x="1228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447800"/>
                </a:lnTo>
                <a:lnTo>
                  <a:pt x="4762" y="1447800"/>
                </a:lnTo>
                <a:lnTo>
                  <a:pt x="9525" y="1452562"/>
                </a:lnTo>
                <a:lnTo>
                  <a:pt x="1228725" y="1452562"/>
                </a:lnTo>
                <a:lnTo>
                  <a:pt x="1228725" y="1457325"/>
                </a:lnTo>
                <a:close/>
              </a:path>
              <a:path w="1228725" h="14573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228725" h="1457325">
                <a:moveTo>
                  <a:pt x="1219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19200" y="4762"/>
                </a:lnTo>
                <a:lnTo>
                  <a:pt x="1219200" y="9525"/>
                </a:lnTo>
                <a:close/>
              </a:path>
              <a:path w="1228725" h="1457325">
                <a:moveTo>
                  <a:pt x="1219200" y="1452562"/>
                </a:moveTo>
                <a:lnTo>
                  <a:pt x="1219200" y="4762"/>
                </a:lnTo>
                <a:lnTo>
                  <a:pt x="1223962" y="9525"/>
                </a:lnTo>
                <a:lnTo>
                  <a:pt x="1228725" y="9525"/>
                </a:lnTo>
                <a:lnTo>
                  <a:pt x="1228725" y="1447800"/>
                </a:lnTo>
                <a:lnTo>
                  <a:pt x="1223962" y="1447800"/>
                </a:lnTo>
                <a:lnTo>
                  <a:pt x="1219200" y="1452562"/>
                </a:lnTo>
                <a:close/>
              </a:path>
              <a:path w="1228725" h="1457325">
                <a:moveTo>
                  <a:pt x="1228725" y="9525"/>
                </a:moveTo>
                <a:lnTo>
                  <a:pt x="1223962" y="9525"/>
                </a:lnTo>
                <a:lnTo>
                  <a:pt x="1219200" y="4762"/>
                </a:lnTo>
                <a:lnTo>
                  <a:pt x="1228725" y="4762"/>
                </a:lnTo>
                <a:lnTo>
                  <a:pt x="1228725" y="9525"/>
                </a:lnTo>
                <a:close/>
              </a:path>
              <a:path w="1228725" h="1457325">
                <a:moveTo>
                  <a:pt x="9525" y="1452562"/>
                </a:moveTo>
                <a:lnTo>
                  <a:pt x="4762" y="1447800"/>
                </a:lnTo>
                <a:lnTo>
                  <a:pt x="9525" y="1447800"/>
                </a:lnTo>
                <a:lnTo>
                  <a:pt x="9525" y="1452562"/>
                </a:lnTo>
                <a:close/>
              </a:path>
              <a:path w="1228725" h="1457325">
                <a:moveTo>
                  <a:pt x="1219200" y="1452562"/>
                </a:moveTo>
                <a:lnTo>
                  <a:pt x="9525" y="1452562"/>
                </a:lnTo>
                <a:lnTo>
                  <a:pt x="9525" y="1447800"/>
                </a:lnTo>
                <a:lnTo>
                  <a:pt x="1219200" y="1447800"/>
                </a:lnTo>
                <a:lnTo>
                  <a:pt x="1219200" y="1452562"/>
                </a:lnTo>
                <a:close/>
              </a:path>
              <a:path w="1228725" h="1457325">
                <a:moveTo>
                  <a:pt x="1228725" y="1452562"/>
                </a:moveTo>
                <a:lnTo>
                  <a:pt x="1219200" y="1452562"/>
                </a:lnTo>
                <a:lnTo>
                  <a:pt x="1223962" y="1447800"/>
                </a:lnTo>
                <a:lnTo>
                  <a:pt x="1228725" y="1447800"/>
                </a:lnTo>
                <a:lnTo>
                  <a:pt x="1228725" y="14525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362200" y="2590800"/>
            <a:ext cx="1219200" cy="0"/>
          </a:xfrm>
          <a:custGeom>
            <a:avLst/>
            <a:gdLst/>
            <a:ahLst/>
            <a:cxnLst/>
            <a:rect l="l" t="t" r="r" b="b"/>
            <a:pathLst>
              <a:path w="1219200">
                <a:moveTo>
                  <a:pt x="0" y="0"/>
                </a:moveTo>
                <a:lnTo>
                  <a:pt x="12192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971800" y="2209800"/>
            <a:ext cx="0" cy="1447800"/>
          </a:xfrm>
          <a:custGeom>
            <a:avLst/>
            <a:gdLst/>
            <a:ahLst/>
            <a:cxnLst/>
            <a:rect l="l" t="t" r="r" b="b"/>
            <a:pathLst>
              <a:path h="1447800">
                <a:moveTo>
                  <a:pt x="0" y="0"/>
                </a:moveTo>
                <a:lnTo>
                  <a:pt x="0" y="14478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6</a:t>
            </a:fld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71650" y="762000"/>
            <a:ext cx="5600700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Aggregation</a:t>
            </a:r>
            <a:r>
              <a:rPr spc="-60" dirty="0"/>
              <a:t> </a:t>
            </a:r>
            <a:r>
              <a:rPr spc="-15" dirty="0"/>
              <a:t>Operators</a:t>
            </a:r>
            <a:r>
              <a:rPr lang="zh-CN" altLang="en-US" spc="-15" dirty="0"/>
              <a:t>聚合运算符</a:t>
            </a:r>
            <a:endParaRPr spc="-15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391400" cy="31470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505585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Aggregation </a:t>
            </a:r>
            <a:r>
              <a:rPr sz="3200" spc="-10" dirty="0">
                <a:latin typeface="Tahoma"/>
                <a:cs typeface="Tahoma"/>
              </a:rPr>
              <a:t>operators are </a:t>
            </a:r>
            <a:r>
              <a:rPr sz="3200" spc="-5" dirty="0">
                <a:latin typeface="Tahoma"/>
                <a:cs typeface="Tahoma"/>
              </a:rPr>
              <a:t>not  </a:t>
            </a:r>
            <a:r>
              <a:rPr sz="3200" spc="-10" dirty="0">
                <a:latin typeface="Tahoma"/>
                <a:cs typeface="Tahoma"/>
              </a:rPr>
              <a:t>operators </a:t>
            </a:r>
            <a:r>
              <a:rPr sz="3200" spc="-5" dirty="0">
                <a:latin typeface="Tahoma"/>
                <a:cs typeface="Tahoma"/>
              </a:rPr>
              <a:t>of relational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algebra.</a:t>
            </a:r>
            <a:endParaRPr sz="3200" dirty="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70" dirty="0">
                <a:latin typeface="Tahoma"/>
                <a:cs typeface="Tahoma"/>
              </a:rPr>
              <a:t>Rather, </a:t>
            </a:r>
            <a:r>
              <a:rPr sz="3200" spc="-5" dirty="0">
                <a:latin typeface="Tahoma"/>
                <a:cs typeface="Tahoma"/>
              </a:rPr>
              <a:t>they apply to entire columns of 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table and produce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single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result.</a:t>
            </a:r>
            <a:endParaRPr sz="3200" dirty="0">
              <a:latin typeface="Tahoma"/>
              <a:cs typeface="Tahoma"/>
            </a:endParaRPr>
          </a:p>
          <a:p>
            <a:pPr marL="355600" marR="408305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The most important examples: SUM,  </a:t>
            </a:r>
            <a:r>
              <a:rPr sz="3200" spc="-25" dirty="0">
                <a:latin typeface="Tahoma"/>
                <a:cs typeface="Tahoma"/>
              </a:rPr>
              <a:t>AVG, </a:t>
            </a:r>
            <a:r>
              <a:rPr sz="3200" spc="-75" dirty="0">
                <a:latin typeface="Tahoma"/>
                <a:cs typeface="Tahoma"/>
              </a:rPr>
              <a:t>COUNT, </a:t>
            </a:r>
            <a:r>
              <a:rPr sz="3200" spc="-5" dirty="0">
                <a:latin typeface="Tahoma"/>
                <a:cs typeface="Tahoma"/>
              </a:rPr>
              <a:t>MIN, and</a:t>
            </a:r>
            <a:r>
              <a:rPr sz="3200" spc="7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MAX.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43404" y="829944"/>
            <a:ext cx="54578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</a:t>
            </a:r>
            <a:r>
              <a:rPr spc="-70" dirty="0"/>
              <a:t> </a:t>
            </a:r>
            <a:r>
              <a:rPr spc="-5" dirty="0"/>
              <a:t>Aggregation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10664" y="2198687"/>
            <a:ext cx="11169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08660" algn="l"/>
              </a:tabLst>
            </a:pP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R =	(</a:t>
            </a:r>
            <a:r>
              <a:rPr sz="2400" spc="-90" dirty="0">
                <a:solidFill>
                  <a:srgbClr val="CC00CC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A</a:t>
            </a:r>
            <a:endParaRPr sz="2400">
              <a:latin typeface="Tahoma"/>
              <a:cs typeface="Tahoma"/>
            </a:endParaRPr>
          </a:p>
          <a:p>
            <a:pPr marR="15240" algn="r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1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39465" y="2198687"/>
            <a:ext cx="41719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B</a:t>
            </a:r>
            <a:r>
              <a:rPr sz="2400" spc="-100" dirty="0">
                <a:solidFill>
                  <a:srgbClr val="CC00CC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)  </a:t>
            </a:r>
            <a:r>
              <a:rPr sz="2400" dirty="0">
                <a:latin typeface="Tahoma"/>
                <a:cs typeface="Tahoma"/>
              </a:rPr>
              <a:t>3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25064" y="2930207"/>
            <a:ext cx="19240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3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3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39465" y="2930207"/>
            <a:ext cx="19240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4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357437" y="2205037"/>
            <a:ext cx="1228725" cy="1457325"/>
          </a:xfrm>
          <a:custGeom>
            <a:avLst/>
            <a:gdLst/>
            <a:ahLst/>
            <a:cxnLst/>
            <a:rect l="l" t="t" r="r" b="b"/>
            <a:pathLst>
              <a:path w="1228725" h="1457325">
                <a:moveTo>
                  <a:pt x="1228725" y="1457325"/>
                </a:moveTo>
                <a:lnTo>
                  <a:pt x="0" y="1457325"/>
                </a:lnTo>
                <a:lnTo>
                  <a:pt x="0" y="0"/>
                </a:lnTo>
                <a:lnTo>
                  <a:pt x="1228725" y="0"/>
                </a:lnTo>
                <a:lnTo>
                  <a:pt x="1228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447800"/>
                </a:lnTo>
                <a:lnTo>
                  <a:pt x="4762" y="1447800"/>
                </a:lnTo>
                <a:lnTo>
                  <a:pt x="9525" y="1452562"/>
                </a:lnTo>
                <a:lnTo>
                  <a:pt x="1228725" y="1452562"/>
                </a:lnTo>
                <a:lnTo>
                  <a:pt x="1228725" y="1457325"/>
                </a:lnTo>
                <a:close/>
              </a:path>
              <a:path w="1228725" h="14573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228725" h="1457325">
                <a:moveTo>
                  <a:pt x="1219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19200" y="4762"/>
                </a:lnTo>
                <a:lnTo>
                  <a:pt x="1219200" y="9525"/>
                </a:lnTo>
                <a:close/>
              </a:path>
              <a:path w="1228725" h="1457325">
                <a:moveTo>
                  <a:pt x="1219200" y="1452562"/>
                </a:moveTo>
                <a:lnTo>
                  <a:pt x="1219200" y="4762"/>
                </a:lnTo>
                <a:lnTo>
                  <a:pt x="1223962" y="9525"/>
                </a:lnTo>
                <a:lnTo>
                  <a:pt x="1228725" y="9525"/>
                </a:lnTo>
                <a:lnTo>
                  <a:pt x="1228725" y="1447800"/>
                </a:lnTo>
                <a:lnTo>
                  <a:pt x="1223962" y="1447800"/>
                </a:lnTo>
                <a:lnTo>
                  <a:pt x="1219200" y="1452562"/>
                </a:lnTo>
                <a:close/>
              </a:path>
              <a:path w="1228725" h="1457325">
                <a:moveTo>
                  <a:pt x="1228725" y="9525"/>
                </a:moveTo>
                <a:lnTo>
                  <a:pt x="1223962" y="9525"/>
                </a:lnTo>
                <a:lnTo>
                  <a:pt x="1219200" y="4762"/>
                </a:lnTo>
                <a:lnTo>
                  <a:pt x="1228725" y="4762"/>
                </a:lnTo>
                <a:lnTo>
                  <a:pt x="1228725" y="9525"/>
                </a:lnTo>
                <a:close/>
              </a:path>
              <a:path w="1228725" h="1457325">
                <a:moveTo>
                  <a:pt x="9525" y="1452562"/>
                </a:moveTo>
                <a:lnTo>
                  <a:pt x="4762" y="1447800"/>
                </a:lnTo>
                <a:lnTo>
                  <a:pt x="9525" y="1447800"/>
                </a:lnTo>
                <a:lnTo>
                  <a:pt x="9525" y="1452562"/>
                </a:lnTo>
                <a:close/>
              </a:path>
              <a:path w="1228725" h="1457325">
                <a:moveTo>
                  <a:pt x="1219200" y="1452562"/>
                </a:moveTo>
                <a:lnTo>
                  <a:pt x="9525" y="1452562"/>
                </a:lnTo>
                <a:lnTo>
                  <a:pt x="9525" y="1447800"/>
                </a:lnTo>
                <a:lnTo>
                  <a:pt x="1219200" y="1447800"/>
                </a:lnTo>
                <a:lnTo>
                  <a:pt x="1219200" y="1452562"/>
                </a:lnTo>
                <a:close/>
              </a:path>
              <a:path w="1228725" h="1457325">
                <a:moveTo>
                  <a:pt x="1228725" y="1452562"/>
                </a:moveTo>
                <a:lnTo>
                  <a:pt x="1219200" y="1452562"/>
                </a:lnTo>
                <a:lnTo>
                  <a:pt x="1223962" y="1447800"/>
                </a:lnTo>
                <a:lnTo>
                  <a:pt x="1228725" y="1447800"/>
                </a:lnTo>
                <a:lnTo>
                  <a:pt x="1228725" y="14525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362200" y="2590800"/>
            <a:ext cx="1219200" cy="0"/>
          </a:xfrm>
          <a:custGeom>
            <a:avLst/>
            <a:gdLst/>
            <a:ahLst/>
            <a:cxnLst/>
            <a:rect l="l" t="t" r="r" b="b"/>
            <a:pathLst>
              <a:path w="1219200">
                <a:moveTo>
                  <a:pt x="0" y="0"/>
                </a:moveTo>
                <a:lnTo>
                  <a:pt x="12192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71800" y="2209800"/>
            <a:ext cx="0" cy="1447800"/>
          </a:xfrm>
          <a:custGeom>
            <a:avLst/>
            <a:gdLst/>
            <a:ahLst/>
            <a:cxnLst/>
            <a:rect l="l" t="t" r="r" b="b"/>
            <a:pathLst>
              <a:path h="1447800">
                <a:moveTo>
                  <a:pt x="0" y="0"/>
                </a:moveTo>
                <a:lnTo>
                  <a:pt x="0" y="14478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440939" y="4070984"/>
            <a:ext cx="200088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SUM(A) </a:t>
            </a:r>
            <a:r>
              <a:rPr sz="2400" dirty="0">
                <a:latin typeface="Tahoma"/>
                <a:cs typeface="Tahoma"/>
              </a:rPr>
              <a:t>=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7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Tahoma"/>
                <a:cs typeface="Tahoma"/>
              </a:rPr>
              <a:t>COUNT(A) </a:t>
            </a:r>
            <a:r>
              <a:rPr sz="2400" dirty="0">
                <a:latin typeface="Tahoma"/>
                <a:cs typeface="Tahoma"/>
              </a:rPr>
              <a:t>=</a:t>
            </a:r>
            <a:r>
              <a:rPr sz="2400" spc="-7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3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MAX(B) =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4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spc="-15" dirty="0">
                <a:latin typeface="Tahoma"/>
                <a:cs typeface="Tahoma"/>
              </a:rPr>
              <a:t>AVG(B) </a:t>
            </a:r>
            <a:r>
              <a:rPr sz="2400" dirty="0">
                <a:latin typeface="Tahoma"/>
                <a:cs typeface="Tahoma"/>
              </a:rPr>
              <a:t>=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3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8</a:t>
            </a:fld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63140" y="228600"/>
            <a:ext cx="4617720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Grouping</a:t>
            </a:r>
            <a:r>
              <a:rPr spc="-45" dirty="0"/>
              <a:t> </a:t>
            </a:r>
            <a:r>
              <a:rPr spc="-15" dirty="0"/>
              <a:t>Operator</a:t>
            </a:r>
            <a:r>
              <a:rPr lang="zh-CN" altLang="en-US" spc="-15" dirty="0"/>
              <a:t>分组运算符</a:t>
            </a:r>
            <a:endParaRPr spc="-15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51840" y="1934968"/>
            <a:ext cx="7468870" cy="397782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635000" marR="22225" indent="-609600">
              <a:lnSpc>
                <a:spcPct val="105800"/>
              </a:lnSpc>
              <a:spcBef>
                <a:spcPts val="160"/>
              </a:spcBef>
              <a:buClr>
                <a:srgbClr val="CC00CC"/>
              </a:buClr>
              <a:buFont typeface="Wingdings"/>
              <a:buChar char=""/>
              <a:tabLst>
                <a:tab pos="634365" algn="l"/>
                <a:tab pos="635000" algn="l"/>
                <a:tab pos="3485515" algn="l"/>
              </a:tabLst>
            </a:pPr>
            <a:r>
              <a:rPr sz="3200" dirty="0">
                <a:latin typeface="Tahoma"/>
                <a:cs typeface="Tahoma"/>
              </a:rPr>
              <a:t>R1 := </a:t>
            </a:r>
            <a:r>
              <a:rPr sz="4000" spc="-95" dirty="0">
                <a:latin typeface="Lucida Sans Unicode"/>
                <a:cs typeface="Lucida Sans Unicode"/>
              </a:rPr>
              <a:t>γ</a:t>
            </a:r>
            <a:r>
              <a:rPr sz="3225" i="1" spc="-142" baseline="-16795" dirty="0">
                <a:latin typeface="Tahoma"/>
                <a:cs typeface="Tahoma"/>
              </a:rPr>
              <a:t>L</a:t>
            </a:r>
            <a:r>
              <a:rPr sz="3225" i="1" spc="-502" baseline="-1679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(R2).	</a:t>
            </a:r>
            <a:r>
              <a:rPr sz="3350" i="1" spc="-75" dirty="0">
                <a:latin typeface="Tahoma"/>
                <a:cs typeface="Tahoma"/>
              </a:rPr>
              <a:t>L </a:t>
            </a:r>
            <a:r>
              <a:rPr sz="3200" spc="-5" dirty="0">
                <a:latin typeface="Tahoma"/>
                <a:cs typeface="Tahoma"/>
              </a:rPr>
              <a:t>is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list of elements  that </a:t>
            </a:r>
            <a:r>
              <a:rPr sz="3200" spc="-10" dirty="0">
                <a:latin typeface="Tahoma"/>
                <a:cs typeface="Tahoma"/>
              </a:rPr>
              <a:t>are </a:t>
            </a:r>
            <a:r>
              <a:rPr sz="3200" spc="-5" dirty="0">
                <a:latin typeface="Tahoma"/>
                <a:cs typeface="Tahoma"/>
              </a:rPr>
              <a:t>either:</a:t>
            </a:r>
            <a:endParaRPr sz="3200" dirty="0">
              <a:latin typeface="Tahoma"/>
              <a:cs typeface="Tahoma"/>
            </a:endParaRPr>
          </a:p>
          <a:p>
            <a:pPr marL="1016000" lvl="1" indent="-533400" algn="just">
              <a:lnSpc>
                <a:spcPct val="100000"/>
              </a:lnSpc>
              <a:spcBef>
                <a:spcPts val="570"/>
              </a:spcBef>
              <a:buClr>
                <a:srgbClr val="CC00CC"/>
              </a:buClr>
              <a:buAutoNum type="arabicPeriod"/>
              <a:tabLst>
                <a:tab pos="1016000" algn="l"/>
              </a:tabLst>
            </a:pPr>
            <a:r>
              <a:rPr sz="2800" spc="-5" dirty="0">
                <a:latin typeface="Tahoma"/>
                <a:cs typeface="Tahoma"/>
              </a:rPr>
              <a:t>Individual </a:t>
            </a:r>
            <a:r>
              <a:rPr sz="2800" spc="-770" dirty="0">
                <a:latin typeface="Tahoma"/>
                <a:cs typeface="Tahoma"/>
              </a:rPr>
              <a:t>(</a:t>
            </a:r>
            <a:r>
              <a:rPr lang="en-US" altLang="zh-CN" sz="3200" dirty="0">
                <a:effectLst/>
              </a:rPr>
              <a:t>grouping</a:t>
            </a:r>
            <a:r>
              <a:rPr sz="2800" spc="-770" dirty="0">
                <a:latin typeface="Tahoma"/>
                <a:cs typeface="Tahoma"/>
              </a:rPr>
              <a:t>)</a:t>
            </a:r>
            <a:r>
              <a:rPr sz="2800" spc="-73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attributes.</a:t>
            </a:r>
            <a:endParaRPr sz="2800" dirty="0">
              <a:latin typeface="Tahoma"/>
              <a:cs typeface="Tahoma"/>
            </a:endParaRPr>
          </a:p>
          <a:p>
            <a:pPr marL="1015365" marR="1004569" lvl="1" indent="-533400" algn="just">
              <a:lnSpc>
                <a:spcPts val="3360"/>
              </a:lnSpc>
              <a:spcBef>
                <a:spcPts val="760"/>
              </a:spcBef>
              <a:buClr>
                <a:srgbClr val="CC00CC"/>
              </a:buClr>
              <a:buAutoNum type="arabicPeriod"/>
              <a:tabLst>
                <a:tab pos="1016000" algn="l"/>
              </a:tabLst>
            </a:pPr>
            <a:r>
              <a:rPr sz="2800" spc="-45" dirty="0">
                <a:latin typeface="Tahoma"/>
                <a:cs typeface="Tahoma"/>
              </a:rPr>
              <a:t>AGG(</a:t>
            </a:r>
            <a:r>
              <a:rPr sz="2900" i="1" spc="-45" dirty="0">
                <a:latin typeface="Tahoma"/>
                <a:cs typeface="Tahoma"/>
              </a:rPr>
              <a:t>A</a:t>
            </a:r>
            <a:r>
              <a:rPr sz="2800" spc="-45" dirty="0">
                <a:latin typeface="Tahoma"/>
                <a:cs typeface="Tahoma"/>
              </a:rPr>
              <a:t>), </a:t>
            </a:r>
            <a:r>
              <a:rPr sz="2800" spc="-5" dirty="0">
                <a:latin typeface="Tahoma"/>
                <a:cs typeface="Tahoma"/>
              </a:rPr>
              <a:t>where AGG is one of the  aggregation </a:t>
            </a:r>
            <a:r>
              <a:rPr sz="2800" spc="-10" dirty="0">
                <a:latin typeface="Tahoma"/>
                <a:cs typeface="Tahoma"/>
              </a:rPr>
              <a:t>operators </a:t>
            </a:r>
            <a:r>
              <a:rPr sz="2800" spc="-5" dirty="0">
                <a:latin typeface="Tahoma"/>
                <a:cs typeface="Tahoma"/>
              </a:rPr>
              <a:t>and </a:t>
            </a:r>
            <a:r>
              <a:rPr sz="2900" i="1" spc="-65" dirty="0">
                <a:latin typeface="Tahoma"/>
                <a:cs typeface="Tahoma"/>
              </a:rPr>
              <a:t>A </a:t>
            </a:r>
            <a:r>
              <a:rPr sz="2800" spc="-5" dirty="0">
                <a:latin typeface="Tahoma"/>
                <a:cs typeface="Tahoma"/>
              </a:rPr>
              <a:t>is an  attribute.</a:t>
            </a:r>
            <a:endParaRPr sz="2800" dirty="0">
              <a:latin typeface="Tahoma"/>
              <a:cs typeface="Tahoma"/>
            </a:endParaRPr>
          </a:p>
          <a:p>
            <a:pPr marL="1396365" marR="17780" lvl="2" indent="-457200" algn="just">
              <a:lnSpc>
                <a:spcPct val="100000"/>
              </a:lnSpc>
              <a:spcBef>
                <a:spcPts val="465"/>
              </a:spcBef>
              <a:buClr>
                <a:srgbClr val="CC00CC"/>
              </a:buClr>
              <a:buChar char="•"/>
              <a:tabLst>
                <a:tab pos="1397000" algn="l"/>
              </a:tabLst>
            </a:pPr>
            <a:r>
              <a:rPr sz="2400" dirty="0">
                <a:latin typeface="Tahoma"/>
                <a:cs typeface="Tahoma"/>
              </a:rPr>
              <a:t>An </a:t>
            </a:r>
            <a:r>
              <a:rPr sz="2400" spc="-5" dirty="0">
                <a:latin typeface="Tahoma"/>
                <a:cs typeface="Tahoma"/>
              </a:rPr>
              <a:t>arrow </a:t>
            </a:r>
            <a:r>
              <a:rPr sz="2400" dirty="0">
                <a:latin typeface="Tahoma"/>
                <a:cs typeface="Tahoma"/>
              </a:rPr>
              <a:t>and a new </a:t>
            </a:r>
            <a:r>
              <a:rPr sz="2400" spc="-5" dirty="0">
                <a:latin typeface="Tahoma"/>
                <a:cs typeface="Tahoma"/>
              </a:rPr>
              <a:t>attribute name renames  </a:t>
            </a:r>
            <a:r>
              <a:rPr sz="2400" dirty="0">
                <a:latin typeface="Tahoma"/>
                <a:cs typeface="Tahoma"/>
              </a:rPr>
              <a:t>the</a:t>
            </a:r>
            <a:r>
              <a:rPr sz="2400" spc="-5" dirty="0">
                <a:latin typeface="Tahoma"/>
                <a:cs typeface="Tahoma"/>
              </a:rPr>
              <a:t> component.</a:t>
            </a:r>
            <a:endParaRPr sz="24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18435" y="289559"/>
            <a:ext cx="3707129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Applying</a:t>
            </a:r>
            <a:r>
              <a:rPr spc="-40" dirty="0"/>
              <a:t> </a:t>
            </a:r>
            <a:r>
              <a:rPr sz="5400" spc="-240" dirty="0">
                <a:latin typeface="Lucida Sans Unicode"/>
                <a:cs typeface="Lucida Sans Unicode"/>
              </a:rPr>
              <a:t>γ</a:t>
            </a:r>
            <a:r>
              <a:rPr sz="4500" b="1" i="1" spc="-359" baseline="-16666" dirty="0">
                <a:latin typeface="Tahoma"/>
                <a:cs typeface="Tahoma"/>
              </a:rPr>
              <a:t>L</a:t>
            </a:r>
            <a:r>
              <a:rPr sz="4400" spc="-240" dirty="0"/>
              <a:t>(R)</a:t>
            </a:r>
            <a:endParaRPr sz="44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59740" y="1535417"/>
            <a:ext cx="7924800" cy="464121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622300" marR="553085" indent="-609600">
              <a:lnSpc>
                <a:spcPts val="3840"/>
              </a:lnSpc>
              <a:spcBef>
                <a:spcPts val="390"/>
              </a:spcBef>
              <a:buClr>
                <a:srgbClr val="CC00CC"/>
              </a:buClr>
              <a:buFont typeface="Wingdings"/>
              <a:buChar char=""/>
              <a:tabLst>
                <a:tab pos="621665" algn="l"/>
                <a:tab pos="622300" algn="l"/>
              </a:tabLst>
            </a:pPr>
            <a:r>
              <a:rPr sz="3200" spc="-5" dirty="0">
                <a:latin typeface="Tahoma"/>
                <a:cs typeface="Tahoma"/>
              </a:rPr>
              <a:t>Group </a:t>
            </a:r>
            <a:r>
              <a:rPr sz="3350" i="1" spc="-20" dirty="0">
                <a:latin typeface="Tahoma"/>
                <a:cs typeface="Tahoma"/>
              </a:rPr>
              <a:t>R</a:t>
            </a:r>
            <a:r>
              <a:rPr lang="en-US" sz="3350" i="1" spc="-20" dirty="0">
                <a:latin typeface="Tahoma"/>
                <a:cs typeface="Tahoma"/>
              </a:rPr>
              <a:t> </a:t>
            </a:r>
            <a:r>
              <a:rPr sz="3200" spc="-20" dirty="0">
                <a:latin typeface="Tahoma"/>
                <a:cs typeface="Tahoma"/>
              </a:rPr>
              <a:t>according </a:t>
            </a:r>
            <a:r>
              <a:rPr sz="3200" spc="-5" dirty="0">
                <a:latin typeface="Tahoma"/>
                <a:cs typeface="Tahoma"/>
              </a:rPr>
              <a:t>to </a:t>
            </a:r>
            <a:r>
              <a:rPr sz="3200" dirty="0">
                <a:latin typeface="Tahoma"/>
                <a:cs typeface="Tahoma"/>
              </a:rPr>
              <a:t>all </a:t>
            </a:r>
            <a:r>
              <a:rPr sz="3200" spc="-5" dirty="0">
                <a:latin typeface="Tahoma"/>
                <a:cs typeface="Tahoma"/>
              </a:rPr>
              <a:t>the grouping  attributes </a:t>
            </a:r>
            <a:r>
              <a:rPr sz="3200" dirty="0">
                <a:latin typeface="Tahoma"/>
                <a:cs typeface="Tahoma"/>
              </a:rPr>
              <a:t>on </a:t>
            </a:r>
            <a:r>
              <a:rPr sz="3200" spc="-5" dirty="0">
                <a:latin typeface="Tahoma"/>
                <a:cs typeface="Tahoma"/>
              </a:rPr>
              <a:t>list</a:t>
            </a:r>
            <a:r>
              <a:rPr sz="3200" spc="-229" dirty="0">
                <a:latin typeface="Tahoma"/>
                <a:cs typeface="Tahoma"/>
              </a:rPr>
              <a:t> </a:t>
            </a:r>
            <a:r>
              <a:rPr sz="3350" i="1" spc="-555" dirty="0">
                <a:latin typeface="Tahoma"/>
                <a:cs typeface="Tahoma"/>
              </a:rPr>
              <a:t>L</a:t>
            </a:r>
            <a:r>
              <a:rPr sz="3200" spc="-555" dirty="0">
                <a:latin typeface="Tahoma"/>
                <a:cs typeface="Tahoma"/>
              </a:rPr>
              <a:t>.</a:t>
            </a:r>
            <a:endParaRPr sz="3200" dirty="0">
              <a:latin typeface="Tahoma"/>
              <a:cs typeface="Tahoma"/>
            </a:endParaRPr>
          </a:p>
          <a:p>
            <a:pPr marL="1003300" marR="5080" lvl="1" indent="-533400">
              <a:lnSpc>
                <a:spcPts val="3360"/>
              </a:lnSpc>
              <a:spcBef>
                <a:spcPts val="655"/>
              </a:spcBef>
              <a:buClr>
                <a:srgbClr val="CC00CC"/>
              </a:buClr>
              <a:buFont typeface="Wingdings"/>
              <a:buChar char=""/>
              <a:tabLst>
                <a:tab pos="1002665" algn="l"/>
                <a:tab pos="1003300" algn="l"/>
              </a:tabLst>
            </a:pPr>
            <a:r>
              <a:rPr sz="2800" spc="-5" dirty="0">
                <a:latin typeface="Tahoma"/>
                <a:cs typeface="Tahoma"/>
              </a:rPr>
              <a:t>That is: </a:t>
            </a:r>
            <a:r>
              <a:rPr sz="2800" spc="-15" dirty="0">
                <a:latin typeface="Tahoma"/>
                <a:cs typeface="Tahoma"/>
              </a:rPr>
              <a:t>form </a:t>
            </a:r>
            <a:r>
              <a:rPr sz="2800" spc="-5" dirty="0">
                <a:latin typeface="Tahoma"/>
                <a:cs typeface="Tahoma"/>
              </a:rPr>
              <a:t>one group </a:t>
            </a:r>
            <a:r>
              <a:rPr sz="2800" spc="-15" dirty="0">
                <a:latin typeface="Tahoma"/>
                <a:cs typeface="Tahoma"/>
              </a:rPr>
              <a:t>for </a:t>
            </a:r>
            <a:r>
              <a:rPr sz="2800" spc="-5" dirty="0">
                <a:latin typeface="Tahoma"/>
                <a:cs typeface="Tahoma"/>
              </a:rPr>
              <a:t>each distinct list  of </a:t>
            </a:r>
            <a:r>
              <a:rPr sz="2800" spc="-15" dirty="0">
                <a:latin typeface="Tahoma"/>
                <a:cs typeface="Tahoma"/>
              </a:rPr>
              <a:t>values for </a:t>
            </a:r>
            <a:r>
              <a:rPr sz="2800" spc="-5" dirty="0">
                <a:latin typeface="Tahoma"/>
                <a:cs typeface="Tahoma"/>
              </a:rPr>
              <a:t>those attributes in</a:t>
            </a:r>
            <a:r>
              <a:rPr sz="2800" spc="-150" dirty="0">
                <a:latin typeface="Tahoma"/>
                <a:cs typeface="Tahoma"/>
              </a:rPr>
              <a:t> </a:t>
            </a:r>
            <a:r>
              <a:rPr sz="2900" i="1" spc="-480" dirty="0">
                <a:latin typeface="Tahoma"/>
                <a:cs typeface="Tahoma"/>
              </a:rPr>
              <a:t>R</a:t>
            </a:r>
            <a:r>
              <a:rPr sz="2800" spc="-480" dirty="0">
                <a:latin typeface="Tahoma"/>
                <a:cs typeface="Tahoma"/>
              </a:rPr>
              <a:t>.</a:t>
            </a:r>
            <a:endParaRPr sz="2800" dirty="0">
              <a:latin typeface="Tahoma"/>
              <a:cs typeface="Tahoma"/>
            </a:endParaRPr>
          </a:p>
          <a:p>
            <a:pPr marL="622300" marR="5715" indent="-609600">
              <a:lnSpc>
                <a:spcPts val="3840"/>
              </a:lnSpc>
              <a:spcBef>
                <a:spcPts val="780"/>
              </a:spcBef>
              <a:buClr>
                <a:srgbClr val="CC00CC"/>
              </a:buClr>
              <a:buFont typeface="Wingdings"/>
              <a:buChar char=""/>
              <a:tabLst>
                <a:tab pos="621665" algn="l"/>
                <a:tab pos="622300" algn="l"/>
              </a:tabLst>
            </a:pPr>
            <a:r>
              <a:rPr sz="3200" spc="-5" dirty="0">
                <a:latin typeface="Tahoma"/>
                <a:cs typeface="Tahoma"/>
              </a:rPr>
              <a:t>Within each </a:t>
            </a:r>
            <a:r>
              <a:rPr sz="3200" spc="-15" dirty="0">
                <a:latin typeface="Tahoma"/>
                <a:cs typeface="Tahoma"/>
              </a:rPr>
              <a:t>group, </a:t>
            </a:r>
            <a:r>
              <a:rPr sz="3200" spc="-5" dirty="0">
                <a:latin typeface="Tahoma"/>
                <a:cs typeface="Tahoma"/>
              </a:rPr>
              <a:t>compute </a:t>
            </a:r>
            <a:r>
              <a:rPr sz="3200" spc="-60" dirty="0">
                <a:latin typeface="Tahoma"/>
                <a:cs typeface="Tahoma"/>
              </a:rPr>
              <a:t>AGG(</a:t>
            </a:r>
            <a:r>
              <a:rPr sz="3350" i="1" spc="-60" dirty="0">
                <a:latin typeface="Tahoma"/>
                <a:cs typeface="Tahoma"/>
              </a:rPr>
              <a:t>A</a:t>
            </a:r>
            <a:r>
              <a:rPr sz="3200" spc="-60" dirty="0">
                <a:latin typeface="Tahoma"/>
                <a:cs typeface="Tahoma"/>
              </a:rPr>
              <a:t>) </a:t>
            </a:r>
            <a:r>
              <a:rPr sz="3200" spc="-15" dirty="0">
                <a:latin typeface="Tahoma"/>
                <a:cs typeface="Tahoma"/>
              </a:rPr>
              <a:t>for  </a:t>
            </a:r>
            <a:r>
              <a:rPr sz="3200" spc="-5" dirty="0">
                <a:latin typeface="Tahoma"/>
                <a:cs typeface="Tahoma"/>
              </a:rPr>
              <a:t>each aggregation </a:t>
            </a:r>
            <a:r>
              <a:rPr sz="3200" dirty="0">
                <a:latin typeface="Tahoma"/>
                <a:cs typeface="Tahoma"/>
              </a:rPr>
              <a:t>on </a:t>
            </a:r>
            <a:r>
              <a:rPr sz="3200" spc="-5" dirty="0">
                <a:latin typeface="Tahoma"/>
                <a:cs typeface="Tahoma"/>
              </a:rPr>
              <a:t>list</a:t>
            </a:r>
            <a:r>
              <a:rPr sz="3200" spc="-229" dirty="0">
                <a:latin typeface="Tahoma"/>
                <a:cs typeface="Tahoma"/>
              </a:rPr>
              <a:t> </a:t>
            </a:r>
            <a:r>
              <a:rPr sz="3350" i="1" spc="-555" dirty="0">
                <a:latin typeface="Tahoma"/>
                <a:cs typeface="Tahoma"/>
              </a:rPr>
              <a:t>L</a:t>
            </a:r>
            <a:r>
              <a:rPr sz="3200" spc="-555" dirty="0">
                <a:latin typeface="Tahoma"/>
                <a:cs typeface="Tahoma"/>
              </a:rPr>
              <a:t>.</a:t>
            </a:r>
            <a:endParaRPr sz="3200" dirty="0">
              <a:latin typeface="Tahoma"/>
              <a:cs typeface="Tahoma"/>
            </a:endParaRPr>
          </a:p>
          <a:p>
            <a:pPr marL="622300" indent="-609600">
              <a:lnSpc>
                <a:spcPct val="100000"/>
              </a:lnSpc>
              <a:spcBef>
                <a:spcPts val="640"/>
              </a:spcBef>
              <a:buClr>
                <a:srgbClr val="CC00CC"/>
              </a:buClr>
              <a:buFont typeface="Wingdings"/>
              <a:buChar char=""/>
              <a:tabLst>
                <a:tab pos="621665" algn="l"/>
                <a:tab pos="622300" algn="l"/>
              </a:tabLst>
            </a:pPr>
            <a:r>
              <a:rPr sz="3200" spc="-15" dirty="0">
                <a:latin typeface="Tahoma"/>
                <a:cs typeface="Tahoma"/>
              </a:rPr>
              <a:t>Result </a:t>
            </a:r>
            <a:r>
              <a:rPr sz="3200" spc="-5" dirty="0">
                <a:latin typeface="Tahoma"/>
                <a:cs typeface="Tahoma"/>
              </a:rPr>
              <a:t>has one tuple </a:t>
            </a:r>
            <a:r>
              <a:rPr sz="3200" spc="-15" dirty="0">
                <a:latin typeface="Tahoma"/>
                <a:cs typeface="Tahoma"/>
              </a:rPr>
              <a:t>for </a:t>
            </a:r>
            <a:r>
              <a:rPr sz="3200" spc="-5" dirty="0">
                <a:latin typeface="Tahoma"/>
                <a:cs typeface="Tahoma"/>
              </a:rPr>
              <a:t>each</a:t>
            </a:r>
            <a:r>
              <a:rPr sz="3200" spc="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group:</a:t>
            </a:r>
            <a:endParaRPr sz="3200" dirty="0">
              <a:latin typeface="Tahoma"/>
              <a:cs typeface="Tahoma"/>
            </a:endParaRPr>
          </a:p>
          <a:p>
            <a:pPr marL="1003300" indent="-5334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AutoNum type="arabicPeriod"/>
              <a:tabLst>
                <a:tab pos="1002665" algn="l"/>
                <a:tab pos="1003300" algn="l"/>
              </a:tabLst>
            </a:pPr>
            <a:r>
              <a:rPr sz="2800" spc="-5" dirty="0">
                <a:latin typeface="Tahoma"/>
                <a:cs typeface="Tahoma"/>
              </a:rPr>
              <a:t>The grouping attributes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and</a:t>
            </a:r>
            <a:endParaRPr sz="2800" dirty="0">
              <a:latin typeface="Tahoma"/>
              <a:cs typeface="Tahoma"/>
            </a:endParaRPr>
          </a:p>
          <a:p>
            <a:pPr marL="1114425" indent="-644525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AutoNum type="arabicPeriod"/>
              <a:tabLst>
                <a:tab pos="1113790" algn="l"/>
                <a:tab pos="1114425" algn="l"/>
              </a:tabLst>
            </a:pPr>
            <a:r>
              <a:rPr sz="2800" spc="-5" dirty="0">
                <a:latin typeface="Tahoma"/>
                <a:cs typeface="Tahoma"/>
              </a:rPr>
              <a:t>Their </a:t>
            </a:r>
            <a:r>
              <a:rPr sz="2800" spc="-20" dirty="0">
                <a:latin typeface="Tahoma"/>
                <a:cs typeface="Tahoma"/>
              </a:rPr>
              <a:t>group’s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aggregations.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83244" y="6270625"/>
            <a:ext cx="19685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60" dirty="0">
                <a:latin typeface="Times New Roman"/>
                <a:cs typeface="Times New Roman"/>
              </a:rPr>
              <a:t>1</a:t>
            </a:r>
            <a:r>
              <a:rPr sz="1400" dirty="0"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5315" y="829944"/>
            <a:ext cx="79140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</a:t>
            </a:r>
            <a:r>
              <a:rPr spc="15" dirty="0"/>
              <a:t> </a:t>
            </a:r>
            <a:r>
              <a:rPr spc="-10" dirty="0"/>
              <a:t>Grouping/Aggregation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720465" y="2198687"/>
            <a:ext cx="4203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C</a:t>
            </a:r>
            <a:r>
              <a:rPr sz="2400" spc="-95" dirty="0">
                <a:solidFill>
                  <a:srgbClr val="CC00CC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7264" y="2198687"/>
            <a:ext cx="11169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08660" algn="l"/>
              </a:tabLst>
            </a:pP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R =	(</a:t>
            </a:r>
            <a:r>
              <a:rPr sz="2400" spc="-90" dirty="0">
                <a:solidFill>
                  <a:srgbClr val="CC00CC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A</a:t>
            </a:r>
            <a:endParaRPr sz="2400">
              <a:latin typeface="Tahoma"/>
              <a:cs typeface="Tahoma"/>
            </a:endParaRPr>
          </a:p>
          <a:p>
            <a:pPr marR="15240" algn="r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1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06064" y="2198687"/>
            <a:ext cx="20510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B  </a:t>
            </a:r>
            <a:r>
              <a:rPr sz="2400" dirty="0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91664" y="2930207"/>
            <a:ext cx="19240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4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1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06064" y="2930207"/>
            <a:ext cx="19240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5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20465" y="2564447"/>
            <a:ext cx="19240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3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6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5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824037" y="2205037"/>
            <a:ext cx="2143125" cy="1533525"/>
          </a:xfrm>
          <a:custGeom>
            <a:avLst/>
            <a:gdLst/>
            <a:ahLst/>
            <a:cxnLst/>
            <a:rect l="l" t="t" r="r" b="b"/>
            <a:pathLst>
              <a:path w="2143125" h="1533525">
                <a:moveTo>
                  <a:pt x="2143125" y="1533525"/>
                </a:moveTo>
                <a:lnTo>
                  <a:pt x="0" y="1533525"/>
                </a:lnTo>
                <a:lnTo>
                  <a:pt x="0" y="0"/>
                </a:lnTo>
                <a:lnTo>
                  <a:pt x="2143125" y="0"/>
                </a:lnTo>
                <a:lnTo>
                  <a:pt x="2143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524000"/>
                </a:lnTo>
                <a:lnTo>
                  <a:pt x="4762" y="1524000"/>
                </a:lnTo>
                <a:lnTo>
                  <a:pt x="9525" y="1528762"/>
                </a:lnTo>
                <a:lnTo>
                  <a:pt x="2143125" y="1528762"/>
                </a:lnTo>
                <a:lnTo>
                  <a:pt x="2143125" y="1533525"/>
                </a:lnTo>
                <a:close/>
              </a:path>
              <a:path w="2143125" h="1533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143125" h="1533525">
                <a:moveTo>
                  <a:pt x="2133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133600" y="4762"/>
                </a:lnTo>
                <a:lnTo>
                  <a:pt x="2133600" y="9525"/>
                </a:lnTo>
                <a:close/>
              </a:path>
              <a:path w="2143125" h="1533525">
                <a:moveTo>
                  <a:pt x="2133600" y="1528762"/>
                </a:moveTo>
                <a:lnTo>
                  <a:pt x="2133600" y="4762"/>
                </a:lnTo>
                <a:lnTo>
                  <a:pt x="2138362" y="9525"/>
                </a:lnTo>
                <a:lnTo>
                  <a:pt x="2143125" y="9525"/>
                </a:lnTo>
                <a:lnTo>
                  <a:pt x="2143125" y="1524000"/>
                </a:lnTo>
                <a:lnTo>
                  <a:pt x="2138362" y="1524000"/>
                </a:lnTo>
                <a:lnTo>
                  <a:pt x="2133600" y="1528762"/>
                </a:lnTo>
                <a:close/>
              </a:path>
              <a:path w="2143125" h="1533525">
                <a:moveTo>
                  <a:pt x="2143125" y="9525"/>
                </a:moveTo>
                <a:lnTo>
                  <a:pt x="2138362" y="9525"/>
                </a:lnTo>
                <a:lnTo>
                  <a:pt x="2133600" y="4762"/>
                </a:lnTo>
                <a:lnTo>
                  <a:pt x="2143125" y="4762"/>
                </a:lnTo>
                <a:lnTo>
                  <a:pt x="2143125" y="9525"/>
                </a:lnTo>
                <a:close/>
              </a:path>
              <a:path w="2143125" h="1533525">
                <a:moveTo>
                  <a:pt x="9525" y="1528762"/>
                </a:moveTo>
                <a:lnTo>
                  <a:pt x="4762" y="1524000"/>
                </a:lnTo>
                <a:lnTo>
                  <a:pt x="9525" y="1524000"/>
                </a:lnTo>
                <a:lnTo>
                  <a:pt x="9525" y="1528762"/>
                </a:lnTo>
                <a:close/>
              </a:path>
              <a:path w="2143125" h="1533525">
                <a:moveTo>
                  <a:pt x="2133600" y="1528762"/>
                </a:moveTo>
                <a:lnTo>
                  <a:pt x="9525" y="1528762"/>
                </a:lnTo>
                <a:lnTo>
                  <a:pt x="9525" y="1524000"/>
                </a:lnTo>
                <a:lnTo>
                  <a:pt x="2133600" y="1524000"/>
                </a:lnTo>
                <a:lnTo>
                  <a:pt x="2133600" y="1528762"/>
                </a:lnTo>
                <a:close/>
              </a:path>
              <a:path w="2143125" h="1533525">
                <a:moveTo>
                  <a:pt x="2143125" y="1528762"/>
                </a:moveTo>
                <a:lnTo>
                  <a:pt x="2133600" y="1528762"/>
                </a:lnTo>
                <a:lnTo>
                  <a:pt x="2138362" y="1524000"/>
                </a:lnTo>
                <a:lnTo>
                  <a:pt x="2143125" y="1524000"/>
                </a:lnTo>
                <a:lnTo>
                  <a:pt x="2143125" y="1528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828800" y="2590800"/>
            <a:ext cx="2133600" cy="0"/>
          </a:xfrm>
          <a:custGeom>
            <a:avLst/>
            <a:gdLst/>
            <a:ahLst/>
            <a:cxnLst/>
            <a:rect l="l" t="t" r="r" b="b"/>
            <a:pathLst>
              <a:path w="2133600">
                <a:moveTo>
                  <a:pt x="0" y="0"/>
                </a:moveTo>
                <a:lnTo>
                  <a:pt x="21336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514600" y="2209800"/>
            <a:ext cx="0" cy="1524000"/>
          </a:xfrm>
          <a:custGeom>
            <a:avLst/>
            <a:gdLst/>
            <a:ahLst/>
            <a:cxnLst/>
            <a:rect l="l" t="t" r="r" b="b"/>
            <a:pathLst>
              <a:path h="1524000">
                <a:moveTo>
                  <a:pt x="0" y="0"/>
                </a:moveTo>
                <a:lnTo>
                  <a:pt x="0" y="1524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352800" y="2209800"/>
            <a:ext cx="0" cy="1524000"/>
          </a:xfrm>
          <a:custGeom>
            <a:avLst/>
            <a:gdLst/>
            <a:ahLst/>
            <a:cxnLst/>
            <a:rect l="l" t="t" r="r" b="b"/>
            <a:pathLst>
              <a:path h="1524000">
                <a:moveTo>
                  <a:pt x="0" y="0"/>
                </a:moveTo>
                <a:lnTo>
                  <a:pt x="0" y="1524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39140" y="4009364"/>
            <a:ext cx="3669665" cy="98933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250825">
              <a:lnSpc>
                <a:spcPct val="100000"/>
              </a:lnSpc>
              <a:spcBef>
                <a:spcPts val="505"/>
              </a:spcBef>
            </a:pPr>
            <a:r>
              <a:rPr sz="4800" spc="-165" baseline="8680" dirty="0">
                <a:latin typeface="Lucida Sans Unicode"/>
                <a:cs typeface="Lucida Sans Unicode"/>
              </a:rPr>
              <a:t>γ</a:t>
            </a:r>
            <a:r>
              <a:rPr sz="1600" i="1" spc="-525" dirty="0">
                <a:latin typeface="Tahoma"/>
                <a:cs typeface="Tahoma"/>
              </a:rPr>
              <a:t>A</a:t>
            </a:r>
            <a:r>
              <a:rPr sz="1550" spc="-110" dirty="0">
                <a:latin typeface="Tahoma"/>
                <a:cs typeface="Tahoma"/>
              </a:rPr>
              <a:t>,</a:t>
            </a:r>
            <a:r>
              <a:rPr sz="1600" i="1" spc="-525" dirty="0">
                <a:latin typeface="Tahoma"/>
                <a:cs typeface="Tahoma"/>
              </a:rPr>
              <a:t>B</a:t>
            </a:r>
            <a:r>
              <a:rPr sz="1550" spc="-5" dirty="0">
                <a:latin typeface="Tahoma"/>
                <a:cs typeface="Tahoma"/>
              </a:rPr>
              <a:t>,</a:t>
            </a:r>
            <a:r>
              <a:rPr sz="1550" spc="-65" dirty="0">
                <a:latin typeface="Tahoma"/>
                <a:cs typeface="Tahoma"/>
              </a:rPr>
              <a:t>A</a:t>
            </a:r>
            <a:r>
              <a:rPr sz="1550" dirty="0">
                <a:latin typeface="Tahoma"/>
                <a:cs typeface="Tahoma"/>
              </a:rPr>
              <a:t>VG(C)-</a:t>
            </a:r>
            <a:r>
              <a:rPr sz="1550" spc="5" dirty="0">
                <a:latin typeface="Tahoma"/>
                <a:cs typeface="Tahoma"/>
              </a:rPr>
              <a:t>&gt;X</a:t>
            </a:r>
            <a:r>
              <a:rPr sz="1550" dirty="0">
                <a:latin typeface="Tahoma"/>
                <a:cs typeface="Tahoma"/>
              </a:rPr>
              <a:t> </a:t>
            </a:r>
            <a:r>
              <a:rPr sz="1550" spc="-220" dirty="0">
                <a:latin typeface="Tahoma"/>
                <a:cs typeface="Tahoma"/>
              </a:rPr>
              <a:t> </a:t>
            </a:r>
            <a:r>
              <a:rPr sz="3600" baseline="11574" dirty="0">
                <a:latin typeface="Tahoma"/>
                <a:cs typeface="Tahoma"/>
              </a:rPr>
              <a:t>(R) =</a:t>
            </a:r>
            <a:r>
              <a:rPr sz="3600" spc="-7" baseline="11574" dirty="0">
                <a:latin typeface="Tahoma"/>
                <a:cs typeface="Tahoma"/>
              </a:rPr>
              <a:t> ?</a:t>
            </a:r>
            <a:r>
              <a:rPr sz="3600" baseline="11574" dirty="0">
                <a:latin typeface="Tahoma"/>
                <a:cs typeface="Tahoma"/>
              </a:rPr>
              <a:t>?</a:t>
            </a:r>
            <a:endParaRPr sz="3600" baseline="11574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340"/>
              </a:spcBef>
            </a:pPr>
            <a:r>
              <a:rPr sz="2400" spc="-5" dirty="0">
                <a:latin typeface="Tahoma"/>
                <a:cs typeface="Tahoma"/>
              </a:rPr>
              <a:t>First, group </a:t>
            </a:r>
            <a:r>
              <a:rPr sz="2500" i="1" spc="-35" dirty="0">
                <a:latin typeface="Tahoma"/>
                <a:cs typeface="Tahoma"/>
              </a:rPr>
              <a:t>R</a:t>
            </a:r>
            <a:r>
              <a:rPr sz="2400" spc="-35" dirty="0">
                <a:latin typeface="Tahoma"/>
                <a:cs typeface="Tahoma"/>
              </a:rPr>
              <a:t>by </a:t>
            </a:r>
            <a:r>
              <a:rPr sz="2500" i="1" spc="-20" dirty="0">
                <a:latin typeface="Tahoma"/>
                <a:cs typeface="Tahoma"/>
              </a:rPr>
              <a:t>A</a:t>
            </a:r>
            <a:r>
              <a:rPr sz="2400" spc="-20" dirty="0">
                <a:latin typeface="Tahoma"/>
                <a:cs typeface="Tahoma"/>
              </a:rPr>
              <a:t>and</a:t>
            </a:r>
            <a:r>
              <a:rPr sz="2400" spc="-480" dirty="0">
                <a:latin typeface="Tahoma"/>
                <a:cs typeface="Tahoma"/>
              </a:rPr>
              <a:t> </a:t>
            </a:r>
            <a:r>
              <a:rPr sz="2500" i="1" spc="-40" dirty="0">
                <a:latin typeface="Tahoma"/>
                <a:cs typeface="Tahoma"/>
              </a:rPr>
              <a:t>B</a:t>
            </a:r>
            <a:r>
              <a:rPr sz="2400" spc="-40" dirty="0">
                <a:latin typeface="Tahoma"/>
                <a:cs typeface="Tahoma"/>
              </a:rPr>
              <a:t>: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611312" y="4991100"/>
            <a:ext cx="2143125" cy="1533525"/>
          </a:xfrm>
          <a:custGeom>
            <a:avLst/>
            <a:gdLst/>
            <a:ahLst/>
            <a:cxnLst/>
            <a:rect l="l" t="t" r="r" b="b"/>
            <a:pathLst>
              <a:path w="2143125" h="1533525">
                <a:moveTo>
                  <a:pt x="2143125" y="1533525"/>
                </a:moveTo>
                <a:lnTo>
                  <a:pt x="0" y="1533525"/>
                </a:lnTo>
                <a:lnTo>
                  <a:pt x="0" y="0"/>
                </a:lnTo>
                <a:lnTo>
                  <a:pt x="2143125" y="0"/>
                </a:lnTo>
                <a:lnTo>
                  <a:pt x="2143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524000"/>
                </a:lnTo>
                <a:lnTo>
                  <a:pt x="4762" y="1524000"/>
                </a:lnTo>
                <a:lnTo>
                  <a:pt x="9525" y="1528762"/>
                </a:lnTo>
                <a:lnTo>
                  <a:pt x="2143125" y="1528762"/>
                </a:lnTo>
                <a:lnTo>
                  <a:pt x="2143125" y="1533525"/>
                </a:lnTo>
                <a:close/>
              </a:path>
              <a:path w="2143125" h="1533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143125" h="1533525">
                <a:moveTo>
                  <a:pt x="2133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133600" y="4762"/>
                </a:lnTo>
                <a:lnTo>
                  <a:pt x="2133600" y="9525"/>
                </a:lnTo>
                <a:close/>
              </a:path>
              <a:path w="2143125" h="1533525">
                <a:moveTo>
                  <a:pt x="2133600" y="1528762"/>
                </a:moveTo>
                <a:lnTo>
                  <a:pt x="2133600" y="4762"/>
                </a:lnTo>
                <a:lnTo>
                  <a:pt x="2138362" y="9525"/>
                </a:lnTo>
                <a:lnTo>
                  <a:pt x="2143125" y="9525"/>
                </a:lnTo>
                <a:lnTo>
                  <a:pt x="2143125" y="1524000"/>
                </a:lnTo>
                <a:lnTo>
                  <a:pt x="2138362" y="1524000"/>
                </a:lnTo>
                <a:lnTo>
                  <a:pt x="2133600" y="1528762"/>
                </a:lnTo>
                <a:close/>
              </a:path>
              <a:path w="2143125" h="1533525">
                <a:moveTo>
                  <a:pt x="2143125" y="9525"/>
                </a:moveTo>
                <a:lnTo>
                  <a:pt x="2138362" y="9525"/>
                </a:lnTo>
                <a:lnTo>
                  <a:pt x="2133600" y="4762"/>
                </a:lnTo>
                <a:lnTo>
                  <a:pt x="2143125" y="4762"/>
                </a:lnTo>
                <a:lnTo>
                  <a:pt x="2143125" y="9525"/>
                </a:lnTo>
                <a:close/>
              </a:path>
              <a:path w="2143125" h="1533525">
                <a:moveTo>
                  <a:pt x="9525" y="1528762"/>
                </a:moveTo>
                <a:lnTo>
                  <a:pt x="4762" y="1524000"/>
                </a:lnTo>
                <a:lnTo>
                  <a:pt x="9525" y="1524000"/>
                </a:lnTo>
                <a:lnTo>
                  <a:pt x="9525" y="1528762"/>
                </a:lnTo>
                <a:close/>
              </a:path>
              <a:path w="2143125" h="1533525">
                <a:moveTo>
                  <a:pt x="2133600" y="1528762"/>
                </a:moveTo>
                <a:lnTo>
                  <a:pt x="9525" y="1528762"/>
                </a:lnTo>
                <a:lnTo>
                  <a:pt x="9525" y="1524000"/>
                </a:lnTo>
                <a:lnTo>
                  <a:pt x="2133600" y="1524000"/>
                </a:lnTo>
                <a:lnTo>
                  <a:pt x="2133600" y="1528762"/>
                </a:lnTo>
                <a:close/>
              </a:path>
              <a:path w="2143125" h="1533525">
                <a:moveTo>
                  <a:pt x="2143125" y="1528762"/>
                </a:moveTo>
                <a:lnTo>
                  <a:pt x="2133600" y="1528762"/>
                </a:lnTo>
                <a:lnTo>
                  <a:pt x="2138362" y="1524000"/>
                </a:lnTo>
                <a:lnTo>
                  <a:pt x="2143125" y="1524000"/>
                </a:lnTo>
                <a:lnTo>
                  <a:pt x="2143125" y="1528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616075" y="5376862"/>
            <a:ext cx="2133600" cy="0"/>
          </a:xfrm>
          <a:custGeom>
            <a:avLst/>
            <a:gdLst/>
            <a:ahLst/>
            <a:cxnLst/>
            <a:rect l="l" t="t" r="r" b="b"/>
            <a:pathLst>
              <a:path w="2133600">
                <a:moveTo>
                  <a:pt x="0" y="0"/>
                </a:moveTo>
                <a:lnTo>
                  <a:pt x="21336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1622107" y="4982061"/>
          <a:ext cx="2136775" cy="15377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0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84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6831">
                <a:tc>
                  <a:txBody>
                    <a:bodyPr/>
                    <a:lstStyle/>
                    <a:p>
                      <a:pPr marL="69215">
                        <a:lnSpc>
                          <a:spcPts val="2785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A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3530">
                        <a:lnSpc>
                          <a:spcPts val="2785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B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46990" algn="r">
                        <a:lnSpc>
                          <a:spcPts val="2785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C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marL="69215">
                        <a:lnSpc>
                          <a:spcPts val="2780"/>
                        </a:lnSpc>
                      </a:pPr>
                      <a:r>
                        <a:rPr sz="2400" dirty="0">
                          <a:solidFill>
                            <a:srgbClr val="33CC33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3530">
                        <a:lnSpc>
                          <a:spcPts val="2780"/>
                        </a:lnSpc>
                      </a:pPr>
                      <a:r>
                        <a:rPr sz="2400" dirty="0">
                          <a:solidFill>
                            <a:srgbClr val="33CC33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780"/>
                        </a:lnSpc>
                      </a:pPr>
                      <a:r>
                        <a:rPr sz="2400" dirty="0">
                          <a:solidFill>
                            <a:srgbClr val="33CC33"/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marL="69215">
                        <a:lnSpc>
                          <a:spcPts val="2780"/>
                        </a:lnSpc>
                      </a:pPr>
                      <a:r>
                        <a:rPr sz="2400" dirty="0">
                          <a:solidFill>
                            <a:srgbClr val="33CC33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3530">
                        <a:lnSpc>
                          <a:spcPts val="2780"/>
                        </a:lnSpc>
                      </a:pPr>
                      <a:r>
                        <a:rPr sz="2400" dirty="0">
                          <a:solidFill>
                            <a:srgbClr val="33CC33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780"/>
                        </a:lnSpc>
                      </a:pPr>
                      <a:r>
                        <a:rPr sz="2400" dirty="0">
                          <a:solidFill>
                            <a:srgbClr val="33CC33"/>
                          </a:solidFill>
                          <a:latin typeface="Tahoma"/>
                          <a:cs typeface="Tahoma"/>
                        </a:rPr>
                        <a:t>5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449">
                <a:tc>
                  <a:txBody>
                    <a:bodyPr/>
                    <a:lstStyle/>
                    <a:p>
                      <a:pPr marL="69215">
                        <a:lnSpc>
                          <a:spcPts val="2875"/>
                        </a:lnSpc>
                      </a:pPr>
                      <a:r>
                        <a:rPr sz="2400" dirty="0">
                          <a:solidFill>
                            <a:srgbClr val="FF0066"/>
                          </a:solidFill>
                          <a:latin typeface="Tahoma"/>
                          <a:cs typeface="Tahoma"/>
                        </a:rPr>
                        <a:t>4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3530">
                        <a:lnSpc>
                          <a:spcPts val="2875"/>
                        </a:lnSpc>
                      </a:pPr>
                      <a:r>
                        <a:rPr sz="2400" dirty="0">
                          <a:solidFill>
                            <a:srgbClr val="FF0066"/>
                          </a:solidFill>
                          <a:latin typeface="Tahoma"/>
                          <a:cs typeface="Tahoma"/>
                        </a:rPr>
                        <a:t>5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2875"/>
                        </a:lnSpc>
                      </a:pPr>
                      <a:r>
                        <a:rPr sz="2400" dirty="0">
                          <a:solidFill>
                            <a:srgbClr val="FF0066"/>
                          </a:solidFill>
                          <a:latin typeface="Tahoma"/>
                          <a:cs typeface="Tahoma"/>
                        </a:rPr>
                        <a:t>6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object 18"/>
          <p:cNvSpPr txBox="1"/>
          <p:nvPr/>
        </p:nvSpPr>
        <p:spPr>
          <a:xfrm>
            <a:off x="5031740" y="2607959"/>
            <a:ext cx="2327910" cy="77216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990"/>
              </a:lnSpc>
              <a:spcBef>
                <a:spcPts val="120"/>
              </a:spcBef>
            </a:pPr>
            <a:r>
              <a:rPr sz="2400" spc="-5" dirty="0">
                <a:latin typeface="Tahoma"/>
                <a:cs typeface="Tahoma"/>
              </a:rPr>
              <a:t>Then, </a:t>
            </a:r>
            <a:r>
              <a:rPr sz="2400" spc="-15" dirty="0">
                <a:latin typeface="Tahoma"/>
                <a:cs typeface="Tahoma"/>
              </a:rPr>
              <a:t>average</a:t>
            </a:r>
            <a:r>
              <a:rPr sz="2400" spc="-200" dirty="0">
                <a:latin typeface="Tahoma"/>
                <a:cs typeface="Tahoma"/>
              </a:rPr>
              <a:t> </a:t>
            </a:r>
            <a:r>
              <a:rPr sz="2500" i="1" spc="-65" dirty="0">
                <a:latin typeface="Tahoma"/>
                <a:cs typeface="Tahoma"/>
              </a:rPr>
              <a:t>C</a:t>
            </a:r>
            <a:endParaRPr sz="2500">
              <a:latin typeface="Tahoma"/>
              <a:cs typeface="Tahoma"/>
            </a:endParaRPr>
          </a:p>
          <a:p>
            <a:pPr marL="12700">
              <a:lnSpc>
                <a:spcPts val="2870"/>
              </a:lnSpc>
            </a:pPr>
            <a:r>
              <a:rPr sz="2400" spc="-5" dirty="0">
                <a:latin typeface="Tahoma"/>
                <a:cs typeface="Tahoma"/>
              </a:rPr>
              <a:t>within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groups: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031740" y="3719829"/>
            <a:ext cx="208279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A  </a:t>
            </a:r>
            <a:r>
              <a:rPr sz="2400" dirty="0">
                <a:solidFill>
                  <a:srgbClr val="33CC33"/>
                </a:solidFill>
                <a:latin typeface="Tahoma"/>
                <a:cs typeface="Tahoma"/>
              </a:rPr>
              <a:t>1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946140" y="3719829"/>
            <a:ext cx="20510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B  </a:t>
            </a:r>
            <a:r>
              <a:rPr sz="2400" dirty="0">
                <a:solidFill>
                  <a:srgbClr val="33CC33"/>
                </a:solidFill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860540" y="3719829"/>
            <a:ext cx="2025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X  </a:t>
            </a:r>
            <a:r>
              <a:rPr sz="2400" dirty="0">
                <a:solidFill>
                  <a:srgbClr val="33CC33"/>
                </a:solidFill>
                <a:latin typeface="Tahoma"/>
                <a:cs typeface="Tahoma"/>
              </a:rPr>
              <a:t>4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031740" y="4451350"/>
            <a:ext cx="192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0066"/>
                </a:solidFill>
                <a:latin typeface="Tahoma"/>
                <a:cs typeface="Tahoma"/>
              </a:rPr>
              <a:t>4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946140" y="4451350"/>
            <a:ext cx="192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0066"/>
                </a:solidFill>
                <a:latin typeface="Tahoma"/>
                <a:cs typeface="Tahoma"/>
              </a:rPr>
              <a:t>5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860540" y="4451350"/>
            <a:ext cx="192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0066"/>
                </a:solidFill>
                <a:latin typeface="Tahoma"/>
                <a:cs typeface="Tahoma"/>
              </a:rPr>
              <a:t>6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883150" y="3729037"/>
            <a:ext cx="2360930" cy="1152525"/>
          </a:xfrm>
          <a:custGeom>
            <a:avLst/>
            <a:gdLst/>
            <a:ahLst/>
            <a:cxnLst/>
            <a:rect l="l" t="t" r="r" b="b"/>
            <a:pathLst>
              <a:path w="2360929" h="1152525">
                <a:moveTo>
                  <a:pt x="2360612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2360612" y="0"/>
                </a:lnTo>
                <a:lnTo>
                  <a:pt x="2360612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2360612" y="1147762"/>
                </a:lnTo>
                <a:lnTo>
                  <a:pt x="2360612" y="1152525"/>
                </a:lnTo>
                <a:close/>
              </a:path>
              <a:path w="2360929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360929" h="1152525">
                <a:moveTo>
                  <a:pt x="2351087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351087" y="4762"/>
                </a:lnTo>
                <a:lnTo>
                  <a:pt x="2351087" y="9525"/>
                </a:lnTo>
                <a:close/>
              </a:path>
              <a:path w="2360929" h="1152525">
                <a:moveTo>
                  <a:pt x="2351087" y="1147762"/>
                </a:moveTo>
                <a:lnTo>
                  <a:pt x="2351087" y="4762"/>
                </a:lnTo>
                <a:lnTo>
                  <a:pt x="2355850" y="9525"/>
                </a:lnTo>
                <a:lnTo>
                  <a:pt x="2360612" y="9525"/>
                </a:lnTo>
                <a:lnTo>
                  <a:pt x="2360612" y="1143000"/>
                </a:lnTo>
                <a:lnTo>
                  <a:pt x="2355850" y="1143000"/>
                </a:lnTo>
                <a:lnTo>
                  <a:pt x="2351087" y="1147762"/>
                </a:lnTo>
                <a:close/>
              </a:path>
              <a:path w="2360929" h="1152525">
                <a:moveTo>
                  <a:pt x="2360612" y="9525"/>
                </a:moveTo>
                <a:lnTo>
                  <a:pt x="2355850" y="9525"/>
                </a:lnTo>
                <a:lnTo>
                  <a:pt x="2351087" y="4762"/>
                </a:lnTo>
                <a:lnTo>
                  <a:pt x="2360612" y="4762"/>
                </a:lnTo>
                <a:lnTo>
                  <a:pt x="2360612" y="9525"/>
                </a:lnTo>
                <a:close/>
              </a:path>
              <a:path w="2360929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2360929" h="1152525">
                <a:moveTo>
                  <a:pt x="2351087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2351087" y="1143000"/>
                </a:lnTo>
                <a:lnTo>
                  <a:pt x="2351087" y="1147762"/>
                </a:lnTo>
                <a:close/>
              </a:path>
              <a:path w="2360929" h="1152525">
                <a:moveTo>
                  <a:pt x="2360612" y="1147762"/>
                </a:moveTo>
                <a:lnTo>
                  <a:pt x="2351087" y="1147762"/>
                </a:lnTo>
                <a:lnTo>
                  <a:pt x="2355850" y="1143000"/>
                </a:lnTo>
                <a:lnTo>
                  <a:pt x="2360612" y="1143000"/>
                </a:lnTo>
                <a:lnTo>
                  <a:pt x="2360612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876800" y="4114800"/>
            <a:ext cx="2362200" cy="0"/>
          </a:xfrm>
          <a:custGeom>
            <a:avLst/>
            <a:gdLst/>
            <a:ahLst/>
            <a:cxnLst/>
            <a:rect l="l" t="t" r="r" b="b"/>
            <a:pathLst>
              <a:path w="2362200">
                <a:moveTo>
                  <a:pt x="0" y="0"/>
                </a:moveTo>
                <a:lnTo>
                  <a:pt x="23622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538787" y="3733800"/>
            <a:ext cx="0" cy="1143000"/>
          </a:xfrm>
          <a:custGeom>
            <a:avLst/>
            <a:gdLst/>
            <a:ahLst/>
            <a:cxnLst/>
            <a:rect l="l" t="t" r="r" b="b"/>
            <a:pathLst>
              <a:path h="1143000">
                <a:moveTo>
                  <a:pt x="0" y="0"/>
                </a:moveTo>
                <a:lnTo>
                  <a:pt x="0" y="1143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553200" y="3733800"/>
            <a:ext cx="0" cy="1143000"/>
          </a:xfrm>
          <a:custGeom>
            <a:avLst/>
            <a:gdLst/>
            <a:ahLst/>
            <a:cxnLst/>
            <a:rect l="l" t="t" r="r" b="b"/>
            <a:pathLst>
              <a:path h="1143000">
                <a:moveTo>
                  <a:pt x="0" y="0"/>
                </a:moveTo>
                <a:lnTo>
                  <a:pt x="0" y="1143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9" name="墨迹 28">
                <a:extLst>
                  <a:ext uri="{FF2B5EF4-FFF2-40B4-BE49-F238E27FC236}">
                    <a16:creationId xmlns:a16="http://schemas.microsoft.com/office/drawing/2014/main" id="{07F9F154-4738-E8C8-FE78-029DE967AD06}"/>
                  </a:ext>
                </a:extLst>
              </p14:cNvPr>
              <p14:cNvContentPartPr/>
              <p14:nvPr/>
            </p14:nvContentPartPr>
            <p14:xfrm>
              <a:off x="1026459" y="4176911"/>
              <a:ext cx="2613960" cy="180000"/>
            </p14:xfrm>
          </p:contentPart>
        </mc:Choice>
        <mc:Fallback>
          <p:pic>
            <p:nvPicPr>
              <p:cNvPr id="29" name="墨迹 28">
                <a:extLst>
                  <a:ext uri="{FF2B5EF4-FFF2-40B4-BE49-F238E27FC236}">
                    <a16:creationId xmlns:a16="http://schemas.microsoft.com/office/drawing/2014/main" id="{07F9F154-4738-E8C8-FE78-029DE967AD0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72819" y="4068911"/>
                <a:ext cx="2721600" cy="395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14395" y="829944"/>
            <a:ext cx="23158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Outerjoin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47040" y="1845843"/>
            <a:ext cx="7726680" cy="3460115"/>
          </a:xfrm>
          <a:prstGeom prst="rect">
            <a:avLst/>
          </a:prstGeom>
        </p:spPr>
        <p:txBody>
          <a:bodyPr vert="horz" wrap="square" lIns="0" tIns="144780" rIns="0" bIns="0" rtlCol="0">
            <a:spAutoFit/>
          </a:bodyPr>
          <a:lstStyle/>
          <a:p>
            <a:pPr marL="427355" indent="-402590">
              <a:lnSpc>
                <a:spcPct val="100000"/>
              </a:lnSpc>
              <a:spcBef>
                <a:spcPts val="114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27990" algn="l"/>
              </a:tabLst>
            </a:pPr>
            <a:r>
              <a:rPr sz="3200" spc="-5" dirty="0">
                <a:latin typeface="Tahoma"/>
                <a:cs typeface="Tahoma"/>
              </a:rPr>
              <a:t>Suppose </a:t>
            </a:r>
            <a:r>
              <a:rPr sz="3200" dirty="0">
                <a:latin typeface="Tahoma"/>
                <a:cs typeface="Tahoma"/>
              </a:rPr>
              <a:t>we </a:t>
            </a:r>
            <a:r>
              <a:rPr sz="3200" spc="-5" dirty="0">
                <a:latin typeface="Tahoma"/>
                <a:cs typeface="Tahoma"/>
              </a:rPr>
              <a:t>join</a:t>
            </a:r>
            <a:r>
              <a:rPr sz="3200" spc="-229" dirty="0">
                <a:latin typeface="Tahoma"/>
                <a:cs typeface="Tahoma"/>
              </a:rPr>
              <a:t> </a:t>
            </a:r>
            <a:r>
              <a:rPr sz="3350" i="1" spc="-260" dirty="0">
                <a:latin typeface="Tahoma"/>
                <a:cs typeface="Tahoma"/>
              </a:rPr>
              <a:t>R</a:t>
            </a:r>
            <a:r>
              <a:rPr sz="4000" spc="-260" dirty="0">
                <a:latin typeface="Lucida Sans Unicode"/>
                <a:cs typeface="Lucida Sans Unicode"/>
              </a:rPr>
              <a:t>⋈</a:t>
            </a:r>
            <a:r>
              <a:rPr sz="3225" i="1" spc="-390" baseline="-16795" dirty="0">
                <a:latin typeface="Tahoma"/>
                <a:cs typeface="Tahoma"/>
              </a:rPr>
              <a:t>C</a:t>
            </a:r>
            <a:r>
              <a:rPr sz="3350" i="1" spc="-260" dirty="0">
                <a:latin typeface="Tahoma"/>
                <a:cs typeface="Tahoma"/>
              </a:rPr>
              <a:t>S</a:t>
            </a:r>
            <a:r>
              <a:rPr sz="3200" spc="-260" dirty="0">
                <a:latin typeface="Tahoma"/>
                <a:cs typeface="Tahoma"/>
              </a:rPr>
              <a:t>.</a:t>
            </a:r>
            <a:endParaRPr sz="3200" dirty="0">
              <a:latin typeface="Tahoma"/>
              <a:cs typeface="Tahoma"/>
            </a:endParaRPr>
          </a:p>
          <a:p>
            <a:pPr marL="368300" marR="17780" indent="-342900">
              <a:lnSpc>
                <a:spcPts val="3840"/>
              </a:lnSpc>
              <a:spcBef>
                <a:spcPts val="117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27990" algn="l"/>
              </a:tabLst>
            </a:pP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tuple of </a:t>
            </a:r>
            <a:r>
              <a:rPr sz="3350" i="1" spc="-90" dirty="0">
                <a:latin typeface="Tahoma"/>
                <a:cs typeface="Tahoma"/>
              </a:rPr>
              <a:t>R </a:t>
            </a:r>
            <a:r>
              <a:rPr sz="3200" spc="-5" dirty="0">
                <a:latin typeface="Tahoma"/>
                <a:cs typeface="Tahoma"/>
              </a:rPr>
              <a:t>that has </a:t>
            </a:r>
            <a:r>
              <a:rPr sz="3200" dirty="0">
                <a:latin typeface="Tahoma"/>
                <a:cs typeface="Tahoma"/>
              </a:rPr>
              <a:t>no </a:t>
            </a:r>
            <a:r>
              <a:rPr sz="3200" spc="-5" dirty="0">
                <a:latin typeface="Tahoma"/>
                <a:cs typeface="Tahoma"/>
              </a:rPr>
              <a:t>tuple of </a:t>
            </a:r>
            <a:r>
              <a:rPr sz="3350" i="1" spc="-85" dirty="0">
                <a:latin typeface="Tahoma"/>
                <a:cs typeface="Tahoma"/>
              </a:rPr>
              <a:t>S </a:t>
            </a:r>
            <a:r>
              <a:rPr sz="3200" spc="-5" dirty="0">
                <a:latin typeface="Tahoma"/>
                <a:cs typeface="Tahoma"/>
              </a:rPr>
              <a:t>with  which </a:t>
            </a:r>
            <a:r>
              <a:rPr sz="3200" dirty="0">
                <a:latin typeface="Tahoma"/>
                <a:cs typeface="Tahoma"/>
              </a:rPr>
              <a:t>it </a:t>
            </a:r>
            <a:r>
              <a:rPr sz="3200" spc="-5" dirty="0">
                <a:latin typeface="Tahoma"/>
                <a:cs typeface="Tahoma"/>
              </a:rPr>
              <a:t>joins is said to </a:t>
            </a:r>
            <a:r>
              <a:rPr sz="3200" dirty="0">
                <a:latin typeface="Tahoma"/>
                <a:cs typeface="Tahoma"/>
              </a:rPr>
              <a:t>be</a:t>
            </a:r>
            <a:r>
              <a:rPr sz="3200" spc="-434" dirty="0">
                <a:latin typeface="Tahoma"/>
                <a:cs typeface="Tahoma"/>
              </a:rPr>
              <a:t> </a:t>
            </a:r>
            <a:r>
              <a:rPr lang="en-US" altLang="zh-CN" sz="3600" dirty="0">
                <a:effectLst/>
              </a:rPr>
              <a:t>dangling</a:t>
            </a:r>
            <a:r>
              <a:rPr sz="3200" spc="-1010" dirty="0">
                <a:latin typeface="Tahoma"/>
                <a:cs typeface="Tahoma"/>
              </a:rPr>
              <a:t>.</a:t>
            </a:r>
            <a:endParaRPr sz="3200" dirty="0">
              <a:latin typeface="Tahoma"/>
              <a:cs typeface="Tahoma"/>
            </a:endParaRPr>
          </a:p>
          <a:p>
            <a:pPr marL="768350" lvl="1" indent="-285750">
              <a:lnSpc>
                <a:spcPct val="100000"/>
              </a:lnSpc>
              <a:spcBef>
                <a:spcPts val="445"/>
              </a:spcBef>
              <a:buClr>
                <a:srgbClr val="CC00CC"/>
              </a:buClr>
              <a:buFont typeface="Wingdings"/>
              <a:buChar char=""/>
              <a:tabLst>
                <a:tab pos="768350" algn="l"/>
              </a:tabLst>
            </a:pPr>
            <a:r>
              <a:rPr sz="2800" spc="-5" dirty="0">
                <a:latin typeface="Tahoma"/>
                <a:cs typeface="Tahoma"/>
              </a:rPr>
              <a:t>Similarly </a:t>
            </a:r>
            <a:r>
              <a:rPr sz="2800" spc="-15" dirty="0">
                <a:latin typeface="Tahoma"/>
                <a:cs typeface="Tahoma"/>
              </a:rPr>
              <a:t>for </a:t>
            </a:r>
            <a:r>
              <a:rPr sz="2800" spc="-5" dirty="0">
                <a:latin typeface="Tahoma"/>
                <a:cs typeface="Tahoma"/>
              </a:rPr>
              <a:t>a tuple of</a:t>
            </a:r>
            <a:r>
              <a:rPr sz="2800" spc="-160" dirty="0">
                <a:latin typeface="Tahoma"/>
                <a:cs typeface="Tahoma"/>
              </a:rPr>
              <a:t> </a:t>
            </a:r>
            <a:r>
              <a:rPr sz="2900" i="1" spc="-480" dirty="0">
                <a:latin typeface="Tahoma"/>
                <a:cs typeface="Tahoma"/>
              </a:rPr>
              <a:t>S</a:t>
            </a:r>
            <a:r>
              <a:rPr sz="2800" spc="-480" dirty="0">
                <a:latin typeface="Tahoma"/>
                <a:cs typeface="Tahoma"/>
              </a:rPr>
              <a:t>.</a:t>
            </a:r>
            <a:endParaRPr sz="2800" dirty="0">
              <a:latin typeface="Tahoma"/>
              <a:cs typeface="Tahoma"/>
            </a:endParaRPr>
          </a:p>
          <a:p>
            <a:pPr marL="368300" marR="370205" indent="-342900">
              <a:lnSpc>
                <a:spcPct val="100000"/>
              </a:lnSpc>
              <a:spcBef>
                <a:spcPts val="74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27990" algn="l"/>
              </a:tabLst>
            </a:pPr>
            <a:r>
              <a:rPr sz="3200" spc="-5" dirty="0">
                <a:latin typeface="Tahoma"/>
                <a:cs typeface="Tahoma"/>
              </a:rPr>
              <a:t>Outerjoin </a:t>
            </a:r>
            <a:r>
              <a:rPr sz="3200" spc="-10" dirty="0">
                <a:latin typeface="Tahoma"/>
                <a:cs typeface="Tahoma"/>
              </a:rPr>
              <a:t>preserves </a:t>
            </a:r>
            <a:r>
              <a:rPr sz="3200" spc="-5" dirty="0">
                <a:latin typeface="Tahoma"/>
                <a:cs typeface="Tahoma"/>
              </a:rPr>
              <a:t>dangling tuples by  padding them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NULL.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86304" y="829944"/>
            <a:ext cx="47713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</a:t>
            </a:r>
            <a:r>
              <a:rPr spc="-50" dirty="0"/>
              <a:t> </a:t>
            </a:r>
            <a:r>
              <a:rPr spc="-5" dirty="0"/>
              <a:t>Outerjoin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10664" y="2274887"/>
            <a:ext cx="11169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08660" algn="l"/>
              </a:tabLst>
            </a:pP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R =	(</a:t>
            </a:r>
            <a:r>
              <a:rPr sz="2400" spc="-90" dirty="0">
                <a:solidFill>
                  <a:srgbClr val="CC00CC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A</a:t>
            </a:r>
            <a:endParaRPr sz="2400">
              <a:latin typeface="Tahoma"/>
              <a:cs typeface="Tahoma"/>
            </a:endParaRPr>
          </a:p>
          <a:p>
            <a:pPr marR="15240" algn="r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1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39465" y="2274887"/>
            <a:ext cx="41719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B</a:t>
            </a:r>
            <a:r>
              <a:rPr sz="2400" spc="-100" dirty="0">
                <a:solidFill>
                  <a:srgbClr val="CC00CC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)  </a:t>
            </a:r>
            <a:r>
              <a:rPr sz="2400" dirty="0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68265" y="2274887"/>
            <a:ext cx="110680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88975" algn="l"/>
              </a:tabLst>
            </a:pP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S</a:t>
            </a:r>
            <a:r>
              <a:rPr sz="2400" spc="-5" dirty="0">
                <a:solidFill>
                  <a:srgbClr val="CC00CC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=	(</a:t>
            </a:r>
            <a:r>
              <a:rPr sz="2400" spc="-80" dirty="0">
                <a:solidFill>
                  <a:srgbClr val="CC00CC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B</a:t>
            </a:r>
            <a:endParaRPr sz="2400">
              <a:latin typeface="Tahoma"/>
              <a:cs typeface="Tahoma"/>
            </a:endParaRPr>
          </a:p>
          <a:p>
            <a:pPr marR="5080" algn="r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97065" y="2274887"/>
            <a:ext cx="42037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C</a:t>
            </a:r>
            <a:r>
              <a:rPr sz="2400" spc="-105" dirty="0">
                <a:solidFill>
                  <a:srgbClr val="CC00CC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CC00CC"/>
                </a:solidFill>
                <a:latin typeface="Tahoma"/>
                <a:cs typeface="Tahoma"/>
              </a:rPr>
              <a:t>)  </a:t>
            </a:r>
            <a:r>
              <a:rPr sz="2400" dirty="0">
                <a:latin typeface="Tahoma"/>
                <a:cs typeface="Tahoma"/>
              </a:rPr>
              <a:t>3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10664" y="3006407"/>
            <a:ext cx="627634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230" algn="ctr">
              <a:lnSpc>
                <a:spcPct val="100000"/>
              </a:lnSpc>
              <a:spcBef>
                <a:spcPts val="100"/>
              </a:spcBef>
              <a:tabLst>
                <a:tab pos="1230630" algn="l"/>
                <a:tab pos="3973829" algn="l"/>
                <a:tab pos="4888230" algn="l"/>
              </a:tabLst>
            </a:pPr>
            <a:r>
              <a:rPr sz="2400" dirty="0">
                <a:latin typeface="Tahoma"/>
                <a:cs typeface="Tahoma"/>
              </a:rPr>
              <a:t>4	5	6	7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35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</a:pPr>
            <a:r>
              <a:rPr sz="2400" spc="-5" dirty="0">
                <a:latin typeface="Tahoma"/>
                <a:cs typeface="Tahoma"/>
              </a:rPr>
              <a:t>(1,2) joins with (2,3), but </a:t>
            </a:r>
            <a:r>
              <a:rPr sz="2400" dirty="0">
                <a:latin typeface="Tahoma"/>
                <a:cs typeface="Tahoma"/>
              </a:rPr>
              <a:t>the other </a:t>
            </a:r>
            <a:r>
              <a:rPr sz="2400" spc="-5" dirty="0">
                <a:latin typeface="Tahoma"/>
                <a:cs typeface="Tahoma"/>
              </a:rPr>
              <a:t>two tuples  are dangling.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57437" y="2281237"/>
            <a:ext cx="1228725" cy="1152525"/>
          </a:xfrm>
          <a:custGeom>
            <a:avLst/>
            <a:gdLst/>
            <a:ahLst/>
            <a:cxnLst/>
            <a:rect l="l" t="t" r="r" b="b"/>
            <a:pathLst>
              <a:path w="1228725" h="1152525">
                <a:moveTo>
                  <a:pt x="1228725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1228725" y="0"/>
                </a:lnTo>
                <a:lnTo>
                  <a:pt x="1228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1228725" y="1147762"/>
                </a:lnTo>
                <a:lnTo>
                  <a:pt x="1228725" y="1152525"/>
                </a:lnTo>
                <a:close/>
              </a:path>
              <a:path w="1228725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228725" h="1152525">
                <a:moveTo>
                  <a:pt x="1219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19200" y="4762"/>
                </a:lnTo>
                <a:lnTo>
                  <a:pt x="1219200" y="9525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1219200" y="4762"/>
                </a:lnTo>
                <a:lnTo>
                  <a:pt x="1223962" y="9525"/>
                </a:lnTo>
                <a:lnTo>
                  <a:pt x="1228725" y="9525"/>
                </a:lnTo>
                <a:lnTo>
                  <a:pt x="1228725" y="1143000"/>
                </a:lnTo>
                <a:lnTo>
                  <a:pt x="1223962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9525"/>
                </a:moveTo>
                <a:lnTo>
                  <a:pt x="1223962" y="9525"/>
                </a:lnTo>
                <a:lnTo>
                  <a:pt x="1219200" y="4762"/>
                </a:lnTo>
                <a:lnTo>
                  <a:pt x="1228725" y="4762"/>
                </a:lnTo>
                <a:lnTo>
                  <a:pt x="1228725" y="9525"/>
                </a:lnTo>
                <a:close/>
              </a:path>
              <a:path w="1228725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1219200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1147762"/>
                </a:moveTo>
                <a:lnTo>
                  <a:pt x="1219200" y="1147762"/>
                </a:lnTo>
                <a:lnTo>
                  <a:pt x="1223962" y="1143000"/>
                </a:lnTo>
                <a:lnTo>
                  <a:pt x="1228725" y="1143000"/>
                </a:lnTo>
                <a:lnTo>
                  <a:pt x="1228725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362200" y="2667000"/>
            <a:ext cx="1219200" cy="0"/>
          </a:xfrm>
          <a:custGeom>
            <a:avLst/>
            <a:gdLst/>
            <a:ahLst/>
            <a:cxnLst/>
            <a:rect l="l" t="t" r="r" b="b"/>
            <a:pathLst>
              <a:path w="1219200">
                <a:moveTo>
                  <a:pt x="0" y="0"/>
                </a:moveTo>
                <a:lnTo>
                  <a:pt x="12192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971800" y="2286000"/>
            <a:ext cx="0" cy="1143000"/>
          </a:xfrm>
          <a:custGeom>
            <a:avLst/>
            <a:gdLst/>
            <a:ahLst/>
            <a:cxnLst/>
            <a:rect l="l" t="t" r="r" b="b"/>
            <a:pathLst>
              <a:path h="1143000">
                <a:moveTo>
                  <a:pt x="0" y="0"/>
                </a:moveTo>
                <a:lnTo>
                  <a:pt x="0" y="1143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015037" y="2281237"/>
            <a:ext cx="1228725" cy="1152525"/>
          </a:xfrm>
          <a:custGeom>
            <a:avLst/>
            <a:gdLst/>
            <a:ahLst/>
            <a:cxnLst/>
            <a:rect l="l" t="t" r="r" b="b"/>
            <a:pathLst>
              <a:path w="1228725" h="1152525">
                <a:moveTo>
                  <a:pt x="1228725" y="1152525"/>
                </a:moveTo>
                <a:lnTo>
                  <a:pt x="0" y="1152525"/>
                </a:lnTo>
                <a:lnTo>
                  <a:pt x="0" y="0"/>
                </a:lnTo>
                <a:lnTo>
                  <a:pt x="1228725" y="0"/>
                </a:lnTo>
                <a:lnTo>
                  <a:pt x="12287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143000"/>
                </a:lnTo>
                <a:lnTo>
                  <a:pt x="4762" y="1143000"/>
                </a:lnTo>
                <a:lnTo>
                  <a:pt x="9525" y="1147762"/>
                </a:lnTo>
                <a:lnTo>
                  <a:pt x="1228725" y="1147762"/>
                </a:lnTo>
                <a:lnTo>
                  <a:pt x="1228725" y="1152525"/>
                </a:lnTo>
                <a:close/>
              </a:path>
              <a:path w="1228725" h="1152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228725" h="1152525">
                <a:moveTo>
                  <a:pt x="12192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219200" y="4762"/>
                </a:lnTo>
                <a:lnTo>
                  <a:pt x="1219200" y="9525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1219200" y="4762"/>
                </a:lnTo>
                <a:lnTo>
                  <a:pt x="1223962" y="9525"/>
                </a:lnTo>
                <a:lnTo>
                  <a:pt x="1228725" y="9525"/>
                </a:lnTo>
                <a:lnTo>
                  <a:pt x="1228725" y="1143000"/>
                </a:lnTo>
                <a:lnTo>
                  <a:pt x="1223962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9525"/>
                </a:moveTo>
                <a:lnTo>
                  <a:pt x="1223962" y="9525"/>
                </a:lnTo>
                <a:lnTo>
                  <a:pt x="1219200" y="4762"/>
                </a:lnTo>
                <a:lnTo>
                  <a:pt x="1228725" y="4762"/>
                </a:lnTo>
                <a:lnTo>
                  <a:pt x="1228725" y="9525"/>
                </a:lnTo>
                <a:close/>
              </a:path>
              <a:path w="1228725" h="1152525">
                <a:moveTo>
                  <a:pt x="9525" y="1147762"/>
                </a:moveTo>
                <a:lnTo>
                  <a:pt x="4762" y="1143000"/>
                </a:lnTo>
                <a:lnTo>
                  <a:pt x="9525" y="1143000"/>
                </a:lnTo>
                <a:lnTo>
                  <a:pt x="9525" y="1147762"/>
                </a:lnTo>
                <a:close/>
              </a:path>
              <a:path w="1228725" h="1152525">
                <a:moveTo>
                  <a:pt x="1219200" y="1147762"/>
                </a:moveTo>
                <a:lnTo>
                  <a:pt x="9525" y="1147762"/>
                </a:lnTo>
                <a:lnTo>
                  <a:pt x="9525" y="1143000"/>
                </a:lnTo>
                <a:lnTo>
                  <a:pt x="1219200" y="1143000"/>
                </a:lnTo>
                <a:lnTo>
                  <a:pt x="1219200" y="1147762"/>
                </a:lnTo>
                <a:close/>
              </a:path>
              <a:path w="1228725" h="1152525">
                <a:moveTo>
                  <a:pt x="1228725" y="1147762"/>
                </a:moveTo>
                <a:lnTo>
                  <a:pt x="1219200" y="1147762"/>
                </a:lnTo>
                <a:lnTo>
                  <a:pt x="1223962" y="1143000"/>
                </a:lnTo>
                <a:lnTo>
                  <a:pt x="1228725" y="1143000"/>
                </a:lnTo>
                <a:lnTo>
                  <a:pt x="1228725" y="1147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019800" y="2667000"/>
            <a:ext cx="1219200" cy="0"/>
          </a:xfrm>
          <a:custGeom>
            <a:avLst/>
            <a:gdLst/>
            <a:ahLst/>
            <a:cxnLst/>
            <a:rect l="l" t="t" r="r" b="b"/>
            <a:pathLst>
              <a:path w="1219200">
                <a:moveTo>
                  <a:pt x="0" y="0"/>
                </a:moveTo>
                <a:lnTo>
                  <a:pt x="12192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629400" y="2286000"/>
            <a:ext cx="0" cy="1143000"/>
          </a:xfrm>
          <a:custGeom>
            <a:avLst/>
            <a:gdLst/>
            <a:ahLst/>
            <a:cxnLst/>
            <a:rect l="l" t="t" r="r" b="b"/>
            <a:pathLst>
              <a:path h="1143000">
                <a:moveTo>
                  <a:pt x="0" y="0"/>
                </a:moveTo>
                <a:lnTo>
                  <a:pt x="0" y="1143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62437" y="4643437"/>
            <a:ext cx="2676525" cy="1533525"/>
          </a:xfrm>
          <a:custGeom>
            <a:avLst/>
            <a:gdLst/>
            <a:ahLst/>
            <a:cxnLst/>
            <a:rect l="l" t="t" r="r" b="b"/>
            <a:pathLst>
              <a:path w="2676525" h="1533525">
                <a:moveTo>
                  <a:pt x="2676525" y="1533525"/>
                </a:moveTo>
                <a:lnTo>
                  <a:pt x="0" y="1533525"/>
                </a:lnTo>
                <a:lnTo>
                  <a:pt x="0" y="0"/>
                </a:lnTo>
                <a:lnTo>
                  <a:pt x="2676525" y="0"/>
                </a:lnTo>
                <a:lnTo>
                  <a:pt x="26765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524000"/>
                </a:lnTo>
                <a:lnTo>
                  <a:pt x="4762" y="1524000"/>
                </a:lnTo>
                <a:lnTo>
                  <a:pt x="9525" y="1528762"/>
                </a:lnTo>
                <a:lnTo>
                  <a:pt x="2676525" y="1528762"/>
                </a:lnTo>
                <a:lnTo>
                  <a:pt x="2676525" y="1533525"/>
                </a:lnTo>
                <a:close/>
              </a:path>
              <a:path w="2676525" h="1533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676525" h="1533525">
                <a:moveTo>
                  <a:pt x="26670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667000" y="4762"/>
                </a:lnTo>
                <a:lnTo>
                  <a:pt x="2667000" y="9525"/>
                </a:lnTo>
                <a:close/>
              </a:path>
              <a:path w="2676525" h="1533525">
                <a:moveTo>
                  <a:pt x="2667000" y="1528762"/>
                </a:moveTo>
                <a:lnTo>
                  <a:pt x="2667000" y="4762"/>
                </a:lnTo>
                <a:lnTo>
                  <a:pt x="2671762" y="9525"/>
                </a:lnTo>
                <a:lnTo>
                  <a:pt x="2676525" y="9525"/>
                </a:lnTo>
                <a:lnTo>
                  <a:pt x="2676525" y="1524000"/>
                </a:lnTo>
                <a:lnTo>
                  <a:pt x="2671762" y="1524000"/>
                </a:lnTo>
                <a:lnTo>
                  <a:pt x="2667000" y="1528762"/>
                </a:lnTo>
                <a:close/>
              </a:path>
              <a:path w="2676525" h="1533525">
                <a:moveTo>
                  <a:pt x="2676525" y="9525"/>
                </a:moveTo>
                <a:lnTo>
                  <a:pt x="2671762" y="9525"/>
                </a:lnTo>
                <a:lnTo>
                  <a:pt x="2667000" y="4762"/>
                </a:lnTo>
                <a:lnTo>
                  <a:pt x="2676525" y="4762"/>
                </a:lnTo>
                <a:lnTo>
                  <a:pt x="2676525" y="9525"/>
                </a:lnTo>
                <a:close/>
              </a:path>
              <a:path w="2676525" h="1533525">
                <a:moveTo>
                  <a:pt x="9525" y="1528762"/>
                </a:moveTo>
                <a:lnTo>
                  <a:pt x="4762" y="1524000"/>
                </a:lnTo>
                <a:lnTo>
                  <a:pt x="9525" y="1524000"/>
                </a:lnTo>
                <a:lnTo>
                  <a:pt x="9525" y="1528762"/>
                </a:lnTo>
                <a:close/>
              </a:path>
              <a:path w="2676525" h="1533525">
                <a:moveTo>
                  <a:pt x="2667000" y="1528762"/>
                </a:moveTo>
                <a:lnTo>
                  <a:pt x="9525" y="1528762"/>
                </a:lnTo>
                <a:lnTo>
                  <a:pt x="9525" y="1524000"/>
                </a:lnTo>
                <a:lnTo>
                  <a:pt x="2667000" y="1524000"/>
                </a:lnTo>
                <a:lnTo>
                  <a:pt x="2667000" y="1528762"/>
                </a:lnTo>
                <a:close/>
              </a:path>
              <a:path w="2676525" h="1533525">
                <a:moveTo>
                  <a:pt x="2676525" y="1528762"/>
                </a:moveTo>
                <a:lnTo>
                  <a:pt x="2667000" y="1528762"/>
                </a:lnTo>
                <a:lnTo>
                  <a:pt x="2671762" y="1524000"/>
                </a:lnTo>
                <a:lnTo>
                  <a:pt x="2676525" y="1524000"/>
                </a:lnTo>
                <a:lnTo>
                  <a:pt x="2676525" y="1528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1567814" y="4648200"/>
          <a:ext cx="5366385" cy="15239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99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9341">
                <a:tc>
                  <a:txBody>
                    <a:bodyPr/>
                    <a:lstStyle/>
                    <a:p>
                      <a:pPr marL="31750">
                        <a:lnSpc>
                          <a:spcPts val="2795"/>
                        </a:lnSpc>
                        <a:spcBef>
                          <a:spcPts val="1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R </a:t>
                      </a:r>
                      <a:r>
                        <a:rPr sz="2400" spc="-5" dirty="0">
                          <a:latin typeface="Tahoma"/>
                          <a:cs typeface="Tahoma"/>
                        </a:rPr>
                        <a:t>OUTERJOIN </a:t>
                      </a:r>
                      <a:r>
                        <a:rPr sz="2400" dirty="0">
                          <a:latin typeface="Tahoma"/>
                          <a:cs typeface="Tahoma"/>
                        </a:rPr>
                        <a:t>S</a:t>
                      </a:r>
                      <a:r>
                        <a:rPr sz="2400" spc="-5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400" dirty="0">
                          <a:latin typeface="Tahoma"/>
                          <a:cs typeface="Tahoma"/>
                        </a:rPr>
                        <a:t>=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400" dirty="0">
                          <a:solidFill>
                            <a:srgbClr val="CC00CC"/>
                          </a:solidFill>
                          <a:latin typeface="Tahoma"/>
                          <a:cs typeface="Tahoma"/>
                        </a:rPr>
                        <a:t>A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27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400" dirty="0">
                          <a:solidFill>
                            <a:srgbClr val="CC00CC"/>
                          </a:solidFill>
                          <a:latin typeface="Tahoma"/>
                          <a:cs typeface="Tahoma"/>
                        </a:rPr>
                        <a:t>B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2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353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400" dirty="0">
                          <a:solidFill>
                            <a:srgbClr val="CC00CC"/>
                          </a:solidFill>
                          <a:latin typeface="Tahoma"/>
                          <a:cs typeface="Tahoma"/>
                        </a:rPr>
                        <a:t>C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27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6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ts val="26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ts val="26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03530">
                        <a:lnSpc>
                          <a:spcPts val="26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3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ts val="27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4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ts val="278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5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3530">
                        <a:lnSpc>
                          <a:spcPts val="2780"/>
                        </a:lnSpc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NULL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2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ts val="2875"/>
                        </a:lnSpc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NULL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ts val="2875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6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03530">
                        <a:lnSpc>
                          <a:spcPts val="2875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7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13</a:t>
            </a:fld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Now --- </a:t>
            </a:r>
            <a:r>
              <a:rPr dirty="0"/>
              <a:t>Back </a:t>
            </a:r>
            <a:r>
              <a:rPr spc="-5" dirty="0"/>
              <a:t>to</a:t>
            </a:r>
            <a:r>
              <a:rPr spc="-50" dirty="0"/>
              <a:t> </a:t>
            </a:r>
            <a:r>
              <a:rPr spc="-5" dirty="0"/>
              <a:t>SQL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14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09727" rIns="0" bIns="0" rtlCol="0">
            <a:spAutoFit/>
          </a:bodyPr>
          <a:lstStyle/>
          <a:p>
            <a:pPr marL="2113280" marR="5080" indent="-1434465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Each </a:t>
            </a:r>
            <a:r>
              <a:rPr spc="-10" dirty="0"/>
              <a:t>Operation </a:t>
            </a:r>
            <a:r>
              <a:rPr spc="-5" dirty="0"/>
              <a:t>Has </a:t>
            </a:r>
            <a:r>
              <a:rPr dirty="0"/>
              <a:t>a </a:t>
            </a:r>
            <a:r>
              <a:rPr spc="-5" dirty="0"/>
              <a:t>SQL  </a:t>
            </a:r>
            <a:r>
              <a:rPr spc="-10" dirty="0"/>
              <a:t>Equivalent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9300" y="829944"/>
            <a:ext cx="25654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Outerjoins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972310"/>
            <a:ext cx="7694930" cy="2741295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622300" marR="5080" indent="-609600">
              <a:lnSpc>
                <a:spcPts val="3450"/>
              </a:lnSpc>
              <a:spcBef>
                <a:spcPts val="545"/>
              </a:spcBef>
              <a:buClr>
                <a:srgbClr val="CC00CC"/>
              </a:buClr>
              <a:buFont typeface="Wingdings"/>
              <a:buChar char=""/>
              <a:tabLst>
                <a:tab pos="621665" algn="l"/>
                <a:tab pos="622300" algn="l"/>
                <a:tab pos="4626610" algn="l"/>
              </a:tabLst>
            </a:pPr>
            <a:r>
              <a:rPr sz="3200" dirty="0">
                <a:latin typeface="Tahoma"/>
                <a:cs typeface="Tahoma"/>
              </a:rPr>
              <a:t>R </a:t>
            </a:r>
            <a:r>
              <a:rPr sz="3200" spc="-5" dirty="0">
                <a:latin typeface="Tahoma"/>
                <a:cs typeface="Tahoma"/>
              </a:rPr>
              <a:t>OUTER </a:t>
            </a:r>
            <a:r>
              <a:rPr sz="3200" dirty="0">
                <a:latin typeface="Tahoma"/>
                <a:cs typeface="Tahoma"/>
              </a:rPr>
              <a:t>JOIN S </a:t>
            </a:r>
            <a:r>
              <a:rPr sz="3200" spc="-5" dirty="0">
                <a:latin typeface="Tahoma"/>
                <a:cs typeface="Tahoma"/>
              </a:rPr>
              <a:t>is the </a:t>
            </a:r>
            <a:r>
              <a:rPr sz="3200" spc="-10" dirty="0">
                <a:latin typeface="Tahoma"/>
                <a:cs typeface="Tahoma"/>
              </a:rPr>
              <a:t>core </a:t>
            </a:r>
            <a:r>
              <a:rPr sz="3200" spc="-5" dirty="0">
                <a:latin typeface="Tahoma"/>
                <a:cs typeface="Tahoma"/>
              </a:rPr>
              <a:t>of </a:t>
            </a:r>
            <a:r>
              <a:rPr sz="3200" dirty="0">
                <a:latin typeface="Tahoma"/>
                <a:cs typeface="Tahoma"/>
              </a:rPr>
              <a:t>an  </a:t>
            </a:r>
            <a:r>
              <a:rPr sz="3200" spc="-5" dirty="0">
                <a:latin typeface="Tahoma"/>
                <a:cs typeface="Tahoma"/>
              </a:rPr>
              <a:t>outerjoin</a:t>
            </a:r>
            <a:r>
              <a:rPr sz="3200" spc="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expression.	It is modified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by:</a:t>
            </a:r>
            <a:endParaRPr sz="3200" dirty="0">
              <a:latin typeface="Tahoma"/>
              <a:cs typeface="Tahoma"/>
            </a:endParaRPr>
          </a:p>
          <a:p>
            <a:pPr marL="1003300" lvl="1" indent="-533400">
              <a:lnSpc>
                <a:spcPct val="100000"/>
              </a:lnSpc>
              <a:spcBef>
                <a:spcPts val="280"/>
              </a:spcBef>
              <a:buClr>
                <a:srgbClr val="CC00CC"/>
              </a:buClr>
              <a:buAutoNum type="arabicPeriod"/>
              <a:tabLst>
                <a:tab pos="1002665" algn="l"/>
                <a:tab pos="1003300" algn="l"/>
              </a:tabLst>
            </a:pPr>
            <a:r>
              <a:rPr sz="2800" spc="-5" dirty="0">
                <a:latin typeface="Tahoma"/>
                <a:cs typeface="Tahoma"/>
              </a:rPr>
              <a:t>Optional </a:t>
            </a:r>
            <a:r>
              <a:rPr sz="2800" spc="-30" dirty="0">
                <a:latin typeface="Tahoma"/>
                <a:cs typeface="Tahoma"/>
              </a:rPr>
              <a:t>NATURAL </a:t>
            </a:r>
            <a:r>
              <a:rPr sz="2800" spc="-5" dirty="0">
                <a:latin typeface="Tahoma"/>
                <a:cs typeface="Tahoma"/>
              </a:rPr>
              <a:t>in </a:t>
            </a:r>
            <a:r>
              <a:rPr sz="2800" spc="-10" dirty="0">
                <a:latin typeface="Tahoma"/>
                <a:cs typeface="Tahoma"/>
              </a:rPr>
              <a:t>front </a:t>
            </a:r>
            <a:r>
              <a:rPr sz="2800" spc="-5" dirty="0">
                <a:latin typeface="Tahoma"/>
                <a:cs typeface="Tahoma"/>
              </a:rPr>
              <a:t>of</a:t>
            </a:r>
            <a:r>
              <a:rPr sz="2800" spc="4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OUTER.</a:t>
            </a:r>
            <a:endParaRPr sz="2800" dirty="0">
              <a:latin typeface="Tahoma"/>
              <a:cs typeface="Tahoma"/>
            </a:endParaRPr>
          </a:p>
          <a:p>
            <a:pPr marL="1003300" lvl="1" indent="-533400">
              <a:lnSpc>
                <a:spcPct val="100000"/>
              </a:lnSpc>
              <a:spcBef>
                <a:spcPts val="330"/>
              </a:spcBef>
              <a:buClr>
                <a:srgbClr val="CC00CC"/>
              </a:buClr>
              <a:buAutoNum type="arabicPeriod"/>
              <a:tabLst>
                <a:tab pos="1002665" algn="l"/>
                <a:tab pos="1003300" algn="l"/>
              </a:tabLst>
            </a:pPr>
            <a:r>
              <a:rPr sz="2800" spc="-5" dirty="0">
                <a:latin typeface="Tahoma"/>
                <a:cs typeface="Tahoma"/>
              </a:rPr>
              <a:t>Optional ON &lt;condition&gt; after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JOIN.</a:t>
            </a:r>
            <a:endParaRPr sz="2800" dirty="0">
              <a:latin typeface="Tahoma"/>
              <a:cs typeface="Tahoma"/>
            </a:endParaRPr>
          </a:p>
          <a:p>
            <a:pPr marL="1003300" marR="794385" lvl="1" indent="-533400">
              <a:lnSpc>
                <a:spcPts val="3020"/>
              </a:lnSpc>
              <a:spcBef>
                <a:spcPts val="710"/>
              </a:spcBef>
              <a:buClr>
                <a:srgbClr val="CC00CC"/>
              </a:buClr>
              <a:buAutoNum type="arabicPeriod"/>
              <a:tabLst>
                <a:tab pos="1002665" algn="l"/>
                <a:tab pos="1003300" algn="l"/>
              </a:tabLst>
            </a:pPr>
            <a:r>
              <a:rPr sz="2800" spc="-5" dirty="0">
                <a:latin typeface="Tahoma"/>
                <a:cs typeface="Tahoma"/>
              </a:rPr>
              <a:t>Optional </a:t>
            </a:r>
            <a:r>
              <a:rPr sz="2800" spc="-75" dirty="0">
                <a:latin typeface="Tahoma"/>
                <a:cs typeface="Tahoma"/>
              </a:rPr>
              <a:t>LEFT, </a:t>
            </a:r>
            <a:r>
              <a:rPr sz="2800" spc="-70" dirty="0">
                <a:latin typeface="Tahoma"/>
                <a:cs typeface="Tahoma"/>
              </a:rPr>
              <a:t>RIGHT, </a:t>
            </a:r>
            <a:r>
              <a:rPr sz="2800" spc="-5" dirty="0">
                <a:latin typeface="Tahoma"/>
                <a:cs typeface="Tahoma"/>
              </a:rPr>
              <a:t>or FULL </a:t>
            </a:r>
            <a:r>
              <a:rPr sz="2800" spc="-10" dirty="0">
                <a:latin typeface="Tahoma"/>
                <a:cs typeface="Tahoma"/>
              </a:rPr>
              <a:t>before  </a:t>
            </a:r>
            <a:r>
              <a:rPr sz="2800" spc="-5" dirty="0">
                <a:latin typeface="Tahoma"/>
                <a:cs typeface="Tahoma"/>
              </a:rPr>
              <a:t>OUTER.</a:t>
            </a:r>
            <a:endParaRPr sz="28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50339" y="4686934"/>
            <a:ext cx="5764530" cy="82931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385"/>
              </a:spcBef>
              <a:buClr>
                <a:srgbClr val="CC00CC"/>
              </a:buClr>
              <a:buFont typeface="Wingdings"/>
              <a:buChar char=""/>
              <a:tabLst>
                <a:tab pos="469265" algn="l"/>
                <a:tab pos="469900" algn="l"/>
              </a:tabLst>
            </a:pPr>
            <a:r>
              <a:rPr sz="2400" spc="5" dirty="0">
                <a:latin typeface="Tahoma"/>
                <a:cs typeface="Tahoma"/>
              </a:rPr>
              <a:t>LEFT </a:t>
            </a:r>
            <a:r>
              <a:rPr sz="2400" dirty="0">
                <a:latin typeface="Tahoma"/>
                <a:cs typeface="Tahoma"/>
              </a:rPr>
              <a:t>= </a:t>
            </a:r>
            <a:r>
              <a:rPr sz="2400" spc="-5" dirty="0">
                <a:latin typeface="Tahoma"/>
                <a:cs typeface="Tahoma"/>
              </a:rPr>
              <a:t>pad dangling tuples </a:t>
            </a:r>
            <a:r>
              <a:rPr sz="2400" dirty="0">
                <a:latin typeface="Tahoma"/>
                <a:cs typeface="Tahoma"/>
              </a:rPr>
              <a:t>of R</a:t>
            </a:r>
            <a:r>
              <a:rPr sz="2400" spc="-45" dirty="0">
                <a:latin typeface="Tahoma"/>
                <a:cs typeface="Tahoma"/>
              </a:rPr>
              <a:t> only.</a:t>
            </a:r>
            <a:endParaRPr sz="2400" dirty="0">
              <a:latin typeface="Tahoma"/>
              <a:cs typeface="Tahoma"/>
            </a:endParaRPr>
          </a:p>
          <a:p>
            <a:pPr marL="469900" indent="-457200">
              <a:lnSpc>
                <a:spcPct val="100000"/>
              </a:lnSpc>
              <a:spcBef>
                <a:spcPts val="285"/>
              </a:spcBef>
              <a:buClr>
                <a:srgbClr val="CC00CC"/>
              </a:buClr>
              <a:buFont typeface="Wingdings"/>
              <a:buChar char=""/>
              <a:tabLst>
                <a:tab pos="469265" algn="l"/>
                <a:tab pos="469900" algn="l"/>
              </a:tabLst>
            </a:pPr>
            <a:r>
              <a:rPr sz="2400" spc="-5" dirty="0">
                <a:latin typeface="Tahoma"/>
                <a:cs typeface="Tahoma"/>
              </a:rPr>
              <a:t>RIGHT </a:t>
            </a:r>
            <a:r>
              <a:rPr sz="2400" dirty="0">
                <a:latin typeface="Tahoma"/>
                <a:cs typeface="Tahoma"/>
              </a:rPr>
              <a:t>= </a:t>
            </a:r>
            <a:r>
              <a:rPr sz="2400" spc="-5" dirty="0">
                <a:latin typeface="Tahoma"/>
                <a:cs typeface="Tahoma"/>
              </a:rPr>
              <a:t>pad dangling tuples </a:t>
            </a:r>
            <a:r>
              <a:rPr sz="2400" dirty="0">
                <a:latin typeface="Tahoma"/>
                <a:cs typeface="Tahoma"/>
              </a:rPr>
              <a:t>of S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45" dirty="0">
                <a:latin typeface="Tahoma"/>
                <a:cs typeface="Tahoma"/>
              </a:rPr>
              <a:t>only.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50339" y="5527040"/>
            <a:ext cx="63207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Clr>
                <a:srgbClr val="CC00CC"/>
              </a:buClr>
              <a:buFont typeface="Wingdings"/>
              <a:buChar char=""/>
              <a:tabLst>
                <a:tab pos="469265" algn="l"/>
                <a:tab pos="469900" algn="l"/>
              </a:tabLst>
            </a:pPr>
            <a:r>
              <a:rPr sz="2400" spc="-5" dirty="0">
                <a:latin typeface="Tahoma"/>
                <a:cs typeface="Tahoma"/>
              </a:rPr>
              <a:t>FULL </a:t>
            </a:r>
            <a:r>
              <a:rPr sz="2400" dirty="0">
                <a:latin typeface="Tahoma"/>
                <a:cs typeface="Tahoma"/>
              </a:rPr>
              <a:t>= </a:t>
            </a:r>
            <a:r>
              <a:rPr sz="2400" spc="-5" dirty="0">
                <a:latin typeface="Tahoma"/>
                <a:cs typeface="Tahoma"/>
              </a:rPr>
              <a:t>pad both; </a:t>
            </a:r>
            <a:r>
              <a:rPr sz="2400" dirty="0">
                <a:latin typeface="Tahoma"/>
                <a:cs typeface="Tahoma"/>
              </a:rPr>
              <a:t>this </a:t>
            </a:r>
            <a:r>
              <a:rPr sz="2400" spc="-5" dirty="0">
                <a:latin typeface="Tahoma"/>
                <a:cs typeface="Tahoma"/>
              </a:rPr>
              <a:t>choice </a:t>
            </a:r>
            <a:r>
              <a:rPr sz="2400" dirty="0">
                <a:latin typeface="Tahoma"/>
                <a:cs typeface="Tahoma"/>
              </a:rPr>
              <a:t>is the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default.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22540" y="4528184"/>
            <a:ext cx="12249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Only</a:t>
            </a:r>
            <a:r>
              <a:rPr sz="2400" spc="-10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one  of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these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315200" y="3657600"/>
            <a:ext cx="613410" cy="765175"/>
          </a:xfrm>
          <a:custGeom>
            <a:avLst/>
            <a:gdLst/>
            <a:ahLst/>
            <a:cxnLst/>
            <a:rect l="l" t="t" r="r" b="b"/>
            <a:pathLst>
              <a:path w="613409" h="765175">
                <a:moveTo>
                  <a:pt x="17856" y="83299"/>
                </a:moveTo>
                <a:lnTo>
                  <a:pt x="0" y="0"/>
                </a:lnTo>
                <a:lnTo>
                  <a:pt x="77355" y="35699"/>
                </a:lnTo>
                <a:lnTo>
                  <a:pt x="69910" y="41655"/>
                </a:lnTo>
                <a:lnTo>
                  <a:pt x="39420" y="41655"/>
                </a:lnTo>
                <a:lnTo>
                  <a:pt x="31978" y="47599"/>
                </a:lnTo>
                <a:lnTo>
                  <a:pt x="43881" y="62478"/>
                </a:lnTo>
                <a:lnTo>
                  <a:pt x="17856" y="83299"/>
                </a:lnTo>
                <a:close/>
              </a:path>
              <a:path w="613409" h="765175">
                <a:moveTo>
                  <a:pt x="43881" y="62478"/>
                </a:moveTo>
                <a:lnTo>
                  <a:pt x="31978" y="47599"/>
                </a:lnTo>
                <a:lnTo>
                  <a:pt x="39420" y="41655"/>
                </a:lnTo>
                <a:lnTo>
                  <a:pt x="51319" y="56528"/>
                </a:lnTo>
                <a:lnTo>
                  <a:pt x="43881" y="62478"/>
                </a:lnTo>
                <a:close/>
              </a:path>
              <a:path w="613409" h="765175">
                <a:moveTo>
                  <a:pt x="51319" y="56528"/>
                </a:moveTo>
                <a:lnTo>
                  <a:pt x="39420" y="41655"/>
                </a:lnTo>
                <a:lnTo>
                  <a:pt x="69910" y="41655"/>
                </a:lnTo>
                <a:lnTo>
                  <a:pt x="51319" y="56528"/>
                </a:lnTo>
                <a:close/>
              </a:path>
              <a:path w="613409" h="765175">
                <a:moveTo>
                  <a:pt x="605878" y="764971"/>
                </a:moveTo>
                <a:lnTo>
                  <a:pt x="43881" y="62478"/>
                </a:lnTo>
                <a:lnTo>
                  <a:pt x="51319" y="56528"/>
                </a:lnTo>
                <a:lnTo>
                  <a:pt x="613321" y="759028"/>
                </a:lnTo>
                <a:lnTo>
                  <a:pt x="605878" y="7649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391400" y="3124200"/>
            <a:ext cx="766445" cy="1297940"/>
          </a:xfrm>
          <a:custGeom>
            <a:avLst/>
            <a:gdLst/>
            <a:ahLst/>
            <a:cxnLst/>
            <a:rect l="l" t="t" r="r" b="b"/>
            <a:pathLst>
              <a:path w="766445" h="1297939">
                <a:moveTo>
                  <a:pt x="5791" y="85001"/>
                </a:moveTo>
                <a:lnTo>
                  <a:pt x="0" y="0"/>
                </a:lnTo>
                <a:lnTo>
                  <a:pt x="71475" y="46367"/>
                </a:lnTo>
                <a:lnTo>
                  <a:pt x="70655" y="46850"/>
                </a:lnTo>
                <a:lnTo>
                  <a:pt x="33083" y="46850"/>
                </a:lnTo>
                <a:lnTo>
                  <a:pt x="24866" y="51676"/>
                </a:lnTo>
                <a:lnTo>
                  <a:pt x="34527" y="68099"/>
                </a:lnTo>
                <a:lnTo>
                  <a:pt x="5791" y="85001"/>
                </a:lnTo>
                <a:close/>
              </a:path>
              <a:path w="766445" h="1297939">
                <a:moveTo>
                  <a:pt x="34527" y="68099"/>
                </a:moveTo>
                <a:lnTo>
                  <a:pt x="24866" y="51676"/>
                </a:lnTo>
                <a:lnTo>
                  <a:pt x="33083" y="46850"/>
                </a:lnTo>
                <a:lnTo>
                  <a:pt x="42741" y="63268"/>
                </a:lnTo>
                <a:lnTo>
                  <a:pt x="34527" y="68099"/>
                </a:lnTo>
                <a:close/>
              </a:path>
              <a:path w="766445" h="1297939">
                <a:moveTo>
                  <a:pt x="42741" y="63268"/>
                </a:moveTo>
                <a:lnTo>
                  <a:pt x="33083" y="46850"/>
                </a:lnTo>
                <a:lnTo>
                  <a:pt x="70655" y="46850"/>
                </a:lnTo>
                <a:lnTo>
                  <a:pt x="42741" y="63268"/>
                </a:lnTo>
                <a:close/>
              </a:path>
              <a:path w="766445" h="1297939">
                <a:moveTo>
                  <a:pt x="757897" y="1297813"/>
                </a:moveTo>
                <a:lnTo>
                  <a:pt x="34527" y="68099"/>
                </a:lnTo>
                <a:lnTo>
                  <a:pt x="42741" y="63268"/>
                </a:lnTo>
                <a:lnTo>
                  <a:pt x="766102" y="1292987"/>
                </a:lnTo>
                <a:lnTo>
                  <a:pt x="757897" y="12978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15</a:t>
            </a:fld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46400" y="829944"/>
            <a:ext cx="32518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Agg</a:t>
            </a:r>
            <a:r>
              <a:rPr spc="-30" dirty="0"/>
              <a:t>r</a:t>
            </a:r>
            <a:r>
              <a:rPr spc="-5" dirty="0"/>
              <a:t>egation</a:t>
            </a:r>
            <a:r>
              <a:rPr dirty="0"/>
              <a:t>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16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306945" cy="3049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SUM, </a:t>
            </a:r>
            <a:r>
              <a:rPr sz="3200" spc="-25" dirty="0">
                <a:latin typeface="Tahoma"/>
                <a:cs typeface="Tahoma"/>
              </a:rPr>
              <a:t>AVG, </a:t>
            </a:r>
            <a:r>
              <a:rPr sz="3200" spc="-75" dirty="0">
                <a:latin typeface="Tahoma"/>
                <a:cs typeface="Tahoma"/>
              </a:rPr>
              <a:t>COUNT, </a:t>
            </a:r>
            <a:r>
              <a:rPr sz="3200" spc="-5" dirty="0">
                <a:latin typeface="Tahoma"/>
                <a:cs typeface="Tahoma"/>
              </a:rPr>
              <a:t>MIN, and MAX can  </a:t>
            </a:r>
            <a:r>
              <a:rPr sz="3200" dirty="0">
                <a:latin typeface="Tahoma"/>
                <a:cs typeface="Tahoma"/>
              </a:rPr>
              <a:t>be </a:t>
            </a:r>
            <a:r>
              <a:rPr sz="3200" spc="-5" dirty="0">
                <a:latin typeface="Tahoma"/>
                <a:cs typeface="Tahoma"/>
              </a:rPr>
              <a:t>applied to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column in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SELECT  clause to produce that aggregation </a:t>
            </a:r>
            <a:r>
              <a:rPr sz="3200" dirty="0">
                <a:latin typeface="Tahoma"/>
                <a:cs typeface="Tahoma"/>
              </a:rPr>
              <a:t>on  </a:t>
            </a:r>
            <a:r>
              <a:rPr sz="3200" spc="-5" dirty="0">
                <a:latin typeface="Tahoma"/>
                <a:cs typeface="Tahoma"/>
              </a:rPr>
              <a:t>the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column.</a:t>
            </a:r>
            <a:endParaRPr sz="3200" dirty="0">
              <a:latin typeface="Tahoma"/>
              <a:cs typeface="Tahoma"/>
            </a:endParaRPr>
          </a:p>
          <a:p>
            <a:pPr marL="355600" marR="67945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5" dirty="0">
                <a:latin typeface="Tahoma"/>
                <a:cs typeface="Tahoma"/>
              </a:rPr>
              <a:t>Also, </a:t>
            </a:r>
            <a:r>
              <a:rPr sz="3200" spc="-5" dirty="0">
                <a:latin typeface="Tahoma"/>
                <a:cs typeface="Tahoma"/>
              </a:rPr>
              <a:t>COUNT(*) counts the number of  tuples.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图片 46">
            <a:extLst>
              <a:ext uri="{FF2B5EF4-FFF2-40B4-BE49-F238E27FC236}">
                <a16:creationId xmlns:a16="http://schemas.microsoft.com/office/drawing/2014/main" id="{F502E256-C525-0841-BA7D-8E53AABFE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737"/>
            <a:ext cx="9144000" cy="6610525"/>
          </a:xfrm>
          <a:prstGeom prst="rect">
            <a:avLst/>
          </a:prstGeom>
        </p:spPr>
      </p:pic>
      <p:sp>
        <p:nvSpPr>
          <p:cNvPr id="48" name="文本框 47">
            <a:extLst>
              <a:ext uri="{FF2B5EF4-FFF2-40B4-BE49-F238E27FC236}">
                <a16:creationId xmlns:a16="http://schemas.microsoft.com/office/drawing/2014/main" id="{05958547-4DF5-D997-DD9E-40997A567B02}"/>
              </a:ext>
            </a:extLst>
          </p:cNvPr>
          <p:cNvSpPr txBox="1"/>
          <p:nvPr/>
        </p:nvSpPr>
        <p:spPr>
          <a:xfrm>
            <a:off x="7162800" y="4572000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统计标准差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92202ED1-2279-BE79-27BB-C32F445CC627}"/>
              </a:ext>
            </a:extLst>
          </p:cNvPr>
          <p:cNvSpPr txBox="1"/>
          <p:nvPr/>
        </p:nvSpPr>
        <p:spPr>
          <a:xfrm>
            <a:off x="7189694" y="5468465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统计方差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76259" y="6270625"/>
            <a:ext cx="2038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Times New Roman"/>
                <a:cs typeface="Times New Roman"/>
              </a:rPr>
              <a:t>1</a:t>
            </a:r>
            <a:r>
              <a:rPr sz="1400" dirty="0">
                <a:latin typeface="Times New Roman"/>
                <a:cs typeface="Times New Roman"/>
              </a:rPr>
              <a:t>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43404" y="829944"/>
            <a:ext cx="54578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</a:t>
            </a:r>
            <a:r>
              <a:rPr spc="-70" dirty="0"/>
              <a:t> </a:t>
            </a:r>
            <a:r>
              <a:rPr spc="-5" dirty="0"/>
              <a:t>Aggregation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540" y="2012949"/>
            <a:ext cx="6859905" cy="27178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From </a:t>
            </a:r>
            <a:r>
              <a:rPr sz="3200" spc="-45" dirty="0">
                <a:solidFill>
                  <a:srgbClr val="CC00CC"/>
                </a:solidFill>
                <a:latin typeface="Tahoma"/>
                <a:cs typeface="Tahoma"/>
              </a:rPr>
              <a:t>Sells(bar, </a:t>
            </a:r>
            <a:r>
              <a:rPr sz="3200" spc="-90" dirty="0">
                <a:solidFill>
                  <a:srgbClr val="CC00CC"/>
                </a:solidFill>
                <a:latin typeface="Tahoma"/>
                <a:cs typeface="Tahoma"/>
              </a:rPr>
              <a:t>beer,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price)</a:t>
            </a:r>
            <a:r>
              <a:rPr sz="3200" spc="-5" dirty="0">
                <a:latin typeface="Tahoma"/>
                <a:cs typeface="Tahoma"/>
              </a:rPr>
              <a:t>, find the  </a:t>
            </a:r>
            <a:r>
              <a:rPr sz="3200" spc="-20" dirty="0">
                <a:latin typeface="Tahoma"/>
                <a:cs typeface="Tahoma"/>
              </a:rPr>
              <a:t>average </a:t>
            </a:r>
            <a:r>
              <a:rPr sz="3200" spc="-5" dirty="0">
                <a:latin typeface="Tahoma"/>
                <a:cs typeface="Tahoma"/>
              </a:rPr>
              <a:t>price of</a:t>
            </a:r>
            <a:r>
              <a:rPr sz="3200" spc="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Bud:</a:t>
            </a:r>
          </a:p>
          <a:p>
            <a:pPr marL="926465">
              <a:lnSpc>
                <a:spcPct val="100000"/>
              </a:lnSpc>
              <a:spcBef>
                <a:spcPts val="459"/>
              </a:spcBef>
            </a:pPr>
            <a:r>
              <a:rPr sz="3200" spc="-5" dirty="0">
                <a:latin typeface="Courier New"/>
                <a:cs typeface="Courier New"/>
              </a:rPr>
              <a:t>SELECT</a:t>
            </a:r>
            <a:r>
              <a:rPr sz="3200" spc="-1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AVG(price)</a:t>
            </a:r>
            <a:endParaRPr sz="3200" dirty="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Courier New"/>
                <a:cs typeface="Courier New"/>
              </a:rPr>
              <a:t>FROM</a:t>
            </a:r>
            <a:r>
              <a:rPr sz="3200" spc="-1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Sells</a:t>
            </a:r>
            <a:endParaRPr sz="3200" dirty="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Courier New"/>
                <a:cs typeface="Courier New"/>
              </a:rPr>
              <a:t>WHERE beer </a:t>
            </a:r>
            <a:r>
              <a:rPr sz="3200" dirty="0">
                <a:latin typeface="Courier New"/>
                <a:cs typeface="Courier New"/>
              </a:rPr>
              <a:t>=</a:t>
            </a:r>
            <a:r>
              <a:rPr sz="3200" spc="-2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’Bud’;</a:t>
            </a:r>
            <a:endParaRPr sz="32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60775" y="829944"/>
            <a:ext cx="18230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COU</a:t>
            </a:r>
            <a:r>
              <a:rPr spc="-10" dirty="0"/>
              <a:t>N</a:t>
            </a:r>
            <a:r>
              <a:rPr dirty="0"/>
              <a:t>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1739" y="2371726"/>
            <a:ext cx="6677025" cy="2329815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880"/>
              </a:spcBef>
              <a:buClr>
                <a:srgbClr val="CC00CC"/>
              </a:buClr>
              <a:buFont typeface="Wingdings"/>
              <a:buChar char=""/>
              <a:tabLst>
                <a:tab pos="298450" algn="l"/>
              </a:tabLst>
            </a:pPr>
            <a:r>
              <a:rPr sz="2600" dirty="0">
                <a:latin typeface="宋体"/>
                <a:cs typeface="宋体"/>
              </a:rPr>
              <a:t>统计表</a:t>
            </a:r>
            <a:r>
              <a:rPr sz="2600" dirty="0">
                <a:highlight>
                  <a:srgbClr val="FFFF00"/>
                </a:highlight>
                <a:latin typeface="宋体"/>
                <a:cs typeface="宋体"/>
              </a:rPr>
              <a:t>行</a:t>
            </a:r>
            <a:r>
              <a:rPr sz="2600" spc="5" dirty="0">
                <a:highlight>
                  <a:srgbClr val="FFFF00"/>
                </a:highlight>
                <a:latin typeface="宋体"/>
                <a:cs typeface="宋体"/>
              </a:rPr>
              <a:t>数</a:t>
            </a:r>
            <a:endParaRPr sz="2600" dirty="0">
              <a:highlight>
                <a:srgbClr val="FFFF00"/>
              </a:highlight>
              <a:latin typeface="宋体"/>
              <a:cs typeface="宋体"/>
            </a:endParaRPr>
          </a:p>
          <a:p>
            <a:pPr marL="698500" lvl="1" indent="-229235">
              <a:lnSpc>
                <a:spcPct val="100000"/>
              </a:lnSpc>
              <a:spcBef>
                <a:spcPts val="715"/>
              </a:spcBef>
              <a:buClr>
                <a:srgbClr val="CC00CC"/>
              </a:buClr>
              <a:buChar char="•"/>
              <a:tabLst>
                <a:tab pos="698500" algn="l"/>
              </a:tabLst>
            </a:pPr>
            <a:r>
              <a:rPr sz="2400" spc="-5" dirty="0">
                <a:latin typeface="Tahoma"/>
                <a:cs typeface="Tahoma"/>
              </a:rPr>
              <a:t>SELECT COUNT (*) FROM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employees</a:t>
            </a:r>
            <a:endParaRPr sz="2400" dirty="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10"/>
              </a:spcBef>
              <a:buClr>
                <a:srgbClr val="CC00CC"/>
              </a:buClr>
              <a:buFont typeface="Tahoma"/>
              <a:buChar char="•"/>
            </a:pPr>
            <a:endParaRPr sz="3250" dirty="0">
              <a:latin typeface="Tahoma"/>
              <a:cs typeface="Tahoma"/>
            </a:endParaRPr>
          </a:p>
          <a:p>
            <a:pPr marL="298450" indent="-285750">
              <a:lnSpc>
                <a:spcPct val="100000"/>
              </a:lnSpc>
              <a:buClr>
                <a:srgbClr val="CC00CC"/>
              </a:buClr>
              <a:buFont typeface="Wingdings"/>
              <a:buChar char=""/>
              <a:tabLst>
                <a:tab pos="298450" algn="l"/>
              </a:tabLst>
            </a:pPr>
            <a:r>
              <a:rPr sz="2600" dirty="0">
                <a:latin typeface="宋体"/>
                <a:cs typeface="宋体"/>
              </a:rPr>
              <a:t>统计不含空值的行</a:t>
            </a:r>
            <a:r>
              <a:rPr sz="2600" spc="5" dirty="0">
                <a:latin typeface="宋体"/>
                <a:cs typeface="宋体"/>
              </a:rPr>
              <a:t>数</a:t>
            </a:r>
            <a:endParaRPr sz="2600" dirty="0">
              <a:latin typeface="宋体"/>
              <a:cs typeface="宋体"/>
            </a:endParaRPr>
          </a:p>
          <a:p>
            <a:pPr marL="698500" lvl="1" indent="-229235">
              <a:lnSpc>
                <a:spcPct val="100000"/>
              </a:lnSpc>
              <a:spcBef>
                <a:spcPts val="715"/>
              </a:spcBef>
              <a:buClr>
                <a:srgbClr val="CC00CC"/>
              </a:buClr>
              <a:buChar char="•"/>
              <a:tabLst>
                <a:tab pos="698500" algn="l"/>
              </a:tabLst>
            </a:pPr>
            <a:r>
              <a:rPr sz="2400" spc="-5" dirty="0">
                <a:latin typeface="Tahoma"/>
                <a:cs typeface="Tahoma"/>
              </a:rPr>
              <a:t>SELECT COUNT(reportsto) FROM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employees</a:t>
            </a:r>
            <a:endParaRPr sz="24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2947" y="533400"/>
            <a:ext cx="7685407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29764" marR="5080" indent="-1917064" algn="ctr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Eliminating Duplicates</a:t>
            </a:r>
            <a:r>
              <a:rPr lang="zh-CN" altLang="en-US" spc="-5" dirty="0"/>
              <a:t>消除重复</a:t>
            </a:r>
            <a:r>
              <a:rPr spc="-5" dirty="0"/>
              <a:t> in </a:t>
            </a:r>
            <a:r>
              <a:rPr dirty="0"/>
              <a:t>an  </a:t>
            </a:r>
            <a:r>
              <a:rPr spc="-5" dirty="0"/>
              <a:t>Aggregation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550107"/>
            <a:ext cx="7767955" cy="3882473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6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Use DISTINCT inside </a:t>
            </a:r>
            <a:r>
              <a:rPr sz="3200" dirty="0">
                <a:latin typeface="Tahoma"/>
                <a:cs typeface="Tahoma"/>
              </a:rPr>
              <a:t>an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aggregation</a:t>
            </a:r>
            <a:r>
              <a:rPr lang="zh-CN" altLang="en-US" sz="3200" spc="-5" dirty="0">
                <a:latin typeface="Tahoma"/>
                <a:cs typeface="Tahoma"/>
              </a:rPr>
              <a:t>聚合内部</a:t>
            </a:r>
            <a:r>
              <a:rPr sz="3200" spc="-5" dirty="0">
                <a:latin typeface="Tahoma"/>
                <a:cs typeface="Tahoma"/>
              </a:rPr>
              <a:t>.</a:t>
            </a:r>
            <a:endParaRPr sz="3200" dirty="0">
              <a:latin typeface="Tahoma"/>
              <a:cs typeface="Tahoma"/>
            </a:endParaRPr>
          </a:p>
          <a:p>
            <a:pPr marL="355600" marR="436245" indent="-342900">
              <a:lnSpc>
                <a:spcPts val="3840"/>
              </a:lnSpc>
              <a:spcBef>
                <a:spcPts val="8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Example</a:t>
            </a:r>
            <a:r>
              <a:rPr sz="3200" spc="-5" dirty="0">
                <a:latin typeface="Tahoma"/>
                <a:cs typeface="Tahoma"/>
              </a:rPr>
              <a:t>: find the number of </a:t>
            </a:r>
            <a:r>
              <a:rPr lang="en-US" altLang="zh-CN" sz="3600" dirty="0">
                <a:effectLst/>
              </a:rPr>
              <a:t>different </a:t>
            </a:r>
            <a:r>
              <a:rPr sz="3350" i="1" spc="-1030" dirty="0">
                <a:latin typeface="Tahoma"/>
                <a:cs typeface="Tahoma"/>
              </a:rPr>
              <a:t>  </a:t>
            </a:r>
            <a:r>
              <a:rPr sz="3200" spc="-5" dirty="0">
                <a:latin typeface="Tahoma"/>
                <a:cs typeface="Tahoma"/>
              </a:rPr>
              <a:t>prices charged </a:t>
            </a:r>
            <a:r>
              <a:rPr sz="3200" spc="-15" dirty="0">
                <a:latin typeface="Tahoma"/>
                <a:cs typeface="Tahoma"/>
              </a:rPr>
              <a:t>for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Bud:</a:t>
            </a:r>
            <a:r>
              <a:rPr lang="zh-CN" altLang="en-US" sz="3200" dirty="0">
                <a:latin typeface="Tahoma"/>
                <a:cs typeface="Tahoma"/>
              </a:rPr>
              <a:t>不同的</a:t>
            </a:r>
            <a:endParaRPr sz="3200" dirty="0">
              <a:latin typeface="Tahoma"/>
              <a:cs typeface="Tahoma"/>
            </a:endParaRPr>
          </a:p>
          <a:p>
            <a:pPr marL="926465">
              <a:lnSpc>
                <a:spcPct val="100000"/>
              </a:lnSpc>
              <a:spcBef>
                <a:spcPts val="335"/>
              </a:spcBef>
            </a:pPr>
            <a:r>
              <a:rPr sz="3200" spc="-5" dirty="0">
                <a:latin typeface="Courier New"/>
                <a:cs typeface="Courier New"/>
              </a:rPr>
              <a:t>SELECT COUNT(DISTINCT</a:t>
            </a:r>
            <a:r>
              <a:rPr sz="3200" spc="-15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price)</a:t>
            </a:r>
            <a:endParaRPr sz="3200" dirty="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Courier New"/>
                <a:cs typeface="Courier New"/>
              </a:rPr>
              <a:t>FROM</a:t>
            </a:r>
            <a:r>
              <a:rPr sz="3200" spc="-1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Sells</a:t>
            </a:r>
            <a:endParaRPr sz="3200" dirty="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Courier New"/>
                <a:cs typeface="Courier New"/>
              </a:rPr>
              <a:t>WHERE beer </a:t>
            </a:r>
            <a:r>
              <a:rPr sz="3200" dirty="0">
                <a:latin typeface="Courier New"/>
                <a:cs typeface="Courier New"/>
              </a:rPr>
              <a:t>=</a:t>
            </a:r>
            <a:r>
              <a:rPr sz="3200" spc="-15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’Bud’;</a:t>
            </a:r>
            <a:endParaRPr sz="32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4864" y="829944"/>
            <a:ext cx="74949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5" dirty="0"/>
              <a:t>NULL’s </a:t>
            </a:r>
            <a:r>
              <a:rPr spc="-15" dirty="0"/>
              <a:t>Ignored </a:t>
            </a:r>
            <a:r>
              <a:rPr spc="-5" dirty="0"/>
              <a:t>in</a:t>
            </a:r>
            <a:r>
              <a:rPr spc="40" dirty="0"/>
              <a:t> </a:t>
            </a:r>
            <a:r>
              <a:rPr spc="-5" dirty="0"/>
              <a:t>Aggregation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593330" cy="356107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NULL </a:t>
            </a:r>
            <a:r>
              <a:rPr sz="3200" spc="-10" dirty="0">
                <a:latin typeface="Tahoma"/>
                <a:cs typeface="Tahoma"/>
              </a:rPr>
              <a:t>never </a:t>
            </a:r>
            <a:r>
              <a:rPr sz="3200" spc="-5" dirty="0">
                <a:latin typeface="Tahoma"/>
                <a:cs typeface="Tahoma"/>
              </a:rPr>
              <a:t>contributes to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sum,  </a:t>
            </a:r>
            <a:r>
              <a:rPr sz="3200" spc="-15" dirty="0">
                <a:latin typeface="Tahoma"/>
                <a:cs typeface="Tahoma"/>
              </a:rPr>
              <a:t>average, </a:t>
            </a:r>
            <a:r>
              <a:rPr sz="3200" spc="-5" dirty="0">
                <a:latin typeface="Tahoma"/>
                <a:cs typeface="Tahoma"/>
              </a:rPr>
              <a:t>or count, and can </a:t>
            </a:r>
            <a:r>
              <a:rPr sz="3200" spc="-10" dirty="0">
                <a:latin typeface="Tahoma"/>
                <a:cs typeface="Tahoma"/>
              </a:rPr>
              <a:t>never </a:t>
            </a:r>
            <a:r>
              <a:rPr sz="3200" dirty="0">
                <a:latin typeface="Tahoma"/>
                <a:cs typeface="Tahoma"/>
              </a:rPr>
              <a:t>be </a:t>
            </a:r>
            <a:r>
              <a:rPr sz="3200" spc="-5" dirty="0">
                <a:latin typeface="Tahoma"/>
                <a:cs typeface="Tahoma"/>
              </a:rPr>
              <a:t>the  minimum or maximum of </a:t>
            </a:r>
            <a:r>
              <a:rPr sz="3200" dirty="0">
                <a:latin typeface="Tahoma"/>
                <a:cs typeface="Tahoma"/>
              </a:rPr>
              <a:t>a</a:t>
            </a:r>
            <a:r>
              <a:rPr sz="3200" spc="-5" dirty="0">
                <a:latin typeface="Tahoma"/>
                <a:cs typeface="Tahoma"/>
              </a:rPr>
              <a:t> column.</a:t>
            </a:r>
            <a:endParaRPr sz="3200" dirty="0">
              <a:latin typeface="Tahoma"/>
              <a:cs typeface="Tahoma"/>
            </a:endParaRPr>
          </a:p>
          <a:p>
            <a:pPr marL="355600" marR="295275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But if </a:t>
            </a:r>
            <a:r>
              <a:rPr sz="3200" spc="-5" dirty="0">
                <a:latin typeface="Tahoma"/>
                <a:cs typeface="Tahoma"/>
              </a:rPr>
              <a:t>there </a:t>
            </a:r>
            <a:r>
              <a:rPr sz="3200" spc="-10" dirty="0">
                <a:latin typeface="Tahoma"/>
                <a:cs typeface="Tahoma"/>
              </a:rPr>
              <a:t>are </a:t>
            </a:r>
            <a:r>
              <a:rPr sz="3200" dirty="0">
                <a:latin typeface="Tahoma"/>
                <a:cs typeface="Tahoma"/>
              </a:rPr>
              <a:t>no </a:t>
            </a:r>
            <a:r>
              <a:rPr sz="3200" spc="-5" dirty="0">
                <a:latin typeface="Tahoma"/>
                <a:cs typeface="Tahoma"/>
              </a:rPr>
              <a:t>non-NULL </a:t>
            </a:r>
            <a:r>
              <a:rPr sz="3200" spc="-15" dirty="0">
                <a:latin typeface="Tahoma"/>
                <a:cs typeface="Tahoma"/>
              </a:rPr>
              <a:t>values </a:t>
            </a:r>
            <a:r>
              <a:rPr sz="3200" spc="-5" dirty="0">
                <a:latin typeface="Tahoma"/>
                <a:cs typeface="Tahoma"/>
              </a:rPr>
              <a:t>in 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column, then the result of the  aggregation is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NULL.</a:t>
            </a:r>
            <a:endParaRPr sz="3200" dirty="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solidFill>
                  <a:srgbClr val="3366FF"/>
                </a:solidFill>
                <a:latin typeface="Tahoma"/>
                <a:cs typeface="Tahoma"/>
              </a:rPr>
              <a:t>Exception</a:t>
            </a:r>
            <a:r>
              <a:rPr sz="2800" spc="-5" dirty="0">
                <a:latin typeface="Tahoma"/>
                <a:cs typeface="Tahoma"/>
              </a:rPr>
              <a:t>: COUNT of an </a:t>
            </a:r>
            <a:r>
              <a:rPr sz="2800" spc="-10" dirty="0">
                <a:latin typeface="Tahoma"/>
                <a:cs typeface="Tahoma"/>
              </a:rPr>
              <a:t>empty </a:t>
            </a:r>
            <a:r>
              <a:rPr sz="2800" spc="-5" dirty="0">
                <a:latin typeface="Tahoma"/>
                <a:cs typeface="Tahoma"/>
              </a:rPr>
              <a:t>set is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0.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16050" y="829944"/>
            <a:ext cx="63119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</a:t>
            </a:r>
            <a:r>
              <a:rPr spc="-20" dirty="0"/>
              <a:t>Effect </a:t>
            </a:r>
            <a:r>
              <a:rPr spc="-5" dirty="0"/>
              <a:t>of</a:t>
            </a:r>
            <a:r>
              <a:rPr spc="-10" dirty="0"/>
              <a:t> </a:t>
            </a:r>
            <a:r>
              <a:rPr spc="-85" dirty="0"/>
              <a:t>NULL’s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77240" y="2025451"/>
            <a:ext cx="3833495" cy="166116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3200" spc="-5" dirty="0">
                <a:latin typeface="Tahoma"/>
                <a:cs typeface="Tahoma"/>
              </a:rPr>
              <a:t>SELECT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count(*)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Tahoma"/>
                <a:cs typeface="Tahoma"/>
              </a:rPr>
              <a:t>FROM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Sells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Tahoma"/>
                <a:cs typeface="Tahoma"/>
              </a:rPr>
              <a:t>WHERE beer </a:t>
            </a:r>
            <a:r>
              <a:rPr sz="3200" dirty="0">
                <a:latin typeface="Tahoma"/>
                <a:cs typeface="Tahoma"/>
              </a:rPr>
              <a:t>=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’Bud’;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7240" y="4364791"/>
            <a:ext cx="3833495" cy="166116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3200" spc="-5" dirty="0">
                <a:latin typeface="Tahoma"/>
                <a:cs typeface="Tahoma"/>
              </a:rPr>
              <a:t>SELECT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count(price)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Tahoma"/>
                <a:cs typeface="Tahoma"/>
              </a:rPr>
              <a:t>FROM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Sells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Tahoma"/>
                <a:cs typeface="Tahoma"/>
              </a:rPr>
              <a:t>WHERE beer </a:t>
            </a:r>
            <a:r>
              <a:rPr sz="3200" dirty="0">
                <a:latin typeface="Tahoma"/>
                <a:cs typeface="Tahoma"/>
              </a:rPr>
              <a:t>=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’Bud’;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85800" y="2057400"/>
            <a:ext cx="4038600" cy="1752600"/>
          </a:xfrm>
          <a:custGeom>
            <a:avLst/>
            <a:gdLst/>
            <a:ahLst/>
            <a:cxnLst/>
            <a:rect l="l" t="t" r="r" b="b"/>
            <a:pathLst>
              <a:path w="4038600" h="1752600">
                <a:moveTo>
                  <a:pt x="0" y="0"/>
                </a:moveTo>
                <a:lnTo>
                  <a:pt x="4038600" y="0"/>
                </a:lnTo>
                <a:lnTo>
                  <a:pt x="4038600" y="1752600"/>
                </a:lnTo>
                <a:lnTo>
                  <a:pt x="0" y="1752600"/>
                </a:lnTo>
                <a:lnTo>
                  <a:pt x="0" y="0"/>
                </a:lnTo>
                <a:close/>
              </a:path>
            </a:pathLst>
          </a:custGeom>
          <a:solidFill>
            <a:srgbClr val="00CC99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81037" y="2052637"/>
            <a:ext cx="4048125" cy="1762125"/>
          </a:xfrm>
          <a:custGeom>
            <a:avLst/>
            <a:gdLst/>
            <a:ahLst/>
            <a:cxnLst/>
            <a:rect l="l" t="t" r="r" b="b"/>
            <a:pathLst>
              <a:path w="4048125" h="1762125">
                <a:moveTo>
                  <a:pt x="4048125" y="1762125"/>
                </a:moveTo>
                <a:lnTo>
                  <a:pt x="0" y="1762125"/>
                </a:lnTo>
                <a:lnTo>
                  <a:pt x="0" y="0"/>
                </a:lnTo>
                <a:lnTo>
                  <a:pt x="4048125" y="0"/>
                </a:lnTo>
                <a:lnTo>
                  <a:pt x="4048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752600"/>
                </a:lnTo>
                <a:lnTo>
                  <a:pt x="4762" y="1752600"/>
                </a:lnTo>
                <a:lnTo>
                  <a:pt x="9525" y="1757362"/>
                </a:lnTo>
                <a:lnTo>
                  <a:pt x="4048125" y="1757362"/>
                </a:lnTo>
                <a:lnTo>
                  <a:pt x="4048125" y="1762125"/>
                </a:lnTo>
                <a:close/>
              </a:path>
              <a:path w="4048125" h="1762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4048125" h="1762125">
                <a:moveTo>
                  <a:pt x="4038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4038600" y="4762"/>
                </a:lnTo>
                <a:lnTo>
                  <a:pt x="4038600" y="9525"/>
                </a:lnTo>
                <a:close/>
              </a:path>
              <a:path w="4048125" h="1762125">
                <a:moveTo>
                  <a:pt x="4038600" y="1757362"/>
                </a:moveTo>
                <a:lnTo>
                  <a:pt x="4038600" y="4762"/>
                </a:lnTo>
                <a:lnTo>
                  <a:pt x="4043362" y="9525"/>
                </a:lnTo>
                <a:lnTo>
                  <a:pt x="4048125" y="9525"/>
                </a:lnTo>
                <a:lnTo>
                  <a:pt x="4048125" y="1752600"/>
                </a:lnTo>
                <a:lnTo>
                  <a:pt x="4043362" y="1752600"/>
                </a:lnTo>
                <a:lnTo>
                  <a:pt x="4038600" y="1757362"/>
                </a:lnTo>
                <a:close/>
              </a:path>
              <a:path w="4048125" h="1762125">
                <a:moveTo>
                  <a:pt x="4048125" y="9525"/>
                </a:moveTo>
                <a:lnTo>
                  <a:pt x="4043362" y="9525"/>
                </a:lnTo>
                <a:lnTo>
                  <a:pt x="4038600" y="4762"/>
                </a:lnTo>
                <a:lnTo>
                  <a:pt x="4048125" y="4762"/>
                </a:lnTo>
                <a:lnTo>
                  <a:pt x="4048125" y="9525"/>
                </a:lnTo>
                <a:close/>
              </a:path>
              <a:path w="4048125" h="1762125">
                <a:moveTo>
                  <a:pt x="9525" y="1757362"/>
                </a:moveTo>
                <a:lnTo>
                  <a:pt x="4762" y="1752600"/>
                </a:lnTo>
                <a:lnTo>
                  <a:pt x="9525" y="1752600"/>
                </a:lnTo>
                <a:lnTo>
                  <a:pt x="9525" y="1757362"/>
                </a:lnTo>
                <a:close/>
              </a:path>
              <a:path w="4048125" h="1762125">
                <a:moveTo>
                  <a:pt x="4038600" y="1757362"/>
                </a:moveTo>
                <a:lnTo>
                  <a:pt x="9525" y="1757362"/>
                </a:lnTo>
                <a:lnTo>
                  <a:pt x="9525" y="1752600"/>
                </a:lnTo>
                <a:lnTo>
                  <a:pt x="4038600" y="1752600"/>
                </a:lnTo>
                <a:lnTo>
                  <a:pt x="4038600" y="1757362"/>
                </a:lnTo>
                <a:close/>
              </a:path>
              <a:path w="4048125" h="1762125">
                <a:moveTo>
                  <a:pt x="4048125" y="1757362"/>
                </a:moveTo>
                <a:lnTo>
                  <a:pt x="4038600" y="1757362"/>
                </a:lnTo>
                <a:lnTo>
                  <a:pt x="4043362" y="1752600"/>
                </a:lnTo>
                <a:lnTo>
                  <a:pt x="4048125" y="1752600"/>
                </a:lnTo>
                <a:lnTo>
                  <a:pt x="4048125" y="1757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854065" y="2247899"/>
            <a:ext cx="224726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The number of</a:t>
            </a:r>
            <a:r>
              <a:rPr sz="2000" spc="-4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bars  that </a:t>
            </a:r>
            <a:r>
              <a:rPr sz="2000" dirty="0">
                <a:latin typeface="Tahoma"/>
                <a:cs typeface="Tahoma"/>
              </a:rPr>
              <a:t>sell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Bud.</a:t>
            </a:r>
          </a:p>
        </p:txBody>
      </p:sp>
      <p:sp>
        <p:nvSpPr>
          <p:cNvPr id="8" name="object 8"/>
          <p:cNvSpPr/>
          <p:nvPr/>
        </p:nvSpPr>
        <p:spPr>
          <a:xfrm>
            <a:off x="4724400" y="2586354"/>
            <a:ext cx="992505" cy="393700"/>
          </a:xfrm>
          <a:custGeom>
            <a:avLst/>
            <a:gdLst/>
            <a:ahLst/>
            <a:cxnLst/>
            <a:rect l="l" t="t" r="r" b="b"/>
            <a:pathLst>
              <a:path w="992504" h="393700">
                <a:moveTo>
                  <a:pt x="72832" y="362541"/>
                </a:moveTo>
                <a:lnTo>
                  <a:pt x="69411" y="353648"/>
                </a:lnTo>
                <a:lnTo>
                  <a:pt x="988885" y="0"/>
                </a:lnTo>
                <a:lnTo>
                  <a:pt x="992314" y="8890"/>
                </a:lnTo>
                <a:lnTo>
                  <a:pt x="72832" y="362541"/>
                </a:lnTo>
                <a:close/>
              </a:path>
              <a:path w="992504" h="393700">
                <a:moveTo>
                  <a:pt x="84797" y="393649"/>
                </a:moveTo>
                <a:lnTo>
                  <a:pt x="0" y="385445"/>
                </a:lnTo>
                <a:lnTo>
                  <a:pt x="57442" y="322529"/>
                </a:lnTo>
                <a:lnTo>
                  <a:pt x="69411" y="353648"/>
                </a:lnTo>
                <a:lnTo>
                  <a:pt x="51625" y="360489"/>
                </a:lnTo>
                <a:lnTo>
                  <a:pt x="55054" y="369379"/>
                </a:lnTo>
                <a:lnTo>
                  <a:pt x="75462" y="369379"/>
                </a:lnTo>
                <a:lnTo>
                  <a:pt x="84797" y="393649"/>
                </a:lnTo>
                <a:close/>
              </a:path>
              <a:path w="992504" h="393700">
                <a:moveTo>
                  <a:pt x="55054" y="369379"/>
                </a:moveTo>
                <a:lnTo>
                  <a:pt x="51625" y="360489"/>
                </a:lnTo>
                <a:lnTo>
                  <a:pt x="69411" y="353648"/>
                </a:lnTo>
                <a:lnTo>
                  <a:pt x="72832" y="362541"/>
                </a:lnTo>
                <a:lnTo>
                  <a:pt x="55054" y="369379"/>
                </a:lnTo>
                <a:close/>
              </a:path>
              <a:path w="992504" h="393700">
                <a:moveTo>
                  <a:pt x="75462" y="369379"/>
                </a:moveTo>
                <a:lnTo>
                  <a:pt x="55054" y="369379"/>
                </a:lnTo>
                <a:lnTo>
                  <a:pt x="72832" y="362541"/>
                </a:lnTo>
                <a:lnTo>
                  <a:pt x="75462" y="3693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85800" y="4343400"/>
            <a:ext cx="4038600" cy="1752600"/>
          </a:xfrm>
          <a:custGeom>
            <a:avLst/>
            <a:gdLst/>
            <a:ahLst/>
            <a:cxnLst/>
            <a:rect l="l" t="t" r="r" b="b"/>
            <a:pathLst>
              <a:path w="4038600" h="1752600">
                <a:moveTo>
                  <a:pt x="0" y="0"/>
                </a:moveTo>
                <a:lnTo>
                  <a:pt x="4038600" y="0"/>
                </a:lnTo>
                <a:lnTo>
                  <a:pt x="4038600" y="1752600"/>
                </a:lnTo>
                <a:lnTo>
                  <a:pt x="0" y="1752600"/>
                </a:lnTo>
                <a:lnTo>
                  <a:pt x="0" y="0"/>
                </a:lnTo>
                <a:close/>
              </a:path>
            </a:pathLst>
          </a:custGeom>
          <a:solidFill>
            <a:srgbClr val="00CC99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81037" y="4338637"/>
            <a:ext cx="4048125" cy="1762125"/>
          </a:xfrm>
          <a:custGeom>
            <a:avLst/>
            <a:gdLst/>
            <a:ahLst/>
            <a:cxnLst/>
            <a:rect l="l" t="t" r="r" b="b"/>
            <a:pathLst>
              <a:path w="4048125" h="1762125">
                <a:moveTo>
                  <a:pt x="4048125" y="1762125"/>
                </a:moveTo>
                <a:lnTo>
                  <a:pt x="0" y="1762125"/>
                </a:lnTo>
                <a:lnTo>
                  <a:pt x="0" y="0"/>
                </a:lnTo>
                <a:lnTo>
                  <a:pt x="4048125" y="0"/>
                </a:lnTo>
                <a:lnTo>
                  <a:pt x="4048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752600"/>
                </a:lnTo>
                <a:lnTo>
                  <a:pt x="4762" y="1752600"/>
                </a:lnTo>
                <a:lnTo>
                  <a:pt x="9525" y="1757362"/>
                </a:lnTo>
                <a:lnTo>
                  <a:pt x="4048125" y="1757362"/>
                </a:lnTo>
                <a:lnTo>
                  <a:pt x="4048125" y="1762125"/>
                </a:lnTo>
                <a:close/>
              </a:path>
              <a:path w="4048125" h="1762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4048125" h="1762125">
                <a:moveTo>
                  <a:pt x="4038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4038600" y="4762"/>
                </a:lnTo>
                <a:lnTo>
                  <a:pt x="4038600" y="9525"/>
                </a:lnTo>
                <a:close/>
              </a:path>
              <a:path w="4048125" h="1762125">
                <a:moveTo>
                  <a:pt x="4038600" y="1757362"/>
                </a:moveTo>
                <a:lnTo>
                  <a:pt x="4038600" y="4762"/>
                </a:lnTo>
                <a:lnTo>
                  <a:pt x="4043362" y="9525"/>
                </a:lnTo>
                <a:lnTo>
                  <a:pt x="4048125" y="9525"/>
                </a:lnTo>
                <a:lnTo>
                  <a:pt x="4048125" y="1752600"/>
                </a:lnTo>
                <a:lnTo>
                  <a:pt x="4043362" y="1752600"/>
                </a:lnTo>
                <a:lnTo>
                  <a:pt x="4038600" y="1757362"/>
                </a:lnTo>
                <a:close/>
              </a:path>
              <a:path w="4048125" h="1762125">
                <a:moveTo>
                  <a:pt x="4048125" y="9525"/>
                </a:moveTo>
                <a:lnTo>
                  <a:pt x="4043362" y="9525"/>
                </a:lnTo>
                <a:lnTo>
                  <a:pt x="4038600" y="4762"/>
                </a:lnTo>
                <a:lnTo>
                  <a:pt x="4048125" y="4762"/>
                </a:lnTo>
                <a:lnTo>
                  <a:pt x="4048125" y="9525"/>
                </a:lnTo>
                <a:close/>
              </a:path>
              <a:path w="4048125" h="1762125">
                <a:moveTo>
                  <a:pt x="9525" y="1757362"/>
                </a:moveTo>
                <a:lnTo>
                  <a:pt x="4762" y="1752600"/>
                </a:lnTo>
                <a:lnTo>
                  <a:pt x="9525" y="1752600"/>
                </a:lnTo>
                <a:lnTo>
                  <a:pt x="9525" y="1757362"/>
                </a:lnTo>
                <a:close/>
              </a:path>
              <a:path w="4048125" h="1762125">
                <a:moveTo>
                  <a:pt x="4038600" y="1757362"/>
                </a:moveTo>
                <a:lnTo>
                  <a:pt x="9525" y="1757362"/>
                </a:lnTo>
                <a:lnTo>
                  <a:pt x="9525" y="1752600"/>
                </a:lnTo>
                <a:lnTo>
                  <a:pt x="4038600" y="1752600"/>
                </a:lnTo>
                <a:lnTo>
                  <a:pt x="4038600" y="1757362"/>
                </a:lnTo>
                <a:close/>
              </a:path>
              <a:path w="4048125" h="1762125">
                <a:moveTo>
                  <a:pt x="4048125" y="1757362"/>
                </a:moveTo>
                <a:lnTo>
                  <a:pt x="4038600" y="1757362"/>
                </a:lnTo>
                <a:lnTo>
                  <a:pt x="4043362" y="1752600"/>
                </a:lnTo>
                <a:lnTo>
                  <a:pt x="4048125" y="1752600"/>
                </a:lnTo>
                <a:lnTo>
                  <a:pt x="4048125" y="1757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930265" y="4457700"/>
            <a:ext cx="2247265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The number of</a:t>
            </a:r>
            <a:r>
              <a:rPr sz="2000" spc="-4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bars  that </a:t>
            </a:r>
            <a:r>
              <a:rPr sz="2000" dirty="0">
                <a:latin typeface="Tahoma"/>
                <a:cs typeface="Tahoma"/>
              </a:rPr>
              <a:t>sell Bud </a:t>
            </a:r>
            <a:r>
              <a:rPr sz="2000" spc="-5" dirty="0">
                <a:highlight>
                  <a:srgbClr val="FFFF00"/>
                </a:highlight>
                <a:latin typeface="Tahoma"/>
                <a:cs typeface="Tahoma"/>
              </a:rPr>
              <a:t>at </a:t>
            </a:r>
            <a:r>
              <a:rPr sz="2000" dirty="0">
                <a:highlight>
                  <a:srgbClr val="FFFF00"/>
                </a:highlight>
                <a:latin typeface="Tahoma"/>
                <a:cs typeface="Tahoma"/>
              </a:rPr>
              <a:t>a  </a:t>
            </a:r>
            <a:r>
              <a:rPr sz="2000" spc="-5" dirty="0">
                <a:highlight>
                  <a:srgbClr val="FFFF00"/>
                </a:highlight>
                <a:latin typeface="Tahoma"/>
                <a:cs typeface="Tahoma"/>
              </a:rPr>
              <a:t>known</a:t>
            </a:r>
            <a:r>
              <a:rPr sz="2000" spc="-15" dirty="0">
                <a:highlight>
                  <a:srgbClr val="FFFF00"/>
                </a:highlight>
                <a:latin typeface="Tahoma"/>
                <a:cs typeface="Tahoma"/>
              </a:rPr>
              <a:t> </a:t>
            </a:r>
            <a:r>
              <a:rPr sz="2000" spc="-5" dirty="0">
                <a:highlight>
                  <a:srgbClr val="FFFF00"/>
                </a:highlight>
                <a:latin typeface="Tahoma"/>
                <a:cs typeface="Tahoma"/>
              </a:rPr>
              <a:t>price.</a:t>
            </a:r>
            <a:endParaRPr sz="2000" dirty="0">
              <a:highlight>
                <a:srgbClr val="FFFF00"/>
              </a:highlight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724400" y="4872316"/>
            <a:ext cx="1068705" cy="396240"/>
          </a:xfrm>
          <a:custGeom>
            <a:avLst/>
            <a:gdLst/>
            <a:ahLst/>
            <a:cxnLst/>
            <a:rect l="l" t="t" r="r" b="b"/>
            <a:pathLst>
              <a:path w="1068704" h="396239">
                <a:moveTo>
                  <a:pt x="73358" y="364345"/>
                </a:moveTo>
                <a:lnTo>
                  <a:pt x="70152" y="355368"/>
                </a:lnTo>
                <a:lnTo>
                  <a:pt x="1065199" y="0"/>
                </a:lnTo>
                <a:lnTo>
                  <a:pt x="1068400" y="8966"/>
                </a:lnTo>
                <a:lnTo>
                  <a:pt x="73358" y="364345"/>
                </a:lnTo>
                <a:close/>
              </a:path>
              <a:path w="1068704" h="396239">
                <a:moveTo>
                  <a:pt x="84569" y="395732"/>
                </a:moveTo>
                <a:lnTo>
                  <a:pt x="0" y="385483"/>
                </a:lnTo>
                <a:lnTo>
                  <a:pt x="58940" y="323976"/>
                </a:lnTo>
                <a:lnTo>
                  <a:pt x="70152" y="355368"/>
                </a:lnTo>
                <a:lnTo>
                  <a:pt x="52222" y="361772"/>
                </a:lnTo>
                <a:lnTo>
                  <a:pt x="55422" y="370751"/>
                </a:lnTo>
                <a:lnTo>
                  <a:pt x="75646" y="370751"/>
                </a:lnTo>
                <a:lnTo>
                  <a:pt x="84569" y="395732"/>
                </a:lnTo>
                <a:close/>
              </a:path>
              <a:path w="1068704" h="396239">
                <a:moveTo>
                  <a:pt x="55422" y="370751"/>
                </a:moveTo>
                <a:lnTo>
                  <a:pt x="52222" y="361772"/>
                </a:lnTo>
                <a:lnTo>
                  <a:pt x="70152" y="355368"/>
                </a:lnTo>
                <a:lnTo>
                  <a:pt x="73358" y="364345"/>
                </a:lnTo>
                <a:lnTo>
                  <a:pt x="55422" y="370751"/>
                </a:lnTo>
                <a:close/>
              </a:path>
              <a:path w="1068704" h="396239">
                <a:moveTo>
                  <a:pt x="75646" y="370751"/>
                </a:moveTo>
                <a:lnTo>
                  <a:pt x="55422" y="370751"/>
                </a:lnTo>
                <a:lnTo>
                  <a:pt x="73358" y="364345"/>
                </a:lnTo>
                <a:lnTo>
                  <a:pt x="75646" y="3707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22</a:t>
            </a:fld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37890" y="829944"/>
            <a:ext cx="22688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Grouping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559675" cy="40252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65" dirty="0">
                <a:latin typeface="Tahoma"/>
                <a:cs typeface="Tahoma"/>
              </a:rPr>
              <a:t>We </a:t>
            </a:r>
            <a:r>
              <a:rPr sz="3200" spc="-10" dirty="0">
                <a:latin typeface="Tahoma"/>
                <a:cs typeface="Tahoma"/>
              </a:rPr>
              <a:t>may follow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20" dirty="0">
                <a:latin typeface="Tahoma"/>
                <a:cs typeface="Tahoma"/>
              </a:rPr>
              <a:t>SELECT-FROM-WHERE  </a:t>
            </a:r>
            <a:r>
              <a:rPr sz="3200" spc="-5" dirty="0">
                <a:latin typeface="Tahoma"/>
                <a:cs typeface="Tahoma"/>
              </a:rPr>
              <a:t>expression by GROUP </a:t>
            </a:r>
            <a:r>
              <a:rPr sz="3200" dirty="0">
                <a:latin typeface="Tahoma"/>
                <a:cs typeface="Tahoma"/>
              </a:rPr>
              <a:t>BY </a:t>
            </a:r>
            <a:r>
              <a:rPr sz="3200" spc="-5" dirty="0">
                <a:latin typeface="Tahoma"/>
                <a:cs typeface="Tahoma"/>
              </a:rPr>
              <a:t>and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list of  attributes.</a:t>
            </a:r>
            <a:endParaRPr sz="3200">
              <a:latin typeface="Tahoma"/>
              <a:cs typeface="Tahoma"/>
            </a:endParaRPr>
          </a:p>
          <a:p>
            <a:pPr marL="355600" marR="927735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The relation that results </a:t>
            </a:r>
            <a:r>
              <a:rPr sz="3200" spc="-10" dirty="0">
                <a:latin typeface="Tahoma"/>
                <a:cs typeface="Tahoma"/>
              </a:rPr>
              <a:t>from </a:t>
            </a:r>
            <a:r>
              <a:rPr sz="3200" spc="-5" dirty="0">
                <a:latin typeface="Tahoma"/>
                <a:cs typeface="Tahoma"/>
              </a:rPr>
              <a:t>the  </a:t>
            </a:r>
            <a:r>
              <a:rPr sz="3200" spc="-20" dirty="0">
                <a:latin typeface="Tahoma"/>
                <a:cs typeface="Tahoma"/>
              </a:rPr>
              <a:t>SELECT-FROM-WHERE </a:t>
            </a:r>
            <a:r>
              <a:rPr sz="3200" spc="-5" dirty="0">
                <a:latin typeface="Tahoma"/>
                <a:cs typeface="Tahoma"/>
              </a:rPr>
              <a:t>is grouped  according to the </a:t>
            </a:r>
            <a:r>
              <a:rPr sz="3200" spc="-15" dirty="0">
                <a:latin typeface="Tahoma"/>
                <a:cs typeface="Tahoma"/>
              </a:rPr>
              <a:t>values </a:t>
            </a:r>
            <a:r>
              <a:rPr sz="3200" spc="-5" dirty="0">
                <a:latin typeface="Tahoma"/>
                <a:cs typeface="Tahoma"/>
              </a:rPr>
              <a:t>of </a:t>
            </a:r>
            <a:r>
              <a:rPr sz="3200" dirty="0">
                <a:latin typeface="Tahoma"/>
                <a:cs typeface="Tahoma"/>
              </a:rPr>
              <a:t>all </a:t>
            </a:r>
            <a:r>
              <a:rPr sz="3200" spc="-5" dirty="0">
                <a:latin typeface="Tahoma"/>
                <a:cs typeface="Tahoma"/>
              </a:rPr>
              <a:t>those  attributes, and </a:t>
            </a:r>
            <a:r>
              <a:rPr sz="3200" spc="-15" dirty="0">
                <a:latin typeface="Tahoma"/>
                <a:cs typeface="Tahoma"/>
              </a:rPr>
              <a:t>any </a:t>
            </a:r>
            <a:r>
              <a:rPr sz="3200" spc="-5" dirty="0">
                <a:latin typeface="Tahoma"/>
                <a:cs typeface="Tahoma"/>
              </a:rPr>
              <a:t>aggregation is  applied only within each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group.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09800" y="829944"/>
            <a:ext cx="47244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</a:t>
            </a:r>
            <a:r>
              <a:rPr spc="-45" dirty="0"/>
              <a:t> </a:t>
            </a:r>
            <a:r>
              <a:rPr spc="-10" dirty="0"/>
              <a:t>Grouping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pc="-5" dirty="0"/>
              <a:t>From </a:t>
            </a:r>
            <a:r>
              <a:rPr spc="-45" dirty="0">
                <a:solidFill>
                  <a:srgbClr val="CC00CC"/>
                </a:solidFill>
              </a:rPr>
              <a:t>Sells(bar, </a:t>
            </a:r>
            <a:r>
              <a:rPr spc="-90" dirty="0">
                <a:solidFill>
                  <a:srgbClr val="CC00CC"/>
                </a:solidFill>
              </a:rPr>
              <a:t>beer, </a:t>
            </a:r>
            <a:r>
              <a:rPr spc="-5" dirty="0">
                <a:solidFill>
                  <a:srgbClr val="CC00CC"/>
                </a:solidFill>
              </a:rPr>
              <a:t>price)</a:t>
            </a:r>
            <a:r>
              <a:rPr spc="-5" dirty="0"/>
              <a:t>, find the  </a:t>
            </a:r>
            <a:r>
              <a:rPr spc="-20" dirty="0"/>
              <a:t>average </a:t>
            </a:r>
            <a:r>
              <a:rPr spc="-5" dirty="0"/>
              <a:t>price </a:t>
            </a:r>
            <a:r>
              <a:rPr spc="-15" dirty="0"/>
              <a:t>for </a:t>
            </a:r>
            <a:r>
              <a:rPr spc="-5" dirty="0"/>
              <a:t>each</a:t>
            </a:r>
            <a:r>
              <a:rPr spc="20" dirty="0"/>
              <a:t> </a:t>
            </a:r>
            <a:r>
              <a:rPr spc="-5" dirty="0"/>
              <a:t>beer:</a:t>
            </a:r>
          </a:p>
          <a:p>
            <a:pPr marL="926465">
              <a:lnSpc>
                <a:spcPct val="100000"/>
              </a:lnSpc>
              <a:spcBef>
                <a:spcPts val="459"/>
              </a:spcBef>
            </a:pPr>
            <a:r>
              <a:rPr spc="-5" dirty="0">
                <a:latin typeface="Courier New"/>
                <a:cs typeface="Courier New"/>
              </a:rPr>
              <a:t>SELECT beer,</a:t>
            </a:r>
            <a:r>
              <a:rPr spc="-20" dirty="0">
                <a:latin typeface="Courier New"/>
                <a:cs typeface="Courier New"/>
              </a:rPr>
              <a:t> </a:t>
            </a:r>
            <a:r>
              <a:rPr spc="-5" dirty="0">
                <a:latin typeface="Courier New"/>
                <a:cs typeface="Courier New"/>
              </a:rPr>
              <a:t>AVG(price)</a:t>
            </a:r>
          </a:p>
          <a:p>
            <a:pPr marL="926465" marR="2510155">
              <a:lnSpc>
                <a:spcPct val="119900"/>
              </a:lnSpc>
            </a:pPr>
            <a:r>
              <a:rPr spc="-5" dirty="0">
                <a:latin typeface="Courier New"/>
                <a:cs typeface="Courier New"/>
              </a:rPr>
              <a:t>FROM Sells  GROUP </a:t>
            </a:r>
            <a:r>
              <a:rPr dirty="0">
                <a:latin typeface="Courier New"/>
                <a:cs typeface="Courier New"/>
              </a:rPr>
              <a:t>BY</a:t>
            </a:r>
            <a:r>
              <a:rPr spc="-65" dirty="0">
                <a:latin typeface="Courier New"/>
                <a:cs typeface="Courier New"/>
              </a:rPr>
              <a:t> </a:t>
            </a:r>
            <a:r>
              <a:rPr spc="-5" dirty="0">
                <a:latin typeface="Courier New"/>
                <a:cs typeface="Courier New"/>
              </a:rPr>
              <a:t>beer;</a:t>
            </a:r>
          </a:p>
          <a:p>
            <a:pPr marL="1520190" marR="2974340">
              <a:lnSpc>
                <a:spcPct val="100000"/>
              </a:lnSpc>
              <a:spcBef>
                <a:spcPts val="1864"/>
              </a:spcBef>
              <a:tabLst>
                <a:tab pos="2434590" algn="l"/>
              </a:tabLst>
            </a:pPr>
            <a:r>
              <a:rPr sz="2400" spc="-5" dirty="0"/>
              <a:t>b</a:t>
            </a:r>
            <a:r>
              <a:rPr sz="2400" dirty="0"/>
              <a:t>eer	</a:t>
            </a:r>
            <a:r>
              <a:rPr sz="2400" spc="-65" dirty="0"/>
              <a:t>A</a:t>
            </a:r>
            <a:r>
              <a:rPr sz="2400" spc="-5" dirty="0"/>
              <a:t>VG</a:t>
            </a:r>
            <a:r>
              <a:rPr sz="2400" dirty="0"/>
              <a:t>(</a:t>
            </a:r>
            <a:r>
              <a:rPr sz="2400" spc="-5" dirty="0"/>
              <a:t>p</a:t>
            </a:r>
            <a:r>
              <a:rPr sz="2400" dirty="0"/>
              <a:t>ri</a:t>
            </a:r>
            <a:r>
              <a:rPr sz="2400" spc="-5" dirty="0"/>
              <a:t>c</a:t>
            </a:r>
            <a:r>
              <a:rPr sz="2400" dirty="0"/>
              <a:t>e)  Bud	</a:t>
            </a:r>
            <a:r>
              <a:rPr sz="2400" spc="-5" dirty="0"/>
              <a:t>2.33</a:t>
            </a:r>
            <a:endParaRPr sz="2400" dirty="0"/>
          </a:p>
        </p:txBody>
      </p:sp>
      <p:sp>
        <p:nvSpPr>
          <p:cNvPr id="4" name="object 4"/>
          <p:cNvSpPr txBox="1"/>
          <p:nvPr/>
        </p:nvSpPr>
        <p:spPr>
          <a:xfrm>
            <a:off x="2272664" y="5673407"/>
            <a:ext cx="2749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…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87064" y="5673407"/>
            <a:ext cx="2749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…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128837" y="4948237"/>
            <a:ext cx="2600325" cy="1457325"/>
          </a:xfrm>
          <a:custGeom>
            <a:avLst/>
            <a:gdLst/>
            <a:ahLst/>
            <a:cxnLst/>
            <a:rect l="l" t="t" r="r" b="b"/>
            <a:pathLst>
              <a:path w="2600325" h="1457325">
                <a:moveTo>
                  <a:pt x="2600325" y="1457325"/>
                </a:moveTo>
                <a:lnTo>
                  <a:pt x="0" y="1457325"/>
                </a:lnTo>
                <a:lnTo>
                  <a:pt x="0" y="0"/>
                </a:lnTo>
                <a:lnTo>
                  <a:pt x="2600325" y="0"/>
                </a:lnTo>
                <a:lnTo>
                  <a:pt x="2600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447800"/>
                </a:lnTo>
                <a:lnTo>
                  <a:pt x="4762" y="1447800"/>
                </a:lnTo>
                <a:lnTo>
                  <a:pt x="9525" y="1452562"/>
                </a:lnTo>
                <a:lnTo>
                  <a:pt x="2600325" y="1452562"/>
                </a:lnTo>
                <a:lnTo>
                  <a:pt x="2600325" y="1457325"/>
                </a:lnTo>
                <a:close/>
              </a:path>
              <a:path w="2600325" h="14573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600325" h="1457325">
                <a:moveTo>
                  <a:pt x="2590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590800" y="4762"/>
                </a:lnTo>
                <a:lnTo>
                  <a:pt x="2590800" y="9525"/>
                </a:lnTo>
                <a:close/>
              </a:path>
              <a:path w="2600325" h="1457325">
                <a:moveTo>
                  <a:pt x="2590800" y="1452562"/>
                </a:moveTo>
                <a:lnTo>
                  <a:pt x="2590800" y="4762"/>
                </a:lnTo>
                <a:lnTo>
                  <a:pt x="2595562" y="9525"/>
                </a:lnTo>
                <a:lnTo>
                  <a:pt x="2600325" y="9525"/>
                </a:lnTo>
                <a:lnTo>
                  <a:pt x="2600325" y="1447800"/>
                </a:lnTo>
                <a:lnTo>
                  <a:pt x="2595562" y="1447800"/>
                </a:lnTo>
                <a:lnTo>
                  <a:pt x="2590800" y="1452562"/>
                </a:lnTo>
                <a:close/>
              </a:path>
              <a:path w="2600325" h="1457325">
                <a:moveTo>
                  <a:pt x="2600325" y="9525"/>
                </a:moveTo>
                <a:lnTo>
                  <a:pt x="2595562" y="9525"/>
                </a:lnTo>
                <a:lnTo>
                  <a:pt x="2590800" y="4762"/>
                </a:lnTo>
                <a:lnTo>
                  <a:pt x="2600325" y="4762"/>
                </a:lnTo>
                <a:lnTo>
                  <a:pt x="2600325" y="9525"/>
                </a:lnTo>
                <a:close/>
              </a:path>
              <a:path w="2600325" h="1457325">
                <a:moveTo>
                  <a:pt x="9525" y="1452562"/>
                </a:moveTo>
                <a:lnTo>
                  <a:pt x="4762" y="1447800"/>
                </a:lnTo>
                <a:lnTo>
                  <a:pt x="9525" y="1447800"/>
                </a:lnTo>
                <a:lnTo>
                  <a:pt x="9525" y="1452562"/>
                </a:lnTo>
                <a:close/>
              </a:path>
              <a:path w="2600325" h="1457325">
                <a:moveTo>
                  <a:pt x="2590800" y="1452562"/>
                </a:moveTo>
                <a:lnTo>
                  <a:pt x="9525" y="1452562"/>
                </a:lnTo>
                <a:lnTo>
                  <a:pt x="9525" y="1447800"/>
                </a:lnTo>
                <a:lnTo>
                  <a:pt x="2590800" y="1447800"/>
                </a:lnTo>
                <a:lnTo>
                  <a:pt x="2590800" y="1452562"/>
                </a:lnTo>
                <a:close/>
              </a:path>
              <a:path w="2600325" h="1457325">
                <a:moveTo>
                  <a:pt x="2600325" y="1452562"/>
                </a:moveTo>
                <a:lnTo>
                  <a:pt x="2590800" y="1452562"/>
                </a:lnTo>
                <a:lnTo>
                  <a:pt x="2595562" y="1447800"/>
                </a:lnTo>
                <a:lnTo>
                  <a:pt x="2600325" y="1447800"/>
                </a:lnTo>
                <a:lnTo>
                  <a:pt x="2600325" y="14525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133600" y="5334000"/>
            <a:ext cx="2590800" cy="0"/>
          </a:xfrm>
          <a:custGeom>
            <a:avLst/>
            <a:gdLst/>
            <a:ahLst/>
            <a:cxnLst/>
            <a:rect l="l" t="t" r="r" b="b"/>
            <a:pathLst>
              <a:path w="2590800">
                <a:moveTo>
                  <a:pt x="0" y="0"/>
                </a:moveTo>
                <a:lnTo>
                  <a:pt x="2590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48000" y="4953000"/>
            <a:ext cx="0" cy="1447800"/>
          </a:xfrm>
          <a:custGeom>
            <a:avLst/>
            <a:gdLst/>
            <a:ahLst/>
            <a:cxnLst/>
            <a:rect l="l" t="t" r="r" b="b"/>
            <a:pathLst>
              <a:path h="1447800">
                <a:moveTo>
                  <a:pt x="0" y="0"/>
                </a:moveTo>
                <a:lnTo>
                  <a:pt x="0" y="14478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24</a:t>
            </a:fld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09800" y="829944"/>
            <a:ext cx="47244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</a:t>
            </a:r>
            <a:r>
              <a:rPr spc="-45" dirty="0"/>
              <a:t> </a:t>
            </a:r>
            <a:r>
              <a:rPr spc="-10" dirty="0"/>
              <a:t>Grouping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861819"/>
            <a:ext cx="7376159" cy="1731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CC00CC"/>
              </a:buClr>
              <a:buSzPct val="96428"/>
              <a:buFont typeface="Wingdings"/>
              <a:buChar char=""/>
              <a:tabLst>
                <a:tab pos="363855" algn="l"/>
              </a:tabLst>
            </a:pPr>
            <a:r>
              <a:rPr sz="2800" spc="-10" dirty="0">
                <a:latin typeface="Tahoma"/>
                <a:cs typeface="Tahoma"/>
              </a:rPr>
              <a:t>From </a:t>
            </a:r>
            <a:r>
              <a:rPr sz="2800" spc="-40" dirty="0">
                <a:solidFill>
                  <a:srgbClr val="CC00CC"/>
                </a:solidFill>
                <a:latin typeface="Tahoma"/>
                <a:cs typeface="Tahoma"/>
              </a:rPr>
              <a:t>Sells(bar, </a:t>
            </a:r>
            <a:r>
              <a:rPr sz="2800" spc="-80" dirty="0">
                <a:solidFill>
                  <a:srgbClr val="CC00CC"/>
                </a:solidFill>
                <a:latin typeface="Tahoma"/>
                <a:cs typeface="Tahoma"/>
              </a:rPr>
              <a:t>beer, </a:t>
            </a:r>
            <a:r>
              <a:rPr sz="2800" spc="-5" dirty="0">
                <a:solidFill>
                  <a:srgbClr val="CC00CC"/>
                </a:solidFill>
                <a:latin typeface="Tahoma"/>
                <a:cs typeface="Tahoma"/>
              </a:rPr>
              <a:t>price) </a:t>
            </a:r>
            <a:r>
              <a:rPr sz="2800" spc="-5" dirty="0">
                <a:latin typeface="Tahoma"/>
                <a:cs typeface="Tahoma"/>
              </a:rPr>
              <a:t>and </a:t>
            </a:r>
            <a:r>
              <a:rPr sz="2800" spc="-5" dirty="0">
                <a:solidFill>
                  <a:srgbClr val="CC00CC"/>
                </a:solidFill>
                <a:latin typeface="Tahoma"/>
                <a:cs typeface="Tahoma"/>
              </a:rPr>
              <a:t> </a:t>
            </a:r>
            <a:r>
              <a:rPr sz="2800" spc="-25" dirty="0">
                <a:solidFill>
                  <a:srgbClr val="CC00CC"/>
                </a:solidFill>
                <a:latin typeface="Tahoma"/>
                <a:cs typeface="Tahoma"/>
              </a:rPr>
              <a:t>Frequents(drinker, </a:t>
            </a:r>
            <a:r>
              <a:rPr sz="2800" spc="-5" dirty="0">
                <a:solidFill>
                  <a:srgbClr val="CC00CC"/>
                </a:solidFill>
                <a:latin typeface="Tahoma"/>
                <a:cs typeface="Tahoma"/>
              </a:rPr>
              <a:t>bar)</a:t>
            </a:r>
            <a:r>
              <a:rPr sz="2800" spc="-5" dirty="0">
                <a:latin typeface="Tahoma"/>
                <a:cs typeface="Tahoma"/>
              </a:rPr>
              <a:t>, find </a:t>
            </a:r>
            <a:r>
              <a:rPr sz="2800" spc="-15" dirty="0">
                <a:latin typeface="Tahoma"/>
                <a:cs typeface="Tahoma"/>
              </a:rPr>
              <a:t>for </a:t>
            </a:r>
            <a:r>
              <a:rPr sz="2800" spc="-5" dirty="0">
                <a:latin typeface="Tahoma"/>
                <a:cs typeface="Tahoma"/>
              </a:rPr>
              <a:t>each </a:t>
            </a:r>
            <a:r>
              <a:rPr sz="2800" spc="-10" dirty="0">
                <a:latin typeface="Tahoma"/>
                <a:cs typeface="Tahoma"/>
              </a:rPr>
              <a:t>drinker  </a:t>
            </a:r>
            <a:r>
              <a:rPr sz="2800" spc="-5" dirty="0">
                <a:latin typeface="Tahoma"/>
                <a:cs typeface="Tahoma"/>
              </a:rPr>
              <a:t>the </a:t>
            </a:r>
            <a:r>
              <a:rPr sz="2800" spc="-20" dirty="0">
                <a:latin typeface="Tahoma"/>
                <a:cs typeface="Tahoma"/>
              </a:rPr>
              <a:t>average </a:t>
            </a:r>
            <a:r>
              <a:rPr sz="2800" spc="-5" dirty="0">
                <a:latin typeface="Tahoma"/>
                <a:cs typeface="Tahoma"/>
              </a:rPr>
              <a:t>price of </a:t>
            </a:r>
            <a:r>
              <a:rPr sz="2800" dirty="0">
                <a:latin typeface="Tahoma"/>
                <a:cs typeface="Tahoma"/>
              </a:rPr>
              <a:t>Bud </a:t>
            </a:r>
            <a:r>
              <a:rPr sz="2800" spc="-5" dirty="0">
                <a:latin typeface="Tahoma"/>
                <a:cs typeface="Tahoma"/>
              </a:rPr>
              <a:t>at the bars they  </a:t>
            </a:r>
            <a:r>
              <a:rPr sz="2800" spc="-10" dirty="0">
                <a:latin typeface="Tahoma"/>
                <a:cs typeface="Tahoma"/>
              </a:rPr>
              <a:t>frequent:</a:t>
            </a:r>
            <a:endParaRPr sz="28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78939" y="3652520"/>
            <a:ext cx="427863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ahoma"/>
                <a:cs typeface="Tahoma"/>
              </a:rPr>
              <a:t>SELECT </a:t>
            </a:r>
            <a:r>
              <a:rPr sz="2800" spc="-55" dirty="0">
                <a:latin typeface="Tahoma"/>
                <a:cs typeface="Tahoma"/>
              </a:rPr>
              <a:t>drinker, </a:t>
            </a:r>
            <a:r>
              <a:rPr sz="2800" spc="-10" dirty="0">
                <a:latin typeface="Tahoma"/>
                <a:cs typeface="Tahoma"/>
              </a:rPr>
              <a:t>AVG(price)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91639" y="4176856"/>
            <a:ext cx="4899660" cy="145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54"/>
              </a:lnSpc>
            </a:pPr>
            <a:r>
              <a:rPr sz="2800" spc="-5" dirty="0">
                <a:latin typeface="Tahoma"/>
                <a:cs typeface="Tahoma"/>
              </a:rPr>
              <a:t>FROM Frequents, </a:t>
            </a:r>
            <a:r>
              <a:rPr sz="2800" dirty="0">
                <a:latin typeface="Tahoma"/>
                <a:cs typeface="Tahoma"/>
              </a:rPr>
              <a:t>Sells</a:t>
            </a:r>
            <a:endParaRPr sz="2800">
              <a:latin typeface="Tahoma"/>
              <a:cs typeface="Tahoma"/>
            </a:endParaRPr>
          </a:p>
          <a:p>
            <a:pPr marL="914400" indent="-914400">
              <a:lnSpc>
                <a:spcPct val="119900"/>
              </a:lnSpc>
            </a:pPr>
            <a:r>
              <a:rPr sz="2800" spc="-5" dirty="0">
                <a:latin typeface="Tahoma"/>
                <a:cs typeface="Tahoma"/>
              </a:rPr>
              <a:t>WHERE beer = </a:t>
            </a:r>
            <a:r>
              <a:rPr sz="2800" dirty="0">
                <a:latin typeface="Tahoma"/>
                <a:cs typeface="Tahoma"/>
              </a:rPr>
              <a:t>’Bud’ </a:t>
            </a:r>
            <a:r>
              <a:rPr sz="2800" spc="-5" dirty="0">
                <a:latin typeface="Tahoma"/>
                <a:cs typeface="Tahoma"/>
              </a:rPr>
              <a:t>AND  Frequents.bar =</a:t>
            </a:r>
            <a:r>
              <a:rPr sz="2800" spc="-2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Sells.bar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91639" y="5712286"/>
            <a:ext cx="2995930" cy="428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354"/>
              </a:lnSpc>
            </a:pPr>
            <a:r>
              <a:rPr sz="2800" spc="-5" dirty="0">
                <a:latin typeface="Tahoma"/>
                <a:cs typeface="Tahoma"/>
              </a:rPr>
              <a:t>GROUP BY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drinker;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524000" y="4191000"/>
            <a:ext cx="5181600" cy="1524000"/>
          </a:xfrm>
          <a:custGeom>
            <a:avLst/>
            <a:gdLst/>
            <a:ahLst/>
            <a:cxnLst/>
            <a:rect l="l" t="t" r="r" b="b"/>
            <a:pathLst>
              <a:path w="5181600" h="1524000">
                <a:moveTo>
                  <a:pt x="0" y="0"/>
                </a:moveTo>
                <a:lnTo>
                  <a:pt x="5181600" y="0"/>
                </a:lnTo>
                <a:lnTo>
                  <a:pt x="5181600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solidFill>
            <a:srgbClr val="00CC99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19237" y="4186237"/>
            <a:ext cx="5191125" cy="1533525"/>
          </a:xfrm>
          <a:custGeom>
            <a:avLst/>
            <a:gdLst/>
            <a:ahLst/>
            <a:cxnLst/>
            <a:rect l="l" t="t" r="r" b="b"/>
            <a:pathLst>
              <a:path w="5191125" h="1533525">
                <a:moveTo>
                  <a:pt x="5191125" y="1533525"/>
                </a:moveTo>
                <a:lnTo>
                  <a:pt x="0" y="1533525"/>
                </a:lnTo>
                <a:lnTo>
                  <a:pt x="0" y="0"/>
                </a:lnTo>
                <a:lnTo>
                  <a:pt x="5191125" y="0"/>
                </a:lnTo>
                <a:lnTo>
                  <a:pt x="5191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524000"/>
                </a:lnTo>
                <a:lnTo>
                  <a:pt x="4762" y="1524000"/>
                </a:lnTo>
                <a:lnTo>
                  <a:pt x="9525" y="1528762"/>
                </a:lnTo>
                <a:lnTo>
                  <a:pt x="5191125" y="1528762"/>
                </a:lnTo>
                <a:lnTo>
                  <a:pt x="5191125" y="1533525"/>
                </a:lnTo>
                <a:close/>
              </a:path>
              <a:path w="5191125" h="1533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5191125" h="1533525">
                <a:moveTo>
                  <a:pt x="5181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5181600" y="4762"/>
                </a:lnTo>
                <a:lnTo>
                  <a:pt x="5181600" y="9525"/>
                </a:lnTo>
                <a:close/>
              </a:path>
              <a:path w="5191125" h="1533525">
                <a:moveTo>
                  <a:pt x="5181600" y="1528762"/>
                </a:moveTo>
                <a:lnTo>
                  <a:pt x="5181600" y="4762"/>
                </a:lnTo>
                <a:lnTo>
                  <a:pt x="5186362" y="9525"/>
                </a:lnTo>
                <a:lnTo>
                  <a:pt x="5191125" y="9525"/>
                </a:lnTo>
                <a:lnTo>
                  <a:pt x="5191125" y="1524000"/>
                </a:lnTo>
                <a:lnTo>
                  <a:pt x="5186362" y="1524000"/>
                </a:lnTo>
                <a:lnTo>
                  <a:pt x="5181600" y="1528762"/>
                </a:lnTo>
                <a:close/>
              </a:path>
              <a:path w="5191125" h="1533525">
                <a:moveTo>
                  <a:pt x="5191125" y="9525"/>
                </a:moveTo>
                <a:lnTo>
                  <a:pt x="5186362" y="9525"/>
                </a:lnTo>
                <a:lnTo>
                  <a:pt x="5181600" y="4762"/>
                </a:lnTo>
                <a:lnTo>
                  <a:pt x="5191125" y="4762"/>
                </a:lnTo>
                <a:lnTo>
                  <a:pt x="5191125" y="9525"/>
                </a:lnTo>
                <a:close/>
              </a:path>
              <a:path w="5191125" h="1533525">
                <a:moveTo>
                  <a:pt x="9525" y="1528762"/>
                </a:moveTo>
                <a:lnTo>
                  <a:pt x="4762" y="1524000"/>
                </a:lnTo>
                <a:lnTo>
                  <a:pt x="9525" y="1524000"/>
                </a:lnTo>
                <a:lnTo>
                  <a:pt x="9525" y="1528762"/>
                </a:lnTo>
                <a:close/>
              </a:path>
              <a:path w="5191125" h="1533525">
                <a:moveTo>
                  <a:pt x="5181600" y="1528762"/>
                </a:moveTo>
                <a:lnTo>
                  <a:pt x="9525" y="1528762"/>
                </a:lnTo>
                <a:lnTo>
                  <a:pt x="9525" y="1524000"/>
                </a:lnTo>
                <a:lnTo>
                  <a:pt x="5181600" y="1524000"/>
                </a:lnTo>
                <a:lnTo>
                  <a:pt x="5181600" y="1528762"/>
                </a:lnTo>
                <a:close/>
              </a:path>
              <a:path w="5191125" h="1533525">
                <a:moveTo>
                  <a:pt x="5191125" y="1528762"/>
                </a:moveTo>
                <a:lnTo>
                  <a:pt x="5181600" y="1528762"/>
                </a:lnTo>
                <a:lnTo>
                  <a:pt x="5186362" y="1524000"/>
                </a:lnTo>
                <a:lnTo>
                  <a:pt x="5191125" y="1524000"/>
                </a:lnTo>
                <a:lnTo>
                  <a:pt x="5191125" y="1528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149465" y="3418522"/>
            <a:ext cx="162687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Compute</a:t>
            </a:r>
            <a:r>
              <a:rPr sz="2400" spc="-7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all  </a:t>
            </a:r>
            <a:r>
              <a:rPr sz="2400" spc="-10" dirty="0">
                <a:latin typeface="Tahoma"/>
                <a:cs typeface="Tahoma"/>
              </a:rPr>
              <a:t>drinker-bar-  </a:t>
            </a:r>
            <a:r>
              <a:rPr sz="2400" spc="-5" dirty="0">
                <a:latin typeface="Tahoma"/>
                <a:cs typeface="Tahoma"/>
              </a:rPr>
              <a:t>price triples  </a:t>
            </a:r>
            <a:r>
              <a:rPr sz="2400" spc="-10" dirty="0">
                <a:latin typeface="Tahoma"/>
                <a:cs typeface="Tahoma"/>
              </a:rPr>
              <a:t>for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Bud.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705600" y="4036466"/>
            <a:ext cx="309245" cy="612140"/>
          </a:xfrm>
          <a:custGeom>
            <a:avLst/>
            <a:gdLst/>
            <a:ahLst/>
            <a:cxnLst/>
            <a:rect l="l" t="t" r="r" b="b"/>
            <a:pathLst>
              <a:path w="309245" h="612139">
                <a:moveTo>
                  <a:pt x="38340" y="545708"/>
                </a:moveTo>
                <a:lnTo>
                  <a:pt x="29815" y="541447"/>
                </a:lnTo>
                <a:lnTo>
                  <a:pt x="300545" y="0"/>
                </a:lnTo>
                <a:lnTo>
                  <a:pt x="309054" y="4267"/>
                </a:lnTo>
                <a:lnTo>
                  <a:pt x="38340" y="545708"/>
                </a:lnTo>
                <a:close/>
              </a:path>
              <a:path w="309245" h="612139">
                <a:moveTo>
                  <a:pt x="0" y="611733"/>
                </a:moveTo>
                <a:lnTo>
                  <a:pt x="0" y="526541"/>
                </a:lnTo>
                <a:lnTo>
                  <a:pt x="29815" y="541447"/>
                </a:lnTo>
                <a:lnTo>
                  <a:pt x="21297" y="558482"/>
                </a:lnTo>
                <a:lnTo>
                  <a:pt x="29819" y="562749"/>
                </a:lnTo>
                <a:lnTo>
                  <a:pt x="65315" y="562749"/>
                </a:lnTo>
                <a:lnTo>
                  <a:pt x="0" y="611733"/>
                </a:lnTo>
                <a:close/>
              </a:path>
              <a:path w="309245" h="612139">
                <a:moveTo>
                  <a:pt x="29819" y="562749"/>
                </a:moveTo>
                <a:lnTo>
                  <a:pt x="21297" y="558482"/>
                </a:lnTo>
                <a:lnTo>
                  <a:pt x="29815" y="541447"/>
                </a:lnTo>
                <a:lnTo>
                  <a:pt x="38340" y="545708"/>
                </a:lnTo>
                <a:lnTo>
                  <a:pt x="29819" y="562749"/>
                </a:lnTo>
                <a:close/>
              </a:path>
              <a:path w="309245" h="612139">
                <a:moveTo>
                  <a:pt x="65315" y="562749"/>
                </a:moveTo>
                <a:lnTo>
                  <a:pt x="29819" y="562749"/>
                </a:lnTo>
                <a:lnTo>
                  <a:pt x="38340" y="545708"/>
                </a:lnTo>
                <a:lnTo>
                  <a:pt x="68160" y="560616"/>
                </a:lnTo>
                <a:lnTo>
                  <a:pt x="65315" y="5627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089140" y="5061584"/>
            <a:ext cx="158051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Then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group  </a:t>
            </a:r>
            <a:r>
              <a:rPr sz="2400" dirty="0">
                <a:latin typeface="Tahoma"/>
                <a:cs typeface="Tahoma"/>
              </a:rPr>
              <a:t>them </a:t>
            </a:r>
            <a:r>
              <a:rPr sz="2400" spc="-5" dirty="0">
                <a:latin typeface="Tahoma"/>
                <a:cs typeface="Tahoma"/>
              </a:rPr>
              <a:t>by  </a:t>
            </a:r>
            <a:r>
              <a:rPr sz="2400" spc="-45" dirty="0">
                <a:latin typeface="Tahoma"/>
                <a:cs typeface="Tahoma"/>
              </a:rPr>
              <a:t>drinker.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524000" y="5791200"/>
            <a:ext cx="3200400" cy="457200"/>
          </a:xfrm>
          <a:custGeom>
            <a:avLst/>
            <a:gdLst/>
            <a:ahLst/>
            <a:cxnLst/>
            <a:rect l="l" t="t" r="r" b="b"/>
            <a:pathLst>
              <a:path w="3200400" h="457200">
                <a:moveTo>
                  <a:pt x="0" y="0"/>
                </a:moveTo>
                <a:lnTo>
                  <a:pt x="3200400" y="0"/>
                </a:lnTo>
                <a:lnTo>
                  <a:pt x="32004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FFCC99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19237" y="5786437"/>
            <a:ext cx="3209925" cy="466725"/>
          </a:xfrm>
          <a:custGeom>
            <a:avLst/>
            <a:gdLst/>
            <a:ahLst/>
            <a:cxnLst/>
            <a:rect l="l" t="t" r="r" b="b"/>
            <a:pathLst>
              <a:path w="3209925" h="466725">
                <a:moveTo>
                  <a:pt x="3209925" y="466725"/>
                </a:moveTo>
                <a:lnTo>
                  <a:pt x="0" y="466725"/>
                </a:lnTo>
                <a:lnTo>
                  <a:pt x="0" y="0"/>
                </a:lnTo>
                <a:lnTo>
                  <a:pt x="3209925" y="0"/>
                </a:lnTo>
                <a:lnTo>
                  <a:pt x="32099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457200"/>
                </a:lnTo>
                <a:lnTo>
                  <a:pt x="4762" y="457200"/>
                </a:lnTo>
                <a:lnTo>
                  <a:pt x="9525" y="461962"/>
                </a:lnTo>
                <a:lnTo>
                  <a:pt x="3209925" y="461962"/>
                </a:lnTo>
                <a:lnTo>
                  <a:pt x="3209925" y="466725"/>
                </a:lnTo>
                <a:close/>
              </a:path>
              <a:path w="3209925" h="4667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209925" h="466725">
                <a:moveTo>
                  <a:pt x="32004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200400" y="4762"/>
                </a:lnTo>
                <a:lnTo>
                  <a:pt x="3200400" y="9525"/>
                </a:lnTo>
                <a:close/>
              </a:path>
              <a:path w="3209925" h="466725">
                <a:moveTo>
                  <a:pt x="3200400" y="461962"/>
                </a:moveTo>
                <a:lnTo>
                  <a:pt x="3200400" y="4762"/>
                </a:lnTo>
                <a:lnTo>
                  <a:pt x="3205162" y="9525"/>
                </a:lnTo>
                <a:lnTo>
                  <a:pt x="3209925" y="9525"/>
                </a:lnTo>
                <a:lnTo>
                  <a:pt x="3209925" y="457200"/>
                </a:lnTo>
                <a:lnTo>
                  <a:pt x="3205162" y="457200"/>
                </a:lnTo>
                <a:lnTo>
                  <a:pt x="3200400" y="461962"/>
                </a:lnTo>
                <a:close/>
              </a:path>
              <a:path w="3209925" h="466725">
                <a:moveTo>
                  <a:pt x="3209925" y="9525"/>
                </a:moveTo>
                <a:lnTo>
                  <a:pt x="3205162" y="9525"/>
                </a:lnTo>
                <a:lnTo>
                  <a:pt x="3200400" y="4762"/>
                </a:lnTo>
                <a:lnTo>
                  <a:pt x="3209925" y="4762"/>
                </a:lnTo>
                <a:lnTo>
                  <a:pt x="3209925" y="9525"/>
                </a:lnTo>
                <a:close/>
              </a:path>
              <a:path w="3209925" h="466725">
                <a:moveTo>
                  <a:pt x="9525" y="461962"/>
                </a:moveTo>
                <a:lnTo>
                  <a:pt x="4762" y="457200"/>
                </a:lnTo>
                <a:lnTo>
                  <a:pt x="9525" y="457200"/>
                </a:lnTo>
                <a:lnTo>
                  <a:pt x="9525" y="461962"/>
                </a:lnTo>
                <a:close/>
              </a:path>
              <a:path w="3209925" h="466725">
                <a:moveTo>
                  <a:pt x="3200400" y="461962"/>
                </a:moveTo>
                <a:lnTo>
                  <a:pt x="9525" y="461962"/>
                </a:lnTo>
                <a:lnTo>
                  <a:pt x="9525" y="457200"/>
                </a:lnTo>
                <a:lnTo>
                  <a:pt x="3200400" y="457200"/>
                </a:lnTo>
                <a:lnTo>
                  <a:pt x="3200400" y="461962"/>
                </a:lnTo>
                <a:close/>
              </a:path>
              <a:path w="3209925" h="466725">
                <a:moveTo>
                  <a:pt x="3209925" y="461962"/>
                </a:moveTo>
                <a:lnTo>
                  <a:pt x="3200400" y="461962"/>
                </a:lnTo>
                <a:lnTo>
                  <a:pt x="3205162" y="457200"/>
                </a:lnTo>
                <a:lnTo>
                  <a:pt x="3209925" y="457200"/>
                </a:lnTo>
                <a:lnTo>
                  <a:pt x="3209925" y="461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724400" y="5862650"/>
            <a:ext cx="2286635" cy="190500"/>
          </a:xfrm>
          <a:custGeom>
            <a:avLst/>
            <a:gdLst/>
            <a:ahLst/>
            <a:cxnLst/>
            <a:rect l="l" t="t" r="r" b="b"/>
            <a:pathLst>
              <a:path w="2286634" h="190500">
                <a:moveTo>
                  <a:pt x="76345" y="156835"/>
                </a:moveTo>
                <a:lnTo>
                  <a:pt x="75712" y="147335"/>
                </a:lnTo>
                <a:lnTo>
                  <a:pt x="2285682" y="0"/>
                </a:lnTo>
                <a:lnTo>
                  <a:pt x="2286317" y="9499"/>
                </a:lnTo>
                <a:lnTo>
                  <a:pt x="76345" y="156835"/>
                </a:lnTo>
                <a:close/>
              </a:path>
              <a:path w="2286634" h="190500">
                <a:moveTo>
                  <a:pt x="78562" y="190093"/>
                </a:moveTo>
                <a:lnTo>
                  <a:pt x="0" y="157149"/>
                </a:lnTo>
                <a:lnTo>
                  <a:pt x="73494" y="114071"/>
                </a:lnTo>
                <a:lnTo>
                  <a:pt x="75712" y="147335"/>
                </a:lnTo>
                <a:lnTo>
                  <a:pt x="56705" y="148602"/>
                </a:lnTo>
                <a:lnTo>
                  <a:pt x="57340" y="158102"/>
                </a:lnTo>
                <a:lnTo>
                  <a:pt x="76429" y="158102"/>
                </a:lnTo>
                <a:lnTo>
                  <a:pt x="78562" y="190093"/>
                </a:lnTo>
                <a:close/>
              </a:path>
              <a:path w="2286634" h="190500">
                <a:moveTo>
                  <a:pt x="57340" y="158102"/>
                </a:moveTo>
                <a:lnTo>
                  <a:pt x="56705" y="148602"/>
                </a:lnTo>
                <a:lnTo>
                  <a:pt x="75712" y="147335"/>
                </a:lnTo>
                <a:lnTo>
                  <a:pt x="76345" y="156835"/>
                </a:lnTo>
                <a:lnTo>
                  <a:pt x="57340" y="158102"/>
                </a:lnTo>
                <a:close/>
              </a:path>
              <a:path w="2286634" h="190500">
                <a:moveTo>
                  <a:pt x="76429" y="158102"/>
                </a:moveTo>
                <a:lnTo>
                  <a:pt x="57340" y="158102"/>
                </a:lnTo>
                <a:lnTo>
                  <a:pt x="76345" y="156835"/>
                </a:lnTo>
                <a:lnTo>
                  <a:pt x="76429" y="1581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25</a:t>
            </a:fld>
            <a:endParaRPr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6" name="墨迹 15">
                <a:extLst>
                  <a:ext uri="{FF2B5EF4-FFF2-40B4-BE49-F238E27FC236}">
                    <a16:creationId xmlns:a16="http://schemas.microsoft.com/office/drawing/2014/main" id="{099E8B6C-B7C7-B5CA-5E94-61B7E1A22E0F}"/>
                  </a:ext>
                </a:extLst>
              </p14:cNvPr>
              <p14:cNvContentPartPr/>
              <p14:nvPr/>
            </p14:nvContentPartPr>
            <p14:xfrm>
              <a:off x="1415979" y="5701165"/>
              <a:ext cx="3508560" cy="513720"/>
            </p14:xfrm>
          </p:contentPart>
        </mc:Choice>
        <mc:Fallback>
          <p:pic>
            <p:nvPicPr>
              <p:cNvPr id="16" name="墨迹 15">
                <a:extLst>
                  <a:ext uri="{FF2B5EF4-FFF2-40B4-BE49-F238E27FC236}">
                    <a16:creationId xmlns:a16="http://schemas.microsoft.com/office/drawing/2014/main" id="{099E8B6C-B7C7-B5CA-5E94-61B7E1A22E0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62339" y="5593165"/>
                <a:ext cx="3616200" cy="72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7" name="墨迹 16">
                <a:extLst>
                  <a:ext uri="{FF2B5EF4-FFF2-40B4-BE49-F238E27FC236}">
                    <a16:creationId xmlns:a16="http://schemas.microsoft.com/office/drawing/2014/main" id="{BE5BA6B6-2B47-46D2-7839-6DC63DDE86DF}"/>
                  </a:ext>
                </a:extLst>
              </p14:cNvPr>
              <p14:cNvContentPartPr/>
              <p14:nvPr/>
            </p14:nvContentPartPr>
            <p14:xfrm>
              <a:off x="2800899" y="3665725"/>
              <a:ext cx="1350000" cy="401760"/>
            </p14:xfrm>
          </p:contentPart>
        </mc:Choice>
        <mc:Fallback>
          <p:pic>
            <p:nvPicPr>
              <p:cNvPr id="17" name="墨迹 16">
                <a:extLst>
                  <a:ext uri="{FF2B5EF4-FFF2-40B4-BE49-F238E27FC236}">
                    <a16:creationId xmlns:a16="http://schemas.microsoft.com/office/drawing/2014/main" id="{BE5BA6B6-2B47-46D2-7839-6DC63DDE86D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46899" y="3558085"/>
                <a:ext cx="1457640" cy="617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33550" y="281940"/>
            <a:ext cx="56762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61845" algn="l"/>
              </a:tabLst>
            </a:pPr>
            <a:r>
              <a:rPr sz="3600" spc="-5" dirty="0"/>
              <a:t>Using</a:t>
            </a:r>
            <a:r>
              <a:rPr sz="3600" spc="10" dirty="0"/>
              <a:t> </a:t>
            </a:r>
            <a:r>
              <a:rPr sz="3600" spc="-5" dirty="0"/>
              <a:t>the	GROUP BY</a:t>
            </a:r>
            <a:r>
              <a:rPr sz="3600" spc="-60" dirty="0"/>
              <a:t> </a:t>
            </a:r>
            <a:r>
              <a:rPr sz="3600" spc="-5" dirty="0"/>
              <a:t>Clause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356234" y="894397"/>
            <a:ext cx="3803967" cy="13608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54977" y="1077594"/>
            <a:ext cx="3089275" cy="7067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825"/>
              </a:lnSpc>
              <a:spcBef>
                <a:spcPts val="95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SELECT productid,</a:t>
            </a:r>
            <a:r>
              <a:rPr sz="1600" spc="-45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orderid</a:t>
            </a:r>
            <a:endParaRPr sz="1600">
              <a:latin typeface="Lucida Sans Typewriter"/>
              <a:cs typeface="Lucida Sans Typewriter"/>
            </a:endParaRPr>
          </a:p>
          <a:p>
            <a:pPr marL="134620" marR="1230630" indent="612775">
              <a:lnSpc>
                <a:spcPts val="1730"/>
              </a:lnSpc>
              <a:spcBef>
                <a:spcPts val="114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,quantity  FROM</a:t>
            </a:r>
            <a:r>
              <a:rPr sz="1600" spc="-70" dirty="0">
                <a:latin typeface="Lucida Sans Typewriter"/>
                <a:cs typeface="Lucida Sans Typewriter"/>
              </a:rPr>
              <a:t> </a:t>
            </a:r>
            <a:r>
              <a:rPr sz="1600" spc="-5" dirty="0">
                <a:latin typeface="Lucida Sans Typewriter"/>
                <a:cs typeface="Lucida Sans Typewriter"/>
              </a:rPr>
              <a:t>orderhist</a:t>
            </a:r>
            <a:endParaRPr sz="1600">
              <a:latin typeface="Lucida Sans Typewriter"/>
              <a:cs typeface="Lucida Sans Typewriter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170997" y="894397"/>
            <a:ext cx="4564062" cy="143700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269740" y="1006475"/>
            <a:ext cx="4314825" cy="9258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825"/>
              </a:lnSpc>
              <a:spcBef>
                <a:spcPts val="95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SELECT productid</a:t>
            </a:r>
            <a:endParaRPr sz="1600">
              <a:latin typeface="Lucida Sans Typewriter"/>
              <a:cs typeface="Lucida Sans Typewriter"/>
            </a:endParaRPr>
          </a:p>
          <a:p>
            <a:pPr marL="134620" marR="5080" indent="245110">
              <a:lnSpc>
                <a:spcPts val="1730"/>
              </a:lnSpc>
              <a:spcBef>
                <a:spcPts val="114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,SUM(quantity) AS total_quantity  FROM orderhist</a:t>
            </a:r>
            <a:endParaRPr sz="1600">
              <a:latin typeface="Lucida Sans Typewriter"/>
              <a:cs typeface="Lucida Sans Typewriter"/>
            </a:endParaRPr>
          </a:p>
          <a:p>
            <a:pPr marL="135255">
              <a:lnSpc>
                <a:spcPts val="1695"/>
              </a:lnSpc>
            </a:pPr>
            <a:r>
              <a:rPr sz="1600" spc="-5" dirty="0">
                <a:latin typeface="Lucida Sans Typewriter"/>
                <a:cs typeface="Lucida Sans Typewriter"/>
              </a:rPr>
              <a:t>GROUP BY productid</a:t>
            </a:r>
            <a:endParaRPr sz="1600">
              <a:latin typeface="Lucida Sans Typewriter"/>
              <a:cs typeface="Lucida Sans Typewriter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499734" y="2342197"/>
            <a:ext cx="1451470" cy="5099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592788" y="2451125"/>
            <a:ext cx="1123746" cy="26272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822300" y="2342197"/>
            <a:ext cx="1897202" cy="50990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933768" y="2451125"/>
            <a:ext cx="1550835" cy="2658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499734" y="2723197"/>
            <a:ext cx="1438770" cy="49720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822300" y="2723197"/>
            <a:ext cx="1884489" cy="49720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499734" y="3104197"/>
            <a:ext cx="1451470" cy="50990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822300" y="3104197"/>
            <a:ext cx="1897189" cy="50990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499734" y="3485197"/>
            <a:ext cx="1451470" cy="50990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111557" y="2652267"/>
            <a:ext cx="138430" cy="116840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600" b="1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600" b="1" spc="-5" dirty="0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600" b="1" spc="-5" dirty="0"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822300" y="3485197"/>
            <a:ext cx="1897189" cy="50990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600492" y="2652267"/>
            <a:ext cx="251460" cy="116840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600" b="1" spc="-5" dirty="0">
                <a:latin typeface="Arial"/>
                <a:cs typeface="Arial"/>
              </a:rPr>
              <a:t>15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600" b="1" spc="-5" dirty="0">
                <a:latin typeface="Arial"/>
                <a:cs typeface="Arial"/>
              </a:rPr>
              <a:t>35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600" b="1" spc="-5" dirty="0">
                <a:latin typeface="Arial"/>
                <a:cs typeface="Arial"/>
              </a:rPr>
              <a:t>45</a:t>
            </a:r>
            <a:endParaRPr sz="16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41959" y="2265997"/>
            <a:ext cx="1451292" cy="50990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35012" y="2374925"/>
            <a:ext cx="1123746" cy="26272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764347" y="2265997"/>
            <a:ext cx="1140142" cy="50990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873275" y="2374925"/>
            <a:ext cx="841171" cy="220814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775585" y="2265997"/>
            <a:ext cx="1295717" cy="50990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884512" y="2374925"/>
            <a:ext cx="943775" cy="265899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41959" y="2646997"/>
            <a:ext cx="1438592" cy="49720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764347" y="2646997"/>
            <a:ext cx="1127442" cy="497204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775585" y="2646997"/>
            <a:ext cx="1283017" cy="497204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739140" y="1867085"/>
            <a:ext cx="3905885" cy="1171575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440055" indent="-402590">
              <a:lnSpc>
                <a:spcPct val="100000"/>
              </a:lnSpc>
              <a:spcBef>
                <a:spcPts val="10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sz="3200" dirty="0">
                <a:latin typeface="宋体"/>
                <a:cs typeface="宋体"/>
              </a:rPr>
              <a:t>对查询结果分</a:t>
            </a:r>
            <a:r>
              <a:rPr sz="3200" spc="5" dirty="0">
                <a:latin typeface="宋体"/>
                <a:cs typeface="宋体"/>
              </a:rPr>
              <a:t>组</a:t>
            </a:r>
            <a:endParaRPr sz="3200">
              <a:latin typeface="宋体"/>
              <a:cs typeface="宋体"/>
            </a:endParaRPr>
          </a:p>
          <a:p>
            <a:pPr marL="327025">
              <a:lnSpc>
                <a:spcPct val="100000"/>
              </a:lnSpc>
              <a:spcBef>
                <a:spcPts val="844"/>
              </a:spcBef>
            </a:pPr>
            <a:r>
              <a:rPr sz="2400" b="1" spc="-7" baseline="6944" dirty="0">
                <a:latin typeface="Arial"/>
                <a:cs typeface="Arial"/>
              </a:rPr>
              <a:t>1</a:t>
            </a:r>
            <a:r>
              <a:rPr sz="2400" b="1" spc="-37" baseline="6944" dirty="0"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CC00CC"/>
                </a:solidFill>
                <a:latin typeface="Wingdings"/>
                <a:cs typeface="Wingdings"/>
              </a:rPr>
              <a:t></a:t>
            </a:r>
            <a:r>
              <a:rPr sz="2800" spc="-80" dirty="0">
                <a:solidFill>
                  <a:srgbClr val="CC00CC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宋体"/>
                <a:cs typeface="宋体"/>
              </a:rPr>
              <a:t>使用</a:t>
            </a:r>
            <a:r>
              <a:rPr sz="2800" spc="-935" dirty="0">
                <a:latin typeface="Tahoma"/>
                <a:cs typeface="Tahoma"/>
              </a:rPr>
              <a:t>G</a:t>
            </a:r>
            <a:r>
              <a:rPr sz="2400" b="1" spc="-1402" baseline="6944" dirty="0">
                <a:latin typeface="Arial"/>
                <a:cs typeface="Arial"/>
              </a:rPr>
              <a:t>1</a:t>
            </a:r>
            <a:r>
              <a:rPr sz="2400" b="1" spc="742" baseline="6944" dirty="0">
                <a:latin typeface="Arial"/>
                <a:cs typeface="Arial"/>
              </a:rPr>
              <a:t> </a:t>
            </a:r>
            <a:r>
              <a:rPr sz="2800" spc="-80" dirty="0">
                <a:latin typeface="Tahoma"/>
                <a:cs typeface="Tahoma"/>
              </a:rPr>
              <a:t>ROUP</a:t>
            </a:r>
            <a:r>
              <a:rPr sz="2400" b="1" spc="-120" baseline="6944" dirty="0">
                <a:latin typeface="Arial"/>
                <a:cs typeface="Arial"/>
              </a:rPr>
              <a:t>5</a:t>
            </a:r>
            <a:r>
              <a:rPr sz="2400" b="1" spc="-127" baseline="6944" dirty="0">
                <a:latin typeface="Arial"/>
                <a:cs typeface="Arial"/>
              </a:rPr>
              <a:t> </a:t>
            </a:r>
            <a:r>
              <a:rPr sz="2800" spc="-5" dirty="0">
                <a:latin typeface="Tahoma"/>
                <a:cs typeface="Tahoma"/>
              </a:rPr>
              <a:t>BY</a:t>
            </a:r>
            <a:r>
              <a:rPr sz="2800" dirty="0">
                <a:latin typeface="宋体"/>
                <a:cs typeface="宋体"/>
              </a:rPr>
              <a:t>子</a:t>
            </a:r>
            <a:r>
              <a:rPr sz="2800" spc="-5" dirty="0">
                <a:latin typeface="宋体"/>
                <a:cs typeface="宋体"/>
              </a:rPr>
              <a:t>句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41959" y="3027997"/>
            <a:ext cx="1438592" cy="497204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764347" y="3027997"/>
            <a:ext cx="1127442" cy="497204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775585" y="3027997"/>
            <a:ext cx="1283017" cy="497204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41959" y="3408997"/>
            <a:ext cx="1451292" cy="509904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1053782" y="2957067"/>
            <a:ext cx="138430" cy="78740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600" b="1" spc="-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600" b="1" spc="-5" dirty="0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764347" y="3408997"/>
            <a:ext cx="1140142" cy="509904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775585" y="3408997"/>
            <a:ext cx="1295717" cy="509904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3252787" y="3475989"/>
            <a:ext cx="25146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10</a:t>
            </a:r>
            <a:endParaRPr sz="16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441959" y="3789997"/>
            <a:ext cx="1451292" cy="50990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764347" y="3789997"/>
            <a:ext cx="1140142" cy="509905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775585" y="3789997"/>
            <a:ext cx="1295717" cy="509905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41959" y="4170997"/>
            <a:ext cx="1451292" cy="5099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764347" y="4170997"/>
            <a:ext cx="1140142" cy="509905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775585" y="4170997"/>
            <a:ext cx="1295717" cy="509905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41959" y="4551997"/>
            <a:ext cx="1451292" cy="509905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764347" y="4551997"/>
            <a:ext cx="1140142" cy="509905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2775585" y="4551997"/>
            <a:ext cx="1295717" cy="509905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6" name="object 46"/>
          <p:cNvGraphicFramePr>
            <a:graphicFrameLocks noGrp="1"/>
          </p:cNvGraphicFramePr>
          <p:nvPr/>
        </p:nvGraphicFramePr>
        <p:xfrm>
          <a:off x="1034732" y="3888878"/>
          <a:ext cx="2487295" cy="98830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1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91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6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3651">
                <a:tc>
                  <a:txBody>
                    <a:bodyPr/>
                    <a:lstStyle/>
                    <a:p>
                      <a:pPr marL="31750">
                        <a:lnSpc>
                          <a:spcPts val="1764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52120" algn="r">
                        <a:lnSpc>
                          <a:spcPts val="1764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764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25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7150" marB="0"/>
                </a:tc>
                <a:tc>
                  <a:txBody>
                    <a:bodyPr/>
                    <a:lstStyle/>
                    <a:p>
                      <a:pPr marR="452120" algn="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715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15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715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651">
                <a:tc>
                  <a:txBody>
                    <a:bodyPr/>
                    <a:lstStyle/>
                    <a:p>
                      <a:pPr marL="31750">
                        <a:lnSpc>
                          <a:spcPts val="1839"/>
                        </a:lnSpc>
                        <a:spcBef>
                          <a:spcPts val="45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7150" marB="0"/>
                </a:tc>
                <a:tc>
                  <a:txBody>
                    <a:bodyPr/>
                    <a:lstStyle/>
                    <a:p>
                      <a:pPr marR="452120" algn="r">
                        <a:lnSpc>
                          <a:spcPts val="1839"/>
                        </a:lnSpc>
                        <a:spcBef>
                          <a:spcPts val="45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715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839"/>
                        </a:lnSpc>
                        <a:spcBef>
                          <a:spcPts val="450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30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715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7" name="object 47"/>
          <p:cNvSpPr/>
          <p:nvPr/>
        </p:nvSpPr>
        <p:spPr>
          <a:xfrm>
            <a:off x="5499734" y="4018597"/>
            <a:ext cx="1451470" cy="509905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5592788" y="4127525"/>
            <a:ext cx="1123746" cy="262724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6822300" y="4018597"/>
            <a:ext cx="1897202" cy="509905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6933768" y="4127525"/>
            <a:ext cx="1550835" cy="265899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5499734" y="4399597"/>
            <a:ext cx="1451470" cy="509905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6822300" y="4399597"/>
            <a:ext cx="1897189" cy="509905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1640839" y="3069590"/>
            <a:ext cx="3987800" cy="553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9400" indent="-228600">
              <a:lnSpc>
                <a:spcPts val="2560"/>
              </a:lnSpc>
              <a:spcBef>
                <a:spcPts val="100"/>
              </a:spcBef>
              <a:buClr>
                <a:srgbClr val="CC00CC"/>
              </a:buClr>
              <a:buFont typeface="Tahoma"/>
              <a:buChar char="•"/>
              <a:tabLst>
                <a:tab pos="279400" algn="l"/>
                <a:tab pos="888365" algn="l"/>
              </a:tabLst>
            </a:pPr>
            <a:r>
              <a:rPr sz="2400" dirty="0">
                <a:latin typeface="宋体"/>
                <a:cs typeface="宋体"/>
              </a:rPr>
              <a:t>先</a:t>
            </a:r>
            <a:r>
              <a:rPr sz="2400" spc="-2335" dirty="0">
                <a:latin typeface="宋体"/>
                <a:cs typeface="宋体"/>
              </a:rPr>
              <a:t>分</a:t>
            </a:r>
            <a:r>
              <a:rPr sz="2400" b="1" spc="-7" baseline="20833" dirty="0">
                <a:latin typeface="Arial"/>
                <a:cs typeface="Arial"/>
              </a:rPr>
              <a:t>1	</a:t>
            </a:r>
            <a:r>
              <a:rPr sz="2400" dirty="0">
                <a:latin typeface="宋体"/>
                <a:cs typeface="宋体"/>
              </a:rPr>
              <a:t>组，</a:t>
            </a:r>
            <a:r>
              <a:rPr sz="2400" spc="-1410" dirty="0">
                <a:latin typeface="宋体"/>
                <a:cs typeface="宋体"/>
              </a:rPr>
              <a:t>然</a:t>
            </a:r>
            <a:r>
              <a:rPr sz="2400" b="1" spc="-284" baseline="20833" dirty="0">
                <a:latin typeface="Arial"/>
                <a:cs typeface="Arial"/>
              </a:rPr>
              <a:t>10</a:t>
            </a:r>
            <a:r>
              <a:rPr sz="2400" dirty="0">
                <a:latin typeface="宋体"/>
                <a:cs typeface="宋体"/>
              </a:rPr>
              <a:t>后使用聚集函数</a:t>
            </a:r>
            <a:endParaRPr sz="2400">
              <a:latin typeface="宋体"/>
              <a:cs typeface="宋体"/>
            </a:endParaRPr>
          </a:p>
          <a:p>
            <a:pPr marL="592455">
              <a:lnSpc>
                <a:spcPts val="1600"/>
              </a:lnSpc>
              <a:tabLst>
                <a:tab pos="2453640" algn="l"/>
              </a:tabLst>
            </a:pPr>
            <a:r>
              <a:rPr sz="2400" b="1" spc="-7" baseline="-32986" dirty="0">
                <a:latin typeface="Arial"/>
                <a:cs typeface="Arial"/>
              </a:rPr>
              <a:t>1	</a:t>
            </a:r>
            <a:r>
              <a:rPr sz="1400" b="1" spc="-5" dirty="0">
                <a:latin typeface="Arial Narrow"/>
                <a:cs typeface="Arial Narrow"/>
              </a:rPr>
              <a:t>Only rows that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082415" y="3570287"/>
            <a:ext cx="1363345" cy="43180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>
              <a:lnSpc>
                <a:spcPts val="1510"/>
              </a:lnSpc>
              <a:spcBef>
                <a:spcPts val="295"/>
              </a:spcBef>
            </a:pPr>
            <a:r>
              <a:rPr sz="1400" b="1" spc="-5" dirty="0">
                <a:latin typeface="Arial Narrow"/>
                <a:cs typeface="Arial Narrow"/>
              </a:rPr>
              <a:t>satisfy the WHERE  clause are</a:t>
            </a:r>
            <a:r>
              <a:rPr sz="1400" b="1" spc="-45" dirty="0">
                <a:latin typeface="Arial Narrow"/>
                <a:cs typeface="Arial Narrow"/>
              </a:rPr>
              <a:t> </a:t>
            </a:r>
            <a:r>
              <a:rPr sz="1400" b="1" spc="-5" dirty="0">
                <a:latin typeface="Arial Narrow"/>
                <a:cs typeface="Arial Narrow"/>
              </a:rPr>
              <a:t>grouped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3942397" y="4856797"/>
            <a:ext cx="4564062" cy="1665605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4041140" y="4466589"/>
            <a:ext cx="4314825" cy="16516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82800">
              <a:lnSpc>
                <a:spcPct val="100000"/>
              </a:lnSpc>
              <a:spcBef>
                <a:spcPts val="95"/>
              </a:spcBef>
              <a:tabLst>
                <a:tab pos="3571875" algn="l"/>
              </a:tabLst>
            </a:pPr>
            <a:r>
              <a:rPr sz="1600" b="1" spc="-5" dirty="0">
                <a:latin typeface="Arial"/>
                <a:cs typeface="Arial"/>
              </a:rPr>
              <a:t>2	35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ts val="1820"/>
              </a:lnSpc>
            </a:pPr>
            <a:r>
              <a:rPr sz="1600" spc="-5" dirty="0">
                <a:latin typeface="Lucida Sans Typewriter"/>
                <a:cs typeface="Lucida Sans Typewriter"/>
              </a:rPr>
              <a:t>SELECT productid</a:t>
            </a:r>
            <a:endParaRPr sz="1600">
              <a:latin typeface="Lucida Sans Typewriter"/>
              <a:cs typeface="Lucida Sans Typewriter"/>
            </a:endParaRPr>
          </a:p>
          <a:p>
            <a:pPr marL="134620" marR="5080" indent="245110">
              <a:lnSpc>
                <a:spcPts val="1730"/>
              </a:lnSpc>
              <a:spcBef>
                <a:spcPts val="114"/>
              </a:spcBef>
            </a:pPr>
            <a:r>
              <a:rPr sz="1600" spc="-5" dirty="0">
                <a:latin typeface="Lucida Sans Typewriter"/>
                <a:cs typeface="Lucida Sans Typewriter"/>
              </a:rPr>
              <a:t>,SUM(quantity) AS total_quantity  FROM orderhist</a:t>
            </a:r>
            <a:endParaRPr sz="1600">
              <a:latin typeface="Lucida Sans Typewriter"/>
              <a:cs typeface="Lucida Sans Typewriter"/>
            </a:endParaRPr>
          </a:p>
          <a:p>
            <a:pPr marL="135255">
              <a:lnSpc>
                <a:spcPts val="1595"/>
              </a:lnSpc>
            </a:pPr>
            <a:r>
              <a:rPr sz="1600" spc="-5" dirty="0">
                <a:latin typeface="Lucida Sans Typewriter"/>
                <a:cs typeface="Lucida Sans Typewriter"/>
              </a:rPr>
              <a:t>WHERE productid = 2</a:t>
            </a:r>
            <a:endParaRPr sz="1600">
              <a:latin typeface="Lucida Sans Typewriter"/>
              <a:cs typeface="Lucida Sans Typewriter"/>
            </a:endParaRPr>
          </a:p>
          <a:p>
            <a:pPr marL="134620">
              <a:lnSpc>
                <a:spcPts val="1820"/>
              </a:lnSpc>
            </a:pPr>
            <a:r>
              <a:rPr sz="1600" spc="-5" dirty="0">
                <a:latin typeface="Lucida Sans Typewriter"/>
                <a:cs typeface="Lucida Sans Typewriter"/>
              </a:rPr>
              <a:t>GROUP BY productid</a:t>
            </a:r>
            <a:endParaRPr sz="1600">
              <a:latin typeface="Lucida Sans Typewriter"/>
              <a:cs typeface="Lucida Sans Typewriter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3910647" y="4015028"/>
            <a:ext cx="1663890" cy="567829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3910647" y="2262428"/>
            <a:ext cx="1663890" cy="567829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0" name="图片 59">
            <a:extLst>
              <a:ext uri="{FF2B5EF4-FFF2-40B4-BE49-F238E27FC236}">
                <a16:creationId xmlns:a16="http://schemas.microsoft.com/office/drawing/2014/main" id="{82A12B0C-9A56-AB74-BB9F-BEB129FBED85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241404" y="2109282"/>
            <a:ext cx="3902006" cy="2922009"/>
          </a:xfrm>
          <a:prstGeom prst="rect">
            <a:avLst/>
          </a:prstGeom>
        </p:spPr>
      </p:pic>
      <p:pic>
        <p:nvPicPr>
          <p:cNvPr id="62" name="图片 61">
            <a:extLst>
              <a:ext uri="{FF2B5EF4-FFF2-40B4-BE49-F238E27FC236}">
                <a16:creationId xmlns:a16="http://schemas.microsoft.com/office/drawing/2014/main" id="{8383F11D-98DB-0774-6B54-07D3C86FF706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5469310" y="1907974"/>
            <a:ext cx="3724795" cy="287695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6985" marR="5080" indent="-120523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Restriction </a:t>
            </a:r>
            <a:r>
              <a:rPr dirty="0"/>
              <a:t>on </a:t>
            </a:r>
            <a:r>
              <a:rPr spc="-5" dirty="0"/>
              <a:t>SELECT Lists  </a:t>
            </a:r>
            <a:r>
              <a:rPr dirty="0"/>
              <a:t>With</a:t>
            </a:r>
            <a:r>
              <a:rPr spc="-20" dirty="0"/>
              <a:t> </a:t>
            </a:r>
            <a:r>
              <a:rPr spc="-5" dirty="0"/>
              <a:t>Aggregation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241549"/>
            <a:ext cx="7342505" cy="25126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22300" marR="5080" indent="-6096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Font typeface="Wingdings"/>
              <a:buChar char=""/>
              <a:tabLst>
                <a:tab pos="621665" algn="l"/>
                <a:tab pos="622300" algn="l"/>
              </a:tabLst>
            </a:pPr>
            <a:r>
              <a:rPr sz="3200" spc="-5" dirty="0">
                <a:latin typeface="Tahoma"/>
                <a:cs typeface="Tahoma"/>
              </a:rPr>
              <a:t>If </a:t>
            </a:r>
            <a:r>
              <a:rPr sz="3200" spc="-15" dirty="0">
                <a:latin typeface="Tahoma"/>
                <a:cs typeface="Tahoma"/>
              </a:rPr>
              <a:t>any </a:t>
            </a:r>
            <a:r>
              <a:rPr sz="3200" spc="-5" dirty="0">
                <a:latin typeface="Tahoma"/>
                <a:cs typeface="Tahoma"/>
              </a:rPr>
              <a:t>aggregation is used, then each  element of the SELECT list must </a:t>
            </a:r>
            <a:r>
              <a:rPr sz="3200" dirty="0">
                <a:latin typeface="Tahoma"/>
                <a:cs typeface="Tahoma"/>
              </a:rPr>
              <a:t>be  </a:t>
            </a:r>
            <a:r>
              <a:rPr sz="3200" spc="-5" dirty="0">
                <a:latin typeface="Tahoma"/>
                <a:cs typeface="Tahoma"/>
              </a:rPr>
              <a:t>either:</a:t>
            </a:r>
            <a:endParaRPr sz="3200" dirty="0">
              <a:latin typeface="Tahoma"/>
              <a:cs typeface="Tahoma"/>
            </a:endParaRPr>
          </a:p>
          <a:p>
            <a:pPr marL="1003300" lvl="1" indent="-5334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AutoNum type="arabicPeriod"/>
              <a:tabLst>
                <a:tab pos="1002665" algn="l"/>
                <a:tab pos="1003300" algn="l"/>
              </a:tabLst>
            </a:pPr>
            <a:r>
              <a:rPr sz="2800" spc="-5" dirty="0">
                <a:latin typeface="Tahoma"/>
                <a:cs typeface="Tahoma"/>
              </a:rPr>
              <a:t>Aggregated, or</a:t>
            </a:r>
            <a:endParaRPr sz="2800" dirty="0">
              <a:latin typeface="Tahoma"/>
              <a:cs typeface="Tahoma"/>
            </a:endParaRPr>
          </a:p>
          <a:p>
            <a:pPr marL="1003300" lvl="1" indent="-5334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AutoNum type="arabicPeriod"/>
              <a:tabLst>
                <a:tab pos="1002665" algn="l"/>
                <a:tab pos="1003300" algn="l"/>
              </a:tabLst>
            </a:pPr>
            <a:r>
              <a:rPr sz="2800" spc="-5" dirty="0">
                <a:latin typeface="Tahoma"/>
                <a:cs typeface="Tahoma"/>
              </a:rPr>
              <a:t>An attribute on the GROUP BY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list.</a:t>
            </a:r>
            <a:endParaRPr sz="2800" dirty="0">
              <a:latin typeface="Tahoma"/>
              <a:cs typeface="Tahom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E27DE83A-0214-6062-429A-2A807C2CBF1D}"/>
                  </a:ext>
                </a:extLst>
              </p14:cNvPr>
              <p14:cNvContentPartPr/>
              <p14:nvPr/>
            </p14:nvContentPartPr>
            <p14:xfrm>
              <a:off x="1981179" y="3690565"/>
              <a:ext cx="126000" cy="8352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E27DE83A-0214-6062-429A-2A807C2CBF1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27539" y="3582925"/>
                <a:ext cx="233640" cy="29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60EA8099-E959-145A-DFEF-68D18D1227B9}"/>
                  </a:ext>
                </a:extLst>
              </p14:cNvPr>
              <p14:cNvContentPartPr/>
              <p14:nvPr/>
            </p14:nvContentPartPr>
            <p14:xfrm>
              <a:off x="1711899" y="3917365"/>
              <a:ext cx="1858680" cy="25848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60EA8099-E959-145A-DFEF-68D18D1227B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57899" y="3809365"/>
                <a:ext cx="1966320" cy="47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E26D63B0-6EF4-F00C-74E1-4234A0BEA5FA}"/>
                  </a:ext>
                </a:extLst>
              </p14:cNvPr>
              <p14:cNvContentPartPr/>
              <p14:nvPr/>
            </p14:nvContentPartPr>
            <p14:xfrm>
              <a:off x="7296939" y="2500765"/>
              <a:ext cx="856440" cy="17100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E26D63B0-6EF4-F00C-74E1-4234A0BEA5F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243299" y="2393125"/>
                <a:ext cx="964080" cy="38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64C40BAF-F356-DB12-F32E-3F14CB067F9B}"/>
                  </a:ext>
                </a:extLst>
              </p14:cNvPr>
              <p14:cNvContentPartPr/>
              <p14:nvPr/>
            </p14:nvContentPartPr>
            <p14:xfrm>
              <a:off x="1550619" y="2874805"/>
              <a:ext cx="4785120" cy="310320"/>
            </p14:xfrm>
          </p:contentPart>
        </mc:Choice>
        <mc:Fallback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64C40BAF-F356-DB12-F32E-3F14CB067F9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496979" y="2767165"/>
                <a:ext cx="4892760" cy="52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DB1F7871-C3DD-B749-AD7D-F3C3B713E7AB}"/>
                  </a:ext>
                </a:extLst>
              </p14:cNvPr>
              <p14:cNvContentPartPr/>
              <p14:nvPr/>
            </p14:nvContentPartPr>
            <p14:xfrm>
              <a:off x="1730259" y="4437205"/>
              <a:ext cx="5428080" cy="248760"/>
            </p14:xfrm>
          </p:contentPart>
        </mc:Choice>
        <mc:Fallback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DB1F7871-C3DD-B749-AD7D-F3C3B713E7A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676259" y="4329205"/>
                <a:ext cx="5535720" cy="464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58010" y="829944"/>
            <a:ext cx="54279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Illegal Query</a:t>
            </a:r>
            <a:r>
              <a:rPr spc="-35" dirty="0"/>
              <a:t> </a:t>
            </a:r>
            <a:r>
              <a:rPr spc="-5" dirty="0"/>
              <a:t>Example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313295" cy="3341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70" dirty="0">
                <a:latin typeface="Tahoma"/>
                <a:cs typeface="Tahoma"/>
              </a:rPr>
              <a:t>You </a:t>
            </a:r>
            <a:r>
              <a:rPr sz="3200" spc="-5" dirty="0">
                <a:latin typeface="Tahoma"/>
                <a:cs typeface="Tahoma"/>
              </a:rPr>
              <a:t>might think </a:t>
            </a:r>
            <a:r>
              <a:rPr sz="3200" spc="-10" dirty="0">
                <a:latin typeface="Tahoma"/>
                <a:cs typeface="Tahoma"/>
              </a:rPr>
              <a:t>you </a:t>
            </a:r>
            <a:r>
              <a:rPr sz="3200" spc="-5" dirty="0">
                <a:latin typeface="Tahoma"/>
                <a:cs typeface="Tahoma"/>
              </a:rPr>
              <a:t>could find the bar  that sells </a:t>
            </a:r>
            <a:r>
              <a:rPr sz="3200" dirty="0">
                <a:latin typeface="Tahoma"/>
                <a:cs typeface="Tahoma"/>
              </a:rPr>
              <a:t>Bud </a:t>
            </a:r>
            <a:r>
              <a:rPr sz="3200" spc="-5" dirty="0">
                <a:latin typeface="Tahoma"/>
                <a:cs typeface="Tahoma"/>
              </a:rPr>
              <a:t>the cheapest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by:</a:t>
            </a:r>
            <a:endParaRPr sz="3200" dirty="0">
              <a:latin typeface="Tahoma"/>
              <a:cs typeface="Tahoma"/>
            </a:endParaRPr>
          </a:p>
          <a:p>
            <a:pPr marL="926465">
              <a:lnSpc>
                <a:spcPct val="100000"/>
              </a:lnSpc>
              <a:spcBef>
                <a:spcPts val="459"/>
              </a:spcBef>
            </a:pPr>
            <a:r>
              <a:rPr sz="3200" b="1" i="1" dirty="0">
                <a:solidFill>
                  <a:srgbClr val="808080"/>
                </a:solidFill>
                <a:latin typeface="Lucida Calligraphy"/>
                <a:cs typeface="Lucida Calligraphy"/>
              </a:rPr>
              <a:t>SELECT </a:t>
            </a:r>
            <a:r>
              <a:rPr sz="3200" b="1" i="1" spc="-5" dirty="0">
                <a:solidFill>
                  <a:srgbClr val="808080"/>
                </a:solidFill>
                <a:latin typeface="Lucida Calligraphy"/>
                <a:cs typeface="Lucida Calligraphy"/>
              </a:rPr>
              <a:t>bar, </a:t>
            </a:r>
            <a:r>
              <a:rPr sz="3200" b="1" i="1" dirty="0">
                <a:solidFill>
                  <a:srgbClr val="808080"/>
                </a:solidFill>
                <a:latin typeface="Lucida Calligraphy"/>
                <a:cs typeface="Lucida Calligraphy"/>
              </a:rPr>
              <a:t>MIN(price)</a:t>
            </a:r>
            <a:endParaRPr sz="3200" dirty="0">
              <a:latin typeface="Lucida Calligraphy"/>
              <a:cs typeface="Lucida Calligraphy"/>
            </a:endParaRPr>
          </a:p>
          <a:p>
            <a:pPr marL="926465">
              <a:lnSpc>
                <a:spcPct val="100000"/>
              </a:lnSpc>
              <a:spcBef>
                <a:spcPts val="765"/>
              </a:spcBef>
            </a:pPr>
            <a:r>
              <a:rPr sz="3200" b="1" i="1" spc="-5" dirty="0">
                <a:solidFill>
                  <a:srgbClr val="808080"/>
                </a:solidFill>
                <a:latin typeface="Lucida Calligraphy"/>
                <a:cs typeface="Lucida Calligraphy"/>
              </a:rPr>
              <a:t>FROM</a:t>
            </a:r>
            <a:r>
              <a:rPr sz="3200" b="1" i="1" dirty="0">
                <a:solidFill>
                  <a:srgbClr val="808080"/>
                </a:solidFill>
                <a:latin typeface="Lucida Calligraphy"/>
                <a:cs typeface="Lucida Calligraphy"/>
              </a:rPr>
              <a:t> Sells</a:t>
            </a:r>
            <a:endParaRPr sz="3200" dirty="0">
              <a:latin typeface="Lucida Calligraphy"/>
              <a:cs typeface="Lucida Calligraphy"/>
            </a:endParaRPr>
          </a:p>
          <a:p>
            <a:pPr marL="926465">
              <a:lnSpc>
                <a:spcPct val="100000"/>
              </a:lnSpc>
              <a:spcBef>
                <a:spcPts val="765"/>
              </a:spcBef>
            </a:pPr>
            <a:r>
              <a:rPr sz="3200" b="1" i="1" dirty="0">
                <a:solidFill>
                  <a:srgbClr val="808080"/>
                </a:solidFill>
                <a:latin typeface="Lucida Calligraphy"/>
                <a:cs typeface="Lucida Calligraphy"/>
              </a:rPr>
              <a:t>WHERE beer =</a:t>
            </a:r>
            <a:r>
              <a:rPr sz="3200" b="1" i="1" spc="-5" dirty="0">
                <a:solidFill>
                  <a:srgbClr val="808080"/>
                </a:solidFill>
                <a:latin typeface="Lucida Calligraphy"/>
                <a:cs typeface="Lucida Calligraphy"/>
              </a:rPr>
              <a:t> </a:t>
            </a:r>
            <a:r>
              <a:rPr sz="3200" b="1" i="1" dirty="0">
                <a:solidFill>
                  <a:srgbClr val="808080"/>
                </a:solidFill>
                <a:latin typeface="Lucida Calligraphy"/>
                <a:cs typeface="Lucida Calligraphy"/>
              </a:rPr>
              <a:t>’Bud’;</a:t>
            </a:r>
            <a:endParaRPr sz="3200" dirty="0">
              <a:latin typeface="Lucida Calligraphy"/>
              <a:cs typeface="Lucida Calligraphy"/>
            </a:endParaRPr>
          </a:p>
          <a:p>
            <a:pPr marL="414655" indent="-402590">
              <a:lnSpc>
                <a:spcPct val="100000"/>
              </a:lnSpc>
              <a:spcBef>
                <a:spcPts val="107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Tahoma"/>
                <a:cs typeface="Tahoma"/>
              </a:rPr>
              <a:t>But </a:t>
            </a:r>
            <a:r>
              <a:rPr sz="3200" spc="-5" dirty="0">
                <a:latin typeface="Tahoma"/>
                <a:cs typeface="Tahoma"/>
              </a:rPr>
              <a:t>this query is illegal in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SQL.</a:t>
            </a:r>
            <a:endParaRPr sz="3200" dirty="0">
              <a:latin typeface="Tahoma"/>
              <a:cs typeface="Tahom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7BA05809-91A7-3A16-3EE7-74CF993ADB06}"/>
                  </a:ext>
                </a:extLst>
              </p14:cNvPr>
              <p14:cNvContentPartPr/>
              <p14:nvPr/>
            </p14:nvContentPartPr>
            <p14:xfrm>
              <a:off x="3666699" y="3069205"/>
              <a:ext cx="683280" cy="25812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7BA05809-91A7-3A16-3EE7-74CF993ADB0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12699" y="2961565"/>
                <a:ext cx="790920" cy="473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48889" y="829944"/>
            <a:ext cx="404685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HAVING</a:t>
            </a:r>
            <a:r>
              <a:rPr spc="-65" dirty="0"/>
              <a:t> </a:t>
            </a:r>
            <a:r>
              <a:rPr spc="-5" dirty="0"/>
              <a:t>Clauses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29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6886575" cy="25622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26924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20" dirty="0">
                <a:latin typeface="Tahoma"/>
                <a:cs typeface="Tahoma"/>
              </a:rPr>
              <a:t>HAVING </a:t>
            </a:r>
            <a:r>
              <a:rPr sz="3200" spc="-5" dirty="0">
                <a:latin typeface="Tahoma"/>
                <a:cs typeface="Tahoma"/>
              </a:rPr>
              <a:t>&lt;condition&gt; </a:t>
            </a:r>
            <a:r>
              <a:rPr sz="3200" spc="-10" dirty="0">
                <a:latin typeface="Tahoma"/>
                <a:cs typeface="Tahoma"/>
              </a:rPr>
              <a:t>may follow </a:t>
            </a:r>
            <a:r>
              <a:rPr sz="3200" dirty="0">
                <a:latin typeface="Tahoma"/>
                <a:cs typeface="Tahoma"/>
              </a:rPr>
              <a:t>a  </a:t>
            </a:r>
            <a:r>
              <a:rPr sz="3200" spc="-5" dirty="0">
                <a:latin typeface="Tahoma"/>
                <a:cs typeface="Tahoma"/>
              </a:rPr>
              <a:t>GROUP </a:t>
            </a:r>
            <a:r>
              <a:rPr sz="3200" dirty="0">
                <a:latin typeface="Tahoma"/>
                <a:cs typeface="Tahoma"/>
              </a:rPr>
              <a:t>BY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clause.</a:t>
            </a:r>
            <a:endParaRPr sz="3200" dirty="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If </a:t>
            </a:r>
            <a:r>
              <a:rPr sz="3200" spc="-20" dirty="0">
                <a:latin typeface="Tahoma"/>
                <a:cs typeface="Tahoma"/>
              </a:rPr>
              <a:t>so, </a:t>
            </a:r>
            <a:r>
              <a:rPr sz="3200" spc="-5" dirty="0">
                <a:latin typeface="Tahoma"/>
                <a:cs typeface="Tahoma"/>
              </a:rPr>
              <a:t>the condition applies to each  </a:t>
            </a:r>
            <a:r>
              <a:rPr sz="3200" spc="-15" dirty="0">
                <a:latin typeface="Tahoma"/>
                <a:cs typeface="Tahoma"/>
              </a:rPr>
              <a:t>group, </a:t>
            </a:r>
            <a:r>
              <a:rPr sz="3200" spc="-5" dirty="0">
                <a:latin typeface="Tahoma"/>
                <a:cs typeface="Tahoma"/>
              </a:rPr>
              <a:t>and groups not </a:t>
            </a:r>
            <a:r>
              <a:rPr sz="3200" spc="-10" dirty="0">
                <a:latin typeface="Tahoma"/>
                <a:cs typeface="Tahoma"/>
              </a:rPr>
              <a:t>satisfying </a:t>
            </a:r>
            <a:r>
              <a:rPr sz="3200" spc="-5" dirty="0">
                <a:latin typeface="Tahoma"/>
                <a:cs typeface="Tahoma"/>
              </a:rPr>
              <a:t>the  condition </a:t>
            </a:r>
            <a:r>
              <a:rPr sz="3200" spc="-10" dirty="0">
                <a:latin typeface="Tahoma"/>
                <a:cs typeface="Tahoma"/>
              </a:rPr>
              <a:t>are </a:t>
            </a:r>
            <a:r>
              <a:rPr sz="3200" spc="-5" dirty="0">
                <a:latin typeface="Tahoma"/>
                <a:cs typeface="Tahoma"/>
              </a:rPr>
              <a:t>eliminated.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1990724"/>
            <a:ext cx="327152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对查询结果分</a:t>
            </a:r>
            <a:r>
              <a:rPr sz="3200" spc="5" dirty="0">
                <a:latin typeface="宋体"/>
                <a:cs typeface="宋体"/>
              </a:rPr>
              <a:t>组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21739" y="2586989"/>
            <a:ext cx="501650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95"/>
              </a:spcBef>
              <a:buClr>
                <a:srgbClr val="CC00CC"/>
              </a:buClr>
              <a:buFont typeface="Wingdings"/>
              <a:buChar char=""/>
              <a:tabLst>
                <a:tab pos="298450" algn="l"/>
              </a:tabLst>
            </a:pPr>
            <a:r>
              <a:rPr sz="2800" dirty="0">
                <a:latin typeface="宋体"/>
                <a:cs typeface="宋体"/>
              </a:rPr>
              <a:t>使用</a:t>
            </a:r>
            <a:r>
              <a:rPr sz="2800" spc="-5" dirty="0">
                <a:latin typeface="Tahoma"/>
                <a:cs typeface="Tahoma"/>
              </a:rPr>
              <a:t>GROUP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spc="-15" dirty="0">
                <a:latin typeface="Tahoma"/>
                <a:cs typeface="Tahoma"/>
              </a:rPr>
              <a:t>BY</a:t>
            </a:r>
            <a:r>
              <a:rPr sz="2800" spc="-15" dirty="0">
                <a:latin typeface="宋体"/>
                <a:cs typeface="宋体"/>
              </a:rPr>
              <a:t>…</a:t>
            </a:r>
            <a:r>
              <a:rPr sz="2800" spc="-15" dirty="0">
                <a:latin typeface="Tahoma"/>
                <a:cs typeface="Tahoma"/>
              </a:rPr>
              <a:t>HAVING</a:t>
            </a:r>
            <a:r>
              <a:rPr sz="2800" dirty="0">
                <a:latin typeface="宋体"/>
                <a:cs typeface="宋体"/>
              </a:rPr>
              <a:t>子</a:t>
            </a:r>
            <a:r>
              <a:rPr sz="2800" spc="-5" dirty="0">
                <a:latin typeface="宋体"/>
                <a:cs typeface="宋体"/>
              </a:rPr>
              <a:t>句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21739" y="4195445"/>
            <a:ext cx="704532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95"/>
              </a:spcBef>
              <a:buClr>
                <a:srgbClr val="CC00CC"/>
              </a:buClr>
              <a:buFont typeface="Wingdings"/>
              <a:buChar char=""/>
              <a:tabLst>
                <a:tab pos="298450" algn="l"/>
              </a:tabLst>
            </a:pPr>
            <a:r>
              <a:rPr sz="2800" spc="-5" dirty="0">
                <a:latin typeface="Tahoma"/>
                <a:cs typeface="Tahoma"/>
              </a:rPr>
              <a:t>WHERE</a:t>
            </a:r>
            <a:r>
              <a:rPr sz="2800" dirty="0">
                <a:latin typeface="宋体"/>
                <a:cs typeface="宋体"/>
              </a:rPr>
              <a:t>子句作用于</a:t>
            </a:r>
            <a:r>
              <a:rPr sz="2800" spc="-5" dirty="0">
                <a:latin typeface="Tahoma"/>
                <a:cs typeface="Tahoma"/>
              </a:rPr>
              <a:t>FROM</a:t>
            </a:r>
            <a:r>
              <a:rPr sz="2800" dirty="0">
                <a:latin typeface="宋体"/>
                <a:cs typeface="宋体"/>
              </a:rPr>
              <a:t>中的基表或视图</a:t>
            </a:r>
            <a:r>
              <a:rPr sz="2800" spc="-5" dirty="0"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37197" y="1275397"/>
            <a:ext cx="3799204" cy="13608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35940" y="1398904"/>
            <a:ext cx="3470275" cy="546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50"/>
              </a:lnSpc>
              <a:spcBef>
                <a:spcPts val="100"/>
              </a:spcBef>
            </a:pPr>
            <a:r>
              <a:rPr sz="1800" dirty="0">
                <a:latin typeface="Lucida Sans Typewriter"/>
                <a:cs typeface="Lucida Sans Typewriter"/>
              </a:rPr>
              <a:t>SELECT productid,</a:t>
            </a:r>
            <a:r>
              <a:rPr sz="1800" spc="-100" dirty="0">
                <a:latin typeface="Lucida Sans Typewriter"/>
                <a:cs typeface="Lucida Sans Typewriter"/>
              </a:rPr>
              <a:t> </a:t>
            </a:r>
            <a:r>
              <a:rPr sz="1800" dirty="0">
                <a:latin typeface="Lucida Sans Typewriter"/>
                <a:cs typeface="Lucida Sans Typewriter"/>
              </a:rPr>
              <a:t>orderid</a:t>
            </a:r>
            <a:endParaRPr sz="1800">
              <a:latin typeface="Lucida Sans Typewriter"/>
              <a:cs typeface="Lucida Sans Typewriter"/>
            </a:endParaRPr>
          </a:p>
          <a:p>
            <a:pPr marL="839469">
              <a:lnSpc>
                <a:spcPts val="2050"/>
              </a:lnSpc>
            </a:pPr>
            <a:r>
              <a:rPr sz="1800" dirty="0">
                <a:latin typeface="Lucida Sans Typewriter"/>
                <a:cs typeface="Lucida Sans Typewriter"/>
              </a:rPr>
              <a:t>,quantity</a:t>
            </a:r>
            <a:endParaRPr sz="1800">
              <a:latin typeface="Lucida Sans Typewriter"/>
              <a:cs typeface="Lucida Sans Typewriter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3734" y="1891665"/>
            <a:ext cx="19545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Lucida Sans Typewriter"/>
                <a:cs typeface="Lucida Sans Typewriter"/>
              </a:rPr>
              <a:t>FROM</a:t>
            </a:r>
            <a:r>
              <a:rPr sz="1800" spc="-95" dirty="0">
                <a:latin typeface="Lucida Sans Typewriter"/>
                <a:cs typeface="Lucida Sans Typewriter"/>
              </a:rPr>
              <a:t> </a:t>
            </a:r>
            <a:r>
              <a:rPr sz="1800" dirty="0">
                <a:latin typeface="Lucida Sans Typewriter"/>
                <a:cs typeface="Lucida Sans Typewriter"/>
              </a:rPr>
              <a:t>orderhist</a:t>
            </a:r>
            <a:endParaRPr sz="1800">
              <a:latin typeface="Lucida Sans Typewriter"/>
              <a:cs typeface="Lucida Sans Typewriter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247197" y="1275397"/>
            <a:ext cx="4561522" cy="189420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345940" y="1419225"/>
            <a:ext cx="4297045" cy="103886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426084" marR="5080" indent="-413384">
              <a:lnSpc>
                <a:spcPts val="1939"/>
              </a:lnSpc>
              <a:spcBef>
                <a:spcPts val="345"/>
              </a:spcBef>
            </a:pPr>
            <a:r>
              <a:rPr sz="1800" dirty="0">
                <a:latin typeface="Lucida Sans Typewriter"/>
                <a:cs typeface="Lucida Sans Typewriter"/>
              </a:rPr>
              <a:t>SELECT productid,</a:t>
            </a:r>
            <a:r>
              <a:rPr sz="1800" spc="-100" dirty="0">
                <a:latin typeface="Lucida Sans Typewriter"/>
                <a:cs typeface="Lucida Sans Typewriter"/>
              </a:rPr>
              <a:t> </a:t>
            </a:r>
            <a:r>
              <a:rPr sz="1800" dirty="0">
                <a:latin typeface="Lucida Sans Typewriter"/>
                <a:cs typeface="Lucida Sans Typewriter"/>
              </a:rPr>
              <a:t>SUM(quantity)  AS</a:t>
            </a:r>
            <a:r>
              <a:rPr sz="1800" spc="-10" dirty="0">
                <a:latin typeface="Lucida Sans Typewriter"/>
                <a:cs typeface="Lucida Sans Typewriter"/>
              </a:rPr>
              <a:t> </a:t>
            </a:r>
            <a:r>
              <a:rPr sz="1800" dirty="0">
                <a:latin typeface="Lucida Sans Typewriter"/>
                <a:cs typeface="Lucida Sans Typewriter"/>
              </a:rPr>
              <a:t>total_quantity</a:t>
            </a:r>
            <a:endParaRPr sz="1800">
              <a:latin typeface="Lucida Sans Typewriter"/>
              <a:cs typeface="Lucida Sans Typewriter"/>
            </a:endParaRPr>
          </a:p>
          <a:p>
            <a:pPr marL="150495" marR="1658620">
              <a:lnSpc>
                <a:spcPts val="1939"/>
              </a:lnSpc>
            </a:pPr>
            <a:r>
              <a:rPr sz="1800" dirty="0">
                <a:latin typeface="Lucida Sans Typewriter"/>
                <a:cs typeface="Lucida Sans Typewriter"/>
              </a:rPr>
              <a:t>FROM orderhist  GROUP BY</a:t>
            </a:r>
            <a:r>
              <a:rPr sz="1800" spc="-100" dirty="0">
                <a:latin typeface="Lucida Sans Typewriter"/>
                <a:cs typeface="Lucida Sans Typewriter"/>
              </a:rPr>
              <a:t> </a:t>
            </a:r>
            <a:r>
              <a:rPr sz="1800" dirty="0">
                <a:latin typeface="Lucida Sans Typewriter"/>
                <a:cs typeface="Lucida Sans Typewriter"/>
              </a:rPr>
              <a:t>productid</a:t>
            </a:r>
            <a:endParaRPr sz="1800">
              <a:latin typeface="Lucida Sans Typewriter"/>
              <a:cs typeface="Lucida Sans Typewriter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83734" y="2404745"/>
            <a:ext cx="333247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Lucida Sans Typewriter"/>
                <a:cs typeface="Lucida Sans Typewriter"/>
              </a:rPr>
              <a:t>HAVING</a:t>
            </a:r>
            <a:r>
              <a:rPr sz="1800" spc="-95" dirty="0">
                <a:latin typeface="Lucida Sans Typewriter"/>
                <a:cs typeface="Lucida Sans Typewriter"/>
              </a:rPr>
              <a:t> </a:t>
            </a:r>
            <a:r>
              <a:rPr sz="1800" dirty="0">
                <a:latin typeface="Lucida Sans Typewriter"/>
                <a:cs typeface="Lucida Sans Typewriter"/>
              </a:rPr>
              <a:t>SUM(quantity)&gt;=30</a:t>
            </a:r>
            <a:endParaRPr sz="1800">
              <a:latin typeface="Lucida Sans Typewriter"/>
              <a:cs typeface="Lucida Sans Typewriter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563234" y="3637597"/>
            <a:ext cx="1424305" cy="50990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656288" y="3746525"/>
            <a:ext cx="1123746" cy="26272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858634" y="3637597"/>
            <a:ext cx="1860867" cy="50990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970103" y="3746525"/>
            <a:ext cx="1550835" cy="2658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563234" y="4018597"/>
            <a:ext cx="1424305" cy="50990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858634" y="4018597"/>
            <a:ext cx="1860867" cy="50990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618412" y="4085589"/>
            <a:ext cx="25146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35</a:t>
            </a:r>
            <a:endParaRPr sz="16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563234" y="4399597"/>
            <a:ext cx="1424305" cy="50990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161722" y="4466589"/>
            <a:ext cx="13843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858634" y="4399597"/>
            <a:ext cx="1860867" cy="50990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618412" y="4466589"/>
            <a:ext cx="25146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Arial"/>
                <a:cs typeface="Arial"/>
              </a:rPr>
              <a:t>45</a:t>
            </a:r>
            <a:endParaRPr sz="16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13397" y="2875597"/>
            <a:ext cx="1424305" cy="50990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06450" y="2984525"/>
            <a:ext cx="1123746" cy="26272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808797" y="2875597"/>
            <a:ext cx="1119505" cy="50990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17725" y="2984525"/>
            <a:ext cx="841171" cy="22081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799397" y="2875597"/>
            <a:ext cx="1271905" cy="50990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908325" y="2984525"/>
            <a:ext cx="943775" cy="26589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13397" y="3256597"/>
            <a:ext cx="1411605" cy="497204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808797" y="3256597"/>
            <a:ext cx="1106805" cy="49720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799397" y="3256597"/>
            <a:ext cx="1259205" cy="497204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111885" y="3323589"/>
            <a:ext cx="234823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55065" algn="l"/>
                <a:tab pos="2221865" algn="l"/>
              </a:tabLst>
            </a:pPr>
            <a:r>
              <a:rPr sz="1600" b="1" spc="-5" dirty="0">
                <a:latin typeface="Arial"/>
                <a:cs typeface="Arial"/>
              </a:rPr>
              <a:t>1	1	5</a:t>
            </a:r>
            <a:endParaRPr sz="16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13397" y="3637597"/>
            <a:ext cx="1411605" cy="497205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808797" y="3637597"/>
            <a:ext cx="1106805" cy="497205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799397" y="3637597"/>
            <a:ext cx="1259205" cy="497205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739140" y="3621404"/>
            <a:ext cx="652081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200" spc="-215" dirty="0">
                <a:solidFill>
                  <a:srgbClr val="CC00CC"/>
                </a:solidFill>
                <a:latin typeface="Wingdings"/>
                <a:cs typeface="Wingdings"/>
              </a:rPr>
              <a:t></a:t>
            </a:r>
            <a:r>
              <a:rPr sz="2400" b="1" spc="-322" baseline="32986" dirty="0">
                <a:latin typeface="Arial"/>
                <a:cs typeface="Arial"/>
              </a:rPr>
              <a:t>1</a:t>
            </a:r>
            <a:r>
              <a:rPr sz="3200" spc="-215" dirty="0">
                <a:latin typeface="Tahoma"/>
                <a:cs typeface="Tahoma"/>
              </a:rPr>
              <a:t>HAVIN</a:t>
            </a:r>
            <a:r>
              <a:rPr sz="2400" b="1" spc="-322" baseline="32986" dirty="0">
                <a:latin typeface="Arial"/>
                <a:cs typeface="Arial"/>
              </a:rPr>
              <a:t>1</a:t>
            </a:r>
            <a:r>
              <a:rPr sz="3200" spc="-215" dirty="0">
                <a:latin typeface="Tahoma"/>
                <a:cs typeface="Tahoma"/>
              </a:rPr>
              <a:t>G</a:t>
            </a:r>
            <a:r>
              <a:rPr sz="3200" dirty="0">
                <a:latin typeface="宋体"/>
                <a:cs typeface="宋体"/>
              </a:rPr>
              <a:t>短</a:t>
            </a:r>
            <a:r>
              <a:rPr sz="3200" spc="-1230" dirty="0">
                <a:latin typeface="宋体"/>
                <a:cs typeface="宋体"/>
              </a:rPr>
              <a:t>语</a:t>
            </a:r>
            <a:r>
              <a:rPr sz="2400" b="1" spc="-419" baseline="32986" dirty="0">
                <a:latin typeface="Arial"/>
                <a:cs typeface="Arial"/>
              </a:rPr>
              <a:t>10</a:t>
            </a:r>
            <a:r>
              <a:rPr sz="3200" dirty="0">
                <a:latin typeface="宋体"/>
                <a:cs typeface="宋体"/>
              </a:rPr>
              <a:t>与</a:t>
            </a:r>
            <a:r>
              <a:rPr sz="3200" spc="-5" dirty="0">
                <a:latin typeface="Tahoma"/>
                <a:cs typeface="Tahoma"/>
              </a:rPr>
              <a:t>WHERE</a:t>
            </a:r>
            <a:r>
              <a:rPr sz="3200" dirty="0">
                <a:latin typeface="宋体"/>
                <a:cs typeface="宋体"/>
              </a:rPr>
              <a:t>子句的不</a:t>
            </a:r>
            <a:r>
              <a:rPr sz="3200" spc="5" dirty="0">
                <a:latin typeface="宋体"/>
                <a:cs typeface="宋体"/>
              </a:rPr>
              <a:t>同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513397" y="4018597"/>
            <a:ext cx="1424305" cy="509905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808797" y="4018597"/>
            <a:ext cx="1119505" cy="509905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799397" y="4018597"/>
            <a:ext cx="1271905" cy="50990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1111885" y="4085589"/>
            <a:ext cx="518795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55065" algn="l"/>
                <a:tab pos="2165350" algn="l"/>
                <a:tab pos="5062220" algn="l"/>
              </a:tabLst>
            </a:pPr>
            <a:r>
              <a:rPr sz="1600" b="1" spc="-5" dirty="0">
                <a:latin typeface="Arial"/>
                <a:cs typeface="Arial"/>
              </a:rPr>
              <a:t>2	1	10	2</a:t>
            </a:r>
            <a:endParaRPr sz="1600"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513397" y="4399597"/>
            <a:ext cx="1424305" cy="50990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808797" y="4399597"/>
            <a:ext cx="1119505" cy="509905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799397" y="4399597"/>
            <a:ext cx="1271905" cy="509905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2254885" y="4466589"/>
            <a:ext cx="126174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22350" algn="l"/>
              </a:tabLst>
            </a:pPr>
            <a:r>
              <a:rPr sz="1600" b="1" spc="-5" dirty="0">
                <a:latin typeface="Arial"/>
                <a:cs typeface="Arial"/>
              </a:rPr>
              <a:t>2	25</a:t>
            </a:r>
            <a:endParaRPr sz="1600">
              <a:latin typeface="Arial"/>
              <a:cs typeface="Aria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513397" y="4780597"/>
            <a:ext cx="1424305" cy="509905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1111885" y="4328667"/>
            <a:ext cx="138430" cy="78740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600" b="1" spc="-5" dirty="0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600" b="1" spc="-5" dirty="0"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1808797" y="4780597"/>
            <a:ext cx="1119505" cy="509905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2799397" y="4780597"/>
            <a:ext cx="1271905" cy="509905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1482089" y="4622164"/>
            <a:ext cx="3827779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spc="-145" dirty="0">
                <a:latin typeface="Tahoma"/>
                <a:cs typeface="Tahoma"/>
              </a:rPr>
              <a:t>HAVI</a:t>
            </a:r>
            <a:r>
              <a:rPr sz="2400" b="1" spc="-217" baseline="-20833" dirty="0">
                <a:latin typeface="Arial"/>
                <a:cs typeface="Arial"/>
              </a:rPr>
              <a:t>1</a:t>
            </a:r>
            <a:r>
              <a:rPr sz="2800" spc="-145" dirty="0">
                <a:latin typeface="Tahoma"/>
                <a:cs typeface="Tahoma"/>
              </a:rPr>
              <a:t>NG</a:t>
            </a:r>
            <a:r>
              <a:rPr sz="2800" dirty="0">
                <a:latin typeface="宋体"/>
                <a:cs typeface="宋体"/>
              </a:rPr>
              <a:t>短</a:t>
            </a:r>
            <a:r>
              <a:rPr sz="2800" spc="-1705" dirty="0">
                <a:latin typeface="宋体"/>
                <a:cs typeface="宋体"/>
              </a:rPr>
              <a:t>语</a:t>
            </a:r>
            <a:r>
              <a:rPr sz="2400" b="1" spc="-67" baseline="-20833" dirty="0">
                <a:latin typeface="Arial"/>
                <a:cs typeface="Arial"/>
              </a:rPr>
              <a:t>15</a:t>
            </a:r>
            <a:r>
              <a:rPr sz="2800" dirty="0">
                <a:latin typeface="宋体"/>
                <a:cs typeface="宋体"/>
              </a:rPr>
              <a:t>作用于组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513397" y="5161597"/>
            <a:ext cx="1424305" cy="509905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808797" y="5161597"/>
            <a:ext cx="1119505" cy="509905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2799397" y="5161597"/>
            <a:ext cx="1271905" cy="509905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1086485" y="5133975"/>
            <a:ext cx="6274435" cy="878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33705" marR="30480" indent="-395605">
              <a:lnSpc>
                <a:spcPct val="100000"/>
              </a:lnSpc>
              <a:spcBef>
                <a:spcPts val="95"/>
              </a:spcBef>
            </a:pPr>
            <a:r>
              <a:rPr sz="2400" b="1" spc="-30" baseline="15625" dirty="0">
                <a:latin typeface="Arial"/>
                <a:cs typeface="Arial"/>
              </a:rPr>
              <a:t>3</a:t>
            </a:r>
            <a:r>
              <a:rPr sz="2800" spc="-20" dirty="0">
                <a:solidFill>
                  <a:srgbClr val="CC00CC"/>
                </a:solidFill>
                <a:latin typeface="Wingdings"/>
                <a:cs typeface="Wingdings"/>
              </a:rPr>
              <a:t></a:t>
            </a:r>
            <a:r>
              <a:rPr sz="2800" spc="-120" dirty="0">
                <a:solidFill>
                  <a:srgbClr val="CC00CC"/>
                </a:solidFill>
                <a:latin typeface="Times New Roman"/>
                <a:cs typeface="Times New Roman"/>
              </a:rPr>
              <a:t> </a:t>
            </a:r>
            <a:r>
              <a:rPr sz="2800" spc="-155" dirty="0">
                <a:latin typeface="Tahoma"/>
                <a:cs typeface="Tahoma"/>
              </a:rPr>
              <a:t>WHE</a:t>
            </a:r>
            <a:r>
              <a:rPr sz="2400" b="1" spc="-232" baseline="15625" dirty="0">
                <a:latin typeface="Arial"/>
                <a:cs typeface="Arial"/>
              </a:rPr>
              <a:t>2</a:t>
            </a:r>
            <a:r>
              <a:rPr sz="2800" spc="-155" dirty="0">
                <a:latin typeface="Tahoma"/>
                <a:cs typeface="Tahoma"/>
              </a:rPr>
              <a:t>RE</a:t>
            </a:r>
            <a:r>
              <a:rPr sz="2800" dirty="0">
                <a:latin typeface="宋体"/>
                <a:cs typeface="宋体"/>
              </a:rPr>
              <a:t>子</a:t>
            </a:r>
            <a:r>
              <a:rPr sz="2800" spc="-1055" dirty="0">
                <a:latin typeface="宋体"/>
                <a:cs typeface="宋体"/>
              </a:rPr>
              <a:t>句</a:t>
            </a:r>
            <a:r>
              <a:rPr sz="2400" b="1" spc="-555" baseline="15625" dirty="0">
                <a:latin typeface="Arial"/>
                <a:cs typeface="Arial"/>
              </a:rPr>
              <a:t>30</a:t>
            </a:r>
            <a:r>
              <a:rPr sz="2800" dirty="0">
                <a:latin typeface="宋体"/>
                <a:cs typeface="宋体"/>
              </a:rPr>
              <a:t>中不能使用聚集函数；</a:t>
            </a:r>
            <a:r>
              <a:rPr sz="2800" spc="-5" dirty="0">
                <a:latin typeface="宋体"/>
                <a:cs typeface="宋体"/>
              </a:rPr>
              <a:t>而 </a:t>
            </a:r>
            <a:r>
              <a:rPr sz="2800" spc="-20" dirty="0">
                <a:latin typeface="Tahoma"/>
                <a:cs typeface="Tahoma"/>
              </a:rPr>
              <a:t>HAVING</a:t>
            </a:r>
            <a:r>
              <a:rPr sz="2800" dirty="0">
                <a:latin typeface="宋体"/>
                <a:cs typeface="宋体"/>
              </a:rPr>
              <a:t>短语中可以使用聚集函数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3942397" y="3938739"/>
            <a:ext cx="1632000" cy="568007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>
            <a:spLocks noGrp="1"/>
          </p:cNvSpPr>
          <p:nvPr>
            <p:ph type="title"/>
          </p:nvPr>
        </p:nvSpPr>
        <p:spPr>
          <a:xfrm>
            <a:off x="1284605" y="221615"/>
            <a:ext cx="6638925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47545" marR="5080" indent="-1934845">
              <a:lnSpc>
                <a:spcPct val="100000"/>
              </a:lnSpc>
              <a:spcBef>
                <a:spcPts val="105"/>
              </a:spcBef>
            </a:pPr>
            <a:r>
              <a:rPr sz="3200" spc="-5" dirty="0"/>
              <a:t>Using the GROUP </a:t>
            </a:r>
            <a:r>
              <a:rPr sz="3200" dirty="0"/>
              <a:t>BY </a:t>
            </a:r>
            <a:r>
              <a:rPr sz="3200" spc="-5" dirty="0"/>
              <a:t>Clause with the  </a:t>
            </a:r>
            <a:r>
              <a:rPr sz="3200" spc="-20" dirty="0"/>
              <a:t>HAVING</a:t>
            </a:r>
            <a:r>
              <a:rPr sz="3200" spc="-10" dirty="0"/>
              <a:t> </a:t>
            </a:r>
            <a:r>
              <a:rPr sz="3200" spc="-5" dirty="0"/>
              <a:t>Clause</a:t>
            </a:r>
            <a:endParaRPr sz="3200"/>
          </a:p>
        </p:txBody>
      </p:sp>
      <p:pic>
        <p:nvPicPr>
          <p:cNvPr id="56" name="图片 55">
            <a:extLst>
              <a:ext uri="{FF2B5EF4-FFF2-40B4-BE49-F238E27FC236}">
                <a16:creationId xmlns:a16="http://schemas.microsoft.com/office/drawing/2014/main" id="{CBBA3609-329B-4E71-17D7-47913AF42C2B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260459" y="2666813"/>
            <a:ext cx="3962953" cy="3134162"/>
          </a:xfrm>
          <a:prstGeom prst="rect">
            <a:avLst/>
          </a:prstGeom>
        </p:spPr>
      </p:pic>
      <p:pic>
        <p:nvPicPr>
          <p:cNvPr id="58" name="图片 57">
            <a:extLst>
              <a:ext uri="{FF2B5EF4-FFF2-40B4-BE49-F238E27FC236}">
                <a16:creationId xmlns:a16="http://schemas.microsoft.com/office/drawing/2014/main" id="{BDFC0F52-DFFE-5F87-CC3D-A380D9AC94F2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5441997" y="3385501"/>
            <a:ext cx="3867690" cy="1867161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39339" y="829944"/>
            <a:ext cx="44665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</a:t>
            </a:r>
            <a:r>
              <a:rPr spc="-60" dirty="0"/>
              <a:t> </a:t>
            </a:r>
            <a:r>
              <a:rPr spc="-25" dirty="0"/>
              <a:t>HAVING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004684" cy="2465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From </a:t>
            </a:r>
            <a:r>
              <a:rPr sz="3200" spc="-45" dirty="0">
                <a:solidFill>
                  <a:srgbClr val="CC00CC"/>
                </a:solidFill>
                <a:latin typeface="Tahoma"/>
                <a:cs typeface="Tahoma"/>
              </a:rPr>
              <a:t>Sells(bar, </a:t>
            </a:r>
            <a:r>
              <a:rPr sz="3200" spc="-90" dirty="0">
                <a:solidFill>
                  <a:srgbClr val="CC00CC"/>
                </a:solidFill>
                <a:latin typeface="Tahoma"/>
                <a:cs typeface="Tahoma"/>
              </a:rPr>
              <a:t>beer,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price) </a:t>
            </a:r>
            <a:r>
              <a:rPr sz="3200" spc="-5" dirty="0">
                <a:latin typeface="Tahoma"/>
                <a:cs typeface="Tahoma"/>
              </a:rPr>
              <a:t>and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 Beers(name, manf)</a:t>
            </a:r>
            <a:r>
              <a:rPr sz="3200" spc="-5" dirty="0">
                <a:latin typeface="Tahoma"/>
                <a:cs typeface="Tahoma"/>
              </a:rPr>
              <a:t>, find the </a:t>
            </a:r>
            <a:r>
              <a:rPr sz="3200" spc="-20" dirty="0">
                <a:latin typeface="Tahoma"/>
                <a:cs typeface="Tahoma"/>
              </a:rPr>
              <a:t>average  </a:t>
            </a:r>
            <a:r>
              <a:rPr sz="3200" spc="-5" dirty="0">
                <a:latin typeface="Tahoma"/>
                <a:cs typeface="Tahoma"/>
              </a:rPr>
              <a:t>price of those beers that </a:t>
            </a:r>
            <a:r>
              <a:rPr sz="3200" spc="-10" dirty="0">
                <a:latin typeface="Tahoma"/>
                <a:cs typeface="Tahoma"/>
              </a:rPr>
              <a:t>are </a:t>
            </a:r>
            <a:r>
              <a:rPr sz="3200" spc="-5" dirty="0">
                <a:latin typeface="Tahoma"/>
                <a:cs typeface="Tahoma"/>
              </a:rPr>
              <a:t>either  </a:t>
            </a:r>
            <a:r>
              <a:rPr sz="3200" spc="-10" dirty="0">
                <a:latin typeface="Tahoma"/>
                <a:cs typeface="Tahoma"/>
              </a:rPr>
              <a:t>served </a:t>
            </a:r>
            <a:r>
              <a:rPr sz="3200" spc="-5" dirty="0">
                <a:latin typeface="Tahoma"/>
                <a:cs typeface="Tahoma"/>
              </a:rPr>
              <a:t>in at least three bars or </a:t>
            </a:r>
            <a:r>
              <a:rPr sz="3200" spc="-10" dirty="0">
                <a:latin typeface="Tahoma"/>
                <a:cs typeface="Tahoma"/>
              </a:rPr>
              <a:t>are  manufactured </a:t>
            </a:r>
            <a:r>
              <a:rPr sz="3200" spc="-5" dirty="0">
                <a:latin typeface="Tahoma"/>
                <a:cs typeface="Tahoma"/>
              </a:rPr>
              <a:t>by </a:t>
            </a:r>
            <a:r>
              <a:rPr sz="3200" spc="-30" dirty="0">
                <a:latin typeface="Tahoma"/>
                <a:cs typeface="Tahoma"/>
              </a:rPr>
              <a:t>Pete’s.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66795" y="829944"/>
            <a:ext cx="20104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916556"/>
            <a:ext cx="4436110" cy="1779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900"/>
              </a:lnSpc>
              <a:spcBef>
                <a:spcPts val="100"/>
              </a:spcBef>
            </a:pPr>
            <a:r>
              <a:rPr sz="3200" spc="-5" dirty="0">
                <a:latin typeface="Tahoma"/>
                <a:cs typeface="Tahoma"/>
              </a:rPr>
              <a:t>SELECT </a:t>
            </a:r>
            <a:r>
              <a:rPr sz="3200" spc="-90" dirty="0">
                <a:latin typeface="Tahoma"/>
                <a:cs typeface="Tahoma"/>
              </a:rPr>
              <a:t>beer, </a:t>
            </a:r>
            <a:r>
              <a:rPr sz="3200" spc="-15" dirty="0">
                <a:latin typeface="Tahoma"/>
                <a:cs typeface="Tahoma"/>
              </a:rPr>
              <a:t>AVG(price)  </a:t>
            </a:r>
            <a:r>
              <a:rPr sz="3200" spc="-5" dirty="0">
                <a:latin typeface="Tahoma"/>
                <a:cs typeface="Tahoma"/>
              </a:rPr>
              <a:t>FROM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Sells</a:t>
            </a:r>
            <a:endParaRPr sz="3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Tahoma"/>
                <a:cs typeface="Tahoma"/>
              </a:rPr>
              <a:t>GROUP </a:t>
            </a:r>
            <a:r>
              <a:rPr sz="3200" dirty="0">
                <a:latin typeface="Tahoma"/>
                <a:cs typeface="Tahoma"/>
              </a:rPr>
              <a:t>BY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beer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0040" y="3779956"/>
            <a:ext cx="5507990" cy="107505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3200" spc="-20" dirty="0">
                <a:latin typeface="Tahoma"/>
                <a:cs typeface="Tahoma"/>
              </a:rPr>
              <a:t>HAVING </a:t>
            </a:r>
            <a:r>
              <a:rPr sz="3200" spc="-5" dirty="0">
                <a:latin typeface="Tahoma"/>
                <a:cs typeface="Tahoma"/>
              </a:rPr>
              <a:t>COUNT(bar) </a:t>
            </a:r>
            <a:r>
              <a:rPr sz="3200" dirty="0">
                <a:latin typeface="Tahoma"/>
                <a:cs typeface="Tahoma"/>
              </a:rPr>
              <a:t>&gt;= 3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OR</a:t>
            </a:r>
            <a:endParaRPr sz="3200">
              <a:latin typeface="Tahoma"/>
              <a:cs typeface="Tahoma"/>
            </a:endParaRPr>
          </a:p>
          <a:p>
            <a:pPr marL="609600">
              <a:lnSpc>
                <a:spcPct val="100000"/>
              </a:lnSpc>
              <a:spcBef>
                <a:spcPts val="755"/>
              </a:spcBef>
            </a:pPr>
            <a:r>
              <a:rPr sz="3200" spc="-5" dirty="0">
                <a:latin typeface="Tahoma"/>
                <a:cs typeface="Tahoma"/>
              </a:rPr>
              <a:t>beer </a:t>
            </a:r>
            <a:r>
              <a:rPr sz="3200" dirty="0">
                <a:latin typeface="Tahoma"/>
                <a:cs typeface="Tahoma"/>
              </a:rPr>
              <a:t>IN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06014" y="4363521"/>
            <a:ext cx="4505960" cy="166116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3200" spc="-5" dirty="0">
                <a:latin typeface="Tahoma"/>
                <a:cs typeface="Tahoma"/>
              </a:rPr>
              <a:t>(SELECT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name</a:t>
            </a:r>
            <a:endParaRPr sz="3200">
              <a:latin typeface="Tahoma"/>
              <a:cs typeface="Tahoma"/>
            </a:endParaRPr>
          </a:p>
          <a:p>
            <a:pPr marL="123825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Tahoma"/>
                <a:cs typeface="Tahoma"/>
              </a:rPr>
              <a:t>FROM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Beers</a:t>
            </a:r>
            <a:endParaRPr sz="3200">
              <a:latin typeface="Tahoma"/>
              <a:cs typeface="Tahoma"/>
            </a:endParaRPr>
          </a:p>
          <a:p>
            <a:pPr marL="123825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Tahoma"/>
                <a:cs typeface="Tahoma"/>
              </a:rPr>
              <a:t>WHERE manf </a:t>
            </a:r>
            <a:r>
              <a:rPr sz="3200" dirty="0">
                <a:latin typeface="Tahoma"/>
                <a:cs typeface="Tahoma"/>
              </a:rPr>
              <a:t>=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’Pete’’s’)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98640" y="5520690"/>
            <a:ext cx="16954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Tahoma"/>
                <a:cs typeface="Tahoma"/>
              </a:rPr>
              <a:t>;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357437" y="4414837"/>
            <a:ext cx="4581525" cy="1762125"/>
          </a:xfrm>
          <a:custGeom>
            <a:avLst/>
            <a:gdLst/>
            <a:ahLst/>
            <a:cxnLst/>
            <a:rect l="l" t="t" r="r" b="b"/>
            <a:pathLst>
              <a:path w="4581525" h="1762125">
                <a:moveTo>
                  <a:pt x="4581525" y="1762125"/>
                </a:moveTo>
                <a:lnTo>
                  <a:pt x="0" y="1762125"/>
                </a:lnTo>
                <a:lnTo>
                  <a:pt x="0" y="0"/>
                </a:lnTo>
                <a:lnTo>
                  <a:pt x="4581525" y="0"/>
                </a:lnTo>
                <a:lnTo>
                  <a:pt x="45815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752600"/>
                </a:lnTo>
                <a:lnTo>
                  <a:pt x="4762" y="1752600"/>
                </a:lnTo>
                <a:lnTo>
                  <a:pt x="9525" y="1757362"/>
                </a:lnTo>
                <a:lnTo>
                  <a:pt x="4581525" y="1757362"/>
                </a:lnTo>
                <a:lnTo>
                  <a:pt x="4581525" y="1762125"/>
                </a:lnTo>
                <a:close/>
              </a:path>
              <a:path w="4581525" h="17621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4581525" h="1762125">
                <a:moveTo>
                  <a:pt x="45720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4572000" y="4762"/>
                </a:lnTo>
                <a:lnTo>
                  <a:pt x="4572000" y="9525"/>
                </a:lnTo>
                <a:close/>
              </a:path>
              <a:path w="4581525" h="1762125">
                <a:moveTo>
                  <a:pt x="4572000" y="1757362"/>
                </a:moveTo>
                <a:lnTo>
                  <a:pt x="4572000" y="4762"/>
                </a:lnTo>
                <a:lnTo>
                  <a:pt x="4576762" y="9525"/>
                </a:lnTo>
                <a:lnTo>
                  <a:pt x="4581525" y="9525"/>
                </a:lnTo>
                <a:lnTo>
                  <a:pt x="4581525" y="1752600"/>
                </a:lnTo>
                <a:lnTo>
                  <a:pt x="4576762" y="1752600"/>
                </a:lnTo>
                <a:lnTo>
                  <a:pt x="4572000" y="1757362"/>
                </a:lnTo>
                <a:close/>
              </a:path>
              <a:path w="4581525" h="1762125">
                <a:moveTo>
                  <a:pt x="4581525" y="9525"/>
                </a:moveTo>
                <a:lnTo>
                  <a:pt x="4576762" y="9525"/>
                </a:lnTo>
                <a:lnTo>
                  <a:pt x="4572000" y="4762"/>
                </a:lnTo>
                <a:lnTo>
                  <a:pt x="4581525" y="4762"/>
                </a:lnTo>
                <a:lnTo>
                  <a:pt x="4581525" y="9525"/>
                </a:lnTo>
                <a:close/>
              </a:path>
              <a:path w="4581525" h="1762125">
                <a:moveTo>
                  <a:pt x="9525" y="1757362"/>
                </a:moveTo>
                <a:lnTo>
                  <a:pt x="4762" y="1752600"/>
                </a:lnTo>
                <a:lnTo>
                  <a:pt x="9525" y="1752600"/>
                </a:lnTo>
                <a:lnTo>
                  <a:pt x="9525" y="1757362"/>
                </a:lnTo>
                <a:close/>
              </a:path>
              <a:path w="4581525" h="1762125">
                <a:moveTo>
                  <a:pt x="4572000" y="1757362"/>
                </a:moveTo>
                <a:lnTo>
                  <a:pt x="9525" y="1757362"/>
                </a:lnTo>
                <a:lnTo>
                  <a:pt x="9525" y="1752600"/>
                </a:lnTo>
                <a:lnTo>
                  <a:pt x="4572000" y="1752600"/>
                </a:lnTo>
                <a:lnTo>
                  <a:pt x="4572000" y="1757362"/>
                </a:lnTo>
                <a:close/>
              </a:path>
              <a:path w="4581525" h="1762125">
                <a:moveTo>
                  <a:pt x="4581525" y="1757362"/>
                </a:moveTo>
                <a:lnTo>
                  <a:pt x="4572000" y="1757362"/>
                </a:lnTo>
                <a:lnTo>
                  <a:pt x="4576762" y="1752600"/>
                </a:lnTo>
                <a:lnTo>
                  <a:pt x="4581525" y="1752600"/>
                </a:lnTo>
                <a:lnTo>
                  <a:pt x="4581525" y="1757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393940" y="4375150"/>
            <a:ext cx="1450975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Beers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manu-  </a:t>
            </a:r>
            <a:r>
              <a:rPr sz="2000" spc="-10" dirty="0">
                <a:latin typeface="Tahoma"/>
                <a:cs typeface="Tahoma"/>
              </a:rPr>
              <a:t>factured </a:t>
            </a:r>
            <a:r>
              <a:rPr sz="2000" spc="-5" dirty="0">
                <a:latin typeface="Tahoma"/>
                <a:cs typeface="Tahoma"/>
              </a:rPr>
              <a:t>by  </a:t>
            </a:r>
            <a:r>
              <a:rPr sz="2000" spc="-20" dirty="0">
                <a:latin typeface="Tahoma"/>
                <a:cs typeface="Tahoma"/>
              </a:rPr>
              <a:t>Pete’s.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934200" y="4872990"/>
            <a:ext cx="307975" cy="232410"/>
          </a:xfrm>
          <a:custGeom>
            <a:avLst/>
            <a:gdLst/>
            <a:ahLst/>
            <a:cxnLst/>
            <a:rect l="l" t="t" r="r" b="b"/>
            <a:pathLst>
              <a:path w="307975" h="232410">
                <a:moveTo>
                  <a:pt x="63817" y="190500"/>
                </a:moveTo>
                <a:lnTo>
                  <a:pt x="58102" y="182880"/>
                </a:lnTo>
                <a:lnTo>
                  <a:pt x="301942" y="0"/>
                </a:lnTo>
                <a:lnTo>
                  <a:pt x="307657" y="7620"/>
                </a:lnTo>
                <a:lnTo>
                  <a:pt x="63817" y="190500"/>
                </a:lnTo>
                <a:close/>
              </a:path>
              <a:path w="307975" h="232410">
                <a:moveTo>
                  <a:pt x="0" y="232410"/>
                </a:moveTo>
                <a:lnTo>
                  <a:pt x="38100" y="156210"/>
                </a:lnTo>
                <a:lnTo>
                  <a:pt x="58102" y="182880"/>
                </a:lnTo>
                <a:lnTo>
                  <a:pt x="42862" y="194310"/>
                </a:lnTo>
                <a:lnTo>
                  <a:pt x="48577" y="201930"/>
                </a:lnTo>
                <a:lnTo>
                  <a:pt x="72390" y="201930"/>
                </a:lnTo>
                <a:lnTo>
                  <a:pt x="83820" y="217170"/>
                </a:lnTo>
                <a:lnTo>
                  <a:pt x="0" y="232410"/>
                </a:lnTo>
                <a:close/>
              </a:path>
              <a:path w="307975" h="232410">
                <a:moveTo>
                  <a:pt x="48577" y="201930"/>
                </a:moveTo>
                <a:lnTo>
                  <a:pt x="42862" y="194310"/>
                </a:lnTo>
                <a:lnTo>
                  <a:pt x="58102" y="182880"/>
                </a:lnTo>
                <a:lnTo>
                  <a:pt x="63817" y="190500"/>
                </a:lnTo>
                <a:lnTo>
                  <a:pt x="48577" y="201930"/>
                </a:lnTo>
                <a:close/>
              </a:path>
              <a:path w="307975" h="232410">
                <a:moveTo>
                  <a:pt x="72390" y="201930"/>
                </a:moveTo>
                <a:lnTo>
                  <a:pt x="48577" y="201930"/>
                </a:lnTo>
                <a:lnTo>
                  <a:pt x="63817" y="190500"/>
                </a:lnTo>
                <a:lnTo>
                  <a:pt x="72390" y="2019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28600" y="3727703"/>
            <a:ext cx="6781800" cy="2590800"/>
          </a:xfrm>
          <a:custGeom>
            <a:avLst/>
            <a:gdLst/>
            <a:ahLst/>
            <a:cxnLst/>
            <a:rect l="l" t="t" r="r" b="b"/>
            <a:pathLst>
              <a:path w="6781800" h="2590800">
                <a:moveTo>
                  <a:pt x="0" y="0"/>
                </a:moveTo>
                <a:lnTo>
                  <a:pt x="6781800" y="0"/>
                </a:lnTo>
                <a:lnTo>
                  <a:pt x="6781800" y="2590800"/>
                </a:lnTo>
                <a:lnTo>
                  <a:pt x="0" y="2590800"/>
                </a:lnTo>
                <a:lnTo>
                  <a:pt x="0" y="0"/>
                </a:lnTo>
                <a:close/>
              </a:path>
            </a:pathLst>
          </a:custGeom>
          <a:solidFill>
            <a:srgbClr val="FFFF99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23837" y="3722687"/>
            <a:ext cx="6791325" cy="2600325"/>
          </a:xfrm>
          <a:custGeom>
            <a:avLst/>
            <a:gdLst/>
            <a:ahLst/>
            <a:cxnLst/>
            <a:rect l="l" t="t" r="r" b="b"/>
            <a:pathLst>
              <a:path w="6791325" h="2600325">
                <a:moveTo>
                  <a:pt x="6791325" y="2600325"/>
                </a:moveTo>
                <a:lnTo>
                  <a:pt x="0" y="2600325"/>
                </a:lnTo>
                <a:lnTo>
                  <a:pt x="0" y="0"/>
                </a:lnTo>
                <a:lnTo>
                  <a:pt x="6791325" y="0"/>
                </a:lnTo>
                <a:lnTo>
                  <a:pt x="6791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2590800"/>
                </a:lnTo>
                <a:lnTo>
                  <a:pt x="4762" y="2590800"/>
                </a:lnTo>
                <a:lnTo>
                  <a:pt x="9525" y="2595562"/>
                </a:lnTo>
                <a:lnTo>
                  <a:pt x="6791325" y="2595562"/>
                </a:lnTo>
                <a:lnTo>
                  <a:pt x="6791325" y="2600325"/>
                </a:lnTo>
                <a:close/>
              </a:path>
              <a:path w="6791325" h="26003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791325" h="2600325">
                <a:moveTo>
                  <a:pt x="6781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781800" y="4762"/>
                </a:lnTo>
                <a:lnTo>
                  <a:pt x="6781800" y="9525"/>
                </a:lnTo>
                <a:close/>
              </a:path>
              <a:path w="6791325" h="2600325">
                <a:moveTo>
                  <a:pt x="6781800" y="2595562"/>
                </a:moveTo>
                <a:lnTo>
                  <a:pt x="6781800" y="4762"/>
                </a:lnTo>
                <a:lnTo>
                  <a:pt x="6786562" y="9525"/>
                </a:lnTo>
                <a:lnTo>
                  <a:pt x="6791325" y="9525"/>
                </a:lnTo>
                <a:lnTo>
                  <a:pt x="6791325" y="2590800"/>
                </a:lnTo>
                <a:lnTo>
                  <a:pt x="6786562" y="2590800"/>
                </a:lnTo>
                <a:lnTo>
                  <a:pt x="6781800" y="2595562"/>
                </a:lnTo>
                <a:close/>
              </a:path>
              <a:path w="6791325" h="2600325">
                <a:moveTo>
                  <a:pt x="6791325" y="9525"/>
                </a:moveTo>
                <a:lnTo>
                  <a:pt x="6786562" y="9525"/>
                </a:lnTo>
                <a:lnTo>
                  <a:pt x="6781800" y="4762"/>
                </a:lnTo>
                <a:lnTo>
                  <a:pt x="6791325" y="4762"/>
                </a:lnTo>
                <a:lnTo>
                  <a:pt x="6791325" y="9525"/>
                </a:lnTo>
                <a:close/>
              </a:path>
              <a:path w="6791325" h="2600325">
                <a:moveTo>
                  <a:pt x="9525" y="2595562"/>
                </a:moveTo>
                <a:lnTo>
                  <a:pt x="4762" y="2590800"/>
                </a:lnTo>
                <a:lnTo>
                  <a:pt x="9525" y="2590800"/>
                </a:lnTo>
                <a:lnTo>
                  <a:pt x="9525" y="2595562"/>
                </a:lnTo>
                <a:close/>
              </a:path>
              <a:path w="6791325" h="2600325">
                <a:moveTo>
                  <a:pt x="6781800" y="2595562"/>
                </a:moveTo>
                <a:lnTo>
                  <a:pt x="9525" y="2595562"/>
                </a:lnTo>
                <a:lnTo>
                  <a:pt x="9525" y="2590800"/>
                </a:lnTo>
                <a:lnTo>
                  <a:pt x="6781800" y="2590800"/>
                </a:lnTo>
                <a:lnTo>
                  <a:pt x="6781800" y="2595562"/>
                </a:lnTo>
                <a:close/>
              </a:path>
              <a:path w="6791325" h="2600325">
                <a:moveTo>
                  <a:pt x="6791325" y="2595562"/>
                </a:moveTo>
                <a:lnTo>
                  <a:pt x="6781800" y="2595562"/>
                </a:lnTo>
                <a:lnTo>
                  <a:pt x="6786562" y="2590800"/>
                </a:lnTo>
                <a:lnTo>
                  <a:pt x="6791325" y="2590800"/>
                </a:lnTo>
                <a:lnTo>
                  <a:pt x="6791325" y="25955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701665" y="1708149"/>
            <a:ext cx="2920365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ahoma"/>
                <a:cs typeface="Tahoma"/>
              </a:rPr>
              <a:t>Beer </a:t>
            </a:r>
            <a:r>
              <a:rPr sz="2000" spc="-5" dirty="0">
                <a:latin typeface="Tahoma"/>
                <a:cs typeface="Tahoma"/>
              </a:rPr>
              <a:t>groups with at least  </a:t>
            </a:r>
            <a:r>
              <a:rPr sz="2000" dirty="0">
                <a:latin typeface="Tahoma"/>
                <a:cs typeface="Tahoma"/>
              </a:rPr>
              <a:t>3 </a:t>
            </a:r>
            <a:r>
              <a:rPr sz="2000" spc="-5" dirty="0">
                <a:latin typeface="Tahoma"/>
                <a:cs typeface="Tahoma"/>
              </a:rPr>
              <a:t>non-NULL bars and also  beer groups where the  manufacturer is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spc="-20" dirty="0">
                <a:latin typeface="Tahoma"/>
                <a:cs typeface="Tahoma"/>
              </a:rPr>
              <a:t>Pete’s.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638800" y="3037967"/>
            <a:ext cx="841375" cy="689610"/>
          </a:xfrm>
          <a:custGeom>
            <a:avLst/>
            <a:gdLst/>
            <a:ahLst/>
            <a:cxnLst/>
            <a:rect l="l" t="t" r="r" b="b"/>
            <a:pathLst>
              <a:path w="841375" h="689610">
                <a:moveTo>
                  <a:pt x="61990" y="644918"/>
                </a:moveTo>
                <a:lnTo>
                  <a:pt x="55955" y="637542"/>
                </a:lnTo>
                <a:lnTo>
                  <a:pt x="835190" y="0"/>
                </a:lnTo>
                <a:lnTo>
                  <a:pt x="841209" y="7365"/>
                </a:lnTo>
                <a:lnTo>
                  <a:pt x="61990" y="644918"/>
                </a:lnTo>
                <a:close/>
              </a:path>
              <a:path w="841375" h="689610">
                <a:moveTo>
                  <a:pt x="0" y="689482"/>
                </a:moveTo>
                <a:lnTo>
                  <a:pt x="34848" y="611746"/>
                </a:lnTo>
                <a:lnTo>
                  <a:pt x="55955" y="637542"/>
                </a:lnTo>
                <a:lnTo>
                  <a:pt x="41211" y="649604"/>
                </a:lnTo>
                <a:lnTo>
                  <a:pt x="47244" y="656983"/>
                </a:lnTo>
                <a:lnTo>
                  <a:pt x="71862" y="656983"/>
                </a:lnTo>
                <a:lnTo>
                  <a:pt x="83096" y="670712"/>
                </a:lnTo>
                <a:lnTo>
                  <a:pt x="0" y="689482"/>
                </a:lnTo>
                <a:close/>
              </a:path>
              <a:path w="841375" h="689610">
                <a:moveTo>
                  <a:pt x="47244" y="656983"/>
                </a:moveTo>
                <a:lnTo>
                  <a:pt x="41211" y="649604"/>
                </a:lnTo>
                <a:lnTo>
                  <a:pt x="55955" y="637542"/>
                </a:lnTo>
                <a:lnTo>
                  <a:pt x="61990" y="644918"/>
                </a:lnTo>
                <a:lnTo>
                  <a:pt x="47244" y="656983"/>
                </a:lnTo>
                <a:close/>
              </a:path>
              <a:path w="841375" h="689610">
                <a:moveTo>
                  <a:pt x="71862" y="656983"/>
                </a:moveTo>
                <a:lnTo>
                  <a:pt x="47244" y="656983"/>
                </a:lnTo>
                <a:lnTo>
                  <a:pt x="61990" y="644918"/>
                </a:lnTo>
                <a:lnTo>
                  <a:pt x="71862" y="6569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32</a:t>
            </a:fld>
            <a:endParaRPr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33600" marR="5080" indent="-1881505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Requirements </a:t>
            </a:r>
            <a:r>
              <a:rPr dirty="0"/>
              <a:t>on </a:t>
            </a:r>
            <a:r>
              <a:rPr spc="-25" dirty="0"/>
              <a:t>HAVING  </a:t>
            </a:r>
            <a:r>
              <a:rPr spc="-5" dirty="0"/>
              <a:t>Conditions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1916556"/>
            <a:ext cx="7557134" cy="377888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622300" indent="-609600">
              <a:lnSpc>
                <a:spcPct val="100000"/>
              </a:lnSpc>
              <a:spcBef>
                <a:spcPts val="865"/>
              </a:spcBef>
              <a:buClr>
                <a:srgbClr val="CC00CC"/>
              </a:buClr>
              <a:buFont typeface="Wingdings"/>
              <a:buChar char=""/>
              <a:tabLst>
                <a:tab pos="621665" algn="l"/>
                <a:tab pos="622300" algn="l"/>
              </a:tabLst>
            </a:pPr>
            <a:r>
              <a:rPr sz="3200" spc="-10" dirty="0">
                <a:latin typeface="Tahoma"/>
                <a:cs typeface="Tahoma"/>
              </a:rPr>
              <a:t>Anything </a:t>
            </a:r>
            <a:r>
              <a:rPr sz="3200" spc="-5" dirty="0">
                <a:latin typeface="Tahoma"/>
                <a:cs typeface="Tahoma"/>
              </a:rPr>
              <a:t>goes in </a:t>
            </a:r>
            <a:r>
              <a:rPr sz="3200" dirty="0">
                <a:latin typeface="Tahoma"/>
                <a:cs typeface="Tahoma"/>
              </a:rPr>
              <a:t>a</a:t>
            </a:r>
            <a:r>
              <a:rPr sz="3200" spc="-5" dirty="0">
                <a:latin typeface="Tahoma"/>
                <a:cs typeface="Tahoma"/>
              </a:rPr>
              <a:t> subquery.</a:t>
            </a:r>
            <a:endParaRPr sz="3200" dirty="0">
              <a:latin typeface="Tahoma"/>
              <a:cs typeface="Tahoma"/>
            </a:endParaRPr>
          </a:p>
          <a:p>
            <a:pPr marL="622300" marR="137160" indent="-6096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Font typeface="Wingdings"/>
              <a:buChar char=""/>
              <a:tabLst>
                <a:tab pos="621665" algn="l"/>
                <a:tab pos="622300" algn="l"/>
              </a:tabLst>
            </a:pPr>
            <a:r>
              <a:rPr sz="3200" spc="-5" dirty="0">
                <a:latin typeface="Tahoma"/>
                <a:cs typeface="Tahoma"/>
              </a:rPr>
              <a:t>Outside subqueries, they </a:t>
            </a:r>
            <a:r>
              <a:rPr sz="3200" spc="-10" dirty="0">
                <a:latin typeface="Tahoma"/>
                <a:cs typeface="Tahoma"/>
              </a:rPr>
              <a:t>may </a:t>
            </a:r>
            <a:r>
              <a:rPr sz="3200" spc="-15" dirty="0">
                <a:latin typeface="Tahoma"/>
                <a:cs typeface="Tahoma"/>
              </a:rPr>
              <a:t>refer </a:t>
            </a:r>
            <a:r>
              <a:rPr sz="3200" spc="-5" dirty="0">
                <a:latin typeface="Tahoma"/>
                <a:cs typeface="Tahoma"/>
              </a:rPr>
              <a:t>to  attributes only </a:t>
            </a:r>
            <a:r>
              <a:rPr sz="3200" dirty="0">
                <a:latin typeface="Tahoma"/>
                <a:cs typeface="Tahoma"/>
              </a:rPr>
              <a:t>if </a:t>
            </a:r>
            <a:r>
              <a:rPr sz="3200" spc="-5" dirty="0">
                <a:latin typeface="Tahoma"/>
                <a:cs typeface="Tahoma"/>
              </a:rPr>
              <a:t>they </a:t>
            </a:r>
            <a:r>
              <a:rPr sz="3200" spc="-10" dirty="0">
                <a:latin typeface="Tahoma"/>
                <a:cs typeface="Tahoma"/>
              </a:rPr>
              <a:t>are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either:</a:t>
            </a:r>
            <a:endParaRPr sz="3200" dirty="0">
              <a:latin typeface="Tahoma"/>
              <a:cs typeface="Tahoma"/>
            </a:endParaRPr>
          </a:p>
          <a:p>
            <a:pPr marL="1003300" lvl="1" indent="-5334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AutoNum type="arabicPeriod"/>
              <a:tabLst>
                <a:tab pos="1002665" algn="l"/>
                <a:tab pos="1003300" algn="l"/>
              </a:tabLst>
            </a:pPr>
            <a:r>
              <a:rPr sz="2800" spc="-5" dirty="0">
                <a:latin typeface="Tahoma"/>
                <a:cs typeface="Tahoma"/>
              </a:rPr>
              <a:t>A grouping attribute,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or</a:t>
            </a:r>
            <a:endParaRPr sz="2800" dirty="0">
              <a:latin typeface="Tahoma"/>
              <a:cs typeface="Tahoma"/>
            </a:endParaRPr>
          </a:p>
          <a:p>
            <a:pPr marL="1003300" lvl="1" indent="-5334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AutoNum type="arabicPeriod"/>
              <a:tabLst>
                <a:tab pos="1002665" algn="l"/>
                <a:tab pos="1003300" algn="l"/>
              </a:tabLst>
            </a:pPr>
            <a:r>
              <a:rPr sz="2800" spc="-5" dirty="0">
                <a:latin typeface="Tahoma"/>
                <a:cs typeface="Tahoma"/>
              </a:rPr>
              <a:t>Aggregated</a:t>
            </a:r>
            <a:endParaRPr sz="2800" dirty="0">
              <a:latin typeface="Tahoma"/>
              <a:cs typeface="Tahoma"/>
            </a:endParaRPr>
          </a:p>
          <a:p>
            <a:pPr marL="622300" marR="5080">
              <a:lnSpc>
                <a:spcPct val="100000"/>
              </a:lnSpc>
              <a:spcBef>
                <a:spcPts val="755"/>
              </a:spcBef>
            </a:pPr>
            <a:r>
              <a:rPr sz="3200" spc="-5" dirty="0">
                <a:latin typeface="Tahoma"/>
                <a:cs typeface="Tahoma"/>
              </a:rPr>
              <a:t>(same condition as </a:t>
            </a:r>
            <a:r>
              <a:rPr sz="3200" spc="-15" dirty="0">
                <a:latin typeface="Tahoma"/>
                <a:cs typeface="Tahoma"/>
              </a:rPr>
              <a:t>for </a:t>
            </a:r>
            <a:r>
              <a:rPr sz="3200" spc="-5" dirty="0">
                <a:latin typeface="Tahoma"/>
                <a:cs typeface="Tahoma"/>
              </a:rPr>
              <a:t>SELECT clauses  with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aggregation).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19579" y="829944"/>
            <a:ext cx="57054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Database</a:t>
            </a:r>
            <a:r>
              <a:rPr spc="-40" dirty="0"/>
              <a:t> </a:t>
            </a:r>
            <a:r>
              <a:rPr spc="-5" dirty="0"/>
              <a:t>Modifications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92617"/>
            <a:ext cx="7343140" cy="464678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622300" marR="33655" indent="-609600">
              <a:lnSpc>
                <a:spcPts val="3840"/>
              </a:lnSpc>
              <a:spcBef>
                <a:spcPts val="390"/>
              </a:spcBef>
              <a:buClr>
                <a:srgbClr val="CC00CC"/>
              </a:buClr>
              <a:buFont typeface="Wingdings"/>
              <a:buChar char=""/>
              <a:tabLst>
                <a:tab pos="621665" algn="l"/>
                <a:tab pos="622300" algn="l"/>
              </a:tabLst>
            </a:pPr>
            <a:r>
              <a:rPr sz="3200" dirty="0">
                <a:latin typeface="Tahoma"/>
                <a:cs typeface="Tahoma"/>
              </a:rPr>
              <a:t>A </a:t>
            </a:r>
            <a:r>
              <a:rPr lang="en-US" altLang="zh-CN" sz="3600" dirty="0">
                <a:effectLst/>
              </a:rPr>
              <a:t>modification </a:t>
            </a:r>
            <a:r>
              <a:rPr lang="zh-CN" altLang="en-US" sz="3600" dirty="0">
                <a:effectLst/>
              </a:rPr>
              <a:t>修改</a:t>
            </a:r>
            <a:r>
              <a:rPr sz="3350" i="1" spc="-1030" dirty="0">
                <a:solidFill>
                  <a:srgbClr val="FF0066"/>
                </a:solidFill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command does not  return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result (as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query does), but  changes the database in some </a:t>
            </a:r>
            <a:r>
              <a:rPr sz="3200" spc="-90" dirty="0">
                <a:latin typeface="Tahoma"/>
                <a:cs typeface="Tahoma"/>
              </a:rPr>
              <a:t>way.</a:t>
            </a:r>
            <a:endParaRPr sz="3200" dirty="0">
              <a:latin typeface="Tahoma"/>
              <a:cs typeface="Tahoma"/>
            </a:endParaRPr>
          </a:p>
          <a:p>
            <a:pPr marL="622300" indent="-609600">
              <a:lnSpc>
                <a:spcPct val="100000"/>
              </a:lnSpc>
              <a:spcBef>
                <a:spcPts val="640"/>
              </a:spcBef>
              <a:buClr>
                <a:srgbClr val="CC00CC"/>
              </a:buClr>
              <a:buFont typeface="Wingdings"/>
              <a:buChar char=""/>
              <a:tabLst>
                <a:tab pos="621665" algn="l"/>
                <a:tab pos="622300" algn="l"/>
              </a:tabLst>
            </a:pPr>
            <a:r>
              <a:rPr sz="3200" spc="-5" dirty="0">
                <a:latin typeface="Tahoma"/>
                <a:cs typeface="Tahoma"/>
              </a:rPr>
              <a:t>Three kinds of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modifications:</a:t>
            </a:r>
            <a:endParaRPr sz="3200" dirty="0">
              <a:latin typeface="Tahoma"/>
              <a:cs typeface="Tahoma"/>
            </a:endParaRPr>
          </a:p>
          <a:p>
            <a:pPr marL="979805" lvl="1" indent="-534035">
              <a:lnSpc>
                <a:spcPct val="100000"/>
              </a:lnSpc>
              <a:spcBef>
                <a:spcPts val="570"/>
              </a:spcBef>
              <a:buClr>
                <a:srgbClr val="CC00CC"/>
              </a:buClr>
              <a:buAutoNum type="arabicPeriod"/>
              <a:tabLst>
                <a:tab pos="980440" algn="l"/>
              </a:tabLst>
            </a:pPr>
            <a:r>
              <a:rPr lang="en-US" altLang="zh-CN" sz="3200" dirty="0">
                <a:effectLst/>
              </a:rPr>
              <a:t>Insert </a:t>
            </a:r>
            <a:r>
              <a:rPr sz="2900" i="1" spc="-60" dirty="0">
                <a:solidFill>
                  <a:srgbClr val="33CC33"/>
                </a:solidFill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a tuple or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tuples.</a:t>
            </a:r>
            <a:endParaRPr sz="2800" dirty="0">
              <a:latin typeface="Tahoma"/>
              <a:cs typeface="Tahoma"/>
            </a:endParaRPr>
          </a:p>
          <a:p>
            <a:pPr marL="979805" lvl="1" indent="-534035">
              <a:lnSpc>
                <a:spcPct val="100000"/>
              </a:lnSpc>
              <a:spcBef>
                <a:spcPts val="550"/>
              </a:spcBef>
              <a:buClr>
                <a:srgbClr val="CC00CC"/>
              </a:buClr>
              <a:buAutoNum type="arabicPeriod"/>
              <a:tabLst>
                <a:tab pos="980440" algn="l"/>
              </a:tabLst>
            </a:pPr>
            <a:r>
              <a:rPr lang="en-US" altLang="zh-CN" sz="3200" dirty="0">
                <a:effectLst/>
              </a:rPr>
              <a:t>Delete </a:t>
            </a:r>
            <a:r>
              <a:rPr sz="2900" i="1" spc="-855" dirty="0">
                <a:solidFill>
                  <a:srgbClr val="33CC33"/>
                </a:solidFill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a tuple or</a:t>
            </a:r>
            <a:r>
              <a:rPr sz="2800" spc="-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tuples.</a:t>
            </a:r>
            <a:endParaRPr sz="2800" dirty="0">
              <a:latin typeface="Tahoma"/>
              <a:cs typeface="Tahoma"/>
            </a:endParaRPr>
          </a:p>
          <a:p>
            <a:pPr marL="1002665" marR="5080" lvl="1" indent="-556895">
              <a:lnSpc>
                <a:spcPts val="3360"/>
              </a:lnSpc>
              <a:spcBef>
                <a:spcPts val="760"/>
              </a:spcBef>
              <a:buClr>
                <a:srgbClr val="CC00CC"/>
              </a:buClr>
              <a:buAutoNum type="arabicPeriod"/>
              <a:tabLst>
                <a:tab pos="980440" algn="l"/>
              </a:tabLst>
            </a:pPr>
            <a:r>
              <a:rPr lang="en-US" altLang="zh-CN" sz="3200" dirty="0">
                <a:effectLst/>
              </a:rPr>
              <a:t>Update </a:t>
            </a:r>
            <a:r>
              <a:rPr sz="2900" i="1" spc="-55" dirty="0">
                <a:solidFill>
                  <a:srgbClr val="33CC33"/>
                </a:solidFill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the </a:t>
            </a:r>
            <a:r>
              <a:rPr sz="2800" spc="-10" dirty="0">
                <a:latin typeface="Tahoma"/>
                <a:cs typeface="Tahoma"/>
              </a:rPr>
              <a:t>value(s) </a:t>
            </a:r>
            <a:r>
              <a:rPr sz="2800" spc="-5" dirty="0">
                <a:latin typeface="Tahoma"/>
                <a:cs typeface="Tahoma"/>
              </a:rPr>
              <a:t>of an existing tuple  or tuples.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63290" y="829944"/>
            <a:ext cx="22174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I</a:t>
            </a:r>
            <a:r>
              <a:rPr spc="-5" dirty="0"/>
              <a:t>nsertio</a:t>
            </a:r>
            <a:r>
              <a:rPr dirty="0"/>
              <a:t>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917826"/>
            <a:ext cx="6931659" cy="3982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15290" marR="939800" indent="-415290">
              <a:lnSpc>
                <a:spcPct val="119800"/>
              </a:lnSpc>
              <a:spcBef>
                <a:spcPts val="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65" dirty="0">
                <a:latin typeface="Tahoma"/>
                <a:cs typeface="Tahoma"/>
              </a:rPr>
              <a:t>To </a:t>
            </a:r>
            <a:r>
              <a:rPr sz="3200" spc="-5" dirty="0">
                <a:latin typeface="Tahoma"/>
                <a:cs typeface="Tahoma"/>
              </a:rPr>
              <a:t>insert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single tuple:  </a:t>
            </a:r>
            <a:r>
              <a:rPr sz="3200" spc="-20" dirty="0">
                <a:latin typeface="Tahoma"/>
                <a:cs typeface="Tahoma"/>
              </a:rPr>
              <a:t>INSERT INTO </a:t>
            </a:r>
            <a:r>
              <a:rPr sz="3200" spc="-5" dirty="0">
                <a:latin typeface="Tahoma"/>
                <a:cs typeface="Tahoma"/>
              </a:rPr>
              <a:t>&lt;relation&gt;  </a:t>
            </a:r>
            <a:r>
              <a:rPr sz="3200" spc="-20" dirty="0">
                <a:latin typeface="Tahoma"/>
                <a:cs typeface="Tahoma"/>
              </a:rPr>
              <a:t>VALUES </a:t>
            </a:r>
            <a:r>
              <a:rPr sz="3200" dirty="0">
                <a:latin typeface="Tahoma"/>
                <a:cs typeface="Tahoma"/>
              </a:rPr>
              <a:t>( </a:t>
            </a:r>
            <a:r>
              <a:rPr sz="3200" spc="-5" dirty="0">
                <a:latin typeface="Tahoma"/>
                <a:cs typeface="Tahoma"/>
              </a:rPr>
              <a:t>&lt;list of </a:t>
            </a:r>
            <a:r>
              <a:rPr sz="3200" spc="-15" dirty="0">
                <a:latin typeface="Tahoma"/>
                <a:cs typeface="Tahoma"/>
              </a:rPr>
              <a:t>values&gt; </a:t>
            </a:r>
            <a:r>
              <a:rPr sz="3200" spc="-5" dirty="0">
                <a:latin typeface="Tahoma"/>
                <a:cs typeface="Tahoma"/>
              </a:rPr>
              <a:t>);</a:t>
            </a:r>
            <a:endParaRPr sz="3200" dirty="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Example</a:t>
            </a:r>
            <a:r>
              <a:rPr sz="3200" spc="-5" dirty="0">
                <a:latin typeface="Tahoma"/>
                <a:cs typeface="Tahoma"/>
              </a:rPr>
              <a:t>: add to </a:t>
            </a:r>
            <a:r>
              <a:rPr sz="3200" spc="-40" dirty="0">
                <a:solidFill>
                  <a:srgbClr val="CC00CC"/>
                </a:solidFill>
                <a:latin typeface="Tahoma"/>
                <a:cs typeface="Tahoma"/>
              </a:rPr>
              <a:t>Likes(drinker,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beer) </a:t>
            </a:r>
            <a:r>
              <a:rPr sz="3200" spc="-5" dirty="0">
                <a:latin typeface="Tahoma"/>
                <a:cs typeface="Tahoma"/>
              </a:rPr>
              <a:t> the </a:t>
            </a:r>
            <a:r>
              <a:rPr sz="3200" spc="-15" dirty="0">
                <a:latin typeface="Tahoma"/>
                <a:cs typeface="Tahoma"/>
              </a:rPr>
              <a:t>fact </a:t>
            </a:r>
            <a:r>
              <a:rPr sz="3200" spc="-5" dirty="0">
                <a:latin typeface="Tahoma"/>
                <a:cs typeface="Tahoma"/>
              </a:rPr>
              <a:t>that Sally </a:t>
            </a:r>
            <a:r>
              <a:rPr sz="3200" spc="-10" dirty="0">
                <a:latin typeface="Tahoma"/>
                <a:cs typeface="Tahoma"/>
              </a:rPr>
              <a:t>likes</a:t>
            </a:r>
            <a:r>
              <a:rPr sz="3200" spc="-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Bud.</a:t>
            </a:r>
          </a:p>
          <a:p>
            <a:pPr marL="926465">
              <a:lnSpc>
                <a:spcPct val="100000"/>
              </a:lnSpc>
              <a:spcBef>
                <a:spcPts val="459"/>
              </a:spcBef>
            </a:pPr>
            <a:r>
              <a:rPr sz="3200" spc="-5" dirty="0">
                <a:latin typeface="Courier New"/>
                <a:cs typeface="Courier New"/>
              </a:rPr>
              <a:t>INSERT INTO</a:t>
            </a:r>
            <a:r>
              <a:rPr sz="3200" spc="-15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Likes</a:t>
            </a:r>
            <a:endParaRPr sz="3200" dirty="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Courier New"/>
                <a:cs typeface="Courier New"/>
              </a:rPr>
              <a:t>VALUES(’Sally’,</a:t>
            </a:r>
            <a:r>
              <a:rPr sz="3200" spc="-15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’Bud’);</a:t>
            </a:r>
            <a:endParaRPr sz="32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4750" y="533400"/>
            <a:ext cx="6722110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Specifying</a:t>
            </a:r>
            <a:r>
              <a:rPr lang="zh-CN" altLang="en-US" spc="-10" dirty="0"/>
              <a:t>指定</a:t>
            </a:r>
            <a:r>
              <a:rPr spc="-10" dirty="0"/>
              <a:t> Attributes </a:t>
            </a:r>
            <a:r>
              <a:rPr spc="-5" dirty="0"/>
              <a:t>in</a:t>
            </a:r>
            <a:r>
              <a:rPr spc="-35" dirty="0"/>
              <a:t> </a:t>
            </a:r>
            <a:r>
              <a:rPr spc="-25" dirty="0"/>
              <a:t>INSERT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59740" y="2012949"/>
            <a:ext cx="8152130" cy="38900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22300" marR="59690" indent="-6096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Font typeface="Wingdings"/>
              <a:buChar char=""/>
              <a:tabLst>
                <a:tab pos="621665" algn="l"/>
                <a:tab pos="622300" algn="l"/>
              </a:tabLst>
            </a:pPr>
            <a:r>
              <a:rPr sz="3200" spc="-65" dirty="0">
                <a:latin typeface="Tahoma"/>
                <a:cs typeface="Tahoma"/>
              </a:rPr>
              <a:t>We </a:t>
            </a:r>
            <a:r>
              <a:rPr sz="3200" spc="-10" dirty="0">
                <a:latin typeface="Tahoma"/>
                <a:cs typeface="Tahoma"/>
              </a:rPr>
              <a:t>may </a:t>
            </a:r>
            <a:r>
              <a:rPr sz="3200" spc="-5" dirty="0">
                <a:latin typeface="Tahoma"/>
                <a:cs typeface="Tahoma"/>
              </a:rPr>
              <a:t>add to the relation name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list of  attributes.</a:t>
            </a:r>
            <a:endParaRPr sz="3200" dirty="0">
              <a:latin typeface="Tahoma"/>
              <a:cs typeface="Tahoma"/>
            </a:endParaRPr>
          </a:p>
          <a:p>
            <a:pPr marL="622300" indent="-6096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Font typeface="Wingdings"/>
              <a:buChar char=""/>
              <a:tabLst>
                <a:tab pos="621665" algn="l"/>
                <a:tab pos="622300" algn="l"/>
              </a:tabLst>
            </a:pPr>
            <a:r>
              <a:rPr sz="3200" spc="-105" dirty="0">
                <a:latin typeface="Tahoma"/>
                <a:cs typeface="Tahoma"/>
              </a:rPr>
              <a:t>Two </a:t>
            </a:r>
            <a:r>
              <a:rPr sz="3200" spc="-5" dirty="0">
                <a:latin typeface="Tahoma"/>
                <a:cs typeface="Tahoma"/>
              </a:rPr>
              <a:t>reasons to </a:t>
            </a:r>
            <a:r>
              <a:rPr sz="3200" dirty="0">
                <a:latin typeface="Tahoma"/>
                <a:cs typeface="Tahoma"/>
              </a:rPr>
              <a:t>do</a:t>
            </a:r>
            <a:r>
              <a:rPr sz="3200" spc="8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so:</a:t>
            </a:r>
            <a:endParaRPr sz="3200" dirty="0">
              <a:latin typeface="Tahoma"/>
              <a:cs typeface="Tahoma"/>
            </a:endParaRPr>
          </a:p>
          <a:p>
            <a:pPr marL="1003300" marR="5080" lvl="1" indent="-5334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AutoNum type="arabicPeriod"/>
              <a:tabLst>
                <a:tab pos="1002665" algn="l"/>
                <a:tab pos="1003300" algn="l"/>
              </a:tabLst>
            </a:pPr>
            <a:r>
              <a:rPr sz="2800" spc="-60" dirty="0">
                <a:latin typeface="Tahoma"/>
                <a:cs typeface="Tahoma"/>
              </a:rPr>
              <a:t>We </a:t>
            </a:r>
            <a:r>
              <a:rPr sz="2800" spc="-10" dirty="0">
                <a:latin typeface="Tahoma"/>
                <a:cs typeface="Tahoma"/>
              </a:rPr>
              <a:t>forget </a:t>
            </a:r>
            <a:r>
              <a:rPr sz="2800" spc="-5" dirty="0">
                <a:latin typeface="Tahoma"/>
                <a:cs typeface="Tahoma"/>
              </a:rPr>
              <a:t>the standard order of attributes </a:t>
            </a:r>
            <a:r>
              <a:rPr sz="2800" spc="-15" dirty="0">
                <a:latin typeface="Tahoma"/>
                <a:cs typeface="Tahoma"/>
              </a:rPr>
              <a:t>for  </a:t>
            </a:r>
            <a:r>
              <a:rPr sz="2800" spc="-5" dirty="0">
                <a:latin typeface="Tahoma"/>
                <a:cs typeface="Tahoma"/>
              </a:rPr>
              <a:t>the relation.</a:t>
            </a:r>
            <a:endParaRPr sz="2800" dirty="0">
              <a:latin typeface="Tahoma"/>
              <a:cs typeface="Tahoma"/>
            </a:endParaRPr>
          </a:p>
          <a:p>
            <a:pPr marL="1003300" marR="394335" lvl="1" indent="-5334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AutoNum type="arabicPeriod"/>
              <a:tabLst>
                <a:tab pos="1002665" algn="l"/>
                <a:tab pos="1003300" algn="l"/>
              </a:tabLst>
            </a:pPr>
            <a:r>
              <a:rPr sz="2800" spc="-60" dirty="0">
                <a:latin typeface="Tahoma"/>
                <a:cs typeface="Tahoma"/>
              </a:rPr>
              <a:t>We </a:t>
            </a:r>
            <a:r>
              <a:rPr sz="2800" spc="5" dirty="0">
                <a:latin typeface="Tahoma"/>
                <a:cs typeface="Tahoma"/>
              </a:rPr>
              <a:t>don’t </a:t>
            </a:r>
            <a:r>
              <a:rPr sz="2800" spc="-15" dirty="0">
                <a:latin typeface="Tahoma"/>
                <a:cs typeface="Tahoma"/>
              </a:rPr>
              <a:t>have values for </a:t>
            </a:r>
            <a:r>
              <a:rPr sz="2800" dirty="0">
                <a:latin typeface="Tahoma"/>
                <a:cs typeface="Tahoma"/>
              </a:rPr>
              <a:t>all </a:t>
            </a:r>
            <a:r>
              <a:rPr sz="2800" spc="-5" dirty="0">
                <a:latin typeface="Tahoma"/>
                <a:cs typeface="Tahoma"/>
              </a:rPr>
              <a:t>attributes, and  we </a:t>
            </a:r>
            <a:r>
              <a:rPr sz="2800" spc="-10" dirty="0">
                <a:latin typeface="Tahoma"/>
                <a:cs typeface="Tahoma"/>
              </a:rPr>
              <a:t>want </a:t>
            </a:r>
            <a:r>
              <a:rPr sz="2800" spc="-5" dirty="0">
                <a:latin typeface="Tahoma"/>
                <a:cs typeface="Tahoma"/>
              </a:rPr>
              <a:t>the system to </a:t>
            </a:r>
            <a:r>
              <a:rPr sz="2800" dirty="0">
                <a:latin typeface="Tahoma"/>
                <a:cs typeface="Tahoma"/>
              </a:rPr>
              <a:t>fill </a:t>
            </a:r>
            <a:r>
              <a:rPr sz="2800" spc="-5" dirty="0">
                <a:latin typeface="Tahoma"/>
                <a:cs typeface="Tahoma"/>
              </a:rPr>
              <a:t>in missing  components </a:t>
            </a:r>
            <a:r>
              <a:rPr sz="2800" dirty="0">
                <a:latin typeface="Tahoma"/>
                <a:cs typeface="Tahoma"/>
              </a:rPr>
              <a:t>with </a:t>
            </a:r>
            <a:r>
              <a:rPr sz="2800" spc="-5" dirty="0">
                <a:latin typeface="Tahoma"/>
                <a:cs typeface="Tahoma"/>
              </a:rPr>
              <a:t>NULL or a </a:t>
            </a:r>
            <a:r>
              <a:rPr sz="2800" spc="-10" dirty="0">
                <a:latin typeface="Tahoma"/>
                <a:cs typeface="Tahoma"/>
              </a:rPr>
              <a:t>default</a:t>
            </a:r>
            <a:r>
              <a:rPr sz="2800" spc="15" dirty="0">
                <a:latin typeface="Tahoma"/>
                <a:cs typeface="Tahoma"/>
              </a:rPr>
              <a:t> </a:t>
            </a:r>
            <a:r>
              <a:rPr sz="2800" spc="-15" dirty="0">
                <a:latin typeface="Tahoma"/>
                <a:cs typeface="Tahoma"/>
              </a:rPr>
              <a:t>value.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5815" y="829944"/>
            <a:ext cx="75323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</a:t>
            </a:r>
            <a:r>
              <a:rPr spc="-10" dirty="0"/>
              <a:t>Specifying</a:t>
            </a:r>
            <a:r>
              <a:rPr spc="-45" dirty="0"/>
              <a:t> </a:t>
            </a:r>
            <a:r>
              <a:rPr spc="-10" dirty="0"/>
              <a:t>Attributes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828915" cy="270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94995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Another </a:t>
            </a:r>
            <a:r>
              <a:rPr sz="3200" spc="-20" dirty="0">
                <a:latin typeface="Tahoma"/>
                <a:cs typeface="Tahoma"/>
              </a:rPr>
              <a:t>way </a:t>
            </a:r>
            <a:r>
              <a:rPr sz="3200" spc="-5" dirty="0">
                <a:latin typeface="Tahoma"/>
                <a:cs typeface="Tahoma"/>
              </a:rPr>
              <a:t>to add the </a:t>
            </a:r>
            <a:r>
              <a:rPr sz="3200" spc="-15" dirty="0">
                <a:latin typeface="Tahoma"/>
                <a:cs typeface="Tahoma"/>
              </a:rPr>
              <a:t>fact </a:t>
            </a:r>
            <a:r>
              <a:rPr sz="3200" spc="-5" dirty="0">
                <a:latin typeface="Tahoma"/>
                <a:cs typeface="Tahoma"/>
              </a:rPr>
              <a:t>that Sally  </a:t>
            </a:r>
            <a:r>
              <a:rPr sz="3200" spc="-10" dirty="0">
                <a:latin typeface="Tahoma"/>
                <a:cs typeface="Tahoma"/>
              </a:rPr>
              <a:t>likes </a:t>
            </a:r>
            <a:r>
              <a:rPr sz="3200" dirty="0">
                <a:latin typeface="Tahoma"/>
                <a:cs typeface="Tahoma"/>
              </a:rPr>
              <a:t>Bud </a:t>
            </a:r>
            <a:r>
              <a:rPr sz="3200" spc="-5" dirty="0">
                <a:latin typeface="Tahoma"/>
                <a:cs typeface="Tahoma"/>
              </a:rPr>
              <a:t>to </a:t>
            </a:r>
            <a:r>
              <a:rPr sz="3200" spc="-40" dirty="0">
                <a:solidFill>
                  <a:srgbClr val="CC00CC"/>
                </a:solidFill>
                <a:latin typeface="Tahoma"/>
                <a:cs typeface="Tahoma"/>
              </a:rPr>
              <a:t>Likes(drinker,</a:t>
            </a:r>
            <a:r>
              <a:rPr sz="3200" spc="-10" dirty="0">
                <a:solidFill>
                  <a:srgbClr val="CC00CC"/>
                </a:solidFill>
                <a:latin typeface="Tahoma"/>
                <a:cs typeface="Tahoma"/>
              </a:rPr>
              <a:t>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beer)</a:t>
            </a:r>
            <a:r>
              <a:rPr sz="3200" spc="-5" dirty="0">
                <a:latin typeface="Tahoma"/>
                <a:cs typeface="Tahoma"/>
              </a:rPr>
              <a:t>: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450">
              <a:latin typeface="Tahoma"/>
              <a:cs typeface="Tahoma"/>
            </a:endParaRPr>
          </a:p>
          <a:p>
            <a:pPr marL="12700" marR="5080">
              <a:lnSpc>
                <a:spcPct val="119900"/>
              </a:lnSpc>
            </a:pPr>
            <a:r>
              <a:rPr sz="3200" spc="-5" dirty="0">
                <a:latin typeface="Courier New"/>
                <a:cs typeface="Courier New"/>
              </a:rPr>
              <a:t>INSERT INTO Likes(beer, drinker)  VALUES(’Bud’,</a:t>
            </a:r>
            <a:r>
              <a:rPr sz="3200" spc="-1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’Sally’);</a:t>
            </a:r>
            <a:endParaRPr sz="3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0550" y="829944"/>
            <a:ext cx="54235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Adding </a:t>
            </a:r>
            <a:r>
              <a:rPr spc="-10" dirty="0"/>
              <a:t>Default</a:t>
            </a:r>
            <a:r>
              <a:rPr spc="-55" dirty="0"/>
              <a:t> </a:t>
            </a:r>
            <a:r>
              <a:rPr spc="-40" dirty="0"/>
              <a:t>Values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381240" cy="3049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5" dirty="0">
                <a:latin typeface="Tahoma"/>
                <a:cs typeface="Tahoma"/>
              </a:rPr>
              <a:t>In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35" dirty="0">
                <a:latin typeface="Tahoma"/>
                <a:cs typeface="Tahoma"/>
              </a:rPr>
              <a:t>CREATE </a:t>
            </a:r>
            <a:r>
              <a:rPr sz="3200" spc="-40" dirty="0">
                <a:latin typeface="Tahoma"/>
                <a:cs typeface="Tahoma"/>
              </a:rPr>
              <a:t>TABLE </a:t>
            </a:r>
            <a:r>
              <a:rPr sz="3200" spc="-5" dirty="0">
                <a:latin typeface="Tahoma"/>
                <a:cs typeface="Tahoma"/>
              </a:rPr>
              <a:t>statement, </a:t>
            </a:r>
            <a:r>
              <a:rPr sz="3200" dirty="0">
                <a:latin typeface="Tahoma"/>
                <a:cs typeface="Tahoma"/>
              </a:rPr>
              <a:t>we </a:t>
            </a:r>
            <a:r>
              <a:rPr sz="3200" spc="-5" dirty="0">
                <a:latin typeface="Tahoma"/>
                <a:cs typeface="Tahoma"/>
              </a:rPr>
              <a:t>can  </a:t>
            </a:r>
            <a:r>
              <a:rPr sz="3200" spc="-10" dirty="0">
                <a:latin typeface="Tahoma"/>
                <a:cs typeface="Tahoma"/>
              </a:rPr>
              <a:t>follow </a:t>
            </a:r>
            <a:r>
              <a:rPr sz="3200" dirty="0">
                <a:latin typeface="Tahoma"/>
                <a:cs typeface="Tahoma"/>
              </a:rPr>
              <a:t>an </a:t>
            </a:r>
            <a:r>
              <a:rPr sz="3200" spc="-5" dirty="0">
                <a:latin typeface="Tahoma"/>
                <a:cs typeface="Tahoma"/>
              </a:rPr>
              <a:t>attribute by </a:t>
            </a:r>
            <a:r>
              <a:rPr sz="3200" spc="-65" dirty="0">
                <a:latin typeface="Tahoma"/>
                <a:cs typeface="Tahoma"/>
              </a:rPr>
              <a:t>DEFAULT </a:t>
            </a:r>
            <a:r>
              <a:rPr sz="3200" spc="-5" dirty="0">
                <a:latin typeface="Tahoma"/>
                <a:cs typeface="Tahoma"/>
              </a:rPr>
              <a:t>and </a:t>
            </a:r>
            <a:r>
              <a:rPr sz="3200" dirty="0">
                <a:latin typeface="Tahoma"/>
                <a:cs typeface="Tahoma"/>
              </a:rPr>
              <a:t>a  </a:t>
            </a:r>
            <a:r>
              <a:rPr sz="3200" spc="-15" dirty="0">
                <a:latin typeface="Tahoma"/>
                <a:cs typeface="Tahoma"/>
              </a:rPr>
              <a:t>value.</a:t>
            </a:r>
            <a:endParaRPr sz="3200" dirty="0">
              <a:latin typeface="Tahoma"/>
              <a:cs typeface="Tahoma"/>
            </a:endParaRPr>
          </a:p>
          <a:p>
            <a:pPr marL="355600" marR="382905" indent="-34290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When </a:t>
            </a:r>
            <a:r>
              <a:rPr sz="3200" dirty="0">
                <a:latin typeface="Tahoma"/>
                <a:cs typeface="Tahoma"/>
              </a:rPr>
              <a:t>an </a:t>
            </a:r>
            <a:r>
              <a:rPr sz="3200" spc="-5" dirty="0">
                <a:latin typeface="Tahoma"/>
                <a:cs typeface="Tahoma"/>
              </a:rPr>
              <a:t>inserted tuple has </a:t>
            </a:r>
            <a:r>
              <a:rPr sz="3200" dirty="0">
                <a:latin typeface="Tahoma"/>
                <a:cs typeface="Tahoma"/>
              </a:rPr>
              <a:t>no </a:t>
            </a:r>
            <a:r>
              <a:rPr sz="3200" spc="-15" dirty="0">
                <a:latin typeface="Tahoma"/>
                <a:cs typeface="Tahoma"/>
              </a:rPr>
              <a:t>value  for </a:t>
            </a:r>
            <a:r>
              <a:rPr sz="3200" spc="-5" dirty="0">
                <a:latin typeface="Tahoma"/>
                <a:cs typeface="Tahoma"/>
              </a:rPr>
              <a:t>that attribute, the </a:t>
            </a:r>
            <a:r>
              <a:rPr sz="3200" spc="-10" dirty="0">
                <a:latin typeface="Tahoma"/>
                <a:cs typeface="Tahoma"/>
              </a:rPr>
              <a:t>default </a:t>
            </a:r>
            <a:r>
              <a:rPr sz="3200" spc="-5" dirty="0">
                <a:latin typeface="Tahoma"/>
                <a:cs typeface="Tahoma"/>
              </a:rPr>
              <a:t>will </a:t>
            </a:r>
            <a:r>
              <a:rPr sz="3200" dirty="0">
                <a:latin typeface="Tahoma"/>
                <a:cs typeface="Tahoma"/>
              </a:rPr>
              <a:t>be  </a:t>
            </a:r>
            <a:r>
              <a:rPr sz="3200" spc="-5" dirty="0">
                <a:latin typeface="Tahoma"/>
                <a:cs typeface="Tahoma"/>
              </a:rPr>
              <a:t>used.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70355" y="829944"/>
            <a:ext cx="60039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Example: </a:t>
            </a:r>
            <a:r>
              <a:rPr spc="-10" dirty="0"/>
              <a:t>Default</a:t>
            </a:r>
            <a:r>
              <a:rPr spc="-50" dirty="0"/>
              <a:t> </a:t>
            </a:r>
            <a:r>
              <a:rPr spc="-40" dirty="0"/>
              <a:t>Values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39</a:t>
            </a:fld>
            <a:endParaRPr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88389" y="2055085"/>
          <a:ext cx="6974838" cy="16307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58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871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90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07799">
                <a:tc>
                  <a:txBody>
                    <a:bodyPr/>
                    <a:lstStyle/>
                    <a:p>
                      <a:pPr marL="31750">
                        <a:lnSpc>
                          <a:spcPts val="3310"/>
                        </a:lnSpc>
                      </a:pPr>
                      <a:r>
                        <a:rPr sz="3200" spc="-5" dirty="0">
                          <a:latin typeface="Courier New"/>
                          <a:cs typeface="Courier New"/>
                        </a:rPr>
                        <a:t>CREATE</a:t>
                      </a:r>
                      <a:endParaRPr sz="3200">
                        <a:latin typeface="Courier New"/>
                        <a:cs typeface="Courier New"/>
                      </a:endParaRPr>
                    </a:p>
                    <a:p>
                      <a:pPr marL="602615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3200" spc="-5" dirty="0">
                          <a:latin typeface="Courier New"/>
                          <a:cs typeface="Courier New"/>
                        </a:rPr>
                        <a:t>name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ts val="3310"/>
                        </a:lnSpc>
                      </a:pPr>
                      <a:r>
                        <a:rPr sz="3200" spc="-5" dirty="0">
                          <a:latin typeface="Courier New"/>
                          <a:cs typeface="Courier New"/>
                        </a:rPr>
                        <a:t>TABLE Drinkers</a:t>
                      </a:r>
                      <a:r>
                        <a:rPr sz="3200" spc="-4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3200" dirty="0">
                          <a:latin typeface="Courier New"/>
                          <a:cs typeface="Courier New"/>
                        </a:rPr>
                        <a:t>(</a:t>
                      </a:r>
                      <a:endParaRPr sz="3200">
                        <a:latin typeface="Courier New"/>
                        <a:cs typeface="Courier New"/>
                      </a:endParaRPr>
                    </a:p>
                    <a:p>
                      <a:pPr marL="163195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3200" spc="-5" dirty="0">
                          <a:latin typeface="Courier New"/>
                          <a:cs typeface="Courier New"/>
                        </a:rPr>
                        <a:t>CHAR(30)</a:t>
                      </a:r>
                      <a:r>
                        <a:rPr sz="3200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3200" spc="-5" dirty="0">
                          <a:latin typeface="Courier New"/>
                          <a:cs typeface="Courier New"/>
                        </a:rPr>
                        <a:t>PRIMARY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3500">
                        <a:latin typeface="Times New Roman"/>
                        <a:cs typeface="Times New Roman"/>
                      </a:endParaRPr>
                    </a:p>
                    <a:p>
                      <a:pPr marL="121285">
                        <a:lnSpc>
                          <a:spcPct val="100000"/>
                        </a:lnSpc>
                      </a:pPr>
                      <a:r>
                        <a:rPr sz="3200" spc="-5" dirty="0">
                          <a:latin typeface="Courier New"/>
                          <a:cs typeface="Courier New"/>
                        </a:rPr>
                        <a:t>KEY,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571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964">
                <a:tc>
                  <a:txBody>
                    <a:bodyPr/>
                    <a:lstStyle/>
                    <a:p>
                      <a:pPr marL="602615">
                        <a:lnSpc>
                          <a:spcPts val="3795"/>
                        </a:lnSpc>
                      </a:pPr>
                      <a:r>
                        <a:rPr sz="3200" spc="-5" dirty="0">
                          <a:latin typeface="Courier New"/>
                          <a:cs typeface="Courier New"/>
                        </a:rPr>
                        <a:t>addr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3195">
                        <a:lnSpc>
                          <a:spcPts val="3795"/>
                        </a:lnSpc>
                      </a:pPr>
                      <a:r>
                        <a:rPr sz="3200" spc="-5" dirty="0">
                          <a:latin typeface="Courier New"/>
                          <a:cs typeface="Courier New"/>
                        </a:rPr>
                        <a:t>CHAR(50)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107439" y="3632326"/>
            <a:ext cx="7607934" cy="177990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497965">
              <a:lnSpc>
                <a:spcPct val="100000"/>
              </a:lnSpc>
              <a:spcBef>
                <a:spcPts val="865"/>
              </a:spcBef>
            </a:pPr>
            <a:r>
              <a:rPr sz="3200" spc="-5" dirty="0">
                <a:latin typeface="Courier New"/>
                <a:cs typeface="Courier New"/>
              </a:rPr>
              <a:t>DEFAULT ’123 Sesame</a:t>
            </a:r>
            <a:r>
              <a:rPr sz="3200" spc="-2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St.’,</a:t>
            </a:r>
            <a:endParaRPr sz="3200">
              <a:latin typeface="Courier New"/>
              <a:cs typeface="Courier New"/>
            </a:endParaRPr>
          </a:p>
          <a:p>
            <a:pPr marL="583565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Courier New"/>
                <a:cs typeface="Courier New"/>
              </a:rPr>
              <a:t>phone</a:t>
            </a:r>
            <a:r>
              <a:rPr sz="3200" spc="-1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CHAR(16)</a:t>
            </a:r>
            <a:endParaRPr sz="3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dirty="0">
                <a:latin typeface="Courier New"/>
                <a:cs typeface="Courier New"/>
              </a:rPr>
              <a:t>);</a:t>
            </a:r>
            <a:endParaRPr sz="3200">
              <a:latin typeface="Courier New"/>
              <a:cs typeface="Courier New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5152C928-0571-41CF-BF8C-383436AC685A}"/>
                  </a:ext>
                </a:extLst>
              </p14:cNvPr>
              <p14:cNvContentPartPr/>
              <p14:nvPr/>
            </p14:nvContentPartPr>
            <p14:xfrm>
              <a:off x="2635299" y="3926365"/>
              <a:ext cx="5727240" cy="21024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5152C928-0571-41CF-BF8C-383436AC685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81659" y="3818365"/>
                <a:ext cx="5834880" cy="425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70355" y="829944"/>
            <a:ext cx="60039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</a:t>
            </a:r>
            <a:r>
              <a:rPr spc="-10" dirty="0"/>
              <a:t>Default</a:t>
            </a:r>
            <a:r>
              <a:rPr spc="-50" dirty="0"/>
              <a:t> </a:t>
            </a:r>
            <a:r>
              <a:rPr spc="-40" dirty="0"/>
              <a:t>Values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877822"/>
            <a:ext cx="7280275" cy="18186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6465" marR="5080">
              <a:lnSpc>
                <a:spcPct val="119900"/>
              </a:lnSpc>
              <a:spcBef>
                <a:spcPts val="100"/>
              </a:spcBef>
            </a:pPr>
            <a:r>
              <a:rPr sz="3200" spc="-5" dirty="0">
                <a:latin typeface="Courier New"/>
                <a:cs typeface="Courier New"/>
              </a:rPr>
              <a:t>INSERT INTO Drinkers(name)  VALUES(’Sally’);</a:t>
            </a:r>
            <a:endParaRPr sz="3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3200" spc="-10" dirty="0">
                <a:latin typeface="Tahoma"/>
                <a:cs typeface="Tahoma"/>
              </a:rPr>
              <a:t>Resulting </a:t>
            </a:r>
            <a:r>
              <a:rPr sz="3200" spc="-5" dirty="0">
                <a:latin typeface="Tahoma"/>
                <a:cs typeface="Tahoma"/>
              </a:rPr>
              <a:t>tuple: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38237" y="4033837"/>
            <a:ext cx="6791325" cy="1076325"/>
          </a:xfrm>
          <a:custGeom>
            <a:avLst/>
            <a:gdLst/>
            <a:ahLst/>
            <a:cxnLst/>
            <a:rect l="l" t="t" r="r" b="b"/>
            <a:pathLst>
              <a:path w="6791325" h="1076325">
                <a:moveTo>
                  <a:pt x="6791325" y="1076325"/>
                </a:moveTo>
                <a:lnTo>
                  <a:pt x="0" y="1076325"/>
                </a:lnTo>
                <a:lnTo>
                  <a:pt x="0" y="0"/>
                </a:lnTo>
                <a:lnTo>
                  <a:pt x="6791325" y="0"/>
                </a:lnTo>
                <a:lnTo>
                  <a:pt x="67913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066800"/>
                </a:lnTo>
                <a:lnTo>
                  <a:pt x="4762" y="1066800"/>
                </a:lnTo>
                <a:lnTo>
                  <a:pt x="9525" y="1071562"/>
                </a:lnTo>
                <a:lnTo>
                  <a:pt x="6791325" y="1071562"/>
                </a:lnTo>
                <a:lnTo>
                  <a:pt x="6791325" y="1076325"/>
                </a:lnTo>
                <a:close/>
              </a:path>
              <a:path w="6791325" h="10763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791325" h="1076325">
                <a:moveTo>
                  <a:pt x="67818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781800" y="4762"/>
                </a:lnTo>
                <a:lnTo>
                  <a:pt x="6781800" y="9525"/>
                </a:lnTo>
                <a:close/>
              </a:path>
              <a:path w="6791325" h="1076325">
                <a:moveTo>
                  <a:pt x="6781800" y="1071562"/>
                </a:moveTo>
                <a:lnTo>
                  <a:pt x="6781800" y="4762"/>
                </a:lnTo>
                <a:lnTo>
                  <a:pt x="6786562" y="9525"/>
                </a:lnTo>
                <a:lnTo>
                  <a:pt x="6791325" y="9525"/>
                </a:lnTo>
                <a:lnTo>
                  <a:pt x="6791325" y="1066800"/>
                </a:lnTo>
                <a:lnTo>
                  <a:pt x="6786562" y="1066800"/>
                </a:lnTo>
                <a:lnTo>
                  <a:pt x="6781800" y="1071562"/>
                </a:lnTo>
                <a:close/>
              </a:path>
              <a:path w="6791325" h="1076325">
                <a:moveTo>
                  <a:pt x="6791325" y="9525"/>
                </a:moveTo>
                <a:lnTo>
                  <a:pt x="6786562" y="9525"/>
                </a:lnTo>
                <a:lnTo>
                  <a:pt x="6781800" y="4762"/>
                </a:lnTo>
                <a:lnTo>
                  <a:pt x="6791325" y="4762"/>
                </a:lnTo>
                <a:lnTo>
                  <a:pt x="6791325" y="9525"/>
                </a:lnTo>
                <a:close/>
              </a:path>
              <a:path w="6791325" h="1076325">
                <a:moveTo>
                  <a:pt x="9525" y="1071562"/>
                </a:moveTo>
                <a:lnTo>
                  <a:pt x="4762" y="1066800"/>
                </a:lnTo>
                <a:lnTo>
                  <a:pt x="9525" y="1066800"/>
                </a:lnTo>
                <a:lnTo>
                  <a:pt x="9525" y="1071562"/>
                </a:lnTo>
                <a:close/>
              </a:path>
              <a:path w="6791325" h="1076325">
                <a:moveTo>
                  <a:pt x="6781800" y="1071562"/>
                </a:moveTo>
                <a:lnTo>
                  <a:pt x="9525" y="1071562"/>
                </a:lnTo>
                <a:lnTo>
                  <a:pt x="9525" y="1066800"/>
                </a:lnTo>
                <a:lnTo>
                  <a:pt x="6781800" y="1066800"/>
                </a:lnTo>
                <a:lnTo>
                  <a:pt x="6781800" y="1071562"/>
                </a:lnTo>
                <a:close/>
              </a:path>
              <a:path w="6791325" h="1076325">
                <a:moveTo>
                  <a:pt x="6791325" y="1071562"/>
                </a:moveTo>
                <a:lnTo>
                  <a:pt x="6781800" y="1071562"/>
                </a:lnTo>
                <a:lnTo>
                  <a:pt x="6786562" y="1066800"/>
                </a:lnTo>
                <a:lnTo>
                  <a:pt x="6791325" y="1066800"/>
                </a:lnTo>
                <a:lnTo>
                  <a:pt x="6791325" y="10715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43000" y="4648200"/>
            <a:ext cx="6781800" cy="0"/>
          </a:xfrm>
          <a:custGeom>
            <a:avLst/>
            <a:gdLst/>
            <a:ahLst/>
            <a:cxnLst/>
            <a:rect l="l" t="t" r="r" b="b"/>
            <a:pathLst>
              <a:path w="6781800">
                <a:moveTo>
                  <a:pt x="0" y="0"/>
                </a:moveTo>
                <a:lnTo>
                  <a:pt x="67818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819400" y="4038600"/>
            <a:ext cx="0" cy="1066800"/>
          </a:xfrm>
          <a:custGeom>
            <a:avLst/>
            <a:gdLst/>
            <a:ahLst/>
            <a:cxnLst/>
            <a:rect l="l" t="t" r="r" b="b"/>
            <a:pathLst>
              <a:path h="1066800">
                <a:moveTo>
                  <a:pt x="0" y="0"/>
                </a:moveTo>
                <a:lnTo>
                  <a:pt x="0" y="10668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24600" y="4038600"/>
            <a:ext cx="0" cy="1066800"/>
          </a:xfrm>
          <a:custGeom>
            <a:avLst/>
            <a:gdLst/>
            <a:ahLst/>
            <a:cxnLst/>
            <a:rect l="l" t="t" r="r" b="b"/>
            <a:pathLst>
              <a:path h="1066800">
                <a:moveTo>
                  <a:pt x="0" y="0"/>
                </a:moveTo>
                <a:lnTo>
                  <a:pt x="0" y="10668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297939" y="4024121"/>
            <a:ext cx="1021715" cy="1092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400"/>
              </a:lnSpc>
              <a:spcBef>
                <a:spcPts val="95"/>
              </a:spcBef>
            </a:pP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nam</a:t>
            </a:r>
            <a:r>
              <a:rPr sz="3200" dirty="0">
                <a:solidFill>
                  <a:srgbClr val="CC00CC"/>
                </a:solidFill>
                <a:latin typeface="Tahoma"/>
                <a:cs typeface="Tahoma"/>
              </a:rPr>
              <a:t>e  </a:t>
            </a:r>
            <a:r>
              <a:rPr sz="3200" spc="-5" dirty="0">
                <a:latin typeface="Tahoma"/>
                <a:cs typeface="Tahoma"/>
              </a:rPr>
              <a:t>Sally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40</a:t>
            </a:fld>
            <a:endParaRPr dirty="0"/>
          </a:p>
        </p:txBody>
      </p:sp>
      <p:sp>
        <p:nvSpPr>
          <p:cNvPr id="9" name="object 9"/>
          <p:cNvSpPr txBox="1"/>
          <p:nvPr/>
        </p:nvSpPr>
        <p:spPr>
          <a:xfrm>
            <a:off x="3126739" y="4024121"/>
            <a:ext cx="2699385" cy="109220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address</a:t>
            </a:r>
            <a:endParaRPr sz="3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9"/>
              </a:spcBef>
            </a:pPr>
            <a:r>
              <a:rPr sz="3200" spc="-5" dirty="0">
                <a:latin typeface="Tahoma"/>
                <a:cs typeface="Tahoma"/>
              </a:rPr>
              <a:t>123 Sesame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St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31940" y="4024121"/>
            <a:ext cx="1139190" cy="1092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0" marR="5080" indent="-152400">
              <a:lnSpc>
                <a:spcPct val="109400"/>
              </a:lnSpc>
              <a:spcBef>
                <a:spcPts val="95"/>
              </a:spcBef>
            </a:pP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phon</a:t>
            </a:r>
            <a:r>
              <a:rPr sz="3200" dirty="0">
                <a:solidFill>
                  <a:srgbClr val="CC00CC"/>
                </a:solidFill>
                <a:latin typeface="Tahoma"/>
                <a:cs typeface="Tahoma"/>
              </a:rPr>
              <a:t>e  </a:t>
            </a:r>
            <a:r>
              <a:rPr sz="3200" spc="-5" dirty="0">
                <a:latin typeface="Tahoma"/>
                <a:cs typeface="Tahoma"/>
              </a:rPr>
              <a:t>NULL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49120" y="829944"/>
            <a:ext cx="54463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Inserting </a:t>
            </a:r>
            <a:r>
              <a:rPr spc="-15" dirty="0"/>
              <a:t>Many</a:t>
            </a:r>
            <a:r>
              <a:rPr spc="-60" dirty="0"/>
              <a:t> </a:t>
            </a:r>
            <a:r>
              <a:rPr spc="-75" dirty="0"/>
              <a:t>Tuples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41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005955" cy="2170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65" dirty="0">
                <a:latin typeface="Tahoma"/>
                <a:cs typeface="Tahoma"/>
              </a:rPr>
              <a:t>We </a:t>
            </a:r>
            <a:r>
              <a:rPr sz="3200" spc="-10" dirty="0">
                <a:latin typeface="Tahoma"/>
                <a:cs typeface="Tahoma"/>
              </a:rPr>
              <a:t>may </a:t>
            </a:r>
            <a:r>
              <a:rPr sz="3200" spc="-5" dirty="0">
                <a:latin typeface="Tahoma"/>
                <a:cs typeface="Tahoma"/>
              </a:rPr>
              <a:t>insert the entire result of </a:t>
            </a:r>
            <a:r>
              <a:rPr sz="3200" dirty="0">
                <a:latin typeface="Tahoma"/>
                <a:cs typeface="Tahoma"/>
              </a:rPr>
              <a:t>a  </a:t>
            </a:r>
            <a:r>
              <a:rPr sz="3200" spc="-5" dirty="0">
                <a:latin typeface="Tahoma"/>
                <a:cs typeface="Tahoma"/>
              </a:rPr>
              <a:t>query into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relation, using the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form:</a:t>
            </a:r>
            <a:endParaRPr sz="3200">
              <a:latin typeface="Tahoma"/>
              <a:cs typeface="Tahoma"/>
            </a:endParaRPr>
          </a:p>
          <a:p>
            <a:pPr marL="926465" marR="1590040">
              <a:lnSpc>
                <a:spcPts val="4610"/>
              </a:lnSpc>
              <a:spcBef>
                <a:spcPts val="265"/>
              </a:spcBef>
            </a:pPr>
            <a:r>
              <a:rPr sz="3200" spc="-20" dirty="0">
                <a:latin typeface="Tahoma"/>
                <a:cs typeface="Tahoma"/>
              </a:rPr>
              <a:t>INSERT INTO </a:t>
            </a:r>
            <a:r>
              <a:rPr sz="3200" spc="-5" dirty="0">
                <a:latin typeface="Tahoma"/>
                <a:cs typeface="Tahoma"/>
              </a:rPr>
              <a:t>&lt;relation&gt;  </a:t>
            </a:r>
            <a:r>
              <a:rPr sz="3200" dirty="0">
                <a:latin typeface="Tahoma"/>
                <a:cs typeface="Tahoma"/>
              </a:rPr>
              <a:t>( </a:t>
            </a:r>
            <a:r>
              <a:rPr sz="3200" spc="-5" dirty="0">
                <a:latin typeface="Tahoma"/>
                <a:cs typeface="Tahoma"/>
              </a:rPr>
              <a:t>&lt;subquery&gt;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);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3314" y="829944"/>
            <a:ext cx="68980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</a:t>
            </a:r>
            <a:r>
              <a:rPr spc="-10" dirty="0"/>
              <a:t>Insert </a:t>
            </a:r>
            <a:r>
              <a:rPr dirty="0"/>
              <a:t>a</a:t>
            </a:r>
            <a:r>
              <a:rPr spc="-25" dirty="0"/>
              <a:t> </a:t>
            </a:r>
            <a:r>
              <a:rPr spc="-5" dirty="0"/>
              <a:t>Subquery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42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496809" cy="2465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Using </a:t>
            </a:r>
            <a:r>
              <a:rPr sz="3200" spc="-30" dirty="0">
                <a:solidFill>
                  <a:srgbClr val="CC00CC"/>
                </a:solidFill>
                <a:latin typeface="Tahoma"/>
                <a:cs typeface="Tahoma"/>
              </a:rPr>
              <a:t>Frequents(drinker,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bar)</a:t>
            </a:r>
            <a:r>
              <a:rPr sz="3200" spc="-5" dirty="0">
                <a:latin typeface="Tahoma"/>
                <a:cs typeface="Tahoma"/>
              </a:rPr>
              <a:t>, enter  into the new relation </a:t>
            </a:r>
            <a:r>
              <a:rPr sz="3200" spc="-10" dirty="0">
                <a:solidFill>
                  <a:srgbClr val="CC00CC"/>
                </a:solidFill>
                <a:latin typeface="Tahoma"/>
                <a:cs typeface="Tahoma"/>
              </a:rPr>
              <a:t>PotBuddies(name) 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all </a:t>
            </a:r>
            <a:r>
              <a:rPr sz="3200" spc="-5" dirty="0">
                <a:latin typeface="Tahoma"/>
                <a:cs typeface="Tahoma"/>
              </a:rPr>
              <a:t>of </a:t>
            </a:r>
            <a:r>
              <a:rPr sz="3200" spc="-15" dirty="0">
                <a:latin typeface="Tahoma"/>
                <a:cs typeface="Tahoma"/>
              </a:rPr>
              <a:t>Sally’s </a:t>
            </a:r>
            <a:r>
              <a:rPr sz="3200" spc="-5" dirty="0">
                <a:latin typeface="Tahoma"/>
                <a:cs typeface="Tahoma"/>
              </a:rPr>
              <a:t>“potential </a:t>
            </a:r>
            <a:r>
              <a:rPr sz="3200" spc="-40" dirty="0">
                <a:latin typeface="Tahoma"/>
                <a:cs typeface="Tahoma"/>
              </a:rPr>
              <a:t>buddies,” </a:t>
            </a:r>
            <a:r>
              <a:rPr sz="3200" spc="-45" dirty="0">
                <a:latin typeface="Tahoma"/>
                <a:cs typeface="Tahoma"/>
              </a:rPr>
              <a:t>i.e.,  </a:t>
            </a:r>
            <a:r>
              <a:rPr sz="3200" spc="-5" dirty="0">
                <a:latin typeface="Tahoma"/>
                <a:cs typeface="Tahoma"/>
              </a:rPr>
              <a:t>those drinkers who </a:t>
            </a:r>
            <a:r>
              <a:rPr sz="3200" spc="-10" dirty="0">
                <a:latin typeface="Tahoma"/>
                <a:cs typeface="Tahoma"/>
              </a:rPr>
              <a:t>frequent </a:t>
            </a:r>
            <a:r>
              <a:rPr sz="3200" spc="-5" dirty="0">
                <a:latin typeface="Tahoma"/>
                <a:cs typeface="Tahoma"/>
              </a:rPr>
              <a:t>at least  one bar that Sally also</a:t>
            </a:r>
            <a:r>
              <a:rPr sz="3200" spc="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frequents.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66795" y="829944"/>
            <a:ext cx="20104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>
                <a:latin typeface="Tahoma"/>
                <a:cs typeface="Tahoma"/>
              </a:rPr>
              <a:t>Solution</a:t>
            </a:r>
            <a:endParaRPr sz="4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455168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20" dirty="0">
                <a:latin typeface="Tahoma"/>
                <a:cs typeface="Tahoma"/>
              </a:rPr>
              <a:t>INSERT INTO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PotBuddies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2597785"/>
            <a:ext cx="18161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Tahoma"/>
                <a:cs typeface="Tahoma"/>
              </a:rPr>
              <a:t>(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2814" y="2610286"/>
            <a:ext cx="3312795" cy="49149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3200" spc="-5" dirty="0">
                <a:latin typeface="Tahoma"/>
                <a:cs typeface="Tahoma"/>
              </a:rPr>
              <a:t>SELECT</a:t>
            </a:r>
            <a:r>
              <a:rPr sz="3200" spc="-8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d2.drinker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4239" y="3195121"/>
            <a:ext cx="6149340" cy="224472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3200" spc="-5" dirty="0">
                <a:latin typeface="Tahoma"/>
                <a:cs typeface="Tahoma"/>
              </a:rPr>
              <a:t>FROM Frequents d1, Frequents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d2</a:t>
            </a:r>
            <a:endParaRPr sz="3200">
              <a:latin typeface="Tahoma"/>
              <a:cs typeface="Tahoma"/>
            </a:endParaRPr>
          </a:p>
          <a:p>
            <a:pPr marL="215900" marR="368300" indent="-215900">
              <a:lnSpc>
                <a:spcPct val="119800"/>
              </a:lnSpc>
              <a:spcBef>
                <a:spcPts val="5"/>
              </a:spcBef>
            </a:pPr>
            <a:r>
              <a:rPr sz="3200" spc="-5" dirty="0">
                <a:latin typeface="Tahoma"/>
                <a:cs typeface="Tahoma"/>
              </a:rPr>
              <a:t>WHERE d1.drinker </a:t>
            </a:r>
            <a:r>
              <a:rPr sz="3200" dirty="0">
                <a:latin typeface="Tahoma"/>
                <a:cs typeface="Tahoma"/>
              </a:rPr>
              <a:t>= </a:t>
            </a:r>
            <a:r>
              <a:rPr sz="3200" spc="5" dirty="0">
                <a:latin typeface="Tahoma"/>
                <a:cs typeface="Tahoma"/>
              </a:rPr>
              <a:t>’Sally’ </a:t>
            </a:r>
            <a:r>
              <a:rPr sz="3200" spc="-5" dirty="0">
                <a:latin typeface="Tahoma"/>
                <a:cs typeface="Tahoma"/>
              </a:rPr>
              <a:t>AND  d2.drinker </a:t>
            </a:r>
            <a:r>
              <a:rPr sz="3200" dirty="0">
                <a:latin typeface="Tahoma"/>
                <a:cs typeface="Tahoma"/>
              </a:rPr>
              <a:t>&lt;&gt; </a:t>
            </a:r>
            <a:r>
              <a:rPr sz="3200" spc="5" dirty="0">
                <a:latin typeface="Tahoma"/>
                <a:cs typeface="Tahoma"/>
              </a:rPr>
              <a:t>’Sally’ </a:t>
            </a:r>
            <a:r>
              <a:rPr sz="3200" spc="-5" dirty="0">
                <a:latin typeface="Tahoma"/>
                <a:cs typeface="Tahoma"/>
              </a:rPr>
              <a:t>AND  d1.bar </a:t>
            </a:r>
            <a:r>
              <a:rPr sz="3200" dirty="0">
                <a:latin typeface="Tahoma"/>
                <a:cs typeface="Tahoma"/>
              </a:rPr>
              <a:t>=</a:t>
            </a:r>
            <a:r>
              <a:rPr sz="3200" spc="-5" dirty="0">
                <a:latin typeface="Tahoma"/>
                <a:cs typeface="Tahoma"/>
              </a:rPr>
              <a:t> d2.bar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4540" y="5521959"/>
            <a:ext cx="32512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Tahoma"/>
                <a:cs typeface="Tahoma"/>
              </a:rPr>
              <a:t>)</a:t>
            </a:r>
            <a:r>
              <a:rPr sz="3200" dirty="0">
                <a:latin typeface="Tahoma"/>
                <a:cs typeface="Tahoma"/>
              </a:rPr>
              <a:t>;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8200" y="3200400"/>
            <a:ext cx="6324600" cy="2286000"/>
          </a:xfrm>
          <a:custGeom>
            <a:avLst/>
            <a:gdLst/>
            <a:ahLst/>
            <a:cxnLst/>
            <a:rect l="l" t="t" r="r" b="b"/>
            <a:pathLst>
              <a:path w="6324600" h="2286000">
                <a:moveTo>
                  <a:pt x="0" y="0"/>
                </a:moveTo>
                <a:lnTo>
                  <a:pt x="6324600" y="0"/>
                </a:lnTo>
                <a:lnTo>
                  <a:pt x="6324600" y="2286000"/>
                </a:lnTo>
                <a:lnTo>
                  <a:pt x="0" y="2286000"/>
                </a:lnTo>
                <a:lnTo>
                  <a:pt x="0" y="0"/>
                </a:lnTo>
                <a:close/>
              </a:path>
            </a:pathLst>
          </a:custGeom>
          <a:solidFill>
            <a:srgbClr val="00CC99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33437" y="3195637"/>
            <a:ext cx="6334125" cy="2295525"/>
          </a:xfrm>
          <a:custGeom>
            <a:avLst/>
            <a:gdLst/>
            <a:ahLst/>
            <a:cxnLst/>
            <a:rect l="l" t="t" r="r" b="b"/>
            <a:pathLst>
              <a:path w="6334125" h="2295525">
                <a:moveTo>
                  <a:pt x="6334125" y="2295525"/>
                </a:moveTo>
                <a:lnTo>
                  <a:pt x="0" y="2295525"/>
                </a:lnTo>
                <a:lnTo>
                  <a:pt x="0" y="0"/>
                </a:lnTo>
                <a:lnTo>
                  <a:pt x="6334125" y="0"/>
                </a:lnTo>
                <a:lnTo>
                  <a:pt x="63341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2286000"/>
                </a:lnTo>
                <a:lnTo>
                  <a:pt x="4762" y="2286000"/>
                </a:lnTo>
                <a:lnTo>
                  <a:pt x="9525" y="2290762"/>
                </a:lnTo>
                <a:lnTo>
                  <a:pt x="6334125" y="2290762"/>
                </a:lnTo>
                <a:lnTo>
                  <a:pt x="6334125" y="2295525"/>
                </a:lnTo>
                <a:close/>
              </a:path>
              <a:path w="6334125" h="22955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334125" h="2295525">
                <a:moveTo>
                  <a:pt x="63246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6324600" y="4762"/>
                </a:lnTo>
                <a:lnTo>
                  <a:pt x="6324600" y="9525"/>
                </a:lnTo>
                <a:close/>
              </a:path>
              <a:path w="6334125" h="2295525">
                <a:moveTo>
                  <a:pt x="6324600" y="2290762"/>
                </a:moveTo>
                <a:lnTo>
                  <a:pt x="6324600" y="4762"/>
                </a:lnTo>
                <a:lnTo>
                  <a:pt x="6329362" y="9525"/>
                </a:lnTo>
                <a:lnTo>
                  <a:pt x="6334125" y="9525"/>
                </a:lnTo>
                <a:lnTo>
                  <a:pt x="6334125" y="2286000"/>
                </a:lnTo>
                <a:lnTo>
                  <a:pt x="6329362" y="2286000"/>
                </a:lnTo>
                <a:lnTo>
                  <a:pt x="6324600" y="2290762"/>
                </a:lnTo>
                <a:close/>
              </a:path>
              <a:path w="6334125" h="2295525">
                <a:moveTo>
                  <a:pt x="6334125" y="9525"/>
                </a:moveTo>
                <a:lnTo>
                  <a:pt x="6329362" y="9525"/>
                </a:lnTo>
                <a:lnTo>
                  <a:pt x="6324600" y="4762"/>
                </a:lnTo>
                <a:lnTo>
                  <a:pt x="6334125" y="4762"/>
                </a:lnTo>
                <a:lnTo>
                  <a:pt x="6334125" y="9525"/>
                </a:lnTo>
                <a:close/>
              </a:path>
              <a:path w="6334125" h="2295525">
                <a:moveTo>
                  <a:pt x="9525" y="2290762"/>
                </a:moveTo>
                <a:lnTo>
                  <a:pt x="4762" y="2286000"/>
                </a:lnTo>
                <a:lnTo>
                  <a:pt x="9525" y="2286000"/>
                </a:lnTo>
                <a:lnTo>
                  <a:pt x="9525" y="2290762"/>
                </a:lnTo>
                <a:close/>
              </a:path>
              <a:path w="6334125" h="2295525">
                <a:moveTo>
                  <a:pt x="6324600" y="2290762"/>
                </a:moveTo>
                <a:lnTo>
                  <a:pt x="9525" y="2290762"/>
                </a:lnTo>
                <a:lnTo>
                  <a:pt x="9525" y="2286000"/>
                </a:lnTo>
                <a:lnTo>
                  <a:pt x="6324600" y="2286000"/>
                </a:lnTo>
                <a:lnTo>
                  <a:pt x="6324600" y="2290762"/>
                </a:lnTo>
                <a:close/>
              </a:path>
              <a:path w="6334125" h="2295525">
                <a:moveTo>
                  <a:pt x="6334125" y="2290762"/>
                </a:moveTo>
                <a:lnTo>
                  <a:pt x="6324600" y="2290762"/>
                </a:lnTo>
                <a:lnTo>
                  <a:pt x="6329362" y="2286000"/>
                </a:lnTo>
                <a:lnTo>
                  <a:pt x="6334125" y="2286000"/>
                </a:lnTo>
                <a:lnTo>
                  <a:pt x="6334125" y="2290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708140" y="717549"/>
            <a:ext cx="1906270" cy="2160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15" dirty="0">
                <a:latin typeface="Tahoma"/>
                <a:cs typeface="Tahoma"/>
              </a:rPr>
              <a:t>Pairs </a:t>
            </a:r>
            <a:r>
              <a:rPr sz="2000" spc="-5" dirty="0">
                <a:latin typeface="Tahoma"/>
                <a:cs typeface="Tahoma"/>
              </a:rPr>
              <a:t>of Drinker  tuples where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the  first is </a:t>
            </a:r>
            <a:r>
              <a:rPr sz="2000" spc="-10" dirty="0">
                <a:latin typeface="Tahoma"/>
                <a:cs typeface="Tahoma"/>
              </a:rPr>
              <a:t>for </a:t>
            </a:r>
            <a:r>
              <a:rPr sz="2000" spc="-35" dirty="0">
                <a:latin typeface="Tahoma"/>
                <a:cs typeface="Tahoma"/>
              </a:rPr>
              <a:t>Sally,  </a:t>
            </a:r>
            <a:r>
              <a:rPr sz="2000" spc="-5" dirty="0">
                <a:latin typeface="Tahoma"/>
                <a:cs typeface="Tahoma"/>
              </a:rPr>
              <a:t>the second is </a:t>
            </a:r>
            <a:r>
              <a:rPr sz="2000" spc="-10" dirty="0">
                <a:latin typeface="Tahoma"/>
                <a:cs typeface="Tahoma"/>
              </a:rPr>
              <a:t>for  </a:t>
            </a:r>
            <a:r>
              <a:rPr sz="2000" spc="-5" dirty="0">
                <a:latin typeface="Tahoma"/>
                <a:cs typeface="Tahoma"/>
              </a:rPr>
              <a:t>someone else,  and the bars are  the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same.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410200" y="1901850"/>
            <a:ext cx="1146810" cy="1298575"/>
          </a:xfrm>
          <a:custGeom>
            <a:avLst/>
            <a:gdLst/>
            <a:ahLst/>
            <a:cxnLst/>
            <a:rect l="l" t="t" r="r" b="b"/>
            <a:pathLst>
              <a:path w="1146809" h="1298575">
                <a:moveTo>
                  <a:pt x="53982" y="1244562"/>
                </a:moveTo>
                <a:lnTo>
                  <a:pt x="46844" y="1238263"/>
                </a:lnTo>
                <a:lnTo>
                  <a:pt x="1139431" y="0"/>
                </a:lnTo>
                <a:lnTo>
                  <a:pt x="1146568" y="6299"/>
                </a:lnTo>
                <a:lnTo>
                  <a:pt x="53982" y="1244562"/>
                </a:lnTo>
                <a:close/>
              </a:path>
              <a:path w="1146809" h="1298575">
                <a:moveTo>
                  <a:pt x="0" y="1298549"/>
                </a:moveTo>
                <a:lnTo>
                  <a:pt x="21844" y="1216202"/>
                </a:lnTo>
                <a:lnTo>
                  <a:pt x="46844" y="1238263"/>
                </a:lnTo>
                <a:lnTo>
                  <a:pt x="34239" y="1252550"/>
                </a:lnTo>
                <a:lnTo>
                  <a:pt x="41376" y="1258849"/>
                </a:lnTo>
                <a:lnTo>
                  <a:pt x="70173" y="1258849"/>
                </a:lnTo>
                <a:lnTo>
                  <a:pt x="78981" y="1266621"/>
                </a:lnTo>
                <a:lnTo>
                  <a:pt x="0" y="1298549"/>
                </a:lnTo>
                <a:close/>
              </a:path>
              <a:path w="1146809" h="1298575">
                <a:moveTo>
                  <a:pt x="41376" y="1258849"/>
                </a:moveTo>
                <a:lnTo>
                  <a:pt x="34239" y="1252550"/>
                </a:lnTo>
                <a:lnTo>
                  <a:pt x="46844" y="1238263"/>
                </a:lnTo>
                <a:lnTo>
                  <a:pt x="53982" y="1244562"/>
                </a:lnTo>
                <a:lnTo>
                  <a:pt x="41376" y="1258849"/>
                </a:lnTo>
                <a:close/>
              </a:path>
              <a:path w="1146809" h="1298575">
                <a:moveTo>
                  <a:pt x="70173" y="1258849"/>
                </a:moveTo>
                <a:lnTo>
                  <a:pt x="41376" y="1258849"/>
                </a:lnTo>
                <a:lnTo>
                  <a:pt x="53982" y="1244562"/>
                </a:lnTo>
                <a:lnTo>
                  <a:pt x="70173" y="12588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14400" y="2590800"/>
            <a:ext cx="3429000" cy="533400"/>
          </a:xfrm>
          <a:custGeom>
            <a:avLst/>
            <a:gdLst/>
            <a:ahLst/>
            <a:cxnLst/>
            <a:rect l="l" t="t" r="r" b="b"/>
            <a:pathLst>
              <a:path w="3429000" h="533400">
                <a:moveTo>
                  <a:pt x="0" y="0"/>
                </a:moveTo>
                <a:lnTo>
                  <a:pt x="3429000" y="0"/>
                </a:lnTo>
                <a:lnTo>
                  <a:pt x="34290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FFFF99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09637" y="2586037"/>
            <a:ext cx="3438525" cy="542925"/>
          </a:xfrm>
          <a:custGeom>
            <a:avLst/>
            <a:gdLst/>
            <a:ahLst/>
            <a:cxnLst/>
            <a:rect l="l" t="t" r="r" b="b"/>
            <a:pathLst>
              <a:path w="3438525" h="542925">
                <a:moveTo>
                  <a:pt x="3438525" y="542925"/>
                </a:moveTo>
                <a:lnTo>
                  <a:pt x="0" y="542925"/>
                </a:lnTo>
                <a:lnTo>
                  <a:pt x="0" y="0"/>
                </a:lnTo>
                <a:lnTo>
                  <a:pt x="3438525" y="0"/>
                </a:lnTo>
                <a:lnTo>
                  <a:pt x="34385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533400"/>
                </a:lnTo>
                <a:lnTo>
                  <a:pt x="4762" y="533400"/>
                </a:lnTo>
                <a:lnTo>
                  <a:pt x="9525" y="538162"/>
                </a:lnTo>
                <a:lnTo>
                  <a:pt x="3438525" y="538162"/>
                </a:lnTo>
                <a:lnTo>
                  <a:pt x="3438525" y="542925"/>
                </a:lnTo>
                <a:close/>
              </a:path>
              <a:path w="3438525" h="5429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438525" h="542925">
                <a:moveTo>
                  <a:pt x="34290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429000" y="4762"/>
                </a:lnTo>
                <a:lnTo>
                  <a:pt x="3429000" y="9525"/>
                </a:lnTo>
                <a:close/>
              </a:path>
              <a:path w="3438525" h="542925">
                <a:moveTo>
                  <a:pt x="3429000" y="538162"/>
                </a:moveTo>
                <a:lnTo>
                  <a:pt x="3429000" y="4762"/>
                </a:lnTo>
                <a:lnTo>
                  <a:pt x="3433762" y="9525"/>
                </a:lnTo>
                <a:lnTo>
                  <a:pt x="3438525" y="9525"/>
                </a:lnTo>
                <a:lnTo>
                  <a:pt x="3438525" y="533400"/>
                </a:lnTo>
                <a:lnTo>
                  <a:pt x="3433762" y="533400"/>
                </a:lnTo>
                <a:lnTo>
                  <a:pt x="3429000" y="538162"/>
                </a:lnTo>
                <a:close/>
              </a:path>
              <a:path w="3438525" h="542925">
                <a:moveTo>
                  <a:pt x="3438525" y="9525"/>
                </a:moveTo>
                <a:lnTo>
                  <a:pt x="3433762" y="9525"/>
                </a:lnTo>
                <a:lnTo>
                  <a:pt x="3429000" y="4762"/>
                </a:lnTo>
                <a:lnTo>
                  <a:pt x="3438525" y="4762"/>
                </a:lnTo>
                <a:lnTo>
                  <a:pt x="3438525" y="9525"/>
                </a:lnTo>
                <a:close/>
              </a:path>
              <a:path w="3438525" h="542925">
                <a:moveTo>
                  <a:pt x="9525" y="538162"/>
                </a:moveTo>
                <a:lnTo>
                  <a:pt x="4762" y="533400"/>
                </a:lnTo>
                <a:lnTo>
                  <a:pt x="9525" y="533400"/>
                </a:lnTo>
                <a:lnTo>
                  <a:pt x="9525" y="538162"/>
                </a:lnTo>
                <a:close/>
              </a:path>
              <a:path w="3438525" h="542925">
                <a:moveTo>
                  <a:pt x="3429000" y="538162"/>
                </a:moveTo>
                <a:lnTo>
                  <a:pt x="9525" y="538162"/>
                </a:lnTo>
                <a:lnTo>
                  <a:pt x="9525" y="533400"/>
                </a:lnTo>
                <a:lnTo>
                  <a:pt x="3429000" y="533400"/>
                </a:lnTo>
                <a:lnTo>
                  <a:pt x="3429000" y="538162"/>
                </a:lnTo>
                <a:close/>
              </a:path>
              <a:path w="3438525" h="542925">
                <a:moveTo>
                  <a:pt x="3438525" y="538162"/>
                </a:moveTo>
                <a:lnTo>
                  <a:pt x="3429000" y="538162"/>
                </a:lnTo>
                <a:lnTo>
                  <a:pt x="3433762" y="533400"/>
                </a:lnTo>
                <a:lnTo>
                  <a:pt x="3438525" y="533400"/>
                </a:lnTo>
                <a:lnTo>
                  <a:pt x="3438525" y="538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72465" y="647699"/>
            <a:ext cx="111950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The</a:t>
            </a:r>
            <a:r>
              <a:rPr sz="2000" spc="-7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other  drinker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519745" y="1369466"/>
            <a:ext cx="614045" cy="1221740"/>
          </a:xfrm>
          <a:custGeom>
            <a:avLst/>
            <a:gdLst/>
            <a:ahLst/>
            <a:cxnLst/>
            <a:rect l="l" t="t" r="r" b="b"/>
            <a:pathLst>
              <a:path w="614044" h="1221739">
                <a:moveTo>
                  <a:pt x="575514" y="1155308"/>
                </a:moveTo>
                <a:lnTo>
                  <a:pt x="0" y="4267"/>
                </a:lnTo>
                <a:lnTo>
                  <a:pt x="8508" y="0"/>
                </a:lnTo>
                <a:lnTo>
                  <a:pt x="584038" y="1151047"/>
                </a:lnTo>
                <a:lnTo>
                  <a:pt x="575514" y="1155308"/>
                </a:lnTo>
                <a:close/>
              </a:path>
              <a:path w="614044" h="1221739">
                <a:moveTo>
                  <a:pt x="613854" y="1172349"/>
                </a:moveTo>
                <a:lnTo>
                  <a:pt x="584034" y="1172349"/>
                </a:lnTo>
                <a:lnTo>
                  <a:pt x="592556" y="1168082"/>
                </a:lnTo>
                <a:lnTo>
                  <a:pt x="584038" y="1151047"/>
                </a:lnTo>
                <a:lnTo>
                  <a:pt x="613854" y="1136142"/>
                </a:lnTo>
                <a:lnTo>
                  <a:pt x="613854" y="1172349"/>
                </a:lnTo>
                <a:close/>
              </a:path>
              <a:path w="614044" h="1221739">
                <a:moveTo>
                  <a:pt x="584034" y="1172349"/>
                </a:moveTo>
                <a:lnTo>
                  <a:pt x="575514" y="1155308"/>
                </a:lnTo>
                <a:lnTo>
                  <a:pt x="584038" y="1151047"/>
                </a:lnTo>
                <a:lnTo>
                  <a:pt x="592556" y="1168082"/>
                </a:lnTo>
                <a:lnTo>
                  <a:pt x="584034" y="1172349"/>
                </a:lnTo>
                <a:close/>
              </a:path>
              <a:path w="614044" h="1221739">
                <a:moveTo>
                  <a:pt x="613854" y="1221333"/>
                </a:moveTo>
                <a:lnTo>
                  <a:pt x="545693" y="1170216"/>
                </a:lnTo>
                <a:lnTo>
                  <a:pt x="575514" y="1155308"/>
                </a:lnTo>
                <a:lnTo>
                  <a:pt x="584034" y="1172349"/>
                </a:lnTo>
                <a:lnTo>
                  <a:pt x="613854" y="1172349"/>
                </a:lnTo>
                <a:lnTo>
                  <a:pt x="613854" y="12213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43</a:t>
            </a:fld>
            <a:endParaRPr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19500" y="4564379"/>
            <a:ext cx="4724400" cy="533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13180" y="68262"/>
            <a:ext cx="6518275" cy="1367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2410" marR="5080" indent="-22034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Creating </a:t>
            </a:r>
            <a:r>
              <a:rPr dirty="0"/>
              <a:t>a </a:t>
            </a:r>
            <a:r>
              <a:rPr spc="-100" dirty="0"/>
              <a:t>Table </a:t>
            </a:r>
            <a:r>
              <a:rPr spc="-5" dirty="0"/>
              <a:t>Using the  SELECT </a:t>
            </a:r>
            <a:r>
              <a:rPr spc="-30" dirty="0"/>
              <a:t>INTO</a:t>
            </a:r>
            <a:r>
              <a:rPr spc="-35" dirty="0"/>
              <a:t> </a:t>
            </a:r>
            <a:r>
              <a:rPr spc="-5" dirty="0"/>
              <a:t>Statement</a:t>
            </a:r>
          </a:p>
        </p:txBody>
      </p:sp>
      <p:sp>
        <p:nvSpPr>
          <p:cNvPr id="4" name="object 4"/>
          <p:cNvSpPr/>
          <p:nvPr/>
        </p:nvSpPr>
        <p:spPr>
          <a:xfrm>
            <a:off x="608965" y="5051108"/>
            <a:ext cx="8006080" cy="173863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08965" y="1526539"/>
            <a:ext cx="7722234" cy="4998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3220" indent="-351155">
              <a:lnSpc>
                <a:spcPts val="2855"/>
              </a:lnSpc>
              <a:spcBef>
                <a:spcPts val="95"/>
              </a:spcBef>
              <a:buClr>
                <a:srgbClr val="CC00CC"/>
              </a:buClr>
              <a:buSzPct val="96428"/>
              <a:buFont typeface="Wingdings"/>
              <a:buChar char=""/>
              <a:tabLst>
                <a:tab pos="363855" algn="l"/>
              </a:tabLst>
            </a:pPr>
            <a:r>
              <a:rPr sz="2800" spc="-5" dirty="0">
                <a:latin typeface="Tahoma"/>
                <a:cs typeface="Tahoma"/>
              </a:rPr>
              <a:t>Use to Create a </a:t>
            </a:r>
            <a:r>
              <a:rPr sz="2800" spc="-65" dirty="0">
                <a:latin typeface="Tahoma"/>
                <a:cs typeface="Tahoma"/>
              </a:rPr>
              <a:t>Table </a:t>
            </a:r>
            <a:r>
              <a:rPr sz="2800" spc="-5" dirty="0">
                <a:latin typeface="Tahoma"/>
                <a:cs typeface="Tahoma"/>
              </a:rPr>
              <a:t>and Insert </a:t>
            </a:r>
            <a:r>
              <a:rPr sz="2800" spc="-15" dirty="0">
                <a:latin typeface="Tahoma"/>
                <a:cs typeface="Tahoma"/>
              </a:rPr>
              <a:t>Rows </a:t>
            </a:r>
            <a:r>
              <a:rPr sz="2800" spc="-5" dirty="0">
                <a:latin typeface="Tahoma"/>
                <a:cs typeface="Tahoma"/>
              </a:rPr>
              <a:t>into</a:t>
            </a:r>
            <a:r>
              <a:rPr sz="2800" spc="6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the</a:t>
            </a:r>
            <a:endParaRPr sz="2800" dirty="0">
              <a:latin typeface="Tahoma"/>
              <a:cs typeface="Tahoma"/>
            </a:endParaRPr>
          </a:p>
          <a:p>
            <a:pPr marL="355600">
              <a:lnSpc>
                <a:spcPts val="2350"/>
              </a:lnSpc>
            </a:pPr>
            <a:r>
              <a:rPr sz="2800" spc="-65" dirty="0">
                <a:latin typeface="Tahoma"/>
                <a:cs typeface="Tahoma"/>
              </a:rPr>
              <a:t>Table</a:t>
            </a:r>
            <a:endParaRPr sz="2800" dirty="0">
              <a:latin typeface="Tahoma"/>
              <a:cs typeface="Tahoma"/>
            </a:endParaRPr>
          </a:p>
          <a:p>
            <a:pPr marL="355600">
              <a:lnSpc>
                <a:spcPts val="2685"/>
              </a:lnSpc>
            </a:pPr>
            <a:r>
              <a:rPr sz="2800" spc="-5" dirty="0">
                <a:latin typeface="Tahoma"/>
                <a:cs typeface="Tahoma"/>
              </a:rPr>
              <a:t>in a Single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Operation</a:t>
            </a:r>
            <a:endParaRPr sz="2800" dirty="0">
              <a:latin typeface="Tahoma"/>
              <a:cs typeface="Tahoma"/>
            </a:endParaRPr>
          </a:p>
          <a:p>
            <a:pPr marL="363220" indent="-351155">
              <a:lnSpc>
                <a:spcPts val="3105"/>
              </a:lnSpc>
              <a:buClr>
                <a:srgbClr val="CC00CC"/>
              </a:buClr>
              <a:buSzPct val="96428"/>
              <a:buFont typeface="Wingdings"/>
              <a:buChar char=""/>
              <a:tabLst>
                <a:tab pos="363855" algn="l"/>
              </a:tabLst>
            </a:pPr>
            <a:r>
              <a:rPr sz="2800" spc="-5" dirty="0">
                <a:latin typeface="Tahoma"/>
                <a:cs typeface="Tahoma"/>
              </a:rPr>
              <a:t>Create a Local or Global </a:t>
            </a:r>
            <a:r>
              <a:rPr sz="2800" spc="-40" dirty="0">
                <a:latin typeface="Tahoma"/>
                <a:cs typeface="Tahoma"/>
              </a:rPr>
              <a:t>Temporary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65" dirty="0">
                <a:latin typeface="Tahoma"/>
                <a:cs typeface="Tahoma"/>
              </a:rPr>
              <a:t>Table</a:t>
            </a:r>
            <a:endParaRPr sz="2800" dirty="0">
              <a:latin typeface="Tahoma"/>
              <a:cs typeface="Tahoma"/>
            </a:endParaRPr>
          </a:p>
          <a:p>
            <a:pPr marL="355600" marR="276225" indent="-342900">
              <a:lnSpc>
                <a:spcPct val="75900"/>
              </a:lnSpc>
              <a:spcBef>
                <a:spcPts val="725"/>
              </a:spcBef>
              <a:buClr>
                <a:srgbClr val="CC00CC"/>
              </a:buClr>
              <a:buSzPct val="96428"/>
              <a:buFont typeface="Wingdings"/>
              <a:buChar char=""/>
              <a:tabLst>
                <a:tab pos="363855" algn="l"/>
              </a:tabLst>
            </a:pPr>
            <a:r>
              <a:rPr sz="2800" spc="-5" dirty="0">
                <a:latin typeface="Tahoma"/>
                <a:cs typeface="Tahoma"/>
              </a:rPr>
              <a:t>Set the select into/bulkcopy Database Option  ON in Order to Create a </a:t>
            </a:r>
            <a:r>
              <a:rPr sz="2800" spc="-10" dirty="0">
                <a:latin typeface="Tahoma"/>
                <a:cs typeface="Tahoma"/>
              </a:rPr>
              <a:t>Permanent</a:t>
            </a:r>
            <a:r>
              <a:rPr sz="2800" spc="-15" dirty="0">
                <a:latin typeface="Tahoma"/>
                <a:cs typeface="Tahoma"/>
              </a:rPr>
              <a:t> </a:t>
            </a:r>
            <a:r>
              <a:rPr sz="2800" spc="-65" dirty="0">
                <a:latin typeface="Tahoma"/>
                <a:cs typeface="Tahoma"/>
              </a:rPr>
              <a:t>Table</a:t>
            </a:r>
            <a:endParaRPr sz="2800" dirty="0">
              <a:latin typeface="Tahoma"/>
              <a:cs typeface="Tahoma"/>
            </a:endParaRPr>
          </a:p>
          <a:p>
            <a:pPr marL="355600" marR="74295" indent="-342900">
              <a:lnSpc>
                <a:spcPct val="75900"/>
              </a:lnSpc>
              <a:spcBef>
                <a:spcPts val="1470"/>
              </a:spcBef>
              <a:buClr>
                <a:srgbClr val="CC00CC"/>
              </a:buClr>
              <a:buSzPct val="96428"/>
              <a:buFont typeface="Wingdings"/>
              <a:buChar char=""/>
              <a:tabLst>
                <a:tab pos="363855" algn="l"/>
              </a:tabLst>
            </a:pPr>
            <a:r>
              <a:rPr sz="2800" spc="-5" dirty="0">
                <a:latin typeface="Tahoma"/>
                <a:cs typeface="Tahoma"/>
              </a:rPr>
              <a:t>Create Column Alias or </a:t>
            </a:r>
            <a:r>
              <a:rPr sz="2800" spc="-10" dirty="0">
                <a:latin typeface="Tahoma"/>
                <a:cs typeface="Tahoma"/>
              </a:rPr>
              <a:t>Specify </a:t>
            </a:r>
            <a:r>
              <a:rPr sz="2800" spc="-5" dirty="0">
                <a:latin typeface="Tahoma"/>
                <a:cs typeface="Tahoma"/>
              </a:rPr>
              <a:t>Column Names  in the Select List </a:t>
            </a:r>
            <a:r>
              <a:rPr sz="2800" spc="-15" dirty="0">
                <a:latin typeface="Tahoma"/>
                <a:cs typeface="Tahoma"/>
              </a:rPr>
              <a:t>for </a:t>
            </a:r>
            <a:r>
              <a:rPr sz="2800" spc="-5" dirty="0">
                <a:latin typeface="Tahoma"/>
                <a:cs typeface="Tahoma"/>
              </a:rPr>
              <a:t>New</a:t>
            </a:r>
            <a:r>
              <a:rPr sz="2800" spc="30" dirty="0">
                <a:latin typeface="Tahoma"/>
                <a:cs typeface="Tahoma"/>
              </a:rPr>
              <a:t> </a:t>
            </a:r>
            <a:r>
              <a:rPr sz="2800" spc="-65" dirty="0">
                <a:latin typeface="Tahoma"/>
                <a:cs typeface="Tahoma"/>
              </a:rPr>
              <a:t>Table</a:t>
            </a:r>
            <a:endParaRPr sz="28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3450" dirty="0">
              <a:latin typeface="Tahoma"/>
              <a:cs typeface="Tahoma"/>
            </a:endParaRPr>
          </a:p>
          <a:p>
            <a:pPr marL="228600">
              <a:lnSpc>
                <a:spcPts val="2350"/>
              </a:lnSpc>
            </a:pPr>
            <a:r>
              <a:rPr sz="2000" spc="-5" dirty="0">
                <a:latin typeface="Lucida Sans Typewriter"/>
                <a:cs typeface="Lucida Sans Typewriter"/>
              </a:rPr>
              <a:t>SELECT productname </a:t>
            </a:r>
            <a:r>
              <a:rPr sz="2000" dirty="0">
                <a:latin typeface="Lucida Sans Typewriter"/>
                <a:cs typeface="Lucida Sans Typewriter"/>
              </a:rPr>
              <a:t>AS</a:t>
            </a:r>
            <a:r>
              <a:rPr sz="2000" spc="-10" dirty="0">
                <a:latin typeface="Lucida Sans Typewriter"/>
                <a:cs typeface="Lucida Sans Typewriter"/>
              </a:rPr>
              <a:t> </a:t>
            </a:r>
            <a:r>
              <a:rPr sz="2000" spc="-5" dirty="0">
                <a:latin typeface="Lucida Sans Typewriter"/>
                <a:cs typeface="Lucida Sans Typewriter"/>
              </a:rPr>
              <a:t>products</a:t>
            </a:r>
            <a:endParaRPr sz="2000" dirty="0">
              <a:latin typeface="Lucida Sans Typewriter"/>
              <a:cs typeface="Lucida Sans Typewriter"/>
            </a:endParaRPr>
          </a:p>
          <a:p>
            <a:pPr marL="1146810">
              <a:lnSpc>
                <a:spcPts val="2300"/>
              </a:lnSpc>
            </a:pPr>
            <a:r>
              <a:rPr sz="2000" spc="-5" dirty="0">
                <a:latin typeface="Lucida Sans Typewriter"/>
                <a:cs typeface="Lucida Sans Typewriter"/>
              </a:rPr>
              <a:t>,unitprice </a:t>
            </a:r>
            <a:r>
              <a:rPr sz="2000" dirty="0">
                <a:latin typeface="Lucida Sans Typewriter"/>
                <a:cs typeface="Lucida Sans Typewriter"/>
              </a:rPr>
              <a:t>AS</a:t>
            </a:r>
            <a:r>
              <a:rPr sz="2000" spc="-10" dirty="0">
                <a:latin typeface="Lucida Sans Typewriter"/>
                <a:cs typeface="Lucida Sans Typewriter"/>
              </a:rPr>
              <a:t> </a:t>
            </a:r>
            <a:r>
              <a:rPr sz="2000" spc="-5" dirty="0">
                <a:latin typeface="Lucida Sans Typewriter"/>
                <a:cs typeface="Lucida Sans Typewriter"/>
              </a:rPr>
              <a:t>price</a:t>
            </a:r>
            <a:endParaRPr sz="2000" dirty="0">
              <a:latin typeface="Lucida Sans Typewriter"/>
              <a:cs typeface="Lucida Sans Typewriter"/>
            </a:endParaRPr>
          </a:p>
          <a:p>
            <a:pPr marL="381635" marR="2740025" indent="765175">
              <a:lnSpc>
                <a:spcPts val="2300"/>
              </a:lnSpc>
              <a:spcBef>
                <a:spcPts val="110"/>
              </a:spcBef>
            </a:pPr>
            <a:r>
              <a:rPr sz="2000" spc="-5" dirty="0">
                <a:latin typeface="Lucida Sans Typewriter"/>
                <a:cs typeface="Lucida Sans Typewriter"/>
              </a:rPr>
              <a:t>,(unitprice </a:t>
            </a:r>
            <a:r>
              <a:rPr sz="2000" dirty="0">
                <a:latin typeface="Lucida Sans Typewriter"/>
                <a:cs typeface="Lucida Sans Typewriter"/>
              </a:rPr>
              <a:t>* </a:t>
            </a:r>
            <a:r>
              <a:rPr sz="2000" spc="-5" dirty="0">
                <a:latin typeface="Lucida Sans Typewriter"/>
                <a:cs typeface="Lucida Sans Typewriter"/>
              </a:rPr>
              <a:t>1.1) </a:t>
            </a:r>
            <a:r>
              <a:rPr sz="2000" dirty="0">
                <a:latin typeface="Lucida Sans Typewriter"/>
                <a:cs typeface="Lucida Sans Typewriter"/>
              </a:rPr>
              <a:t>AS </a:t>
            </a:r>
            <a:r>
              <a:rPr sz="2000" spc="-5" dirty="0">
                <a:latin typeface="Lucida Sans Typewriter"/>
                <a:cs typeface="Lucida Sans Typewriter"/>
              </a:rPr>
              <a:t>tax  INTO</a:t>
            </a:r>
            <a:r>
              <a:rPr sz="2000" spc="-10" dirty="0">
                <a:latin typeface="Lucida Sans Typewriter"/>
                <a:cs typeface="Lucida Sans Typewriter"/>
              </a:rPr>
              <a:t> </a:t>
            </a:r>
            <a:r>
              <a:rPr sz="2000" spc="-5" dirty="0">
                <a:latin typeface="Lucida Sans Typewriter"/>
                <a:cs typeface="Lucida Sans Typewriter"/>
              </a:rPr>
              <a:t>#pricetable</a:t>
            </a:r>
            <a:endParaRPr sz="2000" dirty="0">
              <a:latin typeface="Lucida Sans Typewriter"/>
              <a:cs typeface="Lucida Sans Typewriter"/>
            </a:endParaRPr>
          </a:p>
          <a:p>
            <a:pPr marL="381635">
              <a:lnSpc>
                <a:spcPts val="2240"/>
              </a:lnSpc>
            </a:pPr>
            <a:r>
              <a:rPr sz="2000" spc="-5" dirty="0">
                <a:latin typeface="Lucida Sans Typewriter"/>
                <a:cs typeface="Lucida Sans Typewriter"/>
              </a:rPr>
              <a:t>FROM</a:t>
            </a:r>
            <a:r>
              <a:rPr sz="2000" spc="-10" dirty="0">
                <a:latin typeface="Lucida Sans Typewriter"/>
                <a:cs typeface="Lucida Sans Typewriter"/>
              </a:rPr>
              <a:t> </a:t>
            </a:r>
            <a:r>
              <a:rPr sz="2000" spc="-5" dirty="0">
                <a:latin typeface="Lucida Sans Typewriter"/>
                <a:cs typeface="Lucida Sans Typewriter"/>
              </a:rPr>
              <a:t>products</a:t>
            </a:r>
            <a:endParaRPr sz="2000" dirty="0">
              <a:latin typeface="Lucida Sans Typewriter"/>
              <a:cs typeface="Lucida Sans Typewriter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403092E1-B337-96B5-601D-8E15CC5886B7}"/>
                  </a:ext>
                </a:extLst>
              </p14:cNvPr>
              <p14:cNvContentPartPr/>
              <p14:nvPr/>
            </p14:nvContentPartPr>
            <p14:xfrm>
              <a:off x="1000539" y="6124165"/>
              <a:ext cx="2594160" cy="3528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403092E1-B337-96B5-601D-8E15CC5886B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46899" y="6016165"/>
                <a:ext cx="2701800" cy="250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47109" y="829944"/>
            <a:ext cx="205041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Deletion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45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168515" cy="2170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65" dirty="0">
                <a:latin typeface="Tahoma"/>
                <a:cs typeface="Tahoma"/>
              </a:rPr>
              <a:t>To </a:t>
            </a:r>
            <a:r>
              <a:rPr sz="3200" spc="-5" dirty="0">
                <a:latin typeface="Tahoma"/>
                <a:cs typeface="Tahoma"/>
              </a:rPr>
              <a:t>delete tuples </a:t>
            </a:r>
            <a:r>
              <a:rPr sz="3200" spc="-10" dirty="0">
                <a:latin typeface="Tahoma"/>
                <a:cs typeface="Tahoma"/>
              </a:rPr>
              <a:t>satisfying </a:t>
            </a:r>
            <a:r>
              <a:rPr sz="3200" dirty="0">
                <a:latin typeface="Tahoma"/>
                <a:cs typeface="Tahoma"/>
              </a:rPr>
              <a:t>a </a:t>
            </a:r>
            <a:r>
              <a:rPr sz="3200" spc="-5" dirty="0">
                <a:latin typeface="Tahoma"/>
                <a:cs typeface="Tahoma"/>
              </a:rPr>
              <a:t>condition  </a:t>
            </a:r>
            <a:r>
              <a:rPr sz="3200" spc="-10" dirty="0">
                <a:latin typeface="Tahoma"/>
                <a:cs typeface="Tahoma"/>
              </a:rPr>
              <a:t>from </a:t>
            </a:r>
            <a:r>
              <a:rPr sz="3200" spc="-5" dirty="0">
                <a:latin typeface="Tahoma"/>
                <a:cs typeface="Tahoma"/>
              </a:rPr>
              <a:t>some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relation:</a:t>
            </a:r>
            <a:endParaRPr sz="3200">
              <a:latin typeface="Tahoma"/>
              <a:cs typeface="Tahoma"/>
            </a:endParaRPr>
          </a:p>
          <a:p>
            <a:pPr marL="926465" marR="1583055">
              <a:lnSpc>
                <a:spcPts val="4610"/>
              </a:lnSpc>
              <a:spcBef>
                <a:spcPts val="265"/>
              </a:spcBef>
            </a:pPr>
            <a:r>
              <a:rPr sz="3200" spc="-5" dirty="0">
                <a:latin typeface="Tahoma"/>
                <a:cs typeface="Tahoma"/>
              </a:rPr>
              <a:t>DELETE FROM &lt;relation&gt;  WHERE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&lt;condition&gt;;</a:t>
            </a:r>
            <a:endParaRPr sz="3200">
              <a:latin typeface="Tahoma"/>
              <a:cs typeface="Tahom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D0229712-2912-C44B-90C4-A37ED1366756}"/>
                  </a:ext>
                </a:extLst>
              </p14:cNvPr>
              <p14:cNvContentPartPr/>
              <p14:nvPr/>
            </p14:nvContentPartPr>
            <p14:xfrm>
              <a:off x="1783539" y="3254245"/>
              <a:ext cx="6047640" cy="24264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D0229712-2912-C44B-90C4-A37ED136675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29899" y="3146245"/>
                <a:ext cx="6155280" cy="45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6CDA45F3-A91F-20B7-26C6-F9CE4B2536E9}"/>
                  </a:ext>
                </a:extLst>
              </p14:cNvPr>
              <p14:cNvContentPartPr/>
              <p14:nvPr/>
            </p14:nvContentPartPr>
            <p14:xfrm>
              <a:off x="1532979" y="3926365"/>
              <a:ext cx="3730680" cy="6876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6CDA45F3-A91F-20B7-26C6-F9CE4B2536E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79339" y="3818725"/>
                <a:ext cx="3838320" cy="284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9020" y="829944"/>
            <a:ext cx="45059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</a:t>
            </a:r>
            <a:r>
              <a:rPr spc="-55" dirty="0"/>
              <a:t> </a:t>
            </a:r>
            <a:r>
              <a:rPr spc="-5" dirty="0"/>
              <a:t>Deletion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46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597140" cy="27178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Delete </a:t>
            </a:r>
            <a:r>
              <a:rPr sz="3200" spc="-10" dirty="0">
                <a:latin typeface="Tahoma"/>
                <a:cs typeface="Tahoma"/>
              </a:rPr>
              <a:t>from </a:t>
            </a:r>
            <a:r>
              <a:rPr sz="3200" spc="-40" dirty="0">
                <a:solidFill>
                  <a:srgbClr val="CC00CC"/>
                </a:solidFill>
                <a:latin typeface="Tahoma"/>
                <a:cs typeface="Tahoma"/>
              </a:rPr>
              <a:t>Likes(drinker,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beer) </a:t>
            </a:r>
            <a:r>
              <a:rPr sz="3200" spc="-5" dirty="0">
                <a:latin typeface="Tahoma"/>
                <a:cs typeface="Tahoma"/>
              </a:rPr>
              <a:t>the </a:t>
            </a:r>
            <a:r>
              <a:rPr sz="3200" spc="-15" dirty="0">
                <a:latin typeface="Tahoma"/>
                <a:cs typeface="Tahoma"/>
              </a:rPr>
              <a:t>fact  </a:t>
            </a:r>
            <a:r>
              <a:rPr sz="3200" spc="-5" dirty="0">
                <a:latin typeface="Tahoma"/>
                <a:cs typeface="Tahoma"/>
              </a:rPr>
              <a:t>that Sally </a:t>
            </a:r>
            <a:r>
              <a:rPr sz="3200" spc="-10" dirty="0">
                <a:latin typeface="Tahoma"/>
                <a:cs typeface="Tahoma"/>
              </a:rPr>
              <a:t>likes </a:t>
            </a:r>
            <a:r>
              <a:rPr sz="3200" dirty="0">
                <a:latin typeface="Tahoma"/>
                <a:cs typeface="Tahoma"/>
              </a:rPr>
              <a:t>Bud:</a:t>
            </a:r>
            <a:endParaRPr sz="3200">
              <a:latin typeface="Tahoma"/>
              <a:cs typeface="Tahoma"/>
            </a:endParaRPr>
          </a:p>
          <a:p>
            <a:pPr marL="926465">
              <a:lnSpc>
                <a:spcPct val="100000"/>
              </a:lnSpc>
              <a:spcBef>
                <a:spcPts val="459"/>
              </a:spcBef>
            </a:pPr>
            <a:r>
              <a:rPr sz="3200" spc="-5" dirty="0">
                <a:latin typeface="Courier New"/>
                <a:cs typeface="Courier New"/>
              </a:rPr>
              <a:t>DELETE FROM</a:t>
            </a:r>
            <a:r>
              <a:rPr sz="3200" spc="-15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Likes</a:t>
            </a:r>
            <a:endParaRPr sz="3200">
              <a:latin typeface="Courier New"/>
              <a:cs typeface="Courier New"/>
            </a:endParaRPr>
          </a:p>
          <a:p>
            <a:pPr marL="1841500" marR="77470" indent="-914400">
              <a:lnSpc>
                <a:spcPct val="119900"/>
              </a:lnSpc>
            </a:pPr>
            <a:r>
              <a:rPr sz="3200" spc="-5" dirty="0">
                <a:latin typeface="Courier New"/>
                <a:cs typeface="Courier New"/>
              </a:rPr>
              <a:t>WHERE drinker </a:t>
            </a:r>
            <a:r>
              <a:rPr sz="3200" dirty="0">
                <a:latin typeface="Courier New"/>
                <a:cs typeface="Courier New"/>
              </a:rPr>
              <a:t>= </a:t>
            </a:r>
            <a:r>
              <a:rPr sz="3200" spc="-5" dirty="0">
                <a:latin typeface="Courier New"/>
                <a:cs typeface="Courier New"/>
              </a:rPr>
              <a:t>’Sally’ AND  beer </a:t>
            </a:r>
            <a:r>
              <a:rPr sz="3200" dirty="0">
                <a:latin typeface="Courier New"/>
                <a:cs typeface="Courier New"/>
              </a:rPr>
              <a:t>=</a:t>
            </a:r>
            <a:r>
              <a:rPr sz="3200" spc="-15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’Bud’;</a:t>
            </a:r>
            <a:endParaRPr sz="3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11275" y="829944"/>
            <a:ext cx="652208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Delete </a:t>
            </a:r>
            <a:r>
              <a:rPr dirty="0"/>
              <a:t>all</a:t>
            </a:r>
            <a:r>
              <a:rPr spc="-30" dirty="0"/>
              <a:t> </a:t>
            </a:r>
            <a:r>
              <a:rPr spc="-75" dirty="0"/>
              <a:t>Tuples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47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6130290" cy="2853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0" dirty="0">
                <a:latin typeface="Tahoma"/>
                <a:cs typeface="Tahoma"/>
              </a:rPr>
              <a:t>Make </a:t>
            </a:r>
            <a:r>
              <a:rPr sz="3200" spc="-5" dirty="0">
                <a:latin typeface="Tahoma"/>
                <a:cs typeface="Tahoma"/>
              </a:rPr>
              <a:t>the relation </a:t>
            </a:r>
            <a:r>
              <a:rPr sz="3200" spc="-10" dirty="0">
                <a:latin typeface="Tahoma"/>
                <a:cs typeface="Tahoma"/>
              </a:rPr>
              <a:t>Likes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empty: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CC00CC"/>
              </a:buClr>
              <a:buFont typeface="Wingdings"/>
              <a:buChar char=""/>
            </a:pPr>
            <a:endParaRPr sz="4150">
              <a:latin typeface="Tahoma"/>
              <a:cs typeface="Tahoma"/>
            </a:endParaRPr>
          </a:p>
          <a:p>
            <a:pPr marL="113664" algn="ctr">
              <a:lnSpc>
                <a:spcPct val="100000"/>
              </a:lnSpc>
            </a:pPr>
            <a:r>
              <a:rPr sz="3200" spc="-5" dirty="0">
                <a:latin typeface="Courier New"/>
                <a:cs typeface="Courier New"/>
              </a:rPr>
              <a:t>DELETE FROM</a:t>
            </a:r>
            <a:r>
              <a:rPr sz="3200" spc="-2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Likes;</a:t>
            </a:r>
            <a:endParaRPr sz="3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5000">
              <a:latin typeface="Courier New"/>
              <a:cs typeface="Courier New"/>
            </a:endParaRPr>
          </a:p>
          <a:p>
            <a:pPr marL="414655" indent="-402590">
              <a:lnSpc>
                <a:spcPct val="100000"/>
              </a:lnSpc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Note </a:t>
            </a:r>
            <a:r>
              <a:rPr sz="3200" dirty="0">
                <a:latin typeface="Tahoma"/>
                <a:cs typeface="Tahoma"/>
              </a:rPr>
              <a:t>no </a:t>
            </a:r>
            <a:r>
              <a:rPr sz="3200" spc="-5" dirty="0">
                <a:latin typeface="Tahoma"/>
                <a:cs typeface="Tahoma"/>
              </a:rPr>
              <a:t>WHERE clause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needed.</a:t>
            </a:r>
            <a:endParaRPr sz="3200">
              <a:latin typeface="Tahoma"/>
              <a:cs typeface="Tahom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4667F8B5-8949-E551-6190-8862BCC7268C}"/>
                  </a:ext>
                </a:extLst>
              </p14:cNvPr>
              <p14:cNvContentPartPr/>
              <p14:nvPr/>
            </p14:nvContentPartPr>
            <p14:xfrm>
              <a:off x="1224459" y="3226525"/>
              <a:ext cx="4639320" cy="38196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4667F8B5-8949-E551-6190-8862BCC7268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70459" y="3118525"/>
                <a:ext cx="4746960" cy="597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6619" y="829944"/>
            <a:ext cx="735075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Delete </a:t>
            </a:r>
            <a:r>
              <a:rPr dirty="0"/>
              <a:t>Some</a:t>
            </a:r>
            <a:r>
              <a:rPr spc="-30" dirty="0"/>
              <a:t> </a:t>
            </a:r>
            <a:r>
              <a:rPr spc="-75" dirty="0"/>
              <a:t>Tuples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784349"/>
            <a:ext cx="7585709" cy="1489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Delete </a:t>
            </a:r>
            <a:r>
              <a:rPr sz="3200" spc="-10" dirty="0">
                <a:latin typeface="Tahoma"/>
                <a:cs typeface="Tahoma"/>
              </a:rPr>
              <a:t>from </a:t>
            </a:r>
            <a:r>
              <a:rPr sz="3200" spc="-5" dirty="0">
                <a:solidFill>
                  <a:srgbClr val="CC00CC"/>
                </a:solidFill>
                <a:latin typeface="Tahoma"/>
                <a:cs typeface="Tahoma"/>
              </a:rPr>
              <a:t>Beers(name, manf) </a:t>
            </a:r>
            <a:r>
              <a:rPr sz="3200" dirty="0">
                <a:latin typeface="Tahoma"/>
                <a:cs typeface="Tahoma"/>
              </a:rPr>
              <a:t>all  </a:t>
            </a:r>
            <a:r>
              <a:rPr sz="3200" spc="-5" dirty="0">
                <a:latin typeface="Tahoma"/>
                <a:cs typeface="Tahoma"/>
              </a:rPr>
              <a:t>beers </a:t>
            </a:r>
            <a:r>
              <a:rPr sz="3200" spc="-15" dirty="0">
                <a:latin typeface="Tahoma"/>
                <a:cs typeface="Tahoma"/>
              </a:rPr>
              <a:t>for </a:t>
            </a:r>
            <a:r>
              <a:rPr sz="3200" spc="-5" dirty="0">
                <a:latin typeface="Tahoma"/>
                <a:cs typeface="Tahoma"/>
              </a:rPr>
              <a:t>which there is another beer by  the same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40" dirty="0">
                <a:latin typeface="Tahoma"/>
                <a:cs typeface="Tahoma"/>
              </a:rPr>
              <a:t>manufacturer.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3248151"/>
            <a:ext cx="4093210" cy="1195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900"/>
              </a:lnSpc>
              <a:spcBef>
                <a:spcPts val="100"/>
              </a:spcBef>
            </a:pPr>
            <a:r>
              <a:rPr sz="3200" spc="-5" dirty="0">
                <a:latin typeface="Tahoma"/>
                <a:cs typeface="Tahoma"/>
              </a:rPr>
              <a:t>DELETE FROM </a:t>
            </a:r>
            <a:r>
              <a:rPr sz="3200" dirty="0">
                <a:latin typeface="Tahoma"/>
                <a:cs typeface="Tahoma"/>
              </a:rPr>
              <a:t>Beers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b  </a:t>
            </a:r>
            <a:r>
              <a:rPr sz="3200" spc="-5" dirty="0">
                <a:latin typeface="Tahoma"/>
                <a:cs typeface="Tahoma"/>
              </a:rPr>
              <a:t>WHERE EXISTS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(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0139" y="4525446"/>
            <a:ext cx="5110480" cy="166116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3200" spc="-5" dirty="0">
                <a:latin typeface="Tahoma"/>
                <a:cs typeface="Tahoma"/>
              </a:rPr>
              <a:t>SELECT name FROM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Beers</a:t>
            </a:r>
            <a:endParaRPr sz="3200">
              <a:latin typeface="Tahoma"/>
              <a:cs typeface="Tahoma"/>
            </a:endParaRPr>
          </a:p>
          <a:p>
            <a:pPr marL="570865" indent="-571500">
              <a:lnSpc>
                <a:spcPct val="119900"/>
              </a:lnSpc>
            </a:pPr>
            <a:r>
              <a:rPr sz="3200" spc="-5" dirty="0">
                <a:latin typeface="Tahoma"/>
                <a:cs typeface="Tahoma"/>
              </a:rPr>
              <a:t>WHERE manf </a:t>
            </a:r>
            <a:r>
              <a:rPr sz="3200" dirty="0">
                <a:latin typeface="Tahoma"/>
                <a:cs typeface="Tahoma"/>
              </a:rPr>
              <a:t>= </a:t>
            </a:r>
            <a:r>
              <a:rPr sz="3200" spc="-10" dirty="0">
                <a:latin typeface="Tahoma"/>
                <a:cs typeface="Tahoma"/>
              </a:rPr>
              <a:t>b.manf </a:t>
            </a:r>
            <a:r>
              <a:rPr sz="3200" spc="-5" dirty="0">
                <a:latin typeface="Tahoma"/>
                <a:cs typeface="Tahoma"/>
              </a:rPr>
              <a:t>AND  name </a:t>
            </a:r>
            <a:r>
              <a:rPr sz="3200" dirty="0">
                <a:latin typeface="Tahoma"/>
                <a:cs typeface="Tahoma"/>
              </a:rPr>
              <a:t>&lt;&gt;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b.name);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90600" y="4527803"/>
            <a:ext cx="5334000" cy="1644650"/>
          </a:xfrm>
          <a:custGeom>
            <a:avLst/>
            <a:gdLst/>
            <a:ahLst/>
            <a:cxnLst/>
            <a:rect l="l" t="t" r="r" b="b"/>
            <a:pathLst>
              <a:path w="5334000" h="1644650">
                <a:moveTo>
                  <a:pt x="0" y="0"/>
                </a:moveTo>
                <a:lnTo>
                  <a:pt x="5334000" y="0"/>
                </a:lnTo>
                <a:lnTo>
                  <a:pt x="5334000" y="1644396"/>
                </a:lnTo>
                <a:lnTo>
                  <a:pt x="0" y="1644396"/>
                </a:lnTo>
                <a:lnTo>
                  <a:pt x="0" y="0"/>
                </a:lnTo>
                <a:close/>
              </a:path>
            </a:pathLst>
          </a:custGeom>
          <a:solidFill>
            <a:srgbClr val="00CC99">
              <a:alpha val="501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85837" y="4522698"/>
            <a:ext cx="5343525" cy="1654810"/>
          </a:xfrm>
          <a:custGeom>
            <a:avLst/>
            <a:gdLst/>
            <a:ahLst/>
            <a:cxnLst/>
            <a:rect l="l" t="t" r="r" b="b"/>
            <a:pathLst>
              <a:path w="5343525" h="1654810">
                <a:moveTo>
                  <a:pt x="5343525" y="1654263"/>
                </a:moveTo>
                <a:lnTo>
                  <a:pt x="0" y="1654263"/>
                </a:lnTo>
                <a:lnTo>
                  <a:pt x="0" y="0"/>
                </a:lnTo>
                <a:lnTo>
                  <a:pt x="5343525" y="0"/>
                </a:lnTo>
                <a:lnTo>
                  <a:pt x="5343525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644738"/>
                </a:lnTo>
                <a:lnTo>
                  <a:pt x="4762" y="1644738"/>
                </a:lnTo>
                <a:lnTo>
                  <a:pt x="9525" y="1649501"/>
                </a:lnTo>
                <a:lnTo>
                  <a:pt x="5343525" y="1649501"/>
                </a:lnTo>
                <a:lnTo>
                  <a:pt x="5343525" y="1654263"/>
                </a:lnTo>
                <a:close/>
              </a:path>
              <a:path w="5343525" h="1654810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5343525" h="1654810">
                <a:moveTo>
                  <a:pt x="5334000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5334000" y="4762"/>
                </a:lnTo>
                <a:lnTo>
                  <a:pt x="5334000" y="9525"/>
                </a:lnTo>
                <a:close/>
              </a:path>
              <a:path w="5343525" h="1654810">
                <a:moveTo>
                  <a:pt x="5334000" y="1649501"/>
                </a:moveTo>
                <a:lnTo>
                  <a:pt x="5334000" y="4762"/>
                </a:lnTo>
                <a:lnTo>
                  <a:pt x="5338762" y="9525"/>
                </a:lnTo>
                <a:lnTo>
                  <a:pt x="5343525" y="9525"/>
                </a:lnTo>
                <a:lnTo>
                  <a:pt x="5343525" y="1644738"/>
                </a:lnTo>
                <a:lnTo>
                  <a:pt x="5338762" y="1644738"/>
                </a:lnTo>
                <a:lnTo>
                  <a:pt x="5334000" y="1649501"/>
                </a:lnTo>
                <a:close/>
              </a:path>
              <a:path w="5343525" h="1654810">
                <a:moveTo>
                  <a:pt x="5343525" y="9525"/>
                </a:moveTo>
                <a:lnTo>
                  <a:pt x="5338762" y="9525"/>
                </a:lnTo>
                <a:lnTo>
                  <a:pt x="5334000" y="4762"/>
                </a:lnTo>
                <a:lnTo>
                  <a:pt x="5343525" y="4762"/>
                </a:lnTo>
                <a:lnTo>
                  <a:pt x="5343525" y="9525"/>
                </a:lnTo>
                <a:close/>
              </a:path>
              <a:path w="5343525" h="1654810">
                <a:moveTo>
                  <a:pt x="9525" y="1649501"/>
                </a:moveTo>
                <a:lnTo>
                  <a:pt x="4762" y="1644738"/>
                </a:lnTo>
                <a:lnTo>
                  <a:pt x="9525" y="1644738"/>
                </a:lnTo>
                <a:lnTo>
                  <a:pt x="9525" y="1649501"/>
                </a:lnTo>
                <a:close/>
              </a:path>
              <a:path w="5343525" h="1654810">
                <a:moveTo>
                  <a:pt x="5334000" y="1649501"/>
                </a:moveTo>
                <a:lnTo>
                  <a:pt x="9525" y="1649501"/>
                </a:lnTo>
                <a:lnTo>
                  <a:pt x="9525" y="1644738"/>
                </a:lnTo>
                <a:lnTo>
                  <a:pt x="5334000" y="1644738"/>
                </a:lnTo>
                <a:lnTo>
                  <a:pt x="5334000" y="1649501"/>
                </a:lnTo>
                <a:close/>
              </a:path>
              <a:path w="5343525" h="1654810">
                <a:moveTo>
                  <a:pt x="5343525" y="1649501"/>
                </a:moveTo>
                <a:lnTo>
                  <a:pt x="5334000" y="1649501"/>
                </a:lnTo>
                <a:lnTo>
                  <a:pt x="5338762" y="1644738"/>
                </a:lnTo>
                <a:lnTo>
                  <a:pt x="5343525" y="1644738"/>
                </a:lnTo>
                <a:lnTo>
                  <a:pt x="5343525" y="16495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539865" y="3155949"/>
            <a:ext cx="2382520" cy="1855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71755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ahoma"/>
                <a:cs typeface="Tahoma"/>
              </a:rPr>
              <a:t>Beers with the </a:t>
            </a:r>
            <a:r>
              <a:rPr sz="2000" dirty="0">
                <a:latin typeface="Tahoma"/>
                <a:cs typeface="Tahoma"/>
              </a:rPr>
              <a:t>same  </a:t>
            </a:r>
            <a:r>
              <a:rPr sz="2000" spc="-5" dirty="0">
                <a:latin typeface="Tahoma"/>
                <a:cs typeface="Tahoma"/>
              </a:rPr>
              <a:t>manufacturer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and</a:t>
            </a:r>
            <a:endParaRPr sz="20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</a:pPr>
            <a:r>
              <a:rPr sz="2000" dirty="0">
                <a:latin typeface="Tahoma"/>
                <a:cs typeface="Tahoma"/>
              </a:rPr>
              <a:t>a </a:t>
            </a:r>
            <a:r>
              <a:rPr sz="2000" spc="-10" dirty="0">
                <a:latin typeface="Tahoma"/>
                <a:cs typeface="Tahoma"/>
              </a:rPr>
              <a:t>different </a:t>
            </a:r>
            <a:r>
              <a:rPr sz="2000" spc="-5" dirty="0">
                <a:latin typeface="Tahoma"/>
                <a:cs typeface="Tahoma"/>
              </a:rPr>
              <a:t>name  </a:t>
            </a:r>
            <a:r>
              <a:rPr sz="2000" spc="-10" dirty="0">
                <a:latin typeface="Tahoma"/>
                <a:cs typeface="Tahoma"/>
              </a:rPr>
              <a:t>from </a:t>
            </a:r>
            <a:r>
              <a:rPr sz="2000" spc="-5" dirty="0">
                <a:latin typeface="Tahoma"/>
                <a:cs typeface="Tahoma"/>
              </a:rPr>
              <a:t>the name of  the beer represented  by tuple</a:t>
            </a:r>
            <a:r>
              <a:rPr sz="2000" spc="-15" dirty="0">
                <a:latin typeface="Tahoma"/>
                <a:cs typeface="Tahoma"/>
              </a:rPr>
              <a:t> b.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181600" y="3662032"/>
            <a:ext cx="1222375" cy="865505"/>
          </a:xfrm>
          <a:custGeom>
            <a:avLst/>
            <a:gdLst/>
            <a:ahLst/>
            <a:cxnLst/>
            <a:rect l="l" t="t" r="r" b="b"/>
            <a:pathLst>
              <a:path w="1222375" h="865504">
                <a:moveTo>
                  <a:pt x="64977" y="825336"/>
                </a:moveTo>
                <a:lnTo>
                  <a:pt x="59481" y="817558"/>
                </a:lnTo>
                <a:lnTo>
                  <a:pt x="1216456" y="0"/>
                </a:lnTo>
                <a:lnTo>
                  <a:pt x="1221943" y="7772"/>
                </a:lnTo>
                <a:lnTo>
                  <a:pt x="64977" y="825336"/>
                </a:lnTo>
                <a:close/>
              </a:path>
              <a:path w="1222375" h="865504">
                <a:moveTo>
                  <a:pt x="0" y="865416"/>
                </a:moveTo>
                <a:lnTo>
                  <a:pt x="40246" y="790333"/>
                </a:lnTo>
                <a:lnTo>
                  <a:pt x="59481" y="817558"/>
                </a:lnTo>
                <a:lnTo>
                  <a:pt x="43929" y="828548"/>
                </a:lnTo>
                <a:lnTo>
                  <a:pt x="49415" y="836333"/>
                </a:lnTo>
                <a:lnTo>
                  <a:pt x="72746" y="836333"/>
                </a:lnTo>
                <a:lnTo>
                  <a:pt x="84213" y="852563"/>
                </a:lnTo>
                <a:lnTo>
                  <a:pt x="0" y="865416"/>
                </a:lnTo>
                <a:close/>
              </a:path>
              <a:path w="1222375" h="865504">
                <a:moveTo>
                  <a:pt x="49415" y="836333"/>
                </a:moveTo>
                <a:lnTo>
                  <a:pt x="43929" y="828548"/>
                </a:lnTo>
                <a:lnTo>
                  <a:pt x="59481" y="817558"/>
                </a:lnTo>
                <a:lnTo>
                  <a:pt x="64977" y="825336"/>
                </a:lnTo>
                <a:lnTo>
                  <a:pt x="49415" y="836333"/>
                </a:lnTo>
                <a:close/>
              </a:path>
              <a:path w="1222375" h="865504">
                <a:moveTo>
                  <a:pt x="72746" y="836333"/>
                </a:moveTo>
                <a:lnTo>
                  <a:pt x="49415" y="836333"/>
                </a:lnTo>
                <a:lnTo>
                  <a:pt x="64977" y="825336"/>
                </a:lnTo>
                <a:lnTo>
                  <a:pt x="72746" y="8363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48</a:t>
            </a:fld>
            <a:endParaRPr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E41A92F0-06EA-38A6-AA86-2E6A7396C45E}"/>
                  </a:ext>
                </a:extLst>
              </p14:cNvPr>
              <p14:cNvContentPartPr/>
              <p14:nvPr/>
            </p14:nvContentPartPr>
            <p14:xfrm>
              <a:off x="2159993" y="4052005"/>
              <a:ext cx="1600200" cy="62640"/>
            </p14:xfrm>
          </p:contentPart>
        </mc:Choice>
        <mc:Fallback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E41A92F0-06EA-38A6-AA86-2E6A7396C45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06353" y="3944365"/>
                <a:ext cx="1707840" cy="27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201A804D-3720-E872-B0C8-0ADD9E3A46BC}"/>
                  </a:ext>
                </a:extLst>
              </p14:cNvPr>
              <p14:cNvContentPartPr/>
              <p14:nvPr/>
            </p14:nvContentPartPr>
            <p14:xfrm>
              <a:off x="1753553" y="5011405"/>
              <a:ext cx="6828480" cy="1118160"/>
            </p14:xfrm>
          </p:contentPart>
        </mc:Choice>
        <mc:Fallback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201A804D-3720-E872-B0C8-0ADD9E3A46B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99913" y="4903405"/>
                <a:ext cx="6936120" cy="1333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5050" y="829944"/>
            <a:ext cx="7074534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Semantics </a:t>
            </a:r>
            <a:r>
              <a:rPr lang="zh-CN" altLang="en-US" spc="-5" dirty="0"/>
              <a:t>语义</a:t>
            </a:r>
            <a:r>
              <a:rPr spc="-5" dirty="0"/>
              <a:t>of Deletion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49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365365" cy="42195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263525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Suppose Anheuser-Busch </a:t>
            </a:r>
            <a:r>
              <a:rPr sz="3200" spc="-10" dirty="0">
                <a:latin typeface="Tahoma"/>
                <a:cs typeface="Tahoma"/>
              </a:rPr>
              <a:t>makes </a:t>
            </a:r>
            <a:r>
              <a:rPr sz="3200" spc="-5" dirty="0">
                <a:latin typeface="Tahoma"/>
                <a:cs typeface="Tahoma"/>
              </a:rPr>
              <a:t>only  </a:t>
            </a:r>
            <a:r>
              <a:rPr sz="3200" dirty="0">
                <a:latin typeface="Tahoma"/>
                <a:cs typeface="Tahoma"/>
              </a:rPr>
              <a:t>Bud </a:t>
            </a:r>
            <a:r>
              <a:rPr sz="3200" spc="-5" dirty="0">
                <a:latin typeface="Tahoma"/>
                <a:cs typeface="Tahoma"/>
              </a:rPr>
              <a:t>and </a:t>
            </a:r>
            <a:r>
              <a:rPr sz="3200" dirty="0">
                <a:latin typeface="Tahoma"/>
                <a:cs typeface="Tahoma"/>
              </a:rPr>
              <a:t>Bud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Lite.</a:t>
            </a:r>
            <a:endParaRPr sz="3200" dirty="0">
              <a:latin typeface="Tahoma"/>
              <a:cs typeface="Tahoma"/>
            </a:endParaRPr>
          </a:p>
          <a:p>
            <a:pPr marL="355600" marR="383540" indent="-342900">
              <a:lnSpc>
                <a:spcPts val="3840"/>
              </a:lnSpc>
              <a:spcBef>
                <a:spcPts val="8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Suppose </a:t>
            </a:r>
            <a:r>
              <a:rPr sz="3200" dirty="0">
                <a:latin typeface="Tahoma"/>
                <a:cs typeface="Tahoma"/>
              </a:rPr>
              <a:t>we </a:t>
            </a:r>
            <a:r>
              <a:rPr sz="3200" spc="-5" dirty="0">
                <a:latin typeface="Tahoma"/>
                <a:cs typeface="Tahoma"/>
              </a:rPr>
              <a:t>come to the tuple </a:t>
            </a:r>
            <a:r>
              <a:rPr sz="3350" i="1" spc="-85" dirty="0">
                <a:latin typeface="Tahoma"/>
                <a:cs typeface="Tahoma"/>
              </a:rPr>
              <a:t>b </a:t>
            </a:r>
            <a:r>
              <a:rPr sz="3200" spc="-15" dirty="0">
                <a:latin typeface="Tahoma"/>
                <a:cs typeface="Tahoma"/>
              </a:rPr>
              <a:t>for  </a:t>
            </a:r>
            <a:r>
              <a:rPr sz="3200" dirty="0">
                <a:latin typeface="Tahoma"/>
                <a:cs typeface="Tahoma"/>
              </a:rPr>
              <a:t>Bud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first.</a:t>
            </a:r>
            <a:endParaRPr sz="3200" dirty="0">
              <a:latin typeface="Tahoma"/>
              <a:cs typeface="Tahoma"/>
            </a:endParaRPr>
          </a:p>
          <a:p>
            <a:pPr marL="355600" marR="19685" indent="-342900">
              <a:lnSpc>
                <a:spcPct val="100000"/>
              </a:lnSpc>
              <a:spcBef>
                <a:spcPts val="64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The subquery is </a:t>
            </a:r>
            <a:r>
              <a:rPr sz="3200" spc="-40" dirty="0">
                <a:latin typeface="Tahoma"/>
                <a:cs typeface="Tahoma"/>
              </a:rPr>
              <a:t>nonempty, </a:t>
            </a:r>
            <a:r>
              <a:rPr sz="3200" spc="-5" dirty="0">
                <a:latin typeface="Tahoma"/>
                <a:cs typeface="Tahoma"/>
              </a:rPr>
              <a:t>because of  the </a:t>
            </a:r>
            <a:r>
              <a:rPr sz="3200" dirty="0">
                <a:latin typeface="Tahoma"/>
                <a:cs typeface="Tahoma"/>
              </a:rPr>
              <a:t>Bud </a:t>
            </a:r>
            <a:r>
              <a:rPr sz="3200" spc="-5" dirty="0">
                <a:latin typeface="Tahoma"/>
                <a:cs typeface="Tahoma"/>
              </a:rPr>
              <a:t>Lite tuple, </a:t>
            </a:r>
            <a:r>
              <a:rPr sz="3200" dirty="0">
                <a:latin typeface="Tahoma"/>
                <a:cs typeface="Tahoma"/>
              </a:rPr>
              <a:t>so we </a:t>
            </a:r>
            <a:r>
              <a:rPr sz="3200" spc="-5" dirty="0">
                <a:latin typeface="Tahoma"/>
                <a:cs typeface="Tahoma"/>
              </a:rPr>
              <a:t>delete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Bud.</a:t>
            </a:r>
          </a:p>
          <a:p>
            <a:pPr marL="355600" marR="5080" indent="-342900">
              <a:lnSpc>
                <a:spcPts val="3840"/>
              </a:lnSpc>
              <a:spcBef>
                <a:spcPts val="8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30" dirty="0">
                <a:latin typeface="Tahoma"/>
                <a:cs typeface="Tahoma"/>
              </a:rPr>
              <a:t>Now, </a:t>
            </a:r>
            <a:r>
              <a:rPr sz="3200" spc="-5" dirty="0">
                <a:latin typeface="Tahoma"/>
                <a:cs typeface="Tahoma"/>
              </a:rPr>
              <a:t>when </a:t>
            </a:r>
            <a:r>
              <a:rPr sz="3350" i="1" spc="-85" dirty="0">
                <a:latin typeface="Tahoma"/>
                <a:cs typeface="Tahoma"/>
              </a:rPr>
              <a:t>b </a:t>
            </a:r>
            <a:r>
              <a:rPr sz="3200" spc="-5" dirty="0">
                <a:latin typeface="Tahoma"/>
                <a:cs typeface="Tahoma"/>
              </a:rPr>
              <a:t>is the tuple </a:t>
            </a:r>
            <a:r>
              <a:rPr sz="3200" spc="-15" dirty="0">
                <a:latin typeface="Tahoma"/>
                <a:cs typeface="Tahoma"/>
              </a:rPr>
              <a:t>for </a:t>
            </a:r>
            <a:r>
              <a:rPr sz="3200" dirty="0">
                <a:latin typeface="Tahoma"/>
                <a:cs typeface="Tahoma"/>
              </a:rPr>
              <a:t>Bud </a:t>
            </a:r>
            <a:r>
              <a:rPr sz="3200" spc="-5" dirty="0">
                <a:latin typeface="Tahoma"/>
                <a:cs typeface="Tahoma"/>
              </a:rPr>
              <a:t>Lite,  </a:t>
            </a:r>
            <a:r>
              <a:rPr sz="3200" dirty="0">
                <a:latin typeface="Tahoma"/>
                <a:cs typeface="Tahoma"/>
              </a:rPr>
              <a:t>do we </a:t>
            </a:r>
            <a:r>
              <a:rPr sz="3200" spc="-5" dirty="0">
                <a:latin typeface="Tahoma"/>
                <a:cs typeface="Tahoma"/>
              </a:rPr>
              <a:t>delete that tuple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too?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5050" y="829944"/>
            <a:ext cx="707453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Semantics of Deletion ---</a:t>
            </a:r>
            <a:r>
              <a:rPr spc="-20" dirty="0"/>
              <a:t> </a:t>
            </a:r>
            <a:r>
              <a:rPr spc="-5" dirty="0"/>
              <a:t>(2)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50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895678"/>
            <a:ext cx="7615555" cy="3154045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622300" indent="-609600">
              <a:lnSpc>
                <a:spcPct val="100000"/>
              </a:lnSpc>
              <a:spcBef>
                <a:spcPts val="875"/>
              </a:spcBef>
              <a:buClr>
                <a:srgbClr val="CC00CC"/>
              </a:buClr>
              <a:buFont typeface="Wingdings"/>
              <a:buChar char=""/>
              <a:tabLst>
                <a:tab pos="621665" algn="l"/>
                <a:tab pos="622300" algn="l"/>
              </a:tabLst>
            </a:pPr>
            <a:r>
              <a:rPr sz="3200" spc="-5" dirty="0">
                <a:solidFill>
                  <a:srgbClr val="33CC33"/>
                </a:solidFill>
                <a:latin typeface="Tahoma"/>
                <a:cs typeface="Tahoma"/>
              </a:rPr>
              <a:t>Answer</a:t>
            </a:r>
            <a:r>
              <a:rPr sz="3200" spc="-5" dirty="0">
                <a:latin typeface="Tahoma"/>
                <a:cs typeface="Tahoma"/>
              </a:rPr>
              <a:t>: </a:t>
            </a:r>
            <a:r>
              <a:rPr sz="3200" dirty="0">
                <a:latin typeface="Tahoma"/>
                <a:cs typeface="Tahoma"/>
              </a:rPr>
              <a:t>we </a:t>
            </a:r>
            <a:r>
              <a:rPr sz="3350" i="1" spc="-155" dirty="0">
                <a:latin typeface="Tahoma"/>
                <a:cs typeface="Tahoma"/>
              </a:rPr>
              <a:t>do</a:t>
            </a:r>
            <a:r>
              <a:rPr sz="3200" spc="-155" dirty="0">
                <a:latin typeface="Tahoma"/>
                <a:cs typeface="Tahoma"/>
              </a:rPr>
              <a:t>delete </a:t>
            </a:r>
            <a:r>
              <a:rPr sz="3200" dirty="0">
                <a:latin typeface="Tahoma"/>
                <a:cs typeface="Tahoma"/>
              </a:rPr>
              <a:t>Bud </a:t>
            </a:r>
            <a:r>
              <a:rPr sz="3200" spc="-5" dirty="0">
                <a:latin typeface="Tahoma"/>
                <a:cs typeface="Tahoma"/>
              </a:rPr>
              <a:t>Lite as</a:t>
            </a:r>
            <a:r>
              <a:rPr sz="3200" spc="-29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well.</a:t>
            </a:r>
            <a:endParaRPr sz="3200" dirty="0">
              <a:latin typeface="Tahoma"/>
              <a:cs typeface="Tahoma"/>
            </a:endParaRPr>
          </a:p>
          <a:p>
            <a:pPr marL="622300" marR="5080" indent="-609600">
              <a:lnSpc>
                <a:spcPct val="100000"/>
              </a:lnSpc>
              <a:spcBef>
                <a:spcPts val="735"/>
              </a:spcBef>
              <a:buClr>
                <a:srgbClr val="CC00CC"/>
              </a:buClr>
              <a:buFont typeface="Wingdings"/>
              <a:buChar char=""/>
              <a:tabLst>
                <a:tab pos="621665" algn="l"/>
                <a:tab pos="622300" algn="l"/>
              </a:tabLst>
            </a:pPr>
            <a:r>
              <a:rPr sz="3200" spc="-5" dirty="0">
                <a:latin typeface="Tahoma"/>
                <a:cs typeface="Tahoma"/>
              </a:rPr>
              <a:t>The reason is that deletion proceeds in  two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stages:</a:t>
            </a:r>
            <a:endParaRPr sz="3200" dirty="0">
              <a:latin typeface="Tahoma"/>
              <a:cs typeface="Tahoma"/>
            </a:endParaRPr>
          </a:p>
          <a:p>
            <a:pPr marL="1002665" marR="859790" lvl="1" indent="-5334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AutoNum type="arabicPeriod"/>
              <a:tabLst>
                <a:tab pos="1002665" algn="l"/>
                <a:tab pos="1003300" algn="l"/>
              </a:tabLst>
            </a:pPr>
            <a:r>
              <a:rPr sz="2800" spc="-5" dirty="0">
                <a:latin typeface="Tahoma"/>
                <a:cs typeface="Tahoma"/>
              </a:rPr>
              <a:t>Mark </a:t>
            </a:r>
            <a:r>
              <a:rPr sz="2800" dirty="0">
                <a:latin typeface="Tahoma"/>
                <a:cs typeface="Tahoma"/>
              </a:rPr>
              <a:t>all </a:t>
            </a:r>
            <a:r>
              <a:rPr sz="2800" spc="-5" dirty="0">
                <a:latin typeface="Tahoma"/>
                <a:cs typeface="Tahoma"/>
              </a:rPr>
              <a:t>tuples </a:t>
            </a:r>
            <a:r>
              <a:rPr sz="2800" spc="-15" dirty="0">
                <a:latin typeface="Tahoma"/>
                <a:cs typeface="Tahoma"/>
              </a:rPr>
              <a:t>for </a:t>
            </a:r>
            <a:r>
              <a:rPr sz="2800" spc="-5" dirty="0">
                <a:latin typeface="Tahoma"/>
                <a:cs typeface="Tahoma"/>
              </a:rPr>
              <a:t>which the WHERE  condition is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satisfied.</a:t>
            </a:r>
            <a:endParaRPr sz="2800" dirty="0">
              <a:latin typeface="Tahoma"/>
              <a:cs typeface="Tahoma"/>
            </a:endParaRPr>
          </a:p>
          <a:p>
            <a:pPr marL="1003300" lvl="1" indent="-53340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AutoNum type="arabicPeriod"/>
              <a:tabLst>
                <a:tab pos="1002665" algn="l"/>
                <a:tab pos="1003300" algn="l"/>
              </a:tabLst>
            </a:pPr>
            <a:r>
              <a:rPr sz="2800" spc="-5" dirty="0">
                <a:latin typeface="Tahoma"/>
                <a:cs typeface="Tahoma"/>
              </a:rPr>
              <a:t>Delete the </a:t>
            </a:r>
            <a:r>
              <a:rPr sz="2800" spc="-10" dirty="0">
                <a:latin typeface="Tahoma"/>
                <a:cs typeface="Tahoma"/>
              </a:rPr>
              <a:t>marked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tuples.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55365" y="829944"/>
            <a:ext cx="20332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Update</a:t>
            </a:r>
            <a:r>
              <a:rPr dirty="0"/>
              <a:t>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51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329170" cy="27552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0541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65" dirty="0">
                <a:latin typeface="Tahoma"/>
                <a:cs typeface="Tahoma"/>
              </a:rPr>
              <a:t>To </a:t>
            </a:r>
            <a:r>
              <a:rPr sz="3200" spc="-5" dirty="0">
                <a:latin typeface="Tahoma"/>
                <a:cs typeface="Tahoma"/>
              </a:rPr>
              <a:t>change certain attributes in certain  tuples of </a:t>
            </a:r>
            <a:r>
              <a:rPr sz="3200" dirty="0">
                <a:latin typeface="Tahoma"/>
                <a:cs typeface="Tahoma"/>
              </a:rPr>
              <a:t>a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relation:</a:t>
            </a:r>
            <a:endParaRPr sz="3200" dirty="0">
              <a:latin typeface="Tahoma"/>
              <a:cs typeface="Tahoma"/>
            </a:endParaRPr>
          </a:p>
          <a:p>
            <a:pPr marL="926465">
              <a:lnSpc>
                <a:spcPct val="100000"/>
              </a:lnSpc>
              <a:spcBef>
                <a:spcPts val="755"/>
              </a:spcBef>
            </a:pPr>
            <a:r>
              <a:rPr sz="3200" spc="-35" dirty="0">
                <a:latin typeface="Tahoma"/>
                <a:cs typeface="Tahoma"/>
              </a:rPr>
              <a:t>UPDATE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&lt;relation&gt;</a:t>
            </a:r>
            <a:endParaRPr sz="3200" dirty="0">
              <a:latin typeface="Tahoma"/>
              <a:cs typeface="Tahoma"/>
            </a:endParaRPr>
          </a:p>
          <a:p>
            <a:pPr marL="926465" marR="5080">
              <a:lnSpc>
                <a:spcPct val="119900"/>
              </a:lnSpc>
            </a:pPr>
            <a:r>
              <a:rPr sz="3200" spc="-5" dirty="0">
                <a:latin typeface="Tahoma"/>
                <a:cs typeface="Tahoma"/>
              </a:rPr>
              <a:t>SET &lt;list of attribute assignments&gt;  WHERE &lt;condition </a:t>
            </a:r>
            <a:r>
              <a:rPr sz="3200" dirty="0">
                <a:latin typeface="Tahoma"/>
                <a:cs typeface="Tahoma"/>
              </a:rPr>
              <a:t>on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tuples&gt;;</a:t>
            </a:r>
            <a:endParaRPr sz="3200" dirty="0">
              <a:latin typeface="Tahoma"/>
              <a:cs typeface="Tahom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A4301EDC-3325-C21A-78F5-0A68DEB3F1E6}"/>
                  </a:ext>
                </a:extLst>
              </p14:cNvPr>
              <p14:cNvContentPartPr/>
              <p14:nvPr/>
            </p14:nvContentPartPr>
            <p14:xfrm>
              <a:off x="1703259" y="3217885"/>
              <a:ext cx="3373200" cy="24516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A4301EDC-3325-C21A-78F5-0A68DEB3F1E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49259" y="3110245"/>
                <a:ext cx="3480840" cy="46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16EA47A2-22F7-6A31-5D3C-2F17FA859403}"/>
                  </a:ext>
                </a:extLst>
              </p14:cNvPr>
              <p14:cNvContentPartPr/>
              <p14:nvPr/>
            </p14:nvContentPartPr>
            <p14:xfrm>
              <a:off x="1676259" y="3521725"/>
              <a:ext cx="6291000" cy="32436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16EA47A2-22F7-6A31-5D3C-2F17FA85940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22619" y="3414085"/>
                <a:ext cx="6398640" cy="54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37DFB9D7-42AA-BD2A-263E-7EB9CD11BD89}"/>
                  </a:ext>
                </a:extLst>
              </p14:cNvPr>
              <p14:cNvContentPartPr/>
              <p14:nvPr/>
            </p14:nvContentPartPr>
            <p14:xfrm>
              <a:off x="772299" y="3792805"/>
              <a:ext cx="7905960" cy="76608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37DFB9D7-42AA-BD2A-263E-7EB9CD11BD8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8299" y="3684805"/>
                <a:ext cx="8013600" cy="981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52370" y="829944"/>
            <a:ext cx="42392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</a:t>
            </a:r>
            <a:r>
              <a:rPr spc="-55" dirty="0"/>
              <a:t> </a:t>
            </a:r>
            <a:r>
              <a:rPr spc="-5" dirty="0"/>
              <a:t>Update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52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560309" cy="3302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Change </a:t>
            </a:r>
            <a:r>
              <a:rPr sz="3200" spc="-10" dirty="0">
                <a:latin typeface="Tahoma"/>
                <a:cs typeface="Tahoma"/>
              </a:rPr>
              <a:t>drinker </a:t>
            </a:r>
            <a:r>
              <a:rPr sz="3200" spc="-25" dirty="0">
                <a:latin typeface="Tahoma"/>
                <a:cs typeface="Tahoma"/>
              </a:rPr>
              <a:t>Fred’s </a:t>
            </a:r>
            <a:r>
              <a:rPr sz="3200" spc="-5" dirty="0">
                <a:latin typeface="Tahoma"/>
                <a:cs typeface="Tahoma"/>
              </a:rPr>
              <a:t>phone number to  555-1212: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4150">
              <a:latin typeface="Tahoma"/>
              <a:cs typeface="Tahoma"/>
            </a:endParaRPr>
          </a:p>
          <a:p>
            <a:pPr marL="926465">
              <a:lnSpc>
                <a:spcPct val="100000"/>
              </a:lnSpc>
            </a:pPr>
            <a:r>
              <a:rPr sz="3200" spc="-5" dirty="0">
                <a:latin typeface="Courier New"/>
                <a:cs typeface="Courier New"/>
              </a:rPr>
              <a:t>UPDATE</a:t>
            </a:r>
            <a:r>
              <a:rPr sz="3200" spc="-1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Drinkers</a:t>
            </a:r>
            <a:endParaRPr sz="320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Courier New"/>
                <a:cs typeface="Courier New"/>
              </a:rPr>
              <a:t>SET phone </a:t>
            </a:r>
            <a:r>
              <a:rPr sz="3200" dirty="0">
                <a:latin typeface="Courier New"/>
                <a:cs typeface="Courier New"/>
              </a:rPr>
              <a:t>=</a:t>
            </a:r>
            <a:r>
              <a:rPr sz="3200" spc="-2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’555-1212’</a:t>
            </a:r>
            <a:endParaRPr sz="320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Courier New"/>
                <a:cs typeface="Courier New"/>
              </a:rPr>
              <a:t>WHERE name </a:t>
            </a:r>
            <a:r>
              <a:rPr sz="3200" dirty="0">
                <a:latin typeface="Courier New"/>
                <a:cs typeface="Courier New"/>
              </a:rPr>
              <a:t>=</a:t>
            </a:r>
            <a:r>
              <a:rPr sz="3200" spc="-15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’Fred’;</a:t>
            </a:r>
            <a:endParaRPr sz="3200">
              <a:latin typeface="Courier New"/>
              <a:cs typeface="Courier New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BFE7312E-63D0-7789-3DA6-A93E1AF8C6CC}"/>
                  </a:ext>
                </a:extLst>
              </p14:cNvPr>
              <p14:cNvContentPartPr/>
              <p14:nvPr/>
            </p14:nvContentPartPr>
            <p14:xfrm>
              <a:off x="1810539" y="3791725"/>
              <a:ext cx="4376880" cy="24984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BFE7312E-63D0-7789-3DA6-A93E1AF8C6C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56539" y="3684085"/>
                <a:ext cx="4484520" cy="46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9E48F7E4-22C0-3855-02C4-016E2ED5A2B0}"/>
                  </a:ext>
                </a:extLst>
              </p14:cNvPr>
              <p14:cNvContentPartPr/>
              <p14:nvPr/>
            </p14:nvContentPartPr>
            <p14:xfrm>
              <a:off x="1649259" y="4446565"/>
              <a:ext cx="5281560" cy="2736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9E48F7E4-22C0-3855-02C4-016E2ED5A2B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95619" y="4338565"/>
                <a:ext cx="5389200" cy="2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BC08A7DF-79C1-A458-CEEB-6B4DA5E27BB5}"/>
                  </a:ext>
                </a:extLst>
              </p14:cNvPr>
              <p14:cNvContentPartPr/>
              <p14:nvPr/>
            </p14:nvContentPartPr>
            <p14:xfrm>
              <a:off x="1703259" y="5074045"/>
              <a:ext cx="5800680" cy="2880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BC08A7DF-79C1-A458-CEEB-6B4DA5E27BB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49259" y="4966405"/>
                <a:ext cx="5908320" cy="244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1980" y="829944"/>
            <a:ext cx="79400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33CC33"/>
                </a:solidFill>
              </a:rPr>
              <a:t>Example</a:t>
            </a:r>
            <a:r>
              <a:rPr spc="-5" dirty="0"/>
              <a:t>: Update </a:t>
            </a:r>
            <a:r>
              <a:rPr spc="-20" dirty="0"/>
              <a:t>Several</a:t>
            </a:r>
            <a:r>
              <a:rPr spc="-15" dirty="0"/>
              <a:t> </a:t>
            </a:r>
            <a:r>
              <a:rPr spc="-75" dirty="0"/>
              <a:t>Tuples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t>53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2012949"/>
            <a:ext cx="7207884" cy="2814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10" dirty="0">
                <a:latin typeface="Tahoma"/>
                <a:cs typeface="Tahoma"/>
              </a:rPr>
              <a:t>Make </a:t>
            </a:r>
            <a:r>
              <a:rPr sz="3200" dirty="0">
                <a:latin typeface="Tahoma"/>
                <a:cs typeface="Tahoma"/>
              </a:rPr>
              <a:t>$4 </a:t>
            </a:r>
            <a:r>
              <a:rPr sz="3200" spc="-5" dirty="0">
                <a:latin typeface="Tahoma"/>
                <a:cs typeface="Tahoma"/>
              </a:rPr>
              <a:t>the maximum price </a:t>
            </a:r>
            <a:r>
              <a:rPr sz="3200" spc="-15" dirty="0">
                <a:latin typeface="Tahoma"/>
                <a:cs typeface="Tahoma"/>
              </a:rPr>
              <a:t>for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beer: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550">
              <a:latin typeface="Tahoma"/>
              <a:cs typeface="Tahoma"/>
            </a:endParaRPr>
          </a:p>
          <a:p>
            <a:pPr marL="926465" marR="2370455">
              <a:lnSpc>
                <a:spcPct val="119900"/>
              </a:lnSpc>
            </a:pPr>
            <a:r>
              <a:rPr sz="3200" spc="-5" dirty="0">
                <a:latin typeface="Courier New"/>
                <a:cs typeface="Courier New"/>
              </a:rPr>
              <a:t>UPDATE Sells  SET price </a:t>
            </a:r>
            <a:r>
              <a:rPr sz="3200" dirty="0">
                <a:latin typeface="Courier New"/>
                <a:cs typeface="Courier New"/>
              </a:rPr>
              <a:t>=</a:t>
            </a:r>
            <a:r>
              <a:rPr sz="3200" spc="-55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4.00</a:t>
            </a:r>
            <a:endParaRPr sz="320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Courier New"/>
                <a:cs typeface="Courier New"/>
              </a:rPr>
              <a:t>WHERE price </a:t>
            </a:r>
            <a:r>
              <a:rPr sz="3200" dirty="0">
                <a:latin typeface="Courier New"/>
                <a:cs typeface="Courier New"/>
              </a:rPr>
              <a:t>&gt;</a:t>
            </a:r>
            <a:r>
              <a:rPr sz="3200" spc="-20" dirty="0">
                <a:latin typeface="Courier New"/>
                <a:cs typeface="Courier New"/>
              </a:rPr>
              <a:t> </a:t>
            </a:r>
            <a:r>
              <a:rPr sz="3200" spc="-5" dirty="0">
                <a:latin typeface="Courier New"/>
                <a:cs typeface="Courier New"/>
              </a:rPr>
              <a:t>4.00;</a:t>
            </a:r>
            <a:endParaRPr sz="3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</TotalTime>
  <Words>2402</Words>
  <Application>Microsoft Office PowerPoint</Application>
  <PresentationFormat>全屏显示(4:3)</PresentationFormat>
  <Paragraphs>443</Paragraphs>
  <Slides>53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53</vt:i4>
      </vt:variant>
    </vt:vector>
  </HeadingPairs>
  <TitlesOfParts>
    <vt:vector size="65" baseType="lpstr">
      <vt:lpstr>宋体</vt:lpstr>
      <vt:lpstr>Arial</vt:lpstr>
      <vt:lpstr>Arial Narrow</vt:lpstr>
      <vt:lpstr>Calibri</vt:lpstr>
      <vt:lpstr>Courier New</vt:lpstr>
      <vt:lpstr>Lucida Calligraphy</vt:lpstr>
      <vt:lpstr>Lucida Sans Typewriter</vt:lpstr>
      <vt:lpstr>Lucida Sans Unicode</vt:lpstr>
      <vt:lpstr>Tahoma</vt:lpstr>
      <vt:lpstr>Times New Roman</vt:lpstr>
      <vt:lpstr>Wingdings</vt:lpstr>
      <vt:lpstr>Office Theme</vt:lpstr>
      <vt:lpstr>PowerPoint 演示文稿</vt:lpstr>
      <vt:lpstr>The Extended Algebra</vt:lpstr>
      <vt:lpstr>Duplicate Elimination</vt:lpstr>
      <vt:lpstr>Example: Duplicate Elimination</vt:lpstr>
      <vt:lpstr>Sorting</vt:lpstr>
      <vt:lpstr>Example: Sorting</vt:lpstr>
      <vt:lpstr>Aggregation Operators聚合运算符</vt:lpstr>
      <vt:lpstr>Example: Aggregation</vt:lpstr>
      <vt:lpstr>Grouping Operator分组运算符</vt:lpstr>
      <vt:lpstr>Applying γL(R)</vt:lpstr>
      <vt:lpstr>Example: Grouping/Aggregation</vt:lpstr>
      <vt:lpstr>Outerjoin</vt:lpstr>
      <vt:lpstr>Example: Outerjoin</vt:lpstr>
      <vt:lpstr>Now --- Back to SQL</vt:lpstr>
      <vt:lpstr>Outerjoins</vt:lpstr>
      <vt:lpstr>Aggregations</vt:lpstr>
      <vt:lpstr>PowerPoint 演示文稿</vt:lpstr>
      <vt:lpstr>Example: Aggregation</vt:lpstr>
      <vt:lpstr>COUNT</vt:lpstr>
      <vt:lpstr>Eliminating Duplicates消除重复 in an  Aggregation</vt:lpstr>
      <vt:lpstr>NULL’s Ignored in Aggregation</vt:lpstr>
      <vt:lpstr>Example: Effect of NULL’s</vt:lpstr>
      <vt:lpstr>Grouping</vt:lpstr>
      <vt:lpstr>Example: Grouping</vt:lpstr>
      <vt:lpstr>Example: Grouping</vt:lpstr>
      <vt:lpstr>Using the GROUP BY Clause</vt:lpstr>
      <vt:lpstr>Restriction on SELECT Lists  With Aggregation</vt:lpstr>
      <vt:lpstr>Illegal Query Example</vt:lpstr>
      <vt:lpstr>HAVING Clauses</vt:lpstr>
      <vt:lpstr>Using the GROUP BY Clause with the  HAVING Clause</vt:lpstr>
      <vt:lpstr>Example: HAVING</vt:lpstr>
      <vt:lpstr>Solution</vt:lpstr>
      <vt:lpstr>Requirements on HAVING  Conditions</vt:lpstr>
      <vt:lpstr>Database Modifications</vt:lpstr>
      <vt:lpstr>Insertion</vt:lpstr>
      <vt:lpstr>Specifying指定 Attributes in INSERT</vt:lpstr>
      <vt:lpstr>Example: Specifying Attributes</vt:lpstr>
      <vt:lpstr>Adding Default Values</vt:lpstr>
      <vt:lpstr>Example: Default Values</vt:lpstr>
      <vt:lpstr>Example: Default Values</vt:lpstr>
      <vt:lpstr>Inserting Many Tuples</vt:lpstr>
      <vt:lpstr>Example: Insert a Subquery</vt:lpstr>
      <vt:lpstr>PowerPoint 演示文稿</vt:lpstr>
      <vt:lpstr>Creating a Table Using the  SELECT INTO Statement</vt:lpstr>
      <vt:lpstr>Deletion</vt:lpstr>
      <vt:lpstr>Example: Deletion</vt:lpstr>
      <vt:lpstr>Example: Delete all Tuples</vt:lpstr>
      <vt:lpstr>Example: Delete Some Tuples</vt:lpstr>
      <vt:lpstr>Semantics 语义of Deletion</vt:lpstr>
      <vt:lpstr>Semantics of Deletion --- (2)</vt:lpstr>
      <vt:lpstr>Updates</vt:lpstr>
      <vt:lpstr>Example: Update</vt:lpstr>
      <vt:lpstr>Example: Update Several Tuples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- Vel</cp:lastModifiedBy>
  <cp:revision>1</cp:revision>
  <dcterms:created xsi:type="dcterms:W3CDTF">2024-06-19T09:18:27Z</dcterms:created>
  <dcterms:modified xsi:type="dcterms:W3CDTF">2024-06-21T05:41:58Z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2020-09-23T00:00:00Z</vt:filetime>
  </property>
  <property fmtid="{D5CDD505-2E9C-101B-9397-08002B2CF9AE}" pid="3" name="Creator">
    <vt:lpwstr>WPS 演示</vt:lpwstr>
  </property>
  <property fmtid="{D5CDD505-2E9C-101B-9397-08002B2CF9AE}" pid="4" name="LastSaved">
    <vt:filetime>2024-06-19T00:00:00Z</vt:filetime>
  </property>
</Properties>
</file>
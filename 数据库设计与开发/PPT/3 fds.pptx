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6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</p:sldIdLst>
  <p:sldSz cx="9144000" cy="6858000" type="screen4x3"/>
  <p:notesSz cx="9144000" cy="6858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1" d="100"/>
          <a:sy n="71" d="100"/>
        </p:scale>
        <p:origin x="52" y="75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71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21D08F9-3835-4E21-888D-4C3179B38B1C}" type="datetimeFigureOut">
              <a:rPr lang="zh-CN" altLang="en-US" smtClean="0"/>
              <a:t>2024/6/16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857250"/>
            <a:ext cx="30861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5180013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344454E-9FEA-4CB0-AC88-0486ACAD173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567322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 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44454E-9FEA-4CB0-AC88-0486ACAD173D}" type="slidenum">
              <a:rPr lang="zh-CN" altLang="en-US" smtClean="0"/>
              <a:t>35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94101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064260" y="2171699"/>
            <a:ext cx="7015479" cy="136778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329814" y="3821557"/>
            <a:ext cx="4484370" cy="177990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6/16/2024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pPr marL="38100">
              <a:lnSpc>
                <a:spcPts val="1630"/>
              </a:lnSpc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32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6/16/2024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pPr marL="38100">
              <a:lnSpc>
                <a:spcPts val="1630"/>
              </a:lnSpc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6/16/2024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pPr marL="38100">
              <a:lnSpc>
                <a:spcPts val="1630"/>
              </a:lnSpc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6/16/2024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pPr marL="38100">
              <a:lnSpc>
                <a:spcPts val="1630"/>
              </a:lnSpc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6/16/2024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pPr marL="38100">
              <a:lnSpc>
                <a:spcPts val="1630"/>
              </a:lnSpc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893569" y="829944"/>
            <a:ext cx="5356860" cy="69723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748029" y="1916556"/>
            <a:ext cx="7647940" cy="2852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6/16/2024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150859" y="6290054"/>
            <a:ext cx="254634" cy="2235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pPr marL="38100">
              <a:lnSpc>
                <a:spcPts val="1630"/>
              </a:lnSpc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233295" marR="5080" indent="-2220595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Design Theory </a:t>
            </a:r>
            <a:r>
              <a:rPr spc="-20" dirty="0"/>
              <a:t>for </a:t>
            </a:r>
            <a:r>
              <a:rPr spc="-15" dirty="0"/>
              <a:t>Relational  </a:t>
            </a:r>
            <a:r>
              <a:rPr spc="-5" dirty="0"/>
              <a:t>Databases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dirty="0"/>
              <a:t>1</a:t>
            </a:fld>
            <a:endParaRPr dirty="0"/>
          </a:p>
        </p:txBody>
      </p:sp>
      <p:sp>
        <p:nvSpPr>
          <p:cNvPr id="3" name="object 3"/>
          <p:cNvSpPr txBox="1">
            <a:spLocks noGrp="1"/>
          </p:cNvSpPr>
          <p:nvPr>
            <p:ph type="subTitle" idx="4"/>
          </p:nvPr>
        </p:nvSpPr>
        <p:spPr>
          <a:xfrm>
            <a:off x="2329814" y="3733800"/>
            <a:ext cx="4484370" cy="171963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33119" marR="5080" indent="-820419">
              <a:lnSpc>
                <a:spcPct val="119900"/>
              </a:lnSpc>
              <a:spcBef>
                <a:spcPts val="100"/>
              </a:spcBef>
            </a:pPr>
            <a:r>
              <a:rPr spc="-5" dirty="0"/>
              <a:t>Functional Dependencies  Decompositions</a:t>
            </a:r>
            <a:r>
              <a:rPr lang="zh-CN" altLang="en-US" spc="-5" dirty="0"/>
              <a:t>分解</a:t>
            </a:r>
            <a:r>
              <a:rPr spc="-5" dirty="0"/>
              <a:t> Normal</a:t>
            </a:r>
            <a:r>
              <a:rPr spc="-15" dirty="0"/>
              <a:t> </a:t>
            </a:r>
            <a:r>
              <a:rPr spc="-20" dirty="0"/>
              <a:t>Forms</a:t>
            </a:r>
            <a:r>
              <a:rPr lang="zh-CN" altLang="en-US" spc="-20" dirty="0"/>
              <a:t>正规</a:t>
            </a:r>
            <a:endParaRPr spc="-2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494789" y="829944"/>
            <a:ext cx="615505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Functional</a:t>
            </a:r>
            <a:r>
              <a:rPr spc="-40" dirty="0"/>
              <a:t> </a:t>
            </a:r>
            <a:r>
              <a:rPr spc="-5" dirty="0"/>
              <a:t>Dependencies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dirty="0"/>
              <a:t>2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764540" y="1996488"/>
            <a:ext cx="7529195" cy="3878626"/>
          </a:xfrm>
          <a:prstGeom prst="rect">
            <a:avLst/>
          </a:prstGeom>
        </p:spPr>
        <p:txBody>
          <a:bodyPr vert="horz" wrap="square" lIns="0" tIns="43815" rIns="0" bIns="0" rtlCol="0">
            <a:spAutoFit/>
          </a:bodyPr>
          <a:lstStyle/>
          <a:p>
            <a:pPr marL="355600" marR="5080" indent="-342900">
              <a:lnSpc>
                <a:spcPts val="3360"/>
              </a:lnSpc>
              <a:spcBef>
                <a:spcPts val="345"/>
              </a:spcBef>
            </a:pPr>
            <a:r>
              <a:rPr sz="2800" spc="-110" dirty="0">
                <a:solidFill>
                  <a:srgbClr val="CC00CC"/>
                </a:solidFill>
                <a:latin typeface="Wingdings"/>
                <a:cs typeface="Wingdings"/>
              </a:rPr>
              <a:t></a:t>
            </a:r>
            <a:r>
              <a:rPr sz="2900" i="1" spc="-110" dirty="0">
                <a:solidFill>
                  <a:srgbClr val="00CC99"/>
                </a:solidFill>
                <a:latin typeface="Tahoma"/>
                <a:cs typeface="Tahoma"/>
              </a:rPr>
              <a:t>X</a:t>
            </a:r>
            <a:r>
              <a:rPr sz="2800" spc="-110" dirty="0">
                <a:solidFill>
                  <a:srgbClr val="00CC99"/>
                </a:solidFill>
                <a:latin typeface="Tahoma"/>
                <a:cs typeface="Tahoma"/>
              </a:rPr>
              <a:t>-&gt;</a:t>
            </a:r>
            <a:r>
              <a:rPr sz="2900" i="1" spc="-110" dirty="0">
                <a:solidFill>
                  <a:srgbClr val="00CC99"/>
                </a:solidFill>
                <a:latin typeface="Tahoma"/>
                <a:cs typeface="Tahoma"/>
              </a:rPr>
              <a:t>Y </a:t>
            </a:r>
            <a:r>
              <a:rPr sz="2800" spc="-5" dirty="0">
                <a:latin typeface="Tahoma"/>
                <a:cs typeface="Tahoma"/>
              </a:rPr>
              <a:t>is an assertion</a:t>
            </a:r>
            <a:r>
              <a:rPr lang="zh-CN" altLang="en-US" sz="2800" spc="-5" dirty="0">
                <a:latin typeface="Tahoma"/>
                <a:cs typeface="Tahoma"/>
              </a:rPr>
              <a:t>断言</a:t>
            </a:r>
            <a:r>
              <a:rPr sz="2800" spc="-5" dirty="0">
                <a:latin typeface="Tahoma"/>
                <a:cs typeface="Tahoma"/>
              </a:rPr>
              <a:t>about a relation </a:t>
            </a:r>
            <a:r>
              <a:rPr sz="2900" i="1" spc="-70" dirty="0">
                <a:latin typeface="Tahoma"/>
                <a:cs typeface="Tahoma"/>
              </a:rPr>
              <a:t>R </a:t>
            </a:r>
            <a:r>
              <a:rPr sz="2800" spc="-5" dirty="0">
                <a:latin typeface="Tahoma"/>
                <a:cs typeface="Tahoma"/>
              </a:rPr>
              <a:t>that  </a:t>
            </a:r>
            <a:r>
              <a:rPr sz="2800" spc="-10" dirty="0">
                <a:latin typeface="Tahoma"/>
                <a:cs typeface="Tahoma"/>
              </a:rPr>
              <a:t>whenever </a:t>
            </a:r>
            <a:r>
              <a:rPr sz="2800" spc="-5" dirty="0">
                <a:latin typeface="Tahoma"/>
                <a:cs typeface="Tahoma"/>
              </a:rPr>
              <a:t>two tuples of </a:t>
            </a:r>
            <a:r>
              <a:rPr sz="2900" i="1" spc="-70" dirty="0">
                <a:latin typeface="Tahoma"/>
                <a:cs typeface="Tahoma"/>
              </a:rPr>
              <a:t>R </a:t>
            </a:r>
            <a:r>
              <a:rPr sz="2800" spc="-5" dirty="0">
                <a:latin typeface="Tahoma"/>
                <a:cs typeface="Tahoma"/>
              </a:rPr>
              <a:t>agree on </a:t>
            </a:r>
            <a:r>
              <a:rPr sz="2800" dirty="0">
                <a:latin typeface="Tahoma"/>
                <a:cs typeface="Tahoma"/>
              </a:rPr>
              <a:t>all </a:t>
            </a:r>
            <a:r>
              <a:rPr sz="2800" spc="-5" dirty="0">
                <a:latin typeface="Tahoma"/>
                <a:cs typeface="Tahoma"/>
              </a:rPr>
              <a:t>the  attributes of </a:t>
            </a:r>
            <a:r>
              <a:rPr sz="2900" i="1" spc="-480" dirty="0">
                <a:latin typeface="Tahoma"/>
                <a:cs typeface="Tahoma"/>
              </a:rPr>
              <a:t>X</a:t>
            </a:r>
            <a:r>
              <a:rPr sz="2800" spc="-480" dirty="0">
                <a:latin typeface="Tahoma"/>
                <a:cs typeface="Tahoma"/>
              </a:rPr>
              <a:t>, </a:t>
            </a:r>
            <a:r>
              <a:rPr sz="2800" spc="-5" dirty="0">
                <a:latin typeface="Tahoma"/>
                <a:cs typeface="Tahoma"/>
              </a:rPr>
              <a:t>then they must also agree on  </a:t>
            </a:r>
            <a:r>
              <a:rPr sz="2800" dirty="0">
                <a:latin typeface="Tahoma"/>
                <a:cs typeface="Tahoma"/>
              </a:rPr>
              <a:t>all </a:t>
            </a:r>
            <a:r>
              <a:rPr sz="2800" spc="-5" dirty="0">
                <a:latin typeface="Tahoma"/>
                <a:cs typeface="Tahoma"/>
              </a:rPr>
              <a:t>attributes in set</a:t>
            </a:r>
            <a:r>
              <a:rPr sz="2800" spc="-185" dirty="0">
                <a:latin typeface="Tahoma"/>
                <a:cs typeface="Tahoma"/>
              </a:rPr>
              <a:t> </a:t>
            </a:r>
            <a:r>
              <a:rPr sz="2900" i="1" spc="-480" dirty="0">
                <a:latin typeface="Tahoma"/>
                <a:cs typeface="Tahoma"/>
              </a:rPr>
              <a:t>Y</a:t>
            </a:r>
            <a:r>
              <a:rPr sz="2800" spc="-480" dirty="0">
                <a:latin typeface="Tahoma"/>
                <a:cs typeface="Tahoma"/>
              </a:rPr>
              <a:t>.</a:t>
            </a:r>
            <a:endParaRPr sz="2800" dirty="0">
              <a:latin typeface="Tahoma"/>
              <a:cs typeface="Tahoma"/>
            </a:endParaRPr>
          </a:p>
          <a:p>
            <a:pPr marL="755650" indent="-285750">
              <a:lnSpc>
                <a:spcPct val="100000"/>
              </a:lnSpc>
              <a:spcBef>
                <a:spcPts val="365"/>
              </a:spcBef>
              <a:buClr>
                <a:srgbClr val="CC00CC"/>
              </a:buClr>
              <a:buFont typeface="Wingdings"/>
              <a:buChar char=""/>
              <a:tabLst>
                <a:tab pos="755650" algn="l"/>
              </a:tabLst>
            </a:pPr>
            <a:r>
              <a:rPr sz="2400" spc="-10" dirty="0">
                <a:latin typeface="Tahoma"/>
                <a:cs typeface="Tahoma"/>
              </a:rPr>
              <a:t>Say </a:t>
            </a:r>
            <a:r>
              <a:rPr sz="2400" spc="-95" dirty="0">
                <a:latin typeface="Tahoma"/>
                <a:cs typeface="Tahoma"/>
              </a:rPr>
              <a:t>“</a:t>
            </a:r>
            <a:r>
              <a:rPr sz="2500" i="1" spc="-95" dirty="0">
                <a:solidFill>
                  <a:srgbClr val="00CC99"/>
                </a:solidFill>
                <a:latin typeface="Tahoma"/>
                <a:cs typeface="Tahoma"/>
              </a:rPr>
              <a:t>X</a:t>
            </a:r>
            <a:r>
              <a:rPr sz="2400" spc="-95" dirty="0">
                <a:solidFill>
                  <a:srgbClr val="00CC99"/>
                </a:solidFill>
                <a:latin typeface="Tahoma"/>
                <a:cs typeface="Tahoma"/>
              </a:rPr>
              <a:t>-&gt;</a:t>
            </a:r>
            <a:r>
              <a:rPr sz="2500" i="1" spc="-95" dirty="0">
                <a:solidFill>
                  <a:srgbClr val="00CC99"/>
                </a:solidFill>
                <a:latin typeface="Tahoma"/>
                <a:cs typeface="Tahoma"/>
              </a:rPr>
              <a:t>Y </a:t>
            </a:r>
            <a:r>
              <a:rPr sz="2400" spc="-5" dirty="0">
                <a:latin typeface="Tahoma"/>
                <a:cs typeface="Tahoma"/>
              </a:rPr>
              <a:t>holds </a:t>
            </a:r>
            <a:r>
              <a:rPr sz="2400" dirty="0">
                <a:latin typeface="Tahoma"/>
                <a:cs typeface="Tahoma"/>
              </a:rPr>
              <a:t>in</a:t>
            </a:r>
            <a:r>
              <a:rPr sz="2400" spc="-114" dirty="0">
                <a:latin typeface="Tahoma"/>
                <a:cs typeface="Tahoma"/>
              </a:rPr>
              <a:t> </a:t>
            </a:r>
            <a:r>
              <a:rPr sz="2500" i="1" spc="-360" dirty="0">
                <a:latin typeface="Tahoma"/>
                <a:cs typeface="Tahoma"/>
              </a:rPr>
              <a:t>R</a:t>
            </a:r>
            <a:r>
              <a:rPr sz="2400" spc="-360" dirty="0">
                <a:latin typeface="Tahoma"/>
                <a:cs typeface="Tahoma"/>
              </a:rPr>
              <a:t>.”</a:t>
            </a:r>
            <a:endParaRPr sz="2400" dirty="0">
              <a:latin typeface="Tahoma"/>
              <a:cs typeface="Tahoma"/>
            </a:endParaRPr>
          </a:p>
          <a:p>
            <a:pPr marL="755650" marR="316230" indent="-285750">
              <a:lnSpc>
                <a:spcPts val="2880"/>
              </a:lnSpc>
              <a:spcBef>
                <a:spcPts val="650"/>
              </a:spcBef>
              <a:buClr>
                <a:srgbClr val="CC00CC"/>
              </a:buClr>
              <a:buFont typeface="Wingdings"/>
              <a:buChar char=""/>
              <a:tabLst>
                <a:tab pos="755650" algn="l"/>
              </a:tabLst>
            </a:pPr>
            <a:r>
              <a:rPr sz="2400" spc="-5" dirty="0">
                <a:solidFill>
                  <a:srgbClr val="FF0066"/>
                </a:solidFill>
                <a:latin typeface="Tahoma"/>
                <a:cs typeface="Tahoma"/>
              </a:rPr>
              <a:t>Convention</a:t>
            </a:r>
            <a:r>
              <a:rPr sz="2400" spc="-5" dirty="0">
                <a:latin typeface="Tahoma"/>
                <a:cs typeface="Tahoma"/>
              </a:rPr>
              <a:t>: …, </a:t>
            </a:r>
            <a:r>
              <a:rPr sz="2500" i="1" spc="-415" dirty="0">
                <a:latin typeface="Tahoma"/>
                <a:cs typeface="Tahoma"/>
              </a:rPr>
              <a:t>X</a:t>
            </a:r>
            <a:r>
              <a:rPr sz="2400" spc="-415" dirty="0">
                <a:latin typeface="Tahoma"/>
                <a:cs typeface="Tahoma"/>
              </a:rPr>
              <a:t>, </a:t>
            </a:r>
            <a:r>
              <a:rPr sz="2500" i="1" spc="-415" dirty="0">
                <a:latin typeface="Tahoma"/>
                <a:cs typeface="Tahoma"/>
              </a:rPr>
              <a:t>Y</a:t>
            </a:r>
            <a:r>
              <a:rPr sz="2400" spc="-415" dirty="0">
                <a:latin typeface="Tahoma"/>
                <a:cs typeface="Tahoma"/>
              </a:rPr>
              <a:t>, </a:t>
            </a:r>
            <a:r>
              <a:rPr sz="2500" i="1" spc="-60" dirty="0">
                <a:latin typeface="Tahoma"/>
                <a:cs typeface="Tahoma"/>
              </a:rPr>
              <a:t>Z </a:t>
            </a:r>
            <a:r>
              <a:rPr sz="2400" spc="-5" dirty="0">
                <a:latin typeface="Tahoma"/>
                <a:cs typeface="Tahoma"/>
              </a:rPr>
              <a:t>represent sets </a:t>
            </a:r>
            <a:r>
              <a:rPr sz="2400" dirty="0">
                <a:latin typeface="Tahoma"/>
                <a:cs typeface="Tahoma"/>
              </a:rPr>
              <a:t>of  </a:t>
            </a:r>
            <a:r>
              <a:rPr sz="2400" spc="-5" dirty="0">
                <a:latin typeface="Tahoma"/>
                <a:cs typeface="Tahoma"/>
              </a:rPr>
              <a:t>attributes; </a:t>
            </a:r>
            <a:r>
              <a:rPr sz="2500" i="1" spc="-415" dirty="0">
                <a:latin typeface="Tahoma"/>
                <a:cs typeface="Tahoma"/>
              </a:rPr>
              <a:t>A</a:t>
            </a:r>
            <a:r>
              <a:rPr sz="2400" spc="-415" dirty="0">
                <a:latin typeface="Tahoma"/>
                <a:cs typeface="Tahoma"/>
              </a:rPr>
              <a:t>, </a:t>
            </a:r>
            <a:r>
              <a:rPr sz="2500" i="1" spc="-415" dirty="0">
                <a:latin typeface="Tahoma"/>
                <a:cs typeface="Tahoma"/>
              </a:rPr>
              <a:t>B</a:t>
            </a:r>
            <a:r>
              <a:rPr sz="2400" spc="-415" dirty="0">
                <a:latin typeface="Tahoma"/>
                <a:cs typeface="Tahoma"/>
              </a:rPr>
              <a:t>, </a:t>
            </a:r>
            <a:r>
              <a:rPr sz="2500" i="1" spc="-280" dirty="0">
                <a:latin typeface="Tahoma"/>
                <a:cs typeface="Tahoma"/>
              </a:rPr>
              <a:t>C</a:t>
            </a:r>
            <a:r>
              <a:rPr sz="2400" spc="-280" dirty="0">
                <a:latin typeface="Tahoma"/>
                <a:cs typeface="Tahoma"/>
              </a:rPr>
              <a:t>,… </a:t>
            </a:r>
            <a:r>
              <a:rPr sz="2400" spc="-5" dirty="0">
                <a:latin typeface="Tahoma"/>
                <a:cs typeface="Tahoma"/>
              </a:rPr>
              <a:t>represent single</a:t>
            </a:r>
            <a:r>
              <a:rPr sz="2400" spc="-60" dirty="0">
                <a:latin typeface="Tahoma"/>
                <a:cs typeface="Tahoma"/>
              </a:rPr>
              <a:t> </a:t>
            </a:r>
            <a:r>
              <a:rPr sz="2400" spc="-5" dirty="0">
                <a:latin typeface="Tahoma"/>
                <a:cs typeface="Tahoma"/>
              </a:rPr>
              <a:t>attributes.</a:t>
            </a:r>
            <a:endParaRPr sz="2400" dirty="0">
              <a:latin typeface="Tahoma"/>
              <a:cs typeface="Tahoma"/>
            </a:endParaRPr>
          </a:p>
          <a:p>
            <a:pPr marL="755650" marR="311785" indent="-285750">
              <a:lnSpc>
                <a:spcPts val="2880"/>
              </a:lnSpc>
              <a:spcBef>
                <a:spcPts val="575"/>
              </a:spcBef>
              <a:buClr>
                <a:srgbClr val="CC00CC"/>
              </a:buClr>
              <a:buFont typeface="Wingdings"/>
              <a:buChar char=""/>
              <a:tabLst>
                <a:tab pos="755650" algn="l"/>
              </a:tabLst>
            </a:pPr>
            <a:r>
              <a:rPr sz="2400" spc="-5" dirty="0">
                <a:solidFill>
                  <a:srgbClr val="FF0066"/>
                </a:solidFill>
                <a:latin typeface="Tahoma"/>
                <a:cs typeface="Tahoma"/>
              </a:rPr>
              <a:t>Convention</a:t>
            </a:r>
            <a:r>
              <a:rPr sz="2400" spc="-5" dirty="0">
                <a:latin typeface="Tahoma"/>
                <a:cs typeface="Tahoma"/>
              </a:rPr>
              <a:t>: </a:t>
            </a:r>
            <a:r>
              <a:rPr sz="2400" dirty="0">
                <a:latin typeface="Tahoma"/>
                <a:cs typeface="Tahoma"/>
              </a:rPr>
              <a:t>no </a:t>
            </a:r>
            <a:r>
              <a:rPr sz="2400" spc="-5" dirty="0">
                <a:latin typeface="Tahoma"/>
                <a:cs typeface="Tahoma"/>
              </a:rPr>
              <a:t>set formers </a:t>
            </a:r>
            <a:r>
              <a:rPr sz="2400" dirty="0">
                <a:latin typeface="Tahoma"/>
                <a:cs typeface="Tahoma"/>
              </a:rPr>
              <a:t>in </a:t>
            </a:r>
            <a:r>
              <a:rPr sz="2400" spc="-5" dirty="0">
                <a:latin typeface="Tahoma"/>
                <a:cs typeface="Tahoma"/>
              </a:rPr>
              <a:t>sets </a:t>
            </a:r>
            <a:r>
              <a:rPr sz="2400" dirty="0">
                <a:latin typeface="Tahoma"/>
                <a:cs typeface="Tahoma"/>
              </a:rPr>
              <a:t>of </a:t>
            </a:r>
            <a:r>
              <a:rPr sz="2400" spc="-5" dirty="0">
                <a:latin typeface="Tahoma"/>
                <a:cs typeface="Tahoma"/>
              </a:rPr>
              <a:t>attributes,  just </a:t>
            </a:r>
            <a:r>
              <a:rPr sz="2500" i="1" spc="-700" dirty="0">
                <a:latin typeface="Tahoma"/>
                <a:cs typeface="Tahoma"/>
              </a:rPr>
              <a:t>ABC</a:t>
            </a:r>
            <a:r>
              <a:rPr sz="2400" spc="-700" dirty="0">
                <a:latin typeface="Tahoma"/>
                <a:cs typeface="Tahoma"/>
              </a:rPr>
              <a:t>, </a:t>
            </a:r>
            <a:r>
              <a:rPr sz="2400" spc="-10" dirty="0">
                <a:latin typeface="Tahoma"/>
                <a:cs typeface="Tahoma"/>
              </a:rPr>
              <a:t>rather </a:t>
            </a:r>
            <a:r>
              <a:rPr sz="2400" dirty="0">
                <a:latin typeface="Tahoma"/>
                <a:cs typeface="Tahoma"/>
              </a:rPr>
              <a:t>than</a:t>
            </a:r>
            <a:r>
              <a:rPr sz="2400" spc="-160" dirty="0">
                <a:latin typeface="Tahoma"/>
                <a:cs typeface="Tahoma"/>
              </a:rPr>
              <a:t> </a:t>
            </a:r>
            <a:r>
              <a:rPr sz="2400" spc="-280" dirty="0">
                <a:latin typeface="Tahoma"/>
                <a:cs typeface="Tahoma"/>
              </a:rPr>
              <a:t>{</a:t>
            </a:r>
            <a:r>
              <a:rPr sz="2500" i="1" spc="-280" dirty="0">
                <a:latin typeface="Tahoma"/>
                <a:cs typeface="Tahoma"/>
              </a:rPr>
              <a:t>A</a:t>
            </a:r>
            <a:r>
              <a:rPr sz="2400" spc="-280" dirty="0">
                <a:latin typeface="Tahoma"/>
                <a:cs typeface="Tahoma"/>
              </a:rPr>
              <a:t>,</a:t>
            </a:r>
            <a:r>
              <a:rPr sz="2500" i="1" spc="-280" dirty="0">
                <a:latin typeface="Tahoma"/>
                <a:cs typeface="Tahoma"/>
              </a:rPr>
              <a:t>B</a:t>
            </a:r>
            <a:r>
              <a:rPr sz="2400" spc="-280" dirty="0">
                <a:latin typeface="Tahoma"/>
                <a:cs typeface="Tahoma"/>
              </a:rPr>
              <a:t>,</a:t>
            </a:r>
            <a:r>
              <a:rPr sz="2500" i="1" spc="-280" dirty="0">
                <a:latin typeface="Tahoma"/>
                <a:cs typeface="Tahoma"/>
              </a:rPr>
              <a:t>C</a:t>
            </a:r>
            <a:r>
              <a:rPr sz="2400" spc="-280" dirty="0">
                <a:latin typeface="Tahoma"/>
                <a:cs typeface="Tahoma"/>
              </a:rPr>
              <a:t>}.</a:t>
            </a:r>
            <a:endParaRPr sz="2400" dirty="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77289" y="829944"/>
            <a:ext cx="679005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Splitting </a:t>
            </a:r>
            <a:r>
              <a:rPr spc="-5" dirty="0"/>
              <a:t>Right Sides of</a:t>
            </a:r>
            <a:r>
              <a:rPr spc="-15" dirty="0"/>
              <a:t> </a:t>
            </a:r>
            <a:r>
              <a:rPr spc="-40" dirty="0"/>
              <a:t>FD’s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dirty="0"/>
              <a:t>3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751840" y="1992617"/>
            <a:ext cx="7569834" cy="4239895"/>
          </a:xfrm>
          <a:prstGeom prst="rect">
            <a:avLst/>
          </a:prstGeom>
        </p:spPr>
        <p:txBody>
          <a:bodyPr vert="horz" wrap="square" lIns="0" tIns="49530" rIns="0" bIns="0" rtlCol="0">
            <a:spAutoFit/>
          </a:bodyPr>
          <a:lstStyle/>
          <a:p>
            <a:pPr marL="368300" marR="159385" indent="-342900">
              <a:lnSpc>
                <a:spcPts val="3840"/>
              </a:lnSpc>
              <a:spcBef>
                <a:spcPts val="390"/>
              </a:spcBef>
              <a:tabLst>
                <a:tab pos="2858770" algn="l"/>
                <a:tab pos="6230620" algn="l"/>
              </a:tabLst>
            </a:pPr>
            <a:r>
              <a:rPr sz="3200" spc="-500" dirty="0">
                <a:solidFill>
                  <a:srgbClr val="CC00CC"/>
                </a:solidFill>
                <a:latin typeface="Wingdings"/>
                <a:cs typeface="Wingdings"/>
              </a:rPr>
              <a:t></a:t>
            </a:r>
            <a:r>
              <a:rPr sz="3350" i="1" spc="-500" dirty="0">
                <a:solidFill>
                  <a:srgbClr val="00CC99"/>
                </a:solidFill>
                <a:latin typeface="Tahoma"/>
                <a:cs typeface="Tahoma"/>
              </a:rPr>
              <a:t>X</a:t>
            </a:r>
            <a:r>
              <a:rPr sz="3200" spc="-500" dirty="0">
                <a:solidFill>
                  <a:srgbClr val="00CC99"/>
                </a:solidFill>
                <a:latin typeface="Tahoma"/>
                <a:cs typeface="Tahoma"/>
              </a:rPr>
              <a:t>-&gt;</a:t>
            </a:r>
            <a:r>
              <a:rPr sz="3350" i="1" spc="-500" dirty="0">
                <a:solidFill>
                  <a:srgbClr val="00CC99"/>
                </a:solidFill>
                <a:latin typeface="Tahoma"/>
                <a:cs typeface="Tahoma"/>
              </a:rPr>
              <a:t>A</a:t>
            </a:r>
            <a:r>
              <a:rPr sz="3075" spc="-750" baseline="-17615" dirty="0">
                <a:solidFill>
                  <a:srgbClr val="00CC99"/>
                </a:solidFill>
                <a:latin typeface="Tahoma"/>
                <a:cs typeface="Tahoma"/>
              </a:rPr>
              <a:t>1</a:t>
            </a:r>
            <a:r>
              <a:rPr sz="3350" i="1" spc="-500" dirty="0">
                <a:solidFill>
                  <a:srgbClr val="00CC99"/>
                </a:solidFill>
                <a:latin typeface="Tahoma"/>
                <a:cs typeface="Tahoma"/>
              </a:rPr>
              <a:t>A</a:t>
            </a:r>
            <a:r>
              <a:rPr sz="3075" spc="-750" baseline="-17615" dirty="0">
                <a:solidFill>
                  <a:srgbClr val="00CC99"/>
                </a:solidFill>
                <a:latin typeface="Tahoma"/>
                <a:cs typeface="Tahoma"/>
              </a:rPr>
              <a:t>2</a:t>
            </a:r>
            <a:r>
              <a:rPr sz="3200" spc="-500" dirty="0">
                <a:solidFill>
                  <a:srgbClr val="00CC99"/>
                </a:solidFill>
                <a:latin typeface="Tahoma"/>
                <a:cs typeface="Tahoma"/>
              </a:rPr>
              <a:t>…</a:t>
            </a:r>
            <a:r>
              <a:rPr sz="3350" i="1" spc="-500" dirty="0">
                <a:solidFill>
                  <a:srgbClr val="00CC99"/>
                </a:solidFill>
                <a:latin typeface="Tahoma"/>
                <a:cs typeface="Tahoma"/>
              </a:rPr>
              <a:t>A</a:t>
            </a:r>
            <a:r>
              <a:rPr sz="3225" i="1" spc="-750" baseline="-16795" dirty="0">
                <a:solidFill>
                  <a:srgbClr val="00CC99"/>
                </a:solidFill>
                <a:latin typeface="Tahoma"/>
                <a:cs typeface="Tahoma"/>
              </a:rPr>
              <a:t>n	</a:t>
            </a:r>
            <a:r>
              <a:rPr sz="3200" spc="-5" dirty="0">
                <a:latin typeface="Tahoma"/>
                <a:cs typeface="Tahoma"/>
              </a:rPr>
              <a:t>holds </a:t>
            </a:r>
            <a:r>
              <a:rPr sz="3200" spc="-15" dirty="0">
                <a:latin typeface="Tahoma"/>
                <a:cs typeface="Tahoma"/>
              </a:rPr>
              <a:t>for </a:t>
            </a:r>
            <a:r>
              <a:rPr sz="3350" i="1" spc="-90" dirty="0">
                <a:latin typeface="Tahoma"/>
                <a:cs typeface="Tahoma"/>
              </a:rPr>
              <a:t>R </a:t>
            </a:r>
            <a:r>
              <a:rPr sz="3200" spc="-5" dirty="0">
                <a:latin typeface="Tahoma"/>
                <a:cs typeface="Tahoma"/>
              </a:rPr>
              <a:t>exactly when  each of </a:t>
            </a:r>
            <a:r>
              <a:rPr sz="3350" i="1" spc="-405" dirty="0">
                <a:solidFill>
                  <a:srgbClr val="00CC99"/>
                </a:solidFill>
                <a:latin typeface="Tahoma"/>
                <a:cs typeface="Tahoma"/>
              </a:rPr>
              <a:t>X</a:t>
            </a:r>
            <a:r>
              <a:rPr sz="3200" spc="-405" dirty="0">
                <a:solidFill>
                  <a:srgbClr val="00CC99"/>
                </a:solidFill>
                <a:latin typeface="Tahoma"/>
                <a:cs typeface="Tahoma"/>
              </a:rPr>
              <a:t>-&gt;</a:t>
            </a:r>
            <a:r>
              <a:rPr sz="3350" i="1" spc="-405" dirty="0">
                <a:solidFill>
                  <a:srgbClr val="00CC99"/>
                </a:solidFill>
                <a:latin typeface="Tahoma"/>
                <a:cs typeface="Tahoma"/>
              </a:rPr>
              <a:t>A</a:t>
            </a:r>
            <a:r>
              <a:rPr sz="3075" spc="-607" baseline="-17615" dirty="0">
                <a:solidFill>
                  <a:srgbClr val="00CC99"/>
                </a:solidFill>
                <a:latin typeface="Tahoma"/>
                <a:cs typeface="Tahoma"/>
              </a:rPr>
              <a:t>1</a:t>
            </a:r>
            <a:r>
              <a:rPr sz="3200" spc="-405" dirty="0">
                <a:latin typeface="Tahoma"/>
                <a:cs typeface="Tahoma"/>
              </a:rPr>
              <a:t>,</a:t>
            </a:r>
            <a:r>
              <a:rPr sz="3200" spc="-390" dirty="0">
                <a:latin typeface="Tahoma"/>
                <a:cs typeface="Tahoma"/>
              </a:rPr>
              <a:t> </a:t>
            </a:r>
            <a:r>
              <a:rPr sz="3350" i="1" spc="-305" dirty="0">
                <a:solidFill>
                  <a:srgbClr val="00CC99"/>
                </a:solidFill>
                <a:latin typeface="Tahoma"/>
                <a:cs typeface="Tahoma"/>
              </a:rPr>
              <a:t>X</a:t>
            </a:r>
            <a:r>
              <a:rPr sz="3200" spc="-305" dirty="0">
                <a:solidFill>
                  <a:srgbClr val="00CC99"/>
                </a:solidFill>
                <a:latin typeface="Tahoma"/>
                <a:cs typeface="Tahoma"/>
              </a:rPr>
              <a:t>-&gt;</a:t>
            </a:r>
            <a:r>
              <a:rPr sz="3350" i="1" spc="-305" dirty="0">
                <a:solidFill>
                  <a:srgbClr val="00CC99"/>
                </a:solidFill>
                <a:latin typeface="Tahoma"/>
                <a:cs typeface="Tahoma"/>
              </a:rPr>
              <a:t>A</a:t>
            </a:r>
            <a:r>
              <a:rPr sz="3075" spc="-457" baseline="-17615" dirty="0">
                <a:solidFill>
                  <a:srgbClr val="00CC99"/>
                </a:solidFill>
                <a:latin typeface="Tahoma"/>
                <a:cs typeface="Tahoma"/>
              </a:rPr>
              <a:t>2</a:t>
            </a:r>
            <a:r>
              <a:rPr sz="3200" spc="-305" dirty="0">
                <a:latin typeface="Tahoma"/>
                <a:cs typeface="Tahoma"/>
              </a:rPr>
              <a:t>,…,</a:t>
            </a:r>
            <a:r>
              <a:rPr sz="3200" spc="-200" dirty="0">
                <a:latin typeface="Tahoma"/>
                <a:cs typeface="Tahoma"/>
              </a:rPr>
              <a:t> </a:t>
            </a:r>
            <a:r>
              <a:rPr sz="3350" i="1" spc="-525" dirty="0">
                <a:solidFill>
                  <a:srgbClr val="00CC99"/>
                </a:solidFill>
                <a:latin typeface="Tahoma"/>
                <a:cs typeface="Tahoma"/>
              </a:rPr>
              <a:t>X</a:t>
            </a:r>
            <a:r>
              <a:rPr sz="3200" spc="-525" dirty="0">
                <a:solidFill>
                  <a:srgbClr val="00CC99"/>
                </a:solidFill>
                <a:latin typeface="Tahoma"/>
                <a:cs typeface="Tahoma"/>
              </a:rPr>
              <a:t>-&gt;</a:t>
            </a:r>
            <a:r>
              <a:rPr sz="3350" i="1" spc="-525" dirty="0">
                <a:solidFill>
                  <a:srgbClr val="00CC99"/>
                </a:solidFill>
                <a:latin typeface="Tahoma"/>
                <a:cs typeface="Tahoma"/>
              </a:rPr>
              <a:t>A</a:t>
            </a:r>
            <a:r>
              <a:rPr sz="3225" i="1" spc="-787" baseline="-16795" dirty="0">
                <a:solidFill>
                  <a:srgbClr val="00CC99"/>
                </a:solidFill>
                <a:latin typeface="Tahoma"/>
                <a:cs typeface="Tahoma"/>
              </a:rPr>
              <a:t>n	</a:t>
            </a:r>
            <a:r>
              <a:rPr sz="3200" spc="-5" dirty="0">
                <a:latin typeface="Tahoma"/>
                <a:cs typeface="Tahoma"/>
              </a:rPr>
              <a:t>hold  </a:t>
            </a:r>
            <a:r>
              <a:rPr sz="3200" spc="-15" dirty="0">
                <a:latin typeface="Tahoma"/>
                <a:cs typeface="Tahoma"/>
              </a:rPr>
              <a:t>for</a:t>
            </a:r>
            <a:r>
              <a:rPr sz="3200" spc="-220" dirty="0">
                <a:latin typeface="Tahoma"/>
                <a:cs typeface="Tahoma"/>
              </a:rPr>
              <a:t> </a:t>
            </a:r>
            <a:r>
              <a:rPr sz="3350" i="1" spc="-565" dirty="0">
                <a:latin typeface="Tahoma"/>
                <a:cs typeface="Tahoma"/>
              </a:rPr>
              <a:t>R</a:t>
            </a:r>
            <a:r>
              <a:rPr sz="3200" spc="-565" dirty="0">
                <a:latin typeface="Tahoma"/>
                <a:cs typeface="Tahoma"/>
              </a:rPr>
              <a:t>.</a:t>
            </a:r>
            <a:endParaRPr sz="3200" dirty="0">
              <a:latin typeface="Tahoma"/>
              <a:cs typeface="Tahoma"/>
            </a:endParaRPr>
          </a:p>
          <a:p>
            <a:pPr marL="427355" indent="-402590">
              <a:lnSpc>
                <a:spcPts val="3929"/>
              </a:lnSpc>
              <a:spcBef>
                <a:spcPts val="490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27990" algn="l"/>
              </a:tabLst>
            </a:pPr>
            <a:r>
              <a:rPr sz="3200" spc="-5" dirty="0">
                <a:solidFill>
                  <a:srgbClr val="33CC33"/>
                </a:solidFill>
                <a:latin typeface="Tahoma"/>
                <a:cs typeface="Tahoma"/>
              </a:rPr>
              <a:t>Example</a:t>
            </a:r>
            <a:r>
              <a:rPr sz="3200" spc="-5" dirty="0">
                <a:latin typeface="Tahoma"/>
                <a:cs typeface="Tahoma"/>
              </a:rPr>
              <a:t>: </a:t>
            </a:r>
            <a:r>
              <a:rPr sz="3350" i="1" spc="-550" dirty="0">
                <a:solidFill>
                  <a:srgbClr val="00CC99"/>
                </a:solidFill>
                <a:latin typeface="Tahoma"/>
                <a:cs typeface="Tahoma"/>
              </a:rPr>
              <a:t>A</a:t>
            </a:r>
            <a:r>
              <a:rPr sz="3200" spc="-550" dirty="0">
                <a:solidFill>
                  <a:srgbClr val="00CC99"/>
                </a:solidFill>
                <a:latin typeface="Tahoma"/>
                <a:cs typeface="Tahoma"/>
              </a:rPr>
              <a:t>-&gt;</a:t>
            </a:r>
            <a:r>
              <a:rPr sz="3350" i="1" spc="-550" dirty="0">
                <a:solidFill>
                  <a:srgbClr val="00CC99"/>
                </a:solidFill>
                <a:latin typeface="Tahoma"/>
                <a:cs typeface="Tahoma"/>
              </a:rPr>
              <a:t>BC </a:t>
            </a:r>
            <a:r>
              <a:rPr sz="3200" spc="-5" dirty="0">
                <a:latin typeface="Tahoma"/>
                <a:cs typeface="Tahoma"/>
              </a:rPr>
              <a:t>is </a:t>
            </a:r>
            <a:r>
              <a:rPr sz="3200" spc="-10" dirty="0">
                <a:latin typeface="Tahoma"/>
                <a:cs typeface="Tahoma"/>
              </a:rPr>
              <a:t>equivalent </a:t>
            </a:r>
            <a:r>
              <a:rPr sz="3200" spc="-5" dirty="0">
                <a:latin typeface="Tahoma"/>
                <a:cs typeface="Tahoma"/>
              </a:rPr>
              <a:t>to</a:t>
            </a:r>
            <a:r>
              <a:rPr sz="3200" spc="-455" dirty="0">
                <a:latin typeface="Tahoma"/>
                <a:cs typeface="Tahoma"/>
              </a:rPr>
              <a:t> </a:t>
            </a:r>
            <a:r>
              <a:rPr sz="3350" i="1" spc="-355" dirty="0">
                <a:solidFill>
                  <a:srgbClr val="00CC99"/>
                </a:solidFill>
                <a:latin typeface="Tahoma"/>
                <a:cs typeface="Tahoma"/>
              </a:rPr>
              <a:t>A</a:t>
            </a:r>
            <a:r>
              <a:rPr sz="3200" spc="-355" dirty="0">
                <a:solidFill>
                  <a:srgbClr val="00CC99"/>
                </a:solidFill>
                <a:latin typeface="Tahoma"/>
                <a:cs typeface="Tahoma"/>
              </a:rPr>
              <a:t>-&gt;</a:t>
            </a:r>
            <a:r>
              <a:rPr sz="3350" i="1" spc="-355" dirty="0">
                <a:solidFill>
                  <a:srgbClr val="00CC99"/>
                </a:solidFill>
                <a:latin typeface="Tahoma"/>
                <a:cs typeface="Tahoma"/>
              </a:rPr>
              <a:t>B</a:t>
            </a:r>
            <a:endParaRPr sz="3350" dirty="0">
              <a:latin typeface="Tahoma"/>
              <a:cs typeface="Tahoma"/>
            </a:endParaRPr>
          </a:p>
          <a:p>
            <a:pPr marL="368300">
              <a:lnSpc>
                <a:spcPts val="3929"/>
              </a:lnSpc>
            </a:pPr>
            <a:r>
              <a:rPr sz="3200" spc="-5" dirty="0">
                <a:latin typeface="Tahoma"/>
                <a:cs typeface="Tahoma"/>
              </a:rPr>
              <a:t>and</a:t>
            </a:r>
            <a:r>
              <a:rPr sz="3200" spc="-220" dirty="0">
                <a:latin typeface="Tahoma"/>
                <a:cs typeface="Tahoma"/>
              </a:rPr>
              <a:t> </a:t>
            </a:r>
            <a:r>
              <a:rPr sz="3350" i="1" spc="-490" dirty="0">
                <a:solidFill>
                  <a:srgbClr val="00CC99"/>
                </a:solidFill>
                <a:latin typeface="Tahoma"/>
                <a:cs typeface="Tahoma"/>
              </a:rPr>
              <a:t>A</a:t>
            </a:r>
            <a:r>
              <a:rPr sz="3200" spc="-490" dirty="0">
                <a:solidFill>
                  <a:srgbClr val="00CC99"/>
                </a:solidFill>
                <a:latin typeface="Tahoma"/>
                <a:cs typeface="Tahoma"/>
              </a:rPr>
              <a:t>-&gt;</a:t>
            </a:r>
            <a:r>
              <a:rPr sz="3350" i="1" spc="-490" dirty="0">
                <a:solidFill>
                  <a:srgbClr val="00CC99"/>
                </a:solidFill>
                <a:latin typeface="Tahoma"/>
                <a:cs typeface="Tahoma"/>
              </a:rPr>
              <a:t>C</a:t>
            </a:r>
            <a:r>
              <a:rPr sz="3200" spc="-490" dirty="0">
                <a:latin typeface="Tahoma"/>
                <a:cs typeface="Tahoma"/>
              </a:rPr>
              <a:t>.</a:t>
            </a:r>
            <a:endParaRPr sz="3200" dirty="0">
              <a:latin typeface="Tahoma"/>
              <a:cs typeface="Tahoma"/>
            </a:endParaRPr>
          </a:p>
          <a:p>
            <a:pPr marL="553085" indent="-527685">
              <a:lnSpc>
                <a:spcPct val="100000"/>
              </a:lnSpc>
              <a:spcBef>
                <a:spcPts val="735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553085" algn="l"/>
              </a:tabLst>
            </a:pPr>
            <a:r>
              <a:rPr sz="3200" spc="-5" dirty="0">
                <a:latin typeface="Tahoma"/>
                <a:cs typeface="Tahoma"/>
              </a:rPr>
              <a:t>There is </a:t>
            </a:r>
            <a:r>
              <a:rPr sz="3200" dirty="0">
                <a:latin typeface="Tahoma"/>
                <a:cs typeface="Tahoma"/>
              </a:rPr>
              <a:t>no </a:t>
            </a:r>
            <a:r>
              <a:rPr sz="3200" spc="-5" dirty="0">
                <a:latin typeface="Tahoma"/>
                <a:cs typeface="Tahoma"/>
              </a:rPr>
              <a:t>splitting rule </a:t>
            </a:r>
            <a:r>
              <a:rPr sz="3200" spc="-15" dirty="0">
                <a:latin typeface="Tahoma"/>
                <a:cs typeface="Tahoma"/>
              </a:rPr>
              <a:t>for </a:t>
            </a:r>
            <a:r>
              <a:rPr sz="3200" spc="-5" dirty="0">
                <a:latin typeface="Tahoma"/>
                <a:cs typeface="Tahoma"/>
              </a:rPr>
              <a:t>left</a:t>
            </a:r>
            <a:r>
              <a:rPr sz="3200" spc="-25" dirty="0">
                <a:latin typeface="Tahoma"/>
                <a:cs typeface="Tahoma"/>
              </a:rPr>
              <a:t> </a:t>
            </a:r>
            <a:r>
              <a:rPr sz="3200" spc="-5" dirty="0">
                <a:latin typeface="Tahoma"/>
                <a:cs typeface="Tahoma"/>
              </a:rPr>
              <a:t>sides.</a:t>
            </a:r>
            <a:endParaRPr sz="3200" dirty="0">
              <a:latin typeface="Tahoma"/>
              <a:cs typeface="Tahoma"/>
            </a:endParaRPr>
          </a:p>
          <a:p>
            <a:pPr marL="368300" marR="1301750" indent="-342900">
              <a:lnSpc>
                <a:spcPct val="100000"/>
              </a:lnSpc>
              <a:spcBef>
                <a:spcPts val="765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27990" algn="l"/>
              </a:tabLst>
            </a:pPr>
            <a:r>
              <a:rPr sz="3200" spc="-15" dirty="0">
                <a:latin typeface="Tahoma"/>
                <a:cs typeface="Tahoma"/>
              </a:rPr>
              <a:t>We’ll </a:t>
            </a:r>
            <a:r>
              <a:rPr sz="3200" spc="-10" dirty="0">
                <a:latin typeface="Tahoma"/>
                <a:cs typeface="Tahoma"/>
              </a:rPr>
              <a:t>generally </a:t>
            </a:r>
            <a:r>
              <a:rPr sz="3200" spc="-5" dirty="0">
                <a:latin typeface="Tahoma"/>
                <a:cs typeface="Tahoma"/>
              </a:rPr>
              <a:t>express </a:t>
            </a:r>
            <a:r>
              <a:rPr sz="3200" spc="-30" dirty="0">
                <a:latin typeface="Tahoma"/>
                <a:cs typeface="Tahoma"/>
              </a:rPr>
              <a:t>FD’s </a:t>
            </a:r>
            <a:r>
              <a:rPr sz="3200" spc="-5" dirty="0">
                <a:latin typeface="Tahoma"/>
                <a:cs typeface="Tahoma"/>
              </a:rPr>
              <a:t>with  singleton</a:t>
            </a:r>
            <a:r>
              <a:rPr lang="zh-CN" altLang="en-US" sz="3200" spc="-5" dirty="0">
                <a:latin typeface="Tahoma"/>
                <a:cs typeface="Tahoma"/>
              </a:rPr>
              <a:t>单例</a:t>
            </a:r>
            <a:r>
              <a:rPr sz="3200" spc="-5" dirty="0">
                <a:latin typeface="Tahoma"/>
                <a:cs typeface="Tahoma"/>
              </a:rPr>
              <a:t> right</a:t>
            </a:r>
            <a:r>
              <a:rPr sz="3200" spc="-10" dirty="0">
                <a:latin typeface="Tahoma"/>
                <a:cs typeface="Tahoma"/>
              </a:rPr>
              <a:t> </a:t>
            </a:r>
            <a:r>
              <a:rPr sz="3200" spc="-5" dirty="0">
                <a:latin typeface="Tahoma"/>
                <a:cs typeface="Tahoma"/>
              </a:rPr>
              <a:t>sides.</a:t>
            </a:r>
            <a:endParaRPr sz="3200" dirty="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821939" y="829944"/>
            <a:ext cx="3500754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>
                <a:solidFill>
                  <a:srgbClr val="33CC33"/>
                </a:solidFill>
              </a:rPr>
              <a:t>Example</a:t>
            </a:r>
            <a:r>
              <a:rPr spc="-5" dirty="0"/>
              <a:t>:</a:t>
            </a:r>
            <a:r>
              <a:rPr spc="-65" dirty="0"/>
              <a:t> </a:t>
            </a:r>
            <a:r>
              <a:rPr spc="-40" dirty="0"/>
              <a:t>FD’s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dirty="0"/>
              <a:t>4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764540" y="2012949"/>
            <a:ext cx="7082790" cy="345030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622300" marR="5080" indent="-609600">
              <a:lnSpc>
                <a:spcPct val="100000"/>
              </a:lnSpc>
              <a:spcBef>
                <a:spcPts val="105"/>
              </a:spcBef>
            </a:pPr>
            <a:r>
              <a:rPr sz="3200" spc="-5" dirty="0">
                <a:solidFill>
                  <a:srgbClr val="CC00CC"/>
                </a:solidFill>
                <a:latin typeface="Tahoma"/>
                <a:cs typeface="Tahoma"/>
              </a:rPr>
              <a:t>Drinkers(name, </a:t>
            </a:r>
            <a:r>
              <a:rPr sz="3200" spc="-90" dirty="0">
                <a:solidFill>
                  <a:srgbClr val="CC00CC"/>
                </a:solidFill>
                <a:latin typeface="Tahoma"/>
                <a:cs typeface="Tahoma"/>
              </a:rPr>
              <a:t>addr, </a:t>
            </a:r>
            <a:r>
              <a:rPr sz="3200" spc="-5" dirty="0">
                <a:solidFill>
                  <a:srgbClr val="CC00CC"/>
                </a:solidFill>
                <a:latin typeface="Tahoma"/>
                <a:cs typeface="Tahoma"/>
              </a:rPr>
              <a:t>beersLiked, </a:t>
            </a:r>
            <a:r>
              <a:rPr sz="3200" spc="-50" dirty="0">
                <a:solidFill>
                  <a:srgbClr val="CC00CC"/>
                </a:solidFill>
                <a:latin typeface="Tahoma"/>
                <a:cs typeface="Tahoma"/>
              </a:rPr>
              <a:t>manf,  </a:t>
            </a:r>
            <a:r>
              <a:rPr sz="3200" spc="-10" dirty="0">
                <a:solidFill>
                  <a:srgbClr val="CC00CC"/>
                </a:solidFill>
                <a:latin typeface="Tahoma"/>
                <a:cs typeface="Tahoma"/>
              </a:rPr>
              <a:t>favBeer)</a:t>
            </a:r>
            <a:endParaRPr sz="3200" dirty="0">
              <a:latin typeface="Tahoma"/>
              <a:cs typeface="Tahoma"/>
            </a:endParaRPr>
          </a:p>
          <a:p>
            <a:pPr marL="622300" indent="-609600">
              <a:lnSpc>
                <a:spcPct val="100000"/>
              </a:lnSpc>
              <a:spcBef>
                <a:spcPts val="765"/>
              </a:spcBef>
              <a:buClr>
                <a:srgbClr val="CC00CC"/>
              </a:buClr>
              <a:buFont typeface="Wingdings"/>
              <a:buChar char=""/>
              <a:tabLst>
                <a:tab pos="621665" algn="l"/>
                <a:tab pos="622300" algn="l"/>
              </a:tabLst>
            </a:pPr>
            <a:r>
              <a:rPr sz="3200" spc="-10" dirty="0">
                <a:latin typeface="Tahoma"/>
                <a:cs typeface="Tahoma"/>
              </a:rPr>
              <a:t>Reasonable </a:t>
            </a:r>
            <a:r>
              <a:rPr sz="3200" spc="-30" dirty="0">
                <a:latin typeface="Tahoma"/>
                <a:cs typeface="Tahoma"/>
              </a:rPr>
              <a:t>FD’s </a:t>
            </a:r>
            <a:r>
              <a:rPr sz="3200" spc="-5" dirty="0">
                <a:latin typeface="Tahoma"/>
                <a:cs typeface="Tahoma"/>
              </a:rPr>
              <a:t>to</a:t>
            </a:r>
            <a:r>
              <a:rPr sz="3200" spc="15" dirty="0">
                <a:latin typeface="Tahoma"/>
                <a:cs typeface="Tahoma"/>
              </a:rPr>
              <a:t> </a:t>
            </a:r>
            <a:r>
              <a:rPr sz="3200" spc="-5" dirty="0">
                <a:latin typeface="Tahoma"/>
                <a:cs typeface="Tahoma"/>
              </a:rPr>
              <a:t>assert</a:t>
            </a:r>
            <a:r>
              <a:rPr lang="zh-CN" altLang="en-US" sz="3200" spc="-5" dirty="0">
                <a:latin typeface="Tahoma"/>
                <a:cs typeface="Tahoma"/>
              </a:rPr>
              <a:t>断言</a:t>
            </a:r>
            <a:r>
              <a:rPr sz="3200" spc="-5" dirty="0">
                <a:latin typeface="Tahoma"/>
                <a:cs typeface="Tahoma"/>
              </a:rPr>
              <a:t>:</a:t>
            </a:r>
            <a:endParaRPr sz="3200" dirty="0">
              <a:latin typeface="Tahoma"/>
              <a:cs typeface="Tahoma"/>
            </a:endParaRPr>
          </a:p>
          <a:p>
            <a:pPr marL="1003300" lvl="1" indent="-533400">
              <a:lnSpc>
                <a:spcPct val="100000"/>
              </a:lnSpc>
              <a:spcBef>
                <a:spcPts val="670"/>
              </a:spcBef>
              <a:buClr>
                <a:srgbClr val="CC00CC"/>
              </a:buClr>
              <a:buAutoNum type="arabicPeriod"/>
              <a:tabLst>
                <a:tab pos="1002665" algn="l"/>
                <a:tab pos="1003300" algn="l"/>
              </a:tabLst>
            </a:pPr>
            <a:r>
              <a:rPr sz="2800" spc="-5" dirty="0">
                <a:solidFill>
                  <a:srgbClr val="00CC99"/>
                </a:solidFill>
                <a:latin typeface="Tahoma"/>
                <a:cs typeface="Tahoma"/>
              </a:rPr>
              <a:t>name </a:t>
            </a:r>
            <a:r>
              <a:rPr sz="2800" spc="-10" dirty="0">
                <a:solidFill>
                  <a:srgbClr val="00CC99"/>
                </a:solidFill>
                <a:latin typeface="Tahoma"/>
                <a:cs typeface="Tahoma"/>
              </a:rPr>
              <a:t>-&gt; </a:t>
            </a:r>
            <a:r>
              <a:rPr sz="2800" dirty="0">
                <a:solidFill>
                  <a:srgbClr val="00CC99"/>
                </a:solidFill>
                <a:latin typeface="Tahoma"/>
                <a:cs typeface="Tahoma"/>
              </a:rPr>
              <a:t>addr</a:t>
            </a:r>
            <a:r>
              <a:rPr sz="2800" spc="5" dirty="0">
                <a:solidFill>
                  <a:srgbClr val="00CC99"/>
                </a:solidFill>
                <a:latin typeface="Tahoma"/>
                <a:cs typeface="Tahoma"/>
              </a:rPr>
              <a:t> </a:t>
            </a:r>
            <a:r>
              <a:rPr sz="2800" spc="-10" dirty="0">
                <a:solidFill>
                  <a:srgbClr val="00CC99"/>
                </a:solidFill>
                <a:latin typeface="Tahoma"/>
                <a:cs typeface="Tahoma"/>
              </a:rPr>
              <a:t>favBeer</a:t>
            </a:r>
            <a:endParaRPr sz="2800" dirty="0">
              <a:latin typeface="Tahoma"/>
              <a:cs typeface="Tahoma"/>
            </a:endParaRPr>
          </a:p>
          <a:p>
            <a:pPr marL="1383665" marR="24765" lvl="2" indent="-457200">
              <a:lnSpc>
                <a:spcPct val="100000"/>
              </a:lnSpc>
              <a:spcBef>
                <a:spcPts val="575"/>
              </a:spcBef>
              <a:buClr>
                <a:srgbClr val="CC00CC"/>
              </a:buClr>
              <a:buFont typeface="Wingdings"/>
              <a:buChar char=""/>
              <a:tabLst>
                <a:tab pos="1383665" algn="l"/>
                <a:tab pos="1384300" algn="l"/>
              </a:tabLst>
            </a:pPr>
            <a:r>
              <a:rPr sz="2400" spc="-5" dirty="0">
                <a:latin typeface="Tahoma"/>
                <a:cs typeface="Tahoma"/>
              </a:rPr>
              <a:t>Note </a:t>
            </a:r>
            <a:r>
              <a:rPr sz="2400" dirty="0">
                <a:latin typeface="Tahoma"/>
                <a:cs typeface="Tahoma"/>
              </a:rPr>
              <a:t>this </a:t>
            </a:r>
            <a:r>
              <a:rPr sz="2400" spc="-5" dirty="0">
                <a:latin typeface="Tahoma"/>
                <a:cs typeface="Tahoma"/>
              </a:rPr>
              <a:t>FD </a:t>
            </a:r>
            <a:r>
              <a:rPr sz="2400" dirty="0">
                <a:latin typeface="Tahoma"/>
                <a:cs typeface="Tahoma"/>
              </a:rPr>
              <a:t>is the </a:t>
            </a:r>
            <a:r>
              <a:rPr sz="2400" spc="-5" dirty="0">
                <a:latin typeface="Tahoma"/>
                <a:cs typeface="Tahoma"/>
              </a:rPr>
              <a:t>same </a:t>
            </a:r>
            <a:r>
              <a:rPr sz="2400" dirty="0">
                <a:latin typeface="Tahoma"/>
                <a:cs typeface="Tahoma"/>
              </a:rPr>
              <a:t>as </a:t>
            </a:r>
            <a:r>
              <a:rPr sz="2400" spc="-5" dirty="0">
                <a:solidFill>
                  <a:srgbClr val="00CC99"/>
                </a:solidFill>
                <a:latin typeface="Tahoma"/>
                <a:cs typeface="Tahoma"/>
              </a:rPr>
              <a:t>name -&gt; addr </a:t>
            </a:r>
            <a:r>
              <a:rPr sz="2400" spc="-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and </a:t>
            </a:r>
            <a:r>
              <a:rPr sz="2400" spc="-5" dirty="0">
                <a:solidFill>
                  <a:srgbClr val="00CC99"/>
                </a:solidFill>
                <a:latin typeface="Tahoma"/>
                <a:cs typeface="Tahoma"/>
              </a:rPr>
              <a:t>name -&gt;</a:t>
            </a:r>
            <a:r>
              <a:rPr sz="2400" spc="-10" dirty="0">
                <a:solidFill>
                  <a:srgbClr val="00CC99"/>
                </a:solidFill>
                <a:latin typeface="Tahoma"/>
                <a:cs typeface="Tahoma"/>
              </a:rPr>
              <a:t> favBeer</a:t>
            </a:r>
            <a:r>
              <a:rPr sz="2400" spc="-10" dirty="0">
                <a:latin typeface="Tahoma"/>
                <a:cs typeface="Tahoma"/>
              </a:rPr>
              <a:t>.</a:t>
            </a:r>
            <a:endParaRPr sz="2400" dirty="0">
              <a:latin typeface="Tahoma"/>
              <a:cs typeface="Tahoma"/>
            </a:endParaRPr>
          </a:p>
          <a:p>
            <a:pPr marL="1003300" lvl="1" indent="-533400">
              <a:lnSpc>
                <a:spcPct val="100000"/>
              </a:lnSpc>
              <a:spcBef>
                <a:spcPts val="670"/>
              </a:spcBef>
              <a:buClr>
                <a:srgbClr val="CC00CC"/>
              </a:buClr>
              <a:buAutoNum type="arabicPeriod"/>
              <a:tabLst>
                <a:tab pos="1002665" algn="l"/>
                <a:tab pos="1003300" algn="l"/>
              </a:tabLst>
            </a:pPr>
            <a:r>
              <a:rPr sz="2800" spc="-5" dirty="0">
                <a:solidFill>
                  <a:srgbClr val="00CC99"/>
                </a:solidFill>
                <a:latin typeface="Tahoma"/>
                <a:cs typeface="Tahoma"/>
              </a:rPr>
              <a:t>beersLiked </a:t>
            </a:r>
            <a:r>
              <a:rPr sz="2800" spc="-10" dirty="0">
                <a:solidFill>
                  <a:srgbClr val="00CC99"/>
                </a:solidFill>
                <a:latin typeface="Tahoma"/>
                <a:cs typeface="Tahoma"/>
              </a:rPr>
              <a:t>-&gt;</a:t>
            </a:r>
            <a:r>
              <a:rPr sz="2800" dirty="0">
                <a:solidFill>
                  <a:srgbClr val="00CC99"/>
                </a:solidFill>
                <a:latin typeface="Tahoma"/>
                <a:cs typeface="Tahoma"/>
              </a:rPr>
              <a:t> </a:t>
            </a:r>
            <a:r>
              <a:rPr sz="2800" spc="-5" dirty="0">
                <a:solidFill>
                  <a:srgbClr val="00CC99"/>
                </a:solidFill>
                <a:latin typeface="Tahoma"/>
                <a:cs typeface="Tahoma"/>
              </a:rPr>
              <a:t>manf</a:t>
            </a:r>
            <a:endParaRPr sz="2800" dirty="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690370" y="829944"/>
            <a:ext cx="576389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>
                <a:solidFill>
                  <a:srgbClr val="33CC33"/>
                </a:solidFill>
              </a:rPr>
              <a:t>Example</a:t>
            </a:r>
            <a:r>
              <a:rPr spc="-5" dirty="0"/>
              <a:t>: </a:t>
            </a:r>
            <a:r>
              <a:rPr spc="-20" dirty="0"/>
              <a:t>Possible</a:t>
            </a:r>
            <a:r>
              <a:rPr spc="-30" dirty="0"/>
              <a:t> </a:t>
            </a:r>
            <a:r>
              <a:rPr spc="-5" dirty="0"/>
              <a:t>Data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762" y="2005012"/>
            <a:ext cx="159067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8265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Tahoma"/>
                <a:cs typeface="Tahoma"/>
              </a:rPr>
              <a:t>name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600200" y="1904841"/>
            <a:ext cx="2209800" cy="457834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vert="horz" wrap="square" lIns="0" tIns="112395" rIns="0" bIns="0" rtlCol="0">
            <a:spAutoFit/>
          </a:bodyPr>
          <a:lstStyle/>
          <a:p>
            <a:pPr marL="321310">
              <a:lnSpc>
                <a:spcPts val="2715"/>
              </a:lnSpc>
              <a:spcBef>
                <a:spcPts val="885"/>
              </a:spcBef>
            </a:pPr>
            <a:r>
              <a:rPr sz="2400" spc="-5" dirty="0">
                <a:latin typeface="Tahoma"/>
                <a:cs typeface="Tahoma"/>
              </a:rPr>
              <a:t>addr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036377" y="2005012"/>
            <a:ext cx="439928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  <a:tabLst>
                <a:tab pos="1828164" algn="l"/>
                <a:tab pos="3371215" algn="l"/>
              </a:tabLst>
            </a:pPr>
            <a:r>
              <a:rPr sz="2400" spc="-5" dirty="0">
                <a:latin typeface="Tahoma"/>
                <a:cs typeface="Tahoma"/>
              </a:rPr>
              <a:t>beersLiked	manf	</a:t>
            </a:r>
            <a:r>
              <a:rPr sz="2400" spc="-10" dirty="0">
                <a:latin typeface="Tahoma"/>
                <a:cs typeface="Tahoma"/>
              </a:rPr>
              <a:t>favBeer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762" y="2370772"/>
            <a:ext cx="1590675" cy="1122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8265" marR="344170" algn="just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Tahoma"/>
                <a:cs typeface="Tahoma"/>
              </a:rPr>
              <a:t>Jane</a:t>
            </a:r>
            <a:r>
              <a:rPr sz="2400" spc="-30" dirty="0">
                <a:latin typeface="Tahoma"/>
                <a:cs typeface="Tahoma"/>
              </a:rPr>
              <a:t>w</a:t>
            </a:r>
            <a:r>
              <a:rPr sz="2400" spc="-20" dirty="0">
                <a:latin typeface="Tahoma"/>
                <a:cs typeface="Tahoma"/>
              </a:rPr>
              <a:t>a</a:t>
            </a:r>
            <a:r>
              <a:rPr sz="2400" dirty="0">
                <a:latin typeface="Tahoma"/>
                <a:cs typeface="Tahoma"/>
              </a:rPr>
              <a:t>y  Jane</a:t>
            </a:r>
            <a:r>
              <a:rPr sz="2400" spc="-30" dirty="0">
                <a:latin typeface="Tahoma"/>
                <a:cs typeface="Tahoma"/>
              </a:rPr>
              <a:t>w</a:t>
            </a:r>
            <a:r>
              <a:rPr sz="2400" spc="-20" dirty="0">
                <a:latin typeface="Tahoma"/>
                <a:cs typeface="Tahoma"/>
              </a:rPr>
              <a:t>a</a:t>
            </a:r>
            <a:r>
              <a:rPr sz="2400" dirty="0">
                <a:latin typeface="Tahoma"/>
                <a:cs typeface="Tahoma"/>
              </a:rPr>
              <a:t>y  </a:t>
            </a:r>
            <a:r>
              <a:rPr sz="2400" spc="-5" dirty="0">
                <a:latin typeface="Tahoma"/>
                <a:cs typeface="Tahoma"/>
              </a:rPr>
              <a:t>Spock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600200" y="2362200"/>
            <a:ext cx="2209800" cy="1296035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vert="horz" wrap="square" lIns="0" tIns="20955" rIns="0" bIns="0" rtlCol="0">
            <a:spAutoFit/>
          </a:bodyPr>
          <a:lstStyle/>
          <a:p>
            <a:pPr marL="321310" marR="521970">
              <a:lnSpc>
                <a:spcPct val="100000"/>
              </a:lnSpc>
              <a:spcBef>
                <a:spcPts val="165"/>
              </a:spcBef>
            </a:pPr>
            <a:r>
              <a:rPr sz="2400" spc="-30" dirty="0">
                <a:latin typeface="Tahoma"/>
                <a:cs typeface="Tahoma"/>
              </a:rPr>
              <a:t>Voyager  Voyager  </a:t>
            </a:r>
            <a:r>
              <a:rPr sz="2400" spc="-5" dirty="0">
                <a:latin typeface="Tahoma"/>
                <a:cs typeface="Tahoma"/>
              </a:rPr>
              <a:t>E</a:t>
            </a:r>
            <a:r>
              <a:rPr sz="2400" dirty="0">
                <a:latin typeface="Tahoma"/>
                <a:cs typeface="Tahoma"/>
              </a:rPr>
              <a:t>nter</a:t>
            </a:r>
            <a:r>
              <a:rPr sz="2400" spc="-5" dirty="0">
                <a:latin typeface="Tahoma"/>
                <a:cs typeface="Tahoma"/>
              </a:rPr>
              <a:t>p</a:t>
            </a:r>
            <a:r>
              <a:rPr sz="2400" dirty="0">
                <a:latin typeface="Tahoma"/>
                <a:cs typeface="Tahoma"/>
              </a:rPr>
              <a:t>ri</a:t>
            </a:r>
            <a:r>
              <a:rPr sz="2400" spc="-5" dirty="0">
                <a:latin typeface="Tahoma"/>
                <a:cs typeface="Tahoma"/>
              </a:rPr>
              <a:t>s</a:t>
            </a:r>
            <a:r>
              <a:rPr sz="2400" dirty="0">
                <a:latin typeface="Tahoma"/>
                <a:cs typeface="Tahoma"/>
              </a:rPr>
              <a:t>e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845877" y="2370772"/>
            <a:ext cx="1388745" cy="1122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508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Tahoma"/>
                <a:cs typeface="Tahoma"/>
              </a:rPr>
              <a:t>Bud  Wi</a:t>
            </a:r>
            <a:r>
              <a:rPr sz="2400" spc="-5" dirty="0">
                <a:latin typeface="Tahoma"/>
                <a:cs typeface="Tahoma"/>
              </a:rPr>
              <a:t>c</a:t>
            </a:r>
            <a:r>
              <a:rPr sz="2400" spc="-30" dirty="0">
                <a:latin typeface="Tahoma"/>
                <a:cs typeface="Tahoma"/>
              </a:rPr>
              <a:t>k</a:t>
            </a:r>
            <a:r>
              <a:rPr sz="2400" dirty="0">
                <a:latin typeface="Tahoma"/>
                <a:cs typeface="Tahoma"/>
              </a:rPr>
              <a:t>e</a:t>
            </a:r>
            <a:r>
              <a:rPr sz="2400" spc="-5" dirty="0">
                <a:latin typeface="Tahoma"/>
                <a:cs typeface="Tahoma"/>
              </a:rPr>
              <a:t>d</a:t>
            </a:r>
            <a:r>
              <a:rPr sz="2400" dirty="0">
                <a:latin typeface="Tahoma"/>
                <a:cs typeface="Tahoma"/>
              </a:rPr>
              <a:t>Ale  Bud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674677" y="2370772"/>
            <a:ext cx="787400" cy="1122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2400" spc="-10" dirty="0">
                <a:latin typeface="Tahoma"/>
                <a:cs typeface="Tahoma"/>
              </a:rPr>
              <a:t>A.B.</a:t>
            </a:r>
            <a:endParaRPr sz="2400">
              <a:latin typeface="Tahoma"/>
              <a:cs typeface="Tahoma"/>
            </a:endParaRPr>
          </a:p>
          <a:p>
            <a:pPr marR="5080">
              <a:lnSpc>
                <a:spcPct val="100000"/>
              </a:lnSpc>
            </a:pPr>
            <a:r>
              <a:rPr sz="2400" spc="-60" dirty="0">
                <a:latin typeface="Tahoma"/>
                <a:cs typeface="Tahoma"/>
              </a:rPr>
              <a:t>P</a:t>
            </a:r>
            <a:r>
              <a:rPr sz="2400" dirty="0">
                <a:latin typeface="Tahoma"/>
                <a:cs typeface="Tahoma"/>
              </a:rPr>
              <a:t>ete</a:t>
            </a:r>
            <a:r>
              <a:rPr sz="2400" spc="-85" dirty="0">
                <a:latin typeface="Tahoma"/>
                <a:cs typeface="Tahoma"/>
              </a:rPr>
              <a:t>’</a:t>
            </a:r>
            <a:r>
              <a:rPr sz="2400" dirty="0">
                <a:latin typeface="Tahoma"/>
                <a:cs typeface="Tahoma"/>
              </a:rPr>
              <a:t>s  </a:t>
            </a:r>
            <a:r>
              <a:rPr sz="2400" spc="-10" dirty="0">
                <a:latin typeface="Tahoma"/>
                <a:cs typeface="Tahoma"/>
              </a:rPr>
              <a:t>A.B.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408227" y="2370772"/>
            <a:ext cx="1388745" cy="1122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5080" algn="just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Tahoma"/>
                <a:cs typeface="Tahoma"/>
              </a:rPr>
              <a:t>Wi</a:t>
            </a:r>
            <a:r>
              <a:rPr sz="2400" spc="-5" dirty="0">
                <a:latin typeface="Tahoma"/>
                <a:cs typeface="Tahoma"/>
              </a:rPr>
              <a:t>c</a:t>
            </a:r>
            <a:r>
              <a:rPr sz="2400" spc="-30" dirty="0">
                <a:latin typeface="Tahoma"/>
                <a:cs typeface="Tahoma"/>
              </a:rPr>
              <a:t>k</a:t>
            </a:r>
            <a:r>
              <a:rPr sz="2400" dirty="0">
                <a:latin typeface="Tahoma"/>
                <a:cs typeface="Tahoma"/>
              </a:rPr>
              <a:t>e</a:t>
            </a:r>
            <a:r>
              <a:rPr sz="2400" spc="-5" dirty="0">
                <a:latin typeface="Tahoma"/>
                <a:cs typeface="Tahoma"/>
              </a:rPr>
              <a:t>d</a:t>
            </a:r>
            <a:r>
              <a:rPr sz="2400" dirty="0">
                <a:latin typeface="Tahoma"/>
                <a:cs typeface="Tahoma"/>
              </a:rPr>
              <a:t>Ale  Wi</a:t>
            </a:r>
            <a:r>
              <a:rPr sz="2400" spc="-5" dirty="0">
                <a:latin typeface="Tahoma"/>
                <a:cs typeface="Tahoma"/>
              </a:rPr>
              <a:t>c</a:t>
            </a:r>
            <a:r>
              <a:rPr sz="2400" spc="-30" dirty="0">
                <a:latin typeface="Tahoma"/>
                <a:cs typeface="Tahoma"/>
              </a:rPr>
              <a:t>k</a:t>
            </a:r>
            <a:r>
              <a:rPr sz="2400" dirty="0">
                <a:latin typeface="Tahoma"/>
                <a:cs typeface="Tahoma"/>
              </a:rPr>
              <a:t>e</a:t>
            </a:r>
            <a:r>
              <a:rPr sz="2400" spc="-5" dirty="0">
                <a:latin typeface="Tahoma"/>
                <a:cs typeface="Tahoma"/>
              </a:rPr>
              <a:t>d</a:t>
            </a:r>
            <a:r>
              <a:rPr sz="2400" dirty="0">
                <a:latin typeface="Tahoma"/>
                <a:cs typeface="Tahoma"/>
              </a:rPr>
              <a:t>Ale  Bud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0" y="1902460"/>
            <a:ext cx="9144000" cy="0"/>
          </a:xfrm>
          <a:custGeom>
            <a:avLst/>
            <a:gdLst/>
            <a:ahLst/>
            <a:cxnLst/>
            <a:rect l="l" t="t" r="r" b="b"/>
            <a:pathLst>
              <a:path w="9144000">
                <a:moveTo>
                  <a:pt x="0" y="0"/>
                </a:moveTo>
                <a:lnTo>
                  <a:pt x="9144000" y="0"/>
                </a:lnTo>
              </a:path>
            </a:pathLst>
          </a:custGeom>
          <a:ln w="507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2381" y="1905000"/>
            <a:ext cx="0" cy="1752600"/>
          </a:xfrm>
          <a:custGeom>
            <a:avLst/>
            <a:gdLst/>
            <a:ahLst/>
            <a:cxnLst/>
            <a:rect l="l" t="t" r="r" b="b"/>
            <a:pathLst>
              <a:path h="1752600">
                <a:moveTo>
                  <a:pt x="0" y="0"/>
                </a:moveTo>
                <a:lnTo>
                  <a:pt x="0" y="1752600"/>
                </a:lnTo>
              </a:path>
            </a:pathLst>
          </a:custGeom>
          <a:ln w="476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4762" y="1907381"/>
            <a:ext cx="9134475" cy="0"/>
          </a:xfrm>
          <a:custGeom>
            <a:avLst/>
            <a:gdLst/>
            <a:ahLst/>
            <a:cxnLst/>
            <a:rect l="l" t="t" r="r" b="b"/>
            <a:pathLst>
              <a:path w="9134475">
                <a:moveTo>
                  <a:pt x="0" y="0"/>
                </a:moveTo>
                <a:lnTo>
                  <a:pt x="9134475" y="0"/>
                </a:lnTo>
              </a:path>
            </a:pathLst>
          </a:custGeom>
          <a:ln w="476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9141618" y="1905000"/>
            <a:ext cx="0" cy="1752600"/>
          </a:xfrm>
          <a:custGeom>
            <a:avLst/>
            <a:gdLst/>
            <a:ahLst/>
            <a:cxnLst/>
            <a:rect l="l" t="t" r="r" b="b"/>
            <a:pathLst>
              <a:path h="1752600">
                <a:moveTo>
                  <a:pt x="0" y="0"/>
                </a:moveTo>
                <a:lnTo>
                  <a:pt x="0" y="1752600"/>
                </a:lnTo>
              </a:path>
            </a:pathLst>
          </a:custGeom>
          <a:ln w="476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0" y="3660140"/>
            <a:ext cx="9144000" cy="0"/>
          </a:xfrm>
          <a:custGeom>
            <a:avLst/>
            <a:gdLst/>
            <a:ahLst/>
            <a:cxnLst/>
            <a:rect l="l" t="t" r="r" b="b"/>
            <a:pathLst>
              <a:path w="9144000">
                <a:moveTo>
                  <a:pt x="0" y="0"/>
                </a:moveTo>
                <a:lnTo>
                  <a:pt x="9144000" y="0"/>
                </a:lnTo>
              </a:path>
            </a:pathLst>
          </a:custGeom>
          <a:ln w="508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4762" y="3655218"/>
            <a:ext cx="9134475" cy="0"/>
          </a:xfrm>
          <a:custGeom>
            <a:avLst/>
            <a:gdLst/>
            <a:ahLst/>
            <a:cxnLst/>
            <a:rect l="l" t="t" r="r" b="b"/>
            <a:pathLst>
              <a:path w="9134475">
                <a:moveTo>
                  <a:pt x="0" y="0"/>
                </a:moveTo>
                <a:lnTo>
                  <a:pt x="9134475" y="0"/>
                </a:lnTo>
              </a:path>
            </a:pathLst>
          </a:custGeom>
          <a:ln w="476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0" y="2362200"/>
            <a:ext cx="9144000" cy="0"/>
          </a:xfrm>
          <a:custGeom>
            <a:avLst/>
            <a:gdLst/>
            <a:ahLst/>
            <a:cxnLst/>
            <a:rect l="l" t="t" r="r" b="b"/>
            <a:pathLst>
              <a:path w="9144000">
                <a:moveTo>
                  <a:pt x="0" y="0"/>
                </a:moveTo>
                <a:lnTo>
                  <a:pt x="9144000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1600200" y="1905000"/>
            <a:ext cx="0" cy="1752600"/>
          </a:xfrm>
          <a:custGeom>
            <a:avLst/>
            <a:gdLst/>
            <a:ahLst/>
            <a:cxnLst/>
            <a:rect l="l" t="t" r="r" b="b"/>
            <a:pathLst>
              <a:path h="1752600">
                <a:moveTo>
                  <a:pt x="0" y="0"/>
                </a:moveTo>
                <a:lnTo>
                  <a:pt x="0" y="175260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3810000" y="1905000"/>
            <a:ext cx="0" cy="1752600"/>
          </a:xfrm>
          <a:custGeom>
            <a:avLst/>
            <a:gdLst/>
            <a:ahLst/>
            <a:cxnLst/>
            <a:rect l="l" t="t" r="r" b="b"/>
            <a:pathLst>
              <a:path h="1752600">
                <a:moveTo>
                  <a:pt x="0" y="0"/>
                </a:moveTo>
                <a:lnTo>
                  <a:pt x="0" y="175260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0" y="2362200"/>
            <a:ext cx="3581400" cy="762000"/>
          </a:xfrm>
          <a:custGeom>
            <a:avLst/>
            <a:gdLst/>
            <a:ahLst/>
            <a:cxnLst/>
            <a:rect l="l" t="t" r="r" b="b"/>
            <a:pathLst>
              <a:path w="3581400" h="762000">
                <a:moveTo>
                  <a:pt x="3454908" y="762000"/>
                </a:moveTo>
                <a:lnTo>
                  <a:pt x="126492" y="762000"/>
                </a:lnTo>
                <a:lnTo>
                  <a:pt x="77350" y="752027"/>
                </a:lnTo>
                <a:lnTo>
                  <a:pt x="37133" y="724866"/>
                </a:lnTo>
                <a:lnTo>
                  <a:pt x="9972" y="684649"/>
                </a:lnTo>
                <a:lnTo>
                  <a:pt x="0" y="635507"/>
                </a:lnTo>
                <a:lnTo>
                  <a:pt x="0" y="126492"/>
                </a:lnTo>
                <a:lnTo>
                  <a:pt x="9972" y="77350"/>
                </a:lnTo>
                <a:lnTo>
                  <a:pt x="37133" y="37133"/>
                </a:lnTo>
                <a:lnTo>
                  <a:pt x="77350" y="9972"/>
                </a:lnTo>
                <a:lnTo>
                  <a:pt x="126492" y="0"/>
                </a:lnTo>
                <a:lnTo>
                  <a:pt x="3454908" y="0"/>
                </a:lnTo>
                <a:lnTo>
                  <a:pt x="3504049" y="9972"/>
                </a:lnTo>
                <a:lnTo>
                  <a:pt x="3544266" y="37133"/>
                </a:lnTo>
                <a:lnTo>
                  <a:pt x="3571427" y="77350"/>
                </a:lnTo>
                <a:lnTo>
                  <a:pt x="3581400" y="126492"/>
                </a:lnTo>
                <a:lnTo>
                  <a:pt x="3581400" y="635507"/>
                </a:lnTo>
                <a:lnTo>
                  <a:pt x="3571427" y="684649"/>
                </a:lnTo>
                <a:lnTo>
                  <a:pt x="3544266" y="724866"/>
                </a:lnTo>
                <a:lnTo>
                  <a:pt x="3504049" y="752027"/>
                </a:lnTo>
                <a:lnTo>
                  <a:pt x="3454908" y="762000"/>
                </a:lnTo>
                <a:close/>
              </a:path>
            </a:pathLst>
          </a:custGeom>
          <a:solidFill>
            <a:srgbClr val="FFCC99">
              <a:alpha val="501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0" y="2357437"/>
            <a:ext cx="3586479" cy="770890"/>
          </a:xfrm>
          <a:custGeom>
            <a:avLst/>
            <a:gdLst/>
            <a:ahLst/>
            <a:cxnLst/>
            <a:rect l="l" t="t" r="r" b="b"/>
            <a:pathLst>
              <a:path w="3586479" h="770889">
                <a:moveTo>
                  <a:pt x="3474339" y="769619"/>
                </a:moveTo>
                <a:lnTo>
                  <a:pt x="106819" y="769619"/>
                </a:lnTo>
                <a:lnTo>
                  <a:pt x="93967" y="767080"/>
                </a:lnTo>
                <a:lnTo>
                  <a:pt x="87706" y="764539"/>
                </a:lnTo>
                <a:lnTo>
                  <a:pt x="81584" y="763269"/>
                </a:lnTo>
                <a:lnTo>
                  <a:pt x="75603" y="760730"/>
                </a:lnTo>
                <a:lnTo>
                  <a:pt x="69773" y="758189"/>
                </a:lnTo>
                <a:lnTo>
                  <a:pt x="64096" y="754380"/>
                </a:lnTo>
                <a:lnTo>
                  <a:pt x="58572" y="751839"/>
                </a:lnTo>
                <a:lnTo>
                  <a:pt x="25260" y="722630"/>
                </a:lnTo>
                <a:lnTo>
                  <a:pt x="8178" y="695960"/>
                </a:lnTo>
                <a:lnTo>
                  <a:pt x="5549" y="690880"/>
                </a:lnTo>
                <a:lnTo>
                  <a:pt x="3200" y="684530"/>
                </a:lnTo>
                <a:lnTo>
                  <a:pt x="0" y="674369"/>
                </a:lnTo>
                <a:lnTo>
                  <a:pt x="0" y="96519"/>
                </a:lnTo>
                <a:lnTo>
                  <a:pt x="1193" y="91439"/>
                </a:lnTo>
                <a:lnTo>
                  <a:pt x="3276" y="85089"/>
                </a:lnTo>
                <a:lnTo>
                  <a:pt x="5638" y="80010"/>
                </a:lnTo>
                <a:lnTo>
                  <a:pt x="8280" y="73660"/>
                </a:lnTo>
                <a:lnTo>
                  <a:pt x="11201" y="68580"/>
                </a:lnTo>
                <a:lnTo>
                  <a:pt x="14376" y="62230"/>
                </a:lnTo>
                <a:lnTo>
                  <a:pt x="17805" y="57150"/>
                </a:lnTo>
                <a:lnTo>
                  <a:pt x="21488" y="52069"/>
                </a:lnTo>
                <a:lnTo>
                  <a:pt x="25400" y="46989"/>
                </a:lnTo>
                <a:lnTo>
                  <a:pt x="29540" y="41910"/>
                </a:lnTo>
                <a:lnTo>
                  <a:pt x="33909" y="38100"/>
                </a:lnTo>
                <a:lnTo>
                  <a:pt x="38493" y="33019"/>
                </a:lnTo>
                <a:lnTo>
                  <a:pt x="43268" y="29210"/>
                </a:lnTo>
                <a:lnTo>
                  <a:pt x="48260" y="25400"/>
                </a:lnTo>
                <a:lnTo>
                  <a:pt x="53428" y="21589"/>
                </a:lnTo>
                <a:lnTo>
                  <a:pt x="58572" y="19050"/>
                </a:lnTo>
                <a:lnTo>
                  <a:pt x="64300" y="15239"/>
                </a:lnTo>
                <a:lnTo>
                  <a:pt x="69977" y="12700"/>
                </a:lnTo>
                <a:lnTo>
                  <a:pt x="87706" y="5080"/>
                </a:lnTo>
                <a:lnTo>
                  <a:pt x="113652" y="0"/>
                </a:lnTo>
                <a:lnTo>
                  <a:pt x="3467989" y="0"/>
                </a:lnTo>
                <a:lnTo>
                  <a:pt x="3493693" y="5080"/>
                </a:lnTo>
                <a:lnTo>
                  <a:pt x="3502806" y="8889"/>
                </a:lnTo>
                <a:lnTo>
                  <a:pt x="114617" y="8889"/>
                </a:lnTo>
                <a:lnTo>
                  <a:pt x="108267" y="10160"/>
                </a:lnTo>
                <a:lnTo>
                  <a:pt x="108496" y="10160"/>
                </a:lnTo>
                <a:lnTo>
                  <a:pt x="102247" y="11430"/>
                </a:lnTo>
                <a:lnTo>
                  <a:pt x="102476" y="11430"/>
                </a:lnTo>
                <a:lnTo>
                  <a:pt x="96329" y="12700"/>
                </a:lnTo>
                <a:lnTo>
                  <a:pt x="96558" y="12700"/>
                </a:lnTo>
                <a:lnTo>
                  <a:pt x="90538" y="13969"/>
                </a:lnTo>
                <a:lnTo>
                  <a:pt x="90766" y="13969"/>
                </a:lnTo>
                <a:lnTo>
                  <a:pt x="84861" y="16510"/>
                </a:lnTo>
                <a:lnTo>
                  <a:pt x="85077" y="16510"/>
                </a:lnTo>
                <a:lnTo>
                  <a:pt x="79311" y="19050"/>
                </a:lnTo>
                <a:lnTo>
                  <a:pt x="79527" y="19050"/>
                </a:lnTo>
                <a:lnTo>
                  <a:pt x="76714" y="20319"/>
                </a:lnTo>
                <a:lnTo>
                  <a:pt x="74117" y="20319"/>
                </a:lnTo>
                <a:lnTo>
                  <a:pt x="68630" y="24130"/>
                </a:lnTo>
                <a:lnTo>
                  <a:pt x="68834" y="24130"/>
                </a:lnTo>
                <a:lnTo>
                  <a:pt x="63525" y="26669"/>
                </a:lnTo>
                <a:lnTo>
                  <a:pt x="63715" y="26669"/>
                </a:lnTo>
                <a:lnTo>
                  <a:pt x="58559" y="29210"/>
                </a:lnTo>
                <a:lnTo>
                  <a:pt x="58750" y="29210"/>
                </a:lnTo>
                <a:lnTo>
                  <a:pt x="53771" y="33019"/>
                </a:lnTo>
                <a:lnTo>
                  <a:pt x="53962" y="33019"/>
                </a:lnTo>
                <a:lnTo>
                  <a:pt x="49161" y="36830"/>
                </a:lnTo>
                <a:lnTo>
                  <a:pt x="49339" y="36830"/>
                </a:lnTo>
                <a:lnTo>
                  <a:pt x="44729" y="40639"/>
                </a:lnTo>
                <a:lnTo>
                  <a:pt x="44894" y="40639"/>
                </a:lnTo>
                <a:lnTo>
                  <a:pt x="40487" y="44450"/>
                </a:lnTo>
                <a:lnTo>
                  <a:pt x="40640" y="44450"/>
                </a:lnTo>
                <a:lnTo>
                  <a:pt x="37487" y="48260"/>
                </a:lnTo>
                <a:lnTo>
                  <a:pt x="36588" y="48260"/>
                </a:lnTo>
                <a:lnTo>
                  <a:pt x="32600" y="53339"/>
                </a:lnTo>
                <a:lnTo>
                  <a:pt x="32740" y="53339"/>
                </a:lnTo>
                <a:lnTo>
                  <a:pt x="28981" y="58419"/>
                </a:lnTo>
                <a:lnTo>
                  <a:pt x="26450" y="62230"/>
                </a:lnTo>
                <a:lnTo>
                  <a:pt x="25704" y="62230"/>
                </a:lnTo>
                <a:lnTo>
                  <a:pt x="22390" y="67310"/>
                </a:lnTo>
                <a:lnTo>
                  <a:pt x="22517" y="67310"/>
                </a:lnTo>
                <a:lnTo>
                  <a:pt x="19456" y="72389"/>
                </a:lnTo>
                <a:lnTo>
                  <a:pt x="17325" y="77469"/>
                </a:lnTo>
                <a:lnTo>
                  <a:pt x="16865" y="77469"/>
                </a:lnTo>
                <a:lnTo>
                  <a:pt x="14325" y="83819"/>
                </a:lnTo>
                <a:lnTo>
                  <a:pt x="12141" y="88900"/>
                </a:lnTo>
                <a:lnTo>
                  <a:pt x="10223" y="95250"/>
                </a:lnTo>
                <a:lnTo>
                  <a:pt x="8585" y="100330"/>
                </a:lnTo>
                <a:lnTo>
                  <a:pt x="7226" y="106680"/>
                </a:lnTo>
                <a:lnTo>
                  <a:pt x="6146" y="113030"/>
                </a:lnTo>
                <a:lnTo>
                  <a:pt x="5544" y="118110"/>
                </a:lnTo>
                <a:lnTo>
                  <a:pt x="5410" y="118110"/>
                </a:lnTo>
                <a:lnTo>
                  <a:pt x="4914" y="124460"/>
                </a:lnTo>
                <a:lnTo>
                  <a:pt x="4762" y="130810"/>
                </a:lnTo>
                <a:lnTo>
                  <a:pt x="4762" y="638810"/>
                </a:lnTo>
                <a:lnTo>
                  <a:pt x="4927" y="645160"/>
                </a:lnTo>
                <a:lnTo>
                  <a:pt x="5410" y="651510"/>
                </a:lnTo>
                <a:lnTo>
                  <a:pt x="6184" y="657860"/>
                </a:lnTo>
                <a:lnTo>
                  <a:pt x="7264" y="664210"/>
                </a:lnTo>
                <a:lnTo>
                  <a:pt x="8636" y="669289"/>
                </a:lnTo>
                <a:lnTo>
                  <a:pt x="10287" y="675639"/>
                </a:lnTo>
                <a:lnTo>
                  <a:pt x="12217" y="680719"/>
                </a:lnTo>
                <a:lnTo>
                  <a:pt x="14414" y="687069"/>
                </a:lnTo>
                <a:lnTo>
                  <a:pt x="16865" y="692150"/>
                </a:lnTo>
                <a:lnTo>
                  <a:pt x="19570" y="697230"/>
                </a:lnTo>
                <a:lnTo>
                  <a:pt x="22517" y="702310"/>
                </a:lnTo>
                <a:lnTo>
                  <a:pt x="22390" y="702310"/>
                </a:lnTo>
                <a:lnTo>
                  <a:pt x="25704" y="707389"/>
                </a:lnTo>
                <a:lnTo>
                  <a:pt x="25565" y="707389"/>
                </a:lnTo>
                <a:lnTo>
                  <a:pt x="29108" y="712469"/>
                </a:lnTo>
                <a:lnTo>
                  <a:pt x="32740" y="717550"/>
                </a:lnTo>
                <a:lnTo>
                  <a:pt x="33597" y="717550"/>
                </a:lnTo>
                <a:lnTo>
                  <a:pt x="36588" y="721360"/>
                </a:lnTo>
                <a:lnTo>
                  <a:pt x="36436" y="721360"/>
                </a:lnTo>
                <a:lnTo>
                  <a:pt x="40640" y="725169"/>
                </a:lnTo>
                <a:lnTo>
                  <a:pt x="40487" y="725169"/>
                </a:lnTo>
                <a:lnTo>
                  <a:pt x="44894" y="730250"/>
                </a:lnTo>
                <a:lnTo>
                  <a:pt x="45881" y="730250"/>
                </a:lnTo>
                <a:lnTo>
                  <a:pt x="49339" y="734060"/>
                </a:lnTo>
                <a:lnTo>
                  <a:pt x="50761" y="734060"/>
                </a:lnTo>
                <a:lnTo>
                  <a:pt x="53962" y="736600"/>
                </a:lnTo>
                <a:lnTo>
                  <a:pt x="53771" y="736600"/>
                </a:lnTo>
                <a:lnTo>
                  <a:pt x="58750" y="740410"/>
                </a:lnTo>
                <a:lnTo>
                  <a:pt x="58559" y="740410"/>
                </a:lnTo>
                <a:lnTo>
                  <a:pt x="63715" y="744219"/>
                </a:lnTo>
                <a:lnTo>
                  <a:pt x="63525" y="744219"/>
                </a:lnTo>
                <a:lnTo>
                  <a:pt x="68834" y="746760"/>
                </a:lnTo>
                <a:lnTo>
                  <a:pt x="68630" y="746760"/>
                </a:lnTo>
                <a:lnTo>
                  <a:pt x="74117" y="749300"/>
                </a:lnTo>
                <a:lnTo>
                  <a:pt x="73901" y="749300"/>
                </a:lnTo>
                <a:lnTo>
                  <a:pt x="79527" y="751839"/>
                </a:lnTo>
                <a:lnTo>
                  <a:pt x="79311" y="751839"/>
                </a:lnTo>
                <a:lnTo>
                  <a:pt x="85077" y="754380"/>
                </a:lnTo>
                <a:lnTo>
                  <a:pt x="84861" y="754380"/>
                </a:lnTo>
                <a:lnTo>
                  <a:pt x="90766" y="755650"/>
                </a:lnTo>
                <a:lnTo>
                  <a:pt x="90538" y="755650"/>
                </a:lnTo>
                <a:lnTo>
                  <a:pt x="96558" y="756919"/>
                </a:lnTo>
                <a:lnTo>
                  <a:pt x="96329" y="756919"/>
                </a:lnTo>
                <a:lnTo>
                  <a:pt x="102476" y="759460"/>
                </a:lnTo>
                <a:lnTo>
                  <a:pt x="108267" y="759460"/>
                </a:lnTo>
                <a:lnTo>
                  <a:pt x="114617" y="760730"/>
                </a:lnTo>
                <a:lnTo>
                  <a:pt x="120586" y="760730"/>
                </a:lnTo>
                <a:lnTo>
                  <a:pt x="127127" y="762000"/>
                </a:lnTo>
                <a:lnTo>
                  <a:pt x="3502583" y="762000"/>
                </a:lnTo>
                <a:lnTo>
                  <a:pt x="3499586" y="763269"/>
                </a:lnTo>
                <a:lnTo>
                  <a:pt x="3493693" y="764539"/>
                </a:lnTo>
                <a:lnTo>
                  <a:pt x="3487204" y="767080"/>
                </a:lnTo>
                <a:lnTo>
                  <a:pt x="3474339" y="769619"/>
                </a:lnTo>
                <a:close/>
              </a:path>
              <a:path w="3586479" h="770889">
                <a:moveTo>
                  <a:pt x="114376" y="10160"/>
                </a:moveTo>
                <a:lnTo>
                  <a:pt x="114617" y="8889"/>
                </a:lnTo>
                <a:lnTo>
                  <a:pt x="120827" y="8889"/>
                </a:lnTo>
                <a:lnTo>
                  <a:pt x="114376" y="10160"/>
                </a:lnTo>
                <a:close/>
              </a:path>
              <a:path w="3586479" h="770889">
                <a:moveTo>
                  <a:pt x="3467023" y="10160"/>
                </a:moveTo>
                <a:lnTo>
                  <a:pt x="3460572" y="8889"/>
                </a:lnTo>
                <a:lnTo>
                  <a:pt x="3466782" y="8889"/>
                </a:lnTo>
                <a:lnTo>
                  <a:pt x="3467023" y="10160"/>
                </a:lnTo>
                <a:close/>
              </a:path>
              <a:path w="3586479" h="770889">
                <a:moveTo>
                  <a:pt x="3507498" y="21589"/>
                </a:moveTo>
                <a:lnTo>
                  <a:pt x="3501872" y="19050"/>
                </a:lnTo>
                <a:lnTo>
                  <a:pt x="3502088" y="19050"/>
                </a:lnTo>
                <a:lnTo>
                  <a:pt x="3496322" y="16510"/>
                </a:lnTo>
                <a:lnTo>
                  <a:pt x="3496538" y="16510"/>
                </a:lnTo>
                <a:lnTo>
                  <a:pt x="3490633" y="13969"/>
                </a:lnTo>
                <a:lnTo>
                  <a:pt x="3490861" y="13969"/>
                </a:lnTo>
                <a:lnTo>
                  <a:pt x="3484841" y="12700"/>
                </a:lnTo>
                <a:lnTo>
                  <a:pt x="3485070" y="12700"/>
                </a:lnTo>
                <a:lnTo>
                  <a:pt x="3478923" y="11430"/>
                </a:lnTo>
                <a:lnTo>
                  <a:pt x="3479152" y="11430"/>
                </a:lnTo>
                <a:lnTo>
                  <a:pt x="3472903" y="10160"/>
                </a:lnTo>
                <a:lnTo>
                  <a:pt x="3473132" y="10160"/>
                </a:lnTo>
                <a:lnTo>
                  <a:pt x="3466782" y="8889"/>
                </a:lnTo>
                <a:lnTo>
                  <a:pt x="3502806" y="8889"/>
                </a:lnTo>
                <a:lnTo>
                  <a:pt x="3505796" y="10160"/>
                </a:lnTo>
                <a:lnTo>
                  <a:pt x="3511626" y="12700"/>
                </a:lnTo>
                <a:lnTo>
                  <a:pt x="3517303" y="15239"/>
                </a:lnTo>
                <a:lnTo>
                  <a:pt x="3522827" y="19050"/>
                </a:lnTo>
                <a:lnTo>
                  <a:pt x="3525494" y="20319"/>
                </a:lnTo>
                <a:lnTo>
                  <a:pt x="3507282" y="20319"/>
                </a:lnTo>
                <a:lnTo>
                  <a:pt x="3507498" y="21589"/>
                </a:lnTo>
                <a:close/>
              </a:path>
              <a:path w="3586479" h="770889">
                <a:moveTo>
                  <a:pt x="73901" y="21589"/>
                </a:moveTo>
                <a:lnTo>
                  <a:pt x="74117" y="20319"/>
                </a:lnTo>
                <a:lnTo>
                  <a:pt x="76714" y="20319"/>
                </a:lnTo>
                <a:lnTo>
                  <a:pt x="73901" y="21589"/>
                </a:lnTo>
                <a:close/>
              </a:path>
              <a:path w="3586479" h="770889">
                <a:moveTo>
                  <a:pt x="3544963" y="49530"/>
                </a:moveTo>
                <a:lnTo>
                  <a:pt x="3540760" y="44450"/>
                </a:lnTo>
                <a:lnTo>
                  <a:pt x="3540912" y="44450"/>
                </a:lnTo>
                <a:lnTo>
                  <a:pt x="3536505" y="40639"/>
                </a:lnTo>
                <a:lnTo>
                  <a:pt x="3536670" y="40639"/>
                </a:lnTo>
                <a:lnTo>
                  <a:pt x="3532060" y="36830"/>
                </a:lnTo>
                <a:lnTo>
                  <a:pt x="3532238" y="36830"/>
                </a:lnTo>
                <a:lnTo>
                  <a:pt x="3527437" y="33019"/>
                </a:lnTo>
                <a:lnTo>
                  <a:pt x="3527628" y="33019"/>
                </a:lnTo>
                <a:lnTo>
                  <a:pt x="3522649" y="29210"/>
                </a:lnTo>
                <a:lnTo>
                  <a:pt x="3522840" y="29210"/>
                </a:lnTo>
                <a:lnTo>
                  <a:pt x="3517684" y="26669"/>
                </a:lnTo>
                <a:lnTo>
                  <a:pt x="3517874" y="26669"/>
                </a:lnTo>
                <a:lnTo>
                  <a:pt x="3512566" y="24130"/>
                </a:lnTo>
                <a:lnTo>
                  <a:pt x="3512769" y="24130"/>
                </a:lnTo>
                <a:lnTo>
                  <a:pt x="3507282" y="20319"/>
                </a:lnTo>
                <a:lnTo>
                  <a:pt x="3525494" y="20319"/>
                </a:lnTo>
                <a:lnTo>
                  <a:pt x="3528161" y="21589"/>
                </a:lnTo>
                <a:lnTo>
                  <a:pt x="3533330" y="25400"/>
                </a:lnTo>
                <a:lnTo>
                  <a:pt x="3538296" y="29210"/>
                </a:lnTo>
                <a:lnTo>
                  <a:pt x="3543071" y="34289"/>
                </a:lnTo>
                <a:lnTo>
                  <a:pt x="3547643" y="38100"/>
                </a:lnTo>
                <a:lnTo>
                  <a:pt x="3552012" y="43180"/>
                </a:lnTo>
                <a:lnTo>
                  <a:pt x="3556139" y="46989"/>
                </a:lnTo>
                <a:lnTo>
                  <a:pt x="3557117" y="48260"/>
                </a:lnTo>
                <a:lnTo>
                  <a:pt x="3544811" y="48260"/>
                </a:lnTo>
                <a:lnTo>
                  <a:pt x="3544963" y="49530"/>
                </a:lnTo>
                <a:close/>
              </a:path>
              <a:path w="3586479" h="770889">
                <a:moveTo>
                  <a:pt x="36436" y="49530"/>
                </a:moveTo>
                <a:lnTo>
                  <a:pt x="36588" y="48260"/>
                </a:lnTo>
                <a:lnTo>
                  <a:pt x="37487" y="48260"/>
                </a:lnTo>
                <a:lnTo>
                  <a:pt x="36436" y="49530"/>
                </a:lnTo>
                <a:close/>
              </a:path>
              <a:path w="3586479" h="770889">
                <a:moveTo>
                  <a:pt x="3555834" y="63500"/>
                </a:moveTo>
                <a:lnTo>
                  <a:pt x="3552291" y="58419"/>
                </a:lnTo>
                <a:lnTo>
                  <a:pt x="3548659" y="53339"/>
                </a:lnTo>
                <a:lnTo>
                  <a:pt x="3548799" y="53339"/>
                </a:lnTo>
                <a:lnTo>
                  <a:pt x="3544811" y="48260"/>
                </a:lnTo>
                <a:lnTo>
                  <a:pt x="3557117" y="48260"/>
                </a:lnTo>
                <a:lnTo>
                  <a:pt x="3560051" y="52069"/>
                </a:lnTo>
                <a:lnTo>
                  <a:pt x="3563721" y="57150"/>
                </a:lnTo>
                <a:lnTo>
                  <a:pt x="3567023" y="62230"/>
                </a:lnTo>
                <a:lnTo>
                  <a:pt x="3555695" y="62230"/>
                </a:lnTo>
                <a:lnTo>
                  <a:pt x="3555834" y="63500"/>
                </a:lnTo>
                <a:close/>
              </a:path>
              <a:path w="3586479" h="770889">
                <a:moveTo>
                  <a:pt x="25565" y="63500"/>
                </a:moveTo>
                <a:lnTo>
                  <a:pt x="25704" y="62230"/>
                </a:lnTo>
                <a:lnTo>
                  <a:pt x="26450" y="62230"/>
                </a:lnTo>
                <a:lnTo>
                  <a:pt x="25565" y="63500"/>
                </a:lnTo>
                <a:close/>
              </a:path>
              <a:path w="3586479" h="770889">
                <a:moveTo>
                  <a:pt x="3564636" y="78739"/>
                </a:moveTo>
                <a:lnTo>
                  <a:pt x="3561829" y="72389"/>
                </a:lnTo>
                <a:lnTo>
                  <a:pt x="3558882" y="67310"/>
                </a:lnTo>
                <a:lnTo>
                  <a:pt x="3559009" y="67310"/>
                </a:lnTo>
                <a:lnTo>
                  <a:pt x="3555695" y="62230"/>
                </a:lnTo>
                <a:lnTo>
                  <a:pt x="3567023" y="62230"/>
                </a:lnTo>
                <a:lnTo>
                  <a:pt x="3570312" y="68580"/>
                </a:lnTo>
                <a:lnTo>
                  <a:pt x="3573221" y="73660"/>
                </a:lnTo>
                <a:lnTo>
                  <a:pt x="3574798" y="77469"/>
                </a:lnTo>
                <a:lnTo>
                  <a:pt x="3564534" y="77469"/>
                </a:lnTo>
                <a:lnTo>
                  <a:pt x="3564636" y="78739"/>
                </a:lnTo>
                <a:close/>
              </a:path>
              <a:path w="3586479" h="770889">
                <a:moveTo>
                  <a:pt x="16764" y="78739"/>
                </a:moveTo>
                <a:lnTo>
                  <a:pt x="16865" y="77469"/>
                </a:lnTo>
                <a:lnTo>
                  <a:pt x="17325" y="77469"/>
                </a:lnTo>
                <a:lnTo>
                  <a:pt x="16764" y="78739"/>
                </a:lnTo>
                <a:close/>
              </a:path>
              <a:path w="3586479" h="770889">
                <a:moveTo>
                  <a:pt x="3576015" y="119380"/>
                </a:moveTo>
                <a:lnTo>
                  <a:pt x="3575215" y="113030"/>
                </a:lnTo>
                <a:lnTo>
                  <a:pt x="3574135" y="106680"/>
                </a:lnTo>
                <a:lnTo>
                  <a:pt x="3572764" y="100330"/>
                </a:lnTo>
                <a:lnTo>
                  <a:pt x="3571113" y="95250"/>
                </a:lnTo>
                <a:lnTo>
                  <a:pt x="3569182" y="88900"/>
                </a:lnTo>
                <a:lnTo>
                  <a:pt x="3566985" y="83819"/>
                </a:lnTo>
                <a:lnTo>
                  <a:pt x="3564534" y="77469"/>
                </a:lnTo>
                <a:lnTo>
                  <a:pt x="3574798" y="77469"/>
                </a:lnTo>
                <a:lnTo>
                  <a:pt x="3575850" y="80010"/>
                </a:lnTo>
                <a:lnTo>
                  <a:pt x="3578199" y="86360"/>
                </a:lnTo>
                <a:lnTo>
                  <a:pt x="3580206" y="91439"/>
                </a:lnTo>
                <a:lnTo>
                  <a:pt x="3582047" y="97789"/>
                </a:lnTo>
                <a:lnTo>
                  <a:pt x="3583508" y="104139"/>
                </a:lnTo>
                <a:lnTo>
                  <a:pt x="3584663" y="111760"/>
                </a:lnTo>
                <a:lnTo>
                  <a:pt x="3585489" y="118110"/>
                </a:lnTo>
                <a:lnTo>
                  <a:pt x="3575989" y="118110"/>
                </a:lnTo>
                <a:lnTo>
                  <a:pt x="3576015" y="119380"/>
                </a:lnTo>
                <a:close/>
              </a:path>
              <a:path w="3586479" h="770889">
                <a:moveTo>
                  <a:pt x="5384" y="119380"/>
                </a:moveTo>
                <a:lnTo>
                  <a:pt x="5410" y="118110"/>
                </a:lnTo>
                <a:lnTo>
                  <a:pt x="5544" y="118110"/>
                </a:lnTo>
                <a:lnTo>
                  <a:pt x="5384" y="119380"/>
                </a:lnTo>
                <a:close/>
              </a:path>
              <a:path w="3586479" h="770889">
                <a:moveTo>
                  <a:pt x="3559911" y="717550"/>
                </a:moveTo>
                <a:lnTo>
                  <a:pt x="3548659" y="717550"/>
                </a:lnTo>
                <a:lnTo>
                  <a:pt x="3552418" y="712469"/>
                </a:lnTo>
                <a:lnTo>
                  <a:pt x="3555834" y="707389"/>
                </a:lnTo>
                <a:lnTo>
                  <a:pt x="3555695" y="707389"/>
                </a:lnTo>
                <a:lnTo>
                  <a:pt x="3559009" y="702310"/>
                </a:lnTo>
                <a:lnTo>
                  <a:pt x="3558882" y="702310"/>
                </a:lnTo>
                <a:lnTo>
                  <a:pt x="3561943" y="697230"/>
                </a:lnTo>
                <a:lnTo>
                  <a:pt x="3564636" y="692150"/>
                </a:lnTo>
                <a:lnTo>
                  <a:pt x="3567074" y="687069"/>
                </a:lnTo>
                <a:lnTo>
                  <a:pt x="3569258" y="680719"/>
                </a:lnTo>
                <a:lnTo>
                  <a:pt x="3571176" y="675639"/>
                </a:lnTo>
                <a:lnTo>
                  <a:pt x="3572814" y="669289"/>
                </a:lnTo>
                <a:lnTo>
                  <a:pt x="3574173" y="664210"/>
                </a:lnTo>
                <a:lnTo>
                  <a:pt x="3575253" y="657860"/>
                </a:lnTo>
                <a:lnTo>
                  <a:pt x="3576015" y="651510"/>
                </a:lnTo>
                <a:lnTo>
                  <a:pt x="3576485" y="645160"/>
                </a:lnTo>
                <a:lnTo>
                  <a:pt x="3576637" y="638810"/>
                </a:lnTo>
                <a:lnTo>
                  <a:pt x="3576637" y="130810"/>
                </a:lnTo>
                <a:lnTo>
                  <a:pt x="3576472" y="124460"/>
                </a:lnTo>
                <a:lnTo>
                  <a:pt x="3575989" y="118110"/>
                </a:lnTo>
                <a:lnTo>
                  <a:pt x="3585489" y="118110"/>
                </a:lnTo>
                <a:lnTo>
                  <a:pt x="3585997" y="124460"/>
                </a:lnTo>
                <a:lnTo>
                  <a:pt x="3586162" y="130810"/>
                </a:lnTo>
                <a:lnTo>
                  <a:pt x="3586162" y="638810"/>
                </a:lnTo>
                <a:lnTo>
                  <a:pt x="3580206" y="678180"/>
                </a:lnTo>
                <a:lnTo>
                  <a:pt x="3573119" y="695960"/>
                </a:lnTo>
                <a:lnTo>
                  <a:pt x="3570198" y="702310"/>
                </a:lnTo>
                <a:lnTo>
                  <a:pt x="3567023" y="707389"/>
                </a:lnTo>
                <a:lnTo>
                  <a:pt x="3563594" y="712469"/>
                </a:lnTo>
                <a:lnTo>
                  <a:pt x="3559911" y="717550"/>
                </a:lnTo>
                <a:close/>
              </a:path>
              <a:path w="3586479" h="770889">
                <a:moveTo>
                  <a:pt x="33597" y="717550"/>
                </a:moveTo>
                <a:lnTo>
                  <a:pt x="32740" y="717550"/>
                </a:lnTo>
                <a:lnTo>
                  <a:pt x="32600" y="716280"/>
                </a:lnTo>
                <a:lnTo>
                  <a:pt x="33597" y="717550"/>
                </a:lnTo>
                <a:close/>
              </a:path>
              <a:path w="3586479" h="770889">
                <a:moveTo>
                  <a:pt x="3549675" y="730250"/>
                </a:moveTo>
                <a:lnTo>
                  <a:pt x="3536505" y="730250"/>
                </a:lnTo>
                <a:lnTo>
                  <a:pt x="3540912" y="725169"/>
                </a:lnTo>
                <a:lnTo>
                  <a:pt x="3540760" y="725169"/>
                </a:lnTo>
                <a:lnTo>
                  <a:pt x="3544963" y="721360"/>
                </a:lnTo>
                <a:lnTo>
                  <a:pt x="3544811" y="721360"/>
                </a:lnTo>
                <a:lnTo>
                  <a:pt x="3548799" y="716280"/>
                </a:lnTo>
                <a:lnTo>
                  <a:pt x="3548659" y="717550"/>
                </a:lnTo>
                <a:lnTo>
                  <a:pt x="3559911" y="717550"/>
                </a:lnTo>
                <a:lnTo>
                  <a:pt x="3556000" y="722630"/>
                </a:lnTo>
                <a:lnTo>
                  <a:pt x="3551859" y="727710"/>
                </a:lnTo>
                <a:lnTo>
                  <a:pt x="3549675" y="730250"/>
                </a:lnTo>
                <a:close/>
              </a:path>
              <a:path w="3586479" h="770889">
                <a:moveTo>
                  <a:pt x="45881" y="730250"/>
                </a:moveTo>
                <a:lnTo>
                  <a:pt x="44894" y="730250"/>
                </a:lnTo>
                <a:lnTo>
                  <a:pt x="44729" y="728980"/>
                </a:lnTo>
                <a:lnTo>
                  <a:pt x="45881" y="730250"/>
                </a:lnTo>
                <a:close/>
              </a:path>
              <a:path w="3586479" h="770889">
                <a:moveTo>
                  <a:pt x="3545962" y="734060"/>
                </a:moveTo>
                <a:lnTo>
                  <a:pt x="3532060" y="734060"/>
                </a:lnTo>
                <a:lnTo>
                  <a:pt x="3536670" y="728980"/>
                </a:lnTo>
                <a:lnTo>
                  <a:pt x="3536505" y="730250"/>
                </a:lnTo>
                <a:lnTo>
                  <a:pt x="3549675" y="730250"/>
                </a:lnTo>
                <a:lnTo>
                  <a:pt x="3547491" y="732789"/>
                </a:lnTo>
                <a:lnTo>
                  <a:pt x="3545962" y="734060"/>
                </a:lnTo>
                <a:close/>
              </a:path>
              <a:path w="3586479" h="770889">
                <a:moveTo>
                  <a:pt x="50761" y="734060"/>
                </a:moveTo>
                <a:lnTo>
                  <a:pt x="49339" y="734060"/>
                </a:lnTo>
                <a:lnTo>
                  <a:pt x="49161" y="732789"/>
                </a:lnTo>
                <a:lnTo>
                  <a:pt x="50761" y="734060"/>
                </a:lnTo>
                <a:close/>
              </a:path>
              <a:path w="3586479" h="770889">
                <a:moveTo>
                  <a:pt x="3502583" y="762000"/>
                </a:moveTo>
                <a:lnTo>
                  <a:pt x="3454273" y="762000"/>
                </a:lnTo>
                <a:lnTo>
                  <a:pt x="3460813" y="760730"/>
                </a:lnTo>
                <a:lnTo>
                  <a:pt x="3466782" y="760730"/>
                </a:lnTo>
                <a:lnTo>
                  <a:pt x="3473132" y="759460"/>
                </a:lnTo>
                <a:lnTo>
                  <a:pt x="3478923" y="759460"/>
                </a:lnTo>
                <a:lnTo>
                  <a:pt x="3485070" y="756919"/>
                </a:lnTo>
                <a:lnTo>
                  <a:pt x="3484841" y="756919"/>
                </a:lnTo>
                <a:lnTo>
                  <a:pt x="3490861" y="755650"/>
                </a:lnTo>
                <a:lnTo>
                  <a:pt x="3490633" y="755650"/>
                </a:lnTo>
                <a:lnTo>
                  <a:pt x="3496538" y="754380"/>
                </a:lnTo>
                <a:lnTo>
                  <a:pt x="3496322" y="754380"/>
                </a:lnTo>
                <a:lnTo>
                  <a:pt x="3502088" y="751839"/>
                </a:lnTo>
                <a:lnTo>
                  <a:pt x="3501872" y="751839"/>
                </a:lnTo>
                <a:lnTo>
                  <a:pt x="3507498" y="749300"/>
                </a:lnTo>
                <a:lnTo>
                  <a:pt x="3507282" y="749300"/>
                </a:lnTo>
                <a:lnTo>
                  <a:pt x="3512769" y="746760"/>
                </a:lnTo>
                <a:lnTo>
                  <a:pt x="3512566" y="746760"/>
                </a:lnTo>
                <a:lnTo>
                  <a:pt x="3517874" y="744219"/>
                </a:lnTo>
                <a:lnTo>
                  <a:pt x="3517684" y="744219"/>
                </a:lnTo>
                <a:lnTo>
                  <a:pt x="3522840" y="740410"/>
                </a:lnTo>
                <a:lnTo>
                  <a:pt x="3522649" y="740410"/>
                </a:lnTo>
                <a:lnTo>
                  <a:pt x="3527628" y="736600"/>
                </a:lnTo>
                <a:lnTo>
                  <a:pt x="3527437" y="736600"/>
                </a:lnTo>
                <a:lnTo>
                  <a:pt x="3532238" y="732789"/>
                </a:lnTo>
                <a:lnTo>
                  <a:pt x="3532060" y="734060"/>
                </a:lnTo>
                <a:lnTo>
                  <a:pt x="3545962" y="734060"/>
                </a:lnTo>
                <a:lnTo>
                  <a:pt x="3511423" y="758189"/>
                </a:lnTo>
                <a:lnTo>
                  <a:pt x="3505580" y="760730"/>
                </a:lnTo>
                <a:lnTo>
                  <a:pt x="3502583" y="762000"/>
                </a:lnTo>
                <a:close/>
              </a:path>
              <a:path w="3586479" h="770889">
                <a:moveTo>
                  <a:pt x="3461054" y="770889"/>
                </a:moveTo>
                <a:lnTo>
                  <a:pt x="120103" y="770889"/>
                </a:lnTo>
                <a:lnTo>
                  <a:pt x="113411" y="769619"/>
                </a:lnTo>
                <a:lnTo>
                  <a:pt x="3467747" y="769619"/>
                </a:lnTo>
                <a:lnTo>
                  <a:pt x="3461054" y="77088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 txBox="1"/>
          <p:nvPr/>
        </p:nvSpPr>
        <p:spPr>
          <a:xfrm>
            <a:off x="383540" y="4291647"/>
            <a:ext cx="310515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Tahoma"/>
                <a:cs typeface="Tahoma"/>
              </a:rPr>
              <a:t>Because </a:t>
            </a:r>
            <a:r>
              <a:rPr sz="2400" spc="-5" dirty="0">
                <a:solidFill>
                  <a:srgbClr val="00CC99"/>
                </a:solidFill>
                <a:latin typeface="Tahoma"/>
                <a:cs typeface="Tahoma"/>
              </a:rPr>
              <a:t>name -&gt;</a:t>
            </a:r>
            <a:r>
              <a:rPr sz="2400" spc="-70" dirty="0">
                <a:solidFill>
                  <a:srgbClr val="00CC99"/>
                </a:solidFill>
                <a:latin typeface="Tahoma"/>
                <a:cs typeface="Tahoma"/>
              </a:rPr>
              <a:t> </a:t>
            </a:r>
            <a:r>
              <a:rPr sz="2400" spc="-5" dirty="0">
                <a:solidFill>
                  <a:srgbClr val="00CC99"/>
                </a:solidFill>
                <a:latin typeface="Tahoma"/>
                <a:cs typeface="Tahoma"/>
              </a:rPr>
              <a:t>addr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1714500" y="2819400"/>
            <a:ext cx="76200" cy="1447800"/>
          </a:xfrm>
          <a:custGeom>
            <a:avLst/>
            <a:gdLst/>
            <a:ahLst/>
            <a:cxnLst/>
            <a:rect l="l" t="t" r="r" b="b"/>
            <a:pathLst>
              <a:path w="76200" h="1447800">
                <a:moveTo>
                  <a:pt x="33337" y="76200"/>
                </a:moveTo>
                <a:lnTo>
                  <a:pt x="0" y="76200"/>
                </a:lnTo>
                <a:lnTo>
                  <a:pt x="38100" y="0"/>
                </a:lnTo>
                <a:lnTo>
                  <a:pt x="66675" y="57150"/>
                </a:lnTo>
                <a:lnTo>
                  <a:pt x="33337" y="57150"/>
                </a:lnTo>
                <a:lnTo>
                  <a:pt x="33337" y="76200"/>
                </a:lnTo>
                <a:close/>
              </a:path>
              <a:path w="76200" h="1447800">
                <a:moveTo>
                  <a:pt x="42862" y="1447800"/>
                </a:moveTo>
                <a:lnTo>
                  <a:pt x="33337" y="1447800"/>
                </a:lnTo>
                <a:lnTo>
                  <a:pt x="33337" y="57150"/>
                </a:lnTo>
                <a:lnTo>
                  <a:pt x="42862" y="57150"/>
                </a:lnTo>
                <a:lnTo>
                  <a:pt x="42862" y="1447800"/>
                </a:lnTo>
                <a:close/>
              </a:path>
              <a:path w="76200" h="1447800">
                <a:moveTo>
                  <a:pt x="76200" y="76200"/>
                </a:moveTo>
                <a:lnTo>
                  <a:pt x="42862" y="76200"/>
                </a:lnTo>
                <a:lnTo>
                  <a:pt x="42862" y="57150"/>
                </a:lnTo>
                <a:lnTo>
                  <a:pt x="66675" y="57150"/>
                </a:lnTo>
                <a:lnTo>
                  <a:pt x="76200" y="762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3881564" y="1905000"/>
            <a:ext cx="5187823" cy="228854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 txBox="1"/>
          <p:nvPr/>
        </p:nvSpPr>
        <p:spPr>
          <a:xfrm>
            <a:off x="5546090" y="4256722"/>
            <a:ext cx="3513454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Tahoma"/>
                <a:cs typeface="Tahoma"/>
              </a:rPr>
              <a:t>Because </a:t>
            </a:r>
            <a:r>
              <a:rPr sz="2400" spc="-5" dirty="0">
                <a:solidFill>
                  <a:srgbClr val="00CC99"/>
                </a:solidFill>
                <a:latin typeface="Tahoma"/>
                <a:cs typeface="Tahoma"/>
              </a:rPr>
              <a:t>name -&gt;</a:t>
            </a:r>
            <a:r>
              <a:rPr sz="2400" spc="-55" dirty="0">
                <a:solidFill>
                  <a:srgbClr val="00CC99"/>
                </a:solidFill>
                <a:latin typeface="Tahoma"/>
                <a:cs typeface="Tahoma"/>
              </a:rPr>
              <a:t> </a:t>
            </a:r>
            <a:r>
              <a:rPr sz="2400" spc="-10" dirty="0">
                <a:solidFill>
                  <a:srgbClr val="00CC99"/>
                </a:solidFill>
                <a:latin typeface="Tahoma"/>
                <a:cs typeface="Tahoma"/>
              </a:rPr>
              <a:t>favBeer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2958464" y="5018722"/>
            <a:ext cx="386969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Tahoma"/>
                <a:cs typeface="Tahoma"/>
              </a:rPr>
              <a:t>Because </a:t>
            </a:r>
            <a:r>
              <a:rPr sz="2400" spc="-5" dirty="0">
                <a:solidFill>
                  <a:srgbClr val="00CC99"/>
                </a:solidFill>
                <a:latin typeface="Tahoma"/>
                <a:cs typeface="Tahoma"/>
              </a:rPr>
              <a:t>beersLiked -&gt;</a:t>
            </a:r>
            <a:r>
              <a:rPr sz="2400" spc="-75" dirty="0">
                <a:solidFill>
                  <a:srgbClr val="00CC99"/>
                </a:solidFill>
                <a:latin typeface="Tahoma"/>
                <a:cs typeface="Tahoma"/>
              </a:rPr>
              <a:t> </a:t>
            </a:r>
            <a:r>
              <a:rPr sz="2400" spc="-5" dirty="0">
                <a:solidFill>
                  <a:srgbClr val="00CC99"/>
                </a:solidFill>
                <a:latin typeface="Tahoma"/>
                <a:cs typeface="Tahoma"/>
              </a:rPr>
              <a:t>manf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4186516" y="2590800"/>
            <a:ext cx="853440" cy="2364105"/>
          </a:xfrm>
          <a:custGeom>
            <a:avLst/>
            <a:gdLst/>
            <a:ahLst/>
            <a:cxnLst/>
            <a:rect l="l" t="t" r="r" b="b"/>
            <a:pathLst>
              <a:path w="853439" h="2364104">
                <a:moveTo>
                  <a:pt x="812717" y="70221"/>
                </a:moveTo>
                <a:lnTo>
                  <a:pt x="781291" y="59067"/>
                </a:lnTo>
                <a:lnTo>
                  <a:pt x="842683" y="0"/>
                </a:lnTo>
                <a:lnTo>
                  <a:pt x="849128" y="52273"/>
                </a:lnTo>
                <a:lnTo>
                  <a:pt x="819086" y="52273"/>
                </a:lnTo>
                <a:lnTo>
                  <a:pt x="812717" y="70221"/>
                </a:lnTo>
                <a:close/>
              </a:path>
              <a:path w="853439" h="2364104">
                <a:moveTo>
                  <a:pt x="821692" y="73406"/>
                </a:moveTo>
                <a:lnTo>
                  <a:pt x="812717" y="70221"/>
                </a:lnTo>
                <a:lnTo>
                  <a:pt x="819086" y="52273"/>
                </a:lnTo>
                <a:lnTo>
                  <a:pt x="828065" y="55448"/>
                </a:lnTo>
                <a:lnTo>
                  <a:pt x="821692" y="73406"/>
                </a:lnTo>
                <a:close/>
              </a:path>
              <a:path w="853439" h="2364104">
                <a:moveTo>
                  <a:pt x="853109" y="84556"/>
                </a:moveTo>
                <a:lnTo>
                  <a:pt x="821692" y="73406"/>
                </a:lnTo>
                <a:lnTo>
                  <a:pt x="828065" y="55448"/>
                </a:lnTo>
                <a:lnTo>
                  <a:pt x="819086" y="52273"/>
                </a:lnTo>
                <a:lnTo>
                  <a:pt x="849128" y="52273"/>
                </a:lnTo>
                <a:lnTo>
                  <a:pt x="853109" y="84556"/>
                </a:lnTo>
                <a:close/>
              </a:path>
              <a:path w="853439" h="2364104">
                <a:moveTo>
                  <a:pt x="8966" y="2363787"/>
                </a:moveTo>
                <a:lnTo>
                  <a:pt x="0" y="2360612"/>
                </a:lnTo>
                <a:lnTo>
                  <a:pt x="812717" y="70221"/>
                </a:lnTo>
                <a:lnTo>
                  <a:pt x="821692" y="73406"/>
                </a:lnTo>
                <a:lnTo>
                  <a:pt x="8966" y="236378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4415421" y="3276600"/>
            <a:ext cx="918844" cy="1678939"/>
          </a:xfrm>
          <a:custGeom>
            <a:avLst/>
            <a:gdLst/>
            <a:ahLst/>
            <a:cxnLst/>
            <a:rect l="l" t="t" r="r" b="b"/>
            <a:pathLst>
              <a:path w="918845" h="1678939">
                <a:moveTo>
                  <a:pt x="877908" y="64616"/>
                </a:moveTo>
                <a:lnTo>
                  <a:pt x="848639" y="48653"/>
                </a:lnTo>
                <a:lnTo>
                  <a:pt x="918578" y="0"/>
                </a:lnTo>
                <a:lnTo>
                  <a:pt x="916870" y="47891"/>
                </a:lnTo>
                <a:lnTo>
                  <a:pt x="887031" y="47891"/>
                </a:lnTo>
                <a:lnTo>
                  <a:pt x="877908" y="64616"/>
                </a:lnTo>
                <a:close/>
              </a:path>
              <a:path w="918845" h="1678939">
                <a:moveTo>
                  <a:pt x="886266" y="69174"/>
                </a:moveTo>
                <a:lnTo>
                  <a:pt x="877908" y="64616"/>
                </a:lnTo>
                <a:lnTo>
                  <a:pt x="887031" y="47891"/>
                </a:lnTo>
                <a:lnTo>
                  <a:pt x="895388" y="52450"/>
                </a:lnTo>
                <a:lnTo>
                  <a:pt x="886266" y="69174"/>
                </a:lnTo>
                <a:close/>
              </a:path>
              <a:path w="918845" h="1678939">
                <a:moveTo>
                  <a:pt x="915543" y="85140"/>
                </a:moveTo>
                <a:lnTo>
                  <a:pt x="886266" y="69174"/>
                </a:lnTo>
                <a:lnTo>
                  <a:pt x="895388" y="52450"/>
                </a:lnTo>
                <a:lnTo>
                  <a:pt x="887031" y="47891"/>
                </a:lnTo>
                <a:lnTo>
                  <a:pt x="916870" y="47891"/>
                </a:lnTo>
                <a:lnTo>
                  <a:pt x="915543" y="85140"/>
                </a:lnTo>
                <a:close/>
              </a:path>
              <a:path w="918845" h="1678939">
                <a:moveTo>
                  <a:pt x="8356" y="1678686"/>
                </a:moveTo>
                <a:lnTo>
                  <a:pt x="0" y="1674114"/>
                </a:lnTo>
                <a:lnTo>
                  <a:pt x="877908" y="64616"/>
                </a:lnTo>
                <a:lnTo>
                  <a:pt x="886266" y="69174"/>
                </a:lnTo>
                <a:lnTo>
                  <a:pt x="8356" y="167868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dirty="0"/>
              <a:t>5</a:t>
            </a:fld>
            <a:endParaRPr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461260" y="829944"/>
            <a:ext cx="422148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35" dirty="0"/>
              <a:t>Keys </a:t>
            </a:r>
            <a:r>
              <a:rPr spc="-5" dirty="0"/>
              <a:t>of</a:t>
            </a:r>
            <a:r>
              <a:rPr spc="-20" dirty="0"/>
              <a:t> </a:t>
            </a:r>
            <a:r>
              <a:rPr spc="-15" dirty="0"/>
              <a:t>Relations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dirty="0"/>
              <a:t>6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764540" y="1992617"/>
            <a:ext cx="7145655" cy="259237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594995" indent="-582930">
              <a:lnSpc>
                <a:spcPts val="3929"/>
              </a:lnSpc>
              <a:spcBef>
                <a:spcPts val="114"/>
              </a:spcBef>
              <a:buClr>
                <a:srgbClr val="CC00CC"/>
              </a:buClr>
              <a:buSzPct val="95522"/>
              <a:buFont typeface="Wingdings"/>
              <a:buChar char=""/>
              <a:tabLst>
                <a:tab pos="594995" algn="l"/>
                <a:tab pos="595630" algn="l"/>
              </a:tabLst>
            </a:pPr>
            <a:r>
              <a:rPr sz="3350" i="1" spc="-90" dirty="0">
                <a:latin typeface="Tahoma"/>
                <a:cs typeface="Tahoma"/>
              </a:rPr>
              <a:t>K </a:t>
            </a:r>
            <a:r>
              <a:rPr sz="3200" spc="-5" dirty="0">
                <a:latin typeface="Tahoma"/>
                <a:cs typeface="Tahoma"/>
              </a:rPr>
              <a:t>is </a:t>
            </a:r>
            <a:r>
              <a:rPr sz="3200" dirty="0">
                <a:latin typeface="Tahoma"/>
                <a:cs typeface="Tahoma"/>
              </a:rPr>
              <a:t>a </a:t>
            </a:r>
            <a:r>
              <a:rPr lang="en-US" altLang="zh-CN" sz="3600" dirty="0" err="1">
                <a:effectLst/>
                <a:highlight>
                  <a:srgbClr val="FFFF00"/>
                </a:highlight>
              </a:rPr>
              <a:t>superkey</a:t>
            </a:r>
            <a:r>
              <a:rPr sz="3350" i="1" spc="-80" dirty="0">
                <a:solidFill>
                  <a:srgbClr val="FF0066"/>
                </a:solidFill>
                <a:latin typeface="Tahoma"/>
                <a:cs typeface="Tahoma"/>
              </a:rPr>
              <a:t> </a:t>
            </a:r>
            <a:r>
              <a:rPr sz="3200" spc="-15" dirty="0">
                <a:latin typeface="Tahoma"/>
                <a:cs typeface="Tahoma"/>
              </a:rPr>
              <a:t>for </a:t>
            </a:r>
            <a:r>
              <a:rPr sz="3200" spc="-5" dirty="0">
                <a:latin typeface="Tahoma"/>
                <a:cs typeface="Tahoma"/>
              </a:rPr>
              <a:t>relation </a:t>
            </a:r>
            <a:r>
              <a:rPr sz="3350" i="1" spc="-90" dirty="0">
                <a:latin typeface="Tahoma"/>
                <a:cs typeface="Tahoma"/>
              </a:rPr>
              <a:t>R</a:t>
            </a:r>
            <a:r>
              <a:rPr sz="3350" i="1" spc="-484" dirty="0">
                <a:latin typeface="Tahoma"/>
                <a:cs typeface="Tahoma"/>
              </a:rPr>
              <a:t> </a:t>
            </a:r>
            <a:r>
              <a:rPr lang="en-US" sz="3350" i="1" spc="-484" dirty="0">
                <a:latin typeface="Tahoma"/>
                <a:cs typeface="Tahoma"/>
              </a:rPr>
              <a:t> </a:t>
            </a:r>
            <a:r>
              <a:rPr sz="3200" dirty="0" err="1">
                <a:latin typeface="Tahoma"/>
                <a:cs typeface="Tahoma"/>
              </a:rPr>
              <a:t>if</a:t>
            </a:r>
            <a:r>
              <a:rPr sz="3350" i="1" spc="-90" dirty="0" err="1">
                <a:latin typeface="Tahoma"/>
                <a:cs typeface="Tahoma"/>
              </a:rPr>
              <a:t>K</a:t>
            </a:r>
            <a:r>
              <a:rPr sz="3350" i="1" spc="-90" dirty="0">
                <a:latin typeface="Tahoma"/>
                <a:cs typeface="Tahoma"/>
              </a:rPr>
              <a:t> </a:t>
            </a:r>
            <a:r>
              <a:rPr sz="3200" spc="-5" dirty="0">
                <a:latin typeface="Tahoma"/>
                <a:cs typeface="Tahoma"/>
              </a:rPr>
              <a:t>functionally determines</a:t>
            </a:r>
            <a:r>
              <a:rPr lang="zh-CN" altLang="en-US" sz="3200" spc="-5" dirty="0">
                <a:latin typeface="Tahoma"/>
                <a:cs typeface="Tahoma"/>
              </a:rPr>
              <a:t>决定</a:t>
            </a:r>
            <a:r>
              <a:rPr sz="3200" dirty="0">
                <a:highlight>
                  <a:srgbClr val="FFFF00"/>
                </a:highlight>
                <a:latin typeface="Tahoma"/>
                <a:cs typeface="Tahoma"/>
              </a:rPr>
              <a:t>all</a:t>
            </a:r>
            <a:r>
              <a:rPr sz="3200" dirty="0">
                <a:latin typeface="Tahoma"/>
                <a:cs typeface="Tahoma"/>
              </a:rPr>
              <a:t> </a:t>
            </a:r>
            <a:r>
              <a:rPr sz="3200" spc="-5" dirty="0">
                <a:latin typeface="Tahoma"/>
                <a:cs typeface="Tahoma"/>
              </a:rPr>
              <a:t>of</a:t>
            </a:r>
            <a:r>
              <a:rPr sz="3200" spc="-235" dirty="0">
                <a:latin typeface="Tahoma"/>
                <a:cs typeface="Tahoma"/>
              </a:rPr>
              <a:t> </a:t>
            </a:r>
            <a:r>
              <a:rPr sz="3350" i="1" spc="-565" dirty="0">
                <a:latin typeface="Tahoma"/>
                <a:cs typeface="Tahoma"/>
              </a:rPr>
              <a:t>R</a:t>
            </a:r>
            <a:r>
              <a:rPr sz="3200" spc="-565" dirty="0">
                <a:latin typeface="Tahoma"/>
                <a:cs typeface="Tahoma"/>
              </a:rPr>
              <a:t>.</a:t>
            </a:r>
            <a:endParaRPr sz="3200" dirty="0">
              <a:latin typeface="Tahoma"/>
              <a:cs typeface="Tahoma"/>
            </a:endParaRPr>
          </a:p>
          <a:p>
            <a:pPr marL="594995" marR="5080" indent="-594995">
              <a:lnSpc>
                <a:spcPts val="3840"/>
              </a:lnSpc>
              <a:spcBef>
                <a:spcPts val="860"/>
              </a:spcBef>
              <a:buClr>
                <a:srgbClr val="CC00CC"/>
              </a:buClr>
              <a:buSzPct val="95522"/>
              <a:buFont typeface="Wingdings"/>
              <a:buChar char=""/>
              <a:tabLst>
                <a:tab pos="594995" algn="l"/>
                <a:tab pos="595630" algn="l"/>
              </a:tabLst>
            </a:pPr>
            <a:r>
              <a:rPr sz="3350" i="1" spc="-90" dirty="0">
                <a:latin typeface="Tahoma"/>
                <a:cs typeface="Tahoma"/>
              </a:rPr>
              <a:t>K </a:t>
            </a:r>
            <a:r>
              <a:rPr sz="3200" spc="-5" dirty="0">
                <a:latin typeface="Tahoma"/>
                <a:cs typeface="Tahoma"/>
              </a:rPr>
              <a:t>is </a:t>
            </a:r>
            <a:r>
              <a:rPr sz="3200" dirty="0">
                <a:latin typeface="Tahoma"/>
                <a:cs typeface="Tahoma"/>
              </a:rPr>
              <a:t>a </a:t>
            </a:r>
            <a:r>
              <a:rPr lang="en-US" altLang="zh-CN" sz="3600" dirty="0">
                <a:effectLst/>
              </a:rPr>
              <a:t>key </a:t>
            </a:r>
            <a:r>
              <a:rPr sz="3350" i="1" spc="-844" dirty="0">
                <a:solidFill>
                  <a:srgbClr val="FF0066"/>
                </a:solidFill>
                <a:latin typeface="Tahoma"/>
                <a:cs typeface="Tahoma"/>
              </a:rPr>
              <a:t> </a:t>
            </a:r>
            <a:r>
              <a:rPr sz="3200" spc="-15" dirty="0">
                <a:latin typeface="Tahoma"/>
                <a:cs typeface="Tahoma"/>
              </a:rPr>
              <a:t>for </a:t>
            </a:r>
            <a:r>
              <a:rPr sz="3350" i="1" spc="-90" dirty="0">
                <a:latin typeface="Tahoma"/>
                <a:cs typeface="Tahoma"/>
              </a:rPr>
              <a:t>R </a:t>
            </a:r>
            <a:r>
              <a:rPr sz="3200" dirty="0">
                <a:latin typeface="Tahoma"/>
                <a:cs typeface="Tahoma"/>
              </a:rPr>
              <a:t>if </a:t>
            </a:r>
            <a:r>
              <a:rPr sz="3350" i="1" spc="-90" dirty="0">
                <a:latin typeface="Tahoma"/>
                <a:cs typeface="Tahoma"/>
              </a:rPr>
              <a:t>K </a:t>
            </a:r>
            <a:r>
              <a:rPr sz="3200" spc="-5" dirty="0">
                <a:latin typeface="Tahoma"/>
                <a:cs typeface="Tahoma"/>
              </a:rPr>
              <a:t>is </a:t>
            </a:r>
            <a:r>
              <a:rPr sz="3200" dirty="0">
                <a:latin typeface="Tahoma"/>
                <a:cs typeface="Tahoma"/>
              </a:rPr>
              <a:t>a </a:t>
            </a:r>
            <a:r>
              <a:rPr sz="3200" spc="-40" dirty="0">
                <a:latin typeface="Tahoma"/>
                <a:cs typeface="Tahoma"/>
              </a:rPr>
              <a:t>superkey,  </a:t>
            </a:r>
            <a:r>
              <a:rPr sz="3200" spc="-5" dirty="0">
                <a:latin typeface="Tahoma"/>
                <a:cs typeface="Tahoma"/>
              </a:rPr>
              <a:t>but </a:t>
            </a:r>
            <a:r>
              <a:rPr sz="3200" dirty="0">
                <a:latin typeface="Tahoma"/>
                <a:cs typeface="Tahoma"/>
              </a:rPr>
              <a:t>no </a:t>
            </a:r>
            <a:r>
              <a:rPr sz="3200" spc="-5" dirty="0">
                <a:latin typeface="Tahoma"/>
                <a:cs typeface="Tahoma"/>
              </a:rPr>
              <a:t>proper subset of </a:t>
            </a:r>
            <a:r>
              <a:rPr sz="3350" i="1" spc="-90" dirty="0">
                <a:latin typeface="Tahoma"/>
                <a:cs typeface="Tahoma"/>
              </a:rPr>
              <a:t>K </a:t>
            </a:r>
            <a:r>
              <a:rPr sz="3200" spc="-5" dirty="0">
                <a:latin typeface="Tahoma"/>
                <a:cs typeface="Tahoma"/>
              </a:rPr>
              <a:t>is </a:t>
            </a:r>
            <a:r>
              <a:rPr sz="3200" dirty="0">
                <a:latin typeface="Tahoma"/>
                <a:cs typeface="Tahoma"/>
              </a:rPr>
              <a:t>a  </a:t>
            </a:r>
            <a:r>
              <a:rPr sz="3200" spc="-40" dirty="0">
                <a:latin typeface="Tahoma"/>
                <a:cs typeface="Tahoma"/>
              </a:rPr>
              <a:t>superkey.</a:t>
            </a:r>
            <a:endParaRPr sz="3200" dirty="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195195" y="829944"/>
            <a:ext cx="475361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>
                <a:solidFill>
                  <a:srgbClr val="33CC33"/>
                </a:solidFill>
              </a:rPr>
              <a:t>Example</a:t>
            </a:r>
            <a:r>
              <a:rPr spc="-5" dirty="0"/>
              <a:t>:</a:t>
            </a:r>
            <a:r>
              <a:rPr spc="-50" dirty="0"/>
              <a:t> </a:t>
            </a:r>
            <a:r>
              <a:rPr spc="-10" dirty="0"/>
              <a:t>Superkey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dirty="0"/>
              <a:t>7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764540" y="2012949"/>
            <a:ext cx="7082790" cy="35852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926465" marR="5080" indent="-914400">
              <a:lnSpc>
                <a:spcPct val="100000"/>
              </a:lnSpc>
              <a:spcBef>
                <a:spcPts val="105"/>
              </a:spcBef>
            </a:pPr>
            <a:r>
              <a:rPr sz="3200" spc="-5" dirty="0">
                <a:solidFill>
                  <a:srgbClr val="CC00CC"/>
                </a:solidFill>
                <a:latin typeface="Tahoma"/>
                <a:cs typeface="Tahoma"/>
              </a:rPr>
              <a:t>Drinkers(name, </a:t>
            </a:r>
            <a:r>
              <a:rPr sz="3200" spc="-90" dirty="0">
                <a:solidFill>
                  <a:srgbClr val="CC00CC"/>
                </a:solidFill>
                <a:latin typeface="Tahoma"/>
                <a:cs typeface="Tahoma"/>
              </a:rPr>
              <a:t>addr, </a:t>
            </a:r>
            <a:r>
              <a:rPr sz="3200" spc="-5" dirty="0">
                <a:solidFill>
                  <a:srgbClr val="CC00CC"/>
                </a:solidFill>
                <a:latin typeface="Tahoma"/>
                <a:cs typeface="Tahoma"/>
              </a:rPr>
              <a:t>beersLiked, </a:t>
            </a:r>
            <a:r>
              <a:rPr sz="3200" spc="-50" dirty="0">
                <a:solidFill>
                  <a:srgbClr val="CC00CC"/>
                </a:solidFill>
                <a:latin typeface="Tahoma"/>
                <a:cs typeface="Tahoma"/>
              </a:rPr>
              <a:t>manf,  </a:t>
            </a:r>
            <a:r>
              <a:rPr sz="3200" spc="-10" dirty="0">
                <a:solidFill>
                  <a:srgbClr val="CC00CC"/>
                </a:solidFill>
                <a:latin typeface="Tahoma"/>
                <a:cs typeface="Tahoma"/>
              </a:rPr>
              <a:t>favBeer)</a:t>
            </a:r>
            <a:endParaRPr sz="3200" dirty="0">
              <a:latin typeface="Tahoma"/>
              <a:cs typeface="Tahoma"/>
            </a:endParaRPr>
          </a:p>
          <a:p>
            <a:pPr marL="355600" marR="505459" indent="-342900">
              <a:lnSpc>
                <a:spcPct val="100000"/>
              </a:lnSpc>
              <a:spcBef>
                <a:spcPts val="765"/>
              </a:spcBef>
              <a:buClr>
                <a:srgbClr val="CC00CC"/>
              </a:buClr>
              <a:buFont typeface="Wingdings"/>
              <a:buChar char=""/>
              <a:tabLst>
                <a:tab pos="540385" algn="l"/>
              </a:tabLst>
            </a:pPr>
            <a:r>
              <a:rPr sz="3200" spc="-5" dirty="0">
                <a:solidFill>
                  <a:srgbClr val="33CC33"/>
                </a:solidFill>
                <a:latin typeface="Tahoma"/>
                <a:cs typeface="Tahoma"/>
              </a:rPr>
              <a:t>{name, beersLiked} </a:t>
            </a:r>
            <a:r>
              <a:rPr sz="3200" spc="-5" dirty="0">
                <a:latin typeface="Tahoma"/>
                <a:cs typeface="Tahoma"/>
              </a:rPr>
              <a:t>is </a:t>
            </a:r>
            <a:r>
              <a:rPr sz="3200" dirty="0">
                <a:latin typeface="Tahoma"/>
                <a:cs typeface="Tahoma"/>
              </a:rPr>
              <a:t>a </a:t>
            </a:r>
            <a:r>
              <a:rPr sz="3200" spc="-5" dirty="0">
                <a:latin typeface="Tahoma"/>
                <a:cs typeface="Tahoma"/>
              </a:rPr>
              <a:t>superkey  because together these attributes  determine </a:t>
            </a:r>
            <a:r>
              <a:rPr sz="3200" dirty="0">
                <a:latin typeface="Tahoma"/>
                <a:cs typeface="Tahoma"/>
              </a:rPr>
              <a:t>all </a:t>
            </a:r>
            <a:r>
              <a:rPr sz="3200" spc="-5" dirty="0">
                <a:latin typeface="Tahoma"/>
                <a:cs typeface="Tahoma"/>
              </a:rPr>
              <a:t>the other</a:t>
            </a:r>
            <a:r>
              <a:rPr sz="3200" spc="-30" dirty="0">
                <a:latin typeface="Tahoma"/>
                <a:cs typeface="Tahoma"/>
              </a:rPr>
              <a:t> </a:t>
            </a:r>
            <a:r>
              <a:rPr sz="3200" spc="-5" dirty="0">
                <a:latin typeface="Tahoma"/>
                <a:cs typeface="Tahoma"/>
              </a:rPr>
              <a:t>attributes.</a:t>
            </a:r>
            <a:endParaRPr sz="3200" dirty="0">
              <a:latin typeface="Tahoma"/>
              <a:cs typeface="Tahoma"/>
            </a:endParaRPr>
          </a:p>
          <a:p>
            <a:pPr marL="755650" lvl="1" indent="-285750">
              <a:lnSpc>
                <a:spcPct val="100000"/>
              </a:lnSpc>
              <a:spcBef>
                <a:spcPts val="670"/>
              </a:spcBef>
              <a:buClr>
                <a:srgbClr val="CC00CC"/>
              </a:buClr>
              <a:buFont typeface="Wingdings"/>
              <a:buChar char=""/>
              <a:tabLst>
                <a:tab pos="755650" algn="l"/>
              </a:tabLst>
            </a:pPr>
            <a:r>
              <a:rPr sz="2800" spc="-5" dirty="0">
                <a:solidFill>
                  <a:srgbClr val="00CC99"/>
                </a:solidFill>
                <a:latin typeface="Tahoma"/>
                <a:cs typeface="Tahoma"/>
              </a:rPr>
              <a:t>name </a:t>
            </a:r>
            <a:r>
              <a:rPr sz="2800" spc="-10" dirty="0">
                <a:solidFill>
                  <a:srgbClr val="00CC99"/>
                </a:solidFill>
                <a:latin typeface="Tahoma"/>
                <a:cs typeface="Tahoma"/>
              </a:rPr>
              <a:t>-&gt; </a:t>
            </a:r>
            <a:r>
              <a:rPr sz="2800" dirty="0">
                <a:solidFill>
                  <a:srgbClr val="00CC99"/>
                </a:solidFill>
                <a:latin typeface="Tahoma"/>
                <a:cs typeface="Tahoma"/>
              </a:rPr>
              <a:t>addr</a:t>
            </a:r>
            <a:r>
              <a:rPr sz="2800" spc="5" dirty="0">
                <a:solidFill>
                  <a:srgbClr val="00CC99"/>
                </a:solidFill>
                <a:latin typeface="Tahoma"/>
                <a:cs typeface="Tahoma"/>
              </a:rPr>
              <a:t> </a:t>
            </a:r>
            <a:r>
              <a:rPr sz="2800" spc="-10" dirty="0">
                <a:solidFill>
                  <a:srgbClr val="00CC99"/>
                </a:solidFill>
                <a:latin typeface="Tahoma"/>
                <a:cs typeface="Tahoma"/>
              </a:rPr>
              <a:t>favBeer</a:t>
            </a:r>
            <a:endParaRPr sz="2800" dirty="0">
              <a:latin typeface="Tahoma"/>
              <a:cs typeface="Tahoma"/>
            </a:endParaRPr>
          </a:p>
          <a:p>
            <a:pPr marL="755650" lvl="1" indent="-285750">
              <a:lnSpc>
                <a:spcPct val="100000"/>
              </a:lnSpc>
              <a:spcBef>
                <a:spcPts val="670"/>
              </a:spcBef>
              <a:buClr>
                <a:srgbClr val="CC00CC"/>
              </a:buClr>
              <a:buFont typeface="Wingdings"/>
              <a:buChar char=""/>
              <a:tabLst>
                <a:tab pos="755650" algn="l"/>
              </a:tabLst>
            </a:pPr>
            <a:r>
              <a:rPr sz="2800" spc="-5" dirty="0">
                <a:solidFill>
                  <a:srgbClr val="00CC99"/>
                </a:solidFill>
                <a:latin typeface="Tahoma"/>
                <a:cs typeface="Tahoma"/>
              </a:rPr>
              <a:t>beersLiked </a:t>
            </a:r>
            <a:r>
              <a:rPr sz="2800" spc="-10" dirty="0">
                <a:solidFill>
                  <a:srgbClr val="00CC99"/>
                </a:solidFill>
                <a:latin typeface="Tahoma"/>
                <a:cs typeface="Tahoma"/>
              </a:rPr>
              <a:t>-&gt;</a:t>
            </a:r>
            <a:r>
              <a:rPr sz="2800" spc="5" dirty="0">
                <a:solidFill>
                  <a:srgbClr val="00CC99"/>
                </a:solidFill>
                <a:latin typeface="Tahoma"/>
                <a:cs typeface="Tahoma"/>
              </a:rPr>
              <a:t> </a:t>
            </a:r>
            <a:r>
              <a:rPr sz="2800" spc="-5" dirty="0">
                <a:solidFill>
                  <a:srgbClr val="00CC99"/>
                </a:solidFill>
                <a:latin typeface="Tahoma"/>
                <a:cs typeface="Tahoma"/>
              </a:rPr>
              <a:t>manf</a:t>
            </a:r>
            <a:endParaRPr sz="2800" dirty="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889250" y="829944"/>
            <a:ext cx="336613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>
                <a:solidFill>
                  <a:srgbClr val="33CC33"/>
                </a:solidFill>
              </a:rPr>
              <a:t>Example</a:t>
            </a:r>
            <a:r>
              <a:rPr spc="-5" dirty="0"/>
              <a:t>:</a:t>
            </a:r>
            <a:r>
              <a:rPr spc="-70" dirty="0"/>
              <a:t> </a:t>
            </a:r>
            <a:r>
              <a:rPr spc="-45" dirty="0"/>
              <a:t>Key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dirty="0"/>
              <a:t>8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764540" y="2012949"/>
            <a:ext cx="7447280" cy="401192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402590" indent="-342900" algn="just">
              <a:lnSpc>
                <a:spcPct val="100000"/>
              </a:lnSpc>
              <a:spcBef>
                <a:spcPts val="105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spc="-5" dirty="0">
                <a:solidFill>
                  <a:srgbClr val="33CC33"/>
                </a:solidFill>
                <a:latin typeface="Tahoma"/>
                <a:cs typeface="Tahoma"/>
              </a:rPr>
              <a:t>{name, beersLiked} </a:t>
            </a:r>
            <a:r>
              <a:rPr sz="3200" spc="-5" dirty="0">
                <a:latin typeface="Tahoma"/>
                <a:cs typeface="Tahoma"/>
              </a:rPr>
              <a:t>is </a:t>
            </a:r>
            <a:r>
              <a:rPr sz="3200" dirty="0">
                <a:latin typeface="Tahoma"/>
                <a:cs typeface="Tahoma"/>
              </a:rPr>
              <a:t>a </a:t>
            </a:r>
            <a:r>
              <a:rPr sz="3200" spc="-15" dirty="0">
                <a:solidFill>
                  <a:srgbClr val="FF0066"/>
                </a:solidFill>
                <a:latin typeface="Tahoma"/>
                <a:cs typeface="Tahoma"/>
              </a:rPr>
              <a:t>key </a:t>
            </a:r>
            <a:r>
              <a:rPr sz="3200" spc="-5" dirty="0">
                <a:latin typeface="Tahoma"/>
                <a:cs typeface="Tahoma"/>
              </a:rPr>
              <a:t>because  neither </a:t>
            </a:r>
            <a:r>
              <a:rPr sz="3200" spc="-5" dirty="0">
                <a:solidFill>
                  <a:srgbClr val="33CC33"/>
                </a:solidFill>
                <a:latin typeface="Tahoma"/>
                <a:cs typeface="Tahoma"/>
              </a:rPr>
              <a:t>{name} </a:t>
            </a:r>
            <a:r>
              <a:rPr sz="3200" spc="-5" dirty="0">
                <a:latin typeface="Tahoma"/>
                <a:cs typeface="Tahoma"/>
              </a:rPr>
              <a:t>nor </a:t>
            </a:r>
            <a:r>
              <a:rPr sz="3200" spc="-5" dirty="0">
                <a:solidFill>
                  <a:srgbClr val="33CC33"/>
                </a:solidFill>
                <a:latin typeface="Tahoma"/>
                <a:cs typeface="Tahoma"/>
              </a:rPr>
              <a:t>{beersLiked} </a:t>
            </a:r>
            <a:r>
              <a:rPr sz="3200" spc="-5" dirty="0">
                <a:latin typeface="Tahoma"/>
                <a:cs typeface="Tahoma"/>
              </a:rPr>
              <a:t>is </a:t>
            </a:r>
            <a:r>
              <a:rPr sz="3200" dirty="0">
                <a:latin typeface="Tahoma"/>
                <a:cs typeface="Tahoma"/>
              </a:rPr>
              <a:t>a  </a:t>
            </a:r>
            <a:r>
              <a:rPr sz="3200" spc="-40" dirty="0">
                <a:latin typeface="Tahoma"/>
                <a:cs typeface="Tahoma"/>
              </a:rPr>
              <a:t>superkey.</a:t>
            </a:r>
            <a:endParaRPr sz="3200" dirty="0">
              <a:latin typeface="Tahoma"/>
              <a:cs typeface="Tahoma"/>
            </a:endParaRPr>
          </a:p>
          <a:p>
            <a:pPr marL="755650" lvl="1" indent="-285750" algn="just">
              <a:lnSpc>
                <a:spcPct val="100000"/>
              </a:lnSpc>
              <a:spcBef>
                <a:spcPts val="670"/>
              </a:spcBef>
              <a:buClr>
                <a:srgbClr val="CC00CC"/>
              </a:buClr>
              <a:buFont typeface="Wingdings"/>
              <a:buChar char=""/>
              <a:tabLst>
                <a:tab pos="755650" algn="l"/>
              </a:tabLst>
            </a:pPr>
            <a:r>
              <a:rPr sz="2800" spc="-5" dirty="0">
                <a:solidFill>
                  <a:srgbClr val="00CC99"/>
                </a:solidFill>
                <a:latin typeface="Tahoma"/>
                <a:cs typeface="Tahoma"/>
              </a:rPr>
              <a:t>name </a:t>
            </a:r>
            <a:r>
              <a:rPr sz="2800" spc="5" dirty="0">
                <a:latin typeface="Tahoma"/>
                <a:cs typeface="Tahoma"/>
              </a:rPr>
              <a:t>doesn’t </a:t>
            </a:r>
            <a:r>
              <a:rPr sz="2800" spc="-10" dirty="0">
                <a:solidFill>
                  <a:srgbClr val="00CC99"/>
                </a:solidFill>
                <a:latin typeface="Tahoma"/>
                <a:cs typeface="Tahoma"/>
              </a:rPr>
              <a:t>-&gt; </a:t>
            </a:r>
            <a:r>
              <a:rPr sz="2800" spc="-5" dirty="0">
                <a:solidFill>
                  <a:srgbClr val="00CC99"/>
                </a:solidFill>
                <a:latin typeface="Tahoma"/>
                <a:cs typeface="Tahoma"/>
              </a:rPr>
              <a:t>manf</a:t>
            </a:r>
            <a:r>
              <a:rPr sz="2800" spc="-5" dirty="0">
                <a:latin typeface="Tahoma"/>
                <a:cs typeface="Tahoma"/>
              </a:rPr>
              <a:t>; </a:t>
            </a:r>
            <a:r>
              <a:rPr sz="2800" spc="-5" dirty="0">
                <a:solidFill>
                  <a:srgbClr val="00CC99"/>
                </a:solidFill>
                <a:latin typeface="Tahoma"/>
                <a:cs typeface="Tahoma"/>
              </a:rPr>
              <a:t>beersLiked</a:t>
            </a:r>
            <a:r>
              <a:rPr sz="2800" spc="-35" dirty="0">
                <a:solidFill>
                  <a:srgbClr val="00CC99"/>
                </a:solidFill>
                <a:latin typeface="Tahoma"/>
                <a:cs typeface="Tahoma"/>
              </a:rPr>
              <a:t> </a:t>
            </a:r>
            <a:r>
              <a:rPr sz="2800" spc="5" dirty="0">
                <a:latin typeface="Tahoma"/>
                <a:cs typeface="Tahoma"/>
              </a:rPr>
              <a:t>doesn’t</a:t>
            </a:r>
            <a:endParaRPr sz="2800" dirty="0">
              <a:latin typeface="Tahoma"/>
              <a:cs typeface="Tahoma"/>
            </a:endParaRPr>
          </a:p>
          <a:p>
            <a:pPr marL="755650" algn="just">
              <a:lnSpc>
                <a:spcPct val="100000"/>
              </a:lnSpc>
            </a:pPr>
            <a:r>
              <a:rPr sz="2800" spc="-10" dirty="0">
                <a:solidFill>
                  <a:srgbClr val="00CC99"/>
                </a:solidFill>
                <a:latin typeface="Tahoma"/>
                <a:cs typeface="Tahoma"/>
              </a:rPr>
              <a:t>-&gt;</a:t>
            </a:r>
            <a:r>
              <a:rPr sz="2800" spc="-5" dirty="0">
                <a:solidFill>
                  <a:srgbClr val="00CC99"/>
                </a:solidFill>
                <a:latin typeface="Tahoma"/>
                <a:cs typeface="Tahoma"/>
              </a:rPr>
              <a:t> addr</a:t>
            </a:r>
            <a:r>
              <a:rPr sz="2800" spc="-5" dirty="0">
                <a:latin typeface="Tahoma"/>
                <a:cs typeface="Tahoma"/>
              </a:rPr>
              <a:t>.</a:t>
            </a:r>
            <a:endParaRPr sz="2800" dirty="0">
              <a:latin typeface="Tahoma"/>
              <a:cs typeface="Tahoma"/>
            </a:endParaRPr>
          </a:p>
          <a:p>
            <a:pPr marL="355600" marR="647700" indent="-342900" algn="just">
              <a:lnSpc>
                <a:spcPct val="100000"/>
              </a:lnSpc>
              <a:spcBef>
                <a:spcPts val="765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spc="-5" dirty="0">
                <a:latin typeface="Tahoma"/>
                <a:cs typeface="Tahoma"/>
              </a:rPr>
              <a:t>There </a:t>
            </a:r>
            <a:r>
              <a:rPr sz="3200" spc="-10" dirty="0">
                <a:latin typeface="Tahoma"/>
                <a:cs typeface="Tahoma"/>
              </a:rPr>
              <a:t>are </a:t>
            </a:r>
            <a:r>
              <a:rPr sz="3200" dirty="0">
                <a:latin typeface="Tahoma"/>
                <a:cs typeface="Tahoma"/>
              </a:rPr>
              <a:t>no </a:t>
            </a:r>
            <a:r>
              <a:rPr sz="3200" spc="-5" dirty="0">
                <a:latin typeface="Tahoma"/>
                <a:cs typeface="Tahoma"/>
              </a:rPr>
              <a:t>other </a:t>
            </a:r>
            <a:r>
              <a:rPr sz="3200" spc="-10" dirty="0">
                <a:latin typeface="Tahoma"/>
                <a:cs typeface="Tahoma"/>
              </a:rPr>
              <a:t>keys, </a:t>
            </a:r>
            <a:r>
              <a:rPr sz="3200" spc="-5" dirty="0">
                <a:latin typeface="Tahoma"/>
                <a:cs typeface="Tahoma"/>
              </a:rPr>
              <a:t>but lots of  superkeys.</a:t>
            </a:r>
            <a:endParaRPr sz="3200" dirty="0">
              <a:latin typeface="Tahoma"/>
              <a:cs typeface="Tahoma"/>
            </a:endParaRPr>
          </a:p>
          <a:p>
            <a:pPr marL="755650" lvl="1" indent="-285750" algn="just">
              <a:lnSpc>
                <a:spcPct val="100000"/>
              </a:lnSpc>
              <a:spcBef>
                <a:spcPts val="670"/>
              </a:spcBef>
              <a:buClr>
                <a:srgbClr val="CC00CC"/>
              </a:buClr>
              <a:buFont typeface="Wingdings"/>
              <a:buChar char=""/>
              <a:tabLst>
                <a:tab pos="755650" algn="l"/>
              </a:tabLst>
            </a:pPr>
            <a:r>
              <a:rPr sz="2800" spc="-15" dirty="0">
                <a:latin typeface="Tahoma"/>
                <a:cs typeface="Tahoma"/>
              </a:rPr>
              <a:t>Any </a:t>
            </a:r>
            <a:r>
              <a:rPr sz="2800" spc="-5" dirty="0">
                <a:latin typeface="Tahoma"/>
                <a:cs typeface="Tahoma"/>
              </a:rPr>
              <a:t>superset of </a:t>
            </a:r>
            <a:r>
              <a:rPr sz="2800" spc="-5" dirty="0">
                <a:solidFill>
                  <a:srgbClr val="33CC33"/>
                </a:solidFill>
                <a:latin typeface="Tahoma"/>
                <a:cs typeface="Tahoma"/>
              </a:rPr>
              <a:t>{name,</a:t>
            </a:r>
            <a:r>
              <a:rPr sz="2800" spc="15" dirty="0">
                <a:solidFill>
                  <a:srgbClr val="33CC33"/>
                </a:solidFill>
                <a:latin typeface="Tahoma"/>
                <a:cs typeface="Tahoma"/>
              </a:rPr>
              <a:t> </a:t>
            </a:r>
            <a:r>
              <a:rPr sz="2800" spc="-5" dirty="0">
                <a:solidFill>
                  <a:srgbClr val="33CC33"/>
                </a:solidFill>
                <a:latin typeface="Tahoma"/>
                <a:cs typeface="Tahoma"/>
              </a:rPr>
              <a:t>beersLiked}</a:t>
            </a:r>
            <a:r>
              <a:rPr sz="2800" spc="-5" dirty="0">
                <a:latin typeface="Tahoma"/>
                <a:cs typeface="Tahoma"/>
              </a:rPr>
              <a:t>.</a:t>
            </a:r>
            <a:endParaRPr sz="2800" dirty="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35685" y="829944"/>
            <a:ext cx="707326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Where </a:t>
            </a:r>
            <a:r>
              <a:rPr dirty="0"/>
              <a:t>Do </a:t>
            </a:r>
            <a:r>
              <a:rPr spc="-35" dirty="0"/>
              <a:t>Keys </a:t>
            </a:r>
            <a:r>
              <a:rPr spc="-5" dirty="0"/>
              <a:t>Come</a:t>
            </a:r>
            <a:r>
              <a:rPr spc="-10" dirty="0"/>
              <a:t> From?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dirty="0"/>
              <a:t>9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762000" y="1905000"/>
            <a:ext cx="6998334" cy="2618740"/>
          </a:xfrm>
          <a:prstGeom prst="rect">
            <a:avLst/>
          </a:prstGeom>
        </p:spPr>
        <p:txBody>
          <a:bodyPr vert="horz" wrap="square" lIns="0" tIns="87630" rIns="0" bIns="0" rtlCol="0">
            <a:spAutoFit/>
          </a:bodyPr>
          <a:lstStyle/>
          <a:p>
            <a:pPr marL="622300" indent="-609600">
              <a:lnSpc>
                <a:spcPct val="100000"/>
              </a:lnSpc>
              <a:spcBef>
                <a:spcPts val="690"/>
              </a:spcBef>
              <a:buClr>
                <a:srgbClr val="CC00CC"/>
              </a:buClr>
              <a:buAutoNum type="arabicPeriod"/>
              <a:tabLst>
                <a:tab pos="621665" algn="l"/>
                <a:tab pos="622300" algn="l"/>
              </a:tabLst>
            </a:pPr>
            <a:r>
              <a:rPr sz="3200" spc="-5" dirty="0">
                <a:latin typeface="Tahoma"/>
                <a:cs typeface="Tahoma"/>
              </a:rPr>
              <a:t>Just assert </a:t>
            </a:r>
            <a:r>
              <a:rPr sz="3200" dirty="0">
                <a:latin typeface="Tahoma"/>
                <a:cs typeface="Tahoma"/>
              </a:rPr>
              <a:t>a </a:t>
            </a:r>
            <a:r>
              <a:rPr sz="3200" spc="-15" dirty="0">
                <a:latin typeface="Tahoma"/>
                <a:cs typeface="Tahoma"/>
              </a:rPr>
              <a:t>key</a:t>
            </a:r>
            <a:r>
              <a:rPr sz="3200" spc="-229" dirty="0">
                <a:latin typeface="Tahoma"/>
                <a:cs typeface="Tahoma"/>
              </a:rPr>
              <a:t> </a:t>
            </a:r>
            <a:r>
              <a:rPr sz="3350" i="1" spc="-560" dirty="0">
                <a:latin typeface="Tahoma"/>
                <a:cs typeface="Tahoma"/>
              </a:rPr>
              <a:t>K</a:t>
            </a:r>
            <a:r>
              <a:rPr sz="3200" spc="-560" dirty="0">
                <a:latin typeface="Tahoma"/>
                <a:cs typeface="Tahoma"/>
              </a:rPr>
              <a:t>.</a:t>
            </a:r>
            <a:endParaRPr sz="3200" dirty="0">
              <a:latin typeface="Tahoma"/>
              <a:cs typeface="Tahoma"/>
            </a:endParaRPr>
          </a:p>
          <a:p>
            <a:pPr marL="1002665" marR="1005205" lvl="1" indent="-533400">
              <a:lnSpc>
                <a:spcPts val="3360"/>
              </a:lnSpc>
              <a:spcBef>
                <a:spcPts val="750"/>
              </a:spcBef>
              <a:buClr>
                <a:srgbClr val="CC00CC"/>
              </a:buClr>
              <a:buFont typeface="Wingdings"/>
              <a:buChar char=""/>
              <a:tabLst>
                <a:tab pos="1002665" algn="l"/>
                <a:tab pos="1003300" algn="l"/>
              </a:tabLst>
            </a:pPr>
            <a:r>
              <a:rPr sz="2800" spc="-5" dirty="0">
                <a:latin typeface="Tahoma"/>
                <a:cs typeface="Tahoma"/>
              </a:rPr>
              <a:t>The only </a:t>
            </a:r>
            <a:r>
              <a:rPr sz="2800" spc="-30" dirty="0">
                <a:latin typeface="Tahoma"/>
                <a:cs typeface="Tahoma"/>
              </a:rPr>
              <a:t>FD’s </a:t>
            </a:r>
            <a:r>
              <a:rPr sz="2800" spc="-10" dirty="0">
                <a:latin typeface="Tahoma"/>
                <a:cs typeface="Tahoma"/>
              </a:rPr>
              <a:t>are </a:t>
            </a:r>
            <a:r>
              <a:rPr sz="2900" i="1" spc="-35" dirty="0">
                <a:solidFill>
                  <a:srgbClr val="00CC99"/>
                </a:solidFill>
                <a:latin typeface="Tahoma"/>
                <a:cs typeface="Tahoma"/>
              </a:rPr>
              <a:t>K</a:t>
            </a:r>
            <a:r>
              <a:rPr sz="2800" spc="-35" dirty="0">
                <a:solidFill>
                  <a:srgbClr val="00CC99"/>
                </a:solidFill>
                <a:latin typeface="Tahoma"/>
                <a:cs typeface="Tahoma"/>
              </a:rPr>
              <a:t>-&gt; </a:t>
            </a:r>
            <a:r>
              <a:rPr sz="2900" i="1" spc="-65" dirty="0">
                <a:solidFill>
                  <a:srgbClr val="00CC99"/>
                </a:solidFill>
                <a:latin typeface="Tahoma"/>
                <a:cs typeface="Tahoma"/>
              </a:rPr>
              <a:t>A </a:t>
            </a:r>
            <a:r>
              <a:rPr sz="2800" spc="-15" dirty="0">
                <a:latin typeface="Tahoma"/>
                <a:cs typeface="Tahoma"/>
              </a:rPr>
              <a:t>for </a:t>
            </a:r>
            <a:r>
              <a:rPr sz="2800" dirty="0">
                <a:latin typeface="Tahoma"/>
                <a:cs typeface="Tahoma"/>
              </a:rPr>
              <a:t>all  </a:t>
            </a:r>
            <a:r>
              <a:rPr sz="2800" spc="-5" dirty="0">
                <a:latin typeface="Tahoma"/>
                <a:cs typeface="Tahoma"/>
              </a:rPr>
              <a:t>attributes</a:t>
            </a:r>
            <a:r>
              <a:rPr sz="2800" spc="-190" dirty="0">
                <a:latin typeface="Tahoma"/>
                <a:cs typeface="Tahoma"/>
              </a:rPr>
              <a:t> </a:t>
            </a:r>
            <a:r>
              <a:rPr sz="2900" i="1" spc="-590" dirty="0">
                <a:latin typeface="Tahoma"/>
                <a:cs typeface="Tahoma"/>
              </a:rPr>
              <a:t>A.</a:t>
            </a:r>
            <a:endParaRPr sz="2900" dirty="0">
              <a:latin typeface="Tahoma"/>
              <a:cs typeface="Tahoma"/>
            </a:endParaRPr>
          </a:p>
          <a:p>
            <a:pPr marL="622300" marR="5080" indent="-609600">
              <a:lnSpc>
                <a:spcPct val="100000"/>
              </a:lnSpc>
              <a:spcBef>
                <a:spcPts val="655"/>
              </a:spcBef>
              <a:buClr>
                <a:srgbClr val="CC00CC"/>
              </a:buClr>
              <a:buAutoNum type="arabicPeriod"/>
              <a:tabLst>
                <a:tab pos="621665" algn="l"/>
                <a:tab pos="622300" algn="l"/>
              </a:tabLst>
            </a:pPr>
            <a:r>
              <a:rPr sz="3200" spc="-5" dirty="0">
                <a:latin typeface="Tahoma"/>
                <a:cs typeface="Tahoma"/>
              </a:rPr>
              <a:t>Assert </a:t>
            </a:r>
            <a:r>
              <a:rPr sz="3200" spc="-30" dirty="0">
                <a:latin typeface="Tahoma"/>
                <a:cs typeface="Tahoma"/>
              </a:rPr>
              <a:t>FD’s </a:t>
            </a:r>
            <a:r>
              <a:rPr sz="3200" spc="-5" dirty="0">
                <a:latin typeface="Tahoma"/>
                <a:cs typeface="Tahoma"/>
              </a:rPr>
              <a:t>and deduce the </a:t>
            </a:r>
            <a:r>
              <a:rPr sz="3200" spc="-10" dirty="0">
                <a:latin typeface="Tahoma"/>
                <a:cs typeface="Tahoma"/>
              </a:rPr>
              <a:t>keys </a:t>
            </a:r>
            <a:r>
              <a:rPr sz="3200" spc="-5" dirty="0">
                <a:latin typeface="Tahoma"/>
                <a:cs typeface="Tahoma"/>
              </a:rPr>
              <a:t>by  systematic</a:t>
            </a:r>
            <a:r>
              <a:rPr sz="3200" spc="-10" dirty="0">
                <a:latin typeface="Tahoma"/>
                <a:cs typeface="Tahoma"/>
              </a:rPr>
              <a:t> exploration.</a:t>
            </a:r>
            <a:endParaRPr sz="3200" dirty="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430655" y="829944"/>
            <a:ext cx="628332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More </a:t>
            </a:r>
            <a:r>
              <a:rPr spc="-40" dirty="0"/>
              <a:t>FD’s </a:t>
            </a:r>
            <a:r>
              <a:rPr spc="-10" dirty="0"/>
              <a:t>From</a:t>
            </a:r>
            <a:r>
              <a:rPr spc="-5" dirty="0"/>
              <a:t> </a:t>
            </a:r>
            <a:r>
              <a:rPr spc="-10" dirty="0"/>
              <a:t>“Physics”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dirty="0"/>
              <a:t>10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764540" y="2012949"/>
            <a:ext cx="7328534" cy="14897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5080" indent="-342900" algn="just">
              <a:lnSpc>
                <a:spcPct val="100000"/>
              </a:lnSpc>
              <a:spcBef>
                <a:spcPts val="105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spc="-5" dirty="0">
                <a:solidFill>
                  <a:srgbClr val="33CC33"/>
                </a:solidFill>
                <a:latin typeface="Tahoma"/>
                <a:cs typeface="Tahoma"/>
              </a:rPr>
              <a:t>Example</a:t>
            </a:r>
            <a:r>
              <a:rPr sz="3200" spc="-5" dirty="0">
                <a:latin typeface="Tahoma"/>
                <a:cs typeface="Tahoma"/>
              </a:rPr>
              <a:t>: “no two courses can meet in  the same room at the same time” tells  us: </a:t>
            </a:r>
            <a:r>
              <a:rPr sz="3200" spc="-5" dirty="0">
                <a:solidFill>
                  <a:srgbClr val="00CC99"/>
                </a:solidFill>
                <a:latin typeface="Tahoma"/>
                <a:cs typeface="Tahoma"/>
              </a:rPr>
              <a:t>hour room </a:t>
            </a:r>
            <a:r>
              <a:rPr sz="3200" dirty="0">
                <a:solidFill>
                  <a:srgbClr val="00CC99"/>
                </a:solidFill>
                <a:latin typeface="Tahoma"/>
                <a:cs typeface="Tahoma"/>
              </a:rPr>
              <a:t>-&gt;</a:t>
            </a:r>
            <a:r>
              <a:rPr sz="3200" spc="-10" dirty="0">
                <a:solidFill>
                  <a:srgbClr val="00CC99"/>
                </a:solidFill>
                <a:latin typeface="Tahoma"/>
                <a:cs typeface="Tahoma"/>
              </a:rPr>
              <a:t> </a:t>
            </a:r>
            <a:r>
              <a:rPr sz="3200" spc="-5" dirty="0">
                <a:solidFill>
                  <a:srgbClr val="00CC99"/>
                </a:solidFill>
                <a:latin typeface="Tahoma"/>
                <a:cs typeface="Tahoma"/>
              </a:rPr>
              <a:t>course</a:t>
            </a:r>
            <a:r>
              <a:rPr sz="3200" spc="-5" dirty="0">
                <a:latin typeface="Tahoma"/>
                <a:cs typeface="Tahoma"/>
              </a:rPr>
              <a:t>.</a:t>
            </a:r>
            <a:endParaRPr sz="3200" dirty="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027555" y="609600"/>
            <a:ext cx="4876800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5" dirty="0"/>
              <a:t>Inferring</a:t>
            </a:r>
            <a:r>
              <a:rPr lang="zh-CN" altLang="en-US" spc="-15" dirty="0"/>
              <a:t>推断</a:t>
            </a:r>
            <a:r>
              <a:rPr spc="-50" dirty="0"/>
              <a:t> </a:t>
            </a:r>
            <a:r>
              <a:rPr spc="-40" dirty="0"/>
              <a:t>FD’s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dirty="0"/>
              <a:t>11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599440" y="1992617"/>
            <a:ext cx="7733030" cy="3997248"/>
          </a:xfrm>
          <a:prstGeom prst="rect">
            <a:avLst/>
          </a:prstGeom>
        </p:spPr>
        <p:txBody>
          <a:bodyPr vert="horz" wrap="square" lIns="0" tIns="49530" rIns="0" bIns="0" rtlCol="0">
            <a:spAutoFit/>
          </a:bodyPr>
          <a:lstStyle/>
          <a:p>
            <a:pPr marL="340995" marR="87630" indent="-316230">
              <a:lnSpc>
                <a:spcPts val="3840"/>
              </a:lnSpc>
              <a:spcBef>
                <a:spcPts val="390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27990" algn="l"/>
                <a:tab pos="4276090" algn="l"/>
                <a:tab pos="5992495" algn="l"/>
              </a:tabLst>
            </a:pPr>
            <a:r>
              <a:rPr sz="3200" spc="-65" dirty="0">
                <a:latin typeface="Tahoma"/>
                <a:cs typeface="Tahoma"/>
              </a:rPr>
              <a:t>We </a:t>
            </a:r>
            <a:r>
              <a:rPr sz="3200" spc="-10" dirty="0">
                <a:latin typeface="Tahoma"/>
                <a:cs typeface="Tahoma"/>
              </a:rPr>
              <a:t>are given</a:t>
            </a:r>
            <a:r>
              <a:rPr sz="3200" spc="95" dirty="0">
                <a:latin typeface="Tahoma"/>
                <a:cs typeface="Tahoma"/>
              </a:rPr>
              <a:t> </a:t>
            </a:r>
            <a:r>
              <a:rPr sz="3200" spc="-30" dirty="0">
                <a:latin typeface="Tahoma"/>
                <a:cs typeface="Tahoma"/>
              </a:rPr>
              <a:t>FD’s</a:t>
            </a:r>
            <a:r>
              <a:rPr sz="3200" spc="-204" dirty="0">
                <a:latin typeface="Tahoma"/>
                <a:cs typeface="Tahoma"/>
              </a:rPr>
              <a:t> </a:t>
            </a:r>
            <a:r>
              <a:rPr sz="3350" i="1" spc="-555" dirty="0">
                <a:solidFill>
                  <a:srgbClr val="00CC99"/>
                </a:solidFill>
                <a:latin typeface="Tahoma"/>
                <a:cs typeface="Tahoma"/>
              </a:rPr>
              <a:t>X</a:t>
            </a:r>
            <a:r>
              <a:rPr sz="3075" spc="-832" baseline="-17615" dirty="0">
                <a:solidFill>
                  <a:srgbClr val="00CC99"/>
                </a:solidFill>
                <a:latin typeface="Tahoma"/>
                <a:cs typeface="Tahoma"/>
              </a:rPr>
              <a:t>1	</a:t>
            </a:r>
            <a:r>
              <a:rPr sz="3200" dirty="0">
                <a:solidFill>
                  <a:srgbClr val="00CC99"/>
                </a:solidFill>
                <a:latin typeface="Tahoma"/>
                <a:cs typeface="Tahoma"/>
              </a:rPr>
              <a:t>-&gt;</a:t>
            </a:r>
            <a:r>
              <a:rPr sz="3200" spc="-210" dirty="0">
                <a:solidFill>
                  <a:srgbClr val="00CC99"/>
                </a:solidFill>
                <a:latin typeface="Tahoma"/>
                <a:cs typeface="Tahoma"/>
              </a:rPr>
              <a:t> </a:t>
            </a:r>
            <a:r>
              <a:rPr sz="3350" i="1" spc="-370" dirty="0">
                <a:solidFill>
                  <a:srgbClr val="00CC99"/>
                </a:solidFill>
                <a:latin typeface="Tahoma"/>
                <a:cs typeface="Tahoma"/>
              </a:rPr>
              <a:t>A</a:t>
            </a:r>
            <a:r>
              <a:rPr sz="3075" spc="-555" baseline="-17615" dirty="0">
                <a:solidFill>
                  <a:srgbClr val="00CC99"/>
                </a:solidFill>
                <a:latin typeface="Tahoma"/>
                <a:cs typeface="Tahoma"/>
              </a:rPr>
              <a:t>1</a:t>
            </a:r>
            <a:r>
              <a:rPr sz="3200" spc="-370" dirty="0">
                <a:latin typeface="Tahoma"/>
                <a:cs typeface="Tahoma"/>
              </a:rPr>
              <a:t>,</a:t>
            </a:r>
            <a:r>
              <a:rPr sz="3200" spc="-210" dirty="0">
                <a:latin typeface="Tahoma"/>
                <a:cs typeface="Tahoma"/>
              </a:rPr>
              <a:t> </a:t>
            </a:r>
            <a:r>
              <a:rPr sz="3350" i="1" spc="-555" dirty="0">
                <a:solidFill>
                  <a:srgbClr val="00CC99"/>
                </a:solidFill>
                <a:latin typeface="Tahoma"/>
                <a:cs typeface="Tahoma"/>
              </a:rPr>
              <a:t>X</a:t>
            </a:r>
            <a:r>
              <a:rPr sz="3075" spc="-832" baseline="-17615" dirty="0">
                <a:solidFill>
                  <a:srgbClr val="00CC99"/>
                </a:solidFill>
                <a:latin typeface="Tahoma"/>
                <a:cs typeface="Tahoma"/>
              </a:rPr>
              <a:t>2	</a:t>
            </a:r>
            <a:r>
              <a:rPr sz="3200" dirty="0">
                <a:solidFill>
                  <a:srgbClr val="00CC99"/>
                </a:solidFill>
                <a:latin typeface="Tahoma"/>
                <a:cs typeface="Tahoma"/>
              </a:rPr>
              <a:t>-&gt; </a:t>
            </a:r>
            <a:r>
              <a:rPr sz="3350" i="1" spc="-225" dirty="0">
                <a:solidFill>
                  <a:srgbClr val="00CC99"/>
                </a:solidFill>
                <a:latin typeface="Tahoma"/>
                <a:cs typeface="Tahoma"/>
              </a:rPr>
              <a:t>A</a:t>
            </a:r>
            <a:r>
              <a:rPr sz="3075" spc="-337" baseline="-17615" dirty="0">
                <a:solidFill>
                  <a:srgbClr val="00CC99"/>
                </a:solidFill>
                <a:latin typeface="Tahoma"/>
                <a:cs typeface="Tahoma"/>
              </a:rPr>
              <a:t>2</a:t>
            </a:r>
            <a:r>
              <a:rPr sz="3200" spc="-225" dirty="0">
                <a:latin typeface="Tahoma"/>
                <a:cs typeface="Tahoma"/>
              </a:rPr>
              <a:t>,…, </a:t>
            </a:r>
            <a:r>
              <a:rPr sz="3200" spc="-225" dirty="0">
                <a:solidFill>
                  <a:srgbClr val="00CC99"/>
                </a:solidFill>
                <a:latin typeface="Tahoma"/>
                <a:cs typeface="Tahoma"/>
              </a:rPr>
              <a:t> </a:t>
            </a:r>
            <a:r>
              <a:rPr sz="3350" i="1" spc="-650" dirty="0">
                <a:solidFill>
                  <a:srgbClr val="00CC99"/>
                </a:solidFill>
                <a:latin typeface="Tahoma"/>
                <a:cs typeface="Tahoma"/>
              </a:rPr>
              <a:t>X</a:t>
            </a:r>
            <a:r>
              <a:rPr sz="3225" i="1" spc="-975" baseline="-16795" dirty="0">
                <a:solidFill>
                  <a:srgbClr val="00CC99"/>
                </a:solidFill>
                <a:latin typeface="Tahoma"/>
                <a:cs typeface="Tahoma"/>
              </a:rPr>
              <a:t>n </a:t>
            </a:r>
            <a:r>
              <a:rPr sz="3200" dirty="0">
                <a:solidFill>
                  <a:srgbClr val="00CC99"/>
                </a:solidFill>
                <a:latin typeface="Tahoma"/>
                <a:cs typeface="Tahoma"/>
              </a:rPr>
              <a:t>-&gt; </a:t>
            </a:r>
            <a:r>
              <a:rPr sz="3350" i="1" spc="-440" dirty="0">
                <a:solidFill>
                  <a:srgbClr val="00CC99"/>
                </a:solidFill>
                <a:latin typeface="Tahoma"/>
                <a:cs typeface="Tahoma"/>
              </a:rPr>
              <a:t>A</a:t>
            </a:r>
            <a:r>
              <a:rPr sz="3225" i="1" spc="-660" baseline="-16795" dirty="0">
                <a:solidFill>
                  <a:srgbClr val="00CC99"/>
                </a:solidFill>
                <a:latin typeface="Tahoma"/>
                <a:cs typeface="Tahoma"/>
              </a:rPr>
              <a:t>n</a:t>
            </a:r>
            <a:r>
              <a:rPr sz="3200" spc="-440" dirty="0">
                <a:latin typeface="Tahoma"/>
                <a:cs typeface="Tahoma"/>
              </a:rPr>
              <a:t>, </a:t>
            </a:r>
            <a:r>
              <a:rPr sz="3200" spc="-5" dirty="0">
                <a:latin typeface="Tahoma"/>
                <a:cs typeface="Tahoma"/>
              </a:rPr>
              <a:t>and </a:t>
            </a:r>
            <a:r>
              <a:rPr sz="3200" dirty="0">
                <a:latin typeface="Tahoma"/>
                <a:cs typeface="Tahoma"/>
              </a:rPr>
              <a:t>we </a:t>
            </a:r>
            <a:r>
              <a:rPr sz="3200" spc="-10" dirty="0">
                <a:latin typeface="Tahoma"/>
                <a:cs typeface="Tahoma"/>
              </a:rPr>
              <a:t>want </a:t>
            </a:r>
            <a:r>
              <a:rPr sz="3200" spc="-5" dirty="0">
                <a:latin typeface="Tahoma"/>
                <a:cs typeface="Tahoma"/>
              </a:rPr>
              <a:t>to know whether  </a:t>
            </a:r>
            <a:r>
              <a:rPr sz="3200" dirty="0">
                <a:latin typeface="Tahoma"/>
                <a:cs typeface="Tahoma"/>
              </a:rPr>
              <a:t>an FD </a:t>
            </a:r>
            <a:r>
              <a:rPr sz="3350" i="1" spc="-40" dirty="0">
                <a:solidFill>
                  <a:srgbClr val="00CC99"/>
                </a:solidFill>
                <a:latin typeface="Tahoma"/>
                <a:cs typeface="Tahoma"/>
              </a:rPr>
              <a:t>Y</a:t>
            </a:r>
            <a:r>
              <a:rPr sz="3200" spc="-40" dirty="0">
                <a:solidFill>
                  <a:srgbClr val="00CC99"/>
                </a:solidFill>
                <a:latin typeface="Tahoma"/>
                <a:cs typeface="Tahoma"/>
              </a:rPr>
              <a:t>-&gt; </a:t>
            </a:r>
            <a:r>
              <a:rPr sz="3350" i="1" spc="-90" dirty="0">
                <a:solidFill>
                  <a:srgbClr val="00CC99"/>
                </a:solidFill>
                <a:latin typeface="Tahoma"/>
                <a:cs typeface="Tahoma"/>
              </a:rPr>
              <a:t>B </a:t>
            </a:r>
            <a:r>
              <a:rPr sz="3200" spc="-5" dirty="0">
                <a:latin typeface="Tahoma"/>
                <a:cs typeface="Tahoma"/>
              </a:rPr>
              <a:t>must hold in </a:t>
            </a:r>
            <a:r>
              <a:rPr sz="3200" spc="-15" dirty="0">
                <a:latin typeface="Tahoma"/>
                <a:cs typeface="Tahoma"/>
              </a:rPr>
              <a:t>any </a:t>
            </a:r>
            <a:r>
              <a:rPr sz="3200" spc="-5" dirty="0">
                <a:latin typeface="Tahoma"/>
                <a:cs typeface="Tahoma"/>
              </a:rPr>
              <a:t>relation  that satisfies the </a:t>
            </a:r>
            <a:r>
              <a:rPr sz="3200" spc="-10" dirty="0">
                <a:latin typeface="Tahoma"/>
                <a:cs typeface="Tahoma"/>
              </a:rPr>
              <a:t>given</a:t>
            </a:r>
            <a:r>
              <a:rPr sz="3200" spc="-15" dirty="0">
                <a:latin typeface="Tahoma"/>
                <a:cs typeface="Tahoma"/>
              </a:rPr>
              <a:t> </a:t>
            </a:r>
            <a:r>
              <a:rPr sz="3200" spc="-25" dirty="0">
                <a:latin typeface="Tahoma"/>
                <a:cs typeface="Tahoma"/>
              </a:rPr>
              <a:t>FD’s.</a:t>
            </a:r>
            <a:endParaRPr sz="3200" dirty="0">
              <a:latin typeface="Tahoma"/>
              <a:cs typeface="Tahoma"/>
            </a:endParaRPr>
          </a:p>
          <a:p>
            <a:pPr marL="768350" lvl="1" indent="-285750">
              <a:lnSpc>
                <a:spcPts val="3420"/>
              </a:lnSpc>
              <a:spcBef>
                <a:spcPts val="445"/>
              </a:spcBef>
              <a:buClr>
                <a:srgbClr val="CC00CC"/>
              </a:buClr>
              <a:buFont typeface="Wingdings"/>
              <a:buChar char=""/>
              <a:tabLst>
                <a:tab pos="768350" algn="l"/>
              </a:tabLst>
            </a:pPr>
            <a:r>
              <a:rPr sz="2800" spc="-5" dirty="0">
                <a:latin typeface="Tahoma"/>
                <a:cs typeface="Tahoma"/>
              </a:rPr>
              <a:t>Example: If </a:t>
            </a:r>
            <a:r>
              <a:rPr sz="2900" i="1" spc="-35" dirty="0">
                <a:solidFill>
                  <a:srgbClr val="00CC99"/>
                </a:solidFill>
                <a:latin typeface="Tahoma"/>
                <a:cs typeface="Tahoma"/>
              </a:rPr>
              <a:t>A</a:t>
            </a:r>
            <a:r>
              <a:rPr sz="2800" spc="-35" dirty="0">
                <a:solidFill>
                  <a:srgbClr val="00CC99"/>
                </a:solidFill>
                <a:latin typeface="Tahoma"/>
                <a:cs typeface="Tahoma"/>
              </a:rPr>
              <a:t>-&gt; </a:t>
            </a:r>
            <a:r>
              <a:rPr sz="2900" i="1" spc="-65" dirty="0">
                <a:solidFill>
                  <a:srgbClr val="00CC99"/>
                </a:solidFill>
                <a:latin typeface="Tahoma"/>
                <a:cs typeface="Tahoma"/>
              </a:rPr>
              <a:t>B </a:t>
            </a:r>
            <a:r>
              <a:rPr sz="2800" spc="-5" dirty="0">
                <a:latin typeface="Tahoma"/>
                <a:cs typeface="Tahoma"/>
              </a:rPr>
              <a:t>and </a:t>
            </a:r>
            <a:r>
              <a:rPr sz="2900" i="1" spc="-35" dirty="0">
                <a:solidFill>
                  <a:srgbClr val="00CC99"/>
                </a:solidFill>
                <a:latin typeface="Tahoma"/>
                <a:cs typeface="Tahoma"/>
              </a:rPr>
              <a:t>B</a:t>
            </a:r>
            <a:r>
              <a:rPr sz="2800" spc="-35" dirty="0">
                <a:solidFill>
                  <a:srgbClr val="00CC99"/>
                </a:solidFill>
                <a:latin typeface="Tahoma"/>
                <a:cs typeface="Tahoma"/>
              </a:rPr>
              <a:t>-&gt;</a:t>
            </a:r>
            <a:r>
              <a:rPr sz="2800" spc="-660" dirty="0">
                <a:solidFill>
                  <a:srgbClr val="00CC99"/>
                </a:solidFill>
                <a:latin typeface="Tahoma"/>
                <a:cs typeface="Tahoma"/>
              </a:rPr>
              <a:t> </a:t>
            </a:r>
            <a:r>
              <a:rPr sz="2900" i="1" spc="-65" dirty="0">
                <a:solidFill>
                  <a:srgbClr val="00CC99"/>
                </a:solidFill>
                <a:latin typeface="Tahoma"/>
                <a:cs typeface="Tahoma"/>
              </a:rPr>
              <a:t>C </a:t>
            </a:r>
            <a:r>
              <a:rPr sz="2800" spc="-5" dirty="0">
                <a:latin typeface="Tahoma"/>
                <a:cs typeface="Tahoma"/>
              </a:rPr>
              <a:t>hold</a:t>
            </a:r>
            <a:r>
              <a:rPr lang="zh-CN" altLang="en-US" sz="2800" spc="-5" dirty="0">
                <a:latin typeface="Tahoma"/>
                <a:cs typeface="Tahoma"/>
              </a:rPr>
              <a:t>成立</a:t>
            </a:r>
            <a:r>
              <a:rPr sz="2800" spc="-5" dirty="0">
                <a:latin typeface="Tahoma"/>
                <a:cs typeface="Tahoma"/>
              </a:rPr>
              <a:t>, surely</a:t>
            </a:r>
            <a:r>
              <a:rPr lang="en-US" sz="2800" dirty="0">
                <a:latin typeface="Tahoma"/>
                <a:cs typeface="Tahoma"/>
              </a:rPr>
              <a:t> </a:t>
            </a:r>
            <a:r>
              <a:rPr sz="2900" i="1" spc="-35" dirty="0">
                <a:solidFill>
                  <a:srgbClr val="00CC99"/>
                </a:solidFill>
                <a:latin typeface="Tahoma"/>
                <a:cs typeface="Tahoma"/>
              </a:rPr>
              <a:t>A</a:t>
            </a:r>
            <a:r>
              <a:rPr sz="2800" spc="-35" dirty="0">
                <a:solidFill>
                  <a:srgbClr val="00CC99"/>
                </a:solidFill>
                <a:latin typeface="Tahoma"/>
                <a:cs typeface="Tahoma"/>
              </a:rPr>
              <a:t>-&gt; </a:t>
            </a:r>
            <a:r>
              <a:rPr sz="2900" i="1" spc="-65" dirty="0">
                <a:solidFill>
                  <a:srgbClr val="00CC99"/>
                </a:solidFill>
                <a:latin typeface="Tahoma"/>
                <a:cs typeface="Tahoma"/>
              </a:rPr>
              <a:t>C </a:t>
            </a:r>
            <a:r>
              <a:rPr sz="2800" spc="-5" dirty="0">
                <a:latin typeface="Tahoma"/>
                <a:cs typeface="Tahoma"/>
              </a:rPr>
              <a:t>holds, </a:t>
            </a:r>
            <a:r>
              <a:rPr sz="2800" spc="-10" dirty="0">
                <a:latin typeface="Tahoma"/>
                <a:cs typeface="Tahoma"/>
              </a:rPr>
              <a:t>even </a:t>
            </a:r>
            <a:r>
              <a:rPr sz="2800" dirty="0">
                <a:latin typeface="Tahoma"/>
                <a:cs typeface="Tahoma"/>
              </a:rPr>
              <a:t>if </a:t>
            </a:r>
            <a:r>
              <a:rPr sz="2800" spc="-5" dirty="0">
                <a:latin typeface="Tahoma"/>
                <a:cs typeface="Tahoma"/>
              </a:rPr>
              <a:t>we </a:t>
            </a:r>
            <a:r>
              <a:rPr sz="2800" spc="5" dirty="0">
                <a:latin typeface="Tahoma"/>
                <a:cs typeface="Tahoma"/>
              </a:rPr>
              <a:t>don’t </a:t>
            </a:r>
            <a:r>
              <a:rPr sz="2800" spc="-10" dirty="0">
                <a:latin typeface="Tahoma"/>
                <a:cs typeface="Tahoma"/>
              </a:rPr>
              <a:t>say</a:t>
            </a:r>
            <a:r>
              <a:rPr sz="2800" spc="-130" dirty="0">
                <a:latin typeface="Tahoma"/>
                <a:cs typeface="Tahoma"/>
              </a:rPr>
              <a:t> </a:t>
            </a:r>
            <a:r>
              <a:rPr sz="2800" spc="-15" dirty="0">
                <a:latin typeface="Tahoma"/>
                <a:cs typeface="Tahoma"/>
              </a:rPr>
              <a:t>so.</a:t>
            </a:r>
            <a:endParaRPr sz="2800" dirty="0">
              <a:latin typeface="Tahoma"/>
              <a:cs typeface="Tahoma"/>
            </a:endParaRPr>
          </a:p>
          <a:p>
            <a:pPr marL="368300" marR="628015" indent="-342900">
              <a:lnSpc>
                <a:spcPct val="100000"/>
              </a:lnSpc>
              <a:spcBef>
                <a:spcPts val="745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27990" algn="l"/>
              </a:tabLst>
            </a:pPr>
            <a:r>
              <a:rPr sz="3200" spc="-5" dirty="0">
                <a:latin typeface="Tahoma"/>
                <a:cs typeface="Tahoma"/>
              </a:rPr>
              <a:t>Important </a:t>
            </a:r>
            <a:r>
              <a:rPr sz="3200" spc="-15" dirty="0">
                <a:latin typeface="Tahoma"/>
                <a:cs typeface="Tahoma"/>
              </a:rPr>
              <a:t>for </a:t>
            </a:r>
            <a:r>
              <a:rPr sz="3200" spc="-5" dirty="0">
                <a:latin typeface="Tahoma"/>
                <a:cs typeface="Tahoma"/>
              </a:rPr>
              <a:t>design of good relation  schemas.</a:t>
            </a:r>
            <a:r>
              <a:rPr lang="en-US" sz="3200" spc="-5" dirty="0">
                <a:latin typeface="Tahoma"/>
                <a:cs typeface="Tahoma"/>
              </a:rPr>
              <a:t> </a:t>
            </a:r>
            <a:endParaRPr sz="3200" dirty="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802889" y="829944"/>
            <a:ext cx="3538854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5" dirty="0"/>
              <a:t>Inference</a:t>
            </a:r>
            <a:r>
              <a:rPr spc="-75" dirty="0"/>
              <a:t> </a:t>
            </a:r>
            <a:r>
              <a:rPr spc="-114" dirty="0"/>
              <a:t>Test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64540" y="1992617"/>
            <a:ext cx="7504430" cy="3361690"/>
          </a:xfrm>
          <a:prstGeom prst="rect">
            <a:avLst/>
          </a:prstGeom>
        </p:spPr>
        <p:txBody>
          <a:bodyPr vert="horz" wrap="square" lIns="0" tIns="49530" rIns="0" bIns="0" rtlCol="0">
            <a:spAutoFit/>
          </a:bodyPr>
          <a:lstStyle/>
          <a:p>
            <a:pPr marL="355600" marR="5080" indent="-342900">
              <a:lnSpc>
                <a:spcPts val="3840"/>
              </a:lnSpc>
              <a:spcBef>
                <a:spcPts val="390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spc="-165" dirty="0">
                <a:latin typeface="Tahoma"/>
                <a:cs typeface="Tahoma"/>
              </a:rPr>
              <a:t>To </a:t>
            </a:r>
            <a:r>
              <a:rPr sz="3200" spc="-5" dirty="0">
                <a:latin typeface="Tahoma"/>
                <a:cs typeface="Tahoma"/>
              </a:rPr>
              <a:t>test </a:t>
            </a:r>
            <a:r>
              <a:rPr sz="3200" dirty="0">
                <a:latin typeface="Tahoma"/>
                <a:cs typeface="Tahoma"/>
              </a:rPr>
              <a:t>if </a:t>
            </a:r>
            <a:r>
              <a:rPr sz="3350" i="1" spc="-40" dirty="0">
                <a:solidFill>
                  <a:srgbClr val="00CC99"/>
                </a:solidFill>
                <a:latin typeface="Tahoma"/>
                <a:cs typeface="Tahoma"/>
              </a:rPr>
              <a:t>Y</a:t>
            </a:r>
            <a:r>
              <a:rPr sz="3200" spc="-40" dirty="0">
                <a:solidFill>
                  <a:srgbClr val="00CC99"/>
                </a:solidFill>
                <a:latin typeface="Tahoma"/>
                <a:cs typeface="Tahoma"/>
              </a:rPr>
              <a:t>-&gt; </a:t>
            </a:r>
            <a:r>
              <a:rPr sz="3350" i="1" spc="-560" dirty="0">
                <a:solidFill>
                  <a:srgbClr val="00CC99"/>
                </a:solidFill>
                <a:latin typeface="Tahoma"/>
                <a:cs typeface="Tahoma"/>
              </a:rPr>
              <a:t>B</a:t>
            </a:r>
            <a:r>
              <a:rPr sz="3200" spc="-560" dirty="0">
                <a:latin typeface="Tahoma"/>
                <a:cs typeface="Tahoma"/>
              </a:rPr>
              <a:t>, </a:t>
            </a:r>
            <a:r>
              <a:rPr sz="3200" spc="-5" dirty="0">
                <a:latin typeface="Tahoma"/>
                <a:cs typeface="Tahoma"/>
              </a:rPr>
              <a:t>start by assuming two  tuples agree in </a:t>
            </a:r>
            <a:r>
              <a:rPr sz="3200" dirty="0">
                <a:latin typeface="Tahoma"/>
                <a:cs typeface="Tahoma"/>
              </a:rPr>
              <a:t>all </a:t>
            </a:r>
            <a:r>
              <a:rPr sz="3200" spc="-5" dirty="0">
                <a:latin typeface="Tahoma"/>
                <a:cs typeface="Tahoma"/>
              </a:rPr>
              <a:t>attributes of</a:t>
            </a:r>
            <a:r>
              <a:rPr sz="3200" spc="-240" dirty="0">
                <a:latin typeface="Tahoma"/>
                <a:cs typeface="Tahoma"/>
              </a:rPr>
              <a:t> </a:t>
            </a:r>
            <a:r>
              <a:rPr sz="3350" i="1" spc="-560" dirty="0">
                <a:latin typeface="Tahoma"/>
                <a:cs typeface="Tahoma"/>
              </a:rPr>
              <a:t>Y</a:t>
            </a:r>
            <a:r>
              <a:rPr sz="3200" spc="-560" dirty="0">
                <a:latin typeface="Tahoma"/>
                <a:cs typeface="Tahoma"/>
              </a:rPr>
              <a:t>.</a:t>
            </a:r>
            <a:endParaRPr sz="3200" dirty="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4200" dirty="0">
              <a:latin typeface="Tahoma"/>
              <a:cs typeface="Tahoma"/>
            </a:endParaRPr>
          </a:p>
          <a:p>
            <a:pPr marL="328295">
              <a:lnSpc>
                <a:spcPct val="100000"/>
              </a:lnSpc>
            </a:pPr>
            <a:r>
              <a:rPr sz="3350" i="1" spc="-85" dirty="0">
                <a:latin typeface="Tahoma"/>
                <a:cs typeface="Tahoma"/>
              </a:rPr>
              <a:t>Y</a:t>
            </a:r>
            <a:endParaRPr sz="3350" dirty="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745"/>
              </a:spcBef>
            </a:pPr>
            <a:r>
              <a:rPr sz="3200" spc="-5" dirty="0">
                <a:solidFill>
                  <a:srgbClr val="808080"/>
                </a:solidFill>
                <a:latin typeface="Tahoma"/>
                <a:cs typeface="Tahoma"/>
              </a:rPr>
              <a:t>00000</a:t>
            </a:r>
            <a:r>
              <a:rPr sz="3200" spc="-5" dirty="0">
                <a:latin typeface="Tahoma"/>
                <a:cs typeface="Tahoma"/>
              </a:rPr>
              <a:t>00. </a:t>
            </a:r>
            <a:r>
              <a:rPr sz="3200" dirty="0">
                <a:latin typeface="Tahoma"/>
                <a:cs typeface="Tahoma"/>
              </a:rPr>
              <a:t>. .</a:t>
            </a:r>
            <a:r>
              <a:rPr sz="3200" spc="-15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0</a:t>
            </a:r>
          </a:p>
          <a:p>
            <a:pPr marL="12700">
              <a:lnSpc>
                <a:spcPct val="100000"/>
              </a:lnSpc>
              <a:spcBef>
                <a:spcPts val="765"/>
              </a:spcBef>
            </a:pPr>
            <a:r>
              <a:rPr sz="3200" spc="-5" dirty="0">
                <a:solidFill>
                  <a:srgbClr val="808080"/>
                </a:solidFill>
                <a:latin typeface="Tahoma"/>
                <a:cs typeface="Tahoma"/>
              </a:rPr>
              <a:t>00000</a:t>
            </a:r>
            <a:r>
              <a:rPr sz="3200" spc="-5" dirty="0">
                <a:latin typeface="Tahoma"/>
                <a:cs typeface="Tahoma"/>
              </a:rPr>
              <a:t>?? </a:t>
            </a:r>
            <a:r>
              <a:rPr sz="3200" dirty="0">
                <a:latin typeface="Tahoma"/>
                <a:cs typeface="Tahoma"/>
              </a:rPr>
              <a:t>. . .</a:t>
            </a:r>
            <a:r>
              <a:rPr sz="3200" spc="-25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?</a:t>
            </a:r>
          </a:p>
        </p:txBody>
      </p:sp>
      <p:sp>
        <p:nvSpPr>
          <p:cNvPr id="4" name="object 4"/>
          <p:cNvSpPr/>
          <p:nvPr/>
        </p:nvSpPr>
        <p:spPr>
          <a:xfrm>
            <a:off x="838200" y="3924300"/>
            <a:ext cx="228600" cy="762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447800" y="3924300"/>
            <a:ext cx="304800" cy="76200"/>
          </a:xfrm>
          <a:custGeom>
            <a:avLst/>
            <a:gdLst/>
            <a:ahLst/>
            <a:cxnLst/>
            <a:rect l="l" t="t" r="r" b="b"/>
            <a:pathLst>
              <a:path w="304800" h="76200">
                <a:moveTo>
                  <a:pt x="228600" y="76200"/>
                </a:moveTo>
                <a:lnTo>
                  <a:pt x="228600" y="0"/>
                </a:lnTo>
                <a:lnTo>
                  <a:pt x="295275" y="33337"/>
                </a:lnTo>
                <a:lnTo>
                  <a:pt x="247650" y="33337"/>
                </a:lnTo>
                <a:lnTo>
                  <a:pt x="247650" y="42862"/>
                </a:lnTo>
                <a:lnTo>
                  <a:pt x="295275" y="42862"/>
                </a:lnTo>
                <a:lnTo>
                  <a:pt x="228600" y="76200"/>
                </a:lnTo>
                <a:close/>
              </a:path>
              <a:path w="304800" h="76200">
                <a:moveTo>
                  <a:pt x="228600" y="42862"/>
                </a:moveTo>
                <a:lnTo>
                  <a:pt x="0" y="42862"/>
                </a:lnTo>
                <a:lnTo>
                  <a:pt x="0" y="33337"/>
                </a:lnTo>
                <a:lnTo>
                  <a:pt x="228600" y="33337"/>
                </a:lnTo>
                <a:lnTo>
                  <a:pt x="228600" y="42862"/>
                </a:lnTo>
                <a:close/>
              </a:path>
              <a:path w="304800" h="76200">
                <a:moveTo>
                  <a:pt x="295275" y="42862"/>
                </a:moveTo>
                <a:lnTo>
                  <a:pt x="247650" y="42862"/>
                </a:lnTo>
                <a:lnTo>
                  <a:pt x="247650" y="33337"/>
                </a:lnTo>
                <a:lnTo>
                  <a:pt x="295275" y="33337"/>
                </a:lnTo>
                <a:lnTo>
                  <a:pt x="304800" y="38100"/>
                </a:lnTo>
                <a:lnTo>
                  <a:pt x="295275" y="428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dirty="0"/>
              <a:t>12</a:t>
            </a:fld>
            <a:endParaRPr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109470" y="829944"/>
            <a:ext cx="492569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5" dirty="0"/>
              <a:t>Inference </a:t>
            </a:r>
            <a:r>
              <a:rPr spc="-114" dirty="0"/>
              <a:t>Test </a:t>
            </a:r>
            <a:r>
              <a:rPr dirty="0"/>
              <a:t>–</a:t>
            </a:r>
            <a:r>
              <a:rPr spc="55" dirty="0"/>
              <a:t> </a:t>
            </a:r>
            <a:r>
              <a:rPr spc="-5" dirty="0"/>
              <a:t>(2)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dirty="0"/>
              <a:t>13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764540" y="1860549"/>
            <a:ext cx="7526020" cy="42195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239395" indent="-342900">
              <a:lnSpc>
                <a:spcPct val="100000"/>
              </a:lnSpc>
              <a:spcBef>
                <a:spcPts val="105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spc="-5" dirty="0">
                <a:latin typeface="Tahoma"/>
                <a:cs typeface="Tahoma"/>
              </a:rPr>
              <a:t>Use the </a:t>
            </a:r>
            <a:r>
              <a:rPr sz="3200" spc="-10" dirty="0">
                <a:latin typeface="Tahoma"/>
                <a:cs typeface="Tahoma"/>
              </a:rPr>
              <a:t>given </a:t>
            </a:r>
            <a:r>
              <a:rPr sz="3200" spc="-30" dirty="0">
                <a:latin typeface="Tahoma"/>
                <a:cs typeface="Tahoma"/>
              </a:rPr>
              <a:t>FD’s </a:t>
            </a:r>
            <a:r>
              <a:rPr sz="3200" spc="-5" dirty="0">
                <a:latin typeface="Tahoma"/>
                <a:cs typeface="Tahoma"/>
              </a:rPr>
              <a:t>to </a:t>
            </a:r>
            <a:r>
              <a:rPr sz="3200" spc="-10" dirty="0">
                <a:latin typeface="Tahoma"/>
                <a:cs typeface="Tahoma"/>
              </a:rPr>
              <a:t>infer </a:t>
            </a:r>
            <a:r>
              <a:rPr sz="3200" spc="-5" dirty="0">
                <a:latin typeface="Tahoma"/>
                <a:cs typeface="Tahoma"/>
              </a:rPr>
              <a:t>that these  tuples must also agree in certain other  attributes.</a:t>
            </a:r>
            <a:endParaRPr sz="3200" dirty="0">
              <a:latin typeface="Tahoma"/>
              <a:cs typeface="Tahoma"/>
            </a:endParaRPr>
          </a:p>
          <a:p>
            <a:pPr marL="755650" lvl="1" indent="-285750">
              <a:lnSpc>
                <a:spcPts val="3470"/>
              </a:lnSpc>
              <a:spcBef>
                <a:spcPts val="570"/>
              </a:spcBef>
              <a:buClr>
                <a:srgbClr val="CC00CC"/>
              </a:buClr>
              <a:buFont typeface="Wingdings"/>
              <a:buChar char=""/>
              <a:tabLst>
                <a:tab pos="755650" algn="l"/>
              </a:tabLst>
            </a:pPr>
            <a:r>
              <a:rPr sz="2800" spc="-5" dirty="0">
                <a:latin typeface="Tahoma"/>
                <a:cs typeface="Tahoma"/>
              </a:rPr>
              <a:t>If B is one of these attributes, then </a:t>
            </a:r>
            <a:r>
              <a:rPr sz="2900" i="1" spc="-35" dirty="0">
                <a:solidFill>
                  <a:srgbClr val="00CC99"/>
                </a:solidFill>
                <a:latin typeface="Tahoma"/>
                <a:cs typeface="Tahoma"/>
              </a:rPr>
              <a:t>Y</a:t>
            </a:r>
            <a:r>
              <a:rPr sz="2800" spc="-35" dirty="0">
                <a:solidFill>
                  <a:srgbClr val="00CC99"/>
                </a:solidFill>
                <a:latin typeface="Tahoma"/>
                <a:cs typeface="Tahoma"/>
              </a:rPr>
              <a:t>-&gt;</a:t>
            </a:r>
            <a:r>
              <a:rPr sz="2800" spc="-345" dirty="0">
                <a:solidFill>
                  <a:srgbClr val="00CC99"/>
                </a:solidFill>
                <a:latin typeface="Tahoma"/>
                <a:cs typeface="Tahoma"/>
              </a:rPr>
              <a:t> </a:t>
            </a:r>
            <a:r>
              <a:rPr sz="2900" i="1" spc="-65" dirty="0">
                <a:solidFill>
                  <a:srgbClr val="00CC99"/>
                </a:solidFill>
                <a:latin typeface="Tahoma"/>
                <a:cs typeface="Tahoma"/>
              </a:rPr>
              <a:t>B</a:t>
            </a:r>
            <a:endParaRPr sz="2900" dirty="0">
              <a:latin typeface="Tahoma"/>
              <a:cs typeface="Tahoma"/>
            </a:endParaRPr>
          </a:p>
          <a:p>
            <a:pPr marL="755650">
              <a:lnSpc>
                <a:spcPts val="3350"/>
              </a:lnSpc>
            </a:pPr>
            <a:r>
              <a:rPr sz="2800" spc="-5" dirty="0">
                <a:latin typeface="Tahoma"/>
                <a:cs typeface="Tahoma"/>
              </a:rPr>
              <a:t>is true.</a:t>
            </a:r>
            <a:endParaRPr sz="2800" dirty="0">
              <a:latin typeface="Tahoma"/>
              <a:cs typeface="Tahoma"/>
            </a:endParaRPr>
          </a:p>
          <a:p>
            <a:pPr marL="755650" marR="85090" lvl="1" indent="-285750">
              <a:lnSpc>
                <a:spcPts val="3360"/>
              </a:lnSpc>
              <a:spcBef>
                <a:spcPts val="780"/>
              </a:spcBef>
              <a:buClr>
                <a:srgbClr val="CC00CC"/>
              </a:buClr>
              <a:buFont typeface="Wingdings"/>
              <a:buChar char=""/>
              <a:tabLst>
                <a:tab pos="755650" algn="l"/>
              </a:tabLst>
            </a:pPr>
            <a:r>
              <a:rPr sz="2800" spc="-5" dirty="0">
                <a:latin typeface="Tahoma"/>
                <a:cs typeface="Tahoma"/>
              </a:rPr>
              <a:t>Otherwise, the two tuples, </a:t>
            </a:r>
            <a:r>
              <a:rPr sz="2800" dirty="0">
                <a:latin typeface="Tahoma"/>
                <a:cs typeface="Tahoma"/>
              </a:rPr>
              <a:t>with </a:t>
            </a:r>
            <a:r>
              <a:rPr sz="2800" spc="-15" dirty="0">
                <a:latin typeface="Tahoma"/>
                <a:cs typeface="Tahoma"/>
              </a:rPr>
              <a:t>any </a:t>
            </a:r>
            <a:r>
              <a:rPr sz="2800" spc="-10" dirty="0">
                <a:latin typeface="Tahoma"/>
                <a:cs typeface="Tahoma"/>
              </a:rPr>
              <a:t>forced  </a:t>
            </a:r>
            <a:r>
              <a:rPr sz="2800" spc="-5" dirty="0">
                <a:latin typeface="Tahoma"/>
                <a:cs typeface="Tahoma"/>
              </a:rPr>
              <a:t>equalities, </a:t>
            </a:r>
            <a:r>
              <a:rPr sz="2800" spc="-15" dirty="0">
                <a:latin typeface="Tahoma"/>
                <a:cs typeface="Tahoma"/>
              </a:rPr>
              <a:t>form </a:t>
            </a:r>
            <a:r>
              <a:rPr sz="2800" spc="-5" dirty="0">
                <a:latin typeface="Tahoma"/>
                <a:cs typeface="Tahoma"/>
              </a:rPr>
              <a:t>a two-tuple relation that  </a:t>
            </a:r>
            <a:r>
              <a:rPr sz="2800" spc="-15" dirty="0">
                <a:latin typeface="Tahoma"/>
                <a:cs typeface="Tahoma"/>
              </a:rPr>
              <a:t>proves </a:t>
            </a:r>
            <a:r>
              <a:rPr sz="2900" i="1" spc="-35" dirty="0">
                <a:solidFill>
                  <a:srgbClr val="00CC99"/>
                </a:solidFill>
                <a:latin typeface="Tahoma"/>
                <a:cs typeface="Tahoma"/>
              </a:rPr>
              <a:t>Y</a:t>
            </a:r>
            <a:r>
              <a:rPr sz="2800" spc="-35" dirty="0">
                <a:solidFill>
                  <a:srgbClr val="00CC99"/>
                </a:solidFill>
                <a:latin typeface="Tahoma"/>
                <a:cs typeface="Tahoma"/>
              </a:rPr>
              <a:t>-&gt; </a:t>
            </a:r>
            <a:r>
              <a:rPr sz="2900" i="1" spc="-65" dirty="0">
                <a:solidFill>
                  <a:srgbClr val="00CC99"/>
                </a:solidFill>
                <a:latin typeface="Tahoma"/>
                <a:cs typeface="Tahoma"/>
              </a:rPr>
              <a:t>B </a:t>
            </a:r>
            <a:r>
              <a:rPr sz="2800" spc="-5" dirty="0">
                <a:latin typeface="Tahoma"/>
                <a:cs typeface="Tahoma"/>
              </a:rPr>
              <a:t>does not </a:t>
            </a:r>
            <a:r>
              <a:rPr sz="2800" spc="-10" dirty="0">
                <a:latin typeface="Tahoma"/>
                <a:cs typeface="Tahoma"/>
              </a:rPr>
              <a:t>follow </a:t>
            </a:r>
            <a:r>
              <a:rPr sz="2800" spc="-15" dirty="0">
                <a:latin typeface="Tahoma"/>
                <a:cs typeface="Tahoma"/>
              </a:rPr>
              <a:t>from </a:t>
            </a:r>
            <a:r>
              <a:rPr sz="2800" spc="-5" dirty="0">
                <a:latin typeface="Tahoma"/>
                <a:cs typeface="Tahoma"/>
              </a:rPr>
              <a:t>the  </a:t>
            </a:r>
            <a:r>
              <a:rPr sz="2800" spc="-10" dirty="0">
                <a:latin typeface="Tahoma"/>
                <a:cs typeface="Tahoma"/>
              </a:rPr>
              <a:t>given</a:t>
            </a:r>
            <a:r>
              <a:rPr sz="2800" spc="-5" dirty="0">
                <a:latin typeface="Tahoma"/>
                <a:cs typeface="Tahoma"/>
              </a:rPr>
              <a:t> </a:t>
            </a:r>
            <a:r>
              <a:rPr sz="2800" spc="-25" dirty="0">
                <a:latin typeface="Tahoma"/>
                <a:cs typeface="Tahoma"/>
              </a:rPr>
              <a:t>FD’s.</a:t>
            </a:r>
            <a:endParaRPr sz="2800" dirty="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61970" y="829944"/>
            <a:ext cx="302069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Closure</a:t>
            </a:r>
            <a:r>
              <a:rPr spc="-65" dirty="0"/>
              <a:t> </a:t>
            </a:r>
            <a:r>
              <a:rPr spc="-114" dirty="0"/>
              <a:t>Test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dirty="0"/>
              <a:t>14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751840" y="2012949"/>
            <a:ext cx="7494905" cy="31508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427355" indent="-402590">
              <a:lnSpc>
                <a:spcPts val="3765"/>
              </a:lnSpc>
              <a:spcBef>
                <a:spcPts val="105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27990" algn="l"/>
              </a:tabLst>
            </a:pPr>
            <a:r>
              <a:rPr sz="3200" dirty="0">
                <a:latin typeface="Tahoma"/>
                <a:cs typeface="Tahoma"/>
              </a:rPr>
              <a:t>An </a:t>
            </a:r>
            <a:r>
              <a:rPr sz="3200" spc="-5" dirty="0">
                <a:latin typeface="Tahoma"/>
                <a:cs typeface="Tahoma"/>
              </a:rPr>
              <a:t>easier </a:t>
            </a:r>
            <a:r>
              <a:rPr sz="3200" spc="-20" dirty="0">
                <a:latin typeface="Tahoma"/>
                <a:cs typeface="Tahoma"/>
              </a:rPr>
              <a:t>way </a:t>
            </a:r>
            <a:r>
              <a:rPr sz="3200" spc="-5" dirty="0">
                <a:latin typeface="Tahoma"/>
                <a:cs typeface="Tahoma"/>
              </a:rPr>
              <a:t>to test is to compute</a:t>
            </a:r>
            <a:r>
              <a:rPr sz="3200" spc="5" dirty="0">
                <a:latin typeface="Tahoma"/>
                <a:cs typeface="Tahoma"/>
              </a:rPr>
              <a:t> </a:t>
            </a:r>
            <a:r>
              <a:rPr sz="3200" spc="-5" dirty="0">
                <a:latin typeface="Tahoma"/>
                <a:cs typeface="Tahoma"/>
              </a:rPr>
              <a:t>the</a:t>
            </a:r>
            <a:endParaRPr sz="3200" dirty="0">
              <a:latin typeface="Tahoma"/>
              <a:cs typeface="Tahoma"/>
            </a:endParaRPr>
          </a:p>
          <a:p>
            <a:pPr marL="314325">
              <a:lnSpc>
                <a:spcPts val="3945"/>
              </a:lnSpc>
            </a:pPr>
            <a:r>
              <a:rPr lang="en-US" altLang="zh-CN" sz="3600" dirty="0">
                <a:effectLst/>
                <a:highlight>
                  <a:srgbClr val="FFFF00"/>
                </a:highlight>
              </a:rPr>
              <a:t>Closure</a:t>
            </a:r>
            <a:r>
              <a:rPr lang="en-US" altLang="zh-CN" sz="3600" dirty="0">
                <a:effectLst/>
              </a:rPr>
              <a:t> </a:t>
            </a:r>
            <a:r>
              <a:rPr lang="zh-CN" altLang="en-US" sz="3600" dirty="0">
                <a:effectLst/>
              </a:rPr>
              <a:t>闭包</a:t>
            </a:r>
            <a:r>
              <a:rPr sz="3350" i="1" spc="-1015" dirty="0">
                <a:solidFill>
                  <a:srgbClr val="FF0066"/>
                </a:solidFill>
                <a:latin typeface="Tahoma"/>
                <a:cs typeface="Tahoma"/>
              </a:rPr>
              <a:t> </a:t>
            </a:r>
            <a:r>
              <a:rPr sz="3200" spc="-5" dirty="0">
                <a:latin typeface="Tahoma"/>
                <a:cs typeface="Tahoma"/>
              </a:rPr>
              <a:t>of </a:t>
            </a:r>
            <a:r>
              <a:rPr sz="3350" i="1" spc="-560" dirty="0">
                <a:latin typeface="Tahoma"/>
                <a:cs typeface="Tahoma"/>
              </a:rPr>
              <a:t>Y</a:t>
            </a:r>
            <a:r>
              <a:rPr sz="3200" spc="-560" dirty="0">
                <a:latin typeface="Tahoma"/>
                <a:cs typeface="Tahoma"/>
              </a:rPr>
              <a:t>, </a:t>
            </a:r>
            <a:r>
              <a:rPr sz="3200" spc="-5" dirty="0">
                <a:latin typeface="Tahoma"/>
                <a:cs typeface="Tahoma"/>
              </a:rPr>
              <a:t>denoted</a:t>
            </a:r>
            <a:r>
              <a:rPr sz="3200" spc="-335" dirty="0">
                <a:latin typeface="Tahoma"/>
                <a:cs typeface="Tahoma"/>
              </a:rPr>
              <a:t> </a:t>
            </a:r>
            <a:r>
              <a:rPr sz="3350" i="1" spc="-30" dirty="0">
                <a:latin typeface="Tahoma"/>
                <a:cs typeface="Tahoma"/>
              </a:rPr>
              <a:t>Y</a:t>
            </a:r>
            <a:r>
              <a:rPr sz="3075" spc="-44" baseline="21680" dirty="0">
                <a:latin typeface="Tahoma"/>
                <a:cs typeface="Tahoma"/>
              </a:rPr>
              <a:t>+</a:t>
            </a:r>
            <a:r>
              <a:rPr sz="3200" spc="-30" dirty="0">
                <a:latin typeface="Tahoma"/>
                <a:cs typeface="Tahoma"/>
              </a:rPr>
              <a:t>.</a:t>
            </a:r>
            <a:endParaRPr sz="3200" dirty="0">
              <a:latin typeface="Tahoma"/>
              <a:cs typeface="Tahoma"/>
            </a:endParaRPr>
          </a:p>
          <a:p>
            <a:pPr marL="427355" indent="-402590">
              <a:lnSpc>
                <a:spcPct val="100000"/>
              </a:lnSpc>
              <a:spcBef>
                <a:spcPts val="585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27990" algn="l"/>
                <a:tab pos="2287270" algn="l"/>
              </a:tabLst>
            </a:pPr>
            <a:r>
              <a:rPr sz="3200" dirty="0">
                <a:solidFill>
                  <a:srgbClr val="33CC33"/>
                </a:solidFill>
                <a:latin typeface="Tahoma"/>
                <a:cs typeface="Tahoma"/>
              </a:rPr>
              <a:t>Basis</a:t>
            </a:r>
            <a:r>
              <a:rPr sz="3200" dirty="0">
                <a:latin typeface="Tahoma"/>
                <a:cs typeface="Tahoma"/>
              </a:rPr>
              <a:t>:</a:t>
            </a:r>
            <a:r>
              <a:rPr sz="3200" spc="-215" dirty="0">
                <a:latin typeface="Tahoma"/>
                <a:cs typeface="Tahoma"/>
              </a:rPr>
              <a:t> </a:t>
            </a:r>
            <a:r>
              <a:rPr sz="3350" i="1" spc="-50" dirty="0">
                <a:latin typeface="Tahoma"/>
                <a:cs typeface="Tahoma"/>
              </a:rPr>
              <a:t>Y</a:t>
            </a:r>
            <a:r>
              <a:rPr sz="3075" spc="-75" baseline="21680" dirty="0">
                <a:latin typeface="Tahoma"/>
                <a:cs typeface="Tahoma"/>
              </a:rPr>
              <a:t>+	</a:t>
            </a:r>
            <a:r>
              <a:rPr sz="3200" dirty="0">
                <a:latin typeface="Tahoma"/>
                <a:cs typeface="Tahoma"/>
              </a:rPr>
              <a:t>=</a:t>
            </a:r>
            <a:r>
              <a:rPr sz="3200" spc="-215" dirty="0">
                <a:latin typeface="Tahoma"/>
                <a:cs typeface="Tahoma"/>
              </a:rPr>
              <a:t> </a:t>
            </a:r>
            <a:r>
              <a:rPr sz="3350" i="1" spc="-560" dirty="0">
                <a:latin typeface="Tahoma"/>
                <a:cs typeface="Tahoma"/>
              </a:rPr>
              <a:t>Y</a:t>
            </a:r>
            <a:r>
              <a:rPr sz="3200" spc="-560" dirty="0">
                <a:latin typeface="Tahoma"/>
                <a:cs typeface="Tahoma"/>
              </a:rPr>
              <a:t>.</a:t>
            </a:r>
            <a:endParaRPr sz="3200" dirty="0">
              <a:latin typeface="Tahoma"/>
              <a:cs typeface="Tahoma"/>
            </a:endParaRPr>
          </a:p>
          <a:p>
            <a:pPr marL="368300" marR="165100" indent="-342900">
              <a:lnSpc>
                <a:spcPts val="3840"/>
              </a:lnSpc>
              <a:spcBef>
                <a:spcPts val="860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27990" algn="l"/>
                <a:tab pos="6760209" algn="l"/>
              </a:tabLst>
            </a:pPr>
            <a:r>
              <a:rPr sz="3200" spc="-5" dirty="0">
                <a:solidFill>
                  <a:srgbClr val="33CC33"/>
                </a:solidFill>
                <a:latin typeface="Tahoma"/>
                <a:cs typeface="Tahoma"/>
              </a:rPr>
              <a:t>Induction</a:t>
            </a:r>
            <a:r>
              <a:rPr sz="3200" spc="-5" dirty="0">
                <a:latin typeface="Tahoma"/>
                <a:cs typeface="Tahoma"/>
              </a:rPr>
              <a:t>: Look </a:t>
            </a:r>
            <a:r>
              <a:rPr sz="3200" spc="-15" dirty="0">
                <a:latin typeface="Tahoma"/>
                <a:cs typeface="Tahoma"/>
              </a:rPr>
              <a:t>for </a:t>
            </a:r>
            <a:r>
              <a:rPr sz="3200" dirty="0">
                <a:latin typeface="Tahoma"/>
                <a:cs typeface="Tahoma"/>
              </a:rPr>
              <a:t>an </a:t>
            </a:r>
            <a:r>
              <a:rPr sz="3200" spc="-30" dirty="0">
                <a:latin typeface="Tahoma"/>
                <a:cs typeface="Tahoma"/>
              </a:rPr>
              <a:t>FD’s </a:t>
            </a:r>
            <a:r>
              <a:rPr sz="3200" spc="-5" dirty="0">
                <a:latin typeface="Tahoma"/>
                <a:cs typeface="Tahoma"/>
              </a:rPr>
              <a:t>left side </a:t>
            </a:r>
            <a:r>
              <a:rPr sz="3350" i="1" spc="-85" dirty="0">
                <a:latin typeface="Tahoma"/>
                <a:cs typeface="Tahoma"/>
              </a:rPr>
              <a:t>X  </a:t>
            </a:r>
            <a:r>
              <a:rPr sz="3200" spc="-5" dirty="0">
                <a:latin typeface="Tahoma"/>
                <a:cs typeface="Tahoma"/>
              </a:rPr>
              <a:t>that is </a:t>
            </a:r>
            <a:r>
              <a:rPr sz="3200" dirty="0">
                <a:latin typeface="Tahoma"/>
                <a:cs typeface="Tahoma"/>
              </a:rPr>
              <a:t>a </a:t>
            </a:r>
            <a:r>
              <a:rPr sz="3200" spc="-5" dirty="0">
                <a:latin typeface="Tahoma"/>
                <a:cs typeface="Tahoma"/>
              </a:rPr>
              <a:t>subset of the</a:t>
            </a:r>
            <a:r>
              <a:rPr sz="3200" spc="50" dirty="0">
                <a:latin typeface="Tahoma"/>
                <a:cs typeface="Tahoma"/>
              </a:rPr>
              <a:t> </a:t>
            </a:r>
            <a:r>
              <a:rPr sz="3200" spc="-5" dirty="0">
                <a:latin typeface="Tahoma"/>
                <a:cs typeface="Tahoma"/>
              </a:rPr>
              <a:t>current</a:t>
            </a:r>
            <a:r>
              <a:rPr sz="3200" spc="-210" dirty="0">
                <a:latin typeface="Tahoma"/>
                <a:cs typeface="Tahoma"/>
              </a:rPr>
              <a:t> </a:t>
            </a:r>
            <a:r>
              <a:rPr sz="3350" i="1" spc="-30" dirty="0">
                <a:latin typeface="Tahoma"/>
                <a:cs typeface="Tahoma"/>
              </a:rPr>
              <a:t>Y</a:t>
            </a:r>
            <a:r>
              <a:rPr sz="3075" spc="-44" baseline="21680" dirty="0">
                <a:latin typeface="Tahoma"/>
                <a:cs typeface="Tahoma"/>
              </a:rPr>
              <a:t>+</a:t>
            </a:r>
            <a:r>
              <a:rPr sz="3200" spc="-30" dirty="0">
                <a:latin typeface="Tahoma"/>
                <a:cs typeface="Tahoma"/>
              </a:rPr>
              <a:t>.	</a:t>
            </a:r>
            <a:r>
              <a:rPr sz="3200" spc="-5" dirty="0">
                <a:latin typeface="Tahoma"/>
                <a:cs typeface="Tahoma"/>
              </a:rPr>
              <a:t>If  the </a:t>
            </a:r>
            <a:r>
              <a:rPr sz="3200" dirty="0">
                <a:latin typeface="Tahoma"/>
                <a:cs typeface="Tahoma"/>
              </a:rPr>
              <a:t>FD </a:t>
            </a:r>
            <a:r>
              <a:rPr sz="3200" spc="-5" dirty="0">
                <a:latin typeface="Tahoma"/>
                <a:cs typeface="Tahoma"/>
              </a:rPr>
              <a:t>is </a:t>
            </a:r>
            <a:r>
              <a:rPr sz="3350" i="1" spc="-40" dirty="0">
                <a:solidFill>
                  <a:srgbClr val="00CC99"/>
                </a:solidFill>
                <a:latin typeface="Tahoma"/>
                <a:cs typeface="Tahoma"/>
              </a:rPr>
              <a:t>X</a:t>
            </a:r>
            <a:r>
              <a:rPr sz="3200" spc="-40" dirty="0">
                <a:solidFill>
                  <a:srgbClr val="00CC99"/>
                </a:solidFill>
                <a:latin typeface="Tahoma"/>
                <a:cs typeface="Tahoma"/>
              </a:rPr>
              <a:t>-&gt; </a:t>
            </a:r>
            <a:r>
              <a:rPr sz="3350" i="1" spc="-560" dirty="0">
                <a:solidFill>
                  <a:srgbClr val="00CC99"/>
                </a:solidFill>
                <a:latin typeface="Tahoma"/>
                <a:cs typeface="Tahoma"/>
              </a:rPr>
              <a:t>A</a:t>
            </a:r>
            <a:r>
              <a:rPr sz="3200" spc="-560" dirty="0">
                <a:latin typeface="Tahoma"/>
                <a:cs typeface="Tahoma"/>
              </a:rPr>
              <a:t>, </a:t>
            </a:r>
            <a:r>
              <a:rPr sz="3200" spc="-5" dirty="0">
                <a:latin typeface="Tahoma"/>
                <a:cs typeface="Tahoma"/>
              </a:rPr>
              <a:t>add </a:t>
            </a:r>
            <a:r>
              <a:rPr sz="3350" i="1" spc="-40" dirty="0">
                <a:latin typeface="Tahoma"/>
                <a:cs typeface="Tahoma"/>
              </a:rPr>
              <a:t>A</a:t>
            </a:r>
            <a:r>
              <a:rPr sz="3200" spc="-40" dirty="0">
                <a:latin typeface="Tahoma"/>
                <a:cs typeface="Tahoma"/>
              </a:rPr>
              <a:t>to</a:t>
            </a:r>
            <a:r>
              <a:rPr sz="3200" spc="-715" dirty="0">
                <a:latin typeface="Tahoma"/>
                <a:cs typeface="Tahoma"/>
              </a:rPr>
              <a:t> </a:t>
            </a:r>
            <a:r>
              <a:rPr sz="3350" i="1" spc="-30" dirty="0">
                <a:latin typeface="Tahoma"/>
                <a:cs typeface="Tahoma"/>
              </a:rPr>
              <a:t>Y</a:t>
            </a:r>
            <a:r>
              <a:rPr sz="3075" spc="-44" baseline="21680" dirty="0">
                <a:latin typeface="Tahoma"/>
                <a:cs typeface="Tahoma"/>
              </a:rPr>
              <a:t>+</a:t>
            </a:r>
            <a:r>
              <a:rPr sz="3200" spc="-30" dirty="0">
                <a:latin typeface="Tahoma"/>
                <a:cs typeface="Tahoma"/>
              </a:rPr>
              <a:t>.</a:t>
            </a:r>
            <a:endParaRPr sz="3200" dirty="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085464" y="2875279"/>
            <a:ext cx="40830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3600" baseline="-13888" dirty="0">
                <a:latin typeface="Times New Roman"/>
                <a:cs typeface="Times New Roman"/>
              </a:rPr>
              <a:t>Y</a:t>
            </a:r>
            <a:r>
              <a:rPr sz="1550" dirty="0">
                <a:latin typeface="Times New Roman"/>
                <a:cs typeface="Times New Roman"/>
              </a:rPr>
              <a:t>+</a:t>
            </a:r>
            <a:endParaRPr sz="155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586164" y="1595437"/>
            <a:ext cx="3209671" cy="23622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4609465" y="3103879"/>
            <a:ext cx="98107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Times New Roman"/>
                <a:cs typeface="Times New Roman"/>
              </a:rPr>
              <a:t>new</a:t>
            </a:r>
            <a:r>
              <a:rPr sz="2400" spc="-1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Y</a:t>
            </a:r>
            <a:r>
              <a:rPr sz="2325" baseline="21505" dirty="0">
                <a:latin typeface="Times New Roman"/>
                <a:cs typeface="Times New Roman"/>
              </a:rPr>
              <a:t>+</a:t>
            </a:r>
            <a:endParaRPr sz="2325" baseline="21505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dirty="0"/>
              <a:t>15</a:t>
            </a:fld>
            <a:endParaRPr dirty="0"/>
          </a:p>
        </p:txBody>
      </p:sp>
      <p:sp>
        <p:nvSpPr>
          <p:cNvPr id="5" name="object 5"/>
          <p:cNvSpPr txBox="1"/>
          <p:nvPr/>
        </p:nvSpPr>
        <p:spPr>
          <a:xfrm>
            <a:off x="3736340" y="2376804"/>
            <a:ext cx="24574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Times New Roman"/>
                <a:cs typeface="Times New Roman"/>
              </a:rPr>
              <a:t>X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031740" y="2376804"/>
            <a:ext cx="24574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Times New Roman"/>
                <a:cs typeface="Times New Roman"/>
              </a:rPr>
              <a:t>A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677670" y="829944"/>
            <a:ext cx="578929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Finding </a:t>
            </a:r>
            <a:r>
              <a:rPr dirty="0"/>
              <a:t>All </a:t>
            </a:r>
            <a:r>
              <a:rPr spc="-10" dirty="0"/>
              <a:t>Implied</a:t>
            </a:r>
            <a:r>
              <a:rPr spc="-45" dirty="0"/>
              <a:t> </a:t>
            </a:r>
            <a:r>
              <a:rPr spc="-40" dirty="0"/>
              <a:t>FD’s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dirty="0"/>
              <a:t>16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535940" y="1708149"/>
            <a:ext cx="7797800" cy="401574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259715" indent="-342900">
              <a:lnSpc>
                <a:spcPct val="100000"/>
              </a:lnSpc>
              <a:spcBef>
                <a:spcPts val="105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lang="en-US" sz="3200" spc="-10" dirty="0">
                <a:solidFill>
                  <a:srgbClr val="33CC33"/>
                </a:solidFill>
                <a:latin typeface="Tahoma"/>
                <a:cs typeface="Tahoma"/>
              </a:rPr>
              <a:t>Motivation</a:t>
            </a:r>
            <a:r>
              <a:rPr lang="en-US" sz="3200" spc="-10" dirty="0">
                <a:latin typeface="Tahoma"/>
                <a:cs typeface="Tahoma"/>
              </a:rPr>
              <a:t>: </a:t>
            </a:r>
            <a:r>
              <a:rPr lang="en-US" sz="3200" spc="-25" dirty="0">
                <a:latin typeface="Tahoma"/>
                <a:cs typeface="Tahoma"/>
              </a:rPr>
              <a:t>“normalization,” </a:t>
            </a:r>
            <a:r>
              <a:rPr lang="en-US" sz="3200" spc="-5" dirty="0">
                <a:latin typeface="Tahoma"/>
                <a:cs typeface="Tahoma"/>
              </a:rPr>
              <a:t>the process  where </a:t>
            </a:r>
            <a:r>
              <a:rPr lang="en-US" sz="3200" dirty="0">
                <a:latin typeface="Tahoma"/>
                <a:cs typeface="Tahoma"/>
              </a:rPr>
              <a:t>we </a:t>
            </a:r>
            <a:r>
              <a:rPr lang="en-US" sz="3200" spc="-5" dirty="0">
                <a:latin typeface="Tahoma"/>
                <a:cs typeface="Tahoma"/>
              </a:rPr>
              <a:t>break </a:t>
            </a:r>
            <a:r>
              <a:rPr lang="en-US" sz="3200" dirty="0">
                <a:latin typeface="Tahoma"/>
                <a:cs typeface="Tahoma"/>
              </a:rPr>
              <a:t>a </a:t>
            </a:r>
            <a:r>
              <a:rPr lang="en-US" sz="3200" spc="-5" dirty="0">
                <a:latin typeface="Tahoma"/>
                <a:cs typeface="Tahoma"/>
              </a:rPr>
              <a:t>relation schema into  two or more</a:t>
            </a:r>
            <a:r>
              <a:rPr lang="en-US" sz="3200" spc="-10" dirty="0">
                <a:latin typeface="Tahoma"/>
                <a:cs typeface="Tahoma"/>
              </a:rPr>
              <a:t> </a:t>
            </a:r>
            <a:r>
              <a:rPr lang="en-US" sz="3200" spc="-5" dirty="0">
                <a:latin typeface="Tahoma"/>
                <a:cs typeface="Tahoma"/>
              </a:rPr>
              <a:t>schemas.</a:t>
            </a:r>
            <a:endParaRPr lang="en-US" sz="3200" dirty="0">
              <a:latin typeface="Tahoma"/>
              <a:cs typeface="Tahoma"/>
            </a:endParaRPr>
          </a:p>
          <a:p>
            <a:pPr marL="328295" marR="1149985" indent="-316230">
              <a:lnSpc>
                <a:spcPts val="3840"/>
              </a:lnSpc>
              <a:spcBef>
                <a:spcPts val="890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lang="en-US" sz="3200" spc="-5" dirty="0">
                <a:latin typeface="Tahoma"/>
                <a:cs typeface="Tahoma"/>
              </a:rPr>
              <a:t>Example: </a:t>
            </a:r>
            <a:r>
              <a:rPr lang="en-US" sz="3350" i="1" spc="-969" dirty="0">
                <a:latin typeface="Tahoma"/>
                <a:cs typeface="Tahoma"/>
              </a:rPr>
              <a:t>ABCD </a:t>
            </a:r>
            <a:r>
              <a:rPr lang="en-US" sz="3200" spc="-5" dirty="0">
                <a:latin typeface="Tahoma"/>
                <a:cs typeface="Tahoma"/>
              </a:rPr>
              <a:t>with </a:t>
            </a:r>
            <a:r>
              <a:rPr lang="en-US" sz="3200" spc="-30" dirty="0">
                <a:latin typeface="Tahoma"/>
                <a:cs typeface="Tahoma"/>
              </a:rPr>
              <a:t>FD’s </a:t>
            </a:r>
            <a:r>
              <a:rPr lang="en-US" sz="3350" i="1" spc="-465" dirty="0">
                <a:solidFill>
                  <a:srgbClr val="00CC99"/>
                </a:solidFill>
                <a:latin typeface="Tahoma"/>
                <a:cs typeface="Tahoma"/>
              </a:rPr>
              <a:t>AB</a:t>
            </a:r>
            <a:r>
              <a:rPr lang="en-US" sz="3200" spc="-465" dirty="0">
                <a:solidFill>
                  <a:srgbClr val="00CC99"/>
                </a:solidFill>
                <a:latin typeface="Tahoma"/>
                <a:cs typeface="Tahoma"/>
              </a:rPr>
              <a:t>-&gt;</a:t>
            </a:r>
            <a:r>
              <a:rPr lang="en-US" sz="3350" i="1" spc="-465" dirty="0">
                <a:solidFill>
                  <a:srgbClr val="00CC99"/>
                </a:solidFill>
                <a:latin typeface="Tahoma"/>
                <a:cs typeface="Tahoma"/>
              </a:rPr>
              <a:t>C</a:t>
            </a:r>
            <a:r>
              <a:rPr lang="en-US" sz="3200" spc="-465" dirty="0">
                <a:latin typeface="Tahoma"/>
                <a:cs typeface="Tahoma"/>
              </a:rPr>
              <a:t>, </a:t>
            </a:r>
            <a:r>
              <a:rPr lang="en-US" sz="3200" spc="-465" dirty="0">
                <a:solidFill>
                  <a:srgbClr val="00CC99"/>
                </a:solidFill>
                <a:latin typeface="Tahoma"/>
                <a:cs typeface="Tahoma"/>
              </a:rPr>
              <a:t> </a:t>
            </a:r>
            <a:r>
              <a:rPr lang="en-US" sz="3350" i="1" spc="-295" dirty="0">
                <a:solidFill>
                  <a:srgbClr val="00CC99"/>
                </a:solidFill>
                <a:latin typeface="Tahoma"/>
                <a:cs typeface="Tahoma"/>
              </a:rPr>
              <a:t>C</a:t>
            </a:r>
            <a:r>
              <a:rPr lang="en-US" sz="3200" spc="-295" dirty="0">
                <a:solidFill>
                  <a:srgbClr val="00CC99"/>
                </a:solidFill>
                <a:latin typeface="Tahoma"/>
                <a:cs typeface="Tahoma"/>
              </a:rPr>
              <a:t>-&gt;</a:t>
            </a:r>
            <a:r>
              <a:rPr lang="en-US" sz="3350" i="1" spc="-295" dirty="0">
                <a:solidFill>
                  <a:srgbClr val="00CC99"/>
                </a:solidFill>
                <a:latin typeface="Tahoma"/>
                <a:cs typeface="Tahoma"/>
              </a:rPr>
              <a:t>D</a:t>
            </a:r>
            <a:r>
              <a:rPr lang="en-US" sz="3200" spc="-295" dirty="0">
                <a:latin typeface="Tahoma"/>
                <a:cs typeface="Tahoma"/>
              </a:rPr>
              <a:t>, </a:t>
            </a:r>
            <a:r>
              <a:rPr lang="en-US" sz="3200" spc="-5" dirty="0">
                <a:latin typeface="Tahoma"/>
                <a:cs typeface="Tahoma"/>
              </a:rPr>
              <a:t>and</a:t>
            </a:r>
            <a:r>
              <a:rPr lang="en-US" sz="3200" spc="-635" dirty="0">
                <a:latin typeface="Tahoma"/>
                <a:cs typeface="Tahoma"/>
              </a:rPr>
              <a:t> </a:t>
            </a:r>
            <a:r>
              <a:rPr lang="en-US" sz="3350" i="1" spc="-295" dirty="0">
                <a:solidFill>
                  <a:srgbClr val="00CC99"/>
                </a:solidFill>
                <a:latin typeface="Tahoma"/>
                <a:cs typeface="Tahoma"/>
              </a:rPr>
              <a:t>D</a:t>
            </a:r>
            <a:r>
              <a:rPr lang="en-US" sz="3200" spc="-295" dirty="0">
                <a:solidFill>
                  <a:srgbClr val="00CC99"/>
                </a:solidFill>
                <a:latin typeface="Tahoma"/>
                <a:cs typeface="Tahoma"/>
              </a:rPr>
              <a:t>-&gt;</a:t>
            </a:r>
            <a:r>
              <a:rPr lang="en-US" sz="3350" i="1" spc="-295" dirty="0">
                <a:solidFill>
                  <a:srgbClr val="00CC99"/>
                </a:solidFill>
                <a:latin typeface="Tahoma"/>
                <a:cs typeface="Tahoma"/>
              </a:rPr>
              <a:t>A</a:t>
            </a:r>
            <a:r>
              <a:rPr lang="en-US" sz="3200" spc="-295" dirty="0">
                <a:latin typeface="Tahoma"/>
                <a:cs typeface="Tahoma"/>
              </a:rPr>
              <a:t>.</a:t>
            </a:r>
            <a:endParaRPr lang="en-US" sz="3200" dirty="0">
              <a:latin typeface="Tahoma"/>
              <a:cs typeface="Tahoma"/>
            </a:endParaRPr>
          </a:p>
          <a:p>
            <a:pPr marL="755650" lvl="1" indent="-285750">
              <a:lnSpc>
                <a:spcPts val="3420"/>
              </a:lnSpc>
              <a:spcBef>
                <a:spcPts val="445"/>
              </a:spcBef>
              <a:buClr>
                <a:srgbClr val="CC00CC"/>
              </a:buClr>
              <a:buFont typeface="Wingdings"/>
              <a:buChar char=""/>
              <a:tabLst>
                <a:tab pos="755650" algn="l"/>
                <a:tab pos="5029835" algn="l"/>
              </a:tabLst>
            </a:pPr>
            <a:r>
              <a:rPr lang="en-US" sz="2800" spc="-5" dirty="0">
                <a:latin typeface="Tahoma"/>
                <a:cs typeface="Tahoma"/>
              </a:rPr>
              <a:t>Decompose into</a:t>
            </a:r>
            <a:r>
              <a:rPr lang="en-US" sz="2800" spc="-165" dirty="0">
                <a:latin typeface="Tahoma"/>
                <a:cs typeface="Tahoma"/>
              </a:rPr>
              <a:t> </a:t>
            </a:r>
            <a:r>
              <a:rPr lang="en-US" sz="2900" i="1" spc="-810" dirty="0">
                <a:latin typeface="Tahoma"/>
                <a:cs typeface="Tahoma"/>
              </a:rPr>
              <a:t>ABC</a:t>
            </a:r>
            <a:r>
              <a:rPr lang="en-US" sz="2800" spc="-810" dirty="0">
                <a:latin typeface="Tahoma"/>
                <a:cs typeface="Tahoma"/>
              </a:rPr>
              <a:t>,         </a:t>
            </a:r>
            <a:r>
              <a:rPr lang="en-US" sz="2800" spc="-760" dirty="0">
                <a:latin typeface="Tahoma"/>
                <a:cs typeface="Tahoma"/>
              </a:rPr>
              <a:t> </a:t>
            </a:r>
            <a:r>
              <a:rPr lang="en-US" sz="2900" i="1" spc="-705" dirty="0">
                <a:latin typeface="Tahoma"/>
                <a:cs typeface="Tahoma"/>
              </a:rPr>
              <a:t>AD</a:t>
            </a:r>
            <a:r>
              <a:rPr lang="en-US" sz="2800" spc="-705" dirty="0">
                <a:latin typeface="Tahoma"/>
                <a:cs typeface="Tahoma"/>
              </a:rPr>
              <a:t>.	</a:t>
            </a:r>
            <a:r>
              <a:rPr lang="en-US" sz="2800" spc="-5" dirty="0">
                <a:latin typeface="Tahoma"/>
                <a:cs typeface="Tahoma"/>
              </a:rPr>
              <a:t>What </a:t>
            </a:r>
            <a:r>
              <a:rPr lang="en-US" sz="2800" spc="-30" dirty="0">
                <a:latin typeface="Tahoma"/>
                <a:cs typeface="Tahoma"/>
              </a:rPr>
              <a:t>FD’s </a:t>
            </a:r>
            <a:r>
              <a:rPr lang="en-US" sz="2800" spc="-5" dirty="0">
                <a:latin typeface="Tahoma"/>
                <a:cs typeface="Tahoma"/>
              </a:rPr>
              <a:t>hold</a:t>
            </a:r>
            <a:r>
              <a:rPr lang="en-US" sz="2800" spc="-20" dirty="0">
                <a:latin typeface="Tahoma"/>
                <a:cs typeface="Tahoma"/>
              </a:rPr>
              <a:t> </a:t>
            </a:r>
            <a:r>
              <a:rPr lang="en-US" sz="2800" spc="-5" dirty="0">
                <a:latin typeface="Tahoma"/>
                <a:cs typeface="Tahoma"/>
              </a:rPr>
              <a:t>in</a:t>
            </a:r>
            <a:endParaRPr lang="en-US" sz="2800" dirty="0">
              <a:latin typeface="Tahoma"/>
              <a:cs typeface="Tahoma"/>
            </a:endParaRPr>
          </a:p>
          <a:p>
            <a:pPr marL="732155">
              <a:lnSpc>
                <a:spcPts val="3420"/>
              </a:lnSpc>
            </a:pPr>
            <a:r>
              <a:rPr lang="en-US" sz="2900" i="1" spc="-595" dirty="0">
                <a:latin typeface="Tahoma"/>
                <a:cs typeface="Tahoma"/>
              </a:rPr>
              <a:t>ABC</a:t>
            </a:r>
            <a:r>
              <a:rPr lang="en-US" sz="2800" spc="-595" dirty="0">
                <a:latin typeface="Tahoma"/>
                <a:cs typeface="Tahoma"/>
              </a:rPr>
              <a:t>?</a:t>
            </a:r>
            <a:endParaRPr lang="en-US" sz="2800" dirty="0">
              <a:latin typeface="Tahoma"/>
              <a:cs typeface="Tahoma"/>
            </a:endParaRPr>
          </a:p>
          <a:p>
            <a:pPr marL="755650" lvl="1" indent="-285750">
              <a:lnSpc>
                <a:spcPct val="100000"/>
              </a:lnSpc>
              <a:spcBef>
                <a:spcPts val="550"/>
              </a:spcBef>
              <a:buClr>
                <a:srgbClr val="CC00CC"/>
              </a:buClr>
              <a:buFont typeface="Wingdings"/>
              <a:buChar char=""/>
              <a:tabLst>
                <a:tab pos="755650" algn="l"/>
              </a:tabLst>
            </a:pPr>
            <a:r>
              <a:rPr lang="en-US" sz="2800" spc="-5" dirty="0">
                <a:latin typeface="Tahoma"/>
                <a:cs typeface="Tahoma"/>
              </a:rPr>
              <a:t>Not only </a:t>
            </a:r>
            <a:r>
              <a:rPr lang="en-US" sz="2900" i="1" spc="-400" dirty="0">
                <a:solidFill>
                  <a:srgbClr val="00CC99"/>
                </a:solidFill>
                <a:latin typeface="Tahoma"/>
                <a:cs typeface="Tahoma"/>
              </a:rPr>
              <a:t>AB</a:t>
            </a:r>
            <a:r>
              <a:rPr lang="en-US" sz="2800" spc="-400" dirty="0">
                <a:solidFill>
                  <a:srgbClr val="00CC99"/>
                </a:solidFill>
                <a:latin typeface="Tahoma"/>
                <a:cs typeface="Tahoma"/>
              </a:rPr>
              <a:t>-&gt;</a:t>
            </a:r>
            <a:r>
              <a:rPr lang="en-US" sz="2900" i="1" spc="-400" dirty="0">
                <a:solidFill>
                  <a:srgbClr val="00CC99"/>
                </a:solidFill>
                <a:latin typeface="Tahoma"/>
                <a:cs typeface="Tahoma"/>
              </a:rPr>
              <a:t>C</a:t>
            </a:r>
            <a:r>
              <a:rPr lang="en-US" sz="2800" spc="-400" dirty="0">
                <a:latin typeface="Tahoma"/>
                <a:cs typeface="Tahoma"/>
              </a:rPr>
              <a:t>, </a:t>
            </a:r>
            <a:r>
              <a:rPr lang="en-US" sz="2800" spc="-5" dirty="0">
                <a:latin typeface="Tahoma"/>
                <a:cs typeface="Tahoma"/>
              </a:rPr>
              <a:t>but also</a:t>
            </a:r>
            <a:r>
              <a:rPr lang="en-US" sz="2800" spc="-434" dirty="0">
                <a:latin typeface="Tahoma"/>
                <a:cs typeface="Tahoma"/>
              </a:rPr>
              <a:t> </a:t>
            </a:r>
            <a:r>
              <a:rPr lang="en-US" sz="2900" i="1" spc="-75" dirty="0">
                <a:solidFill>
                  <a:srgbClr val="00CC99"/>
                </a:solidFill>
                <a:latin typeface="Tahoma"/>
                <a:cs typeface="Tahoma"/>
              </a:rPr>
              <a:t>C</a:t>
            </a:r>
            <a:r>
              <a:rPr lang="en-US" sz="2800" spc="-75" dirty="0">
                <a:solidFill>
                  <a:srgbClr val="00CC99"/>
                </a:solidFill>
                <a:latin typeface="Tahoma"/>
                <a:cs typeface="Tahoma"/>
              </a:rPr>
              <a:t>-&gt;</a:t>
            </a:r>
            <a:r>
              <a:rPr lang="en-US" sz="2900" i="1" spc="-75" dirty="0">
                <a:solidFill>
                  <a:srgbClr val="00CC99"/>
                </a:solidFill>
                <a:latin typeface="Tahoma"/>
                <a:cs typeface="Tahoma"/>
              </a:rPr>
              <a:t>A</a:t>
            </a:r>
            <a:r>
              <a:rPr lang="en-US" sz="2800" spc="-75" dirty="0">
                <a:latin typeface="Tahoma"/>
                <a:cs typeface="Tahoma"/>
              </a:rPr>
              <a:t>!</a:t>
            </a:r>
            <a:endParaRPr lang="en-US" sz="2800" dirty="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176259" y="6270625"/>
            <a:ext cx="203835" cy="24002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spc="-5" dirty="0">
                <a:latin typeface="Times New Roman"/>
                <a:cs typeface="Times New Roman"/>
              </a:rPr>
              <a:t>1</a:t>
            </a:r>
            <a:r>
              <a:rPr sz="1400" dirty="0">
                <a:latin typeface="Times New Roman"/>
                <a:cs typeface="Times New Roman"/>
              </a:rPr>
              <a:t>7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882390" y="829944"/>
            <a:ext cx="137985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W</a:t>
            </a:r>
            <a:r>
              <a:rPr spc="-45" dirty="0"/>
              <a:t>h</a:t>
            </a:r>
            <a:r>
              <a:rPr spc="-5" dirty="0"/>
              <a:t>y</a:t>
            </a:r>
            <a:r>
              <a:rPr dirty="0"/>
              <a:t>?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2631439" y="4224020"/>
            <a:ext cx="2730500" cy="45148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95"/>
              </a:spcBef>
              <a:tabLst>
                <a:tab pos="1878964" algn="l"/>
              </a:tabLst>
            </a:pPr>
            <a:r>
              <a:rPr sz="2800" dirty="0">
                <a:latin typeface="Tahoma"/>
                <a:cs typeface="Tahoma"/>
              </a:rPr>
              <a:t>a</a:t>
            </a:r>
            <a:r>
              <a:rPr sz="2700" baseline="-16975" dirty="0">
                <a:latin typeface="Tahoma"/>
                <a:cs typeface="Tahoma"/>
              </a:rPr>
              <a:t>1</a:t>
            </a:r>
            <a:r>
              <a:rPr sz="2800" dirty="0">
                <a:latin typeface="Tahoma"/>
                <a:cs typeface="Tahoma"/>
              </a:rPr>
              <a:t>b</a:t>
            </a:r>
            <a:r>
              <a:rPr sz="2700" baseline="-16975" dirty="0">
                <a:latin typeface="Tahoma"/>
                <a:cs typeface="Tahoma"/>
              </a:rPr>
              <a:t>1</a:t>
            </a:r>
            <a:r>
              <a:rPr sz="2800" dirty="0">
                <a:latin typeface="Tahoma"/>
                <a:cs typeface="Tahoma"/>
              </a:rPr>
              <a:t>c	a</a:t>
            </a:r>
            <a:r>
              <a:rPr sz="2700" baseline="-16975" dirty="0">
                <a:latin typeface="Tahoma"/>
                <a:cs typeface="Tahoma"/>
              </a:rPr>
              <a:t>2</a:t>
            </a:r>
            <a:r>
              <a:rPr sz="2800" dirty="0">
                <a:latin typeface="Tahoma"/>
                <a:cs typeface="Tahoma"/>
              </a:rPr>
              <a:t>b</a:t>
            </a:r>
            <a:r>
              <a:rPr sz="2700" baseline="-16975" dirty="0">
                <a:latin typeface="Tahoma"/>
                <a:cs typeface="Tahoma"/>
              </a:rPr>
              <a:t>2</a:t>
            </a:r>
            <a:r>
              <a:rPr sz="2800" dirty="0">
                <a:latin typeface="Tahoma"/>
                <a:cs typeface="Tahoma"/>
              </a:rPr>
              <a:t>c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2417478" y="5214620"/>
            <a:ext cx="4686935" cy="1334339"/>
          </a:xfrm>
          <a:prstGeom prst="rect">
            <a:avLst/>
          </a:prstGeom>
        </p:spPr>
        <p:txBody>
          <a:bodyPr vert="horz" wrap="square" lIns="0" tIns="26034" rIns="0" bIns="0" rtlCol="0">
            <a:spAutoFit/>
          </a:bodyPr>
          <a:lstStyle/>
          <a:p>
            <a:pPr marL="12700" marR="5080" indent="22860" algn="just">
              <a:lnSpc>
                <a:spcPts val="3360"/>
              </a:lnSpc>
              <a:spcBef>
                <a:spcPts val="204"/>
              </a:spcBef>
            </a:pPr>
            <a:r>
              <a:rPr sz="2800" spc="-5" dirty="0">
                <a:latin typeface="Tahoma"/>
                <a:cs typeface="Tahoma"/>
              </a:rPr>
              <a:t>Thus</a:t>
            </a:r>
            <a:r>
              <a:rPr lang="zh-CN" altLang="en-US" sz="2800" spc="-5" dirty="0">
                <a:latin typeface="Tahoma"/>
                <a:cs typeface="Tahoma"/>
              </a:rPr>
              <a:t>因此</a:t>
            </a:r>
            <a:r>
              <a:rPr sz="2800" spc="-5" dirty="0">
                <a:latin typeface="Tahoma"/>
                <a:cs typeface="Tahoma"/>
              </a:rPr>
              <a:t>, tuples in the projection  </a:t>
            </a:r>
            <a:r>
              <a:rPr sz="2800" dirty="0">
                <a:latin typeface="Tahoma"/>
                <a:cs typeface="Tahoma"/>
              </a:rPr>
              <a:t>with </a:t>
            </a:r>
            <a:r>
              <a:rPr sz="2800" spc="-5" dirty="0">
                <a:latin typeface="Tahoma"/>
                <a:cs typeface="Tahoma"/>
              </a:rPr>
              <a:t>equal </a:t>
            </a:r>
            <a:r>
              <a:rPr sz="2800" spc="-35" dirty="0">
                <a:latin typeface="Tahoma"/>
                <a:cs typeface="Tahoma"/>
              </a:rPr>
              <a:t>C’s </a:t>
            </a:r>
            <a:r>
              <a:rPr sz="2800" spc="-15" dirty="0">
                <a:latin typeface="Tahoma"/>
                <a:cs typeface="Tahoma"/>
              </a:rPr>
              <a:t>have </a:t>
            </a:r>
            <a:r>
              <a:rPr sz="2800" spc="-5" dirty="0">
                <a:latin typeface="Tahoma"/>
                <a:cs typeface="Tahoma"/>
              </a:rPr>
              <a:t>equal </a:t>
            </a:r>
            <a:r>
              <a:rPr sz="2800" spc="-70" dirty="0">
                <a:latin typeface="Tahoma"/>
                <a:cs typeface="Tahoma"/>
              </a:rPr>
              <a:t>A’s;  </a:t>
            </a:r>
            <a:r>
              <a:rPr sz="2900" i="1" spc="-35" dirty="0">
                <a:solidFill>
                  <a:srgbClr val="00CC99"/>
                </a:solidFill>
                <a:latin typeface="Tahoma"/>
                <a:cs typeface="Tahoma"/>
              </a:rPr>
              <a:t>C</a:t>
            </a:r>
            <a:r>
              <a:rPr sz="2800" spc="-35" dirty="0">
                <a:solidFill>
                  <a:srgbClr val="00CC99"/>
                </a:solidFill>
                <a:latin typeface="Tahoma"/>
                <a:cs typeface="Tahoma"/>
              </a:rPr>
              <a:t>-&gt;</a:t>
            </a:r>
            <a:r>
              <a:rPr sz="2800" spc="-190" dirty="0">
                <a:solidFill>
                  <a:srgbClr val="00CC99"/>
                </a:solidFill>
                <a:latin typeface="Tahoma"/>
                <a:cs typeface="Tahoma"/>
              </a:rPr>
              <a:t> </a:t>
            </a:r>
            <a:r>
              <a:rPr sz="2900" i="1" spc="-480" dirty="0">
                <a:solidFill>
                  <a:srgbClr val="00CC99"/>
                </a:solidFill>
                <a:latin typeface="Tahoma"/>
                <a:cs typeface="Tahoma"/>
              </a:rPr>
              <a:t>A</a:t>
            </a:r>
            <a:r>
              <a:rPr sz="2800" spc="-480" dirty="0">
                <a:latin typeface="Tahoma"/>
                <a:cs typeface="Tahoma"/>
              </a:rPr>
              <a:t>.</a:t>
            </a:r>
            <a:endParaRPr sz="2800" dirty="0">
              <a:latin typeface="Tahoma"/>
              <a:cs typeface="Tahom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78839" y="2395219"/>
            <a:ext cx="4654550" cy="45148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95"/>
              </a:spcBef>
              <a:tabLst>
                <a:tab pos="1650364" algn="l"/>
                <a:tab pos="3479165" algn="l"/>
              </a:tabLst>
            </a:pPr>
            <a:r>
              <a:rPr sz="2800" spc="-5" dirty="0">
                <a:latin typeface="Tahoma"/>
                <a:cs typeface="Tahoma"/>
              </a:rPr>
              <a:t>ABCD	</a:t>
            </a:r>
            <a:r>
              <a:rPr sz="2800" dirty="0">
                <a:latin typeface="Tahoma"/>
                <a:cs typeface="Tahoma"/>
              </a:rPr>
              <a:t>a</a:t>
            </a:r>
            <a:r>
              <a:rPr sz="2700" baseline="-16975" dirty="0">
                <a:latin typeface="Tahoma"/>
                <a:cs typeface="Tahoma"/>
              </a:rPr>
              <a:t>1</a:t>
            </a:r>
            <a:r>
              <a:rPr sz="2800" dirty="0">
                <a:latin typeface="Tahoma"/>
                <a:cs typeface="Tahoma"/>
              </a:rPr>
              <a:t>b</a:t>
            </a:r>
            <a:r>
              <a:rPr sz="2700" baseline="-16975" dirty="0">
                <a:latin typeface="Tahoma"/>
                <a:cs typeface="Tahoma"/>
              </a:rPr>
              <a:t>1</a:t>
            </a:r>
            <a:r>
              <a:rPr sz="2800" dirty="0">
                <a:latin typeface="Tahoma"/>
                <a:cs typeface="Tahoma"/>
              </a:rPr>
              <a:t>cd</a:t>
            </a:r>
            <a:r>
              <a:rPr sz="2700" baseline="-16975" dirty="0">
                <a:latin typeface="Tahoma"/>
                <a:cs typeface="Tahoma"/>
              </a:rPr>
              <a:t>1	</a:t>
            </a:r>
            <a:r>
              <a:rPr sz="2800" dirty="0">
                <a:latin typeface="Tahoma"/>
                <a:cs typeface="Tahoma"/>
              </a:rPr>
              <a:t>a</a:t>
            </a:r>
            <a:r>
              <a:rPr sz="2700" baseline="-16975" dirty="0">
                <a:latin typeface="Tahoma"/>
                <a:cs typeface="Tahoma"/>
              </a:rPr>
              <a:t>2</a:t>
            </a:r>
            <a:r>
              <a:rPr sz="2800" dirty="0">
                <a:latin typeface="Tahoma"/>
                <a:cs typeface="Tahoma"/>
              </a:rPr>
              <a:t>b</a:t>
            </a:r>
            <a:r>
              <a:rPr sz="2700" baseline="-16975" dirty="0">
                <a:latin typeface="Tahoma"/>
                <a:cs typeface="Tahoma"/>
              </a:rPr>
              <a:t>2</a:t>
            </a:r>
            <a:r>
              <a:rPr sz="2800" dirty="0">
                <a:latin typeface="Tahoma"/>
                <a:cs typeface="Tahoma"/>
              </a:rPr>
              <a:t>cd</a:t>
            </a:r>
            <a:r>
              <a:rPr sz="2700" baseline="-16975" dirty="0">
                <a:latin typeface="Tahoma"/>
                <a:cs typeface="Tahoma"/>
              </a:rPr>
              <a:t>2</a:t>
            </a:r>
            <a:endParaRPr sz="2700" baseline="-16975">
              <a:latin typeface="Tahoma"/>
              <a:cs typeface="Tahom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77264" y="3157219"/>
            <a:ext cx="1652270" cy="149923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638175" marR="5080">
              <a:lnSpc>
                <a:spcPct val="100000"/>
              </a:lnSpc>
              <a:spcBef>
                <a:spcPts val="95"/>
              </a:spcBef>
            </a:pPr>
            <a:r>
              <a:rPr sz="2800" spc="-5" dirty="0">
                <a:latin typeface="Tahoma"/>
                <a:cs typeface="Tahoma"/>
              </a:rPr>
              <a:t>comes  </a:t>
            </a:r>
            <a:r>
              <a:rPr sz="2800" spc="-15" dirty="0">
                <a:latin typeface="Tahoma"/>
                <a:cs typeface="Tahoma"/>
              </a:rPr>
              <a:t>from</a:t>
            </a:r>
            <a:endParaRPr sz="2800" dirty="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530"/>
              </a:spcBef>
            </a:pPr>
            <a:r>
              <a:rPr sz="2800" dirty="0">
                <a:latin typeface="Tahoma"/>
                <a:cs typeface="Tahoma"/>
              </a:rPr>
              <a:t>ABC</a:t>
            </a:r>
          </a:p>
        </p:txBody>
      </p:sp>
      <p:sp>
        <p:nvSpPr>
          <p:cNvPr id="8" name="object 8"/>
          <p:cNvSpPr/>
          <p:nvPr/>
        </p:nvSpPr>
        <p:spPr>
          <a:xfrm>
            <a:off x="2933700" y="2971800"/>
            <a:ext cx="76200" cy="1219200"/>
          </a:xfrm>
          <a:custGeom>
            <a:avLst/>
            <a:gdLst/>
            <a:ahLst/>
            <a:cxnLst/>
            <a:rect l="l" t="t" r="r" b="b"/>
            <a:pathLst>
              <a:path w="76200" h="1219200">
                <a:moveTo>
                  <a:pt x="42862" y="1162050"/>
                </a:moveTo>
                <a:lnTo>
                  <a:pt x="33337" y="1162050"/>
                </a:lnTo>
                <a:lnTo>
                  <a:pt x="33337" y="0"/>
                </a:lnTo>
                <a:lnTo>
                  <a:pt x="42862" y="0"/>
                </a:lnTo>
                <a:lnTo>
                  <a:pt x="42862" y="1162050"/>
                </a:lnTo>
                <a:close/>
              </a:path>
              <a:path w="76200" h="1219200">
                <a:moveTo>
                  <a:pt x="38100" y="1219200"/>
                </a:moveTo>
                <a:lnTo>
                  <a:pt x="0" y="1143000"/>
                </a:lnTo>
                <a:lnTo>
                  <a:pt x="33337" y="1143000"/>
                </a:lnTo>
                <a:lnTo>
                  <a:pt x="33337" y="1162050"/>
                </a:lnTo>
                <a:lnTo>
                  <a:pt x="66675" y="1162050"/>
                </a:lnTo>
                <a:lnTo>
                  <a:pt x="38100" y="1219200"/>
                </a:lnTo>
                <a:close/>
              </a:path>
              <a:path w="76200" h="1219200">
                <a:moveTo>
                  <a:pt x="66675" y="1162050"/>
                </a:moveTo>
                <a:lnTo>
                  <a:pt x="42862" y="1162050"/>
                </a:lnTo>
                <a:lnTo>
                  <a:pt x="42862" y="1143000"/>
                </a:lnTo>
                <a:lnTo>
                  <a:pt x="76200" y="1143000"/>
                </a:lnTo>
                <a:lnTo>
                  <a:pt x="66675" y="11620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4762500" y="2971800"/>
            <a:ext cx="76200" cy="1219200"/>
          </a:xfrm>
          <a:custGeom>
            <a:avLst/>
            <a:gdLst/>
            <a:ahLst/>
            <a:cxnLst/>
            <a:rect l="l" t="t" r="r" b="b"/>
            <a:pathLst>
              <a:path w="76200" h="1219200">
                <a:moveTo>
                  <a:pt x="42862" y="1162050"/>
                </a:moveTo>
                <a:lnTo>
                  <a:pt x="33337" y="1162050"/>
                </a:lnTo>
                <a:lnTo>
                  <a:pt x="33337" y="0"/>
                </a:lnTo>
                <a:lnTo>
                  <a:pt x="42862" y="0"/>
                </a:lnTo>
                <a:lnTo>
                  <a:pt x="42862" y="1162050"/>
                </a:lnTo>
                <a:close/>
              </a:path>
              <a:path w="76200" h="1219200">
                <a:moveTo>
                  <a:pt x="38100" y="1219200"/>
                </a:moveTo>
                <a:lnTo>
                  <a:pt x="0" y="1143000"/>
                </a:lnTo>
                <a:lnTo>
                  <a:pt x="33337" y="1143000"/>
                </a:lnTo>
                <a:lnTo>
                  <a:pt x="33337" y="1162050"/>
                </a:lnTo>
                <a:lnTo>
                  <a:pt x="66675" y="1162050"/>
                </a:lnTo>
                <a:lnTo>
                  <a:pt x="38100" y="1219200"/>
                </a:lnTo>
                <a:close/>
              </a:path>
              <a:path w="76200" h="1219200">
                <a:moveTo>
                  <a:pt x="66675" y="1162050"/>
                </a:moveTo>
                <a:lnTo>
                  <a:pt x="42862" y="1162050"/>
                </a:lnTo>
                <a:lnTo>
                  <a:pt x="42862" y="1143000"/>
                </a:lnTo>
                <a:lnTo>
                  <a:pt x="76200" y="1143000"/>
                </a:lnTo>
                <a:lnTo>
                  <a:pt x="66675" y="11620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3271926" y="2357437"/>
            <a:ext cx="542747" cy="54228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5100726" y="2357437"/>
            <a:ext cx="542747" cy="54228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6583078" y="2319019"/>
            <a:ext cx="2450465" cy="194881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60960">
              <a:lnSpc>
                <a:spcPts val="3310"/>
              </a:lnSpc>
              <a:spcBef>
                <a:spcPts val="95"/>
              </a:spcBef>
            </a:pPr>
            <a:r>
              <a:rPr sz="2800" dirty="0">
                <a:latin typeface="Tahoma"/>
                <a:cs typeface="Tahoma"/>
              </a:rPr>
              <a:t>d</a:t>
            </a:r>
            <a:r>
              <a:rPr sz="2700" baseline="-16975" dirty="0">
                <a:latin typeface="Tahoma"/>
                <a:cs typeface="Tahoma"/>
              </a:rPr>
              <a:t>1</a:t>
            </a:r>
            <a:r>
              <a:rPr sz="2800" dirty="0">
                <a:latin typeface="Tahoma"/>
                <a:cs typeface="Tahoma"/>
              </a:rPr>
              <a:t>=d</a:t>
            </a:r>
            <a:r>
              <a:rPr sz="2700" baseline="-16975" dirty="0">
                <a:latin typeface="Tahoma"/>
                <a:cs typeface="Tahoma"/>
              </a:rPr>
              <a:t>2</a:t>
            </a:r>
            <a:r>
              <a:rPr sz="2700" spc="412" baseline="-16975" dirty="0">
                <a:latin typeface="Tahoma"/>
                <a:cs typeface="Tahoma"/>
              </a:rPr>
              <a:t> </a:t>
            </a:r>
            <a:r>
              <a:rPr sz="2800" spc="-5" dirty="0">
                <a:latin typeface="Tahoma"/>
                <a:cs typeface="Tahoma"/>
              </a:rPr>
              <a:t>because</a:t>
            </a:r>
            <a:endParaRPr sz="2800">
              <a:latin typeface="Tahoma"/>
              <a:cs typeface="Tahoma"/>
            </a:endParaRPr>
          </a:p>
          <a:p>
            <a:pPr marL="38100">
              <a:lnSpc>
                <a:spcPts val="3429"/>
              </a:lnSpc>
            </a:pPr>
            <a:r>
              <a:rPr sz="2900" i="1" spc="-35" dirty="0">
                <a:solidFill>
                  <a:srgbClr val="00CC99"/>
                </a:solidFill>
                <a:latin typeface="Tahoma"/>
                <a:cs typeface="Tahoma"/>
              </a:rPr>
              <a:t>C</a:t>
            </a:r>
            <a:r>
              <a:rPr sz="2800" spc="-35" dirty="0">
                <a:solidFill>
                  <a:srgbClr val="00CC99"/>
                </a:solidFill>
                <a:latin typeface="Tahoma"/>
                <a:cs typeface="Tahoma"/>
              </a:rPr>
              <a:t>-&gt;</a:t>
            </a:r>
            <a:r>
              <a:rPr sz="2800" spc="-190" dirty="0">
                <a:solidFill>
                  <a:srgbClr val="00CC99"/>
                </a:solidFill>
                <a:latin typeface="Tahoma"/>
                <a:cs typeface="Tahoma"/>
              </a:rPr>
              <a:t> </a:t>
            </a:r>
            <a:r>
              <a:rPr sz="2900" i="1" spc="-75" dirty="0">
                <a:solidFill>
                  <a:srgbClr val="00CC99"/>
                </a:solidFill>
                <a:latin typeface="Tahoma"/>
                <a:cs typeface="Tahoma"/>
              </a:rPr>
              <a:t>D</a:t>
            </a:r>
            <a:endParaRPr sz="2900">
              <a:latin typeface="Tahoma"/>
              <a:cs typeface="Tahoma"/>
            </a:endParaRPr>
          </a:p>
          <a:p>
            <a:pPr marL="137160">
              <a:lnSpc>
                <a:spcPts val="3310"/>
              </a:lnSpc>
              <a:spcBef>
                <a:spcPts val="1660"/>
              </a:spcBef>
            </a:pPr>
            <a:r>
              <a:rPr sz="2800" dirty="0">
                <a:latin typeface="Tahoma"/>
                <a:cs typeface="Tahoma"/>
              </a:rPr>
              <a:t>a</a:t>
            </a:r>
            <a:r>
              <a:rPr sz="2700" baseline="-16975" dirty="0">
                <a:latin typeface="Tahoma"/>
                <a:cs typeface="Tahoma"/>
              </a:rPr>
              <a:t>1</a:t>
            </a:r>
            <a:r>
              <a:rPr sz="2800" dirty="0">
                <a:latin typeface="Tahoma"/>
                <a:cs typeface="Tahoma"/>
              </a:rPr>
              <a:t>=a</a:t>
            </a:r>
            <a:r>
              <a:rPr sz="2700" baseline="-16975" dirty="0">
                <a:latin typeface="Tahoma"/>
                <a:cs typeface="Tahoma"/>
              </a:rPr>
              <a:t>2</a:t>
            </a:r>
            <a:r>
              <a:rPr sz="2700" spc="390" baseline="-16975" dirty="0">
                <a:latin typeface="Tahoma"/>
                <a:cs typeface="Tahoma"/>
              </a:rPr>
              <a:t> </a:t>
            </a:r>
            <a:r>
              <a:rPr sz="2800" spc="-5" dirty="0">
                <a:latin typeface="Tahoma"/>
                <a:cs typeface="Tahoma"/>
              </a:rPr>
              <a:t>because</a:t>
            </a:r>
            <a:endParaRPr sz="2800">
              <a:latin typeface="Tahoma"/>
              <a:cs typeface="Tahoma"/>
            </a:endParaRPr>
          </a:p>
          <a:p>
            <a:pPr marL="114300">
              <a:lnSpc>
                <a:spcPts val="3429"/>
              </a:lnSpc>
            </a:pPr>
            <a:r>
              <a:rPr sz="2900" i="1" spc="-35" dirty="0">
                <a:solidFill>
                  <a:srgbClr val="00CC99"/>
                </a:solidFill>
                <a:latin typeface="Tahoma"/>
                <a:cs typeface="Tahoma"/>
              </a:rPr>
              <a:t>D</a:t>
            </a:r>
            <a:r>
              <a:rPr sz="2800" spc="-35" dirty="0">
                <a:solidFill>
                  <a:srgbClr val="00CC99"/>
                </a:solidFill>
                <a:latin typeface="Tahoma"/>
                <a:cs typeface="Tahoma"/>
              </a:rPr>
              <a:t>-&gt;</a:t>
            </a:r>
            <a:r>
              <a:rPr sz="2800" spc="-195" dirty="0">
                <a:solidFill>
                  <a:srgbClr val="00CC99"/>
                </a:solidFill>
                <a:latin typeface="Tahoma"/>
                <a:cs typeface="Tahoma"/>
              </a:rPr>
              <a:t> </a:t>
            </a:r>
            <a:r>
              <a:rPr sz="2900" i="1" spc="-65" dirty="0">
                <a:solidFill>
                  <a:srgbClr val="00CC99"/>
                </a:solidFill>
                <a:latin typeface="Tahoma"/>
                <a:cs typeface="Tahoma"/>
              </a:rPr>
              <a:t>A</a:t>
            </a:r>
            <a:endParaRPr sz="2900">
              <a:latin typeface="Tahoma"/>
              <a:cs typeface="Tahoma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2357526" y="2357437"/>
            <a:ext cx="542747" cy="54228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4186326" y="2357437"/>
            <a:ext cx="542747" cy="542289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292475" y="829944"/>
            <a:ext cx="255968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Basic</a:t>
            </a:r>
            <a:r>
              <a:rPr spc="-80" dirty="0"/>
              <a:t> </a:t>
            </a:r>
            <a:r>
              <a:rPr spc="-15" dirty="0"/>
              <a:t>Idea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dirty="0"/>
              <a:t>18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764540" y="2012949"/>
            <a:ext cx="7510145" cy="3997247"/>
          </a:xfrm>
          <a:prstGeom prst="rect">
            <a:avLst/>
          </a:prstGeom>
        </p:spPr>
        <p:txBody>
          <a:bodyPr vert="horz" wrap="square" lIns="0" tIns="29209" rIns="0" bIns="0" rtlCol="0">
            <a:spAutoFit/>
          </a:bodyPr>
          <a:lstStyle/>
          <a:p>
            <a:pPr marL="568325" marR="548005" indent="-556260">
              <a:lnSpc>
                <a:spcPts val="3840"/>
              </a:lnSpc>
              <a:spcBef>
                <a:spcPts val="229"/>
              </a:spcBef>
              <a:buClr>
                <a:srgbClr val="CC00CC"/>
              </a:buClr>
              <a:buFont typeface="Tahoma"/>
              <a:buAutoNum type="arabicPeriod"/>
              <a:tabLst>
                <a:tab pos="621665" algn="l"/>
                <a:tab pos="622300" algn="l"/>
              </a:tabLst>
            </a:pPr>
            <a:r>
              <a:rPr dirty="0"/>
              <a:t>	</a:t>
            </a:r>
            <a:r>
              <a:rPr sz="3200" spc="-5" dirty="0">
                <a:latin typeface="Tahoma"/>
                <a:cs typeface="Tahoma"/>
              </a:rPr>
              <a:t>Start with </a:t>
            </a:r>
            <a:r>
              <a:rPr sz="3200" spc="-10" dirty="0">
                <a:latin typeface="Tahoma"/>
                <a:cs typeface="Tahoma"/>
              </a:rPr>
              <a:t>given </a:t>
            </a:r>
            <a:r>
              <a:rPr sz="3200" spc="-30" dirty="0">
                <a:latin typeface="Tahoma"/>
                <a:cs typeface="Tahoma"/>
              </a:rPr>
              <a:t>FD’s </a:t>
            </a:r>
            <a:r>
              <a:rPr sz="3200" spc="-5" dirty="0">
                <a:latin typeface="Tahoma"/>
                <a:cs typeface="Tahoma"/>
              </a:rPr>
              <a:t>and find </a:t>
            </a:r>
            <a:r>
              <a:rPr sz="3200" dirty="0">
                <a:latin typeface="Tahoma"/>
                <a:cs typeface="Tahoma"/>
              </a:rPr>
              <a:t>all </a:t>
            </a:r>
            <a:r>
              <a:rPr lang="en-US" altLang="zh-CN" sz="3200" dirty="0">
                <a:effectLst/>
              </a:rPr>
              <a:t>nontrivial </a:t>
            </a:r>
            <a:r>
              <a:rPr lang="zh-CN" altLang="en-US" sz="3200" dirty="0">
                <a:effectLst/>
              </a:rPr>
              <a:t>非平凡的</a:t>
            </a:r>
            <a:r>
              <a:rPr sz="3350" i="1" spc="-1030" dirty="0">
                <a:solidFill>
                  <a:srgbClr val="FF0066"/>
                </a:solidFill>
                <a:latin typeface="Tahoma"/>
                <a:cs typeface="Tahoma"/>
              </a:rPr>
              <a:t> </a:t>
            </a:r>
            <a:r>
              <a:rPr sz="3200" spc="-30" dirty="0">
                <a:latin typeface="Tahoma"/>
                <a:cs typeface="Tahoma"/>
              </a:rPr>
              <a:t>FD’s </a:t>
            </a:r>
            <a:r>
              <a:rPr sz="3200" spc="-5" dirty="0">
                <a:latin typeface="Tahoma"/>
                <a:cs typeface="Tahoma"/>
              </a:rPr>
              <a:t>that </a:t>
            </a:r>
            <a:r>
              <a:rPr sz="3200" spc="-10" dirty="0">
                <a:latin typeface="Tahoma"/>
                <a:cs typeface="Tahoma"/>
              </a:rPr>
              <a:t>follow from </a:t>
            </a:r>
            <a:r>
              <a:rPr sz="3200" spc="-5" dirty="0">
                <a:latin typeface="Tahoma"/>
                <a:cs typeface="Tahoma"/>
              </a:rPr>
              <a:t>the  </a:t>
            </a:r>
            <a:r>
              <a:rPr sz="3200" spc="-10" dirty="0">
                <a:latin typeface="Tahoma"/>
                <a:cs typeface="Tahoma"/>
              </a:rPr>
              <a:t>given </a:t>
            </a:r>
            <a:r>
              <a:rPr sz="3200" spc="-25" dirty="0">
                <a:latin typeface="Tahoma"/>
                <a:cs typeface="Tahoma"/>
              </a:rPr>
              <a:t>FD’s.</a:t>
            </a:r>
            <a:endParaRPr sz="3200" dirty="0">
              <a:latin typeface="Tahoma"/>
              <a:cs typeface="Tahoma"/>
            </a:endParaRPr>
          </a:p>
          <a:p>
            <a:pPr marL="1002665" marR="429259" lvl="1" indent="-533400">
              <a:lnSpc>
                <a:spcPct val="100000"/>
              </a:lnSpc>
              <a:spcBef>
                <a:spcPts val="545"/>
              </a:spcBef>
              <a:buClr>
                <a:srgbClr val="CC00CC"/>
              </a:buClr>
              <a:buFont typeface="Wingdings"/>
              <a:buChar char=""/>
              <a:tabLst>
                <a:tab pos="1002665" algn="l"/>
                <a:tab pos="1003300" algn="l"/>
              </a:tabLst>
            </a:pPr>
            <a:r>
              <a:rPr sz="2800" spc="-5" dirty="0">
                <a:latin typeface="Tahoma"/>
                <a:cs typeface="Tahoma"/>
              </a:rPr>
              <a:t>Nontrivial = right side not contained in  the left.</a:t>
            </a:r>
            <a:r>
              <a:rPr lang="zh-CN" altLang="en-US" sz="2800" spc="-5" dirty="0">
                <a:latin typeface="Tahoma"/>
                <a:cs typeface="Tahoma"/>
              </a:rPr>
              <a:t>右侧不包含在左侧</a:t>
            </a:r>
            <a:endParaRPr sz="2800" dirty="0">
              <a:latin typeface="Tahoma"/>
              <a:cs typeface="Tahoma"/>
            </a:endParaRPr>
          </a:p>
          <a:p>
            <a:pPr marL="622300" marR="5080" indent="-609600">
              <a:lnSpc>
                <a:spcPct val="100000"/>
              </a:lnSpc>
              <a:spcBef>
                <a:spcPts val="765"/>
              </a:spcBef>
              <a:buClr>
                <a:srgbClr val="CC00CC"/>
              </a:buClr>
              <a:buAutoNum type="arabicPeriod"/>
              <a:tabLst>
                <a:tab pos="621665" algn="l"/>
                <a:tab pos="622300" algn="l"/>
              </a:tabLst>
            </a:pPr>
            <a:r>
              <a:rPr sz="3200" spc="-10" dirty="0">
                <a:latin typeface="Tahoma"/>
                <a:cs typeface="Tahoma"/>
              </a:rPr>
              <a:t>Restrict </a:t>
            </a:r>
            <a:r>
              <a:rPr sz="3200" spc="-5" dirty="0">
                <a:latin typeface="Tahoma"/>
                <a:cs typeface="Tahoma"/>
              </a:rPr>
              <a:t>to those </a:t>
            </a:r>
            <a:r>
              <a:rPr sz="3200" spc="-30" dirty="0">
                <a:latin typeface="Tahoma"/>
                <a:cs typeface="Tahoma"/>
              </a:rPr>
              <a:t>FD’s </a:t>
            </a:r>
            <a:r>
              <a:rPr sz="3200" spc="-5" dirty="0">
                <a:latin typeface="Tahoma"/>
                <a:cs typeface="Tahoma"/>
              </a:rPr>
              <a:t>that </a:t>
            </a:r>
            <a:r>
              <a:rPr sz="3200" spc="-15" dirty="0">
                <a:latin typeface="Tahoma"/>
                <a:cs typeface="Tahoma"/>
              </a:rPr>
              <a:t>involve </a:t>
            </a:r>
            <a:r>
              <a:rPr sz="3200" spc="-5" dirty="0">
                <a:latin typeface="Tahoma"/>
                <a:cs typeface="Tahoma"/>
              </a:rPr>
              <a:t>only  attributes of the projected</a:t>
            </a:r>
            <a:r>
              <a:rPr lang="zh-CN" altLang="en-US" sz="3200" spc="-5" dirty="0">
                <a:latin typeface="Tahoma"/>
                <a:cs typeface="Tahoma"/>
              </a:rPr>
              <a:t>投影</a:t>
            </a:r>
            <a:r>
              <a:rPr sz="3200" spc="-25" dirty="0">
                <a:latin typeface="Tahoma"/>
                <a:cs typeface="Tahoma"/>
              </a:rPr>
              <a:t> </a:t>
            </a:r>
            <a:r>
              <a:rPr sz="3200" spc="-5" dirty="0">
                <a:latin typeface="Tahoma"/>
                <a:cs typeface="Tahoma"/>
              </a:rPr>
              <a:t>schema.</a:t>
            </a:r>
            <a:endParaRPr sz="3200" dirty="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67726" y="471427"/>
            <a:ext cx="7410450" cy="136768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Simple, Exponential</a:t>
            </a:r>
            <a:r>
              <a:rPr spc="-25" dirty="0"/>
              <a:t> </a:t>
            </a:r>
            <a:r>
              <a:rPr spc="-5" dirty="0"/>
              <a:t>Algorithm</a:t>
            </a:r>
            <a:r>
              <a:rPr lang="zh-CN" altLang="en-US" spc="-5" dirty="0"/>
              <a:t>指数算法</a:t>
            </a:r>
            <a:endParaRPr spc="-5" dirty="0"/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dirty="0"/>
              <a:t>19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447040" y="1844423"/>
            <a:ext cx="8093075" cy="4321696"/>
          </a:xfrm>
          <a:prstGeom prst="rect">
            <a:avLst/>
          </a:prstGeom>
        </p:spPr>
        <p:txBody>
          <a:bodyPr vert="horz" wrap="square" lIns="0" tIns="86360" rIns="0" bIns="0" rtlCol="0">
            <a:spAutoFit/>
          </a:bodyPr>
          <a:lstStyle/>
          <a:p>
            <a:pPr marL="635000" indent="-609600">
              <a:lnSpc>
                <a:spcPct val="100000"/>
              </a:lnSpc>
              <a:spcBef>
                <a:spcPts val="680"/>
              </a:spcBef>
              <a:buClr>
                <a:srgbClr val="CC00CC"/>
              </a:buClr>
              <a:buAutoNum type="arabicPeriod"/>
              <a:tabLst>
                <a:tab pos="634365" algn="l"/>
                <a:tab pos="635000" algn="l"/>
              </a:tabLst>
            </a:pPr>
            <a:r>
              <a:rPr sz="3200" spc="-30" dirty="0">
                <a:latin typeface="Tahoma"/>
                <a:cs typeface="Tahoma"/>
              </a:rPr>
              <a:t>For </a:t>
            </a:r>
            <a:r>
              <a:rPr sz="3200" spc="-5" dirty="0">
                <a:latin typeface="Tahoma"/>
                <a:cs typeface="Tahoma"/>
              </a:rPr>
              <a:t>each set of attributes </a:t>
            </a:r>
            <a:r>
              <a:rPr sz="3350" i="1" spc="-560" dirty="0">
                <a:latin typeface="Tahoma"/>
                <a:cs typeface="Tahoma"/>
              </a:rPr>
              <a:t>X</a:t>
            </a:r>
            <a:r>
              <a:rPr sz="3200" spc="-560" dirty="0">
                <a:latin typeface="Tahoma"/>
                <a:cs typeface="Tahoma"/>
              </a:rPr>
              <a:t>, </a:t>
            </a:r>
            <a:r>
              <a:rPr sz="3200" spc="-5" dirty="0">
                <a:latin typeface="Tahoma"/>
                <a:cs typeface="Tahoma"/>
              </a:rPr>
              <a:t>compute</a:t>
            </a:r>
            <a:r>
              <a:rPr sz="3200" spc="-285" dirty="0">
                <a:latin typeface="Tahoma"/>
                <a:cs typeface="Tahoma"/>
              </a:rPr>
              <a:t> </a:t>
            </a:r>
            <a:r>
              <a:rPr sz="3350" i="1" spc="-150" dirty="0">
                <a:latin typeface="Tahoma"/>
                <a:cs typeface="Tahoma"/>
              </a:rPr>
              <a:t>X</a:t>
            </a:r>
            <a:r>
              <a:rPr sz="3075" spc="-225" baseline="21680" dirty="0">
                <a:latin typeface="Tahoma"/>
                <a:cs typeface="Tahoma"/>
              </a:rPr>
              <a:t>+</a:t>
            </a:r>
            <a:r>
              <a:rPr sz="3200" spc="-150" dirty="0">
                <a:latin typeface="Tahoma"/>
                <a:cs typeface="Tahoma"/>
              </a:rPr>
              <a:t>.</a:t>
            </a:r>
            <a:endParaRPr sz="3200" dirty="0">
              <a:latin typeface="Tahoma"/>
              <a:cs typeface="Tahoma"/>
            </a:endParaRPr>
          </a:p>
          <a:p>
            <a:pPr marL="635000" indent="-609600">
              <a:lnSpc>
                <a:spcPct val="100000"/>
              </a:lnSpc>
              <a:spcBef>
                <a:spcPts val="585"/>
              </a:spcBef>
              <a:buClr>
                <a:srgbClr val="CC00CC"/>
              </a:buClr>
              <a:buAutoNum type="arabicPeriod"/>
              <a:tabLst>
                <a:tab pos="634365" algn="l"/>
                <a:tab pos="635000" algn="l"/>
                <a:tab pos="5405755" algn="l"/>
              </a:tabLst>
            </a:pPr>
            <a:r>
              <a:rPr sz="3200" spc="-5" dirty="0">
                <a:latin typeface="Tahoma"/>
                <a:cs typeface="Tahoma"/>
              </a:rPr>
              <a:t>Add </a:t>
            </a:r>
            <a:r>
              <a:rPr sz="3350" i="1" spc="-105" dirty="0">
                <a:solidFill>
                  <a:srgbClr val="00CC99"/>
                </a:solidFill>
                <a:latin typeface="Tahoma"/>
                <a:cs typeface="Tahoma"/>
              </a:rPr>
              <a:t>X</a:t>
            </a:r>
            <a:r>
              <a:rPr sz="3200" spc="-105" dirty="0">
                <a:solidFill>
                  <a:srgbClr val="00CC99"/>
                </a:solidFill>
                <a:latin typeface="Tahoma"/>
                <a:cs typeface="Tahoma"/>
              </a:rPr>
              <a:t>-&gt;</a:t>
            </a:r>
            <a:r>
              <a:rPr sz="3350" i="1" spc="-105" dirty="0">
                <a:solidFill>
                  <a:srgbClr val="00CC99"/>
                </a:solidFill>
                <a:latin typeface="Tahoma"/>
                <a:cs typeface="Tahoma"/>
              </a:rPr>
              <a:t>A </a:t>
            </a:r>
            <a:r>
              <a:rPr sz="3200" spc="-15" dirty="0">
                <a:latin typeface="Tahoma"/>
                <a:cs typeface="Tahoma"/>
              </a:rPr>
              <a:t>for </a:t>
            </a:r>
            <a:r>
              <a:rPr sz="3200" dirty="0">
                <a:latin typeface="Tahoma"/>
                <a:cs typeface="Tahoma"/>
              </a:rPr>
              <a:t>all</a:t>
            </a:r>
            <a:r>
              <a:rPr sz="3200" spc="-365" dirty="0">
                <a:latin typeface="Tahoma"/>
                <a:cs typeface="Tahoma"/>
              </a:rPr>
              <a:t> </a:t>
            </a:r>
            <a:r>
              <a:rPr sz="3350" i="1" spc="-40" dirty="0">
                <a:latin typeface="Tahoma"/>
                <a:cs typeface="Tahoma"/>
              </a:rPr>
              <a:t>A</a:t>
            </a:r>
            <a:r>
              <a:rPr lang="en-US" sz="3350" i="1" spc="-40" dirty="0">
                <a:latin typeface="Tahoma"/>
                <a:cs typeface="Tahoma"/>
              </a:rPr>
              <a:t> </a:t>
            </a:r>
            <a:r>
              <a:rPr sz="3200" spc="-40" dirty="0">
                <a:latin typeface="Tahoma"/>
                <a:cs typeface="Tahoma"/>
              </a:rPr>
              <a:t>in</a:t>
            </a:r>
            <a:r>
              <a:rPr sz="3200" spc="-210" dirty="0">
                <a:latin typeface="Tahoma"/>
                <a:cs typeface="Tahoma"/>
              </a:rPr>
              <a:t> </a:t>
            </a:r>
            <a:r>
              <a:rPr sz="3350" i="1" spc="-50" dirty="0">
                <a:latin typeface="Tahoma"/>
                <a:cs typeface="Tahoma"/>
              </a:rPr>
              <a:t>X</a:t>
            </a:r>
            <a:r>
              <a:rPr sz="3075" spc="-75" baseline="21680" dirty="0">
                <a:latin typeface="Tahoma"/>
                <a:cs typeface="Tahoma"/>
              </a:rPr>
              <a:t>+	</a:t>
            </a:r>
            <a:r>
              <a:rPr sz="3200" dirty="0">
                <a:latin typeface="Tahoma"/>
                <a:cs typeface="Tahoma"/>
              </a:rPr>
              <a:t>-</a:t>
            </a:r>
            <a:r>
              <a:rPr sz="3200" spc="-220" dirty="0">
                <a:latin typeface="Tahoma"/>
                <a:cs typeface="Tahoma"/>
              </a:rPr>
              <a:t> </a:t>
            </a:r>
            <a:r>
              <a:rPr sz="3350" i="1" spc="-560" dirty="0">
                <a:latin typeface="Tahoma"/>
                <a:cs typeface="Tahoma"/>
              </a:rPr>
              <a:t>X</a:t>
            </a:r>
            <a:r>
              <a:rPr sz="3200" spc="-560" dirty="0">
                <a:latin typeface="Tahoma"/>
                <a:cs typeface="Tahoma"/>
              </a:rPr>
              <a:t>.</a:t>
            </a:r>
            <a:endParaRPr sz="3200" dirty="0">
              <a:latin typeface="Tahoma"/>
              <a:cs typeface="Tahoma"/>
            </a:endParaRPr>
          </a:p>
          <a:p>
            <a:pPr marL="635000" marR="816610" indent="-609600">
              <a:lnSpc>
                <a:spcPts val="3840"/>
              </a:lnSpc>
              <a:spcBef>
                <a:spcPts val="865"/>
              </a:spcBef>
              <a:buClr>
                <a:srgbClr val="CC00CC"/>
              </a:buClr>
              <a:buAutoNum type="arabicPeriod"/>
              <a:tabLst>
                <a:tab pos="634365" algn="l"/>
                <a:tab pos="635000" algn="l"/>
              </a:tabLst>
            </a:pPr>
            <a:r>
              <a:rPr sz="3200" spc="-60" dirty="0">
                <a:latin typeface="Tahoma"/>
                <a:cs typeface="Tahoma"/>
              </a:rPr>
              <a:t>However, </a:t>
            </a:r>
            <a:r>
              <a:rPr sz="3200" spc="-5" dirty="0">
                <a:latin typeface="Tahoma"/>
                <a:cs typeface="Tahoma"/>
              </a:rPr>
              <a:t>drop </a:t>
            </a:r>
            <a:r>
              <a:rPr sz="3350" i="1" spc="-350" dirty="0">
                <a:solidFill>
                  <a:srgbClr val="00CC99"/>
                </a:solidFill>
                <a:latin typeface="Tahoma"/>
                <a:cs typeface="Tahoma"/>
              </a:rPr>
              <a:t>XY</a:t>
            </a:r>
            <a:r>
              <a:rPr sz="3200" spc="-350" dirty="0">
                <a:solidFill>
                  <a:srgbClr val="00CC99"/>
                </a:solidFill>
                <a:latin typeface="Tahoma"/>
                <a:cs typeface="Tahoma"/>
              </a:rPr>
              <a:t>-&gt;</a:t>
            </a:r>
            <a:r>
              <a:rPr sz="3350" i="1" spc="-350" dirty="0">
                <a:solidFill>
                  <a:srgbClr val="00CC99"/>
                </a:solidFill>
                <a:latin typeface="Tahoma"/>
                <a:cs typeface="Tahoma"/>
              </a:rPr>
              <a:t>A </a:t>
            </a:r>
            <a:r>
              <a:rPr sz="3200" spc="-5" dirty="0">
                <a:latin typeface="Tahoma"/>
                <a:cs typeface="Tahoma"/>
              </a:rPr>
              <a:t>whenever </a:t>
            </a:r>
            <a:r>
              <a:rPr sz="3200" dirty="0">
                <a:latin typeface="Tahoma"/>
                <a:cs typeface="Tahoma"/>
              </a:rPr>
              <a:t>we  </a:t>
            </a:r>
            <a:r>
              <a:rPr sz="3200" spc="-10" dirty="0">
                <a:latin typeface="Tahoma"/>
                <a:cs typeface="Tahoma"/>
              </a:rPr>
              <a:t>discover</a:t>
            </a:r>
            <a:r>
              <a:rPr sz="3200" spc="-220" dirty="0">
                <a:latin typeface="Tahoma"/>
                <a:cs typeface="Tahoma"/>
              </a:rPr>
              <a:t> </a:t>
            </a:r>
            <a:r>
              <a:rPr sz="3350" i="1" spc="-290" dirty="0">
                <a:solidFill>
                  <a:srgbClr val="00CC99"/>
                </a:solidFill>
                <a:latin typeface="Tahoma"/>
                <a:cs typeface="Tahoma"/>
              </a:rPr>
              <a:t>X</a:t>
            </a:r>
            <a:r>
              <a:rPr sz="3200" spc="-290" dirty="0">
                <a:solidFill>
                  <a:srgbClr val="00CC99"/>
                </a:solidFill>
                <a:latin typeface="Tahoma"/>
                <a:cs typeface="Tahoma"/>
              </a:rPr>
              <a:t>-&gt;</a:t>
            </a:r>
            <a:r>
              <a:rPr sz="3350" i="1" spc="-290" dirty="0">
                <a:solidFill>
                  <a:srgbClr val="00CC99"/>
                </a:solidFill>
                <a:latin typeface="Tahoma"/>
                <a:cs typeface="Tahoma"/>
              </a:rPr>
              <a:t>A</a:t>
            </a:r>
            <a:r>
              <a:rPr sz="3200" spc="-290" dirty="0">
                <a:latin typeface="Tahoma"/>
                <a:cs typeface="Tahoma"/>
              </a:rPr>
              <a:t>.</a:t>
            </a:r>
            <a:endParaRPr sz="3200" dirty="0">
              <a:latin typeface="Tahoma"/>
              <a:cs typeface="Tahoma"/>
            </a:endParaRPr>
          </a:p>
          <a:p>
            <a:pPr marL="1016000" marR="196850" lvl="1" indent="-533400">
              <a:lnSpc>
                <a:spcPts val="3360"/>
              </a:lnSpc>
              <a:spcBef>
                <a:spcPts val="650"/>
              </a:spcBef>
              <a:buClr>
                <a:srgbClr val="CC00CC"/>
              </a:buClr>
              <a:buFont typeface="Wingdings"/>
              <a:buChar char=""/>
              <a:tabLst>
                <a:tab pos="1015365" algn="l"/>
                <a:tab pos="1016000" algn="l"/>
              </a:tabLst>
            </a:pPr>
            <a:r>
              <a:rPr sz="2800" spc="-5" dirty="0">
                <a:latin typeface="Tahoma"/>
                <a:cs typeface="Tahoma"/>
              </a:rPr>
              <a:t>Because </a:t>
            </a:r>
            <a:r>
              <a:rPr sz="2900" i="1" spc="-300" dirty="0">
                <a:solidFill>
                  <a:srgbClr val="00CC99"/>
                </a:solidFill>
                <a:latin typeface="Tahoma"/>
                <a:cs typeface="Tahoma"/>
              </a:rPr>
              <a:t>XY</a:t>
            </a:r>
            <a:r>
              <a:rPr sz="2800" spc="-300" dirty="0">
                <a:solidFill>
                  <a:srgbClr val="00CC99"/>
                </a:solidFill>
                <a:latin typeface="Tahoma"/>
                <a:cs typeface="Tahoma"/>
              </a:rPr>
              <a:t>-&gt;</a:t>
            </a:r>
            <a:r>
              <a:rPr sz="2900" i="1" spc="-300" dirty="0">
                <a:solidFill>
                  <a:srgbClr val="00CC99"/>
                </a:solidFill>
                <a:latin typeface="Tahoma"/>
                <a:cs typeface="Tahoma"/>
              </a:rPr>
              <a:t>A </a:t>
            </a:r>
            <a:r>
              <a:rPr sz="2800" spc="-5" dirty="0">
                <a:latin typeface="Tahoma"/>
                <a:cs typeface="Tahoma"/>
              </a:rPr>
              <a:t>follows </a:t>
            </a:r>
            <a:r>
              <a:rPr sz="2800" spc="-15" dirty="0">
                <a:latin typeface="Tahoma"/>
                <a:cs typeface="Tahoma"/>
              </a:rPr>
              <a:t>from </a:t>
            </a:r>
            <a:r>
              <a:rPr sz="2900" i="1" spc="-85" dirty="0">
                <a:solidFill>
                  <a:srgbClr val="00CC99"/>
                </a:solidFill>
                <a:latin typeface="Tahoma"/>
                <a:cs typeface="Tahoma"/>
              </a:rPr>
              <a:t>X</a:t>
            </a:r>
            <a:r>
              <a:rPr sz="2800" spc="-85" dirty="0">
                <a:solidFill>
                  <a:srgbClr val="00CC99"/>
                </a:solidFill>
                <a:latin typeface="Tahoma"/>
                <a:cs typeface="Tahoma"/>
              </a:rPr>
              <a:t>-&gt;</a:t>
            </a:r>
            <a:r>
              <a:rPr sz="2900" i="1" spc="-85" dirty="0">
                <a:solidFill>
                  <a:srgbClr val="00CC99"/>
                </a:solidFill>
                <a:latin typeface="Tahoma"/>
                <a:cs typeface="Tahoma"/>
              </a:rPr>
              <a:t>A </a:t>
            </a:r>
            <a:r>
              <a:rPr sz="2800" spc="-5" dirty="0">
                <a:solidFill>
                  <a:srgbClr val="FF9900"/>
                </a:solidFill>
                <a:latin typeface="Tahoma"/>
                <a:cs typeface="Tahoma"/>
              </a:rPr>
              <a:t>in </a:t>
            </a:r>
            <a:r>
              <a:rPr sz="2800" spc="-15" dirty="0">
                <a:solidFill>
                  <a:srgbClr val="FF9900"/>
                </a:solidFill>
                <a:latin typeface="Tahoma"/>
                <a:cs typeface="Tahoma"/>
              </a:rPr>
              <a:t>any  </a:t>
            </a:r>
            <a:r>
              <a:rPr sz="2800" spc="-5" dirty="0">
                <a:solidFill>
                  <a:srgbClr val="FF9900"/>
                </a:solidFill>
                <a:latin typeface="Tahoma"/>
                <a:cs typeface="Tahoma"/>
              </a:rPr>
              <a:t>projection</a:t>
            </a:r>
            <a:r>
              <a:rPr sz="2800" spc="-5" dirty="0">
                <a:latin typeface="Tahoma"/>
                <a:cs typeface="Tahoma"/>
              </a:rPr>
              <a:t>.</a:t>
            </a:r>
            <a:endParaRPr sz="2800" dirty="0">
              <a:latin typeface="Tahoma"/>
              <a:cs typeface="Tahoma"/>
            </a:endParaRPr>
          </a:p>
          <a:p>
            <a:pPr marL="635000" marR="231775" indent="-609600">
              <a:lnSpc>
                <a:spcPct val="100000"/>
              </a:lnSpc>
              <a:spcBef>
                <a:spcPts val="655"/>
              </a:spcBef>
              <a:buClr>
                <a:srgbClr val="CC00CC"/>
              </a:buClr>
              <a:buAutoNum type="arabicPeriod"/>
              <a:tabLst>
                <a:tab pos="634365" algn="l"/>
                <a:tab pos="635000" algn="l"/>
              </a:tabLst>
            </a:pPr>
            <a:r>
              <a:rPr sz="3200" spc="-40" dirty="0">
                <a:latin typeface="Tahoma"/>
                <a:cs typeface="Tahoma"/>
              </a:rPr>
              <a:t>Finally, </a:t>
            </a:r>
            <a:r>
              <a:rPr sz="3200" spc="-5" dirty="0">
                <a:latin typeface="Tahoma"/>
                <a:cs typeface="Tahoma"/>
              </a:rPr>
              <a:t>use only </a:t>
            </a:r>
            <a:r>
              <a:rPr sz="3200" spc="-30" dirty="0">
                <a:latin typeface="Tahoma"/>
                <a:cs typeface="Tahoma"/>
              </a:rPr>
              <a:t>FD’s </a:t>
            </a:r>
            <a:r>
              <a:rPr sz="3200" spc="-10" dirty="0">
                <a:latin typeface="Tahoma"/>
                <a:cs typeface="Tahoma"/>
              </a:rPr>
              <a:t>involving </a:t>
            </a:r>
            <a:r>
              <a:rPr sz="3200" spc="-5" dirty="0">
                <a:latin typeface="Tahoma"/>
                <a:cs typeface="Tahoma"/>
              </a:rPr>
              <a:t>projected  attributes.</a:t>
            </a:r>
            <a:endParaRPr sz="3200" dirty="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28950" y="829944"/>
            <a:ext cx="308610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A </a:t>
            </a:r>
            <a:r>
              <a:rPr spc="-40" dirty="0"/>
              <a:t>Few</a:t>
            </a:r>
            <a:r>
              <a:rPr spc="-65" dirty="0"/>
              <a:t> </a:t>
            </a:r>
            <a:r>
              <a:rPr spc="-75" dirty="0"/>
              <a:t>Tricks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dirty="0"/>
              <a:t>20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751840" y="2012949"/>
            <a:ext cx="7459980" cy="20783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68300" marR="17780" indent="-342900">
              <a:lnSpc>
                <a:spcPct val="100000"/>
              </a:lnSpc>
              <a:spcBef>
                <a:spcPts val="105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27990" algn="l"/>
              </a:tabLst>
            </a:pPr>
            <a:r>
              <a:rPr sz="3200" dirty="0">
                <a:latin typeface="Tahoma"/>
                <a:cs typeface="Tahoma"/>
              </a:rPr>
              <a:t>No </a:t>
            </a:r>
            <a:r>
              <a:rPr sz="3200" spc="-5" dirty="0">
                <a:latin typeface="Tahoma"/>
                <a:cs typeface="Tahoma"/>
              </a:rPr>
              <a:t>need to compute the closure of the  </a:t>
            </a:r>
            <a:r>
              <a:rPr sz="3200" spc="-10" dirty="0">
                <a:latin typeface="Tahoma"/>
                <a:cs typeface="Tahoma"/>
              </a:rPr>
              <a:t>empty </a:t>
            </a:r>
            <a:r>
              <a:rPr sz="3200" spc="-5" dirty="0">
                <a:latin typeface="Tahoma"/>
                <a:cs typeface="Tahoma"/>
              </a:rPr>
              <a:t>set or of the set of </a:t>
            </a:r>
            <a:r>
              <a:rPr sz="3200" dirty="0">
                <a:latin typeface="Tahoma"/>
                <a:cs typeface="Tahoma"/>
              </a:rPr>
              <a:t>all</a:t>
            </a:r>
            <a:r>
              <a:rPr sz="3200" spc="-20" dirty="0">
                <a:latin typeface="Tahoma"/>
                <a:cs typeface="Tahoma"/>
              </a:rPr>
              <a:t> </a:t>
            </a:r>
            <a:r>
              <a:rPr sz="3200" spc="-5" dirty="0">
                <a:latin typeface="Tahoma"/>
                <a:cs typeface="Tahoma"/>
              </a:rPr>
              <a:t>attributes.</a:t>
            </a:r>
            <a:endParaRPr sz="3200" dirty="0">
              <a:latin typeface="Tahoma"/>
              <a:cs typeface="Tahoma"/>
            </a:endParaRPr>
          </a:p>
          <a:p>
            <a:pPr marL="368300" marR="123825" indent="-342900">
              <a:lnSpc>
                <a:spcPts val="3840"/>
              </a:lnSpc>
              <a:spcBef>
                <a:spcPts val="890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27990" algn="l"/>
                <a:tab pos="2915285" algn="l"/>
              </a:tabLst>
            </a:pPr>
            <a:r>
              <a:rPr sz="3200" spc="-5" dirty="0">
                <a:latin typeface="Tahoma"/>
                <a:cs typeface="Tahoma"/>
              </a:rPr>
              <a:t>If </a:t>
            </a:r>
            <a:r>
              <a:rPr sz="3200" dirty="0">
                <a:latin typeface="Tahoma"/>
                <a:cs typeface="Tahoma"/>
              </a:rPr>
              <a:t>we</a:t>
            </a:r>
            <a:r>
              <a:rPr sz="3200" spc="10" dirty="0">
                <a:latin typeface="Tahoma"/>
                <a:cs typeface="Tahoma"/>
              </a:rPr>
              <a:t> </a:t>
            </a:r>
            <a:r>
              <a:rPr sz="3200" spc="-5" dirty="0">
                <a:latin typeface="Tahoma"/>
                <a:cs typeface="Tahoma"/>
              </a:rPr>
              <a:t>find</a:t>
            </a:r>
            <a:r>
              <a:rPr sz="3200" spc="-204" dirty="0">
                <a:latin typeface="Tahoma"/>
                <a:cs typeface="Tahoma"/>
              </a:rPr>
              <a:t> </a:t>
            </a:r>
            <a:r>
              <a:rPr sz="3350" i="1" spc="-225" dirty="0">
                <a:latin typeface="Tahoma"/>
                <a:cs typeface="Tahoma"/>
              </a:rPr>
              <a:t>X</a:t>
            </a:r>
            <a:r>
              <a:rPr sz="3075" spc="-337" baseline="21680" dirty="0">
                <a:latin typeface="Tahoma"/>
                <a:cs typeface="Tahoma"/>
              </a:rPr>
              <a:t>+	</a:t>
            </a:r>
            <a:r>
              <a:rPr sz="3200" dirty="0">
                <a:latin typeface="Tahoma"/>
                <a:cs typeface="Tahoma"/>
              </a:rPr>
              <a:t>= all </a:t>
            </a:r>
            <a:r>
              <a:rPr sz="3200" spc="-5" dirty="0">
                <a:latin typeface="Tahoma"/>
                <a:cs typeface="Tahoma"/>
              </a:rPr>
              <a:t>attributes, </a:t>
            </a:r>
            <a:r>
              <a:rPr sz="3200" dirty="0">
                <a:latin typeface="Tahoma"/>
                <a:cs typeface="Tahoma"/>
              </a:rPr>
              <a:t>so </a:t>
            </a:r>
            <a:r>
              <a:rPr sz="3200" spc="-5" dirty="0">
                <a:latin typeface="Tahoma"/>
                <a:cs typeface="Tahoma"/>
              </a:rPr>
              <a:t>is</a:t>
            </a:r>
            <a:r>
              <a:rPr sz="3200" spc="-90" dirty="0">
                <a:latin typeface="Tahoma"/>
                <a:cs typeface="Tahoma"/>
              </a:rPr>
              <a:t> </a:t>
            </a:r>
            <a:r>
              <a:rPr sz="3200" spc="-5" dirty="0">
                <a:latin typeface="Tahoma"/>
                <a:cs typeface="Tahoma"/>
              </a:rPr>
              <a:t>the  closure of </a:t>
            </a:r>
            <a:r>
              <a:rPr sz="3200" spc="-15" dirty="0">
                <a:latin typeface="Tahoma"/>
                <a:cs typeface="Tahoma"/>
              </a:rPr>
              <a:t>any </a:t>
            </a:r>
            <a:r>
              <a:rPr sz="3200" spc="-5" dirty="0">
                <a:latin typeface="Tahoma"/>
                <a:cs typeface="Tahoma"/>
              </a:rPr>
              <a:t>superset of</a:t>
            </a:r>
            <a:r>
              <a:rPr sz="3200" spc="-215" dirty="0">
                <a:latin typeface="Tahoma"/>
                <a:cs typeface="Tahoma"/>
              </a:rPr>
              <a:t> </a:t>
            </a:r>
            <a:r>
              <a:rPr sz="3350" i="1" spc="-560" dirty="0">
                <a:latin typeface="Tahoma"/>
                <a:cs typeface="Tahoma"/>
              </a:rPr>
              <a:t>X</a:t>
            </a:r>
            <a:r>
              <a:rPr sz="3200" spc="-560" dirty="0">
                <a:latin typeface="Tahoma"/>
                <a:cs typeface="Tahoma"/>
              </a:rPr>
              <a:t>.</a:t>
            </a:r>
            <a:endParaRPr sz="3200" dirty="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507489" y="829944"/>
            <a:ext cx="612902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>
                <a:solidFill>
                  <a:srgbClr val="33CC33"/>
                </a:solidFill>
              </a:rPr>
              <a:t>Example</a:t>
            </a:r>
            <a:r>
              <a:rPr spc="-5" dirty="0"/>
              <a:t>: Projecting</a:t>
            </a:r>
            <a:r>
              <a:rPr spc="-65" dirty="0"/>
              <a:t> </a:t>
            </a:r>
            <a:r>
              <a:rPr spc="-40" dirty="0"/>
              <a:t>FD’s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dirty="0"/>
              <a:t>21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609599" y="1981200"/>
            <a:ext cx="7924800" cy="3004669"/>
          </a:xfrm>
          <a:prstGeom prst="rect">
            <a:avLst/>
          </a:prstGeom>
        </p:spPr>
        <p:txBody>
          <a:bodyPr vert="horz" wrap="square" lIns="0" tIns="49530" rIns="0" bIns="0" rtlCol="0">
            <a:spAutoFit/>
          </a:bodyPr>
          <a:lstStyle/>
          <a:p>
            <a:r>
              <a:rPr lang="en-US" altLang="zh-CN" sz="3200" dirty="0">
                <a:effectLst/>
              </a:rPr>
              <a:t>ABC with FD’s A-&gt;B and B-&gt;C. Project onto AC.</a:t>
            </a:r>
          </a:p>
          <a:p>
            <a:r>
              <a:rPr lang="en-US" altLang="zh-CN" sz="3200" dirty="0">
                <a:effectLst/>
              </a:rPr>
              <a:t>A+=ABC; yields </a:t>
            </a:r>
            <a:r>
              <a:rPr lang="zh-CN" altLang="en-US" sz="3200" dirty="0">
                <a:effectLst/>
              </a:rPr>
              <a:t>产生</a:t>
            </a:r>
            <a:r>
              <a:rPr lang="en-US" altLang="zh-CN" sz="3200" dirty="0">
                <a:effectLst/>
              </a:rPr>
              <a:t>A-&gt;B, A-&gt;C.</a:t>
            </a:r>
          </a:p>
          <a:p>
            <a:r>
              <a:rPr lang="en-US" altLang="zh-CN" sz="3200" dirty="0">
                <a:effectLst/>
              </a:rPr>
              <a:t>We do not need to compute AB+ or AC+.</a:t>
            </a:r>
          </a:p>
          <a:p>
            <a:r>
              <a:rPr lang="en-US" altLang="zh-CN" sz="3200" dirty="0">
                <a:effectLst/>
              </a:rPr>
              <a:t>B+=BC; yields B-&gt;C.</a:t>
            </a:r>
          </a:p>
          <a:p>
            <a:r>
              <a:rPr lang="en-US" altLang="zh-CN" sz="3200" dirty="0">
                <a:effectLst/>
              </a:rPr>
              <a:t>C+=C; yields nothing.</a:t>
            </a:r>
          </a:p>
          <a:p>
            <a:r>
              <a:rPr lang="en-US" altLang="zh-CN" sz="3200" dirty="0">
                <a:effectLst/>
              </a:rPr>
              <a:t>BC+=BC; yields nothing.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>
                <a:solidFill>
                  <a:srgbClr val="33CC33"/>
                </a:solidFill>
              </a:rPr>
              <a:t>Example </a:t>
            </a:r>
            <a:r>
              <a:rPr spc="-5" dirty="0"/>
              <a:t>--</a:t>
            </a:r>
            <a:r>
              <a:rPr spc="-45" dirty="0"/>
              <a:t> </a:t>
            </a:r>
            <a:r>
              <a:rPr spc="-5" dirty="0"/>
              <a:t>Continued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dirty="0"/>
              <a:t>22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764540" y="1992617"/>
            <a:ext cx="7741920" cy="1492074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r>
              <a:rPr lang="en-US" altLang="zh-CN" sz="3200" dirty="0">
                <a:effectLst/>
              </a:rPr>
              <a:t>Resulting FD’s: A-&gt;B, A-&gt;C, and B-&gt;C.</a:t>
            </a:r>
          </a:p>
          <a:p>
            <a:r>
              <a:rPr lang="en-US" altLang="zh-CN" sz="3200" dirty="0">
                <a:effectLst/>
              </a:rPr>
              <a:t>Projection onto AC: A-&gt;C.</a:t>
            </a:r>
          </a:p>
          <a:p>
            <a:r>
              <a:rPr lang="en-US" altLang="zh-CN" sz="3200" dirty="0">
                <a:effectLst/>
              </a:rPr>
              <a:t>	Only FD that involves a subset of {A,C}.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453514" y="829944"/>
            <a:ext cx="623697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A </a:t>
            </a:r>
            <a:r>
              <a:rPr spc="-5" dirty="0"/>
              <a:t>Geometric View of</a:t>
            </a:r>
            <a:r>
              <a:rPr spc="-50" dirty="0"/>
              <a:t> </a:t>
            </a:r>
            <a:r>
              <a:rPr spc="-40" dirty="0"/>
              <a:t>FD’s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dirty="0"/>
              <a:t>23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764540" y="1992617"/>
            <a:ext cx="7236460" cy="3167380"/>
          </a:xfrm>
          <a:prstGeom prst="rect">
            <a:avLst/>
          </a:prstGeom>
        </p:spPr>
        <p:txBody>
          <a:bodyPr vert="horz" wrap="square" lIns="0" tIns="49530" rIns="0" bIns="0" rtlCol="0">
            <a:spAutoFit/>
          </a:bodyPr>
          <a:lstStyle/>
          <a:p>
            <a:pPr marL="355600" marR="156210" indent="-342900">
              <a:lnSpc>
                <a:spcPts val="3840"/>
              </a:lnSpc>
              <a:spcBef>
                <a:spcPts val="390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spc="-5" dirty="0">
                <a:latin typeface="Tahoma"/>
                <a:cs typeface="Tahoma"/>
              </a:rPr>
              <a:t>Imagine the set of </a:t>
            </a:r>
            <a:r>
              <a:rPr sz="3200" dirty="0">
                <a:latin typeface="Tahoma"/>
                <a:cs typeface="Tahoma"/>
              </a:rPr>
              <a:t>all </a:t>
            </a:r>
            <a:r>
              <a:rPr lang="en-US" altLang="zh-CN" sz="3600" dirty="0">
                <a:effectLst/>
              </a:rPr>
              <a:t>instances</a:t>
            </a:r>
            <a:r>
              <a:rPr lang="en-US" altLang="zh-CN" sz="3350" i="1" spc="-80" dirty="0">
                <a:solidFill>
                  <a:srgbClr val="FF0066"/>
                </a:solidFill>
                <a:effectLst/>
                <a:latin typeface="Tahoma"/>
                <a:cs typeface="Tahoma"/>
              </a:rPr>
              <a:t> </a:t>
            </a:r>
            <a:r>
              <a:rPr lang="zh-CN" altLang="en-US" sz="3350" i="1" spc="-80" dirty="0">
                <a:solidFill>
                  <a:srgbClr val="FF0066"/>
                </a:solidFill>
                <a:effectLst/>
                <a:latin typeface="Tahoma"/>
                <a:cs typeface="Tahoma"/>
              </a:rPr>
              <a:t>实例 </a:t>
            </a:r>
            <a:r>
              <a:rPr sz="3200" spc="-5" dirty="0">
                <a:latin typeface="Tahoma"/>
                <a:cs typeface="Tahoma"/>
              </a:rPr>
              <a:t>of </a:t>
            </a:r>
            <a:r>
              <a:rPr sz="3200" dirty="0">
                <a:latin typeface="Tahoma"/>
                <a:cs typeface="Tahoma"/>
              </a:rPr>
              <a:t>a </a:t>
            </a:r>
            <a:r>
              <a:rPr sz="3200" spc="-5" dirty="0">
                <a:latin typeface="Tahoma"/>
                <a:cs typeface="Tahoma"/>
              </a:rPr>
              <a:t>particular relation.</a:t>
            </a:r>
            <a:endParaRPr sz="3200" dirty="0">
              <a:latin typeface="Tahoma"/>
              <a:cs typeface="Tahoma"/>
            </a:endParaRPr>
          </a:p>
          <a:p>
            <a:pPr marL="355600" marR="473709" indent="-342900">
              <a:lnSpc>
                <a:spcPct val="100000"/>
              </a:lnSpc>
              <a:spcBef>
                <a:spcPts val="640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spc="-5" dirty="0">
                <a:latin typeface="Tahoma"/>
                <a:cs typeface="Tahoma"/>
              </a:rPr>
              <a:t>That is, </a:t>
            </a:r>
            <a:r>
              <a:rPr sz="3200" dirty="0">
                <a:latin typeface="Tahoma"/>
                <a:cs typeface="Tahoma"/>
              </a:rPr>
              <a:t>all </a:t>
            </a:r>
            <a:r>
              <a:rPr sz="3200" spc="-5" dirty="0">
                <a:latin typeface="Tahoma"/>
                <a:cs typeface="Tahoma"/>
              </a:rPr>
              <a:t>finite</a:t>
            </a:r>
            <a:r>
              <a:rPr lang="zh-CN" altLang="en-US" sz="3200" spc="-5" dirty="0">
                <a:latin typeface="Tahoma"/>
                <a:cs typeface="Tahoma"/>
              </a:rPr>
              <a:t>有限</a:t>
            </a:r>
            <a:r>
              <a:rPr sz="3200" spc="-5" dirty="0">
                <a:latin typeface="Tahoma"/>
                <a:cs typeface="Tahoma"/>
              </a:rPr>
              <a:t> sets of tuples that  </a:t>
            </a:r>
            <a:r>
              <a:rPr sz="3200" spc="-15" dirty="0">
                <a:latin typeface="Tahoma"/>
                <a:cs typeface="Tahoma"/>
              </a:rPr>
              <a:t>have </a:t>
            </a:r>
            <a:r>
              <a:rPr sz="3200" spc="-5" dirty="0">
                <a:latin typeface="Tahoma"/>
                <a:cs typeface="Tahoma"/>
              </a:rPr>
              <a:t>the proper number of  components</a:t>
            </a:r>
            <a:r>
              <a:rPr lang="zh-CN" altLang="en-US" sz="3200" spc="-5" dirty="0">
                <a:latin typeface="Tahoma"/>
                <a:cs typeface="Tahoma"/>
              </a:rPr>
              <a:t>成分</a:t>
            </a:r>
            <a:r>
              <a:rPr sz="3200" spc="-5" dirty="0">
                <a:latin typeface="Tahoma"/>
                <a:cs typeface="Tahoma"/>
              </a:rPr>
              <a:t>.</a:t>
            </a:r>
            <a:endParaRPr sz="3200" dirty="0">
              <a:latin typeface="Tahoma"/>
              <a:cs typeface="Tahoma"/>
            </a:endParaRPr>
          </a:p>
          <a:p>
            <a:pPr marL="414655" indent="-402590">
              <a:lnSpc>
                <a:spcPct val="100000"/>
              </a:lnSpc>
              <a:spcBef>
                <a:spcPts val="765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spc="-5" dirty="0">
                <a:latin typeface="Tahoma"/>
                <a:cs typeface="Tahoma"/>
              </a:rPr>
              <a:t>Each instance is </a:t>
            </a:r>
            <a:r>
              <a:rPr sz="3200" dirty="0">
                <a:latin typeface="Tahoma"/>
                <a:cs typeface="Tahoma"/>
              </a:rPr>
              <a:t>a </a:t>
            </a:r>
            <a:r>
              <a:rPr sz="3200" spc="-5" dirty="0">
                <a:latin typeface="Tahoma"/>
                <a:cs typeface="Tahoma"/>
              </a:rPr>
              <a:t>point in this space.</a:t>
            </a:r>
            <a:endParaRPr sz="3200" dirty="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527300" y="829944"/>
            <a:ext cx="409003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>
                <a:solidFill>
                  <a:srgbClr val="33CC33"/>
                </a:solidFill>
              </a:rPr>
              <a:t>Example</a:t>
            </a:r>
            <a:r>
              <a:rPr spc="-5" dirty="0"/>
              <a:t>:</a:t>
            </a:r>
            <a:r>
              <a:rPr spc="-60" dirty="0"/>
              <a:t> </a:t>
            </a:r>
            <a:r>
              <a:rPr spc="-5" dirty="0"/>
              <a:t>R(A,B)</a:t>
            </a:r>
          </a:p>
        </p:txBody>
      </p:sp>
      <p:sp>
        <p:nvSpPr>
          <p:cNvPr id="3" name="object 3"/>
          <p:cNvSpPr/>
          <p:nvPr/>
        </p:nvSpPr>
        <p:spPr>
          <a:xfrm>
            <a:off x="2281237" y="2433637"/>
            <a:ext cx="5038725" cy="39624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3720465" y="3009899"/>
            <a:ext cx="1522095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-5" dirty="0">
                <a:latin typeface="Tahoma"/>
                <a:cs typeface="Tahoma"/>
              </a:rPr>
              <a:t>{(1,2),</a:t>
            </a:r>
            <a:r>
              <a:rPr sz="2000" spc="-60" dirty="0">
                <a:latin typeface="Tahoma"/>
                <a:cs typeface="Tahoma"/>
              </a:rPr>
              <a:t> </a:t>
            </a:r>
            <a:r>
              <a:rPr sz="2000" spc="-5" dirty="0">
                <a:latin typeface="Tahoma"/>
                <a:cs typeface="Tahoma"/>
              </a:rPr>
              <a:t>(3,4)}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dirty="0"/>
              <a:t>24</a:t>
            </a:fld>
            <a:endParaRPr dirty="0"/>
          </a:p>
        </p:txBody>
      </p:sp>
      <p:sp>
        <p:nvSpPr>
          <p:cNvPr id="5" name="object 5"/>
          <p:cNvSpPr txBox="1"/>
          <p:nvPr/>
        </p:nvSpPr>
        <p:spPr>
          <a:xfrm>
            <a:off x="3279140" y="4070350"/>
            <a:ext cx="269875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-5" dirty="0">
                <a:latin typeface="Tahoma"/>
                <a:cs typeface="Tahoma"/>
              </a:rPr>
              <a:t>{</a:t>
            </a:r>
            <a:r>
              <a:rPr sz="2000" dirty="0">
                <a:latin typeface="Tahoma"/>
                <a:cs typeface="Tahoma"/>
              </a:rPr>
              <a:t>}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583940" y="5365750"/>
            <a:ext cx="2226310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-5" dirty="0">
                <a:latin typeface="Tahoma"/>
                <a:cs typeface="Tahoma"/>
              </a:rPr>
              <a:t>{(1,2), (3,4),</a:t>
            </a:r>
            <a:r>
              <a:rPr sz="2000" spc="-50" dirty="0">
                <a:latin typeface="Tahoma"/>
                <a:cs typeface="Tahoma"/>
              </a:rPr>
              <a:t> </a:t>
            </a:r>
            <a:r>
              <a:rPr sz="2000" spc="-5" dirty="0">
                <a:latin typeface="Tahoma"/>
                <a:cs typeface="Tahoma"/>
              </a:rPr>
              <a:t>(1,3)}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565140" y="3994150"/>
            <a:ext cx="817880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-5" dirty="0">
                <a:latin typeface="Tahoma"/>
                <a:cs typeface="Tahoma"/>
              </a:rPr>
              <a:t>{(5,1)</a:t>
            </a:r>
            <a:r>
              <a:rPr sz="2000" dirty="0">
                <a:latin typeface="Tahoma"/>
                <a:cs typeface="Tahoma"/>
              </a:rPr>
              <a:t>}</a:t>
            </a:r>
            <a:endParaRPr sz="20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89940" y="829944"/>
            <a:ext cx="756475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An FD </a:t>
            </a:r>
            <a:r>
              <a:rPr spc="-5" dirty="0"/>
              <a:t>is </a:t>
            </a:r>
            <a:r>
              <a:rPr dirty="0"/>
              <a:t>a </a:t>
            </a:r>
            <a:r>
              <a:rPr spc="-5" dirty="0"/>
              <a:t>Subset of</a:t>
            </a:r>
            <a:r>
              <a:rPr spc="-80" dirty="0"/>
              <a:t> </a:t>
            </a:r>
            <a:r>
              <a:rPr spc="-5" dirty="0"/>
              <a:t>Instances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dirty="0"/>
              <a:t>25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764540" y="1992617"/>
            <a:ext cx="7553325" cy="3682365"/>
          </a:xfrm>
          <a:prstGeom prst="rect">
            <a:avLst/>
          </a:prstGeom>
        </p:spPr>
        <p:txBody>
          <a:bodyPr vert="horz" wrap="square" lIns="0" tIns="49530" rIns="0" bIns="0" rtlCol="0">
            <a:spAutoFit/>
          </a:bodyPr>
          <a:lstStyle/>
          <a:p>
            <a:pPr marL="622300" marR="242570" indent="-609600">
              <a:lnSpc>
                <a:spcPts val="3840"/>
              </a:lnSpc>
              <a:spcBef>
                <a:spcPts val="390"/>
              </a:spcBef>
              <a:buClr>
                <a:srgbClr val="CC00CC"/>
              </a:buClr>
              <a:buFont typeface="Wingdings"/>
              <a:buChar char=""/>
              <a:tabLst>
                <a:tab pos="621665" algn="l"/>
                <a:tab pos="622300" algn="l"/>
              </a:tabLst>
            </a:pPr>
            <a:r>
              <a:rPr sz="3200" spc="-30" dirty="0">
                <a:latin typeface="Tahoma"/>
                <a:cs typeface="Tahoma"/>
              </a:rPr>
              <a:t>For </a:t>
            </a:r>
            <a:r>
              <a:rPr sz="3200" spc="-5" dirty="0">
                <a:latin typeface="Tahoma"/>
                <a:cs typeface="Tahoma"/>
              </a:rPr>
              <a:t>each </a:t>
            </a:r>
            <a:r>
              <a:rPr sz="3200" dirty="0">
                <a:latin typeface="Tahoma"/>
                <a:cs typeface="Tahoma"/>
              </a:rPr>
              <a:t>FD </a:t>
            </a:r>
            <a:r>
              <a:rPr sz="3350" i="1" spc="-40" dirty="0">
                <a:solidFill>
                  <a:srgbClr val="00CC99"/>
                </a:solidFill>
                <a:latin typeface="Tahoma"/>
                <a:cs typeface="Tahoma"/>
              </a:rPr>
              <a:t>X</a:t>
            </a:r>
            <a:r>
              <a:rPr sz="3200" spc="-40" dirty="0">
                <a:solidFill>
                  <a:srgbClr val="00CC99"/>
                </a:solidFill>
                <a:latin typeface="Tahoma"/>
                <a:cs typeface="Tahoma"/>
              </a:rPr>
              <a:t>-&gt; </a:t>
            </a:r>
            <a:r>
              <a:rPr sz="3350" i="1" spc="-90" dirty="0">
                <a:solidFill>
                  <a:srgbClr val="00CC99"/>
                </a:solidFill>
                <a:latin typeface="Tahoma"/>
                <a:cs typeface="Tahoma"/>
              </a:rPr>
              <a:t>A </a:t>
            </a:r>
            <a:r>
              <a:rPr sz="3200" spc="-5" dirty="0">
                <a:latin typeface="Tahoma"/>
                <a:cs typeface="Tahoma"/>
              </a:rPr>
              <a:t>there is </a:t>
            </a:r>
            <a:r>
              <a:rPr sz="3200" dirty="0">
                <a:latin typeface="Tahoma"/>
                <a:cs typeface="Tahoma"/>
              </a:rPr>
              <a:t>a </a:t>
            </a:r>
            <a:r>
              <a:rPr sz="3200" spc="-5" dirty="0">
                <a:latin typeface="Tahoma"/>
                <a:cs typeface="Tahoma"/>
              </a:rPr>
              <a:t>subset  of </a:t>
            </a:r>
            <a:r>
              <a:rPr sz="3200" dirty="0">
                <a:latin typeface="Tahoma"/>
                <a:cs typeface="Tahoma"/>
              </a:rPr>
              <a:t>all </a:t>
            </a:r>
            <a:r>
              <a:rPr sz="3200" spc="-5" dirty="0">
                <a:latin typeface="Tahoma"/>
                <a:cs typeface="Tahoma"/>
              </a:rPr>
              <a:t>instances that </a:t>
            </a:r>
            <a:r>
              <a:rPr sz="3200" spc="-10" dirty="0">
                <a:latin typeface="Tahoma"/>
                <a:cs typeface="Tahoma"/>
              </a:rPr>
              <a:t>satisfy </a:t>
            </a:r>
            <a:r>
              <a:rPr sz="3200" spc="-5" dirty="0">
                <a:latin typeface="Tahoma"/>
                <a:cs typeface="Tahoma"/>
              </a:rPr>
              <a:t>the</a:t>
            </a:r>
            <a:r>
              <a:rPr sz="3200" spc="-15" dirty="0">
                <a:latin typeface="Tahoma"/>
                <a:cs typeface="Tahoma"/>
              </a:rPr>
              <a:t> </a:t>
            </a:r>
            <a:r>
              <a:rPr sz="3200" spc="-30" dirty="0">
                <a:latin typeface="Tahoma"/>
                <a:cs typeface="Tahoma"/>
              </a:rPr>
              <a:t>FD.</a:t>
            </a:r>
            <a:endParaRPr sz="3200" dirty="0">
              <a:latin typeface="Tahoma"/>
              <a:cs typeface="Tahoma"/>
            </a:endParaRPr>
          </a:p>
          <a:p>
            <a:pPr marL="622300" marR="5080" indent="-609600">
              <a:lnSpc>
                <a:spcPct val="100000"/>
              </a:lnSpc>
              <a:spcBef>
                <a:spcPts val="640"/>
              </a:spcBef>
              <a:buClr>
                <a:srgbClr val="CC00CC"/>
              </a:buClr>
              <a:buFont typeface="Wingdings"/>
              <a:buChar char=""/>
              <a:tabLst>
                <a:tab pos="621665" algn="l"/>
                <a:tab pos="622300" algn="l"/>
              </a:tabLst>
            </a:pPr>
            <a:r>
              <a:rPr sz="3200" spc="-65" dirty="0">
                <a:latin typeface="Tahoma"/>
                <a:cs typeface="Tahoma"/>
              </a:rPr>
              <a:t>We </a:t>
            </a:r>
            <a:r>
              <a:rPr sz="3200" spc="-5" dirty="0">
                <a:latin typeface="Tahoma"/>
                <a:cs typeface="Tahoma"/>
              </a:rPr>
              <a:t>can </a:t>
            </a:r>
            <a:r>
              <a:rPr sz="3200" spc="-10" dirty="0">
                <a:latin typeface="Tahoma"/>
                <a:cs typeface="Tahoma"/>
              </a:rPr>
              <a:t>represent </a:t>
            </a:r>
            <a:r>
              <a:rPr sz="3200" dirty="0">
                <a:latin typeface="Tahoma"/>
                <a:cs typeface="Tahoma"/>
              </a:rPr>
              <a:t>an FD </a:t>
            </a:r>
            <a:r>
              <a:rPr sz="3200" spc="-5" dirty="0">
                <a:latin typeface="Tahoma"/>
                <a:cs typeface="Tahoma"/>
              </a:rPr>
              <a:t>by </a:t>
            </a:r>
            <a:r>
              <a:rPr sz="3200" dirty="0">
                <a:latin typeface="Tahoma"/>
                <a:cs typeface="Tahoma"/>
              </a:rPr>
              <a:t>a </a:t>
            </a:r>
            <a:r>
              <a:rPr sz="3200" spc="-5" dirty="0">
                <a:latin typeface="Tahoma"/>
                <a:cs typeface="Tahoma"/>
              </a:rPr>
              <a:t>region in  the</a:t>
            </a:r>
            <a:r>
              <a:rPr sz="3200" spc="-10" dirty="0">
                <a:latin typeface="Tahoma"/>
                <a:cs typeface="Tahoma"/>
              </a:rPr>
              <a:t> </a:t>
            </a:r>
            <a:r>
              <a:rPr sz="3200" spc="-5" dirty="0">
                <a:latin typeface="Tahoma"/>
                <a:cs typeface="Tahoma"/>
              </a:rPr>
              <a:t>space.</a:t>
            </a:r>
            <a:endParaRPr sz="3200" dirty="0">
              <a:latin typeface="Tahoma"/>
              <a:cs typeface="Tahoma"/>
            </a:endParaRPr>
          </a:p>
          <a:p>
            <a:pPr marL="622300" marR="158115" indent="-609600">
              <a:lnSpc>
                <a:spcPct val="100000"/>
              </a:lnSpc>
              <a:spcBef>
                <a:spcPts val="765"/>
              </a:spcBef>
              <a:buClr>
                <a:srgbClr val="CC00CC"/>
              </a:buClr>
              <a:buFont typeface="Wingdings"/>
              <a:buChar char=""/>
              <a:tabLst>
                <a:tab pos="621665" algn="l"/>
                <a:tab pos="622300" algn="l"/>
              </a:tabLst>
            </a:pPr>
            <a:r>
              <a:rPr sz="3200" spc="-45" dirty="0">
                <a:latin typeface="Tahoma"/>
                <a:cs typeface="Tahoma"/>
              </a:rPr>
              <a:t>Trivial </a:t>
            </a:r>
            <a:r>
              <a:rPr sz="3200" dirty="0">
                <a:latin typeface="Tahoma"/>
                <a:cs typeface="Tahoma"/>
              </a:rPr>
              <a:t>FD = an FD </a:t>
            </a:r>
            <a:r>
              <a:rPr sz="3200" spc="-5" dirty="0">
                <a:latin typeface="Tahoma"/>
                <a:cs typeface="Tahoma"/>
              </a:rPr>
              <a:t>that is represented  by the entire</a:t>
            </a:r>
            <a:r>
              <a:rPr sz="3200" spc="-15" dirty="0">
                <a:latin typeface="Tahoma"/>
                <a:cs typeface="Tahoma"/>
              </a:rPr>
              <a:t> </a:t>
            </a:r>
            <a:r>
              <a:rPr sz="3200" spc="-5" dirty="0">
                <a:latin typeface="Tahoma"/>
                <a:cs typeface="Tahoma"/>
              </a:rPr>
              <a:t>space.</a:t>
            </a:r>
            <a:endParaRPr sz="3200" dirty="0">
              <a:latin typeface="Tahoma"/>
              <a:cs typeface="Tahoma"/>
            </a:endParaRPr>
          </a:p>
          <a:p>
            <a:pPr marL="1003300" lvl="1" indent="-533400">
              <a:lnSpc>
                <a:spcPct val="100000"/>
              </a:lnSpc>
              <a:spcBef>
                <a:spcPts val="570"/>
              </a:spcBef>
              <a:buClr>
                <a:srgbClr val="CC00CC"/>
              </a:buClr>
              <a:buFont typeface="Wingdings"/>
              <a:buChar char=""/>
              <a:tabLst>
                <a:tab pos="1002665" algn="l"/>
                <a:tab pos="1003300" algn="l"/>
              </a:tabLst>
            </a:pPr>
            <a:r>
              <a:rPr sz="2800" spc="-5" dirty="0">
                <a:latin typeface="Tahoma"/>
                <a:cs typeface="Tahoma"/>
              </a:rPr>
              <a:t>Example: </a:t>
            </a:r>
            <a:r>
              <a:rPr sz="2900" i="1" spc="-35" dirty="0">
                <a:solidFill>
                  <a:srgbClr val="00CC99"/>
                </a:solidFill>
                <a:latin typeface="Tahoma"/>
                <a:cs typeface="Tahoma"/>
              </a:rPr>
              <a:t>A</a:t>
            </a:r>
            <a:r>
              <a:rPr sz="2800" spc="-35" dirty="0">
                <a:solidFill>
                  <a:srgbClr val="00CC99"/>
                </a:solidFill>
                <a:latin typeface="Tahoma"/>
                <a:cs typeface="Tahoma"/>
              </a:rPr>
              <a:t>-&gt;</a:t>
            </a:r>
            <a:r>
              <a:rPr sz="2800" spc="-370" dirty="0">
                <a:solidFill>
                  <a:srgbClr val="00CC99"/>
                </a:solidFill>
                <a:latin typeface="Tahoma"/>
                <a:cs typeface="Tahoma"/>
              </a:rPr>
              <a:t> </a:t>
            </a:r>
            <a:r>
              <a:rPr sz="2900" i="1" spc="-480" dirty="0">
                <a:solidFill>
                  <a:srgbClr val="00CC99"/>
                </a:solidFill>
                <a:latin typeface="Tahoma"/>
                <a:cs typeface="Tahoma"/>
              </a:rPr>
              <a:t>A</a:t>
            </a:r>
            <a:r>
              <a:rPr sz="2800" spc="-480" dirty="0">
                <a:latin typeface="Tahoma"/>
                <a:cs typeface="Tahoma"/>
              </a:rPr>
              <a:t>.</a:t>
            </a:r>
            <a:endParaRPr sz="2800" dirty="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02055" y="829944"/>
            <a:ext cx="673989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>
                <a:solidFill>
                  <a:srgbClr val="33CC33"/>
                </a:solidFill>
              </a:rPr>
              <a:t>Example</a:t>
            </a:r>
            <a:r>
              <a:rPr spc="-5" dirty="0"/>
              <a:t>: </a:t>
            </a:r>
            <a:r>
              <a:rPr dirty="0">
                <a:solidFill>
                  <a:srgbClr val="00CC99"/>
                </a:solidFill>
              </a:rPr>
              <a:t>A -&gt; B </a:t>
            </a:r>
            <a:r>
              <a:rPr spc="-20" dirty="0"/>
              <a:t>for</a:t>
            </a:r>
            <a:r>
              <a:rPr spc="-60" dirty="0"/>
              <a:t> </a:t>
            </a:r>
            <a:r>
              <a:rPr spc="-5" dirty="0"/>
              <a:t>R(A,B)</a:t>
            </a:r>
          </a:p>
        </p:txBody>
      </p:sp>
      <p:sp>
        <p:nvSpPr>
          <p:cNvPr id="3" name="object 3"/>
          <p:cNvSpPr/>
          <p:nvPr/>
        </p:nvSpPr>
        <p:spPr>
          <a:xfrm>
            <a:off x="2281237" y="2433637"/>
            <a:ext cx="5038725" cy="39624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3279140" y="4070350"/>
            <a:ext cx="269875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-5" dirty="0">
                <a:latin typeface="Tahoma"/>
                <a:cs typeface="Tahoma"/>
              </a:rPr>
              <a:t>{</a:t>
            </a:r>
            <a:r>
              <a:rPr sz="2000" dirty="0">
                <a:latin typeface="Tahoma"/>
                <a:cs typeface="Tahoma"/>
              </a:rPr>
              <a:t>}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583940" y="5365750"/>
            <a:ext cx="2226310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-5" dirty="0">
                <a:latin typeface="Tahoma"/>
                <a:cs typeface="Tahoma"/>
              </a:rPr>
              <a:t>{(1,2), (3,4),</a:t>
            </a:r>
            <a:r>
              <a:rPr sz="2000" spc="-50" dirty="0">
                <a:latin typeface="Tahoma"/>
                <a:cs typeface="Tahoma"/>
              </a:rPr>
              <a:t> </a:t>
            </a:r>
            <a:r>
              <a:rPr sz="2000" spc="-5" dirty="0">
                <a:latin typeface="Tahoma"/>
                <a:cs typeface="Tahoma"/>
              </a:rPr>
              <a:t>(1,3)}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565140" y="3994150"/>
            <a:ext cx="817880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-5" dirty="0">
                <a:latin typeface="Tahoma"/>
                <a:cs typeface="Tahoma"/>
              </a:rPr>
              <a:t>{(5,1)</a:t>
            </a:r>
            <a:r>
              <a:rPr sz="2000" dirty="0">
                <a:latin typeface="Tahoma"/>
                <a:cs typeface="Tahoma"/>
              </a:rPr>
              <a:t>}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3195739" y="2890837"/>
            <a:ext cx="3286125" cy="1905000"/>
          </a:xfrm>
          <a:custGeom>
            <a:avLst/>
            <a:gdLst/>
            <a:ahLst/>
            <a:cxnLst/>
            <a:rect l="l" t="t" r="r" b="b"/>
            <a:pathLst>
              <a:path w="3286125" h="1905000">
                <a:moveTo>
                  <a:pt x="274472" y="12700"/>
                </a:moveTo>
                <a:lnTo>
                  <a:pt x="226390" y="12700"/>
                </a:lnTo>
                <a:lnTo>
                  <a:pt x="233997" y="0"/>
                </a:lnTo>
                <a:lnTo>
                  <a:pt x="282384" y="0"/>
                </a:lnTo>
                <a:lnTo>
                  <a:pt x="274472" y="12700"/>
                </a:lnTo>
                <a:close/>
              </a:path>
              <a:path w="3286125" h="1905000">
                <a:moveTo>
                  <a:pt x="3059645" y="12700"/>
                </a:moveTo>
                <a:lnTo>
                  <a:pt x="3011449" y="12700"/>
                </a:lnTo>
                <a:lnTo>
                  <a:pt x="3003537" y="0"/>
                </a:lnTo>
                <a:lnTo>
                  <a:pt x="3052038" y="0"/>
                </a:lnTo>
                <a:lnTo>
                  <a:pt x="3059645" y="12700"/>
                </a:lnTo>
                <a:close/>
              </a:path>
              <a:path w="3286125" h="1905000">
                <a:moveTo>
                  <a:pt x="221805" y="25400"/>
                </a:moveTo>
                <a:lnTo>
                  <a:pt x="189598" y="25400"/>
                </a:lnTo>
                <a:lnTo>
                  <a:pt x="196773" y="12700"/>
                </a:lnTo>
                <a:lnTo>
                  <a:pt x="229222" y="12700"/>
                </a:lnTo>
                <a:lnTo>
                  <a:pt x="221805" y="25400"/>
                </a:lnTo>
                <a:close/>
              </a:path>
              <a:path w="3286125" h="1905000">
                <a:moveTo>
                  <a:pt x="3096437" y="25400"/>
                </a:moveTo>
                <a:lnTo>
                  <a:pt x="3064116" y="25400"/>
                </a:lnTo>
                <a:lnTo>
                  <a:pt x="3056699" y="12700"/>
                </a:lnTo>
                <a:lnTo>
                  <a:pt x="3089249" y="12700"/>
                </a:lnTo>
                <a:lnTo>
                  <a:pt x="3096437" y="25400"/>
                </a:lnTo>
                <a:close/>
              </a:path>
              <a:path w="3286125" h="1905000">
                <a:moveTo>
                  <a:pt x="186524" y="38100"/>
                </a:moveTo>
                <a:lnTo>
                  <a:pt x="168605" y="38100"/>
                </a:lnTo>
                <a:lnTo>
                  <a:pt x="175501" y="25400"/>
                </a:lnTo>
                <a:lnTo>
                  <a:pt x="193522" y="25400"/>
                </a:lnTo>
                <a:lnTo>
                  <a:pt x="186524" y="38100"/>
                </a:lnTo>
                <a:close/>
              </a:path>
              <a:path w="3286125" h="1905000">
                <a:moveTo>
                  <a:pt x="3117418" y="38100"/>
                </a:moveTo>
                <a:lnTo>
                  <a:pt x="3099396" y="38100"/>
                </a:lnTo>
                <a:lnTo>
                  <a:pt x="3092399" y="25400"/>
                </a:lnTo>
                <a:lnTo>
                  <a:pt x="3110522" y="25400"/>
                </a:lnTo>
                <a:lnTo>
                  <a:pt x="3117418" y="38100"/>
                </a:lnTo>
                <a:close/>
              </a:path>
              <a:path w="3286125" h="1905000">
                <a:moveTo>
                  <a:pt x="166446" y="50800"/>
                </a:moveTo>
                <a:lnTo>
                  <a:pt x="142024" y="50800"/>
                </a:lnTo>
                <a:lnTo>
                  <a:pt x="148513" y="38100"/>
                </a:lnTo>
                <a:lnTo>
                  <a:pt x="173151" y="38100"/>
                </a:lnTo>
                <a:lnTo>
                  <a:pt x="166446" y="50800"/>
                </a:lnTo>
                <a:close/>
              </a:path>
              <a:path w="3286125" h="1905000">
                <a:moveTo>
                  <a:pt x="3137509" y="50800"/>
                </a:moveTo>
                <a:lnTo>
                  <a:pt x="3119475" y="50800"/>
                </a:lnTo>
                <a:lnTo>
                  <a:pt x="3112770" y="38100"/>
                </a:lnTo>
                <a:lnTo>
                  <a:pt x="3130918" y="38100"/>
                </a:lnTo>
                <a:lnTo>
                  <a:pt x="3137509" y="50800"/>
                </a:lnTo>
                <a:close/>
              </a:path>
              <a:path w="3286125" h="1905000">
                <a:moveTo>
                  <a:pt x="141084" y="63500"/>
                </a:moveTo>
                <a:lnTo>
                  <a:pt x="129387" y="63500"/>
                </a:lnTo>
                <a:lnTo>
                  <a:pt x="135648" y="50800"/>
                </a:lnTo>
                <a:lnTo>
                  <a:pt x="147358" y="50800"/>
                </a:lnTo>
                <a:lnTo>
                  <a:pt x="141084" y="63500"/>
                </a:lnTo>
                <a:close/>
              </a:path>
              <a:path w="3286125" h="1905000">
                <a:moveTo>
                  <a:pt x="3156623" y="63500"/>
                </a:moveTo>
                <a:lnTo>
                  <a:pt x="3144837" y="63500"/>
                </a:lnTo>
                <a:lnTo>
                  <a:pt x="3138563" y="50800"/>
                </a:lnTo>
                <a:lnTo>
                  <a:pt x="3150361" y="50800"/>
                </a:lnTo>
                <a:lnTo>
                  <a:pt x="3156623" y="63500"/>
                </a:lnTo>
                <a:close/>
              </a:path>
              <a:path w="3286125" h="1905000">
                <a:moveTo>
                  <a:pt x="123190" y="76200"/>
                </a:moveTo>
                <a:lnTo>
                  <a:pt x="111302" y="76200"/>
                </a:lnTo>
                <a:lnTo>
                  <a:pt x="117220" y="63500"/>
                </a:lnTo>
                <a:lnTo>
                  <a:pt x="129133" y="63500"/>
                </a:lnTo>
                <a:lnTo>
                  <a:pt x="123190" y="76200"/>
                </a:lnTo>
                <a:close/>
              </a:path>
              <a:path w="3286125" h="1905000">
                <a:moveTo>
                  <a:pt x="129044" y="76200"/>
                </a:moveTo>
                <a:lnTo>
                  <a:pt x="129133" y="63500"/>
                </a:lnTo>
                <a:lnTo>
                  <a:pt x="135089" y="63500"/>
                </a:lnTo>
                <a:lnTo>
                  <a:pt x="129044" y="76200"/>
                </a:lnTo>
                <a:close/>
              </a:path>
              <a:path w="3286125" h="1905000">
                <a:moveTo>
                  <a:pt x="3156877" y="76200"/>
                </a:moveTo>
                <a:lnTo>
                  <a:pt x="3150831" y="63500"/>
                </a:lnTo>
                <a:lnTo>
                  <a:pt x="3156788" y="63500"/>
                </a:lnTo>
                <a:lnTo>
                  <a:pt x="3156877" y="76200"/>
                </a:lnTo>
                <a:close/>
              </a:path>
              <a:path w="3286125" h="1905000">
                <a:moveTo>
                  <a:pt x="3174695" y="76200"/>
                </a:moveTo>
                <a:lnTo>
                  <a:pt x="3162731" y="76200"/>
                </a:lnTo>
                <a:lnTo>
                  <a:pt x="3156788" y="63500"/>
                </a:lnTo>
                <a:lnTo>
                  <a:pt x="3168789" y="63500"/>
                </a:lnTo>
                <a:lnTo>
                  <a:pt x="3174695" y="76200"/>
                </a:lnTo>
                <a:close/>
              </a:path>
              <a:path w="3286125" h="1905000">
                <a:moveTo>
                  <a:pt x="111848" y="88900"/>
                </a:moveTo>
                <a:lnTo>
                  <a:pt x="99860" y="88900"/>
                </a:lnTo>
                <a:lnTo>
                  <a:pt x="105524" y="76200"/>
                </a:lnTo>
                <a:lnTo>
                  <a:pt x="117538" y="76200"/>
                </a:lnTo>
                <a:lnTo>
                  <a:pt x="111848" y="88900"/>
                </a:lnTo>
                <a:close/>
              </a:path>
              <a:path w="3286125" h="1905000">
                <a:moveTo>
                  <a:pt x="3186137" y="88900"/>
                </a:moveTo>
                <a:lnTo>
                  <a:pt x="3174072" y="88900"/>
                </a:lnTo>
                <a:lnTo>
                  <a:pt x="3168383" y="76200"/>
                </a:lnTo>
                <a:lnTo>
                  <a:pt x="3180486" y="76200"/>
                </a:lnTo>
                <a:lnTo>
                  <a:pt x="3186137" y="88900"/>
                </a:lnTo>
                <a:close/>
              </a:path>
              <a:path w="3286125" h="1905000">
                <a:moveTo>
                  <a:pt x="95745" y="101600"/>
                </a:moveTo>
                <a:lnTo>
                  <a:pt x="83654" y="101600"/>
                </a:lnTo>
                <a:lnTo>
                  <a:pt x="88925" y="88900"/>
                </a:lnTo>
                <a:lnTo>
                  <a:pt x="101066" y="88900"/>
                </a:lnTo>
                <a:lnTo>
                  <a:pt x="95745" y="101600"/>
                </a:lnTo>
                <a:close/>
              </a:path>
              <a:path w="3286125" h="1905000">
                <a:moveTo>
                  <a:pt x="3202343" y="101600"/>
                </a:moveTo>
                <a:lnTo>
                  <a:pt x="3190176" y="101600"/>
                </a:lnTo>
                <a:lnTo>
                  <a:pt x="3184855" y="88900"/>
                </a:lnTo>
                <a:lnTo>
                  <a:pt x="3197072" y="88900"/>
                </a:lnTo>
                <a:lnTo>
                  <a:pt x="3202343" y="101600"/>
                </a:lnTo>
                <a:close/>
              </a:path>
              <a:path w="3286125" h="1905000">
                <a:moveTo>
                  <a:pt x="85648" y="114300"/>
                </a:moveTo>
                <a:lnTo>
                  <a:pt x="73532" y="114300"/>
                </a:lnTo>
                <a:lnTo>
                  <a:pt x="78524" y="101600"/>
                </a:lnTo>
                <a:lnTo>
                  <a:pt x="90703" y="101600"/>
                </a:lnTo>
                <a:lnTo>
                  <a:pt x="85648" y="114300"/>
                </a:lnTo>
                <a:close/>
              </a:path>
              <a:path w="3286125" h="1905000">
                <a:moveTo>
                  <a:pt x="3212465" y="114300"/>
                </a:moveTo>
                <a:lnTo>
                  <a:pt x="3200272" y="114300"/>
                </a:lnTo>
                <a:lnTo>
                  <a:pt x="3195218" y="101600"/>
                </a:lnTo>
                <a:lnTo>
                  <a:pt x="3207473" y="101600"/>
                </a:lnTo>
                <a:lnTo>
                  <a:pt x="3212465" y="114300"/>
                </a:lnTo>
                <a:close/>
              </a:path>
              <a:path w="3286125" h="1905000">
                <a:moveTo>
                  <a:pt x="76085" y="127000"/>
                </a:moveTo>
                <a:lnTo>
                  <a:pt x="63957" y="127000"/>
                </a:lnTo>
                <a:lnTo>
                  <a:pt x="68668" y="114300"/>
                </a:lnTo>
                <a:lnTo>
                  <a:pt x="80873" y="114300"/>
                </a:lnTo>
                <a:lnTo>
                  <a:pt x="76085" y="127000"/>
                </a:lnTo>
                <a:close/>
              </a:path>
              <a:path w="3286125" h="1905000">
                <a:moveTo>
                  <a:pt x="3222028" y="127000"/>
                </a:moveTo>
                <a:lnTo>
                  <a:pt x="3209836" y="127000"/>
                </a:lnTo>
                <a:lnTo>
                  <a:pt x="3205048" y="114300"/>
                </a:lnTo>
                <a:lnTo>
                  <a:pt x="3217316" y="114300"/>
                </a:lnTo>
                <a:lnTo>
                  <a:pt x="3222028" y="127000"/>
                </a:lnTo>
                <a:close/>
              </a:path>
              <a:path w="3286125" h="1905000">
                <a:moveTo>
                  <a:pt x="67081" y="139700"/>
                </a:moveTo>
                <a:lnTo>
                  <a:pt x="54902" y="139700"/>
                </a:lnTo>
                <a:lnTo>
                  <a:pt x="59385" y="127000"/>
                </a:lnTo>
                <a:lnTo>
                  <a:pt x="71589" y="127000"/>
                </a:lnTo>
                <a:lnTo>
                  <a:pt x="67081" y="139700"/>
                </a:lnTo>
                <a:close/>
              </a:path>
              <a:path w="3286125" h="1905000">
                <a:moveTo>
                  <a:pt x="3231019" y="139700"/>
                </a:moveTo>
                <a:lnTo>
                  <a:pt x="3218840" y="139700"/>
                </a:lnTo>
                <a:lnTo>
                  <a:pt x="3214331" y="127000"/>
                </a:lnTo>
                <a:lnTo>
                  <a:pt x="3226600" y="127000"/>
                </a:lnTo>
                <a:lnTo>
                  <a:pt x="3231019" y="139700"/>
                </a:lnTo>
                <a:close/>
              </a:path>
              <a:path w="3286125" h="1905000">
                <a:moveTo>
                  <a:pt x="58661" y="152400"/>
                </a:moveTo>
                <a:lnTo>
                  <a:pt x="46583" y="152400"/>
                </a:lnTo>
                <a:lnTo>
                  <a:pt x="50698" y="139700"/>
                </a:lnTo>
                <a:lnTo>
                  <a:pt x="62865" y="139700"/>
                </a:lnTo>
                <a:lnTo>
                  <a:pt x="58661" y="152400"/>
                </a:lnTo>
                <a:close/>
              </a:path>
              <a:path w="3286125" h="1905000">
                <a:moveTo>
                  <a:pt x="3239388" y="152400"/>
                </a:moveTo>
                <a:lnTo>
                  <a:pt x="3227260" y="152400"/>
                </a:lnTo>
                <a:lnTo>
                  <a:pt x="3223056" y="139700"/>
                </a:lnTo>
                <a:lnTo>
                  <a:pt x="3235223" y="139700"/>
                </a:lnTo>
                <a:lnTo>
                  <a:pt x="3239388" y="152400"/>
                </a:lnTo>
                <a:close/>
              </a:path>
              <a:path w="3286125" h="1905000">
                <a:moveTo>
                  <a:pt x="50825" y="165100"/>
                </a:moveTo>
                <a:lnTo>
                  <a:pt x="38823" y="165100"/>
                </a:lnTo>
                <a:lnTo>
                  <a:pt x="42621" y="152400"/>
                </a:lnTo>
                <a:lnTo>
                  <a:pt x="54724" y="152400"/>
                </a:lnTo>
                <a:lnTo>
                  <a:pt x="50825" y="165100"/>
                </a:lnTo>
                <a:close/>
              </a:path>
              <a:path w="3286125" h="1905000">
                <a:moveTo>
                  <a:pt x="3247148" y="165100"/>
                </a:moveTo>
                <a:lnTo>
                  <a:pt x="3235096" y="165100"/>
                </a:lnTo>
                <a:lnTo>
                  <a:pt x="3231197" y="152400"/>
                </a:lnTo>
                <a:lnTo>
                  <a:pt x="3243351" y="152400"/>
                </a:lnTo>
                <a:lnTo>
                  <a:pt x="3247148" y="165100"/>
                </a:lnTo>
                <a:close/>
              </a:path>
              <a:path w="3286125" h="1905000">
                <a:moveTo>
                  <a:pt x="43611" y="177800"/>
                </a:moveTo>
                <a:lnTo>
                  <a:pt x="31711" y="177800"/>
                </a:lnTo>
                <a:lnTo>
                  <a:pt x="35178" y="165100"/>
                </a:lnTo>
                <a:lnTo>
                  <a:pt x="47193" y="165100"/>
                </a:lnTo>
                <a:lnTo>
                  <a:pt x="43611" y="177800"/>
                </a:lnTo>
                <a:close/>
              </a:path>
              <a:path w="3286125" h="1905000">
                <a:moveTo>
                  <a:pt x="3254260" y="177800"/>
                </a:moveTo>
                <a:lnTo>
                  <a:pt x="3242310" y="177800"/>
                </a:lnTo>
                <a:lnTo>
                  <a:pt x="3238728" y="165100"/>
                </a:lnTo>
                <a:lnTo>
                  <a:pt x="3250793" y="165100"/>
                </a:lnTo>
                <a:lnTo>
                  <a:pt x="3254260" y="177800"/>
                </a:lnTo>
                <a:close/>
              </a:path>
              <a:path w="3286125" h="1905000">
                <a:moveTo>
                  <a:pt x="31089" y="203200"/>
                </a:moveTo>
                <a:lnTo>
                  <a:pt x="22275" y="203200"/>
                </a:lnTo>
                <a:lnTo>
                  <a:pt x="25247" y="190500"/>
                </a:lnTo>
                <a:lnTo>
                  <a:pt x="28397" y="177800"/>
                </a:lnTo>
                <a:lnTo>
                  <a:pt x="40284" y="177800"/>
                </a:lnTo>
                <a:lnTo>
                  <a:pt x="37020" y="190500"/>
                </a:lnTo>
                <a:lnTo>
                  <a:pt x="34023" y="190500"/>
                </a:lnTo>
                <a:lnTo>
                  <a:pt x="31089" y="203200"/>
                </a:lnTo>
                <a:close/>
              </a:path>
              <a:path w="3286125" h="1905000">
                <a:moveTo>
                  <a:pt x="3263684" y="203200"/>
                </a:moveTo>
                <a:lnTo>
                  <a:pt x="3254832" y="203200"/>
                </a:lnTo>
                <a:lnTo>
                  <a:pt x="3251898" y="190500"/>
                </a:lnTo>
                <a:lnTo>
                  <a:pt x="3248901" y="190500"/>
                </a:lnTo>
                <a:lnTo>
                  <a:pt x="3245637" y="177800"/>
                </a:lnTo>
                <a:lnTo>
                  <a:pt x="3257575" y="177800"/>
                </a:lnTo>
                <a:lnTo>
                  <a:pt x="3260712" y="190500"/>
                </a:lnTo>
                <a:lnTo>
                  <a:pt x="3263684" y="203200"/>
                </a:lnTo>
                <a:close/>
              </a:path>
              <a:path w="3286125" h="1905000">
                <a:moveTo>
                  <a:pt x="25831" y="215900"/>
                </a:moveTo>
                <a:lnTo>
                  <a:pt x="16852" y="215900"/>
                </a:lnTo>
                <a:lnTo>
                  <a:pt x="19481" y="203200"/>
                </a:lnTo>
                <a:lnTo>
                  <a:pt x="28422" y="203200"/>
                </a:lnTo>
                <a:lnTo>
                  <a:pt x="25831" y="215900"/>
                </a:lnTo>
                <a:close/>
              </a:path>
              <a:path w="3286125" h="1905000">
                <a:moveTo>
                  <a:pt x="3269106" y="215900"/>
                </a:moveTo>
                <a:lnTo>
                  <a:pt x="3260090" y="215900"/>
                </a:lnTo>
                <a:lnTo>
                  <a:pt x="3257499" y="203200"/>
                </a:lnTo>
                <a:lnTo>
                  <a:pt x="3266490" y="203200"/>
                </a:lnTo>
                <a:lnTo>
                  <a:pt x="3269106" y="215900"/>
                </a:lnTo>
                <a:close/>
              </a:path>
              <a:path w="3286125" h="1905000">
                <a:moveTo>
                  <a:pt x="19253" y="241300"/>
                </a:moveTo>
                <a:lnTo>
                  <a:pt x="10058" y="241300"/>
                </a:lnTo>
                <a:lnTo>
                  <a:pt x="12141" y="228600"/>
                </a:lnTo>
                <a:lnTo>
                  <a:pt x="14401" y="215900"/>
                </a:lnTo>
                <a:lnTo>
                  <a:pt x="25869" y="215900"/>
                </a:lnTo>
                <a:lnTo>
                  <a:pt x="23469" y="228600"/>
                </a:lnTo>
                <a:lnTo>
                  <a:pt x="21297" y="228600"/>
                </a:lnTo>
                <a:lnTo>
                  <a:pt x="19253" y="241300"/>
                </a:lnTo>
                <a:close/>
              </a:path>
              <a:path w="3286125" h="1905000">
                <a:moveTo>
                  <a:pt x="3275888" y="241300"/>
                </a:moveTo>
                <a:lnTo>
                  <a:pt x="3266668" y="241300"/>
                </a:lnTo>
                <a:lnTo>
                  <a:pt x="3264623" y="228600"/>
                </a:lnTo>
                <a:lnTo>
                  <a:pt x="3262452" y="228600"/>
                </a:lnTo>
                <a:lnTo>
                  <a:pt x="3260051" y="215900"/>
                </a:lnTo>
                <a:lnTo>
                  <a:pt x="3271545" y="215900"/>
                </a:lnTo>
                <a:lnTo>
                  <a:pt x="3273818" y="228600"/>
                </a:lnTo>
                <a:lnTo>
                  <a:pt x="3275888" y="241300"/>
                </a:lnTo>
                <a:close/>
              </a:path>
              <a:path w="3286125" h="1905000">
                <a:moveTo>
                  <a:pt x="15760" y="254000"/>
                </a:moveTo>
                <a:lnTo>
                  <a:pt x="6464" y="254000"/>
                </a:lnTo>
                <a:lnTo>
                  <a:pt x="8166" y="241300"/>
                </a:lnTo>
                <a:lnTo>
                  <a:pt x="17449" y="241300"/>
                </a:lnTo>
                <a:lnTo>
                  <a:pt x="15760" y="254000"/>
                </a:lnTo>
                <a:close/>
              </a:path>
              <a:path w="3286125" h="1905000">
                <a:moveTo>
                  <a:pt x="3279482" y="254000"/>
                </a:moveTo>
                <a:lnTo>
                  <a:pt x="3270161" y="254000"/>
                </a:lnTo>
                <a:lnTo>
                  <a:pt x="3268472" y="241300"/>
                </a:lnTo>
                <a:lnTo>
                  <a:pt x="3277781" y="241300"/>
                </a:lnTo>
                <a:lnTo>
                  <a:pt x="3279482" y="254000"/>
                </a:lnTo>
                <a:close/>
              </a:path>
              <a:path w="3286125" h="1905000">
                <a:moveTo>
                  <a:pt x="11925" y="279400"/>
                </a:moveTo>
                <a:lnTo>
                  <a:pt x="2489" y="279400"/>
                </a:lnTo>
                <a:lnTo>
                  <a:pt x="3619" y="266700"/>
                </a:lnTo>
                <a:lnTo>
                  <a:pt x="4940" y="254000"/>
                </a:lnTo>
                <a:lnTo>
                  <a:pt x="15786" y="254000"/>
                </a:lnTo>
                <a:lnTo>
                  <a:pt x="14300" y="266700"/>
                </a:lnTo>
                <a:lnTo>
                  <a:pt x="13030" y="266700"/>
                </a:lnTo>
                <a:lnTo>
                  <a:pt x="11925" y="279400"/>
                </a:lnTo>
                <a:close/>
              </a:path>
              <a:path w="3286125" h="1905000">
                <a:moveTo>
                  <a:pt x="3283445" y="279400"/>
                </a:moveTo>
                <a:lnTo>
                  <a:pt x="3273996" y="279400"/>
                </a:lnTo>
                <a:lnTo>
                  <a:pt x="3272891" y="266700"/>
                </a:lnTo>
                <a:lnTo>
                  <a:pt x="3271621" y="266700"/>
                </a:lnTo>
                <a:lnTo>
                  <a:pt x="3270135" y="254000"/>
                </a:lnTo>
                <a:lnTo>
                  <a:pt x="3280994" y="254000"/>
                </a:lnTo>
                <a:lnTo>
                  <a:pt x="3282315" y="266700"/>
                </a:lnTo>
                <a:lnTo>
                  <a:pt x="3283445" y="279400"/>
                </a:lnTo>
                <a:close/>
              </a:path>
              <a:path w="3286125" h="1905000">
                <a:moveTo>
                  <a:pt x="9829" y="304800"/>
                </a:moveTo>
                <a:lnTo>
                  <a:pt x="317" y="304800"/>
                </a:lnTo>
                <a:lnTo>
                  <a:pt x="838" y="292100"/>
                </a:lnTo>
                <a:lnTo>
                  <a:pt x="1574" y="279400"/>
                </a:lnTo>
                <a:lnTo>
                  <a:pt x="11048" y="279400"/>
                </a:lnTo>
                <a:lnTo>
                  <a:pt x="10325" y="292100"/>
                </a:lnTo>
                <a:lnTo>
                  <a:pt x="9829" y="304800"/>
                </a:lnTo>
                <a:close/>
              </a:path>
              <a:path w="3286125" h="1905000">
                <a:moveTo>
                  <a:pt x="3285604" y="304800"/>
                </a:moveTo>
                <a:lnTo>
                  <a:pt x="3276092" y="304800"/>
                </a:lnTo>
                <a:lnTo>
                  <a:pt x="3275583" y="292100"/>
                </a:lnTo>
                <a:lnTo>
                  <a:pt x="3274872" y="279400"/>
                </a:lnTo>
                <a:lnTo>
                  <a:pt x="3284359" y="279400"/>
                </a:lnTo>
                <a:lnTo>
                  <a:pt x="3285083" y="292100"/>
                </a:lnTo>
                <a:lnTo>
                  <a:pt x="3285604" y="304800"/>
                </a:lnTo>
                <a:close/>
              </a:path>
              <a:path w="3286125" h="1905000">
                <a:moveTo>
                  <a:pt x="9525" y="1600200"/>
                </a:moveTo>
                <a:lnTo>
                  <a:pt x="0" y="1600200"/>
                </a:lnTo>
                <a:lnTo>
                  <a:pt x="0" y="304800"/>
                </a:lnTo>
                <a:lnTo>
                  <a:pt x="9525" y="304800"/>
                </a:lnTo>
                <a:lnTo>
                  <a:pt x="9525" y="1600200"/>
                </a:lnTo>
                <a:close/>
              </a:path>
              <a:path w="3286125" h="1905000">
                <a:moveTo>
                  <a:pt x="3285921" y="1600200"/>
                </a:moveTo>
                <a:lnTo>
                  <a:pt x="3276396" y="1600200"/>
                </a:lnTo>
                <a:lnTo>
                  <a:pt x="3276396" y="304800"/>
                </a:lnTo>
                <a:lnTo>
                  <a:pt x="3285921" y="304800"/>
                </a:lnTo>
                <a:lnTo>
                  <a:pt x="3285921" y="1600200"/>
                </a:lnTo>
                <a:close/>
              </a:path>
              <a:path w="3286125" h="1905000">
                <a:moveTo>
                  <a:pt x="10337" y="1612900"/>
                </a:moveTo>
                <a:lnTo>
                  <a:pt x="838" y="1612900"/>
                </a:lnTo>
                <a:lnTo>
                  <a:pt x="317" y="1600200"/>
                </a:lnTo>
                <a:lnTo>
                  <a:pt x="9829" y="1600200"/>
                </a:lnTo>
                <a:lnTo>
                  <a:pt x="10337" y="1612900"/>
                </a:lnTo>
                <a:close/>
              </a:path>
              <a:path w="3286125" h="1905000">
                <a:moveTo>
                  <a:pt x="3285083" y="1612900"/>
                </a:moveTo>
                <a:lnTo>
                  <a:pt x="3275583" y="1612900"/>
                </a:lnTo>
                <a:lnTo>
                  <a:pt x="3276092" y="1600200"/>
                </a:lnTo>
                <a:lnTo>
                  <a:pt x="3285604" y="1600200"/>
                </a:lnTo>
                <a:lnTo>
                  <a:pt x="3285083" y="1612900"/>
                </a:lnTo>
                <a:close/>
              </a:path>
              <a:path w="3286125" h="1905000">
                <a:moveTo>
                  <a:pt x="13030" y="1638300"/>
                </a:moveTo>
                <a:lnTo>
                  <a:pt x="3606" y="1638300"/>
                </a:lnTo>
                <a:lnTo>
                  <a:pt x="2476" y="1625600"/>
                </a:lnTo>
                <a:lnTo>
                  <a:pt x="1562" y="1612900"/>
                </a:lnTo>
                <a:lnTo>
                  <a:pt x="11036" y="1612900"/>
                </a:lnTo>
                <a:lnTo>
                  <a:pt x="11937" y="1625600"/>
                </a:lnTo>
                <a:lnTo>
                  <a:pt x="13030" y="1638300"/>
                </a:lnTo>
                <a:close/>
              </a:path>
              <a:path w="3286125" h="1905000">
                <a:moveTo>
                  <a:pt x="3282302" y="1638300"/>
                </a:moveTo>
                <a:lnTo>
                  <a:pt x="3272891" y="1638300"/>
                </a:lnTo>
                <a:lnTo>
                  <a:pt x="3273996" y="1625600"/>
                </a:lnTo>
                <a:lnTo>
                  <a:pt x="3274885" y="1612900"/>
                </a:lnTo>
                <a:lnTo>
                  <a:pt x="3284347" y="1612900"/>
                </a:lnTo>
                <a:lnTo>
                  <a:pt x="3283432" y="1625600"/>
                </a:lnTo>
                <a:lnTo>
                  <a:pt x="3282302" y="1638300"/>
                </a:lnTo>
                <a:close/>
              </a:path>
              <a:path w="3286125" h="1905000">
                <a:moveTo>
                  <a:pt x="19278" y="1663700"/>
                </a:moveTo>
                <a:lnTo>
                  <a:pt x="8140" y="1663700"/>
                </a:lnTo>
                <a:lnTo>
                  <a:pt x="6438" y="1651000"/>
                </a:lnTo>
                <a:lnTo>
                  <a:pt x="4927" y="1638300"/>
                </a:lnTo>
                <a:lnTo>
                  <a:pt x="14300" y="1638300"/>
                </a:lnTo>
                <a:lnTo>
                  <a:pt x="15786" y="1651000"/>
                </a:lnTo>
                <a:lnTo>
                  <a:pt x="17424" y="1651000"/>
                </a:lnTo>
                <a:lnTo>
                  <a:pt x="19278" y="1663700"/>
                </a:lnTo>
                <a:close/>
              </a:path>
              <a:path w="3286125" h="1905000">
                <a:moveTo>
                  <a:pt x="3277755" y="1663700"/>
                </a:moveTo>
                <a:lnTo>
                  <a:pt x="3266643" y="1663700"/>
                </a:lnTo>
                <a:lnTo>
                  <a:pt x="3268497" y="1651000"/>
                </a:lnTo>
                <a:lnTo>
                  <a:pt x="3270135" y="1651000"/>
                </a:lnTo>
                <a:lnTo>
                  <a:pt x="3271621" y="1638300"/>
                </a:lnTo>
                <a:lnTo>
                  <a:pt x="3280981" y="1638300"/>
                </a:lnTo>
                <a:lnTo>
                  <a:pt x="3279457" y="1651000"/>
                </a:lnTo>
                <a:lnTo>
                  <a:pt x="3277755" y="1663700"/>
                </a:lnTo>
                <a:close/>
              </a:path>
              <a:path w="3286125" h="1905000">
                <a:moveTo>
                  <a:pt x="21297" y="1676400"/>
                </a:moveTo>
                <a:lnTo>
                  <a:pt x="12103" y="1676400"/>
                </a:lnTo>
                <a:lnTo>
                  <a:pt x="10032" y="1663700"/>
                </a:lnTo>
                <a:lnTo>
                  <a:pt x="19253" y="1663700"/>
                </a:lnTo>
                <a:lnTo>
                  <a:pt x="21297" y="1676400"/>
                </a:lnTo>
                <a:close/>
              </a:path>
              <a:path w="3286125" h="1905000">
                <a:moveTo>
                  <a:pt x="3273780" y="1676400"/>
                </a:moveTo>
                <a:lnTo>
                  <a:pt x="3264623" y="1676400"/>
                </a:lnTo>
                <a:lnTo>
                  <a:pt x="3266668" y="1663700"/>
                </a:lnTo>
                <a:lnTo>
                  <a:pt x="3275863" y="1663700"/>
                </a:lnTo>
                <a:lnTo>
                  <a:pt x="3273780" y="1676400"/>
                </a:lnTo>
                <a:close/>
              </a:path>
              <a:path w="3286125" h="1905000">
                <a:moveTo>
                  <a:pt x="31140" y="1701800"/>
                </a:moveTo>
                <a:lnTo>
                  <a:pt x="19431" y="1701800"/>
                </a:lnTo>
                <a:lnTo>
                  <a:pt x="16814" y="1689100"/>
                </a:lnTo>
                <a:lnTo>
                  <a:pt x="14376" y="1676400"/>
                </a:lnTo>
                <a:lnTo>
                  <a:pt x="23469" y="1676400"/>
                </a:lnTo>
                <a:lnTo>
                  <a:pt x="25869" y="1689100"/>
                </a:lnTo>
                <a:lnTo>
                  <a:pt x="28384" y="1689100"/>
                </a:lnTo>
                <a:lnTo>
                  <a:pt x="31140" y="1701800"/>
                </a:lnTo>
                <a:close/>
              </a:path>
              <a:path w="3286125" h="1905000">
                <a:moveTo>
                  <a:pt x="3266440" y="1701800"/>
                </a:moveTo>
                <a:lnTo>
                  <a:pt x="3254781" y="1701800"/>
                </a:lnTo>
                <a:lnTo>
                  <a:pt x="3257537" y="1689100"/>
                </a:lnTo>
                <a:lnTo>
                  <a:pt x="3260051" y="1689100"/>
                </a:lnTo>
                <a:lnTo>
                  <a:pt x="3262452" y="1676400"/>
                </a:lnTo>
                <a:lnTo>
                  <a:pt x="3271520" y="1676400"/>
                </a:lnTo>
                <a:lnTo>
                  <a:pt x="3269068" y="1689100"/>
                </a:lnTo>
                <a:lnTo>
                  <a:pt x="3266440" y="1701800"/>
                </a:lnTo>
                <a:close/>
              </a:path>
              <a:path w="3286125" h="1905000">
                <a:moveTo>
                  <a:pt x="37071" y="1714500"/>
                </a:moveTo>
                <a:lnTo>
                  <a:pt x="25209" y="1714500"/>
                </a:lnTo>
                <a:lnTo>
                  <a:pt x="22237" y="1701800"/>
                </a:lnTo>
                <a:lnTo>
                  <a:pt x="33972" y="1701800"/>
                </a:lnTo>
                <a:lnTo>
                  <a:pt x="37071" y="1714500"/>
                </a:lnTo>
                <a:close/>
              </a:path>
              <a:path w="3286125" h="1905000">
                <a:moveTo>
                  <a:pt x="3260674" y="1714500"/>
                </a:moveTo>
                <a:lnTo>
                  <a:pt x="3248850" y="1714500"/>
                </a:lnTo>
                <a:lnTo>
                  <a:pt x="3251949" y="1701800"/>
                </a:lnTo>
                <a:lnTo>
                  <a:pt x="3263646" y="1701800"/>
                </a:lnTo>
                <a:lnTo>
                  <a:pt x="3260674" y="1714500"/>
                </a:lnTo>
                <a:close/>
              </a:path>
              <a:path w="3286125" h="1905000">
                <a:moveTo>
                  <a:pt x="40284" y="1727200"/>
                </a:moveTo>
                <a:lnTo>
                  <a:pt x="31661" y="1727200"/>
                </a:lnTo>
                <a:lnTo>
                  <a:pt x="28346" y="1714500"/>
                </a:lnTo>
                <a:lnTo>
                  <a:pt x="37020" y="1714500"/>
                </a:lnTo>
                <a:lnTo>
                  <a:pt x="40284" y="1727200"/>
                </a:lnTo>
                <a:close/>
              </a:path>
              <a:path w="3286125" h="1905000">
                <a:moveTo>
                  <a:pt x="3254209" y="1727200"/>
                </a:moveTo>
                <a:lnTo>
                  <a:pt x="3245637" y="1727200"/>
                </a:lnTo>
                <a:lnTo>
                  <a:pt x="3248901" y="1714500"/>
                </a:lnTo>
                <a:lnTo>
                  <a:pt x="3257524" y="1714500"/>
                </a:lnTo>
                <a:lnTo>
                  <a:pt x="3254209" y="1727200"/>
                </a:lnTo>
                <a:close/>
              </a:path>
              <a:path w="3286125" h="1905000">
                <a:moveTo>
                  <a:pt x="54724" y="1752600"/>
                </a:moveTo>
                <a:lnTo>
                  <a:pt x="42570" y="1752600"/>
                </a:lnTo>
                <a:lnTo>
                  <a:pt x="38773" y="1739900"/>
                </a:lnTo>
                <a:lnTo>
                  <a:pt x="35128" y="1727200"/>
                </a:lnTo>
                <a:lnTo>
                  <a:pt x="43611" y="1727200"/>
                </a:lnTo>
                <a:lnTo>
                  <a:pt x="47193" y="1739900"/>
                </a:lnTo>
                <a:lnTo>
                  <a:pt x="50825" y="1739900"/>
                </a:lnTo>
                <a:lnTo>
                  <a:pt x="54724" y="1752600"/>
                </a:lnTo>
                <a:close/>
              </a:path>
              <a:path w="3286125" h="1905000">
                <a:moveTo>
                  <a:pt x="3243287" y="1752600"/>
                </a:moveTo>
                <a:lnTo>
                  <a:pt x="3231197" y="1752600"/>
                </a:lnTo>
                <a:lnTo>
                  <a:pt x="3235096" y="1739900"/>
                </a:lnTo>
                <a:lnTo>
                  <a:pt x="3238728" y="1739900"/>
                </a:lnTo>
                <a:lnTo>
                  <a:pt x="3242310" y="1727200"/>
                </a:lnTo>
                <a:lnTo>
                  <a:pt x="3250742" y="1727200"/>
                </a:lnTo>
                <a:lnTo>
                  <a:pt x="3247097" y="1739900"/>
                </a:lnTo>
                <a:lnTo>
                  <a:pt x="3243287" y="1752600"/>
                </a:lnTo>
                <a:close/>
              </a:path>
              <a:path w="3286125" h="1905000">
                <a:moveTo>
                  <a:pt x="62865" y="1765300"/>
                </a:moveTo>
                <a:lnTo>
                  <a:pt x="50634" y="1765300"/>
                </a:lnTo>
                <a:lnTo>
                  <a:pt x="46532" y="1752600"/>
                </a:lnTo>
                <a:lnTo>
                  <a:pt x="58661" y="1752600"/>
                </a:lnTo>
                <a:lnTo>
                  <a:pt x="62865" y="1765300"/>
                </a:lnTo>
                <a:close/>
              </a:path>
              <a:path w="3286125" h="1905000">
                <a:moveTo>
                  <a:pt x="3235223" y="1765300"/>
                </a:moveTo>
                <a:lnTo>
                  <a:pt x="3223056" y="1765300"/>
                </a:lnTo>
                <a:lnTo>
                  <a:pt x="3227260" y="1752600"/>
                </a:lnTo>
                <a:lnTo>
                  <a:pt x="3239338" y="1752600"/>
                </a:lnTo>
                <a:lnTo>
                  <a:pt x="3235223" y="1765300"/>
                </a:lnTo>
                <a:close/>
              </a:path>
              <a:path w="3286125" h="1905000">
                <a:moveTo>
                  <a:pt x="71589" y="1778000"/>
                </a:moveTo>
                <a:lnTo>
                  <a:pt x="59321" y="1778000"/>
                </a:lnTo>
                <a:lnTo>
                  <a:pt x="54902" y="1765300"/>
                </a:lnTo>
                <a:lnTo>
                  <a:pt x="67081" y="1765300"/>
                </a:lnTo>
                <a:lnTo>
                  <a:pt x="71589" y="1778000"/>
                </a:lnTo>
                <a:close/>
              </a:path>
              <a:path w="3286125" h="1905000">
                <a:moveTo>
                  <a:pt x="3226536" y="1778000"/>
                </a:moveTo>
                <a:lnTo>
                  <a:pt x="3214331" y="1778000"/>
                </a:lnTo>
                <a:lnTo>
                  <a:pt x="3218840" y="1765300"/>
                </a:lnTo>
                <a:lnTo>
                  <a:pt x="3231019" y="1765300"/>
                </a:lnTo>
                <a:lnTo>
                  <a:pt x="3226536" y="1778000"/>
                </a:lnTo>
                <a:close/>
              </a:path>
              <a:path w="3286125" h="1905000">
                <a:moveTo>
                  <a:pt x="80873" y="1790700"/>
                </a:moveTo>
                <a:lnTo>
                  <a:pt x="68605" y="1790700"/>
                </a:lnTo>
                <a:lnTo>
                  <a:pt x="63893" y="1778000"/>
                </a:lnTo>
                <a:lnTo>
                  <a:pt x="76085" y="1778000"/>
                </a:lnTo>
                <a:lnTo>
                  <a:pt x="80873" y="1790700"/>
                </a:lnTo>
                <a:close/>
              </a:path>
              <a:path w="3286125" h="1905000">
                <a:moveTo>
                  <a:pt x="3217252" y="1790700"/>
                </a:moveTo>
                <a:lnTo>
                  <a:pt x="3205048" y="1790700"/>
                </a:lnTo>
                <a:lnTo>
                  <a:pt x="3209836" y="1778000"/>
                </a:lnTo>
                <a:lnTo>
                  <a:pt x="3221964" y="1778000"/>
                </a:lnTo>
                <a:lnTo>
                  <a:pt x="3217252" y="1790700"/>
                </a:lnTo>
                <a:close/>
              </a:path>
              <a:path w="3286125" h="1905000">
                <a:moveTo>
                  <a:pt x="95821" y="1803400"/>
                </a:moveTo>
                <a:lnTo>
                  <a:pt x="83578" y="1803400"/>
                </a:lnTo>
                <a:lnTo>
                  <a:pt x="78447" y="1790700"/>
                </a:lnTo>
                <a:lnTo>
                  <a:pt x="90627" y="1790700"/>
                </a:lnTo>
                <a:lnTo>
                  <a:pt x="95821" y="1803400"/>
                </a:lnTo>
                <a:close/>
              </a:path>
              <a:path w="3286125" h="1905000">
                <a:moveTo>
                  <a:pt x="3202266" y="1803400"/>
                </a:moveTo>
                <a:lnTo>
                  <a:pt x="3190100" y="1803400"/>
                </a:lnTo>
                <a:lnTo>
                  <a:pt x="3195294" y="1790700"/>
                </a:lnTo>
                <a:lnTo>
                  <a:pt x="3207397" y="1790700"/>
                </a:lnTo>
                <a:lnTo>
                  <a:pt x="3202266" y="1803400"/>
                </a:lnTo>
                <a:close/>
              </a:path>
              <a:path w="3286125" h="1905000">
                <a:moveTo>
                  <a:pt x="106438" y="1816100"/>
                </a:moveTo>
                <a:lnTo>
                  <a:pt x="94246" y="1816100"/>
                </a:lnTo>
                <a:lnTo>
                  <a:pt x="88849" y="1803400"/>
                </a:lnTo>
                <a:lnTo>
                  <a:pt x="100977" y="1803400"/>
                </a:lnTo>
                <a:lnTo>
                  <a:pt x="106438" y="1816100"/>
                </a:lnTo>
                <a:close/>
              </a:path>
              <a:path w="3286125" h="1905000">
                <a:moveTo>
                  <a:pt x="3191586" y="1816100"/>
                </a:moveTo>
                <a:lnTo>
                  <a:pt x="3179483" y="1816100"/>
                </a:lnTo>
                <a:lnTo>
                  <a:pt x="3184944" y="1803400"/>
                </a:lnTo>
                <a:lnTo>
                  <a:pt x="3196996" y="1803400"/>
                </a:lnTo>
                <a:lnTo>
                  <a:pt x="3191586" y="1816100"/>
                </a:lnTo>
                <a:close/>
              </a:path>
              <a:path w="3286125" h="1905000">
                <a:moveTo>
                  <a:pt x="123278" y="1828800"/>
                </a:moveTo>
                <a:lnTo>
                  <a:pt x="105435" y="1828800"/>
                </a:lnTo>
                <a:lnTo>
                  <a:pt x="99783" y="1816100"/>
                </a:lnTo>
                <a:lnTo>
                  <a:pt x="117462" y="1816100"/>
                </a:lnTo>
                <a:lnTo>
                  <a:pt x="123278" y="1828800"/>
                </a:lnTo>
                <a:close/>
              </a:path>
              <a:path w="3286125" h="1905000">
                <a:moveTo>
                  <a:pt x="3180397" y="1828800"/>
                </a:moveTo>
                <a:lnTo>
                  <a:pt x="3162642" y="1828800"/>
                </a:lnTo>
                <a:lnTo>
                  <a:pt x="3168459" y="1816100"/>
                </a:lnTo>
                <a:lnTo>
                  <a:pt x="3186061" y="1816100"/>
                </a:lnTo>
                <a:lnTo>
                  <a:pt x="3180397" y="1828800"/>
                </a:lnTo>
                <a:close/>
              </a:path>
              <a:path w="3286125" h="1905000">
                <a:moveTo>
                  <a:pt x="135089" y="1841500"/>
                </a:moveTo>
                <a:lnTo>
                  <a:pt x="123151" y="1841500"/>
                </a:lnTo>
                <a:lnTo>
                  <a:pt x="117132" y="1828800"/>
                </a:lnTo>
                <a:lnTo>
                  <a:pt x="129044" y="1828800"/>
                </a:lnTo>
                <a:lnTo>
                  <a:pt x="135089" y="1841500"/>
                </a:lnTo>
                <a:close/>
              </a:path>
              <a:path w="3286125" h="1905000">
                <a:moveTo>
                  <a:pt x="3162681" y="1841500"/>
                </a:moveTo>
                <a:lnTo>
                  <a:pt x="3150831" y="1841500"/>
                </a:lnTo>
                <a:lnTo>
                  <a:pt x="3156877" y="1828800"/>
                </a:lnTo>
                <a:lnTo>
                  <a:pt x="3168700" y="1828800"/>
                </a:lnTo>
                <a:lnTo>
                  <a:pt x="3162681" y="1841500"/>
                </a:lnTo>
                <a:close/>
              </a:path>
              <a:path w="3286125" h="1905000">
                <a:moveTo>
                  <a:pt x="153657" y="1854200"/>
                </a:moveTo>
                <a:lnTo>
                  <a:pt x="135559" y="1854200"/>
                </a:lnTo>
                <a:lnTo>
                  <a:pt x="129298" y="1841500"/>
                </a:lnTo>
                <a:lnTo>
                  <a:pt x="147269" y="1841500"/>
                </a:lnTo>
                <a:lnTo>
                  <a:pt x="153657" y="1854200"/>
                </a:lnTo>
                <a:close/>
              </a:path>
              <a:path w="3286125" h="1905000">
                <a:moveTo>
                  <a:pt x="3150273" y="1854200"/>
                </a:moveTo>
                <a:lnTo>
                  <a:pt x="3132264" y="1854200"/>
                </a:lnTo>
                <a:lnTo>
                  <a:pt x="3138652" y="1841500"/>
                </a:lnTo>
                <a:lnTo>
                  <a:pt x="3156534" y="1841500"/>
                </a:lnTo>
                <a:lnTo>
                  <a:pt x="3150273" y="1854200"/>
                </a:lnTo>
                <a:close/>
              </a:path>
              <a:path w="3286125" h="1905000">
                <a:moveTo>
                  <a:pt x="173151" y="1866900"/>
                </a:moveTo>
                <a:lnTo>
                  <a:pt x="155003" y="1866900"/>
                </a:lnTo>
                <a:lnTo>
                  <a:pt x="148412" y="1854200"/>
                </a:lnTo>
                <a:lnTo>
                  <a:pt x="166446" y="1854200"/>
                </a:lnTo>
                <a:lnTo>
                  <a:pt x="173151" y="1866900"/>
                </a:lnTo>
                <a:close/>
              </a:path>
              <a:path w="3286125" h="1905000">
                <a:moveTo>
                  <a:pt x="3130816" y="1866900"/>
                </a:moveTo>
                <a:lnTo>
                  <a:pt x="3112770" y="1866900"/>
                </a:lnTo>
                <a:lnTo>
                  <a:pt x="3119475" y="1854200"/>
                </a:lnTo>
                <a:lnTo>
                  <a:pt x="3137509" y="1854200"/>
                </a:lnTo>
                <a:lnTo>
                  <a:pt x="3130816" y="1866900"/>
                </a:lnTo>
                <a:close/>
              </a:path>
              <a:path w="3286125" h="1905000">
                <a:moveTo>
                  <a:pt x="200482" y="1879600"/>
                </a:moveTo>
                <a:lnTo>
                  <a:pt x="182397" y="1879600"/>
                </a:lnTo>
                <a:lnTo>
                  <a:pt x="175399" y="1866900"/>
                </a:lnTo>
                <a:lnTo>
                  <a:pt x="193408" y="1866900"/>
                </a:lnTo>
                <a:lnTo>
                  <a:pt x="200482" y="1879600"/>
                </a:lnTo>
                <a:close/>
              </a:path>
              <a:path w="3286125" h="1905000">
                <a:moveTo>
                  <a:pt x="3103422" y="1879600"/>
                </a:moveTo>
                <a:lnTo>
                  <a:pt x="3085439" y="1879600"/>
                </a:lnTo>
                <a:lnTo>
                  <a:pt x="3092513" y="1866900"/>
                </a:lnTo>
                <a:lnTo>
                  <a:pt x="3110420" y="1866900"/>
                </a:lnTo>
                <a:lnTo>
                  <a:pt x="3103422" y="1879600"/>
                </a:lnTo>
                <a:close/>
              </a:path>
              <a:path w="3286125" h="1905000">
                <a:moveTo>
                  <a:pt x="236600" y="1892300"/>
                </a:moveTo>
                <a:lnTo>
                  <a:pt x="211302" y="1892300"/>
                </a:lnTo>
                <a:lnTo>
                  <a:pt x="203949" y="1879600"/>
                </a:lnTo>
                <a:lnTo>
                  <a:pt x="229107" y="1879600"/>
                </a:lnTo>
                <a:lnTo>
                  <a:pt x="236600" y="1892300"/>
                </a:lnTo>
                <a:close/>
              </a:path>
              <a:path w="3286125" h="1905000">
                <a:moveTo>
                  <a:pt x="3074504" y="1892300"/>
                </a:moveTo>
                <a:lnTo>
                  <a:pt x="3049320" y="1892300"/>
                </a:lnTo>
                <a:lnTo>
                  <a:pt x="3056813" y="1879600"/>
                </a:lnTo>
                <a:lnTo>
                  <a:pt x="3081870" y="1879600"/>
                </a:lnTo>
                <a:lnTo>
                  <a:pt x="3074504" y="1892300"/>
                </a:lnTo>
                <a:close/>
              </a:path>
              <a:path w="3286125" h="1905000">
                <a:moveTo>
                  <a:pt x="322224" y="1905000"/>
                </a:moveTo>
                <a:lnTo>
                  <a:pt x="249339" y="1905000"/>
                </a:lnTo>
                <a:lnTo>
                  <a:pt x="241579" y="1892300"/>
                </a:lnTo>
                <a:lnTo>
                  <a:pt x="314032" y="1892300"/>
                </a:lnTo>
                <a:lnTo>
                  <a:pt x="322224" y="1905000"/>
                </a:lnTo>
                <a:close/>
              </a:path>
              <a:path w="3286125" h="1905000">
                <a:moveTo>
                  <a:pt x="3036468" y="1905000"/>
                </a:moveTo>
                <a:lnTo>
                  <a:pt x="2963697" y="1905000"/>
                </a:lnTo>
                <a:lnTo>
                  <a:pt x="2971888" y="1892300"/>
                </a:lnTo>
                <a:lnTo>
                  <a:pt x="3044228" y="1892300"/>
                </a:lnTo>
                <a:lnTo>
                  <a:pt x="3036468" y="19050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3720465" y="3009899"/>
            <a:ext cx="1573530" cy="10325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-5" dirty="0">
                <a:latin typeface="Tahoma"/>
                <a:cs typeface="Tahoma"/>
              </a:rPr>
              <a:t>{(1,2),</a:t>
            </a:r>
            <a:r>
              <a:rPr sz="2000" spc="-40" dirty="0">
                <a:latin typeface="Tahoma"/>
                <a:cs typeface="Tahoma"/>
              </a:rPr>
              <a:t> </a:t>
            </a:r>
            <a:r>
              <a:rPr sz="2000" spc="-5" dirty="0">
                <a:latin typeface="Tahoma"/>
                <a:cs typeface="Tahoma"/>
              </a:rPr>
              <a:t>(3,4)}</a:t>
            </a:r>
            <a:endParaRPr sz="20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2150">
              <a:latin typeface="Tahoma"/>
              <a:cs typeface="Tahoma"/>
            </a:endParaRPr>
          </a:p>
          <a:p>
            <a:pPr marL="675005">
              <a:lnSpc>
                <a:spcPct val="100000"/>
              </a:lnSpc>
            </a:pPr>
            <a:r>
              <a:rPr sz="2400" dirty="0">
                <a:solidFill>
                  <a:srgbClr val="00CC99"/>
                </a:solidFill>
                <a:latin typeface="Tahoma"/>
                <a:cs typeface="Tahoma"/>
              </a:rPr>
              <a:t>A </a:t>
            </a:r>
            <a:r>
              <a:rPr sz="2400" spc="-5" dirty="0">
                <a:solidFill>
                  <a:srgbClr val="00CC99"/>
                </a:solidFill>
                <a:latin typeface="Tahoma"/>
                <a:cs typeface="Tahoma"/>
              </a:rPr>
              <a:t>-&gt;</a:t>
            </a:r>
            <a:r>
              <a:rPr sz="2400" spc="-95" dirty="0">
                <a:solidFill>
                  <a:srgbClr val="00CC99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00CC99"/>
                </a:solidFill>
                <a:latin typeface="Tahoma"/>
                <a:cs typeface="Tahoma"/>
              </a:rPr>
              <a:t>B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dirty="0"/>
              <a:t>26</a:t>
            </a:fld>
            <a:endParaRPr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415414" y="829944"/>
            <a:ext cx="631380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5" dirty="0"/>
              <a:t>Representing </a:t>
            </a:r>
            <a:r>
              <a:rPr spc="-5" dirty="0"/>
              <a:t>Sets of</a:t>
            </a:r>
            <a:r>
              <a:rPr spc="-10" dirty="0"/>
              <a:t> </a:t>
            </a:r>
            <a:r>
              <a:rPr spc="-40" dirty="0"/>
              <a:t>FD’s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dirty="0"/>
              <a:t>27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764540" y="2012949"/>
            <a:ext cx="7546340" cy="242760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5080" indent="-342900" algn="just">
              <a:lnSpc>
                <a:spcPct val="100000"/>
              </a:lnSpc>
              <a:spcBef>
                <a:spcPts val="105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spc="-5" dirty="0">
                <a:latin typeface="Tahoma"/>
                <a:cs typeface="Tahoma"/>
              </a:rPr>
              <a:t>If each </a:t>
            </a:r>
            <a:r>
              <a:rPr sz="3200" dirty="0">
                <a:latin typeface="Tahoma"/>
                <a:cs typeface="Tahoma"/>
              </a:rPr>
              <a:t>FD </a:t>
            </a:r>
            <a:r>
              <a:rPr sz="3200" spc="-5" dirty="0">
                <a:latin typeface="Tahoma"/>
                <a:cs typeface="Tahoma"/>
              </a:rPr>
              <a:t>is </a:t>
            </a:r>
            <a:r>
              <a:rPr sz="3200" dirty="0">
                <a:latin typeface="Tahoma"/>
                <a:cs typeface="Tahoma"/>
              </a:rPr>
              <a:t>a </a:t>
            </a:r>
            <a:r>
              <a:rPr sz="3200" spc="-5" dirty="0">
                <a:latin typeface="Tahoma"/>
                <a:cs typeface="Tahoma"/>
              </a:rPr>
              <a:t>set of relation instances,  then </a:t>
            </a:r>
            <a:r>
              <a:rPr sz="3200" dirty="0">
                <a:latin typeface="Tahoma"/>
                <a:cs typeface="Tahoma"/>
              </a:rPr>
              <a:t>a </a:t>
            </a:r>
            <a:r>
              <a:rPr sz="3200" spc="-5" dirty="0">
                <a:latin typeface="Tahoma"/>
                <a:cs typeface="Tahoma"/>
              </a:rPr>
              <a:t>collection of </a:t>
            </a:r>
            <a:r>
              <a:rPr sz="3200" spc="-30" dirty="0">
                <a:latin typeface="Tahoma"/>
                <a:cs typeface="Tahoma"/>
              </a:rPr>
              <a:t>FD’s </a:t>
            </a:r>
            <a:r>
              <a:rPr sz="3200" spc="-5" dirty="0">
                <a:latin typeface="Tahoma"/>
                <a:cs typeface="Tahoma"/>
              </a:rPr>
              <a:t>corresponds to  the intersection</a:t>
            </a:r>
            <a:r>
              <a:rPr lang="zh-CN" altLang="en-US" sz="3200" spc="-5" dirty="0">
                <a:latin typeface="Tahoma"/>
                <a:cs typeface="Tahoma"/>
              </a:rPr>
              <a:t>交集 </a:t>
            </a:r>
            <a:r>
              <a:rPr sz="3200" spc="-5" dirty="0">
                <a:latin typeface="Tahoma"/>
                <a:cs typeface="Tahoma"/>
              </a:rPr>
              <a:t>of those</a:t>
            </a:r>
            <a:r>
              <a:rPr sz="3200" spc="-10" dirty="0">
                <a:latin typeface="Tahoma"/>
                <a:cs typeface="Tahoma"/>
              </a:rPr>
              <a:t> </a:t>
            </a:r>
            <a:r>
              <a:rPr sz="3200" spc="-5" dirty="0">
                <a:latin typeface="Tahoma"/>
                <a:cs typeface="Tahoma"/>
              </a:rPr>
              <a:t>sets.</a:t>
            </a:r>
            <a:endParaRPr sz="3200" dirty="0">
              <a:latin typeface="Tahoma"/>
              <a:cs typeface="Tahoma"/>
            </a:endParaRPr>
          </a:p>
          <a:p>
            <a:pPr marL="755650" marR="229235" lvl="1" indent="-285750" algn="just">
              <a:lnSpc>
                <a:spcPct val="100000"/>
              </a:lnSpc>
              <a:spcBef>
                <a:spcPts val="670"/>
              </a:spcBef>
              <a:buClr>
                <a:srgbClr val="CC00CC"/>
              </a:buClr>
              <a:buFont typeface="Wingdings"/>
              <a:buChar char=""/>
              <a:tabLst>
                <a:tab pos="755650" algn="l"/>
              </a:tabLst>
            </a:pPr>
            <a:r>
              <a:rPr sz="2800" spc="-5" dirty="0">
                <a:latin typeface="Tahoma"/>
                <a:cs typeface="Tahoma"/>
              </a:rPr>
              <a:t>Intersection = </a:t>
            </a:r>
            <a:r>
              <a:rPr sz="2800" dirty="0">
                <a:latin typeface="Tahoma"/>
                <a:cs typeface="Tahoma"/>
              </a:rPr>
              <a:t>all </a:t>
            </a:r>
            <a:r>
              <a:rPr sz="2800" spc="-5" dirty="0">
                <a:latin typeface="Tahoma"/>
                <a:cs typeface="Tahoma"/>
              </a:rPr>
              <a:t>instances that </a:t>
            </a:r>
            <a:r>
              <a:rPr sz="2800" spc="-10" dirty="0">
                <a:latin typeface="Tahoma"/>
                <a:cs typeface="Tahoma"/>
              </a:rPr>
              <a:t>satisfy </a:t>
            </a:r>
            <a:r>
              <a:rPr sz="2800" dirty="0">
                <a:latin typeface="Tahoma"/>
                <a:cs typeface="Tahoma"/>
              </a:rPr>
              <a:t>all  </a:t>
            </a:r>
            <a:r>
              <a:rPr sz="2800" spc="-5" dirty="0">
                <a:latin typeface="Tahoma"/>
                <a:cs typeface="Tahoma"/>
              </a:rPr>
              <a:t>of the</a:t>
            </a:r>
            <a:r>
              <a:rPr sz="2800" dirty="0">
                <a:latin typeface="Tahoma"/>
                <a:cs typeface="Tahoma"/>
              </a:rPr>
              <a:t> </a:t>
            </a:r>
            <a:r>
              <a:rPr sz="2800" spc="-25" dirty="0">
                <a:latin typeface="Tahoma"/>
                <a:cs typeface="Tahoma"/>
              </a:rPr>
              <a:t>FD’s.</a:t>
            </a:r>
            <a:endParaRPr sz="2800" dirty="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517265" y="829944"/>
            <a:ext cx="210947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Example</a:t>
            </a:r>
          </a:p>
        </p:txBody>
      </p:sp>
      <p:sp>
        <p:nvSpPr>
          <p:cNvPr id="3" name="object 3"/>
          <p:cNvSpPr/>
          <p:nvPr/>
        </p:nvSpPr>
        <p:spPr>
          <a:xfrm>
            <a:off x="1443100" y="2205037"/>
            <a:ext cx="6029198" cy="4191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459740" y="1861184"/>
            <a:ext cx="5387340" cy="35528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272669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Tahoma"/>
                <a:cs typeface="Tahoma"/>
              </a:rPr>
              <a:t>Instances</a:t>
            </a:r>
            <a:r>
              <a:rPr sz="2400" spc="-80" dirty="0">
                <a:latin typeface="Tahoma"/>
                <a:cs typeface="Tahoma"/>
              </a:rPr>
              <a:t> </a:t>
            </a:r>
            <a:r>
              <a:rPr sz="2400" spc="-5" dirty="0">
                <a:latin typeface="Tahoma"/>
                <a:cs typeface="Tahoma"/>
              </a:rPr>
              <a:t>satisfying  </a:t>
            </a:r>
            <a:r>
              <a:rPr sz="2400" spc="-15" dirty="0">
                <a:solidFill>
                  <a:srgbClr val="00CC99"/>
                </a:solidFill>
                <a:latin typeface="Tahoma"/>
                <a:cs typeface="Tahoma"/>
              </a:rPr>
              <a:t>A-&gt;B</a:t>
            </a:r>
            <a:r>
              <a:rPr sz="2400" spc="-15" dirty="0">
                <a:latin typeface="Tahoma"/>
                <a:cs typeface="Tahoma"/>
              </a:rPr>
              <a:t>, </a:t>
            </a:r>
            <a:r>
              <a:rPr sz="2400" spc="-5" dirty="0">
                <a:solidFill>
                  <a:srgbClr val="00CC99"/>
                </a:solidFill>
                <a:latin typeface="Tahoma"/>
                <a:cs typeface="Tahoma"/>
              </a:rPr>
              <a:t>B-&gt;C</a:t>
            </a:r>
            <a:r>
              <a:rPr sz="2400" spc="-5" dirty="0">
                <a:latin typeface="Tahoma"/>
                <a:cs typeface="Tahoma"/>
              </a:rPr>
              <a:t>, </a:t>
            </a:r>
            <a:r>
              <a:rPr sz="2400" dirty="0">
                <a:latin typeface="Tahoma"/>
                <a:cs typeface="Tahoma"/>
              </a:rPr>
              <a:t>and  </a:t>
            </a:r>
            <a:r>
              <a:rPr sz="2400" spc="-5" dirty="0">
                <a:solidFill>
                  <a:srgbClr val="00CC99"/>
                </a:solidFill>
                <a:latin typeface="Tahoma"/>
                <a:cs typeface="Tahoma"/>
              </a:rPr>
              <a:t>CD-&gt;A</a:t>
            </a:r>
            <a:endParaRPr sz="2400" dirty="0">
              <a:latin typeface="Tahoma"/>
              <a:cs typeface="Tahoma"/>
            </a:endParaRPr>
          </a:p>
          <a:p>
            <a:pPr>
              <a:lnSpc>
                <a:spcPct val="100000"/>
              </a:lnSpc>
            </a:pPr>
            <a:endParaRPr sz="2900" dirty="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2350" dirty="0">
              <a:latin typeface="Tahoma"/>
              <a:cs typeface="Tahoma"/>
            </a:endParaRPr>
          </a:p>
          <a:p>
            <a:pPr marL="3272790">
              <a:lnSpc>
                <a:spcPct val="100000"/>
              </a:lnSpc>
            </a:pPr>
            <a:r>
              <a:rPr sz="2400" spc="-20" dirty="0">
                <a:latin typeface="Tahoma"/>
                <a:cs typeface="Tahoma"/>
              </a:rPr>
              <a:t>A-&gt;B</a:t>
            </a:r>
            <a:endParaRPr sz="2400" dirty="0">
              <a:latin typeface="Tahoma"/>
              <a:cs typeface="Tahoma"/>
            </a:endParaRPr>
          </a:p>
          <a:p>
            <a:pPr marL="4678045">
              <a:lnSpc>
                <a:spcPct val="100000"/>
              </a:lnSpc>
              <a:spcBef>
                <a:spcPts val="125"/>
              </a:spcBef>
            </a:pPr>
            <a:r>
              <a:rPr sz="2400" spc="10" dirty="0">
                <a:latin typeface="Tahoma"/>
                <a:cs typeface="Tahoma"/>
              </a:rPr>
              <a:t>B</a:t>
            </a:r>
            <a:r>
              <a:rPr sz="2400" spc="-5" dirty="0">
                <a:latin typeface="Tahoma"/>
                <a:cs typeface="Tahoma"/>
              </a:rPr>
              <a:t>-&gt;</a:t>
            </a:r>
            <a:r>
              <a:rPr sz="2400" dirty="0">
                <a:latin typeface="Tahoma"/>
                <a:cs typeface="Tahoma"/>
              </a:rPr>
              <a:t>C</a:t>
            </a: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3300" dirty="0">
              <a:latin typeface="Tahoma"/>
              <a:cs typeface="Tahoma"/>
            </a:endParaRPr>
          </a:p>
          <a:p>
            <a:pPr marR="471805" algn="r">
              <a:lnSpc>
                <a:spcPct val="100000"/>
              </a:lnSpc>
            </a:pPr>
            <a:r>
              <a:rPr sz="2400" spc="-5" dirty="0">
                <a:latin typeface="Tahoma"/>
                <a:cs typeface="Tahoma"/>
              </a:rPr>
              <a:t>C</a:t>
            </a:r>
            <a:r>
              <a:rPr sz="2400" dirty="0">
                <a:latin typeface="Tahoma"/>
                <a:cs typeface="Tahoma"/>
              </a:rPr>
              <a:t>D</a:t>
            </a:r>
            <a:r>
              <a:rPr sz="2400" spc="-5" dirty="0">
                <a:latin typeface="Tahoma"/>
                <a:cs typeface="Tahoma"/>
              </a:rPr>
              <a:t>-&gt;</a:t>
            </a:r>
            <a:r>
              <a:rPr sz="2400" dirty="0">
                <a:latin typeface="Tahoma"/>
                <a:cs typeface="Tahoma"/>
              </a:rPr>
              <a:t>A</a:t>
            </a:r>
          </a:p>
        </p:txBody>
      </p:sp>
      <p:sp>
        <p:nvSpPr>
          <p:cNvPr id="5" name="object 5"/>
          <p:cNvSpPr/>
          <p:nvPr/>
        </p:nvSpPr>
        <p:spPr>
          <a:xfrm>
            <a:off x="1902434" y="2739186"/>
            <a:ext cx="2746375" cy="1757045"/>
          </a:xfrm>
          <a:custGeom>
            <a:avLst/>
            <a:gdLst/>
            <a:ahLst/>
            <a:cxnLst/>
            <a:rect l="l" t="t" r="r" b="b"/>
            <a:pathLst>
              <a:path w="2746375" h="1757045">
                <a:moveTo>
                  <a:pt x="2678993" y="1719601"/>
                </a:moveTo>
                <a:lnTo>
                  <a:pt x="0" y="8026"/>
                </a:lnTo>
                <a:lnTo>
                  <a:pt x="5130" y="0"/>
                </a:lnTo>
                <a:lnTo>
                  <a:pt x="2684121" y="1711573"/>
                </a:lnTo>
                <a:lnTo>
                  <a:pt x="2678993" y="1719601"/>
                </a:lnTo>
                <a:close/>
              </a:path>
              <a:path w="2746375" h="1757045">
                <a:moveTo>
                  <a:pt x="2729774" y="1729854"/>
                </a:moveTo>
                <a:lnTo>
                  <a:pt x="2695041" y="1729854"/>
                </a:lnTo>
                <a:lnTo>
                  <a:pt x="2700172" y="1721827"/>
                </a:lnTo>
                <a:lnTo>
                  <a:pt x="2684121" y="1711573"/>
                </a:lnTo>
                <a:lnTo>
                  <a:pt x="2702064" y="1683486"/>
                </a:lnTo>
                <a:lnTo>
                  <a:pt x="2729774" y="1729854"/>
                </a:lnTo>
                <a:close/>
              </a:path>
              <a:path w="2746375" h="1757045">
                <a:moveTo>
                  <a:pt x="2695041" y="1729854"/>
                </a:moveTo>
                <a:lnTo>
                  <a:pt x="2678993" y="1719601"/>
                </a:lnTo>
                <a:lnTo>
                  <a:pt x="2684121" y="1711573"/>
                </a:lnTo>
                <a:lnTo>
                  <a:pt x="2700172" y="1721827"/>
                </a:lnTo>
                <a:lnTo>
                  <a:pt x="2695041" y="1729854"/>
                </a:lnTo>
                <a:close/>
              </a:path>
              <a:path w="2746375" h="1757045">
                <a:moveTo>
                  <a:pt x="2745765" y="1756613"/>
                </a:moveTo>
                <a:lnTo>
                  <a:pt x="2661043" y="1747697"/>
                </a:lnTo>
                <a:lnTo>
                  <a:pt x="2678993" y="1719601"/>
                </a:lnTo>
                <a:lnTo>
                  <a:pt x="2695041" y="1729854"/>
                </a:lnTo>
                <a:lnTo>
                  <a:pt x="2729774" y="1729854"/>
                </a:lnTo>
                <a:lnTo>
                  <a:pt x="2745765" y="175661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dirty="0"/>
              <a:t>28</a:t>
            </a:fld>
            <a:endParaRPr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708785" y="762000"/>
            <a:ext cx="5726430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Implication</a:t>
            </a:r>
            <a:r>
              <a:rPr lang="zh-CN" altLang="en-US" spc="-5" dirty="0"/>
              <a:t>含义</a:t>
            </a:r>
            <a:r>
              <a:rPr spc="-5" dirty="0"/>
              <a:t> of</a:t>
            </a:r>
            <a:r>
              <a:rPr spc="-80" dirty="0"/>
              <a:t> </a:t>
            </a:r>
            <a:r>
              <a:rPr spc="-40" dirty="0"/>
              <a:t>FD’s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dirty="0"/>
              <a:t>29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751840" y="1951977"/>
            <a:ext cx="7447915" cy="3992879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427355" indent="-402590">
              <a:lnSpc>
                <a:spcPts val="3735"/>
              </a:lnSpc>
              <a:spcBef>
                <a:spcPts val="114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27990" algn="l"/>
              </a:tabLst>
            </a:pPr>
            <a:r>
              <a:rPr sz="3200" spc="-5" dirty="0">
                <a:latin typeface="Tahoma"/>
                <a:cs typeface="Tahoma"/>
              </a:rPr>
              <a:t>If </a:t>
            </a:r>
            <a:r>
              <a:rPr sz="3200" dirty="0">
                <a:latin typeface="Tahoma"/>
                <a:cs typeface="Tahoma"/>
              </a:rPr>
              <a:t>an FD </a:t>
            </a:r>
            <a:r>
              <a:rPr sz="3350" i="1" spc="-40" dirty="0">
                <a:solidFill>
                  <a:srgbClr val="00CC99"/>
                </a:solidFill>
                <a:latin typeface="Tahoma"/>
                <a:cs typeface="Tahoma"/>
              </a:rPr>
              <a:t>Y</a:t>
            </a:r>
            <a:r>
              <a:rPr sz="3200" spc="-40" dirty="0">
                <a:solidFill>
                  <a:srgbClr val="00CC99"/>
                </a:solidFill>
                <a:latin typeface="Tahoma"/>
                <a:cs typeface="Tahoma"/>
              </a:rPr>
              <a:t>-&gt; </a:t>
            </a:r>
            <a:r>
              <a:rPr sz="3350" i="1" spc="-90" dirty="0">
                <a:solidFill>
                  <a:srgbClr val="00CC99"/>
                </a:solidFill>
                <a:latin typeface="Tahoma"/>
                <a:cs typeface="Tahoma"/>
              </a:rPr>
              <a:t>B </a:t>
            </a:r>
            <a:r>
              <a:rPr sz="3200" spc="-10" dirty="0">
                <a:latin typeface="Tahoma"/>
                <a:cs typeface="Tahoma"/>
              </a:rPr>
              <a:t>follows from</a:t>
            </a:r>
            <a:r>
              <a:rPr sz="3200" spc="-409" dirty="0">
                <a:latin typeface="Tahoma"/>
                <a:cs typeface="Tahoma"/>
              </a:rPr>
              <a:t> </a:t>
            </a:r>
            <a:r>
              <a:rPr sz="3200" spc="-30" dirty="0">
                <a:latin typeface="Tahoma"/>
                <a:cs typeface="Tahoma"/>
              </a:rPr>
              <a:t>FD’s</a:t>
            </a:r>
            <a:endParaRPr sz="3200" dirty="0">
              <a:latin typeface="Tahoma"/>
              <a:cs typeface="Tahoma"/>
            </a:endParaRPr>
          </a:p>
          <a:p>
            <a:pPr marL="368300" marR="17780" indent="-27305">
              <a:lnSpc>
                <a:spcPts val="3460"/>
              </a:lnSpc>
              <a:spcBef>
                <a:spcPts val="300"/>
              </a:spcBef>
              <a:tabLst>
                <a:tab pos="875030" algn="l"/>
              </a:tabLst>
            </a:pPr>
            <a:r>
              <a:rPr sz="3350" i="1" spc="-555" dirty="0">
                <a:solidFill>
                  <a:srgbClr val="00CC99"/>
                </a:solidFill>
                <a:latin typeface="Tahoma"/>
                <a:cs typeface="Tahoma"/>
              </a:rPr>
              <a:t>X</a:t>
            </a:r>
            <a:r>
              <a:rPr sz="3075" spc="-832" baseline="-17615" dirty="0">
                <a:solidFill>
                  <a:srgbClr val="00CC99"/>
                </a:solidFill>
                <a:latin typeface="Tahoma"/>
                <a:cs typeface="Tahoma"/>
              </a:rPr>
              <a:t>1	</a:t>
            </a:r>
            <a:r>
              <a:rPr sz="3200" dirty="0">
                <a:solidFill>
                  <a:srgbClr val="00CC99"/>
                </a:solidFill>
                <a:latin typeface="Tahoma"/>
                <a:cs typeface="Tahoma"/>
              </a:rPr>
              <a:t>-&gt; </a:t>
            </a:r>
            <a:r>
              <a:rPr sz="3350" i="1" spc="-375" dirty="0">
                <a:solidFill>
                  <a:srgbClr val="00CC99"/>
                </a:solidFill>
                <a:latin typeface="Tahoma"/>
                <a:cs typeface="Tahoma"/>
              </a:rPr>
              <a:t>A</a:t>
            </a:r>
            <a:r>
              <a:rPr sz="3075" spc="-562" baseline="-17615" dirty="0">
                <a:solidFill>
                  <a:srgbClr val="00CC99"/>
                </a:solidFill>
                <a:latin typeface="Tahoma"/>
                <a:cs typeface="Tahoma"/>
              </a:rPr>
              <a:t>1</a:t>
            </a:r>
            <a:r>
              <a:rPr sz="3200" spc="-375" dirty="0">
                <a:latin typeface="Tahoma"/>
                <a:cs typeface="Tahoma"/>
              </a:rPr>
              <a:t>,…,</a:t>
            </a:r>
            <a:r>
              <a:rPr sz="3350" i="1" spc="-375" dirty="0">
                <a:solidFill>
                  <a:srgbClr val="00CC99"/>
                </a:solidFill>
                <a:latin typeface="Tahoma"/>
                <a:cs typeface="Tahoma"/>
              </a:rPr>
              <a:t>X</a:t>
            </a:r>
            <a:r>
              <a:rPr sz="3225" i="1" spc="-562" baseline="-16795" dirty="0">
                <a:solidFill>
                  <a:srgbClr val="00CC99"/>
                </a:solidFill>
                <a:latin typeface="Tahoma"/>
                <a:cs typeface="Tahoma"/>
              </a:rPr>
              <a:t>n </a:t>
            </a:r>
            <a:r>
              <a:rPr sz="3200" dirty="0">
                <a:solidFill>
                  <a:srgbClr val="00CC99"/>
                </a:solidFill>
                <a:latin typeface="Tahoma"/>
                <a:cs typeface="Tahoma"/>
              </a:rPr>
              <a:t>-&gt; </a:t>
            </a:r>
            <a:r>
              <a:rPr sz="3350" i="1" spc="-440" dirty="0">
                <a:solidFill>
                  <a:srgbClr val="00CC99"/>
                </a:solidFill>
                <a:latin typeface="Tahoma"/>
                <a:cs typeface="Tahoma"/>
              </a:rPr>
              <a:t>A</a:t>
            </a:r>
            <a:r>
              <a:rPr sz="3225" i="1" spc="-660" baseline="-16795" dirty="0">
                <a:solidFill>
                  <a:srgbClr val="00CC99"/>
                </a:solidFill>
                <a:latin typeface="Tahoma"/>
                <a:cs typeface="Tahoma"/>
              </a:rPr>
              <a:t>n</a:t>
            </a:r>
            <a:r>
              <a:rPr sz="3200" spc="-440" dirty="0">
                <a:latin typeface="Tahoma"/>
                <a:cs typeface="Tahoma"/>
              </a:rPr>
              <a:t>, </a:t>
            </a:r>
            <a:r>
              <a:rPr sz="3200" spc="-5" dirty="0">
                <a:latin typeface="Tahoma"/>
                <a:cs typeface="Tahoma"/>
              </a:rPr>
              <a:t>then the region in  the space of instances </a:t>
            </a:r>
            <a:r>
              <a:rPr sz="3200" spc="-15" dirty="0">
                <a:latin typeface="Tahoma"/>
                <a:cs typeface="Tahoma"/>
              </a:rPr>
              <a:t>for </a:t>
            </a:r>
            <a:r>
              <a:rPr sz="3350" i="1" spc="-40" dirty="0">
                <a:solidFill>
                  <a:srgbClr val="00CC99"/>
                </a:solidFill>
                <a:latin typeface="Tahoma"/>
                <a:cs typeface="Tahoma"/>
              </a:rPr>
              <a:t>Y</a:t>
            </a:r>
            <a:r>
              <a:rPr sz="3200" spc="-40" dirty="0">
                <a:solidFill>
                  <a:srgbClr val="00CC99"/>
                </a:solidFill>
                <a:latin typeface="Tahoma"/>
                <a:cs typeface="Tahoma"/>
              </a:rPr>
              <a:t>-&gt; </a:t>
            </a:r>
            <a:r>
              <a:rPr sz="3350" i="1" spc="-90" dirty="0">
                <a:solidFill>
                  <a:srgbClr val="00CC99"/>
                </a:solidFill>
                <a:latin typeface="Tahoma"/>
                <a:cs typeface="Tahoma"/>
              </a:rPr>
              <a:t>B </a:t>
            </a:r>
            <a:r>
              <a:rPr sz="3200" spc="-5" dirty="0">
                <a:latin typeface="Tahoma"/>
                <a:cs typeface="Tahoma"/>
              </a:rPr>
              <a:t>must  include the intersection of the regions  </a:t>
            </a:r>
            <a:r>
              <a:rPr sz="3200" spc="-15" dirty="0">
                <a:latin typeface="Tahoma"/>
                <a:cs typeface="Tahoma"/>
              </a:rPr>
              <a:t>for </a:t>
            </a:r>
            <a:r>
              <a:rPr sz="3200" spc="-5" dirty="0">
                <a:latin typeface="Tahoma"/>
                <a:cs typeface="Tahoma"/>
              </a:rPr>
              <a:t>the </a:t>
            </a:r>
            <a:r>
              <a:rPr sz="3200" spc="-30" dirty="0">
                <a:latin typeface="Tahoma"/>
                <a:cs typeface="Tahoma"/>
              </a:rPr>
              <a:t>FD’s </a:t>
            </a:r>
            <a:r>
              <a:rPr sz="3350" i="1" spc="-320" dirty="0">
                <a:solidFill>
                  <a:srgbClr val="00CC99"/>
                </a:solidFill>
                <a:latin typeface="Tahoma"/>
                <a:cs typeface="Tahoma"/>
              </a:rPr>
              <a:t>X</a:t>
            </a:r>
            <a:r>
              <a:rPr sz="3225" i="1" spc="-480" baseline="-16795" dirty="0">
                <a:solidFill>
                  <a:srgbClr val="00CC99"/>
                </a:solidFill>
                <a:latin typeface="Tahoma"/>
                <a:cs typeface="Tahoma"/>
              </a:rPr>
              <a:t>i</a:t>
            </a:r>
            <a:r>
              <a:rPr sz="3200" spc="-320" dirty="0">
                <a:solidFill>
                  <a:srgbClr val="00CC99"/>
                </a:solidFill>
                <a:latin typeface="Tahoma"/>
                <a:cs typeface="Tahoma"/>
              </a:rPr>
              <a:t>-&gt;</a:t>
            </a:r>
            <a:r>
              <a:rPr sz="3200" spc="-395" dirty="0">
                <a:solidFill>
                  <a:srgbClr val="00CC99"/>
                </a:solidFill>
                <a:latin typeface="Tahoma"/>
                <a:cs typeface="Tahoma"/>
              </a:rPr>
              <a:t> </a:t>
            </a:r>
            <a:r>
              <a:rPr sz="3350" i="1" spc="-430" dirty="0">
                <a:solidFill>
                  <a:srgbClr val="00CC99"/>
                </a:solidFill>
                <a:latin typeface="Tahoma"/>
                <a:cs typeface="Tahoma"/>
              </a:rPr>
              <a:t>A</a:t>
            </a:r>
            <a:r>
              <a:rPr sz="3225" i="1" spc="-644" baseline="-16795" dirty="0">
                <a:solidFill>
                  <a:srgbClr val="00CC99"/>
                </a:solidFill>
                <a:latin typeface="Tahoma"/>
                <a:cs typeface="Tahoma"/>
              </a:rPr>
              <a:t>i</a:t>
            </a:r>
            <a:r>
              <a:rPr sz="3200" spc="-430" dirty="0">
                <a:latin typeface="Tahoma"/>
                <a:cs typeface="Tahoma"/>
              </a:rPr>
              <a:t>.</a:t>
            </a:r>
            <a:endParaRPr sz="3200" dirty="0">
              <a:latin typeface="Tahoma"/>
              <a:cs typeface="Tahoma"/>
            </a:endParaRPr>
          </a:p>
          <a:p>
            <a:pPr marL="768350" marR="478790" lvl="1" indent="-285750">
              <a:lnSpc>
                <a:spcPts val="3020"/>
              </a:lnSpc>
              <a:spcBef>
                <a:spcPts val="640"/>
              </a:spcBef>
              <a:buClr>
                <a:srgbClr val="CC00CC"/>
              </a:buClr>
              <a:buFont typeface="Wingdings"/>
              <a:buChar char=""/>
              <a:tabLst>
                <a:tab pos="768350" algn="l"/>
              </a:tabLst>
            </a:pPr>
            <a:r>
              <a:rPr sz="2800" spc="-5" dirty="0">
                <a:latin typeface="Tahoma"/>
                <a:cs typeface="Tahoma"/>
              </a:rPr>
              <a:t>That is, </a:t>
            </a:r>
            <a:r>
              <a:rPr sz="2800" spc="-10" dirty="0">
                <a:latin typeface="Tahoma"/>
                <a:cs typeface="Tahoma"/>
              </a:rPr>
              <a:t>every </a:t>
            </a:r>
            <a:r>
              <a:rPr sz="2800" spc="-5" dirty="0">
                <a:latin typeface="Tahoma"/>
                <a:cs typeface="Tahoma"/>
              </a:rPr>
              <a:t>instance </a:t>
            </a:r>
            <a:r>
              <a:rPr sz="2800" spc="-10" dirty="0">
                <a:latin typeface="Tahoma"/>
                <a:cs typeface="Tahoma"/>
              </a:rPr>
              <a:t>satisfying </a:t>
            </a:r>
            <a:r>
              <a:rPr sz="2800" dirty="0">
                <a:latin typeface="Tahoma"/>
                <a:cs typeface="Tahoma"/>
              </a:rPr>
              <a:t>all </a:t>
            </a:r>
            <a:r>
              <a:rPr sz="2800" spc="-5" dirty="0">
                <a:latin typeface="Tahoma"/>
                <a:cs typeface="Tahoma"/>
              </a:rPr>
              <a:t>the  </a:t>
            </a:r>
            <a:r>
              <a:rPr sz="2800" spc="-30" dirty="0">
                <a:latin typeface="Tahoma"/>
                <a:cs typeface="Tahoma"/>
              </a:rPr>
              <a:t>FD’s </a:t>
            </a:r>
            <a:r>
              <a:rPr sz="2900" i="1" spc="-285" dirty="0">
                <a:solidFill>
                  <a:srgbClr val="00CC99"/>
                </a:solidFill>
                <a:latin typeface="Tahoma"/>
                <a:cs typeface="Tahoma"/>
              </a:rPr>
              <a:t>X</a:t>
            </a:r>
            <a:r>
              <a:rPr sz="2850" i="1" spc="-427" baseline="-16081" dirty="0">
                <a:solidFill>
                  <a:srgbClr val="00CC99"/>
                </a:solidFill>
                <a:latin typeface="Tahoma"/>
                <a:cs typeface="Tahoma"/>
              </a:rPr>
              <a:t>i</a:t>
            </a:r>
            <a:r>
              <a:rPr sz="2800" spc="-285" dirty="0">
                <a:solidFill>
                  <a:srgbClr val="00CC99"/>
                </a:solidFill>
                <a:latin typeface="Tahoma"/>
                <a:cs typeface="Tahoma"/>
              </a:rPr>
              <a:t>-&gt; </a:t>
            </a:r>
            <a:r>
              <a:rPr sz="2900" i="1" spc="-550" dirty="0">
                <a:solidFill>
                  <a:srgbClr val="00CC99"/>
                </a:solidFill>
                <a:latin typeface="Tahoma"/>
                <a:cs typeface="Tahoma"/>
              </a:rPr>
              <a:t>A</a:t>
            </a:r>
            <a:r>
              <a:rPr sz="2850" i="1" spc="-825" baseline="-16081" dirty="0">
                <a:solidFill>
                  <a:srgbClr val="00CC99"/>
                </a:solidFill>
                <a:latin typeface="Tahoma"/>
                <a:cs typeface="Tahoma"/>
              </a:rPr>
              <a:t>i </a:t>
            </a:r>
            <a:r>
              <a:rPr sz="2800" spc="-5" dirty="0">
                <a:latin typeface="Tahoma"/>
                <a:cs typeface="Tahoma"/>
              </a:rPr>
              <a:t>surely satisfies </a:t>
            </a:r>
            <a:r>
              <a:rPr sz="2900" i="1" spc="-35" dirty="0">
                <a:solidFill>
                  <a:srgbClr val="00CC99"/>
                </a:solidFill>
                <a:latin typeface="Tahoma"/>
                <a:cs typeface="Tahoma"/>
              </a:rPr>
              <a:t>Y</a:t>
            </a:r>
            <a:r>
              <a:rPr sz="2800" spc="-35" dirty="0">
                <a:solidFill>
                  <a:srgbClr val="00CC99"/>
                </a:solidFill>
                <a:latin typeface="Tahoma"/>
                <a:cs typeface="Tahoma"/>
              </a:rPr>
              <a:t>-&gt;</a:t>
            </a:r>
            <a:r>
              <a:rPr sz="2800" spc="-440" dirty="0">
                <a:solidFill>
                  <a:srgbClr val="00CC99"/>
                </a:solidFill>
                <a:latin typeface="Tahoma"/>
                <a:cs typeface="Tahoma"/>
              </a:rPr>
              <a:t> </a:t>
            </a:r>
            <a:r>
              <a:rPr sz="2900" i="1" spc="-480" dirty="0">
                <a:solidFill>
                  <a:srgbClr val="00CC99"/>
                </a:solidFill>
                <a:latin typeface="Tahoma"/>
                <a:cs typeface="Tahoma"/>
              </a:rPr>
              <a:t>B</a:t>
            </a:r>
            <a:r>
              <a:rPr sz="2800" spc="-480" dirty="0">
                <a:latin typeface="Tahoma"/>
                <a:cs typeface="Tahoma"/>
              </a:rPr>
              <a:t>.</a:t>
            </a:r>
            <a:endParaRPr sz="2800" dirty="0">
              <a:latin typeface="Tahoma"/>
              <a:cs typeface="Tahoma"/>
            </a:endParaRPr>
          </a:p>
          <a:p>
            <a:pPr marL="768350" marR="363855" lvl="1" indent="-285750">
              <a:lnSpc>
                <a:spcPts val="3020"/>
              </a:lnSpc>
              <a:spcBef>
                <a:spcPts val="670"/>
              </a:spcBef>
              <a:buClr>
                <a:srgbClr val="CC00CC"/>
              </a:buClr>
              <a:buFont typeface="Wingdings"/>
              <a:buChar char=""/>
              <a:tabLst>
                <a:tab pos="768350" algn="l"/>
              </a:tabLst>
            </a:pPr>
            <a:r>
              <a:rPr sz="2800" dirty="0">
                <a:latin typeface="Tahoma"/>
                <a:cs typeface="Tahoma"/>
              </a:rPr>
              <a:t>But </a:t>
            </a:r>
            <a:r>
              <a:rPr sz="2800" spc="-5" dirty="0">
                <a:latin typeface="Tahoma"/>
                <a:cs typeface="Tahoma"/>
              </a:rPr>
              <a:t>an instance could </a:t>
            </a:r>
            <a:r>
              <a:rPr sz="2800" spc="-10" dirty="0">
                <a:latin typeface="Tahoma"/>
                <a:cs typeface="Tahoma"/>
              </a:rPr>
              <a:t>satisfy </a:t>
            </a:r>
            <a:r>
              <a:rPr sz="2900" i="1" spc="-35" dirty="0">
                <a:solidFill>
                  <a:srgbClr val="00CC99"/>
                </a:solidFill>
                <a:latin typeface="Tahoma"/>
                <a:cs typeface="Tahoma"/>
              </a:rPr>
              <a:t>Y</a:t>
            </a:r>
            <a:r>
              <a:rPr sz="2800" spc="-35" dirty="0">
                <a:solidFill>
                  <a:srgbClr val="00CC99"/>
                </a:solidFill>
                <a:latin typeface="Tahoma"/>
                <a:cs typeface="Tahoma"/>
              </a:rPr>
              <a:t>-&gt; </a:t>
            </a:r>
            <a:r>
              <a:rPr sz="2900" i="1" spc="-480" dirty="0">
                <a:solidFill>
                  <a:srgbClr val="00CC99"/>
                </a:solidFill>
                <a:latin typeface="Tahoma"/>
                <a:cs typeface="Tahoma"/>
              </a:rPr>
              <a:t>B</a:t>
            </a:r>
            <a:r>
              <a:rPr sz="2800" spc="-480" dirty="0">
                <a:latin typeface="Tahoma"/>
                <a:cs typeface="Tahoma"/>
              </a:rPr>
              <a:t>, </a:t>
            </a:r>
            <a:r>
              <a:rPr sz="2800" spc="-15" dirty="0">
                <a:latin typeface="Tahoma"/>
                <a:cs typeface="Tahoma"/>
              </a:rPr>
              <a:t>yet  </a:t>
            </a:r>
            <a:r>
              <a:rPr sz="2800" spc="-5" dirty="0">
                <a:latin typeface="Tahoma"/>
                <a:cs typeface="Tahoma"/>
              </a:rPr>
              <a:t>not be in this</a:t>
            </a:r>
            <a:r>
              <a:rPr sz="2800" spc="10" dirty="0">
                <a:latin typeface="Tahoma"/>
                <a:cs typeface="Tahoma"/>
              </a:rPr>
              <a:t> </a:t>
            </a:r>
            <a:r>
              <a:rPr sz="2800" spc="-5" dirty="0">
                <a:latin typeface="Tahoma"/>
                <a:cs typeface="Tahoma"/>
              </a:rPr>
              <a:t>intersection.</a:t>
            </a:r>
            <a:endParaRPr sz="2800" dirty="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517265" y="829944"/>
            <a:ext cx="210947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Example</a:t>
            </a:r>
          </a:p>
        </p:txBody>
      </p:sp>
      <p:sp>
        <p:nvSpPr>
          <p:cNvPr id="3" name="object 3"/>
          <p:cNvSpPr/>
          <p:nvPr/>
        </p:nvSpPr>
        <p:spPr>
          <a:xfrm>
            <a:off x="1443100" y="2205037"/>
            <a:ext cx="6029198" cy="4191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4896535" y="4184434"/>
            <a:ext cx="72199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10" dirty="0">
                <a:latin typeface="Tahoma"/>
                <a:cs typeface="Tahoma"/>
              </a:rPr>
              <a:t>B</a:t>
            </a:r>
            <a:r>
              <a:rPr sz="2400" spc="-5" dirty="0">
                <a:latin typeface="Tahoma"/>
                <a:cs typeface="Tahoma"/>
              </a:rPr>
              <a:t>-&gt;</a:t>
            </a:r>
            <a:r>
              <a:rPr sz="2400" dirty="0">
                <a:latin typeface="Tahoma"/>
                <a:cs typeface="Tahoma"/>
              </a:rPr>
              <a:t>C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dirty="0"/>
              <a:t>30</a:t>
            </a:fld>
            <a:endParaRPr dirty="0"/>
          </a:p>
        </p:txBody>
      </p:sp>
      <p:sp>
        <p:nvSpPr>
          <p:cNvPr id="5" name="object 5"/>
          <p:cNvSpPr txBox="1"/>
          <p:nvPr/>
        </p:nvSpPr>
        <p:spPr>
          <a:xfrm>
            <a:off x="3085071" y="4108043"/>
            <a:ext cx="160401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  <a:tabLst>
                <a:tab pos="874394" algn="l"/>
              </a:tabLst>
            </a:pPr>
            <a:r>
              <a:rPr sz="3600" spc="-30" baseline="-6944" dirty="0">
                <a:latin typeface="Tahoma"/>
                <a:cs typeface="Tahoma"/>
              </a:rPr>
              <a:t>A-&gt;B	</a:t>
            </a:r>
            <a:r>
              <a:rPr sz="2400" spc="-20" dirty="0">
                <a:latin typeface="Tahoma"/>
                <a:cs typeface="Tahoma"/>
              </a:rPr>
              <a:t>A-&gt;C</a:t>
            </a:r>
            <a:endParaRPr sz="24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379219" y="829944"/>
            <a:ext cx="638619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5" dirty="0"/>
              <a:t>Relational </a:t>
            </a:r>
            <a:r>
              <a:rPr spc="-5" dirty="0"/>
              <a:t>Schema Design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dirty="0"/>
              <a:t>31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420370" y="2362200"/>
            <a:ext cx="8303260" cy="289951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374015" indent="-342900">
              <a:lnSpc>
                <a:spcPct val="100000"/>
              </a:lnSpc>
              <a:spcBef>
                <a:spcPts val="105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spc="-5" dirty="0">
                <a:latin typeface="Tahoma"/>
                <a:cs typeface="Tahoma"/>
              </a:rPr>
              <a:t>Goal of relational schema design is to  </a:t>
            </a:r>
            <a:r>
              <a:rPr sz="3200" spc="-15" dirty="0">
                <a:latin typeface="Tahoma"/>
                <a:cs typeface="Tahoma"/>
              </a:rPr>
              <a:t>avoid </a:t>
            </a:r>
            <a:r>
              <a:rPr sz="3200" spc="-5" dirty="0">
                <a:latin typeface="Tahoma"/>
                <a:cs typeface="Tahoma"/>
              </a:rPr>
              <a:t>anomalies</a:t>
            </a:r>
            <a:r>
              <a:rPr lang="zh-CN" altLang="en-US" sz="3200" spc="-5" dirty="0">
                <a:latin typeface="Tahoma"/>
                <a:cs typeface="Tahoma"/>
              </a:rPr>
              <a:t>异常</a:t>
            </a:r>
            <a:r>
              <a:rPr sz="3200" spc="-5" dirty="0">
                <a:latin typeface="Tahoma"/>
                <a:cs typeface="Tahoma"/>
              </a:rPr>
              <a:t>and</a:t>
            </a:r>
            <a:r>
              <a:rPr sz="3200" spc="-10" dirty="0">
                <a:latin typeface="Tahoma"/>
                <a:cs typeface="Tahoma"/>
              </a:rPr>
              <a:t> </a:t>
            </a:r>
            <a:r>
              <a:rPr sz="3200" spc="-30" dirty="0">
                <a:latin typeface="Tahoma"/>
                <a:cs typeface="Tahoma"/>
              </a:rPr>
              <a:t>redundancy</a:t>
            </a:r>
            <a:r>
              <a:rPr lang="zh-CN" altLang="en-US" sz="3200" spc="-30" dirty="0">
                <a:latin typeface="Tahoma"/>
                <a:cs typeface="Tahoma"/>
              </a:rPr>
              <a:t>冗余</a:t>
            </a:r>
            <a:r>
              <a:rPr sz="3200" spc="-30" dirty="0">
                <a:latin typeface="Tahoma"/>
                <a:cs typeface="Tahoma"/>
              </a:rPr>
              <a:t>.</a:t>
            </a:r>
            <a:endParaRPr sz="3200" dirty="0">
              <a:latin typeface="Tahoma"/>
              <a:cs typeface="Tahoma"/>
            </a:endParaRPr>
          </a:p>
          <a:p>
            <a:pPr marL="755650" marR="46990" lvl="1" indent="-285750">
              <a:lnSpc>
                <a:spcPts val="3360"/>
              </a:lnSpc>
              <a:spcBef>
                <a:spcPts val="780"/>
              </a:spcBef>
              <a:buClr>
                <a:srgbClr val="CC00CC"/>
              </a:buClr>
              <a:buSzPct val="96551"/>
              <a:buFont typeface="Wingdings"/>
              <a:buChar char=""/>
              <a:tabLst>
                <a:tab pos="732790" algn="l"/>
              </a:tabLst>
            </a:pPr>
            <a:r>
              <a:rPr lang="en-US" altLang="zh-CN" sz="3200" dirty="0" err="1">
                <a:effectLst/>
              </a:rPr>
              <a:t>Updateanomaly</a:t>
            </a:r>
            <a:r>
              <a:rPr lang="zh-CN" altLang="en-US" sz="3200" dirty="0">
                <a:effectLst/>
              </a:rPr>
              <a:t>更新异常：</a:t>
            </a:r>
            <a:r>
              <a:rPr lang="en-US" sz="2800" spc="-5" dirty="0">
                <a:latin typeface="Tahoma"/>
                <a:cs typeface="Tahoma"/>
              </a:rPr>
              <a:t>o</a:t>
            </a:r>
            <a:r>
              <a:rPr sz="2800" spc="-5" dirty="0">
                <a:latin typeface="Tahoma"/>
                <a:cs typeface="Tahoma"/>
              </a:rPr>
              <a:t>ne occurrence of a </a:t>
            </a:r>
            <a:r>
              <a:rPr sz="2800" spc="-15" dirty="0">
                <a:latin typeface="Tahoma"/>
                <a:cs typeface="Tahoma"/>
              </a:rPr>
              <a:t>fact  </a:t>
            </a:r>
            <a:r>
              <a:rPr sz="2800" spc="-5" dirty="0">
                <a:latin typeface="Tahoma"/>
                <a:cs typeface="Tahoma"/>
              </a:rPr>
              <a:t>is changed, but not </a:t>
            </a:r>
            <a:r>
              <a:rPr sz="2800" dirty="0">
                <a:latin typeface="Tahoma"/>
                <a:cs typeface="Tahoma"/>
              </a:rPr>
              <a:t>all</a:t>
            </a:r>
            <a:r>
              <a:rPr sz="2800" spc="5" dirty="0">
                <a:latin typeface="Tahoma"/>
                <a:cs typeface="Tahoma"/>
              </a:rPr>
              <a:t> </a:t>
            </a:r>
            <a:r>
              <a:rPr sz="2800" spc="-5" dirty="0">
                <a:latin typeface="Tahoma"/>
                <a:cs typeface="Tahoma"/>
              </a:rPr>
              <a:t>occurrences.</a:t>
            </a:r>
            <a:endParaRPr sz="2800" dirty="0">
              <a:latin typeface="Tahoma"/>
              <a:cs typeface="Tahoma"/>
            </a:endParaRPr>
          </a:p>
          <a:p>
            <a:pPr marL="755650" marR="5080" lvl="1" indent="-285750">
              <a:lnSpc>
                <a:spcPts val="3360"/>
              </a:lnSpc>
              <a:spcBef>
                <a:spcPts val="670"/>
              </a:spcBef>
              <a:buClr>
                <a:srgbClr val="CC00CC"/>
              </a:buClr>
              <a:buSzPct val="96551"/>
              <a:buFont typeface="Wingdings"/>
              <a:buChar char=""/>
              <a:tabLst>
                <a:tab pos="732790" algn="l"/>
              </a:tabLst>
            </a:pPr>
            <a:r>
              <a:rPr lang="en-US" altLang="zh-CN" sz="3200" dirty="0" err="1">
                <a:effectLst/>
              </a:rPr>
              <a:t>Deletionanomaly</a:t>
            </a:r>
            <a:r>
              <a:rPr lang="zh-CN" altLang="en-US" sz="3200" dirty="0">
                <a:effectLst/>
              </a:rPr>
              <a:t>删除异常：</a:t>
            </a:r>
            <a:r>
              <a:rPr sz="2800" spc="-850" dirty="0">
                <a:latin typeface="Tahoma"/>
                <a:cs typeface="Tahoma"/>
              </a:rPr>
              <a:t> </a:t>
            </a:r>
            <a:r>
              <a:rPr sz="2800" spc="-15" dirty="0">
                <a:latin typeface="Tahoma"/>
                <a:cs typeface="Tahoma"/>
              </a:rPr>
              <a:t>valid fact </a:t>
            </a:r>
            <a:r>
              <a:rPr sz="2800" spc="-5" dirty="0">
                <a:latin typeface="Tahoma"/>
                <a:cs typeface="Tahoma"/>
              </a:rPr>
              <a:t>is lost when a  tuple is</a:t>
            </a:r>
            <a:r>
              <a:rPr sz="2800" dirty="0">
                <a:latin typeface="Tahoma"/>
                <a:cs typeface="Tahoma"/>
              </a:rPr>
              <a:t> </a:t>
            </a:r>
            <a:r>
              <a:rPr sz="2800" spc="-5" dirty="0">
                <a:latin typeface="Tahoma"/>
                <a:cs typeface="Tahoma"/>
              </a:rPr>
              <a:t>deleted.</a:t>
            </a:r>
            <a:endParaRPr sz="2800" dirty="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712595" y="829944"/>
            <a:ext cx="571944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Example of </a:t>
            </a:r>
            <a:r>
              <a:rPr spc="5" dirty="0"/>
              <a:t>Bad</a:t>
            </a:r>
            <a:r>
              <a:rPr spc="-50" dirty="0"/>
              <a:t> </a:t>
            </a:r>
            <a:r>
              <a:rPr spc="-5" dirty="0"/>
              <a:t>Design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96265" y="2123122"/>
            <a:ext cx="654177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solidFill>
                  <a:srgbClr val="CC00CC"/>
                </a:solidFill>
                <a:latin typeface="Tahoma"/>
                <a:cs typeface="Tahoma"/>
              </a:rPr>
              <a:t>Drinkers(</a:t>
            </a:r>
            <a:r>
              <a:rPr sz="2400" u="heavy" spc="-5" dirty="0">
                <a:solidFill>
                  <a:srgbClr val="CC00CC"/>
                </a:solidFill>
                <a:uFill>
                  <a:solidFill>
                    <a:srgbClr val="CC00CC"/>
                  </a:solidFill>
                </a:uFill>
                <a:latin typeface="Tahoma"/>
                <a:cs typeface="Tahoma"/>
              </a:rPr>
              <a:t>name</a:t>
            </a:r>
            <a:r>
              <a:rPr sz="2400" spc="-5" dirty="0">
                <a:solidFill>
                  <a:srgbClr val="CC00CC"/>
                </a:solidFill>
                <a:latin typeface="Tahoma"/>
                <a:cs typeface="Tahoma"/>
              </a:rPr>
              <a:t>, </a:t>
            </a:r>
            <a:r>
              <a:rPr sz="2400" spc="-70" dirty="0">
                <a:solidFill>
                  <a:srgbClr val="CC00CC"/>
                </a:solidFill>
                <a:latin typeface="Tahoma"/>
                <a:cs typeface="Tahoma"/>
              </a:rPr>
              <a:t>addr, </a:t>
            </a:r>
            <a:r>
              <a:rPr sz="2400" u="heavy" spc="-5" dirty="0">
                <a:solidFill>
                  <a:srgbClr val="CC00CC"/>
                </a:solidFill>
                <a:uFill>
                  <a:solidFill>
                    <a:srgbClr val="CC00CC"/>
                  </a:solidFill>
                </a:uFill>
                <a:latin typeface="Tahoma"/>
                <a:cs typeface="Tahoma"/>
              </a:rPr>
              <a:t>beersLiked</a:t>
            </a:r>
            <a:r>
              <a:rPr sz="2400" spc="-5" dirty="0">
                <a:solidFill>
                  <a:srgbClr val="CC00CC"/>
                </a:solidFill>
                <a:latin typeface="Tahoma"/>
                <a:cs typeface="Tahoma"/>
              </a:rPr>
              <a:t>, </a:t>
            </a:r>
            <a:r>
              <a:rPr sz="2400" spc="-40" dirty="0">
                <a:solidFill>
                  <a:srgbClr val="CC00CC"/>
                </a:solidFill>
                <a:latin typeface="Tahoma"/>
                <a:cs typeface="Tahoma"/>
              </a:rPr>
              <a:t>manf,</a:t>
            </a:r>
            <a:r>
              <a:rPr sz="2400" spc="60" dirty="0">
                <a:solidFill>
                  <a:srgbClr val="CC00CC"/>
                </a:solidFill>
                <a:latin typeface="Tahoma"/>
                <a:cs typeface="Tahoma"/>
              </a:rPr>
              <a:t> </a:t>
            </a:r>
            <a:r>
              <a:rPr sz="2400" spc="-10" dirty="0">
                <a:solidFill>
                  <a:srgbClr val="CC00CC"/>
                </a:solidFill>
                <a:latin typeface="Tahoma"/>
                <a:cs typeface="Tahoma"/>
              </a:rPr>
              <a:t>favBeer)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96265" y="2854007"/>
            <a:ext cx="1176020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Tahoma"/>
                <a:cs typeface="Tahoma"/>
              </a:rPr>
              <a:t>name  </a:t>
            </a:r>
            <a:r>
              <a:rPr sz="2400" dirty="0">
                <a:latin typeface="Tahoma"/>
                <a:cs typeface="Tahoma"/>
              </a:rPr>
              <a:t>Jane</a:t>
            </a:r>
            <a:r>
              <a:rPr sz="2400" spc="-30" dirty="0">
                <a:latin typeface="Tahoma"/>
                <a:cs typeface="Tahoma"/>
              </a:rPr>
              <a:t>w</a:t>
            </a:r>
            <a:r>
              <a:rPr sz="2400" spc="-20" dirty="0">
                <a:latin typeface="Tahoma"/>
                <a:cs typeface="Tahoma"/>
              </a:rPr>
              <a:t>a</a:t>
            </a:r>
            <a:r>
              <a:rPr sz="2400" dirty="0">
                <a:latin typeface="Tahoma"/>
                <a:cs typeface="Tahoma"/>
              </a:rPr>
              <a:t>y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425064" y="2854007"/>
            <a:ext cx="1100455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Tahoma"/>
                <a:cs typeface="Tahoma"/>
              </a:rPr>
              <a:t>addr  </a:t>
            </a:r>
            <a:r>
              <a:rPr sz="2400" spc="-120" dirty="0">
                <a:latin typeface="Tahoma"/>
                <a:cs typeface="Tahoma"/>
              </a:rPr>
              <a:t>V</a:t>
            </a:r>
            <a:r>
              <a:rPr sz="2400" spc="-15" dirty="0">
                <a:latin typeface="Tahoma"/>
                <a:cs typeface="Tahoma"/>
              </a:rPr>
              <a:t>o</a:t>
            </a:r>
            <a:r>
              <a:rPr sz="2400" spc="-55" dirty="0">
                <a:latin typeface="Tahoma"/>
                <a:cs typeface="Tahoma"/>
              </a:rPr>
              <a:t>y</a:t>
            </a:r>
            <a:r>
              <a:rPr sz="2400" dirty="0">
                <a:latin typeface="Tahoma"/>
                <a:cs typeface="Tahoma"/>
              </a:rPr>
              <a:t>a</a:t>
            </a:r>
            <a:r>
              <a:rPr sz="2400" spc="-5" dirty="0">
                <a:latin typeface="Tahoma"/>
                <a:cs typeface="Tahoma"/>
              </a:rPr>
              <a:t>g</a:t>
            </a:r>
            <a:r>
              <a:rPr sz="2400" dirty="0">
                <a:latin typeface="Tahoma"/>
                <a:cs typeface="Tahoma"/>
              </a:rPr>
              <a:t>er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253865" y="2854007"/>
            <a:ext cx="4144645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  <a:tabLst>
                <a:tab pos="1840864" algn="l"/>
                <a:tab pos="2755265" algn="l"/>
              </a:tabLst>
            </a:pPr>
            <a:r>
              <a:rPr sz="2400" spc="-5" dirty="0">
                <a:latin typeface="Tahoma"/>
                <a:cs typeface="Tahoma"/>
              </a:rPr>
              <a:t>beersLiked	manf	</a:t>
            </a:r>
            <a:r>
              <a:rPr sz="2400" spc="-10" dirty="0">
                <a:latin typeface="Tahoma"/>
                <a:cs typeface="Tahoma"/>
              </a:rPr>
              <a:t>favBeer  </a:t>
            </a:r>
            <a:r>
              <a:rPr sz="2400" spc="10" dirty="0">
                <a:latin typeface="Tahoma"/>
                <a:cs typeface="Tahoma"/>
              </a:rPr>
              <a:t>B</a:t>
            </a:r>
            <a:r>
              <a:rPr sz="2400" dirty="0">
                <a:latin typeface="Tahoma"/>
                <a:cs typeface="Tahoma"/>
              </a:rPr>
              <a:t>ud	A</a:t>
            </a:r>
            <a:r>
              <a:rPr sz="2400" spc="-5" dirty="0">
                <a:latin typeface="Tahoma"/>
                <a:cs typeface="Tahoma"/>
              </a:rPr>
              <a:t>.</a:t>
            </a:r>
            <a:r>
              <a:rPr sz="2400" spc="-25" dirty="0">
                <a:latin typeface="Tahoma"/>
                <a:cs typeface="Tahoma"/>
              </a:rPr>
              <a:t>B</a:t>
            </a:r>
            <a:r>
              <a:rPr sz="2400" dirty="0">
                <a:latin typeface="Tahoma"/>
                <a:cs typeface="Tahoma"/>
              </a:rPr>
              <a:t>.	Wi</a:t>
            </a:r>
            <a:r>
              <a:rPr sz="2400" spc="-5" dirty="0">
                <a:latin typeface="Tahoma"/>
                <a:cs typeface="Tahoma"/>
              </a:rPr>
              <a:t>c</a:t>
            </a:r>
            <a:r>
              <a:rPr sz="2400" spc="-30" dirty="0">
                <a:latin typeface="Tahoma"/>
                <a:cs typeface="Tahoma"/>
              </a:rPr>
              <a:t>k</a:t>
            </a:r>
            <a:r>
              <a:rPr sz="2400" dirty="0">
                <a:latin typeface="Tahoma"/>
                <a:cs typeface="Tahoma"/>
              </a:rPr>
              <a:t>e</a:t>
            </a:r>
            <a:r>
              <a:rPr sz="2400" spc="-5" dirty="0">
                <a:latin typeface="Tahoma"/>
                <a:cs typeface="Tahoma"/>
              </a:rPr>
              <a:t>d</a:t>
            </a:r>
            <a:r>
              <a:rPr sz="2400" dirty="0">
                <a:latin typeface="Tahoma"/>
                <a:cs typeface="Tahoma"/>
              </a:rPr>
              <a:t>Ale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96265" y="3585527"/>
            <a:ext cx="1176020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Tahoma"/>
                <a:cs typeface="Tahoma"/>
              </a:rPr>
              <a:t>Jane</a:t>
            </a:r>
            <a:r>
              <a:rPr sz="2400" spc="-30" dirty="0">
                <a:latin typeface="Tahoma"/>
                <a:cs typeface="Tahoma"/>
              </a:rPr>
              <a:t>w</a:t>
            </a:r>
            <a:r>
              <a:rPr sz="2400" spc="-20" dirty="0">
                <a:latin typeface="Tahoma"/>
                <a:cs typeface="Tahoma"/>
              </a:rPr>
              <a:t>a</a:t>
            </a:r>
            <a:r>
              <a:rPr sz="2400" dirty="0">
                <a:latin typeface="Tahoma"/>
                <a:cs typeface="Tahoma"/>
              </a:rPr>
              <a:t>y  </a:t>
            </a:r>
            <a:r>
              <a:rPr sz="2400" spc="-5" dirty="0">
                <a:latin typeface="Tahoma"/>
                <a:cs typeface="Tahoma"/>
              </a:rPr>
              <a:t>Spock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425064" y="3585527"/>
            <a:ext cx="1383665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solidFill>
                  <a:srgbClr val="FF9900"/>
                </a:solidFill>
                <a:latin typeface="Tahoma"/>
                <a:cs typeface="Tahoma"/>
              </a:rPr>
              <a:t>???</a:t>
            </a:r>
            <a:endParaRPr sz="24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</a:pPr>
            <a:r>
              <a:rPr sz="2400" spc="-5" dirty="0">
                <a:latin typeface="Tahoma"/>
                <a:cs typeface="Tahoma"/>
              </a:rPr>
              <a:t>Enterprise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253865" y="3585527"/>
            <a:ext cx="3288665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  <a:tabLst>
                <a:tab pos="1840864" algn="l"/>
                <a:tab pos="2755265" algn="l"/>
              </a:tabLst>
            </a:pPr>
            <a:r>
              <a:rPr sz="2400" spc="-5" dirty="0">
                <a:latin typeface="Tahoma"/>
                <a:cs typeface="Tahoma"/>
              </a:rPr>
              <a:t>WickedAle	</a:t>
            </a:r>
            <a:r>
              <a:rPr sz="2400" spc="-25" dirty="0">
                <a:latin typeface="Tahoma"/>
                <a:cs typeface="Tahoma"/>
              </a:rPr>
              <a:t>Pete’s </a:t>
            </a:r>
            <a:r>
              <a:rPr sz="2400" spc="-5" dirty="0">
                <a:solidFill>
                  <a:srgbClr val="FF9900"/>
                </a:solidFill>
                <a:latin typeface="Tahoma"/>
                <a:cs typeface="Tahoma"/>
              </a:rPr>
              <a:t>???  </a:t>
            </a:r>
            <a:r>
              <a:rPr sz="2400" spc="10" dirty="0">
                <a:latin typeface="Tahoma"/>
                <a:cs typeface="Tahoma"/>
              </a:rPr>
              <a:t>B</a:t>
            </a:r>
            <a:r>
              <a:rPr sz="2400" dirty="0">
                <a:latin typeface="Tahoma"/>
                <a:cs typeface="Tahoma"/>
              </a:rPr>
              <a:t>ud	</a:t>
            </a:r>
            <a:r>
              <a:rPr sz="2400" spc="-5" dirty="0">
                <a:solidFill>
                  <a:srgbClr val="FF9900"/>
                </a:solidFill>
                <a:latin typeface="Tahoma"/>
                <a:cs typeface="Tahoma"/>
              </a:rPr>
              <a:t>??</a:t>
            </a:r>
            <a:r>
              <a:rPr sz="2400" dirty="0">
                <a:solidFill>
                  <a:srgbClr val="FF9900"/>
                </a:solidFill>
                <a:latin typeface="Tahoma"/>
                <a:cs typeface="Tahoma"/>
              </a:rPr>
              <a:t>?	</a:t>
            </a:r>
            <a:r>
              <a:rPr sz="2400" spc="10" dirty="0">
                <a:latin typeface="Tahoma"/>
                <a:cs typeface="Tahoma"/>
              </a:rPr>
              <a:t>B</a:t>
            </a:r>
            <a:r>
              <a:rPr sz="2400" dirty="0">
                <a:latin typeface="Tahoma"/>
                <a:cs typeface="Tahoma"/>
              </a:rPr>
              <a:t>ud</a:t>
            </a:r>
          </a:p>
        </p:txBody>
      </p:sp>
      <p:sp>
        <p:nvSpPr>
          <p:cNvPr id="10" name="object 10"/>
          <p:cNvSpPr/>
          <p:nvPr/>
        </p:nvSpPr>
        <p:spPr>
          <a:xfrm>
            <a:off x="452437" y="2890837"/>
            <a:ext cx="8086725" cy="1533525"/>
          </a:xfrm>
          <a:custGeom>
            <a:avLst/>
            <a:gdLst/>
            <a:ahLst/>
            <a:cxnLst/>
            <a:rect l="l" t="t" r="r" b="b"/>
            <a:pathLst>
              <a:path w="8086725" h="1533525">
                <a:moveTo>
                  <a:pt x="8086725" y="1533525"/>
                </a:moveTo>
                <a:lnTo>
                  <a:pt x="0" y="1533525"/>
                </a:lnTo>
                <a:lnTo>
                  <a:pt x="0" y="0"/>
                </a:lnTo>
                <a:lnTo>
                  <a:pt x="8086725" y="0"/>
                </a:lnTo>
                <a:lnTo>
                  <a:pt x="8086725" y="4762"/>
                </a:lnTo>
                <a:lnTo>
                  <a:pt x="9525" y="4762"/>
                </a:lnTo>
                <a:lnTo>
                  <a:pt x="4762" y="9525"/>
                </a:lnTo>
                <a:lnTo>
                  <a:pt x="9525" y="9525"/>
                </a:lnTo>
                <a:lnTo>
                  <a:pt x="9525" y="1524000"/>
                </a:lnTo>
                <a:lnTo>
                  <a:pt x="4762" y="1524000"/>
                </a:lnTo>
                <a:lnTo>
                  <a:pt x="9525" y="1528762"/>
                </a:lnTo>
                <a:lnTo>
                  <a:pt x="8086725" y="1528762"/>
                </a:lnTo>
                <a:lnTo>
                  <a:pt x="8086725" y="1533525"/>
                </a:lnTo>
                <a:close/>
              </a:path>
              <a:path w="8086725" h="1533525">
                <a:moveTo>
                  <a:pt x="9525" y="9525"/>
                </a:moveTo>
                <a:lnTo>
                  <a:pt x="4762" y="9525"/>
                </a:lnTo>
                <a:lnTo>
                  <a:pt x="9525" y="4762"/>
                </a:lnTo>
                <a:lnTo>
                  <a:pt x="9525" y="9525"/>
                </a:lnTo>
                <a:close/>
              </a:path>
              <a:path w="8086725" h="1533525">
                <a:moveTo>
                  <a:pt x="8077200" y="9525"/>
                </a:moveTo>
                <a:lnTo>
                  <a:pt x="9525" y="9525"/>
                </a:lnTo>
                <a:lnTo>
                  <a:pt x="9525" y="4762"/>
                </a:lnTo>
                <a:lnTo>
                  <a:pt x="8077200" y="4762"/>
                </a:lnTo>
                <a:lnTo>
                  <a:pt x="8077200" y="9525"/>
                </a:lnTo>
                <a:close/>
              </a:path>
              <a:path w="8086725" h="1533525">
                <a:moveTo>
                  <a:pt x="8077200" y="1528762"/>
                </a:moveTo>
                <a:lnTo>
                  <a:pt x="8077200" y="4762"/>
                </a:lnTo>
                <a:lnTo>
                  <a:pt x="8081962" y="9525"/>
                </a:lnTo>
                <a:lnTo>
                  <a:pt x="8086725" y="9525"/>
                </a:lnTo>
                <a:lnTo>
                  <a:pt x="8086725" y="1524000"/>
                </a:lnTo>
                <a:lnTo>
                  <a:pt x="8081962" y="1524000"/>
                </a:lnTo>
                <a:lnTo>
                  <a:pt x="8077200" y="1528762"/>
                </a:lnTo>
                <a:close/>
              </a:path>
              <a:path w="8086725" h="1533525">
                <a:moveTo>
                  <a:pt x="8086725" y="9525"/>
                </a:moveTo>
                <a:lnTo>
                  <a:pt x="8081962" y="9525"/>
                </a:lnTo>
                <a:lnTo>
                  <a:pt x="8077200" y="4762"/>
                </a:lnTo>
                <a:lnTo>
                  <a:pt x="8086725" y="4762"/>
                </a:lnTo>
                <a:lnTo>
                  <a:pt x="8086725" y="9525"/>
                </a:lnTo>
                <a:close/>
              </a:path>
              <a:path w="8086725" h="1533525">
                <a:moveTo>
                  <a:pt x="9525" y="1528762"/>
                </a:moveTo>
                <a:lnTo>
                  <a:pt x="4762" y="1524000"/>
                </a:lnTo>
                <a:lnTo>
                  <a:pt x="9525" y="1524000"/>
                </a:lnTo>
                <a:lnTo>
                  <a:pt x="9525" y="1528762"/>
                </a:lnTo>
                <a:close/>
              </a:path>
              <a:path w="8086725" h="1533525">
                <a:moveTo>
                  <a:pt x="8077200" y="1528762"/>
                </a:moveTo>
                <a:lnTo>
                  <a:pt x="9525" y="1528762"/>
                </a:lnTo>
                <a:lnTo>
                  <a:pt x="9525" y="1524000"/>
                </a:lnTo>
                <a:lnTo>
                  <a:pt x="8077200" y="1524000"/>
                </a:lnTo>
                <a:lnTo>
                  <a:pt x="8077200" y="1528762"/>
                </a:lnTo>
                <a:close/>
              </a:path>
              <a:path w="8086725" h="1533525">
                <a:moveTo>
                  <a:pt x="8086725" y="1528762"/>
                </a:moveTo>
                <a:lnTo>
                  <a:pt x="8077200" y="1528762"/>
                </a:lnTo>
                <a:lnTo>
                  <a:pt x="8081962" y="1524000"/>
                </a:lnTo>
                <a:lnTo>
                  <a:pt x="8086725" y="1524000"/>
                </a:lnTo>
                <a:lnTo>
                  <a:pt x="8086725" y="15287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457200" y="3276600"/>
            <a:ext cx="8077200" cy="0"/>
          </a:xfrm>
          <a:custGeom>
            <a:avLst/>
            <a:gdLst/>
            <a:ahLst/>
            <a:cxnLst/>
            <a:rect l="l" t="t" r="r" b="b"/>
            <a:pathLst>
              <a:path w="8077200">
                <a:moveTo>
                  <a:pt x="0" y="0"/>
                </a:moveTo>
                <a:lnTo>
                  <a:pt x="8077200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1981200" y="2895600"/>
            <a:ext cx="0" cy="1524000"/>
          </a:xfrm>
          <a:custGeom>
            <a:avLst/>
            <a:gdLst/>
            <a:ahLst/>
            <a:cxnLst/>
            <a:rect l="l" t="t" r="r" b="b"/>
            <a:pathLst>
              <a:path h="1524000">
                <a:moveTo>
                  <a:pt x="0" y="0"/>
                </a:moveTo>
                <a:lnTo>
                  <a:pt x="0" y="152400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4038600" y="2895600"/>
            <a:ext cx="0" cy="1524000"/>
          </a:xfrm>
          <a:custGeom>
            <a:avLst/>
            <a:gdLst/>
            <a:ahLst/>
            <a:cxnLst/>
            <a:rect l="l" t="t" r="r" b="b"/>
            <a:pathLst>
              <a:path h="1524000">
                <a:moveTo>
                  <a:pt x="0" y="0"/>
                </a:moveTo>
                <a:lnTo>
                  <a:pt x="0" y="152400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5867400" y="2895600"/>
            <a:ext cx="0" cy="1524000"/>
          </a:xfrm>
          <a:custGeom>
            <a:avLst/>
            <a:gdLst/>
            <a:ahLst/>
            <a:cxnLst/>
            <a:rect l="l" t="t" r="r" b="b"/>
            <a:pathLst>
              <a:path h="1524000">
                <a:moveTo>
                  <a:pt x="0" y="0"/>
                </a:moveTo>
                <a:lnTo>
                  <a:pt x="0" y="152400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6934200" y="2895600"/>
            <a:ext cx="0" cy="1524000"/>
          </a:xfrm>
          <a:custGeom>
            <a:avLst/>
            <a:gdLst/>
            <a:ahLst/>
            <a:cxnLst/>
            <a:rect l="l" t="t" r="r" b="b"/>
            <a:pathLst>
              <a:path h="1524000">
                <a:moveTo>
                  <a:pt x="0" y="0"/>
                </a:moveTo>
                <a:lnTo>
                  <a:pt x="0" y="152400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672465" y="4790122"/>
            <a:ext cx="8070850" cy="1122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Tahoma"/>
                <a:cs typeface="Tahoma"/>
              </a:rPr>
              <a:t>Data is </a:t>
            </a:r>
            <a:r>
              <a:rPr sz="2400" spc="-5" dirty="0">
                <a:latin typeface="Tahoma"/>
                <a:cs typeface="Tahoma"/>
              </a:rPr>
              <a:t>redundant, because each </a:t>
            </a:r>
            <a:r>
              <a:rPr sz="2400" dirty="0">
                <a:latin typeface="Tahoma"/>
                <a:cs typeface="Tahoma"/>
              </a:rPr>
              <a:t>of the </a:t>
            </a:r>
            <a:r>
              <a:rPr sz="2400" spc="-20" dirty="0">
                <a:solidFill>
                  <a:srgbClr val="FF9900"/>
                </a:solidFill>
                <a:latin typeface="Tahoma"/>
                <a:cs typeface="Tahoma"/>
              </a:rPr>
              <a:t>???</a:t>
            </a:r>
            <a:r>
              <a:rPr sz="2400" spc="-20" dirty="0">
                <a:latin typeface="Tahoma"/>
                <a:cs typeface="Tahoma"/>
              </a:rPr>
              <a:t>’s </a:t>
            </a:r>
            <a:r>
              <a:rPr sz="2400" spc="-5" dirty="0">
                <a:latin typeface="Tahoma"/>
                <a:cs typeface="Tahoma"/>
              </a:rPr>
              <a:t>can be figured  </a:t>
            </a:r>
            <a:r>
              <a:rPr sz="2400" dirty="0">
                <a:latin typeface="Tahoma"/>
                <a:cs typeface="Tahoma"/>
              </a:rPr>
              <a:t>out </a:t>
            </a:r>
            <a:r>
              <a:rPr sz="2400" spc="-5" dirty="0">
                <a:latin typeface="Tahoma"/>
                <a:cs typeface="Tahoma"/>
              </a:rPr>
              <a:t>by using </a:t>
            </a:r>
            <a:r>
              <a:rPr sz="2400" dirty="0">
                <a:latin typeface="Tahoma"/>
                <a:cs typeface="Tahoma"/>
              </a:rPr>
              <a:t>the </a:t>
            </a:r>
            <a:r>
              <a:rPr sz="2400" spc="-25" dirty="0">
                <a:latin typeface="Tahoma"/>
                <a:cs typeface="Tahoma"/>
              </a:rPr>
              <a:t>FD’s </a:t>
            </a:r>
            <a:r>
              <a:rPr sz="2400" spc="-5" dirty="0">
                <a:solidFill>
                  <a:srgbClr val="00CC99"/>
                </a:solidFill>
                <a:latin typeface="Tahoma"/>
                <a:cs typeface="Tahoma"/>
              </a:rPr>
              <a:t>name -&gt; addr </a:t>
            </a:r>
            <a:r>
              <a:rPr sz="2400" spc="-10" dirty="0">
                <a:solidFill>
                  <a:srgbClr val="00CC99"/>
                </a:solidFill>
                <a:latin typeface="Tahoma"/>
                <a:cs typeface="Tahoma"/>
              </a:rPr>
              <a:t>favBeer </a:t>
            </a:r>
            <a:r>
              <a:rPr sz="2400" dirty="0">
                <a:latin typeface="Tahoma"/>
                <a:cs typeface="Tahoma"/>
              </a:rPr>
              <a:t>and </a:t>
            </a:r>
            <a:r>
              <a:rPr sz="2400" dirty="0">
                <a:solidFill>
                  <a:srgbClr val="00CC99"/>
                </a:solidFill>
                <a:latin typeface="Tahoma"/>
                <a:cs typeface="Tahoma"/>
              </a:rPr>
              <a:t> </a:t>
            </a:r>
            <a:r>
              <a:rPr sz="2400" spc="-5" dirty="0">
                <a:solidFill>
                  <a:srgbClr val="00CC99"/>
                </a:solidFill>
                <a:latin typeface="Tahoma"/>
                <a:cs typeface="Tahoma"/>
              </a:rPr>
              <a:t>beersLiked -&gt;</a:t>
            </a:r>
            <a:r>
              <a:rPr sz="2400" spc="-10" dirty="0">
                <a:solidFill>
                  <a:srgbClr val="00CC99"/>
                </a:solidFill>
                <a:latin typeface="Tahoma"/>
                <a:cs typeface="Tahoma"/>
              </a:rPr>
              <a:t> </a:t>
            </a:r>
            <a:r>
              <a:rPr sz="2400" spc="-5" dirty="0">
                <a:solidFill>
                  <a:srgbClr val="00CC99"/>
                </a:solidFill>
                <a:latin typeface="Tahoma"/>
                <a:cs typeface="Tahoma"/>
              </a:rPr>
              <a:t>manf</a:t>
            </a:r>
            <a:r>
              <a:rPr sz="2400" spc="-5" dirty="0">
                <a:latin typeface="Tahoma"/>
                <a:cs typeface="Tahoma"/>
              </a:rPr>
              <a:t>.</a:t>
            </a:r>
            <a:endParaRPr sz="2400" dirty="0">
              <a:latin typeface="Tahoma"/>
              <a:cs typeface="Tahoma"/>
            </a:endParaRPr>
          </a:p>
        </p:txBody>
      </p:sp>
      <p:sp>
        <p:nvSpPr>
          <p:cNvPr id="17" name="object 1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dirty="0"/>
              <a:t>32</a:t>
            </a:fld>
            <a:endParaRPr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979295" y="495299"/>
            <a:ext cx="5186045" cy="13677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97815" marR="5080" indent="-285115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This </a:t>
            </a:r>
            <a:r>
              <a:rPr spc="5" dirty="0"/>
              <a:t>Bad </a:t>
            </a:r>
            <a:r>
              <a:rPr spc="-5" dirty="0"/>
              <a:t>Design</a:t>
            </a:r>
            <a:r>
              <a:rPr spc="-65" dirty="0"/>
              <a:t> </a:t>
            </a:r>
            <a:r>
              <a:rPr spc="-5" dirty="0"/>
              <a:t>Also  Exhibits</a:t>
            </a:r>
            <a:r>
              <a:rPr spc="-25" dirty="0"/>
              <a:t> </a:t>
            </a:r>
            <a:r>
              <a:rPr spc="-5" dirty="0"/>
              <a:t>Anomalies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082665" y="2854007"/>
            <a:ext cx="70866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Tahoma"/>
                <a:cs typeface="Tahoma"/>
              </a:rPr>
              <a:t>m</a:t>
            </a:r>
            <a:r>
              <a:rPr sz="2400" dirty="0">
                <a:latin typeface="Tahoma"/>
                <a:cs typeface="Tahoma"/>
              </a:rPr>
              <a:t>anf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997065" y="2854007"/>
            <a:ext cx="104013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30" dirty="0">
                <a:latin typeface="Tahoma"/>
                <a:cs typeface="Tahoma"/>
              </a:rPr>
              <a:t>f</a:t>
            </a:r>
            <a:r>
              <a:rPr sz="2400" spc="-20" dirty="0">
                <a:latin typeface="Tahoma"/>
                <a:cs typeface="Tahoma"/>
              </a:rPr>
              <a:t>a</a:t>
            </a:r>
            <a:r>
              <a:rPr sz="2400" spc="-5" dirty="0">
                <a:latin typeface="Tahoma"/>
                <a:cs typeface="Tahoma"/>
              </a:rPr>
              <a:t>v</a:t>
            </a:r>
            <a:r>
              <a:rPr sz="2400" spc="10" dirty="0">
                <a:latin typeface="Tahoma"/>
                <a:cs typeface="Tahoma"/>
              </a:rPr>
              <a:t>B</a:t>
            </a:r>
            <a:r>
              <a:rPr sz="2400" dirty="0">
                <a:latin typeface="Tahoma"/>
                <a:cs typeface="Tahoma"/>
              </a:rPr>
              <a:t>eer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96265" y="2854007"/>
            <a:ext cx="1176020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Tahoma"/>
                <a:cs typeface="Tahoma"/>
              </a:rPr>
              <a:t>name  </a:t>
            </a:r>
            <a:r>
              <a:rPr sz="2400" dirty="0">
                <a:latin typeface="Tahoma"/>
                <a:cs typeface="Tahoma"/>
              </a:rPr>
              <a:t>Jane</a:t>
            </a:r>
            <a:r>
              <a:rPr sz="2400" spc="-30" dirty="0">
                <a:latin typeface="Tahoma"/>
                <a:cs typeface="Tahoma"/>
              </a:rPr>
              <a:t>w</a:t>
            </a:r>
            <a:r>
              <a:rPr sz="2400" spc="-20" dirty="0">
                <a:latin typeface="Tahoma"/>
                <a:cs typeface="Tahoma"/>
              </a:rPr>
              <a:t>a</a:t>
            </a:r>
            <a:r>
              <a:rPr sz="2400" dirty="0">
                <a:latin typeface="Tahoma"/>
                <a:cs typeface="Tahoma"/>
              </a:rPr>
              <a:t>y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425064" y="2854007"/>
            <a:ext cx="1100455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Tahoma"/>
                <a:cs typeface="Tahoma"/>
              </a:rPr>
              <a:t>addr  </a:t>
            </a:r>
            <a:r>
              <a:rPr sz="2400" spc="-120" dirty="0">
                <a:latin typeface="Tahoma"/>
                <a:cs typeface="Tahoma"/>
              </a:rPr>
              <a:t>V</a:t>
            </a:r>
            <a:r>
              <a:rPr sz="2400" spc="-15" dirty="0">
                <a:latin typeface="Tahoma"/>
                <a:cs typeface="Tahoma"/>
              </a:rPr>
              <a:t>o</a:t>
            </a:r>
            <a:r>
              <a:rPr sz="2400" spc="-55" dirty="0">
                <a:latin typeface="Tahoma"/>
                <a:cs typeface="Tahoma"/>
              </a:rPr>
              <a:t>y</a:t>
            </a:r>
            <a:r>
              <a:rPr sz="2400" dirty="0">
                <a:latin typeface="Tahoma"/>
                <a:cs typeface="Tahoma"/>
              </a:rPr>
              <a:t>a</a:t>
            </a:r>
            <a:r>
              <a:rPr sz="2400" spc="-5" dirty="0">
                <a:latin typeface="Tahoma"/>
                <a:cs typeface="Tahoma"/>
              </a:rPr>
              <a:t>g</a:t>
            </a:r>
            <a:r>
              <a:rPr sz="2400" dirty="0">
                <a:latin typeface="Tahoma"/>
                <a:cs typeface="Tahoma"/>
              </a:rPr>
              <a:t>er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253865" y="2854007"/>
            <a:ext cx="1460500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Tahoma"/>
                <a:cs typeface="Tahoma"/>
              </a:rPr>
              <a:t>b</a:t>
            </a:r>
            <a:r>
              <a:rPr sz="2400" dirty="0">
                <a:latin typeface="Tahoma"/>
                <a:cs typeface="Tahoma"/>
              </a:rPr>
              <a:t>eer</a:t>
            </a:r>
            <a:r>
              <a:rPr sz="2400" spc="-5" dirty="0">
                <a:latin typeface="Tahoma"/>
                <a:cs typeface="Tahoma"/>
              </a:rPr>
              <a:t>s</a:t>
            </a:r>
            <a:r>
              <a:rPr sz="2400" dirty="0">
                <a:latin typeface="Tahoma"/>
                <a:cs typeface="Tahoma"/>
              </a:rPr>
              <a:t>Li</a:t>
            </a:r>
            <a:r>
              <a:rPr sz="2400" spc="-30" dirty="0">
                <a:latin typeface="Tahoma"/>
                <a:cs typeface="Tahoma"/>
              </a:rPr>
              <a:t>k</a:t>
            </a:r>
            <a:r>
              <a:rPr sz="2400" dirty="0">
                <a:latin typeface="Tahoma"/>
                <a:cs typeface="Tahoma"/>
              </a:rPr>
              <a:t>ed  Bud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082665" y="3219767"/>
            <a:ext cx="231584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926465" algn="l"/>
              </a:tabLst>
            </a:pPr>
            <a:r>
              <a:rPr sz="2400" dirty="0">
                <a:latin typeface="Tahoma"/>
                <a:cs typeface="Tahoma"/>
              </a:rPr>
              <a:t>A</a:t>
            </a:r>
            <a:r>
              <a:rPr sz="2400" spc="-5" dirty="0">
                <a:latin typeface="Tahoma"/>
                <a:cs typeface="Tahoma"/>
              </a:rPr>
              <a:t>.</a:t>
            </a:r>
            <a:r>
              <a:rPr sz="2400" spc="-25" dirty="0">
                <a:latin typeface="Tahoma"/>
                <a:cs typeface="Tahoma"/>
              </a:rPr>
              <a:t>B</a:t>
            </a:r>
            <a:r>
              <a:rPr sz="2400" dirty="0">
                <a:latin typeface="Tahoma"/>
                <a:cs typeface="Tahoma"/>
              </a:rPr>
              <a:t>.	Wi</a:t>
            </a:r>
            <a:r>
              <a:rPr sz="2400" spc="-5" dirty="0">
                <a:latin typeface="Tahoma"/>
                <a:cs typeface="Tahoma"/>
              </a:rPr>
              <a:t>c</a:t>
            </a:r>
            <a:r>
              <a:rPr sz="2400" spc="-30" dirty="0">
                <a:latin typeface="Tahoma"/>
                <a:cs typeface="Tahoma"/>
              </a:rPr>
              <a:t>k</a:t>
            </a:r>
            <a:r>
              <a:rPr sz="2400" dirty="0">
                <a:latin typeface="Tahoma"/>
                <a:cs typeface="Tahoma"/>
              </a:rPr>
              <a:t>e</a:t>
            </a:r>
            <a:r>
              <a:rPr sz="2400" spc="-5" dirty="0">
                <a:latin typeface="Tahoma"/>
                <a:cs typeface="Tahoma"/>
              </a:rPr>
              <a:t>d</a:t>
            </a:r>
            <a:r>
              <a:rPr sz="2400" dirty="0">
                <a:latin typeface="Tahoma"/>
                <a:cs typeface="Tahoma"/>
              </a:rPr>
              <a:t>Ale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96265" y="3585527"/>
            <a:ext cx="1176020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Tahoma"/>
                <a:cs typeface="Tahoma"/>
              </a:rPr>
              <a:t>Jane</a:t>
            </a:r>
            <a:r>
              <a:rPr sz="2400" spc="-30" dirty="0">
                <a:latin typeface="Tahoma"/>
                <a:cs typeface="Tahoma"/>
              </a:rPr>
              <a:t>w</a:t>
            </a:r>
            <a:r>
              <a:rPr sz="2400" spc="-20" dirty="0">
                <a:latin typeface="Tahoma"/>
                <a:cs typeface="Tahoma"/>
              </a:rPr>
              <a:t>a</a:t>
            </a:r>
            <a:r>
              <a:rPr sz="2400" dirty="0">
                <a:latin typeface="Tahoma"/>
                <a:cs typeface="Tahoma"/>
              </a:rPr>
              <a:t>y  </a:t>
            </a:r>
            <a:r>
              <a:rPr sz="2400" spc="-5" dirty="0">
                <a:latin typeface="Tahoma"/>
                <a:cs typeface="Tahoma"/>
              </a:rPr>
              <a:t>Spock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425064" y="3585527"/>
            <a:ext cx="1383665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400" spc="-30" dirty="0">
                <a:latin typeface="Tahoma"/>
                <a:cs typeface="Tahoma"/>
              </a:rPr>
              <a:t>Voyager  </a:t>
            </a:r>
            <a:r>
              <a:rPr sz="2400" spc="-5" dirty="0">
                <a:latin typeface="Tahoma"/>
                <a:cs typeface="Tahoma"/>
              </a:rPr>
              <a:t>E</a:t>
            </a:r>
            <a:r>
              <a:rPr sz="2400" dirty="0">
                <a:latin typeface="Tahoma"/>
                <a:cs typeface="Tahoma"/>
              </a:rPr>
              <a:t>nter</a:t>
            </a:r>
            <a:r>
              <a:rPr sz="2400" spc="-5" dirty="0">
                <a:latin typeface="Tahoma"/>
                <a:cs typeface="Tahoma"/>
              </a:rPr>
              <a:t>p</a:t>
            </a:r>
            <a:r>
              <a:rPr sz="2400" dirty="0">
                <a:latin typeface="Tahoma"/>
                <a:cs typeface="Tahoma"/>
              </a:rPr>
              <a:t>ri</a:t>
            </a:r>
            <a:r>
              <a:rPr sz="2400" spc="-5" dirty="0">
                <a:latin typeface="Tahoma"/>
                <a:cs typeface="Tahoma"/>
              </a:rPr>
              <a:t>s</a:t>
            </a:r>
            <a:r>
              <a:rPr sz="2400" dirty="0">
                <a:latin typeface="Tahoma"/>
                <a:cs typeface="Tahoma"/>
              </a:rPr>
              <a:t>e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253865" y="3585527"/>
            <a:ext cx="1401445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Tahoma"/>
                <a:cs typeface="Tahoma"/>
              </a:rPr>
              <a:t>Wi</a:t>
            </a:r>
            <a:r>
              <a:rPr sz="2400" spc="-5" dirty="0">
                <a:latin typeface="Tahoma"/>
                <a:cs typeface="Tahoma"/>
              </a:rPr>
              <a:t>c</a:t>
            </a:r>
            <a:r>
              <a:rPr sz="2400" spc="-30" dirty="0">
                <a:latin typeface="Tahoma"/>
                <a:cs typeface="Tahoma"/>
              </a:rPr>
              <a:t>k</a:t>
            </a:r>
            <a:r>
              <a:rPr sz="2400" dirty="0">
                <a:latin typeface="Tahoma"/>
                <a:cs typeface="Tahoma"/>
              </a:rPr>
              <a:t>e</a:t>
            </a:r>
            <a:r>
              <a:rPr sz="2400" spc="-5" dirty="0">
                <a:latin typeface="Tahoma"/>
                <a:cs typeface="Tahoma"/>
              </a:rPr>
              <a:t>d</a:t>
            </a:r>
            <a:r>
              <a:rPr sz="2400" dirty="0">
                <a:latin typeface="Tahoma"/>
                <a:cs typeface="Tahoma"/>
              </a:rPr>
              <a:t>Ale  Bud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082665" y="3585527"/>
            <a:ext cx="2315845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25" dirty="0">
                <a:latin typeface="Tahoma"/>
                <a:cs typeface="Tahoma"/>
              </a:rPr>
              <a:t>Pete’s</a:t>
            </a:r>
            <a:r>
              <a:rPr sz="2400" spc="265" dirty="0">
                <a:latin typeface="Tahoma"/>
                <a:cs typeface="Tahoma"/>
              </a:rPr>
              <a:t> </a:t>
            </a:r>
            <a:r>
              <a:rPr sz="2400" spc="-5" dirty="0">
                <a:latin typeface="Tahoma"/>
                <a:cs typeface="Tahoma"/>
              </a:rPr>
              <a:t>WickedAle</a:t>
            </a:r>
            <a:endParaRPr sz="24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tabLst>
                <a:tab pos="926465" algn="l"/>
              </a:tabLst>
            </a:pPr>
            <a:r>
              <a:rPr sz="2400" spc="-10" dirty="0">
                <a:latin typeface="Tahoma"/>
                <a:cs typeface="Tahoma"/>
              </a:rPr>
              <a:t>A.B.	</a:t>
            </a:r>
            <a:r>
              <a:rPr sz="2400" dirty="0">
                <a:latin typeface="Tahoma"/>
                <a:cs typeface="Tahoma"/>
              </a:rPr>
              <a:t>Bud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452437" y="2890837"/>
            <a:ext cx="8086725" cy="1533525"/>
          </a:xfrm>
          <a:custGeom>
            <a:avLst/>
            <a:gdLst/>
            <a:ahLst/>
            <a:cxnLst/>
            <a:rect l="l" t="t" r="r" b="b"/>
            <a:pathLst>
              <a:path w="8086725" h="1533525">
                <a:moveTo>
                  <a:pt x="8086725" y="1533525"/>
                </a:moveTo>
                <a:lnTo>
                  <a:pt x="0" y="1533525"/>
                </a:lnTo>
                <a:lnTo>
                  <a:pt x="0" y="0"/>
                </a:lnTo>
                <a:lnTo>
                  <a:pt x="8086725" y="0"/>
                </a:lnTo>
                <a:lnTo>
                  <a:pt x="8086725" y="4762"/>
                </a:lnTo>
                <a:lnTo>
                  <a:pt x="9525" y="4762"/>
                </a:lnTo>
                <a:lnTo>
                  <a:pt x="4762" y="9525"/>
                </a:lnTo>
                <a:lnTo>
                  <a:pt x="9525" y="9525"/>
                </a:lnTo>
                <a:lnTo>
                  <a:pt x="9525" y="1524000"/>
                </a:lnTo>
                <a:lnTo>
                  <a:pt x="4762" y="1524000"/>
                </a:lnTo>
                <a:lnTo>
                  <a:pt x="9525" y="1528762"/>
                </a:lnTo>
                <a:lnTo>
                  <a:pt x="8086725" y="1528762"/>
                </a:lnTo>
                <a:lnTo>
                  <a:pt x="8086725" y="1533525"/>
                </a:lnTo>
                <a:close/>
              </a:path>
              <a:path w="8086725" h="1533525">
                <a:moveTo>
                  <a:pt x="9525" y="9525"/>
                </a:moveTo>
                <a:lnTo>
                  <a:pt x="4762" y="9525"/>
                </a:lnTo>
                <a:lnTo>
                  <a:pt x="9525" y="4762"/>
                </a:lnTo>
                <a:lnTo>
                  <a:pt x="9525" y="9525"/>
                </a:lnTo>
                <a:close/>
              </a:path>
              <a:path w="8086725" h="1533525">
                <a:moveTo>
                  <a:pt x="8077200" y="9525"/>
                </a:moveTo>
                <a:lnTo>
                  <a:pt x="9525" y="9525"/>
                </a:lnTo>
                <a:lnTo>
                  <a:pt x="9525" y="4762"/>
                </a:lnTo>
                <a:lnTo>
                  <a:pt x="8077200" y="4762"/>
                </a:lnTo>
                <a:lnTo>
                  <a:pt x="8077200" y="9525"/>
                </a:lnTo>
                <a:close/>
              </a:path>
              <a:path w="8086725" h="1533525">
                <a:moveTo>
                  <a:pt x="8077200" y="1528762"/>
                </a:moveTo>
                <a:lnTo>
                  <a:pt x="8077200" y="4762"/>
                </a:lnTo>
                <a:lnTo>
                  <a:pt x="8081962" y="9525"/>
                </a:lnTo>
                <a:lnTo>
                  <a:pt x="8086725" y="9525"/>
                </a:lnTo>
                <a:lnTo>
                  <a:pt x="8086725" y="1524000"/>
                </a:lnTo>
                <a:lnTo>
                  <a:pt x="8081962" y="1524000"/>
                </a:lnTo>
                <a:lnTo>
                  <a:pt x="8077200" y="1528762"/>
                </a:lnTo>
                <a:close/>
              </a:path>
              <a:path w="8086725" h="1533525">
                <a:moveTo>
                  <a:pt x="8086725" y="9525"/>
                </a:moveTo>
                <a:lnTo>
                  <a:pt x="8081962" y="9525"/>
                </a:lnTo>
                <a:lnTo>
                  <a:pt x="8077200" y="4762"/>
                </a:lnTo>
                <a:lnTo>
                  <a:pt x="8086725" y="4762"/>
                </a:lnTo>
                <a:lnTo>
                  <a:pt x="8086725" y="9525"/>
                </a:lnTo>
                <a:close/>
              </a:path>
              <a:path w="8086725" h="1533525">
                <a:moveTo>
                  <a:pt x="9525" y="1528762"/>
                </a:moveTo>
                <a:lnTo>
                  <a:pt x="4762" y="1524000"/>
                </a:lnTo>
                <a:lnTo>
                  <a:pt x="9525" y="1524000"/>
                </a:lnTo>
                <a:lnTo>
                  <a:pt x="9525" y="1528762"/>
                </a:lnTo>
                <a:close/>
              </a:path>
              <a:path w="8086725" h="1533525">
                <a:moveTo>
                  <a:pt x="8077200" y="1528762"/>
                </a:moveTo>
                <a:lnTo>
                  <a:pt x="9525" y="1528762"/>
                </a:lnTo>
                <a:lnTo>
                  <a:pt x="9525" y="1524000"/>
                </a:lnTo>
                <a:lnTo>
                  <a:pt x="8077200" y="1524000"/>
                </a:lnTo>
                <a:lnTo>
                  <a:pt x="8077200" y="1528762"/>
                </a:lnTo>
                <a:close/>
              </a:path>
              <a:path w="8086725" h="1533525">
                <a:moveTo>
                  <a:pt x="8086725" y="1528762"/>
                </a:moveTo>
                <a:lnTo>
                  <a:pt x="8077200" y="1528762"/>
                </a:lnTo>
                <a:lnTo>
                  <a:pt x="8081962" y="1524000"/>
                </a:lnTo>
                <a:lnTo>
                  <a:pt x="8086725" y="1524000"/>
                </a:lnTo>
                <a:lnTo>
                  <a:pt x="8086725" y="15287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457200" y="3276600"/>
            <a:ext cx="8077200" cy="0"/>
          </a:xfrm>
          <a:custGeom>
            <a:avLst/>
            <a:gdLst/>
            <a:ahLst/>
            <a:cxnLst/>
            <a:rect l="l" t="t" r="r" b="b"/>
            <a:pathLst>
              <a:path w="8077200">
                <a:moveTo>
                  <a:pt x="0" y="0"/>
                </a:moveTo>
                <a:lnTo>
                  <a:pt x="8077200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1981200" y="2895600"/>
            <a:ext cx="0" cy="1524000"/>
          </a:xfrm>
          <a:custGeom>
            <a:avLst/>
            <a:gdLst/>
            <a:ahLst/>
            <a:cxnLst/>
            <a:rect l="l" t="t" r="r" b="b"/>
            <a:pathLst>
              <a:path h="1524000">
                <a:moveTo>
                  <a:pt x="0" y="0"/>
                </a:moveTo>
                <a:lnTo>
                  <a:pt x="0" y="152400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4038600" y="2895600"/>
            <a:ext cx="0" cy="1524000"/>
          </a:xfrm>
          <a:custGeom>
            <a:avLst/>
            <a:gdLst/>
            <a:ahLst/>
            <a:cxnLst/>
            <a:rect l="l" t="t" r="r" b="b"/>
            <a:pathLst>
              <a:path h="1524000">
                <a:moveTo>
                  <a:pt x="0" y="0"/>
                </a:moveTo>
                <a:lnTo>
                  <a:pt x="0" y="152400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5867400" y="2895600"/>
            <a:ext cx="0" cy="1524000"/>
          </a:xfrm>
          <a:custGeom>
            <a:avLst/>
            <a:gdLst/>
            <a:ahLst/>
            <a:cxnLst/>
            <a:rect l="l" t="t" r="r" b="b"/>
            <a:pathLst>
              <a:path h="1524000">
                <a:moveTo>
                  <a:pt x="0" y="0"/>
                </a:moveTo>
                <a:lnTo>
                  <a:pt x="0" y="152400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6934200" y="2895600"/>
            <a:ext cx="0" cy="1524000"/>
          </a:xfrm>
          <a:custGeom>
            <a:avLst/>
            <a:gdLst/>
            <a:ahLst/>
            <a:cxnLst/>
            <a:rect l="l" t="t" r="r" b="b"/>
            <a:pathLst>
              <a:path h="1524000">
                <a:moveTo>
                  <a:pt x="0" y="0"/>
                </a:moveTo>
                <a:lnTo>
                  <a:pt x="0" y="152400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685800" y="4786374"/>
            <a:ext cx="7548245" cy="1503680"/>
          </a:xfrm>
          <a:prstGeom prst="rect">
            <a:avLst/>
          </a:prstGeom>
        </p:spPr>
        <p:txBody>
          <a:bodyPr vert="horz" wrap="square" lIns="0" tIns="40005" rIns="0" bIns="0" rtlCol="0">
            <a:spAutoFit/>
          </a:bodyPr>
          <a:lstStyle/>
          <a:p>
            <a:pPr marL="203200" marR="5080" indent="-190500">
              <a:lnSpc>
                <a:spcPts val="2880"/>
              </a:lnSpc>
              <a:spcBef>
                <a:spcPts val="315"/>
              </a:spcBef>
              <a:buFont typeface="Tahoma"/>
              <a:buChar char="•"/>
              <a:tabLst>
                <a:tab pos="246379" algn="l"/>
              </a:tabLst>
            </a:pPr>
            <a:r>
              <a:rPr dirty="0"/>
              <a:t>	</a:t>
            </a:r>
            <a:r>
              <a:rPr sz="2400" spc="-5" dirty="0">
                <a:solidFill>
                  <a:srgbClr val="FF9900"/>
                </a:solidFill>
                <a:latin typeface="Tahoma"/>
                <a:cs typeface="Tahoma"/>
              </a:rPr>
              <a:t>Update anomaly</a:t>
            </a:r>
            <a:r>
              <a:rPr sz="2400" spc="-5" dirty="0">
                <a:latin typeface="Tahoma"/>
                <a:cs typeface="Tahoma"/>
              </a:rPr>
              <a:t>: </a:t>
            </a:r>
            <a:r>
              <a:rPr sz="2400" dirty="0">
                <a:latin typeface="Tahoma"/>
                <a:cs typeface="Tahoma"/>
              </a:rPr>
              <a:t>if </a:t>
            </a:r>
            <a:r>
              <a:rPr sz="2400" spc="-10" dirty="0">
                <a:latin typeface="Tahoma"/>
                <a:cs typeface="Tahoma"/>
              </a:rPr>
              <a:t>Janeway </a:t>
            </a:r>
            <a:r>
              <a:rPr sz="2400" dirty="0">
                <a:latin typeface="Tahoma"/>
                <a:cs typeface="Tahoma"/>
              </a:rPr>
              <a:t>is </a:t>
            </a:r>
            <a:r>
              <a:rPr sz="2400" spc="-10" dirty="0">
                <a:latin typeface="Tahoma"/>
                <a:cs typeface="Tahoma"/>
              </a:rPr>
              <a:t>transferred </a:t>
            </a:r>
            <a:r>
              <a:rPr sz="2400" dirty="0">
                <a:latin typeface="Tahoma"/>
                <a:cs typeface="Tahoma"/>
              </a:rPr>
              <a:t>to </a:t>
            </a:r>
            <a:r>
              <a:rPr sz="2500" i="1" spc="-770" dirty="0">
                <a:latin typeface="Tahoma"/>
                <a:cs typeface="Tahoma"/>
              </a:rPr>
              <a:t>Intrepid</a:t>
            </a:r>
            <a:r>
              <a:rPr sz="2400" spc="-770" dirty="0">
                <a:latin typeface="Tahoma"/>
                <a:cs typeface="Tahoma"/>
              </a:rPr>
              <a:t>, </a:t>
            </a:r>
            <a:r>
              <a:rPr sz="2400" spc="-74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will </a:t>
            </a:r>
            <a:r>
              <a:rPr sz="2400" spc="-5" dirty="0">
                <a:latin typeface="Tahoma"/>
                <a:cs typeface="Tahoma"/>
              </a:rPr>
              <a:t>we remember </a:t>
            </a:r>
            <a:r>
              <a:rPr sz="2400" dirty="0">
                <a:latin typeface="Tahoma"/>
                <a:cs typeface="Tahoma"/>
              </a:rPr>
              <a:t>to </a:t>
            </a:r>
            <a:r>
              <a:rPr sz="2400" spc="-5" dirty="0">
                <a:latin typeface="Tahoma"/>
                <a:cs typeface="Tahoma"/>
              </a:rPr>
              <a:t>change each </a:t>
            </a:r>
            <a:r>
              <a:rPr sz="2400" dirty="0">
                <a:latin typeface="Tahoma"/>
                <a:cs typeface="Tahoma"/>
              </a:rPr>
              <a:t>of her</a:t>
            </a:r>
            <a:r>
              <a:rPr sz="2400" spc="5" dirty="0">
                <a:latin typeface="Tahoma"/>
                <a:cs typeface="Tahoma"/>
              </a:rPr>
              <a:t> </a:t>
            </a:r>
            <a:r>
              <a:rPr sz="2400" spc="-5" dirty="0">
                <a:latin typeface="Tahoma"/>
                <a:cs typeface="Tahoma"/>
              </a:rPr>
              <a:t>tuples?</a:t>
            </a:r>
            <a:endParaRPr sz="2400" dirty="0">
              <a:latin typeface="Tahoma"/>
              <a:cs typeface="Tahoma"/>
            </a:endParaRPr>
          </a:p>
          <a:p>
            <a:pPr marL="203200" marR="209550" indent="-190500">
              <a:lnSpc>
                <a:spcPts val="2880"/>
              </a:lnSpc>
              <a:buFont typeface="Tahoma"/>
              <a:buChar char="•"/>
              <a:tabLst>
                <a:tab pos="246379" algn="l"/>
              </a:tabLst>
            </a:pPr>
            <a:r>
              <a:rPr dirty="0"/>
              <a:t>	</a:t>
            </a:r>
            <a:r>
              <a:rPr sz="2400" dirty="0">
                <a:solidFill>
                  <a:srgbClr val="FF9900"/>
                </a:solidFill>
                <a:latin typeface="Tahoma"/>
                <a:cs typeface="Tahoma"/>
              </a:rPr>
              <a:t>Deletion </a:t>
            </a:r>
            <a:r>
              <a:rPr sz="2400" spc="-5" dirty="0">
                <a:solidFill>
                  <a:srgbClr val="FF9900"/>
                </a:solidFill>
                <a:latin typeface="Tahoma"/>
                <a:cs typeface="Tahoma"/>
              </a:rPr>
              <a:t>anomaly</a:t>
            </a:r>
            <a:r>
              <a:rPr sz="2400" spc="-5" dirty="0">
                <a:latin typeface="Tahoma"/>
                <a:cs typeface="Tahoma"/>
              </a:rPr>
              <a:t>: If nobody </a:t>
            </a:r>
            <a:r>
              <a:rPr sz="2400" spc="-10" dirty="0">
                <a:latin typeface="Tahoma"/>
                <a:cs typeface="Tahoma"/>
              </a:rPr>
              <a:t>likes </a:t>
            </a:r>
            <a:r>
              <a:rPr sz="2400" dirty="0">
                <a:latin typeface="Tahoma"/>
                <a:cs typeface="Tahoma"/>
              </a:rPr>
              <a:t>Bud, </a:t>
            </a:r>
            <a:r>
              <a:rPr sz="2400" spc="-5" dirty="0">
                <a:latin typeface="Tahoma"/>
                <a:cs typeface="Tahoma"/>
              </a:rPr>
              <a:t>we lose </a:t>
            </a:r>
            <a:r>
              <a:rPr sz="2400" spc="-10" dirty="0">
                <a:latin typeface="Tahoma"/>
                <a:cs typeface="Tahoma"/>
              </a:rPr>
              <a:t>track  </a:t>
            </a:r>
            <a:r>
              <a:rPr sz="2400" dirty="0">
                <a:latin typeface="Tahoma"/>
                <a:cs typeface="Tahoma"/>
              </a:rPr>
              <a:t>of the </a:t>
            </a:r>
            <a:r>
              <a:rPr sz="2400" spc="-10" dirty="0">
                <a:latin typeface="Tahoma"/>
                <a:cs typeface="Tahoma"/>
              </a:rPr>
              <a:t>fact </a:t>
            </a:r>
            <a:r>
              <a:rPr sz="2400" dirty="0">
                <a:latin typeface="Tahoma"/>
                <a:cs typeface="Tahoma"/>
              </a:rPr>
              <a:t>that </a:t>
            </a:r>
            <a:r>
              <a:rPr sz="2400" spc="-5" dirty="0">
                <a:latin typeface="Tahoma"/>
                <a:cs typeface="Tahoma"/>
              </a:rPr>
              <a:t>Anheuser-Busch manufactures</a:t>
            </a:r>
            <a:r>
              <a:rPr sz="2400" spc="-3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Bud.</a:t>
            </a:r>
          </a:p>
        </p:txBody>
      </p:sp>
      <p:sp>
        <p:nvSpPr>
          <p:cNvPr id="20" name="object 2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dirty="0"/>
              <a:t>33</a:t>
            </a:fld>
            <a:endParaRPr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416050" y="829944"/>
            <a:ext cx="631253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Boyce-Codd </a:t>
            </a:r>
            <a:r>
              <a:rPr spc="-5" dirty="0"/>
              <a:t>Normal</a:t>
            </a:r>
            <a:r>
              <a:rPr spc="-35" dirty="0"/>
              <a:t> </a:t>
            </a:r>
            <a:r>
              <a:rPr spc="-30" dirty="0"/>
              <a:t>Form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dirty="0"/>
              <a:t>34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764540" y="1992617"/>
            <a:ext cx="7380605" cy="3400290"/>
          </a:xfrm>
          <a:prstGeom prst="rect">
            <a:avLst/>
          </a:prstGeom>
        </p:spPr>
        <p:txBody>
          <a:bodyPr vert="horz" wrap="square" lIns="0" tIns="49530" rIns="0" bIns="0" rtlCol="0">
            <a:spAutoFit/>
          </a:bodyPr>
          <a:lstStyle/>
          <a:p>
            <a:pPr marL="355600" marR="5080" indent="-342900">
              <a:lnSpc>
                <a:spcPts val="3840"/>
              </a:lnSpc>
              <a:spcBef>
                <a:spcPts val="390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lang="en-US" sz="3200" spc="-65" dirty="0">
                <a:latin typeface="Tahoma"/>
                <a:cs typeface="Tahoma"/>
              </a:rPr>
              <a:t>We </a:t>
            </a:r>
            <a:r>
              <a:rPr lang="en-US" sz="3200" spc="-10" dirty="0">
                <a:latin typeface="Tahoma"/>
                <a:cs typeface="Tahoma"/>
              </a:rPr>
              <a:t>say </a:t>
            </a:r>
            <a:r>
              <a:rPr lang="en-US" sz="3200" dirty="0">
                <a:latin typeface="Tahoma"/>
                <a:cs typeface="Tahoma"/>
              </a:rPr>
              <a:t>a </a:t>
            </a:r>
            <a:r>
              <a:rPr lang="en-US" sz="3200" spc="-5" dirty="0">
                <a:latin typeface="Tahoma"/>
                <a:cs typeface="Tahoma"/>
              </a:rPr>
              <a:t>relation </a:t>
            </a:r>
            <a:r>
              <a:rPr lang="en-US" sz="3350" i="1" spc="-90" dirty="0">
                <a:latin typeface="Tahoma"/>
                <a:cs typeface="Tahoma"/>
              </a:rPr>
              <a:t>R </a:t>
            </a:r>
            <a:r>
              <a:rPr lang="en-US" sz="3200" spc="-5" dirty="0">
                <a:latin typeface="Tahoma"/>
                <a:cs typeface="Tahoma"/>
              </a:rPr>
              <a:t>is in </a:t>
            </a:r>
            <a:r>
              <a:rPr lang="en-US" altLang="zh-CN" sz="3200" spc="-5" dirty="0">
                <a:latin typeface="Tahoma"/>
                <a:cs typeface="Tahoma"/>
              </a:rPr>
              <a:t>BCNF </a:t>
            </a:r>
            <a:r>
              <a:rPr lang="en-US" sz="3200" dirty="0">
                <a:latin typeface="Tahoma"/>
                <a:cs typeface="Tahoma"/>
              </a:rPr>
              <a:t>if  </a:t>
            </a:r>
            <a:r>
              <a:rPr lang="en-US" sz="3200" spc="-5" dirty="0">
                <a:latin typeface="Tahoma"/>
                <a:cs typeface="Tahoma"/>
              </a:rPr>
              <a:t>whenever </a:t>
            </a:r>
            <a:r>
              <a:rPr lang="en-US" sz="3350" i="1" spc="-105" dirty="0">
                <a:solidFill>
                  <a:srgbClr val="00CC99"/>
                </a:solidFill>
                <a:latin typeface="Tahoma"/>
                <a:cs typeface="Tahoma"/>
              </a:rPr>
              <a:t>X</a:t>
            </a:r>
            <a:r>
              <a:rPr lang="en-US" sz="3200" spc="-105" dirty="0">
                <a:solidFill>
                  <a:srgbClr val="00CC99"/>
                </a:solidFill>
                <a:latin typeface="Tahoma"/>
                <a:cs typeface="Tahoma"/>
              </a:rPr>
              <a:t>-&gt;</a:t>
            </a:r>
            <a:r>
              <a:rPr lang="en-US" sz="3350" i="1" spc="-105" dirty="0">
                <a:solidFill>
                  <a:srgbClr val="00CC99"/>
                </a:solidFill>
                <a:latin typeface="Tahoma"/>
                <a:cs typeface="Tahoma"/>
              </a:rPr>
              <a:t>Y </a:t>
            </a:r>
            <a:r>
              <a:rPr lang="en-US" sz="3200" spc="-5" dirty="0">
                <a:latin typeface="Tahoma"/>
                <a:cs typeface="Tahoma"/>
              </a:rPr>
              <a:t>is </a:t>
            </a:r>
            <a:r>
              <a:rPr lang="en-US" sz="3200" dirty="0">
                <a:latin typeface="Tahoma"/>
                <a:cs typeface="Tahoma"/>
              </a:rPr>
              <a:t>a </a:t>
            </a:r>
            <a:r>
              <a:rPr lang="en-US" sz="3200" spc="-5" dirty="0">
                <a:latin typeface="Tahoma"/>
                <a:cs typeface="Tahoma"/>
              </a:rPr>
              <a:t>nontrivial</a:t>
            </a:r>
            <a:r>
              <a:rPr lang="zh-CN" altLang="en-US" sz="3200" spc="-5" dirty="0">
                <a:latin typeface="Tahoma"/>
                <a:cs typeface="Tahoma"/>
              </a:rPr>
              <a:t>非平凡</a:t>
            </a:r>
            <a:r>
              <a:rPr lang="en-US" sz="3200" spc="-5" dirty="0">
                <a:latin typeface="Tahoma"/>
                <a:cs typeface="Tahoma"/>
              </a:rPr>
              <a:t> </a:t>
            </a:r>
            <a:r>
              <a:rPr lang="en-US" sz="3200" dirty="0">
                <a:latin typeface="Tahoma"/>
                <a:cs typeface="Tahoma"/>
              </a:rPr>
              <a:t>FD </a:t>
            </a:r>
            <a:r>
              <a:rPr lang="en-US" sz="3200" spc="-5" dirty="0">
                <a:latin typeface="Tahoma"/>
                <a:cs typeface="Tahoma"/>
              </a:rPr>
              <a:t>that  holds in </a:t>
            </a:r>
            <a:r>
              <a:rPr lang="en-US" sz="3350" i="1" spc="-565" dirty="0">
                <a:latin typeface="Tahoma"/>
                <a:cs typeface="Tahoma"/>
              </a:rPr>
              <a:t>R</a:t>
            </a:r>
            <a:r>
              <a:rPr lang="en-US" sz="3200" spc="-565" dirty="0">
                <a:latin typeface="Tahoma"/>
                <a:cs typeface="Tahoma"/>
              </a:rPr>
              <a:t>, </a:t>
            </a:r>
            <a:r>
              <a:rPr lang="en-US" sz="3350" i="1" spc="-85" dirty="0">
                <a:latin typeface="Tahoma"/>
                <a:cs typeface="Tahoma"/>
              </a:rPr>
              <a:t>X </a:t>
            </a:r>
            <a:r>
              <a:rPr lang="en-US" sz="3200" spc="-5" dirty="0">
                <a:latin typeface="Tahoma"/>
                <a:cs typeface="Tahoma"/>
              </a:rPr>
              <a:t>is </a:t>
            </a:r>
            <a:r>
              <a:rPr lang="en-US" sz="3200" dirty="0">
                <a:latin typeface="Tahoma"/>
                <a:cs typeface="Tahoma"/>
              </a:rPr>
              <a:t>a</a:t>
            </a:r>
            <a:r>
              <a:rPr lang="en-US" sz="3200" spc="-300" dirty="0">
                <a:latin typeface="Tahoma"/>
                <a:cs typeface="Tahoma"/>
              </a:rPr>
              <a:t> </a:t>
            </a:r>
            <a:r>
              <a:rPr lang="en-US" sz="3200" spc="-40" dirty="0" err="1">
                <a:latin typeface="Tahoma"/>
                <a:cs typeface="Tahoma"/>
              </a:rPr>
              <a:t>superkey</a:t>
            </a:r>
            <a:r>
              <a:rPr lang="en-US" sz="3200" spc="-40" dirty="0">
                <a:latin typeface="Tahoma"/>
                <a:cs typeface="Tahoma"/>
              </a:rPr>
              <a:t>.</a:t>
            </a:r>
            <a:endParaRPr lang="en-US" sz="3200" dirty="0">
              <a:latin typeface="Tahoma"/>
              <a:cs typeface="Tahoma"/>
            </a:endParaRPr>
          </a:p>
          <a:p>
            <a:pPr marL="755650" marR="586740" lvl="1" indent="-285750">
              <a:lnSpc>
                <a:spcPts val="3360"/>
              </a:lnSpc>
              <a:spcBef>
                <a:spcPts val="655"/>
              </a:spcBef>
              <a:buClr>
                <a:srgbClr val="CC00CC"/>
              </a:buClr>
              <a:buFont typeface="Wingdings"/>
              <a:buChar char=""/>
              <a:tabLst>
                <a:tab pos="755650" algn="l"/>
              </a:tabLst>
            </a:pPr>
            <a:r>
              <a:rPr lang="en-US" sz="2800" spc="-10" dirty="0">
                <a:latin typeface="Tahoma"/>
                <a:cs typeface="Tahoma"/>
              </a:rPr>
              <a:t>Remember: </a:t>
            </a:r>
            <a:r>
              <a:rPr lang="en-US" altLang="zh-CN" sz="3200" dirty="0">
                <a:effectLst/>
              </a:rPr>
              <a:t>nontrivial</a:t>
            </a:r>
            <a:r>
              <a:rPr lang="en-US" sz="2900" i="1" spc="-50" dirty="0">
                <a:solidFill>
                  <a:srgbClr val="33CC33"/>
                </a:solidFill>
                <a:latin typeface="Tahoma"/>
                <a:cs typeface="Tahoma"/>
              </a:rPr>
              <a:t> </a:t>
            </a:r>
            <a:r>
              <a:rPr lang="en-US" sz="2800" spc="-5" dirty="0">
                <a:latin typeface="Tahoma"/>
                <a:cs typeface="Tahoma"/>
              </a:rPr>
              <a:t>means </a:t>
            </a:r>
            <a:r>
              <a:rPr lang="en-US" sz="2900" i="1" spc="-65" dirty="0">
                <a:latin typeface="Tahoma"/>
                <a:cs typeface="Tahoma"/>
              </a:rPr>
              <a:t>Y </a:t>
            </a:r>
            <a:r>
              <a:rPr lang="en-US" sz="2800" spc="-5" dirty="0">
                <a:latin typeface="Tahoma"/>
                <a:cs typeface="Tahoma"/>
              </a:rPr>
              <a:t>is not  contained in</a:t>
            </a:r>
            <a:r>
              <a:rPr lang="en-US" sz="2800" spc="-180" dirty="0">
                <a:latin typeface="Tahoma"/>
                <a:cs typeface="Tahoma"/>
              </a:rPr>
              <a:t> </a:t>
            </a:r>
            <a:r>
              <a:rPr lang="en-US" sz="2900" i="1" spc="-480" dirty="0">
                <a:latin typeface="Tahoma"/>
                <a:cs typeface="Tahoma"/>
              </a:rPr>
              <a:t>X</a:t>
            </a:r>
            <a:r>
              <a:rPr lang="en-US" sz="2800" spc="-480" dirty="0">
                <a:latin typeface="Tahoma"/>
                <a:cs typeface="Tahoma"/>
              </a:rPr>
              <a:t>.</a:t>
            </a:r>
            <a:endParaRPr lang="en-US" sz="2800" dirty="0">
              <a:latin typeface="Tahoma"/>
              <a:cs typeface="Tahoma"/>
            </a:endParaRPr>
          </a:p>
          <a:p>
            <a:pPr marL="755650" marR="47625" lvl="1" indent="-285750">
              <a:lnSpc>
                <a:spcPts val="3360"/>
              </a:lnSpc>
              <a:spcBef>
                <a:spcPts val="670"/>
              </a:spcBef>
              <a:buClr>
                <a:srgbClr val="CC00CC"/>
              </a:buClr>
              <a:buFont typeface="Wingdings"/>
              <a:buChar char=""/>
              <a:tabLst>
                <a:tab pos="755650" algn="l"/>
              </a:tabLst>
            </a:pPr>
            <a:r>
              <a:rPr lang="en-US" sz="2800" spc="-55" dirty="0">
                <a:latin typeface="Tahoma"/>
                <a:cs typeface="Tahoma"/>
              </a:rPr>
              <a:t>Remember, </a:t>
            </a:r>
            <a:r>
              <a:rPr lang="en-US" sz="2800" spc="-5" dirty="0">
                <a:latin typeface="Tahoma"/>
                <a:cs typeface="Tahoma"/>
              </a:rPr>
              <a:t>a </a:t>
            </a:r>
            <a:r>
              <a:rPr lang="en-US" altLang="zh-CN" sz="3200" dirty="0" err="1">
                <a:effectLst/>
              </a:rPr>
              <a:t>superkey</a:t>
            </a:r>
            <a:r>
              <a:rPr lang="en-US" sz="2900" i="1" spc="-50" dirty="0">
                <a:solidFill>
                  <a:srgbClr val="33CC33"/>
                </a:solidFill>
                <a:latin typeface="Tahoma"/>
                <a:cs typeface="Tahoma"/>
              </a:rPr>
              <a:t> </a:t>
            </a:r>
            <a:r>
              <a:rPr lang="en-US" sz="2800" spc="-5" dirty="0">
                <a:latin typeface="Tahoma"/>
                <a:cs typeface="Tahoma"/>
              </a:rPr>
              <a:t>is </a:t>
            </a:r>
            <a:r>
              <a:rPr lang="en-US" sz="2800" spc="-15" dirty="0">
                <a:latin typeface="Tahoma"/>
                <a:cs typeface="Tahoma"/>
              </a:rPr>
              <a:t>any </a:t>
            </a:r>
            <a:r>
              <a:rPr lang="en-US" sz="2800" spc="-5" dirty="0">
                <a:latin typeface="Tahoma"/>
                <a:cs typeface="Tahoma"/>
              </a:rPr>
              <a:t>superset of  a </a:t>
            </a:r>
            <a:r>
              <a:rPr lang="en-US" sz="2800" spc="-15" dirty="0">
                <a:latin typeface="Tahoma"/>
                <a:cs typeface="Tahoma"/>
              </a:rPr>
              <a:t>key </a:t>
            </a:r>
            <a:r>
              <a:rPr lang="en-US" sz="2800" spc="-5" dirty="0">
                <a:latin typeface="Tahoma"/>
                <a:cs typeface="Tahoma"/>
              </a:rPr>
              <a:t>(not necessarily a proper</a:t>
            </a:r>
            <a:r>
              <a:rPr lang="en-US" sz="2800" spc="35" dirty="0">
                <a:latin typeface="Tahoma"/>
                <a:cs typeface="Tahoma"/>
              </a:rPr>
              <a:t> </a:t>
            </a:r>
            <a:r>
              <a:rPr lang="en-US" sz="2800" spc="-5" dirty="0">
                <a:latin typeface="Tahoma"/>
                <a:cs typeface="Tahoma"/>
              </a:rPr>
              <a:t>superset).</a:t>
            </a:r>
            <a:endParaRPr lang="en-US" sz="2800" dirty="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517265" y="829944"/>
            <a:ext cx="210947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Example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dirty="0"/>
              <a:t>35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764540" y="1940559"/>
            <a:ext cx="7308850" cy="36334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771525">
              <a:lnSpc>
                <a:spcPct val="120000"/>
              </a:lnSpc>
              <a:spcBef>
                <a:spcPts val="100"/>
              </a:spcBef>
              <a:tabLst>
                <a:tab pos="3943985" algn="l"/>
              </a:tabLst>
            </a:pPr>
            <a:r>
              <a:rPr sz="2400" spc="-5" dirty="0">
                <a:solidFill>
                  <a:srgbClr val="CC00CC"/>
                </a:solidFill>
                <a:latin typeface="Tahoma"/>
                <a:cs typeface="Tahoma"/>
              </a:rPr>
              <a:t>Drinkers(</a:t>
            </a:r>
            <a:r>
              <a:rPr sz="2400" u="heavy" spc="-5" dirty="0">
                <a:solidFill>
                  <a:srgbClr val="CC00CC"/>
                </a:solidFill>
                <a:uFill>
                  <a:solidFill>
                    <a:srgbClr val="CC00CC"/>
                  </a:solidFill>
                </a:uFill>
                <a:latin typeface="Tahoma"/>
                <a:cs typeface="Tahoma"/>
              </a:rPr>
              <a:t>name</a:t>
            </a:r>
            <a:r>
              <a:rPr sz="2400" spc="-5" dirty="0">
                <a:solidFill>
                  <a:srgbClr val="CC00CC"/>
                </a:solidFill>
                <a:latin typeface="Tahoma"/>
                <a:cs typeface="Tahoma"/>
              </a:rPr>
              <a:t>, </a:t>
            </a:r>
            <a:r>
              <a:rPr sz="2400" spc="-70" dirty="0">
                <a:solidFill>
                  <a:srgbClr val="CC00CC"/>
                </a:solidFill>
                <a:latin typeface="Tahoma"/>
                <a:cs typeface="Tahoma"/>
              </a:rPr>
              <a:t>addr, </a:t>
            </a:r>
            <a:r>
              <a:rPr sz="2400" u="heavy" spc="-5" dirty="0">
                <a:solidFill>
                  <a:srgbClr val="CC00CC"/>
                </a:solidFill>
                <a:uFill>
                  <a:solidFill>
                    <a:srgbClr val="CC00CC"/>
                  </a:solidFill>
                </a:uFill>
                <a:latin typeface="Tahoma"/>
                <a:cs typeface="Tahoma"/>
              </a:rPr>
              <a:t>beersLiked</a:t>
            </a:r>
            <a:r>
              <a:rPr sz="2400" spc="-5" dirty="0">
                <a:solidFill>
                  <a:srgbClr val="CC00CC"/>
                </a:solidFill>
                <a:latin typeface="Tahoma"/>
                <a:cs typeface="Tahoma"/>
              </a:rPr>
              <a:t>, </a:t>
            </a:r>
            <a:r>
              <a:rPr sz="2400" spc="-40" dirty="0">
                <a:solidFill>
                  <a:srgbClr val="CC00CC"/>
                </a:solidFill>
                <a:latin typeface="Tahoma"/>
                <a:cs typeface="Tahoma"/>
              </a:rPr>
              <a:t>manf, </a:t>
            </a:r>
            <a:r>
              <a:rPr sz="2400" spc="-10" dirty="0">
                <a:solidFill>
                  <a:srgbClr val="CC00CC"/>
                </a:solidFill>
                <a:latin typeface="Tahoma"/>
                <a:cs typeface="Tahoma"/>
              </a:rPr>
              <a:t>favBeer)  </a:t>
            </a:r>
            <a:r>
              <a:rPr sz="2400" spc="-20" dirty="0">
                <a:latin typeface="Tahoma"/>
                <a:cs typeface="Tahoma"/>
              </a:rPr>
              <a:t>FD’s:</a:t>
            </a:r>
            <a:r>
              <a:rPr sz="2400" spc="15" dirty="0">
                <a:latin typeface="Tahoma"/>
                <a:cs typeface="Tahoma"/>
              </a:rPr>
              <a:t> </a:t>
            </a:r>
            <a:r>
              <a:rPr sz="2400" spc="-5" dirty="0">
                <a:solidFill>
                  <a:srgbClr val="00CC99"/>
                </a:solidFill>
                <a:latin typeface="Tahoma"/>
                <a:cs typeface="Tahoma"/>
              </a:rPr>
              <a:t>name-&gt;addr</a:t>
            </a:r>
            <a:r>
              <a:rPr sz="2400" spc="15" dirty="0">
                <a:solidFill>
                  <a:srgbClr val="00CC99"/>
                </a:solidFill>
                <a:latin typeface="Tahoma"/>
                <a:cs typeface="Tahoma"/>
              </a:rPr>
              <a:t> </a:t>
            </a:r>
            <a:r>
              <a:rPr sz="2400" spc="-10" dirty="0">
                <a:solidFill>
                  <a:srgbClr val="00CC99"/>
                </a:solidFill>
                <a:latin typeface="Tahoma"/>
                <a:cs typeface="Tahoma"/>
              </a:rPr>
              <a:t>favBeer</a:t>
            </a:r>
            <a:r>
              <a:rPr sz="2400" spc="-10" dirty="0">
                <a:latin typeface="Tahoma"/>
                <a:cs typeface="Tahoma"/>
              </a:rPr>
              <a:t>,	</a:t>
            </a:r>
            <a:r>
              <a:rPr sz="2400" spc="-5" dirty="0">
                <a:solidFill>
                  <a:srgbClr val="00CC99"/>
                </a:solidFill>
                <a:latin typeface="Tahoma"/>
                <a:cs typeface="Tahoma"/>
              </a:rPr>
              <a:t>beersLiked-&gt;manf</a:t>
            </a:r>
            <a:endParaRPr sz="2400" dirty="0">
              <a:latin typeface="Tahoma"/>
              <a:cs typeface="Tahoma"/>
            </a:endParaRPr>
          </a:p>
          <a:p>
            <a:pPr marL="414655" indent="-402590">
              <a:lnSpc>
                <a:spcPct val="100000"/>
              </a:lnSpc>
              <a:spcBef>
                <a:spcPts val="760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spc="-5" dirty="0">
                <a:latin typeface="Tahoma"/>
                <a:cs typeface="Tahoma"/>
              </a:rPr>
              <a:t>Only </a:t>
            </a:r>
            <a:r>
              <a:rPr sz="3200" spc="-15" dirty="0">
                <a:latin typeface="Tahoma"/>
                <a:cs typeface="Tahoma"/>
              </a:rPr>
              <a:t>key </a:t>
            </a:r>
            <a:r>
              <a:rPr sz="3200" spc="-5" dirty="0">
                <a:latin typeface="Tahoma"/>
                <a:cs typeface="Tahoma"/>
              </a:rPr>
              <a:t>is </a:t>
            </a:r>
            <a:r>
              <a:rPr sz="3200" spc="-5" dirty="0">
                <a:solidFill>
                  <a:srgbClr val="33CC33"/>
                </a:solidFill>
                <a:latin typeface="Tahoma"/>
                <a:cs typeface="Tahoma"/>
              </a:rPr>
              <a:t>{name, beersLiked}</a:t>
            </a:r>
            <a:r>
              <a:rPr sz="3200" spc="-5" dirty="0">
                <a:latin typeface="Tahoma"/>
                <a:cs typeface="Tahoma"/>
              </a:rPr>
              <a:t>.</a:t>
            </a:r>
            <a:endParaRPr sz="3200" dirty="0">
              <a:latin typeface="Tahoma"/>
              <a:cs typeface="Tahoma"/>
            </a:endParaRPr>
          </a:p>
          <a:p>
            <a:pPr marL="355600" marR="991869" indent="-342900">
              <a:lnSpc>
                <a:spcPts val="3840"/>
              </a:lnSpc>
              <a:spcBef>
                <a:spcPts val="894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spc="-15" dirty="0">
                <a:latin typeface="Tahoma"/>
                <a:cs typeface="Tahoma"/>
              </a:rPr>
              <a:t>In </a:t>
            </a:r>
            <a:r>
              <a:rPr sz="3200" spc="-5" dirty="0">
                <a:latin typeface="Tahoma"/>
                <a:cs typeface="Tahoma"/>
              </a:rPr>
              <a:t>each </a:t>
            </a:r>
            <a:r>
              <a:rPr sz="3200" spc="-30" dirty="0">
                <a:latin typeface="Tahoma"/>
                <a:cs typeface="Tahoma"/>
              </a:rPr>
              <a:t>FD, </a:t>
            </a:r>
            <a:r>
              <a:rPr sz="3200" spc="-5" dirty="0">
                <a:latin typeface="Tahoma"/>
                <a:cs typeface="Tahoma"/>
              </a:rPr>
              <a:t>the left side is</a:t>
            </a:r>
            <a:r>
              <a:rPr lang="en-US" sz="3200" spc="-5" dirty="0">
                <a:latin typeface="Tahoma"/>
                <a:cs typeface="Tahoma"/>
              </a:rPr>
              <a:t> </a:t>
            </a:r>
            <a:r>
              <a:rPr lang="en-US" altLang="zh-CN" sz="3200" spc="-5" dirty="0">
                <a:latin typeface="Tahoma"/>
                <a:cs typeface="Tahoma"/>
              </a:rPr>
              <a:t>not </a:t>
            </a:r>
            <a:r>
              <a:rPr sz="3350" i="1" spc="-830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a  </a:t>
            </a:r>
            <a:r>
              <a:rPr sz="3200" spc="-40" dirty="0">
                <a:latin typeface="Tahoma"/>
                <a:cs typeface="Tahoma"/>
              </a:rPr>
              <a:t>superkey.</a:t>
            </a:r>
            <a:endParaRPr sz="3200" dirty="0">
              <a:latin typeface="Tahoma"/>
              <a:cs typeface="Tahoma"/>
            </a:endParaRPr>
          </a:p>
          <a:p>
            <a:pPr marL="355600" marR="5080" indent="-342900">
              <a:lnSpc>
                <a:spcPts val="3840"/>
              </a:lnSpc>
              <a:spcBef>
                <a:spcPts val="765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spc="-15" dirty="0">
                <a:latin typeface="Tahoma"/>
                <a:cs typeface="Tahoma"/>
              </a:rPr>
              <a:t>Any </a:t>
            </a:r>
            <a:r>
              <a:rPr sz="3200" spc="-5" dirty="0">
                <a:latin typeface="Tahoma"/>
                <a:cs typeface="Tahoma"/>
              </a:rPr>
              <a:t>one of these </a:t>
            </a:r>
            <a:r>
              <a:rPr sz="3200" spc="-30" dirty="0">
                <a:latin typeface="Tahoma"/>
                <a:cs typeface="Tahoma"/>
              </a:rPr>
              <a:t>FD’s </a:t>
            </a:r>
            <a:r>
              <a:rPr sz="3200" spc="-5" dirty="0">
                <a:latin typeface="Tahoma"/>
                <a:cs typeface="Tahoma"/>
              </a:rPr>
              <a:t>shows </a:t>
            </a:r>
            <a:r>
              <a:rPr lang="en-US" altLang="zh-CN" sz="3600" dirty="0">
                <a:effectLst/>
              </a:rPr>
              <a:t>Drinkers</a:t>
            </a:r>
            <a:r>
              <a:rPr sz="3350" i="1" spc="-910" dirty="0">
                <a:latin typeface="Tahoma"/>
                <a:cs typeface="Tahoma"/>
              </a:rPr>
              <a:t>  </a:t>
            </a:r>
            <a:r>
              <a:rPr sz="3200" spc="-5" dirty="0">
                <a:latin typeface="Tahoma"/>
                <a:cs typeface="Tahoma"/>
              </a:rPr>
              <a:t>is not in</a:t>
            </a:r>
            <a:r>
              <a:rPr sz="3200" spc="-10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BCNF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458085" y="829944"/>
            <a:ext cx="422846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Another</a:t>
            </a:r>
            <a:r>
              <a:rPr spc="-55" dirty="0"/>
              <a:t> </a:t>
            </a:r>
            <a:r>
              <a:rPr spc="-5" dirty="0"/>
              <a:t>Example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dirty="0"/>
              <a:t>36</a:t>
            </a:fld>
            <a:endParaRPr dirty="0"/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09855" rIns="0" bIns="0" rtlCol="0">
            <a:spAutoFit/>
          </a:bodyPr>
          <a:lstStyle/>
          <a:p>
            <a:pPr marL="29209">
              <a:lnSpc>
                <a:spcPct val="100000"/>
              </a:lnSpc>
              <a:spcBef>
                <a:spcPts val="865"/>
              </a:spcBef>
            </a:pPr>
            <a:r>
              <a:rPr spc="-5" dirty="0">
                <a:solidFill>
                  <a:srgbClr val="CC00CC"/>
                </a:solidFill>
              </a:rPr>
              <a:t>Beers(</a:t>
            </a:r>
            <a:r>
              <a:rPr u="heavy" spc="-5" dirty="0">
                <a:solidFill>
                  <a:srgbClr val="CC00CC"/>
                </a:solidFill>
                <a:uFill>
                  <a:solidFill>
                    <a:srgbClr val="CC00CC"/>
                  </a:solidFill>
                </a:uFill>
              </a:rPr>
              <a:t>name</a:t>
            </a:r>
            <a:r>
              <a:rPr spc="-5" dirty="0">
                <a:solidFill>
                  <a:srgbClr val="CC00CC"/>
                </a:solidFill>
              </a:rPr>
              <a:t>, </a:t>
            </a:r>
            <a:r>
              <a:rPr spc="-50" dirty="0">
                <a:solidFill>
                  <a:srgbClr val="CC00CC"/>
                </a:solidFill>
              </a:rPr>
              <a:t>manf,</a:t>
            </a:r>
            <a:r>
              <a:rPr spc="-10" dirty="0">
                <a:solidFill>
                  <a:srgbClr val="CC00CC"/>
                </a:solidFill>
              </a:rPr>
              <a:t> </a:t>
            </a:r>
            <a:r>
              <a:rPr spc="-5" dirty="0">
                <a:solidFill>
                  <a:srgbClr val="CC00CC"/>
                </a:solidFill>
              </a:rPr>
              <a:t>manfAddr)</a:t>
            </a:r>
          </a:p>
          <a:p>
            <a:pPr marL="29209">
              <a:lnSpc>
                <a:spcPct val="100000"/>
              </a:lnSpc>
              <a:spcBef>
                <a:spcPts val="765"/>
              </a:spcBef>
              <a:tabLst>
                <a:tab pos="3895090" algn="l"/>
              </a:tabLst>
            </a:pPr>
            <a:r>
              <a:rPr spc="-25" dirty="0"/>
              <a:t>FD’s:</a:t>
            </a:r>
            <a:r>
              <a:rPr spc="10" dirty="0"/>
              <a:t> </a:t>
            </a:r>
            <a:r>
              <a:rPr spc="-5" dirty="0">
                <a:solidFill>
                  <a:srgbClr val="00CC99"/>
                </a:solidFill>
              </a:rPr>
              <a:t>name-&gt;manf</a:t>
            </a:r>
            <a:r>
              <a:rPr spc="-5" dirty="0"/>
              <a:t>,	</a:t>
            </a:r>
            <a:r>
              <a:rPr spc="-10" dirty="0">
                <a:solidFill>
                  <a:srgbClr val="00CC99"/>
                </a:solidFill>
              </a:rPr>
              <a:t>manf-&gt;manfAddr</a:t>
            </a:r>
          </a:p>
          <a:p>
            <a:pPr marL="431165" indent="-402590">
              <a:lnSpc>
                <a:spcPct val="100000"/>
              </a:lnSpc>
              <a:spcBef>
                <a:spcPts val="765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31800" algn="l"/>
              </a:tabLst>
            </a:pPr>
            <a:r>
              <a:rPr spc="-5" dirty="0"/>
              <a:t>Only </a:t>
            </a:r>
            <a:r>
              <a:rPr spc="-15" dirty="0"/>
              <a:t>key </a:t>
            </a:r>
            <a:r>
              <a:rPr spc="-5" dirty="0"/>
              <a:t>is </a:t>
            </a:r>
            <a:r>
              <a:rPr spc="-5" dirty="0">
                <a:solidFill>
                  <a:srgbClr val="33CC33"/>
                </a:solidFill>
              </a:rPr>
              <a:t>{name}</a:t>
            </a:r>
            <a:r>
              <a:rPr spc="5" dirty="0">
                <a:solidFill>
                  <a:srgbClr val="33CC33"/>
                </a:solidFill>
              </a:rPr>
              <a:t> </a:t>
            </a:r>
            <a:r>
              <a:rPr dirty="0"/>
              <a:t>.</a:t>
            </a:r>
          </a:p>
          <a:p>
            <a:pPr marL="372110" marR="5080" indent="-342900">
              <a:lnSpc>
                <a:spcPct val="100000"/>
              </a:lnSpc>
              <a:spcBef>
                <a:spcPts val="765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31800" algn="l"/>
              </a:tabLst>
            </a:pPr>
            <a:r>
              <a:rPr spc="-5" dirty="0">
                <a:solidFill>
                  <a:srgbClr val="00CC99"/>
                </a:solidFill>
              </a:rPr>
              <a:t>name-&gt;manf </a:t>
            </a:r>
            <a:r>
              <a:rPr spc="-5" dirty="0"/>
              <a:t>does not violate </a:t>
            </a:r>
            <a:r>
              <a:rPr spc="-90" dirty="0"/>
              <a:t>BCNF, </a:t>
            </a:r>
            <a:r>
              <a:rPr spc="-5" dirty="0"/>
              <a:t>but </a:t>
            </a:r>
            <a:r>
              <a:rPr spc="-5" dirty="0">
                <a:solidFill>
                  <a:srgbClr val="00CC99"/>
                </a:solidFill>
              </a:rPr>
              <a:t> </a:t>
            </a:r>
            <a:r>
              <a:rPr spc="-10" dirty="0">
                <a:solidFill>
                  <a:srgbClr val="00CC99"/>
                </a:solidFill>
              </a:rPr>
              <a:t>manf-&gt;manfAddr</a:t>
            </a:r>
            <a:r>
              <a:rPr spc="-5" dirty="0">
                <a:solidFill>
                  <a:srgbClr val="00CC99"/>
                </a:solidFill>
              </a:rPr>
              <a:t> </a:t>
            </a:r>
            <a:r>
              <a:rPr spc="-5" dirty="0"/>
              <a:t>does.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02447" y="304800"/>
            <a:ext cx="5263515" cy="136768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Decomposition</a:t>
            </a:r>
            <a:r>
              <a:rPr lang="zh-CN" altLang="en-US" spc="-5" dirty="0"/>
              <a:t>分解</a:t>
            </a:r>
            <a:r>
              <a:rPr spc="-5" dirty="0"/>
              <a:t> into</a:t>
            </a:r>
            <a:r>
              <a:rPr spc="-40" dirty="0"/>
              <a:t> </a:t>
            </a:r>
            <a:r>
              <a:rPr dirty="0"/>
              <a:t>BCNF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dirty="0"/>
              <a:t>37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751840" y="1895678"/>
            <a:ext cx="7364730" cy="4165600"/>
          </a:xfrm>
          <a:prstGeom prst="rect">
            <a:avLst/>
          </a:prstGeom>
        </p:spPr>
        <p:txBody>
          <a:bodyPr vert="horz" wrap="square" lIns="0" tIns="111125" rIns="0" bIns="0" rtlCol="0">
            <a:spAutoFit/>
          </a:bodyPr>
          <a:lstStyle/>
          <a:p>
            <a:pPr marL="427355" indent="-402590" algn="just">
              <a:lnSpc>
                <a:spcPct val="100000"/>
              </a:lnSpc>
              <a:spcBef>
                <a:spcPts val="875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27990" algn="l"/>
              </a:tabLst>
            </a:pPr>
            <a:r>
              <a:rPr sz="3200" spc="-10" dirty="0">
                <a:latin typeface="Tahoma"/>
                <a:cs typeface="Tahoma"/>
              </a:rPr>
              <a:t>Given: </a:t>
            </a:r>
            <a:r>
              <a:rPr sz="3200" spc="-5" dirty="0">
                <a:latin typeface="Tahoma"/>
                <a:cs typeface="Tahoma"/>
              </a:rPr>
              <a:t>relation </a:t>
            </a:r>
            <a:r>
              <a:rPr sz="3350" i="1" spc="-90" dirty="0">
                <a:latin typeface="Tahoma"/>
                <a:cs typeface="Tahoma"/>
              </a:rPr>
              <a:t>R </a:t>
            </a:r>
            <a:r>
              <a:rPr sz="3200" spc="-5" dirty="0">
                <a:latin typeface="Tahoma"/>
                <a:cs typeface="Tahoma"/>
              </a:rPr>
              <a:t>with </a:t>
            </a:r>
            <a:r>
              <a:rPr sz="3200" spc="-30" dirty="0">
                <a:latin typeface="Tahoma"/>
                <a:cs typeface="Tahoma"/>
              </a:rPr>
              <a:t>FD’s</a:t>
            </a:r>
            <a:r>
              <a:rPr sz="3200" spc="-420" dirty="0">
                <a:latin typeface="Tahoma"/>
                <a:cs typeface="Tahoma"/>
              </a:rPr>
              <a:t> </a:t>
            </a:r>
            <a:r>
              <a:rPr sz="3350" i="1" spc="-555" dirty="0">
                <a:latin typeface="Tahoma"/>
                <a:cs typeface="Tahoma"/>
              </a:rPr>
              <a:t>F</a:t>
            </a:r>
            <a:r>
              <a:rPr sz="3200" spc="-555" dirty="0">
                <a:latin typeface="Tahoma"/>
                <a:cs typeface="Tahoma"/>
              </a:rPr>
              <a:t>.</a:t>
            </a:r>
            <a:endParaRPr sz="3200" dirty="0">
              <a:latin typeface="Tahoma"/>
              <a:cs typeface="Tahoma"/>
            </a:endParaRPr>
          </a:p>
          <a:p>
            <a:pPr marL="368300" marR="17780" indent="-342900" algn="just">
              <a:lnSpc>
                <a:spcPts val="3840"/>
              </a:lnSpc>
              <a:spcBef>
                <a:spcPts val="865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27990" algn="l"/>
              </a:tabLst>
            </a:pPr>
            <a:r>
              <a:rPr sz="3200" spc="-5" dirty="0">
                <a:latin typeface="Tahoma"/>
                <a:cs typeface="Tahoma"/>
              </a:rPr>
              <a:t>Look among the </a:t>
            </a:r>
            <a:r>
              <a:rPr sz="3200" spc="-10" dirty="0">
                <a:latin typeface="Tahoma"/>
                <a:cs typeface="Tahoma"/>
              </a:rPr>
              <a:t>given </a:t>
            </a:r>
            <a:r>
              <a:rPr sz="3200" spc="-30" dirty="0">
                <a:latin typeface="Tahoma"/>
                <a:cs typeface="Tahoma"/>
              </a:rPr>
              <a:t>FD’s </a:t>
            </a:r>
            <a:r>
              <a:rPr sz="3200" spc="-15" dirty="0">
                <a:latin typeface="Tahoma"/>
                <a:cs typeface="Tahoma"/>
              </a:rPr>
              <a:t>for </a:t>
            </a:r>
            <a:r>
              <a:rPr sz="3200" dirty="0">
                <a:latin typeface="Tahoma"/>
                <a:cs typeface="Tahoma"/>
              </a:rPr>
              <a:t>a BCNF  </a:t>
            </a:r>
            <a:r>
              <a:rPr sz="3200" spc="-5" dirty="0">
                <a:latin typeface="Tahoma"/>
                <a:cs typeface="Tahoma"/>
              </a:rPr>
              <a:t>violation</a:t>
            </a:r>
            <a:r>
              <a:rPr sz="3200" spc="-220" dirty="0">
                <a:latin typeface="Tahoma"/>
                <a:cs typeface="Tahoma"/>
              </a:rPr>
              <a:t> </a:t>
            </a:r>
            <a:r>
              <a:rPr sz="3350" i="1" spc="-290" dirty="0">
                <a:solidFill>
                  <a:srgbClr val="00CC99"/>
                </a:solidFill>
                <a:latin typeface="Tahoma"/>
                <a:cs typeface="Tahoma"/>
              </a:rPr>
              <a:t>X</a:t>
            </a:r>
            <a:r>
              <a:rPr sz="3200" spc="-290" dirty="0">
                <a:solidFill>
                  <a:srgbClr val="00CC99"/>
                </a:solidFill>
                <a:latin typeface="Tahoma"/>
                <a:cs typeface="Tahoma"/>
              </a:rPr>
              <a:t>-&gt;</a:t>
            </a:r>
            <a:r>
              <a:rPr sz="3350" i="1" spc="-290" dirty="0">
                <a:solidFill>
                  <a:srgbClr val="00CC99"/>
                </a:solidFill>
                <a:latin typeface="Tahoma"/>
                <a:cs typeface="Tahoma"/>
              </a:rPr>
              <a:t>Y</a:t>
            </a:r>
            <a:r>
              <a:rPr sz="3200" spc="-290" dirty="0">
                <a:latin typeface="Tahoma"/>
                <a:cs typeface="Tahoma"/>
              </a:rPr>
              <a:t>.</a:t>
            </a:r>
            <a:endParaRPr sz="3200" dirty="0">
              <a:latin typeface="Tahoma"/>
              <a:cs typeface="Tahoma"/>
            </a:endParaRPr>
          </a:p>
          <a:p>
            <a:pPr marL="311150" marR="65405" indent="-285750" algn="just">
              <a:lnSpc>
                <a:spcPts val="3360"/>
              </a:lnSpc>
              <a:spcBef>
                <a:spcPts val="655"/>
              </a:spcBef>
              <a:buClr>
                <a:srgbClr val="CC00CC"/>
              </a:buClr>
              <a:buFont typeface="Wingdings"/>
              <a:buChar char=""/>
              <a:tabLst>
                <a:tab pos="768350" algn="l"/>
              </a:tabLst>
            </a:pPr>
            <a:r>
              <a:rPr sz="2800" spc="-5" dirty="0">
                <a:latin typeface="Tahoma"/>
                <a:cs typeface="Tahoma"/>
              </a:rPr>
              <a:t>If </a:t>
            </a:r>
            <a:r>
              <a:rPr sz="2800" spc="-15" dirty="0">
                <a:latin typeface="Tahoma"/>
                <a:cs typeface="Tahoma"/>
              </a:rPr>
              <a:t>any </a:t>
            </a:r>
            <a:r>
              <a:rPr sz="2800" spc="-5" dirty="0">
                <a:latin typeface="Tahoma"/>
                <a:cs typeface="Tahoma"/>
              </a:rPr>
              <a:t>FD following </a:t>
            </a:r>
            <a:r>
              <a:rPr sz="2800" spc="-15" dirty="0">
                <a:latin typeface="Tahoma"/>
                <a:cs typeface="Tahoma"/>
              </a:rPr>
              <a:t>from </a:t>
            </a:r>
            <a:r>
              <a:rPr sz="2900" i="1" spc="-55" dirty="0">
                <a:latin typeface="Tahoma"/>
                <a:cs typeface="Tahoma"/>
              </a:rPr>
              <a:t>F </a:t>
            </a:r>
            <a:r>
              <a:rPr sz="2800" spc="-5" dirty="0">
                <a:latin typeface="Tahoma"/>
                <a:cs typeface="Tahoma"/>
              </a:rPr>
              <a:t>violates </a:t>
            </a:r>
            <a:r>
              <a:rPr sz="2800" spc="-80" dirty="0">
                <a:latin typeface="Tahoma"/>
                <a:cs typeface="Tahoma"/>
              </a:rPr>
              <a:t>BCNF,  </a:t>
            </a:r>
            <a:r>
              <a:rPr sz="2800" spc="-5" dirty="0">
                <a:latin typeface="Tahoma"/>
                <a:cs typeface="Tahoma"/>
              </a:rPr>
              <a:t>then </a:t>
            </a:r>
            <a:r>
              <a:rPr sz="2800" spc="-10" dirty="0">
                <a:latin typeface="Tahoma"/>
                <a:cs typeface="Tahoma"/>
              </a:rPr>
              <a:t>there </a:t>
            </a:r>
            <a:r>
              <a:rPr sz="2800" dirty="0">
                <a:latin typeface="Tahoma"/>
                <a:cs typeface="Tahoma"/>
              </a:rPr>
              <a:t>will </a:t>
            </a:r>
            <a:r>
              <a:rPr sz="2800" spc="-5" dirty="0">
                <a:latin typeface="Tahoma"/>
                <a:cs typeface="Tahoma"/>
              </a:rPr>
              <a:t>surely be an FD in </a:t>
            </a:r>
            <a:r>
              <a:rPr sz="2900" i="1" spc="-55" dirty="0">
                <a:latin typeface="Tahoma"/>
                <a:cs typeface="Tahoma"/>
              </a:rPr>
              <a:t>F </a:t>
            </a:r>
            <a:r>
              <a:rPr sz="2800" spc="-5" dirty="0">
                <a:latin typeface="Tahoma"/>
                <a:cs typeface="Tahoma"/>
              </a:rPr>
              <a:t>itself  that violates</a:t>
            </a:r>
            <a:r>
              <a:rPr sz="2800" dirty="0">
                <a:latin typeface="Tahoma"/>
                <a:cs typeface="Tahoma"/>
              </a:rPr>
              <a:t> </a:t>
            </a:r>
            <a:r>
              <a:rPr sz="2800" spc="-80" dirty="0">
                <a:latin typeface="Tahoma"/>
                <a:cs typeface="Tahoma"/>
              </a:rPr>
              <a:t>BCNF.</a:t>
            </a:r>
            <a:endParaRPr sz="2800" dirty="0">
              <a:latin typeface="Tahoma"/>
              <a:cs typeface="Tahoma"/>
            </a:endParaRPr>
          </a:p>
          <a:p>
            <a:pPr marL="427355" indent="-402590" algn="just">
              <a:lnSpc>
                <a:spcPct val="100000"/>
              </a:lnSpc>
              <a:spcBef>
                <a:spcPts val="500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27990" algn="l"/>
              </a:tabLst>
            </a:pPr>
            <a:r>
              <a:rPr sz="3200" spc="-5" dirty="0">
                <a:latin typeface="Tahoma"/>
                <a:cs typeface="Tahoma"/>
              </a:rPr>
              <a:t>Compute</a:t>
            </a:r>
            <a:r>
              <a:rPr sz="3200" spc="-220" dirty="0">
                <a:latin typeface="Tahoma"/>
                <a:cs typeface="Tahoma"/>
              </a:rPr>
              <a:t> </a:t>
            </a:r>
            <a:r>
              <a:rPr sz="3350" i="1" spc="-30" dirty="0">
                <a:latin typeface="Tahoma"/>
                <a:cs typeface="Tahoma"/>
              </a:rPr>
              <a:t>X</a:t>
            </a:r>
            <a:r>
              <a:rPr sz="3075" spc="-44" baseline="21680" dirty="0">
                <a:latin typeface="Tahoma"/>
                <a:cs typeface="Tahoma"/>
              </a:rPr>
              <a:t>+</a:t>
            </a:r>
            <a:r>
              <a:rPr sz="3200" spc="-30" dirty="0">
                <a:latin typeface="Tahoma"/>
                <a:cs typeface="Tahoma"/>
              </a:rPr>
              <a:t>.</a:t>
            </a:r>
            <a:r>
              <a:rPr lang="en-US" sz="3200" spc="-30" dirty="0">
                <a:latin typeface="Tahoma"/>
                <a:cs typeface="Tahoma"/>
              </a:rPr>
              <a:t> </a:t>
            </a:r>
            <a:endParaRPr sz="3200" dirty="0">
              <a:latin typeface="Tahoma"/>
              <a:cs typeface="Tahoma"/>
            </a:endParaRPr>
          </a:p>
          <a:p>
            <a:pPr marL="768350" lvl="1" indent="-285750" algn="just">
              <a:lnSpc>
                <a:spcPct val="100000"/>
              </a:lnSpc>
              <a:spcBef>
                <a:spcPts val="640"/>
              </a:spcBef>
              <a:buClr>
                <a:srgbClr val="CC00CC"/>
              </a:buClr>
              <a:buFont typeface="Wingdings"/>
              <a:buChar char=""/>
              <a:tabLst>
                <a:tab pos="768350" algn="l"/>
              </a:tabLst>
            </a:pPr>
            <a:r>
              <a:rPr sz="2800" spc="-5" dirty="0">
                <a:latin typeface="Tahoma"/>
                <a:cs typeface="Tahoma"/>
              </a:rPr>
              <a:t>Not </a:t>
            </a:r>
            <a:r>
              <a:rPr sz="2800" dirty="0">
                <a:latin typeface="Tahoma"/>
                <a:cs typeface="Tahoma"/>
              </a:rPr>
              <a:t>all </a:t>
            </a:r>
            <a:r>
              <a:rPr sz="2800" spc="-5" dirty="0">
                <a:latin typeface="Tahoma"/>
                <a:cs typeface="Tahoma"/>
              </a:rPr>
              <a:t>attributes, or else X is a</a:t>
            </a:r>
            <a:r>
              <a:rPr sz="2800" spc="5" dirty="0">
                <a:latin typeface="Tahoma"/>
                <a:cs typeface="Tahoma"/>
              </a:rPr>
              <a:t> </a:t>
            </a:r>
            <a:r>
              <a:rPr sz="2800" spc="-35" dirty="0">
                <a:latin typeface="Tahoma"/>
                <a:cs typeface="Tahoma"/>
              </a:rPr>
              <a:t>superkey.</a:t>
            </a:r>
            <a:endParaRPr sz="2800" dirty="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35050" y="801999"/>
            <a:ext cx="7253605" cy="7302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-5" dirty="0"/>
              <a:t>Decompose </a:t>
            </a:r>
            <a:r>
              <a:rPr sz="4600" i="1" spc="-125" dirty="0">
                <a:latin typeface="Tahoma"/>
                <a:cs typeface="Tahoma"/>
              </a:rPr>
              <a:t>R </a:t>
            </a:r>
            <a:r>
              <a:rPr spc="-5" dirty="0"/>
              <a:t>Using </a:t>
            </a:r>
            <a:r>
              <a:rPr sz="4600" i="1" spc="-114" dirty="0">
                <a:latin typeface="Tahoma"/>
                <a:cs typeface="Tahoma"/>
              </a:rPr>
              <a:t>X </a:t>
            </a:r>
            <a:r>
              <a:rPr dirty="0"/>
              <a:t>-&gt;</a:t>
            </a:r>
            <a:r>
              <a:rPr spc="-880" dirty="0"/>
              <a:t> </a:t>
            </a:r>
            <a:r>
              <a:rPr sz="4600" i="1" spc="-114" dirty="0">
                <a:latin typeface="Tahoma"/>
                <a:cs typeface="Tahoma"/>
              </a:rPr>
              <a:t>Y</a:t>
            </a:r>
            <a:endParaRPr sz="4600" dirty="0">
              <a:latin typeface="Tahoma"/>
              <a:cs typeface="Tahoma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dirty="0"/>
              <a:t>38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739140" y="1919458"/>
            <a:ext cx="7486650" cy="2703830"/>
          </a:xfrm>
          <a:prstGeom prst="rect">
            <a:avLst/>
          </a:prstGeom>
        </p:spPr>
        <p:txBody>
          <a:bodyPr vert="horz" wrap="square" lIns="0" tIns="87630" rIns="0" bIns="0" rtlCol="0">
            <a:spAutoFit/>
          </a:bodyPr>
          <a:lstStyle/>
          <a:p>
            <a:pPr marL="647700" indent="-609600">
              <a:lnSpc>
                <a:spcPct val="100000"/>
              </a:lnSpc>
              <a:spcBef>
                <a:spcPts val="690"/>
              </a:spcBef>
              <a:buClr>
                <a:srgbClr val="CC00CC"/>
              </a:buClr>
              <a:buFont typeface="Wingdings"/>
              <a:buChar char=""/>
              <a:tabLst>
                <a:tab pos="647065" algn="l"/>
                <a:tab pos="647700" algn="l"/>
              </a:tabLst>
            </a:pPr>
            <a:r>
              <a:rPr sz="3200" spc="-15" dirty="0">
                <a:latin typeface="Tahoma"/>
                <a:cs typeface="Tahoma"/>
              </a:rPr>
              <a:t>Replace </a:t>
            </a:r>
            <a:r>
              <a:rPr sz="3350" i="1" spc="-90" dirty="0">
                <a:latin typeface="Tahoma"/>
                <a:cs typeface="Tahoma"/>
              </a:rPr>
              <a:t>R </a:t>
            </a:r>
            <a:r>
              <a:rPr sz="3200" spc="-5" dirty="0">
                <a:latin typeface="Tahoma"/>
                <a:cs typeface="Tahoma"/>
              </a:rPr>
              <a:t>by relations with</a:t>
            </a:r>
            <a:r>
              <a:rPr sz="3200" spc="-210" dirty="0">
                <a:latin typeface="Tahoma"/>
                <a:cs typeface="Tahoma"/>
              </a:rPr>
              <a:t> </a:t>
            </a:r>
            <a:r>
              <a:rPr sz="3200" spc="-5" dirty="0">
                <a:latin typeface="Tahoma"/>
                <a:cs typeface="Tahoma"/>
              </a:rPr>
              <a:t>schemas:</a:t>
            </a:r>
            <a:endParaRPr sz="3200" dirty="0">
              <a:latin typeface="Tahoma"/>
              <a:cs typeface="Tahoma"/>
            </a:endParaRPr>
          </a:p>
          <a:p>
            <a:pPr marL="495300">
              <a:lnSpc>
                <a:spcPct val="100000"/>
              </a:lnSpc>
              <a:spcBef>
                <a:spcPts val="540"/>
              </a:spcBef>
              <a:tabLst>
                <a:tab pos="1115695" algn="l"/>
              </a:tabLst>
            </a:pPr>
            <a:r>
              <a:rPr sz="2800" spc="-5" dirty="0">
                <a:solidFill>
                  <a:srgbClr val="CC00CC"/>
                </a:solidFill>
                <a:latin typeface="Tahoma"/>
                <a:cs typeface="Tahoma"/>
              </a:rPr>
              <a:t>1.	</a:t>
            </a:r>
            <a:r>
              <a:rPr sz="2900" i="1" spc="-475" dirty="0">
                <a:latin typeface="Tahoma"/>
                <a:cs typeface="Tahoma"/>
              </a:rPr>
              <a:t>R</a:t>
            </a:r>
            <a:r>
              <a:rPr sz="2700" spc="-712" baseline="-16975" dirty="0">
                <a:latin typeface="Tahoma"/>
                <a:cs typeface="Tahoma"/>
              </a:rPr>
              <a:t>1 </a:t>
            </a:r>
            <a:r>
              <a:rPr sz="2800" spc="-5" dirty="0">
                <a:latin typeface="Tahoma"/>
                <a:cs typeface="Tahoma"/>
              </a:rPr>
              <a:t>=</a:t>
            </a:r>
            <a:r>
              <a:rPr sz="2800" spc="-195" dirty="0">
                <a:latin typeface="Tahoma"/>
                <a:cs typeface="Tahoma"/>
              </a:rPr>
              <a:t> </a:t>
            </a:r>
            <a:r>
              <a:rPr sz="2900" i="1" spc="-25" dirty="0">
                <a:latin typeface="Tahoma"/>
                <a:cs typeface="Tahoma"/>
              </a:rPr>
              <a:t>X</a:t>
            </a:r>
            <a:r>
              <a:rPr sz="2700" spc="-37" baseline="21604" dirty="0">
                <a:latin typeface="Tahoma"/>
                <a:cs typeface="Tahoma"/>
              </a:rPr>
              <a:t>+</a:t>
            </a:r>
            <a:r>
              <a:rPr sz="2800" spc="-25" dirty="0">
                <a:latin typeface="Tahoma"/>
                <a:cs typeface="Tahoma"/>
              </a:rPr>
              <a:t>.</a:t>
            </a:r>
            <a:endParaRPr sz="2800" dirty="0">
              <a:latin typeface="Tahoma"/>
              <a:cs typeface="Tahoma"/>
            </a:endParaRPr>
          </a:p>
          <a:p>
            <a:pPr marL="495300">
              <a:lnSpc>
                <a:spcPct val="100000"/>
              </a:lnSpc>
              <a:spcBef>
                <a:spcPts val="550"/>
              </a:spcBef>
              <a:tabLst>
                <a:tab pos="1115695" algn="l"/>
              </a:tabLst>
            </a:pPr>
            <a:r>
              <a:rPr sz="2800" spc="-5" dirty="0">
                <a:solidFill>
                  <a:srgbClr val="CC00CC"/>
                </a:solidFill>
                <a:latin typeface="Tahoma"/>
                <a:cs typeface="Tahoma"/>
              </a:rPr>
              <a:t>2.	</a:t>
            </a:r>
            <a:r>
              <a:rPr sz="2900" i="1" spc="-475" dirty="0">
                <a:latin typeface="Tahoma"/>
                <a:cs typeface="Tahoma"/>
              </a:rPr>
              <a:t>R</a:t>
            </a:r>
            <a:r>
              <a:rPr sz="2700" spc="-712" baseline="-16975" dirty="0">
                <a:latin typeface="Tahoma"/>
                <a:cs typeface="Tahoma"/>
              </a:rPr>
              <a:t>2 </a:t>
            </a:r>
            <a:r>
              <a:rPr sz="2800" spc="-5" dirty="0">
                <a:latin typeface="Tahoma"/>
                <a:cs typeface="Tahoma"/>
              </a:rPr>
              <a:t>= </a:t>
            </a:r>
            <a:r>
              <a:rPr sz="2900" i="1" spc="-45" dirty="0">
                <a:latin typeface="Tahoma"/>
                <a:cs typeface="Tahoma"/>
              </a:rPr>
              <a:t>R</a:t>
            </a:r>
            <a:r>
              <a:rPr sz="2800" spc="-45" dirty="0">
                <a:latin typeface="Tahoma"/>
                <a:cs typeface="Tahoma"/>
              </a:rPr>
              <a:t>– </a:t>
            </a:r>
            <a:r>
              <a:rPr sz="2800" spc="-85" dirty="0">
                <a:latin typeface="Tahoma"/>
                <a:cs typeface="Tahoma"/>
              </a:rPr>
              <a:t>(</a:t>
            </a:r>
            <a:r>
              <a:rPr sz="2900" i="1" spc="-85" dirty="0">
                <a:latin typeface="Tahoma"/>
                <a:cs typeface="Tahoma"/>
              </a:rPr>
              <a:t>X</a:t>
            </a:r>
            <a:r>
              <a:rPr sz="2700" spc="-127" baseline="21604" dirty="0">
                <a:latin typeface="Tahoma"/>
                <a:cs typeface="Tahoma"/>
              </a:rPr>
              <a:t>+ </a:t>
            </a:r>
            <a:r>
              <a:rPr sz="2800" spc="-5" dirty="0">
                <a:latin typeface="Tahoma"/>
                <a:cs typeface="Tahoma"/>
              </a:rPr>
              <a:t>–</a:t>
            </a:r>
            <a:r>
              <a:rPr sz="2800" spc="-420" dirty="0">
                <a:latin typeface="Tahoma"/>
                <a:cs typeface="Tahoma"/>
              </a:rPr>
              <a:t> </a:t>
            </a:r>
            <a:r>
              <a:rPr sz="2900" i="1" spc="-30" dirty="0">
                <a:latin typeface="Tahoma"/>
                <a:cs typeface="Tahoma"/>
              </a:rPr>
              <a:t>X</a:t>
            </a:r>
            <a:r>
              <a:rPr sz="2800" spc="-30" dirty="0">
                <a:latin typeface="Tahoma"/>
                <a:cs typeface="Tahoma"/>
              </a:rPr>
              <a:t>).</a:t>
            </a:r>
            <a:endParaRPr sz="2800" dirty="0">
              <a:latin typeface="Tahoma"/>
              <a:cs typeface="Tahoma"/>
            </a:endParaRPr>
          </a:p>
          <a:p>
            <a:pPr marL="593725" marR="623570" indent="-593725">
              <a:lnSpc>
                <a:spcPts val="3840"/>
              </a:lnSpc>
              <a:spcBef>
                <a:spcPts val="875"/>
              </a:spcBef>
              <a:buClr>
                <a:srgbClr val="CC00CC"/>
              </a:buClr>
              <a:buSzPct val="95522"/>
              <a:buFont typeface="Wingdings"/>
              <a:buChar char=""/>
              <a:tabLst>
                <a:tab pos="593725" algn="l"/>
                <a:tab pos="594360" algn="l"/>
                <a:tab pos="2141855" algn="l"/>
              </a:tabLst>
            </a:pPr>
            <a:r>
              <a:rPr lang="en-US" altLang="zh-CN" sz="3600" dirty="0" err="1">
                <a:effectLst/>
              </a:rPr>
              <a:t>Proectj</a:t>
            </a:r>
            <a:r>
              <a:rPr lang="en-US" altLang="zh-CN" sz="3600" dirty="0">
                <a:effectLst/>
              </a:rPr>
              <a:t> </a:t>
            </a:r>
            <a:r>
              <a:rPr lang="zh-CN" altLang="en-US" sz="3350" i="1" spc="-935" dirty="0">
                <a:solidFill>
                  <a:srgbClr val="FF0066"/>
                </a:solidFill>
                <a:latin typeface="Tahoma"/>
                <a:cs typeface="Tahoma"/>
              </a:rPr>
              <a:t>	</a:t>
            </a:r>
            <a:r>
              <a:rPr sz="3200" spc="-10" dirty="0">
                <a:latin typeface="Tahoma"/>
                <a:cs typeface="Tahoma"/>
              </a:rPr>
              <a:t>given </a:t>
            </a:r>
            <a:r>
              <a:rPr sz="3200" spc="-30" dirty="0">
                <a:latin typeface="Tahoma"/>
                <a:cs typeface="Tahoma"/>
              </a:rPr>
              <a:t>FD’s </a:t>
            </a:r>
            <a:r>
              <a:rPr sz="3350" i="1" spc="-80" dirty="0">
                <a:latin typeface="Tahoma"/>
                <a:cs typeface="Tahoma"/>
              </a:rPr>
              <a:t>F </a:t>
            </a:r>
            <a:r>
              <a:rPr sz="3200" spc="-5" dirty="0">
                <a:latin typeface="Tahoma"/>
                <a:cs typeface="Tahoma"/>
              </a:rPr>
              <a:t>onto the two  new</a:t>
            </a:r>
            <a:r>
              <a:rPr sz="3200" spc="-10" dirty="0">
                <a:latin typeface="Tahoma"/>
                <a:cs typeface="Tahoma"/>
              </a:rPr>
              <a:t> </a:t>
            </a:r>
            <a:r>
              <a:rPr sz="3200" spc="-5" dirty="0">
                <a:latin typeface="Tahoma"/>
                <a:cs typeface="Tahoma"/>
              </a:rPr>
              <a:t>relations.</a:t>
            </a:r>
            <a:endParaRPr sz="3200" dirty="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18004" y="829944"/>
            <a:ext cx="550799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Decomposition</a:t>
            </a:r>
            <a:r>
              <a:rPr spc="-30" dirty="0"/>
              <a:t> </a:t>
            </a:r>
            <a:r>
              <a:rPr spc="-10" dirty="0"/>
              <a:t>Picture</a:t>
            </a:r>
          </a:p>
        </p:txBody>
      </p:sp>
      <p:sp>
        <p:nvSpPr>
          <p:cNvPr id="3" name="object 3"/>
          <p:cNvSpPr/>
          <p:nvPr/>
        </p:nvSpPr>
        <p:spPr>
          <a:xfrm>
            <a:off x="2362200" y="2743200"/>
            <a:ext cx="2438400" cy="17526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2357437" y="2738437"/>
            <a:ext cx="2447925" cy="1762125"/>
          </a:xfrm>
          <a:custGeom>
            <a:avLst/>
            <a:gdLst/>
            <a:ahLst/>
            <a:cxnLst/>
            <a:rect l="l" t="t" r="r" b="b"/>
            <a:pathLst>
              <a:path w="2447925" h="1762125">
                <a:moveTo>
                  <a:pt x="2447925" y="1762125"/>
                </a:moveTo>
                <a:lnTo>
                  <a:pt x="0" y="1762125"/>
                </a:lnTo>
                <a:lnTo>
                  <a:pt x="0" y="0"/>
                </a:lnTo>
                <a:lnTo>
                  <a:pt x="2447925" y="0"/>
                </a:lnTo>
                <a:lnTo>
                  <a:pt x="2447925" y="4762"/>
                </a:lnTo>
                <a:lnTo>
                  <a:pt x="9525" y="4762"/>
                </a:lnTo>
                <a:lnTo>
                  <a:pt x="4762" y="9525"/>
                </a:lnTo>
                <a:lnTo>
                  <a:pt x="9525" y="9525"/>
                </a:lnTo>
                <a:lnTo>
                  <a:pt x="9525" y="1752600"/>
                </a:lnTo>
                <a:lnTo>
                  <a:pt x="4762" y="1752600"/>
                </a:lnTo>
                <a:lnTo>
                  <a:pt x="9525" y="1757362"/>
                </a:lnTo>
                <a:lnTo>
                  <a:pt x="2447925" y="1757362"/>
                </a:lnTo>
                <a:lnTo>
                  <a:pt x="2447925" y="1762125"/>
                </a:lnTo>
                <a:close/>
              </a:path>
              <a:path w="2447925" h="1762125">
                <a:moveTo>
                  <a:pt x="9525" y="9525"/>
                </a:moveTo>
                <a:lnTo>
                  <a:pt x="4762" y="9525"/>
                </a:lnTo>
                <a:lnTo>
                  <a:pt x="9525" y="4762"/>
                </a:lnTo>
                <a:lnTo>
                  <a:pt x="9525" y="9525"/>
                </a:lnTo>
                <a:close/>
              </a:path>
              <a:path w="2447925" h="1762125">
                <a:moveTo>
                  <a:pt x="2438400" y="9525"/>
                </a:moveTo>
                <a:lnTo>
                  <a:pt x="9525" y="9525"/>
                </a:lnTo>
                <a:lnTo>
                  <a:pt x="9525" y="4762"/>
                </a:lnTo>
                <a:lnTo>
                  <a:pt x="2438400" y="4762"/>
                </a:lnTo>
                <a:lnTo>
                  <a:pt x="2438400" y="9525"/>
                </a:lnTo>
                <a:close/>
              </a:path>
              <a:path w="2447925" h="1762125">
                <a:moveTo>
                  <a:pt x="2438400" y="1757362"/>
                </a:moveTo>
                <a:lnTo>
                  <a:pt x="2438400" y="4762"/>
                </a:lnTo>
                <a:lnTo>
                  <a:pt x="2443162" y="9525"/>
                </a:lnTo>
                <a:lnTo>
                  <a:pt x="2447925" y="9525"/>
                </a:lnTo>
                <a:lnTo>
                  <a:pt x="2447925" y="1752600"/>
                </a:lnTo>
                <a:lnTo>
                  <a:pt x="2443162" y="1752600"/>
                </a:lnTo>
                <a:lnTo>
                  <a:pt x="2438400" y="1757362"/>
                </a:lnTo>
                <a:close/>
              </a:path>
              <a:path w="2447925" h="1762125">
                <a:moveTo>
                  <a:pt x="2447925" y="9525"/>
                </a:moveTo>
                <a:lnTo>
                  <a:pt x="2443162" y="9525"/>
                </a:lnTo>
                <a:lnTo>
                  <a:pt x="2438400" y="4762"/>
                </a:lnTo>
                <a:lnTo>
                  <a:pt x="2447925" y="4762"/>
                </a:lnTo>
                <a:lnTo>
                  <a:pt x="2447925" y="9525"/>
                </a:lnTo>
                <a:close/>
              </a:path>
              <a:path w="2447925" h="1762125">
                <a:moveTo>
                  <a:pt x="9525" y="1757362"/>
                </a:moveTo>
                <a:lnTo>
                  <a:pt x="4762" y="1752600"/>
                </a:lnTo>
                <a:lnTo>
                  <a:pt x="9525" y="1752600"/>
                </a:lnTo>
                <a:lnTo>
                  <a:pt x="9525" y="1757362"/>
                </a:lnTo>
                <a:close/>
              </a:path>
              <a:path w="2447925" h="1762125">
                <a:moveTo>
                  <a:pt x="2438400" y="1757362"/>
                </a:moveTo>
                <a:lnTo>
                  <a:pt x="9525" y="1757362"/>
                </a:lnTo>
                <a:lnTo>
                  <a:pt x="9525" y="1752600"/>
                </a:lnTo>
                <a:lnTo>
                  <a:pt x="2438400" y="1752600"/>
                </a:lnTo>
                <a:lnTo>
                  <a:pt x="2438400" y="1757362"/>
                </a:lnTo>
                <a:close/>
              </a:path>
              <a:path w="2447925" h="1762125">
                <a:moveTo>
                  <a:pt x="2447925" y="1757362"/>
                </a:moveTo>
                <a:lnTo>
                  <a:pt x="2438400" y="1757362"/>
                </a:lnTo>
                <a:lnTo>
                  <a:pt x="2443162" y="1752600"/>
                </a:lnTo>
                <a:lnTo>
                  <a:pt x="2447925" y="1752600"/>
                </a:lnTo>
                <a:lnTo>
                  <a:pt x="2447925" y="17573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3581400" y="2743200"/>
            <a:ext cx="2438400" cy="1752600"/>
          </a:xfrm>
          <a:custGeom>
            <a:avLst/>
            <a:gdLst/>
            <a:ahLst/>
            <a:cxnLst/>
            <a:rect l="l" t="t" r="r" b="b"/>
            <a:pathLst>
              <a:path w="2438400" h="1752600">
                <a:moveTo>
                  <a:pt x="0" y="0"/>
                </a:moveTo>
                <a:lnTo>
                  <a:pt x="2438400" y="0"/>
                </a:lnTo>
                <a:lnTo>
                  <a:pt x="2438400" y="1752600"/>
                </a:lnTo>
                <a:lnTo>
                  <a:pt x="0" y="1752600"/>
                </a:lnTo>
                <a:lnTo>
                  <a:pt x="0" y="0"/>
                </a:lnTo>
                <a:close/>
              </a:path>
            </a:pathLst>
          </a:custGeom>
          <a:solidFill>
            <a:srgbClr val="FFFF00">
              <a:alpha val="501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3576637" y="2738437"/>
            <a:ext cx="2447925" cy="1762125"/>
          </a:xfrm>
          <a:custGeom>
            <a:avLst/>
            <a:gdLst/>
            <a:ahLst/>
            <a:cxnLst/>
            <a:rect l="l" t="t" r="r" b="b"/>
            <a:pathLst>
              <a:path w="2447925" h="1762125">
                <a:moveTo>
                  <a:pt x="2447925" y="1762125"/>
                </a:moveTo>
                <a:lnTo>
                  <a:pt x="0" y="1762125"/>
                </a:lnTo>
                <a:lnTo>
                  <a:pt x="0" y="0"/>
                </a:lnTo>
                <a:lnTo>
                  <a:pt x="2447925" y="0"/>
                </a:lnTo>
                <a:lnTo>
                  <a:pt x="2447925" y="4762"/>
                </a:lnTo>
                <a:lnTo>
                  <a:pt x="9525" y="4762"/>
                </a:lnTo>
                <a:lnTo>
                  <a:pt x="4762" y="9525"/>
                </a:lnTo>
                <a:lnTo>
                  <a:pt x="9525" y="9525"/>
                </a:lnTo>
                <a:lnTo>
                  <a:pt x="9525" y="1752600"/>
                </a:lnTo>
                <a:lnTo>
                  <a:pt x="4762" y="1752600"/>
                </a:lnTo>
                <a:lnTo>
                  <a:pt x="9525" y="1757362"/>
                </a:lnTo>
                <a:lnTo>
                  <a:pt x="2447925" y="1757362"/>
                </a:lnTo>
                <a:lnTo>
                  <a:pt x="2447925" y="1762125"/>
                </a:lnTo>
                <a:close/>
              </a:path>
              <a:path w="2447925" h="1762125">
                <a:moveTo>
                  <a:pt x="9525" y="9525"/>
                </a:moveTo>
                <a:lnTo>
                  <a:pt x="4762" y="9525"/>
                </a:lnTo>
                <a:lnTo>
                  <a:pt x="9525" y="4762"/>
                </a:lnTo>
                <a:lnTo>
                  <a:pt x="9525" y="9525"/>
                </a:lnTo>
                <a:close/>
              </a:path>
              <a:path w="2447925" h="1762125">
                <a:moveTo>
                  <a:pt x="2438400" y="9525"/>
                </a:moveTo>
                <a:lnTo>
                  <a:pt x="9525" y="9525"/>
                </a:lnTo>
                <a:lnTo>
                  <a:pt x="9525" y="4762"/>
                </a:lnTo>
                <a:lnTo>
                  <a:pt x="2438400" y="4762"/>
                </a:lnTo>
                <a:lnTo>
                  <a:pt x="2438400" y="9525"/>
                </a:lnTo>
                <a:close/>
              </a:path>
              <a:path w="2447925" h="1762125">
                <a:moveTo>
                  <a:pt x="2438400" y="1757362"/>
                </a:moveTo>
                <a:lnTo>
                  <a:pt x="2438400" y="4762"/>
                </a:lnTo>
                <a:lnTo>
                  <a:pt x="2443162" y="9525"/>
                </a:lnTo>
                <a:lnTo>
                  <a:pt x="2447925" y="9525"/>
                </a:lnTo>
                <a:lnTo>
                  <a:pt x="2447925" y="1752600"/>
                </a:lnTo>
                <a:lnTo>
                  <a:pt x="2443162" y="1752600"/>
                </a:lnTo>
                <a:lnTo>
                  <a:pt x="2438400" y="1757362"/>
                </a:lnTo>
                <a:close/>
              </a:path>
              <a:path w="2447925" h="1762125">
                <a:moveTo>
                  <a:pt x="2447925" y="9525"/>
                </a:moveTo>
                <a:lnTo>
                  <a:pt x="2443162" y="9525"/>
                </a:lnTo>
                <a:lnTo>
                  <a:pt x="2438400" y="4762"/>
                </a:lnTo>
                <a:lnTo>
                  <a:pt x="2447925" y="4762"/>
                </a:lnTo>
                <a:lnTo>
                  <a:pt x="2447925" y="9525"/>
                </a:lnTo>
                <a:close/>
              </a:path>
              <a:path w="2447925" h="1762125">
                <a:moveTo>
                  <a:pt x="9525" y="1757362"/>
                </a:moveTo>
                <a:lnTo>
                  <a:pt x="4762" y="1752600"/>
                </a:lnTo>
                <a:lnTo>
                  <a:pt x="9525" y="1752600"/>
                </a:lnTo>
                <a:lnTo>
                  <a:pt x="9525" y="1757362"/>
                </a:lnTo>
                <a:close/>
              </a:path>
              <a:path w="2447925" h="1762125">
                <a:moveTo>
                  <a:pt x="2438400" y="1757362"/>
                </a:moveTo>
                <a:lnTo>
                  <a:pt x="9525" y="1757362"/>
                </a:lnTo>
                <a:lnTo>
                  <a:pt x="9525" y="1752600"/>
                </a:lnTo>
                <a:lnTo>
                  <a:pt x="2438400" y="1752600"/>
                </a:lnTo>
                <a:lnTo>
                  <a:pt x="2438400" y="1757362"/>
                </a:lnTo>
                <a:close/>
              </a:path>
              <a:path w="2447925" h="1762125">
                <a:moveTo>
                  <a:pt x="2447925" y="1757362"/>
                </a:moveTo>
                <a:lnTo>
                  <a:pt x="2438400" y="1757362"/>
                </a:lnTo>
                <a:lnTo>
                  <a:pt x="2443162" y="1752600"/>
                </a:lnTo>
                <a:lnTo>
                  <a:pt x="2447925" y="1752600"/>
                </a:lnTo>
                <a:lnTo>
                  <a:pt x="2447925" y="17573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2336800" y="3438221"/>
            <a:ext cx="1270000" cy="40957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248920">
              <a:lnSpc>
                <a:spcPct val="100000"/>
              </a:lnSpc>
              <a:spcBef>
                <a:spcPts val="120"/>
              </a:spcBef>
            </a:pPr>
            <a:r>
              <a:rPr sz="2500" i="1" spc="-270" dirty="0">
                <a:latin typeface="Tahoma"/>
                <a:cs typeface="Tahoma"/>
              </a:rPr>
              <a:t>R</a:t>
            </a:r>
            <a:r>
              <a:rPr sz="2400" spc="-270" dirty="0">
                <a:latin typeface="Tahoma"/>
                <a:cs typeface="Tahoma"/>
              </a:rPr>
              <a:t>-</a:t>
            </a:r>
            <a:r>
              <a:rPr sz="2500" i="1" spc="-270" dirty="0">
                <a:latin typeface="Tahoma"/>
                <a:cs typeface="Tahoma"/>
              </a:rPr>
              <a:t>X</a:t>
            </a:r>
            <a:r>
              <a:rPr sz="2325" spc="-405" baseline="21505" dirty="0">
                <a:latin typeface="Tahoma"/>
                <a:cs typeface="Tahoma"/>
              </a:rPr>
              <a:t>+</a:t>
            </a:r>
            <a:endParaRPr sz="2325" baseline="21505">
              <a:latin typeface="Tahoma"/>
              <a:cs typeface="Tahom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581400" y="2743200"/>
            <a:ext cx="1219200" cy="1752600"/>
          </a:xfrm>
          <a:prstGeom prst="rect">
            <a:avLst/>
          </a:prstGeom>
          <a:solidFill>
            <a:srgbClr val="FFFF00">
              <a:alpha val="50199"/>
            </a:srgbClr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2900">
              <a:latin typeface="Times New Roman"/>
              <a:cs typeface="Times New Roman"/>
            </a:endParaRPr>
          </a:p>
          <a:p>
            <a:pPr marL="375920">
              <a:lnSpc>
                <a:spcPct val="100000"/>
              </a:lnSpc>
              <a:spcBef>
                <a:spcPts val="2255"/>
              </a:spcBef>
            </a:pPr>
            <a:r>
              <a:rPr sz="2500" i="1" spc="-60" dirty="0">
                <a:latin typeface="Tahoma"/>
                <a:cs typeface="Tahoma"/>
              </a:rPr>
              <a:t>X</a:t>
            </a:r>
            <a:endParaRPr sz="2500">
              <a:latin typeface="Tahoma"/>
              <a:cs typeface="Tahom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800600" y="2743200"/>
            <a:ext cx="1219200" cy="1752600"/>
          </a:xfrm>
          <a:prstGeom prst="rect">
            <a:avLst/>
          </a:prstGeom>
          <a:solidFill>
            <a:srgbClr val="FFFF00">
              <a:alpha val="50199"/>
            </a:srgbClr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2900">
              <a:latin typeface="Times New Roman"/>
              <a:cs typeface="Times New Roman"/>
            </a:endParaRPr>
          </a:p>
          <a:p>
            <a:pPr marL="223520">
              <a:lnSpc>
                <a:spcPct val="100000"/>
              </a:lnSpc>
              <a:spcBef>
                <a:spcPts val="2255"/>
              </a:spcBef>
            </a:pPr>
            <a:r>
              <a:rPr sz="2500" i="1" spc="-75" dirty="0">
                <a:latin typeface="Tahoma"/>
                <a:cs typeface="Tahoma"/>
              </a:rPr>
              <a:t>X</a:t>
            </a:r>
            <a:r>
              <a:rPr sz="2325" spc="-112" baseline="21505" dirty="0">
                <a:latin typeface="Tahoma"/>
                <a:cs typeface="Tahoma"/>
              </a:rPr>
              <a:t>+</a:t>
            </a:r>
            <a:r>
              <a:rPr sz="2400" spc="-75" dirty="0">
                <a:latin typeface="Tahoma"/>
                <a:cs typeface="Tahoma"/>
              </a:rPr>
              <a:t>-</a:t>
            </a:r>
            <a:r>
              <a:rPr sz="2500" i="1" spc="-75" dirty="0">
                <a:latin typeface="Tahoma"/>
                <a:cs typeface="Tahoma"/>
              </a:rPr>
              <a:t>X</a:t>
            </a:r>
            <a:endParaRPr sz="2500">
              <a:latin typeface="Tahoma"/>
              <a:cs typeface="Tahom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605194" y="2142821"/>
            <a:ext cx="394335" cy="40957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0"/>
              </a:spcBef>
            </a:pPr>
            <a:r>
              <a:rPr sz="2500" i="1" spc="-415" dirty="0">
                <a:latin typeface="Tahoma"/>
                <a:cs typeface="Tahoma"/>
              </a:rPr>
              <a:t>R</a:t>
            </a:r>
            <a:r>
              <a:rPr sz="2325" spc="-622" baseline="-17921" dirty="0">
                <a:latin typeface="Tahoma"/>
                <a:cs typeface="Tahoma"/>
              </a:rPr>
              <a:t>1</a:t>
            </a:r>
            <a:endParaRPr sz="2325" baseline="-17921">
              <a:latin typeface="Tahoma"/>
              <a:cs typeface="Tahoma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3581400" y="2324100"/>
            <a:ext cx="914400" cy="76200"/>
          </a:xfrm>
          <a:custGeom>
            <a:avLst/>
            <a:gdLst/>
            <a:ahLst/>
            <a:cxnLst/>
            <a:rect l="l" t="t" r="r" b="b"/>
            <a:pathLst>
              <a:path w="914400" h="76200">
                <a:moveTo>
                  <a:pt x="76200" y="76200"/>
                </a:moveTo>
                <a:lnTo>
                  <a:pt x="0" y="38100"/>
                </a:lnTo>
                <a:lnTo>
                  <a:pt x="76200" y="0"/>
                </a:lnTo>
                <a:lnTo>
                  <a:pt x="76200" y="33337"/>
                </a:lnTo>
                <a:lnTo>
                  <a:pt x="57150" y="33337"/>
                </a:lnTo>
                <a:lnTo>
                  <a:pt x="57150" y="42862"/>
                </a:lnTo>
                <a:lnTo>
                  <a:pt x="76200" y="42862"/>
                </a:lnTo>
                <a:lnTo>
                  <a:pt x="76200" y="76200"/>
                </a:lnTo>
                <a:close/>
              </a:path>
              <a:path w="914400" h="76200">
                <a:moveTo>
                  <a:pt x="76200" y="42862"/>
                </a:moveTo>
                <a:lnTo>
                  <a:pt x="57150" y="42862"/>
                </a:lnTo>
                <a:lnTo>
                  <a:pt x="57150" y="33337"/>
                </a:lnTo>
                <a:lnTo>
                  <a:pt x="76200" y="33337"/>
                </a:lnTo>
                <a:lnTo>
                  <a:pt x="76200" y="42862"/>
                </a:lnTo>
                <a:close/>
              </a:path>
              <a:path w="914400" h="76200">
                <a:moveTo>
                  <a:pt x="914400" y="42862"/>
                </a:moveTo>
                <a:lnTo>
                  <a:pt x="76200" y="42862"/>
                </a:lnTo>
                <a:lnTo>
                  <a:pt x="76200" y="33337"/>
                </a:lnTo>
                <a:lnTo>
                  <a:pt x="914400" y="33337"/>
                </a:lnTo>
                <a:lnTo>
                  <a:pt x="914400" y="428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4953000" y="2324100"/>
            <a:ext cx="1066800" cy="76200"/>
          </a:xfrm>
          <a:custGeom>
            <a:avLst/>
            <a:gdLst/>
            <a:ahLst/>
            <a:cxnLst/>
            <a:rect l="l" t="t" r="r" b="b"/>
            <a:pathLst>
              <a:path w="1066800" h="76200">
                <a:moveTo>
                  <a:pt x="990600" y="76200"/>
                </a:moveTo>
                <a:lnTo>
                  <a:pt x="990600" y="0"/>
                </a:lnTo>
                <a:lnTo>
                  <a:pt x="1057275" y="33337"/>
                </a:lnTo>
                <a:lnTo>
                  <a:pt x="1009650" y="33337"/>
                </a:lnTo>
                <a:lnTo>
                  <a:pt x="1009650" y="42862"/>
                </a:lnTo>
                <a:lnTo>
                  <a:pt x="1057275" y="42862"/>
                </a:lnTo>
                <a:lnTo>
                  <a:pt x="990600" y="76200"/>
                </a:lnTo>
                <a:close/>
              </a:path>
              <a:path w="1066800" h="76200">
                <a:moveTo>
                  <a:pt x="990600" y="42862"/>
                </a:moveTo>
                <a:lnTo>
                  <a:pt x="0" y="42862"/>
                </a:lnTo>
                <a:lnTo>
                  <a:pt x="0" y="33337"/>
                </a:lnTo>
                <a:lnTo>
                  <a:pt x="990600" y="33337"/>
                </a:lnTo>
                <a:lnTo>
                  <a:pt x="990600" y="42862"/>
                </a:lnTo>
                <a:close/>
              </a:path>
              <a:path w="1066800" h="76200">
                <a:moveTo>
                  <a:pt x="1057275" y="42862"/>
                </a:moveTo>
                <a:lnTo>
                  <a:pt x="1009650" y="42862"/>
                </a:lnTo>
                <a:lnTo>
                  <a:pt x="1009650" y="33337"/>
                </a:lnTo>
                <a:lnTo>
                  <a:pt x="1057275" y="33337"/>
                </a:lnTo>
                <a:lnTo>
                  <a:pt x="1066800" y="38100"/>
                </a:lnTo>
                <a:lnTo>
                  <a:pt x="1057275" y="428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2362200" y="4762500"/>
            <a:ext cx="990600" cy="76200"/>
          </a:xfrm>
          <a:custGeom>
            <a:avLst/>
            <a:gdLst/>
            <a:ahLst/>
            <a:cxnLst/>
            <a:rect l="l" t="t" r="r" b="b"/>
            <a:pathLst>
              <a:path w="990600" h="76200">
                <a:moveTo>
                  <a:pt x="76200" y="76200"/>
                </a:moveTo>
                <a:lnTo>
                  <a:pt x="0" y="38100"/>
                </a:lnTo>
                <a:lnTo>
                  <a:pt x="76200" y="0"/>
                </a:lnTo>
                <a:lnTo>
                  <a:pt x="76200" y="33337"/>
                </a:lnTo>
                <a:lnTo>
                  <a:pt x="57150" y="33337"/>
                </a:lnTo>
                <a:lnTo>
                  <a:pt x="57150" y="42862"/>
                </a:lnTo>
                <a:lnTo>
                  <a:pt x="76200" y="42862"/>
                </a:lnTo>
                <a:lnTo>
                  <a:pt x="76200" y="76200"/>
                </a:lnTo>
                <a:close/>
              </a:path>
              <a:path w="990600" h="76200">
                <a:moveTo>
                  <a:pt x="76200" y="42862"/>
                </a:moveTo>
                <a:lnTo>
                  <a:pt x="57150" y="42862"/>
                </a:lnTo>
                <a:lnTo>
                  <a:pt x="57150" y="33337"/>
                </a:lnTo>
                <a:lnTo>
                  <a:pt x="76200" y="33337"/>
                </a:lnTo>
                <a:lnTo>
                  <a:pt x="76200" y="42862"/>
                </a:lnTo>
                <a:close/>
              </a:path>
              <a:path w="990600" h="76200">
                <a:moveTo>
                  <a:pt x="990600" y="42862"/>
                </a:moveTo>
                <a:lnTo>
                  <a:pt x="76200" y="42862"/>
                </a:lnTo>
                <a:lnTo>
                  <a:pt x="76200" y="33337"/>
                </a:lnTo>
                <a:lnTo>
                  <a:pt x="990600" y="33337"/>
                </a:lnTo>
                <a:lnTo>
                  <a:pt x="990600" y="428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3733800" y="4762500"/>
            <a:ext cx="1066800" cy="76200"/>
          </a:xfrm>
          <a:custGeom>
            <a:avLst/>
            <a:gdLst/>
            <a:ahLst/>
            <a:cxnLst/>
            <a:rect l="l" t="t" r="r" b="b"/>
            <a:pathLst>
              <a:path w="1066800" h="76200">
                <a:moveTo>
                  <a:pt x="990600" y="76200"/>
                </a:moveTo>
                <a:lnTo>
                  <a:pt x="990600" y="0"/>
                </a:lnTo>
                <a:lnTo>
                  <a:pt x="1057275" y="33337"/>
                </a:lnTo>
                <a:lnTo>
                  <a:pt x="1009650" y="33337"/>
                </a:lnTo>
                <a:lnTo>
                  <a:pt x="1009650" y="42862"/>
                </a:lnTo>
                <a:lnTo>
                  <a:pt x="1057275" y="42862"/>
                </a:lnTo>
                <a:lnTo>
                  <a:pt x="990600" y="76200"/>
                </a:lnTo>
                <a:close/>
              </a:path>
              <a:path w="1066800" h="76200">
                <a:moveTo>
                  <a:pt x="990600" y="42862"/>
                </a:moveTo>
                <a:lnTo>
                  <a:pt x="0" y="42862"/>
                </a:lnTo>
                <a:lnTo>
                  <a:pt x="0" y="33337"/>
                </a:lnTo>
                <a:lnTo>
                  <a:pt x="990600" y="33337"/>
                </a:lnTo>
                <a:lnTo>
                  <a:pt x="990600" y="42862"/>
                </a:lnTo>
                <a:close/>
              </a:path>
              <a:path w="1066800" h="76200">
                <a:moveTo>
                  <a:pt x="1057275" y="42862"/>
                </a:moveTo>
                <a:lnTo>
                  <a:pt x="1009650" y="42862"/>
                </a:lnTo>
                <a:lnTo>
                  <a:pt x="1009650" y="33337"/>
                </a:lnTo>
                <a:lnTo>
                  <a:pt x="1057275" y="33337"/>
                </a:lnTo>
                <a:lnTo>
                  <a:pt x="1066800" y="38100"/>
                </a:lnTo>
                <a:lnTo>
                  <a:pt x="1057275" y="428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3373294" y="4542977"/>
            <a:ext cx="1129665" cy="869950"/>
          </a:xfrm>
          <a:prstGeom prst="rect">
            <a:avLst/>
          </a:prstGeom>
        </p:spPr>
        <p:txBody>
          <a:bodyPr vert="horz" wrap="square" lIns="0" tIns="53340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420"/>
              </a:spcBef>
            </a:pPr>
            <a:r>
              <a:rPr sz="2500" i="1" spc="-415" dirty="0">
                <a:latin typeface="Tahoma"/>
                <a:cs typeface="Tahoma"/>
              </a:rPr>
              <a:t>R</a:t>
            </a:r>
            <a:r>
              <a:rPr sz="2325" spc="-622" baseline="-17921" dirty="0">
                <a:latin typeface="Tahoma"/>
                <a:cs typeface="Tahoma"/>
              </a:rPr>
              <a:t>2</a:t>
            </a:r>
            <a:endParaRPr sz="2325" baseline="-17921">
              <a:latin typeface="Tahoma"/>
              <a:cs typeface="Tahoma"/>
            </a:endParaRPr>
          </a:p>
          <a:p>
            <a:pPr marL="796925">
              <a:lnSpc>
                <a:spcPct val="100000"/>
              </a:lnSpc>
              <a:spcBef>
                <a:spcPts val="325"/>
              </a:spcBef>
            </a:pPr>
            <a:r>
              <a:rPr sz="2500" i="1" spc="-65" dirty="0">
                <a:latin typeface="Tahoma"/>
                <a:cs typeface="Tahoma"/>
              </a:rPr>
              <a:t>R</a:t>
            </a:r>
            <a:endParaRPr sz="2500">
              <a:latin typeface="Tahoma"/>
              <a:cs typeface="Tahoma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2362200" y="5219700"/>
            <a:ext cx="1676400" cy="76200"/>
          </a:xfrm>
          <a:custGeom>
            <a:avLst/>
            <a:gdLst/>
            <a:ahLst/>
            <a:cxnLst/>
            <a:rect l="l" t="t" r="r" b="b"/>
            <a:pathLst>
              <a:path w="1676400" h="76200">
                <a:moveTo>
                  <a:pt x="76200" y="76200"/>
                </a:moveTo>
                <a:lnTo>
                  <a:pt x="0" y="38100"/>
                </a:lnTo>
                <a:lnTo>
                  <a:pt x="76200" y="0"/>
                </a:lnTo>
                <a:lnTo>
                  <a:pt x="76200" y="33337"/>
                </a:lnTo>
                <a:lnTo>
                  <a:pt x="57150" y="33337"/>
                </a:lnTo>
                <a:lnTo>
                  <a:pt x="57150" y="42862"/>
                </a:lnTo>
                <a:lnTo>
                  <a:pt x="76200" y="42862"/>
                </a:lnTo>
                <a:lnTo>
                  <a:pt x="76200" y="76200"/>
                </a:lnTo>
                <a:close/>
              </a:path>
              <a:path w="1676400" h="76200">
                <a:moveTo>
                  <a:pt x="76200" y="42862"/>
                </a:moveTo>
                <a:lnTo>
                  <a:pt x="57150" y="42862"/>
                </a:lnTo>
                <a:lnTo>
                  <a:pt x="57150" y="33337"/>
                </a:lnTo>
                <a:lnTo>
                  <a:pt x="76200" y="33337"/>
                </a:lnTo>
                <a:lnTo>
                  <a:pt x="76200" y="42862"/>
                </a:lnTo>
                <a:close/>
              </a:path>
              <a:path w="1676400" h="76200">
                <a:moveTo>
                  <a:pt x="1676400" y="42862"/>
                </a:moveTo>
                <a:lnTo>
                  <a:pt x="76200" y="42862"/>
                </a:lnTo>
                <a:lnTo>
                  <a:pt x="76200" y="33337"/>
                </a:lnTo>
                <a:lnTo>
                  <a:pt x="1676400" y="33337"/>
                </a:lnTo>
                <a:lnTo>
                  <a:pt x="1676400" y="428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4419600" y="5219700"/>
            <a:ext cx="1600200" cy="76200"/>
          </a:xfrm>
          <a:custGeom>
            <a:avLst/>
            <a:gdLst/>
            <a:ahLst/>
            <a:cxnLst/>
            <a:rect l="l" t="t" r="r" b="b"/>
            <a:pathLst>
              <a:path w="1600200" h="76200">
                <a:moveTo>
                  <a:pt x="1524000" y="76200"/>
                </a:moveTo>
                <a:lnTo>
                  <a:pt x="1524000" y="0"/>
                </a:lnTo>
                <a:lnTo>
                  <a:pt x="1590675" y="33337"/>
                </a:lnTo>
                <a:lnTo>
                  <a:pt x="1543050" y="33337"/>
                </a:lnTo>
                <a:lnTo>
                  <a:pt x="1543050" y="42862"/>
                </a:lnTo>
                <a:lnTo>
                  <a:pt x="1590675" y="42862"/>
                </a:lnTo>
                <a:lnTo>
                  <a:pt x="1524000" y="76200"/>
                </a:lnTo>
                <a:close/>
              </a:path>
              <a:path w="1600200" h="76200">
                <a:moveTo>
                  <a:pt x="1524000" y="42862"/>
                </a:moveTo>
                <a:lnTo>
                  <a:pt x="0" y="42862"/>
                </a:lnTo>
                <a:lnTo>
                  <a:pt x="0" y="33337"/>
                </a:lnTo>
                <a:lnTo>
                  <a:pt x="1524000" y="33337"/>
                </a:lnTo>
                <a:lnTo>
                  <a:pt x="1524000" y="42862"/>
                </a:lnTo>
                <a:close/>
              </a:path>
              <a:path w="1600200" h="76200">
                <a:moveTo>
                  <a:pt x="1590675" y="42862"/>
                </a:moveTo>
                <a:lnTo>
                  <a:pt x="1543050" y="42862"/>
                </a:lnTo>
                <a:lnTo>
                  <a:pt x="1543050" y="33337"/>
                </a:lnTo>
                <a:lnTo>
                  <a:pt x="1590675" y="33337"/>
                </a:lnTo>
                <a:lnTo>
                  <a:pt x="1600200" y="38100"/>
                </a:lnTo>
                <a:lnTo>
                  <a:pt x="1590675" y="428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dirty="0"/>
              <a:t>39</a:t>
            </a:fld>
            <a:endParaRPr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90244" y="525144"/>
            <a:ext cx="761174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>
                <a:solidFill>
                  <a:srgbClr val="33CC33"/>
                </a:solidFill>
              </a:rPr>
              <a:t>Example</a:t>
            </a:r>
            <a:r>
              <a:rPr spc="-5" dirty="0"/>
              <a:t>: </a:t>
            </a:r>
            <a:r>
              <a:rPr dirty="0"/>
              <a:t>BCNF</a:t>
            </a:r>
            <a:r>
              <a:rPr spc="-25" dirty="0"/>
              <a:t> </a:t>
            </a:r>
            <a:r>
              <a:rPr spc="-5" dirty="0"/>
              <a:t>Decomposition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dirty="0"/>
              <a:t>40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688340" y="1673860"/>
            <a:ext cx="7630159" cy="45148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5" dirty="0">
                <a:solidFill>
                  <a:srgbClr val="CC00CC"/>
                </a:solidFill>
                <a:latin typeface="Tahoma"/>
                <a:cs typeface="Tahoma"/>
              </a:rPr>
              <a:t>Drinkers(</a:t>
            </a:r>
            <a:r>
              <a:rPr sz="2800" u="heavy" spc="-5" dirty="0">
                <a:solidFill>
                  <a:srgbClr val="CC00CC"/>
                </a:solidFill>
                <a:uFill>
                  <a:solidFill>
                    <a:srgbClr val="CC00CC"/>
                  </a:solidFill>
                </a:uFill>
                <a:latin typeface="Tahoma"/>
                <a:cs typeface="Tahoma"/>
              </a:rPr>
              <a:t>name</a:t>
            </a:r>
            <a:r>
              <a:rPr sz="2800" spc="-5" dirty="0">
                <a:solidFill>
                  <a:srgbClr val="CC00CC"/>
                </a:solidFill>
                <a:latin typeface="Tahoma"/>
                <a:cs typeface="Tahoma"/>
              </a:rPr>
              <a:t>, </a:t>
            </a:r>
            <a:r>
              <a:rPr sz="2800" spc="-80" dirty="0">
                <a:solidFill>
                  <a:srgbClr val="CC00CC"/>
                </a:solidFill>
                <a:latin typeface="Tahoma"/>
                <a:cs typeface="Tahoma"/>
              </a:rPr>
              <a:t>addr, </a:t>
            </a:r>
            <a:r>
              <a:rPr sz="2800" u="heavy" spc="-5" dirty="0">
                <a:solidFill>
                  <a:srgbClr val="CC00CC"/>
                </a:solidFill>
                <a:uFill>
                  <a:solidFill>
                    <a:srgbClr val="CC00CC"/>
                  </a:solidFill>
                </a:uFill>
                <a:latin typeface="Tahoma"/>
                <a:cs typeface="Tahoma"/>
              </a:rPr>
              <a:t>beersLiked</a:t>
            </a:r>
            <a:r>
              <a:rPr sz="2800" spc="-5" dirty="0">
                <a:solidFill>
                  <a:srgbClr val="CC00CC"/>
                </a:solidFill>
                <a:latin typeface="Tahoma"/>
                <a:cs typeface="Tahoma"/>
              </a:rPr>
              <a:t>, </a:t>
            </a:r>
            <a:r>
              <a:rPr sz="2800" spc="-45" dirty="0">
                <a:solidFill>
                  <a:srgbClr val="CC00CC"/>
                </a:solidFill>
                <a:latin typeface="Tahoma"/>
                <a:cs typeface="Tahoma"/>
              </a:rPr>
              <a:t>manf,</a:t>
            </a:r>
            <a:r>
              <a:rPr sz="2800" spc="55" dirty="0">
                <a:solidFill>
                  <a:srgbClr val="CC00CC"/>
                </a:solidFill>
                <a:latin typeface="Tahoma"/>
                <a:cs typeface="Tahoma"/>
              </a:rPr>
              <a:t> </a:t>
            </a:r>
            <a:r>
              <a:rPr sz="2800" spc="-10" dirty="0">
                <a:solidFill>
                  <a:srgbClr val="CC00CC"/>
                </a:solidFill>
                <a:latin typeface="Tahoma"/>
                <a:cs typeface="Tahoma"/>
              </a:rPr>
              <a:t>favBeer)</a:t>
            </a:r>
            <a:endParaRPr sz="2800">
              <a:latin typeface="Tahoma"/>
              <a:cs typeface="Tahom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64879" y="2123488"/>
            <a:ext cx="2900680" cy="4730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2900" i="1" spc="-55" dirty="0">
                <a:latin typeface="Tahoma"/>
                <a:cs typeface="Tahoma"/>
              </a:rPr>
              <a:t>F </a:t>
            </a:r>
            <a:r>
              <a:rPr sz="2800" spc="-5" dirty="0">
                <a:latin typeface="Tahoma"/>
                <a:cs typeface="Tahoma"/>
              </a:rPr>
              <a:t>=</a:t>
            </a:r>
            <a:r>
              <a:rPr sz="2800" spc="-35" dirty="0">
                <a:latin typeface="Tahoma"/>
                <a:cs typeface="Tahoma"/>
              </a:rPr>
              <a:t> </a:t>
            </a:r>
            <a:r>
              <a:rPr sz="2800" spc="-5" dirty="0">
                <a:solidFill>
                  <a:srgbClr val="00CC99"/>
                </a:solidFill>
                <a:latin typeface="Tahoma"/>
                <a:cs typeface="Tahoma"/>
              </a:rPr>
              <a:t>name-&gt;addr</a:t>
            </a:r>
            <a:r>
              <a:rPr sz="2800" spc="-5" dirty="0">
                <a:latin typeface="Tahoma"/>
                <a:cs typeface="Tahoma"/>
              </a:rPr>
              <a:t>,</a:t>
            </a:r>
            <a:endParaRPr sz="2800">
              <a:latin typeface="Tahoma"/>
              <a:cs typeface="Tahom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345940" y="2141219"/>
            <a:ext cx="2797175" cy="45148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5" dirty="0">
                <a:solidFill>
                  <a:srgbClr val="00CC99"/>
                </a:solidFill>
                <a:latin typeface="Tahoma"/>
                <a:cs typeface="Tahoma"/>
              </a:rPr>
              <a:t>name </a:t>
            </a:r>
            <a:r>
              <a:rPr sz="2800" spc="-10" dirty="0">
                <a:solidFill>
                  <a:srgbClr val="00CC99"/>
                </a:solidFill>
                <a:latin typeface="Tahoma"/>
                <a:cs typeface="Tahoma"/>
              </a:rPr>
              <a:t>-&gt;</a:t>
            </a:r>
            <a:r>
              <a:rPr sz="2800" spc="-60" dirty="0">
                <a:solidFill>
                  <a:srgbClr val="00CC99"/>
                </a:solidFill>
                <a:latin typeface="Tahoma"/>
                <a:cs typeface="Tahoma"/>
              </a:rPr>
              <a:t> </a:t>
            </a:r>
            <a:r>
              <a:rPr sz="2800" spc="-10" dirty="0">
                <a:solidFill>
                  <a:srgbClr val="00CC99"/>
                </a:solidFill>
                <a:latin typeface="Tahoma"/>
                <a:cs typeface="Tahoma"/>
              </a:rPr>
              <a:t>favBeer</a:t>
            </a:r>
            <a:r>
              <a:rPr sz="2800" spc="-10" dirty="0">
                <a:latin typeface="Tahoma"/>
                <a:cs typeface="Tahoma"/>
              </a:rPr>
              <a:t>,</a:t>
            </a:r>
            <a:endParaRPr sz="2800">
              <a:latin typeface="Tahoma"/>
              <a:cs typeface="Tahom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50240" y="2480817"/>
            <a:ext cx="7633970" cy="3223260"/>
          </a:xfrm>
          <a:prstGeom prst="rect">
            <a:avLst/>
          </a:prstGeom>
        </p:spPr>
        <p:txBody>
          <a:bodyPr vert="horz" wrap="square" lIns="0" tIns="55880" rIns="0" bIns="0" rtlCol="0">
            <a:spAutoFit/>
          </a:bodyPr>
          <a:lstStyle/>
          <a:p>
            <a:pPr marL="965200">
              <a:lnSpc>
                <a:spcPct val="100000"/>
              </a:lnSpc>
              <a:spcBef>
                <a:spcPts val="440"/>
              </a:spcBef>
            </a:pPr>
            <a:r>
              <a:rPr sz="2800" spc="-5" dirty="0">
                <a:solidFill>
                  <a:srgbClr val="00CC99"/>
                </a:solidFill>
                <a:latin typeface="Tahoma"/>
                <a:cs typeface="Tahoma"/>
              </a:rPr>
              <a:t>beersLiked-&gt;manf</a:t>
            </a:r>
            <a:endParaRPr sz="2800" dirty="0">
              <a:latin typeface="Tahoma"/>
              <a:cs typeface="Tahoma"/>
            </a:endParaRPr>
          </a:p>
          <a:p>
            <a:pPr marL="660400" indent="-609600">
              <a:lnSpc>
                <a:spcPct val="100000"/>
              </a:lnSpc>
              <a:spcBef>
                <a:spcPts val="340"/>
              </a:spcBef>
              <a:buClr>
                <a:srgbClr val="CC00CC"/>
              </a:buClr>
              <a:buFont typeface="Wingdings"/>
              <a:buChar char=""/>
              <a:tabLst>
                <a:tab pos="659765" algn="l"/>
                <a:tab pos="660400" algn="l"/>
              </a:tabLst>
            </a:pPr>
            <a:r>
              <a:rPr sz="2800" spc="-5" dirty="0">
                <a:latin typeface="Tahoma"/>
                <a:cs typeface="Tahoma"/>
              </a:rPr>
              <a:t>Pick BCNF violation</a:t>
            </a:r>
            <a:r>
              <a:rPr sz="2800" spc="5" dirty="0">
                <a:latin typeface="Tahoma"/>
                <a:cs typeface="Tahoma"/>
              </a:rPr>
              <a:t> </a:t>
            </a:r>
            <a:r>
              <a:rPr sz="2800" spc="-5" dirty="0">
                <a:solidFill>
                  <a:srgbClr val="00CC99"/>
                </a:solidFill>
                <a:latin typeface="Tahoma"/>
                <a:cs typeface="Tahoma"/>
              </a:rPr>
              <a:t>name-&gt;addr</a:t>
            </a:r>
            <a:r>
              <a:rPr sz="2800" spc="-5" dirty="0">
                <a:latin typeface="Tahoma"/>
                <a:cs typeface="Tahoma"/>
              </a:rPr>
              <a:t>.</a:t>
            </a:r>
            <a:endParaRPr sz="2800" dirty="0">
              <a:latin typeface="Tahoma"/>
              <a:cs typeface="Tahoma"/>
            </a:endParaRPr>
          </a:p>
          <a:p>
            <a:pPr marL="660400" marR="43180" indent="-609600">
              <a:lnSpc>
                <a:spcPts val="3020"/>
              </a:lnSpc>
              <a:spcBef>
                <a:spcPts val="715"/>
              </a:spcBef>
              <a:buClr>
                <a:srgbClr val="CC00CC"/>
              </a:buClr>
              <a:buFont typeface="Wingdings"/>
              <a:buChar char=""/>
              <a:tabLst>
                <a:tab pos="659765" algn="l"/>
                <a:tab pos="660400" algn="l"/>
              </a:tabLst>
            </a:pPr>
            <a:r>
              <a:rPr sz="2800" spc="-5" dirty="0">
                <a:latin typeface="Tahoma"/>
                <a:cs typeface="Tahoma"/>
              </a:rPr>
              <a:t>Close the left side: </a:t>
            </a:r>
            <a:r>
              <a:rPr sz="2800" dirty="0">
                <a:latin typeface="Tahoma"/>
                <a:cs typeface="Tahoma"/>
              </a:rPr>
              <a:t>{name}</a:t>
            </a:r>
            <a:r>
              <a:rPr sz="2700" baseline="21604" dirty="0">
                <a:latin typeface="Tahoma"/>
                <a:cs typeface="Tahoma"/>
              </a:rPr>
              <a:t>+ </a:t>
            </a:r>
            <a:r>
              <a:rPr sz="2800" spc="-5" dirty="0">
                <a:latin typeface="Tahoma"/>
                <a:cs typeface="Tahoma"/>
              </a:rPr>
              <a:t>= {name, </a:t>
            </a:r>
            <a:r>
              <a:rPr sz="2800" spc="-80" dirty="0">
                <a:latin typeface="Tahoma"/>
                <a:cs typeface="Tahoma"/>
              </a:rPr>
              <a:t>addr,  </a:t>
            </a:r>
            <a:r>
              <a:rPr sz="2800" spc="-10" dirty="0">
                <a:latin typeface="Tahoma"/>
                <a:cs typeface="Tahoma"/>
              </a:rPr>
              <a:t>favBeer}.</a:t>
            </a:r>
            <a:endParaRPr sz="2800" dirty="0">
              <a:latin typeface="Tahoma"/>
              <a:cs typeface="Tahoma"/>
            </a:endParaRPr>
          </a:p>
          <a:p>
            <a:pPr marL="660400" indent="-609600">
              <a:lnSpc>
                <a:spcPct val="100000"/>
              </a:lnSpc>
              <a:spcBef>
                <a:spcPts val="285"/>
              </a:spcBef>
              <a:buClr>
                <a:srgbClr val="CC00CC"/>
              </a:buClr>
              <a:buFont typeface="Wingdings"/>
              <a:buChar char=""/>
              <a:tabLst>
                <a:tab pos="659765" algn="l"/>
                <a:tab pos="660400" algn="l"/>
              </a:tabLst>
            </a:pPr>
            <a:r>
              <a:rPr sz="2800" spc="-5" dirty="0">
                <a:latin typeface="Tahoma"/>
                <a:cs typeface="Tahoma"/>
              </a:rPr>
              <a:t>Decomposed</a:t>
            </a:r>
            <a:r>
              <a:rPr sz="2800" dirty="0">
                <a:latin typeface="Tahoma"/>
                <a:cs typeface="Tahoma"/>
              </a:rPr>
              <a:t> </a:t>
            </a:r>
            <a:r>
              <a:rPr sz="2800" spc="-5" dirty="0">
                <a:latin typeface="Tahoma"/>
                <a:cs typeface="Tahoma"/>
              </a:rPr>
              <a:t>relations:</a:t>
            </a:r>
            <a:endParaRPr sz="2800" dirty="0">
              <a:latin typeface="Tahoma"/>
              <a:cs typeface="Tahoma"/>
            </a:endParaRPr>
          </a:p>
          <a:p>
            <a:pPr marL="1041400" lvl="1" indent="-533400">
              <a:lnSpc>
                <a:spcPct val="100000"/>
              </a:lnSpc>
              <a:spcBef>
                <a:spcPts val="330"/>
              </a:spcBef>
              <a:buAutoNum type="arabicPeriod"/>
              <a:tabLst>
                <a:tab pos="1040765" algn="l"/>
                <a:tab pos="1041400" algn="l"/>
              </a:tabLst>
            </a:pPr>
            <a:r>
              <a:rPr sz="2800" spc="-5" dirty="0">
                <a:solidFill>
                  <a:srgbClr val="CC00CC"/>
                </a:solidFill>
                <a:latin typeface="Tahoma"/>
                <a:cs typeface="Tahoma"/>
              </a:rPr>
              <a:t>Drinkers1(</a:t>
            </a:r>
            <a:r>
              <a:rPr sz="2800" u="heavy" spc="-5" dirty="0">
                <a:solidFill>
                  <a:srgbClr val="CC00CC"/>
                </a:solidFill>
                <a:uFill>
                  <a:solidFill>
                    <a:srgbClr val="CC00CC"/>
                  </a:solidFill>
                </a:uFill>
                <a:latin typeface="Tahoma"/>
                <a:cs typeface="Tahoma"/>
              </a:rPr>
              <a:t>name</a:t>
            </a:r>
            <a:r>
              <a:rPr sz="2800" spc="-5" dirty="0">
                <a:solidFill>
                  <a:srgbClr val="CC00CC"/>
                </a:solidFill>
                <a:latin typeface="Tahoma"/>
                <a:cs typeface="Tahoma"/>
              </a:rPr>
              <a:t>, </a:t>
            </a:r>
            <a:r>
              <a:rPr sz="2800" spc="-80" dirty="0">
                <a:solidFill>
                  <a:srgbClr val="CC00CC"/>
                </a:solidFill>
                <a:latin typeface="Tahoma"/>
                <a:cs typeface="Tahoma"/>
              </a:rPr>
              <a:t>addr,</a:t>
            </a:r>
            <a:r>
              <a:rPr sz="2800" spc="-5" dirty="0">
                <a:solidFill>
                  <a:srgbClr val="CC00CC"/>
                </a:solidFill>
                <a:latin typeface="Tahoma"/>
                <a:cs typeface="Tahoma"/>
              </a:rPr>
              <a:t> </a:t>
            </a:r>
            <a:r>
              <a:rPr sz="2800" spc="-10" dirty="0">
                <a:solidFill>
                  <a:srgbClr val="CC00CC"/>
                </a:solidFill>
                <a:latin typeface="Tahoma"/>
                <a:cs typeface="Tahoma"/>
              </a:rPr>
              <a:t>favBeer)</a:t>
            </a:r>
            <a:endParaRPr sz="2800" dirty="0">
              <a:latin typeface="Tahoma"/>
              <a:cs typeface="Tahoma"/>
            </a:endParaRPr>
          </a:p>
          <a:p>
            <a:pPr marL="1041400" lvl="1" indent="-533400">
              <a:lnSpc>
                <a:spcPct val="100000"/>
              </a:lnSpc>
              <a:spcBef>
                <a:spcPts val="330"/>
              </a:spcBef>
              <a:buAutoNum type="arabicPeriod"/>
              <a:tabLst>
                <a:tab pos="1040765" algn="l"/>
                <a:tab pos="1041400" algn="l"/>
              </a:tabLst>
            </a:pPr>
            <a:r>
              <a:rPr sz="2800" spc="-5" dirty="0">
                <a:solidFill>
                  <a:srgbClr val="CC00CC"/>
                </a:solidFill>
                <a:latin typeface="Tahoma"/>
                <a:cs typeface="Tahoma"/>
              </a:rPr>
              <a:t>Drinkers2(</a:t>
            </a:r>
            <a:r>
              <a:rPr sz="2800" u="heavy" spc="-5" dirty="0">
                <a:solidFill>
                  <a:srgbClr val="CC00CC"/>
                </a:solidFill>
                <a:uFill>
                  <a:solidFill>
                    <a:srgbClr val="CC00CC"/>
                  </a:solidFill>
                </a:uFill>
                <a:latin typeface="Tahoma"/>
                <a:cs typeface="Tahoma"/>
              </a:rPr>
              <a:t>name</a:t>
            </a:r>
            <a:r>
              <a:rPr sz="2800" spc="-5" dirty="0">
                <a:solidFill>
                  <a:srgbClr val="CC00CC"/>
                </a:solidFill>
                <a:latin typeface="Tahoma"/>
                <a:cs typeface="Tahoma"/>
              </a:rPr>
              <a:t>, </a:t>
            </a:r>
            <a:r>
              <a:rPr sz="2800" u="heavy" spc="-5" dirty="0">
                <a:solidFill>
                  <a:srgbClr val="CC00CC"/>
                </a:solidFill>
                <a:uFill>
                  <a:solidFill>
                    <a:srgbClr val="CC00CC"/>
                  </a:solidFill>
                </a:uFill>
                <a:latin typeface="Tahoma"/>
                <a:cs typeface="Tahoma"/>
              </a:rPr>
              <a:t>beersLiked</a:t>
            </a:r>
            <a:r>
              <a:rPr sz="2800" spc="-5" dirty="0">
                <a:solidFill>
                  <a:srgbClr val="CC00CC"/>
                </a:solidFill>
                <a:latin typeface="Tahoma"/>
                <a:cs typeface="Tahoma"/>
              </a:rPr>
              <a:t>, </a:t>
            </a:r>
            <a:r>
              <a:rPr sz="2800" spc="20" dirty="0">
                <a:solidFill>
                  <a:srgbClr val="CC00CC"/>
                </a:solidFill>
                <a:latin typeface="Tahoma"/>
                <a:cs typeface="Tahoma"/>
              </a:rPr>
              <a:t>manf)</a:t>
            </a:r>
            <a:endParaRPr sz="2800" dirty="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>
                <a:solidFill>
                  <a:srgbClr val="33CC33"/>
                </a:solidFill>
              </a:rPr>
              <a:t>Example </a:t>
            </a:r>
            <a:r>
              <a:rPr spc="-5" dirty="0"/>
              <a:t>--</a:t>
            </a:r>
            <a:r>
              <a:rPr spc="-45" dirty="0"/>
              <a:t> </a:t>
            </a:r>
            <a:r>
              <a:rPr spc="-5" dirty="0"/>
              <a:t>Continued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dirty="0"/>
              <a:t>41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612140" y="1972310"/>
            <a:ext cx="7634605" cy="3753485"/>
          </a:xfrm>
          <a:prstGeom prst="rect">
            <a:avLst/>
          </a:prstGeom>
        </p:spPr>
        <p:txBody>
          <a:bodyPr vert="horz" wrap="square" lIns="0" tIns="69215" rIns="0" bIns="0" rtlCol="0">
            <a:spAutoFit/>
          </a:bodyPr>
          <a:lstStyle/>
          <a:p>
            <a:pPr marL="355600" marR="803275" indent="-342900">
              <a:lnSpc>
                <a:spcPts val="3450"/>
              </a:lnSpc>
              <a:spcBef>
                <a:spcPts val="545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spc="-65" dirty="0">
                <a:latin typeface="Tahoma"/>
                <a:cs typeface="Tahoma"/>
              </a:rPr>
              <a:t>We </a:t>
            </a:r>
            <a:r>
              <a:rPr sz="3200" spc="-10" dirty="0">
                <a:latin typeface="Tahoma"/>
                <a:cs typeface="Tahoma"/>
              </a:rPr>
              <a:t>are </a:t>
            </a:r>
            <a:r>
              <a:rPr sz="3200" spc="-5" dirty="0">
                <a:latin typeface="Tahoma"/>
                <a:cs typeface="Tahoma"/>
              </a:rPr>
              <a:t>not done; </a:t>
            </a:r>
            <a:r>
              <a:rPr sz="3200" dirty="0">
                <a:latin typeface="Tahoma"/>
                <a:cs typeface="Tahoma"/>
              </a:rPr>
              <a:t>we </a:t>
            </a:r>
            <a:r>
              <a:rPr sz="3200" spc="-5" dirty="0">
                <a:latin typeface="Tahoma"/>
                <a:cs typeface="Tahoma"/>
              </a:rPr>
              <a:t>need to check  Drinkers1 and Drinkers2 </a:t>
            </a:r>
            <a:r>
              <a:rPr sz="3200" spc="-15" dirty="0">
                <a:latin typeface="Tahoma"/>
                <a:cs typeface="Tahoma"/>
              </a:rPr>
              <a:t>for</a:t>
            </a:r>
            <a:r>
              <a:rPr sz="3200" spc="-35" dirty="0">
                <a:latin typeface="Tahoma"/>
                <a:cs typeface="Tahoma"/>
              </a:rPr>
              <a:t> </a:t>
            </a:r>
            <a:r>
              <a:rPr sz="3200" spc="-90" dirty="0">
                <a:latin typeface="Tahoma"/>
                <a:cs typeface="Tahoma"/>
              </a:rPr>
              <a:t>BCNF.</a:t>
            </a:r>
            <a:endParaRPr sz="3200" dirty="0">
              <a:latin typeface="Tahoma"/>
              <a:cs typeface="Tahoma"/>
            </a:endParaRPr>
          </a:p>
          <a:p>
            <a:pPr marL="414655" indent="-402590">
              <a:lnSpc>
                <a:spcPct val="100000"/>
              </a:lnSpc>
              <a:spcBef>
                <a:spcPts val="335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spc="-5" dirty="0">
                <a:latin typeface="Tahoma"/>
                <a:cs typeface="Tahoma"/>
              </a:rPr>
              <a:t>Projecting </a:t>
            </a:r>
            <a:r>
              <a:rPr sz="3200" spc="-30" dirty="0">
                <a:latin typeface="Tahoma"/>
                <a:cs typeface="Tahoma"/>
              </a:rPr>
              <a:t>FD’s </a:t>
            </a:r>
            <a:r>
              <a:rPr sz="3200" spc="-5" dirty="0">
                <a:latin typeface="Tahoma"/>
                <a:cs typeface="Tahoma"/>
              </a:rPr>
              <a:t>is easy</a:t>
            </a:r>
            <a:r>
              <a:rPr sz="3200" spc="5" dirty="0">
                <a:latin typeface="Tahoma"/>
                <a:cs typeface="Tahoma"/>
              </a:rPr>
              <a:t> </a:t>
            </a:r>
            <a:r>
              <a:rPr sz="3200" spc="-5" dirty="0">
                <a:latin typeface="Tahoma"/>
                <a:cs typeface="Tahoma"/>
              </a:rPr>
              <a:t>here.</a:t>
            </a:r>
            <a:endParaRPr sz="3200" dirty="0">
              <a:latin typeface="Tahoma"/>
              <a:cs typeface="Tahoma"/>
            </a:endParaRPr>
          </a:p>
          <a:p>
            <a:pPr marL="355600" marR="773430" indent="-342900">
              <a:lnSpc>
                <a:spcPts val="3450"/>
              </a:lnSpc>
              <a:spcBef>
                <a:spcPts val="820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spc="-30" dirty="0">
                <a:latin typeface="Tahoma"/>
                <a:cs typeface="Tahoma"/>
              </a:rPr>
              <a:t>For </a:t>
            </a:r>
            <a:r>
              <a:rPr sz="3200" spc="-5" dirty="0">
                <a:solidFill>
                  <a:srgbClr val="CC00CC"/>
                </a:solidFill>
                <a:latin typeface="Tahoma"/>
                <a:cs typeface="Tahoma"/>
              </a:rPr>
              <a:t>Drinkers1(</a:t>
            </a:r>
            <a:r>
              <a:rPr sz="3200" u="heavy" spc="-5" dirty="0">
                <a:solidFill>
                  <a:srgbClr val="CC00CC"/>
                </a:solidFill>
                <a:uFill>
                  <a:solidFill>
                    <a:srgbClr val="CC00CC"/>
                  </a:solidFill>
                </a:uFill>
                <a:latin typeface="Tahoma"/>
                <a:cs typeface="Tahoma"/>
              </a:rPr>
              <a:t>name</a:t>
            </a:r>
            <a:r>
              <a:rPr sz="3200" spc="-5" dirty="0">
                <a:solidFill>
                  <a:srgbClr val="CC00CC"/>
                </a:solidFill>
                <a:latin typeface="Tahoma"/>
                <a:cs typeface="Tahoma"/>
              </a:rPr>
              <a:t>, </a:t>
            </a:r>
            <a:r>
              <a:rPr sz="3200" spc="-90" dirty="0">
                <a:solidFill>
                  <a:srgbClr val="CC00CC"/>
                </a:solidFill>
                <a:latin typeface="Tahoma"/>
                <a:cs typeface="Tahoma"/>
              </a:rPr>
              <a:t>addr, </a:t>
            </a:r>
            <a:r>
              <a:rPr sz="3200" spc="-10" dirty="0">
                <a:solidFill>
                  <a:srgbClr val="CC00CC"/>
                </a:solidFill>
                <a:latin typeface="Tahoma"/>
                <a:cs typeface="Tahoma"/>
              </a:rPr>
              <a:t>favBeer)</a:t>
            </a:r>
            <a:r>
              <a:rPr sz="3200" spc="-10" dirty="0">
                <a:latin typeface="Tahoma"/>
                <a:cs typeface="Tahoma"/>
              </a:rPr>
              <a:t>,  </a:t>
            </a:r>
            <a:r>
              <a:rPr sz="3200" spc="-15" dirty="0">
                <a:latin typeface="Tahoma"/>
                <a:cs typeface="Tahoma"/>
              </a:rPr>
              <a:t>relevant </a:t>
            </a:r>
            <a:r>
              <a:rPr sz="3200" spc="-30" dirty="0">
                <a:latin typeface="Tahoma"/>
                <a:cs typeface="Tahoma"/>
              </a:rPr>
              <a:t>FD’s </a:t>
            </a:r>
            <a:r>
              <a:rPr sz="3200" spc="-10" dirty="0">
                <a:latin typeface="Tahoma"/>
                <a:cs typeface="Tahoma"/>
              </a:rPr>
              <a:t>are </a:t>
            </a:r>
            <a:r>
              <a:rPr sz="3200" spc="-5" dirty="0">
                <a:solidFill>
                  <a:srgbClr val="00CC99"/>
                </a:solidFill>
                <a:latin typeface="Tahoma"/>
                <a:cs typeface="Tahoma"/>
              </a:rPr>
              <a:t>name-&gt;addr </a:t>
            </a:r>
            <a:r>
              <a:rPr sz="3200" spc="-5" dirty="0">
                <a:latin typeface="Tahoma"/>
                <a:cs typeface="Tahoma"/>
              </a:rPr>
              <a:t>and </a:t>
            </a:r>
            <a:r>
              <a:rPr sz="3200" spc="-5" dirty="0">
                <a:solidFill>
                  <a:srgbClr val="00CC99"/>
                </a:solidFill>
                <a:latin typeface="Tahoma"/>
                <a:cs typeface="Tahoma"/>
              </a:rPr>
              <a:t> name-&gt;favBeer</a:t>
            </a:r>
            <a:r>
              <a:rPr sz="3200" spc="-5" dirty="0">
                <a:latin typeface="Tahoma"/>
                <a:cs typeface="Tahoma"/>
              </a:rPr>
              <a:t>.</a:t>
            </a:r>
            <a:endParaRPr sz="3200" dirty="0">
              <a:latin typeface="Tahoma"/>
              <a:cs typeface="Tahoma"/>
            </a:endParaRPr>
          </a:p>
          <a:p>
            <a:pPr marL="755650" marR="5080" lvl="1" indent="-285750">
              <a:lnSpc>
                <a:spcPts val="3020"/>
              </a:lnSpc>
              <a:spcBef>
                <a:spcPts val="665"/>
              </a:spcBef>
              <a:buClr>
                <a:srgbClr val="CC00CC"/>
              </a:buClr>
              <a:buFont typeface="Wingdings"/>
              <a:buChar char=""/>
              <a:tabLst>
                <a:tab pos="755650" algn="l"/>
              </a:tabLst>
            </a:pPr>
            <a:r>
              <a:rPr sz="2800" spc="-5" dirty="0">
                <a:latin typeface="Tahoma"/>
                <a:cs typeface="Tahoma"/>
              </a:rPr>
              <a:t>Thus, </a:t>
            </a:r>
            <a:r>
              <a:rPr sz="2800" spc="-5" dirty="0">
                <a:solidFill>
                  <a:srgbClr val="33CC33"/>
                </a:solidFill>
                <a:latin typeface="Tahoma"/>
                <a:cs typeface="Tahoma"/>
              </a:rPr>
              <a:t>{name} </a:t>
            </a:r>
            <a:r>
              <a:rPr sz="2800" spc="-5" dirty="0">
                <a:latin typeface="Tahoma"/>
                <a:cs typeface="Tahoma"/>
              </a:rPr>
              <a:t>is the only </a:t>
            </a:r>
            <a:r>
              <a:rPr sz="2800" spc="-15" dirty="0">
                <a:latin typeface="Tahoma"/>
                <a:cs typeface="Tahoma"/>
              </a:rPr>
              <a:t>key </a:t>
            </a:r>
            <a:r>
              <a:rPr sz="2800" spc="-5" dirty="0">
                <a:latin typeface="Tahoma"/>
                <a:cs typeface="Tahoma"/>
              </a:rPr>
              <a:t>and </a:t>
            </a:r>
            <a:r>
              <a:rPr sz="2800" spc="-10" dirty="0">
                <a:latin typeface="Tahoma"/>
                <a:cs typeface="Tahoma"/>
              </a:rPr>
              <a:t>Drinkers1  </a:t>
            </a:r>
            <a:r>
              <a:rPr sz="2800" spc="-5" dirty="0">
                <a:latin typeface="Tahoma"/>
                <a:cs typeface="Tahoma"/>
              </a:rPr>
              <a:t>is in</a:t>
            </a:r>
            <a:r>
              <a:rPr sz="2800" dirty="0">
                <a:latin typeface="Tahoma"/>
                <a:cs typeface="Tahoma"/>
              </a:rPr>
              <a:t> </a:t>
            </a:r>
            <a:r>
              <a:rPr sz="2800" spc="-80" dirty="0">
                <a:latin typeface="Tahoma"/>
                <a:cs typeface="Tahoma"/>
              </a:rPr>
              <a:t>BCNF.</a:t>
            </a:r>
            <a:endParaRPr sz="2800" dirty="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>
                <a:solidFill>
                  <a:srgbClr val="33CC33"/>
                </a:solidFill>
              </a:rPr>
              <a:t>Example </a:t>
            </a:r>
            <a:r>
              <a:rPr spc="-5" dirty="0"/>
              <a:t>--</a:t>
            </a:r>
            <a:r>
              <a:rPr spc="-45" dirty="0"/>
              <a:t> </a:t>
            </a:r>
            <a:r>
              <a:rPr spc="-5" dirty="0"/>
              <a:t>Continued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dirty="0"/>
              <a:t>42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523240" y="1972310"/>
            <a:ext cx="7837170" cy="3823483"/>
          </a:xfrm>
          <a:prstGeom prst="rect">
            <a:avLst/>
          </a:prstGeom>
        </p:spPr>
        <p:txBody>
          <a:bodyPr vert="horz" wrap="square" lIns="0" tIns="67945" rIns="0" bIns="0" rtlCol="0">
            <a:spAutoFit/>
          </a:bodyPr>
          <a:lstStyle/>
          <a:p>
            <a:pPr marL="635000" marR="17780" indent="-609600">
              <a:lnSpc>
                <a:spcPts val="3460"/>
              </a:lnSpc>
              <a:spcBef>
                <a:spcPts val="535"/>
              </a:spcBef>
              <a:buClr>
                <a:srgbClr val="CC00CC"/>
              </a:buClr>
              <a:buFont typeface="Wingdings"/>
              <a:buChar char=""/>
              <a:tabLst>
                <a:tab pos="634365" algn="l"/>
                <a:tab pos="635000" algn="l"/>
              </a:tabLst>
            </a:pPr>
            <a:r>
              <a:rPr sz="3200" spc="-30" dirty="0">
                <a:latin typeface="Tahoma"/>
                <a:cs typeface="Tahoma"/>
              </a:rPr>
              <a:t>For </a:t>
            </a:r>
            <a:r>
              <a:rPr sz="3200" spc="-5" dirty="0">
                <a:solidFill>
                  <a:srgbClr val="CC00CC"/>
                </a:solidFill>
                <a:latin typeface="Tahoma"/>
                <a:cs typeface="Tahoma"/>
              </a:rPr>
              <a:t>Drinkers2(</a:t>
            </a:r>
            <a:r>
              <a:rPr sz="3200" u="heavy" spc="-5" dirty="0">
                <a:solidFill>
                  <a:srgbClr val="CC00CC"/>
                </a:solidFill>
                <a:uFill>
                  <a:solidFill>
                    <a:srgbClr val="CC00CC"/>
                  </a:solidFill>
                </a:uFill>
                <a:latin typeface="Tahoma"/>
                <a:cs typeface="Tahoma"/>
              </a:rPr>
              <a:t>name</a:t>
            </a:r>
            <a:r>
              <a:rPr sz="3200" spc="-5" dirty="0">
                <a:solidFill>
                  <a:srgbClr val="CC00CC"/>
                </a:solidFill>
                <a:latin typeface="Tahoma"/>
                <a:cs typeface="Tahoma"/>
              </a:rPr>
              <a:t>, </a:t>
            </a:r>
            <a:r>
              <a:rPr sz="3200" u="heavy" spc="-5" dirty="0">
                <a:solidFill>
                  <a:srgbClr val="CC00CC"/>
                </a:solidFill>
                <a:uFill>
                  <a:solidFill>
                    <a:srgbClr val="CC00CC"/>
                  </a:solidFill>
                </a:uFill>
                <a:latin typeface="Tahoma"/>
                <a:cs typeface="Tahoma"/>
              </a:rPr>
              <a:t>beersLiked</a:t>
            </a:r>
            <a:r>
              <a:rPr sz="3200" spc="-5" dirty="0">
                <a:solidFill>
                  <a:srgbClr val="CC00CC"/>
                </a:solidFill>
                <a:latin typeface="Tahoma"/>
                <a:cs typeface="Tahoma"/>
              </a:rPr>
              <a:t>, </a:t>
            </a:r>
            <a:r>
              <a:rPr sz="3200" spc="20" dirty="0">
                <a:solidFill>
                  <a:srgbClr val="CC00CC"/>
                </a:solidFill>
                <a:latin typeface="Tahoma"/>
                <a:cs typeface="Tahoma"/>
              </a:rPr>
              <a:t>manf)</a:t>
            </a:r>
            <a:r>
              <a:rPr sz="3200" spc="20" dirty="0">
                <a:latin typeface="Tahoma"/>
                <a:cs typeface="Tahoma"/>
              </a:rPr>
              <a:t>,  </a:t>
            </a:r>
            <a:r>
              <a:rPr sz="3200" spc="-5" dirty="0">
                <a:latin typeface="Tahoma"/>
                <a:cs typeface="Tahoma"/>
              </a:rPr>
              <a:t>the only </a:t>
            </a:r>
            <a:r>
              <a:rPr sz="3200" dirty="0">
                <a:latin typeface="Tahoma"/>
                <a:cs typeface="Tahoma"/>
              </a:rPr>
              <a:t>FD </a:t>
            </a:r>
            <a:r>
              <a:rPr sz="3200" spc="-5" dirty="0">
                <a:latin typeface="Tahoma"/>
                <a:cs typeface="Tahoma"/>
              </a:rPr>
              <a:t>is </a:t>
            </a:r>
            <a:r>
              <a:rPr sz="3200" spc="-5" dirty="0">
                <a:solidFill>
                  <a:srgbClr val="00CC99"/>
                </a:solidFill>
                <a:latin typeface="Tahoma"/>
                <a:cs typeface="Tahoma"/>
              </a:rPr>
              <a:t>beersLiked-&gt;manf</a:t>
            </a:r>
            <a:r>
              <a:rPr sz="3200" spc="-5" dirty="0">
                <a:latin typeface="Tahoma"/>
                <a:cs typeface="Tahoma"/>
              </a:rPr>
              <a:t>, and  the only </a:t>
            </a:r>
            <a:r>
              <a:rPr sz="3200" spc="-15" dirty="0">
                <a:latin typeface="Tahoma"/>
                <a:cs typeface="Tahoma"/>
              </a:rPr>
              <a:t>key </a:t>
            </a:r>
            <a:r>
              <a:rPr sz="3200" spc="-5" dirty="0">
                <a:latin typeface="Tahoma"/>
                <a:cs typeface="Tahoma"/>
              </a:rPr>
              <a:t>is </a:t>
            </a:r>
            <a:r>
              <a:rPr sz="3200" spc="-5" dirty="0">
                <a:solidFill>
                  <a:srgbClr val="33CC33"/>
                </a:solidFill>
                <a:latin typeface="Tahoma"/>
                <a:cs typeface="Tahoma"/>
              </a:rPr>
              <a:t>{name, beersLiked}</a:t>
            </a:r>
            <a:r>
              <a:rPr sz="3200" spc="-5" dirty="0">
                <a:latin typeface="Tahoma"/>
                <a:cs typeface="Tahoma"/>
              </a:rPr>
              <a:t>.</a:t>
            </a:r>
            <a:endParaRPr sz="3200" dirty="0">
              <a:latin typeface="Tahoma"/>
              <a:cs typeface="Tahoma"/>
            </a:endParaRPr>
          </a:p>
          <a:p>
            <a:pPr marL="1016000" lvl="1" indent="-533400">
              <a:lnSpc>
                <a:spcPct val="100000"/>
              </a:lnSpc>
              <a:spcBef>
                <a:spcPts val="265"/>
              </a:spcBef>
              <a:buClr>
                <a:srgbClr val="CC00CC"/>
              </a:buClr>
              <a:buFont typeface="Wingdings"/>
              <a:buChar char=""/>
              <a:tabLst>
                <a:tab pos="1015365" algn="l"/>
                <a:tab pos="1016000" algn="l"/>
              </a:tabLst>
            </a:pPr>
            <a:r>
              <a:rPr sz="2800" spc="-5" dirty="0">
                <a:latin typeface="Tahoma"/>
                <a:cs typeface="Tahoma"/>
              </a:rPr>
              <a:t>Violation of</a:t>
            </a:r>
            <a:r>
              <a:rPr sz="2800" dirty="0">
                <a:latin typeface="Tahoma"/>
                <a:cs typeface="Tahoma"/>
              </a:rPr>
              <a:t> </a:t>
            </a:r>
            <a:r>
              <a:rPr sz="2800" spc="-80" dirty="0">
                <a:latin typeface="Tahoma"/>
                <a:cs typeface="Tahoma"/>
              </a:rPr>
              <a:t>BCNF.</a:t>
            </a:r>
            <a:endParaRPr sz="2800" dirty="0">
              <a:latin typeface="Tahoma"/>
              <a:cs typeface="Tahoma"/>
            </a:endParaRPr>
          </a:p>
          <a:p>
            <a:pPr marL="635000" marR="400050" indent="-609600">
              <a:lnSpc>
                <a:spcPts val="3460"/>
              </a:lnSpc>
              <a:spcBef>
                <a:spcPts val="815"/>
              </a:spcBef>
              <a:buClr>
                <a:srgbClr val="CC00CC"/>
              </a:buClr>
              <a:buFont typeface="Wingdings"/>
              <a:buChar char=""/>
              <a:tabLst>
                <a:tab pos="634365" algn="l"/>
                <a:tab pos="635000" algn="l"/>
                <a:tab pos="2867025" algn="l"/>
                <a:tab pos="5392420" algn="l"/>
              </a:tabLst>
            </a:pPr>
            <a:r>
              <a:rPr sz="3200" spc="-5" dirty="0">
                <a:latin typeface="Tahoma"/>
                <a:cs typeface="Tahoma"/>
              </a:rPr>
              <a:t>beersLiked</a:t>
            </a:r>
            <a:r>
              <a:rPr sz="3075" spc="-7" baseline="21680" dirty="0">
                <a:latin typeface="Tahoma"/>
                <a:cs typeface="Tahoma"/>
              </a:rPr>
              <a:t>+	</a:t>
            </a:r>
            <a:r>
              <a:rPr sz="3200" dirty="0">
                <a:latin typeface="Tahoma"/>
                <a:cs typeface="Tahoma"/>
              </a:rPr>
              <a:t>= </a:t>
            </a:r>
            <a:r>
              <a:rPr sz="3200" spc="-5" dirty="0">
                <a:latin typeface="Tahoma"/>
                <a:cs typeface="Tahoma"/>
              </a:rPr>
              <a:t>{beersLiked, </a:t>
            </a:r>
            <a:r>
              <a:rPr sz="3200" spc="25" dirty="0">
                <a:latin typeface="Tahoma"/>
                <a:cs typeface="Tahoma"/>
              </a:rPr>
              <a:t>manf},</a:t>
            </a:r>
            <a:r>
              <a:rPr sz="3200" spc="-95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so  we</a:t>
            </a:r>
            <a:r>
              <a:rPr sz="3200" spc="5" dirty="0">
                <a:latin typeface="Tahoma"/>
                <a:cs typeface="Tahoma"/>
              </a:rPr>
              <a:t> </a:t>
            </a:r>
            <a:r>
              <a:rPr sz="3200" spc="-5" dirty="0">
                <a:latin typeface="Tahoma"/>
                <a:cs typeface="Tahoma"/>
              </a:rPr>
              <a:t>decompose</a:t>
            </a:r>
            <a:r>
              <a:rPr sz="3200" spc="-420" dirty="0">
                <a:latin typeface="Tahoma"/>
                <a:cs typeface="Tahoma"/>
              </a:rPr>
              <a:t> </a:t>
            </a:r>
            <a:r>
              <a:rPr lang="en-US" altLang="zh-CN" sz="3600" dirty="0" err="1">
                <a:effectLst/>
              </a:rPr>
              <a:t>Dri</a:t>
            </a:r>
            <a:r>
              <a:rPr lang="en-US" altLang="zh-CN" sz="3350" i="1" spc="-990" dirty="0">
                <a:latin typeface="Tahoma"/>
                <a:cs typeface="Tahoma"/>
              </a:rPr>
              <a:t> </a:t>
            </a:r>
            <a:r>
              <a:rPr lang="en-US" altLang="zh-CN" sz="3600" dirty="0">
                <a:effectLst/>
              </a:rPr>
              <a:t>nkers2</a:t>
            </a:r>
            <a:r>
              <a:rPr sz="3350" i="1" spc="-990" dirty="0">
                <a:latin typeface="Tahoma"/>
                <a:cs typeface="Tahoma"/>
              </a:rPr>
              <a:t>	</a:t>
            </a:r>
            <a:r>
              <a:rPr sz="3200" spc="-5" dirty="0">
                <a:latin typeface="Tahoma"/>
                <a:cs typeface="Tahoma"/>
              </a:rPr>
              <a:t>into:</a:t>
            </a:r>
            <a:endParaRPr sz="3200" dirty="0">
              <a:latin typeface="Tahoma"/>
              <a:cs typeface="Tahoma"/>
            </a:endParaRPr>
          </a:p>
          <a:p>
            <a:pPr marL="1016000" indent="-533400">
              <a:lnSpc>
                <a:spcPct val="100000"/>
              </a:lnSpc>
              <a:spcBef>
                <a:spcPts val="270"/>
              </a:spcBef>
              <a:buAutoNum type="arabicPeriod"/>
              <a:tabLst>
                <a:tab pos="1015365" algn="l"/>
                <a:tab pos="1016000" algn="l"/>
              </a:tabLst>
            </a:pPr>
            <a:r>
              <a:rPr sz="2800" spc="-5" dirty="0">
                <a:solidFill>
                  <a:srgbClr val="CC00CC"/>
                </a:solidFill>
                <a:latin typeface="Tahoma"/>
                <a:cs typeface="Tahoma"/>
              </a:rPr>
              <a:t>Drinkers3(</a:t>
            </a:r>
            <a:r>
              <a:rPr sz="2800" u="heavy" spc="-5" dirty="0">
                <a:solidFill>
                  <a:srgbClr val="CC00CC"/>
                </a:solidFill>
                <a:uFill>
                  <a:solidFill>
                    <a:srgbClr val="CC00CC"/>
                  </a:solidFill>
                </a:uFill>
                <a:latin typeface="Tahoma"/>
                <a:cs typeface="Tahoma"/>
              </a:rPr>
              <a:t>beersLiked</a:t>
            </a:r>
            <a:r>
              <a:rPr sz="2800" spc="-5" dirty="0">
                <a:solidFill>
                  <a:srgbClr val="CC00CC"/>
                </a:solidFill>
                <a:latin typeface="Tahoma"/>
                <a:cs typeface="Tahoma"/>
              </a:rPr>
              <a:t>, </a:t>
            </a:r>
            <a:r>
              <a:rPr sz="2800" spc="20" dirty="0">
                <a:solidFill>
                  <a:srgbClr val="CC00CC"/>
                </a:solidFill>
                <a:latin typeface="Tahoma"/>
                <a:cs typeface="Tahoma"/>
              </a:rPr>
              <a:t>manf)</a:t>
            </a:r>
            <a:endParaRPr sz="2800" dirty="0">
              <a:latin typeface="Tahoma"/>
              <a:cs typeface="Tahoma"/>
            </a:endParaRPr>
          </a:p>
          <a:p>
            <a:pPr marL="1016000" indent="-533400">
              <a:lnSpc>
                <a:spcPct val="100000"/>
              </a:lnSpc>
              <a:spcBef>
                <a:spcPts val="330"/>
              </a:spcBef>
              <a:buAutoNum type="arabicPeriod"/>
              <a:tabLst>
                <a:tab pos="1015365" algn="l"/>
                <a:tab pos="1016000" algn="l"/>
              </a:tabLst>
            </a:pPr>
            <a:r>
              <a:rPr sz="2800" spc="-5" dirty="0">
                <a:solidFill>
                  <a:srgbClr val="CC00CC"/>
                </a:solidFill>
                <a:latin typeface="Tahoma"/>
                <a:cs typeface="Tahoma"/>
              </a:rPr>
              <a:t>Drinkers4(</a:t>
            </a:r>
            <a:r>
              <a:rPr sz="2800" u="heavy" spc="-5" dirty="0">
                <a:solidFill>
                  <a:srgbClr val="CC00CC"/>
                </a:solidFill>
                <a:uFill>
                  <a:solidFill>
                    <a:srgbClr val="CC00CC"/>
                  </a:solidFill>
                </a:uFill>
                <a:latin typeface="Tahoma"/>
                <a:cs typeface="Tahoma"/>
              </a:rPr>
              <a:t>name</a:t>
            </a:r>
            <a:r>
              <a:rPr sz="2800" spc="-5" dirty="0">
                <a:solidFill>
                  <a:srgbClr val="CC00CC"/>
                </a:solidFill>
                <a:latin typeface="Tahoma"/>
                <a:cs typeface="Tahoma"/>
              </a:rPr>
              <a:t>, </a:t>
            </a:r>
            <a:r>
              <a:rPr sz="2800" u="heavy" spc="-5" dirty="0">
                <a:solidFill>
                  <a:srgbClr val="CC00CC"/>
                </a:solidFill>
                <a:uFill>
                  <a:solidFill>
                    <a:srgbClr val="CC00CC"/>
                  </a:solidFill>
                </a:uFill>
                <a:latin typeface="Tahoma"/>
                <a:cs typeface="Tahoma"/>
              </a:rPr>
              <a:t>beersLiked</a:t>
            </a:r>
            <a:r>
              <a:rPr sz="2800" spc="-5" dirty="0">
                <a:solidFill>
                  <a:srgbClr val="CC00CC"/>
                </a:solidFill>
                <a:latin typeface="Tahoma"/>
                <a:cs typeface="Tahoma"/>
              </a:rPr>
              <a:t>)</a:t>
            </a:r>
            <a:endParaRPr sz="2800" dirty="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59914" y="829944"/>
            <a:ext cx="542480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>
                <a:solidFill>
                  <a:srgbClr val="33CC33"/>
                </a:solidFill>
              </a:rPr>
              <a:t>Example </a:t>
            </a:r>
            <a:r>
              <a:rPr spc="-5" dirty="0"/>
              <a:t>--</a:t>
            </a:r>
            <a:r>
              <a:rPr spc="-45" dirty="0"/>
              <a:t> </a:t>
            </a:r>
            <a:r>
              <a:rPr spc="-5" dirty="0"/>
              <a:t>Concluded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dirty="0"/>
              <a:t>43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764540" y="1911377"/>
            <a:ext cx="7430134" cy="3745897"/>
          </a:xfrm>
          <a:prstGeom prst="rect">
            <a:avLst/>
          </a:prstGeom>
        </p:spPr>
        <p:txBody>
          <a:bodyPr vert="horz" wrap="square" lIns="0" tIns="102235" rIns="0" bIns="0" rtlCol="0">
            <a:spAutoFit/>
          </a:bodyPr>
          <a:lstStyle/>
          <a:p>
            <a:r>
              <a:rPr sz="2800" spc="-5" dirty="0">
                <a:latin typeface="Tahoma"/>
                <a:cs typeface="Tahoma"/>
              </a:rPr>
              <a:t>The resulting decomposition of</a:t>
            </a:r>
            <a:r>
              <a:rPr sz="2800" spc="-165" dirty="0">
                <a:latin typeface="Tahoma"/>
                <a:cs typeface="Tahoma"/>
              </a:rPr>
              <a:t> </a:t>
            </a:r>
            <a:r>
              <a:rPr lang="en-US" altLang="zh-CN" sz="3200" dirty="0">
                <a:effectLst/>
              </a:rPr>
              <a:t>Drinker</a:t>
            </a:r>
          </a:p>
          <a:p>
            <a:pPr marL="1003300" lvl="1" indent="-533400">
              <a:lnSpc>
                <a:spcPct val="100000"/>
              </a:lnSpc>
              <a:spcBef>
                <a:spcPts val="555"/>
              </a:spcBef>
              <a:buAutoNum type="arabicPeriod"/>
              <a:tabLst>
                <a:tab pos="1002665" algn="l"/>
                <a:tab pos="1003300" algn="l"/>
              </a:tabLst>
            </a:pPr>
            <a:r>
              <a:rPr sz="2400" spc="-5" dirty="0">
                <a:solidFill>
                  <a:srgbClr val="CC00CC"/>
                </a:solidFill>
                <a:latin typeface="Tahoma"/>
                <a:cs typeface="Tahoma"/>
              </a:rPr>
              <a:t>Drinkers1(</a:t>
            </a:r>
            <a:r>
              <a:rPr sz="2400" u="heavy" spc="-5" dirty="0">
                <a:solidFill>
                  <a:srgbClr val="CC00CC"/>
                </a:solidFill>
                <a:uFill>
                  <a:solidFill>
                    <a:srgbClr val="CC00CC"/>
                  </a:solidFill>
                </a:uFill>
                <a:latin typeface="Tahoma"/>
                <a:cs typeface="Tahoma"/>
              </a:rPr>
              <a:t>name</a:t>
            </a:r>
            <a:r>
              <a:rPr sz="2400" spc="-5" dirty="0">
                <a:solidFill>
                  <a:srgbClr val="CC00CC"/>
                </a:solidFill>
                <a:latin typeface="Tahoma"/>
                <a:cs typeface="Tahoma"/>
              </a:rPr>
              <a:t>, </a:t>
            </a:r>
            <a:r>
              <a:rPr sz="2400" spc="-70" dirty="0">
                <a:solidFill>
                  <a:srgbClr val="CC00CC"/>
                </a:solidFill>
                <a:latin typeface="Tahoma"/>
                <a:cs typeface="Tahoma"/>
              </a:rPr>
              <a:t>addr,</a:t>
            </a:r>
            <a:r>
              <a:rPr sz="2400" spc="-10" dirty="0">
                <a:solidFill>
                  <a:srgbClr val="CC00CC"/>
                </a:solidFill>
                <a:latin typeface="Tahoma"/>
                <a:cs typeface="Tahoma"/>
              </a:rPr>
              <a:t> favBeer)</a:t>
            </a:r>
            <a:endParaRPr sz="2400" dirty="0">
              <a:latin typeface="Tahoma"/>
              <a:cs typeface="Tahoma"/>
            </a:endParaRPr>
          </a:p>
          <a:p>
            <a:pPr marL="1003300" lvl="1" indent="-533400">
              <a:lnSpc>
                <a:spcPct val="100000"/>
              </a:lnSpc>
              <a:spcBef>
                <a:spcPts val="575"/>
              </a:spcBef>
              <a:buAutoNum type="arabicPeriod"/>
              <a:tabLst>
                <a:tab pos="1002665" algn="l"/>
                <a:tab pos="1003300" algn="l"/>
              </a:tabLst>
            </a:pPr>
            <a:r>
              <a:rPr sz="2400" spc="-5" dirty="0">
                <a:solidFill>
                  <a:srgbClr val="CC00CC"/>
                </a:solidFill>
                <a:latin typeface="Tahoma"/>
                <a:cs typeface="Tahoma"/>
              </a:rPr>
              <a:t>Drinkers3(</a:t>
            </a:r>
            <a:r>
              <a:rPr sz="2400" u="heavy" spc="-5" dirty="0">
                <a:solidFill>
                  <a:srgbClr val="CC00CC"/>
                </a:solidFill>
                <a:uFill>
                  <a:solidFill>
                    <a:srgbClr val="CC00CC"/>
                  </a:solidFill>
                </a:uFill>
                <a:latin typeface="Tahoma"/>
                <a:cs typeface="Tahoma"/>
              </a:rPr>
              <a:t>beersLiked</a:t>
            </a:r>
            <a:r>
              <a:rPr sz="2400" spc="-5" dirty="0">
                <a:solidFill>
                  <a:srgbClr val="CC00CC"/>
                </a:solidFill>
                <a:latin typeface="Tahoma"/>
                <a:cs typeface="Tahoma"/>
              </a:rPr>
              <a:t>,</a:t>
            </a:r>
            <a:r>
              <a:rPr sz="2400" spc="-10" dirty="0">
                <a:solidFill>
                  <a:srgbClr val="CC00CC"/>
                </a:solidFill>
                <a:latin typeface="Tahoma"/>
                <a:cs typeface="Tahoma"/>
              </a:rPr>
              <a:t> </a:t>
            </a:r>
            <a:r>
              <a:rPr sz="2400" spc="20" dirty="0">
                <a:solidFill>
                  <a:srgbClr val="CC00CC"/>
                </a:solidFill>
                <a:latin typeface="Tahoma"/>
                <a:cs typeface="Tahoma"/>
              </a:rPr>
              <a:t>manf)</a:t>
            </a:r>
            <a:endParaRPr sz="2400" dirty="0">
              <a:latin typeface="Tahoma"/>
              <a:cs typeface="Tahoma"/>
            </a:endParaRPr>
          </a:p>
          <a:p>
            <a:pPr marL="1003300" lvl="1" indent="-533400">
              <a:lnSpc>
                <a:spcPct val="100000"/>
              </a:lnSpc>
              <a:spcBef>
                <a:spcPts val="575"/>
              </a:spcBef>
              <a:buAutoNum type="arabicPeriod"/>
              <a:tabLst>
                <a:tab pos="1002665" algn="l"/>
                <a:tab pos="1003300" algn="l"/>
              </a:tabLst>
            </a:pPr>
            <a:r>
              <a:rPr sz="2400" spc="-5" dirty="0">
                <a:solidFill>
                  <a:srgbClr val="CC00CC"/>
                </a:solidFill>
                <a:latin typeface="Tahoma"/>
                <a:cs typeface="Tahoma"/>
              </a:rPr>
              <a:t>Drinkers4(</a:t>
            </a:r>
            <a:r>
              <a:rPr sz="2400" u="heavy" spc="-5" dirty="0">
                <a:solidFill>
                  <a:srgbClr val="CC00CC"/>
                </a:solidFill>
                <a:uFill>
                  <a:solidFill>
                    <a:srgbClr val="CC00CC"/>
                  </a:solidFill>
                </a:uFill>
                <a:latin typeface="Tahoma"/>
                <a:cs typeface="Tahoma"/>
              </a:rPr>
              <a:t>name</a:t>
            </a:r>
            <a:r>
              <a:rPr sz="2400" spc="-5" dirty="0">
                <a:solidFill>
                  <a:srgbClr val="CC00CC"/>
                </a:solidFill>
                <a:latin typeface="Tahoma"/>
                <a:cs typeface="Tahoma"/>
              </a:rPr>
              <a:t>,</a:t>
            </a:r>
            <a:r>
              <a:rPr sz="2400" spc="-10" dirty="0">
                <a:solidFill>
                  <a:srgbClr val="CC00CC"/>
                </a:solidFill>
                <a:latin typeface="Tahoma"/>
                <a:cs typeface="Tahoma"/>
              </a:rPr>
              <a:t> </a:t>
            </a:r>
            <a:r>
              <a:rPr sz="2400" u="heavy" spc="-5" dirty="0">
                <a:solidFill>
                  <a:srgbClr val="CC00CC"/>
                </a:solidFill>
                <a:uFill>
                  <a:solidFill>
                    <a:srgbClr val="CC00CC"/>
                  </a:solidFill>
                </a:uFill>
                <a:latin typeface="Tahoma"/>
                <a:cs typeface="Tahoma"/>
              </a:rPr>
              <a:t>beersLiked</a:t>
            </a:r>
            <a:r>
              <a:rPr sz="2400" spc="-5" dirty="0">
                <a:solidFill>
                  <a:srgbClr val="CC00CC"/>
                </a:solidFill>
                <a:latin typeface="Tahoma"/>
                <a:cs typeface="Tahoma"/>
              </a:rPr>
              <a:t>)</a:t>
            </a:r>
            <a:endParaRPr sz="2400" dirty="0">
              <a:latin typeface="Tahoma"/>
              <a:cs typeface="Tahoma"/>
            </a:endParaRPr>
          </a:p>
          <a:p>
            <a:pPr marL="598805" marR="5080" indent="-586740">
              <a:lnSpc>
                <a:spcPts val="3360"/>
              </a:lnSpc>
              <a:spcBef>
                <a:spcPts val="780"/>
              </a:spcBef>
              <a:buClr>
                <a:srgbClr val="CC00CC"/>
              </a:buClr>
              <a:buFont typeface="Wingdings"/>
              <a:buChar char=""/>
              <a:tabLst>
                <a:tab pos="621665" algn="l"/>
                <a:tab pos="622300" algn="l"/>
              </a:tabLst>
            </a:pPr>
            <a:r>
              <a:rPr sz="2800" spc="-5" dirty="0">
                <a:latin typeface="Tahoma"/>
                <a:cs typeface="Tahoma"/>
              </a:rPr>
              <a:t>Notice: </a:t>
            </a:r>
            <a:r>
              <a:rPr sz="2900" i="1" spc="-950" dirty="0">
                <a:latin typeface="Tahoma"/>
                <a:cs typeface="Tahoma"/>
              </a:rPr>
              <a:t>Drinkers1</a:t>
            </a:r>
            <a:r>
              <a:rPr sz="2900" i="1" spc="-45" dirty="0">
                <a:latin typeface="Tahoma"/>
                <a:cs typeface="Tahoma"/>
              </a:rPr>
              <a:t> </a:t>
            </a:r>
            <a:r>
              <a:rPr sz="2800" spc="-5" dirty="0">
                <a:latin typeface="Tahoma"/>
                <a:cs typeface="Tahoma"/>
              </a:rPr>
              <a:t>tells us about drinkers, </a:t>
            </a:r>
            <a:r>
              <a:rPr sz="2900" i="1" spc="-950" dirty="0">
                <a:latin typeface="Tahoma"/>
                <a:cs typeface="Tahoma"/>
              </a:rPr>
              <a:t>Drinkers3</a:t>
            </a:r>
            <a:r>
              <a:rPr sz="2900" i="1" spc="-45" dirty="0">
                <a:latin typeface="Tahoma"/>
                <a:cs typeface="Tahoma"/>
              </a:rPr>
              <a:t> </a:t>
            </a:r>
            <a:r>
              <a:rPr sz="2800" spc="-5" dirty="0">
                <a:latin typeface="Tahoma"/>
                <a:cs typeface="Tahoma"/>
              </a:rPr>
              <a:t>tells  us about beers, and </a:t>
            </a:r>
            <a:r>
              <a:rPr sz="2900" i="1" spc="-950" dirty="0">
                <a:latin typeface="Tahoma"/>
                <a:cs typeface="Tahoma"/>
              </a:rPr>
              <a:t>Drinkers4</a:t>
            </a:r>
            <a:r>
              <a:rPr sz="2900" i="1" spc="-50" dirty="0">
                <a:latin typeface="Tahoma"/>
                <a:cs typeface="Tahoma"/>
              </a:rPr>
              <a:t> </a:t>
            </a:r>
            <a:r>
              <a:rPr sz="2800" spc="-5" dirty="0">
                <a:latin typeface="Tahoma"/>
                <a:cs typeface="Tahoma"/>
              </a:rPr>
              <a:t>tells us the  relationship between drinkers and the  beers they</a:t>
            </a:r>
            <a:r>
              <a:rPr sz="2800" dirty="0">
                <a:latin typeface="Tahoma"/>
                <a:cs typeface="Tahoma"/>
              </a:rPr>
              <a:t> </a:t>
            </a:r>
            <a:r>
              <a:rPr sz="2800" spc="-10" dirty="0">
                <a:latin typeface="Tahoma"/>
                <a:cs typeface="Tahoma"/>
              </a:rPr>
              <a:t>like.</a:t>
            </a:r>
            <a:endParaRPr sz="2800" dirty="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400492" y="249916"/>
            <a:ext cx="6343016" cy="136768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Third </a:t>
            </a:r>
            <a:r>
              <a:rPr spc="-5" dirty="0"/>
              <a:t>Normal </a:t>
            </a:r>
            <a:r>
              <a:rPr spc="-30" dirty="0"/>
              <a:t>Form </a:t>
            </a:r>
            <a:r>
              <a:rPr lang="en-US" spc="-30" dirty="0"/>
              <a:t>3NF</a:t>
            </a:r>
            <a:r>
              <a:rPr spc="-5" dirty="0"/>
              <a:t>--</a:t>
            </a:r>
            <a:r>
              <a:rPr spc="20" dirty="0"/>
              <a:t> </a:t>
            </a:r>
            <a:r>
              <a:rPr spc="-15" dirty="0"/>
              <a:t>Motivation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dirty="0"/>
              <a:t>44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764540" y="1860549"/>
            <a:ext cx="7416800" cy="418655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443865" indent="-342900">
              <a:lnSpc>
                <a:spcPct val="100000"/>
              </a:lnSpc>
              <a:spcBef>
                <a:spcPts val="105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spc="-5" dirty="0">
                <a:latin typeface="Tahoma"/>
                <a:cs typeface="Tahoma"/>
              </a:rPr>
              <a:t>There is one structure of </a:t>
            </a:r>
            <a:r>
              <a:rPr sz="3200" spc="-30" dirty="0">
                <a:latin typeface="Tahoma"/>
                <a:cs typeface="Tahoma"/>
              </a:rPr>
              <a:t>FD’s </a:t>
            </a:r>
            <a:r>
              <a:rPr sz="3200" spc="-5" dirty="0">
                <a:latin typeface="Tahoma"/>
                <a:cs typeface="Tahoma"/>
              </a:rPr>
              <a:t>that  causes trouble when </a:t>
            </a:r>
            <a:r>
              <a:rPr sz="3200" dirty="0">
                <a:latin typeface="Tahoma"/>
                <a:cs typeface="Tahoma"/>
              </a:rPr>
              <a:t>we</a:t>
            </a:r>
            <a:r>
              <a:rPr sz="3200" spc="-30" dirty="0">
                <a:latin typeface="Tahoma"/>
                <a:cs typeface="Tahoma"/>
              </a:rPr>
              <a:t> </a:t>
            </a:r>
            <a:r>
              <a:rPr sz="3200" spc="-5" dirty="0">
                <a:latin typeface="Tahoma"/>
                <a:cs typeface="Tahoma"/>
              </a:rPr>
              <a:t>decompose.</a:t>
            </a:r>
            <a:endParaRPr sz="3200" dirty="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615"/>
              </a:spcBef>
            </a:pPr>
            <a:r>
              <a:rPr sz="3200" spc="-330" dirty="0">
                <a:solidFill>
                  <a:srgbClr val="CC00CC"/>
                </a:solidFill>
                <a:latin typeface="Wingdings"/>
                <a:cs typeface="Wingdings"/>
              </a:rPr>
              <a:t></a:t>
            </a:r>
            <a:r>
              <a:rPr sz="3350" i="1" spc="-330" dirty="0">
                <a:solidFill>
                  <a:srgbClr val="00CC99"/>
                </a:solidFill>
                <a:latin typeface="Tahoma"/>
                <a:cs typeface="Tahoma"/>
              </a:rPr>
              <a:t>AB</a:t>
            </a:r>
            <a:r>
              <a:rPr sz="3200" spc="-330" dirty="0">
                <a:solidFill>
                  <a:srgbClr val="00CC99"/>
                </a:solidFill>
                <a:latin typeface="Tahoma"/>
                <a:cs typeface="Tahoma"/>
              </a:rPr>
              <a:t>-&gt;</a:t>
            </a:r>
            <a:r>
              <a:rPr sz="3350" i="1" spc="-330" dirty="0">
                <a:solidFill>
                  <a:srgbClr val="00CC99"/>
                </a:solidFill>
                <a:latin typeface="Tahoma"/>
                <a:cs typeface="Tahoma"/>
              </a:rPr>
              <a:t>C </a:t>
            </a:r>
            <a:r>
              <a:rPr sz="3200" spc="-5" dirty="0">
                <a:latin typeface="Tahoma"/>
                <a:cs typeface="Tahoma"/>
              </a:rPr>
              <a:t>and</a:t>
            </a:r>
            <a:r>
              <a:rPr sz="3200" spc="-685" dirty="0">
                <a:latin typeface="Tahoma"/>
                <a:cs typeface="Tahoma"/>
              </a:rPr>
              <a:t> </a:t>
            </a:r>
            <a:r>
              <a:rPr sz="3350" i="1" spc="-290" dirty="0">
                <a:solidFill>
                  <a:srgbClr val="00CC99"/>
                </a:solidFill>
                <a:latin typeface="Tahoma"/>
                <a:cs typeface="Tahoma"/>
              </a:rPr>
              <a:t>C</a:t>
            </a:r>
            <a:r>
              <a:rPr sz="3200" spc="-290" dirty="0">
                <a:solidFill>
                  <a:srgbClr val="00CC99"/>
                </a:solidFill>
                <a:latin typeface="Tahoma"/>
                <a:cs typeface="Tahoma"/>
              </a:rPr>
              <a:t>-&gt;</a:t>
            </a:r>
            <a:r>
              <a:rPr sz="3350" i="1" spc="-290" dirty="0">
                <a:solidFill>
                  <a:srgbClr val="00CC99"/>
                </a:solidFill>
                <a:latin typeface="Tahoma"/>
                <a:cs typeface="Tahoma"/>
              </a:rPr>
              <a:t>B</a:t>
            </a:r>
            <a:r>
              <a:rPr sz="3200" spc="-290" dirty="0">
                <a:latin typeface="Tahoma"/>
                <a:cs typeface="Tahoma"/>
              </a:rPr>
              <a:t>.</a:t>
            </a:r>
            <a:endParaRPr sz="3200" dirty="0">
              <a:latin typeface="Tahoma"/>
              <a:cs typeface="Tahoma"/>
            </a:endParaRPr>
          </a:p>
          <a:p>
            <a:pPr marL="755650" lvl="1" indent="-285750">
              <a:lnSpc>
                <a:spcPts val="3420"/>
              </a:lnSpc>
              <a:spcBef>
                <a:spcPts val="540"/>
              </a:spcBef>
              <a:buClr>
                <a:srgbClr val="CC00CC"/>
              </a:buClr>
              <a:buFont typeface="Wingdings"/>
              <a:buChar char=""/>
              <a:tabLst>
                <a:tab pos="755650" algn="l"/>
              </a:tabLst>
            </a:pPr>
            <a:r>
              <a:rPr sz="2800" spc="-5" dirty="0">
                <a:latin typeface="Tahoma"/>
                <a:cs typeface="Tahoma"/>
              </a:rPr>
              <a:t>Example: </a:t>
            </a:r>
            <a:r>
              <a:rPr sz="2900" i="1" spc="-45" dirty="0">
                <a:latin typeface="Tahoma"/>
                <a:cs typeface="Tahoma"/>
              </a:rPr>
              <a:t>A</a:t>
            </a:r>
            <a:r>
              <a:rPr sz="2800" spc="-45" dirty="0">
                <a:latin typeface="Tahoma"/>
                <a:cs typeface="Tahoma"/>
              </a:rPr>
              <a:t>= </a:t>
            </a:r>
            <a:r>
              <a:rPr sz="2800" spc="-5" dirty="0">
                <a:latin typeface="Tahoma"/>
                <a:cs typeface="Tahoma"/>
              </a:rPr>
              <a:t>street address, </a:t>
            </a:r>
            <a:r>
              <a:rPr sz="2900" i="1" spc="-45" dirty="0">
                <a:latin typeface="Tahoma"/>
                <a:cs typeface="Tahoma"/>
              </a:rPr>
              <a:t>B</a:t>
            </a:r>
            <a:r>
              <a:rPr sz="2800" spc="-45" dirty="0">
                <a:latin typeface="Tahoma"/>
                <a:cs typeface="Tahoma"/>
              </a:rPr>
              <a:t>=</a:t>
            </a:r>
            <a:r>
              <a:rPr sz="2800" spc="-325" dirty="0">
                <a:latin typeface="Tahoma"/>
                <a:cs typeface="Tahoma"/>
              </a:rPr>
              <a:t> </a:t>
            </a:r>
            <a:r>
              <a:rPr sz="2800" spc="-60" dirty="0">
                <a:latin typeface="Tahoma"/>
                <a:cs typeface="Tahoma"/>
              </a:rPr>
              <a:t>city,</a:t>
            </a:r>
            <a:endParaRPr sz="2800" dirty="0">
              <a:latin typeface="Tahoma"/>
              <a:cs typeface="Tahoma"/>
            </a:endParaRPr>
          </a:p>
          <a:p>
            <a:pPr marL="732155">
              <a:lnSpc>
                <a:spcPts val="3420"/>
              </a:lnSpc>
            </a:pPr>
            <a:r>
              <a:rPr sz="2900" i="1" spc="-45" dirty="0">
                <a:latin typeface="Tahoma"/>
                <a:cs typeface="Tahoma"/>
              </a:rPr>
              <a:t>C</a:t>
            </a:r>
            <a:r>
              <a:rPr sz="2800" spc="-45" dirty="0">
                <a:latin typeface="Tahoma"/>
                <a:cs typeface="Tahoma"/>
              </a:rPr>
              <a:t>= </a:t>
            </a:r>
            <a:r>
              <a:rPr sz="2800" spc="-5" dirty="0">
                <a:latin typeface="Tahoma"/>
                <a:cs typeface="Tahoma"/>
              </a:rPr>
              <a:t>zip</a:t>
            </a:r>
            <a:r>
              <a:rPr sz="2800" spc="45" dirty="0">
                <a:latin typeface="Tahoma"/>
                <a:cs typeface="Tahoma"/>
              </a:rPr>
              <a:t> </a:t>
            </a:r>
            <a:r>
              <a:rPr sz="2800" spc="-5" dirty="0">
                <a:latin typeface="Tahoma"/>
                <a:cs typeface="Tahoma"/>
              </a:rPr>
              <a:t>code.</a:t>
            </a:r>
            <a:endParaRPr sz="2800" dirty="0">
              <a:latin typeface="Tahoma"/>
              <a:cs typeface="Tahoma"/>
            </a:endParaRPr>
          </a:p>
          <a:p>
            <a:pPr marL="414655" indent="-402590">
              <a:lnSpc>
                <a:spcPct val="100000"/>
              </a:lnSpc>
              <a:spcBef>
                <a:spcPts val="595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spc="-5" dirty="0">
                <a:latin typeface="Tahoma"/>
                <a:cs typeface="Tahoma"/>
              </a:rPr>
              <a:t>There </a:t>
            </a:r>
            <a:r>
              <a:rPr sz="3200" spc="-10" dirty="0">
                <a:latin typeface="Tahoma"/>
                <a:cs typeface="Tahoma"/>
              </a:rPr>
              <a:t>are </a:t>
            </a:r>
            <a:r>
              <a:rPr sz="3200" spc="-5" dirty="0">
                <a:latin typeface="Tahoma"/>
                <a:cs typeface="Tahoma"/>
              </a:rPr>
              <a:t>two </a:t>
            </a:r>
            <a:r>
              <a:rPr sz="3200" spc="-10" dirty="0">
                <a:latin typeface="Tahoma"/>
                <a:cs typeface="Tahoma"/>
              </a:rPr>
              <a:t>keys, </a:t>
            </a:r>
            <a:r>
              <a:rPr sz="3200" spc="-335" dirty="0">
                <a:solidFill>
                  <a:srgbClr val="33CC33"/>
                </a:solidFill>
                <a:latin typeface="Tahoma"/>
                <a:cs typeface="Tahoma"/>
              </a:rPr>
              <a:t>{</a:t>
            </a:r>
            <a:r>
              <a:rPr sz="3350" i="1" spc="-335" dirty="0">
                <a:solidFill>
                  <a:srgbClr val="33CC33"/>
                </a:solidFill>
                <a:latin typeface="Tahoma"/>
                <a:cs typeface="Tahoma"/>
              </a:rPr>
              <a:t>A</a:t>
            </a:r>
            <a:r>
              <a:rPr sz="3200" spc="-335" dirty="0">
                <a:solidFill>
                  <a:srgbClr val="33CC33"/>
                </a:solidFill>
                <a:latin typeface="Tahoma"/>
                <a:cs typeface="Tahoma"/>
              </a:rPr>
              <a:t>,</a:t>
            </a:r>
            <a:r>
              <a:rPr sz="3350" i="1" spc="-335" dirty="0">
                <a:solidFill>
                  <a:srgbClr val="33CC33"/>
                </a:solidFill>
                <a:latin typeface="Tahoma"/>
                <a:cs typeface="Tahoma"/>
              </a:rPr>
              <a:t>B</a:t>
            </a:r>
            <a:r>
              <a:rPr sz="3200" spc="-335" dirty="0">
                <a:solidFill>
                  <a:srgbClr val="33CC33"/>
                </a:solidFill>
                <a:latin typeface="Tahoma"/>
                <a:cs typeface="Tahoma"/>
              </a:rPr>
              <a:t>} </a:t>
            </a:r>
            <a:r>
              <a:rPr sz="3200" spc="-5" dirty="0">
                <a:latin typeface="Tahoma"/>
                <a:cs typeface="Tahoma"/>
              </a:rPr>
              <a:t>and</a:t>
            </a:r>
            <a:r>
              <a:rPr sz="3200" spc="-335" dirty="0">
                <a:latin typeface="Tahoma"/>
                <a:cs typeface="Tahoma"/>
              </a:rPr>
              <a:t> </a:t>
            </a:r>
            <a:r>
              <a:rPr sz="3200" spc="-280" dirty="0">
                <a:solidFill>
                  <a:srgbClr val="33CC33"/>
                </a:solidFill>
                <a:latin typeface="Tahoma"/>
                <a:cs typeface="Tahoma"/>
              </a:rPr>
              <a:t>{</a:t>
            </a:r>
            <a:r>
              <a:rPr sz="3350" i="1" spc="-280" dirty="0">
                <a:solidFill>
                  <a:srgbClr val="33CC33"/>
                </a:solidFill>
                <a:latin typeface="Tahoma"/>
                <a:cs typeface="Tahoma"/>
              </a:rPr>
              <a:t>A</a:t>
            </a:r>
            <a:r>
              <a:rPr sz="3200" spc="-280" dirty="0">
                <a:solidFill>
                  <a:srgbClr val="33CC33"/>
                </a:solidFill>
                <a:latin typeface="Tahoma"/>
                <a:cs typeface="Tahoma"/>
              </a:rPr>
              <a:t>,</a:t>
            </a:r>
            <a:r>
              <a:rPr sz="3350" i="1" spc="-280" dirty="0">
                <a:solidFill>
                  <a:srgbClr val="33CC33"/>
                </a:solidFill>
                <a:latin typeface="Tahoma"/>
                <a:cs typeface="Tahoma"/>
              </a:rPr>
              <a:t>C</a:t>
            </a:r>
            <a:r>
              <a:rPr sz="3200" spc="-280" dirty="0">
                <a:solidFill>
                  <a:srgbClr val="33CC33"/>
                </a:solidFill>
                <a:latin typeface="Tahoma"/>
                <a:cs typeface="Tahoma"/>
              </a:rPr>
              <a:t>}</a:t>
            </a:r>
            <a:r>
              <a:rPr sz="3200" spc="-280" dirty="0">
                <a:latin typeface="Tahoma"/>
                <a:cs typeface="Tahoma"/>
              </a:rPr>
              <a:t>.</a:t>
            </a:r>
            <a:endParaRPr sz="3200" dirty="0">
              <a:latin typeface="Tahoma"/>
              <a:cs typeface="Tahoma"/>
            </a:endParaRPr>
          </a:p>
          <a:p>
            <a:pPr marL="355600" marR="42545" indent="-342900">
              <a:lnSpc>
                <a:spcPts val="3840"/>
              </a:lnSpc>
              <a:spcBef>
                <a:spcPts val="860"/>
              </a:spcBef>
            </a:pPr>
            <a:r>
              <a:rPr sz="3200" spc="-130" dirty="0">
                <a:solidFill>
                  <a:srgbClr val="CC00CC"/>
                </a:solidFill>
                <a:latin typeface="Wingdings"/>
                <a:cs typeface="Wingdings"/>
              </a:rPr>
              <a:t></a:t>
            </a:r>
            <a:r>
              <a:rPr sz="3350" i="1" spc="-130" dirty="0">
                <a:solidFill>
                  <a:srgbClr val="00CC99"/>
                </a:solidFill>
                <a:latin typeface="Tahoma"/>
                <a:cs typeface="Tahoma"/>
              </a:rPr>
              <a:t>C</a:t>
            </a:r>
            <a:r>
              <a:rPr sz="3200" spc="-130" dirty="0">
                <a:solidFill>
                  <a:srgbClr val="00CC99"/>
                </a:solidFill>
                <a:latin typeface="Tahoma"/>
                <a:cs typeface="Tahoma"/>
              </a:rPr>
              <a:t>-&gt;</a:t>
            </a:r>
            <a:r>
              <a:rPr sz="3350" i="1" spc="-130" dirty="0">
                <a:solidFill>
                  <a:srgbClr val="00CC99"/>
                </a:solidFill>
                <a:latin typeface="Tahoma"/>
                <a:cs typeface="Tahoma"/>
              </a:rPr>
              <a:t>B </a:t>
            </a:r>
            <a:r>
              <a:rPr sz="3200" spc="-5" dirty="0">
                <a:latin typeface="Tahoma"/>
                <a:cs typeface="Tahoma"/>
              </a:rPr>
              <a:t>is </a:t>
            </a:r>
            <a:r>
              <a:rPr sz="3200" dirty="0">
                <a:latin typeface="Tahoma"/>
                <a:cs typeface="Tahoma"/>
              </a:rPr>
              <a:t>a BCNF </a:t>
            </a:r>
            <a:r>
              <a:rPr sz="3200" spc="-5" dirty="0">
                <a:latin typeface="Tahoma"/>
                <a:cs typeface="Tahoma"/>
              </a:rPr>
              <a:t>violation, </a:t>
            </a:r>
            <a:r>
              <a:rPr sz="3200" dirty="0">
                <a:latin typeface="Tahoma"/>
                <a:cs typeface="Tahoma"/>
              </a:rPr>
              <a:t>so we </a:t>
            </a:r>
            <a:r>
              <a:rPr sz="3200" spc="-5" dirty="0">
                <a:latin typeface="Tahoma"/>
                <a:cs typeface="Tahoma"/>
              </a:rPr>
              <a:t>must  decompose into </a:t>
            </a:r>
            <a:r>
              <a:rPr sz="3350" i="1" spc="-750" dirty="0">
                <a:latin typeface="Tahoma"/>
                <a:cs typeface="Tahoma"/>
              </a:rPr>
              <a:t>AC</a:t>
            </a:r>
            <a:r>
              <a:rPr sz="3200" spc="-750" dirty="0">
                <a:latin typeface="Tahoma"/>
                <a:cs typeface="Tahoma"/>
              </a:rPr>
              <a:t>,</a:t>
            </a:r>
            <a:r>
              <a:rPr sz="3200" spc="-640" dirty="0">
                <a:latin typeface="Tahoma"/>
                <a:cs typeface="Tahoma"/>
              </a:rPr>
              <a:t> </a:t>
            </a:r>
            <a:r>
              <a:rPr sz="3350" i="1" spc="-815" dirty="0">
                <a:latin typeface="Tahoma"/>
                <a:cs typeface="Tahoma"/>
              </a:rPr>
              <a:t>BC</a:t>
            </a:r>
            <a:r>
              <a:rPr sz="3200" spc="-815" dirty="0">
                <a:latin typeface="Tahoma"/>
                <a:cs typeface="Tahoma"/>
              </a:rPr>
              <a:t>.</a:t>
            </a:r>
            <a:endParaRPr sz="3200" dirty="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602105" y="829944"/>
            <a:ext cx="594042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85" dirty="0"/>
              <a:t>We </a:t>
            </a:r>
            <a:r>
              <a:rPr spc="-5" dirty="0"/>
              <a:t>Cannot </a:t>
            </a:r>
            <a:r>
              <a:rPr spc="-15" dirty="0"/>
              <a:t>Enforce</a:t>
            </a:r>
            <a:r>
              <a:rPr spc="35" dirty="0"/>
              <a:t> </a:t>
            </a:r>
            <a:r>
              <a:rPr spc="-40" dirty="0"/>
              <a:t>FD’s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dirty="0"/>
              <a:t>45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764540" y="1992617"/>
            <a:ext cx="7567930" cy="3074035"/>
          </a:xfrm>
          <a:prstGeom prst="rect">
            <a:avLst/>
          </a:prstGeom>
        </p:spPr>
        <p:txBody>
          <a:bodyPr vert="horz" wrap="square" lIns="0" tIns="49530" rIns="0" bIns="0" rtlCol="0">
            <a:spAutoFit/>
          </a:bodyPr>
          <a:lstStyle/>
          <a:p>
            <a:pPr marL="328295" marR="5080" indent="-316230">
              <a:lnSpc>
                <a:spcPts val="3840"/>
              </a:lnSpc>
              <a:spcBef>
                <a:spcPts val="390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spc="-5" dirty="0">
                <a:latin typeface="Tahoma"/>
                <a:cs typeface="Tahoma"/>
              </a:rPr>
              <a:t>The problem is that </a:t>
            </a:r>
            <a:r>
              <a:rPr sz="3200" dirty="0">
                <a:latin typeface="Tahoma"/>
                <a:cs typeface="Tahoma"/>
              </a:rPr>
              <a:t>if we </a:t>
            </a:r>
            <a:r>
              <a:rPr sz="3200" spc="-5" dirty="0">
                <a:latin typeface="Tahoma"/>
                <a:cs typeface="Tahoma"/>
              </a:rPr>
              <a:t>use </a:t>
            </a:r>
            <a:r>
              <a:rPr sz="3350" i="1" spc="-605" dirty="0">
                <a:latin typeface="Tahoma"/>
                <a:cs typeface="Tahoma"/>
              </a:rPr>
              <a:t>AC </a:t>
            </a:r>
            <a:r>
              <a:rPr sz="3200" spc="-5" dirty="0">
                <a:latin typeface="Tahoma"/>
                <a:cs typeface="Tahoma"/>
              </a:rPr>
              <a:t>and </a:t>
            </a:r>
            <a:r>
              <a:rPr sz="3350" i="1" spc="-705" dirty="0">
                <a:latin typeface="Tahoma"/>
                <a:cs typeface="Tahoma"/>
              </a:rPr>
              <a:t>BC  </a:t>
            </a:r>
            <a:r>
              <a:rPr sz="3200" spc="-5" dirty="0">
                <a:latin typeface="Tahoma"/>
                <a:cs typeface="Tahoma"/>
              </a:rPr>
              <a:t>as our database schema, </a:t>
            </a:r>
            <a:r>
              <a:rPr sz="3200" dirty="0">
                <a:latin typeface="Tahoma"/>
                <a:cs typeface="Tahoma"/>
              </a:rPr>
              <a:t>we </a:t>
            </a:r>
            <a:r>
              <a:rPr sz="3200" spc="-5" dirty="0">
                <a:latin typeface="Tahoma"/>
                <a:cs typeface="Tahoma"/>
              </a:rPr>
              <a:t>cannot  </a:t>
            </a:r>
            <a:r>
              <a:rPr sz="3200" spc="-10" dirty="0">
                <a:latin typeface="Tahoma"/>
                <a:cs typeface="Tahoma"/>
              </a:rPr>
              <a:t>enforce </a:t>
            </a:r>
            <a:r>
              <a:rPr sz="3200" spc="-5" dirty="0">
                <a:latin typeface="Tahoma"/>
                <a:cs typeface="Tahoma"/>
              </a:rPr>
              <a:t>the </a:t>
            </a:r>
            <a:r>
              <a:rPr sz="3200" dirty="0">
                <a:latin typeface="Tahoma"/>
                <a:cs typeface="Tahoma"/>
              </a:rPr>
              <a:t>FD </a:t>
            </a:r>
            <a:r>
              <a:rPr sz="3350" i="1" spc="-310" dirty="0">
                <a:solidFill>
                  <a:srgbClr val="00CC99"/>
                </a:solidFill>
                <a:latin typeface="Tahoma"/>
                <a:cs typeface="Tahoma"/>
              </a:rPr>
              <a:t>AB</a:t>
            </a:r>
            <a:r>
              <a:rPr sz="3200" spc="-310" dirty="0">
                <a:solidFill>
                  <a:srgbClr val="00CC99"/>
                </a:solidFill>
                <a:latin typeface="Tahoma"/>
                <a:cs typeface="Tahoma"/>
              </a:rPr>
              <a:t>-&gt;</a:t>
            </a:r>
            <a:r>
              <a:rPr sz="3350" i="1" spc="-310" dirty="0">
                <a:solidFill>
                  <a:srgbClr val="00CC99"/>
                </a:solidFill>
                <a:latin typeface="Tahoma"/>
                <a:cs typeface="Tahoma"/>
              </a:rPr>
              <a:t>C </a:t>
            </a:r>
            <a:r>
              <a:rPr sz="3200" spc="-5" dirty="0">
                <a:latin typeface="Tahoma"/>
                <a:cs typeface="Tahoma"/>
              </a:rPr>
              <a:t>by checking </a:t>
            </a:r>
            <a:r>
              <a:rPr sz="3200" spc="-30" dirty="0">
                <a:latin typeface="Tahoma"/>
                <a:cs typeface="Tahoma"/>
              </a:rPr>
              <a:t>FD’s  </a:t>
            </a:r>
            <a:r>
              <a:rPr sz="3200" spc="-5" dirty="0">
                <a:latin typeface="Tahoma"/>
                <a:cs typeface="Tahoma"/>
              </a:rPr>
              <a:t>in these decomposed</a:t>
            </a:r>
            <a:r>
              <a:rPr sz="3200" spc="-15" dirty="0">
                <a:latin typeface="Tahoma"/>
                <a:cs typeface="Tahoma"/>
              </a:rPr>
              <a:t> </a:t>
            </a:r>
            <a:r>
              <a:rPr sz="3200" spc="-5" dirty="0">
                <a:latin typeface="Tahoma"/>
                <a:cs typeface="Tahoma"/>
              </a:rPr>
              <a:t>relations.</a:t>
            </a:r>
            <a:endParaRPr sz="3200" dirty="0">
              <a:latin typeface="Tahoma"/>
              <a:cs typeface="Tahoma"/>
            </a:endParaRPr>
          </a:p>
          <a:p>
            <a:pPr marL="414655" indent="-402590">
              <a:lnSpc>
                <a:spcPts val="3929"/>
              </a:lnSpc>
              <a:spcBef>
                <a:spcPts val="490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spc="-5" dirty="0">
                <a:latin typeface="Tahoma"/>
                <a:cs typeface="Tahoma"/>
              </a:rPr>
              <a:t>Example with </a:t>
            </a:r>
            <a:r>
              <a:rPr sz="3350" i="1" spc="-60" dirty="0">
                <a:latin typeface="Tahoma"/>
                <a:cs typeface="Tahoma"/>
              </a:rPr>
              <a:t>A</a:t>
            </a:r>
            <a:r>
              <a:rPr sz="3200" spc="-60" dirty="0">
                <a:latin typeface="Tahoma"/>
                <a:cs typeface="Tahoma"/>
              </a:rPr>
              <a:t>= </a:t>
            </a:r>
            <a:r>
              <a:rPr sz="3200" spc="-5" dirty="0">
                <a:latin typeface="Tahoma"/>
                <a:cs typeface="Tahoma"/>
              </a:rPr>
              <a:t>street, </a:t>
            </a:r>
            <a:r>
              <a:rPr sz="3350" i="1" spc="-60" dirty="0">
                <a:latin typeface="Tahoma"/>
                <a:cs typeface="Tahoma"/>
              </a:rPr>
              <a:t>B</a:t>
            </a:r>
            <a:r>
              <a:rPr sz="3200" spc="-60" dirty="0">
                <a:latin typeface="Tahoma"/>
                <a:cs typeface="Tahoma"/>
              </a:rPr>
              <a:t>= </a:t>
            </a:r>
            <a:r>
              <a:rPr sz="3200" spc="-70" dirty="0">
                <a:latin typeface="Tahoma"/>
                <a:cs typeface="Tahoma"/>
              </a:rPr>
              <a:t>city,</a:t>
            </a:r>
            <a:r>
              <a:rPr sz="3200" spc="-320" dirty="0">
                <a:latin typeface="Tahoma"/>
                <a:cs typeface="Tahoma"/>
              </a:rPr>
              <a:t> </a:t>
            </a:r>
            <a:r>
              <a:rPr sz="3200" spc="-5" dirty="0">
                <a:latin typeface="Tahoma"/>
                <a:cs typeface="Tahoma"/>
              </a:rPr>
              <a:t>and</a:t>
            </a:r>
            <a:endParaRPr sz="3200" dirty="0">
              <a:latin typeface="Tahoma"/>
              <a:cs typeface="Tahoma"/>
            </a:endParaRPr>
          </a:p>
          <a:p>
            <a:pPr marL="328295">
              <a:lnSpc>
                <a:spcPts val="3929"/>
              </a:lnSpc>
            </a:pPr>
            <a:r>
              <a:rPr sz="3350" i="1" spc="-60" dirty="0">
                <a:latin typeface="Tahoma"/>
                <a:cs typeface="Tahoma"/>
              </a:rPr>
              <a:t>C</a:t>
            </a:r>
            <a:r>
              <a:rPr sz="3200" spc="-60" dirty="0">
                <a:latin typeface="Tahoma"/>
                <a:cs typeface="Tahoma"/>
              </a:rPr>
              <a:t>= </a:t>
            </a:r>
            <a:r>
              <a:rPr sz="3200" spc="-5" dirty="0">
                <a:latin typeface="Tahoma"/>
                <a:cs typeface="Tahoma"/>
              </a:rPr>
              <a:t>zip </a:t>
            </a:r>
            <a:r>
              <a:rPr sz="3200" dirty="0">
                <a:latin typeface="Tahoma"/>
                <a:cs typeface="Tahoma"/>
              </a:rPr>
              <a:t>on </a:t>
            </a:r>
            <a:r>
              <a:rPr sz="3200" spc="-5" dirty="0">
                <a:latin typeface="Tahoma"/>
                <a:cs typeface="Tahoma"/>
              </a:rPr>
              <a:t>the next</a:t>
            </a:r>
            <a:r>
              <a:rPr sz="3200" spc="35" dirty="0">
                <a:latin typeface="Tahoma"/>
                <a:cs typeface="Tahoma"/>
              </a:rPr>
              <a:t> </a:t>
            </a:r>
            <a:r>
              <a:rPr sz="3200" spc="-5" dirty="0">
                <a:latin typeface="Tahoma"/>
                <a:cs typeface="Tahoma"/>
              </a:rPr>
              <a:t>slide.</a:t>
            </a:r>
            <a:endParaRPr sz="3200" dirty="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958975" y="829944"/>
            <a:ext cx="522605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An </a:t>
            </a:r>
            <a:r>
              <a:rPr spc="-10" dirty="0"/>
              <a:t>Unenforceable</a:t>
            </a:r>
            <a:r>
              <a:rPr spc="-75" dirty="0"/>
              <a:t> </a:t>
            </a:r>
            <a:r>
              <a:rPr dirty="0"/>
              <a:t>FD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282064" y="2047240"/>
            <a:ext cx="2686685" cy="1123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228600">
              <a:lnSpc>
                <a:spcPct val="100000"/>
              </a:lnSpc>
              <a:spcBef>
                <a:spcPts val="100"/>
              </a:spcBef>
              <a:tabLst>
                <a:tab pos="2031364" algn="l"/>
              </a:tabLst>
            </a:pPr>
            <a:r>
              <a:rPr sz="2400" spc="-5" dirty="0">
                <a:latin typeface="Tahoma"/>
                <a:cs typeface="Tahoma"/>
              </a:rPr>
              <a:t>street	zip  545 </a:t>
            </a:r>
            <a:r>
              <a:rPr sz="2400" spc="-65" dirty="0">
                <a:latin typeface="Tahoma"/>
                <a:cs typeface="Tahoma"/>
              </a:rPr>
              <a:t>Tech </a:t>
            </a:r>
            <a:r>
              <a:rPr sz="2400" spc="-5" dirty="0">
                <a:latin typeface="Tahoma"/>
                <a:cs typeface="Tahoma"/>
              </a:rPr>
              <a:t>Sq.</a:t>
            </a:r>
            <a:r>
              <a:rPr sz="2400" spc="-50" dirty="0">
                <a:latin typeface="Tahoma"/>
                <a:cs typeface="Tahoma"/>
              </a:rPr>
              <a:t> </a:t>
            </a:r>
            <a:r>
              <a:rPr sz="2400" spc="-5" dirty="0">
                <a:latin typeface="Tahoma"/>
                <a:cs typeface="Tahoma"/>
              </a:rPr>
              <a:t>02138</a:t>
            </a:r>
            <a:endParaRPr sz="24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400" spc="-5" dirty="0">
                <a:latin typeface="Tahoma"/>
                <a:cs typeface="Tahoma"/>
              </a:rPr>
              <a:t>545 </a:t>
            </a:r>
            <a:r>
              <a:rPr sz="2400" spc="-65" dirty="0">
                <a:latin typeface="Tahoma"/>
                <a:cs typeface="Tahoma"/>
              </a:rPr>
              <a:t>Tech </a:t>
            </a:r>
            <a:r>
              <a:rPr sz="2400" spc="-5" dirty="0">
                <a:latin typeface="Tahoma"/>
                <a:cs typeface="Tahoma"/>
              </a:rPr>
              <a:t>Sq.</a:t>
            </a:r>
            <a:r>
              <a:rPr sz="2400" spc="-50" dirty="0">
                <a:latin typeface="Tahoma"/>
                <a:cs typeface="Tahoma"/>
              </a:rPr>
              <a:t> </a:t>
            </a:r>
            <a:r>
              <a:rPr sz="2400" spc="-5" dirty="0">
                <a:latin typeface="Tahoma"/>
                <a:cs typeface="Tahoma"/>
              </a:rPr>
              <a:t>02139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184140" y="2082165"/>
            <a:ext cx="48704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Tahoma"/>
                <a:cs typeface="Tahoma"/>
              </a:rPr>
              <a:t>c</a:t>
            </a:r>
            <a:r>
              <a:rPr sz="2400" dirty="0">
                <a:latin typeface="Tahoma"/>
                <a:cs typeface="Tahoma"/>
              </a:rPr>
              <a:t>i</a:t>
            </a:r>
            <a:r>
              <a:rPr sz="2400" spc="-25" dirty="0">
                <a:latin typeface="Tahoma"/>
                <a:cs typeface="Tahoma"/>
              </a:rPr>
              <a:t>t</a:t>
            </a:r>
            <a:r>
              <a:rPr sz="2400" dirty="0">
                <a:latin typeface="Tahoma"/>
                <a:cs typeface="Tahoma"/>
              </a:rPr>
              <a:t>y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6974840" y="2082165"/>
            <a:ext cx="39941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Tahoma"/>
                <a:cs typeface="Tahoma"/>
              </a:rPr>
              <a:t>z</a:t>
            </a:r>
            <a:r>
              <a:rPr sz="2400" dirty="0">
                <a:latin typeface="Tahoma"/>
                <a:cs typeface="Tahoma"/>
              </a:rPr>
              <a:t>ip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955540" y="2448559"/>
            <a:ext cx="1469390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Tahoma"/>
                <a:cs typeface="Tahoma"/>
              </a:rPr>
              <a:t>C</a:t>
            </a:r>
            <a:r>
              <a:rPr sz="2400" dirty="0">
                <a:latin typeface="Tahoma"/>
                <a:cs typeface="Tahoma"/>
              </a:rPr>
              <a:t>a</a:t>
            </a:r>
            <a:r>
              <a:rPr sz="2400" spc="-5" dirty="0">
                <a:latin typeface="Tahoma"/>
                <a:cs typeface="Tahoma"/>
              </a:rPr>
              <a:t>mb</a:t>
            </a:r>
            <a:r>
              <a:rPr sz="2400" dirty="0">
                <a:latin typeface="Tahoma"/>
                <a:cs typeface="Tahoma"/>
              </a:rPr>
              <a:t>ri</a:t>
            </a:r>
            <a:r>
              <a:rPr sz="2400" spc="-5" dirty="0">
                <a:latin typeface="Tahoma"/>
                <a:cs typeface="Tahoma"/>
              </a:rPr>
              <a:t>dg</a:t>
            </a:r>
            <a:r>
              <a:rPr sz="2400" dirty="0">
                <a:latin typeface="Tahoma"/>
                <a:cs typeface="Tahoma"/>
              </a:rPr>
              <a:t>e  </a:t>
            </a:r>
            <a:r>
              <a:rPr sz="2400" spc="-5" dirty="0">
                <a:latin typeface="Tahoma"/>
                <a:cs typeface="Tahoma"/>
              </a:rPr>
              <a:t>C</a:t>
            </a:r>
            <a:r>
              <a:rPr sz="2400" dirty="0">
                <a:latin typeface="Tahoma"/>
                <a:cs typeface="Tahoma"/>
              </a:rPr>
              <a:t>a</a:t>
            </a:r>
            <a:r>
              <a:rPr sz="2400" spc="-5" dirty="0">
                <a:latin typeface="Tahoma"/>
                <a:cs typeface="Tahoma"/>
              </a:rPr>
              <a:t>mb</a:t>
            </a:r>
            <a:r>
              <a:rPr sz="2400" dirty="0">
                <a:latin typeface="Tahoma"/>
                <a:cs typeface="Tahoma"/>
              </a:rPr>
              <a:t>ri</a:t>
            </a:r>
            <a:r>
              <a:rPr sz="2400" spc="-5" dirty="0">
                <a:latin typeface="Tahoma"/>
                <a:cs typeface="Tahoma"/>
              </a:rPr>
              <a:t>dg</a:t>
            </a:r>
            <a:r>
              <a:rPr sz="2400" dirty="0">
                <a:latin typeface="Tahoma"/>
                <a:cs typeface="Tahoma"/>
              </a:rPr>
              <a:t>e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784340" y="2448559"/>
            <a:ext cx="857885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Tahoma"/>
                <a:cs typeface="Tahoma"/>
              </a:rPr>
              <a:t>0213</a:t>
            </a:r>
            <a:r>
              <a:rPr sz="2400" dirty="0">
                <a:latin typeface="Tahoma"/>
                <a:cs typeface="Tahoma"/>
              </a:rPr>
              <a:t>8</a:t>
            </a:r>
            <a:endParaRPr sz="24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</a:pPr>
            <a:r>
              <a:rPr sz="2400" spc="-5" dirty="0">
                <a:latin typeface="Tahoma"/>
                <a:cs typeface="Tahoma"/>
              </a:rPr>
              <a:t>0213</a:t>
            </a:r>
            <a:r>
              <a:rPr sz="2400" dirty="0">
                <a:latin typeface="Tahoma"/>
                <a:cs typeface="Tahoma"/>
              </a:rPr>
              <a:t>9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1214437" y="2052637"/>
            <a:ext cx="2905125" cy="1304925"/>
          </a:xfrm>
          <a:custGeom>
            <a:avLst/>
            <a:gdLst/>
            <a:ahLst/>
            <a:cxnLst/>
            <a:rect l="l" t="t" r="r" b="b"/>
            <a:pathLst>
              <a:path w="2905125" h="1304925">
                <a:moveTo>
                  <a:pt x="2905125" y="1304925"/>
                </a:moveTo>
                <a:lnTo>
                  <a:pt x="0" y="1304925"/>
                </a:lnTo>
                <a:lnTo>
                  <a:pt x="0" y="0"/>
                </a:lnTo>
                <a:lnTo>
                  <a:pt x="2905125" y="0"/>
                </a:lnTo>
                <a:lnTo>
                  <a:pt x="2905125" y="4762"/>
                </a:lnTo>
                <a:lnTo>
                  <a:pt x="9525" y="4762"/>
                </a:lnTo>
                <a:lnTo>
                  <a:pt x="4762" y="9525"/>
                </a:lnTo>
                <a:lnTo>
                  <a:pt x="9525" y="9525"/>
                </a:lnTo>
                <a:lnTo>
                  <a:pt x="9525" y="1295400"/>
                </a:lnTo>
                <a:lnTo>
                  <a:pt x="4762" y="1295400"/>
                </a:lnTo>
                <a:lnTo>
                  <a:pt x="9525" y="1300162"/>
                </a:lnTo>
                <a:lnTo>
                  <a:pt x="2905125" y="1300162"/>
                </a:lnTo>
                <a:lnTo>
                  <a:pt x="2905125" y="1304925"/>
                </a:lnTo>
                <a:close/>
              </a:path>
              <a:path w="2905125" h="1304925">
                <a:moveTo>
                  <a:pt x="9525" y="9525"/>
                </a:moveTo>
                <a:lnTo>
                  <a:pt x="4762" y="9525"/>
                </a:lnTo>
                <a:lnTo>
                  <a:pt x="9525" y="4762"/>
                </a:lnTo>
                <a:lnTo>
                  <a:pt x="9525" y="9525"/>
                </a:lnTo>
                <a:close/>
              </a:path>
              <a:path w="2905125" h="1304925">
                <a:moveTo>
                  <a:pt x="2895600" y="9525"/>
                </a:moveTo>
                <a:lnTo>
                  <a:pt x="9525" y="9525"/>
                </a:lnTo>
                <a:lnTo>
                  <a:pt x="9525" y="4762"/>
                </a:lnTo>
                <a:lnTo>
                  <a:pt x="2895600" y="4762"/>
                </a:lnTo>
                <a:lnTo>
                  <a:pt x="2895600" y="9525"/>
                </a:lnTo>
                <a:close/>
              </a:path>
              <a:path w="2905125" h="1304925">
                <a:moveTo>
                  <a:pt x="2895600" y="1300162"/>
                </a:moveTo>
                <a:lnTo>
                  <a:pt x="2895600" y="4762"/>
                </a:lnTo>
                <a:lnTo>
                  <a:pt x="2900362" y="9525"/>
                </a:lnTo>
                <a:lnTo>
                  <a:pt x="2905125" y="9525"/>
                </a:lnTo>
                <a:lnTo>
                  <a:pt x="2905125" y="1295400"/>
                </a:lnTo>
                <a:lnTo>
                  <a:pt x="2900362" y="1295400"/>
                </a:lnTo>
                <a:lnTo>
                  <a:pt x="2895600" y="1300162"/>
                </a:lnTo>
                <a:close/>
              </a:path>
              <a:path w="2905125" h="1304925">
                <a:moveTo>
                  <a:pt x="2905125" y="9525"/>
                </a:moveTo>
                <a:lnTo>
                  <a:pt x="2900362" y="9525"/>
                </a:lnTo>
                <a:lnTo>
                  <a:pt x="2895600" y="4762"/>
                </a:lnTo>
                <a:lnTo>
                  <a:pt x="2905125" y="4762"/>
                </a:lnTo>
                <a:lnTo>
                  <a:pt x="2905125" y="9525"/>
                </a:lnTo>
                <a:close/>
              </a:path>
              <a:path w="2905125" h="1304925">
                <a:moveTo>
                  <a:pt x="9525" y="1300162"/>
                </a:moveTo>
                <a:lnTo>
                  <a:pt x="4762" y="1295400"/>
                </a:lnTo>
                <a:lnTo>
                  <a:pt x="9525" y="1295400"/>
                </a:lnTo>
                <a:lnTo>
                  <a:pt x="9525" y="1300162"/>
                </a:lnTo>
                <a:close/>
              </a:path>
              <a:path w="2905125" h="1304925">
                <a:moveTo>
                  <a:pt x="2895600" y="1300162"/>
                </a:moveTo>
                <a:lnTo>
                  <a:pt x="9525" y="1300162"/>
                </a:lnTo>
                <a:lnTo>
                  <a:pt x="9525" y="1295400"/>
                </a:lnTo>
                <a:lnTo>
                  <a:pt x="2895600" y="1295400"/>
                </a:lnTo>
                <a:lnTo>
                  <a:pt x="2895600" y="1300162"/>
                </a:lnTo>
                <a:close/>
              </a:path>
              <a:path w="2905125" h="1304925">
                <a:moveTo>
                  <a:pt x="2905125" y="1300162"/>
                </a:moveTo>
                <a:lnTo>
                  <a:pt x="2895600" y="1300162"/>
                </a:lnTo>
                <a:lnTo>
                  <a:pt x="2900362" y="1295400"/>
                </a:lnTo>
                <a:lnTo>
                  <a:pt x="2905125" y="1295400"/>
                </a:lnTo>
                <a:lnTo>
                  <a:pt x="2905125" y="13001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4872037" y="2052637"/>
            <a:ext cx="2905125" cy="1304925"/>
          </a:xfrm>
          <a:custGeom>
            <a:avLst/>
            <a:gdLst/>
            <a:ahLst/>
            <a:cxnLst/>
            <a:rect l="l" t="t" r="r" b="b"/>
            <a:pathLst>
              <a:path w="2905125" h="1304925">
                <a:moveTo>
                  <a:pt x="2905125" y="1304925"/>
                </a:moveTo>
                <a:lnTo>
                  <a:pt x="0" y="1304925"/>
                </a:lnTo>
                <a:lnTo>
                  <a:pt x="0" y="0"/>
                </a:lnTo>
                <a:lnTo>
                  <a:pt x="2905125" y="0"/>
                </a:lnTo>
                <a:lnTo>
                  <a:pt x="2905125" y="4762"/>
                </a:lnTo>
                <a:lnTo>
                  <a:pt x="9525" y="4762"/>
                </a:lnTo>
                <a:lnTo>
                  <a:pt x="4762" y="9525"/>
                </a:lnTo>
                <a:lnTo>
                  <a:pt x="9525" y="9525"/>
                </a:lnTo>
                <a:lnTo>
                  <a:pt x="9525" y="1295400"/>
                </a:lnTo>
                <a:lnTo>
                  <a:pt x="4762" y="1295400"/>
                </a:lnTo>
                <a:lnTo>
                  <a:pt x="9525" y="1300162"/>
                </a:lnTo>
                <a:lnTo>
                  <a:pt x="2905125" y="1300162"/>
                </a:lnTo>
                <a:lnTo>
                  <a:pt x="2905125" y="1304925"/>
                </a:lnTo>
                <a:close/>
              </a:path>
              <a:path w="2905125" h="1304925">
                <a:moveTo>
                  <a:pt x="9525" y="9525"/>
                </a:moveTo>
                <a:lnTo>
                  <a:pt x="4762" y="9525"/>
                </a:lnTo>
                <a:lnTo>
                  <a:pt x="9525" y="4762"/>
                </a:lnTo>
                <a:lnTo>
                  <a:pt x="9525" y="9525"/>
                </a:lnTo>
                <a:close/>
              </a:path>
              <a:path w="2905125" h="1304925">
                <a:moveTo>
                  <a:pt x="2895600" y="9525"/>
                </a:moveTo>
                <a:lnTo>
                  <a:pt x="9525" y="9525"/>
                </a:lnTo>
                <a:lnTo>
                  <a:pt x="9525" y="4762"/>
                </a:lnTo>
                <a:lnTo>
                  <a:pt x="2895600" y="4762"/>
                </a:lnTo>
                <a:lnTo>
                  <a:pt x="2895600" y="9525"/>
                </a:lnTo>
                <a:close/>
              </a:path>
              <a:path w="2905125" h="1304925">
                <a:moveTo>
                  <a:pt x="2895600" y="1300162"/>
                </a:moveTo>
                <a:lnTo>
                  <a:pt x="2895600" y="4762"/>
                </a:lnTo>
                <a:lnTo>
                  <a:pt x="2900362" y="9525"/>
                </a:lnTo>
                <a:lnTo>
                  <a:pt x="2905125" y="9525"/>
                </a:lnTo>
                <a:lnTo>
                  <a:pt x="2905125" y="1295400"/>
                </a:lnTo>
                <a:lnTo>
                  <a:pt x="2900362" y="1295400"/>
                </a:lnTo>
                <a:lnTo>
                  <a:pt x="2895600" y="1300162"/>
                </a:lnTo>
                <a:close/>
              </a:path>
              <a:path w="2905125" h="1304925">
                <a:moveTo>
                  <a:pt x="2905125" y="9525"/>
                </a:moveTo>
                <a:lnTo>
                  <a:pt x="2900362" y="9525"/>
                </a:lnTo>
                <a:lnTo>
                  <a:pt x="2895600" y="4762"/>
                </a:lnTo>
                <a:lnTo>
                  <a:pt x="2905125" y="4762"/>
                </a:lnTo>
                <a:lnTo>
                  <a:pt x="2905125" y="9525"/>
                </a:lnTo>
                <a:close/>
              </a:path>
              <a:path w="2905125" h="1304925">
                <a:moveTo>
                  <a:pt x="9525" y="1300162"/>
                </a:moveTo>
                <a:lnTo>
                  <a:pt x="4762" y="1295400"/>
                </a:lnTo>
                <a:lnTo>
                  <a:pt x="9525" y="1295400"/>
                </a:lnTo>
                <a:lnTo>
                  <a:pt x="9525" y="1300162"/>
                </a:lnTo>
                <a:close/>
              </a:path>
              <a:path w="2905125" h="1304925">
                <a:moveTo>
                  <a:pt x="2895600" y="1300162"/>
                </a:moveTo>
                <a:lnTo>
                  <a:pt x="9525" y="1300162"/>
                </a:lnTo>
                <a:lnTo>
                  <a:pt x="9525" y="1295400"/>
                </a:lnTo>
                <a:lnTo>
                  <a:pt x="2895600" y="1295400"/>
                </a:lnTo>
                <a:lnTo>
                  <a:pt x="2895600" y="1300162"/>
                </a:lnTo>
                <a:close/>
              </a:path>
              <a:path w="2905125" h="1304925">
                <a:moveTo>
                  <a:pt x="2905125" y="1300162"/>
                </a:moveTo>
                <a:lnTo>
                  <a:pt x="2895600" y="1300162"/>
                </a:lnTo>
                <a:lnTo>
                  <a:pt x="2900362" y="1295400"/>
                </a:lnTo>
                <a:lnTo>
                  <a:pt x="2905125" y="1295400"/>
                </a:lnTo>
                <a:lnTo>
                  <a:pt x="2905125" y="13001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1219200" y="2438400"/>
            <a:ext cx="2895600" cy="0"/>
          </a:xfrm>
          <a:custGeom>
            <a:avLst/>
            <a:gdLst/>
            <a:ahLst/>
            <a:cxnLst/>
            <a:rect l="l" t="t" r="r" b="b"/>
            <a:pathLst>
              <a:path w="2895600">
                <a:moveTo>
                  <a:pt x="0" y="0"/>
                </a:moveTo>
                <a:lnTo>
                  <a:pt x="2895600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4876800" y="2438400"/>
            <a:ext cx="2895600" cy="0"/>
          </a:xfrm>
          <a:custGeom>
            <a:avLst/>
            <a:gdLst/>
            <a:ahLst/>
            <a:cxnLst/>
            <a:rect l="l" t="t" r="r" b="b"/>
            <a:pathLst>
              <a:path w="2895600">
                <a:moveTo>
                  <a:pt x="0" y="0"/>
                </a:moveTo>
                <a:lnTo>
                  <a:pt x="2895600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3048000" y="2057400"/>
            <a:ext cx="0" cy="1295400"/>
          </a:xfrm>
          <a:custGeom>
            <a:avLst/>
            <a:gdLst/>
            <a:ahLst/>
            <a:cxnLst/>
            <a:rect l="l" t="t" r="r" b="b"/>
            <a:pathLst>
              <a:path h="1295400">
                <a:moveTo>
                  <a:pt x="0" y="0"/>
                </a:moveTo>
                <a:lnTo>
                  <a:pt x="0" y="129540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6553200" y="2057400"/>
            <a:ext cx="0" cy="1295400"/>
          </a:xfrm>
          <a:custGeom>
            <a:avLst/>
            <a:gdLst/>
            <a:ahLst/>
            <a:cxnLst/>
            <a:rect l="l" t="t" r="r" b="b"/>
            <a:pathLst>
              <a:path h="1295400">
                <a:moveTo>
                  <a:pt x="0" y="0"/>
                </a:moveTo>
                <a:lnTo>
                  <a:pt x="0" y="129540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6304915" y="4174490"/>
            <a:ext cx="39941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Tahoma"/>
                <a:cs typeface="Tahoma"/>
              </a:rPr>
              <a:t>z</a:t>
            </a:r>
            <a:r>
              <a:rPr sz="2400" dirty="0">
                <a:latin typeface="Tahoma"/>
                <a:cs typeface="Tahoma"/>
              </a:rPr>
              <a:t>ip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602739" y="3402965"/>
            <a:ext cx="4375785" cy="189483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094740" marR="5080" indent="-1082675">
              <a:lnSpc>
                <a:spcPct val="155500"/>
              </a:lnSpc>
              <a:spcBef>
                <a:spcPts val="100"/>
              </a:spcBef>
              <a:tabLst>
                <a:tab pos="2980690" algn="l"/>
              </a:tabLst>
            </a:pPr>
            <a:r>
              <a:rPr sz="2400" dirty="0">
                <a:latin typeface="Tahoma"/>
                <a:cs typeface="Tahoma"/>
              </a:rPr>
              <a:t>Join </a:t>
            </a:r>
            <a:r>
              <a:rPr sz="2400" spc="-5" dirty="0">
                <a:latin typeface="Tahoma"/>
                <a:cs typeface="Tahoma"/>
              </a:rPr>
              <a:t>tuples with equal zip codes.  street	</a:t>
            </a:r>
            <a:r>
              <a:rPr sz="2400" spc="-10" dirty="0">
                <a:latin typeface="Tahoma"/>
                <a:cs typeface="Tahoma"/>
              </a:rPr>
              <a:t>city</a:t>
            </a:r>
            <a:endParaRPr sz="2400">
              <a:latin typeface="Tahoma"/>
              <a:cs typeface="Tahoma"/>
            </a:endParaRPr>
          </a:p>
          <a:p>
            <a:pPr marL="866140" marR="227965">
              <a:lnSpc>
                <a:spcPct val="100000"/>
              </a:lnSpc>
              <a:spcBef>
                <a:spcPts val="5"/>
              </a:spcBef>
            </a:pPr>
            <a:r>
              <a:rPr sz="2400" spc="-5" dirty="0">
                <a:latin typeface="Tahoma"/>
                <a:cs typeface="Tahoma"/>
              </a:rPr>
              <a:t>545 </a:t>
            </a:r>
            <a:r>
              <a:rPr sz="2400" spc="-65" dirty="0">
                <a:latin typeface="Tahoma"/>
                <a:cs typeface="Tahoma"/>
              </a:rPr>
              <a:t>Tech </a:t>
            </a:r>
            <a:r>
              <a:rPr sz="2400" spc="-5" dirty="0">
                <a:latin typeface="Tahoma"/>
                <a:cs typeface="Tahoma"/>
              </a:rPr>
              <a:t>Sq. Cambridge  545 </a:t>
            </a:r>
            <a:r>
              <a:rPr sz="2400" spc="-65" dirty="0">
                <a:latin typeface="Tahoma"/>
                <a:cs typeface="Tahoma"/>
              </a:rPr>
              <a:t>Tech </a:t>
            </a:r>
            <a:r>
              <a:rPr sz="2400" spc="-5" dirty="0">
                <a:latin typeface="Tahoma"/>
                <a:cs typeface="Tahoma"/>
              </a:rPr>
              <a:t>Sq.</a:t>
            </a:r>
            <a:r>
              <a:rPr sz="2400" spc="-35" dirty="0">
                <a:latin typeface="Tahoma"/>
                <a:cs typeface="Tahoma"/>
              </a:rPr>
              <a:t> </a:t>
            </a:r>
            <a:r>
              <a:rPr sz="2400" spc="-5" dirty="0">
                <a:latin typeface="Tahoma"/>
                <a:cs typeface="Tahoma"/>
              </a:rPr>
              <a:t>Cambridge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6114415" y="4540884"/>
            <a:ext cx="857885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Tahoma"/>
                <a:cs typeface="Tahoma"/>
              </a:rPr>
              <a:t>0213</a:t>
            </a:r>
            <a:r>
              <a:rPr sz="2400" dirty="0">
                <a:latin typeface="Tahoma"/>
                <a:cs typeface="Tahoma"/>
              </a:rPr>
              <a:t>8</a:t>
            </a:r>
            <a:endParaRPr sz="24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</a:pPr>
            <a:r>
              <a:rPr sz="2400" spc="-5" dirty="0">
                <a:latin typeface="Tahoma"/>
                <a:cs typeface="Tahoma"/>
              </a:rPr>
              <a:t>0213</a:t>
            </a:r>
            <a:r>
              <a:rPr sz="2400" dirty="0">
                <a:latin typeface="Tahoma"/>
                <a:cs typeface="Tahoma"/>
              </a:rPr>
              <a:t>9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2281237" y="4186237"/>
            <a:ext cx="4733925" cy="1304925"/>
          </a:xfrm>
          <a:custGeom>
            <a:avLst/>
            <a:gdLst/>
            <a:ahLst/>
            <a:cxnLst/>
            <a:rect l="l" t="t" r="r" b="b"/>
            <a:pathLst>
              <a:path w="4733925" h="1304925">
                <a:moveTo>
                  <a:pt x="4733925" y="1304925"/>
                </a:moveTo>
                <a:lnTo>
                  <a:pt x="0" y="1304925"/>
                </a:lnTo>
                <a:lnTo>
                  <a:pt x="0" y="0"/>
                </a:lnTo>
                <a:lnTo>
                  <a:pt x="4733925" y="0"/>
                </a:lnTo>
                <a:lnTo>
                  <a:pt x="4733925" y="4762"/>
                </a:lnTo>
                <a:lnTo>
                  <a:pt x="9525" y="4762"/>
                </a:lnTo>
                <a:lnTo>
                  <a:pt x="4762" y="9525"/>
                </a:lnTo>
                <a:lnTo>
                  <a:pt x="9525" y="9525"/>
                </a:lnTo>
                <a:lnTo>
                  <a:pt x="9525" y="1295400"/>
                </a:lnTo>
                <a:lnTo>
                  <a:pt x="4762" y="1295400"/>
                </a:lnTo>
                <a:lnTo>
                  <a:pt x="9525" y="1300162"/>
                </a:lnTo>
                <a:lnTo>
                  <a:pt x="4733925" y="1300162"/>
                </a:lnTo>
                <a:lnTo>
                  <a:pt x="4733925" y="1304925"/>
                </a:lnTo>
                <a:close/>
              </a:path>
              <a:path w="4733925" h="1304925">
                <a:moveTo>
                  <a:pt x="9525" y="9525"/>
                </a:moveTo>
                <a:lnTo>
                  <a:pt x="4762" y="9525"/>
                </a:lnTo>
                <a:lnTo>
                  <a:pt x="9525" y="4762"/>
                </a:lnTo>
                <a:lnTo>
                  <a:pt x="9525" y="9525"/>
                </a:lnTo>
                <a:close/>
              </a:path>
              <a:path w="4733925" h="1304925">
                <a:moveTo>
                  <a:pt x="4724400" y="9525"/>
                </a:moveTo>
                <a:lnTo>
                  <a:pt x="9525" y="9525"/>
                </a:lnTo>
                <a:lnTo>
                  <a:pt x="9525" y="4762"/>
                </a:lnTo>
                <a:lnTo>
                  <a:pt x="4724400" y="4762"/>
                </a:lnTo>
                <a:lnTo>
                  <a:pt x="4724400" y="9525"/>
                </a:lnTo>
                <a:close/>
              </a:path>
              <a:path w="4733925" h="1304925">
                <a:moveTo>
                  <a:pt x="4724400" y="1300162"/>
                </a:moveTo>
                <a:lnTo>
                  <a:pt x="4724400" y="4762"/>
                </a:lnTo>
                <a:lnTo>
                  <a:pt x="4729162" y="9525"/>
                </a:lnTo>
                <a:lnTo>
                  <a:pt x="4733925" y="9525"/>
                </a:lnTo>
                <a:lnTo>
                  <a:pt x="4733925" y="1295400"/>
                </a:lnTo>
                <a:lnTo>
                  <a:pt x="4729162" y="1295400"/>
                </a:lnTo>
                <a:lnTo>
                  <a:pt x="4724400" y="1300162"/>
                </a:lnTo>
                <a:close/>
              </a:path>
              <a:path w="4733925" h="1304925">
                <a:moveTo>
                  <a:pt x="4733925" y="9525"/>
                </a:moveTo>
                <a:lnTo>
                  <a:pt x="4729162" y="9525"/>
                </a:lnTo>
                <a:lnTo>
                  <a:pt x="4724400" y="4762"/>
                </a:lnTo>
                <a:lnTo>
                  <a:pt x="4733925" y="4762"/>
                </a:lnTo>
                <a:lnTo>
                  <a:pt x="4733925" y="9525"/>
                </a:lnTo>
                <a:close/>
              </a:path>
              <a:path w="4733925" h="1304925">
                <a:moveTo>
                  <a:pt x="9525" y="1300162"/>
                </a:moveTo>
                <a:lnTo>
                  <a:pt x="4762" y="1295400"/>
                </a:lnTo>
                <a:lnTo>
                  <a:pt x="9525" y="1295400"/>
                </a:lnTo>
                <a:lnTo>
                  <a:pt x="9525" y="1300162"/>
                </a:lnTo>
                <a:close/>
              </a:path>
              <a:path w="4733925" h="1304925">
                <a:moveTo>
                  <a:pt x="4724400" y="1300162"/>
                </a:moveTo>
                <a:lnTo>
                  <a:pt x="9525" y="1300162"/>
                </a:lnTo>
                <a:lnTo>
                  <a:pt x="9525" y="1295400"/>
                </a:lnTo>
                <a:lnTo>
                  <a:pt x="4724400" y="1295400"/>
                </a:lnTo>
                <a:lnTo>
                  <a:pt x="4724400" y="1300162"/>
                </a:lnTo>
                <a:close/>
              </a:path>
              <a:path w="4733925" h="1304925">
                <a:moveTo>
                  <a:pt x="4733925" y="1300162"/>
                </a:moveTo>
                <a:lnTo>
                  <a:pt x="4724400" y="1300162"/>
                </a:lnTo>
                <a:lnTo>
                  <a:pt x="4729162" y="1295400"/>
                </a:lnTo>
                <a:lnTo>
                  <a:pt x="4733925" y="1295400"/>
                </a:lnTo>
                <a:lnTo>
                  <a:pt x="4733925" y="13001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2301875" y="4530725"/>
            <a:ext cx="4724400" cy="0"/>
          </a:xfrm>
          <a:custGeom>
            <a:avLst/>
            <a:gdLst/>
            <a:ahLst/>
            <a:cxnLst/>
            <a:rect l="l" t="t" r="r" b="b"/>
            <a:pathLst>
              <a:path w="4724400">
                <a:moveTo>
                  <a:pt x="0" y="0"/>
                </a:moveTo>
                <a:lnTo>
                  <a:pt x="4724400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4191000" y="4191000"/>
            <a:ext cx="0" cy="1295400"/>
          </a:xfrm>
          <a:custGeom>
            <a:avLst/>
            <a:gdLst/>
            <a:ahLst/>
            <a:cxnLst/>
            <a:rect l="l" t="t" r="r" b="b"/>
            <a:pathLst>
              <a:path h="1295400">
                <a:moveTo>
                  <a:pt x="0" y="0"/>
                </a:moveTo>
                <a:lnTo>
                  <a:pt x="0" y="129540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5791200" y="4191000"/>
            <a:ext cx="0" cy="1295400"/>
          </a:xfrm>
          <a:custGeom>
            <a:avLst/>
            <a:gdLst/>
            <a:ahLst/>
            <a:cxnLst/>
            <a:rect l="l" t="t" r="r" b="b"/>
            <a:pathLst>
              <a:path h="1295400">
                <a:moveTo>
                  <a:pt x="0" y="0"/>
                </a:moveTo>
                <a:lnTo>
                  <a:pt x="0" y="129540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688340" y="5594984"/>
            <a:ext cx="8180070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Tahoma"/>
                <a:cs typeface="Tahoma"/>
              </a:rPr>
              <a:t>Although </a:t>
            </a:r>
            <a:r>
              <a:rPr sz="2400" dirty="0">
                <a:latin typeface="Tahoma"/>
                <a:cs typeface="Tahoma"/>
              </a:rPr>
              <a:t>no </a:t>
            </a:r>
            <a:r>
              <a:rPr sz="2400" spc="-25" dirty="0">
                <a:latin typeface="Tahoma"/>
                <a:cs typeface="Tahoma"/>
              </a:rPr>
              <a:t>FD’s </a:t>
            </a:r>
            <a:r>
              <a:rPr sz="2400" spc="-5" dirty="0">
                <a:latin typeface="Tahoma"/>
                <a:cs typeface="Tahoma"/>
              </a:rPr>
              <a:t>were violated </a:t>
            </a:r>
            <a:r>
              <a:rPr sz="2400" dirty="0">
                <a:latin typeface="Tahoma"/>
                <a:cs typeface="Tahoma"/>
              </a:rPr>
              <a:t>in the </a:t>
            </a:r>
            <a:r>
              <a:rPr sz="2400" spc="-5" dirty="0">
                <a:latin typeface="Tahoma"/>
                <a:cs typeface="Tahoma"/>
              </a:rPr>
              <a:t>decomposed relations,  FD </a:t>
            </a:r>
            <a:r>
              <a:rPr sz="2400" spc="-5" dirty="0">
                <a:solidFill>
                  <a:srgbClr val="00CC99"/>
                </a:solidFill>
                <a:latin typeface="Tahoma"/>
                <a:cs typeface="Tahoma"/>
              </a:rPr>
              <a:t>street </a:t>
            </a:r>
            <a:r>
              <a:rPr sz="2400" spc="-10" dirty="0">
                <a:solidFill>
                  <a:srgbClr val="00CC99"/>
                </a:solidFill>
                <a:latin typeface="Tahoma"/>
                <a:cs typeface="Tahoma"/>
              </a:rPr>
              <a:t>city </a:t>
            </a:r>
            <a:r>
              <a:rPr sz="2400" spc="-5" dirty="0">
                <a:solidFill>
                  <a:srgbClr val="00CC99"/>
                </a:solidFill>
                <a:latin typeface="Tahoma"/>
                <a:cs typeface="Tahoma"/>
              </a:rPr>
              <a:t>-&gt; zip </a:t>
            </a:r>
            <a:r>
              <a:rPr sz="2400" dirty="0">
                <a:latin typeface="Tahoma"/>
                <a:cs typeface="Tahoma"/>
              </a:rPr>
              <a:t>is </a:t>
            </a:r>
            <a:r>
              <a:rPr sz="2400" spc="-5" dirty="0">
                <a:latin typeface="Tahoma"/>
                <a:cs typeface="Tahoma"/>
              </a:rPr>
              <a:t>violated by </a:t>
            </a:r>
            <a:r>
              <a:rPr sz="2400" dirty="0">
                <a:latin typeface="Tahoma"/>
                <a:cs typeface="Tahoma"/>
              </a:rPr>
              <a:t>the </a:t>
            </a:r>
            <a:r>
              <a:rPr sz="2400" spc="-5" dirty="0">
                <a:latin typeface="Tahoma"/>
                <a:cs typeface="Tahoma"/>
              </a:rPr>
              <a:t>database </a:t>
            </a:r>
            <a:r>
              <a:rPr sz="2400" dirty="0">
                <a:latin typeface="Tahoma"/>
                <a:cs typeface="Tahoma"/>
              </a:rPr>
              <a:t>as a</a:t>
            </a:r>
            <a:r>
              <a:rPr sz="2400" spc="30" dirty="0">
                <a:latin typeface="Tahoma"/>
                <a:cs typeface="Tahoma"/>
              </a:rPr>
              <a:t> </a:t>
            </a:r>
            <a:r>
              <a:rPr sz="2400" spc="-5" dirty="0">
                <a:latin typeface="Tahoma"/>
                <a:cs typeface="Tahoma"/>
              </a:rPr>
              <a:t>whole.</a:t>
            </a:r>
            <a:endParaRPr sz="2400" dirty="0">
              <a:latin typeface="Tahoma"/>
              <a:cs typeface="Tahoma"/>
            </a:endParaRPr>
          </a:p>
        </p:txBody>
      </p:sp>
      <p:sp>
        <p:nvSpPr>
          <p:cNvPr id="22" name="object 2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dirty="0"/>
              <a:t>46</a:t>
            </a:fld>
            <a:endParaRPr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91184" y="829944"/>
            <a:ext cx="796163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3NF </a:t>
            </a:r>
            <a:r>
              <a:rPr spc="-25" dirty="0"/>
              <a:t>Let’s </a:t>
            </a:r>
            <a:r>
              <a:rPr dirty="0"/>
              <a:t>Us </a:t>
            </a:r>
            <a:r>
              <a:rPr spc="-25" dirty="0"/>
              <a:t>Avoid </a:t>
            </a:r>
            <a:r>
              <a:rPr spc="-5" dirty="0"/>
              <a:t>This</a:t>
            </a:r>
            <a:r>
              <a:rPr spc="10" dirty="0"/>
              <a:t> </a:t>
            </a:r>
            <a:r>
              <a:rPr spc="-10" dirty="0"/>
              <a:t>Problem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dirty="0"/>
              <a:t>47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599440" y="2012949"/>
            <a:ext cx="7782559" cy="36385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68300" marR="764540" indent="-342900">
              <a:lnSpc>
                <a:spcPct val="100000"/>
              </a:lnSpc>
              <a:spcBef>
                <a:spcPts val="105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27990" algn="l"/>
                <a:tab pos="1012825" algn="l"/>
              </a:tabLst>
            </a:pPr>
            <a:r>
              <a:rPr sz="3200" dirty="0">
                <a:latin typeface="Tahoma"/>
                <a:cs typeface="Tahoma"/>
              </a:rPr>
              <a:t>3</a:t>
            </a:r>
            <a:r>
              <a:rPr sz="3075" baseline="21680" dirty="0">
                <a:latin typeface="Tahoma"/>
                <a:cs typeface="Tahoma"/>
              </a:rPr>
              <a:t>rd	</a:t>
            </a:r>
            <a:r>
              <a:rPr sz="3200" spc="-5" dirty="0">
                <a:latin typeface="Tahoma"/>
                <a:cs typeface="Tahoma"/>
              </a:rPr>
              <a:t>Normal </a:t>
            </a:r>
            <a:r>
              <a:rPr sz="3200" spc="-20" dirty="0">
                <a:latin typeface="Tahoma"/>
                <a:cs typeface="Tahoma"/>
              </a:rPr>
              <a:t>Form </a:t>
            </a:r>
            <a:r>
              <a:rPr sz="3200" spc="-5" dirty="0">
                <a:latin typeface="Tahoma"/>
                <a:cs typeface="Tahoma"/>
              </a:rPr>
              <a:t>(3NF) modifies the  </a:t>
            </a:r>
            <a:r>
              <a:rPr sz="3200" dirty="0">
                <a:latin typeface="Tahoma"/>
                <a:cs typeface="Tahoma"/>
              </a:rPr>
              <a:t>BCNF </a:t>
            </a:r>
            <a:r>
              <a:rPr sz="3200" spc="-5" dirty="0">
                <a:latin typeface="Tahoma"/>
                <a:cs typeface="Tahoma"/>
              </a:rPr>
              <a:t>condition </a:t>
            </a:r>
            <a:r>
              <a:rPr sz="3200" dirty="0">
                <a:latin typeface="Tahoma"/>
                <a:cs typeface="Tahoma"/>
              </a:rPr>
              <a:t>so we do </a:t>
            </a:r>
            <a:r>
              <a:rPr sz="3200" spc="-5" dirty="0">
                <a:latin typeface="Tahoma"/>
                <a:cs typeface="Tahoma"/>
              </a:rPr>
              <a:t>not </a:t>
            </a:r>
            <a:r>
              <a:rPr sz="3200" spc="-15" dirty="0">
                <a:latin typeface="Tahoma"/>
                <a:cs typeface="Tahoma"/>
              </a:rPr>
              <a:t>have </a:t>
            </a:r>
            <a:r>
              <a:rPr sz="3200" spc="-5" dirty="0">
                <a:latin typeface="Tahoma"/>
                <a:cs typeface="Tahoma"/>
              </a:rPr>
              <a:t>to  decompose in this problem</a:t>
            </a:r>
            <a:r>
              <a:rPr sz="3200" spc="-15" dirty="0">
                <a:latin typeface="Tahoma"/>
                <a:cs typeface="Tahoma"/>
              </a:rPr>
              <a:t> </a:t>
            </a:r>
            <a:r>
              <a:rPr sz="3200" spc="-5" dirty="0">
                <a:latin typeface="Tahoma"/>
                <a:cs typeface="Tahoma"/>
              </a:rPr>
              <a:t>situation.</a:t>
            </a:r>
            <a:endParaRPr sz="3200" dirty="0">
              <a:latin typeface="Tahoma"/>
              <a:cs typeface="Tahoma"/>
            </a:endParaRPr>
          </a:p>
          <a:p>
            <a:pPr marL="368300" marR="17780" indent="-342900">
              <a:lnSpc>
                <a:spcPts val="3840"/>
              </a:lnSpc>
              <a:spcBef>
                <a:spcPts val="890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27990" algn="l"/>
              </a:tabLst>
            </a:pPr>
            <a:r>
              <a:rPr sz="3200" dirty="0">
                <a:latin typeface="Tahoma"/>
                <a:cs typeface="Tahoma"/>
              </a:rPr>
              <a:t>An </a:t>
            </a:r>
            <a:r>
              <a:rPr sz="3200" spc="-5" dirty="0">
                <a:latin typeface="Tahoma"/>
                <a:cs typeface="Tahoma"/>
              </a:rPr>
              <a:t>attribute is </a:t>
            </a:r>
            <a:r>
              <a:rPr lang="en-US" altLang="zh-CN" sz="3600" dirty="0">
                <a:effectLst/>
              </a:rPr>
              <a:t>prime </a:t>
            </a:r>
            <a:r>
              <a:rPr sz="3350" i="1" spc="-905" dirty="0">
                <a:solidFill>
                  <a:srgbClr val="FF0066"/>
                </a:solidFill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if it </a:t>
            </a:r>
            <a:r>
              <a:rPr sz="3200" spc="-5" dirty="0">
                <a:latin typeface="Tahoma"/>
                <a:cs typeface="Tahoma"/>
              </a:rPr>
              <a:t>is </a:t>
            </a:r>
            <a:r>
              <a:rPr sz="3200" dirty="0">
                <a:latin typeface="Tahoma"/>
                <a:cs typeface="Tahoma"/>
              </a:rPr>
              <a:t>a </a:t>
            </a:r>
            <a:r>
              <a:rPr sz="3200" spc="-5" dirty="0">
                <a:latin typeface="Tahoma"/>
                <a:cs typeface="Tahoma"/>
              </a:rPr>
              <a:t>member of  </a:t>
            </a:r>
            <a:r>
              <a:rPr sz="3200" spc="-15" dirty="0">
                <a:latin typeface="Tahoma"/>
                <a:cs typeface="Tahoma"/>
              </a:rPr>
              <a:t>any</a:t>
            </a:r>
            <a:r>
              <a:rPr sz="3200" spc="-10" dirty="0">
                <a:latin typeface="Tahoma"/>
                <a:cs typeface="Tahoma"/>
              </a:rPr>
              <a:t> </a:t>
            </a:r>
            <a:r>
              <a:rPr sz="3200" spc="-85" dirty="0">
                <a:latin typeface="Tahoma"/>
                <a:cs typeface="Tahoma"/>
              </a:rPr>
              <a:t>key.</a:t>
            </a:r>
            <a:endParaRPr sz="3200" dirty="0">
              <a:latin typeface="Tahoma"/>
              <a:cs typeface="Tahoma"/>
            </a:endParaRPr>
          </a:p>
          <a:p>
            <a:pPr marL="368300" marR="20320" indent="-342900">
              <a:lnSpc>
                <a:spcPts val="3840"/>
              </a:lnSpc>
              <a:spcBef>
                <a:spcPts val="765"/>
              </a:spcBef>
            </a:pPr>
            <a:r>
              <a:rPr sz="3200" spc="-55" dirty="0">
                <a:solidFill>
                  <a:srgbClr val="CC00CC"/>
                </a:solidFill>
                <a:latin typeface="Wingdings"/>
                <a:cs typeface="Wingdings"/>
              </a:rPr>
              <a:t></a:t>
            </a:r>
            <a:r>
              <a:rPr sz="3350" i="1" spc="-55" dirty="0">
                <a:solidFill>
                  <a:srgbClr val="00CC99"/>
                </a:solidFill>
                <a:latin typeface="Tahoma"/>
                <a:cs typeface="Tahoma"/>
              </a:rPr>
              <a:t>X</a:t>
            </a:r>
            <a:r>
              <a:rPr sz="3200" spc="-55" dirty="0">
                <a:solidFill>
                  <a:srgbClr val="00CC99"/>
                </a:solidFill>
                <a:latin typeface="Tahoma"/>
                <a:cs typeface="Tahoma"/>
              </a:rPr>
              <a:t>-&gt;</a:t>
            </a:r>
            <a:r>
              <a:rPr sz="3350" i="1" spc="-55" dirty="0">
                <a:solidFill>
                  <a:srgbClr val="00CC99"/>
                </a:solidFill>
                <a:latin typeface="Tahoma"/>
                <a:cs typeface="Tahoma"/>
              </a:rPr>
              <a:t>A</a:t>
            </a:r>
            <a:r>
              <a:rPr lang="en-US" sz="3350" i="1" spc="-55" dirty="0">
                <a:solidFill>
                  <a:srgbClr val="00CC99"/>
                </a:solidFill>
                <a:latin typeface="Tahoma"/>
                <a:cs typeface="Tahoma"/>
              </a:rPr>
              <a:t> </a:t>
            </a:r>
            <a:r>
              <a:rPr sz="3200" spc="-55" dirty="0">
                <a:latin typeface="Tahoma"/>
                <a:cs typeface="Tahoma"/>
              </a:rPr>
              <a:t>violates </a:t>
            </a:r>
            <a:r>
              <a:rPr sz="3200" spc="-5" dirty="0">
                <a:latin typeface="Tahoma"/>
                <a:cs typeface="Tahoma"/>
              </a:rPr>
              <a:t>3NF </a:t>
            </a:r>
            <a:r>
              <a:rPr sz="3200" dirty="0">
                <a:latin typeface="Tahoma"/>
                <a:cs typeface="Tahoma"/>
              </a:rPr>
              <a:t>if </a:t>
            </a:r>
            <a:r>
              <a:rPr sz="3200" spc="-5" dirty="0">
                <a:latin typeface="Tahoma"/>
                <a:cs typeface="Tahoma"/>
              </a:rPr>
              <a:t>and only </a:t>
            </a:r>
            <a:r>
              <a:rPr sz="3200" dirty="0">
                <a:latin typeface="Tahoma"/>
                <a:cs typeface="Tahoma"/>
              </a:rPr>
              <a:t>if </a:t>
            </a:r>
            <a:r>
              <a:rPr sz="3350" i="1" spc="-85" dirty="0">
                <a:latin typeface="Tahoma"/>
                <a:cs typeface="Tahoma"/>
              </a:rPr>
              <a:t>X </a:t>
            </a:r>
            <a:r>
              <a:rPr sz="3200" spc="-5" dirty="0">
                <a:latin typeface="Tahoma"/>
                <a:cs typeface="Tahoma"/>
              </a:rPr>
              <a:t>is not  </a:t>
            </a:r>
            <a:r>
              <a:rPr sz="3200" dirty="0">
                <a:latin typeface="Tahoma"/>
                <a:cs typeface="Tahoma"/>
              </a:rPr>
              <a:t>a </a:t>
            </a:r>
            <a:r>
              <a:rPr sz="3200" spc="-40" dirty="0">
                <a:latin typeface="Tahoma"/>
                <a:cs typeface="Tahoma"/>
              </a:rPr>
              <a:t>superkey, </a:t>
            </a:r>
            <a:r>
              <a:rPr sz="3200" spc="-5" dirty="0">
                <a:latin typeface="Tahoma"/>
                <a:cs typeface="Tahoma"/>
              </a:rPr>
              <a:t>and also </a:t>
            </a:r>
            <a:r>
              <a:rPr sz="3350" i="1" spc="-90" dirty="0">
                <a:latin typeface="Tahoma"/>
                <a:cs typeface="Tahoma"/>
              </a:rPr>
              <a:t>A </a:t>
            </a:r>
            <a:r>
              <a:rPr sz="3200" spc="-5" dirty="0">
                <a:latin typeface="Tahoma"/>
                <a:cs typeface="Tahoma"/>
              </a:rPr>
              <a:t>is not</a:t>
            </a:r>
            <a:r>
              <a:rPr sz="3200" spc="-170" dirty="0">
                <a:latin typeface="Tahoma"/>
                <a:cs typeface="Tahoma"/>
              </a:rPr>
              <a:t> </a:t>
            </a:r>
            <a:r>
              <a:rPr sz="3200" spc="-5" dirty="0">
                <a:latin typeface="Tahoma"/>
                <a:cs typeface="Tahoma"/>
              </a:rPr>
              <a:t>prime.</a:t>
            </a:r>
            <a:endParaRPr sz="3200" dirty="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846704" y="829944"/>
            <a:ext cx="345059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>
                <a:solidFill>
                  <a:srgbClr val="33CC33"/>
                </a:solidFill>
              </a:rPr>
              <a:t>Example</a:t>
            </a:r>
            <a:r>
              <a:rPr spc="-5" dirty="0"/>
              <a:t>:</a:t>
            </a:r>
            <a:r>
              <a:rPr spc="-70" dirty="0"/>
              <a:t> </a:t>
            </a:r>
            <a:r>
              <a:rPr spc="-5" dirty="0"/>
              <a:t>3NF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dirty="0"/>
              <a:t>48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764540" y="2012949"/>
            <a:ext cx="7300595" cy="3147060"/>
          </a:xfrm>
          <a:prstGeom prst="rect">
            <a:avLst/>
          </a:prstGeom>
        </p:spPr>
        <p:txBody>
          <a:bodyPr vert="horz" wrap="square" lIns="0" tIns="29209" rIns="0" bIns="0" rtlCol="0">
            <a:spAutoFit/>
          </a:bodyPr>
          <a:lstStyle/>
          <a:p>
            <a:pPr marL="301625" marR="130810" indent="-289560">
              <a:lnSpc>
                <a:spcPts val="3840"/>
              </a:lnSpc>
              <a:spcBef>
                <a:spcPts val="229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spc="-15" dirty="0">
                <a:latin typeface="Tahoma"/>
                <a:cs typeface="Tahoma"/>
              </a:rPr>
              <a:t>In </a:t>
            </a:r>
            <a:r>
              <a:rPr sz="3200" spc="-5" dirty="0">
                <a:latin typeface="Tahoma"/>
                <a:cs typeface="Tahoma"/>
              </a:rPr>
              <a:t>our problem situation with </a:t>
            </a:r>
            <a:r>
              <a:rPr sz="3200" spc="-30" dirty="0">
                <a:latin typeface="Tahoma"/>
                <a:cs typeface="Tahoma"/>
              </a:rPr>
              <a:t>FD’s </a:t>
            </a:r>
            <a:r>
              <a:rPr sz="3200" spc="-30" dirty="0">
                <a:solidFill>
                  <a:srgbClr val="00CC99"/>
                </a:solidFill>
                <a:latin typeface="Tahoma"/>
                <a:cs typeface="Tahoma"/>
              </a:rPr>
              <a:t> </a:t>
            </a:r>
            <a:r>
              <a:rPr sz="3350" i="1" spc="-310" dirty="0">
                <a:solidFill>
                  <a:srgbClr val="00CC99"/>
                </a:solidFill>
                <a:latin typeface="Tahoma"/>
                <a:cs typeface="Tahoma"/>
              </a:rPr>
              <a:t>AB</a:t>
            </a:r>
            <a:r>
              <a:rPr sz="3200" spc="-310" dirty="0">
                <a:solidFill>
                  <a:srgbClr val="00CC99"/>
                </a:solidFill>
                <a:latin typeface="Tahoma"/>
                <a:cs typeface="Tahoma"/>
              </a:rPr>
              <a:t>-&gt;</a:t>
            </a:r>
            <a:r>
              <a:rPr sz="3350" i="1" spc="-310" dirty="0">
                <a:solidFill>
                  <a:srgbClr val="00CC99"/>
                </a:solidFill>
                <a:latin typeface="Tahoma"/>
                <a:cs typeface="Tahoma"/>
              </a:rPr>
              <a:t>C </a:t>
            </a:r>
            <a:r>
              <a:rPr sz="3200" spc="-5" dirty="0">
                <a:latin typeface="Tahoma"/>
                <a:cs typeface="Tahoma"/>
              </a:rPr>
              <a:t>and </a:t>
            </a:r>
            <a:r>
              <a:rPr sz="3350" i="1" spc="-290" dirty="0">
                <a:solidFill>
                  <a:srgbClr val="00CC99"/>
                </a:solidFill>
                <a:latin typeface="Tahoma"/>
                <a:cs typeface="Tahoma"/>
              </a:rPr>
              <a:t>C</a:t>
            </a:r>
            <a:r>
              <a:rPr sz="3200" spc="-290" dirty="0">
                <a:solidFill>
                  <a:srgbClr val="00CC99"/>
                </a:solidFill>
                <a:latin typeface="Tahoma"/>
                <a:cs typeface="Tahoma"/>
              </a:rPr>
              <a:t>-&gt;</a:t>
            </a:r>
            <a:r>
              <a:rPr sz="3350" i="1" spc="-290" dirty="0">
                <a:solidFill>
                  <a:srgbClr val="00CC99"/>
                </a:solidFill>
                <a:latin typeface="Tahoma"/>
                <a:cs typeface="Tahoma"/>
              </a:rPr>
              <a:t>B</a:t>
            </a:r>
            <a:r>
              <a:rPr sz="3200" spc="-290" dirty="0">
                <a:latin typeface="Tahoma"/>
                <a:cs typeface="Tahoma"/>
              </a:rPr>
              <a:t>, </a:t>
            </a:r>
            <a:r>
              <a:rPr sz="3200" dirty="0">
                <a:latin typeface="Tahoma"/>
                <a:cs typeface="Tahoma"/>
              </a:rPr>
              <a:t>we </a:t>
            </a:r>
            <a:r>
              <a:rPr sz="3200" spc="-15" dirty="0">
                <a:latin typeface="Tahoma"/>
                <a:cs typeface="Tahoma"/>
              </a:rPr>
              <a:t>have </a:t>
            </a:r>
            <a:r>
              <a:rPr sz="3200" spc="-10" dirty="0">
                <a:latin typeface="Tahoma"/>
                <a:cs typeface="Tahoma"/>
              </a:rPr>
              <a:t>keys </a:t>
            </a:r>
            <a:r>
              <a:rPr sz="3350" i="1" spc="-710" dirty="0">
                <a:solidFill>
                  <a:srgbClr val="33CC33"/>
                </a:solidFill>
                <a:latin typeface="Tahoma"/>
                <a:cs typeface="Tahoma"/>
              </a:rPr>
              <a:t>AB </a:t>
            </a:r>
            <a:r>
              <a:rPr sz="3350" i="1" spc="-710" dirty="0">
                <a:latin typeface="Tahoma"/>
                <a:cs typeface="Tahoma"/>
              </a:rPr>
              <a:t> </a:t>
            </a:r>
            <a:r>
              <a:rPr sz="3200" spc="-5" dirty="0">
                <a:latin typeface="Tahoma"/>
                <a:cs typeface="Tahoma"/>
              </a:rPr>
              <a:t>and</a:t>
            </a:r>
            <a:r>
              <a:rPr sz="3200" spc="-434" dirty="0">
                <a:latin typeface="Tahoma"/>
                <a:cs typeface="Tahoma"/>
              </a:rPr>
              <a:t> </a:t>
            </a:r>
            <a:r>
              <a:rPr sz="3350" i="1" spc="-750" dirty="0">
                <a:solidFill>
                  <a:srgbClr val="33CC33"/>
                </a:solidFill>
                <a:latin typeface="Tahoma"/>
                <a:cs typeface="Tahoma"/>
              </a:rPr>
              <a:t>AC</a:t>
            </a:r>
            <a:r>
              <a:rPr sz="3200" spc="-750" dirty="0">
                <a:latin typeface="Tahoma"/>
                <a:cs typeface="Tahoma"/>
              </a:rPr>
              <a:t>.</a:t>
            </a:r>
            <a:endParaRPr sz="3200" dirty="0">
              <a:latin typeface="Tahoma"/>
              <a:cs typeface="Tahoma"/>
            </a:endParaRPr>
          </a:p>
          <a:p>
            <a:pPr marL="414655" indent="-402590">
              <a:lnSpc>
                <a:spcPct val="100000"/>
              </a:lnSpc>
              <a:spcBef>
                <a:spcPts val="490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spc="-5" dirty="0">
                <a:latin typeface="Tahoma"/>
                <a:cs typeface="Tahoma"/>
              </a:rPr>
              <a:t>Thus </a:t>
            </a:r>
            <a:r>
              <a:rPr sz="3350" i="1" spc="-560" dirty="0">
                <a:latin typeface="Tahoma"/>
                <a:cs typeface="Tahoma"/>
              </a:rPr>
              <a:t>A</a:t>
            </a:r>
            <a:r>
              <a:rPr sz="3200" spc="-560" dirty="0">
                <a:latin typeface="Tahoma"/>
                <a:cs typeface="Tahoma"/>
              </a:rPr>
              <a:t>, </a:t>
            </a:r>
            <a:r>
              <a:rPr sz="3350" i="1" spc="-560" dirty="0">
                <a:latin typeface="Tahoma"/>
                <a:cs typeface="Tahoma"/>
              </a:rPr>
              <a:t>B</a:t>
            </a:r>
            <a:r>
              <a:rPr sz="3200" spc="-560" dirty="0">
                <a:latin typeface="Tahoma"/>
                <a:cs typeface="Tahoma"/>
              </a:rPr>
              <a:t>, </a:t>
            </a:r>
            <a:r>
              <a:rPr sz="3200" spc="-5" dirty="0">
                <a:latin typeface="Tahoma"/>
                <a:cs typeface="Tahoma"/>
              </a:rPr>
              <a:t>and </a:t>
            </a:r>
            <a:r>
              <a:rPr sz="3350" i="1" spc="-90" dirty="0">
                <a:latin typeface="Tahoma"/>
                <a:cs typeface="Tahoma"/>
              </a:rPr>
              <a:t>C </a:t>
            </a:r>
            <a:r>
              <a:rPr sz="3200" spc="-10" dirty="0">
                <a:latin typeface="Tahoma"/>
                <a:cs typeface="Tahoma"/>
              </a:rPr>
              <a:t>are </a:t>
            </a:r>
            <a:r>
              <a:rPr sz="3200" spc="-5" dirty="0">
                <a:latin typeface="Tahoma"/>
                <a:cs typeface="Tahoma"/>
              </a:rPr>
              <a:t>each</a:t>
            </a:r>
            <a:r>
              <a:rPr sz="3200" spc="-395" dirty="0">
                <a:latin typeface="Tahoma"/>
                <a:cs typeface="Tahoma"/>
              </a:rPr>
              <a:t> </a:t>
            </a:r>
            <a:r>
              <a:rPr sz="3200" spc="-5" dirty="0">
                <a:latin typeface="Tahoma"/>
                <a:cs typeface="Tahoma"/>
              </a:rPr>
              <a:t>prime.</a:t>
            </a:r>
            <a:endParaRPr sz="3200" dirty="0">
              <a:latin typeface="Tahoma"/>
              <a:cs typeface="Tahoma"/>
            </a:endParaRPr>
          </a:p>
          <a:p>
            <a:pPr marL="355600" marR="5080" indent="-342900">
              <a:lnSpc>
                <a:spcPts val="3840"/>
              </a:lnSpc>
              <a:spcBef>
                <a:spcPts val="860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spc="-5" dirty="0">
                <a:latin typeface="Tahoma"/>
                <a:cs typeface="Tahoma"/>
              </a:rPr>
              <a:t>Although </a:t>
            </a:r>
            <a:r>
              <a:rPr sz="3350" i="1" spc="-105" dirty="0">
                <a:solidFill>
                  <a:srgbClr val="00CC99"/>
                </a:solidFill>
                <a:latin typeface="Tahoma"/>
                <a:cs typeface="Tahoma"/>
              </a:rPr>
              <a:t>C</a:t>
            </a:r>
            <a:r>
              <a:rPr sz="3200" spc="-105" dirty="0">
                <a:solidFill>
                  <a:srgbClr val="00CC99"/>
                </a:solidFill>
                <a:latin typeface="Tahoma"/>
                <a:cs typeface="Tahoma"/>
              </a:rPr>
              <a:t>-&gt;</a:t>
            </a:r>
            <a:r>
              <a:rPr sz="3350" i="1" spc="-105" dirty="0">
                <a:solidFill>
                  <a:srgbClr val="00CC99"/>
                </a:solidFill>
                <a:latin typeface="Tahoma"/>
                <a:cs typeface="Tahoma"/>
              </a:rPr>
              <a:t>B </a:t>
            </a:r>
            <a:r>
              <a:rPr sz="3200" spc="-5" dirty="0">
                <a:latin typeface="Tahoma"/>
                <a:cs typeface="Tahoma"/>
              </a:rPr>
              <a:t>violates </a:t>
            </a:r>
            <a:r>
              <a:rPr sz="3200" spc="-90" dirty="0">
                <a:latin typeface="Tahoma"/>
                <a:cs typeface="Tahoma"/>
              </a:rPr>
              <a:t>BCNF, </a:t>
            </a:r>
            <a:r>
              <a:rPr sz="3200" dirty="0">
                <a:latin typeface="Tahoma"/>
                <a:cs typeface="Tahoma"/>
              </a:rPr>
              <a:t>it </a:t>
            </a:r>
            <a:r>
              <a:rPr sz="3200" spc="-5" dirty="0">
                <a:latin typeface="Tahoma"/>
                <a:cs typeface="Tahoma"/>
              </a:rPr>
              <a:t>does  not violate</a:t>
            </a:r>
            <a:r>
              <a:rPr sz="3200" spc="-10" dirty="0">
                <a:latin typeface="Tahoma"/>
                <a:cs typeface="Tahoma"/>
              </a:rPr>
              <a:t> </a:t>
            </a:r>
            <a:r>
              <a:rPr sz="3200" spc="-114" dirty="0">
                <a:latin typeface="Tahoma"/>
                <a:cs typeface="Tahoma"/>
              </a:rPr>
              <a:t>3NF.</a:t>
            </a:r>
            <a:endParaRPr sz="3200" dirty="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81380" y="829944"/>
            <a:ext cx="738187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What 3NF and </a:t>
            </a:r>
            <a:r>
              <a:rPr dirty="0"/>
              <a:t>BCNF </a:t>
            </a:r>
            <a:r>
              <a:rPr spc="-15" dirty="0"/>
              <a:t>Give</a:t>
            </a:r>
            <a:r>
              <a:rPr spc="-45" dirty="0"/>
              <a:t> </a:t>
            </a:r>
            <a:r>
              <a:rPr spc="-90" dirty="0"/>
              <a:t>You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dirty="0"/>
              <a:t>49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535940" y="2012949"/>
            <a:ext cx="8188325" cy="377154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622300" marR="427355" indent="-609600">
              <a:lnSpc>
                <a:spcPct val="100000"/>
              </a:lnSpc>
              <a:spcBef>
                <a:spcPts val="105"/>
              </a:spcBef>
              <a:buClr>
                <a:srgbClr val="CC00CC"/>
              </a:buClr>
              <a:buFont typeface="Wingdings"/>
              <a:buChar char=""/>
              <a:tabLst>
                <a:tab pos="621665" algn="l"/>
                <a:tab pos="622300" algn="l"/>
              </a:tabLst>
            </a:pPr>
            <a:r>
              <a:rPr sz="3200" spc="-5" dirty="0">
                <a:latin typeface="Tahoma"/>
                <a:cs typeface="Tahoma"/>
              </a:rPr>
              <a:t>There </a:t>
            </a:r>
            <a:r>
              <a:rPr sz="3200" spc="-10" dirty="0">
                <a:latin typeface="Tahoma"/>
                <a:cs typeface="Tahoma"/>
              </a:rPr>
              <a:t>are </a:t>
            </a:r>
            <a:r>
              <a:rPr sz="3200" spc="-5" dirty="0">
                <a:latin typeface="Tahoma"/>
                <a:cs typeface="Tahoma"/>
              </a:rPr>
              <a:t>two important properties of </a:t>
            </a:r>
            <a:r>
              <a:rPr sz="3200" dirty="0">
                <a:latin typeface="Tahoma"/>
                <a:cs typeface="Tahoma"/>
              </a:rPr>
              <a:t>a  </a:t>
            </a:r>
            <a:r>
              <a:rPr sz="3200" spc="-5" dirty="0">
                <a:latin typeface="Tahoma"/>
                <a:cs typeface="Tahoma"/>
              </a:rPr>
              <a:t>decomposition:</a:t>
            </a:r>
            <a:endParaRPr sz="3200" dirty="0">
              <a:latin typeface="Tahoma"/>
              <a:cs typeface="Tahoma"/>
            </a:endParaRPr>
          </a:p>
          <a:p>
            <a:pPr marL="1003300" marR="5080" lvl="1" indent="-556895">
              <a:lnSpc>
                <a:spcPts val="3360"/>
              </a:lnSpc>
              <a:spcBef>
                <a:spcPts val="780"/>
              </a:spcBef>
              <a:buClr>
                <a:srgbClr val="CC00CC"/>
              </a:buClr>
              <a:buAutoNum type="arabicPeriod"/>
              <a:tabLst>
                <a:tab pos="980440" algn="l"/>
              </a:tabLst>
            </a:pPr>
            <a:r>
              <a:rPr lang="en-US" altLang="zh-CN" sz="3200" dirty="0" err="1">
                <a:effectLst/>
              </a:rPr>
              <a:t>LosslessJoin</a:t>
            </a:r>
            <a:r>
              <a:rPr lang="en-US" altLang="zh-CN" sz="3200" dirty="0">
                <a:effectLst/>
              </a:rPr>
              <a:t> </a:t>
            </a:r>
            <a:r>
              <a:rPr lang="en-US" altLang="zh-CN" sz="3200" dirty="0"/>
              <a:t>: </a:t>
            </a:r>
            <a:r>
              <a:rPr sz="2800" spc="-825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it </a:t>
            </a:r>
            <a:r>
              <a:rPr sz="2800" spc="-5" dirty="0">
                <a:latin typeface="Tahoma"/>
                <a:cs typeface="Tahoma"/>
              </a:rPr>
              <a:t>should be possible to project  the original relations onto the decomposed  schema, and then reconstruct the</a:t>
            </a:r>
            <a:r>
              <a:rPr sz="2800" spc="15" dirty="0">
                <a:latin typeface="Tahoma"/>
                <a:cs typeface="Tahoma"/>
              </a:rPr>
              <a:t> </a:t>
            </a:r>
            <a:r>
              <a:rPr sz="2800" spc="-5" dirty="0">
                <a:latin typeface="Tahoma"/>
                <a:cs typeface="Tahoma"/>
              </a:rPr>
              <a:t>original.</a:t>
            </a:r>
            <a:endParaRPr sz="2800" dirty="0">
              <a:latin typeface="Tahoma"/>
              <a:cs typeface="Tahoma"/>
            </a:endParaRPr>
          </a:p>
          <a:p>
            <a:pPr marL="1003300" marR="468630" lvl="1" indent="-556895">
              <a:lnSpc>
                <a:spcPts val="3360"/>
              </a:lnSpc>
              <a:spcBef>
                <a:spcPts val="670"/>
              </a:spcBef>
              <a:buClr>
                <a:srgbClr val="CC00CC"/>
              </a:buClr>
              <a:buAutoNum type="arabicPeriod"/>
              <a:tabLst>
                <a:tab pos="980440" algn="l"/>
              </a:tabLst>
            </a:pPr>
            <a:r>
              <a:rPr lang="en-US" altLang="zh-CN" sz="3200" dirty="0" err="1">
                <a:effectLst/>
              </a:rPr>
              <a:t>DependencyPreservation</a:t>
            </a:r>
            <a:r>
              <a:rPr sz="2800" spc="-969" dirty="0">
                <a:latin typeface="Tahoma"/>
                <a:cs typeface="Tahoma"/>
              </a:rPr>
              <a:t>:</a:t>
            </a:r>
            <a:r>
              <a:rPr sz="2800" spc="-5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it </a:t>
            </a:r>
            <a:r>
              <a:rPr sz="2800" spc="-5" dirty="0">
                <a:latin typeface="Tahoma"/>
                <a:cs typeface="Tahoma"/>
              </a:rPr>
              <a:t>should be  possible to check in the projected relations  whether </a:t>
            </a:r>
            <a:r>
              <a:rPr sz="2800" dirty="0">
                <a:latin typeface="Tahoma"/>
                <a:cs typeface="Tahoma"/>
              </a:rPr>
              <a:t>all </a:t>
            </a:r>
            <a:r>
              <a:rPr sz="2800" spc="-5" dirty="0">
                <a:latin typeface="Tahoma"/>
                <a:cs typeface="Tahoma"/>
              </a:rPr>
              <a:t>the </a:t>
            </a:r>
            <a:r>
              <a:rPr sz="2800" spc="-10" dirty="0">
                <a:latin typeface="Tahoma"/>
                <a:cs typeface="Tahoma"/>
              </a:rPr>
              <a:t>given </a:t>
            </a:r>
            <a:r>
              <a:rPr sz="2800" spc="-30" dirty="0">
                <a:latin typeface="Tahoma"/>
                <a:cs typeface="Tahoma"/>
              </a:rPr>
              <a:t>FD’s </a:t>
            </a:r>
            <a:r>
              <a:rPr sz="2800" spc="-10" dirty="0">
                <a:latin typeface="Tahoma"/>
                <a:cs typeface="Tahoma"/>
              </a:rPr>
              <a:t>are</a:t>
            </a:r>
            <a:r>
              <a:rPr sz="2800" spc="50" dirty="0">
                <a:latin typeface="Tahoma"/>
                <a:cs typeface="Tahoma"/>
              </a:rPr>
              <a:t> </a:t>
            </a:r>
            <a:r>
              <a:rPr sz="2800" spc="-5" dirty="0">
                <a:latin typeface="Tahoma"/>
                <a:cs typeface="Tahoma"/>
              </a:rPr>
              <a:t>satisfied.</a:t>
            </a:r>
            <a:endParaRPr sz="2800" dirty="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53160" y="829944"/>
            <a:ext cx="683768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3NF and </a:t>
            </a:r>
            <a:r>
              <a:rPr dirty="0"/>
              <a:t>BCNF </a:t>
            </a:r>
            <a:r>
              <a:rPr spc="-5" dirty="0"/>
              <a:t>--</a:t>
            </a:r>
            <a:r>
              <a:rPr spc="-40" dirty="0"/>
              <a:t> </a:t>
            </a:r>
            <a:r>
              <a:rPr spc="-5" dirty="0"/>
              <a:t>Continued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dirty="0"/>
              <a:t>50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307340" y="1916556"/>
            <a:ext cx="8263890" cy="3267075"/>
          </a:xfrm>
          <a:prstGeom prst="rect">
            <a:avLst/>
          </a:prstGeom>
        </p:spPr>
        <p:txBody>
          <a:bodyPr vert="horz" wrap="square" lIns="0" tIns="109855" rIns="0" bIns="0" rtlCol="0">
            <a:spAutoFit/>
          </a:bodyPr>
          <a:lstStyle/>
          <a:p>
            <a:pPr marL="414655" indent="-402590">
              <a:lnSpc>
                <a:spcPct val="100000"/>
              </a:lnSpc>
              <a:spcBef>
                <a:spcPts val="865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spc="-65" dirty="0">
                <a:latin typeface="Tahoma"/>
                <a:cs typeface="Tahoma"/>
              </a:rPr>
              <a:t>We </a:t>
            </a:r>
            <a:r>
              <a:rPr sz="3200" spc="-5" dirty="0">
                <a:latin typeface="Tahoma"/>
                <a:cs typeface="Tahoma"/>
              </a:rPr>
              <a:t>can get (1) with </a:t>
            </a:r>
            <a:r>
              <a:rPr sz="3200" dirty="0">
                <a:latin typeface="Tahoma"/>
                <a:cs typeface="Tahoma"/>
              </a:rPr>
              <a:t>a BCNF</a:t>
            </a:r>
            <a:r>
              <a:rPr sz="3200" spc="65" dirty="0">
                <a:latin typeface="Tahoma"/>
                <a:cs typeface="Tahoma"/>
              </a:rPr>
              <a:t> </a:t>
            </a:r>
            <a:r>
              <a:rPr sz="3200" spc="-5" dirty="0">
                <a:latin typeface="Tahoma"/>
                <a:cs typeface="Tahoma"/>
              </a:rPr>
              <a:t>decomposition.</a:t>
            </a:r>
            <a:endParaRPr sz="3200" dirty="0">
              <a:latin typeface="Tahoma"/>
              <a:cs typeface="Tahoma"/>
            </a:endParaRPr>
          </a:p>
          <a:p>
            <a:pPr marL="355600" marR="716915" indent="-342900">
              <a:lnSpc>
                <a:spcPct val="100000"/>
              </a:lnSpc>
              <a:spcBef>
                <a:spcPts val="765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spc="-65" dirty="0">
                <a:latin typeface="Tahoma"/>
                <a:cs typeface="Tahoma"/>
              </a:rPr>
              <a:t>We </a:t>
            </a:r>
            <a:r>
              <a:rPr sz="3200" spc="-5" dirty="0">
                <a:latin typeface="Tahoma"/>
                <a:cs typeface="Tahoma"/>
              </a:rPr>
              <a:t>can get both (1) and (2) with </a:t>
            </a:r>
            <a:r>
              <a:rPr sz="3200" dirty="0">
                <a:latin typeface="Tahoma"/>
                <a:cs typeface="Tahoma"/>
              </a:rPr>
              <a:t>a </a:t>
            </a:r>
            <a:r>
              <a:rPr sz="3200" spc="-5" dirty="0">
                <a:latin typeface="Tahoma"/>
                <a:cs typeface="Tahoma"/>
              </a:rPr>
              <a:t>3NF  decomposition.</a:t>
            </a:r>
            <a:endParaRPr sz="3200" dirty="0">
              <a:latin typeface="Tahoma"/>
              <a:cs typeface="Tahoma"/>
            </a:endParaRPr>
          </a:p>
          <a:p>
            <a:pPr marL="355600" marR="248285" indent="-342900">
              <a:lnSpc>
                <a:spcPct val="100000"/>
              </a:lnSpc>
              <a:spcBef>
                <a:spcPts val="765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dirty="0">
                <a:latin typeface="Tahoma"/>
                <a:cs typeface="Tahoma"/>
              </a:rPr>
              <a:t>But we </a:t>
            </a:r>
            <a:r>
              <a:rPr sz="3200" spc="10" dirty="0">
                <a:latin typeface="Tahoma"/>
                <a:cs typeface="Tahoma"/>
              </a:rPr>
              <a:t>can’t </a:t>
            </a:r>
            <a:r>
              <a:rPr sz="3200" spc="-15" dirty="0">
                <a:latin typeface="Tahoma"/>
                <a:cs typeface="Tahoma"/>
              </a:rPr>
              <a:t>always </a:t>
            </a:r>
            <a:r>
              <a:rPr sz="3200" spc="-5" dirty="0">
                <a:latin typeface="Tahoma"/>
                <a:cs typeface="Tahoma"/>
              </a:rPr>
              <a:t>get (1) and (2) with </a:t>
            </a:r>
            <a:r>
              <a:rPr sz="3200" dirty="0">
                <a:latin typeface="Tahoma"/>
                <a:cs typeface="Tahoma"/>
              </a:rPr>
              <a:t>a  BCNF</a:t>
            </a:r>
            <a:r>
              <a:rPr sz="3200" spc="-10" dirty="0">
                <a:latin typeface="Tahoma"/>
                <a:cs typeface="Tahoma"/>
              </a:rPr>
              <a:t> </a:t>
            </a:r>
            <a:r>
              <a:rPr sz="3200" spc="-5" dirty="0">
                <a:latin typeface="Tahoma"/>
                <a:cs typeface="Tahoma"/>
              </a:rPr>
              <a:t>decomposition.</a:t>
            </a:r>
            <a:endParaRPr sz="3200" dirty="0">
              <a:latin typeface="Tahoma"/>
              <a:cs typeface="Tahoma"/>
            </a:endParaRPr>
          </a:p>
          <a:p>
            <a:pPr marL="755650" lvl="1" indent="-285750">
              <a:lnSpc>
                <a:spcPct val="100000"/>
              </a:lnSpc>
              <a:spcBef>
                <a:spcPts val="670"/>
              </a:spcBef>
              <a:buClr>
                <a:srgbClr val="CC00CC"/>
              </a:buClr>
              <a:buFont typeface="Wingdings"/>
              <a:buChar char=""/>
              <a:tabLst>
                <a:tab pos="755650" algn="l"/>
              </a:tabLst>
            </a:pPr>
            <a:r>
              <a:rPr sz="2800" spc="-20" dirty="0">
                <a:latin typeface="Tahoma"/>
                <a:cs typeface="Tahoma"/>
              </a:rPr>
              <a:t>street-city-zip </a:t>
            </a:r>
            <a:r>
              <a:rPr sz="2800" spc="-5" dirty="0">
                <a:latin typeface="Tahoma"/>
                <a:cs typeface="Tahoma"/>
              </a:rPr>
              <a:t>is an</a:t>
            </a:r>
            <a:r>
              <a:rPr sz="2800" spc="25" dirty="0">
                <a:latin typeface="Tahoma"/>
                <a:cs typeface="Tahoma"/>
              </a:rPr>
              <a:t> </a:t>
            </a:r>
            <a:r>
              <a:rPr sz="2800" spc="-5" dirty="0">
                <a:latin typeface="Tahoma"/>
                <a:cs typeface="Tahoma"/>
              </a:rPr>
              <a:t>example.</a:t>
            </a:r>
            <a:endParaRPr sz="2800" dirty="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362075" y="304800"/>
            <a:ext cx="6419850" cy="136768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70" dirty="0"/>
              <a:t>Testing </a:t>
            </a:r>
            <a:r>
              <a:rPr spc="-20" dirty="0"/>
              <a:t>for </a:t>
            </a:r>
            <a:r>
              <a:rPr dirty="0"/>
              <a:t>a </a:t>
            </a:r>
            <a:r>
              <a:rPr spc="-5" dirty="0"/>
              <a:t>Lossless</a:t>
            </a:r>
            <a:r>
              <a:rPr spc="50" dirty="0"/>
              <a:t> </a:t>
            </a:r>
            <a:r>
              <a:rPr spc="-5" dirty="0"/>
              <a:t>Join</a:t>
            </a:r>
            <a:r>
              <a:rPr lang="zh-CN" altLang="en-US" spc="-5" dirty="0"/>
              <a:t>无损链接</a:t>
            </a:r>
            <a:endParaRPr spc="-5" dirty="0"/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dirty="0"/>
              <a:t>51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751840" y="1992617"/>
            <a:ext cx="7400925" cy="3655060"/>
          </a:xfrm>
          <a:prstGeom prst="rect">
            <a:avLst/>
          </a:prstGeom>
        </p:spPr>
        <p:txBody>
          <a:bodyPr vert="horz" wrap="square" lIns="0" tIns="49530" rIns="0" bIns="0" rtlCol="0">
            <a:spAutoFit/>
          </a:bodyPr>
          <a:lstStyle/>
          <a:p>
            <a:pPr marL="368300" marR="17780" indent="-342900">
              <a:lnSpc>
                <a:spcPts val="3840"/>
              </a:lnSpc>
              <a:spcBef>
                <a:spcPts val="390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27990" algn="l"/>
              </a:tabLst>
            </a:pPr>
            <a:r>
              <a:rPr sz="3200" spc="-5" dirty="0">
                <a:latin typeface="Tahoma"/>
                <a:cs typeface="Tahoma"/>
              </a:rPr>
              <a:t>If </a:t>
            </a:r>
            <a:r>
              <a:rPr sz="3200" dirty="0">
                <a:latin typeface="Tahoma"/>
                <a:cs typeface="Tahoma"/>
              </a:rPr>
              <a:t>we </a:t>
            </a:r>
            <a:r>
              <a:rPr sz="3200" spc="-5" dirty="0">
                <a:latin typeface="Tahoma"/>
                <a:cs typeface="Tahoma"/>
              </a:rPr>
              <a:t>project </a:t>
            </a:r>
            <a:r>
              <a:rPr sz="3350" i="1" spc="-90" dirty="0">
                <a:latin typeface="Tahoma"/>
                <a:cs typeface="Tahoma"/>
              </a:rPr>
              <a:t>R </a:t>
            </a:r>
            <a:r>
              <a:rPr sz="3200" spc="-5" dirty="0">
                <a:latin typeface="Tahoma"/>
                <a:cs typeface="Tahoma"/>
              </a:rPr>
              <a:t>onto </a:t>
            </a:r>
            <a:r>
              <a:rPr sz="3350" i="1" spc="-370" dirty="0">
                <a:latin typeface="Tahoma"/>
                <a:cs typeface="Tahoma"/>
              </a:rPr>
              <a:t>R</a:t>
            </a:r>
            <a:r>
              <a:rPr sz="3075" spc="-555" baseline="-17615" dirty="0">
                <a:latin typeface="Tahoma"/>
                <a:cs typeface="Tahoma"/>
              </a:rPr>
              <a:t>1</a:t>
            </a:r>
            <a:r>
              <a:rPr sz="3200" spc="-370" dirty="0">
                <a:latin typeface="Tahoma"/>
                <a:cs typeface="Tahoma"/>
              </a:rPr>
              <a:t>, </a:t>
            </a:r>
            <a:r>
              <a:rPr sz="3350" i="1" spc="-225" dirty="0">
                <a:latin typeface="Tahoma"/>
                <a:cs typeface="Tahoma"/>
              </a:rPr>
              <a:t>R</a:t>
            </a:r>
            <a:r>
              <a:rPr sz="3075" spc="-337" baseline="-17615" dirty="0">
                <a:latin typeface="Tahoma"/>
                <a:cs typeface="Tahoma"/>
              </a:rPr>
              <a:t>2</a:t>
            </a:r>
            <a:r>
              <a:rPr sz="3200" spc="-225" dirty="0">
                <a:latin typeface="Tahoma"/>
                <a:cs typeface="Tahoma"/>
              </a:rPr>
              <a:t>,…, </a:t>
            </a:r>
            <a:r>
              <a:rPr sz="3350" i="1" spc="-440" dirty="0">
                <a:latin typeface="Tahoma"/>
                <a:cs typeface="Tahoma"/>
              </a:rPr>
              <a:t>R</a:t>
            </a:r>
            <a:r>
              <a:rPr sz="3225" i="1" spc="-660" baseline="-16795" dirty="0">
                <a:latin typeface="Tahoma"/>
                <a:cs typeface="Tahoma"/>
              </a:rPr>
              <a:t>k</a:t>
            </a:r>
            <a:r>
              <a:rPr sz="3200" spc="-440" dirty="0">
                <a:latin typeface="Tahoma"/>
                <a:cs typeface="Tahoma"/>
              </a:rPr>
              <a:t>, </a:t>
            </a:r>
            <a:r>
              <a:rPr sz="3200" spc="-5" dirty="0">
                <a:latin typeface="Tahoma"/>
                <a:cs typeface="Tahoma"/>
              </a:rPr>
              <a:t>can  </a:t>
            </a:r>
            <a:r>
              <a:rPr sz="3200" dirty="0">
                <a:latin typeface="Tahoma"/>
                <a:cs typeface="Tahoma"/>
              </a:rPr>
              <a:t>we </a:t>
            </a:r>
            <a:r>
              <a:rPr sz="3200" spc="-15" dirty="0">
                <a:latin typeface="Tahoma"/>
                <a:cs typeface="Tahoma"/>
              </a:rPr>
              <a:t>recover </a:t>
            </a:r>
            <a:r>
              <a:rPr sz="3350" i="1" spc="-90" dirty="0">
                <a:latin typeface="Tahoma"/>
                <a:cs typeface="Tahoma"/>
              </a:rPr>
              <a:t>R </a:t>
            </a:r>
            <a:r>
              <a:rPr sz="3200" spc="-5" dirty="0">
                <a:latin typeface="Tahoma"/>
                <a:cs typeface="Tahoma"/>
              </a:rPr>
              <a:t>by</a:t>
            </a:r>
            <a:r>
              <a:rPr sz="3200" spc="-210" dirty="0">
                <a:latin typeface="Tahoma"/>
                <a:cs typeface="Tahoma"/>
              </a:rPr>
              <a:t> </a:t>
            </a:r>
            <a:r>
              <a:rPr sz="3200" spc="-5" dirty="0">
                <a:latin typeface="Tahoma"/>
                <a:cs typeface="Tahoma"/>
              </a:rPr>
              <a:t>rejoining?</a:t>
            </a:r>
            <a:endParaRPr sz="3200" dirty="0">
              <a:latin typeface="Tahoma"/>
              <a:cs typeface="Tahoma"/>
            </a:endParaRPr>
          </a:p>
          <a:p>
            <a:pPr marL="368300" marR="155575" indent="-342900">
              <a:lnSpc>
                <a:spcPts val="3840"/>
              </a:lnSpc>
              <a:spcBef>
                <a:spcPts val="765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27990" algn="l"/>
              </a:tabLst>
            </a:pPr>
            <a:r>
              <a:rPr sz="3200" spc="-15" dirty="0">
                <a:latin typeface="Tahoma"/>
                <a:cs typeface="Tahoma"/>
              </a:rPr>
              <a:t>Any </a:t>
            </a:r>
            <a:r>
              <a:rPr sz="3200" spc="-5" dirty="0">
                <a:latin typeface="Tahoma"/>
                <a:cs typeface="Tahoma"/>
              </a:rPr>
              <a:t>tuple in </a:t>
            </a:r>
            <a:r>
              <a:rPr sz="3350" i="1" spc="-90" dirty="0">
                <a:latin typeface="Tahoma"/>
                <a:cs typeface="Tahoma"/>
              </a:rPr>
              <a:t>R </a:t>
            </a:r>
            <a:r>
              <a:rPr sz="3200" spc="-5" dirty="0">
                <a:latin typeface="Tahoma"/>
                <a:cs typeface="Tahoma"/>
              </a:rPr>
              <a:t>can </a:t>
            </a:r>
            <a:r>
              <a:rPr sz="3200" dirty="0">
                <a:latin typeface="Tahoma"/>
                <a:cs typeface="Tahoma"/>
              </a:rPr>
              <a:t>be </a:t>
            </a:r>
            <a:r>
              <a:rPr sz="3200" spc="-15" dirty="0">
                <a:latin typeface="Tahoma"/>
                <a:cs typeface="Tahoma"/>
              </a:rPr>
              <a:t>recovered </a:t>
            </a:r>
            <a:r>
              <a:rPr sz="3200" spc="-10" dirty="0">
                <a:latin typeface="Tahoma"/>
                <a:cs typeface="Tahoma"/>
              </a:rPr>
              <a:t>from  </a:t>
            </a:r>
            <a:r>
              <a:rPr sz="3200" dirty="0">
                <a:latin typeface="Tahoma"/>
                <a:cs typeface="Tahoma"/>
              </a:rPr>
              <a:t>its </a:t>
            </a:r>
            <a:r>
              <a:rPr sz="3200" spc="-5" dirty="0">
                <a:latin typeface="Tahoma"/>
                <a:cs typeface="Tahoma"/>
              </a:rPr>
              <a:t>projected</a:t>
            </a:r>
            <a:r>
              <a:rPr sz="3200" spc="-20" dirty="0">
                <a:latin typeface="Tahoma"/>
                <a:cs typeface="Tahoma"/>
              </a:rPr>
              <a:t> </a:t>
            </a:r>
            <a:r>
              <a:rPr sz="3200" spc="-10" dirty="0">
                <a:latin typeface="Tahoma"/>
                <a:cs typeface="Tahoma"/>
              </a:rPr>
              <a:t>fragments.</a:t>
            </a:r>
            <a:endParaRPr sz="3200" dirty="0">
              <a:latin typeface="Tahoma"/>
              <a:cs typeface="Tahoma"/>
            </a:endParaRPr>
          </a:p>
          <a:p>
            <a:pPr marL="368300" marR="123189" indent="-342900">
              <a:lnSpc>
                <a:spcPct val="100000"/>
              </a:lnSpc>
              <a:spcBef>
                <a:spcPts val="640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27990" algn="l"/>
              </a:tabLst>
            </a:pPr>
            <a:r>
              <a:rPr sz="3200" dirty="0">
                <a:latin typeface="Tahoma"/>
                <a:cs typeface="Tahoma"/>
              </a:rPr>
              <a:t>So </a:t>
            </a:r>
            <a:r>
              <a:rPr sz="3200" spc="-5" dirty="0">
                <a:latin typeface="Tahoma"/>
                <a:cs typeface="Tahoma"/>
              </a:rPr>
              <a:t>the only question is: </a:t>
            </a:r>
            <a:r>
              <a:rPr sz="3200" spc="-5" dirty="0">
                <a:solidFill>
                  <a:srgbClr val="FF9900"/>
                </a:solidFill>
                <a:latin typeface="Tahoma"/>
                <a:cs typeface="Tahoma"/>
              </a:rPr>
              <a:t>when </a:t>
            </a:r>
            <a:r>
              <a:rPr sz="3200" dirty="0">
                <a:solidFill>
                  <a:srgbClr val="FF9900"/>
                </a:solidFill>
                <a:latin typeface="Tahoma"/>
                <a:cs typeface="Tahoma"/>
              </a:rPr>
              <a:t>we  </a:t>
            </a:r>
            <a:r>
              <a:rPr sz="3200" spc="-5" dirty="0">
                <a:solidFill>
                  <a:srgbClr val="FF9900"/>
                </a:solidFill>
                <a:latin typeface="Tahoma"/>
                <a:cs typeface="Tahoma"/>
              </a:rPr>
              <a:t>rejoin, </a:t>
            </a:r>
            <a:r>
              <a:rPr sz="3200" dirty="0">
                <a:solidFill>
                  <a:srgbClr val="FF9900"/>
                </a:solidFill>
                <a:latin typeface="Tahoma"/>
                <a:cs typeface="Tahoma"/>
              </a:rPr>
              <a:t>do we </a:t>
            </a:r>
            <a:r>
              <a:rPr sz="3200" spc="-10" dirty="0">
                <a:solidFill>
                  <a:srgbClr val="FF9900"/>
                </a:solidFill>
                <a:latin typeface="Tahoma"/>
                <a:cs typeface="Tahoma"/>
              </a:rPr>
              <a:t>ever </a:t>
            </a:r>
            <a:r>
              <a:rPr sz="3200" spc="-5" dirty="0">
                <a:solidFill>
                  <a:srgbClr val="FF9900"/>
                </a:solidFill>
                <a:latin typeface="Tahoma"/>
                <a:cs typeface="Tahoma"/>
              </a:rPr>
              <a:t>get back something  </a:t>
            </a:r>
            <a:r>
              <a:rPr sz="3200" dirty="0">
                <a:solidFill>
                  <a:srgbClr val="FF9900"/>
                </a:solidFill>
                <a:latin typeface="Tahoma"/>
                <a:cs typeface="Tahoma"/>
              </a:rPr>
              <a:t>we </a:t>
            </a:r>
            <a:r>
              <a:rPr sz="3200" spc="5" dirty="0">
                <a:solidFill>
                  <a:srgbClr val="FF9900"/>
                </a:solidFill>
                <a:latin typeface="Tahoma"/>
                <a:cs typeface="Tahoma"/>
              </a:rPr>
              <a:t>didn’t </a:t>
            </a:r>
            <a:r>
              <a:rPr sz="3200" spc="-15" dirty="0">
                <a:solidFill>
                  <a:srgbClr val="FF9900"/>
                </a:solidFill>
                <a:latin typeface="Tahoma"/>
                <a:cs typeface="Tahoma"/>
              </a:rPr>
              <a:t>have</a:t>
            </a:r>
            <a:r>
              <a:rPr sz="3200" spc="-30" dirty="0">
                <a:solidFill>
                  <a:srgbClr val="FF9900"/>
                </a:solidFill>
                <a:latin typeface="Tahoma"/>
                <a:cs typeface="Tahoma"/>
              </a:rPr>
              <a:t> </a:t>
            </a:r>
            <a:r>
              <a:rPr sz="3200" spc="-5" dirty="0">
                <a:solidFill>
                  <a:srgbClr val="FF9900"/>
                </a:solidFill>
                <a:latin typeface="Tahoma"/>
                <a:cs typeface="Tahoma"/>
              </a:rPr>
              <a:t>originally</a:t>
            </a:r>
            <a:r>
              <a:rPr sz="3200" spc="-5" dirty="0">
                <a:latin typeface="Tahoma"/>
                <a:cs typeface="Tahoma"/>
              </a:rPr>
              <a:t>?</a:t>
            </a:r>
            <a:endParaRPr sz="3200" dirty="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024062" y="663476"/>
            <a:ext cx="5095875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The Chase</a:t>
            </a:r>
            <a:r>
              <a:rPr lang="zh-CN" altLang="en-US" spc="-5" dirty="0"/>
              <a:t>追回</a:t>
            </a:r>
            <a:r>
              <a:rPr spc="-70" dirty="0"/>
              <a:t> </a:t>
            </a:r>
            <a:r>
              <a:rPr spc="-114" dirty="0"/>
              <a:t>Test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dirty="0"/>
              <a:t>52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751840" y="1992617"/>
            <a:ext cx="7564755" cy="3658870"/>
          </a:xfrm>
          <a:prstGeom prst="rect">
            <a:avLst/>
          </a:prstGeom>
        </p:spPr>
        <p:txBody>
          <a:bodyPr vert="horz" wrap="square" lIns="0" tIns="49530" rIns="0" bIns="0" rtlCol="0">
            <a:spAutoFit/>
          </a:bodyPr>
          <a:lstStyle/>
          <a:p>
            <a:pPr marL="368300" marR="822960" indent="-342900">
              <a:lnSpc>
                <a:spcPts val="3840"/>
              </a:lnSpc>
              <a:spcBef>
                <a:spcPts val="390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27990" algn="l"/>
              </a:tabLst>
            </a:pPr>
            <a:r>
              <a:rPr sz="3200" spc="-5" dirty="0">
                <a:latin typeface="Tahoma"/>
                <a:cs typeface="Tahoma"/>
              </a:rPr>
              <a:t>Suppose tuple </a:t>
            </a:r>
            <a:r>
              <a:rPr sz="3350" i="1" spc="-50" dirty="0">
                <a:latin typeface="Tahoma"/>
                <a:cs typeface="Tahoma"/>
              </a:rPr>
              <a:t>t </a:t>
            </a:r>
            <a:r>
              <a:rPr sz="3200" spc="-5" dirty="0">
                <a:latin typeface="Tahoma"/>
                <a:cs typeface="Tahoma"/>
              </a:rPr>
              <a:t>comes back in the  join.</a:t>
            </a:r>
            <a:endParaRPr sz="3200" dirty="0">
              <a:latin typeface="Tahoma"/>
              <a:cs typeface="Tahoma"/>
            </a:endParaRPr>
          </a:p>
          <a:p>
            <a:pPr marL="368300" marR="626745" indent="-342900">
              <a:lnSpc>
                <a:spcPts val="3840"/>
              </a:lnSpc>
              <a:spcBef>
                <a:spcPts val="765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27990" algn="l"/>
                <a:tab pos="6578600" algn="l"/>
              </a:tabLst>
            </a:pPr>
            <a:r>
              <a:rPr sz="3200" spc="-5" dirty="0">
                <a:latin typeface="Tahoma"/>
                <a:cs typeface="Tahoma"/>
              </a:rPr>
              <a:t>Then </a:t>
            </a:r>
            <a:r>
              <a:rPr sz="3350" i="1" spc="-50" dirty="0">
                <a:latin typeface="Tahoma"/>
                <a:cs typeface="Tahoma"/>
              </a:rPr>
              <a:t>t </a:t>
            </a:r>
            <a:r>
              <a:rPr sz="3200" spc="-5" dirty="0">
                <a:latin typeface="Tahoma"/>
                <a:cs typeface="Tahoma"/>
              </a:rPr>
              <a:t>is the join of projections of  som</a:t>
            </a:r>
            <a:r>
              <a:rPr sz="3200" dirty="0">
                <a:latin typeface="Tahoma"/>
                <a:cs typeface="Tahoma"/>
              </a:rPr>
              <a:t>e</a:t>
            </a:r>
            <a:r>
              <a:rPr sz="3200" spc="-5" dirty="0">
                <a:latin typeface="Tahoma"/>
                <a:cs typeface="Tahoma"/>
              </a:rPr>
              <a:t> tuple</a:t>
            </a:r>
            <a:r>
              <a:rPr sz="3200" dirty="0">
                <a:latin typeface="Tahoma"/>
                <a:cs typeface="Tahoma"/>
              </a:rPr>
              <a:t>s</a:t>
            </a:r>
            <a:r>
              <a:rPr sz="3200" spc="-5" dirty="0">
                <a:latin typeface="Tahoma"/>
                <a:cs typeface="Tahoma"/>
              </a:rPr>
              <a:t> o</a:t>
            </a:r>
            <a:r>
              <a:rPr sz="3200" dirty="0">
                <a:latin typeface="Tahoma"/>
                <a:cs typeface="Tahoma"/>
              </a:rPr>
              <a:t>f</a:t>
            </a:r>
            <a:r>
              <a:rPr sz="3200" spc="-215" dirty="0">
                <a:latin typeface="Tahoma"/>
                <a:cs typeface="Tahoma"/>
              </a:rPr>
              <a:t> </a:t>
            </a:r>
            <a:r>
              <a:rPr sz="3350" i="1" spc="-1125" dirty="0">
                <a:latin typeface="Tahoma"/>
                <a:cs typeface="Tahoma"/>
              </a:rPr>
              <a:t>R</a:t>
            </a:r>
            <a:r>
              <a:rPr sz="3200" dirty="0">
                <a:latin typeface="Tahoma"/>
                <a:cs typeface="Tahoma"/>
              </a:rPr>
              <a:t>,</a:t>
            </a:r>
            <a:r>
              <a:rPr sz="3200" spc="-5" dirty="0">
                <a:latin typeface="Tahoma"/>
                <a:cs typeface="Tahoma"/>
              </a:rPr>
              <a:t> on</a:t>
            </a:r>
            <a:r>
              <a:rPr sz="3200" dirty="0">
                <a:latin typeface="Tahoma"/>
                <a:cs typeface="Tahoma"/>
              </a:rPr>
              <a:t>e</a:t>
            </a:r>
            <a:r>
              <a:rPr sz="3200" spc="-5" dirty="0">
                <a:latin typeface="Tahoma"/>
                <a:cs typeface="Tahoma"/>
              </a:rPr>
              <a:t> </a:t>
            </a:r>
            <a:r>
              <a:rPr sz="3200" spc="-40" dirty="0">
                <a:latin typeface="Tahoma"/>
                <a:cs typeface="Tahoma"/>
              </a:rPr>
              <a:t>f</a:t>
            </a:r>
            <a:r>
              <a:rPr sz="3200" spc="-5" dirty="0">
                <a:latin typeface="Tahoma"/>
                <a:cs typeface="Tahoma"/>
              </a:rPr>
              <a:t>o</a:t>
            </a:r>
            <a:r>
              <a:rPr sz="3200" dirty="0">
                <a:latin typeface="Tahoma"/>
                <a:cs typeface="Tahoma"/>
              </a:rPr>
              <a:t>r </a:t>
            </a:r>
            <a:r>
              <a:rPr sz="3200" spc="-5" dirty="0">
                <a:latin typeface="Tahoma"/>
                <a:cs typeface="Tahoma"/>
              </a:rPr>
              <a:t>eac</a:t>
            </a:r>
            <a:r>
              <a:rPr sz="3200" dirty="0">
                <a:latin typeface="Tahoma"/>
                <a:cs typeface="Tahoma"/>
              </a:rPr>
              <a:t>h</a:t>
            </a:r>
            <a:r>
              <a:rPr sz="3200" spc="-215" dirty="0">
                <a:latin typeface="Tahoma"/>
                <a:cs typeface="Tahoma"/>
              </a:rPr>
              <a:t> </a:t>
            </a:r>
            <a:r>
              <a:rPr sz="3350" i="1" spc="-1260" dirty="0">
                <a:latin typeface="Tahoma"/>
                <a:cs typeface="Tahoma"/>
              </a:rPr>
              <a:t>R</a:t>
            </a:r>
            <a:r>
              <a:rPr sz="3225" i="1" spc="-30" baseline="-16795" dirty="0">
                <a:latin typeface="Tahoma"/>
                <a:cs typeface="Tahoma"/>
              </a:rPr>
              <a:t>i</a:t>
            </a:r>
            <a:r>
              <a:rPr sz="3225" i="1" baseline="-16795" dirty="0">
                <a:latin typeface="Tahoma"/>
                <a:cs typeface="Tahoma"/>
              </a:rPr>
              <a:t>	</a:t>
            </a:r>
            <a:r>
              <a:rPr sz="3200" spc="-5" dirty="0">
                <a:latin typeface="Tahoma"/>
                <a:cs typeface="Tahoma"/>
              </a:rPr>
              <a:t>o</a:t>
            </a:r>
            <a:r>
              <a:rPr sz="3200" dirty="0">
                <a:latin typeface="Tahoma"/>
                <a:cs typeface="Tahoma"/>
              </a:rPr>
              <a:t>f  </a:t>
            </a:r>
            <a:r>
              <a:rPr sz="3200" spc="-5" dirty="0">
                <a:latin typeface="Tahoma"/>
                <a:cs typeface="Tahoma"/>
              </a:rPr>
              <a:t>the</a:t>
            </a:r>
            <a:r>
              <a:rPr sz="3200" spc="-10" dirty="0">
                <a:latin typeface="Tahoma"/>
                <a:cs typeface="Tahoma"/>
              </a:rPr>
              <a:t> </a:t>
            </a:r>
            <a:r>
              <a:rPr sz="3200" spc="-5" dirty="0">
                <a:latin typeface="Tahoma"/>
                <a:cs typeface="Tahoma"/>
              </a:rPr>
              <a:t>decomposition.</a:t>
            </a:r>
            <a:endParaRPr sz="3200" dirty="0">
              <a:latin typeface="Tahoma"/>
              <a:cs typeface="Tahoma"/>
            </a:endParaRPr>
          </a:p>
          <a:p>
            <a:pPr marL="368300" marR="17780" indent="-342900">
              <a:lnSpc>
                <a:spcPts val="3840"/>
              </a:lnSpc>
              <a:spcBef>
                <a:spcPts val="765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27990" algn="l"/>
              </a:tabLst>
            </a:pPr>
            <a:r>
              <a:rPr sz="3200" spc="-5" dirty="0">
                <a:latin typeface="Tahoma"/>
                <a:cs typeface="Tahoma"/>
              </a:rPr>
              <a:t>Can </a:t>
            </a:r>
            <a:r>
              <a:rPr sz="3200" dirty="0">
                <a:latin typeface="Tahoma"/>
                <a:cs typeface="Tahoma"/>
              </a:rPr>
              <a:t>we </a:t>
            </a:r>
            <a:r>
              <a:rPr sz="3200" spc="-5" dirty="0">
                <a:latin typeface="Tahoma"/>
                <a:cs typeface="Tahoma"/>
              </a:rPr>
              <a:t>use the </a:t>
            </a:r>
            <a:r>
              <a:rPr sz="3200" spc="-10" dirty="0">
                <a:latin typeface="Tahoma"/>
                <a:cs typeface="Tahoma"/>
              </a:rPr>
              <a:t>given </a:t>
            </a:r>
            <a:r>
              <a:rPr sz="3200" spc="-30" dirty="0">
                <a:latin typeface="Tahoma"/>
                <a:cs typeface="Tahoma"/>
              </a:rPr>
              <a:t>FD’s </a:t>
            </a:r>
            <a:r>
              <a:rPr sz="3200" spc="-5" dirty="0">
                <a:latin typeface="Tahoma"/>
                <a:cs typeface="Tahoma"/>
              </a:rPr>
              <a:t>to show that  one of these tuples must </a:t>
            </a:r>
            <a:r>
              <a:rPr sz="3200" dirty="0">
                <a:latin typeface="Tahoma"/>
                <a:cs typeface="Tahoma"/>
              </a:rPr>
              <a:t>be</a:t>
            </a:r>
            <a:r>
              <a:rPr sz="3200" spc="-225" dirty="0">
                <a:latin typeface="Tahoma"/>
                <a:cs typeface="Tahoma"/>
              </a:rPr>
              <a:t> </a:t>
            </a:r>
            <a:r>
              <a:rPr sz="3350" i="1" spc="-40" dirty="0">
                <a:latin typeface="Tahoma"/>
                <a:cs typeface="Tahoma"/>
              </a:rPr>
              <a:t>t</a:t>
            </a:r>
            <a:r>
              <a:rPr sz="3200" spc="-40" dirty="0">
                <a:latin typeface="Tahoma"/>
                <a:cs typeface="Tahoma"/>
              </a:rPr>
              <a:t>?</a:t>
            </a:r>
            <a:endParaRPr sz="3200" dirty="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569845" y="829944"/>
            <a:ext cx="400431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The Chase </a:t>
            </a:r>
            <a:r>
              <a:rPr dirty="0"/>
              <a:t>–</a:t>
            </a:r>
            <a:r>
              <a:rPr spc="-60" dirty="0"/>
              <a:t> </a:t>
            </a:r>
            <a:r>
              <a:rPr spc="-5" dirty="0"/>
              <a:t>(2)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dirty="0"/>
              <a:t>53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751840" y="1920623"/>
            <a:ext cx="7494270" cy="3823970"/>
          </a:xfrm>
          <a:prstGeom prst="rect">
            <a:avLst/>
          </a:prstGeom>
        </p:spPr>
        <p:txBody>
          <a:bodyPr vert="horz" wrap="square" lIns="0" tIns="86360" rIns="0" bIns="0" rtlCol="0">
            <a:spAutoFit/>
          </a:bodyPr>
          <a:lstStyle/>
          <a:p>
            <a:pPr marL="427355" indent="-402590">
              <a:lnSpc>
                <a:spcPct val="100000"/>
              </a:lnSpc>
              <a:spcBef>
                <a:spcPts val="680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27990" algn="l"/>
              </a:tabLst>
            </a:pPr>
            <a:r>
              <a:rPr sz="3200" spc="-5" dirty="0">
                <a:latin typeface="Tahoma"/>
                <a:cs typeface="Tahoma"/>
              </a:rPr>
              <a:t>Start by assuming </a:t>
            </a:r>
            <a:r>
              <a:rPr sz="3350" i="1" spc="-40" dirty="0">
                <a:latin typeface="Tahoma"/>
                <a:cs typeface="Tahoma"/>
              </a:rPr>
              <a:t>t</a:t>
            </a:r>
            <a:r>
              <a:rPr sz="3200" spc="-40" dirty="0">
                <a:latin typeface="Tahoma"/>
                <a:cs typeface="Tahoma"/>
              </a:rPr>
              <a:t>= </a:t>
            </a:r>
            <a:r>
              <a:rPr sz="3350" i="1" spc="-880" dirty="0">
                <a:latin typeface="Tahoma"/>
                <a:cs typeface="Tahoma"/>
              </a:rPr>
              <a:t>abc</a:t>
            </a:r>
            <a:r>
              <a:rPr sz="3200" spc="-880" dirty="0">
                <a:latin typeface="Tahoma"/>
                <a:cs typeface="Tahoma"/>
              </a:rPr>
              <a:t>…</a:t>
            </a:r>
            <a:r>
              <a:rPr sz="3200" spc="-855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.</a:t>
            </a:r>
          </a:p>
          <a:p>
            <a:pPr marL="368300" marR="161925" indent="-342900">
              <a:lnSpc>
                <a:spcPts val="3840"/>
              </a:lnSpc>
              <a:spcBef>
                <a:spcPts val="865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27990" algn="l"/>
              </a:tabLst>
            </a:pPr>
            <a:r>
              <a:rPr sz="3200" spc="-30" dirty="0">
                <a:latin typeface="Tahoma"/>
                <a:cs typeface="Tahoma"/>
              </a:rPr>
              <a:t>For </a:t>
            </a:r>
            <a:r>
              <a:rPr sz="3200" spc="-5" dirty="0">
                <a:latin typeface="Tahoma"/>
                <a:cs typeface="Tahoma"/>
              </a:rPr>
              <a:t>each </a:t>
            </a:r>
            <a:r>
              <a:rPr sz="3350" i="1" spc="-385" dirty="0">
                <a:latin typeface="Tahoma"/>
                <a:cs typeface="Tahoma"/>
              </a:rPr>
              <a:t>i</a:t>
            </a:r>
            <a:r>
              <a:rPr sz="3200" spc="-385" dirty="0">
                <a:latin typeface="Tahoma"/>
                <a:cs typeface="Tahoma"/>
              </a:rPr>
              <a:t>, </a:t>
            </a:r>
            <a:r>
              <a:rPr sz="3200" spc="-5" dirty="0">
                <a:latin typeface="Tahoma"/>
                <a:cs typeface="Tahoma"/>
              </a:rPr>
              <a:t>there is </a:t>
            </a:r>
            <a:r>
              <a:rPr sz="3200" dirty="0">
                <a:latin typeface="Tahoma"/>
                <a:cs typeface="Tahoma"/>
              </a:rPr>
              <a:t>a </a:t>
            </a:r>
            <a:r>
              <a:rPr sz="3200" spc="-5" dirty="0">
                <a:latin typeface="Tahoma"/>
                <a:cs typeface="Tahoma"/>
              </a:rPr>
              <a:t>tuple </a:t>
            </a:r>
            <a:r>
              <a:rPr sz="3350" i="1" spc="-625" dirty="0">
                <a:latin typeface="Tahoma"/>
                <a:cs typeface="Tahoma"/>
              </a:rPr>
              <a:t>s</a:t>
            </a:r>
            <a:r>
              <a:rPr sz="3225" i="1" spc="-937" baseline="-16795" dirty="0">
                <a:latin typeface="Tahoma"/>
                <a:cs typeface="Tahoma"/>
              </a:rPr>
              <a:t>i </a:t>
            </a:r>
            <a:r>
              <a:rPr sz="3200" spc="-5" dirty="0">
                <a:latin typeface="Tahoma"/>
                <a:cs typeface="Tahoma"/>
              </a:rPr>
              <a:t>of </a:t>
            </a:r>
            <a:r>
              <a:rPr sz="3350" i="1" spc="-90" dirty="0">
                <a:latin typeface="Tahoma"/>
                <a:cs typeface="Tahoma"/>
              </a:rPr>
              <a:t>R </a:t>
            </a:r>
            <a:r>
              <a:rPr sz="3200" spc="-5" dirty="0">
                <a:latin typeface="Tahoma"/>
                <a:cs typeface="Tahoma"/>
              </a:rPr>
              <a:t>that  has </a:t>
            </a:r>
            <a:r>
              <a:rPr sz="3350" i="1" spc="-555" dirty="0">
                <a:latin typeface="Tahoma"/>
                <a:cs typeface="Tahoma"/>
              </a:rPr>
              <a:t>a</a:t>
            </a:r>
            <a:r>
              <a:rPr sz="3200" spc="-555" dirty="0">
                <a:latin typeface="Tahoma"/>
                <a:cs typeface="Tahoma"/>
              </a:rPr>
              <a:t>, </a:t>
            </a:r>
            <a:r>
              <a:rPr sz="3350" i="1" spc="-555" dirty="0">
                <a:latin typeface="Tahoma"/>
                <a:cs typeface="Tahoma"/>
              </a:rPr>
              <a:t>b</a:t>
            </a:r>
            <a:r>
              <a:rPr sz="3200" spc="-555" dirty="0">
                <a:latin typeface="Tahoma"/>
                <a:cs typeface="Tahoma"/>
              </a:rPr>
              <a:t>, </a:t>
            </a:r>
            <a:r>
              <a:rPr sz="3350" i="1" spc="-370" dirty="0">
                <a:latin typeface="Tahoma"/>
                <a:cs typeface="Tahoma"/>
              </a:rPr>
              <a:t>c</a:t>
            </a:r>
            <a:r>
              <a:rPr sz="3200" spc="-370" dirty="0">
                <a:latin typeface="Tahoma"/>
                <a:cs typeface="Tahoma"/>
              </a:rPr>
              <a:t>,… </a:t>
            </a:r>
            <a:r>
              <a:rPr sz="3200" spc="-5" dirty="0">
                <a:latin typeface="Tahoma"/>
                <a:cs typeface="Tahoma"/>
              </a:rPr>
              <a:t>in the attributes of</a:t>
            </a:r>
            <a:r>
              <a:rPr sz="3200" spc="-285" dirty="0">
                <a:latin typeface="Tahoma"/>
                <a:cs typeface="Tahoma"/>
              </a:rPr>
              <a:t> </a:t>
            </a:r>
            <a:r>
              <a:rPr sz="3350" i="1" spc="-585" dirty="0">
                <a:latin typeface="Tahoma"/>
                <a:cs typeface="Tahoma"/>
              </a:rPr>
              <a:t>R</a:t>
            </a:r>
            <a:r>
              <a:rPr sz="3225" i="1" spc="-877" baseline="-16795" dirty="0">
                <a:latin typeface="Tahoma"/>
                <a:cs typeface="Tahoma"/>
              </a:rPr>
              <a:t>i</a:t>
            </a:r>
            <a:r>
              <a:rPr sz="3200" spc="-585" dirty="0">
                <a:latin typeface="Tahoma"/>
                <a:cs typeface="Tahoma"/>
              </a:rPr>
              <a:t>.</a:t>
            </a:r>
            <a:endParaRPr sz="3200" dirty="0">
              <a:latin typeface="Tahoma"/>
              <a:cs typeface="Tahoma"/>
            </a:endParaRPr>
          </a:p>
          <a:p>
            <a:pPr marL="368300" marR="1553210" indent="-342900">
              <a:lnSpc>
                <a:spcPts val="3840"/>
              </a:lnSpc>
              <a:spcBef>
                <a:spcPts val="765"/>
              </a:spcBef>
            </a:pPr>
            <a:r>
              <a:rPr sz="3200" spc="-490" dirty="0">
                <a:solidFill>
                  <a:srgbClr val="CC00CC"/>
                </a:solidFill>
                <a:latin typeface="Wingdings"/>
                <a:cs typeface="Wingdings"/>
              </a:rPr>
              <a:t></a:t>
            </a:r>
            <a:r>
              <a:rPr sz="3350" i="1" spc="-490" dirty="0">
                <a:latin typeface="Tahoma"/>
                <a:cs typeface="Tahoma"/>
              </a:rPr>
              <a:t>s</a:t>
            </a:r>
            <a:r>
              <a:rPr sz="3225" i="1" spc="-735" baseline="-16795" dirty="0">
                <a:latin typeface="Tahoma"/>
                <a:cs typeface="Tahoma"/>
              </a:rPr>
              <a:t>i </a:t>
            </a:r>
            <a:r>
              <a:rPr sz="3200" spc="-5" dirty="0">
                <a:latin typeface="Tahoma"/>
                <a:cs typeface="Tahoma"/>
              </a:rPr>
              <a:t>can </a:t>
            </a:r>
            <a:r>
              <a:rPr sz="3200" spc="-15" dirty="0">
                <a:latin typeface="Tahoma"/>
                <a:cs typeface="Tahoma"/>
              </a:rPr>
              <a:t>have any values </a:t>
            </a:r>
            <a:r>
              <a:rPr sz="3200" spc="-5" dirty="0">
                <a:latin typeface="Tahoma"/>
                <a:cs typeface="Tahoma"/>
              </a:rPr>
              <a:t>in other  attributes.</a:t>
            </a:r>
            <a:endParaRPr sz="3200" dirty="0">
              <a:latin typeface="Tahoma"/>
              <a:cs typeface="Tahoma"/>
            </a:endParaRPr>
          </a:p>
          <a:p>
            <a:pPr marL="368300" marR="17780" indent="-342900">
              <a:lnSpc>
                <a:spcPts val="3840"/>
              </a:lnSpc>
              <a:spcBef>
                <a:spcPts val="765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27990" algn="l"/>
              </a:tabLst>
            </a:pPr>
            <a:r>
              <a:rPr sz="3200" spc="-15" dirty="0">
                <a:latin typeface="Tahoma"/>
                <a:cs typeface="Tahoma"/>
              </a:rPr>
              <a:t>We’ll </a:t>
            </a:r>
            <a:r>
              <a:rPr sz="3200" spc="-5" dirty="0">
                <a:latin typeface="Tahoma"/>
                <a:cs typeface="Tahoma"/>
              </a:rPr>
              <a:t>use the same </a:t>
            </a:r>
            <a:r>
              <a:rPr sz="3200" spc="-10" dirty="0">
                <a:latin typeface="Tahoma"/>
                <a:cs typeface="Tahoma"/>
              </a:rPr>
              <a:t>letter </a:t>
            </a:r>
            <a:r>
              <a:rPr sz="3200" spc="-5" dirty="0">
                <a:latin typeface="Tahoma"/>
                <a:cs typeface="Tahoma"/>
              </a:rPr>
              <a:t>as in </a:t>
            </a:r>
            <a:r>
              <a:rPr sz="3350" i="1" spc="-540" dirty="0">
                <a:latin typeface="Tahoma"/>
                <a:cs typeface="Tahoma"/>
              </a:rPr>
              <a:t>t</a:t>
            </a:r>
            <a:r>
              <a:rPr sz="3200" spc="-540" dirty="0">
                <a:latin typeface="Tahoma"/>
                <a:cs typeface="Tahoma"/>
              </a:rPr>
              <a:t>, </a:t>
            </a:r>
            <a:r>
              <a:rPr sz="3200" spc="-5" dirty="0">
                <a:latin typeface="Tahoma"/>
                <a:cs typeface="Tahoma"/>
              </a:rPr>
              <a:t>but  with </a:t>
            </a:r>
            <a:r>
              <a:rPr sz="3200" dirty="0">
                <a:latin typeface="Tahoma"/>
                <a:cs typeface="Tahoma"/>
              </a:rPr>
              <a:t>a </a:t>
            </a:r>
            <a:r>
              <a:rPr sz="3200" spc="-5" dirty="0">
                <a:latin typeface="Tahoma"/>
                <a:cs typeface="Tahoma"/>
              </a:rPr>
              <a:t>subscript, </a:t>
            </a:r>
            <a:r>
              <a:rPr sz="3200" spc="-15" dirty="0">
                <a:latin typeface="Tahoma"/>
                <a:cs typeface="Tahoma"/>
              </a:rPr>
              <a:t>for </a:t>
            </a:r>
            <a:r>
              <a:rPr sz="3200" spc="-5" dirty="0">
                <a:latin typeface="Tahoma"/>
                <a:cs typeface="Tahoma"/>
              </a:rPr>
              <a:t>these</a:t>
            </a:r>
            <a:r>
              <a:rPr sz="3200" spc="10" dirty="0">
                <a:latin typeface="Tahoma"/>
                <a:cs typeface="Tahoma"/>
              </a:rPr>
              <a:t> </a:t>
            </a:r>
            <a:r>
              <a:rPr sz="3200" spc="-5" dirty="0">
                <a:latin typeface="Tahoma"/>
                <a:cs typeface="Tahoma"/>
              </a:rPr>
              <a:t>components.</a:t>
            </a:r>
            <a:endParaRPr sz="3200" dirty="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035810" y="829944"/>
            <a:ext cx="507301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>
                <a:solidFill>
                  <a:srgbClr val="33CC33"/>
                </a:solidFill>
              </a:rPr>
              <a:t>Example</a:t>
            </a:r>
            <a:r>
              <a:rPr spc="-5" dirty="0"/>
              <a:t>: The</a:t>
            </a:r>
            <a:r>
              <a:rPr spc="-50" dirty="0"/>
              <a:t> </a:t>
            </a:r>
            <a:r>
              <a:rPr spc="-5" dirty="0"/>
              <a:t>Chase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dirty="0"/>
              <a:t>54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764540" y="1992617"/>
            <a:ext cx="7384415" cy="2683510"/>
          </a:xfrm>
          <a:prstGeom prst="rect">
            <a:avLst/>
          </a:prstGeom>
        </p:spPr>
        <p:txBody>
          <a:bodyPr vert="horz" wrap="square" lIns="0" tIns="49530" rIns="0" bIns="0" rtlCol="0">
            <a:spAutoFit/>
          </a:bodyPr>
          <a:lstStyle/>
          <a:p>
            <a:pPr marL="355600" marR="146050" indent="-342900">
              <a:lnSpc>
                <a:spcPts val="3840"/>
              </a:lnSpc>
              <a:spcBef>
                <a:spcPts val="390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spc="-5" dirty="0">
                <a:latin typeface="Tahoma"/>
                <a:cs typeface="Tahoma"/>
              </a:rPr>
              <a:t>Let </a:t>
            </a:r>
            <a:r>
              <a:rPr sz="3350" i="1" spc="-65" dirty="0">
                <a:latin typeface="Tahoma"/>
                <a:cs typeface="Tahoma"/>
              </a:rPr>
              <a:t>R</a:t>
            </a:r>
            <a:r>
              <a:rPr sz="3200" spc="-65" dirty="0">
                <a:latin typeface="Tahoma"/>
                <a:cs typeface="Tahoma"/>
              </a:rPr>
              <a:t>= </a:t>
            </a:r>
            <a:r>
              <a:rPr sz="3350" i="1" spc="-980" dirty="0">
                <a:latin typeface="Tahoma"/>
                <a:cs typeface="Tahoma"/>
              </a:rPr>
              <a:t>ABCD</a:t>
            </a:r>
            <a:r>
              <a:rPr sz="3200" spc="-980" dirty="0">
                <a:latin typeface="Tahoma"/>
                <a:cs typeface="Tahoma"/>
              </a:rPr>
              <a:t>, </a:t>
            </a:r>
            <a:r>
              <a:rPr sz="3200" spc="-5" dirty="0">
                <a:latin typeface="Tahoma"/>
                <a:cs typeface="Tahoma"/>
              </a:rPr>
              <a:t>and the decomposition  </a:t>
            </a:r>
            <a:r>
              <a:rPr sz="3200" dirty="0">
                <a:latin typeface="Tahoma"/>
                <a:cs typeface="Tahoma"/>
              </a:rPr>
              <a:t>be </a:t>
            </a:r>
            <a:r>
              <a:rPr sz="3350" i="1" spc="-745" dirty="0">
                <a:latin typeface="Tahoma"/>
                <a:cs typeface="Tahoma"/>
              </a:rPr>
              <a:t>AB</a:t>
            </a:r>
            <a:r>
              <a:rPr sz="3200" spc="-745" dirty="0">
                <a:latin typeface="Tahoma"/>
                <a:cs typeface="Tahoma"/>
              </a:rPr>
              <a:t>, </a:t>
            </a:r>
            <a:r>
              <a:rPr sz="3350" i="1" spc="-815" dirty="0">
                <a:latin typeface="Tahoma"/>
                <a:cs typeface="Tahoma"/>
              </a:rPr>
              <a:t>BC</a:t>
            </a:r>
            <a:r>
              <a:rPr sz="3200" spc="-815" dirty="0">
                <a:latin typeface="Tahoma"/>
                <a:cs typeface="Tahoma"/>
              </a:rPr>
              <a:t>, </a:t>
            </a:r>
            <a:r>
              <a:rPr sz="3200" spc="-5" dirty="0">
                <a:latin typeface="Tahoma"/>
                <a:cs typeface="Tahoma"/>
              </a:rPr>
              <a:t>and</a:t>
            </a:r>
            <a:r>
              <a:rPr sz="3200" spc="-750" dirty="0">
                <a:latin typeface="Tahoma"/>
                <a:cs typeface="Tahoma"/>
              </a:rPr>
              <a:t> </a:t>
            </a:r>
            <a:r>
              <a:rPr sz="3350" i="1" spc="-819" dirty="0">
                <a:latin typeface="Tahoma"/>
                <a:cs typeface="Tahoma"/>
              </a:rPr>
              <a:t>CD</a:t>
            </a:r>
            <a:r>
              <a:rPr sz="3200" spc="-819" dirty="0">
                <a:latin typeface="Tahoma"/>
                <a:cs typeface="Tahoma"/>
              </a:rPr>
              <a:t>.</a:t>
            </a:r>
            <a:endParaRPr sz="3200" dirty="0">
              <a:latin typeface="Tahoma"/>
              <a:cs typeface="Tahoma"/>
            </a:endParaRPr>
          </a:p>
          <a:p>
            <a:pPr marL="414655" indent="-402590">
              <a:lnSpc>
                <a:spcPct val="100000"/>
              </a:lnSpc>
              <a:spcBef>
                <a:spcPts val="490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spc="-5" dirty="0">
                <a:latin typeface="Tahoma"/>
                <a:cs typeface="Tahoma"/>
              </a:rPr>
              <a:t>Let the </a:t>
            </a:r>
            <a:r>
              <a:rPr sz="3200" spc="-10" dirty="0">
                <a:latin typeface="Tahoma"/>
                <a:cs typeface="Tahoma"/>
              </a:rPr>
              <a:t>given </a:t>
            </a:r>
            <a:r>
              <a:rPr sz="3200" spc="-30" dirty="0">
                <a:latin typeface="Tahoma"/>
                <a:cs typeface="Tahoma"/>
              </a:rPr>
              <a:t>FD’s </a:t>
            </a:r>
            <a:r>
              <a:rPr sz="3200" dirty="0">
                <a:latin typeface="Tahoma"/>
                <a:cs typeface="Tahoma"/>
              </a:rPr>
              <a:t>be </a:t>
            </a:r>
            <a:r>
              <a:rPr sz="3350" i="1" spc="-375" dirty="0">
                <a:solidFill>
                  <a:srgbClr val="00CC99"/>
                </a:solidFill>
                <a:latin typeface="Tahoma"/>
                <a:cs typeface="Tahoma"/>
              </a:rPr>
              <a:t>C-</a:t>
            </a:r>
            <a:r>
              <a:rPr sz="3200" spc="-375" dirty="0">
                <a:solidFill>
                  <a:srgbClr val="00CC99"/>
                </a:solidFill>
                <a:latin typeface="Tahoma"/>
                <a:cs typeface="Tahoma"/>
              </a:rPr>
              <a:t>&gt;</a:t>
            </a:r>
            <a:r>
              <a:rPr sz="3350" i="1" spc="-375" dirty="0">
                <a:solidFill>
                  <a:srgbClr val="00CC99"/>
                </a:solidFill>
                <a:latin typeface="Tahoma"/>
                <a:cs typeface="Tahoma"/>
              </a:rPr>
              <a:t>D</a:t>
            </a:r>
            <a:r>
              <a:rPr sz="3200" spc="-375" dirty="0">
                <a:latin typeface="Tahoma"/>
                <a:cs typeface="Tahoma"/>
              </a:rPr>
              <a:t>and</a:t>
            </a:r>
            <a:r>
              <a:rPr sz="3200" spc="-635" dirty="0">
                <a:latin typeface="Tahoma"/>
                <a:cs typeface="Tahoma"/>
              </a:rPr>
              <a:t> </a:t>
            </a:r>
            <a:r>
              <a:rPr sz="3350" i="1" spc="-290" dirty="0">
                <a:solidFill>
                  <a:srgbClr val="00CC99"/>
                </a:solidFill>
                <a:latin typeface="Tahoma"/>
                <a:cs typeface="Tahoma"/>
              </a:rPr>
              <a:t>B</a:t>
            </a:r>
            <a:r>
              <a:rPr sz="3200" spc="-290" dirty="0">
                <a:solidFill>
                  <a:srgbClr val="00CC99"/>
                </a:solidFill>
                <a:latin typeface="Tahoma"/>
                <a:cs typeface="Tahoma"/>
              </a:rPr>
              <a:t>-&gt;</a:t>
            </a:r>
            <a:r>
              <a:rPr sz="3350" i="1" spc="-290" dirty="0">
                <a:solidFill>
                  <a:srgbClr val="00CC99"/>
                </a:solidFill>
                <a:latin typeface="Tahoma"/>
                <a:cs typeface="Tahoma"/>
              </a:rPr>
              <a:t>A</a:t>
            </a:r>
            <a:r>
              <a:rPr sz="3200" spc="-290" dirty="0">
                <a:latin typeface="Tahoma"/>
                <a:cs typeface="Tahoma"/>
              </a:rPr>
              <a:t>.</a:t>
            </a:r>
            <a:endParaRPr sz="3200" dirty="0">
              <a:latin typeface="Tahoma"/>
              <a:cs typeface="Tahoma"/>
            </a:endParaRPr>
          </a:p>
          <a:p>
            <a:pPr marL="355600" marR="168910" indent="-342900">
              <a:lnSpc>
                <a:spcPts val="3840"/>
              </a:lnSpc>
              <a:spcBef>
                <a:spcPts val="860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spc="-5" dirty="0">
                <a:latin typeface="Tahoma"/>
                <a:cs typeface="Tahoma"/>
              </a:rPr>
              <a:t>Suppose the tuple </a:t>
            </a:r>
            <a:r>
              <a:rPr sz="3200" dirty="0">
                <a:latin typeface="Tahoma"/>
                <a:cs typeface="Tahoma"/>
              </a:rPr>
              <a:t>t = </a:t>
            </a:r>
            <a:r>
              <a:rPr sz="3200" spc="-5" dirty="0">
                <a:latin typeface="Tahoma"/>
                <a:cs typeface="Tahoma"/>
              </a:rPr>
              <a:t>abcd is the join  of tuples projected onto </a:t>
            </a:r>
            <a:r>
              <a:rPr sz="3350" i="1" spc="-745" dirty="0">
                <a:latin typeface="Tahoma"/>
                <a:cs typeface="Tahoma"/>
              </a:rPr>
              <a:t>AB</a:t>
            </a:r>
            <a:r>
              <a:rPr sz="3200" spc="-745" dirty="0">
                <a:latin typeface="Tahoma"/>
                <a:cs typeface="Tahoma"/>
              </a:rPr>
              <a:t>, </a:t>
            </a:r>
            <a:r>
              <a:rPr sz="3350" i="1" spc="-815" dirty="0">
                <a:latin typeface="Tahoma"/>
                <a:cs typeface="Tahoma"/>
              </a:rPr>
              <a:t>BC</a:t>
            </a:r>
            <a:r>
              <a:rPr sz="3200" spc="-815" dirty="0">
                <a:latin typeface="Tahoma"/>
                <a:cs typeface="Tahoma"/>
              </a:rPr>
              <a:t>, </a:t>
            </a:r>
            <a:r>
              <a:rPr sz="3350" i="1" spc="-819" dirty="0">
                <a:latin typeface="Tahoma"/>
                <a:cs typeface="Tahoma"/>
              </a:rPr>
              <a:t>CD</a:t>
            </a:r>
            <a:r>
              <a:rPr sz="3200" spc="-819" dirty="0">
                <a:latin typeface="Tahoma"/>
                <a:cs typeface="Tahoma"/>
              </a:rPr>
              <a:t>.</a:t>
            </a:r>
            <a:endParaRPr sz="3200" dirty="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36366" y="774383"/>
            <a:ext cx="3204845" cy="631583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4000" spc="-5" dirty="0"/>
              <a:t>The</a:t>
            </a:r>
            <a:r>
              <a:rPr sz="4000" spc="-600" dirty="0"/>
              <a:t> </a:t>
            </a:r>
            <a:r>
              <a:rPr lang="en-US" altLang="zh-CN" sz="4000" dirty="0">
                <a:effectLst/>
              </a:rPr>
              <a:t>Tableau</a:t>
            </a:r>
            <a:endParaRPr sz="4000" dirty="0">
              <a:latin typeface="Tahoma"/>
              <a:cs typeface="Tahom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138437" y="1991347"/>
            <a:ext cx="459105" cy="53848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3350" i="1" spc="-100" dirty="0">
                <a:latin typeface="Tahoma"/>
                <a:cs typeface="Tahoma"/>
              </a:rPr>
              <a:t>D</a:t>
            </a:r>
            <a:endParaRPr sz="3350">
              <a:latin typeface="Tahoma"/>
              <a:cs typeface="Tahom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652037" y="2576182"/>
            <a:ext cx="396875" cy="53848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3350" i="1" spc="-80" dirty="0">
                <a:latin typeface="Tahoma"/>
                <a:cs typeface="Tahoma"/>
              </a:rPr>
              <a:t>a</a:t>
            </a:r>
            <a:endParaRPr sz="3350">
              <a:latin typeface="Tahoma"/>
              <a:cs typeface="Tahom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113037" y="2576182"/>
            <a:ext cx="471805" cy="53848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4"/>
              </a:spcBef>
            </a:pPr>
            <a:r>
              <a:rPr sz="3350" i="1" spc="-550" dirty="0">
                <a:latin typeface="Tahoma"/>
                <a:cs typeface="Tahoma"/>
              </a:rPr>
              <a:t>d</a:t>
            </a:r>
            <a:r>
              <a:rPr sz="3075" spc="-825" baseline="-17615" dirty="0">
                <a:latin typeface="Tahoma"/>
                <a:cs typeface="Tahoma"/>
              </a:rPr>
              <a:t>1</a:t>
            </a:r>
            <a:endParaRPr sz="3075" baseline="-17615">
              <a:latin typeface="Tahoma"/>
              <a:cs typeface="Tahom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626637" y="3745852"/>
            <a:ext cx="460375" cy="53848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4"/>
              </a:spcBef>
            </a:pPr>
            <a:r>
              <a:rPr sz="3350" i="1" spc="-550" dirty="0">
                <a:latin typeface="Tahoma"/>
                <a:cs typeface="Tahoma"/>
              </a:rPr>
              <a:t>a</a:t>
            </a:r>
            <a:r>
              <a:rPr sz="3075" spc="-825" baseline="-17615" dirty="0">
                <a:latin typeface="Tahoma"/>
                <a:cs typeface="Tahoma"/>
              </a:rPr>
              <a:t>3</a:t>
            </a:r>
            <a:endParaRPr sz="3075" baseline="-17615">
              <a:latin typeface="Tahoma"/>
              <a:cs typeface="Tahom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468137" y="1919353"/>
            <a:ext cx="2281555" cy="2364740"/>
          </a:xfrm>
          <a:prstGeom prst="rect">
            <a:avLst/>
          </a:prstGeom>
        </p:spPr>
        <p:txBody>
          <a:bodyPr vert="horz" wrap="square" lIns="0" tIns="8636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680"/>
              </a:spcBef>
              <a:tabLst>
                <a:tab pos="1853564" algn="l"/>
              </a:tabLst>
            </a:pPr>
            <a:r>
              <a:rPr sz="3350" i="1" spc="-90" dirty="0">
                <a:latin typeface="Tahoma"/>
                <a:cs typeface="Tahoma"/>
              </a:rPr>
              <a:t>B	C</a:t>
            </a:r>
            <a:endParaRPr sz="3350">
              <a:latin typeface="Tahoma"/>
              <a:cs typeface="Tahoma"/>
            </a:endParaRPr>
          </a:p>
          <a:p>
            <a:pPr marL="25400">
              <a:lnSpc>
                <a:spcPct val="100000"/>
              </a:lnSpc>
              <a:spcBef>
                <a:spcPts val="585"/>
              </a:spcBef>
              <a:tabLst>
                <a:tab pos="1853564" algn="l"/>
              </a:tabLst>
            </a:pPr>
            <a:r>
              <a:rPr sz="3350" i="1" spc="-85" dirty="0">
                <a:latin typeface="Tahoma"/>
                <a:cs typeface="Tahoma"/>
              </a:rPr>
              <a:t>b	</a:t>
            </a:r>
            <a:r>
              <a:rPr sz="3350" i="1" spc="-545" dirty="0">
                <a:latin typeface="Tahoma"/>
                <a:cs typeface="Tahoma"/>
              </a:rPr>
              <a:t>c</a:t>
            </a:r>
            <a:r>
              <a:rPr sz="3075" spc="-817" baseline="-17615" dirty="0">
                <a:latin typeface="Tahoma"/>
                <a:cs typeface="Tahoma"/>
              </a:rPr>
              <a:t>1</a:t>
            </a:r>
            <a:endParaRPr sz="3075" baseline="-17615">
              <a:latin typeface="Tahoma"/>
              <a:cs typeface="Tahoma"/>
            </a:endParaRPr>
          </a:p>
          <a:p>
            <a:pPr>
              <a:lnSpc>
                <a:spcPct val="100000"/>
              </a:lnSpc>
            </a:pPr>
            <a:endParaRPr sz="4300">
              <a:latin typeface="Tahoma"/>
              <a:cs typeface="Tahoma"/>
            </a:endParaRPr>
          </a:p>
          <a:p>
            <a:pPr marL="25400">
              <a:lnSpc>
                <a:spcPct val="100000"/>
              </a:lnSpc>
              <a:tabLst>
                <a:tab pos="1853564" algn="l"/>
              </a:tabLst>
            </a:pPr>
            <a:r>
              <a:rPr sz="3350" i="1" spc="-550" dirty="0">
                <a:latin typeface="Tahoma"/>
                <a:cs typeface="Tahoma"/>
              </a:rPr>
              <a:t>b</a:t>
            </a:r>
            <a:r>
              <a:rPr sz="3075" spc="-825" baseline="-17615" dirty="0">
                <a:latin typeface="Tahoma"/>
                <a:cs typeface="Tahoma"/>
              </a:rPr>
              <a:t>3	</a:t>
            </a:r>
            <a:r>
              <a:rPr sz="3350" i="1" spc="-70" dirty="0">
                <a:latin typeface="Tahoma"/>
                <a:cs typeface="Tahoma"/>
              </a:rPr>
              <a:t>c</a:t>
            </a:r>
            <a:endParaRPr sz="3350">
              <a:latin typeface="Tahoma"/>
              <a:cs typeface="Tahom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138437" y="3745852"/>
            <a:ext cx="407670" cy="53848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3350" i="1" spc="-85" dirty="0">
                <a:latin typeface="Tahoma"/>
                <a:cs typeface="Tahoma"/>
              </a:rPr>
              <a:t>d</a:t>
            </a:r>
            <a:endParaRPr sz="3350">
              <a:latin typeface="Tahoma"/>
              <a:cs typeface="Tahoma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1371600" y="2590800"/>
            <a:ext cx="6477000" cy="0"/>
          </a:xfrm>
          <a:custGeom>
            <a:avLst/>
            <a:gdLst/>
            <a:ahLst/>
            <a:cxnLst/>
            <a:rect l="l" t="t" r="r" b="b"/>
            <a:pathLst>
              <a:path w="6477000">
                <a:moveTo>
                  <a:pt x="0" y="0"/>
                </a:moveTo>
                <a:lnTo>
                  <a:pt x="6477000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7159180" y="3197301"/>
            <a:ext cx="464820" cy="539750"/>
          </a:xfrm>
          <a:custGeom>
            <a:avLst/>
            <a:gdLst/>
            <a:ahLst/>
            <a:cxnLst/>
            <a:rect l="l" t="t" r="r" b="b"/>
            <a:pathLst>
              <a:path w="464820" h="539750">
                <a:moveTo>
                  <a:pt x="7238" y="539597"/>
                </a:moveTo>
                <a:lnTo>
                  <a:pt x="0" y="533400"/>
                </a:lnTo>
                <a:lnTo>
                  <a:pt x="457200" y="0"/>
                </a:lnTo>
                <a:lnTo>
                  <a:pt x="464438" y="6197"/>
                </a:lnTo>
                <a:lnTo>
                  <a:pt x="7238" y="53959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6311265" y="4851096"/>
            <a:ext cx="1437005" cy="40957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2400" spc="-5" dirty="0">
                <a:latin typeface="Tahoma"/>
                <a:cs typeface="Tahoma"/>
              </a:rPr>
              <a:t>Use</a:t>
            </a:r>
            <a:r>
              <a:rPr sz="2400" spc="-180" dirty="0">
                <a:latin typeface="Tahoma"/>
                <a:cs typeface="Tahoma"/>
              </a:rPr>
              <a:t> </a:t>
            </a:r>
            <a:r>
              <a:rPr sz="2500" i="1" spc="-270" dirty="0">
                <a:solidFill>
                  <a:srgbClr val="00CC99"/>
                </a:solidFill>
                <a:latin typeface="Tahoma"/>
                <a:cs typeface="Tahoma"/>
              </a:rPr>
              <a:t>C</a:t>
            </a:r>
            <a:r>
              <a:rPr sz="2400" spc="-270" dirty="0">
                <a:solidFill>
                  <a:srgbClr val="00CC99"/>
                </a:solidFill>
                <a:latin typeface="Tahoma"/>
                <a:cs typeface="Tahoma"/>
              </a:rPr>
              <a:t>-&gt;</a:t>
            </a:r>
            <a:r>
              <a:rPr sz="2500" i="1" spc="-270" dirty="0">
                <a:solidFill>
                  <a:srgbClr val="00CC99"/>
                </a:solidFill>
                <a:latin typeface="Tahoma"/>
                <a:cs typeface="Tahoma"/>
              </a:rPr>
              <a:t>D</a:t>
            </a:r>
            <a:endParaRPr sz="2500">
              <a:latin typeface="Tahoma"/>
              <a:cs typeface="Tahoma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6929513" y="3886200"/>
            <a:ext cx="180975" cy="839469"/>
          </a:xfrm>
          <a:custGeom>
            <a:avLst/>
            <a:gdLst/>
            <a:ahLst/>
            <a:cxnLst/>
            <a:rect l="l" t="t" r="r" b="b"/>
            <a:pathLst>
              <a:path w="180975" h="839470">
                <a:moveTo>
                  <a:pt x="138767" y="74122"/>
                </a:moveTo>
                <a:lnTo>
                  <a:pt x="105968" y="68160"/>
                </a:lnTo>
                <a:lnTo>
                  <a:pt x="157086" y="0"/>
                </a:lnTo>
                <a:lnTo>
                  <a:pt x="173233" y="55372"/>
                </a:lnTo>
                <a:lnTo>
                  <a:pt x="142176" y="55372"/>
                </a:lnTo>
                <a:lnTo>
                  <a:pt x="138767" y="74122"/>
                </a:lnTo>
                <a:close/>
              </a:path>
              <a:path w="180975" h="839470">
                <a:moveTo>
                  <a:pt x="148141" y="75826"/>
                </a:moveTo>
                <a:lnTo>
                  <a:pt x="138767" y="74122"/>
                </a:lnTo>
                <a:lnTo>
                  <a:pt x="142176" y="55372"/>
                </a:lnTo>
                <a:lnTo>
                  <a:pt x="151549" y="57086"/>
                </a:lnTo>
                <a:lnTo>
                  <a:pt x="148141" y="75826"/>
                </a:lnTo>
                <a:close/>
              </a:path>
              <a:path w="180975" h="839470">
                <a:moveTo>
                  <a:pt x="180936" y="81787"/>
                </a:moveTo>
                <a:lnTo>
                  <a:pt x="148141" y="75826"/>
                </a:lnTo>
                <a:lnTo>
                  <a:pt x="151549" y="57086"/>
                </a:lnTo>
                <a:lnTo>
                  <a:pt x="142176" y="55372"/>
                </a:lnTo>
                <a:lnTo>
                  <a:pt x="173233" y="55372"/>
                </a:lnTo>
                <a:lnTo>
                  <a:pt x="180936" y="81787"/>
                </a:lnTo>
                <a:close/>
              </a:path>
              <a:path w="180975" h="839470">
                <a:moveTo>
                  <a:pt x="9372" y="839050"/>
                </a:moveTo>
                <a:lnTo>
                  <a:pt x="0" y="837349"/>
                </a:lnTo>
                <a:lnTo>
                  <a:pt x="138767" y="74122"/>
                </a:lnTo>
                <a:lnTo>
                  <a:pt x="148141" y="75826"/>
                </a:lnTo>
                <a:lnTo>
                  <a:pt x="9372" y="8390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1596580" y="3273501"/>
            <a:ext cx="464820" cy="539750"/>
          </a:xfrm>
          <a:custGeom>
            <a:avLst/>
            <a:gdLst/>
            <a:ahLst/>
            <a:cxnLst/>
            <a:rect l="l" t="t" r="r" b="b"/>
            <a:pathLst>
              <a:path w="464819" h="539750">
                <a:moveTo>
                  <a:pt x="7238" y="539597"/>
                </a:moveTo>
                <a:lnTo>
                  <a:pt x="0" y="533400"/>
                </a:lnTo>
                <a:lnTo>
                  <a:pt x="457200" y="0"/>
                </a:lnTo>
                <a:lnTo>
                  <a:pt x="464438" y="6197"/>
                </a:lnTo>
                <a:lnTo>
                  <a:pt x="7238" y="53959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1664737" y="3193851"/>
            <a:ext cx="6402070" cy="5435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3875"/>
              </a:lnSpc>
              <a:tabLst>
                <a:tab pos="608965" algn="l"/>
                <a:tab pos="1828164" algn="l"/>
                <a:tab pos="3656965" algn="l"/>
                <a:tab pos="5485765" algn="l"/>
                <a:tab pos="6019165" algn="l"/>
              </a:tabLst>
            </a:pPr>
            <a:r>
              <a:rPr sz="3350" i="1" spc="-550" dirty="0">
                <a:latin typeface="Tahoma"/>
                <a:cs typeface="Tahoma"/>
              </a:rPr>
              <a:t>a</a:t>
            </a:r>
            <a:r>
              <a:rPr sz="3075" spc="-825" baseline="-17615" dirty="0">
                <a:latin typeface="Tahoma"/>
                <a:cs typeface="Tahoma"/>
              </a:rPr>
              <a:t>2	</a:t>
            </a:r>
            <a:r>
              <a:rPr sz="5025" i="1" spc="-120" baseline="-6633" dirty="0">
                <a:latin typeface="Tahoma"/>
                <a:cs typeface="Tahoma"/>
              </a:rPr>
              <a:t>a	</a:t>
            </a:r>
            <a:r>
              <a:rPr sz="3350" i="1" spc="-85" dirty="0">
                <a:latin typeface="Tahoma"/>
                <a:cs typeface="Tahoma"/>
              </a:rPr>
              <a:t>b	</a:t>
            </a:r>
            <a:r>
              <a:rPr sz="3350" i="1" spc="-70" dirty="0">
                <a:latin typeface="Tahoma"/>
                <a:cs typeface="Tahoma"/>
              </a:rPr>
              <a:t>c	</a:t>
            </a:r>
            <a:r>
              <a:rPr sz="3350" i="1" spc="-550" dirty="0">
                <a:latin typeface="Tahoma"/>
                <a:cs typeface="Tahoma"/>
              </a:rPr>
              <a:t>d</a:t>
            </a:r>
            <a:r>
              <a:rPr sz="3075" spc="-825" baseline="-17615" dirty="0">
                <a:latin typeface="Tahoma"/>
                <a:cs typeface="Tahoma"/>
              </a:rPr>
              <a:t>2	</a:t>
            </a:r>
            <a:r>
              <a:rPr sz="5025" i="1" spc="-127" baseline="-6633" dirty="0">
                <a:latin typeface="Tahoma"/>
                <a:cs typeface="Tahoma"/>
              </a:rPr>
              <a:t>d</a:t>
            </a:r>
            <a:endParaRPr sz="5025" baseline="-6633">
              <a:latin typeface="Tahoma"/>
              <a:cs typeface="Tahom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221739" y="4893959"/>
            <a:ext cx="1504950" cy="40957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2400" spc="-5" dirty="0">
                <a:latin typeface="Tahoma"/>
                <a:cs typeface="Tahoma"/>
              </a:rPr>
              <a:t>Use</a:t>
            </a:r>
            <a:r>
              <a:rPr sz="2400" spc="-180" dirty="0">
                <a:latin typeface="Tahoma"/>
                <a:cs typeface="Tahoma"/>
              </a:rPr>
              <a:t> </a:t>
            </a:r>
            <a:r>
              <a:rPr sz="2500" i="1" spc="-80" dirty="0">
                <a:solidFill>
                  <a:srgbClr val="00CC99"/>
                </a:solidFill>
                <a:latin typeface="Tahoma"/>
                <a:cs typeface="Tahoma"/>
              </a:rPr>
              <a:t>B</a:t>
            </a:r>
            <a:r>
              <a:rPr sz="2400" spc="-80" dirty="0">
                <a:solidFill>
                  <a:srgbClr val="00CC99"/>
                </a:solidFill>
                <a:latin typeface="Tahoma"/>
                <a:cs typeface="Tahoma"/>
              </a:rPr>
              <a:t>-&gt;</a:t>
            </a:r>
            <a:r>
              <a:rPr sz="2500" i="1" spc="-80" dirty="0">
                <a:solidFill>
                  <a:srgbClr val="00CC99"/>
                </a:solidFill>
                <a:latin typeface="Tahoma"/>
                <a:cs typeface="Tahoma"/>
              </a:rPr>
              <a:t>A</a:t>
            </a:r>
            <a:endParaRPr sz="2500">
              <a:latin typeface="Tahoma"/>
              <a:cs typeface="Tahoma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2189810" y="3810000"/>
            <a:ext cx="253365" cy="991869"/>
          </a:xfrm>
          <a:custGeom>
            <a:avLst/>
            <a:gdLst/>
            <a:ahLst/>
            <a:cxnLst/>
            <a:rect l="l" t="t" r="r" b="b"/>
            <a:pathLst>
              <a:path w="253364" h="991870">
                <a:moveTo>
                  <a:pt x="0" y="82816"/>
                </a:moveTo>
                <a:lnTo>
                  <a:pt x="19989" y="0"/>
                </a:lnTo>
                <a:lnTo>
                  <a:pt x="65096" y="54610"/>
                </a:lnTo>
                <a:lnTo>
                  <a:pt x="37477" y="54610"/>
                </a:lnTo>
                <a:lnTo>
                  <a:pt x="28193" y="56756"/>
                </a:lnTo>
                <a:lnTo>
                  <a:pt x="32478" y="75322"/>
                </a:lnTo>
                <a:lnTo>
                  <a:pt x="0" y="82816"/>
                </a:lnTo>
                <a:close/>
              </a:path>
              <a:path w="253364" h="991870">
                <a:moveTo>
                  <a:pt x="32478" y="75322"/>
                </a:moveTo>
                <a:lnTo>
                  <a:pt x="28193" y="56756"/>
                </a:lnTo>
                <a:lnTo>
                  <a:pt x="37477" y="54610"/>
                </a:lnTo>
                <a:lnTo>
                  <a:pt x="41762" y="73179"/>
                </a:lnTo>
                <a:lnTo>
                  <a:pt x="32478" y="75322"/>
                </a:lnTo>
                <a:close/>
              </a:path>
              <a:path w="253364" h="991870">
                <a:moveTo>
                  <a:pt x="41762" y="73179"/>
                </a:moveTo>
                <a:lnTo>
                  <a:pt x="37477" y="54610"/>
                </a:lnTo>
                <a:lnTo>
                  <a:pt x="65096" y="54610"/>
                </a:lnTo>
                <a:lnTo>
                  <a:pt x="74244" y="65684"/>
                </a:lnTo>
                <a:lnTo>
                  <a:pt x="41762" y="73179"/>
                </a:lnTo>
                <a:close/>
              </a:path>
              <a:path w="253364" h="991870">
                <a:moveTo>
                  <a:pt x="243954" y="991666"/>
                </a:moveTo>
                <a:lnTo>
                  <a:pt x="32478" y="75322"/>
                </a:lnTo>
                <a:lnTo>
                  <a:pt x="41762" y="73179"/>
                </a:lnTo>
                <a:lnTo>
                  <a:pt x="253225" y="989533"/>
                </a:lnTo>
                <a:lnTo>
                  <a:pt x="243954" y="99166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3568065" y="5323522"/>
            <a:ext cx="3211830" cy="760095"/>
          </a:xfrm>
          <a:prstGeom prst="rect">
            <a:avLst/>
          </a:prstGeom>
        </p:spPr>
        <p:txBody>
          <a:bodyPr vert="horz" wrap="square" lIns="0" tIns="24765" rIns="0" bIns="0" rtlCol="0">
            <a:spAutoFit/>
          </a:bodyPr>
          <a:lstStyle/>
          <a:p>
            <a:pPr marL="12700" marR="5080">
              <a:lnSpc>
                <a:spcPts val="2880"/>
              </a:lnSpc>
              <a:spcBef>
                <a:spcPts val="195"/>
              </a:spcBef>
            </a:pPr>
            <a:r>
              <a:rPr sz="2400" spc="-25" dirty="0">
                <a:latin typeface="Tahoma"/>
                <a:cs typeface="Tahoma"/>
              </a:rPr>
              <a:t>We’ve </a:t>
            </a:r>
            <a:r>
              <a:rPr sz="2400" spc="-10" dirty="0">
                <a:latin typeface="Tahoma"/>
                <a:cs typeface="Tahoma"/>
              </a:rPr>
              <a:t>proved </a:t>
            </a:r>
            <a:r>
              <a:rPr sz="2400" dirty="0">
                <a:latin typeface="Tahoma"/>
                <a:cs typeface="Tahoma"/>
              </a:rPr>
              <a:t>the  </a:t>
            </a:r>
            <a:r>
              <a:rPr sz="2400" spc="-5" dirty="0">
                <a:latin typeface="Tahoma"/>
                <a:cs typeface="Tahoma"/>
              </a:rPr>
              <a:t>second tuple must be</a:t>
            </a:r>
            <a:r>
              <a:rPr sz="2400" spc="-180" dirty="0">
                <a:latin typeface="Tahoma"/>
                <a:cs typeface="Tahoma"/>
              </a:rPr>
              <a:t> </a:t>
            </a:r>
            <a:r>
              <a:rPr sz="2500" i="1" spc="-405" dirty="0">
                <a:latin typeface="Tahoma"/>
                <a:cs typeface="Tahoma"/>
              </a:rPr>
              <a:t>t</a:t>
            </a:r>
            <a:r>
              <a:rPr sz="2400" spc="-405" dirty="0">
                <a:latin typeface="Tahoma"/>
                <a:cs typeface="Tahoma"/>
              </a:rPr>
              <a:t>.</a:t>
            </a:r>
            <a:endParaRPr sz="2400" dirty="0">
              <a:latin typeface="Tahoma"/>
              <a:cs typeface="Tahoma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4638789" y="3810000"/>
            <a:ext cx="547370" cy="1449705"/>
          </a:xfrm>
          <a:custGeom>
            <a:avLst/>
            <a:gdLst/>
            <a:ahLst/>
            <a:cxnLst/>
            <a:rect l="l" t="t" r="r" b="b"/>
            <a:pathLst>
              <a:path w="547370" h="1449704">
                <a:moveTo>
                  <a:pt x="0" y="84670"/>
                </a:moveTo>
                <a:lnTo>
                  <a:pt x="9410" y="0"/>
                </a:lnTo>
                <a:lnTo>
                  <a:pt x="64741" y="51981"/>
                </a:lnTo>
                <a:lnTo>
                  <a:pt x="33642" y="51981"/>
                </a:lnTo>
                <a:lnTo>
                  <a:pt x="24701" y="55270"/>
                </a:lnTo>
                <a:lnTo>
                  <a:pt x="31286" y="73145"/>
                </a:lnTo>
                <a:lnTo>
                  <a:pt x="0" y="84670"/>
                </a:lnTo>
                <a:close/>
              </a:path>
              <a:path w="547370" h="1449704">
                <a:moveTo>
                  <a:pt x="31286" y="73145"/>
                </a:moveTo>
                <a:lnTo>
                  <a:pt x="24701" y="55270"/>
                </a:lnTo>
                <a:lnTo>
                  <a:pt x="33642" y="51981"/>
                </a:lnTo>
                <a:lnTo>
                  <a:pt x="40226" y="69852"/>
                </a:lnTo>
                <a:lnTo>
                  <a:pt x="31286" y="73145"/>
                </a:lnTo>
                <a:close/>
              </a:path>
              <a:path w="547370" h="1449704">
                <a:moveTo>
                  <a:pt x="40226" y="69852"/>
                </a:moveTo>
                <a:lnTo>
                  <a:pt x="33642" y="51981"/>
                </a:lnTo>
                <a:lnTo>
                  <a:pt x="64741" y="51981"/>
                </a:lnTo>
                <a:lnTo>
                  <a:pt x="71500" y="58331"/>
                </a:lnTo>
                <a:lnTo>
                  <a:pt x="40226" y="69852"/>
                </a:lnTo>
                <a:close/>
              </a:path>
              <a:path w="547370" h="1449704">
                <a:moveTo>
                  <a:pt x="538340" y="1449451"/>
                </a:moveTo>
                <a:lnTo>
                  <a:pt x="31286" y="73145"/>
                </a:lnTo>
                <a:lnTo>
                  <a:pt x="40226" y="69852"/>
                </a:lnTo>
                <a:lnTo>
                  <a:pt x="547281" y="1446149"/>
                </a:lnTo>
                <a:lnTo>
                  <a:pt x="538340" y="144945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1524000" y="3200400"/>
            <a:ext cx="6781800" cy="609600"/>
          </a:xfrm>
          <a:custGeom>
            <a:avLst/>
            <a:gdLst/>
            <a:ahLst/>
            <a:cxnLst/>
            <a:rect l="l" t="t" r="r" b="b"/>
            <a:pathLst>
              <a:path w="6781800" h="609600">
                <a:moveTo>
                  <a:pt x="0" y="0"/>
                </a:moveTo>
                <a:lnTo>
                  <a:pt x="6781800" y="0"/>
                </a:lnTo>
                <a:lnTo>
                  <a:pt x="6781800" y="609600"/>
                </a:lnTo>
                <a:lnTo>
                  <a:pt x="0" y="609600"/>
                </a:lnTo>
                <a:lnTo>
                  <a:pt x="0" y="0"/>
                </a:lnTo>
                <a:close/>
              </a:path>
            </a:pathLst>
          </a:custGeom>
          <a:solidFill>
            <a:srgbClr val="FF99CC">
              <a:alpha val="501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1519237" y="3195637"/>
            <a:ext cx="6791325" cy="619125"/>
          </a:xfrm>
          <a:custGeom>
            <a:avLst/>
            <a:gdLst/>
            <a:ahLst/>
            <a:cxnLst/>
            <a:rect l="l" t="t" r="r" b="b"/>
            <a:pathLst>
              <a:path w="6791325" h="619125">
                <a:moveTo>
                  <a:pt x="6791325" y="619125"/>
                </a:moveTo>
                <a:lnTo>
                  <a:pt x="0" y="619125"/>
                </a:lnTo>
                <a:lnTo>
                  <a:pt x="0" y="0"/>
                </a:lnTo>
                <a:lnTo>
                  <a:pt x="6791325" y="0"/>
                </a:lnTo>
                <a:lnTo>
                  <a:pt x="6791325" y="4762"/>
                </a:lnTo>
                <a:lnTo>
                  <a:pt x="9525" y="4762"/>
                </a:lnTo>
                <a:lnTo>
                  <a:pt x="4762" y="9525"/>
                </a:lnTo>
                <a:lnTo>
                  <a:pt x="9525" y="9525"/>
                </a:lnTo>
                <a:lnTo>
                  <a:pt x="9525" y="609600"/>
                </a:lnTo>
                <a:lnTo>
                  <a:pt x="4762" y="609600"/>
                </a:lnTo>
                <a:lnTo>
                  <a:pt x="9525" y="614362"/>
                </a:lnTo>
                <a:lnTo>
                  <a:pt x="6791325" y="614362"/>
                </a:lnTo>
                <a:lnTo>
                  <a:pt x="6791325" y="619125"/>
                </a:lnTo>
                <a:close/>
              </a:path>
              <a:path w="6791325" h="619125">
                <a:moveTo>
                  <a:pt x="9525" y="9525"/>
                </a:moveTo>
                <a:lnTo>
                  <a:pt x="4762" y="9525"/>
                </a:lnTo>
                <a:lnTo>
                  <a:pt x="9525" y="4762"/>
                </a:lnTo>
                <a:lnTo>
                  <a:pt x="9525" y="9525"/>
                </a:lnTo>
                <a:close/>
              </a:path>
              <a:path w="6791325" h="619125">
                <a:moveTo>
                  <a:pt x="6781800" y="9525"/>
                </a:moveTo>
                <a:lnTo>
                  <a:pt x="9525" y="9525"/>
                </a:lnTo>
                <a:lnTo>
                  <a:pt x="9525" y="4762"/>
                </a:lnTo>
                <a:lnTo>
                  <a:pt x="6781800" y="4762"/>
                </a:lnTo>
                <a:lnTo>
                  <a:pt x="6781800" y="9525"/>
                </a:lnTo>
                <a:close/>
              </a:path>
              <a:path w="6791325" h="619125">
                <a:moveTo>
                  <a:pt x="6781800" y="614362"/>
                </a:moveTo>
                <a:lnTo>
                  <a:pt x="6781800" y="4762"/>
                </a:lnTo>
                <a:lnTo>
                  <a:pt x="6786562" y="9525"/>
                </a:lnTo>
                <a:lnTo>
                  <a:pt x="6791325" y="9525"/>
                </a:lnTo>
                <a:lnTo>
                  <a:pt x="6791325" y="609600"/>
                </a:lnTo>
                <a:lnTo>
                  <a:pt x="6786562" y="609600"/>
                </a:lnTo>
                <a:lnTo>
                  <a:pt x="6781800" y="614362"/>
                </a:lnTo>
                <a:close/>
              </a:path>
              <a:path w="6791325" h="619125">
                <a:moveTo>
                  <a:pt x="6791325" y="9525"/>
                </a:moveTo>
                <a:lnTo>
                  <a:pt x="6786562" y="9525"/>
                </a:lnTo>
                <a:lnTo>
                  <a:pt x="6781800" y="4762"/>
                </a:lnTo>
                <a:lnTo>
                  <a:pt x="6791325" y="4762"/>
                </a:lnTo>
                <a:lnTo>
                  <a:pt x="6791325" y="9525"/>
                </a:lnTo>
                <a:close/>
              </a:path>
              <a:path w="6791325" h="619125">
                <a:moveTo>
                  <a:pt x="9525" y="614362"/>
                </a:moveTo>
                <a:lnTo>
                  <a:pt x="4762" y="609600"/>
                </a:lnTo>
                <a:lnTo>
                  <a:pt x="9525" y="609600"/>
                </a:lnTo>
                <a:lnTo>
                  <a:pt x="9525" y="614362"/>
                </a:lnTo>
                <a:close/>
              </a:path>
              <a:path w="6791325" h="619125">
                <a:moveTo>
                  <a:pt x="6781800" y="614362"/>
                </a:moveTo>
                <a:lnTo>
                  <a:pt x="9525" y="614362"/>
                </a:lnTo>
                <a:lnTo>
                  <a:pt x="9525" y="609600"/>
                </a:lnTo>
                <a:lnTo>
                  <a:pt x="6781800" y="609600"/>
                </a:lnTo>
                <a:lnTo>
                  <a:pt x="6781800" y="614362"/>
                </a:lnTo>
                <a:close/>
              </a:path>
              <a:path w="6791325" h="619125">
                <a:moveTo>
                  <a:pt x="6791325" y="614362"/>
                </a:moveTo>
                <a:lnTo>
                  <a:pt x="6781800" y="614362"/>
                </a:lnTo>
                <a:lnTo>
                  <a:pt x="6786562" y="609600"/>
                </a:lnTo>
                <a:lnTo>
                  <a:pt x="6791325" y="609600"/>
                </a:lnTo>
                <a:lnTo>
                  <a:pt x="6791325" y="6143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231140" y="260984"/>
            <a:ext cx="1847850" cy="22688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254635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Tahoma"/>
                <a:cs typeface="Tahoma"/>
              </a:rPr>
              <a:t>The tuples  </a:t>
            </a:r>
            <a:r>
              <a:rPr sz="2400" dirty="0">
                <a:latin typeface="Tahoma"/>
                <a:cs typeface="Tahoma"/>
              </a:rPr>
              <a:t>of R </a:t>
            </a:r>
            <a:r>
              <a:rPr sz="2400" spc="-5" dirty="0">
                <a:latin typeface="Tahoma"/>
                <a:cs typeface="Tahoma"/>
              </a:rPr>
              <a:t>pro-  jected </a:t>
            </a:r>
            <a:r>
              <a:rPr sz="2400" dirty="0">
                <a:latin typeface="Tahoma"/>
                <a:cs typeface="Tahoma"/>
              </a:rPr>
              <a:t>onto  </a:t>
            </a:r>
            <a:r>
              <a:rPr sz="2400" spc="-10" dirty="0">
                <a:latin typeface="Tahoma"/>
                <a:cs typeface="Tahoma"/>
              </a:rPr>
              <a:t>AB, </a:t>
            </a:r>
            <a:r>
              <a:rPr sz="2400" dirty="0">
                <a:latin typeface="Tahoma"/>
                <a:cs typeface="Tahoma"/>
              </a:rPr>
              <a:t>BC,</a:t>
            </a:r>
            <a:r>
              <a:rPr sz="2400" spc="-80" dirty="0">
                <a:latin typeface="Tahoma"/>
                <a:cs typeface="Tahoma"/>
              </a:rPr>
              <a:t> </a:t>
            </a:r>
            <a:r>
              <a:rPr sz="2400" spc="-25" dirty="0">
                <a:latin typeface="Tahoma"/>
                <a:cs typeface="Tahoma"/>
              </a:rPr>
              <a:t>CD.</a:t>
            </a:r>
            <a:endParaRPr sz="2400">
              <a:latin typeface="Tahoma"/>
              <a:cs typeface="Tahoma"/>
            </a:endParaRPr>
          </a:p>
          <a:p>
            <a:pPr marR="5080" algn="r">
              <a:lnSpc>
                <a:spcPct val="100000"/>
              </a:lnSpc>
              <a:spcBef>
                <a:spcPts val="2120"/>
              </a:spcBef>
            </a:pPr>
            <a:r>
              <a:rPr sz="3350" i="1" spc="-90" dirty="0">
                <a:latin typeface="Tahoma"/>
                <a:cs typeface="Tahoma"/>
              </a:rPr>
              <a:t>A</a:t>
            </a:r>
            <a:endParaRPr sz="3350">
              <a:latin typeface="Tahoma"/>
              <a:cs typeface="Tahoma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986282" y="1826806"/>
            <a:ext cx="464184" cy="993140"/>
          </a:xfrm>
          <a:custGeom>
            <a:avLst/>
            <a:gdLst/>
            <a:ahLst/>
            <a:cxnLst/>
            <a:rect l="l" t="t" r="r" b="b"/>
            <a:pathLst>
              <a:path w="464184" h="993139">
                <a:moveTo>
                  <a:pt x="425265" y="925400"/>
                </a:moveTo>
                <a:lnTo>
                  <a:pt x="0" y="3987"/>
                </a:lnTo>
                <a:lnTo>
                  <a:pt x="8648" y="0"/>
                </a:lnTo>
                <a:lnTo>
                  <a:pt x="433912" y="921409"/>
                </a:lnTo>
                <a:lnTo>
                  <a:pt x="425265" y="925400"/>
                </a:lnTo>
                <a:close/>
              </a:path>
              <a:path w="464184" h="993139">
                <a:moveTo>
                  <a:pt x="463080" y="942695"/>
                </a:moveTo>
                <a:lnTo>
                  <a:pt x="433247" y="942695"/>
                </a:lnTo>
                <a:lnTo>
                  <a:pt x="441896" y="938707"/>
                </a:lnTo>
                <a:lnTo>
                  <a:pt x="433912" y="921409"/>
                </a:lnTo>
                <a:lnTo>
                  <a:pt x="464184" y="907440"/>
                </a:lnTo>
                <a:lnTo>
                  <a:pt x="463080" y="942695"/>
                </a:lnTo>
                <a:close/>
              </a:path>
              <a:path w="464184" h="993139">
                <a:moveTo>
                  <a:pt x="433247" y="942695"/>
                </a:moveTo>
                <a:lnTo>
                  <a:pt x="425265" y="925400"/>
                </a:lnTo>
                <a:lnTo>
                  <a:pt x="433912" y="921409"/>
                </a:lnTo>
                <a:lnTo>
                  <a:pt x="441896" y="938707"/>
                </a:lnTo>
                <a:lnTo>
                  <a:pt x="433247" y="942695"/>
                </a:lnTo>
                <a:close/>
              </a:path>
              <a:path w="464184" h="993139">
                <a:moveTo>
                  <a:pt x="461518" y="992593"/>
                </a:moveTo>
                <a:lnTo>
                  <a:pt x="394995" y="939368"/>
                </a:lnTo>
                <a:lnTo>
                  <a:pt x="425265" y="925400"/>
                </a:lnTo>
                <a:lnTo>
                  <a:pt x="433247" y="942695"/>
                </a:lnTo>
                <a:lnTo>
                  <a:pt x="463080" y="942695"/>
                </a:lnTo>
                <a:lnTo>
                  <a:pt x="461518" y="99259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757555" y="1827110"/>
            <a:ext cx="622935" cy="1602105"/>
          </a:xfrm>
          <a:custGeom>
            <a:avLst/>
            <a:gdLst/>
            <a:ahLst/>
            <a:cxnLst/>
            <a:rect l="l" t="t" r="r" b="b"/>
            <a:pathLst>
              <a:path w="622935" h="1602104">
                <a:moveTo>
                  <a:pt x="582473" y="1532375"/>
                </a:moveTo>
                <a:lnTo>
                  <a:pt x="0" y="3378"/>
                </a:lnTo>
                <a:lnTo>
                  <a:pt x="8890" y="0"/>
                </a:lnTo>
                <a:lnTo>
                  <a:pt x="591365" y="1528988"/>
                </a:lnTo>
                <a:lnTo>
                  <a:pt x="582473" y="1532375"/>
                </a:lnTo>
                <a:close/>
              </a:path>
              <a:path w="622935" h="1602104">
                <a:moveTo>
                  <a:pt x="619220" y="1550174"/>
                </a:moveTo>
                <a:lnTo>
                  <a:pt x="589254" y="1550174"/>
                </a:lnTo>
                <a:lnTo>
                  <a:pt x="598144" y="1546783"/>
                </a:lnTo>
                <a:lnTo>
                  <a:pt x="591365" y="1528988"/>
                </a:lnTo>
                <a:lnTo>
                  <a:pt x="622528" y="1517116"/>
                </a:lnTo>
                <a:lnTo>
                  <a:pt x="619220" y="1550174"/>
                </a:lnTo>
                <a:close/>
              </a:path>
              <a:path w="622935" h="1602104">
                <a:moveTo>
                  <a:pt x="589254" y="1550174"/>
                </a:moveTo>
                <a:lnTo>
                  <a:pt x="582473" y="1532375"/>
                </a:lnTo>
                <a:lnTo>
                  <a:pt x="591365" y="1528988"/>
                </a:lnTo>
                <a:lnTo>
                  <a:pt x="598144" y="1546783"/>
                </a:lnTo>
                <a:lnTo>
                  <a:pt x="589254" y="1550174"/>
                </a:lnTo>
                <a:close/>
              </a:path>
              <a:path w="622935" h="1602104">
                <a:moveTo>
                  <a:pt x="614045" y="1601889"/>
                </a:moveTo>
                <a:lnTo>
                  <a:pt x="551319" y="1544243"/>
                </a:lnTo>
                <a:lnTo>
                  <a:pt x="582473" y="1532375"/>
                </a:lnTo>
                <a:lnTo>
                  <a:pt x="589254" y="1550174"/>
                </a:lnTo>
                <a:lnTo>
                  <a:pt x="619220" y="1550174"/>
                </a:lnTo>
                <a:lnTo>
                  <a:pt x="614045" y="160188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528891" y="1827250"/>
            <a:ext cx="777875" cy="2211705"/>
          </a:xfrm>
          <a:custGeom>
            <a:avLst/>
            <a:gdLst/>
            <a:ahLst/>
            <a:cxnLst/>
            <a:rect l="l" t="t" r="r" b="b"/>
            <a:pathLst>
              <a:path w="777875" h="2211704">
                <a:moveTo>
                  <a:pt x="737172" y="2140865"/>
                </a:moveTo>
                <a:lnTo>
                  <a:pt x="0" y="3098"/>
                </a:lnTo>
                <a:lnTo>
                  <a:pt x="9016" y="0"/>
                </a:lnTo>
                <a:lnTo>
                  <a:pt x="746174" y="2137760"/>
                </a:lnTo>
                <a:lnTo>
                  <a:pt x="737172" y="2140865"/>
                </a:lnTo>
                <a:close/>
              </a:path>
              <a:path w="777875" h="2211704">
                <a:moveTo>
                  <a:pt x="773452" y="2158873"/>
                </a:moveTo>
                <a:lnTo>
                  <a:pt x="743381" y="2158873"/>
                </a:lnTo>
                <a:lnTo>
                  <a:pt x="752386" y="2155774"/>
                </a:lnTo>
                <a:lnTo>
                  <a:pt x="746174" y="2137760"/>
                </a:lnTo>
                <a:lnTo>
                  <a:pt x="777684" y="2126894"/>
                </a:lnTo>
                <a:lnTo>
                  <a:pt x="773452" y="2158873"/>
                </a:lnTo>
                <a:close/>
              </a:path>
              <a:path w="777875" h="2211704">
                <a:moveTo>
                  <a:pt x="743381" y="2158873"/>
                </a:moveTo>
                <a:lnTo>
                  <a:pt x="737172" y="2140865"/>
                </a:lnTo>
                <a:lnTo>
                  <a:pt x="746174" y="2137760"/>
                </a:lnTo>
                <a:lnTo>
                  <a:pt x="752386" y="2155774"/>
                </a:lnTo>
                <a:lnTo>
                  <a:pt x="743381" y="2158873"/>
                </a:lnTo>
                <a:close/>
              </a:path>
              <a:path w="777875" h="2211704">
                <a:moveTo>
                  <a:pt x="766508" y="2211349"/>
                </a:moveTo>
                <a:lnTo>
                  <a:pt x="705650" y="2151735"/>
                </a:lnTo>
                <a:lnTo>
                  <a:pt x="737172" y="2140865"/>
                </a:lnTo>
                <a:lnTo>
                  <a:pt x="743381" y="2158873"/>
                </a:lnTo>
                <a:lnTo>
                  <a:pt x="773452" y="2158873"/>
                </a:lnTo>
                <a:lnTo>
                  <a:pt x="766508" y="221134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dirty="0"/>
              <a:t>55</a:t>
            </a:fld>
            <a:endParaRPr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750695" y="829944"/>
            <a:ext cx="564261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Summary of the</a:t>
            </a:r>
            <a:r>
              <a:rPr spc="-40" dirty="0"/>
              <a:t> </a:t>
            </a:r>
            <a:r>
              <a:rPr spc="-5" dirty="0"/>
              <a:t>Chase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dirty="0"/>
              <a:t>56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459740" y="2014219"/>
            <a:ext cx="8351520" cy="369379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622300" marR="277495" indent="-609600">
              <a:lnSpc>
                <a:spcPct val="100000"/>
              </a:lnSpc>
              <a:spcBef>
                <a:spcPts val="95"/>
              </a:spcBef>
              <a:buClr>
                <a:srgbClr val="CC00CC"/>
              </a:buClr>
              <a:buAutoNum type="arabicPeriod"/>
              <a:tabLst>
                <a:tab pos="621665" algn="l"/>
                <a:tab pos="622300" algn="l"/>
              </a:tabLst>
            </a:pPr>
            <a:r>
              <a:rPr sz="2800" spc="-5" dirty="0">
                <a:latin typeface="Tahoma"/>
                <a:cs typeface="Tahoma"/>
              </a:rPr>
              <a:t>If two </a:t>
            </a:r>
            <a:r>
              <a:rPr sz="2800" spc="-10" dirty="0">
                <a:latin typeface="Tahoma"/>
                <a:cs typeface="Tahoma"/>
              </a:rPr>
              <a:t>rows </a:t>
            </a:r>
            <a:r>
              <a:rPr sz="2800" spc="-5" dirty="0">
                <a:latin typeface="Tahoma"/>
                <a:cs typeface="Tahoma"/>
              </a:rPr>
              <a:t>agree in the left side of a </a:t>
            </a:r>
            <a:r>
              <a:rPr sz="2800" spc="-25" dirty="0">
                <a:latin typeface="Tahoma"/>
                <a:cs typeface="Tahoma"/>
              </a:rPr>
              <a:t>FD, </a:t>
            </a:r>
            <a:r>
              <a:rPr sz="2800" spc="-10" dirty="0">
                <a:latin typeface="Tahoma"/>
                <a:cs typeface="Tahoma"/>
              </a:rPr>
              <a:t>make  </a:t>
            </a:r>
            <a:r>
              <a:rPr sz="2800" spc="-5" dirty="0">
                <a:latin typeface="Tahoma"/>
                <a:cs typeface="Tahoma"/>
              </a:rPr>
              <a:t>their right sides agree</a:t>
            </a:r>
            <a:r>
              <a:rPr sz="2800" spc="10" dirty="0">
                <a:latin typeface="Tahoma"/>
                <a:cs typeface="Tahoma"/>
              </a:rPr>
              <a:t> </a:t>
            </a:r>
            <a:r>
              <a:rPr sz="2800" spc="-10" dirty="0">
                <a:latin typeface="Tahoma"/>
                <a:cs typeface="Tahoma"/>
              </a:rPr>
              <a:t>too.</a:t>
            </a:r>
            <a:endParaRPr sz="2800" dirty="0">
              <a:latin typeface="Tahoma"/>
              <a:cs typeface="Tahoma"/>
            </a:endParaRPr>
          </a:p>
          <a:p>
            <a:pPr marL="622300" marR="633095" indent="-609600">
              <a:lnSpc>
                <a:spcPct val="100000"/>
              </a:lnSpc>
              <a:spcBef>
                <a:spcPts val="670"/>
              </a:spcBef>
              <a:buClr>
                <a:srgbClr val="CC00CC"/>
              </a:buClr>
              <a:buAutoNum type="arabicPeriod"/>
              <a:tabLst>
                <a:tab pos="621665" algn="l"/>
                <a:tab pos="622300" algn="l"/>
              </a:tabLst>
            </a:pPr>
            <a:r>
              <a:rPr sz="2800" spc="-10" dirty="0">
                <a:latin typeface="Tahoma"/>
                <a:cs typeface="Tahoma"/>
              </a:rPr>
              <a:t>Always </a:t>
            </a:r>
            <a:r>
              <a:rPr sz="2800" spc="-5" dirty="0">
                <a:latin typeface="Tahoma"/>
                <a:cs typeface="Tahoma"/>
              </a:rPr>
              <a:t>replace a subscripted symbol </a:t>
            </a:r>
            <a:r>
              <a:rPr sz="2800" spc="-10" dirty="0">
                <a:latin typeface="Tahoma"/>
                <a:cs typeface="Tahoma"/>
              </a:rPr>
              <a:t>by </a:t>
            </a:r>
            <a:r>
              <a:rPr sz="2800" spc="-5" dirty="0">
                <a:latin typeface="Tahoma"/>
                <a:cs typeface="Tahoma"/>
              </a:rPr>
              <a:t>the  corresponding unsubscripted one, </a:t>
            </a:r>
            <a:r>
              <a:rPr sz="2800" dirty="0">
                <a:latin typeface="Tahoma"/>
                <a:cs typeface="Tahoma"/>
              </a:rPr>
              <a:t>if</a:t>
            </a:r>
            <a:r>
              <a:rPr sz="2800" spc="45" dirty="0">
                <a:latin typeface="Tahoma"/>
                <a:cs typeface="Tahoma"/>
              </a:rPr>
              <a:t> </a:t>
            </a:r>
            <a:r>
              <a:rPr sz="2800" spc="-5" dirty="0">
                <a:latin typeface="Tahoma"/>
                <a:cs typeface="Tahoma"/>
              </a:rPr>
              <a:t>possible.</a:t>
            </a:r>
            <a:endParaRPr sz="2800" dirty="0">
              <a:latin typeface="Tahoma"/>
              <a:cs typeface="Tahoma"/>
            </a:endParaRPr>
          </a:p>
          <a:p>
            <a:pPr marL="622300" marR="5080" indent="-609600">
              <a:lnSpc>
                <a:spcPct val="100000"/>
              </a:lnSpc>
              <a:spcBef>
                <a:spcPts val="670"/>
              </a:spcBef>
              <a:buClr>
                <a:srgbClr val="CC00CC"/>
              </a:buClr>
              <a:buAutoNum type="arabicPeriod"/>
              <a:tabLst>
                <a:tab pos="621665" algn="l"/>
                <a:tab pos="622300" algn="l"/>
              </a:tabLst>
            </a:pPr>
            <a:r>
              <a:rPr sz="2800" spc="-5" dirty="0">
                <a:latin typeface="Tahoma"/>
                <a:cs typeface="Tahoma"/>
              </a:rPr>
              <a:t>If we </a:t>
            </a:r>
            <a:r>
              <a:rPr sz="2800" spc="-10" dirty="0">
                <a:latin typeface="Tahoma"/>
                <a:cs typeface="Tahoma"/>
              </a:rPr>
              <a:t>ever </a:t>
            </a:r>
            <a:r>
              <a:rPr sz="2800" spc="-5" dirty="0">
                <a:latin typeface="Tahoma"/>
                <a:cs typeface="Tahoma"/>
              </a:rPr>
              <a:t>get an unsubscripted </a:t>
            </a:r>
            <a:r>
              <a:rPr sz="2800" spc="-30" dirty="0">
                <a:latin typeface="Tahoma"/>
                <a:cs typeface="Tahoma"/>
              </a:rPr>
              <a:t>row, </a:t>
            </a:r>
            <a:r>
              <a:rPr sz="2800" spc="-5" dirty="0">
                <a:latin typeface="Tahoma"/>
                <a:cs typeface="Tahoma"/>
              </a:rPr>
              <a:t>we know  </a:t>
            </a:r>
            <a:r>
              <a:rPr sz="2800" spc="-15" dirty="0">
                <a:latin typeface="Tahoma"/>
                <a:cs typeface="Tahoma"/>
              </a:rPr>
              <a:t>any </a:t>
            </a:r>
            <a:r>
              <a:rPr sz="2800" spc="-5" dirty="0">
                <a:latin typeface="Tahoma"/>
                <a:cs typeface="Tahoma"/>
              </a:rPr>
              <a:t>tuple in the </a:t>
            </a:r>
            <a:r>
              <a:rPr sz="2800" spc="-10" dirty="0">
                <a:latin typeface="Tahoma"/>
                <a:cs typeface="Tahoma"/>
              </a:rPr>
              <a:t>project-join </a:t>
            </a:r>
            <a:r>
              <a:rPr sz="2800" spc="-5" dirty="0">
                <a:latin typeface="Tahoma"/>
                <a:cs typeface="Tahoma"/>
              </a:rPr>
              <a:t>is in the original (the  join is</a:t>
            </a:r>
            <a:r>
              <a:rPr sz="2800" dirty="0">
                <a:latin typeface="Tahoma"/>
                <a:cs typeface="Tahoma"/>
              </a:rPr>
              <a:t> </a:t>
            </a:r>
            <a:r>
              <a:rPr sz="2800" spc="-5" dirty="0">
                <a:latin typeface="Tahoma"/>
                <a:cs typeface="Tahoma"/>
              </a:rPr>
              <a:t>lossless).</a:t>
            </a:r>
            <a:endParaRPr sz="2800" dirty="0">
              <a:latin typeface="Tahoma"/>
              <a:cs typeface="Tahoma"/>
            </a:endParaRPr>
          </a:p>
          <a:p>
            <a:pPr marL="622300" indent="-609600">
              <a:lnSpc>
                <a:spcPct val="100000"/>
              </a:lnSpc>
              <a:spcBef>
                <a:spcPts val="670"/>
              </a:spcBef>
              <a:buClr>
                <a:srgbClr val="CC00CC"/>
              </a:buClr>
              <a:buAutoNum type="arabicPeriod"/>
              <a:tabLst>
                <a:tab pos="621665" algn="l"/>
                <a:tab pos="622300" algn="l"/>
              </a:tabLst>
            </a:pPr>
            <a:r>
              <a:rPr sz="2800" spc="-5" dirty="0">
                <a:latin typeface="Tahoma"/>
                <a:cs typeface="Tahoma"/>
              </a:rPr>
              <a:t>Otherwise, the final tableau is a</a:t>
            </a:r>
            <a:r>
              <a:rPr sz="2800" spc="40" dirty="0">
                <a:latin typeface="Tahoma"/>
                <a:cs typeface="Tahoma"/>
              </a:rPr>
              <a:t> </a:t>
            </a:r>
            <a:r>
              <a:rPr sz="2800" spc="-5" dirty="0">
                <a:latin typeface="Tahoma"/>
                <a:cs typeface="Tahoma"/>
              </a:rPr>
              <a:t>counterexample.</a:t>
            </a:r>
            <a:endParaRPr sz="2800" dirty="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076450" y="829944"/>
            <a:ext cx="499110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>
                <a:solidFill>
                  <a:srgbClr val="33CC33"/>
                </a:solidFill>
              </a:rPr>
              <a:t>Example</a:t>
            </a:r>
            <a:r>
              <a:rPr spc="-5" dirty="0"/>
              <a:t>: Lossy</a:t>
            </a:r>
            <a:r>
              <a:rPr spc="-45" dirty="0"/>
              <a:t> </a:t>
            </a:r>
            <a:r>
              <a:rPr spc="-5" dirty="0"/>
              <a:t>Join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dirty="0"/>
              <a:t>57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764540" y="1992617"/>
            <a:ext cx="6819900" cy="1610995"/>
          </a:xfrm>
          <a:prstGeom prst="rect">
            <a:avLst/>
          </a:prstGeom>
        </p:spPr>
        <p:txBody>
          <a:bodyPr vert="horz" wrap="square" lIns="0" tIns="49530" rIns="0" bIns="0" rtlCol="0">
            <a:spAutoFit/>
          </a:bodyPr>
          <a:lstStyle/>
          <a:p>
            <a:pPr marL="355600" marR="5080" indent="-342900">
              <a:lnSpc>
                <a:spcPts val="3840"/>
              </a:lnSpc>
              <a:spcBef>
                <a:spcPts val="390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lang="en-US" altLang="zh-CN" sz="3200" spc="-5" dirty="0">
                <a:latin typeface="Tahoma"/>
                <a:cs typeface="Tahoma"/>
              </a:rPr>
              <a:t>Same relation </a:t>
            </a:r>
            <a:r>
              <a:rPr lang="en-US" altLang="zh-CN" sz="3350" i="1" spc="-65" dirty="0">
                <a:latin typeface="Tahoma"/>
                <a:cs typeface="Tahoma"/>
              </a:rPr>
              <a:t>R</a:t>
            </a:r>
            <a:r>
              <a:rPr lang="en-US" altLang="zh-CN" sz="3200" spc="-65" dirty="0">
                <a:latin typeface="Tahoma"/>
                <a:cs typeface="Tahoma"/>
              </a:rPr>
              <a:t>= </a:t>
            </a:r>
            <a:r>
              <a:rPr lang="en-US" altLang="zh-CN" sz="3350" i="1" spc="-969" dirty="0">
                <a:latin typeface="Tahoma"/>
                <a:cs typeface="Tahoma"/>
              </a:rPr>
              <a:t>ABCD </a:t>
            </a:r>
            <a:r>
              <a:rPr lang="en-US" altLang="zh-CN" sz="3200" spc="-5" dirty="0">
                <a:latin typeface="Tahoma"/>
                <a:cs typeface="Tahoma"/>
              </a:rPr>
              <a:t>and same  decomposition.</a:t>
            </a:r>
            <a:endParaRPr lang="en-US" altLang="zh-CN" sz="3200" dirty="0">
              <a:latin typeface="Tahoma"/>
              <a:cs typeface="Tahoma"/>
            </a:endParaRPr>
          </a:p>
          <a:p>
            <a:pPr marL="414655" indent="-402590">
              <a:lnSpc>
                <a:spcPct val="100000"/>
              </a:lnSpc>
              <a:spcBef>
                <a:spcPts val="490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lang="en-US" altLang="zh-CN" sz="3200" dirty="0">
                <a:latin typeface="Tahoma"/>
                <a:cs typeface="Tahoma"/>
              </a:rPr>
              <a:t>But </a:t>
            </a:r>
            <a:r>
              <a:rPr lang="en-US" altLang="zh-CN" sz="3200" spc="-5" dirty="0">
                <a:latin typeface="Tahoma"/>
                <a:cs typeface="Tahoma"/>
              </a:rPr>
              <a:t>with only the </a:t>
            </a:r>
            <a:r>
              <a:rPr lang="en-US" altLang="zh-CN" sz="3200" dirty="0">
                <a:latin typeface="Tahoma"/>
                <a:cs typeface="Tahoma"/>
              </a:rPr>
              <a:t>FD</a:t>
            </a:r>
            <a:r>
              <a:rPr lang="en-US" altLang="zh-CN" sz="3200" spc="-235" dirty="0">
                <a:latin typeface="Tahoma"/>
                <a:cs typeface="Tahoma"/>
              </a:rPr>
              <a:t> </a:t>
            </a:r>
            <a:r>
              <a:rPr lang="en-US" altLang="zh-CN" sz="3350" i="1" spc="-495" dirty="0">
                <a:solidFill>
                  <a:srgbClr val="00CC99"/>
                </a:solidFill>
                <a:latin typeface="Tahoma"/>
                <a:cs typeface="Tahoma"/>
              </a:rPr>
              <a:t>C</a:t>
            </a:r>
            <a:r>
              <a:rPr lang="en-US" altLang="zh-CN" sz="3200" spc="-495" dirty="0">
                <a:solidFill>
                  <a:srgbClr val="00CC99"/>
                </a:solidFill>
                <a:latin typeface="Tahoma"/>
                <a:cs typeface="Tahoma"/>
              </a:rPr>
              <a:t>-&gt;</a:t>
            </a:r>
            <a:r>
              <a:rPr lang="en-US" altLang="zh-CN" sz="3350" i="1" spc="-495" dirty="0">
                <a:solidFill>
                  <a:srgbClr val="00CC99"/>
                </a:solidFill>
                <a:latin typeface="Tahoma"/>
                <a:cs typeface="Tahoma"/>
              </a:rPr>
              <a:t>D</a:t>
            </a:r>
            <a:r>
              <a:rPr lang="en-US" altLang="zh-CN" sz="3200" spc="-495" dirty="0">
                <a:latin typeface="Tahoma"/>
                <a:cs typeface="Tahoma"/>
              </a:rPr>
              <a:t>.</a:t>
            </a:r>
            <a:endParaRPr lang="en-US" altLang="zh-CN" sz="3200" dirty="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3480837" y="1991347"/>
            <a:ext cx="2256155" cy="53848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  <a:tabLst>
                <a:tab pos="1840864" algn="l"/>
              </a:tabLst>
            </a:pPr>
            <a:r>
              <a:rPr sz="3350" i="1" spc="-90" dirty="0">
                <a:latin typeface="Tahoma"/>
                <a:cs typeface="Tahoma"/>
              </a:rPr>
              <a:t>B	C</a:t>
            </a:r>
            <a:endParaRPr sz="3350">
              <a:latin typeface="Tahoma"/>
              <a:cs typeface="Tahom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138437" y="1991347"/>
            <a:ext cx="459105" cy="53848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3350" i="1" spc="-100" dirty="0">
                <a:latin typeface="Tahoma"/>
                <a:cs typeface="Tahoma"/>
              </a:rPr>
              <a:t>D</a:t>
            </a:r>
            <a:endParaRPr sz="3350">
              <a:latin typeface="Tahoma"/>
              <a:cs typeface="Tahom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664737" y="2609016"/>
            <a:ext cx="2211070" cy="4914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3870"/>
              </a:lnSpc>
              <a:tabLst>
                <a:tab pos="1828164" algn="l"/>
              </a:tabLst>
            </a:pPr>
            <a:r>
              <a:rPr sz="3350" i="1" spc="-80" dirty="0">
                <a:latin typeface="Tahoma"/>
                <a:cs typeface="Tahoma"/>
              </a:rPr>
              <a:t>a	</a:t>
            </a:r>
            <a:r>
              <a:rPr sz="3350" i="1" spc="-85" dirty="0">
                <a:latin typeface="Tahoma"/>
                <a:cs typeface="Tahoma"/>
              </a:rPr>
              <a:t>b</a:t>
            </a:r>
            <a:endParaRPr sz="3350">
              <a:latin typeface="Tahoma"/>
              <a:cs typeface="Tahom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284237" y="2576182"/>
            <a:ext cx="434340" cy="53848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4"/>
              </a:spcBef>
            </a:pPr>
            <a:r>
              <a:rPr sz="3350" i="1" spc="-545" dirty="0">
                <a:latin typeface="Tahoma"/>
                <a:cs typeface="Tahoma"/>
              </a:rPr>
              <a:t>c</a:t>
            </a:r>
            <a:r>
              <a:rPr sz="3075" spc="-817" baseline="-17615" dirty="0">
                <a:latin typeface="Tahoma"/>
                <a:cs typeface="Tahoma"/>
              </a:rPr>
              <a:t>1</a:t>
            </a:r>
            <a:endParaRPr sz="3075" baseline="-17615">
              <a:latin typeface="Tahoma"/>
              <a:cs typeface="Tahom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493537" y="3193851"/>
            <a:ext cx="2174240" cy="4914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3870"/>
              </a:lnSpc>
              <a:tabLst>
                <a:tab pos="1828164" algn="l"/>
              </a:tabLst>
            </a:pPr>
            <a:r>
              <a:rPr sz="3350" i="1" spc="-85" dirty="0">
                <a:latin typeface="Tahoma"/>
                <a:cs typeface="Tahoma"/>
              </a:rPr>
              <a:t>b	</a:t>
            </a:r>
            <a:r>
              <a:rPr sz="3350" i="1" spc="-70" dirty="0">
                <a:latin typeface="Tahoma"/>
                <a:cs typeface="Tahoma"/>
              </a:rPr>
              <a:t>c</a:t>
            </a:r>
            <a:endParaRPr sz="3350">
              <a:latin typeface="Tahoma"/>
              <a:cs typeface="Tahom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613937" y="3089023"/>
            <a:ext cx="2326005" cy="1195070"/>
          </a:xfrm>
          <a:prstGeom prst="rect">
            <a:avLst/>
          </a:prstGeom>
        </p:spPr>
        <p:txBody>
          <a:bodyPr vert="horz" wrap="square" lIns="0" tIns="86360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680"/>
              </a:spcBef>
            </a:pPr>
            <a:r>
              <a:rPr sz="3350" i="1" spc="-550" dirty="0">
                <a:latin typeface="Tahoma"/>
                <a:cs typeface="Tahoma"/>
              </a:rPr>
              <a:t>a</a:t>
            </a:r>
            <a:r>
              <a:rPr sz="3075" spc="-825" baseline="-17615" dirty="0">
                <a:latin typeface="Tahoma"/>
                <a:cs typeface="Tahoma"/>
              </a:rPr>
              <a:t>2</a:t>
            </a:r>
            <a:endParaRPr sz="3075" baseline="-17615">
              <a:latin typeface="Tahoma"/>
              <a:cs typeface="Tahoma"/>
            </a:endParaRPr>
          </a:p>
          <a:p>
            <a:pPr marL="50800">
              <a:lnSpc>
                <a:spcPct val="100000"/>
              </a:lnSpc>
              <a:spcBef>
                <a:spcPts val="585"/>
              </a:spcBef>
              <a:tabLst>
                <a:tab pos="1878964" algn="l"/>
              </a:tabLst>
            </a:pPr>
            <a:r>
              <a:rPr sz="3350" i="1" spc="-550" dirty="0">
                <a:latin typeface="Tahoma"/>
                <a:cs typeface="Tahoma"/>
              </a:rPr>
              <a:t>a</a:t>
            </a:r>
            <a:r>
              <a:rPr sz="3075" spc="-825" baseline="-17615" dirty="0">
                <a:latin typeface="Tahoma"/>
                <a:cs typeface="Tahoma"/>
              </a:rPr>
              <a:t>3	</a:t>
            </a:r>
            <a:r>
              <a:rPr sz="3350" i="1" spc="-550" dirty="0">
                <a:latin typeface="Tahoma"/>
                <a:cs typeface="Tahoma"/>
              </a:rPr>
              <a:t>b</a:t>
            </a:r>
            <a:r>
              <a:rPr sz="3075" spc="-825" baseline="-17615" dirty="0">
                <a:latin typeface="Tahoma"/>
                <a:cs typeface="Tahoma"/>
              </a:rPr>
              <a:t>3</a:t>
            </a:r>
            <a:endParaRPr sz="3075" baseline="-17615">
              <a:latin typeface="Tahoma"/>
              <a:cs typeface="Tahom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322337" y="3778686"/>
            <a:ext cx="2211070" cy="4914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3870"/>
              </a:lnSpc>
              <a:tabLst>
                <a:tab pos="1828164" algn="l"/>
              </a:tabLst>
            </a:pPr>
            <a:r>
              <a:rPr sz="3350" i="1" spc="-70" dirty="0">
                <a:latin typeface="Tahoma"/>
                <a:cs typeface="Tahoma"/>
              </a:rPr>
              <a:t>c	</a:t>
            </a:r>
            <a:r>
              <a:rPr sz="3350" i="1" spc="-85" dirty="0">
                <a:latin typeface="Tahoma"/>
                <a:cs typeface="Tahoma"/>
              </a:rPr>
              <a:t>d</a:t>
            </a:r>
            <a:endParaRPr sz="3350">
              <a:latin typeface="Tahoma"/>
              <a:cs typeface="Tahoma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1371600" y="2590800"/>
            <a:ext cx="6477000" cy="0"/>
          </a:xfrm>
          <a:custGeom>
            <a:avLst/>
            <a:gdLst/>
            <a:ahLst/>
            <a:cxnLst/>
            <a:rect l="l" t="t" r="r" b="b"/>
            <a:pathLst>
              <a:path w="6477000">
                <a:moveTo>
                  <a:pt x="0" y="0"/>
                </a:moveTo>
                <a:lnTo>
                  <a:pt x="6477000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7159180" y="3197301"/>
            <a:ext cx="464820" cy="539750"/>
          </a:xfrm>
          <a:custGeom>
            <a:avLst/>
            <a:gdLst/>
            <a:ahLst/>
            <a:cxnLst/>
            <a:rect l="l" t="t" r="r" b="b"/>
            <a:pathLst>
              <a:path w="464820" h="539750">
                <a:moveTo>
                  <a:pt x="7238" y="539597"/>
                </a:moveTo>
                <a:lnTo>
                  <a:pt x="0" y="533400"/>
                </a:lnTo>
                <a:lnTo>
                  <a:pt x="457200" y="0"/>
                </a:lnTo>
                <a:lnTo>
                  <a:pt x="464438" y="6197"/>
                </a:lnTo>
                <a:lnTo>
                  <a:pt x="7238" y="53959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7113037" y="2504188"/>
            <a:ext cx="991869" cy="1195070"/>
          </a:xfrm>
          <a:prstGeom prst="rect">
            <a:avLst/>
          </a:prstGeom>
        </p:spPr>
        <p:txBody>
          <a:bodyPr vert="horz" wrap="square" lIns="0" tIns="8636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680"/>
              </a:spcBef>
            </a:pPr>
            <a:r>
              <a:rPr sz="3350" i="1" spc="-550" dirty="0">
                <a:latin typeface="Tahoma"/>
                <a:cs typeface="Tahoma"/>
              </a:rPr>
              <a:t>d</a:t>
            </a:r>
            <a:r>
              <a:rPr sz="3075" spc="-825" baseline="-17615" dirty="0">
                <a:latin typeface="Tahoma"/>
                <a:cs typeface="Tahoma"/>
              </a:rPr>
              <a:t>1</a:t>
            </a:r>
            <a:endParaRPr sz="3075" baseline="-17615">
              <a:latin typeface="Tahoma"/>
              <a:cs typeface="Tahoma"/>
            </a:endParaRPr>
          </a:p>
          <a:p>
            <a:pPr marL="38100">
              <a:lnSpc>
                <a:spcPct val="100000"/>
              </a:lnSpc>
              <a:spcBef>
                <a:spcPts val="585"/>
              </a:spcBef>
              <a:tabLst>
                <a:tab pos="570865" algn="l"/>
              </a:tabLst>
            </a:pPr>
            <a:r>
              <a:rPr sz="3350" i="1" spc="-550" dirty="0">
                <a:latin typeface="Tahoma"/>
                <a:cs typeface="Tahoma"/>
              </a:rPr>
              <a:t>d</a:t>
            </a:r>
            <a:r>
              <a:rPr sz="3075" spc="-825" baseline="-17615" dirty="0">
                <a:latin typeface="Tahoma"/>
                <a:cs typeface="Tahoma"/>
              </a:rPr>
              <a:t>2	</a:t>
            </a:r>
            <a:r>
              <a:rPr sz="5025" i="1" spc="-127" baseline="-6633" dirty="0">
                <a:latin typeface="Tahoma"/>
                <a:cs typeface="Tahoma"/>
              </a:rPr>
              <a:t>d</a:t>
            </a:r>
            <a:endParaRPr sz="5025" baseline="-6633">
              <a:latin typeface="Tahoma"/>
              <a:cs typeface="Tahom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311265" y="4851096"/>
            <a:ext cx="1437005" cy="40957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2400" spc="-5" dirty="0">
                <a:latin typeface="Tahoma"/>
                <a:cs typeface="Tahoma"/>
              </a:rPr>
              <a:t>Use</a:t>
            </a:r>
            <a:r>
              <a:rPr sz="2400" spc="-180" dirty="0">
                <a:latin typeface="Tahoma"/>
                <a:cs typeface="Tahoma"/>
              </a:rPr>
              <a:t> </a:t>
            </a:r>
            <a:r>
              <a:rPr sz="2500" i="1" spc="-270" dirty="0">
                <a:solidFill>
                  <a:srgbClr val="00CC99"/>
                </a:solidFill>
                <a:latin typeface="Tahoma"/>
                <a:cs typeface="Tahoma"/>
              </a:rPr>
              <a:t>C</a:t>
            </a:r>
            <a:r>
              <a:rPr sz="2400" spc="-270" dirty="0">
                <a:solidFill>
                  <a:srgbClr val="00CC99"/>
                </a:solidFill>
                <a:latin typeface="Tahoma"/>
                <a:cs typeface="Tahoma"/>
              </a:rPr>
              <a:t>-&gt;</a:t>
            </a:r>
            <a:r>
              <a:rPr sz="2500" i="1" spc="-270" dirty="0">
                <a:solidFill>
                  <a:srgbClr val="00CC99"/>
                </a:solidFill>
                <a:latin typeface="Tahoma"/>
                <a:cs typeface="Tahoma"/>
              </a:rPr>
              <a:t>D</a:t>
            </a:r>
            <a:endParaRPr sz="2500">
              <a:latin typeface="Tahoma"/>
              <a:cs typeface="Tahoma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6929513" y="3886200"/>
            <a:ext cx="180975" cy="839469"/>
          </a:xfrm>
          <a:custGeom>
            <a:avLst/>
            <a:gdLst/>
            <a:ahLst/>
            <a:cxnLst/>
            <a:rect l="l" t="t" r="r" b="b"/>
            <a:pathLst>
              <a:path w="180975" h="839470">
                <a:moveTo>
                  <a:pt x="138767" y="74122"/>
                </a:moveTo>
                <a:lnTo>
                  <a:pt x="105968" y="68160"/>
                </a:lnTo>
                <a:lnTo>
                  <a:pt x="157086" y="0"/>
                </a:lnTo>
                <a:lnTo>
                  <a:pt x="173233" y="55372"/>
                </a:lnTo>
                <a:lnTo>
                  <a:pt x="142176" y="55372"/>
                </a:lnTo>
                <a:lnTo>
                  <a:pt x="138767" y="74122"/>
                </a:lnTo>
                <a:close/>
              </a:path>
              <a:path w="180975" h="839470">
                <a:moveTo>
                  <a:pt x="148141" y="75826"/>
                </a:moveTo>
                <a:lnTo>
                  <a:pt x="138767" y="74122"/>
                </a:lnTo>
                <a:lnTo>
                  <a:pt x="142176" y="55372"/>
                </a:lnTo>
                <a:lnTo>
                  <a:pt x="151549" y="57086"/>
                </a:lnTo>
                <a:lnTo>
                  <a:pt x="148141" y="75826"/>
                </a:lnTo>
                <a:close/>
              </a:path>
              <a:path w="180975" h="839470">
                <a:moveTo>
                  <a:pt x="180936" y="81787"/>
                </a:moveTo>
                <a:lnTo>
                  <a:pt x="148141" y="75826"/>
                </a:lnTo>
                <a:lnTo>
                  <a:pt x="151549" y="57086"/>
                </a:lnTo>
                <a:lnTo>
                  <a:pt x="142176" y="55372"/>
                </a:lnTo>
                <a:lnTo>
                  <a:pt x="173233" y="55372"/>
                </a:lnTo>
                <a:lnTo>
                  <a:pt x="180936" y="81787"/>
                </a:lnTo>
                <a:close/>
              </a:path>
              <a:path w="180975" h="839470">
                <a:moveTo>
                  <a:pt x="9372" y="839050"/>
                </a:moveTo>
                <a:lnTo>
                  <a:pt x="0" y="837349"/>
                </a:lnTo>
                <a:lnTo>
                  <a:pt x="138767" y="74122"/>
                </a:lnTo>
                <a:lnTo>
                  <a:pt x="148141" y="75826"/>
                </a:lnTo>
                <a:lnTo>
                  <a:pt x="9372" y="8390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1261919" y="4790122"/>
            <a:ext cx="4748530" cy="1491615"/>
          </a:xfrm>
          <a:prstGeom prst="rect">
            <a:avLst/>
          </a:prstGeom>
        </p:spPr>
        <p:txBody>
          <a:bodyPr vert="horz" wrap="square" lIns="0" tIns="24765" rIns="0" bIns="0" rtlCol="0">
            <a:spAutoFit/>
          </a:bodyPr>
          <a:lstStyle/>
          <a:p>
            <a:pPr marL="12700" marR="5080" indent="19685" algn="just">
              <a:lnSpc>
                <a:spcPts val="2880"/>
              </a:lnSpc>
              <a:spcBef>
                <a:spcPts val="195"/>
              </a:spcBef>
            </a:pPr>
            <a:r>
              <a:rPr sz="2400" spc="-5" dirty="0">
                <a:latin typeface="Tahoma"/>
                <a:cs typeface="Tahoma"/>
              </a:rPr>
              <a:t>These three tuples are </a:t>
            </a:r>
            <a:r>
              <a:rPr sz="2400" dirty="0">
                <a:latin typeface="Tahoma"/>
                <a:cs typeface="Tahoma"/>
              </a:rPr>
              <a:t>an </a:t>
            </a:r>
            <a:r>
              <a:rPr sz="2400" spc="-5" dirty="0">
                <a:latin typeface="Tahoma"/>
                <a:cs typeface="Tahoma"/>
              </a:rPr>
              <a:t>example  </a:t>
            </a:r>
            <a:r>
              <a:rPr sz="2500" i="1" spc="-65" dirty="0">
                <a:latin typeface="Tahoma"/>
                <a:cs typeface="Tahoma"/>
              </a:rPr>
              <a:t>R </a:t>
            </a:r>
            <a:r>
              <a:rPr sz="2400" dirty="0">
                <a:latin typeface="Tahoma"/>
                <a:cs typeface="Tahoma"/>
              </a:rPr>
              <a:t>that </a:t>
            </a:r>
            <a:r>
              <a:rPr sz="2400" spc="-5" dirty="0">
                <a:latin typeface="Tahoma"/>
                <a:cs typeface="Tahoma"/>
              </a:rPr>
              <a:t>shows </a:t>
            </a:r>
            <a:r>
              <a:rPr sz="2400" dirty="0">
                <a:latin typeface="Tahoma"/>
                <a:cs typeface="Tahoma"/>
              </a:rPr>
              <a:t>the </a:t>
            </a:r>
            <a:r>
              <a:rPr sz="2400" spc="-5" dirty="0">
                <a:latin typeface="Tahoma"/>
                <a:cs typeface="Tahoma"/>
              </a:rPr>
              <a:t>join </a:t>
            </a:r>
            <a:r>
              <a:rPr sz="2400" spc="-40" dirty="0">
                <a:latin typeface="Tahoma"/>
                <a:cs typeface="Tahoma"/>
              </a:rPr>
              <a:t>lossy. </a:t>
            </a:r>
            <a:r>
              <a:rPr sz="2500" i="1" spc="-750" dirty="0">
                <a:latin typeface="Tahoma"/>
                <a:cs typeface="Tahoma"/>
              </a:rPr>
              <a:t>abcd  </a:t>
            </a:r>
            <a:r>
              <a:rPr sz="2400" dirty="0">
                <a:latin typeface="Tahoma"/>
                <a:cs typeface="Tahoma"/>
              </a:rPr>
              <a:t>is not in </a:t>
            </a:r>
            <a:r>
              <a:rPr sz="2500" i="1" spc="-420" dirty="0">
                <a:latin typeface="Tahoma"/>
                <a:cs typeface="Tahoma"/>
              </a:rPr>
              <a:t>R</a:t>
            </a:r>
            <a:r>
              <a:rPr sz="2400" spc="-420" dirty="0">
                <a:latin typeface="Tahoma"/>
                <a:cs typeface="Tahoma"/>
              </a:rPr>
              <a:t>, </a:t>
            </a:r>
            <a:r>
              <a:rPr sz="2400" spc="-5" dirty="0">
                <a:latin typeface="Tahoma"/>
                <a:cs typeface="Tahoma"/>
              </a:rPr>
              <a:t>but we can project </a:t>
            </a:r>
            <a:r>
              <a:rPr sz="2400" dirty="0">
                <a:latin typeface="Tahoma"/>
                <a:cs typeface="Tahoma"/>
              </a:rPr>
              <a:t>and  </a:t>
            </a:r>
            <a:r>
              <a:rPr sz="2400" spc="-5" dirty="0">
                <a:latin typeface="Tahoma"/>
                <a:cs typeface="Tahoma"/>
              </a:rPr>
              <a:t>rejoin </a:t>
            </a:r>
            <a:r>
              <a:rPr sz="2400" dirty="0">
                <a:latin typeface="Tahoma"/>
                <a:cs typeface="Tahoma"/>
              </a:rPr>
              <a:t>to </a:t>
            </a:r>
            <a:r>
              <a:rPr sz="2400" spc="-5" dirty="0">
                <a:latin typeface="Tahoma"/>
                <a:cs typeface="Tahoma"/>
              </a:rPr>
              <a:t>get</a:t>
            </a:r>
            <a:r>
              <a:rPr sz="2400" spc="-165" dirty="0">
                <a:latin typeface="Tahoma"/>
                <a:cs typeface="Tahoma"/>
              </a:rPr>
              <a:t> </a:t>
            </a:r>
            <a:r>
              <a:rPr sz="2500" i="1" spc="-755" dirty="0">
                <a:latin typeface="Tahoma"/>
                <a:cs typeface="Tahoma"/>
              </a:rPr>
              <a:t>abcd</a:t>
            </a:r>
            <a:r>
              <a:rPr sz="2400" spc="-755" dirty="0">
                <a:latin typeface="Tahoma"/>
                <a:cs typeface="Tahoma"/>
              </a:rPr>
              <a:t>.</a:t>
            </a:r>
            <a:endParaRPr sz="2400" dirty="0">
              <a:latin typeface="Tahoma"/>
              <a:cs typeface="Tahoma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1676400" y="2667000"/>
            <a:ext cx="2133600" cy="457200"/>
          </a:xfrm>
          <a:custGeom>
            <a:avLst/>
            <a:gdLst/>
            <a:ahLst/>
            <a:cxnLst/>
            <a:rect l="l" t="t" r="r" b="b"/>
            <a:pathLst>
              <a:path w="2133600" h="457200">
                <a:moveTo>
                  <a:pt x="0" y="0"/>
                </a:moveTo>
                <a:lnTo>
                  <a:pt x="2133600" y="0"/>
                </a:lnTo>
                <a:lnTo>
                  <a:pt x="2133600" y="457200"/>
                </a:lnTo>
                <a:lnTo>
                  <a:pt x="0" y="457200"/>
                </a:lnTo>
                <a:lnTo>
                  <a:pt x="0" y="0"/>
                </a:lnTo>
                <a:close/>
              </a:path>
            </a:pathLst>
          </a:custGeom>
          <a:solidFill>
            <a:srgbClr val="99CCFF">
              <a:alpha val="501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1671637" y="2662237"/>
            <a:ext cx="2143125" cy="466725"/>
          </a:xfrm>
          <a:custGeom>
            <a:avLst/>
            <a:gdLst/>
            <a:ahLst/>
            <a:cxnLst/>
            <a:rect l="l" t="t" r="r" b="b"/>
            <a:pathLst>
              <a:path w="2143125" h="466725">
                <a:moveTo>
                  <a:pt x="2143125" y="466725"/>
                </a:moveTo>
                <a:lnTo>
                  <a:pt x="0" y="466725"/>
                </a:lnTo>
                <a:lnTo>
                  <a:pt x="0" y="0"/>
                </a:lnTo>
                <a:lnTo>
                  <a:pt x="2143125" y="0"/>
                </a:lnTo>
                <a:lnTo>
                  <a:pt x="2143125" y="4762"/>
                </a:lnTo>
                <a:lnTo>
                  <a:pt x="9525" y="4762"/>
                </a:lnTo>
                <a:lnTo>
                  <a:pt x="4762" y="9525"/>
                </a:lnTo>
                <a:lnTo>
                  <a:pt x="9525" y="9525"/>
                </a:lnTo>
                <a:lnTo>
                  <a:pt x="9525" y="457200"/>
                </a:lnTo>
                <a:lnTo>
                  <a:pt x="4762" y="457200"/>
                </a:lnTo>
                <a:lnTo>
                  <a:pt x="9525" y="461962"/>
                </a:lnTo>
                <a:lnTo>
                  <a:pt x="2143125" y="461962"/>
                </a:lnTo>
                <a:lnTo>
                  <a:pt x="2143125" y="466725"/>
                </a:lnTo>
                <a:close/>
              </a:path>
              <a:path w="2143125" h="466725">
                <a:moveTo>
                  <a:pt x="9525" y="9525"/>
                </a:moveTo>
                <a:lnTo>
                  <a:pt x="4762" y="9525"/>
                </a:lnTo>
                <a:lnTo>
                  <a:pt x="9525" y="4762"/>
                </a:lnTo>
                <a:lnTo>
                  <a:pt x="9525" y="9525"/>
                </a:lnTo>
                <a:close/>
              </a:path>
              <a:path w="2143125" h="466725">
                <a:moveTo>
                  <a:pt x="2133600" y="9525"/>
                </a:moveTo>
                <a:lnTo>
                  <a:pt x="9525" y="9525"/>
                </a:lnTo>
                <a:lnTo>
                  <a:pt x="9525" y="4762"/>
                </a:lnTo>
                <a:lnTo>
                  <a:pt x="2133600" y="4762"/>
                </a:lnTo>
                <a:lnTo>
                  <a:pt x="2133600" y="9525"/>
                </a:lnTo>
                <a:close/>
              </a:path>
              <a:path w="2143125" h="466725">
                <a:moveTo>
                  <a:pt x="2133600" y="461962"/>
                </a:moveTo>
                <a:lnTo>
                  <a:pt x="2133600" y="4762"/>
                </a:lnTo>
                <a:lnTo>
                  <a:pt x="2138362" y="9525"/>
                </a:lnTo>
                <a:lnTo>
                  <a:pt x="2143125" y="9525"/>
                </a:lnTo>
                <a:lnTo>
                  <a:pt x="2143125" y="457200"/>
                </a:lnTo>
                <a:lnTo>
                  <a:pt x="2138362" y="457200"/>
                </a:lnTo>
                <a:lnTo>
                  <a:pt x="2133600" y="461962"/>
                </a:lnTo>
                <a:close/>
              </a:path>
              <a:path w="2143125" h="466725">
                <a:moveTo>
                  <a:pt x="2143125" y="9525"/>
                </a:moveTo>
                <a:lnTo>
                  <a:pt x="2138362" y="9525"/>
                </a:lnTo>
                <a:lnTo>
                  <a:pt x="2133600" y="4762"/>
                </a:lnTo>
                <a:lnTo>
                  <a:pt x="2143125" y="4762"/>
                </a:lnTo>
                <a:lnTo>
                  <a:pt x="2143125" y="9525"/>
                </a:lnTo>
                <a:close/>
              </a:path>
              <a:path w="2143125" h="466725">
                <a:moveTo>
                  <a:pt x="9525" y="461962"/>
                </a:moveTo>
                <a:lnTo>
                  <a:pt x="4762" y="457200"/>
                </a:lnTo>
                <a:lnTo>
                  <a:pt x="9525" y="457200"/>
                </a:lnTo>
                <a:lnTo>
                  <a:pt x="9525" y="461962"/>
                </a:lnTo>
                <a:close/>
              </a:path>
              <a:path w="2143125" h="466725">
                <a:moveTo>
                  <a:pt x="2133600" y="461962"/>
                </a:moveTo>
                <a:lnTo>
                  <a:pt x="9525" y="461962"/>
                </a:lnTo>
                <a:lnTo>
                  <a:pt x="9525" y="457200"/>
                </a:lnTo>
                <a:lnTo>
                  <a:pt x="2133600" y="457200"/>
                </a:lnTo>
                <a:lnTo>
                  <a:pt x="2133600" y="461962"/>
                </a:lnTo>
                <a:close/>
              </a:path>
              <a:path w="2143125" h="466725">
                <a:moveTo>
                  <a:pt x="2143125" y="461962"/>
                </a:moveTo>
                <a:lnTo>
                  <a:pt x="2133600" y="461962"/>
                </a:lnTo>
                <a:lnTo>
                  <a:pt x="2138362" y="457200"/>
                </a:lnTo>
                <a:lnTo>
                  <a:pt x="2143125" y="457200"/>
                </a:lnTo>
                <a:lnTo>
                  <a:pt x="2143125" y="4619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3505200" y="3200400"/>
            <a:ext cx="2133600" cy="457200"/>
          </a:xfrm>
          <a:custGeom>
            <a:avLst/>
            <a:gdLst/>
            <a:ahLst/>
            <a:cxnLst/>
            <a:rect l="l" t="t" r="r" b="b"/>
            <a:pathLst>
              <a:path w="2133600" h="457200">
                <a:moveTo>
                  <a:pt x="0" y="0"/>
                </a:moveTo>
                <a:lnTo>
                  <a:pt x="2133600" y="0"/>
                </a:lnTo>
                <a:lnTo>
                  <a:pt x="2133600" y="457200"/>
                </a:lnTo>
                <a:lnTo>
                  <a:pt x="0" y="457200"/>
                </a:lnTo>
                <a:lnTo>
                  <a:pt x="0" y="0"/>
                </a:lnTo>
                <a:close/>
              </a:path>
            </a:pathLst>
          </a:custGeom>
          <a:solidFill>
            <a:srgbClr val="99CCFF">
              <a:alpha val="501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3500437" y="3195637"/>
            <a:ext cx="2143125" cy="466725"/>
          </a:xfrm>
          <a:custGeom>
            <a:avLst/>
            <a:gdLst/>
            <a:ahLst/>
            <a:cxnLst/>
            <a:rect l="l" t="t" r="r" b="b"/>
            <a:pathLst>
              <a:path w="2143125" h="466725">
                <a:moveTo>
                  <a:pt x="2143125" y="466725"/>
                </a:moveTo>
                <a:lnTo>
                  <a:pt x="0" y="466725"/>
                </a:lnTo>
                <a:lnTo>
                  <a:pt x="0" y="0"/>
                </a:lnTo>
                <a:lnTo>
                  <a:pt x="2143125" y="0"/>
                </a:lnTo>
                <a:lnTo>
                  <a:pt x="2143125" y="4762"/>
                </a:lnTo>
                <a:lnTo>
                  <a:pt x="9525" y="4762"/>
                </a:lnTo>
                <a:lnTo>
                  <a:pt x="4762" y="9525"/>
                </a:lnTo>
                <a:lnTo>
                  <a:pt x="9525" y="9525"/>
                </a:lnTo>
                <a:lnTo>
                  <a:pt x="9525" y="457200"/>
                </a:lnTo>
                <a:lnTo>
                  <a:pt x="4762" y="457200"/>
                </a:lnTo>
                <a:lnTo>
                  <a:pt x="9525" y="461962"/>
                </a:lnTo>
                <a:lnTo>
                  <a:pt x="2143125" y="461962"/>
                </a:lnTo>
                <a:lnTo>
                  <a:pt x="2143125" y="466725"/>
                </a:lnTo>
                <a:close/>
              </a:path>
              <a:path w="2143125" h="466725">
                <a:moveTo>
                  <a:pt x="9525" y="9525"/>
                </a:moveTo>
                <a:lnTo>
                  <a:pt x="4762" y="9525"/>
                </a:lnTo>
                <a:lnTo>
                  <a:pt x="9525" y="4762"/>
                </a:lnTo>
                <a:lnTo>
                  <a:pt x="9525" y="9525"/>
                </a:lnTo>
                <a:close/>
              </a:path>
              <a:path w="2143125" h="466725">
                <a:moveTo>
                  <a:pt x="2133600" y="9525"/>
                </a:moveTo>
                <a:lnTo>
                  <a:pt x="9525" y="9525"/>
                </a:lnTo>
                <a:lnTo>
                  <a:pt x="9525" y="4762"/>
                </a:lnTo>
                <a:lnTo>
                  <a:pt x="2133600" y="4762"/>
                </a:lnTo>
                <a:lnTo>
                  <a:pt x="2133600" y="9525"/>
                </a:lnTo>
                <a:close/>
              </a:path>
              <a:path w="2143125" h="466725">
                <a:moveTo>
                  <a:pt x="2133600" y="461962"/>
                </a:moveTo>
                <a:lnTo>
                  <a:pt x="2133600" y="4762"/>
                </a:lnTo>
                <a:lnTo>
                  <a:pt x="2138362" y="9525"/>
                </a:lnTo>
                <a:lnTo>
                  <a:pt x="2143125" y="9525"/>
                </a:lnTo>
                <a:lnTo>
                  <a:pt x="2143125" y="457200"/>
                </a:lnTo>
                <a:lnTo>
                  <a:pt x="2138362" y="457200"/>
                </a:lnTo>
                <a:lnTo>
                  <a:pt x="2133600" y="461962"/>
                </a:lnTo>
                <a:close/>
              </a:path>
              <a:path w="2143125" h="466725">
                <a:moveTo>
                  <a:pt x="2143125" y="9525"/>
                </a:moveTo>
                <a:lnTo>
                  <a:pt x="2138362" y="9525"/>
                </a:lnTo>
                <a:lnTo>
                  <a:pt x="2133600" y="4762"/>
                </a:lnTo>
                <a:lnTo>
                  <a:pt x="2143125" y="4762"/>
                </a:lnTo>
                <a:lnTo>
                  <a:pt x="2143125" y="9525"/>
                </a:lnTo>
                <a:close/>
              </a:path>
              <a:path w="2143125" h="466725">
                <a:moveTo>
                  <a:pt x="9525" y="461962"/>
                </a:moveTo>
                <a:lnTo>
                  <a:pt x="4762" y="457200"/>
                </a:lnTo>
                <a:lnTo>
                  <a:pt x="9525" y="457200"/>
                </a:lnTo>
                <a:lnTo>
                  <a:pt x="9525" y="461962"/>
                </a:lnTo>
                <a:close/>
              </a:path>
              <a:path w="2143125" h="466725">
                <a:moveTo>
                  <a:pt x="2133600" y="461962"/>
                </a:moveTo>
                <a:lnTo>
                  <a:pt x="9525" y="461962"/>
                </a:lnTo>
                <a:lnTo>
                  <a:pt x="9525" y="457200"/>
                </a:lnTo>
                <a:lnTo>
                  <a:pt x="2133600" y="457200"/>
                </a:lnTo>
                <a:lnTo>
                  <a:pt x="2133600" y="461962"/>
                </a:lnTo>
                <a:close/>
              </a:path>
              <a:path w="2143125" h="466725">
                <a:moveTo>
                  <a:pt x="2143125" y="461962"/>
                </a:moveTo>
                <a:lnTo>
                  <a:pt x="2133600" y="461962"/>
                </a:lnTo>
                <a:lnTo>
                  <a:pt x="2138362" y="457200"/>
                </a:lnTo>
                <a:lnTo>
                  <a:pt x="2143125" y="457200"/>
                </a:lnTo>
                <a:lnTo>
                  <a:pt x="2143125" y="4619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5334000" y="3810000"/>
            <a:ext cx="2133600" cy="457200"/>
          </a:xfrm>
          <a:custGeom>
            <a:avLst/>
            <a:gdLst/>
            <a:ahLst/>
            <a:cxnLst/>
            <a:rect l="l" t="t" r="r" b="b"/>
            <a:pathLst>
              <a:path w="2133600" h="457200">
                <a:moveTo>
                  <a:pt x="0" y="0"/>
                </a:moveTo>
                <a:lnTo>
                  <a:pt x="2133600" y="0"/>
                </a:lnTo>
                <a:lnTo>
                  <a:pt x="2133600" y="457200"/>
                </a:lnTo>
                <a:lnTo>
                  <a:pt x="0" y="457200"/>
                </a:lnTo>
                <a:lnTo>
                  <a:pt x="0" y="0"/>
                </a:lnTo>
                <a:close/>
              </a:path>
            </a:pathLst>
          </a:custGeom>
          <a:solidFill>
            <a:srgbClr val="99CCFF">
              <a:alpha val="501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5329237" y="3805237"/>
            <a:ext cx="2143125" cy="466725"/>
          </a:xfrm>
          <a:custGeom>
            <a:avLst/>
            <a:gdLst/>
            <a:ahLst/>
            <a:cxnLst/>
            <a:rect l="l" t="t" r="r" b="b"/>
            <a:pathLst>
              <a:path w="2143125" h="466725">
                <a:moveTo>
                  <a:pt x="2143125" y="466725"/>
                </a:moveTo>
                <a:lnTo>
                  <a:pt x="0" y="466725"/>
                </a:lnTo>
                <a:lnTo>
                  <a:pt x="0" y="0"/>
                </a:lnTo>
                <a:lnTo>
                  <a:pt x="2143125" y="0"/>
                </a:lnTo>
                <a:lnTo>
                  <a:pt x="2143125" y="4762"/>
                </a:lnTo>
                <a:lnTo>
                  <a:pt x="9525" y="4762"/>
                </a:lnTo>
                <a:lnTo>
                  <a:pt x="4762" y="9525"/>
                </a:lnTo>
                <a:lnTo>
                  <a:pt x="9525" y="9525"/>
                </a:lnTo>
                <a:lnTo>
                  <a:pt x="9525" y="457200"/>
                </a:lnTo>
                <a:lnTo>
                  <a:pt x="4762" y="457200"/>
                </a:lnTo>
                <a:lnTo>
                  <a:pt x="9525" y="461962"/>
                </a:lnTo>
                <a:lnTo>
                  <a:pt x="2143125" y="461962"/>
                </a:lnTo>
                <a:lnTo>
                  <a:pt x="2143125" y="466725"/>
                </a:lnTo>
                <a:close/>
              </a:path>
              <a:path w="2143125" h="466725">
                <a:moveTo>
                  <a:pt x="9525" y="9525"/>
                </a:moveTo>
                <a:lnTo>
                  <a:pt x="4762" y="9525"/>
                </a:lnTo>
                <a:lnTo>
                  <a:pt x="9525" y="4762"/>
                </a:lnTo>
                <a:lnTo>
                  <a:pt x="9525" y="9525"/>
                </a:lnTo>
                <a:close/>
              </a:path>
              <a:path w="2143125" h="466725">
                <a:moveTo>
                  <a:pt x="2133600" y="9525"/>
                </a:moveTo>
                <a:lnTo>
                  <a:pt x="9525" y="9525"/>
                </a:lnTo>
                <a:lnTo>
                  <a:pt x="9525" y="4762"/>
                </a:lnTo>
                <a:lnTo>
                  <a:pt x="2133600" y="4762"/>
                </a:lnTo>
                <a:lnTo>
                  <a:pt x="2133600" y="9525"/>
                </a:lnTo>
                <a:close/>
              </a:path>
              <a:path w="2143125" h="466725">
                <a:moveTo>
                  <a:pt x="2133600" y="461962"/>
                </a:moveTo>
                <a:lnTo>
                  <a:pt x="2133600" y="4762"/>
                </a:lnTo>
                <a:lnTo>
                  <a:pt x="2138362" y="9525"/>
                </a:lnTo>
                <a:lnTo>
                  <a:pt x="2143125" y="9525"/>
                </a:lnTo>
                <a:lnTo>
                  <a:pt x="2143125" y="457200"/>
                </a:lnTo>
                <a:lnTo>
                  <a:pt x="2138362" y="457200"/>
                </a:lnTo>
                <a:lnTo>
                  <a:pt x="2133600" y="461962"/>
                </a:lnTo>
                <a:close/>
              </a:path>
              <a:path w="2143125" h="466725">
                <a:moveTo>
                  <a:pt x="2143125" y="9525"/>
                </a:moveTo>
                <a:lnTo>
                  <a:pt x="2138362" y="9525"/>
                </a:lnTo>
                <a:lnTo>
                  <a:pt x="2133600" y="4762"/>
                </a:lnTo>
                <a:lnTo>
                  <a:pt x="2143125" y="4762"/>
                </a:lnTo>
                <a:lnTo>
                  <a:pt x="2143125" y="9525"/>
                </a:lnTo>
                <a:close/>
              </a:path>
              <a:path w="2143125" h="466725">
                <a:moveTo>
                  <a:pt x="9525" y="461962"/>
                </a:moveTo>
                <a:lnTo>
                  <a:pt x="4762" y="457200"/>
                </a:lnTo>
                <a:lnTo>
                  <a:pt x="9525" y="457200"/>
                </a:lnTo>
                <a:lnTo>
                  <a:pt x="9525" y="461962"/>
                </a:lnTo>
                <a:close/>
              </a:path>
              <a:path w="2143125" h="466725">
                <a:moveTo>
                  <a:pt x="2133600" y="461962"/>
                </a:moveTo>
                <a:lnTo>
                  <a:pt x="9525" y="461962"/>
                </a:lnTo>
                <a:lnTo>
                  <a:pt x="9525" y="457200"/>
                </a:lnTo>
                <a:lnTo>
                  <a:pt x="2133600" y="457200"/>
                </a:lnTo>
                <a:lnTo>
                  <a:pt x="2133600" y="461962"/>
                </a:lnTo>
                <a:close/>
              </a:path>
              <a:path w="2143125" h="466725">
                <a:moveTo>
                  <a:pt x="2143125" y="461962"/>
                </a:moveTo>
                <a:lnTo>
                  <a:pt x="2133600" y="461962"/>
                </a:lnTo>
                <a:lnTo>
                  <a:pt x="2138362" y="457200"/>
                </a:lnTo>
                <a:lnTo>
                  <a:pt x="2143125" y="457200"/>
                </a:lnTo>
                <a:lnTo>
                  <a:pt x="2143125" y="4619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 txBox="1"/>
          <p:nvPr/>
        </p:nvSpPr>
        <p:spPr>
          <a:xfrm>
            <a:off x="287194" y="870584"/>
            <a:ext cx="2418715" cy="1659255"/>
          </a:xfrm>
          <a:prstGeom prst="rect">
            <a:avLst/>
          </a:prstGeom>
        </p:spPr>
        <p:txBody>
          <a:bodyPr vert="horz" wrap="square" lIns="0" tIns="24765" rIns="0" bIns="0" rtlCol="0">
            <a:spAutoFit/>
          </a:bodyPr>
          <a:lstStyle/>
          <a:p>
            <a:pPr marL="12700" marR="5080" indent="19685">
              <a:lnSpc>
                <a:spcPts val="2880"/>
              </a:lnSpc>
              <a:spcBef>
                <a:spcPts val="195"/>
              </a:spcBef>
            </a:pPr>
            <a:r>
              <a:rPr sz="2400" spc="-5" dirty="0">
                <a:latin typeface="Tahoma"/>
                <a:cs typeface="Tahoma"/>
              </a:rPr>
              <a:t>These</a:t>
            </a:r>
            <a:r>
              <a:rPr sz="2400" spc="-60" dirty="0">
                <a:latin typeface="Tahoma"/>
                <a:cs typeface="Tahoma"/>
              </a:rPr>
              <a:t> </a:t>
            </a:r>
            <a:r>
              <a:rPr sz="2400" spc="-5" dirty="0">
                <a:latin typeface="Tahoma"/>
                <a:cs typeface="Tahoma"/>
              </a:rPr>
              <a:t>projections  rejoin </a:t>
            </a:r>
            <a:r>
              <a:rPr sz="2400" dirty="0">
                <a:latin typeface="Tahoma"/>
                <a:cs typeface="Tahoma"/>
              </a:rPr>
              <a:t>to </a:t>
            </a:r>
            <a:r>
              <a:rPr sz="2400" spc="-10" dirty="0">
                <a:latin typeface="Tahoma"/>
                <a:cs typeface="Tahoma"/>
              </a:rPr>
              <a:t>form</a:t>
            </a:r>
            <a:r>
              <a:rPr sz="2400" spc="-40" dirty="0">
                <a:latin typeface="Tahoma"/>
                <a:cs typeface="Tahoma"/>
              </a:rPr>
              <a:t> </a:t>
            </a:r>
            <a:r>
              <a:rPr sz="2500" i="1" spc="-755" dirty="0">
                <a:latin typeface="Tahoma"/>
                <a:cs typeface="Tahoma"/>
              </a:rPr>
              <a:t>abcd</a:t>
            </a:r>
            <a:r>
              <a:rPr sz="2400" spc="-755" dirty="0">
                <a:latin typeface="Tahoma"/>
                <a:cs typeface="Tahoma"/>
              </a:rPr>
              <a:t>.</a:t>
            </a:r>
            <a:endParaRPr sz="2400">
              <a:latin typeface="Tahoma"/>
              <a:cs typeface="Tahoma"/>
            </a:endParaRPr>
          </a:p>
          <a:p>
            <a:pPr marL="737235" algn="ctr">
              <a:lnSpc>
                <a:spcPct val="100000"/>
              </a:lnSpc>
              <a:spcBef>
                <a:spcPts val="105"/>
              </a:spcBef>
            </a:pPr>
            <a:r>
              <a:rPr sz="3350" i="1" spc="-90" dirty="0">
                <a:latin typeface="Tahoma"/>
                <a:cs typeface="Tahoma"/>
              </a:rPr>
              <a:t>A</a:t>
            </a:r>
            <a:endParaRPr sz="3350">
              <a:latin typeface="Tahoma"/>
              <a:cs typeface="Tahoma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1443418" y="2131720"/>
            <a:ext cx="238125" cy="535305"/>
          </a:xfrm>
          <a:custGeom>
            <a:avLst/>
            <a:gdLst/>
            <a:ahLst/>
            <a:cxnLst/>
            <a:rect l="l" t="t" r="r" b="b"/>
            <a:pathLst>
              <a:path w="238125" h="535305">
                <a:moveTo>
                  <a:pt x="198588" y="467115"/>
                </a:moveTo>
                <a:lnTo>
                  <a:pt x="0" y="3759"/>
                </a:lnTo>
                <a:lnTo>
                  <a:pt x="8762" y="0"/>
                </a:lnTo>
                <a:lnTo>
                  <a:pt x="207341" y="463362"/>
                </a:lnTo>
                <a:lnTo>
                  <a:pt x="198588" y="467115"/>
                </a:lnTo>
                <a:close/>
              </a:path>
              <a:path w="238125" h="535305">
                <a:moveTo>
                  <a:pt x="235961" y="484632"/>
                </a:moveTo>
                <a:lnTo>
                  <a:pt x="206095" y="484632"/>
                </a:lnTo>
                <a:lnTo>
                  <a:pt x="214845" y="480872"/>
                </a:lnTo>
                <a:lnTo>
                  <a:pt x="207341" y="463362"/>
                </a:lnTo>
                <a:lnTo>
                  <a:pt x="237985" y="450227"/>
                </a:lnTo>
                <a:lnTo>
                  <a:pt x="235961" y="484632"/>
                </a:lnTo>
                <a:close/>
              </a:path>
              <a:path w="238125" h="535305">
                <a:moveTo>
                  <a:pt x="206095" y="484632"/>
                </a:moveTo>
                <a:lnTo>
                  <a:pt x="198588" y="467115"/>
                </a:lnTo>
                <a:lnTo>
                  <a:pt x="207341" y="463362"/>
                </a:lnTo>
                <a:lnTo>
                  <a:pt x="214845" y="480872"/>
                </a:lnTo>
                <a:lnTo>
                  <a:pt x="206095" y="484632"/>
                </a:lnTo>
                <a:close/>
              </a:path>
              <a:path w="238125" h="535305">
                <a:moveTo>
                  <a:pt x="232981" y="535279"/>
                </a:moveTo>
                <a:lnTo>
                  <a:pt x="167944" y="480250"/>
                </a:lnTo>
                <a:lnTo>
                  <a:pt x="198588" y="467115"/>
                </a:lnTo>
                <a:lnTo>
                  <a:pt x="206095" y="484632"/>
                </a:lnTo>
                <a:lnTo>
                  <a:pt x="235961" y="484632"/>
                </a:lnTo>
                <a:lnTo>
                  <a:pt x="232981" y="53527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1902040" y="1748866"/>
            <a:ext cx="1831975" cy="1451610"/>
          </a:xfrm>
          <a:custGeom>
            <a:avLst/>
            <a:gdLst/>
            <a:ahLst/>
            <a:cxnLst/>
            <a:rect l="l" t="t" r="r" b="b"/>
            <a:pathLst>
              <a:path w="1831975" h="1451610">
                <a:moveTo>
                  <a:pt x="1769061" y="1407974"/>
                </a:moveTo>
                <a:lnTo>
                  <a:pt x="0" y="7467"/>
                </a:lnTo>
                <a:lnTo>
                  <a:pt x="5918" y="0"/>
                </a:lnTo>
                <a:lnTo>
                  <a:pt x="1774975" y="1400503"/>
                </a:lnTo>
                <a:lnTo>
                  <a:pt x="1769061" y="1407974"/>
                </a:lnTo>
                <a:close/>
              </a:path>
              <a:path w="1831975" h="1451610">
                <a:moveTo>
                  <a:pt x="1816914" y="1419796"/>
                </a:moveTo>
                <a:lnTo>
                  <a:pt x="1783994" y="1419796"/>
                </a:lnTo>
                <a:lnTo>
                  <a:pt x="1789912" y="1412328"/>
                </a:lnTo>
                <a:lnTo>
                  <a:pt x="1774975" y="1400503"/>
                </a:lnTo>
                <a:lnTo>
                  <a:pt x="1795665" y="1374368"/>
                </a:lnTo>
                <a:lnTo>
                  <a:pt x="1816914" y="1419796"/>
                </a:lnTo>
                <a:close/>
              </a:path>
              <a:path w="1831975" h="1451610">
                <a:moveTo>
                  <a:pt x="1783994" y="1419796"/>
                </a:moveTo>
                <a:lnTo>
                  <a:pt x="1769061" y="1407974"/>
                </a:lnTo>
                <a:lnTo>
                  <a:pt x="1774975" y="1400503"/>
                </a:lnTo>
                <a:lnTo>
                  <a:pt x="1789912" y="1412328"/>
                </a:lnTo>
                <a:lnTo>
                  <a:pt x="1783994" y="1419796"/>
                </a:lnTo>
                <a:close/>
              </a:path>
              <a:path w="1831975" h="1451610">
                <a:moveTo>
                  <a:pt x="1831759" y="1451533"/>
                </a:moveTo>
                <a:lnTo>
                  <a:pt x="1748370" y="1434109"/>
                </a:lnTo>
                <a:lnTo>
                  <a:pt x="1769061" y="1407974"/>
                </a:lnTo>
                <a:lnTo>
                  <a:pt x="1783994" y="1419796"/>
                </a:lnTo>
                <a:lnTo>
                  <a:pt x="1816914" y="1419796"/>
                </a:lnTo>
                <a:lnTo>
                  <a:pt x="1831759" y="145153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2436025" y="1519872"/>
            <a:ext cx="3964940" cy="2290445"/>
          </a:xfrm>
          <a:custGeom>
            <a:avLst/>
            <a:gdLst/>
            <a:ahLst/>
            <a:cxnLst/>
            <a:rect l="l" t="t" r="r" b="b"/>
            <a:pathLst>
              <a:path w="3964940" h="2290445">
                <a:moveTo>
                  <a:pt x="3896393" y="2256172"/>
                </a:moveTo>
                <a:lnTo>
                  <a:pt x="0" y="8254"/>
                </a:lnTo>
                <a:lnTo>
                  <a:pt x="4749" y="0"/>
                </a:lnTo>
                <a:lnTo>
                  <a:pt x="3901155" y="2247916"/>
                </a:lnTo>
                <a:lnTo>
                  <a:pt x="3896393" y="2256172"/>
                </a:lnTo>
                <a:close/>
              </a:path>
              <a:path w="3964940" h="2290445">
                <a:moveTo>
                  <a:pt x="3948630" y="2265692"/>
                </a:moveTo>
                <a:lnTo>
                  <a:pt x="3912895" y="2265692"/>
                </a:lnTo>
                <a:lnTo>
                  <a:pt x="3917657" y="2257437"/>
                </a:lnTo>
                <a:lnTo>
                  <a:pt x="3901155" y="2247916"/>
                </a:lnTo>
                <a:lnTo>
                  <a:pt x="3917810" y="2219045"/>
                </a:lnTo>
                <a:lnTo>
                  <a:pt x="3948630" y="2265692"/>
                </a:lnTo>
                <a:close/>
              </a:path>
              <a:path w="3964940" h="2290445">
                <a:moveTo>
                  <a:pt x="3912895" y="2265692"/>
                </a:moveTo>
                <a:lnTo>
                  <a:pt x="3896393" y="2256172"/>
                </a:lnTo>
                <a:lnTo>
                  <a:pt x="3901155" y="2247916"/>
                </a:lnTo>
                <a:lnTo>
                  <a:pt x="3917657" y="2257437"/>
                </a:lnTo>
                <a:lnTo>
                  <a:pt x="3912895" y="2265692"/>
                </a:lnTo>
                <a:close/>
              </a:path>
              <a:path w="3964940" h="2290445">
                <a:moveTo>
                  <a:pt x="3964774" y="2290127"/>
                </a:moveTo>
                <a:lnTo>
                  <a:pt x="3879735" y="2285047"/>
                </a:lnTo>
                <a:lnTo>
                  <a:pt x="3896393" y="2256172"/>
                </a:lnTo>
                <a:lnTo>
                  <a:pt x="3912895" y="2265692"/>
                </a:lnTo>
                <a:lnTo>
                  <a:pt x="3948630" y="2265692"/>
                </a:lnTo>
                <a:lnTo>
                  <a:pt x="3964774" y="229012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dirty="0"/>
              <a:t>58</a:t>
            </a:fld>
            <a:endParaRPr dirty="0"/>
          </a:p>
        </p:txBody>
      </p:sp>
      <p:sp>
        <p:nvSpPr>
          <p:cNvPr id="27" name="object 2">
            <a:extLst>
              <a:ext uri="{FF2B5EF4-FFF2-40B4-BE49-F238E27FC236}">
                <a16:creationId xmlns:a16="http://schemas.microsoft.com/office/drawing/2014/main" id="{FBA5F124-8D9A-54DC-9E15-902AF1EA3659}"/>
              </a:ext>
            </a:extLst>
          </p:cNvPr>
          <p:cNvSpPr txBox="1">
            <a:spLocks/>
          </p:cNvSpPr>
          <p:nvPr/>
        </p:nvSpPr>
        <p:spPr>
          <a:xfrm>
            <a:off x="3006491" y="799110"/>
            <a:ext cx="3204845" cy="631583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>
            <a:lvl1pPr>
              <a:defRPr sz="4400" b="0" i="0">
                <a:solidFill>
                  <a:schemeClr val="tx1"/>
                </a:solidFill>
                <a:latin typeface="Tahoma"/>
                <a:ea typeface="+mj-ea"/>
                <a:cs typeface="Tahoma"/>
              </a:defRPr>
            </a:lvl1pPr>
          </a:lstStyle>
          <a:p>
            <a:pPr marL="12700">
              <a:spcBef>
                <a:spcPts val="125"/>
              </a:spcBef>
            </a:pPr>
            <a:r>
              <a:rPr lang="en-US" sz="4000" kern="0" spc="-5" dirty="0"/>
              <a:t>The</a:t>
            </a:r>
            <a:r>
              <a:rPr lang="en-US" sz="4000" kern="0" spc="-600" dirty="0"/>
              <a:t> </a:t>
            </a:r>
            <a:r>
              <a:rPr lang="en-US" altLang="zh-CN" sz="4000" kern="0" dirty="0"/>
              <a:t>Tableau</a:t>
            </a:r>
            <a:endParaRPr lang="en-US" sz="4000" kern="0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095500" y="457200"/>
            <a:ext cx="4953000" cy="136768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3NF </a:t>
            </a:r>
            <a:r>
              <a:rPr spc="-10" dirty="0"/>
              <a:t>Synthesis</a:t>
            </a:r>
            <a:r>
              <a:rPr lang="zh-CN" altLang="en-US" spc="-10" dirty="0"/>
              <a:t>综合</a:t>
            </a:r>
            <a:r>
              <a:rPr spc="-60" dirty="0"/>
              <a:t> </a:t>
            </a:r>
            <a:r>
              <a:rPr spc="-5" dirty="0"/>
              <a:t>Algorithm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dirty="0"/>
              <a:t>59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535940" y="2012949"/>
            <a:ext cx="8109584" cy="3670877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622300" marR="5080" indent="-609600" algn="just">
              <a:lnSpc>
                <a:spcPct val="100000"/>
              </a:lnSpc>
              <a:spcBef>
                <a:spcPts val="105"/>
              </a:spcBef>
              <a:buClr>
                <a:srgbClr val="CC00CC"/>
              </a:buClr>
              <a:buFont typeface="Wingdings"/>
              <a:buChar char=""/>
              <a:tabLst>
                <a:tab pos="622300" algn="l"/>
              </a:tabLst>
            </a:pPr>
            <a:r>
              <a:rPr sz="3200" spc="-65" dirty="0">
                <a:latin typeface="Tahoma"/>
                <a:cs typeface="Tahoma"/>
              </a:rPr>
              <a:t>We </a:t>
            </a:r>
            <a:r>
              <a:rPr sz="3200" spc="-5" dirty="0">
                <a:latin typeface="Tahoma"/>
                <a:cs typeface="Tahoma"/>
              </a:rPr>
              <a:t>can </a:t>
            </a:r>
            <a:r>
              <a:rPr sz="3200" spc="-15" dirty="0">
                <a:latin typeface="Tahoma"/>
                <a:cs typeface="Tahoma"/>
              </a:rPr>
              <a:t>always </a:t>
            </a:r>
            <a:r>
              <a:rPr sz="3200" spc="-5" dirty="0">
                <a:latin typeface="Tahoma"/>
                <a:cs typeface="Tahoma"/>
              </a:rPr>
              <a:t>construct </a:t>
            </a:r>
            <a:r>
              <a:rPr sz="3200" dirty="0">
                <a:latin typeface="Tahoma"/>
                <a:cs typeface="Tahoma"/>
              </a:rPr>
              <a:t>a </a:t>
            </a:r>
            <a:r>
              <a:rPr sz="3200" spc="-5" dirty="0">
                <a:latin typeface="Tahoma"/>
                <a:cs typeface="Tahoma"/>
              </a:rPr>
              <a:t>decomposition  into 3NF relations with </a:t>
            </a:r>
            <a:r>
              <a:rPr sz="3200" dirty="0">
                <a:latin typeface="Tahoma"/>
                <a:cs typeface="Tahoma"/>
              </a:rPr>
              <a:t>a </a:t>
            </a:r>
            <a:r>
              <a:rPr sz="3200" spc="-5" dirty="0">
                <a:latin typeface="Tahoma"/>
                <a:cs typeface="Tahoma"/>
              </a:rPr>
              <a:t>lossless join and  dependency</a:t>
            </a:r>
            <a:r>
              <a:rPr sz="3200" spc="-10" dirty="0">
                <a:latin typeface="Tahoma"/>
                <a:cs typeface="Tahoma"/>
              </a:rPr>
              <a:t> preservation.</a:t>
            </a:r>
            <a:endParaRPr sz="3200" dirty="0">
              <a:latin typeface="Tahoma"/>
              <a:cs typeface="Tahoma"/>
            </a:endParaRPr>
          </a:p>
          <a:p>
            <a:pPr marL="622300" indent="-609600" algn="just">
              <a:lnSpc>
                <a:spcPct val="100000"/>
              </a:lnSpc>
              <a:spcBef>
                <a:spcPts val="615"/>
              </a:spcBef>
              <a:buClr>
                <a:srgbClr val="CC00CC"/>
              </a:buClr>
              <a:buFont typeface="Wingdings"/>
              <a:buChar char=""/>
              <a:tabLst>
                <a:tab pos="622300" algn="l"/>
              </a:tabLst>
            </a:pPr>
            <a:r>
              <a:rPr sz="3200" spc="-5" dirty="0">
                <a:latin typeface="Tahoma"/>
                <a:cs typeface="Tahoma"/>
              </a:rPr>
              <a:t>Need</a:t>
            </a:r>
            <a:r>
              <a:rPr lang="en-US" sz="3200" spc="-5" dirty="0">
                <a:latin typeface="Tahoma"/>
                <a:cs typeface="Tahoma"/>
              </a:rPr>
              <a:t> </a:t>
            </a:r>
            <a:r>
              <a:rPr lang="en-US" altLang="zh-CN" sz="3200" dirty="0">
                <a:effectLst/>
              </a:rPr>
              <a:t>minimal basis</a:t>
            </a:r>
            <a:r>
              <a:rPr sz="3200" spc="-5" dirty="0">
                <a:latin typeface="Tahoma"/>
                <a:cs typeface="Tahoma"/>
              </a:rPr>
              <a:t> </a:t>
            </a:r>
            <a:r>
              <a:rPr sz="3200" spc="-15" dirty="0">
                <a:latin typeface="Tahoma"/>
                <a:cs typeface="Tahoma"/>
              </a:rPr>
              <a:t>for </a:t>
            </a:r>
            <a:r>
              <a:rPr sz="3200" spc="-5" dirty="0">
                <a:latin typeface="Tahoma"/>
                <a:cs typeface="Tahoma"/>
              </a:rPr>
              <a:t>the</a:t>
            </a:r>
            <a:r>
              <a:rPr sz="3200" spc="-455" dirty="0">
                <a:latin typeface="Tahoma"/>
                <a:cs typeface="Tahoma"/>
              </a:rPr>
              <a:t> </a:t>
            </a:r>
            <a:r>
              <a:rPr sz="3200" spc="-25" dirty="0">
                <a:latin typeface="Tahoma"/>
                <a:cs typeface="Tahoma"/>
              </a:rPr>
              <a:t>FD’s:</a:t>
            </a:r>
            <a:endParaRPr sz="3200" dirty="0">
              <a:latin typeface="Tahoma"/>
              <a:cs typeface="Tahoma"/>
            </a:endParaRPr>
          </a:p>
          <a:p>
            <a:pPr marL="1003300" lvl="1" indent="-533400">
              <a:lnSpc>
                <a:spcPct val="100000"/>
              </a:lnSpc>
              <a:spcBef>
                <a:spcPts val="640"/>
              </a:spcBef>
              <a:buClr>
                <a:srgbClr val="CC00CC"/>
              </a:buClr>
              <a:buAutoNum type="arabicPeriod"/>
              <a:tabLst>
                <a:tab pos="1002665" algn="l"/>
                <a:tab pos="1003300" algn="l"/>
              </a:tabLst>
            </a:pPr>
            <a:r>
              <a:rPr sz="2800" spc="-5" dirty="0">
                <a:latin typeface="Tahoma"/>
                <a:cs typeface="Tahoma"/>
              </a:rPr>
              <a:t>Right sides </a:t>
            </a:r>
            <a:r>
              <a:rPr sz="2800" spc="-10" dirty="0">
                <a:latin typeface="Tahoma"/>
                <a:cs typeface="Tahoma"/>
              </a:rPr>
              <a:t>are </a:t>
            </a:r>
            <a:r>
              <a:rPr sz="2800" spc="-5" dirty="0">
                <a:latin typeface="Tahoma"/>
                <a:cs typeface="Tahoma"/>
              </a:rPr>
              <a:t>single</a:t>
            </a:r>
            <a:r>
              <a:rPr sz="2800" spc="15" dirty="0">
                <a:latin typeface="Tahoma"/>
                <a:cs typeface="Tahoma"/>
              </a:rPr>
              <a:t> </a:t>
            </a:r>
            <a:r>
              <a:rPr sz="2800" spc="-5" dirty="0">
                <a:latin typeface="Tahoma"/>
                <a:cs typeface="Tahoma"/>
              </a:rPr>
              <a:t>attributes.</a:t>
            </a:r>
            <a:endParaRPr sz="2800" dirty="0">
              <a:latin typeface="Tahoma"/>
              <a:cs typeface="Tahoma"/>
            </a:endParaRPr>
          </a:p>
          <a:p>
            <a:pPr marL="1003300" lvl="1" indent="-533400">
              <a:lnSpc>
                <a:spcPct val="100000"/>
              </a:lnSpc>
              <a:spcBef>
                <a:spcPts val="670"/>
              </a:spcBef>
              <a:buClr>
                <a:srgbClr val="CC00CC"/>
              </a:buClr>
              <a:buAutoNum type="arabicPeriod"/>
              <a:tabLst>
                <a:tab pos="1002665" algn="l"/>
                <a:tab pos="1003300" algn="l"/>
              </a:tabLst>
            </a:pPr>
            <a:r>
              <a:rPr sz="2800" spc="-5" dirty="0">
                <a:latin typeface="Tahoma"/>
                <a:cs typeface="Tahoma"/>
              </a:rPr>
              <a:t>No FD can be</a:t>
            </a:r>
            <a:r>
              <a:rPr sz="2800" spc="5" dirty="0">
                <a:latin typeface="Tahoma"/>
                <a:cs typeface="Tahoma"/>
              </a:rPr>
              <a:t> </a:t>
            </a:r>
            <a:r>
              <a:rPr sz="2800" spc="-10" dirty="0">
                <a:latin typeface="Tahoma"/>
                <a:cs typeface="Tahoma"/>
              </a:rPr>
              <a:t>removed.</a:t>
            </a:r>
            <a:endParaRPr sz="2800" dirty="0">
              <a:latin typeface="Tahoma"/>
              <a:cs typeface="Tahoma"/>
            </a:endParaRPr>
          </a:p>
          <a:p>
            <a:pPr marL="1003300" lvl="1" indent="-533400">
              <a:lnSpc>
                <a:spcPct val="100000"/>
              </a:lnSpc>
              <a:spcBef>
                <a:spcPts val="670"/>
              </a:spcBef>
              <a:buClr>
                <a:srgbClr val="CC00CC"/>
              </a:buClr>
              <a:buAutoNum type="arabicPeriod"/>
              <a:tabLst>
                <a:tab pos="1002665" algn="l"/>
                <a:tab pos="1003300" algn="l"/>
              </a:tabLst>
            </a:pPr>
            <a:r>
              <a:rPr sz="2800" spc="-5" dirty="0">
                <a:latin typeface="Tahoma"/>
                <a:cs typeface="Tahoma"/>
              </a:rPr>
              <a:t>No attribute can be </a:t>
            </a:r>
            <a:r>
              <a:rPr sz="2800" spc="-15" dirty="0">
                <a:latin typeface="Tahoma"/>
                <a:cs typeface="Tahoma"/>
              </a:rPr>
              <a:t>removed from </a:t>
            </a:r>
            <a:r>
              <a:rPr sz="2800" spc="-5" dirty="0">
                <a:latin typeface="Tahoma"/>
                <a:cs typeface="Tahoma"/>
              </a:rPr>
              <a:t>a left</a:t>
            </a:r>
            <a:r>
              <a:rPr sz="2800" spc="65" dirty="0">
                <a:latin typeface="Tahoma"/>
                <a:cs typeface="Tahoma"/>
              </a:rPr>
              <a:t> </a:t>
            </a:r>
            <a:r>
              <a:rPr sz="2800" spc="-5" dirty="0">
                <a:latin typeface="Tahoma"/>
                <a:cs typeface="Tahoma"/>
              </a:rPr>
              <a:t>side.</a:t>
            </a:r>
            <a:endParaRPr sz="2800" dirty="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33780" y="829944"/>
            <a:ext cx="707644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Constructing </a:t>
            </a:r>
            <a:r>
              <a:rPr dirty="0"/>
              <a:t>a </a:t>
            </a:r>
            <a:r>
              <a:rPr spc="-5" dirty="0"/>
              <a:t>Minimal</a:t>
            </a:r>
            <a:r>
              <a:rPr spc="-45" dirty="0"/>
              <a:t> </a:t>
            </a:r>
            <a:r>
              <a:rPr dirty="0"/>
              <a:t>Basis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dirty="0"/>
              <a:t>60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764540" y="1916556"/>
            <a:ext cx="7597775" cy="3730625"/>
          </a:xfrm>
          <a:prstGeom prst="rect">
            <a:avLst/>
          </a:prstGeom>
        </p:spPr>
        <p:txBody>
          <a:bodyPr vert="horz" wrap="square" lIns="0" tIns="109855" rIns="0" bIns="0" rtlCol="0">
            <a:spAutoFit/>
          </a:bodyPr>
          <a:lstStyle/>
          <a:p>
            <a:pPr marL="622300" indent="-609600">
              <a:lnSpc>
                <a:spcPct val="100000"/>
              </a:lnSpc>
              <a:spcBef>
                <a:spcPts val="865"/>
              </a:spcBef>
              <a:buClr>
                <a:srgbClr val="CC00CC"/>
              </a:buClr>
              <a:buAutoNum type="arabicPeriod"/>
              <a:tabLst>
                <a:tab pos="621665" algn="l"/>
                <a:tab pos="622300" algn="l"/>
              </a:tabLst>
            </a:pPr>
            <a:r>
              <a:rPr sz="3200" spc="-5" dirty="0">
                <a:latin typeface="Tahoma"/>
                <a:cs typeface="Tahoma"/>
              </a:rPr>
              <a:t>Split right</a:t>
            </a:r>
            <a:r>
              <a:rPr sz="3200" spc="-10" dirty="0">
                <a:latin typeface="Tahoma"/>
                <a:cs typeface="Tahoma"/>
              </a:rPr>
              <a:t> </a:t>
            </a:r>
            <a:r>
              <a:rPr sz="3200" spc="-5" dirty="0">
                <a:latin typeface="Tahoma"/>
                <a:cs typeface="Tahoma"/>
              </a:rPr>
              <a:t>sides.</a:t>
            </a:r>
            <a:endParaRPr sz="3200" dirty="0">
              <a:latin typeface="Tahoma"/>
              <a:cs typeface="Tahoma"/>
            </a:endParaRPr>
          </a:p>
          <a:p>
            <a:pPr marL="622300" marR="458470" indent="-609600">
              <a:lnSpc>
                <a:spcPct val="100000"/>
              </a:lnSpc>
              <a:spcBef>
                <a:spcPts val="765"/>
              </a:spcBef>
              <a:buClr>
                <a:srgbClr val="CC00CC"/>
              </a:buClr>
              <a:buAutoNum type="arabicPeriod"/>
              <a:tabLst>
                <a:tab pos="621665" algn="l"/>
                <a:tab pos="622300" algn="l"/>
              </a:tabLst>
            </a:pPr>
            <a:r>
              <a:rPr sz="3200" spc="-10" dirty="0">
                <a:latin typeface="Tahoma"/>
                <a:cs typeface="Tahoma"/>
              </a:rPr>
              <a:t>Repeatedly </a:t>
            </a:r>
            <a:r>
              <a:rPr sz="3200" dirty="0">
                <a:latin typeface="Tahoma"/>
                <a:cs typeface="Tahoma"/>
              </a:rPr>
              <a:t>try </a:t>
            </a:r>
            <a:r>
              <a:rPr sz="3200" spc="-5" dirty="0">
                <a:latin typeface="Tahoma"/>
                <a:cs typeface="Tahoma"/>
              </a:rPr>
              <a:t>to </a:t>
            </a:r>
            <a:r>
              <a:rPr sz="3200" spc="-15" dirty="0">
                <a:latin typeface="Tahoma"/>
                <a:cs typeface="Tahoma"/>
              </a:rPr>
              <a:t>remove </a:t>
            </a:r>
            <a:r>
              <a:rPr sz="3200" dirty="0">
                <a:latin typeface="Tahoma"/>
                <a:cs typeface="Tahoma"/>
              </a:rPr>
              <a:t>an FD </a:t>
            </a:r>
            <a:r>
              <a:rPr sz="3200" spc="-5" dirty="0">
                <a:latin typeface="Tahoma"/>
                <a:cs typeface="Tahoma"/>
              </a:rPr>
              <a:t>and  see </a:t>
            </a:r>
            <a:r>
              <a:rPr sz="3200" dirty="0">
                <a:latin typeface="Tahoma"/>
                <a:cs typeface="Tahoma"/>
              </a:rPr>
              <a:t>if </a:t>
            </a:r>
            <a:r>
              <a:rPr sz="3200" spc="-5" dirty="0">
                <a:latin typeface="Tahoma"/>
                <a:cs typeface="Tahoma"/>
              </a:rPr>
              <a:t>the remaining </a:t>
            </a:r>
            <a:r>
              <a:rPr sz="3200" spc="-30" dirty="0">
                <a:latin typeface="Tahoma"/>
                <a:cs typeface="Tahoma"/>
              </a:rPr>
              <a:t>FD’s </a:t>
            </a:r>
            <a:r>
              <a:rPr sz="3200" spc="-10" dirty="0">
                <a:latin typeface="Tahoma"/>
                <a:cs typeface="Tahoma"/>
              </a:rPr>
              <a:t>are  equivalent </a:t>
            </a:r>
            <a:r>
              <a:rPr sz="3200" spc="-5" dirty="0">
                <a:latin typeface="Tahoma"/>
                <a:cs typeface="Tahoma"/>
              </a:rPr>
              <a:t>to the</a:t>
            </a:r>
            <a:r>
              <a:rPr sz="3200" spc="-10" dirty="0">
                <a:latin typeface="Tahoma"/>
                <a:cs typeface="Tahoma"/>
              </a:rPr>
              <a:t> </a:t>
            </a:r>
            <a:r>
              <a:rPr sz="3200" spc="-5" dirty="0">
                <a:latin typeface="Tahoma"/>
                <a:cs typeface="Tahoma"/>
              </a:rPr>
              <a:t>original.</a:t>
            </a:r>
            <a:endParaRPr sz="3200" dirty="0">
              <a:latin typeface="Tahoma"/>
              <a:cs typeface="Tahoma"/>
            </a:endParaRPr>
          </a:p>
          <a:p>
            <a:pPr marL="622300" marR="5080" indent="-609600">
              <a:lnSpc>
                <a:spcPct val="100000"/>
              </a:lnSpc>
              <a:spcBef>
                <a:spcPts val="765"/>
              </a:spcBef>
              <a:buClr>
                <a:srgbClr val="CC00CC"/>
              </a:buClr>
              <a:buAutoNum type="arabicPeriod"/>
              <a:tabLst>
                <a:tab pos="621665" algn="l"/>
                <a:tab pos="622300" algn="l"/>
              </a:tabLst>
            </a:pPr>
            <a:r>
              <a:rPr sz="3200" spc="-10" dirty="0">
                <a:latin typeface="Tahoma"/>
                <a:cs typeface="Tahoma"/>
              </a:rPr>
              <a:t>Repeatedly </a:t>
            </a:r>
            <a:r>
              <a:rPr sz="3200" dirty="0">
                <a:latin typeface="Tahoma"/>
                <a:cs typeface="Tahoma"/>
              </a:rPr>
              <a:t>try </a:t>
            </a:r>
            <a:r>
              <a:rPr sz="3200" spc="-5" dirty="0">
                <a:latin typeface="Tahoma"/>
                <a:cs typeface="Tahoma"/>
              </a:rPr>
              <a:t>to </a:t>
            </a:r>
            <a:r>
              <a:rPr sz="3200" spc="-15" dirty="0">
                <a:latin typeface="Tahoma"/>
                <a:cs typeface="Tahoma"/>
              </a:rPr>
              <a:t>remove </a:t>
            </a:r>
            <a:r>
              <a:rPr sz="3200" dirty="0">
                <a:latin typeface="Tahoma"/>
                <a:cs typeface="Tahoma"/>
              </a:rPr>
              <a:t>an </a:t>
            </a:r>
            <a:r>
              <a:rPr sz="3200" spc="-5" dirty="0">
                <a:latin typeface="Tahoma"/>
                <a:cs typeface="Tahoma"/>
              </a:rPr>
              <a:t>attribute  </a:t>
            </a:r>
            <a:r>
              <a:rPr sz="3200" spc="-10" dirty="0">
                <a:latin typeface="Tahoma"/>
                <a:cs typeface="Tahoma"/>
              </a:rPr>
              <a:t>from </a:t>
            </a:r>
            <a:r>
              <a:rPr sz="3200" dirty="0">
                <a:latin typeface="Tahoma"/>
                <a:cs typeface="Tahoma"/>
              </a:rPr>
              <a:t>a </a:t>
            </a:r>
            <a:r>
              <a:rPr sz="3200" spc="-5" dirty="0">
                <a:latin typeface="Tahoma"/>
                <a:cs typeface="Tahoma"/>
              </a:rPr>
              <a:t>left side and see </a:t>
            </a:r>
            <a:r>
              <a:rPr sz="3200" dirty="0">
                <a:latin typeface="Tahoma"/>
                <a:cs typeface="Tahoma"/>
              </a:rPr>
              <a:t>if </a:t>
            </a:r>
            <a:r>
              <a:rPr sz="3200" spc="-5" dirty="0">
                <a:latin typeface="Tahoma"/>
                <a:cs typeface="Tahoma"/>
              </a:rPr>
              <a:t>the resulting  </a:t>
            </a:r>
            <a:r>
              <a:rPr sz="3200" spc="-30" dirty="0">
                <a:latin typeface="Tahoma"/>
                <a:cs typeface="Tahoma"/>
              </a:rPr>
              <a:t>FD’s </a:t>
            </a:r>
            <a:r>
              <a:rPr sz="3200" spc="-10" dirty="0">
                <a:latin typeface="Tahoma"/>
                <a:cs typeface="Tahoma"/>
              </a:rPr>
              <a:t>are equivalent </a:t>
            </a:r>
            <a:r>
              <a:rPr sz="3200" spc="-5" dirty="0">
                <a:latin typeface="Tahoma"/>
                <a:cs typeface="Tahoma"/>
              </a:rPr>
              <a:t>to the</a:t>
            </a:r>
            <a:r>
              <a:rPr sz="3200" spc="20" dirty="0">
                <a:latin typeface="Tahoma"/>
                <a:cs typeface="Tahoma"/>
              </a:rPr>
              <a:t> </a:t>
            </a:r>
            <a:r>
              <a:rPr sz="3200" spc="-5" dirty="0">
                <a:latin typeface="Tahoma"/>
                <a:cs typeface="Tahoma"/>
              </a:rPr>
              <a:t>original.</a:t>
            </a:r>
            <a:endParaRPr sz="3200" dirty="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138045" y="829944"/>
            <a:ext cx="486854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3NF </a:t>
            </a:r>
            <a:r>
              <a:rPr spc="-10" dirty="0"/>
              <a:t>Synthesis </a:t>
            </a:r>
            <a:r>
              <a:rPr dirty="0"/>
              <a:t>–</a:t>
            </a:r>
            <a:r>
              <a:rPr spc="-70" dirty="0"/>
              <a:t> </a:t>
            </a:r>
            <a:r>
              <a:rPr spc="-5" dirty="0"/>
              <a:t>(2)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dirty="0"/>
              <a:t>61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764540" y="2012949"/>
            <a:ext cx="7538084" cy="350075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38735" indent="-342900">
              <a:lnSpc>
                <a:spcPct val="100000"/>
              </a:lnSpc>
              <a:spcBef>
                <a:spcPts val="105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spc="-5" dirty="0">
                <a:latin typeface="Tahoma"/>
                <a:cs typeface="Tahoma"/>
              </a:rPr>
              <a:t>One relation </a:t>
            </a:r>
            <a:r>
              <a:rPr sz="3200" spc="-15" dirty="0">
                <a:latin typeface="Tahoma"/>
                <a:cs typeface="Tahoma"/>
              </a:rPr>
              <a:t>for </a:t>
            </a:r>
            <a:r>
              <a:rPr sz="3200" spc="-5" dirty="0">
                <a:latin typeface="Tahoma"/>
                <a:cs typeface="Tahoma"/>
              </a:rPr>
              <a:t>each </a:t>
            </a:r>
            <a:r>
              <a:rPr sz="3200" dirty="0">
                <a:latin typeface="Tahoma"/>
                <a:cs typeface="Tahoma"/>
              </a:rPr>
              <a:t>FD </a:t>
            </a:r>
            <a:r>
              <a:rPr sz="3200" spc="-5" dirty="0">
                <a:latin typeface="Tahoma"/>
                <a:cs typeface="Tahoma"/>
              </a:rPr>
              <a:t>in the minimal  basis.</a:t>
            </a:r>
            <a:endParaRPr sz="3200" dirty="0">
              <a:latin typeface="Tahoma"/>
              <a:cs typeface="Tahoma"/>
            </a:endParaRPr>
          </a:p>
          <a:p>
            <a:pPr marL="755650" marR="423545" lvl="1" indent="-285750">
              <a:lnSpc>
                <a:spcPct val="100000"/>
              </a:lnSpc>
              <a:spcBef>
                <a:spcPts val="670"/>
              </a:spcBef>
              <a:buClr>
                <a:srgbClr val="CC00CC"/>
              </a:buClr>
              <a:buFont typeface="Wingdings"/>
              <a:buChar char=""/>
              <a:tabLst>
                <a:tab pos="755650" algn="l"/>
              </a:tabLst>
            </a:pPr>
            <a:r>
              <a:rPr sz="2800" spc="-5" dirty="0">
                <a:latin typeface="Tahoma"/>
                <a:cs typeface="Tahoma"/>
              </a:rPr>
              <a:t>Schema is the union of the left and right  sides.</a:t>
            </a:r>
            <a:endParaRPr sz="2800" dirty="0">
              <a:latin typeface="Tahoma"/>
              <a:cs typeface="Tahoma"/>
            </a:endParaRPr>
          </a:p>
          <a:p>
            <a:pPr marL="355600" marR="5080" indent="-342900">
              <a:lnSpc>
                <a:spcPct val="100000"/>
              </a:lnSpc>
              <a:spcBef>
                <a:spcPts val="765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spc="-5" dirty="0">
                <a:latin typeface="Tahoma"/>
                <a:cs typeface="Tahoma"/>
              </a:rPr>
              <a:t>If </a:t>
            </a:r>
            <a:r>
              <a:rPr sz="3200" dirty="0">
                <a:latin typeface="Tahoma"/>
                <a:cs typeface="Tahoma"/>
              </a:rPr>
              <a:t>no </a:t>
            </a:r>
            <a:r>
              <a:rPr sz="3200" spc="-15" dirty="0">
                <a:latin typeface="Tahoma"/>
                <a:cs typeface="Tahoma"/>
              </a:rPr>
              <a:t>key </a:t>
            </a:r>
            <a:r>
              <a:rPr sz="3200" spc="-5" dirty="0">
                <a:latin typeface="Tahoma"/>
                <a:cs typeface="Tahoma"/>
              </a:rPr>
              <a:t>is contained in </a:t>
            </a:r>
            <a:r>
              <a:rPr sz="3200" dirty="0">
                <a:latin typeface="Tahoma"/>
                <a:cs typeface="Tahoma"/>
              </a:rPr>
              <a:t>an </a:t>
            </a:r>
            <a:r>
              <a:rPr sz="3200" spc="-30" dirty="0">
                <a:latin typeface="Tahoma"/>
                <a:cs typeface="Tahoma"/>
              </a:rPr>
              <a:t>FD, </a:t>
            </a:r>
            <a:r>
              <a:rPr sz="3200" spc="-5" dirty="0">
                <a:latin typeface="Tahoma"/>
                <a:cs typeface="Tahoma"/>
              </a:rPr>
              <a:t>then  add one relation whose schema is some  </a:t>
            </a:r>
            <a:r>
              <a:rPr sz="3200" spc="-85" dirty="0">
                <a:latin typeface="Tahoma"/>
                <a:cs typeface="Tahoma"/>
              </a:rPr>
              <a:t>key.</a:t>
            </a:r>
            <a:endParaRPr sz="3200" dirty="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603375" y="829944"/>
            <a:ext cx="593725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>
                <a:solidFill>
                  <a:srgbClr val="33CC33"/>
                </a:solidFill>
              </a:rPr>
              <a:t>Example</a:t>
            </a:r>
            <a:r>
              <a:rPr spc="-5" dirty="0"/>
              <a:t>: 3NF</a:t>
            </a:r>
            <a:r>
              <a:rPr spc="-65" dirty="0"/>
              <a:t> </a:t>
            </a:r>
            <a:r>
              <a:rPr spc="-10" dirty="0"/>
              <a:t>Synthesis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dirty="0"/>
              <a:t>62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764540" y="1940507"/>
            <a:ext cx="6887845" cy="2244090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414655" indent="-402590">
              <a:lnSpc>
                <a:spcPct val="100000"/>
              </a:lnSpc>
              <a:spcBef>
                <a:spcPts val="675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spc="-10" dirty="0">
                <a:latin typeface="Tahoma"/>
                <a:cs typeface="Tahoma"/>
              </a:rPr>
              <a:t>Relation </a:t>
            </a:r>
            <a:r>
              <a:rPr sz="3200" dirty="0">
                <a:latin typeface="Tahoma"/>
                <a:cs typeface="Tahoma"/>
              </a:rPr>
              <a:t>R =</a:t>
            </a:r>
            <a:r>
              <a:rPr sz="3200" spc="-15" dirty="0">
                <a:latin typeface="Tahoma"/>
                <a:cs typeface="Tahoma"/>
              </a:rPr>
              <a:t> ABCD.</a:t>
            </a:r>
            <a:endParaRPr sz="3200" dirty="0">
              <a:latin typeface="Tahoma"/>
              <a:cs typeface="Tahoma"/>
            </a:endParaRPr>
          </a:p>
          <a:p>
            <a:pPr marL="414655" indent="-402590">
              <a:lnSpc>
                <a:spcPct val="100000"/>
              </a:lnSpc>
              <a:spcBef>
                <a:spcPts val="615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spc="-30" dirty="0">
                <a:latin typeface="Tahoma"/>
                <a:cs typeface="Tahoma"/>
              </a:rPr>
              <a:t>FD’s </a:t>
            </a:r>
            <a:r>
              <a:rPr sz="3350" i="1" spc="-355" dirty="0">
                <a:solidFill>
                  <a:srgbClr val="00CC99"/>
                </a:solidFill>
                <a:latin typeface="Tahoma"/>
                <a:cs typeface="Tahoma"/>
              </a:rPr>
              <a:t>A</a:t>
            </a:r>
            <a:r>
              <a:rPr sz="3200" spc="-355" dirty="0">
                <a:solidFill>
                  <a:srgbClr val="00CC99"/>
                </a:solidFill>
                <a:latin typeface="Tahoma"/>
                <a:cs typeface="Tahoma"/>
              </a:rPr>
              <a:t>-&gt;</a:t>
            </a:r>
            <a:r>
              <a:rPr sz="3350" i="1" spc="-355" dirty="0">
                <a:solidFill>
                  <a:srgbClr val="00CC99"/>
                </a:solidFill>
                <a:latin typeface="Tahoma"/>
                <a:cs typeface="Tahoma"/>
              </a:rPr>
              <a:t>B </a:t>
            </a:r>
            <a:r>
              <a:rPr sz="3200" spc="-5" dirty="0">
                <a:latin typeface="Tahoma"/>
                <a:cs typeface="Tahoma"/>
              </a:rPr>
              <a:t>and</a:t>
            </a:r>
            <a:r>
              <a:rPr sz="3200" spc="-135" dirty="0">
                <a:latin typeface="Tahoma"/>
                <a:cs typeface="Tahoma"/>
              </a:rPr>
              <a:t> </a:t>
            </a:r>
            <a:r>
              <a:rPr sz="3350" i="1" spc="-490" dirty="0">
                <a:solidFill>
                  <a:srgbClr val="00CC99"/>
                </a:solidFill>
                <a:latin typeface="Tahoma"/>
                <a:cs typeface="Tahoma"/>
              </a:rPr>
              <a:t>A</a:t>
            </a:r>
            <a:r>
              <a:rPr sz="3200" spc="-490" dirty="0">
                <a:solidFill>
                  <a:srgbClr val="00CC99"/>
                </a:solidFill>
                <a:latin typeface="Tahoma"/>
                <a:cs typeface="Tahoma"/>
              </a:rPr>
              <a:t>-&gt;</a:t>
            </a:r>
            <a:r>
              <a:rPr sz="3350" i="1" spc="-490" dirty="0">
                <a:solidFill>
                  <a:srgbClr val="00CC99"/>
                </a:solidFill>
                <a:latin typeface="Tahoma"/>
                <a:cs typeface="Tahoma"/>
              </a:rPr>
              <a:t>C</a:t>
            </a:r>
            <a:r>
              <a:rPr sz="3200" spc="-490" dirty="0">
                <a:latin typeface="Tahoma"/>
                <a:cs typeface="Tahoma"/>
              </a:rPr>
              <a:t>.</a:t>
            </a:r>
            <a:endParaRPr sz="3200" dirty="0">
              <a:latin typeface="Tahoma"/>
              <a:cs typeface="Tahoma"/>
            </a:endParaRPr>
          </a:p>
          <a:p>
            <a:pPr marL="355600" marR="5080" indent="-342900">
              <a:lnSpc>
                <a:spcPct val="100000"/>
              </a:lnSpc>
              <a:spcBef>
                <a:spcPts val="735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spc="-5" dirty="0">
                <a:solidFill>
                  <a:srgbClr val="3366FF"/>
                </a:solidFill>
                <a:latin typeface="Tahoma"/>
                <a:cs typeface="Tahoma"/>
              </a:rPr>
              <a:t>Decomposition</a:t>
            </a:r>
            <a:r>
              <a:rPr sz="3200" spc="-5" dirty="0">
                <a:latin typeface="Tahoma"/>
                <a:cs typeface="Tahoma"/>
              </a:rPr>
              <a:t>: </a:t>
            </a:r>
            <a:r>
              <a:rPr sz="3200" dirty="0">
                <a:latin typeface="Tahoma"/>
                <a:cs typeface="Tahoma"/>
              </a:rPr>
              <a:t>AB </a:t>
            </a:r>
            <a:r>
              <a:rPr sz="3200" spc="-5" dirty="0">
                <a:latin typeface="Tahoma"/>
                <a:cs typeface="Tahoma"/>
              </a:rPr>
              <a:t>and </a:t>
            </a:r>
            <a:r>
              <a:rPr sz="3200" dirty="0">
                <a:latin typeface="Tahoma"/>
                <a:cs typeface="Tahoma"/>
              </a:rPr>
              <a:t>AC </a:t>
            </a:r>
            <a:r>
              <a:rPr sz="3200" spc="-10" dirty="0">
                <a:latin typeface="Tahoma"/>
                <a:cs typeface="Tahoma"/>
              </a:rPr>
              <a:t>from </a:t>
            </a:r>
            <a:r>
              <a:rPr sz="3200" spc="-5" dirty="0">
                <a:latin typeface="Tahoma"/>
                <a:cs typeface="Tahoma"/>
              </a:rPr>
              <a:t>the  </a:t>
            </a:r>
            <a:r>
              <a:rPr sz="3200" spc="-25" dirty="0">
                <a:latin typeface="Tahoma"/>
                <a:cs typeface="Tahoma"/>
              </a:rPr>
              <a:t>FD’s, </a:t>
            </a:r>
            <a:r>
              <a:rPr sz="3200" spc="-5" dirty="0">
                <a:latin typeface="Tahoma"/>
                <a:cs typeface="Tahoma"/>
              </a:rPr>
              <a:t>plus </a:t>
            </a:r>
            <a:r>
              <a:rPr sz="3200" dirty="0">
                <a:latin typeface="Tahoma"/>
                <a:cs typeface="Tahoma"/>
              </a:rPr>
              <a:t>AD </a:t>
            </a:r>
            <a:r>
              <a:rPr sz="3200" spc="-15" dirty="0">
                <a:latin typeface="Tahoma"/>
                <a:cs typeface="Tahoma"/>
              </a:rPr>
              <a:t>for </a:t>
            </a:r>
            <a:r>
              <a:rPr sz="3200" dirty="0">
                <a:latin typeface="Tahoma"/>
                <a:cs typeface="Tahoma"/>
              </a:rPr>
              <a:t>a</a:t>
            </a:r>
            <a:r>
              <a:rPr sz="3200" spc="10" dirty="0">
                <a:latin typeface="Tahoma"/>
                <a:cs typeface="Tahoma"/>
              </a:rPr>
              <a:t> </a:t>
            </a:r>
            <a:r>
              <a:rPr sz="3200" spc="-85" dirty="0">
                <a:latin typeface="Tahoma"/>
                <a:cs typeface="Tahoma"/>
              </a:rPr>
              <a:t>key.</a:t>
            </a:r>
            <a:endParaRPr sz="3200" dirty="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884804" y="448944"/>
            <a:ext cx="337502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5" dirty="0"/>
              <a:t>Why </a:t>
            </a:r>
            <a:r>
              <a:rPr spc="-5" dirty="0"/>
              <a:t>It</a:t>
            </a:r>
            <a:r>
              <a:rPr spc="-75" dirty="0"/>
              <a:t> </a:t>
            </a:r>
            <a:r>
              <a:rPr spc="-35" dirty="0"/>
              <a:t>Works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dirty="0"/>
              <a:t>63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764540" y="1708149"/>
            <a:ext cx="7406005" cy="461010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105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spc="-10" dirty="0">
                <a:solidFill>
                  <a:srgbClr val="FF9900"/>
                </a:solidFill>
                <a:latin typeface="Tahoma"/>
                <a:cs typeface="Tahoma"/>
              </a:rPr>
              <a:t>Preserves</a:t>
            </a:r>
            <a:r>
              <a:rPr lang="zh-CN" altLang="en-US" sz="3200" spc="-10" dirty="0">
                <a:solidFill>
                  <a:srgbClr val="FF9900"/>
                </a:solidFill>
                <a:latin typeface="Tahoma"/>
                <a:cs typeface="Tahoma"/>
              </a:rPr>
              <a:t>保留</a:t>
            </a:r>
            <a:r>
              <a:rPr sz="3200" spc="-5" dirty="0">
                <a:solidFill>
                  <a:srgbClr val="FF9900"/>
                </a:solidFill>
                <a:latin typeface="Tahoma"/>
                <a:cs typeface="Tahoma"/>
              </a:rPr>
              <a:t>dependencies</a:t>
            </a:r>
            <a:r>
              <a:rPr sz="3200" spc="-5" dirty="0">
                <a:latin typeface="Tahoma"/>
                <a:cs typeface="Tahoma"/>
              </a:rPr>
              <a:t>: each </a:t>
            </a:r>
            <a:r>
              <a:rPr sz="3200" dirty="0">
                <a:latin typeface="Tahoma"/>
                <a:cs typeface="Tahoma"/>
              </a:rPr>
              <a:t>FD </a:t>
            </a:r>
            <a:r>
              <a:rPr sz="3200" spc="-10" dirty="0">
                <a:latin typeface="Tahoma"/>
                <a:cs typeface="Tahoma"/>
              </a:rPr>
              <a:t>from </a:t>
            </a:r>
            <a:r>
              <a:rPr sz="3200" dirty="0">
                <a:latin typeface="Tahoma"/>
                <a:cs typeface="Tahoma"/>
              </a:rPr>
              <a:t>a </a:t>
            </a:r>
            <a:r>
              <a:rPr sz="3200" spc="-5" dirty="0">
                <a:latin typeface="Tahoma"/>
                <a:cs typeface="Tahoma"/>
              </a:rPr>
              <a:t>minimal basis is contained in </a:t>
            </a:r>
            <a:r>
              <a:rPr sz="3200" dirty="0">
                <a:latin typeface="Tahoma"/>
                <a:cs typeface="Tahoma"/>
              </a:rPr>
              <a:t>a  </a:t>
            </a:r>
            <a:r>
              <a:rPr sz="3200" spc="-5" dirty="0">
                <a:latin typeface="Tahoma"/>
                <a:cs typeface="Tahoma"/>
              </a:rPr>
              <a:t>relation, thus</a:t>
            </a:r>
            <a:r>
              <a:rPr sz="3200" spc="-10" dirty="0">
                <a:latin typeface="Tahoma"/>
                <a:cs typeface="Tahoma"/>
              </a:rPr>
              <a:t> preserved.</a:t>
            </a:r>
            <a:endParaRPr sz="3200" dirty="0">
              <a:latin typeface="Tahoma"/>
              <a:cs typeface="Tahoma"/>
            </a:endParaRPr>
          </a:p>
          <a:p>
            <a:pPr marL="355600" marR="402590" indent="-342900">
              <a:lnSpc>
                <a:spcPct val="100000"/>
              </a:lnSpc>
              <a:spcBef>
                <a:spcPts val="765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spc="-5" dirty="0">
                <a:solidFill>
                  <a:srgbClr val="FF9900"/>
                </a:solidFill>
                <a:latin typeface="Tahoma"/>
                <a:cs typeface="Tahoma"/>
              </a:rPr>
              <a:t>Lossless Join</a:t>
            </a:r>
            <a:r>
              <a:rPr sz="3200" spc="-5" dirty="0">
                <a:latin typeface="Tahoma"/>
                <a:cs typeface="Tahoma"/>
              </a:rPr>
              <a:t>: use the chase to show  that the </a:t>
            </a:r>
            <a:r>
              <a:rPr sz="3200" spc="-10" dirty="0">
                <a:latin typeface="Tahoma"/>
                <a:cs typeface="Tahoma"/>
              </a:rPr>
              <a:t>row </a:t>
            </a:r>
            <a:r>
              <a:rPr sz="3200" spc="-15" dirty="0">
                <a:latin typeface="Tahoma"/>
                <a:cs typeface="Tahoma"/>
              </a:rPr>
              <a:t>for </a:t>
            </a:r>
            <a:r>
              <a:rPr sz="3200" spc="-5" dirty="0">
                <a:latin typeface="Tahoma"/>
                <a:cs typeface="Tahoma"/>
              </a:rPr>
              <a:t>the relation that  contains </a:t>
            </a:r>
            <a:r>
              <a:rPr sz="3200" dirty="0">
                <a:latin typeface="Tahoma"/>
                <a:cs typeface="Tahoma"/>
              </a:rPr>
              <a:t>a </a:t>
            </a:r>
            <a:r>
              <a:rPr sz="3200" spc="-15" dirty="0">
                <a:latin typeface="Tahoma"/>
                <a:cs typeface="Tahoma"/>
              </a:rPr>
              <a:t>key </a:t>
            </a:r>
            <a:r>
              <a:rPr sz="3200" spc="-5" dirty="0">
                <a:latin typeface="Tahoma"/>
                <a:cs typeface="Tahoma"/>
              </a:rPr>
              <a:t>can </a:t>
            </a:r>
            <a:r>
              <a:rPr sz="3200" dirty="0">
                <a:latin typeface="Tahoma"/>
                <a:cs typeface="Tahoma"/>
              </a:rPr>
              <a:t>be </a:t>
            </a:r>
            <a:r>
              <a:rPr sz="3200" spc="-5" dirty="0">
                <a:latin typeface="Tahoma"/>
                <a:cs typeface="Tahoma"/>
              </a:rPr>
              <a:t>made all-  unsubscripted</a:t>
            </a:r>
            <a:r>
              <a:rPr sz="3200" spc="-10" dirty="0">
                <a:latin typeface="Tahoma"/>
                <a:cs typeface="Tahoma"/>
              </a:rPr>
              <a:t> variables.</a:t>
            </a:r>
            <a:endParaRPr sz="3200" dirty="0">
              <a:latin typeface="Tahoma"/>
              <a:cs typeface="Tahoma"/>
            </a:endParaRPr>
          </a:p>
          <a:p>
            <a:pPr marL="355600" marR="20320" indent="-342900">
              <a:lnSpc>
                <a:spcPct val="100000"/>
              </a:lnSpc>
              <a:spcBef>
                <a:spcPts val="765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spc="-5" dirty="0">
                <a:solidFill>
                  <a:srgbClr val="FF9900"/>
                </a:solidFill>
                <a:latin typeface="Tahoma"/>
                <a:cs typeface="Tahoma"/>
              </a:rPr>
              <a:t>3NF</a:t>
            </a:r>
            <a:r>
              <a:rPr sz="3200" spc="-5" dirty="0">
                <a:latin typeface="Tahoma"/>
                <a:cs typeface="Tahoma"/>
              </a:rPr>
              <a:t>: hard part </a:t>
            </a:r>
            <a:r>
              <a:rPr sz="3200" dirty="0">
                <a:latin typeface="Tahoma"/>
                <a:cs typeface="Tahoma"/>
              </a:rPr>
              <a:t>– a </a:t>
            </a:r>
            <a:r>
              <a:rPr sz="3200" spc="-10" dirty="0">
                <a:latin typeface="Tahoma"/>
                <a:cs typeface="Tahoma"/>
              </a:rPr>
              <a:t>property </a:t>
            </a:r>
            <a:r>
              <a:rPr sz="3200" spc="-5" dirty="0">
                <a:latin typeface="Tahoma"/>
                <a:cs typeface="Tahoma"/>
              </a:rPr>
              <a:t>of minimal  bases.</a:t>
            </a:r>
            <a:endParaRPr sz="3200" dirty="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74114" y="829944"/>
            <a:ext cx="679640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Full </a:t>
            </a:r>
            <a:r>
              <a:rPr spc="-5" dirty="0"/>
              <a:t>Functional</a:t>
            </a:r>
            <a:r>
              <a:rPr spc="-50" dirty="0"/>
              <a:t> </a:t>
            </a:r>
            <a:r>
              <a:rPr spc="-5" dirty="0"/>
              <a:t>Dependency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dirty="0"/>
              <a:t>64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764540" y="2012949"/>
            <a:ext cx="7592695" cy="324802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105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dirty="0">
                <a:latin typeface="Tahoma"/>
                <a:cs typeface="Tahoma"/>
              </a:rPr>
              <a:t>Y </a:t>
            </a:r>
            <a:r>
              <a:rPr sz="3200" spc="-5" dirty="0">
                <a:latin typeface="Tahoma"/>
                <a:cs typeface="Tahoma"/>
              </a:rPr>
              <a:t>is </a:t>
            </a:r>
            <a:r>
              <a:rPr sz="3200" spc="-10" dirty="0">
                <a:latin typeface="Tahoma"/>
                <a:cs typeface="Tahoma"/>
              </a:rPr>
              <a:t>'fully </a:t>
            </a:r>
            <a:r>
              <a:rPr sz="3200" spc="-5" dirty="0">
                <a:latin typeface="Tahoma"/>
                <a:cs typeface="Tahoma"/>
              </a:rPr>
              <a:t>functionally dependent' </a:t>
            </a:r>
            <a:r>
              <a:rPr sz="3200" dirty="0">
                <a:latin typeface="Tahoma"/>
                <a:cs typeface="Tahoma"/>
              </a:rPr>
              <a:t>on X if  it </a:t>
            </a:r>
            <a:r>
              <a:rPr sz="3200" spc="-5" dirty="0">
                <a:latin typeface="Tahoma"/>
                <a:cs typeface="Tahoma"/>
              </a:rPr>
              <a:t>is dependent </a:t>
            </a:r>
            <a:r>
              <a:rPr sz="3200" dirty="0">
                <a:latin typeface="Tahoma"/>
                <a:cs typeface="Tahoma"/>
              </a:rPr>
              <a:t>on all </a:t>
            </a:r>
            <a:r>
              <a:rPr sz="3200" spc="-5" dirty="0">
                <a:latin typeface="Tahoma"/>
                <a:cs typeface="Tahoma"/>
              </a:rPr>
              <a:t>of X, not </a:t>
            </a:r>
            <a:r>
              <a:rPr sz="3200" dirty="0">
                <a:latin typeface="Tahoma"/>
                <a:cs typeface="Tahoma"/>
              </a:rPr>
              <a:t>on </a:t>
            </a:r>
            <a:r>
              <a:rPr sz="3200" spc="-15" dirty="0">
                <a:latin typeface="Tahoma"/>
                <a:cs typeface="Tahoma"/>
              </a:rPr>
              <a:t>any  </a:t>
            </a:r>
            <a:r>
              <a:rPr sz="3200" spc="-5" dirty="0">
                <a:latin typeface="Tahoma"/>
                <a:cs typeface="Tahoma"/>
              </a:rPr>
              <a:t>part of</a:t>
            </a:r>
            <a:r>
              <a:rPr sz="3200" spc="-10" dirty="0">
                <a:latin typeface="Tahoma"/>
                <a:cs typeface="Tahoma"/>
              </a:rPr>
              <a:t> </a:t>
            </a:r>
            <a:r>
              <a:rPr sz="3200" spc="-5" dirty="0">
                <a:latin typeface="Tahoma"/>
                <a:cs typeface="Tahoma"/>
              </a:rPr>
              <a:t>X.</a:t>
            </a:r>
            <a:endParaRPr sz="3200" dirty="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25"/>
              </a:spcBef>
              <a:buClr>
                <a:srgbClr val="CC00CC"/>
              </a:buClr>
              <a:buFont typeface="Wingdings"/>
              <a:buChar char=""/>
            </a:pPr>
            <a:endParaRPr sz="4300" dirty="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3200" spc="-125" dirty="0">
                <a:solidFill>
                  <a:srgbClr val="CC00CC"/>
                </a:solidFill>
                <a:latin typeface="Wingdings"/>
                <a:cs typeface="Wingdings"/>
              </a:rPr>
              <a:t></a:t>
            </a:r>
            <a:r>
              <a:rPr sz="3350" i="1" spc="-125" dirty="0">
                <a:latin typeface="Tahoma"/>
                <a:cs typeface="Tahoma"/>
              </a:rPr>
              <a:t>X</a:t>
            </a:r>
            <a:r>
              <a:rPr sz="3200" spc="-125" dirty="0">
                <a:latin typeface="Tahoma"/>
                <a:cs typeface="Tahoma"/>
              </a:rPr>
              <a:t>-&gt;</a:t>
            </a:r>
            <a:r>
              <a:rPr sz="3350" i="1" spc="-125" dirty="0">
                <a:latin typeface="Tahoma"/>
                <a:cs typeface="Tahoma"/>
              </a:rPr>
              <a:t>Y</a:t>
            </a:r>
            <a:endParaRPr sz="3350" dirty="0">
              <a:latin typeface="Tahoma"/>
              <a:cs typeface="Tahoma"/>
            </a:endParaRPr>
          </a:p>
          <a:p>
            <a:pPr marL="414655" indent="-402590">
              <a:lnSpc>
                <a:spcPct val="100000"/>
              </a:lnSpc>
              <a:spcBef>
                <a:spcPts val="585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spc="-5" dirty="0">
                <a:latin typeface="Tahoma"/>
                <a:cs typeface="Tahoma"/>
              </a:rPr>
              <a:t>not </a:t>
            </a:r>
            <a:r>
              <a:rPr sz="3200" dirty="0">
                <a:latin typeface="Tahoma"/>
                <a:cs typeface="Tahoma"/>
              </a:rPr>
              <a:t>on </a:t>
            </a:r>
            <a:r>
              <a:rPr sz="3200" spc="-15" dirty="0">
                <a:latin typeface="Tahoma"/>
                <a:cs typeface="Tahoma"/>
              </a:rPr>
              <a:t>any </a:t>
            </a:r>
            <a:r>
              <a:rPr sz="3200" spc="-5" dirty="0">
                <a:latin typeface="Tahoma"/>
                <a:cs typeface="Tahoma"/>
              </a:rPr>
              <a:t>part X’ of X, </a:t>
            </a:r>
            <a:r>
              <a:rPr sz="3350" i="1" spc="-60" dirty="0">
                <a:latin typeface="Tahoma"/>
                <a:cs typeface="Tahoma"/>
              </a:rPr>
              <a:t>X</a:t>
            </a:r>
            <a:r>
              <a:rPr sz="3200" spc="-60" dirty="0">
                <a:latin typeface="Tahoma"/>
                <a:cs typeface="Tahoma"/>
              </a:rPr>
              <a:t>’</a:t>
            </a:r>
            <a:r>
              <a:rPr sz="3200" spc="-215" dirty="0">
                <a:latin typeface="Tahoma"/>
                <a:cs typeface="Tahoma"/>
              </a:rPr>
              <a:t> </a:t>
            </a:r>
            <a:r>
              <a:rPr sz="3200" spc="-100" dirty="0">
                <a:latin typeface="Tahoma"/>
                <a:cs typeface="Tahoma"/>
              </a:rPr>
              <a:t>-&gt;</a:t>
            </a:r>
            <a:r>
              <a:rPr sz="3350" i="1" spc="-100" dirty="0">
                <a:latin typeface="Tahoma"/>
                <a:cs typeface="Tahoma"/>
              </a:rPr>
              <a:t>Y</a:t>
            </a:r>
            <a:endParaRPr sz="3350" dirty="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74114" y="829944"/>
            <a:ext cx="679640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Full </a:t>
            </a:r>
            <a:r>
              <a:rPr spc="-5" dirty="0"/>
              <a:t>Functional</a:t>
            </a:r>
            <a:r>
              <a:rPr spc="-50" dirty="0"/>
              <a:t> </a:t>
            </a:r>
            <a:r>
              <a:rPr spc="-5" dirty="0"/>
              <a:t>Dependency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dirty="0"/>
              <a:t>65</a:t>
            </a:fld>
            <a:endParaRPr dirty="0"/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xfrm>
            <a:off x="748029" y="1916556"/>
            <a:ext cx="7647940" cy="2096586"/>
          </a:xfrm>
          <a:prstGeom prst="rect">
            <a:avLst/>
          </a:prstGeom>
        </p:spPr>
        <p:txBody>
          <a:bodyPr vert="horz" wrap="square" lIns="0" tIns="125590" rIns="0" bIns="0" rtlCol="0">
            <a:spAutoFit/>
          </a:bodyPr>
          <a:lstStyle/>
          <a:p>
            <a:r>
              <a:rPr lang="en-US" altLang="zh-CN" dirty="0">
                <a:effectLst/>
              </a:rPr>
              <a:t>A FD X→Y is a full functional dependency if the removal of any attribute from X means the dependency does not hold anymore.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074795" y="829944"/>
            <a:ext cx="995044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2</a:t>
            </a:r>
            <a:r>
              <a:rPr spc="-10" dirty="0"/>
              <a:t>N</a:t>
            </a:r>
            <a:r>
              <a:rPr dirty="0"/>
              <a:t>F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dirty="0"/>
              <a:t>66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764540" y="2012949"/>
            <a:ext cx="7485380" cy="14897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5080" indent="-342900" algn="just">
              <a:lnSpc>
                <a:spcPct val="100000"/>
              </a:lnSpc>
              <a:spcBef>
                <a:spcPts val="105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dirty="0">
                <a:latin typeface="Tahoma"/>
                <a:cs typeface="Tahoma"/>
              </a:rPr>
              <a:t>R </a:t>
            </a:r>
            <a:r>
              <a:rPr sz="3200" spc="-5" dirty="0">
                <a:latin typeface="Tahoma"/>
                <a:cs typeface="Tahoma"/>
              </a:rPr>
              <a:t>is in </a:t>
            </a:r>
            <a:r>
              <a:rPr sz="3200" b="1" dirty="0">
                <a:latin typeface="Tahoma"/>
                <a:cs typeface="Tahoma"/>
              </a:rPr>
              <a:t>2NF </a:t>
            </a:r>
            <a:r>
              <a:rPr sz="3200" dirty="0">
                <a:latin typeface="Tahoma"/>
                <a:cs typeface="Tahoma"/>
              </a:rPr>
              <a:t>if </a:t>
            </a:r>
            <a:r>
              <a:rPr sz="3200" spc="-10" dirty="0">
                <a:latin typeface="Tahoma"/>
                <a:cs typeface="Tahoma"/>
              </a:rPr>
              <a:t>every </a:t>
            </a:r>
            <a:r>
              <a:rPr sz="3200" spc="-5" dirty="0">
                <a:latin typeface="Tahoma"/>
                <a:cs typeface="Tahoma"/>
              </a:rPr>
              <a:t>nonprime attribute  </a:t>
            </a:r>
            <a:r>
              <a:rPr sz="3200" dirty="0">
                <a:latin typeface="Tahoma"/>
                <a:cs typeface="Tahoma"/>
              </a:rPr>
              <a:t>A </a:t>
            </a:r>
            <a:r>
              <a:rPr sz="3200" spc="-5" dirty="0">
                <a:latin typeface="Tahoma"/>
                <a:cs typeface="Tahoma"/>
              </a:rPr>
              <a:t>in </a:t>
            </a:r>
            <a:r>
              <a:rPr sz="3200" dirty="0">
                <a:latin typeface="Tahoma"/>
                <a:cs typeface="Tahoma"/>
              </a:rPr>
              <a:t>R </a:t>
            </a:r>
            <a:r>
              <a:rPr sz="3200" spc="-5" dirty="0">
                <a:latin typeface="Tahoma"/>
                <a:cs typeface="Tahoma"/>
              </a:rPr>
              <a:t>is </a:t>
            </a:r>
            <a:r>
              <a:rPr sz="3200" spc="-10" dirty="0">
                <a:latin typeface="Tahoma"/>
                <a:cs typeface="Tahoma"/>
              </a:rPr>
              <a:t>fully </a:t>
            </a:r>
            <a:r>
              <a:rPr sz="3200" spc="-5" dirty="0">
                <a:latin typeface="Tahoma"/>
                <a:cs typeface="Tahoma"/>
              </a:rPr>
              <a:t>functionally dependent </a:t>
            </a:r>
            <a:r>
              <a:rPr sz="3200" dirty="0">
                <a:latin typeface="Tahoma"/>
                <a:cs typeface="Tahoma"/>
              </a:rPr>
              <a:t>on  </a:t>
            </a:r>
            <a:r>
              <a:rPr sz="3200" spc="-10" dirty="0">
                <a:latin typeface="Tahoma"/>
                <a:cs typeface="Tahoma"/>
              </a:rPr>
              <a:t>every </a:t>
            </a:r>
            <a:r>
              <a:rPr sz="3200" spc="-15" dirty="0">
                <a:latin typeface="Tahoma"/>
                <a:cs typeface="Tahoma"/>
              </a:rPr>
              <a:t>key </a:t>
            </a:r>
            <a:r>
              <a:rPr sz="3200" b="1" dirty="0">
                <a:latin typeface="Tahoma"/>
                <a:cs typeface="Tahoma"/>
              </a:rPr>
              <a:t>of</a:t>
            </a:r>
            <a:r>
              <a:rPr sz="3200" b="1" spc="70" dirty="0">
                <a:latin typeface="Tahoma"/>
                <a:cs typeface="Tahoma"/>
              </a:rPr>
              <a:t> </a:t>
            </a:r>
            <a:r>
              <a:rPr sz="3200" spc="-5" dirty="0">
                <a:latin typeface="Tahoma"/>
                <a:cs typeface="Tahoma"/>
              </a:rPr>
              <a:t>R.</a:t>
            </a:r>
            <a:endParaRPr sz="3200" dirty="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247264" y="829944"/>
            <a:ext cx="464947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3971290" algn="l"/>
              </a:tabLst>
            </a:pPr>
            <a:r>
              <a:rPr spc="-5" dirty="0"/>
              <a:t>Clas</a:t>
            </a:r>
            <a:r>
              <a:rPr dirty="0"/>
              <a:t>s</a:t>
            </a:r>
            <a:r>
              <a:rPr spc="-5" dirty="0"/>
              <a:t> E</a:t>
            </a:r>
            <a:r>
              <a:rPr spc="-60" dirty="0"/>
              <a:t>x</a:t>
            </a:r>
            <a:r>
              <a:rPr spc="-5" dirty="0"/>
              <a:t>e</a:t>
            </a:r>
            <a:r>
              <a:rPr spc="-30" dirty="0"/>
              <a:t>r</a:t>
            </a:r>
            <a:r>
              <a:rPr spc="-5" dirty="0"/>
              <a:t>cis</a:t>
            </a:r>
            <a:r>
              <a:rPr dirty="0"/>
              <a:t>e	</a:t>
            </a:r>
            <a:r>
              <a:rPr spc="-10" dirty="0"/>
              <a:t>N</a:t>
            </a:r>
            <a:r>
              <a:rPr dirty="0"/>
              <a:t>F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dirty="0"/>
              <a:t>67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764540" y="1916556"/>
            <a:ext cx="2350770" cy="2364740"/>
          </a:xfrm>
          <a:prstGeom prst="rect">
            <a:avLst/>
          </a:prstGeom>
        </p:spPr>
        <p:txBody>
          <a:bodyPr vert="horz" wrap="square" lIns="0" tIns="109855" rIns="0" bIns="0" rtlCol="0">
            <a:spAutoFit/>
          </a:bodyPr>
          <a:lstStyle/>
          <a:p>
            <a:pPr marL="414655" indent="-402590">
              <a:lnSpc>
                <a:spcPct val="100000"/>
              </a:lnSpc>
              <a:spcBef>
                <a:spcPts val="865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spc="-5" dirty="0">
                <a:latin typeface="Tahoma"/>
                <a:cs typeface="Tahoma"/>
              </a:rPr>
              <a:t>1.</a:t>
            </a:r>
            <a:r>
              <a:rPr sz="3200" spc="-70" dirty="0">
                <a:latin typeface="Tahoma"/>
                <a:cs typeface="Tahoma"/>
              </a:rPr>
              <a:t> </a:t>
            </a:r>
            <a:r>
              <a:rPr sz="3200" spc="-60" dirty="0">
                <a:latin typeface="Tahoma"/>
                <a:cs typeface="Tahoma"/>
              </a:rPr>
              <a:t>R(X,Y,Z)</a:t>
            </a:r>
            <a:endParaRPr sz="3200">
              <a:latin typeface="Tahoma"/>
              <a:cs typeface="Tahoma"/>
            </a:endParaRPr>
          </a:p>
          <a:p>
            <a:pPr marL="414655" indent="-402590">
              <a:lnSpc>
                <a:spcPct val="100000"/>
              </a:lnSpc>
              <a:spcBef>
                <a:spcPts val="765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spc="-5" dirty="0">
                <a:latin typeface="Tahoma"/>
                <a:cs typeface="Tahoma"/>
              </a:rPr>
              <a:t>2.</a:t>
            </a:r>
            <a:r>
              <a:rPr sz="3200" spc="-70" dirty="0">
                <a:latin typeface="Tahoma"/>
                <a:cs typeface="Tahoma"/>
              </a:rPr>
              <a:t> </a:t>
            </a:r>
            <a:r>
              <a:rPr sz="3200" spc="-60" dirty="0">
                <a:latin typeface="Tahoma"/>
                <a:cs typeface="Tahoma"/>
              </a:rPr>
              <a:t>R(X,Y,Z)</a:t>
            </a:r>
            <a:endParaRPr sz="3200">
              <a:latin typeface="Tahoma"/>
              <a:cs typeface="Tahoma"/>
            </a:endParaRPr>
          </a:p>
          <a:p>
            <a:pPr marL="414655" indent="-402590">
              <a:lnSpc>
                <a:spcPct val="100000"/>
              </a:lnSpc>
              <a:spcBef>
                <a:spcPts val="765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spc="-5" dirty="0">
                <a:latin typeface="Tahoma"/>
                <a:cs typeface="Tahoma"/>
              </a:rPr>
              <a:t>3.</a:t>
            </a:r>
            <a:r>
              <a:rPr sz="3200" spc="-70" dirty="0">
                <a:latin typeface="Tahoma"/>
                <a:cs typeface="Tahoma"/>
              </a:rPr>
              <a:t> </a:t>
            </a:r>
            <a:r>
              <a:rPr sz="3200" spc="-60" dirty="0">
                <a:latin typeface="Tahoma"/>
                <a:cs typeface="Tahoma"/>
              </a:rPr>
              <a:t>R(X,Y,Z)</a:t>
            </a:r>
            <a:endParaRPr sz="3200">
              <a:latin typeface="Tahoma"/>
              <a:cs typeface="Tahoma"/>
            </a:endParaRPr>
          </a:p>
          <a:p>
            <a:pPr marL="414655" indent="-402590">
              <a:lnSpc>
                <a:spcPct val="100000"/>
              </a:lnSpc>
              <a:spcBef>
                <a:spcPts val="765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spc="-20" dirty="0">
                <a:latin typeface="Tahoma"/>
                <a:cs typeface="Tahoma"/>
              </a:rPr>
              <a:t>4.</a:t>
            </a:r>
            <a:r>
              <a:rPr sz="3200" spc="-75" dirty="0">
                <a:latin typeface="Tahoma"/>
                <a:cs typeface="Tahoma"/>
              </a:rPr>
              <a:t> </a:t>
            </a:r>
            <a:r>
              <a:rPr sz="3200" spc="-60" dirty="0">
                <a:latin typeface="Tahoma"/>
                <a:cs typeface="Tahoma"/>
              </a:rPr>
              <a:t>R(X,Y,Z)</a:t>
            </a:r>
            <a:endParaRPr sz="3200">
              <a:latin typeface="Tahoma"/>
              <a:cs typeface="Tahoma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237865" marR="5080" indent="4445">
              <a:lnSpc>
                <a:spcPct val="119900"/>
              </a:lnSpc>
              <a:spcBef>
                <a:spcPts val="100"/>
              </a:spcBef>
            </a:pPr>
            <a:r>
              <a:rPr spc="-5" dirty="0"/>
              <a:t>F={XY→Z}  F={Y→Z,XZ→Y}  F={Y→Z,Y→X,X→YZ}  </a:t>
            </a:r>
            <a:r>
              <a:rPr spc="-45" dirty="0"/>
              <a:t>F={X→Y,X→Z}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764540" y="4352290"/>
            <a:ext cx="6174105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414655" indent="-402590">
              <a:lnSpc>
                <a:spcPct val="100000"/>
              </a:lnSpc>
              <a:spcBef>
                <a:spcPts val="105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  <a:tab pos="3025140" algn="l"/>
              </a:tabLst>
            </a:pPr>
            <a:r>
              <a:rPr sz="3200" spc="-5" dirty="0">
                <a:latin typeface="Tahoma"/>
                <a:cs typeface="Tahoma"/>
              </a:rPr>
              <a:t>5. </a:t>
            </a:r>
            <a:r>
              <a:rPr sz="3200" spc="-90" dirty="0">
                <a:latin typeface="Tahoma"/>
                <a:cs typeface="Tahoma"/>
              </a:rPr>
              <a:t>R(W,X,Y,Z)	</a:t>
            </a:r>
            <a:r>
              <a:rPr sz="3200" spc="-5" dirty="0">
                <a:latin typeface="Tahoma"/>
                <a:cs typeface="Tahoma"/>
              </a:rPr>
              <a:t>F={X→Z,WX→Y}</a:t>
            </a:r>
            <a:endParaRPr sz="32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274</TotalTime>
  <Words>3489</Words>
  <Application>Microsoft Office PowerPoint</Application>
  <PresentationFormat>全屏显示(4:3)</PresentationFormat>
  <Paragraphs>450</Paragraphs>
  <Slides>67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67</vt:i4>
      </vt:variant>
    </vt:vector>
  </HeadingPairs>
  <TitlesOfParts>
    <vt:vector size="73" baseType="lpstr">
      <vt:lpstr>等线</vt:lpstr>
      <vt:lpstr>Calibri</vt:lpstr>
      <vt:lpstr>Tahoma</vt:lpstr>
      <vt:lpstr>Times New Roman</vt:lpstr>
      <vt:lpstr>Wingdings</vt:lpstr>
      <vt:lpstr>Office Theme</vt:lpstr>
      <vt:lpstr>Design Theory for Relational  Databases</vt:lpstr>
      <vt:lpstr>Functional Dependencies</vt:lpstr>
      <vt:lpstr>Splitting Right Sides of FD’s</vt:lpstr>
      <vt:lpstr>Example: FD’s</vt:lpstr>
      <vt:lpstr>Example: Possible Data</vt:lpstr>
      <vt:lpstr>Keys of Relations</vt:lpstr>
      <vt:lpstr>Example: Superkey</vt:lpstr>
      <vt:lpstr>Example: Key</vt:lpstr>
      <vt:lpstr>Where Do Keys Come From?</vt:lpstr>
      <vt:lpstr>More FD’s From “Physics”</vt:lpstr>
      <vt:lpstr>Inferring推断 FD’s</vt:lpstr>
      <vt:lpstr>Inference Test</vt:lpstr>
      <vt:lpstr>Inference Test – (2)</vt:lpstr>
      <vt:lpstr>Closure Test</vt:lpstr>
      <vt:lpstr>PowerPoint 演示文稿</vt:lpstr>
      <vt:lpstr>Finding All Implied FD’s</vt:lpstr>
      <vt:lpstr>Why?</vt:lpstr>
      <vt:lpstr>Basic Idea</vt:lpstr>
      <vt:lpstr>Simple, Exponential Algorithm指数算法</vt:lpstr>
      <vt:lpstr>A Few Tricks</vt:lpstr>
      <vt:lpstr>Example: Projecting FD’s</vt:lpstr>
      <vt:lpstr>Example -- Continued</vt:lpstr>
      <vt:lpstr>A Geometric View of FD’s</vt:lpstr>
      <vt:lpstr>Example: R(A,B)</vt:lpstr>
      <vt:lpstr>An FD is a Subset of Instances</vt:lpstr>
      <vt:lpstr>Example: A -&gt; B for R(A,B)</vt:lpstr>
      <vt:lpstr>Representing Sets of FD’s</vt:lpstr>
      <vt:lpstr>Example</vt:lpstr>
      <vt:lpstr>Implication含义 of FD’s</vt:lpstr>
      <vt:lpstr>Example</vt:lpstr>
      <vt:lpstr>Relational Schema Design</vt:lpstr>
      <vt:lpstr>Example of Bad Design</vt:lpstr>
      <vt:lpstr>This Bad Design Also  Exhibits Anomalies</vt:lpstr>
      <vt:lpstr>Boyce-Codd Normal Form</vt:lpstr>
      <vt:lpstr>Example</vt:lpstr>
      <vt:lpstr>Another Example</vt:lpstr>
      <vt:lpstr>Decomposition分解 into BCNF</vt:lpstr>
      <vt:lpstr>Decompose R Using X -&gt; Y</vt:lpstr>
      <vt:lpstr>Decomposition Picture</vt:lpstr>
      <vt:lpstr>Example: BCNF Decomposition</vt:lpstr>
      <vt:lpstr>Example -- Continued</vt:lpstr>
      <vt:lpstr>Example -- Continued</vt:lpstr>
      <vt:lpstr>Example -- Concluded</vt:lpstr>
      <vt:lpstr>Third Normal Form 3NF-- Motivation</vt:lpstr>
      <vt:lpstr>We Cannot Enforce FD’s</vt:lpstr>
      <vt:lpstr>An Unenforceable FD</vt:lpstr>
      <vt:lpstr>3NF Let’s Us Avoid This Problem</vt:lpstr>
      <vt:lpstr>Example: 3NF</vt:lpstr>
      <vt:lpstr>What 3NF and BCNF Give You</vt:lpstr>
      <vt:lpstr>3NF and BCNF -- Continued</vt:lpstr>
      <vt:lpstr>Testing for a Lossless Join无损链接</vt:lpstr>
      <vt:lpstr>The Chase追回 Test</vt:lpstr>
      <vt:lpstr>The Chase – (2)</vt:lpstr>
      <vt:lpstr>Example: The Chase</vt:lpstr>
      <vt:lpstr>The Tableau</vt:lpstr>
      <vt:lpstr>Summary of the Chase</vt:lpstr>
      <vt:lpstr>Example: Lossy Join</vt:lpstr>
      <vt:lpstr>PowerPoint 演示文稿</vt:lpstr>
      <vt:lpstr>3NF Synthesis综合 Algorithm</vt:lpstr>
      <vt:lpstr>Constructing a Minimal Basis</vt:lpstr>
      <vt:lpstr>3NF Synthesis – (2)</vt:lpstr>
      <vt:lpstr>Example: 3NF Synthesis</vt:lpstr>
      <vt:lpstr>Why It Works</vt:lpstr>
      <vt:lpstr>Full Functional Dependency</vt:lpstr>
      <vt:lpstr>Full Functional Dependency</vt:lpstr>
      <vt:lpstr>2NF</vt:lpstr>
      <vt:lpstr>Class Exercise NF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- Vel</cp:lastModifiedBy>
  <cp:revision>4</cp:revision>
  <dcterms:created xsi:type="dcterms:W3CDTF">2024-06-14T11:29:45Z</dcterms:created>
  <dcterms:modified xsi:type="dcterms:W3CDTF">2024-06-16T06:01:46Z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2020-09-23T00:00:00Z</vt:filetime>
  </property>
  <property fmtid="{D5CDD505-2E9C-101B-9397-08002B2CF9AE}" pid="3" name="Creator">
    <vt:lpwstr>WPS 演示</vt:lpwstr>
  </property>
  <property fmtid="{D5CDD505-2E9C-101B-9397-08002B2CF9AE}" pid="4" name="LastSaved">
    <vt:filetime>2024-06-14T00:00:00Z</vt:filetime>
  </property>
</Properties>
</file>